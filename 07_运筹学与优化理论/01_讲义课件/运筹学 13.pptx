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3" r:id="rId3"/>
    <p:sldId id="304" r:id="rId4"/>
    <p:sldId id="257" r:id="rId5"/>
    <p:sldId id="258" r:id="rId6"/>
    <p:sldId id="259" r:id="rId7"/>
    <p:sldId id="305" r:id="rId8"/>
    <p:sldId id="260" r:id="rId9"/>
    <p:sldId id="261" r:id="rId10"/>
    <p:sldId id="262" r:id="rId11"/>
    <p:sldId id="306" r:id="rId12"/>
    <p:sldId id="263" r:id="rId13"/>
    <p:sldId id="265" r:id="rId14"/>
    <p:sldId id="26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87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372" r:id="rId52"/>
    <p:sldId id="373" r:id="rId53"/>
    <p:sldId id="374" r:id="rId54"/>
    <p:sldId id="375" r:id="rId55"/>
    <p:sldId id="376" r:id="rId56"/>
    <p:sldId id="377" r:id="rId57"/>
    <p:sldId id="378" r:id="rId58"/>
    <p:sldId id="379" r:id="rId59"/>
    <p:sldId id="385" r:id="rId60"/>
    <p:sldId id="386" r:id="rId61"/>
    <p:sldId id="380" r:id="rId62"/>
    <p:sldId id="381" r:id="rId63"/>
    <p:sldId id="382" r:id="rId64"/>
    <p:sldId id="383" r:id="rId65"/>
    <p:sldId id="384" r:id="rId66"/>
  </p:sldIdLst>
  <p:sldSz cx="9144000" cy="6858000" type="screen4x3"/>
  <p:notesSz cx="6858000" cy="9144000"/>
  <p:custDataLst>
    <p:tags r:id="rId70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8F8F8"/>
    <a:srgbClr val="6699FF"/>
    <a:srgbClr val="FF0000"/>
    <a:srgbClr val="006600"/>
    <a:srgbClr val="66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897"/>
    <p:restoredTop sz="92982"/>
  </p:normalViewPr>
  <p:slideViewPr>
    <p:cSldViewPr showGuides="1">
      <p:cViewPr>
        <p:scale>
          <a:sx n="53" d="100"/>
          <a:sy n="53" d="100"/>
        </p:scale>
        <p:origin x="-1728" y="-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0" Type="http://schemas.openxmlformats.org/officeDocument/2006/relationships/tags" Target="tags/tag1.xml"/><Relationship Id="rId7" Type="http://schemas.openxmlformats.org/officeDocument/2006/relationships/slide" Target="slides/slide5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2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0" Type="http://schemas.openxmlformats.org/officeDocument/2006/relationships/image" Target="../media/image59.wmf"/><Relationship Id="rId1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png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6" Type="http://schemas.openxmlformats.org/officeDocument/2006/relationships/vmlDrawing" Target="../drawings/vmlDrawing1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w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3.wmf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6.wmf"/><Relationship Id="rId10" Type="http://schemas.openxmlformats.org/officeDocument/2006/relationships/oleObject" Target="../embeddings/oleObject28.bin"/><Relationship Id="rId1" Type="http://schemas.openxmlformats.org/officeDocument/2006/relationships/oleObject" Target="../embeddings/oleObject23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31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3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36.bin"/><Relationship Id="rId22" Type="http://schemas.openxmlformats.org/officeDocument/2006/relationships/vmlDrawing" Target="../drawings/vmlDrawing9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59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35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61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45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66.wmf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15" Type="http://schemas.openxmlformats.org/officeDocument/2006/relationships/oleObject" Target="../embeddings/oleObject57.bin"/><Relationship Id="rId14" Type="http://schemas.openxmlformats.org/officeDocument/2006/relationships/image" Target="../media/image72.wmf"/><Relationship Id="rId13" Type="http://schemas.openxmlformats.org/officeDocument/2006/relationships/oleObject" Target="../embeddings/oleObject56.bin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55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50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59.bin"/><Relationship Id="rId2" Type="http://schemas.openxmlformats.org/officeDocument/2006/relationships/image" Target="../media/image74.wmf"/><Relationship Id="rId18" Type="http://schemas.openxmlformats.org/officeDocument/2006/relationships/vmlDrawing" Target="../drawings/vmlDrawing1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80.w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58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2.wmf"/><Relationship Id="rId1" Type="http://schemas.openxmlformats.org/officeDocument/2006/relationships/oleObject" Target="../embeddings/oleObject66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1" Type="http://schemas.openxmlformats.org/officeDocument/2006/relationships/oleObject" Target="../embeddings/oleObject67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84.wmf"/><Relationship Id="rId14" Type="http://schemas.openxmlformats.org/officeDocument/2006/relationships/vmlDrawing" Target="../drawings/vmlDrawing1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68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2.png"/><Relationship Id="rId1" Type="http://schemas.openxmlformats.org/officeDocument/2006/relationships/oleObject" Target="../embeddings/oleObject74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1026"/>
          <p:cNvSpPr txBox="1"/>
          <p:nvPr/>
        </p:nvSpPr>
        <p:spPr>
          <a:xfrm>
            <a:off x="228600" y="498475"/>
            <a:ext cx="8686800" cy="1025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zh-CN" altLang="en-US" sz="5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图与网络分析</a:t>
            </a:r>
            <a:endParaRPr lang="zh-CN" altLang="en-US" sz="5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>
              <a:lnSpc>
                <a:spcPct val="3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(</a:t>
            </a: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Graph Theory and Network Analysis)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8435" name="Line 1027"/>
          <p:cNvSpPr/>
          <p:nvPr/>
        </p:nvSpPr>
        <p:spPr>
          <a:xfrm>
            <a:off x="0" y="1676400"/>
            <a:ext cx="9144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6" name="Rectangle 1028"/>
          <p:cNvSpPr/>
          <p:nvPr/>
        </p:nvSpPr>
        <p:spPr>
          <a:xfrm>
            <a:off x="1935163" y="2057400"/>
            <a:ext cx="525621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图与网络的基本知识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18437" name="Rectangle 1029"/>
          <p:cNvSpPr/>
          <p:nvPr/>
        </p:nvSpPr>
        <p:spPr>
          <a:xfrm>
            <a:off x="2773363" y="3629025"/>
            <a:ext cx="300196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最短路问题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18438" name="Rectangle 1030"/>
          <p:cNvSpPr/>
          <p:nvPr/>
        </p:nvSpPr>
        <p:spPr>
          <a:xfrm>
            <a:off x="2239963" y="2840038"/>
            <a:ext cx="44132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 树及最小树问题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18439" name="Rectangle 1031"/>
          <p:cNvSpPr/>
          <p:nvPr/>
        </p:nvSpPr>
        <p:spPr>
          <a:xfrm>
            <a:off x="2751138" y="4419600"/>
            <a:ext cx="3001962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最大流问题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  <p:sp>
        <p:nvSpPr>
          <p:cNvPr id="18440" name="Rectangle 1032"/>
          <p:cNvSpPr/>
          <p:nvPr/>
        </p:nvSpPr>
        <p:spPr>
          <a:xfrm>
            <a:off x="1905000" y="5181600"/>
            <a:ext cx="5256213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4400" b="1" dirty="0">
                <a:solidFill>
                  <a:srgbClr val="006600"/>
                </a:solidFill>
                <a:latin typeface="宋体" panose="02010600030101010101" pitchFamily="2" charset="-122"/>
              </a:rPr>
              <a:t>最小费用最大流问题</a:t>
            </a:r>
            <a:endParaRPr lang="zh-CN" altLang="en-US" sz="4400" b="1" dirty="0">
              <a:solidFill>
                <a:srgbClr val="0066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58"/>
          <p:cNvGrpSpPr/>
          <p:nvPr/>
        </p:nvGrpSpPr>
        <p:grpSpPr>
          <a:xfrm>
            <a:off x="304800" y="381000"/>
            <a:ext cx="4953000" cy="3344863"/>
            <a:chOff x="192" y="240"/>
            <a:chExt cx="3120" cy="2107"/>
          </a:xfrm>
        </p:grpSpPr>
        <p:sp>
          <p:nvSpPr>
            <p:cNvPr id="19471" name="Freeform 4"/>
            <p:cNvSpPr>
              <a:spLocks noChangeAspect="1"/>
            </p:cNvSpPr>
            <p:nvPr/>
          </p:nvSpPr>
          <p:spPr>
            <a:xfrm>
              <a:off x="906" y="1449"/>
              <a:ext cx="493" cy="79"/>
            </a:xfrm>
            <a:custGeom>
              <a:avLst/>
              <a:gdLst>
                <a:gd name="txL" fmla="*/ 0 w 545"/>
                <a:gd name="txT" fmla="*/ 0 h 87"/>
                <a:gd name="txR" fmla="*/ 545 w 545"/>
                <a:gd name="txB" fmla="*/ 87 h 87"/>
              </a:gdLst>
              <a:ahLst/>
              <a:cxnLst>
                <a:cxn ang="0">
                  <a:pos x="244" y="27"/>
                </a:cxn>
                <a:cxn ang="0">
                  <a:pos x="90" y="35"/>
                </a:cxn>
                <a:cxn ang="0">
                  <a:pos x="22" y="14"/>
                </a:cxn>
                <a:cxn ang="0">
                  <a:pos x="5" y="0"/>
                </a:cxn>
              </a:cxnLst>
              <a:rect l="txL" t="txT" r="txR" b="txB"/>
              <a:pathLst>
                <a:path w="545" h="87">
                  <a:moveTo>
                    <a:pt x="545" y="60"/>
                  </a:moveTo>
                  <a:cubicBezTo>
                    <a:pt x="415" y="86"/>
                    <a:pt x="339" y="87"/>
                    <a:pt x="200" y="75"/>
                  </a:cubicBezTo>
                  <a:cubicBezTo>
                    <a:pt x="109" y="52"/>
                    <a:pt x="160" y="67"/>
                    <a:pt x="50" y="30"/>
                  </a:cubicBezTo>
                  <a:cubicBezTo>
                    <a:pt x="0" y="13"/>
                    <a:pt x="5" y="31"/>
                    <a:pt x="5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2" name="Freeform 6"/>
            <p:cNvSpPr>
              <a:spLocks noChangeAspect="1"/>
            </p:cNvSpPr>
            <p:nvPr/>
          </p:nvSpPr>
          <p:spPr>
            <a:xfrm>
              <a:off x="1074" y="785"/>
              <a:ext cx="298" cy="81"/>
            </a:xfrm>
            <a:custGeom>
              <a:avLst/>
              <a:gdLst>
                <a:gd name="txL" fmla="*/ 0 w 330"/>
                <a:gd name="txT" fmla="*/ 0 h 90"/>
                <a:gd name="txR" fmla="*/ 330 w 330"/>
                <a:gd name="txB" fmla="*/ 90 h 90"/>
              </a:gdLst>
              <a:ahLst/>
              <a:cxnLst>
                <a:cxn ang="0">
                  <a:pos x="0" y="0"/>
                </a:cxn>
                <a:cxn ang="0">
                  <a:pos x="65" y="13"/>
                </a:cxn>
                <a:cxn ang="0">
                  <a:pos x="146" y="39"/>
                </a:cxn>
              </a:cxnLst>
              <a:rect l="txL" t="txT" r="txR" b="txB"/>
              <a:pathLst>
                <a:path w="330" h="90">
                  <a:moveTo>
                    <a:pt x="0" y="0"/>
                  </a:moveTo>
                  <a:cubicBezTo>
                    <a:pt x="39" y="6"/>
                    <a:pt x="108" y="9"/>
                    <a:pt x="150" y="30"/>
                  </a:cubicBezTo>
                  <a:cubicBezTo>
                    <a:pt x="212" y="61"/>
                    <a:pt x="259" y="90"/>
                    <a:pt x="330" y="9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3" name="Freeform 7"/>
            <p:cNvSpPr>
              <a:spLocks noChangeAspect="1"/>
            </p:cNvSpPr>
            <p:nvPr/>
          </p:nvSpPr>
          <p:spPr>
            <a:xfrm>
              <a:off x="2056" y="975"/>
              <a:ext cx="361" cy="176"/>
            </a:xfrm>
            <a:custGeom>
              <a:avLst/>
              <a:gdLst>
                <a:gd name="txL" fmla="*/ 0 w 399"/>
                <a:gd name="txT" fmla="*/ 0 h 195"/>
                <a:gd name="txR" fmla="*/ 399 w 399"/>
                <a:gd name="txB" fmla="*/ 195 h 195"/>
              </a:gdLst>
              <a:ahLst/>
              <a:cxnLst>
                <a:cxn ang="0">
                  <a:pos x="179" y="0"/>
                </a:cxn>
                <a:cxn ang="0">
                  <a:pos x="38" y="26"/>
                </a:cxn>
                <a:cxn ang="0">
                  <a:pos x="24" y="46"/>
                </a:cxn>
                <a:cxn ang="0">
                  <a:pos x="5" y="59"/>
                </a:cxn>
                <a:cxn ang="0">
                  <a:pos x="5" y="87"/>
                </a:cxn>
              </a:cxnLst>
              <a:rect l="txL" t="txT" r="txR" b="txB"/>
              <a:pathLst>
                <a:path w="399" h="195">
                  <a:moveTo>
                    <a:pt x="399" y="0"/>
                  </a:moveTo>
                  <a:cubicBezTo>
                    <a:pt x="296" y="9"/>
                    <a:pt x="173" y="1"/>
                    <a:pt x="84" y="60"/>
                  </a:cubicBezTo>
                  <a:cubicBezTo>
                    <a:pt x="74" y="75"/>
                    <a:pt x="67" y="92"/>
                    <a:pt x="54" y="105"/>
                  </a:cubicBezTo>
                  <a:cubicBezTo>
                    <a:pt x="41" y="118"/>
                    <a:pt x="17" y="119"/>
                    <a:pt x="9" y="135"/>
                  </a:cubicBezTo>
                  <a:cubicBezTo>
                    <a:pt x="0" y="153"/>
                    <a:pt x="9" y="175"/>
                    <a:pt x="9" y="19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4" name="Freeform 11"/>
            <p:cNvSpPr>
              <a:spLocks noChangeAspect="1"/>
            </p:cNvSpPr>
            <p:nvPr/>
          </p:nvSpPr>
          <p:spPr>
            <a:xfrm>
              <a:off x="1589" y="622"/>
              <a:ext cx="814" cy="27"/>
            </a:xfrm>
            <a:custGeom>
              <a:avLst/>
              <a:gdLst>
                <a:gd name="txL" fmla="*/ 0 w 900"/>
                <a:gd name="txT" fmla="*/ 0 h 30"/>
                <a:gd name="txR" fmla="*/ 900 w 900"/>
                <a:gd name="txB" fmla="*/ 30 h 30"/>
              </a:gdLst>
              <a:ahLst/>
              <a:cxnLst>
                <a:cxn ang="0">
                  <a:pos x="0" y="0"/>
                </a:cxn>
                <a:cxn ang="0">
                  <a:pos x="402" y="13"/>
                </a:cxn>
              </a:cxnLst>
              <a:rect l="txL" t="txT" r="txR" b="txB"/>
              <a:pathLst>
                <a:path w="900" h="30">
                  <a:moveTo>
                    <a:pt x="0" y="0"/>
                  </a:moveTo>
                  <a:cubicBezTo>
                    <a:pt x="300" y="23"/>
                    <a:pt x="600" y="30"/>
                    <a:pt x="900" y="3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5" name="Freeform 12"/>
            <p:cNvSpPr>
              <a:spLocks noChangeAspect="1"/>
            </p:cNvSpPr>
            <p:nvPr/>
          </p:nvSpPr>
          <p:spPr>
            <a:xfrm>
              <a:off x="1521" y="907"/>
              <a:ext cx="190" cy="230"/>
            </a:xfrm>
            <a:custGeom>
              <a:avLst/>
              <a:gdLst>
                <a:gd name="txL" fmla="*/ 0 w 210"/>
                <a:gd name="txT" fmla="*/ 0 h 255"/>
                <a:gd name="txR" fmla="*/ 210 w 210"/>
                <a:gd name="txB" fmla="*/ 255 h 255"/>
              </a:gdLst>
              <a:ahLst/>
              <a:cxnLst>
                <a:cxn ang="0">
                  <a:pos x="0" y="0"/>
                </a:cxn>
                <a:cxn ang="0">
                  <a:pos x="95" y="112"/>
                </a:cxn>
              </a:cxnLst>
              <a:rect l="txL" t="txT" r="txR" b="txB"/>
              <a:pathLst>
                <a:path w="210" h="255">
                  <a:moveTo>
                    <a:pt x="0" y="0"/>
                  </a:moveTo>
                  <a:cubicBezTo>
                    <a:pt x="130" y="43"/>
                    <a:pt x="156" y="147"/>
                    <a:pt x="210" y="25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6" name="Text Box 13"/>
            <p:cNvSpPr txBox="1">
              <a:spLocks noChangeAspect="1"/>
            </p:cNvSpPr>
            <p:nvPr/>
          </p:nvSpPr>
          <p:spPr>
            <a:xfrm>
              <a:off x="1753" y="1924"/>
              <a:ext cx="665" cy="423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B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77" name="Text Box 14"/>
            <p:cNvSpPr txBox="1">
              <a:spLocks noChangeAspect="1"/>
            </p:cNvSpPr>
            <p:nvPr/>
          </p:nvSpPr>
          <p:spPr>
            <a:xfrm>
              <a:off x="2296" y="1032"/>
              <a:ext cx="475" cy="423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D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78" name="Freeform 15"/>
            <p:cNvSpPr>
              <a:spLocks noChangeAspect="1"/>
            </p:cNvSpPr>
            <p:nvPr/>
          </p:nvSpPr>
          <p:spPr>
            <a:xfrm>
              <a:off x="911" y="1463"/>
              <a:ext cx="14" cy="502"/>
            </a:xfrm>
            <a:custGeom>
              <a:avLst/>
              <a:gdLst>
                <a:gd name="txL" fmla="*/ 0 w 15"/>
                <a:gd name="txT" fmla="*/ 0 h 555"/>
                <a:gd name="txR" fmla="*/ 15 w 15"/>
                <a:gd name="txB" fmla="*/ 555 h 555"/>
              </a:gdLst>
              <a:ahLst/>
              <a:cxnLst>
                <a:cxn ang="0">
                  <a:pos x="0" y="0"/>
                </a:cxn>
                <a:cxn ang="0">
                  <a:pos x="7" y="249"/>
                </a:cxn>
              </a:cxnLst>
              <a:rect l="txL" t="txT" r="txR" b="txB"/>
              <a:pathLst>
                <a:path w="15" h="555">
                  <a:moveTo>
                    <a:pt x="0" y="0"/>
                  </a:moveTo>
                  <a:cubicBezTo>
                    <a:pt x="5" y="185"/>
                    <a:pt x="15" y="555"/>
                    <a:pt x="15" y="55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9" name="Freeform 17"/>
            <p:cNvSpPr>
              <a:spLocks noChangeAspect="1"/>
            </p:cNvSpPr>
            <p:nvPr/>
          </p:nvSpPr>
          <p:spPr>
            <a:xfrm>
              <a:off x="301" y="576"/>
              <a:ext cx="637" cy="95"/>
            </a:xfrm>
            <a:custGeom>
              <a:avLst/>
              <a:gdLst>
                <a:gd name="txL" fmla="*/ 0 w 705"/>
                <a:gd name="txT" fmla="*/ 0 h 105"/>
                <a:gd name="txR" fmla="*/ 705 w 705"/>
                <a:gd name="txB" fmla="*/ 105 h 105"/>
              </a:gdLst>
              <a:ahLst/>
              <a:cxnLst>
                <a:cxn ang="0">
                  <a:pos x="0" y="47"/>
                </a:cxn>
                <a:cxn ang="0">
                  <a:pos x="314" y="0"/>
                </a:cxn>
              </a:cxnLst>
              <a:rect l="txL" t="txT" r="txR" b="txB"/>
              <a:pathLst>
                <a:path w="705" h="105">
                  <a:moveTo>
                    <a:pt x="0" y="105"/>
                  </a:moveTo>
                  <a:cubicBezTo>
                    <a:pt x="237" y="46"/>
                    <a:pt x="458" y="0"/>
                    <a:pt x="705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0" name="Freeform 18"/>
            <p:cNvSpPr>
              <a:spLocks noChangeAspect="1"/>
            </p:cNvSpPr>
            <p:nvPr/>
          </p:nvSpPr>
          <p:spPr>
            <a:xfrm>
              <a:off x="1074" y="568"/>
              <a:ext cx="352" cy="27"/>
            </a:xfrm>
            <a:custGeom>
              <a:avLst/>
              <a:gdLst>
                <a:gd name="txL" fmla="*/ 0 w 390"/>
                <a:gd name="txT" fmla="*/ 0 h 30"/>
                <a:gd name="txR" fmla="*/ 390 w 390"/>
                <a:gd name="txB" fmla="*/ 30 h 30"/>
              </a:gdLst>
              <a:ahLst/>
              <a:cxnLst>
                <a:cxn ang="0">
                  <a:pos x="0" y="0"/>
                </a:cxn>
                <a:cxn ang="0">
                  <a:pos x="171" y="13"/>
                </a:cxn>
              </a:cxnLst>
              <a:rect l="txL" t="txT" r="txR" b="txB"/>
              <a:pathLst>
                <a:path w="390" h="30">
                  <a:moveTo>
                    <a:pt x="0" y="0"/>
                  </a:moveTo>
                  <a:cubicBezTo>
                    <a:pt x="129" y="11"/>
                    <a:pt x="260" y="30"/>
                    <a:pt x="390" y="3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1" name="Freeform 19"/>
            <p:cNvSpPr>
              <a:spLocks noChangeAspect="1"/>
            </p:cNvSpPr>
            <p:nvPr/>
          </p:nvSpPr>
          <p:spPr>
            <a:xfrm>
              <a:off x="2612" y="541"/>
              <a:ext cx="700" cy="136"/>
            </a:xfrm>
            <a:custGeom>
              <a:avLst/>
              <a:gdLst>
                <a:gd name="txL" fmla="*/ 0 w 774"/>
                <a:gd name="txT" fmla="*/ 0 h 150"/>
                <a:gd name="txR" fmla="*/ 774 w 774"/>
                <a:gd name="txB" fmla="*/ 150 h 150"/>
              </a:gdLst>
              <a:ahLst/>
              <a:cxnLst>
                <a:cxn ang="0">
                  <a:pos x="5" y="68"/>
                </a:cxn>
                <a:cxn ang="0">
                  <a:pos x="166" y="55"/>
                </a:cxn>
                <a:cxn ang="0">
                  <a:pos x="239" y="27"/>
                </a:cxn>
                <a:cxn ang="0">
                  <a:pos x="346" y="0"/>
                </a:cxn>
              </a:cxnLst>
              <a:rect l="txL" t="txT" r="txR" b="txB"/>
              <a:pathLst>
                <a:path w="774" h="150">
                  <a:moveTo>
                    <a:pt x="9" y="150"/>
                  </a:moveTo>
                  <a:cubicBezTo>
                    <a:pt x="159" y="100"/>
                    <a:pt x="0" y="148"/>
                    <a:pt x="369" y="120"/>
                  </a:cubicBezTo>
                  <a:cubicBezTo>
                    <a:pt x="443" y="114"/>
                    <a:pt x="472" y="87"/>
                    <a:pt x="534" y="60"/>
                  </a:cubicBezTo>
                  <a:cubicBezTo>
                    <a:pt x="606" y="29"/>
                    <a:pt x="695" y="0"/>
                    <a:pt x="774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2" name="Freeform 20"/>
            <p:cNvSpPr>
              <a:spLocks noChangeAspect="1"/>
            </p:cNvSpPr>
            <p:nvPr/>
          </p:nvSpPr>
          <p:spPr>
            <a:xfrm>
              <a:off x="192" y="1640"/>
              <a:ext cx="624" cy="95"/>
            </a:xfrm>
            <a:custGeom>
              <a:avLst/>
              <a:gdLst>
                <a:gd name="txL" fmla="*/ 0 w 690"/>
                <a:gd name="txT" fmla="*/ 0 h 105"/>
                <a:gd name="txR" fmla="*/ 690 w 690"/>
                <a:gd name="txB" fmla="*/ 105 h 105"/>
              </a:gdLst>
              <a:ahLst/>
              <a:cxnLst>
                <a:cxn ang="0">
                  <a:pos x="0" y="47"/>
                </a:cxn>
                <a:cxn ang="0">
                  <a:pos x="40" y="34"/>
                </a:cxn>
                <a:cxn ang="0">
                  <a:pos x="60" y="20"/>
                </a:cxn>
                <a:cxn ang="0">
                  <a:pos x="100" y="7"/>
                </a:cxn>
                <a:cxn ang="0">
                  <a:pos x="121" y="0"/>
                </a:cxn>
                <a:cxn ang="0">
                  <a:pos x="241" y="7"/>
                </a:cxn>
                <a:cxn ang="0">
                  <a:pos x="269" y="13"/>
                </a:cxn>
                <a:cxn ang="0">
                  <a:pos x="308" y="27"/>
                </a:cxn>
              </a:cxnLst>
              <a:rect l="txL" t="txT" r="txR" b="txB"/>
              <a:pathLst>
                <a:path w="690" h="105">
                  <a:moveTo>
                    <a:pt x="0" y="105"/>
                  </a:moveTo>
                  <a:cubicBezTo>
                    <a:pt x="30" y="95"/>
                    <a:pt x="64" y="93"/>
                    <a:pt x="90" y="75"/>
                  </a:cubicBezTo>
                  <a:cubicBezTo>
                    <a:pt x="105" y="65"/>
                    <a:pt x="119" y="52"/>
                    <a:pt x="135" y="45"/>
                  </a:cubicBezTo>
                  <a:cubicBezTo>
                    <a:pt x="164" y="32"/>
                    <a:pt x="195" y="25"/>
                    <a:pt x="225" y="15"/>
                  </a:cubicBezTo>
                  <a:cubicBezTo>
                    <a:pt x="240" y="10"/>
                    <a:pt x="270" y="0"/>
                    <a:pt x="270" y="0"/>
                  </a:cubicBezTo>
                  <a:cubicBezTo>
                    <a:pt x="360" y="5"/>
                    <a:pt x="450" y="7"/>
                    <a:pt x="540" y="15"/>
                  </a:cubicBezTo>
                  <a:cubicBezTo>
                    <a:pt x="561" y="17"/>
                    <a:pt x="580" y="24"/>
                    <a:pt x="600" y="30"/>
                  </a:cubicBezTo>
                  <a:cubicBezTo>
                    <a:pt x="630" y="39"/>
                    <a:pt x="690" y="60"/>
                    <a:pt x="690" y="6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3" name="Freeform 21"/>
            <p:cNvSpPr>
              <a:spLocks noChangeAspect="1"/>
            </p:cNvSpPr>
            <p:nvPr/>
          </p:nvSpPr>
          <p:spPr>
            <a:xfrm>
              <a:off x="911" y="1691"/>
              <a:ext cx="488" cy="57"/>
            </a:xfrm>
            <a:custGeom>
              <a:avLst/>
              <a:gdLst>
                <a:gd name="txL" fmla="*/ 0 w 540"/>
                <a:gd name="txT" fmla="*/ 0 h 63"/>
                <a:gd name="txR" fmla="*/ 540 w 540"/>
                <a:gd name="txB" fmla="*/ 63 h 63"/>
              </a:gdLst>
              <a:ahLst/>
              <a:cxnLst>
                <a:cxn ang="0">
                  <a:pos x="0" y="8"/>
                </a:cxn>
                <a:cxn ang="0">
                  <a:pos x="141" y="3"/>
                </a:cxn>
                <a:cxn ang="0">
                  <a:pos x="233" y="8"/>
                </a:cxn>
                <a:cxn ang="0">
                  <a:pos x="241" y="29"/>
                </a:cxn>
              </a:cxnLst>
              <a:rect l="txL" t="txT" r="txR" b="txB"/>
              <a:pathLst>
                <a:path w="540" h="63">
                  <a:moveTo>
                    <a:pt x="0" y="18"/>
                  </a:moveTo>
                  <a:cubicBezTo>
                    <a:pt x="105" y="13"/>
                    <a:pt x="210" y="3"/>
                    <a:pt x="315" y="3"/>
                  </a:cubicBezTo>
                  <a:cubicBezTo>
                    <a:pt x="385" y="3"/>
                    <a:pt x="457" y="0"/>
                    <a:pt x="525" y="18"/>
                  </a:cubicBezTo>
                  <a:cubicBezTo>
                    <a:pt x="540" y="22"/>
                    <a:pt x="540" y="63"/>
                    <a:pt x="540" y="6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4" name="Freeform 22"/>
            <p:cNvSpPr>
              <a:spLocks noChangeAspect="1"/>
            </p:cNvSpPr>
            <p:nvPr/>
          </p:nvSpPr>
          <p:spPr>
            <a:xfrm>
              <a:off x="559" y="785"/>
              <a:ext cx="379" cy="610"/>
            </a:xfrm>
            <a:custGeom>
              <a:avLst/>
              <a:gdLst>
                <a:gd name="txL" fmla="*/ 0 w 419"/>
                <a:gd name="txT" fmla="*/ 0 h 675"/>
                <a:gd name="txR" fmla="*/ 419 w 419"/>
                <a:gd name="txB" fmla="*/ 675 h 675"/>
              </a:gdLst>
              <a:ahLst/>
              <a:cxnLst>
                <a:cxn ang="0">
                  <a:pos x="187" y="0"/>
                </a:cxn>
                <a:cxn ang="0">
                  <a:pos x="120" y="33"/>
                </a:cxn>
                <a:cxn ang="0">
                  <a:pos x="33" y="87"/>
                </a:cxn>
                <a:cxn ang="0">
                  <a:pos x="20" y="127"/>
                </a:cxn>
                <a:cxn ang="0">
                  <a:pos x="73" y="248"/>
                </a:cxn>
                <a:cxn ang="0">
                  <a:pos x="107" y="287"/>
                </a:cxn>
                <a:cxn ang="0">
                  <a:pos x="128" y="294"/>
                </a:cxn>
                <a:cxn ang="0">
                  <a:pos x="134" y="301"/>
                </a:cxn>
              </a:cxnLst>
              <a:rect l="txL" t="txT" r="txR" b="txB"/>
              <a:pathLst>
                <a:path w="419" h="675">
                  <a:moveTo>
                    <a:pt x="419" y="0"/>
                  </a:moveTo>
                  <a:cubicBezTo>
                    <a:pt x="363" y="19"/>
                    <a:pt x="320" y="49"/>
                    <a:pt x="269" y="75"/>
                  </a:cubicBezTo>
                  <a:cubicBezTo>
                    <a:pt x="197" y="111"/>
                    <a:pt x="132" y="137"/>
                    <a:pt x="74" y="195"/>
                  </a:cubicBezTo>
                  <a:cubicBezTo>
                    <a:pt x="64" y="225"/>
                    <a:pt x="54" y="255"/>
                    <a:pt x="44" y="285"/>
                  </a:cubicBezTo>
                  <a:cubicBezTo>
                    <a:pt x="0" y="417"/>
                    <a:pt x="84" y="488"/>
                    <a:pt x="164" y="555"/>
                  </a:cubicBezTo>
                  <a:cubicBezTo>
                    <a:pt x="194" y="580"/>
                    <a:pt x="209" y="621"/>
                    <a:pt x="239" y="645"/>
                  </a:cubicBezTo>
                  <a:cubicBezTo>
                    <a:pt x="251" y="655"/>
                    <a:pt x="270" y="653"/>
                    <a:pt x="284" y="660"/>
                  </a:cubicBezTo>
                  <a:cubicBezTo>
                    <a:pt x="290" y="663"/>
                    <a:pt x="294" y="670"/>
                    <a:pt x="299" y="67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5" name="Freeform 23"/>
            <p:cNvSpPr>
              <a:spLocks noChangeAspect="1"/>
            </p:cNvSpPr>
            <p:nvPr/>
          </p:nvSpPr>
          <p:spPr>
            <a:xfrm>
              <a:off x="1521" y="1233"/>
              <a:ext cx="163" cy="271"/>
            </a:xfrm>
            <a:custGeom>
              <a:avLst/>
              <a:gdLst>
                <a:gd name="txL" fmla="*/ 0 w 180"/>
                <a:gd name="txT" fmla="*/ 0 h 300"/>
                <a:gd name="txR" fmla="*/ 180 w 180"/>
                <a:gd name="txB" fmla="*/ 300 h 300"/>
              </a:gdLst>
              <a:ahLst/>
              <a:cxnLst>
                <a:cxn ang="0">
                  <a:pos x="82" y="0"/>
                </a:cxn>
                <a:cxn ang="0">
                  <a:pos x="74" y="59"/>
                </a:cxn>
                <a:cxn ang="0">
                  <a:pos x="0" y="134"/>
                </a:cxn>
              </a:cxnLst>
              <a:rect l="txL" t="txT" r="txR" b="txB"/>
              <a:pathLst>
                <a:path w="180" h="300">
                  <a:moveTo>
                    <a:pt x="180" y="0"/>
                  </a:moveTo>
                  <a:cubicBezTo>
                    <a:pt x="175" y="45"/>
                    <a:pt x="179" y="92"/>
                    <a:pt x="165" y="135"/>
                  </a:cubicBezTo>
                  <a:cubicBezTo>
                    <a:pt x="149" y="183"/>
                    <a:pt x="60" y="300"/>
                    <a:pt x="0" y="30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6" name="Freeform 24"/>
            <p:cNvSpPr>
              <a:spLocks noChangeAspect="1"/>
            </p:cNvSpPr>
            <p:nvPr/>
          </p:nvSpPr>
          <p:spPr>
            <a:xfrm>
              <a:off x="2552" y="989"/>
              <a:ext cx="320" cy="569"/>
            </a:xfrm>
            <a:custGeom>
              <a:avLst/>
              <a:gdLst>
                <a:gd name="txL" fmla="*/ 0 w 354"/>
                <a:gd name="txT" fmla="*/ 0 h 630"/>
                <a:gd name="txR" fmla="*/ 354 w 354"/>
                <a:gd name="txB" fmla="*/ 630 h 630"/>
              </a:gdLst>
              <a:ahLst/>
              <a:cxnLst>
                <a:cxn ang="0">
                  <a:pos x="33" y="0"/>
                </a:cxn>
                <a:cxn ang="0">
                  <a:pos x="141" y="87"/>
                </a:cxn>
                <a:cxn ang="0">
                  <a:pos x="100" y="219"/>
                </a:cxn>
                <a:cxn ang="0">
                  <a:pos x="88" y="239"/>
                </a:cxn>
                <a:cxn ang="0">
                  <a:pos x="66" y="245"/>
                </a:cxn>
                <a:cxn ang="0">
                  <a:pos x="27" y="271"/>
                </a:cxn>
                <a:cxn ang="0">
                  <a:pos x="0" y="278"/>
                </a:cxn>
              </a:cxnLst>
              <a:rect l="txL" t="txT" r="txR" b="txB"/>
              <a:pathLst>
                <a:path w="354" h="630">
                  <a:moveTo>
                    <a:pt x="75" y="0"/>
                  </a:moveTo>
                  <a:cubicBezTo>
                    <a:pt x="191" y="29"/>
                    <a:pt x="275" y="75"/>
                    <a:pt x="315" y="195"/>
                  </a:cubicBezTo>
                  <a:cubicBezTo>
                    <a:pt x="307" y="327"/>
                    <a:pt x="354" y="452"/>
                    <a:pt x="225" y="495"/>
                  </a:cubicBezTo>
                  <a:cubicBezTo>
                    <a:pt x="215" y="510"/>
                    <a:pt x="209" y="529"/>
                    <a:pt x="195" y="540"/>
                  </a:cubicBezTo>
                  <a:cubicBezTo>
                    <a:pt x="183" y="550"/>
                    <a:pt x="164" y="547"/>
                    <a:pt x="150" y="555"/>
                  </a:cubicBezTo>
                  <a:cubicBezTo>
                    <a:pt x="118" y="573"/>
                    <a:pt x="90" y="595"/>
                    <a:pt x="60" y="615"/>
                  </a:cubicBezTo>
                  <a:cubicBezTo>
                    <a:pt x="43" y="626"/>
                    <a:pt x="0" y="630"/>
                    <a:pt x="0" y="63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7" name="Freeform 25"/>
            <p:cNvSpPr>
              <a:spLocks noChangeAspect="1"/>
            </p:cNvSpPr>
            <p:nvPr/>
          </p:nvSpPr>
          <p:spPr>
            <a:xfrm>
              <a:off x="2050" y="1301"/>
              <a:ext cx="380" cy="271"/>
            </a:xfrm>
            <a:custGeom>
              <a:avLst/>
              <a:gdLst>
                <a:gd name="txL" fmla="*/ 0 w 420"/>
                <a:gd name="txT" fmla="*/ 0 h 300"/>
                <a:gd name="txR" fmla="*/ 420 w 420"/>
                <a:gd name="txB" fmla="*/ 300 h 300"/>
              </a:gdLst>
              <a:ahLst/>
              <a:cxnLst>
                <a:cxn ang="0">
                  <a:pos x="0" y="0"/>
                </a:cxn>
                <a:cxn ang="0">
                  <a:pos x="7" y="53"/>
                </a:cxn>
                <a:cxn ang="0">
                  <a:pos x="47" y="87"/>
                </a:cxn>
                <a:cxn ang="0">
                  <a:pos x="108" y="107"/>
                </a:cxn>
                <a:cxn ang="0">
                  <a:pos x="188" y="134"/>
                </a:cxn>
              </a:cxnLst>
              <a:rect l="txL" t="txT" r="txR" b="txB"/>
              <a:pathLst>
                <a:path w="420" h="300">
                  <a:moveTo>
                    <a:pt x="0" y="0"/>
                  </a:moveTo>
                  <a:cubicBezTo>
                    <a:pt x="5" y="40"/>
                    <a:pt x="1" y="82"/>
                    <a:pt x="15" y="120"/>
                  </a:cubicBezTo>
                  <a:cubicBezTo>
                    <a:pt x="22" y="139"/>
                    <a:pt x="86" y="186"/>
                    <a:pt x="105" y="195"/>
                  </a:cubicBezTo>
                  <a:cubicBezTo>
                    <a:pt x="148" y="214"/>
                    <a:pt x="201" y="214"/>
                    <a:pt x="240" y="240"/>
                  </a:cubicBezTo>
                  <a:cubicBezTo>
                    <a:pt x="292" y="275"/>
                    <a:pt x="357" y="300"/>
                    <a:pt x="420" y="30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8" name="Freeform 26"/>
            <p:cNvSpPr>
              <a:spLocks noChangeAspect="1"/>
            </p:cNvSpPr>
            <p:nvPr/>
          </p:nvSpPr>
          <p:spPr>
            <a:xfrm>
              <a:off x="1616" y="1748"/>
              <a:ext cx="774" cy="54"/>
            </a:xfrm>
            <a:custGeom>
              <a:avLst/>
              <a:gdLst>
                <a:gd name="txL" fmla="*/ 0 w 855"/>
                <a:gd name="txT" fmla="*/ 0 h 60"/>
                <a:gd name="txR" fmla="*/ 855 w 855"/>
                <a:gd name="txB" fmla="*/ 60 h 60"/>
              </a:gdLst>
              <a:ahLst/>
              <a:cxnLst>
                <a:cxn ang="0">
                  <a:pos x="0" y="0"/>
                </a:cxn>
                <a:cxn ang="0">
                  <a:pos x="216" y="26"/>
                </a:cxn>
                <a:cxn ang="0">
                  <a:pos x="339" y="20"/>
                </a:cxn>
                <a:cxn ang="0">
                  <a:pos x="358" y="13"/>
                </a:cxn>
                <a:cxn ang="0">
                  <a:pos x="387" y="7"/>
                </a:cxn>
              </a:cxnLst>
              <a:rect l="txL" t="txT" r="txR" b="txB"/>
              <a:pathLst>
                <a:path w="855" h="60">
                  <a:moveTo>
                    <a:pt x="0" y="0"/>
                  </a:moveTo>
                  <a:cubicBezTo>
                    <a:pt x="160" y="15"/>
                    <a:pt x="322" y="28"/>
                    <a:pt x="480" y="60"/>
                  </a:cubicBezTo>
                  <a:cubicBezTo>
                    <a:pt x="570" y="55"/>
                    <a:pt x="660" y="54"/>
                    <a:pt x="750" y="45"/>
                  </a:cubicBezTo>
                  <a:cubicBezTo>
                    <a:pt x="766" y="44"/>
                    <a:pt x="780" y="34"/>
                    <a:pt x="795" y="30"/>
                  </a:cubicBezTo>
                  <a:cubicBezTo>
                    <a:pt x="815" y="24"/>
                    <a:pt x="855" y="15"/>
                    <a:pt x="855" y="1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89" name="Freeform 27"/>
            <p:cNvSpPr>
              <a:spLocks noChangeAspect="1"/>
            </p:cNvSpPr>
            <p:nvPr/>
          </p:nvSpPr>
          <p:spPr>
            <a:xfrm>
              <a:off x="2573" y="1763"/>
              <a:ext cx="691" cy="12"/>
            </a:xfrm>
            <a:custGeom>
              <a:avLst/>
              <a:gdLst>
                <a:gd name="txL" fmla="*/ 0 w 765"/>
                <a:gd name="txT" fmla="*/ 0 h 13"/>
                <a:gd name="txR" fmla="*/ 765 w 765"/>
                <a:gd name="txB" fmla="*/ 13 h 13"/>
              </a:gdLst>
              <a:ahLst/>
              <a:cxnLst>
                <a:cxn ang="0">
                  <a:pos x="0" y="6"/>
                </a:cxn>
                <a:cxn ang="0">
                  <a:pos x="340" y="6"/>
                </a:cxn>
              </a:cxnLst>
              <a:rect l="txL" t="txT" r="txR" b="txB"/>
              <a:pathLst>
                <a:path w="765" h="13">
                  <a:moveTo>
                    <a:pt x="0" y="13"/>
                  </a:moveTo>
                  <a:cubicBezTo>
                    <a:pt x="294" y="0"/>
                    <a:pt x="464" y="13"/>
                    <a:pt x="765" y="13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0" name="Text Box 28"/>
            <p:cNvSpPr txBox="1">
              <a:spLocks noChangeAspect="1"/>
            </p:cNvSpPr>
            <p:nvPr/>
          </p:nvSpPr>
          <p:spPr>
            <a:xfrm>
              <a:off x="1824" y="240"/>
              <a:ext cx="569" cy="423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A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91" name="Text Box 29"/>
            <p:cNvSpPr txBox="1">
              <a:spLocks noChangeAspect="1"/>
            </p:cNvSpPr>
            <p:nvPr/>
          </p:nvSpPr>
          <p:spPr>
            <a:xfrm>
              <a:off x="926" y="945"/>
              <a:ext cx="665" cy="423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C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9492" name="Freeform 30"/>
            <p:cNvSpPr>
              <a:spLocks noChangeAspect="1"/>
            </p:cNvSpPr>
            <p:nvPr/>
          </p:nvSpPr>
          <p:spPr>
            <a:xfrm>
              <a:off x="2607" y="419"/>
              <a:ext cx="40" cy="597"/>
            </a:xfrm>
            <a:custGeom>
              <a:avLst/>
              <a:gdLst>
                <a:gd name="txL" fmla="*/ 0 w 45"/>
                <a:gd name="txT" fmla="*/ 0 h 660"/>
                <a:gd name="txR" fmla="*/ 45 w 45"/>
                <a:gd name="txB" fmla="*/ 660 h 660"/>
              </a:gdLst>
              <a:ahLst/>
              <a:cxnLst>
                <a:cxn ang="0">
                  <a:pos x="18" y="0"/>
                </a:cxn>
                <a:cxn ang="0">
                  <a:pos x="0" y="296"/>
                </a:cxn>
              </a:cxnLst>
              <a:rect l="txL" t="txT" r="txR" b="txB"/>
              <a:pathLst>
                <a:path w="45" h="660">
                  <a:moveTo>
                    <a:pt x="45" y="0"/>
                  </a:moveTo>
                  <a:cubicBezTo>
                    <a:pt x="2" y="217"/>
                    <a:pt x="0" y="440"/>
                    <a:pt x="0" y="66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3" name="Freeform 31"/>
            <p:cNvSpPr>
              <a:spLocks noChangeAspect="1"/>
            </p:cNvSpPr>
            <p:nvPr/>
          </p:nvSpPr>
          <p:spPr>
            <a:xfrm>
              <a:off x="2376" y="446"/>
              <a:ext cx="77" cy="543"/>
            </a:xfrm>
            <a:custGeom>
              <a:avLst/>
              <a:gdLst>
                <a:gd name="txL" fmla="*/ 0 w 85"/>
                <a:gd name="txT" fmla="*/ 0 h 600"/>
                <a:gd name="txR" fmla="*/ 85 w 85"/>
                <a:gd name="txB" fmla="*/ 600 h 600"/>
              </a:gdLst>
              <a:ahLst/>
              <a:cxnLst>
                <a:cxn ang="0">
                  <a:pos x="0" y="0"/>
                </a:cxn>
                <a:cxn ang="0">
                  <a:pos x="21" y="101"/>
                </a:cxn>
                <a:cxn ang="0">
                  <a:pos x="21" y="270"/>
                </a:cxn>
              </a:cxnLst>
              <a:rect l="txL" t="txT" r="txR" b="txB"/>
              <a:pathLst>
                <a:path w="85" h="600">
                  <a:moveTo>
                    <a:pt x="0" y="0"/>
                  </a:moveTo>
                  <a:cubicBezTo>
                    <a:pt x="18" y="166"/>
                    <a:pt x="1" y="92"/>
                    <a:pt x="45" y="225"/>
                  </a:cubicBezTo>
                  <a:cubicBezTo>
                    <a:pt x="85" y="344"/>
                    <a:pt x="45" y="475"/>
                    <a:pt x="45" y="60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4" name="Freeform 32"/>
            <p:cNvSpPr>
              <a:spLocks noChangeAspect="1"/>
            </p:cNvSpPr>
            <p:nvPr/>
          </p:nvSpPr>
          <p:spPr>
            <a:xfrm>
              <a:off x="2539" y="1518"/>
              <a:ext cx="27" cy="542"/>
            </a:xfrm>
            <a:custGeom>
              <a:avLst/>
              <a:gdLst>
                <a:gd name="txL" fmla="*/ 0 w 30"/>
                <a:gd name="txT" fmla="*/ 0 h 600"/>
                <a:gd name="txR" fmla="*/ 30 w 30"/>
                <a:gd name="txB" fmla="*/ 600 h 600"/>
              </a:gdLst>
              <a:ahLst/>
              <a:cxnLst>
                <a:cxn ang="0">
                  <a:pos x="0" y="266"/>
                </a:cxn>
                <a:cxn ang="0">
                  <a:pos x="13" y="0"/>
                </a:cxn>
              </a:cxnLst>
              <a:rect l="txL" t="txT" r="txR" b="txB"/>
              <a:pathLst>
                <a:path w="30" h="600">
                  <a:moveTo>
                    <a:pt x="0" y="600"/>
                  </a:moveTo>
                  <a:cubicBezTo>
                    <a:pt x="3" y="490"/>
                    <a:pt x="30" y="176"/>
                    <a:pt x="30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5" name="Freeform 33"/>
            <p:cNvSpPr>
              <a:spLocks noChangeAspect="1"/>
            </p:cNvSpPr>
            <p:nvPr/>
          </p:nvSpPr>
          <p:spPr>
            <a:xfrm>
              <a:off x="2322" y="1545"/>
              <a:ext cx="95" cy="434"/>
            </a:xfrm>
            <a:custGeom>
              <a:avLst/>
              <a:gdLst>
                <a:gd name="txL" fmla="*/ 0 w 105"/>
                <a:gd name="txT" fmla="*/ 0 h 480"/>
                <a:gd name="txR" fmla="*/ 105 w 105"/>
                <a:gd name="txB" fmla="*/ 480 h 480"/>
              </a:gdLst>
              <a:ahLst/>
              <a:cxnLst>
                <a:cxn ang="0">
                  <a:pos x="0" y="213"/>
                </a:cxn>
                <a:cxn ang="0">
                  <a:pos x="27" y="115"/>
                </a:cxn>
                <a:cxn ang="0">
                  <a:pos x="47" y="0"/>
                </a:cxn>
              </a:cxnLst>
              <a:rect l="txL" t="txT" r="txR" b="txB"/>
              <a:pathLst>
                <a:path w="105" h="480">
                  <a:moveTo>
                    <a:pt x="0" y="480"/>
                  </a:moveTo>
                  <a:cubicBezTo>
                    <a:pt x="52" y="403"/>
                    <a:pt x="40" y="348"/>
                    <a:pt x="60" y="255"/>
                  </a:cubicBezTo>
                  <a:cubicBezTo>
                    <a:pt x="81" y="156"/>
                    <a:pt x="105" y="108"/>
                    <a:pt x="105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6" name="Freeform 34"/>
            <p:cNvSpPr>
              <a:spLocks noChangeAspect="1"/>
            </p:cNvSpPr>
            <p:nvPr/>
          </p:nvSpPr>
          <p:spPr>
            <a:xfrm>
              <a:off x="1671" y="1246"/>
              <a:ext cx="379" cy="72"/>
            </a:xfrm>
            <a:custGeom>
              <a:avLst/>
              <a:gdLst>
                <a:gd name="txL" fmla="*/ 0 w 420"/>
                <a:gd name="txT" fmla="*/ 0 h 79"/>
                <a:gd name="txR" fmla="*/ 420 w 420"/>
                <a:gd name="txB" fmla="*/ 79 h 79"/>
              </a:gdLst>
              <a:ahLst/>
              <a:cxnLst>
                <a:cxn ang="0">
                  <a:pos x="0" y="0"/>
                </a:cxn>
                <a:cxn ang="0">
                  <a:pos x="119" y="36"/>
                </a:cxn>
                <a:cxn ang="0">
                  <a:pos x="185" y="36"/>
                </a:cxn>
              </a:cxnLst>
              <a:rect l="txL" t="txT" r="txR" b="txB"/>
              <a:pathLst>
                <a:path w="420" h="79">
                  <a:moveTo>
                    <a:pt x="0" y="0"/>
                  </a:moveTo>
                  <a:cubicBezTo>
                    <a:pt x="89" y="18"/>
                    <a:pt x="179" y="69"/>
                    <a:pt x="270" y="75"/>
                  </a:cubicBezTo>
                  <a:cubicBezTo>
                    <a:pt x="320" y="79"/>
                    <a:pt x="370" y="75"/>
                    <a:pt x="420" y="7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7" name="Freeform 35"/>
            <p:cNvSpPr>
              <a:spLocks noChangeAspect="1"/>
            </p:cNvSpPr>
            <p:nvPr/>
          </p:nvSpPr>
          <p:spPr>
            <a:xfrm>
              <a:off x="1671" y="1111"/>
              <a:ext cx="458" cy="57"/>
            </a:xfrm>
            <a:custGeom>
              <a:avLst/>
              <a:gdLst>
                <a:gd name="txL" fmla="*/ 0 w 507"/>
                <a:gd name="txT" fmla="*/ 0 h 63"/>
                <a:gd name="txR" fmla="*/ 507 w 507"/>
                <a:gd name="txB" fmla="*/ 63 h 63"/>
              </a:gdLst>
              <a:ahLst/>
              <a:cxnLst>
                <a:cxn ang="0">
                  <a:pos x="0" y="0"/>
                </a:cxn>
                <a:cxn ang="0">
                  <a:pos x="147" y="13"/>
                </a:cxn>
                <a:cxn ang="0">
                  <a:pos x="200" y="27"/>
                </a:cxn>
              </a:cxnLst>
              <a:rect l="txL" t="txT" r="txR" b="txB"/>
              <a:pathLst>
                <a:path w="507" h="63">
                  <a:moveTo>
                    <a:pt x="0" y="0"/>
                  </a:moveTo>
                  <a:cubicBezTo>
                    <a:pt x="19" y="2"/>
                    <a:pt x="296" y="24"/>
                    <a:pt x="330" y="30"/>
                  </a:cubicBezTo>
                  <a:cubicBezTo>
                    <a:pt x="507" y="63"/>
                    <a:pt x="364" y="60"/>
                    <a:pt x="450" y="6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8" name="Freeform 36"/>
            <p:cNvSpPr>
              <a:spLocks noChangeAspect="1"/>
            </p:cNvSpPr>
            <p:nvPr/>
          </p:nvSpPr>
          <p:spPr>
            <a:xfrm>
              <a:off x="1535" y="473"/>
              <a:ext cx="108" cy="488"/>
            </a:xfrm>
            <a:custGeom>
              <a:avLst/>
              <a:gdLst>
                <a:gd name="txL" fmla="*/ 0 w 120"/>
                <a:gd name="txT" fmla="*/ 0 h 540"/>
                <a:gd name="txR" fmla="*/ 120 w 120"/>
                <a:gd name="txB" fmla="*/ 540 h 540"/>
              </a:gdLst>
              <a:ahLst/>
              <a:cxnLst>
                <a:cxn ang="0">
                  <a:pos x="51" y="0"/>
                </a:cxn>
                <a:cxn ang="0">
                  <a:pos x="26" y="80"/>
                </a:cxn>
                <a:cxn ang="0">
                  <a:pos x="0" y="241"/>
                </a:cxn>
              </a:cxnLst>
              <a:rect l="txL" t="txT" r="txR" b="txB"/>
              <a:pathLst>
                <a:path w="120" h="540">
                  <a:moveTo>
                    <a:pt x="120" y="0"/>
                  </a:moveTo>
                  <a:cubicBezTo>
                    <a:pt x="81" y="58"/>
                    <a:pt x="79" y="114"/>
                    <a:pt x="60" y="180"/>
                  </a:cubicBezTo>
                  <a:cubicBezTo>
                    <a:pt x="26" y="298"/>
                    <a:pt x="0" y="416"/>
                    <a:pt x="0" y="54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99" name="Freeform 37"/>
            <p:cNvSpPr>
              <a:spLocks noChangeAspect="1"/>
            </p:cNvSpPr>
            <p:nvPr/>
          </p:nvSpPr>
          <p:spPr>
            <a:xfrm>
              <a:off x="1359" y="378"/>
              <a:ext cx="54" cy="529"/>
            </a:xfrm>
            <a:custGeom>
              <a:avLst/>
              <a:gdLst>
                <a:gd name="txL" fmla="*/ 0 w 60"/>
                <a:gd name="txT" fmla="*/ 0 h 585"/>
                <a:gd name="txR" fmla="*/ 60 w 60"/>
                <a:gd name="txB" fmla="*/ 585 h 585"/>
              </a:gdLst>
              <a:ahLst/>
              <a:cxnLst>
                <a:cxn ang="0">
                  <a:pos x="26" y="0"/>
                </a:cxn>
                <a:cxn ang="0">
                  <a:pos x="20" y="128"/>
                </a:cxn>
                <a:cxn ang="0">
                  <a:pos x="0" y="261"/>
                </a:cxn>
              </a:cxnLst>
              <a:rect l="txL" t="txT" r="txR" b="txB"/>
              <a:pathLst>
                <a:path w="60" h="585">
                  <a:moveTo>
                    <a:pt x="60" y="0"/>
                  </a:moveTo>
                  <a:cubicBezTo>
                    <a:pt x="55" y="95"/>
                    <a:pt x="54" y="190"/>
                    <a:pt x="45" y="285"/>
                  </a:cubicBezTo>
                  <a:cubicBezTo>
                    <a:pt x="36" y="385"/>
                    <a:pt x="0" y="481"/>
                    <a:pt x="0" y="58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500" name="Freeform 38"/>
            <p:cNvSpPr>
              <a:spLocks noChangeAspect="1"/>
            </p:cNvSpPr>
            <p:nvPr/>
          </p:nvSpPr>
          <p:spPr>
            <a:xfrm>
              <a:off x="1398" y="1504"/>
              <a:ext cx="15" cy="339"/>
            </a:xfrm>
            <a:custGeom>
              <a:avLst/>
              <a:gdLst>
                <a:gd name="txL" fmla="*/ 0 w 16"/>
                <a:gd name="txT" fmla="*/ 0 h 375"/>
                <a:gd name="txR" fmla="*/ 16 w 16"/>
                <a:gd name="txB" fmla="*/ 375 h 375"/>
              </a:gdLst>
              <a:ahLst/>
              <a:cxnLst>
                <a:cxn ang="0">
                  <a:pos x="8" y="166"/>
                </a:cxn>
                <a:cxn ang="0">
                  <a:pos x="1" y="0"/>
                </a:cxn>
              </a:cxnLst>
              <a:rect l="txL" t="txT" r="txR" b="txB"/>
              <a:pathLst>
                <a:path w="16" h="375">
                  <a:moveTo>
                    <a:pt x="16" y="375"/>
                  </a:moveTo>
                  <a:cubicBezTo>
                    <a:pt x="0" y="30"/>
                    <a:pt x="1" y="155"/>
                    <a:pt x="1" y="0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501" name="Freeform 39"/>
            <p:cNvSpPr>
              <a:spLocks noChangeAspect="1"/>
            </p:cNvSpPr>
            <p:nvPr/>
          </p:nvSpPr>
          <p:spPr>
            <a:xfrm>
              <a:off x="1535" y="1490"/>
              <a:ext cx="149" cy="448"/>
            </a:xfrm>
            <a:custGeom>
              <a:avLst/>
              <a:gdLst>
                <a:gd name="txL" fmla="*/ 0 w 165"/>
                <a:gd name="txT" fmla="*/ 0 h 495"/>
                <a:gd name="txR" fmla="*/ 165 w 165"/>
                <a:gd name="txB" fmla="*/ 495 h 495"/>
              </a:gdLst>
              <a:ahLst/>
              <a:cxnLst>
                <a:cxn ang="0">
                  <a:pos x="0" y="0"/>
                </a:cxn>
                <a:cxn ang="0">
                  <a:pos x="40" y="82"/>
                </a:cxn>
                <a:cxn ang="0">
                  <a:pos x="46" y="101"/>
                </a:cxn>
                <a:cxn ang="0">
                  <a:pos x="52" y="121"/>
                </a:cxn>
                <a:cxn ang="0">
                  <a:pos x="59" y="168"/>
                </a:cxn>
                <a:cxn ang="0">
                  <a:pos x="65" y="188"/>
                </a:cxn>
                <a:cxn ang="0">
                  <a:pos x="72" y="223"/>
                </a:cxn>
              </a:cxnLst>
              <a:rect l="txL" t="txT" r="txR" b="txB"/>
              <a:pathLst>
                <a:path w="165" h="495">
                  <a:moveTo>
                    <a:pt x="0" y="0"/>
                  </a:moveTo>
                  <a:cubicBezTo>
                    <a:pt x="78" y="116"/>
                    <a:pt x="49" y="56"/>
                    <a:pt x="90" y="180"/>
                  </a:cubicBezTo>
                  <a:cubicBezTo>
                    <a:pt x="95" y="195"/>
                    <a:pt x="100" y="210"/>
                    <a:pt x="105" y="225"/>
                  </a:cubicBezTo>
                  <a:cubicBezTo>
                    <a:pt x="110" y="240"/>
                    <a:pt x="120" y="270"/>
                    <a:pt x="120" y="270"/>
                  </a:cubicBezTo>
                  <a:cubicBezTo>
                    <a:pt x="125" y="305"/>
                    <a:pt x="128" y="340"/>
                    <a:pt x="135" y="375"/>
                  </a:cubicBezTo>
                  <a:cubicBezTo>
                    <a:pt x="138" y="391"/>
                    <a:pt x="146" y="405"/>
                    <a:pt x="150" y="420"/>
                  </a:cubicBezTo>
                  <a:cubicBezTo>
                    <a:pt x="156" y="445"/>
                    <a:pt x="165" y="495"/>
                    <a:pt x="165" y="49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502" name="Freeform 40"/>
            <p:cNvSpPr>
              <a:spLocks noChangeAspect="1"/>
            </p:cNvSpPr>
            <p:nvPr/>
          </p:nvSpPr>
          <p:spPr>
            <a:xfrm>
              <a:off x="735" y="1382"/>
              <a:ext cx="81" cy="502"/>
            </a:xfrm>
            <a:custGeom>
              <a:avLst/>
              <a:gdLst>
                <a:gd name="txL" fmla="*/ 0 w 90"/>
                <a:gd name="txT" fmla="*/ 0 h 555"/>
                <a:gd name="txR" fmla="*/ 90 w 90"/>
                <a:gd name="txB" fmla="*/ 555 h 555"/>
              </a:gdLst>
              <a:ahLst/>
              <a:cxnLst>
                <a:cxn ang="0">
                  <a:pos x="39" y="0"/>
                </a:cxn>
                <a:cxn ang="0">
                  <a:pos x="32" y="167"/>
                </a:cxn>
                <a:cxn ang="0">
                  <a:pos x="13" y="209"/>
                </a:cxn>
                <a:cxn ang="0">
                  <a:pos x="0" y="249"/>
                </a:cxn>
              </a:cxnLst>
              <a:rect l="txL" t="txT" r="txR" b="txB"/>
              <a:pathLst>
                <a:path w="90" h="555">
                  <a:moveTo>
                    <a:pt x="90" y="0"/>
                  </a:moveTo>
                  <a:cubicBezTo>
                    <a:pt x="85" y="125"/>
                    <a:pt x="84" y="250"/>
                    <a:pt x="75" y="375"/>
                  </a:cubicBezTo>
                  <a:cubicBezTo>
                    <a:pt x="72" y="424"/>
                    <a:pt x="49" y="422"/>
                    <a:pt x="30" y="465"/>
                  </a:cubicBezTo>
                  <a:cubicBezTo>
                    <a:pt x="17" y="494"/>
                    <a:pt x="0" y="555"/>
                    <a:pt x="0" y="55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503" name="Freeform 41"/>
            <p:cNvSpPr>
              <a:spLocks noChangeAspect="1"/>
            </p:cNvSpPr>
            <p:nvPr/>
          </p:nvSpPr>
          <p:spPr>
            <a:xfrm>
              <a:off x="884" y="392"/>
              <a:ext cx="56" cy="420"/>
            </a:xfrm>
            <a:custGeom>
              <a:avLst/>
              <a:gdLst>
                <a:gd name="txL" fmla="*/ 0 w 62"/>
                <a:gd name="txT" fmla="*/ 0 h 465"/>
                <a:gd name="txR" fmla="*/ 62 w 62"/>
                <a:gd name="txB" fmla="*/ 465 h 465"/>
              </a:gdLst>
              <a:ahLst/>
              <a:cxnLst>
                <a:cxn ang="0">
                  <a:pos x="0" y="0"/>
                </a:cxn>
                <a:cxn ang="0">
                  <a:pos x="27" y="40"/>
                </a:cxn>
                <a:cxn ang="0">
                  <a:pos x="20" y="206"/>
                </a:cxn>
              </a:cxnLst>
              <a:rect l="txL" t="txT" r="txR" b="txB"/>
              <a:pathLst>
                <a:path w="62" h="465">
                  <a:moveTo>
                    <a:pt x="0" y="0"/>
                  </a:moveTo>
                  <a:cubicBezTo>
                    <a:pt x="20" y="30"/>
                    <a:pt x="62" y="54"/>
                    <a:pt x="60" y="90"/>
                  </a:cubicBezTo>
                  <a:cubicBezTo>
                    <a:pt x="44" y="425"/>
                    <a:pt x="45" y="300"/>
                    <a:pt x="45" y="46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504" name="Freeform 42"/>
            <p:cNvSpPr>
              <a:spLocks noChangeAspect="1"/>
            </p:cNvSpPr>
            <p:nvPr/>
          </p:nvSpPr>
          <p:spPr>
            <a:xfrm>
              <a:off x="1074" y="365"/>
              <a:ext cx="27" cy="447"/>
            </a:xfrm>
            <a:custGeom>
              <a:avLst/>
              <a:gdLst>
                <a:gd name="txL" fmla="*/ 0 w 30"/>
                <a:gd name="txT" fmla="*/ 0 h 495"/>
                <a:gd name="txR" fmla="*/ 30 w 30"/>
                <a:gd name="txB" fmla="*/ 495 h 495"/>
              </a:gdLst>
              <a:ahLst/>
              <a:cxnLst>
                <a:cxn ang="0">
                  <a:pos x="13" y="0"/>
                </a:cxn>
                <a:cxn ang="0">
                  <a:pos x="0" y="219"/>
                </a:cxn>
              </a:cxnLst>
              <a:rect l="txL" t="txT" r="txR" b="txB"/>
              <a:pathLst>
                <a:path w="30" h="495">
                  <a:moveTo>
                    <a:pt x="30" y="0"/>
                  </a:moveTo>
                  <a:cubicBezTo>
                    <a:pt x="1" y="206"/>
                    <a:pt x="0" y="215"/>
                    <a:pt x="0" y="495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9"/>
          <p:cNvGrpSpPr/>
          <p:nvPr/>
        </p:nvGrpSpPr>
        <p:grpSpPr>
          <a:xfrm>
            <a:off x="4648200" y="3276600"/>
            <a:ext cx="4038600" cy="2971800"/>
            <a:chOff x="3168" y="2304"/>
            <a:chExt cx="2544" cy="1680"/>
          </a:xfrm>
        </p:grpSpPr>
        <p:sp>
          <p:nvSpPr>
            <p:cNvPr id="19462" name="Oval 47"/>
            <p:cNvSpPr>
              <a:spLocks noChangeAspect="1"/>
            </p:cNvSpPr>
            <p:nvPr/>
          </p:nvSpPr>
          <p:spPr>
            <a:xfrm>
              <a:off x="3585" y="2603"/>
              <a:ext cx="259" cy="464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3" name="Oval 48"/>
            <p:cNvSpPr>
              <a:spLocks noChangeAspect="1"/>
            </p:cNvSpPr>
            <p:nvPr/>
          </p:nvSpPr>
          <p:spPr>
            <a:xfrm>
              <a:off x="3585" y="3067"/>
              <a:ext cx="259" cy="462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4" name="Line 49"/>
            <p:cNvSpPr>
              <a:spLocks noChangeAspect="1"/>
            </p:cNvSpPr>
            <p:nvPr/>
          </p:nvSpPr>
          <p:spPr>
            <a:xfrm>
              <a:off x="3672" y="3067"/>
              <a:ext cx="1298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5" name="Line 50"/>
            <p:cNvSpPr>
              <a:spLocks noChangeAspect="1"/>
            </p:cNvSpPr>
            <p:nvPr/>
          </p:nvSpPr>
          <p:spPr>
            <a:xfrm>
              <a:off x="3720" y="2595"/>
              <a:ext cx="1213" cy="46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6" name="Line 51"/>
            <p:cNvSpPr>
              <a:spLocks noChangeAspect="1"/>
            </p:cNvSpPr>
            <p:nvPr/>
          </p:nvSpPr>
          <p:spPr>
            <a:xfrm flipH="1">
              <a:off x="3672" y="3067"/>
              <a:ext cx="1298" cy="46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7" name="Text Box 52"/>
            <p:cNvSpPr txBox="1">
              <a:spLocks noChangeAspect="1"/>
            </p:cNvSpPr>
            <p:nvPr/>
          </p:nvSpPr>
          <p:spPr>
            <a:xfrm>
              <a:off x="3623" y="2304"/>
              <a:ext cx="605" cy="278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8" name="Text Box 53"/>
            <p:cNvSpPr txBox="1">
              <a:spLocks noChangeAspect="1"/>
            </p:cNvSpPr>
            <p:nvPr/>
          </p:nvSpPr>
          <p:spPr>
            <a:xfrm>
              <a:off x="3585" y="3614"/>
              <a:ext cx="606" cy="370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9469" name="Text Box 54"/>
            <p:cNvSpPr txBox="1">
              <a:spLocks noChangeAspect="1"/>
            </p:cNvSpPr>
            <p:nvPr/>
          </p:nvSpPr>
          <p:spPr>
            <a:xfrm>
              <a:off x="3168" y="2938"/>
              <a:ext cx="520" cy="278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C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9470" name="Text Box 55"/>
            <p:cNvSpPr txBox="1">
              <a:spLocks noChangeAspect="1"/>
            </p:cNvSpPr>
            <p:nvPr/>
          </p:nvSpPr>
          <p:spPr>
            <a:xfrm>
              <a:off x="5105" y="2951"/>
              <a:ext cx="607" cy="371"/>
            </a:xfrm>
            <a:prstGeom prst="rect">
              <a:avLst/>
            </a:prstGeom>
            <a:noFill/>
            <a:ln w="38100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D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4332" name="Text Box 60"/>
          <p:cNvSpPr txBox="1"/>
          <p:nvPr/>
        </p:nvSpPr>
        <p:spPr>
          <a:xfrm>
            <a:off x="838200" y="35814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哥尼斯堡七空桥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333" name="Text Box 61"/>
          <p:cNvSpPr txBox="1"/>
          <p:nvPr/>
        </p:nvSpPr>
        <p:spPr>
          <a:xfrm>
            <a:off x="6400800" y="5486400"/>
            <a:ext cx="2286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一笔画问题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32" grpId="0"/>
      <p:bldP spid="543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58"/>
          <p:cNvSpPr/>
          <p:nvPr/>
        </p:nvSpPr>
        <p:spPr>
          <a:xfrm>
            <a:off x="381000" y="609600"/>
            <a:ext cx="85344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3200" b="1" dirty="0">
                <a:latin typeface="隶书" panose="02010509060101010101" pitchFamily="49" charset="-122"/>
              </a:rPr>
              <a:t>一、 </a:t>
            </a:r>
            <a:r>
              <a:rPr lang="zh-CN" altLang="en-US" sz="3200" b="1" dirty="0">
                <a:latin typeface="Times New Roman" panose="02020603050405020304" pitchFamily="18" charset="0"/>
                <a:ea typeface="隶书" panose="02010509060101010101" pitchFamily="49" charset="-122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</a:rPr>
              <a:t>图与网络的基本知识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eaLnBrk="0" hangingPunct="0"/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/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（一）、</a:t>
            </a:r>
            <a:r>
              <a:rPr lang="zh-CN" altLang="en-US" sz="3200" b="1" dirty="0">
                <a:latin typeface="隶书" panose="02010509060101010101" pitchFamily="49" charset="-122"/>
                <a:ea typeface="楷体_GB2312" pitchFamily="49" charset="-122"/>
              </a:rPr>
              <a:t>图与网络的基本概念</a:t>
            </a:r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20483" name="Group 67"/>
          <p:cNvGrpSpPr/>
          <p:nvPr/>
        </p:nvGrpSpPr>
        <p:grpSpPr>
          <a:xfrm>
            <a:off x="2057400" y="2286000"/>
            <a:ext cx="4191000" cy="3048000"/>
            <a:chOff x="1776" y="1872"/>
            <a:chExt cx="1680" cy="1129"/>
          </a:xfrm>
        </p:grpSpPr>
        <p:sp>
          <p:nvSpPr>
            <p:cNvPr id="20485" name="AutoShape 59"/>
            <p:cNvSpPr/>
            <p:nvPr/>
          </p:nvSpPr>
          <p:spPr>
            <a:xfrm>
              <a:off x="2016" y="2112"/>
              <a:ext cx="1152" cy="768"/>
            </a:xfrm>
            <a:prstGeom prst="pentagon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486" name="Line 60"/>
            <p:cNvSpPr/>
            <p:nvPr/>
          </p:nvSpPr>
          <p:spPr>
            <a:xfrm>
              <a:off x="2016" y="2400"/>
              <a:ext cx="912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7" name="Line 61"/>
            <p:cNvSpPr/>
            <p:nvPr/>
          </p:nvSpPr>
          <p:spPr>
            <a:xfrm>
              <a:off x="2016" y="2400"/>
              <a:ext cx="1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88" name="Text Box 62"/>
            <p:cNvSpPr txBox="1"/>
            <p:nvPr/>
          </p:nvSpPr>
          <p:spPr>
            <a:xfrm>
              <a:off x="2592" y="1872"/>
              <a:ext cx="288" cy="16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89" name="Text Box 63"/>
            <p:cNvSpPr txBox="1"/>
            <p:nvPr/>
          </p:nvSpPr>
          <p:spPr>
            <a:xfrm>
              <a:off x="1776" y="2256"/>
              <a:ext cx="288" cy="16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0" name="Text Box 64"/>
            <p:cNvSpPr txBox="1"/>
            <p:nvPr/>
          </p:nvSpPr>
          <p:spPr>
            <a:xfrm>
              <a:off x="3168" y="2304"/>
              <a:ext cx="288" cy="17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1" name="Text Box 65"/>
            <p:cNvSpPr txBox="1"/>
            <p:nvPr/>
          </p:nvSpPr>
          <p:spPr>
            <a:xfrm>
              <a:off x="2976" y="2832"/>
              <a:ext cx="288" cy="16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0492" name="Text Box 66"/>
            <p:cNvSpPr txBox="1"/>
            <p:nvPr/>
          </p:nvSpPr>
          <p:spPr>
            <a:xfrm>
              <a:off x="2016" y="2832"/>
              <a:ext cx="288" cy="16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188" name="Text Box 68"/>
          <p:cNvSpPr txBox="1"/>
          <p:nvPr/>
        </p:nvSpPr>
        <p:spPr>
          <a:xfrm>
            <a:off x="0" y="5629275"/>
            <a:ext cx="9144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1、一个图是由点和连线组成。（连线可带箭头，也可不带，前者叫弧，后者叫边）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43" name="Group 53"/>
          <p:cNvGrpSpPr/>
          <p:nvPr/>
        </p:nvGrpSpPr>
        <p:grpSpPr>
          <a:xfrm>
            <a:off x="609600" y="533400"/>
            <a:ext cx="7924800" cy="1570038"/>
            <a:chOff x="384" y="336"/>
            <a:chExt cx="4992" cy="989"/>
          </a:xfrm>
        </p:grpSpPr>
        <p:sp>
          <p:nvSpPr>
            <p:cNvPr id="1075" name="Rectangle 2"/>
            <p:cNvSpPr/>
            <p:nvPr/>
          </p:nvSpPr>
          <p:spPr>
            <a:xfrm>
              <a:off x="384" y="336"/>
              <a:ext cx="4992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304800" algn="just"/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一个图是由点集           和    中元素的无序对的一个集合           构成的二元组，记为</a:t>
              </a:r>
              <a:r>
                <a:rPr lang="en-US" altLang="zh-CN" b="1" i="1" dirty="0">
                  <a:latin typeface="楷体_GB2312" pitchFamily="49" charset="-122"/>
                  <a:ea typeface="楷体_GB2312" pitchFamily="49" charset="-122"/>
                </a:rPr>
                <a:t>G 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=(</a:t>
              </a:r>
              <a:r>
                <a:rPr lang="en-US" altLang="zh-CN" b="1" i="1" dirty="0">
                  <a:latin typeface="楷体_GB2312" pitchFamily="49" charset="-122"/>
                  <a:ea typeface="楷体_GB2312" pitchFamily="49" charset="-122"/>
                </a:rPr>
                <a:t>V，E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)，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其中 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V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中的元素    叫做顶点，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V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表示图 </a:t>
              </a:r>
              <a:r>
                <a:rPr lang="en-US" altLang="zh-CN" b="1" i="1" dirty="0"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1" i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的点集合；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中的元素    叫做边，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E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表示图 </a:t>
              </a:r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 dirty="0">
                  <a:latin typeface="楷体_GB2312" pitchFamily="49" charset="-122"/>
                  <a:ea typeface="楷体_GB2312" pitchFamily="49" charset="-122"/>
                </a:rPr>
                <a:t>的边集合。</a:t>
              </a:r>
              <a:endParaRPr lang="zh-CN" altLang="en-US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038" name="Object 3"/>
            <p:cNvGraphicFramePr/>
            <p:nvPr/>
          </p:nvGraphicFramePr>
          <p:xfrm>
            <a:off x="2352" y="351"/>
            <a:ext cx="60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533400" imgH="241300" progId="Equation.3">
                    <p:embed/>
                  </p:oleObj>
                </mc:Choice>
                <mc:Fallback>
                  <p:oleObj name="" r:id="rId1" imgW="533400" imgH="2413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52" y="351"/>
                          <a:ext cx="604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9" name="Object 4"/>
            <p:cNvGraphicFramePr/>
            <p:nvPr/>
          </p:nvGraphicFramePr>
          <p:xfrm>
            <a:off x="1280" y="605"/>
            <a:ext cx="64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3" imgW="571500" imgH="228600" progId="Equation.3">
                    <p:embed/>
                  </p:oleObj>
                </mc:Choice>
                <mc:Fallback>
                  <p:oleObj name="" r:id="rId3" imgW="571500" imgH="2286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80" y="605"/>
                          <a:ext cx="648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0" name="Object 5"/>
            <p:cNvGraphicFramePr/>
            <p:nvPr/>
          </p:nvGraphicFramePr>
          <p:xfrm>
            <a:off x="1829" y="816"/>
            <a:ext cx="18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5" imgW="165100" imgH="241300" progId="Equation.3">
                    <p:embed/>
                  </p:oleObj>
                </mc:Choice>
                <mc:Fallback>
                  <p:oleObj name="" r:id="rId5" imgW="165100" imgH="2413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29" y="816"/>
                          <a:ext cx="187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1" name="Object 6"/>
            <p:cNvGraphicFramePr/>
            <p:nvPr/>
          </p:nvGraphicFramePr>
          <p:xfrm>
            <a:off x="1301" y="1056"/>
            <a:ext cx="18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7" imgW="165100" imgH="228600" progId="Equation.3">
                    <p:embed/>
                  </p:oleObj>
                </mc:Choice>
                <mc:Fallback>
                  <p:oleObj name="" r:id="rId7" imgW="165100" imgH="2286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01" y="1056"/>
                          <a:ext cx="187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2" name="Object 7"/>
            <p:cNvGraphicFramePr/>
            <p:nvPr/>
          </p:nvGraphicFramePr>
          <p:xfrm>
            <a:off x="3475" y="375"/>
            <a:ext cx="173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9" imgW="152400" imgH="177800" progId="Equation.3">
                    <p:embed/>
                  </p:oleObj>
                </mc:Choice>
                <mc:Fallback>
                  <p:oleObj name="" r:id="rId9" imgW="152400" imgH="1778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75" y="375"/>
                          <a:ext cx="173" cy="2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44" name="Group 9"/>
          <p:cNvGrpSpPr>
            <a:grpSpLocks noChangeAspect="1"/>
          </p:cNvGrpSpPr>
          <p:nvPr/>
        </p:nvGrpSpPr>
        <p:grpSpPr>
          <a:xfrm>
            <a:off x="5300663" y="2209800"/>
            <a:ext cx="3729037" cy="2662238"/>
            <a:chOff x="6002" y="5733"/>
            <a:chExt cx="3330" cy="2376"/>
          </a:xfrm>
        </p:grpSpPr>
        <p:grpSp>
          <p:nvGrpSpPr>
            <p:cNvPr id="1047" name="Group 10"/>
            <p:cNvGrpSpPr>
              <a:grpSpLocks noChangeAspect="1"/>
            </p:cNvGrpSpPr>
            <p:nvPr/>
          </p:nvGrpSpPr>
          <p:grpSpPr>
            <a:xfrm>
              <a:off x="6152" y="6009"/>
              <a:ext cx="3180" cy="2055"/>
              <a:chOff x="6152" y="6009"/>
              <a:chExt cx="3180" cy="2055"/>
            </a:xfrm>
          </p:grpSpPr>
          <p:grpSp>
            <p:nvGrpSpPr>
              <p:cNvPr id="1058" name="Group 11"/>
              <p:cNvGrpSpPr>
                <a:grpSpLocks noChangeAspect="1"/>
              </p:cNvGrpSpPr>
              <p:nvPr/>
            </p:nvGrpSpPr>
            <p:grpSpPr>
              <a:xfrm>
                <a:off x="6392" y="6126"/>
                <a:ext cx="2205" cy="1872"/>
                <a:chOff x="6392" y="6126"/>
                <a:chExt cx="2205" cy="1872"/>
              </a:xfrm>
            </p:grpSpPr>
            <p:grpSp>
              <p:nvGrpSpPr>
                <p:cNvPr id="1065" name="Group 12"/>
                <p:cNvGrpSpPr>
                  <a:grpSpLocks noChangeAspect="1"/>
                </p:cNvGrpSpPr>
                <p:nvPr/>
              </p:nvGrpSpPr>
              <p:grpSpPr>
                <a:xfrm>
                  <a:off x="6392" y="6126"/>
                  <a:ext cx="2205" cy="1872"/>
                  <a:chOff x="6392" y="6126"/>
                  <a:chExt cx="2205" cy="1872"/>
                </a:xfrm>
              </p:grpSpPr>
              <p:sp>
                <p:nvSpPr>
                  <p:cNvPr id="1067" name="Line 13"/>
                  <p:cNvSpPr>
                    <a:spLocks noChangeAspect="1"/>
                  </p:cNvSpPr>
                  <p:nvPr/>
                </p:nvSpPr>
                <p:spPr>
                  <a:xfrm>
                    <a:off x="6602" y="6282"/>
                    <a:ext cx="0" cy="1404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068" name="Line 14"/>
                  <p:cNvSpPr>
                    <a:spLocks noChangeAspect="1"/>
                  </p:cNvSpPr>
                  <p:nvPr/>
                </p:nvSpPr>
                <p:spPr>
                  <a:xfrm>
                    <a:off x="6602" y="7686"/>
                    <a:ext cx="945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1069" name="Group 15"/>
                  <p:cNvGrpSpPr>
                    <a:grpSpLocks noChangeAspect="1"/>
                  </p:cNvGrpSpPr>
                  <p:nvPr/>
                </p:nvGrpSpPr>
                <p:grpSpPr>
                  <a:xfrm>
                    <a:off x="6392" y="6126"/>
                    <a:ext cx="2205" cy="1872"/>
                    <a:chOff x="6392" y="6126"/>
                    <a:chExt cx="2205" cy="1872"/>
                  </a:xfrm>
                </p:grpSpPr>
                <p:sp>
                  <p:nvSpPr>
                    <p:cNvPr id="1070" name="Oval 16"/>
                    <p:cNvSpPr>
                      <a:spLocks noChangeAspect="1"/>
                    </p:cNvSpPr>
                    <p:nvPr/>
                  </p:nvSpPr>
                  <p:spPr>
                    <a:xfrm>
                      <a:off x="6602" y="6126"/>
                      <a:ext cx="1575" cy="31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71" name="Line 17"/>
                    <p:cNvSpPr>
                      <a:spLocks noChangeAspect="1"/>
                    </p:cNvSpPr>
                    <p:nvPr/>
                  </p:nvSpPr>
                  <p:spPr>
                    <a:xfrm>
                      <a:off x="8177" y="6282"/>
                      <a:ext cx="0" cy="1404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072" name="Oval 18"/>
                    <p:cNvSpPr>
                      <a:spLocks noChangeAspect="1"/>
                    </p:cNvSpPr>
                    <p:nvPr/>
                  </p:nvSpPr>
                  <p:spPr>
                    <a:xfrm>
                      <a:off x="7547" y="7605"/>
                      <a:ext cx="630" cy="15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73" name="Oval 19"/>
                    <p:cNvSpPr>
                      <a:spLocks noChangeAspect="1"/>
                    </p:cNvSpPr>
                    <p:nvPr/>
                  </p:nvSpPr>
                  <p:spPr>
                    <a:xfrm>
                      <a:off x="6392" y="7686"/>
                      <a:ext cx="315" cy="31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074" name="Line 20"/>
                    <p:cNvSpPr>
                      <a:spLocks noChangeAspect="1"/>
                    </p:cNvSpPr>
                    <p:nvPr/>
                  </p:nvSpPr>
                  <p:spPr>
                    <a:xfrm flipV="1">
                      <a:off x="8177" y="6906"/>
                      <a:ext cx="420" cy="78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1066" name="Line 21"/>
                <p:cNvSpPr>
                  <a:spLocks noChangeAspect="1"/>
                </p:cNvSpPr>
                <p:nvPr/>
              </p:nvSpPr>
              <p:spPr>
                <a:xfrm>
                  <a:off x="6602" y="6297"/>
                  <a:ext cx="1575" cy="140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59" name="Text Box 22"/>
              <p:cNvSpPr txBox="1">
                <a:spLocks noChangeAspect="1"/>
              </p:cNvSpPr>
              <p:nvPr/>
            </p:nvSpPr>
            <p:spPr>
              <a:xfrm>
                <a:off x="6152" y="6009"/>
                <a:ext cx="630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0" name="Text Box 23"/>
              <p:cNvSpPr txBox="1">
                <a:spLocks noChangeAspect="1"/>
              </p:cNvSpPr>
              <p:nvPr/>
            </p:nvSpPr>
            <p:spPr>
              <a:xfrm>
                <a:off x="8102" y="6045"/>
                <a:ext cx="63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1" name="Text Box 24"/>
              <p:cNvSpPr txBox="1">
                <a:spLocks noChangeAspect="1"/>
              </p:cNvSpPr>
              <p:nvPr/>
            </p:nvSpPr>
            <p:spPr>
              <a:xfrm>
                <a:off x="7997" y="7581"/>
                <a:ext cx="735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2" name="Text Box 25"/>
              <p:cNvSpPr txBox="1">
                <a:spLocks noChangeAspect="1"/>
              </p:cNvSpPr>
              <p:nvPr/>
            </p:nvSpPr>
            <p:spPr>
              <a:xfrm>
                <a:off x="8492" y="6645"/>
                <a:ext cx="8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3" name="Text Box 26"/>
              <p:cNvSpPr txBox="1">
                <a:spLocks noChangeAspect="1"/>
              </p:cNvSpPr>
              <p:nvPr/>
            </p:nvSpPr>
            <p:spPr>
              <a:xfrm>
                <a:off x="7262" y="7596"/>
                <a:ext cx="735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64" name="Text Box 27"/>
              <p:cNvSpPr txBox="1">
                <a:spLocks noChangeAspect="1"/>
              </p:cNvSpPr>
              <p:nvPr/>
            </p:nvSpPr>
            <p:spPr>
              <a:xfrm>
                <a:off x="6227" y="7329"/>
                <a:ext cx="63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30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48" name="Text Box 28"/>
            <p:cNvSpPr txBox="1">
              <a:spLocks noChangeAspect="1"/>
            </p:cNvSpPr>
            <p:nvPr/>
          </p:nvSpPr>
          <p:spPr>
            <a:xfrm>
              <a:off x="7127" y="5733"/>
              <a:ext cx="735" cy="39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49" name="Text Box 29"/>
            <p:cNvSpPr txBox="1">
              <a:spLocks noChangeAspect="1"/>
            </p:cNvSpPr>
            <p:nvPr/>
          </p:nvSpPr>
          <p:spPr>
            <a:xfrm>
              <a:off x="7172" y="6090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0" name="Text Box 30"/>
            <p:cNvSpPr txBox="1">
              <a:spLocks noChangeAspect="1"/>
            </p:cNvSpPr>
            <p:nvPr/>
          </p:nvSpPr>
          <p:spPr>
            <a:xfrm>
              <a:off x="7802" y="6675"/>
              <a:ext cx="52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1" name="Text Box 31"/>
            <p:cNvSpPr txBox="1">
              <a:spLocks noChangeAspect="1"/>
            </p:cNvSpPr>
            <p:nvPr/>
          </p:nvSpPr>
          <p:spPr>
            <a:xfrm>
              <a:off x="8192" y="6768"/>
              <a:ext cx="63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2" name="Text Box 32"/>
            <p:cNvSpPr txBox="1">
              <a:spLocks noChangeAspect="1"/>
            </p:cNvSpPr>
            <p:nvPr/>
          </p:nvSpPr>
          <p:spPr>
            <a:xfrm>
              <a:off x="7262" y="6675"/>
              <a:ext cx="52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3" name="Text Box 33"/>
            <p:cNvSpPr txBox="1">
              <a:spLocks noChangeAspect="1"/>
            </p:cNvSpPr>
            <p:nvPr/>
          </p:nvSpPr>
          <p:spPr>
            <a:xfrm>
              <a:off x="7547" y="7254"/>
              <a:ext cx="5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4" name="Text Box 34"/>
            <p:cNvSpPr txBox="1">
              <a:spLocks noChangeAspect="1"/>
            </p:cNvSpPr>
            <p:nvPr/>
          </p:nvSpPr>
          <p:spPr>
            <a:xfrm>
              <a:off x="7667" y="7641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5" name="Text Box 35"/>
            <p:cNvSpPr txBox="1">
              <a:spLocks noChangeAspect="1"/>
            </p:cNvSpPr>
            <p:nvPr/>
          </p:nvSpPr>
          <p:spPr>
            <a:xfrm>
              <a:off x="6842" y="7314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6" name="Text Box 36"/>
            <p:cNvSpPr txBox="1">
              <a:spLocks noChangeAspect="1"/>
            </p:cNvSpPr>
            <p:nvPr/>
          </p:nvSpPr>
          <p:spPr>
            <a:xfrm>
              <a:off x="6002" y="7620"/>
              <a:ext cx="52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057" name="Text Box 37"/>
            <p:cNvSpPr txBox="1">
              <a:spLocks noChangeAspect="1"/>
            </p:cNvSpPr>
            <p:nvPr/>
          </p:nvSpPr>
          <p:spPr>
            <a:xfrm>
              <a:off x="6167" y="6684"/>
              <a:ext cx="63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45" name="Rectangle 39"/>
          <p:cNvSpPr/>
          <p:nvPr/>
        </p:nvSpPr>
        <p:spPr>
          <a:xfrm>
            <a:off x="457200" y="22860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b="1" dirty="0">
                <a:latin typeface="Times New Roman" panose="02020603050405020304" pitchFamily="18" charset="0"/>
              </a:rPr>
              <a:t>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6" name="Object 40"/>
          <p:cNvGraphicFramePr/>
          <p:nvPr/>
        </p:nvGraphicFramePr>
        <p:xfrm>
          <a:off x="827088" y="2895600"/>
          <a:ext cx="27892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1549400" imgH="228600" progId="Equation.3">
                  <p:embed/>
                </p:oleObj>
              </mc:Choice>
              <mc:Fallback>
                <p:oleObj name="" r:id="rId11" imgW="15494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7088" y="2895600"/>
                        <a:ext cx="27892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41"/>
          <p:cNvGraphicFramePr/>
          <p:nvPr/>
        </p:nvGraphicFramePr>
        <p:xfrm>
          <a:off x="750888" y="3429000"/>
          <a:ext cx="44577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3" imgW="2476500" imgH="228600" progId="Equation.3">
                  <p:embed/>
                </p:oleObj>
              </mc:Choice>
              <mc:Fallback>
                <p:oleObj name="" r:id="rId13" imgW="2476500" imgH="2286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0888" y="3429000"/>
                        <a:ext cx="445770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2"/>
          <p:cNvGraphicFramePr/>
          <p:nvPr/>
        </p:nvGraphicFramePr>
        <p:xfrm>
          <a:off x="762000" y="3886200"/>
          <a:ext cx="13938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5" imgW="773430" imgH="215900" progId="Equation.3">
                  <p:embed/>
                </p:oleObj>
              </mc:Choice>
              <mc:Fallback>
                <p:oleObj name="" r:id="rId15" imgW="773430" imgH="215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62000" y="3886200"/>
                        <a:ext cx="1393825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43"/>
          <p:cNvGraphicFramePr/>
          <p:nvPr/>
        </p:nvGraphicFramePr>
        <p:xfrm>
          <a:off x="2590800" y="3886200"/>
          <a:ext cx="14160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7" imgW="786130" imgH="215900" progId="Equation.3">
                  <p:embed/>
                </p:oleObj>
              </mc:Choice>
              <mc:Fallback>
                <p:oleObj name="" r:id="rId17" imgW="786130" imgH="2159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90800" y="3886200"/>
                        <a:ext cx="1416050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44"/>
          <p:cNvGraphicFramePr/>
          <p:nvPr/>
        </p:nvGraphicFramePr>
        <p:xfrm>
          <a:off x="773113" y="4343400"/>
          <a:ext cx="14176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9" imgW="787400" imgH="228600" progId="Equation.3">
                  <p:embed/>
                </p:oleObj>
              </mc:Choice>
              <mc:Fallback>
                <p:oleObj name="" r:id="rId19" imgW="787400" imgH="2286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3113" y="4343400"/>
                        <a:ext cx="14176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45"/>
          <p:cNvGraphicFramePr/>
          <p:nvPr/>
        </p:nvGraphicFramePr>
        <p:xfrm>
          <a:off x="2601913" y="4343400"/>
          <a:ext cx="14176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1" imgW="787400" imgH="228600" progId="Equation.3">
                  <p:embed/>
                </p:oleObj>
              </mc:Choice>
              <mc:Fallback>
                <p:oleObj name="" r:id="rId21" imgW="787400" imgH="2286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01913" y="4343400"/>
                        <a:ext cx="14176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46"/>
          <p:cNvGraphicFramePr/>
          <p:nvPr/>
        </p:nvGraphicFramePr>
        <p:xfrm>
          <a:off x="750888" y="4800600"/>
          <a:ext cx="14160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3" imgW="787400" imgH="228600" progId="Equation.3">
                  <p:embed/>
                </p:oleObj>
              </mc:Choice>
              <mc:Fallback>
                <p:oleObj name="" r:id="rId23" imgW="7874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0888" y="4800600"/>
                        <a:ext cx="141605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47"/>
          <p:cNvGraphicFramePr/>
          <p:nvPr/>
        </p:nvGraphicFramePr>
        <p:xfrm>
          <a:off x="2601913" y="4800600"/>
          <a:ext cx="14176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25" imgW="787400" imgH="228600" progId="Equation.3">
                  <p:embed/>
                </p:oleObj>
              </mc:Choice>
              <mc:Fallback>
                <p:oleObj name="" r:id="rId25" imgW="787400" imgH="228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01913" y="4800600"/>
                        <a:ext cx="14176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48"/>
          <p:cNvGraphicFramePr/>
          <p:nvPr/>
        </p:nvGraphicFramePr>
        <p:xfrm>
          <a:off x="781050" y="5334000"/>
          <a:ext cx="14176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7" imgW="787400" imgH="228600" progId="Equation.3">
                  <p:embed/>
                </p:oleObj>
              </mc:Choice>
              <mc:Fallback>
                <p:oleObj name="" r:id="rId27" imgW="787400" imgH="2286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81050" y="5334000"/>
                        <a:ext cx="14176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49"/>
          <p:cNvGraphicFramePr/>
          <p:nvPr/>
        </p:nvGraphicFramePr>
        <p:xfrm>
          <a:off x="2601913" y="5257800"/>
          <a:ext cx="1417637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9" imgW="787400" imgH="228600" progId="Equation.3">
                  <p:embed/>
                </p:oleObj>
              </mc:Choice>
              <mc:Fallback>
                <p:oleObj name="" r:id="rId29" imgW="787400" imgH="2286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601913" y="5257800"/>
                        <a:ext cx="1417637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50"/>
          <p:cNvGraphicFramePr/>
          <p:nvPr/>
        </p:nvGraphicFramePr>
        <p:xfrm>
          <a:off x="781050" y="5791200"/>
          <a:ext cx="14176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1" imgW="787400" imgH="228600" progId="Equation.3">
                  <p:embed/>
                </p:oleObj>
              </mc:Choice>
              <mc:Fallback>
                <p:oleObj name="" r:id="rId31" imgW="787400" imgH="2286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81050" y="5791200"/>
                        <a:ext cx="14176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51"/>
          <p:cNvGraphicFramePr/>
          <p:nvPr/>
        </p:nvGraphicFramePr>
        <p:xfrm>
          <a:off x="2590800" y="5791200"/>
          <a:ext cx="1485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3" imgW="825500" imgH="228600" progId="Equation.3">
                  <p:embed/>
                </p:oleObj>
              </mc:Choice>
              <mc:Fallback>
                <p:oleObj name="" r:id="rId33" imgW="8255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590800" y="5791200"/>
                        <a:ext cx="148590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" name="Text Box 54"/>
          <p:cNvSpPr txBox="1"/>
          <p:nvPr/>
        </p:nvSpPr>
        <p:spPr>
          <a:xfrm>
            <a:off x="6765925" y="4994275"/>
            <a:ext cx="6445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图1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08" name="Rectangle 40"/>
          <p:cNvSpPr/>
          <p:nvPr/>
        </p:nvSpPr>
        <p:spPr>
          <a:xfrm>
            <a:off x="0" y="457200"/>
            <a:ext cx="9144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49555" algn="just"/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2、如果一个图是由点和边所构成的，则称其为无向图，记作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G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= (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V，E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)，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连接点的边记作[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 , 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]，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或者[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 , 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]。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249" name="Rectangle 81"/>
          <p:cNvSpPr/>
          <p:nvPr/>
        </p:nvSpPr>
        <p:spPr>
          <a:xfrm>
            <a:off x="0" y="1860550"/>
            <a:ext cx="9144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3、如果一个图是由点和弧所构成的，那么称它为有向图，记作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=(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V, A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)，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表示有向图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的点集合，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A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表示有向图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D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的弧集合。一条方向从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指向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的弧，记作(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i="1" dirty="0">
                <a:latin typeface="楷体_GB2312" pitchFamily="49" charset="-122"/>
                <a:ea typeface="楷体_GB2312" pitchFamily="49" charset="-122"/>
              </a:rPr>
              <a:t> , v</a:t>
            </a:r>
            <a:r>
              <a:rPr lang="en-US" altLang="zh-CN" b="1" i="1" baseline="-25000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)。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112"/>
          <p:cNvGrpSpPr/>
          <p:nvPr/>
        </p:nvGrpSpPr>
        <p:grpSpPr>
          <a:xfrm>
            <a:off x="838200" y="3630613"/>
            <a:ext cx="8001000" cy="2541587"/>
            <a:chOff x="528" y="2287"/>
            <a:chExt cx="5040" cy="1601"/>
          </a:xfrm>
        </p:grpSpPr>
        <p:grpSp>
          <p:nvGrpSpPr>
            <p:cNvPr id="21510" name="Group 82"/>
            <p:cNvGrpSpPr/>
            <p:nvPr/>
          </p:nvGrpSpPr>
          <p:grpSpPr>
            <a:xfrm>
              <a:off x="3310" y="2287"/>
              <a:ext cx="2258" cy="1601"/>
              <a:chOff x="2254" y="2263"/>
              <a:chExt cx="2258" cy="1601"/>
            </a:xfrm>
          </p:grpSpPr>
          <p:sp>
            <p:nvSpPr>
              <p:cNvPr id="21512" name="Text Box 83"/>
              <p:cNvSpPr txBox="1">
                <a:spLocks noChangeAspect="1"/>
              </p:cNvSpPr>
              <p:nvPr/>
            </p:nvSpPr>
            <p:spPr>
              <a:xfrm>
                <a:off x="3570" y="2304"/>
                <a:ext cx="462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13" name="Text Box 84"/>
              <p:cNvSpPr txBox="1">
                <a:spLocks noChangeAspect="1"/>
              </p:cNvSpPr>
              <p:nvPr/>
            </p:nvSpPr>
            <p:spPr>
              <a:xfrm>
                <a:off x="4050" y="2595"/>
                <a:ext cx="462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514" name="Group 85"/>
              <p:cNvGrpSpPr>
                <a:grpSpLocks noChangeAspect="1"/>
              </p:cNvGrpSpPr>
              <p:nvPr/>
            </p:nvGrpSpPr>
            <p:grpSpPr>
              <a:xfrm>
                <a:off x="2254" y="2263"/>
                <a:ext cx="1856" cy="1601"/>
                <a:chOff x="7547" y="2070"/>
                <a:chExt cx="2895" cy="2496"/>
              </a:xfrm>
            </p:grpSpPr>
            <p:grpSp>
              <p:nvGrpSpPr>
                <p:cNvPr id="21515" name="Group 86"/>
                <p:cNvGrpSpPr>
                  <a:grpSpLocks noChangeAspect="1"/>
                </p:cNvGrpSpPr>
                <p:nvPr/>
              </p:nvGrpSpPr>
              <p:grpSpPr>
                <a:xfrm>
                  <a:off x="8462" y="2508"/>
                  <a:ext cx="1800" cy="1122"/>
                  <a:chOff x="6287" y="2703"/>
                  <a:chExt cx="1800" cy="1122"/>
                </a:xfrm>
              </p:grpSpPr>
              <p:sp>
                <p:nvSpPr>
                  <p:cNvPr id="21536" name="Line 87"/>
                  <p:cNvSpPr>
                    <a:spLocks noChangeAspect="1"/>
                  </p:cNvSpPr>
                  <p:nvPr/>
                </p:nvSpPr>
                <p:spPr>
                  <a:xfrm>
                    <a:off x="6647" y="3825"/>
                    <a:ext cx="36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  <p:sp>
                <p:nvSpPr>
                  <p:cNvPr id="21537" name="Line 88"/>
                  <p:cNvSpPr>
                    <a:spLocks noChangeAspect="1"/>
                  </p:cNvSpPr>
                  <p:nvPr/>
                </p:nvSpPr>
                <p:spPr>
                  <a:xfrm>
                    <a:off x="6287" y="3045"/>
                    <a:ext cx="0" cy="31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  <p:sp>
                <p:nvSpPr>
                  <p:cNvPr id="21538" name="Line 89"/>
                  <p:cNvSpPr>
                    <a:spLocks noChangeAspect="1"/>
                  </p:cNvSpPr>
                  <p:nvPr/>
                </p:nvSpPr>
                <p:spPr>
                  <a:xfrm>
                    <a:off x="6827" y="2703"/>
                    <a:ext cx="36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  <p:sp>
                <p:nvSpPr>
                  <p:cNvPr id="21539" name="Line 90"/>
                  <p:cNvSpPr>
                    <a:spLocks noChangeAspect="1"/>
                  </p:cNvSpPr>
                  <p:nvPr/>
                </p:nvSpPr>
                <p:spPr>
                  <a:xfrm flipV="1">
                    <a:off x="7547" y="3357"/>
                    <a:ext cx="54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</p:grpSp>
            <p:grpSp>
              <p:nvGrpSpPr>
                <p:cNvPr id="21516" name="Group 91"/>
                <p:cNvGrpSpPr>
                  <a:grpSpLocks noChangeAspect="1"/>
                </p:cNvGrpSpPr>
                <p:nvPr/>
              </p:nvGrpSpPr>
              <p:grpSpPr>
                <a:xfrm>
                  <a:off x="7547" y="2070"/>
                  <a:ext cx="2895" cy="2496"/>
                  <a:chOff x="5372" y="2265"/>
                  <a:chExt cx="2895" cy="2496"/>
                </a:xfrm>
              </p:grpSpPr>
              <p:sp>
                <p:nvSpPr>
                  <p:cNvPr id="21517" name="Line 92"/>
                  <p:cNvSpPr>
                    <a:spLocks noChangeAspect="1"/>
                  </p:cNvSpPr>
                  <p:nvPr/>
                </p:nvSpPr>
                <p:spPr>
                  <a:xfrm flipH="1">
                    <a:off x="5747" y="2733"/>
                    <a:ext cx="54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  <p:grpSp>
                <p:nvGrpSpPr>
                  <p:cNvPr id="21518" name="Group 93"/>
                  <p:cNvGrpSpPr>
                    <a:grpSpLocks noChangeAspect="1"/>
                  </p:cNvGrpSpPr>
                  <p:nvPr/>
                </p:nvGrpSpPr>
                <p:grpSpPr>
                  <a:xfrm>
                    <a:off x="5372" y="2265"/>
                    <a:ext cx="2895" cy="2496"/>
                    <a:chOff x="5372" y="2265"/>
                    <a:chExt cx="2895" cy="2496"/>
                  </a:xfrm>
                </p:grpSpPr>
                <p:sp>
                  <p:nvSpPr>
                    <p:cNvPr id="21519" name="Line 94"/>
                    <p:cNvSpPr>
                      <a:spLocks noChangeAspect="1"/>
                    </p:cNvSpPr>
                    <p:nvPr/>
                  </p:nvSpPr>
                  <p:spPr>
                    <a:xfrm>
                      <a:off x="6287" y="2733"/>
                      <a:ext cx="1260" cy="1092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grpSp>
                  <p:nvGrpSpPr>
                    <p:cNvPr id="21520" name="Group 95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5372" y="2265"/>
                      <a:ext cx="2895" cy="2496"/>
                      <a:chOff x="5372" y="2265"/>
                      <a:chExt cx="2895" cy="2496"/>
                    </a:xfrm>
                  </p:grpSpPr>
                  <p:sp>
                    <p:nvSpPr>
                      <p:cNvPr id="21521" name="Line 96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6287" y="2733"/>
                        <a:ext cx="0" cy="10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oval" w="med" len="med"/>
                        <a:tailEnd type="oval" w="med" len="med"/>
                      </a:ln>
                    </p:spPr>
                  </p:sp>
                  <p:grpSp>
                    <p:nvGrpSpPr>
                      <p:cNvPr id="21522" name="Group 97"/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5372" y="2265"/>
                        <a:ext cx="2895" cy="2496"/>
                        <a:chOff x="5372" y="2265"/>
                        <a:chExt cx="2895" cy="2496"/>
                      </a:xfrm>
                    </p:grpSpPr>
                    <p:sp>
                      <p:nvSpPr>
                        <p:cNvPr id="21523" name="Line 98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5747" y="3201"/>
                          <a:ext cx="540" cy="624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oval" w="med" len="med"/>
                          <a:tailEnd type="triangle" w="sm" len="lg"/>
                        </a:ln>
                      </p:spPr>
                    </p:sp>
                    <p:sp>
                      <p:nvSpPr>
                        <p:cNvPr id="21524" name="Line 99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6287" y="2703"/>
                          <a:ext cx="1260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oval" w="med" len="med"/>
                          <a:tailEnd type="oval" w="med" len="med"/>
                        </a:ln>
                      </p:spPr>
                    </p:sp>
                    <p:sp>
                      <p:nvSpPr>
                        <p:cNvPr id="21525" name="Line 100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6287" y="3825"/>
                          <a:ext cx="1260" cy="0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oval" w="med" len="med"/>
                          <a:tailEnd type="oval" w="med" len="med"/>
                        </a:ln>
                      </p:spPr>
                    </p:sp>
                    <p:sp>
                      <p:nvSpPr>
                        <p:cNvPr id="21526" name="Oval 101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7367" y="2733"/>
                          <a:ext cx="360" cy="109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1527" name="Line 102"/>
                        <p:cNvSpPr>
                          <a:spLocks noChangeAspect="1"/>
                        </p:cNvSpPr>
                        <p:nvPr/>
                      </p:nvSpPr>
                      <p:spPr>
                        <a:xfrm flipV="1">
                          <a:off x="7547" y="3201"/>
                          <a:ext cx="720" cy="624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oval" w="med" len="med"/>
                          <a:tailEnd type="oval" w="med" len="med"/>
                        </a:ln>
                      </p:spPr>
                    </p:sp>
                    <p:sp>
                      <p:nvSpPr>
                        <p:cNvPr id="21528" name="Line 103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7367" y="3045"/>
                          <a:ext cx="0" cy="156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none" w="med" len="med"/>
                          <a:tailEnd type="triangle" w="sm" len="lg"/>
                        </a:ln>
                      </p:spPr>
                    </p:sp>
                    <p:sp>
                      <p:nvSpPr>
                        <p:cNvPr id="21529" name="Line 104"/>
                        <p:cNvSpPr>
                          <a:spLocks noChangeAspect="1"/>
                        </p:cNvSpPr>
                        <p:nvPr/>
                      </p:nvSpPr>
                      <p:spPr>
                        <a:xfrm flipV="1">
                          <a:off x="7727" y="3201"/>
                          <a:ext cx="0" cy="156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none" w="med" len="med"/>
                          <a:tailEnd type="triangle" w="sm" len="lg"/>
                        </a:ln>
                      </p:spPr>
                    </p:sp>
                    <p:sp>
                      <p:nvSpPr>
                        <p:cNvPr id="21530" name="Line 105"/>
                        <p:cNvSpPr>
                          <a:spLocks noChangeAspect="1"/>
                        </p:cNvSpPr>
                        <p:nvPr/>
                      </p:nvSpPr>
                      <p:spPr>
                        <a:xfrm>
                          <a:off x="6647" y="3045"/>
                          <a:ext cx="180" cy="156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none" w="med" len="med"/>
                          <a:tailEnd type="triangle" w="sm" len="lg"/>
                        </a:ln>
                      </p:spPr>
                    </p:sp>
                    <p:sp>
                      <p:nvSpPr>
                        <p:cNvPr id="21531" name="Text Box 106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5372" y="2889"/>
                          <a:ext cx="720" cy="6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1</a:t>
                          </a:r>
                          <a:endParaRPr lang="en-US" altLang="zh-CN" sz="2000" b="1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1532" name="Text Box 107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002" y="2265"/>
                          <a:ext cx="720" cy="6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2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1533" name="Text Box 108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017" y="3693"/>
                          <a:ext cx="90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3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1534" name="Text Box 109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7322" y="3735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5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1535" name="Text Box 110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242" y="4137"/>
                          <a:ext cx="1800" cy="62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endParaRPr lang="zh-CN" altLang="en-US" sz="2000" b="1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21511" name="Rectangle 111"/>
            <p:cNvSpPr/>
            <p:nvPr/>
          </p:nvSpPr>
          <p:spPr>
            <a:xfrm>
              <a:off x="528" y="2308"/>
              <a:ext cx="2736" cy="1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V = {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3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4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5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6</a:t>
              </a:r>
              <a:r>
                <a:rPr lang="en-US" altLang="zh-CN" b="1" dirty="0">
                  <a:latin typeface="Times New Roman" panose="02020603050405020304" pitchFamily="18" charset="0"/>
                </a:rPr>
                <a:t> }</a:t>
              </a:r>
              <a:r>
                <a:rPr lang="en-US" altLang="zh-CN" dirty="0">
                  <a:latin typeface="Times New Roman" panose="02020603050405020304" pitchFamily="18" charset="0"/>
                </a:rPr>
                <a:t>，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A = {(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3 </a:t>
              </a:r>
              <a:r>
                <a:rPr lang="en-US" altLang="zh-CN" b="1" dirty="0">
                  <a:latin typeface="Times New Roman" panose="02020603050405020304" pitchFamily="18" charset="0"/>
                </a:rPr>
                <a:t>) , 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</a:rPr>
                <a:t>) , 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3</a:t>
              </a:r>
              <a:r>
                <a:rPr lang="en-US" altLang="zh-CN" b="1" dirty="0">
                  <a:latin typeface="Times New Roman" panose="02020603050405020304" pitchFamily="18" charset="0"/>
                </a:rPr>
                <a:t> ) ,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5</a:t>
              </a:r>
              <a:r>
                <a:rPr lang="en-US" altLang="zh-CN" b="1" dirty="0">
                  <a:latin typeface="Times New Roman" panose="02020603050405020304" pitchFamily="18" charset="0"/>
                </a:rPr>
                <a:t> ) , 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3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5</a:t>
              </a:r>
              <a:r>
                <a:rPr lang="en-US" altLang="zh-CN" b="1" dirty="0">
                  <a:latin typeface="Times New Roman" panose="02020603050405020304" pitchFamily="18" charset="0"/>
                </a:rPr>
                <a:t> ) , 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4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5</a:t>
              </a:r>
              <a:r>
                <a:rPr lang="en-US" altLang="zh-CN" b="1" dirty="0">
                  <a:latin typeface="Times New Roman" panose="02020603050405020304" pitchFamily="18" charset="0"/>
                </a:rPr>
                <a:t> ) ,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5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4</a:t>
              </a:r>
              <a:r>
                <a:rPr lang="en-US" altLang="zh-CN" b="1" dirty="0">
                  <a:latin typeface="Times New Roman" panose="02020603050405020304" pitchFamily="18" charset="0"/>
                </a:rPr>
                <a:t> ) , (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5</a:t>
              </a:r>
              <a:r>
                <a:rPr lang="en-US" altLang="zh-CN" b="1" dirty="0">
                  <a:latin typeface="Times New Roman" panose="02020603050405020304" pitchFamily="18" charset="0"/>
                </a:rPr>
                <a:t> , </a:t>
              </a:r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30000" dirty="0">
                  <a:latin typeface="Times New Roman" panose="02020603050405020304" pitchFamily="18" charset="0"/>
                </a:rPr>
                <a:t>6</a:t>
              </a:r>
              <a:r>
                <a:rPr lang="en-US" altLang="zh-CN" b="1" dirty="0">
                  <a:latin typeface="Times New Roman" panose="02020603050405020304" pitchFamily="18" charset="0"/>
                </a:rPr>
                <a:t> ) }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1509" name="Text Box 113"/>
          <p:cNvSpPr txBox="1"/>
          <p:nvPr/>
        </p:nvSpPr>
        <p:spPr>
          <a:xfrm>
            <a:off x="6629400" y="5638800"/>
            <a:ext cx="6445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图2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" grpId="0"/>
      <p:bldP spid="72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1"/>
          <p:cNvSpPr/>
          <p:nvPr/>
        </p:nvSpPr>
        <p:spPr>
          <a:xfrm>
            <a:off x="0" y="788988"/>
            <a:ext cx="91440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2255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4、一条边的两个端点是相同的,那么称为这条边是环。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62255"/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62255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5、如果两个端点之间有两条以上的边，那么称为它们为多重边。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329" name="Rectangle 33"/>
          <p:cNvSpPr/>
          <p:nvPr/>
        </p:nvSpPr>
        <p:spPr>
          <a:xfrm>
            <a:off x="127000" y="2922588"/>
            <a:ext cx="9017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6、一个无环，无多重边的图称为简单图，一个无环，有多重边的图称为多重图。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330" name="Rectangle 34"/>
          <p:cNvSpPr/>
          <p:nvPr/>
        </p:nvSpPr>
        <p:spPr>
          <a:xfrm>
            <a:off x="0" y="4127500"/>
            <a:ext cx="9144000" cy="158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7、每一对顶点间都有边相连的无向简单图称为完全图。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  有向完全图则是指任意两个顶点之间有且仅有一条有向边的简单图。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9" grpId="0"/>
      <p:bldP spid="553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51" name="Group 19"/>
          <p:cNvGrpSpPr>
            <a:grpSpLocks noChangeAspect="1"/>
          </p:cNvGrpSpPr>
          <p:nvPr/>
        </p:nvGrpSpPr>
        <p:grpSpPr>
          <a:xfrm>
            <a:off x="4267200" y="3657600"/>
            <a:ext cx="3729038" cy="2662238"/>
            <a:chOff x="6002" y="5733"/>
            <a:chExt cx="3330" cy="2376"/>
          </a:xfrm>
        </p:grpSpPr>
        <p:grpSp>
          <p:nvGrpSpPr>
            <p:cNvPr id="2056" name="Group 20"/>
            <p:cNvGrpSpPr>
              <a:grpSpLocks noChangeAspect="1"/>
            </p:cNvGrpSpPr>
            <p:nvPr/>
          </p:nvGrpSpPr>
          <p:grpSpPr>
            <a:xfrm>
              <a:off x="6152" y="6009"/>
              <a:ext cx="3180" cy="2055"/>
              <a:chOff x="6152" y="6009"/>
              <a:chExt cx="3180" cy="2055"/>
            </a:xfrm>
          </p:grpSpPr>
          <p:grpSp>
            <p:nvGrpSpPr>
              <p:cNvPr id="2067" name="Group 21"/>
              <p:cNvGrpSpPr>
                <a:grpSpLocks noChangeAspect="1"/>
              </p:cNvGrpSpPr>
              <p:nvPr/>
            </p:nvGrpSpPr>
            <p:grpSpPr>
              <a:xfrm>
                <a:off x="6392" y="6126"/>
                <a:ext cx="2205" cy="1872"/>
                <a:chOff x="6392" y="6126"/>
                <a:chExt cx="2205" cy="1872"/>
              </a:xfrm>
            </p:grpSpPr>
            <p:grpSp>
              <p:nvGrpSpPr>
                <p:cNvPr id="2074" name="Group 22"/>
                <p:cNvGrpSpPr>
                  <a:grpSpLocks noChangeAspect="1"/>
                </p:cNvGrpSpPr>
                <p:nvPr/>
              </p:nvGrpSpPr>
              <p:grpSpPr>
                <a:xfrm>
                  <a:off x="6392" y="6126"/>
                  <a:ext cx="2205" cy="1872"/>
                  <a:chOff x="6392" y="6126"/>
                  <a:chExt cx="2205" cy="1872"/>
                </a:xfrm>
              </p:grpSpPr>
              <p:sp>
                <p:nvSpPr>
                  <p:cNvPr id="2076" name="Line 23"/>
                  <p:cNvSpPr>
                    <a:spLocks noChangeAspect="1"/>
                  </p:cNvSpPr>
                  <p:nvPr/>
                </p:nvSpPr>
                <p:spPr>
                  <a:xfrm>
                    <a:off x="6602" y="6282"/>
                    <a:ext cx="0" cy="1404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077" name="Line 24"/>
                  <p:cNvSpPr>
                    <a:spLocks noChangeAspect="1"/>
                  </p:cNvSpPr>
                  <p:nvPr/>
                </p:nvSpPr>
                <p:spPr>
                  <a:xfrm>
                    <a:off x="6602" y="7686"/>
                    <a:ext cx="945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078" name="Group 25"/>
                  <p:cNvGrpSpPr>
                    <a:grpSpLocks noChangeAspect="1"/>
                  </p:cNvGrpSpPr>
                  <p:nvPr/>
                </p:nvGrpSpPr>
                <p:grpSpPr>
                  <a:xfrm>
                    <a:off x="6392" y="6126"/>
                    <a:ext cx="2205" cy="1872"/>
                    <a:chOff x="6392" y="6126"/>
                    <a:chExt cx="2205" cy="1872"/>
                  </a:xfrm>
                </p:grpSpPr>
                <p:sp>
                  <p:nvSpPr>
                    <p:cNvPr id="2079" name="Oval 26"/>
                    <p:cNvSpPr>
                      <a:spLocks noChangeAspect="1"/>
                    </p:cNvSpPr>
                    <p:nvPr/>
                  </p:nvSpPr>
                  <p:spPr>
                    <a:xfrm>
                      <a:off x="6602" y="6126"/>
                      <a:ext cx="1575" cy="31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80" name="Line 27"/>
                    <p:cNvSpPr>
                      <a:spLocks noChangeAspect="1"/>
                    </p:cNvSpPr>
                    <p:nvPr/>
                  </p:nvSpPr>
                  <p:spPr>
                    <a:xfrm>
                      <a:off x="8177" y="6282"/>
                      <a:ext cx="0" cy="1404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081" name="Oval 28"/>
                    <p:cNvSpPr>
                      <a:spLocks noChangeAspect="1"/>
                    </p:cNvSpPr>
                    <p:nvPr/>
                  </p:nvSpPr>
                  <p:spPr>
                    <a:xfrm>
                      <a:off x="7547" y="7605"/>
                      <a:ext cx="630" cy="156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82" name="Oval 29"/>
                    <p:cNvSpPr>
                      <a:spLocks noChangeAspect="1"/>
                    </p:cNvSpPr>
                    <p:nvPr/>
                  </p:nvSpPr>
                  <p:spPr>
                    <a:xfrm>
                      <a:off x="6392" y="7686"/>
                      <a:ext cx="315" cy="31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083" name="Line 30"/>
                    <p:cNvSpPr>
                      <a:spLocks noChangeAspect="1"/>
                    </p:cNvSpPr>
                    <p:nvPr/>
                  </p:nvSpPr>
                  <p:spPr>
                    <a:xfrm flipV="1">
                      <a:off x="8177" y="6906"/>
                      <a:ext cx="420" cy="78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2075" name="Line 31"/>
                <p:cNvSpPr>
                  <a:spLocks noChangeAspect="1"/>
                </p:cNvSpPr>
                <p:nvPr/>
              </p:nvSpPr>
              <p:spPr>
                <a:xfrm>
                  <a:off x="6602" y="6297"/>
                  <a:ext cx="1575" cy="1404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068" name="Text Box 32"/>
              <p:cNvSpPr txBox="1">
                <a:spLocks noChangeAspect="1"/>
              </p:cNvSpPr>
              <p:nvPr/>
            </p:nvSpPr>
            <p:spPr>
              <a:xfrm>
                <a:off x="6152" y="6009"/>
                <a:ext cx="630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9" name="Text Box 33"/>
              <p:cNvSpPr txBox="1">
                <a:spLocks noChangeAspect="1"/>
              </p:cNvSpPr>
              <p:nvPr/>
            </p:nvSpPr>
            <p:spPr>
              <a:xfrm>
                <a:off x="8102" y="6045"/>
                <a:ext cx="63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0" name="Text Box 34"/>
              <p:cNvSpPr txBox="1">
                <a:spLocks noChangeAspect="1"/>
              </p:cNvSpPr>
              <p:nvPr/>
            </p:nvSpPr>
            <p:spPr>
              <a:xfrm>
                <a:off x="7997" y="7581"/>
                <a:ext cx="735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1" name="Text Box 35"/>
              <p:cNvSpPr txBox="1">
                <a:spLocks noChangeAspect="1"/>
              </p:cNvSpPr>
              <p:nvPr/>
            </p:nvSpPr>
            <p:spPr>
              <a:xfrm>
                <a:off x="8492" y="6645"/>
                <a:ext cx="8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2" name="Text Box 36"/>
              <p:cNvSpPr txBox="1">
                <a:spLocks noChangeAspect="1"/>
              </p:cNvSpPr>
              <p:nvPr/>
            </p:nvSpPr>
            <p:spPr>
              <a:xfrm>
                <a:off x="7262" y="7596"/>
                <a:ext cx="735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73" name="Text Box 37"/>
              <p:cNvSpPr txBox="1">
                <a:spLocks noChangeAspect="1"/>
              </p:cNvSpPr>
              <p:nvPr/>
            </p:nvSpPr>
            <p:spPr>
              <a:xfrm>
                <a:off x="6227" y="7329"/>
                <a:ext cx="63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aseline="-30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0" hangingPunct="0"/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7" name="Text Box 38"/>
            <p:cNvSpPr txBox="1">
              <a:spLocks noChangeAspect="1"/>
            </p:cNvSpPr>
            <p:nvPr/>
          </p:nvSpPr>
          <p:spPr>
            <a:xfrm>
              <a:off x="7127" y="5733"/>
              <a:ext cx="735" cy="39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58" name="Text Box 39"/>
            <p:cNvSpPr txBox="1">
              <a:spLocks noChangeAspect="1"/>
            </p:cNvSpPr>
            <p:nvPr/>
          </p:nvSpPr>
          <p:spPr>
            <a:xfrm>
              <a:off x="7172" y="6090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59" name="Text Box 40"/>
            <p:cNvSpPr txBox="1">
              <a:spLocks noChangeAspect="1"/>
            </p:cNvSpPr>
            <p:nvPr/>
          </p:nvSpPr>
          <p:spPr>
            <a:xfrm>
              <a:off x="7802" y="6675"/>
              <a:ext cx="52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0" name="Text Box 41"/>
            <p:cNvSpPr txBox="1">
              <a:spLocks noChangeAspect="1"/>
            </p:cNvSpPr>
            <p:nvPr/>
          </p:nvSpPr>
          <p:spPr>
            <a:xfrm>
              <a:off x="8192" y="6768"/>
              <a:ext cx="63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1" name="Text Box 42"/>
            <p:cNvSpPr txBox="1">
              <a:spLocks noChangeAspect="1"/>
            </p:cNvSpPr>
            <p:nvPr/>
          </p:nvSpPr>
          <p:spPr>
            <a:xfrm>
              <a:off x="7262" y="6675"/>
              <a:ext cx="52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2" name="Text Box 43"/>
            <p:cNvSpPr txBox="1">
              <a:spLocks noChangeAspect="1"/>
            </p:cNvSpPr>
            <p:nvPr/>
          </p:nvSpPr>
          <p:spPr>
            <a:xfrm>
              <a:off x="7547" y="7254"/>
              <a:ext cx="5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3" name="Text Box 44"/>
            <p:cNvSpPr txBox="1">
              <a:spLocks noChangeAspect="1"/>
            </p:cNvSpPr>
            <p:nvPr/>
          </p:nvSpPr>
          <p:spPr>
            <a:xfrm>
              <a:off x="7667" y="7641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4" name="Text Box 45"/>
            <p:cNvSpPr txBox="1">
              <a:spLocks noChangeAspect="1"/>
            </p:cNvSpPr>
            <p:nvPr/>
          </p:nvSpPr>
          <p:spPr>
            <a:xfrm>
              <a:off x="6842" y="7314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5" name="Text Box 46"/>
            <p:cNvSpPr txBox="1">
              <a:spLocks noChangeAspect="1"/>
            </p:cNvSpPr>
            <p:nvPr/>
          </p:nvSpPr>
          <p:spPr>
            <a:xfrm>
              <a:off x="6002" y="7620"/>
              <a:ext cx="52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066" name="Text Box 47"/>
            <p:cNvSpPr txBox="1">
              <a:spLocks noChangeAspect="1"/>
            </p:cNvSpPr>
            <p:nvPr/>
          </p:nvSpPr>
          <p:spPr>
            <a:xfrm>
              <a:off x="6167" y="6684"/>
              <a:ext cx="63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aseline="-30000" dirty="0">
                  <a:latin typeface="Times New Roman" panose="02020603050405020304" pitchFamily="18" charset="0"/>
                </a:rPr>
                <a:t>10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52" name="Rectangle 49"/>
          <p:cNvSpPr/>
          <p:nvPr/>
        </p:nvSpPr>
        <p:spPr>
          <a:xfrm>
            <a:off x="0" y="2284413"/>
            <a:ext cx="91440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度为零的点称为弧立点，度为1的点称为悬挂点。悬挂点的关联边称为悬挂边。度为奇数的点称为奇点，度为偶数的点称为偶点。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" name="Group 53"/>
          <p:cNvGrpSpPr/>
          <p:nvPr/>
        </p:nvGrpSpPr>
        <p:grpSpPr>
          <a:xfrm>
            <a:off x="0" y="609600"/>
            <a:ext cx="9144000" cy="1373188"/>
            <a:chOff x="0" y="3504"/>
            <a:chExt cx="5760" cy="865"/>
          </a:xfrm>
        </p:grpSpPr>
        <p:sp>
          <p:nvSpPr>
            <p:cNvPr id="2055" name="Rectangle 54"/>
            <p:cNvSpPr/>
            <p:nvPr/>
          </p:nvSpPr>
          <p:spPr>
            <a:xfrm>
              <a:off x="0" y="3504"/>
              <a:ext cx="5760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 8、以点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为端点的边的个数称为点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的度（次），记作     。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050" name="Object 55"/>
            <p:cNvGraphicFramePr/>
            <p:nvPr/>
          </p:nvGraphicFramePr>
          <p:xfrm>
            <a:off x="384" y="3840"/>
            <a:ext cx="37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" imgW="317500" imgH="203200" progId="Equation.3">
                    <p:embed/>
                  </p:oleObj>
                </mc:Choice>
                <mc:Fallback>
                  <p:oleObj name="" r:id="rId1" imgW="317500" imgH="2032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4" y="3840"/>
                          <a:ext cx="370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48" name="Rectangle 56"/>
          <p:cNvSpPr/>
          <p:nvPr/>
        </p:nvSpPr>
        <p:spPr>
          <a:xfrm>
            <a:off x="1905000" y="1219200"/>
            <a:ext cx="563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图中  </a:t>
            </a:r>
            <a:r>
              <a:rPr lang="zh-CN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)= 4，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)= 4（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环计两度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）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1177925"/>
            <a:ext cx="9144000" cy="1160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定理1  所有顶点度数之和等于所有边数的2倍。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定理2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在任一图中，奇点的个数必为偶数。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9242" name="Rectangle 26"/>
          <p:cNvSpPr/>
          <p:nvPr/>
        </p:nvSpPr>
        <p:spPr>
          <a:xfrm>
            <a:off x="0" y="4281488"/>
            <a:ext cx="9144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所有顶点的入次之和等于所有顶点的出次之和。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078" name="Group 28"/>
          <p:cNvGrpSpPr/>
          <p:nvPr/>
        </p:nvGrpSpPr>
        <p:grpSpPr>
          <a:xfrm>
            <a:off x="0" y="2528888"/>
            <a:ext cx="9144000" cy="1423987"/>
            <a:chOff x="0" y="1728"/>
            <a:chExt cx="5760" cy="897"/>
          </a:xfrm>
        </p:grpSpPr>
        <p:sp>
          <p:nvSpPr>
            <p:cNvPr id="3079" name="Rectangle 24"/>
            <p:cNvSpPr/>
            <p:nvPr/>
          </p:nvSpPr>
          <p:spPr>
            <a:xfrm>
              <a:off x="0" y="1728"/>
              <a:ext cx="5760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262255" algn="just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有向图中，以</a:t>
              </a:r>
              <a:r>
                <a:rPr lang="zh-CN" altLang="en-US" sz="2800" b="1" i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</a:t>
              </a:r>
              <a:r>
                <a:rPr lang="en-US" altLang="zh-CN" sz="2800" b="1" i="1" baseline="-25000" dirty="0">
                  <a:latin typeface="楷体_GB2312" pitchFamily="49" charset="-122"/>
                  <a:ea typeface="楷体_GB2312" pitchFamily="49" charset="-122"/>
                </a:rPr>
                <a:t>i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为始点的边数称为点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</a:t>
              </a:r>
              <a:r>
                <a:rPr lang="en-US" altLang="zh-CN" sz="2800" b="1" i="1" baseline="-25000" dirty="0"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的出次，用       表示     ；以</a:t>
              </a:r>
              <a:r>
                <a:rPr lang="zh-CN" altLang="en-US" sz="2800" b="1" i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</a:t>
              </a:r>
              <a:r>
                <a:rPr lang="en-US" altLang="zh-CN" sz="2800" b="1" i="1" baseline="-25000" dirty="0">
                  <a:latin typeface="楷体_GB2312" pitchFamily="49" charset="-122"/>
                  <a:ea typeface="楷体_GB2312" pitchFamily="49" charset="-122"/>
                </a:rPr>
                <a:t>i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为终点的边数称为点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</a:t>
              </a:r>
              <a:r>
                <a:rPr lang="en-US" altLang="zh-CN" sz="2800" b="1" i="1" baseline="-25000" dirty="0">
                  <a:latin typeface="楷体_GB2312" pitchFamily="49" charset="-122"/>
                  <a:ea typeface="楷体_GB2312" pitchFamily="49" charset="-122"/>
                </a:rPr>
                <a:t>i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的入次，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indent="262255" algn="just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用      表示；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v</a:t>
              </a:r>
              <a:r>
                <a:rPr lang="en-US" altLang="zh-CN" sz="2800" b="1" i="1" baseline="-25000" dirty="0">
                  <a:latin typeface="楷体_GB2312" pitchFamily="49" charset="-122"/>
                  <a:ea typeface="楷体_GB2312" pitchFamily="49" charset="-122"/>
                </a:rPr>
                <a:t>i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点的出次和入次之和就是该点的次。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3074" name="Object 18"/>
            <p:cNvGraphicFramePr/>
            <p:nvPr/>
          </p:nvGraphicFramePr>
          <p:xfrm>
            <a:off x="528" y="2352"/>
            <a:ext cx="58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" imgW="444500" imgH="241300" progId="Equation.3">
                    <p:embed/>
                  </p:oleObj>
                </mc:Choice>
                <mc:Fallback>
                  <p:oleObj name="" r:id="rId1" imgW="444500" imgH="2413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28" y="2352"/>
                          <a:ext cx="581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" name="Object 27"/>
            <p:cNvGraphicFramePr/>
            <p:nvPr/>
          </p:nvGraphicFramePr>
          <p:xfrm>
            <a:off x="576" y="2064"/>
            <a:ext cx="52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3" imgW="444500" imgH="241300" progId="Equation.3">
                    <p:embed/>
                  </p:oleObj>
                </mc:Choice>
                <mc:Fallback>
                  <p:oleObj name="" r:id="rId3" imgW="444500" imgH="2413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2064"/>
                          <a:ext cx="528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381000"/>
            <a:ext cx="9144000" cy="1373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9、设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=（ 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, E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），G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=（ 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,E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）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如果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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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称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是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的子图；如果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= 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,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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称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是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的部分图或支撑子图。 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grpSp>
        <p:nvGrpSpPr>
          <p:cNvPr id="2" name="Group 54"/>
          <p:cNvGrpSpPr>
            <a:grpSpLocks noChangeAspect="1"/>
          </p:cNvGrpSpPr>
          <p:nvPr/>
        </p:nvGrpSpPr>
        <p:grpSpPr>
          <a:xfrm>
            <a:off x="457200" y="2300288"/>
            <a:ext cx="3387725" cy="3090862"/>
            <a:chOff x="1562" y="4677"/>
            <a:chExt cx="2850" cy="2949"/>
          </a:xfrm>
        </p:grpSpPr>
        <p:grpSp>
          <p:nvGrpSpPr>
            <p:cNvPr id="23610" name="Group 55"/>
            <p:cNvGrpSpPr>
              <a:grpSpLocks noChangeAspect="1"/>
            </p:cNvGrpSpPr>
            <p:nvPr/>
          </p:nvGrpSpPr>
          <p:grpSpPr>
            <a:xfrm>
              <a:off x="1562" y="4677"/>
              <a:ext cx="2850" cy="2280"/>
              <a:chOff x="1562" y="4677"/>
              <a:chExt cx="2850" cy="2280"/>
            </a:xfrm>
          </p:grpSpPr>
          <p:grpSp>
            <p:nvGrpSpPr>
              <p:cNvPr id="23612" name="Group 56"/>
              <p:cNvGrpSpPr>
                <a:grpSpLocks noChangeAspect="1"/>
              </p:cNvGrpSpPr>
              <p:nvPr/>
            </p:nvGrpSpPr>
            <p:grpSpPr>
              <a:xfrm>
                <a:off x="1562" y="4707"/>
                <a:ext cx="2850" cy="2250"/>
                <a:chOff x="1562" y="4707"/>
                <a:chExt cx="2850" cy="2250"/>
              </a:xfrm>
            </p:grpSpPr>
            <p:grpSp>
              <p:nvGrpSpPr>
                <p:cNvPr id="23624" name="Group 57"/>
                <p:cNvGrpSpPr>
                  <a:grpSpLocks noChangeAspect="1"/>
                </p:cNvGrpSpPr>
                <p:nvPr/>
              </p:nvGrpSpPr>
              <p:grpSpPr>
                <a:xfrm>
                  <a:off x="1967" y="5034"/>
                  <a:ext cx="1800" cy="1560"/>
                  <a:chOff x="1967" y="5034"/>
                  <a:chExt cx="1800" cy="1560"/>
                </a:xfrm>
              </p:grpSpPr>
              <p:grpSp>
                <p:nvGrpSpPr>
                  <p:cNvPr id="23632" name="Group 58"/>
                  <p:cNvGrpSpPr>
                    <a:grpSpLocks noChangeAspect="1"/>
                  </p:cNvGrpSpPr>
                  <p:nvPr/>
                </p:nvGrpSpPr>
                <p:grpSpPr>
                  <a:xfrm>
                    <a:off x="1967" y="5034"/>
                    <a:ext cx="1800" cy="1560"/>
                    <a:chOff x="1967" y="5034"/>
                    <a:chExt cx="1800" cy="1560"/>
                  </a:xfrm>
                </p:grpSpPr>
                <p:sp>
                  <p:nvSpPr>
                    <p:cNvPr id="23638" name="Line 59"/>
                    <p:cNvSpPr>
                      <a:spLocks noChangeAspect="1"/>
                    </p:cNvSpPr>
                    <p:nvPr/>
                  </p:nvSpPr>
                  <p:spPr>
                    <a:xfrm>
                      <a:off x="2327" y="5034"/>
                      <a:ext cx="1260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23639" name="Line 60"/>
                    <p:cNvSpPr>
                      <a:spLocks noChangeAspect="1"/>
                    </p:cNvSpPr>
                    <p:nvPr/>
                  </p:nvSpPr>
                  <p:spPr>
                    <a:xfrm flipH="1">
                      <a:off x="1967" y="5034"/>
                      <a:ext cx="360" cy="624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23640" name="Line 61"/>
                    <p:cNvSpPr>
                      <a:spLocks noChangeAspect="1"/>
                    </p:cNvSpPr>
                    <p:nvPr/>
                  </p:nvSpPr>
                  <p:spPr>
                    <a:xfrm>
                      <a:off x="1967" y="5658"/>
                      <a:ext cx="180" cy="93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23641" name="Line 62"/>
                    <p:cNvSpPr>
                      <a:spLocks noChangeAspect="1"/>
                    </p:cNvSpPr>
                    <p:nvPr/>
                  </p:nvSpPr>
                  <p:spPr>
                    <a:xfrm>
                      <a:off x="2147" y="6594"/>
                      <a:ext cx="900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23642" name="Line 63"/>
                    <p:cNvSpPr>
                      <a:spLocks noChangeAspect="1"/>
                    </p:cNvSpPr>
                    <p:nvPr/>
                  </p:nvSpPr>
                  <p:spPr>
                    <a:xfrm flipV="1">
                      <a:off x="3047" y="5970"/>
                      <a:ext cx="720" cy="624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23643" name="Line 64"/>
                    <p:cNvSpPr>
                      <a:spLocks noChangeAspect="1"/>
                    </p:cNvSpPr>
                    <p:nvPr/>
                  </p:nvSpPr>
                  <p:spPr>
                    <a:xfrm>
                      <a:off x="3587" y="5034"/>
                      <a:ext cx="180" cy="93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</p:grpSp>
              <p:sp>
                <p:nvSpPr>
                  <p:cNvPr id="23633" name="Line 65"/>
                  <p:cNvSpPr>
                    <a:spLocks noChangeAspect="1"/>
                  </p:cNvSpPr>
                  <p:nvPr/>
                </p:nvSpPr>
                <p:spPr>
                  <a:xfrm>
                    <a:off x="1967" y="5658"/>
                    <a:ext cx="90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  <p:sp>
                <p:nvSpPr>
                  <p:cNvPr id="23634" name="Line 66"/>
                  <p:cNvSpPr>
                    <a:spLocks noChangeAspect="1"/>
                  </p:cNvSpPr>
                  <p:nvPr/>
                </p:nvSpPr>
                <p:spPr>
                  <a:xfrm flipV="1">
                    <a:off x="2867" y="5970"/>
                    <a:ext cx="900" cy="15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  <p:sp>
                <p:nvSpPr>
                  <p:cNvPr id="23635" name="Line 67"/>
                  <p:cNvSpPr>
                    <a:spLocks noChangeAspect="1"/>
                  </p:cNvSpPr>
                  <p:nvPr/>
                </p:nvSpPr>
                <p:spPr>
                  <a:xfrm flipV="1">
                    <a:off x="2867" y="5034"/>
                    <a:ext cx="720" cy="109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  <p:sp>
                <p:nvSpPr>
                  <p:cNvPr id="23636" name="Line 68"/>
                  <p:cNvSpPr>
                    <a:spLocks noChangeAspect="1"/>
                  </p:cNvSpPr>
                  <p:nvPr/>
                </p:nvSpPr>
                <p:spPr>
                  <a:xfrm>
                    <a:off x="2867" y="6126"/>
                    <a:ext cx="180" cy="468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  <p:sp>
                <p:nvSpPr>
                  <p:cNvPr id="23637" name="Line 69"/>
                  <p:cNvSpPr>
                    <a:spLocks noChangeAspect="1"/>
                  </p:cNvSpPr>
                  <p:nvPr/>
                </p:nvSpPr>
                <p:spPr>
                  <a:xfrm>
                    <a:off x="2327" y="5034"/>
                    <a:ext cx="540" cy="1092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</p:grpSp>
            <p:sp>
              <p:nvSpPr>
                <p:cNvPr id="23625" name="Text Box 70"/>
                <p:cNvSpPr txBox="1">
                  <a:spLocks noChangeAspect="1"/>
                </p:cNvSpPr>
                <p:nvPr/>
              </p:nvSpPr>
              <p:spPr>
                <a:xfrm>
                  <a:off x="1562" y="5391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6" name="Text Box 71"/>
                <p:cNvSpPr txBox="1">
                  <a:spLocks noChangeAspect="1"/>
                </p:cNvSpPr>
                <p:nvPr/>
              </p:nvSpPr>
              <p:spPr>
                <a:xfrm>
                  <a:off x="2012" y="4707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7" name="Text Box 72"/>
                <p:cNvSpPr txBox="1">
                  <a:spLocks noChangeAspect="1"/>
                </p:cNvSpPr>
                <p:nvPr/>
              </p:nvSpPr>
              <p:spPr>
                <a:xfrm>
                  <a:off x="3512" y="4833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8" name="Text Box 73"/>
                <p:cNvSpPr txBox="1">
                  <a:spLocks noChangeAspect="1"/>
                </p:cNvSpPr>
                <p:nvPr/>
              </p:nvSpPr>
              <p:spPr>
                <a:xfrm>
                  <a:off x="3692" y="5769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29" name="Text Box 74"/>
                <p:cNvSpPr txBox="1">
                  <a:spLocks noChangeAspect="1"/>
                </p:cNvSpPr>
                <p:nvPr/>
              </p:nvSpPr>
              <p:spPr>
                <a:xfrm>
                  <a:off x="2837" y="6489"/>
                  <a:ext cx="54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30" name="Text Box 75"/>
                <p:cNvSpPr txBox="1">
                  <a:spLocks noChangeAspect="1"/>
                </p:cNvSpPr>
                <p:nvPr/>
              </p:nvSpPr>
              <p:spPr>
                <a:xfrm>
                  <a:off x="1847" y="6474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6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3631" name="Text Box 76"/>
                <p:cNvSpPr txBox="1">
                  <a:spLocks noChangeAspect="1"/>
                </p:cNvSpPr>
                <p:nvPr/>
              </p:nvSpPr>
              <p:spPr>
                <a:xfrm>
                  <a:off x="2492" y="5955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3613" name="Text Box 77"/>
              <p:cNvSpPr txBox="1">
                <a:spLocks noChangeAspect="1"/>
              </p:cNvSpPr>
              <p:nvPr/>
            </p:nvSpPr>
            <p:spPr>
              <a:xfrm>
                <a:off x="1772" y="5100"/>
                <a:ext cx="72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4" name="Text Box 78"/>
              <p:cNvSpPr txBox="1">
                <a:spLocks noChangeAspect="1"/>
              </p:cNvSpPr>
              <p:nvPr/>
            </p:nvSpPr>
            <p:spPr>
              <a:xfrm>
                <a:off x="2687" y="4677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5" name="Text Box 79"/>
              <p:cNvSpPr txBox="1">
                <a:spLocks noChangeAspect="1"/>
              </p:cNvSpPr>
              <p:nvPr/>
            </p:nvSpPr>
            <p:spPr>
              <a:xfrm>
                <a:off x="3617" y="5301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6" name="Text Box 80"/>
              <p:cNvSpPr txBox="1">
                <a:spLocks noChangeAspect="1"/>
              </p:cNvSpPr>
              <p:nvPr/>
            </p:nvSpPr>
            <p:spPr>
              <a:xfrm>
                <a:off x="3362" y="6072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7" name="Text Box 81"/>
              <p:cNvSpPr txBox="1">
                <a:spLocks noChangeAspect="1"/>
              </p:cNvSpPr>
              <p:nvPr/>
            </p:nvSpPr>
            <p:spPr>
              <a:xfrm>
                <a:off x="2327" y="6474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8" name="Text Box 82"/>
              <p:cNvSpPr txBox="1">
                <a:spLocks noChangeAspect="1"/>
              </p:cNvSpPr>
              <p:nvPr/>
            </p:nvSpPr>
            <p:spPr>
              <a:xfrm>
                <a:off x="1742" y="5955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19" name="Text Box 83"/>
              <p:cNvSpPr txBox="1">
                <a:spLocks noChangeAspect="1"/>
              </p:cNvSpPr>
              <p:nvPr/>
            </p:nvSpPr>
            <p:spPr>
              <a:xfrm>
                <a:off x="2117" y="5742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0" name="Text Box 84"/>
              <p:cNvSpPr txBox="1">
                <a:spLocks noChangeAspect="1"/>
              </p:cNvSpPr>
              <p:nvPr/>
            </p:nvSpPr>
            <p:spPr>
              <a:xfrm>
                <a:off x="2432" y="5115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1" name="Text Box 85"/>
              <p:cNvSpPr txBox="1">
                <a:spLocks noChangeAspect="1"/>
              </p:cNvSpPr>
              <p:nvPr/>
            </p:nvSpPr>
            <p:spPr>
              <a:xfrm>
                <a:off x="2912" y="5175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2" name="Text Box 86"/>
              <p:cNvSpPr txBox="1">
                <a:spLocks noChangeAspect="1"/>
              </p:cNvSpPr>
              <p:nvPr/>
            </p:nvSpPr>
            <p:spPr>
              <a:xfrm>
                <a:off x="3152" y="5643"/>
                <a:ext cx="54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623" name="Text Box 87"/>
              <p:cNvSpPr txBox="1">
                <a:spLocks noChangeAspect="1"/>
              </p:cNvSpPr>
              <p:nvPr/>
            </p:nvSpPr>
            <p:spPr>
              <a:xfrm>
                <a:off x="2867" y="6072"/>
                <a:ext cx="720" cy="4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611" name="Text Box 88"/>
            <p:cNvSpPr txBox="1">
              <a:spLocks noChangeAspect="1"/>
            </p:cNvSpPr>
            <p:nvPr/>
          </p:nvSpPr>
          <p:spPr>
            <a:xfrm>
              <a:off x="2477" y="7002"/>
              <a:ext cx="108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)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96"/>
          <p:cNvGrpSpPr/>
          <p:nvPr/>
        </p:nvGrpSpPr>
        <p:grpSpPr>
          <a:xfrm>
            <a:off x="3700463" y="2274888"/>
            <a:ext cx="2395537" cy="3578225"/>
            <a:chOff x="2331" y="1433"/>
            <a:chExt cx="1317" cy="2254"/>
          </a:xfrm>
        </p:grpSpPr>
        <p:grpSp>
          <p:nvGrpSpPr>
            <p:cNvPr id="23585" name="Group 3"/>
            <p:cNvGrpSpPr>
              <a:grpSpLocks noChangeAspect="1"/>
            </p:cNvGrpSpPr>
            <p:nvPr/>
          </p:nvGrpSpPr>
          <p:grpSpPr>
            <a:xfrm>
              <a:off x="2331" y="1433"/>
              <a:ext cx="1317" cy="1926"/>
              <a:chOff x="4832" y="1677"/>
              <a:chExt cx="1995" cy="2919"/>
            </a:xfrm>
          </p:grpSpPr>
          <p:sp>
            <p:nvSpPr>
              <p:cNvPr id="23587" name="Line 4"/>
              <p:cNvSpPr>
                <a:spLocks noChangeAspect="1"/>
              </p:cNvSpPr>
              <p:nvPr/>
            </p:nvSpPr>
            <p:spPr>
              <a:xfrm flipH="1">
                <a:off x="5237" y="1995"/>
                <a:ext cx="360" cy="62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grpSp>
            <p:nvGrpSpPr>
              <p:cNvPr id="23588" name="Group 5"/>
              <p:cNvGrpSpPr>
                <a:grpSpLocks noChangeAspect="1"/>
              </p:cNvGrpSpPr>
              <p:nvPr/>
            </p:nvGrpSpPr>
            <p:grpSpPr>
              <a:xfrm>
                <a:off x="4832" y="1677"/>
                <a:ext cx="1995" cy="2919"/>
                <a:chOff x="4547" y="5034"/>
                <a:chExt cx="1995" cy="2919"/>
              </a:xfrm>
            </p:grpSpPr>
            <p:sp>
              <p:nvSpPr>
                <p:cNvPr id="23589" name="Text Box 6"/>
                <p:cNvSpPr txBox="1">
                  <a:spLocks noChangeAspect="1"/>
                </p:cNvSpPr>
                <p:nvPr/>
              </p:nvSpPr>
              <p:spPr>
                <a:xfrm>
                  <a:off x="5207" y="6780"/>
                  <a:ext cx="54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e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90" name="Group 7"/>
                <p:cNvGrpSpPr>
                  <a:grpSpLocks noChangeAspect="1"/>
                </p:cNvGrpSpPr>
                <p:nvPr/>
              </p:nvGrpSpPr>
              <p:grpSpPr>
                <a:xfrm>
                  <a:off x="4547" y="5034"/>
                  <a:ext cx="1995" cy="2919"/>
                  <a:chOff x="4502" y="5025"/>
                  <a:chExt cx="1995" cy="2919"/>
                </a:xfrm>
              </p:grpSpPr>
              <p:sp>
                <p:nvSpPr>
                  <p:cNvPr id="23591" name="Line 8"/>
                  <p:cNvSpPr>
                    <a:spLocks noChangeAspect="1"/>
                  </p:cNvSpPr>
                  <p:nvPr/>
                </p:nvSpPr>
                <p:spPr>
                  <a:xfrm>
                    <a:off x="4877" y="5985"/>
                    <a:ext cx="180" cy="93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  <p:grpSp>
                <p:nvGrpSpPr>
                  <p:cNvPr id="23592" name="Group 9"/>
                  <p:cNvGrpSpPr>
                    <a:grpSpLocks noChangeAspect="1"/>
                  </p:cNvGrpSpPr>
                  <p:nvPr/>
                </p:nvGrpSpPr>
                <p:grpSpPr>
                  <a:xfrm>
                    <a:off x="4502" y="5025"/>
                    <a:ext cx="1995" cy="2919"/>
                    <a:chOff x="4502" y="5025"/>
                    <a:chExt cx="1995" cy="2919"/>
                  </a:xfrm>
                </p:grpSpPr>
                <p:grpSp>
                  <p:nvGrpSpPr>
                    <p:cNvPr id="23593" name="Group 10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4907" y="5976"/>
                      <a:ext cx="1080" cy="936"/>
                      <a:chOff x="4907" y="5976"/>
                      <a:chExt cx="1080" cy="936"/>
                    </a:xfrm>
                  </p:grpSpPr>
                  <p:sp>
                    <p:nvSpPr>
                      <p:cNvPr id="23608" name="Line 11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5087" y="6912"/>
                        <a:ext cx="900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oval" w="med" len="med"/>
                        <a:tailEnd type="oval" w="med" len="med"/>
                      </a:ln>
                    </p:spPr>
                  </p:sp>
                  <p:sp>
                    <p:nvSpPr>
                      <p:cNvPr id="23609" name="Line 12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4907" y="5976"/>
                        <a:ext cx="900" cy="46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oval" w="med" len="med"/>
                        <a:tailEnd type="oval" w="med" len="med"/>
                      </a:ln>
                    </p:spPr>
                  </p:sp>
                </p:grpSp>
                <p:grpSp>
                  <p:nvGrpSpPr>
                    <p:cNvPr id="23594" name="Group 13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4502" y="5025"/>
                      <a:ext cx="1995" cy="2919"/>
                      <a:chOff x="4502" y="5025"/>
                      <a:chExt cx="1995" cy="2919"/>
                    </a:xfrm>
                  </p:grpSpPr>
                  <p:sp>
                    <p:nvSpPr>
                      <p:cNvPr id="23595" name="Line 14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5267" y="5352"/>
                        <a:ext cx="540" cy="10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oval" w="med" len="med"/>
                        <a:tailEnd type="oval" w="med" len="med"/>
                      </a:ln>
                    </p:spPr>
                  </p:sp>
                  <p:grpSp>
                    <p:nvGrpSpPr>
                      <p:cNvPr id="23596" name="Group 15"/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4502" y="5025"/>
                        <a:ext cx="1995" cy="2919"/>
                        <a:chOff x="4502" y="5025"/>
                        <a:chExt cx="1995" cy="2919"/>
                      </a:xfrm>
                    </p:grpSpPr>
                    <p:sp>
                      <p:nvSpPr>
                        <p:cNvPr id="23597" name="Text Box 16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5057" y="6060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7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grpSp>
                      <p:nvGrpSpPr>
                        <p:cNvPr id="23598" name="Group 17"/>
                        <p:cNvGrpSpPr>
                          <a:grpSpLocks noChangeAspect="1"/>
                        </p:cNvGrpSpPr>
                        <p:nvPr/>
                      </p:nvGrpSpPr>
                      <p:grpSpPr>
                        <a:xfrm>
                          <a:off x="4502" y="5025"/>
                          <a:ext cx="1995" cy="2919"/>
                          <a:chOff x="4502" y="5025"/>
                          <a:chExt cx="1995" cy="2919"/>
                        </a:xfrm>
                      </p:grpSpPr>
                      <p:sp>
                        <p:nvSpPr>
                          <p:cNvPr id="23599" name="Text Box 18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4502" y="5709"/>
                            <a:ext cx="72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v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1</a:t>
                            </a:r>
                            <a:endParaRPr lang="en-US" altLang="zh-CN" sz="2000" b="1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0" name="Text Box 19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4952" y="5025"/>
                            <a:ext cx="72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v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2</a:t>
                            </a:r>
                            <a:endParaRPr lang="en-US" altLang="zh-CN" sz="2000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1" name="Text Box 20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5777" y="6807"/>
                            <a:ext cx="54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v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5</a:t>
                            </a:r>
                            <a:endParaRPr lang="en-US" altLang="zh-CN" sz="2000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2" name="Text Box 21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4787" y="6792"/>
                            <a:ext cx="72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v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6</a:t>
                            </a:r>
                            <a:endParaRPr lang="en-US" altLang="zh-CN" sz="2000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3" name="Text Box 22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5432" y="6273"/>
                            <a:ext cx="72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v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7</a:t>
                            </a:r>
                            <a:endParaRPr lang="en-US" altLang="zh-CN" sz="2000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4" name="Text Box 23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4712" y="5418"/>
                            <a:ext cx="72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e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1</a:t>
                            </a:r>
                            <a:endParaRPr lang="en-US" altLang="zh-CN" sz="2000" b="1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5" name="Text Box 24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4682" y="6273"/>
                            <a:ext cx="54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e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6</a:t>
                            </a:r>
                            <a:endParaRPr lang="en-US" altLang="zh-CN" sz="2000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6" name="Text Box 25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5372" y="5433"/>
                            <a:ext cx="540" cy="46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e</a:t>
                            </a:r>
                            <a:r>
                              <a:rPr lang="en-US" altLang="zh-CN" sz="2000" b="1" baseline="-25000" dirty="0">
                                <a:latin typeface="Times New Roman" panose="02020603050405020304" pitchFamily="18" charset="0"/>
                              </a:rPr>
                              <a:t>8</a:t>
                            </a:r>
                            <a:endParaRPr lang="en-US" altLang="zh-CN" sz="2000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607" name="Text Box 26"/>
                          <p:cNvSpPr txBox="1">
                            <a:spLocks noChangeAspect="1"/>
                          </p:cNvSpPr>
                          <p:nvPr/>
                        </p:nvSpPr>
                        <p:spPr>
                          <a:xfrm>
                            <a:off x="5417" y="7320"/>
                            <a:ext cx="1080" cy="62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/>
                          <a:p>
                            <a:pPr algn="just" eaLnBrk="0" hangingPunct="0"/>
                            <a:r>
                              <a:rPr lang="zh-CN" altLang="en-US" sz="2000" b="1" dirty="0">
                                <a:latin typeface="Times New Roman" panose="02020603050405020304" pitchFamily="18" charset="0"/>
                              </a:rPr>
                              <a:t>(</a:t>
                            </a:r>
                            <a:r>
                              <a:rPr lang="en-US" altLang="zh-CN" sz="2000" b="1" i="1" dirty="0">
                                <a:latin typeface="Times New Roman" panose="02020603050405020304" pitchFamily="18" charset="0"/>
                              </a:rPr>
                              <a:t>b</a:t>
                            </a:r>
                            <a:r>
                              <a:rPr lang="en-US" altLang="zh-CN" sz="2000" b="1" dirty="0">
                                <a:latin typeface="Times New Roman" panose="02020603050405020304" pitchFamily="18" charset="0"/>
                              </a:rPr>
                              <a:t>)</a:t>
                            </a:r>
                            <a:endParaRPr lang="en-US" altLang="zh-CN" sz="2000" b="1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</p:grpSp>
                </p:grpSp>
              </p:grpSp>
            </p:grpSp>
          </p:grpSp>
        </p:grpSp>
        <p:sp>
          <p:nvSpPr>
            <p:cNvPr id="23586" name="Rectangle 94"/>
            <p:cNvSpPr/>
            <p:nvPr/>
          </p:nvSpPr>
          <p:spPr>
            <a:xfrm>
              <a:off x="2592" y="3360"/>
              <a:ext cx="4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子图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6" name="Group 97"/>
          <p:cNvGrpSpPr/>
          <p:nvPr/>
        </p:nvGrpSpPr>
        <p:grpSpPr>
          <a:xfrm>
            <a:off x="5929313" y="2351088"/>
            <a:ext cx="2986087" cy="3502025"/>
            <a:chOff x="3552" y="1481"/>
            <a:chExt cx="1881" cy="2206"/>
          </a:xfrm>
        </p:grpSpPr>
        <p:grpSp>
          <p:nvGrpSpPr>
            <p:cNvPr id="23558" name="Group 27"/>
            <p:cNvGrpSpPr>
              <a:grpSpLocks noChangeAspect="1"/>
            </p:cNvGrpSpPr>
            <p:nvPr/>
          </p:nvGrpSpPr>
          <p:grpSpPr>
            <a:xfrm>
              <a:off x="3552" y="1481"/>
              <a:ext cx="1881" cy="1927"/>
              <a:chOff x="6857" y="1506"/>
              <a:chExt cx="2850" cy="2919"/>
            </a:xfrm>
          </p:grpSpPr>
          <p:sp>
            <p:nvSpPr>
              <p:cNvPr id="23560" name="Line 28"/>
              <p:cNvSpPr>
                <a:spLocks noChangeAspect="1"/>
              </p:cNvSpPr>
              <p:nvPr/>
            </p:nvSpPr>
            <p:spPr>
              <a:xfrm flipH="1">
                <a:off x="7277" y="1848"/>
                <a:ext cx="360" cy="62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grpSp>
            <p:nvGrpSpPr>
              <p:cNvPr id="23561" name="Group 29"/>
              <p:cNvGrpSpPr>
                <a:grpSpLocks noChangeAspect="1"/>
              </p:cNvGrpSpPr>
              <p:nvPr/>
            </p:nvGrpSpPr>
            <p:grpSpPr>
              <a:xfrm>
                <a:off x="6857" y="1506"/>
                <a:ext cx="2850" cy="2919"/>
                <a:chOff x="6512" y="4938"/>
                <a:chExt cx="2850" cy="2919"/>
              </a:xfrm>
            </p:grpSpPr>
            <p:sp>
              <p:nvSpPr>
                <p:cNvPr id="23562" name="Text Box 30"/>
                <p:cNvSpPr txBox="1">
                  <a:spLocks noChangeAspect="1"/>
                </p:cNvSpPr>
                <p:nvPr/>
              </p:nvSpPr>
              <p:spPr>
                <a:xfrm>
                  <a:off x="6512" y="5622"/>
                  <a:ext cx="720" cy="4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 eaLnBrk="0" hangingPunct="0"/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v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3563" name="Group 31"/>
                <p:cNvGrpSpPr>
                  <a:grpSpLocks noChangeAspect="1"/>
                </p:cNvGrpSpPr>
                <p:nvPr/>
              </p:nvGrpSpPr>
              <p:grpSpPr>
                <a:xfrm>
                  <a:off x="6692" y="4938"/>
                  <a:ext cx="2670" cy="2919"/>
                  <a:chOff x="6692" y="4938"/>
                  <a:chExt cx="2670" cy="2919"/>
                </a:xfrm>
              </p:grpSpPr>
              <p:sp>
                <p:nvSpPr>
                  <p:cNvPr id="23564" name="Line 32"/>
                  <p:cNvSpPr>
                    <a:spLocks noChangeAspect="1"/>
                  </p:cNvSpPr>
                  <p:nvPr/>
                </p:nvSpPr>
                <p:spPr>
                  <a:xfrm flipV="1">
                    <a:off x="7817" y="6201"/>
                    <a:ext cx="900" cy="156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oval" w="med" len="med"/>
                    <a:tailEnd type="oval" w="med" len="med"/>
                  </a:ln>
                </p:spPr>
              </p:sp>
              <p:grpSp>
                <p:nvGrpSpPr>
                  <p:cNvPr id="23565" name="Group 33"/>
                  <p:cNvGrpSpPr>
                    <a:grpSpLocks noChangeAspect="1"/>
                  </p:cNvGrpSpPr>
                  <p:nvPr/>
                </p:nvGrpSpPr>
                <p:grpSpPr>
                  <a:xfrm>
                    <a:off x="6692" y="4938"/>
                    <a:ext cx="2670" cy="2919"/>
                    <a:chOff x="6692" y="4938"/>
                    <a:chExt cx="2670" cy="2919"/>
                  </a:xfrm>
                </p:grpSpPr>
                <p:sp>
                  <p:nvSpPr>
                    <p:cNvPr id="23566" name="Line 34"/>
                    <p:cNvSpPr>
                      <a:spLocks noChangeAspect="1"/>
                    </p:cNvSpPr>
                    <p:nvPr/>
                  </p:nvSpPr>
                  <p:spPr>
                    <a:xfrm>
                      <a:off x="6917" y="5889"/>
                      <a:ext cx="180" cy="936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sp>
                  <p:nvSpPr>
                    <p:cNvPr id="23567" name="Line 35"/>
                    <p:cNvSpPr>
                      <a:spLocks noChangeAspect="1"/>
                    </p:cNvSpPr>
                    <p:nvPr/>
                  </p:nvSpPr>
                  <p:spPr>
                    <a:xfrm>
                      <a:off x="7817" y="6357"/>
                      <a:ext cx="180" cy="468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00"/>
                      </a:solidFill>
                      <a:prstDash val="solid"/>
                      <a:headEnd type="oval" w="med" len="med"/>
                      <a:tailEnd type="oval" w="med" len="med"/>
                    </a:ln>
                  </p:spPr>
                </p:sp>
                <p:grpSp>
                  <p:nvGrpSpPr>
                    <p:cNvPr id="23568" name="Group 36"/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6692" y="4938"/>
                      <a:ext cx="2670" cy="2919"/>
                      <a:chOff x="6692" y="4938"/>
                      <a:chExt cx="2670" cy="2919"/>
                    </a:xfrm>
                  </p:grpSpPr>
                  <p:sp>
                    <p:nvSpPr>
                      <p:cNvPr id="23569" name="Line 37"/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6917" y="5889"/>
                        <a:ext cx="900" cy="468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oval" w="med" len="med"/>
                        <a:tailEnd type="oval" w="med" len="med"/>
                      </a:ln>
                    </p:spPr>
                  </p:sp>
                  <p:grpSp>
                    <p:nvGrpSpPr>
                      <p:cNvPr id="23570" name="Group 38"/>
                      <p:cNvGrpSpPr>
                        <a:grpSpLocks noChangeAspect="1"/>
                      </p:cNvGrpSpPr>
                      <p:nvPr/>
                    </p:nvGrpSpPr>
                    <p:grpSpPr>
                      <a:xfrm>
                        <a:off x="6692" y="4938"/>
                        <a:ext cx="2670" cy="2250"/>
                        <a:chOff x="6692" y="4938"/>
                        <a:chExt cx="2670" cy="2250"/>
                      </a:xfrm>
                    </p:grpSpPr>
                    <p:sp>
                      <p:nvSpPr>
                        <p:cNvPr id="23572" name="Line 39"/>
                        <p:cNvSpPr>
                          <a:spLocks noChangeAspect="1"/>
                        </p:cNvSpPr>
                        <p:nvPr/>
                      </p:nvSpPr>
                      <p:spPr>
                        <a:xfrm flipV="1">
                          <a:off x="7817" y="5265"/>
                          <a:ext cx="720" cy="1092"/>
                        </a:xfrm>
                        <a:prstGeom prst="line">
                          <a:avLst/>
                        </a:prstGeom>
                        <a:ln w="9525" cap="flat" cmpd="sng">
                          <a:solidFill>
                            <a:srgbClr val="000000"/>
                          </a:solidFill>
                          <a:prstDash val="solid"/>
                          <a:headEnd type="oval" w="med" len="med"/>
                          <a:tailEnd type="oval" w="med" len="med"/>
                        </a:ln>
                      </p:spPr>
                    </p:sp>
                    <p:sp>
                      <p:nvSpPr>
                        <p:cNvPr id="23573" name="Text Box 40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962" y="4938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2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74" name="Text Box 41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8462" y="5064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3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75" name="Text Box 42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8642" y="6000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4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76" name="Text Box 43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7787" y="6720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5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77" name="Text Box 44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797" y="6705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6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78" name="Text Box 45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7442" y="6186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v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7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79" name="Text Box 46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722" y="5331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1</a:t>
                          </a:r>
                          <a:endParaRPr lang="en-US" altLang="zh-CN" sz="2000" b="1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80" name="Text Box 47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6692" y="6186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6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81" name="Text Box 48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7067" y="5973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7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82" name="Text Box 49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7862" y="5406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9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83" name="Text Box 50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8102" y="5874"/>
                          <a:ext cx="54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10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23584" name="Text Box 51"/>
                        <p:cNvSpPr txBox="1">
                          <a:spLocks noChangeAspect="1"/>
                        </p:cNvSpPr>
                        <p:nvPr/>
                      </p:nvSpPr>
                      <p:spPr>
                        <a:xfrm>
                          <a:off x="7817" y="6303"/>
                          <a:ext cx="720" cy="46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/>
                        <a:p>
                          <a:pPr algn="just" eaLnBrk="0" hangingPunct="0"/>
                          <a:r>
                            <a:rPr lang="en-US" altLang="zh-CN" sz="2000" b="1" i="1" dirty="0">
                              <a:latin typeface="Times New Roman" panose="02020603050405020304" pitchFamily="18" charset="0"/>
                            </a:rPr>
                            <a:t>e</a:t>
                          </a:r>
                          <a:r>
                            <a:rPr lang="en-US" altLang="zh-CN" sz="2000" b="1" baseline="-25000" dirty="0">
                              <a:latin typeface="Times New Roman" panose="02020603050405020304" pitchFamily="18" charset="0"/>
                            </a:rPr>
                            <a:t>11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23571" name="Text Box 52"/>
                      <p:cNvSpPr txBox="1">
                        <a:spLocks noChangeAspect="1"/>
                      </p:cNvSpPr>
                      <p:nvPr/>
                    </p:nvSpPr>
                    <p:spPr>
                      <a:xfrm>
                        <a:off x="7427" y="7233"/>
                        <a:ext cx="1080" cy="62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/>
                      <a:p>
                        <a:pPr algn="just" eaLnBrk="0" hangingPunct="0"/>
                        <a:r>
                          <a:rPr lang="zh-CN" altLang="en-US" sz="2000" b="1" dirty="0">
                            <a:latin typeface="Times New Roman" panose="02020603050405020304" pitchFamily="18" charset="0"/>
                          </a:rPr>
                          <a:t>(</a:t>
                        </a:r>
                        <a:r>
                          <a:rPr lang="en-US" altLang="zh-CN" sz="2000" b="1" i="1" dirty="0">
                            <a:latin typeface="Times New Roman" panose="02020603050405020304" pitchFamily="18" charset="0"/>
                          </a:rPr>
                          <a:t>c</a:t>
                        </a:r>
                        <a:r>
                          <a:rPr lang="en-US" altLang="zh-CN" sz="2000" b="1" dirty="0">
                            <a:latin typeface="Times New Roman" panose="02020603050405020304" pitchFamily="18" charset="0"/>
                          </a:rPr>
                          <a:t>)</a:t>
                        </a:r>
                        <a:endParaRPr lang="en-US" altLang="zh-CN" sz="2000" b="1" dirty="0"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23559" name="Rectangle 95"/>
            <p:cNvSpPr/>
            <p:nvPr/>
          </p:nvSpPr>
          <p:spPr>
            <a:xfrm>
              <a:off x="3936" y="3360"/>
              <a:ext cx="10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支撑子图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100" name="Group 6"/>
          <p:cNvGrpSpPr/>
          <p:nvPr/>
        </p:nvGrpSpPr>
        <p:grpSpPr>
          <a:xfrm>
            <a:off x="381000" y="622300"/>
            <a:ext cx="8763000" cy="2654300"/>
            <a:chOff x="240" y="336"/>
            <a:chExt cx="5520" cy="1672"/>
          </a:xfrm>
        </p:grpSpPr>
        <p:sp>
          <p:nvSpPr>
            <p:cNvPr id="4102" name="Rectangle 3"/>
            <p:cNvSpPr/>
            <p:nvPr/>
          </p:nvSpPr>
          <p:spPr>
            <a:xfrm>
              <a:off x="240" y="336"/>
              <a:ext cx="5520" cy="16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     在实际应用中，给定一个图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G=（V，E）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或有向图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D=（V，A）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在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中指定两个点，一个称为始点（或发点），记作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800" b="1" baseline="-30000" dirty="0">
                  <a:latin typeface="Times New Roman" panose="02020603050405020304" pitchFamily="18" charset="0"/>
                  <a:ea typeface="楷体_GB2312" pitchFamily="49" charset="-122"/>
                </a:rPr>
                <a:t>1 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一个称为终点（或收点），记作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v</a:t>
              </a:r>
              <a:r>
                <a:rPr lang="en-US" altLang="zh-CN" sz="2800" b="1" i="1" baseline="-30000" dirty="0">
                  <a:latin typeface="Times New Roman" panose="02020603050405020304" pitchFamily="18" charset="0"/>
                  <a:ea typeface="楷体_GB2312" pitchFamily="49" charset="-122"/>
                </a:rPr>
                <a:t>n 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其余的点称为中间点。对每一条弧          ，对应一个数    ，称为弧上的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“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权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”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。通常把这种赋权的图称为网络。 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4098" name="Object 4"/>
            <p:cNvGraphicFramePr/>
            <p:nvPr/>
          </p:nvGraphicFramePr>
          <p:xfrm>
            <a:off x="4439" y="1200"/>
            <a:ext cx="88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" imgW="735965" imgH="241300" progId="Equation.3">
                    <p:embed/>
                  </p:oleObj>
                </mc:Choice>
                <mc:Fallback>
                  <p:oleObj name="" r:id="rId1" imgW="735965" imgH="2413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439" y="1200"/>
                          <a:ext cx="889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" name="Object 5"/>
            <p:cNvGraphicFramePr/>
            <p:nvPr/>
          </p:nvGraphicFramePr>
          <p:xfrm>
            <a:off x="1484" y="1440"/>
            <a:ext cx="29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3" imgW="241300" imgH="241300" progId="Equation.3">
                    <p:embed/>
                  </p:oleObj>
                </mc:Choice>
                <mc:Fallback>
                  <p:oleObj name="" r:id="rId3" imgW="241300" imgH="2413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84" y="1440"/>
                          <a:ext cx="29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1" name="Rectangle 7"/>
          <p:cNvSpPr/>
          <p:nvPr/>
        </p:nvSpPr>
        <p:spPr>
          <a:xfrm>
            <a:off x="0" y="3822700"/>
            <a:ext cx="91440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10、由两两相邻的点及其相关联的边构成的点边序列称为链。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如: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,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,v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n-1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,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e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i="1" baseline="-30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记作（ 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0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,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n-1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，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 v</a:t>
            </a:r>
            <a:r>
              <a:rPr lang="en-US" altLang="zh-CN" sz="2800" b="1" i="1" baseline="-30000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），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578" name="Group 94"/>
          <p:cNvGrpSpPr/>
          <p:nvPr/>
        </p:nvGrpSpPr>
        <p:grpSpPr>
          <a:xfrm>
            <a:off x="2357438" y="2330450"/>
            <a:ext cx="4957762" cy="2819400"/>
            <a:chOff x="720" y="2315"/>
            <a:chExt cx="2451" cy="1573"/>
          </a:xfrm>
        </p:grpSpPr>
        <p:sp>
          <p:nvSpPr>
            <p:cNvPr id="24581" name="Text Box 34"/>
            <p:cNvSpPr txBox="1">
              <a:spLocks noChangeAspect="1"/>
            </p:cNvSpPr>
            <p:nvPr/>
          </p:nvSpPr>
          <p:spPr>
            <a:xfrm>
              <a:off x="1200" y="2890"/>
              <a:ext cx="435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82" name="Line 33"/>
            <p:cNvSpPr>
              <a:spLocks noChangeAspect="1"/>
            </p:cNvSpPr>
            <p:nvPr/>
          </p:nvSpPr>
          <p:spPr>
            <a:xfrm>
              <a:off x="1397" y="2624"/>
              <a:ext cx="87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3" name="Line 32"/>
            <p:cNvSpPr>
              <a:spLocks noChangeAspect="1"/>
            </p:cNvSpPr>
            <p:nvPr/>
          </p:nvSpPr>
          <p:spPr>
            <a:xfrm>
              <a:off x="1397" y="3377"/>
              <a:ext cx="87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4" name="Line 31"/>
            <p:cNvSpPr>
              <a:spLocks noChangeAspect="1"/>
            </p:cNvSpPr>
            <p:nvPr/>
          </p:nvSpPr>
          <p:spPr>
            <a:xfrm>
              <a:off x="1397" y="2624"/>
              <a:ext cx="0" cy="75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5" name="Line 30"/>
            <p:cNvSpPr>
              <a:spLocks noChangeAspect="1"/>
            </p:cNvSpPr>
            <p:nvPr/>
          </p:nvSpPr>
          <p:spPr>
            <a:xfrm>
              <a:off x="2268" y="2624"/>
              <a:ext cx="435" cy="3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6" name="Line 29"/>
            <p:cNvSpPr>
              <a:spLocks noChangeAspect="1"/>
            </p:cNvSpPr>
            <p:nvPr/>
          </p:nvSpPr>
          <p:spPr>
            <a:xfrm flipV="1">
              <a:off x="2268" y="3001"/>
              <a:ext cx="435" cy="3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7" name="Line 28"/>
            <p:cNvSpPr>
              <a:spLocks noChangeAspect="1"/>
            </p:cNvSpPr>
            <p:nvPr/>
          </p:nvSpPr>
          <p:spPr>
            <a:xfrm flipH="1">
              <a:off x="962" y="2624"/>
              <a:ext cx="435" cy="37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8" name="Line 27"/>
            <p:cNvSpPr>
              <a:spLocks noChangeAspect="1"/>
            </p:cNvSpPr>
            <p:nvPr/>
          </p:nvSpPr>
          <p:spPr>
            <a:xfrm flipH="1" flipV="1">
              <a:off x="962" y="3001"/>
              <a:ext cx="435" cy="37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89" name="Oval 26"/>
            <p:cNvSpPr>
              <a:spLocks noChangeAspect="1"/>
            </p:cNvSpPr>
            <p:nvPr/>
          </p:nvSpPr>
          <p:spPr>
            <a:xfrm>
              <a:off x="2159" y="2624"/>
              <a:ext cx="145" cy="753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590" name="Line 25"/>
            <p:cNvSpPr>
              <a:spLocks noChangeAspect="1"/>
            </p:cNvSpPr>
            <p:nvPr/>
          </p:nvSpPr>
          <p:spPr>
            <a:xfrm flipH="1">
              <a:off x="1385" y="2624"/>
              <a:ext cx="871" cy="75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4591" name="Text Box 23"/>
            <p:cNvSpPr txBox="1">
              <a:spLocks noChangeAspect="1"/>
            </p:cNvSpPr>
            <p:nvPr/>
          </p:nvSpPr>
          <p:spPr>
            <a:xfrm>
              <a:off x="720" y="2768"/>
              <a:ext cx="435" cy="7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2" name="Text Box 22"/>
            <p:cNvSpPr txBox="1">
              <a:spLocks noChangeAspect="1"/>
            </p:cNvSpPr>
            <p:nvPr/>
          </p:nvSpPr>
          <p:spPr>
            <a:xfrm>
              <a:off x="1245" y="2315"/>
              <a:ext cx="435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3" name="Text Box 21"/>
            <p:cNvSpPr txBox="1">
              <a:spLocks noChangeAspect="1"/>
            </p:cNvSpPr>
            <p:nvPr/>
          </p:nvSpPr>
          <p:spPr>
            <a:xfrm>
              <a:off x="1204" y="3269"/>
              <a:ext cx="435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4" name="Text Box 20"/>
            <p:cNvSpPr txBox="1">
              <a:spLocks noChangeAspect="1"/>
            </p:cNvSpPr>
            <p:nvPr/>
          </p:nvSpPr>
          <p:spPr>
            <a:xfrm>
              <a:off x="2157" y="2362"/>
              <a:ext cx="435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5" name="Text Box 19"/>
            <p:cNvSpPr txBox="1">
              <a:spLocks noChangeAspect="1"/>
            </p:cNvSpPr>
            <p:nvPr/>
          </p:nvSpPr>
          <p:spPr>
            <a:xfrm>
              <a:off x="2156" y="3323"/>
              <a:ext cx="436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6" name="Text Box 18"/>
            <p:cNvSpPr txBox="1">
              <a:spLocks noChangeAspect="1"/>
            </p:cNvSpPr>
            <p:nvPr/>
          </p:nvSpPr>
          <p:spPr>
            <a:xfrm>
              <a:off x="2736" y="2842"/>
              <a:ext cx="435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7" name="Text Box 16"/>
            <p:cNvSpPr txBox="1">
              <a:spLocks noChangeAspect="1"/>
            </p:cNvSpPr>
            <p:nvPr/>
          </p:nvSpPr>
          <p:spPr>
            <a:xfrm>
              <a:off x="1965" y="2890"/>
              <a:ext cx="435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8" name="Text Box 15"/>
            <p:cNvSpPr txBox="1">
              <a:spLocks noChangeAspect="1"/>
            </p:cNvSpPr>
            <p:nvPr/>
          </p:nvSpPr>
          <p:spPr>
            <a:xfrm>
              <a:off x="2300" y="2843"/>
              <a:ext cx="436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9" name="Text Box 14"/>
            <p:cNvSpPr txBox="1">
              <a:spLocks noChangeAspect="1"/>
            </p:cNvSpPr>
            <p:nvPr/>
          </p:nvSpPr>
          <p:spPr>
            <a:xfrm>
              <a:off x="1005" y="2554"/>
              <a:ext cx="435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0" name="Text Box 13"/>
            <p:cNvSpPr txBox="1">
              <a:spLocks noChangeAspect="1"/>
            </p:cNvSpPr>
            <p:nvPr/>
          </p:nvSpPr>
          <p:spPr>
            <a:xfrm>
              <a:off x="961" y="3018"/>
              <a:ext cx="436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1" name="Text Box 12"/>
            <p:cNvSpPr txBox="1">
              <a:spLocks noChangeAspect="1"/>
            </p:cNvSpPr>
            <p:nvPr/>
          </p:nvSpPr>
          <p:spPr>
            <a:xfrm>
              <a:off x="1724" y="2363"/>
              <a:ext cx="436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2" name="Text Box 11"/>
            <p:cNvSpPr txBox="1">
              <a:spLocks noChangeAspect="1"/>
            </p:cNvSpPr>
            <p:nvPr/>
          </p:nvSpPr>
          <p:spPr>
            <a:xfrm>
              <a:off x="1675" y="2736"/>
              <a:ext cx="581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3" name="Text Box 10"/>
            <p:cNvSpPr txBox="1">
              <a:spLocks noChangeAspect="1"/>
            </p:cNvSpPr>
            <p:nvPr/>
          </p:nvSpPr>
          <p:spPr>
            <a:xfrm>
              <a:off x="1724" y="3312"/>
              <a:ext cx="436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4" name="Text Box 9"/>
            <p:cNvSpPr txBox="1">
              <a:spLocks noChangeAspect="1"/>
            </p:cNvSpPr>
            <p:nvPr/>
          </p:nvSpPr>
          <p:spPr>
            <a:xfrm>
              <a:off x="2400" y="2603"/>
              <a:ext cx="435" cy="5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5" name="Text Box 8"/>
            <p:cNvSpPr txBox="1">
              <a:spLocks noChangeAspect="1"/>
            </p:cNvSpPr>
            <p:nvPr/>
          </p:nvSpPr>
          <p:spPr>
            <a:xfrm>
              <a:off x="2491" y="3082"/>
              <a:ext cx="581" cy="5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10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579" name="Rectangle 95"/>
          <p:cNvSpPr/>
          <p:nvPr/>
        </p:nvSpPr>
        <p:spPr>
          <a:xfrm>
            <a:off x="0" y="5302250"/>
            <a:ext cx="9144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11、图中任意两点之间均至少有一条通路，则称此图为连通图，否则称为不连通图。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0" name="Rectangle 96"/>
          <p:cNvSpPr/>
          <p:nvPr/>
        </p:nvSpPr>
        <p:spPr>
          <a:xfrm>
            <a:off x="0" y="608013"/>
            <a:ext cx="914400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其链长为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其中 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，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分别称为链的起点和终点 。若点边序列中没有重复点和重复边者为初等链。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128" name="Group 14"/>
          <p:cNvGrpSpPr/>
          <p:nvPr/>
        </p:nvGrpSpPr>
        <p:grpSpPr>
          <a:xfrm>
            <a:off x="0" y="381000"/>
            <a:ext cx="9144000" cy="3260725"/>
            <a:chOff x="0" y="240"/>
            <a:chExt cx="5760" cy="2054"/>
          </a:xfrm>
        </p:grpSpPr>
        <p:sp>
          <p:nvSpPr>
            <p:cNvPr id="5131" name="Rectangle 2"/>
            <p:cNvSpPr/>
            <p:nvPr/>
          </p:nvSpPr>
          <p:spPr>
            <a:xfrm>
              <a:off x="0" y="240"/>
              <a:ext cx="5760" cy="205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392430" algn="just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（二）、  图的矩阵表示</a:t>
              </a:r>
              <a:endParaRPr lang="zh-CN" altLang="en-US" sz="2800" dirty="0">
                <a:latin typeface="楷体_GB2312" pitchFamily="49" charset="-122"/>
                <a:ea typeface="楷体_GB2312" pitchFamily="49" charset="-122"/>
              </a:endParaRPr>
            </a:p>
            <a:p>
              <a:pPr indent="392430" algn="just" eaLnBrk="0" hangingPunct="0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对于网络（赋权图）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G=（V，E）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其中边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indent="392430" algn="just" eaLnBrk="0" hangingPunct="0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有权      ，构造矩阵           ，其中：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indent="392430" algn="just"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indent="392430" algn="just"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indent="392430" algn="just"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indent="392430" algn="just"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indent="392430" algn="just" eaLnBrk="0" hangingPunct="0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称矩阵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为网络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G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的权矩阵。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5124" name="Object 3"/>
            <p:cNvGraphicFramePr/>
            <p:nvPr/>
          </p:nvGraphicFramePr>
          <p:xfrm>
            <a:off x="4608" y="615"/>
            <a:ext cx="547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" imgW="482600" imgH="241300" progId="Equation.3">
                    <p:embed/>
                  </p:oleObj>
                </mc:Choice>
                <mc:Fallback>
                  <p:oleObj name="" r:id="rId1" imgW="482600" imgH="2413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608" y="615"/>
                          <a:ext cx="547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4"/>
            <p:cNvGraphicFramePr/>
            <p:nvPr/>
          </p:nvGraphicFramePr>
          <p:xfrm>
            <a:off x="953" y="912"/>
            <a:ext cx="27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3" imgW="241300" imgH="241300" progId="Equation.3">
                    <p:embed/>
                  </p:oleObj>
                </mc:Choice>
                <mc:Fallback>
                  <p:oleObj name="" r:id="rId3" imgW="241300" imgH="2413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53" y="912"/>
                          <a:ext cx="274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" name="Object 6"/>
            <p:cNvGraphicFramePr/>
            <p:nvPr/>
          </p:nvGraphicFramePr>
          <p:xfrm>
            <a:off x="1824" y="1337"/>
            <a:ext cx="1828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5" imgW="1612265" imgH="520700" progId="Equation.3">
                    <p:embed/>
                  </p:oleObj>
                </mc:Choice>
                <mc:Fallback>
                  <p:oleObj name="" r:id="rId5" imgW="1612265" imgH="5207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24" y="1337"/>
                          <a:ext cx="1828" cy="5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7" name="Object 8"/>
            <p:cNvGraphicFramePr/>
            <p:nvPr/>
          </p:nvGraphicFramePr>
          <p:xfrm>
            <a:off x="2729" y="879"/>
            <a:ext cx="86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7" imgW="761365" imgH="241300" progId="Equation.3">
                    <p:embed/>
                  </p:oleObj>
                </mc:Choice>
                <mc:Fallback>
                  <p:oleObj name="" r:id="rId7" imgW="761365" imgH="2413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29" y="879"/>
                          <a:ext cx="864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9" name="Group 15"/>
          <p:cNvGrpSpPr/>
          <p:nvPr/>
        </p:nvGrpSpPr>
        <p:grpSpPr>
          <a:xfrm>
            <a:off x="0" y="3729038"/>
            <a:ext cx="9144000" cy="2443162"/>
            <a:chOff x="0" y="2320"/>
            <a:chExt cx="5760" cy="1539"/>
          </a:xfrm>
        </p:grpSpPr>
        <p:graphicFrame>
          <p:nvGraphicFramePr>
            <p:cNvPr id="5122" name="Object 5"/>
            <p:cNvGraphicFramePr/>
            <p:nvPr/>
          </p:nvGraphicFramePr>
          <p:xfrm>
            <a:off x="665" y="2751"/>
            <a:ext cx="86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9" imgW="761365" imgH="241300" progId="Equation.3">
                    <p:embed/>
                  </p:oleObj>
                </mc:Choice>
                <mc:Fallback>
                  <p:oleObj name="" r:id="rId9" imgW="761365" imgH="2413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5" y="2751"/>
                          <a:ext cx="864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" name="Object 9"/>
            <p:cNvGraphicFramePr/>
            <p:nvPr/>
          </p:nvGraphicFramePr>
          <p:xfrm>
            <a:off x="3073" y="2962"/>
            <a:ext cx="1871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0" imgW="1650365" imgH="520700" progId="Equation.3">
                    <p:embed/>
                  </p:oleObj>
                </mc:Choice>
                <mc:Fallback>
                  <p:oleObj name="" r:id="rId10" imgW="1650365" imgH="5207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073" y="2962"/>
                          <a:ext cx="1871" cy="5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0" name="Rectangle 13"/>
            <p:cNvSpPr/>
            <p:nvPr/>
          </p:nvSpPr>
          <p:spPr>
            <a:xfrm>
              <a:off x="0" y="2320"/>
              <a:ext cx="5760" cy="15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  设图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G=（V，E）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中顶点的个数为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构造一个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矩阵          ，其中： 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>
                <a:spcBef>
                  <a:spcPct val="50000"/>
                </a:spcBef>
              </a:pP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  称矩阵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为网络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G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的邻接矩阵。    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6" name="Object 0"/>
          <p:cNvGraphicFramePr/>
          <p:nvPr/>
        </p:nvGraphicFramePr>
        <p:xfrm>
          <a:off x="5586413" y="3657600"/>
          <a:ext cx="3176587" cy="292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65300" imgH="1625600" progId="Equation.3">
                  <p:embed/>
                </p:oleObj>
              </mc:Choice>
              <mc:Fallback>
                <p:oleObj name="" r:id="rId1" imgW="1765300" imgH="1625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86413" y="3657600"/>
                        <a:ext cx="3176587" cy="2925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Rectangle 30"/>
          <p:cNvSpPr/>
          <p:nvPr/>
        </p:nvSpPr>
        <p:spPr>
          <a:xfrm>
            <a:off x="838200" y="53340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9" name="Rectangle 31"/>
          <p:cNvSpPr/>
          <p:nvPr/>
        </p:nvSpPr>
        <p:spPr>
          <a:xfrm>
            <a:off x="304800" y="3124200"/>
            <a:ext cx="1724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权矩阵为：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50" name="Rectangle 32"/>
          <p:cNvSpPr/>
          <p:nvPr/>
        </p:nvSpPr>
        <p:spPr>
          <a:xfrm>
            <a:off x="4083050" y="3276600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邻接矩阵为：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151" name="Group 116"/>
          <p:cNvGrpSpPr/>
          <p:nvPr/>
        </p:nvGrpSpPr>
        <p:grpSpPr>
          <a:xfrm>
            <a:off x="2743200" y="228600"/>
            <a:ext cx="3581400" cy="2949575"/>
            <a:chOff x="1728" y="240"/>
            <a:chExt cx="2256" cy="1858"/>
          </a:xfrm>
        </p:grpSpPr>
        <p:sp>
          <p:nvSpPr>
            <p:cNvPr id="6152" name="Text Box 2"/>
            <p:cNvSpPr txBox="1">
              <a:spLocks noChangeAspect="1"/>
            </p:cNvSpPr>
            <p:nvPr/>
          </p:nvSpPr>
          <p:spPr>
            <a:xfrm>
              <a:off x="2246" y="1776"/>
              <a:ext cx="490" cy="3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3" name="AutoShape 6"/>
            <p:cNvSpPr>
              <a:spLocks noChangeAspect="1"/>
            </p:cNvSpPr>
            <p:nvPr/>
          </p:nvSpPr>
          <p:spPr>
            <a:xfrm>
              <a:off x="1973" y="493"/>
              <a:ext cx="1590" cy="1272"/>
            </a:xfrm>
            <a:prstGeom prst="hexagon">
              <a:avLst>
                <a:gd name="adj" fmla="val 31250"/>
                <a:gd name="vf" fmla="val 11547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54" name="Line 8"/>
            <p:cNvSpPr>
              <a:spLocks noChangeAspect="1"/>
            </p:cNvSpPr>
            <p:nvPr/>
          </p:nvSpPr>
          <p:spPr>
            <a:xfrm>
              <a:off x="2371" y="493"/>
              <a:ext cx="0" cy="127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155" name="Line 9"/>
            <p:cNvSpPr>
              <a:spLocks noChangeAspect="1"/>
            </p:cNvSpPr>
            <p:nvPr/>
          </p:nvSpPr>
          <p:spPr>
            <a:xfrm>
              <a:off x="3155" y="493"/>
              <a:ext cx="0" cy="127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156" name="Line 10"/>
            <p:cNvSpPr>
              <a:spLocks noChangeAspect="1"/>
            </p:cNvSpPr>
            <p:nvPr/>
          </p:nvSpPr>
          <p:spPr>
            <a:xfrm>
              <a:off x="1973" y="1129"/>
              <a:ext cx="159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157" name="Text Box 12"/>
            <p:cNvSpPr txBox="1">
              <a:spLocks noChangeAspect="1"/>
            </p:cNvSpPr>
            <p:nvPr/>
          </p:nvSpPr>
          <p:spPr>
            <a:xfrm>
              <a:off x="2187" y="240"/>
              <a:ext cx="326" cy="3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8" name="Text Box 13"/>
            <p:cNvSpPr txBox="1">
              <a:spLocks noChangeAspect="1"/>
            </p:cNvSpPr>
            <p:nvPr/>
          </p:nvSpPr>
          <p:spPr>
            <a:xfrm>
              <a:off x="3088" y="250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59" name="Text Box 14"/>
            <p:cNvSpPr txBox="1">
              <a:spLocks noChangeAspect="1"/>
            </p:cNvSpPr>
            <p:nvPr/>
          </p:nvSpPr>
          <p:spPr>
            <a:xfrm>
              <a:off x="3617" y="97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0" name="Text Box 15"/>
            <p:cNvSpPr txBox="1">
              <a:spLocks noChangeAspect="1"/>
            </p:cNvSpPr>
            <p:nvPr/>
          </p:nvSpPr>
          <p:spPr>
            <a:xfrm>
              <a:off x="3132" y="1746"/>
              <a:ext cx="61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1" name="Text Box 16"/>
            <p:cNvSpPr txBox="1">
              <a:spLocks noChangeAspect="1"/>
            </p:cNvSpPr>
            <p:nvPr/>
          </p:nvSpPr>
          <p:spPr>
            <a:xfrm>
              <a:off x="1728" y="917"/>
              <a:ext cx="367" cy="4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2" name="Text Box 18"/>
            <p:cNvSpPr txBox="1">
              <a:spLocks noChangeAspect="1"/>
            </p:cNvSpPr>
            <p:nvPr/>
          </p:nvSpPr>
          <p:spPr>
            <a:xfrm>
              <a:off x="2585" y="281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3" name="Text Box 19"/>
            <p:cNvSpPr txBox="1">
              <a:spLocks noChangeAspect="1"/>
            </p:cNvSpPr>
            <p:nvPr/>
          </p:nvSpPr>
          <p:spPr>
            <a:xfrm>
              <a:off x="2033" y="599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4" name="Text Box 20"/>
            <p:cNvSpPr txBox="1">
              <a:spLocks noChangeAspect="1"/>
            </p:cNvSpPr>
            <p:nvPr/>
          </p:nvSpPr>
          <p:spPr>
            <a:xfrm>
              <a:off x="1985" y="1313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5" name="Text Box 21"/>
            <p:cNvSpPr txBox="1">
              <a:spLocks noChangeAspect="1"/>
            </p:cNvSpPr>
            <p:nvPr/>
          </p:nvSpPr>
          <p:spPr>
            <a:xfrm>
              <a:off x="2585" y="1533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6" name="Text Box 22"/>
            <p:cNvSpPr txBox="1">
              <a:spLocks noChangeAspect="1"/>
            </p:cNvSpPr>
            <p:nvPr/>
          </p:nvSpPr>
          <p:spPr>
            <a:xfrm>
              <a:off x="3278" y="579"/>
              <a:ext cx="28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7" name="Text Box 23"/>
            <p:cNvSpPr txBox="1">
              <a:spLocks noChangeAspect="1"/>
            </p:cNvSpPr>
            <p:nvPr/>
          </p:nvSpPr>
          <p:spPr>
            <a:xfrm>
              <a:off x="3319" y="1321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8" name="Text Box 24"/>
            <p:cNvSpPr txBox="1">
              <a:spLocks noChangeAspect="1"/>
            </p:cNvSpPr>
            <p:nvPr/>
          </p:nvSpPr>
          <p:spPr>
            <a:xfrm>
              <a:off x="2472" y="599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6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69" name="Text Box 25"/>
            <p:cNvSpPr txBox="1">
              <a:spLocks noChangeAspect="1"/>
            </p:cNvSpPr>
            <p:nvPr/>
          </p:nvSpPr>
          <p:spPr>
            <a:xfrm>
              <a:off x="2320" y="1194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0" name="Text Box 26"/>
            <p:cNvSpPr txBox="1">
              <a:spLocks noChangeAspect="1"/>
            </p:cNvSpPr>
            <p:nvPr/>
          </p:nvSpPr>
          <p:spPr>
            <a:xfrm>
              <a:off x="2880" y="93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1" name="Text Box 27"/>
            <p:cNvSpPr txBox="1">
              <a:spLocks noChangeAspect="1"/>
            </p:cNvSpPr>
            <p:nvPr/>
          </p:nvSpPr>
          <p:spPr>
            <a:xfrm>
              <a:off x="2993" y="64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zh-CN" altLang="en-US" sz="2000" b="1" dirty="0"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72" name="Line 33"/>
            <p:cNvSpPr/>
            <p:nvPr/>
          </p:nvSpPr>
          <p:spPr>
            <a:xfrm>
              <a:off x="2352" y="480"/>
              <a:ext cx="816" cy="12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147" name="Object 1"/>
          <p:cNvGraphicFramePr/>
          <p:nvPr/>
        </p:nvGraphicFramePr>
        <p:xfrm>
          <a:off x="838200" y="3703638"/>
          <a:ext cx="3198813" cy="292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1778000" imgH="1625600" progId="Equation.3">
                  <p:embed/>
                </p:oleObj>
              </mc:Choice>
              <mc:Fallback>
                <p:oleObj name="" r:id="rId3" imgW="1778000" imgH="16256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3703638"/>
                        <a:ext cx="3198813" cy="292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3"/>
          <p:cNvSpPr/>
          <p:nvPr/>
        </p:nvSpPr>
        <p:spPr>
          <a:xfrm>
            <a:off x="500063" y="1530350"/>
            <a:ext cx="7924800" cy="3108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76225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定义8.18  连通图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中，若存在一条道路，经过每边一次且仅一次，则称这条路为欧拉道路。若存在一条回路，经过每边一次且仅一次，则称这条回路为欧拉回路。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76225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具有欧拉回路的图称为欧拉图。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76225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定理8.7   无向连通图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是欧拉图，当且仅当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中无奇点。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3" name="Rectangle 3"/>
          <p:cNvSpPr/>
          <p:nvPr/>
        </p:nvSpPr>
        <p:spPr>
          <a:xfrm>
            <a:off x="357188" y="547688"/>
            <a:ext cx="7924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76225" algn="just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（三）、 欧拉回路与中国邮路问题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6" name="Group 3"/>
          <p:cNvGrpSpPr>
            <a:grpSpLocks noChangeAspect="1"/>
          </p:cNvGrpSpPr>
          <p:nvPr/>
        </p:nvGrpSpPr>
        <p:grpSpPr>
          <a:xfrm>
            <a:off x="3200400" y="2438400"/>
            <a:ext cx="2427288" cy="2149475"/>
            <a:chOff x="6317" y="8100"/>
            <a:chExt cx="2730" cy="2418"/>
          </a:xfrm>
        </p:grpSpPr>
        <p:grpSp>
          <p:nvGrpSpPr>
            <p:cNvPr id="26638" name="Group 4"/>
            <p:cNvGrpSpPr>
              <a:grpSpLocks noChangeAspect="1"/>
            </p:cNvGrpSpPr>
            <p:nvPr/>
          </p:nvGrpSpPr>
          <p:grpSpPr>
            <a:xfrm>
              <a:off x="6707" y="8451"/>
              <a:ext cx="1680" cy="1575"/>
              <a:chOff x="6707" y="8451"/>
              <a:chExt cx="1680" cy="1575"/>
            </a:xfrm>
          </p:grpSpPr>
          <p:sp>
            <p:nvSpPr>
              <p:cNvPr id="26643" name="Oval 5"/>
              <p:cNvSpPr>
                <a:spLocks noChangeAspect="1"/>
              </p:cNvSpPr>
              <p:nvPr/>
            </p:nvSpPr>
            <p:spPr>
              <a:xfrm>
                <a:off x="6707" y="8466"/>
                <a:ext cx="315" cy="780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4" name="Oval 6"/>
              <p:cNvSpPr>
                <a:spLocks noChangeAspect="1"/>
              </p:cNvSpPr>
              <p:nvPr/>
            </p:nvSpPr>
            <p:spPr>
              <a:xfrm>
                <a:off x="6707" y="9246"/>
                <a:ext cx="315" cy="780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45" name="Line 7"/>
              <p:cNvSpPr>
                <a:spLocks noChangeAspect="1"/>
              </p:cNvSpPr>
              <p:nvPr/>
            </p:nvSpPr>
            <p:spPr>
              <a:xfrm>
                <a:off x="6812" y="9246"/>
                <a:ext cx="1575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6" name="Line 8"/>
              <p:cNvSpPr>
                <a:spLocks noChangeAspect="1"/>
              </p:cNvSpPr>
              <p:nvPr/>
            </p:nvSpPr>
            <p:spPr>
              <a:xfrm>
                <a:off x="6872" y="8451"/>
                <a:ext cx="1470" cy="78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647" name="Line 9"/>
              <p:cNvSpPr>
                <a:spLocks noChangeAspect="1"/>
              </p:cNvSpPr>
              <p:nvPr/>
            </p:nvSpPr>
            <p:spPr>
              <a:xfrm flipH="1">
                <a:off x="6812" y="9246"/>
                <a:ext cx="1575" cy="78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639" name="Text Box 10"/>
            <p:cNvSpPr txBox="1">
              <a:spLocks noChangeAspect="1"/>
            </p:cNvSpPr>
            <p:nvPr/>
          </p:nvSpPr>
          <p:spPr>
            <a:xfrm>
              <a:off x="6752" y="8100"/>
              <a:ext cx="73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A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0" name="Text Box 11"/>
            <p:cNvSpPr txBox="1">
              <a:spLocks noChangeAspect="1"/>
            </p:cNvSpPr>
            <p:nvPr/>
          </p:nvSpPr>
          <p:spPr>
            <a:xfrm>
              <a:off x="6707" y="9894"/>
              <a:ext cx="735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B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1" name="Text Box 12"/>
            <p:cNvSpPr txBox="1">
              <a:spLocks noChangeAspect="1"/>
            </p:cNvSpPr>
            <p:nvPr/>
          </p:nvSpPr>
          <p:spPr>
            <a:xfrm>
              <a:off x="6317" y="9030"/>
              <a:ext cx="63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C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26642" name="Text Box 13"/>
            <p:cNvSpPr txBox="1">
              <a:spLocks noChangeAspect="1"/>
            </p:cNvSpPr>
            <p:nvPr/>
          </p:nvSpPr>
          <p:spPr>
            <a:xfrm>
              <a:off x="8312" y="8988"/>
              <a:ext cx="735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800" b="1" dirty="0">
                  <a:latin typeface="Times New Roman" panose="02020603050405020304" pitchFamily="18" charset="0"/>
                </a:rPr>
                <a:t>D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627" name="Rectangle 15"/>
          <p:cNvSpPr/>
          <p:nvPr/>
        </p:nvSpPr>
        <p:spPr>
          <a:xfrm>
            <a:off x="1219200" y="838200"/>
            <a:ext cx="1676400" cy="1295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6628" name="Group 26"/>
          <p:cNvGrpSpPr/>
          <p:nvPr/>
        </p:nvGrpSpPr>
        <p:grpSpPr>
          <a:xfrm>
            <a:off x="3505200" y="838200"/>
            <a:ext cx="1676400" cy="1295400"/>
            <a:chOff x="2352" y="528"/>
            <a:chExt cx="1056" cy="816"/>
          </a:xfrm>
        </p:grpSpPr>
        <p:sp>
          <p:nvSpPr>
            <p:cNvPr id="26635" name="Rectangle 16"/>
            <p:cNvSpPr/>
            <p:nvPr/>
          </p:nvSpPr>
          <p:spPr>
            <a:xfrm>
              <a:off x="2352" y="528"/>
              <a:ext cx="1056" cy="81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Line 17"/>
            <p:cNvSpPr/>
            <p:nvPr/>
          </p:nvSpPr>
          <p:spPr>
            <a:xfrm>
              <a:off x="2352" y="912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7" name="Line 18"/>
            <p:cNvSpPr/>
            <p:nvPr/>
          </p:nvSpPr>
          <p:spPr>
            <a:xfrm>
              <a:off x="2880" y="528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6629" name="Group 25"/>
          <p:cNvGrpSpPr/>
          <p:nvPr/>
        </p:nvGrpSpPr>
        <p:grpSpPr>
          <a:xfrm>
            <a:off x="6019800" y="457200"/>
            <a:ext cx="1676400" cy="1828800"/>
            <a:chOff x="768" y="1776"/>
            <a:chExt cx="1056" cy="1152"/>
          </a:xfrm>
        </p:grpSpPr>
        <p:sp>
          <p:nvSpPr>
            <p:cNvPr id="26630" name="Rectangle 19"/>
            <p:cNvSpPr/>
            <p:nvPr/>
          </p:nvSpPr>
          <p:spPr>
            <a:xfrm>
              <a:off x="768" y="2112"/>
              <a:ext cx="1056" cy="81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6631" name="Line 21"/>
            <p:cNvSpPr/>
            <p:nvPr/>
          </p:nvSpPr>
          <p:spPr>
            <a:xfrm>
              <a:off x="768" y="2112"/>
              <a:ext cx="1056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2" name="Line 22"/>
            <p:cNvSpPr/>
            <p:nvPr/>
          </p:nvSpPr>
          <p:spPr>
            <a:xfrm flipV="1">
              <a:off x="768" y="2112"/>
              <a:ext cx="1056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3" name="Line 23"/>
            <p:cNvSpPr/>
            <p:nvPr/>
          </p:nvSpPr>
          <p:spPr>
            <a:xfrm flipV="1">
              <a:off x="768" y="1776"/>
              <a:ext cx="576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34" name="Line 24"/>
            <p:cNvSpPr/>
            <p:nvPr/>
          </p:nvSpPr>
          <p:spPr>
            <a:xfrm>
              <a:off x="1344" y="1776"/>
              <a:ext cx="48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4"/>
          <p:cNvSpPr/>
          <p:nvPr/>
        </p:nvSpPr>
        <p:spPr>
          <a:xfrm>
            <a:off x="533400" y="304800"/>
            <a:ext cx="8077200" cy="607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奇偶点图上作业法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66700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（1）找出图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G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中的所有的奇顶点，把它们两两配成对，而每对奇点之间必有一条通路，把这条通路上的所有边作为重复边追加到图中去，这样得到的新连通图必无奇点。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66700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（2）如果边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=（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上的重复边多于一条，则可从重复边中去掉偶数条，使得其重复边至多为一条，图中的顶点仍全部都是偶顶点。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66700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（3）检查图中的每一个圈，如果每一个圈的重复边的总长不大于该圈总长的一半，则已经求得最优方案。如果存在一个圈，重复边的总长大于该圈总长的一半时，则将这个圈中的重复边去掉，再将该圈中原来没有重复边的各边加上重复边，其它各圈的边不变，返回步骤（2）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/>
          <p:nvPr/>
        </p:nvSpPr>
        <p:spPr>
          <a:xfrm>
            <a:off x="304800" y="228600"/>
            <a:ext cx="8534400" cy="2062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判定标准1: 在最优邮递路线上，图中的每一条边至多有一条重复边。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algn="just" eaLnBrk="0" hangingPunct="0"/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判定标准2 :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在最优邮递路线上，图中每一个圈的重复边总权小于或等于该圈总权的一半。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8675" name="Rectangle 3"/>
          <p:cNvSpPr/>
          <p:nvPr/>
        </p:nvSpPr>
        <p:spPr>
          <a:xfrm>
            <a:off x="304800" y="2438400"/>
            <a:ext cx="8382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例  求解下图所示网络的中国邮路问题，图中数字为该边的长。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8676" name="Group 40"/>
          <p:cNvGrpSpPr/>
          <p:nvPr/>
        </p:nvGrpSpPr>
        <p:grpSpPr>
          <a:xfrm>
            <a:off x="2514600" y="3733800"/>
            <a:ext cx="3810000" cy="2333625"/>
            <a:chOff x="1584" y="2352"/>
            <a:chExt cx="2400" cy="1470"/>
          </a:xfrm>
        </p:grpSpPr>
        <p:sp>
          <p:nvSpPr>
            <p:cNvPr id="28677" name="Line 9"/>
            <p:cNvSpPr>
              <a:spLocks noChangeAspect="1"/>
            </p:cNvSpPr>
            <p:nvPr/>
          </p:nvSpPr>
          <p:spPr>
            <a:xfrm>
              <a:off x="1843" y="3019"/>
              <a:ext cx="15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678" name="Line 11"/>
            <p:cNvSpPr>
              <a:spLocks noChangeAspect="1"/>
            </p:cNvSpPr>
            <p:nvPr/>
          </p:nvSpPr>
          <p:spPr>
            <a:xfrm>
              <a:off x="1958" y="2619"/>
              <a:ext cx="12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679" name="Line 12"/>
            <p:cNvSpPr>
              <a:spLocks noChangeAspect="1"/>
            </p:cNvSpPr>
            <p:nvPr/>
          </p:nvSpPr>
          <p:spPr>
            <a:xfrm>
              <a:off x="1728" y="3518"/>
              <a:ext cx="19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680" name="Line 13"/>
            <p:cNvSpPr>
              <a:spLocks noChangeAspect="1"/>
            </p:cNvSpPr>
            <p:nvPr/>
          </p:nvSpPr>
          <p:spPr>
            <a:xfrm flipH="1" flipV="1">
              <a:off x="3226" y="2619"/>
              <a:ext cx="461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681" name="Line 14"/>
            <p:cNvSpPr>
              <a:spLocks noChangeAspect="1"/>
            </p:cNvSpPr>
            <p:nvPr/>
          </p:nvSpPr>
          <p:spPr>
            <a:xfrm flipH="1">
              <a:off x="1728" y="2619"/>
              <a:ext cx="23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682" name="Line 15"/>
            <p:cNvSpPr>
              <a:spLocks noChangeAspect="1"/>
            </p:cNvSpPr>
            <p:nvPr/>
          </p:nvSpPr>
          <p:spPr>
            <a:xfrm>
              <a:off x="2650" y="2619"/>
              <a:ext cx="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8683" name="Text Box 17"/>
            <p:cNvSpPr txBox="1">
              <a:spLocks noChangeAspect="1"/>
            </p:cNvSpPr>
            <p:nvPr/>
          </p:nvSpPr>
          <p:spPr>
            <a:xfrm>
              <a:off x="1584" y="348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4" name="Text Box 18"/>
            <p:cNvSpPr txBox="1">
              <a:spLocks noChangeAspect="1"/>
            </p:cNvSpPr>
            <p:nvPr/>
          </p:nvSpPr>
          <p:spPr>
            <a:xfrm>
              <a:off x="1622" y="2861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85" name="Text Box 19"/>
            <p:cNvSpPr txBox="1">
              <a:spLocks noChangeAspect="1"/>
            </p:cNvSpPr>
            <p:nvPr/>
          </p:nvSpPr>
          <p:spPr>
            <a:xfrm>
              <a:off x="1747" y="240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86" name="Text Box 20"/>
            <p:cNvSpPr txBox="1">
              <a:spLocks noChangeAspect="1"/>
            </p:cNvSpPr>
            <p:nvPr/>
          </p:nvSpPr>
          <p:spPr>
            <a:xfrm>
              <a:off x="2525" y="352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87" name="Text Box 21"/>
            <p:cNvSpPr txBox="1">
              <a:spLocks noChangeAspect="1"/>
            </p:cNvSpPr>
            <p:nvPr/>
          </p:nvSpPr>
          <p:spPr>
            <a:xfrm>
              <a:off x="2400" y="2952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88" name="Text Box 22"/>
            <p:cNvSpPr txBox="1">
              <a:spLocks noChangeAspect="1"/>
            </p:cNvSpPr>
            <p:nvPr/>
          </p:nvSpPr>
          <p:spPr>
            <a:xfrm>
              <a:off x="2506" y="235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89" name="Text Box 23"/>
            <p:cNvSpPr txBox="1">
              <a:spLocks noChangeAspect="1"/>
            </p:cNvSpPr>
            <p:nvPr/>
          </p:nvSpPr>
          <p:spPr>
            <a:xfrm>
              <a:off x="3638" y="350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0" name="Text Box 24"/>
            <p:cNvSpPr txBox="1">
              <a:spLocks noChangeAspect="1"/>
            </p:cNvSpPr>
            <p:nvPr/>
          </p:nvSpPr>
          <p:spPr>
            <a:xfrm>
              <a:off x="3457" y="288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1" name="Text Box 25"/>
            <p:cNvSpPr txBox="1">
              <a:spLocks noChangeAspect="1"/>
            </p:cNvSpPr>
            <p:nvPr/>
          </p:nvSpPr>
          <p:spPr>
            <a:xfrm>
              <a:off x="3217" y="2400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2" name="Text Box 26"/>
            <p:cNvSpPr txBox="1">
              <a:spLocks noChangeAspect="1"/>
            </p:cNvSpPr>
            <p:nvPr/>
          </p:nvSpPr>
          <p:spPr>
            <a:xfrm>
              <a:off x="2151" y="240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2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3" name="Text Box 27"/>
            <p:cNvSpPr txBox="1">
              <a:spLocks noChangeAspect="1"/>
            </p:cNvSpPr>
            <p:nvPr/>
          </p:nvSpPr>
          <p:spPr>
            <a:xfrm>
              <a:off x="2833" y="240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4" name="Text Box 28"/>
            <p:cNvSpPr txBox="1">
              <a:spLocks noChangeAspect="1"/>
            </p:cNvSpPr>
            <p:nvPr/>
          </p:nvSpPr>
          <p:spPr>
            <a:xfrm>
              <a:off x="3313" y="269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5" name="Text Box 29"/>
            <p:cNvSpPr txBox="1">
              <a:spLocks noChangeAspect="1"/>
            </p:cNvSpPr>
            <p:nvPr/>
          </p:nvSpPr>
          <p:spPr>
            <a:xfrm>
              <a:off x="3505" y="309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6" name="Text Box 30"/>
            <p:cNvSpPr txBox="1">
              <a:spLocks noChangeAspect="1"/>
            </p:cNvSpPr>
            <p:nvPr/>
          </p:nvSpPr>
          <p:spPr>
            <a:xfrm>
              <a:off x="3110" y="350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7" name="Text Box 31"/>
            <p:cNvSpPr txBox="1">
              <a:spLocks noChangeAspect="1"/>
            </p:cNvSpPr>
            <p:nvPr/>
          </p:nvSpPr>
          <p:spPr>
            <a:xfrm>
              <a:off x="2084" y="3499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9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8" name="Text Box 32"/>
            <p:cNvSpPr txBox="1">
              <a:spLocks noChangeAspect="1"/>
            </p:cNvSpPr>
            <p:nvPr/>
          </p:nvSpPr>
          <p:spPr>
            <a:xfrm>
              <a:off x="1622" y="312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9" name="Text Box 33"/>
            <p:cNvSpPr txBox="1">
              <a:spLocks noChangeAspect="1"/>
            </p:cNvSpPr>
            <p:nvPr/>
          </p:nvSpPr>
          <p:spPr>
            <a:xfrm>
              <a:off x="1719" y="2688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0" name="Text Box 34"/>
            <p:cNvSpPr txBox="1">
              <a:spLocks noChangeAspect="1"/>
            </p:cNvSpPr>
            <p:nvPr/>
          </p:nvSpPr>
          <p:spPr>
            <a:xfrm>
              <a:off x="2074" y="2800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6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1" name="Text Box 35"/>
            <p:cNvSpPr txBox="1">
              <a:spLocks noChangeAspect="1"/>
            </p:cNvSpPr>
            <p:nvPr/>
          </p:nvSpPr>
          <p:spPr>
            <a:xfrm>
              <a:off x="2929" y="280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2" name="Text Box 36"/>
            <p:cNvSpPr txBox="1">
              <a:spLocks noChangeAspect="1"/>
            </p:cNvSpPr>
            <p:nvPr/>
          </p:nvSpPr>
          <p:spPr>
            <a:xfrm>
              <a:off x="2486" y="269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3" name="Text Box 37"/>
            <p:cNvSpPr txBox="1">
              <a:spLocks noChangeAspect="1"/>
            </p:cNvSpPr>
            <p:nvPr/>
          </p:nvSpPr>
          <p:spPr>
            <a:xfrm>
              <a:off x="2486" y="3171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698" name="Group 2"/>
          <p:cNvGrpSpPr/>
          <p:nvPr/>
        </p:nvGrpSpPr>
        <p:grpSpPr>
          <a:xfrm>
            <a:off x="381000" y="304800"/>
            <a:ext cx="3810000" cy="2333625"/>
            <a:chOff x="1584" y="2352"/>
            <a:chExt cx="2400" cy="1470"/>
          </a:xfrm>
        </p:grpSpPr>
        <p:sp>
          <p:nvSpPr>
            <p:cNvPr id="29810" name="Line 3"/>
            <p:cNvSpPr>
              <a:spLocks noChangeAspect="1"/>
            </p:cNvSpPr>
            <p:nvPr/>
          </p:nvSpPr>
          <p:spPr>
            <a:xfrm>
              <a:off x="1843" y="3019"/>
              <a:ext cx="15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811" name="Line 4"/>
            <p:cNvSpPr>
              <a:spLocks noChangeAspect="1"/>
            </p:cNvSpPr>
            <p:nvPr/>
          </p:nvSpPr>
          <p:spPr>
            <a:xfrm>
              <a:off x="1958" y="2619"/>
              <a:ext cx="12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812" name="Line 5"/>
            <p:cNvSpPr>
              <a:spLocks noChangeAspect="1"/>
            </p:cNvSpPr>
            <p:nvPr/>
          </p:nvSpPr>
          <p:spPr>
            <a:xfrm>
              <a:off x="1728" y="3518"/>
              <a:ext cx="19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813" name="Line 6"/>
            <p:cNvSpPr>
              <a:spLocks noChangeAspect="1"/>
            </p:cNvSpPr>
            <p:nvPr/>
          </p:nvSpPr>
          <p:spPr>
            <a:xfrm flipH="1" flipV="1">
              <a:off x="3226" y="2619"/>
              <a:ext cx="461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814" name="Line 7"/>
            <p:cNvSpPr>
              <a:spLocks noChangeAspect="1"/>
            </p:cNvSpPr>
            <p:nvPr/>
          </p:nvSpPr>
          <p:spPr>
            <a:xfrm flipH="1">
              <a:off x="1728" y="2619"/>
              <a:ext cx="23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815" name="Line 8"/>
            <p:cNvSpPr>
              <a:spLocks noChangeAspect="1"/>
            </p:cNvSpPr>
            <p:nvPr/>
          </p:nvSpPr>
          <p:spPr>
            <a:xfrm>
              <a:off x="2650" y="2619"/>
              <a:ext cx="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816" name="Text Box 9"/>
            <p:cNvSpPr txBox="1">
              <a:spLocks noChangeAspect="1"/>
            </p:cNvSpPr>
            <p:nvPr/>
          </p:nvSpPr>
          <p:spPr>
            <a:xfrm>
              <a:off x="1584" y="348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17" name="Text Box 10"/>
            <p:cNvSpPr txBox="1">
              <a:spLocks noChangeAspect="1"/>
            </p:cNvSpPr>
            <p:nvPr/>
          </p:nvSpPr>
          <p:spPr>
            <a:xfrm>
              <a:off x="1622" y="2861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18" name="Text Box 11"/>
            <p:cNvSpPr txBox="1">
              <a:spLocks noChangeAspect="1"/>
            </p:cNvSpPr>
            <p:nvPr/>
          </p:nvSpPr>
          <p:spPr>
            <a:xfrm>
              <a:off x="1747" y="240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19" name="Text Box 12"/>
            <p:cNvSpPr txBox="1">
              <a:spLocks noChangeAspect="1"/>
            </p:cNvSpPr>
            <p:nvPr/>
          </p:nvSpPr>
          <p:spPr>
            <a:xfrm>
              <a:off x="2525" y="352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0" name="Text Box 13"/>
            <p:cNvSpPr txBox="1">
              <a:spLocks noChangeAspect="1"/>
            </p:cNvSpPr>
            <p:nvPr/>
          </p:nvSpPr>
          <p:spPr>
            <a:xfrm>
              <a:off x="2400" y="2952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1" name="Text Box 14"/>
            <p:cNvSpPr txBox="1">
              <a:spLocks noChangeAspect="1"/>
            </p:cNvSpPr>
            <p:nvPr/>
          </p:nvSpPr>
          <p:spPr>
            <a:xfrm>
              <a:off x="2506" y="235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2" name="Text Box 15"/>
            <p:cNvSpPr txBox="1">
              <a:spLocks noChangeAspect="1"/>
            </p:cNvSpPr>
            <p:nvPr/>
          </p:nvSpPr>
          <p:spPr>
            <a:xfrm>
              <a:off x="3638" y="350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3" name="Text Box 16"/>
            <p:cNvSpPr txBox="1">
              <a:spLocks noChangeAspect="1"/>
            </p:cNvSpPr>
            <p:nvPr/>
          </p:nvSpPr>
          <p:spPr>
            <a:xfrm>
              <a:off x="3457" y="288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4" name="Text Box 17"/>
            <p:cNvSpPr txBox="1">
              <a:spLocks noChangeAspect="1"/>
            </p:cNvSpPr>
            <p:nvPr/>
          </p:nvSpPr>
          <p:spPr>
            <a:xfrm>
              <a:off x="3217" y="2400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5" name="Text Box 18"/>
            <p:cNvSpPr txBox="1">
              <a:spLocks noChangeAspect="1"/>
            </p:cNvSpPr>
            <p:nvPr/>
          </p:nvSpPr>
          <p:spPr>
            <a:xfrm>
              <a:off x="2151" y="240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2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6" name="Text Box 19"/>
            <p:cNvSpPr txBox="1">
              <a:spLocks noChangeAspect="1"/>
            </p:cNvSpPr>
            <p:nvPr/>
          </p:nvSpPr>
          <p:spPr>
            <a:xfrm>
              <a:off x="2833" y="240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7" name="Text Box 20"/>
            <p:cNvSpPr txBox="1">
              <a:spLocks noChangeAspect="1"/>
            </p:cNvSpPr>
            <p:nvPr/>
          </p:nvSpPr>
          <p:spPr>
            <a:xfrm>
              <a:off x="3313" y="269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8" name="Text Box 21"/>
            <p:cNvSpPr txBox="1">
              <a:spLocks noChangeAspect="1"/>
            </p:cNvSpPr>
            <p:nvPr/>
          </p:nvSpPr>
          <p:spPr>
            <a:xfrm>
              <a:off x="3505" y="309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29" name="Text Box 22"/>
            <p:cNvSpPr txBox="1">
              <a:spLocks noChangeAspect="1"/>
            </p:cNvSpPr>
            <p:nvPr/>
          </p:nvSpPr>
          <p:spPr>
            <a:xfrm>
              <a:off x="3110" y="350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0" name="Text Box 23"/>
            <p:cNvSpPr txBox="1">
              <a:spLocks noChangeAspect="1"/>
            </p:cNvSpPr>
            <p:nvPr/>
          </p:nvSpPr>
          <p:spPr>
            <a:xfrm>
              <a:off x="2084" y="3499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9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1" name="Text Box 24"/>
            <p:cNvSpPr txBox="1">
              <a:spLocks noChangeAspect="1"/>
            </p:cNvSpPr>
            <p:nvPr/>
          </p:nvSpPr>
          <p:spPr>
            <a:xfrm>
              <a:off x="1622" y="3124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2" name="Text Box 25"/>
            <p:cNvSpPr txBox="1">
              <a:spLocks noChangeAspect="1"/>
            </p:cNvSpPr>
            <p:nvPr/>
          </p:nvSpPr>
          <p:spPr>
            <a:xfrm>
              <a:off x="1719" y="2688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3" name="Text Box 26"/>
            <p:cNvSpPr txBox="1">
              <a:spLocks noChangeAspect="1"/>
            </p:cNvSpPr>
            <p:nvPr/>
          </p:nvSpPr>
          <p:spPr>
            <a:xfrm>
              <a:off x="2074" y="2800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6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4" name="Text Box 27"/>
            <p:cNvSpPr txBox="1">
              <a:spLocks noChangeAspect="1"/>
            </p:cNvSpPr>
            <p:nvPr/>
          </p:nvSpPr>
          <p:spPr>
            <a:xfrm>
              <a:off x="2929" y="280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5" name="Text Box 28"/>
            <p:cNvSpPr txBox="1">
              <a:spLocks noChangeAspect="1"/>
            </p:cNvSpPr>
            <p:nvPr/>
          </p:nvSpPr>
          <p:spPr>
            <a:xfrm>
              <a:off x="2486" y="269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36" name="Text Box 29"/>
            <p:cNvSpPr txBox="1">
              <a:spLocks noChangeAspect="1"/>
            </p:cNvSpPr>
            <p:nvPr/>
          </p:nvSpPr>
          <p:spPr>
            <a:xfrm>
              <a:off x="2486" y="3171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699" name="Group 80"/>
          <p:cNvGrpSpPr/>
          <p:nvPr/>
        </p:nvGrpSpPr>
        <p:grpSpPr>
          <a:xfrm>
            <a:off x="4648200" y="533400"/>
            <a:ext cx="3889375" cy="2333625"/>
            <a:chOff x="2110" y="1559"/>
            <a:chExt cx="2450" cy="1470"/>
          </a:xfrm>
        </p:grpSpPr>
        <p:sp>
          <p:nvSpPr>
            <p:cNvPr id="29773" name="Freeform 31"/>
            <p:cNvSpPr>
              <a:spLocks noChangeAspect="1"/>
            </p:cNvSpPr>
            <p:nvPr/>
          </p:nvSpPr>
          <p:spPr>
            <a:xfrm>
              <a:off x="3243" y="1853"/>
              <a:ext cx="577" cy="100"/>
            </a:xfrm>
            <a:custGeom>
              <a:avLst/>
              <a:gdLst>
                <a:gd name="txL" fmla="*/ 0 w 900"/>
                <a:gd name="txT" fmla="*/ 0 h 156"/>
                <a:gd name="txR" fmla="*/ 900 w 90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0" y="4"/>
                </a:cxn>
                <a:cxn ang="0">
                  <a:pos x="26" y="0"/>
                </a:cxn>
              </a:cxnLst>
              <a:rect l="txL" t="txT" r="txR" b="txB"/>
              <a:pathLst>
                <a:path w="900" h="156">
                  <a:moveTo>
                    <a:pt x="0" y="0"/>
                  </a:moveTo>
                  <a:cubicBezTo>
                    <a:pt x="105" y="78"/>
                    <a:pt x="210" y="156"/>
                    <a:pt x="360" y="156"/>
                  </a:cubicBezTo>
                  <a:cubicBezTo>
                    <a:pt x="510" y="156"/>
                    <a:pt x="705" y="78"/>
                    <a:pt x="90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774" name="Line 38"/>
            <p:cNvSpPr>
              <a:spLocks noChangeAspect="1"/>
            </p:cNvSpPr>
            <p:nvPr/>
          </p:nvSpPr>
          <p:spPr>
            <a:xfrm>
              <a:off x="2417" y="2226"/>
              <a:ext cx="161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5" name="Line 40"/>
            <p:cNvSpPr>
              <a:spLocks noChangeAspect="1"/>
            </p:cNvSpPr>
            <p:nvPr/>
          </p:nvSpPr>
          <p:spPr>
            <a:xfrm>
              <a:off x="2532" y="1826"/>
              <a:ext cx="12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6" name="Line 41"/>
            <p:cNvSpPr>
              <a:spLocks noChangeAspect="1"/>
            </p:cNvSpPr>
            <p:nvPr/>
          </p:nvSpPr>
          <p:spPr>
            <a:xfrm>
              <a:off x="2302" y="2725"/>
              <a:ext cx="19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7" name="Line 42"/>
            <p:cNvSpPr>
              <a:spLocks noChangeAspect="1"/>
            </p:cNvSpPr>
            <p:nvPr/>
          </p:nvSpPr>
          <p:spPr>
            <a:xfrm flipH="1" flipV="1">
              <a:off x="3800" y="1826"/>
              <a:ext cx="461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8" name="Line 43"/>
            <p:cNvSpPr>
              <a:spLocks noChangeAspect="1"/>
            </p:cNvSpPr>
            <p:nvPr/>
          </p:nvSpPr>
          <p:spPr>
            <a:xfrm flipH="1">
              <a:off x="2302" y="1826"/>
              <a:ext cx="23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79" name="Line 44"/>
            <p:cNvSpPr>
              <a:spLocks noChangeAspect="1"/>
            </p:cNvSpPr>
            <p:nvPr/>
          </p:nvSpPr>
          <p:spPr>
            <a:xfrm>
              <a:off x="3224" y="1826"/>
              <a:ext cx="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29780" name="Text Box 46"/>
            <p:cNvSpPr txBox="1">
              <a:spLocks noChangeAspect="1"/>
            </p:cNvSpPr>
            <p:nvPr/>
          </p:nvSpPr>
          <p:spPr>
            <a:xfrm>
              <a:off x="2158" y="2687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1" name="Text Box 47"/>
            <p:cNvSpPr txBox="1">
              <a:spLocks noChangeAspect="1"/>
            </p:cNvSpPr>
            <p:nvPr/>
          </p:nvSpPr>
          <p:spPr>
            <a:xfrm>
              <a:off x="2110" y="2068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2" name="Text Box 48"/>
            <p:cNvSpPr txBox="1">
              <a:spLocks noChangeAspect="1"/>
            </p:cNvSpPr>
            <p:nvPr/>
          </p:nvSpPr>
          <p:spPr>
            <a:xfrm>
              <a:off x="2235" y="1674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3" name="Text Box 49"/>
            <p:cNvSpPr txBox="1">
              <a:spLocks noChangeAspect="1"/>
            </p:cNvSpPr>
            <p:nvPr/>
          </p:nvSpPr>
          <p:spPr>
            <a:xfrm>
              <a:off x="3099" y="272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4" name="Text Box 50"/>
            <p:cNvSpPr txBox="1">
              <a:spLocks noChangeAspect="1"/>
            </p:cNvSpPr>
            <p:nvPr/>
          </p:nvSpPr>
          <p:spPr>
            <a:xfrm>
              <a:off x="2974" y="2159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5" name="Text Box 51"/>
            <p:cNvSpPr txBox="1">
              <a:spLocks noChangeAspect="1"/>
            </p:cNvSpPr>
            <p:nvPr/>
          </p:nvSpPr>
          <p:spPr>
            <a:xfrm>
              <a:off x="3080" y="155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6" name="Text Box 52"/>
            <p:cNvSpPr txBox="1">
              <a:spLocks noChangeAspect="1"/>
            </p:cNvSpPr>
            <p:nvPr/>
          </p:nvSpPr>
          <p:spPr>
            <a:xfrm>
              <a:off x="4214" y="271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7" name="Text Box 53"/>
            <p:cNvSpPr txBox="1">
              <a:spLocks noChangeAspect="1"/>
            </p:cNvSpPr>
            <p:nvPr/>
          </p:nvSpPr>
          <p:spPr>
            <a:xfrm>
              <a:off x="4118" y="208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8" name="Text Box 54"/>
            <p:cNvSpPr txBox="1">
              <a:spLocks noChangeAspect="1"/>
            </p:cNvSpPr>
            <p:nvPr/>
          </p:nvSpPr>
          <p:spPr>
            <a:xfrm>
              <a:off x="3791" y="1584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89" name="Text Box 55"/>
            <p:cNvSpPr txBox="1">
              <a:spLocks noChangeAspect="1"/>
            </p:cNvSpPr>
            <p:nvPr/>
          </p:nvSpPr>
          <p:spPr>
            <a:xfrm>
              <a:off x="2774" y="163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2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0" name="Text Box 56"/>
            <p:cNvSpPr txBox="1">
              <a:spLocks noChangeAspect="1"/>
            </p:cNvSpPr>
            <p:nvPr/>
          </p:nvSpPr>
          <p:spPr>
            <a:xfrm>
              <a:off x="3407" y="160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1" name="Text Box 57"/>
            <p:cNvSpPr txBox="1">
              <a:spLocks noChangeAspect="1"/>
            </p:cNvSpPr>
            <p:nvPr/>
          </p:nvSpPr>
          <p:spPr>
            <a:xfrm>
              <a:off x="3887" y="189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2" name="Text Box 58"/>
            <p:cNvSpPr txBox="1">
              <a:spLocks noChangeAspect="1"/>
            </p:cNvSpPr>
            <p:nvPr/>
          </p:nvSpPr>
          <p:spPr>
            <a:xfrm>
              <a:off x="4079" y="2306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3" name="Text Box 59"/>
            <p:cNvSpPr txBox="1">
              <a:spLocks noChangeAspect="1"/>
            </p:cNvSpPr>
            <p:nvPr/>
          </p:nvSpPr>
          <p:spPr>
            <a:xfrm>
              <a:off x="3474" y="271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4" name="Text Box 60"/>
            <p:cNvSpPr txBox="1">
              <a:spLocks noChangeAspect="1"/>
            </p:cNvSpPr>
            <p:nvPr/>
          </p:nvSpPr>
          <p:spPr>
            <a:xfrm>
              <a:off x="2658" y="2544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9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5" name="Text Box 61"/>
            <p:cNvSpPr txBox="1">
              <a:spLocks noChangeAspect="1"/>
            </p:cNvSpPr>
            <p:nvPr/>
          </p:nvSpPr>
          <p:spPr>
            <a:xfrm>
              <a:off x="2110" y="2331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6" name="Text Box 62"/>
            <p:cNvSpPr txBox="1">
              <a:spLocks noChangeAspect="1"/>
            </p:cNvSpPr>
            <p:nvPr/>
          </p:nvSpPr>
          <p:spPr>
            <a:xfrm>
              <a:off x="2216" y="1936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7" name="Text Box 63"/>
            <p:cNvSpPr txBox="1">
              <a:spLocks noChangeAspect="1"/>
            </p:cNvSpPr>
            <p:nvPr/>
          </p:nvSpPr>
          <p:spPr>
            <a:xfrm>
              <a:off x="2774" y="2016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6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8" name="Text Box 64"/>
            <p:cNvSpPr txBox="1">
              <a:spLocks noChangeAspect="1"/>
            </p:cNvSpPr>
            <p:nvPr/>
          </p:nvSpPr>
          <p:spPr>
            <a:xfrm>
              <a:off x="3503" y="2016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99" name="Text Box 65"/>
            <p:cNvSpPr txBox="1">
              <a:spLocks noChangeAspect="1"/>
            </p:cNvSpPr>
            <p:nvPr/>
          </p:nvSpPr>
          <p:spPr>
            <a:xfrm>
              <a:off x="3003" y="1897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00" name="Text Box 66"/>
            <p:cNvSpPr txBox="1">
              <a:spLocks noChangeAspect="1"/>
            </p:cNvSpPr>
            <p:nvPr/>
          </p:nvSpPr>
          <p:spPr>
            <a:xfrm>
              <a:off x="3003" y="2378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01" name="Freeform 68"/>
            <p:cNvSpPr>
              <a:spLocks noChangeAspect="1"/>
            </p:cNvSpPr>
            <p:nvPr/>
          </p:nvSpPr>
          <p:spPr>
            <a:xfrm>
              <a:off x="2321" y="2752"/>
              <a:ext cx="922" cy="100"/>
            </a:xfrm>
            <a:custGeom>
              <a:avLst/>
              <a:gdLst>
                <a:gd name="txL" fmla="*/ 0 w 1440"/>
                <a:gd name="txT" fmla="*/ 0 h 156"/>
                <a:gd name="txR" fmla="*/ 1440 w 1440"/>
                <a:gd name="txB" fmla="*/ 156 h 156"/>
              </a:gdLst>
              <a:ahLst/>
              <a:cxnLst>
                <a:cxn ang="0">
                  <a:pos x="40" y="0"/>
                </a:cxn>
                <a:cxn ang="0">
                  <a:pos x="20" y="4"/>
                </a:cxn>
                <a:cxn ang="0">
                  <a:pos x="0" y="0"/>
                </a:cxn>
              </a:cxnLst>
              <a:rect l="txL" t="txT" r="txR" b="txB"/>
              <a:pathLst>
                <a:path w="1440" h="156">
                  <a:moveTo>
                    <a:pt x="1440" y="0"/>
                  </a:moveTo>
                  <a:cubicBezTo>
                    <a:pt x="1200" y="78"/>
                    <a:pt x="960" y="156"/>
                    <a:pt x="720" y="156"/>
                  </a:cubicBezTo>
                  <a:cubicBezTo>
                    <a:pt x="480" y="156"/>
                    <a:pt x="240" y="78"/>
                    <a:pt x="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802" name="Text Box 70"/>
            <p:cNvSpPr txBox="1">
              <a:spLocks noChangeAspect="1"/>
            </p:cNvSpPr>
            <p:nvPr/>
          </p:nvSpPr>
          <p:spPr>
            <a:xfrm>
              <a:off x="2352" y="2341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03" name="Oval 71"/>
            <p:cNvSpPr>
              <a:spLocks noChangeAspect="1"/>
            </p:cNvSpPr>
            <p:nvPr/>
          </p:nvSpPr>
          <p:spPr>
            <a:xfrm rot="-1731837">
              <a:off x="3800" y="1826"/>
              <a:ext cx="211" cy="444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804" name="Oval 73"/>
            <p:cNvSpPr>
              <a:spLocks noChangeAspect="1"/>
            </p:cNvSpPr>
            <p:nvPr/>
          </p:nvSpPr>
          <p:spPr>
            <a:xfrm>
              <a:off x="3234" y="2629"/>
              <a:ext cx="1037" cy="2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805" name="Oval 74"/>
            <p:cNvSpPr>
              <a:spLocks noChangeAspect="1"/>
            </p:cNvSpPr>
            <p:nvPr/>
          </p:nvSpPr>
          <p:spPr>
            <a:xfrm>
              <a:off x="2533" y="1672"/>
              <a:ext cx="691" cy="3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806" name="Oval 75"/>
            <p:cNvSpPr>
              <a:spLocks noChangeAspect="1"/>
            </p:cNvSpPr>
            <p:nvPr/>
          </p:nvSpPr>
          <p:spPr>
            <a:xfrm rot="893900">
              <a:off x="2364" y="1846"/>
              <a:ext cx="229" cy="394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807" name="Text Box 76"/>
            <p:cNvSpPr txBox="1">
              <a:spLocks noChangeAspect="1"/>
            </p:cNvSpPr>
            <p:nvPr/>
          </p:nvSpPr>
          <p:spPr>
            <a:xfrm>
              <a:off x="2198" y="1901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808" name="Freeform 77"/>
            <p:cNvSpPr/>
            <p:nvPr/>
          </p:nvSpPr>
          <p:spPr>
            <a:xfrm>
              <a:off x="2232" y="2208"/>
              <a:ext cx="216" cy="528"/>
            </a:xfrm>
            <a:custGeom>
              <a:avLst/>
              <a:gdLst>
                <a:gd name="txL" fmla="*/ 0 w 216"/>
                <a:gd name="txT" fmla="*/ 0 h 528"/>
                <a:gd name="txR" fmla="*/ 216 w 216"/>
                <a:gd name="txB" fmla="*/ 528 h 528"/>
              </a:gdLst>
              <a:ahLst/>
              <a:cxnLst>
                <a:cxn ang="0">
                  <a:pos x="216" y="0"/>
                </a:cxn>
                <a:cxn ang="0">
                  <a:pos x="24" y="240"/>
                </a:cxn>
                <a:cxn ang="0">
                  <a:pos x="72" y="528"/>
                </a:cxn>
              </a:cxnLst>
              <a:rect l="txL" t="txT" r="txR" b="txB"/>
              <a:pathLst>
                <a:path w="216" h="528">
                  <a:moveTo>
                    <a:pt x="216" y="0"/>
                  </a:moveTo>
                  <a:cubicBezTo>
                    <a:pt x="132" y="76"/>
                    <a:pt x="48" y="152"/>
                    <a:pt x="24" y="240"/>
                  </a:cubicBezTo>
                  <a:cubicBezTo>
                    <a:pt x="0" y="328"/>
                    <a:pt x="64" y="480"/>
                    <a:pt x="72" y="52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9809" name="Freeform 79"/>
            <p:cNvSpPr/>
            <p:nvPr/>
          </p:nvSpPr>
          <p:spPr>
            <a:xfrm>
              <a:off x="3944" y="2256"/>
              <a:ext cx="416" cy="480"/>
            </a:xfrm>
            <a:custGeom>
              <a:avLst/>
              <a:gdLst>
                <a:gd name="txL" fmla="*/ 0 w 416"/>
                <a:gd name="txT" fmla="*/ 0 h 480"/>
                <a:gd name="txR" fmla="*/ 416 w 416"/>
                <a:gd name="txB" fmla="*/ 480 h 480"/>
              </a:gdLst>
              <a:ahLst/>
              <a:cxnLst>
                <a:cxn ang="0">
                  <a:pos x="328" y="480"/>
                </a:cxn>
                <a:cxn ang="0">
                  <a:pos x="40" y="192"/>
                </a:cxn>
                <a:cxn ang="0">
                  <a:pos x="88" y="0"/>
                </a:cxn>
                <a:cxn ang="0">
                  <a:pos x="376" y="192"/>
                </a:cxn>
                <a:cxn ang="0">
                  <a:pos x="328" y="480"/>
                </a:cxn>
              </a:cxnLst>
              <a:rect l="txL" t="txT" r="txR" b="txB"/>
              <a:pathLst>
                <a:path w="416" h="480">
                  <a:moveTo>
                    <a:pt x="328" y="480"/>
                  </a:moveTo>
                  <a:cubicBezTo>
                    <a:pt x="272" y="480"/>
                    <a:pt x="80" y="272"/>
                    <a:pt x="40" y="192"/>
                  </a:cubicBezTo>
                  <a:cubicBezTo>
                    <a:pt x="0" y="112"/>
                    <a:pt x="32" y="0"/>
                    <a:pt x="88" y="0"/>
                  </a:cubicBezTo>
                  <a:cubicBezTo>
                    <a:pt x="144" y="0"/>
                    <a:pt x="336" y="112"/>
                    <a:pt x="376" y="192"/>
                  </a:cubicBezTo>
                  <a:cubicBezTo>
                    <a:pt x="416" y="272"/>
                    <a:pt x="384" y="480"/>
                    <a:pt x="328" y="48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700" name="Rectangle 81"/>
          <p:cNvSpPr/>
          <p:nvPr/>
        </p:nvSpPr>
        <p:spPr>
          <a:xfrm>
            <a:off x="3581400" y="2819400"/>
            <a:ext cx="533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12</a:t>
            </a:r>
            <a:r>
              <a:rPr lang="en-US" altLang="zh-CN" dirty="0">
                <a:latin typeface="Times New Roman" panose="02020603050405020304" pitchFamily="18" charset="0"/>
              </a:rPr>
              <a:t>+2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23</a:t>
            </a:r>
            <a:r>
              <a:rPr lang="en-US" altLang="zh-CN" dirty="0">
                <a:latin typeface="Times New Roman" panose="02020603050405020304" pitchFamily="18" charset="0"/>
              </a:rPr>
              <a:t>+2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36</a:t>
            </a:r>
            <a:r>
              <a:rPr lang="en-US" altLang="zh-CN" dirty="0">
                <a:latin typeface="Times New Roman" panose="02020603050405020304" pitchFamily="18" charset="0"/>
              </a:rPr>
              <a:t>+2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89</a:t>
            </a:r>
            <a:r>
              <a:rPr lang="en-US" altLang="zh-CN" dirty="0">
                <a:latin typeface="Times New Roman" panose="02020603050405020304" pitchFamily="18" charset="0"/>
              </a:rPr>
              <a:t>+2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78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69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14</a:t>
            </a:r>
            <a:r>
              <a:rPr lang="en-US" altLang="zh-CN" dirty="0">
                <a:latin typeface="Times New Roman" panose="02020603050405020304" pitchFamily="18" charset="0"/>
              </a:rPr>
              <a:t>+2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baseline="-30000" dirty="0">
                <a:latin typeface="Times New Roman" panose="02020603050405020304" pitchFamily="18" charset="0"/>
              </a:rPr>
              <a:t>47</a:t>
            </a:r>
            <a:r>
              <a:rPr lang="en-US" altLang="zh-CN" dirty="0">
                <a:latin typeface="Times New Roman" panose="02020603050405020304" pitchFamily="18" charset="0"/>
              </a:rPr>
              <a:t>=51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9701" name="Group 174"/>
          <p:cNvGrpSpPr/>
          <p:nvPr/>
        </p:nvGrpSpPr>
        <p:grpSpPr>
          <a:xfrm>
            <a:off x="457200" y="3765550"/>
            <a:ext cx="3886200" cy="2330450"/>
            <a:chOff x="288" y="2112"/>
            <a:chExt cx="2448" cy="1468"/>
          </a:xfrm>
        </p:grpSpPr>
        <p:grpSp>
          <p:nvGrpSpPr>
            <p:cNvPr id="29737" name="Group 167"/>
            <p:cNvGrpSpPr/>
            <p:nvPr/>
          </p:nvGrpSpPr>
          <p:grpSpPr>
            <a:xfrm>
              <a:off x="288" y="2112"/>
              <a:ext cx="2448" cy="1468"/>
              <a:chOff x="288" y="2112"/>
              <a:chExt cx="2448" cy="1468"/>
            </a:xfrm>
          </p:grpSpPr>
          <p:sp>
            <p:nvSpPr>
              <p:cNvPr id="29742" name="Line 88"/>
              <p:cNvSpPr>
                <a:spLocks noChangeAspect="1"/>
              </p:cNvSpPr>
              <p:nvPr/>
            </p:nvSpPr>
            <p:spPr>
              <a:xfrm>
                <a:off x="547" y="2778"/>
                <a:ext cx="1612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43" name="Line 90"/>
              <p:cNvSpPr>
                <a:spLocks noChangeAspect="1"/>
              </p:cNvSpPr>
              <p:nvPr/>
            </p:nvSpPr>
            <p:spPr>
              <a:xfrm>
                <a:off x="662" y="2379"/>
                <a:ext cx="1267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44" name="Line 91"/>
              <p:cNvSpPr>
                <a:spLocks noChangeAspect="1"/>
              </p:cNvSpPr>
              <p:nvPr/>
            </p:nvSpPr>
            <p:spPr>
              <a:xfrm>
                <a:off x="432" y="3277"/>
                <a:ext cx="1957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45" name="Line 92"/>
              <p:cNvSpPr>
                <a:spLocks noChangeAspect="1"/>
              </p:cNvSpPr>
              <p:nvPr/>
            </p:nvSpPr>
            <p:spPr>
              <a:xfrm flipH="1" flipV="1">
                <a:off x="1929" y="2379"/>
                <a:ext cx="460" cy="89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46" name="Line 93"/>
              <p:cNvSpPr>
                <a:spLocks noChangeAspect="1"/>
              </p:cNvSpPr>
              <p:nvPr/>
            </p:nvSpPr>
            <p:spPr>
              <a:xfrm flipH="1">
                <a:off x="432" y="2379"/>
                <a:ext cx="230" cy="89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47" name="Line 94"/>
              <p:cNvSpPr>
                <a:spLocks noChangeAspect="1"/>
              </p:cNvSpPr>
              <p:nvPr/>
            </p:nvSpPr>
            <p:spPr>
              <a:xfrm>
                <a:off x="1353" y="2379"/>
                <a:ext cx="0" cy="89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48" name="Text Box 96"/>
              <p:cNvSpPr txBox="1">
                <a:spLocks noChangeAspect="1"/>
              </p:cNvSpPr>
              <p:nvPr/>
            </p:nvSpPr>
            <p:spPr>
              <a:xfrm>
                <a:off x="288" y="3238"/>
                <a:ext cx="461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49" name="Text Box 97"/>
              <p:cNvSpPr txBox="1">
                <a:spLocks noChangeAspect="1"/>
              </p:cNvSpPr>
              <p:nvPr/>
            </p:nvSpPr>
            <p:spPr>
              <a:xfrm>
                <a:off x="327" y="2621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0" name="Text Box 98"/>
              <p:cNvSpPr txBox="1">
                <a:spLocks noChangeAspect="1"/>
              </p:cNvSpPr>
              <p:nvPr/>
            </p:nvSpPr>
            <p:spPr>
              <a:xfrm>
                <a:off x="452" y="2160"/>
                <a:ext cx="460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1" name="Text Box 99"/>
              <p:cNvSpPr txBox="1">
                <a:spLocks noChangeAspect="1"/>
              </p:cNvSpPr>
              <p:nvPr/>
            </p:nvSpPr>
            <p:spPr>
              <a:xfrm>
                <a:off x="1228" y="3281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2" name="Text Box 100"/>
              <p:cNvSpPr txBox="1">
                <a:spLocks noChangeAspect="1"/>
              </p:cNvSpPr>
              <p:nvPr/>
            </p:nvSpPr>
            <p:spPr>
              <a:xfrm>
                <a:off x="1104" y="2711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3" name="Text Box 101"/>
              <p:cNvSpPr txBox="1">
                <a:spLocks noChangeAspect="1"/>
              </p:cNvSpPr>
              <p:nvPr/>
            </p:nvSpPr>
            <p:spPr>
              <a:xfrm>
                <a:off x="1209" y="2112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4" name="Text Box 102"/>
              <p:cNvSpPr txBox="1">
                <a:spLocks noChangeAspect="1"/>
              </p:cNvSpPr>
              <p:nvPr/>
            </p:nvSpPr>
            <p:spPr>
              <a:xfrm>
                <a:off x="2391" y="3261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5" name="Text Box 103"/>
              <p:cNvSpPr txBox="1">
                <a:spLocks noChangeAspect="1"/>
              </p:cNvSpPr>
              <p:nvPr/>
            </p:nvSpPr>
            <p:spPr>
              <a:xfrm>
                <a:off x="2159" y="2640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6" name="Text Box 104"/>
              <p:cNvSpPr txBox="1">
                <a:spLocks noChangeAspect="1"/>
              </p:cNvSpPr>
              <p:nvPr/>
            </p:nvSpPr>
            <p:spPr>
              <a:xfrm>
                <a:off x="1919" y="2160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7" name="Text Box 105"/>
              <p:cNvSpPr txBox="1">
                <a:spLocks noChangeAspect="1"/>
              </p:cNvSpPr>
              <p:nvPr/>
            </p:nvSpPr>
            <p:spPr>
              <a:xfrm>
                <a:off x="950" y="2160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2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8" name="Text Box 106"/>
              <p:cNvSpPr txBox="1">
                <a:spLocks noChangeAspect="1"/>
              </p:cNvSpPr>
              <p:nvPr/>
            </p:nvSpPr>
            <p:spPr>
              <a:xfrm>
                <a:off x="1536" y="2160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59" name="Text Box 107"/>
              <p:cNvSpPr txBox="1">
                <a:spLocks noChangeAspect="1"/>
              </p:cNvSpPr>
              <p:nvPr/>
            </p:nvSpPr>
            <p:spPr>
              <a:xfrm>
                <a:off x="2016" y="2450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3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0" name="Text Box 108"/>
              <p:cNvSpPr txBox="1">
                <a:spLocks noChangeAspect="1"/>
              </p:cNvSpPr>
              <p:nvPr/>
            </p:nvSpPr>
            <p:spPr>
              <a:xfrm>
                <a:off x="2207" y="2858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1" name="Text Box 109"/>
              <p:cNvSpPr txBox="1">
                <a:spLocks noChangeAspect="1"/>
              </p:cNvSpPr>
              <p:nvPr/>
            </p:nvSpPr>
            <p:spPr>
              <a:xfrm>
                <a:off x="1767" y="3261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2" name="Text Box 110"/>
              <p:cNvSpPr txBox="1">
                <a:spLocks noChangeAspect="1"/>
              </p:cNvSpPr>
              <p:nvPr/>
            </p:nvSpPr>
            <p:spPr>
              <a:xfrm>
                <a:off x="787" y="3258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9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3" name="Text Box 111"/>
              <p:cNvSpPr txBox="1">
                <a:spLocks noChangeAspect="1"/>
              </p:cNvSpPr>
              <p:nvPr/>
            </p:nvSpPr>
            <p:spPr>
              <a:xfrm>
                <a:off x="326" y="2883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5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4" name="Text Box 112"/>
              <p:cNvSpPr txBox="1">
                <a:spLocks noChangeAspect="1"/>
              </p:cNvSpPr>
              <p:nvPr/>
            </p:nvSpPr>
            <p:spPr>
              <a:xfrm>
                <a:off x="423" y="2448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5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5" name="Text Box 113"/>
              <p:cNvSpPr txBox="1">
                <a:spLocks noChangeAspect="1"/>
              </p:cNvSpPr>
              <p:nvPr/>
            </p:nvSpPr>
            <p:spPr>
              <a:xfrm>
                <a:off x="854" y="2559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6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6" name="Text Box 114"/>
              <p:cNvSpPr txBox="1">
                <a:spLocks noChangeAspect="1"/>
              </p:cNvSpPr>
              <p:nvPr/>
            </p:nvSpPr>
            <p:spPr>
              <a:xfrm>
                <a:off x="1632" y="2569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7" name="Text Box 115"/>
              <p:cNvSpPr txBox="1">
                <a:spLocks noChangeAspect="1"/>
              </p:cNvSpPr>
              <p:nvPr/>
            </p:nvSpPr>
            <p:spPr>
              <a:xfrm>
                <a:off x="1133" y="2450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3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8" name="Text Box 116"/>
              <p:cNvSpPr txBox="1">
                <a:spLocks noChangeAspect="1"/>
              </p:cNvSpPr>
              <p:nvPr/>
            </p:nvSpPr>
            <p:spPr>
              <a:xfrm>
                <a:off x="1335" y="2929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69" name="Freeform 119"/>
              <p:cNvSpPr>
                <a:spLocks noChangeAspect="1"/>
              </p:cNvSpPr>
              <p:nvPr/>
            </p:nvSpPr>
            <p:spPr>
              <a:xfrm>
                <a:off x="432" y="3072"/>
                <a:ext cx="950" cy="206"/>
              </a:xfrm>
              <a:custGeom>
                <a:avLst/>
                <a:gdLst>
                  <a:gd name="txL" fmla="*/ 0 w 1440"/>
                  <a:gd name="txT" fmla="*/ 0 h 312"/>
                  <a:gd name="txR" fmla="*/ 1440 w 1440"/>
                  <a:gd name="txB" fmla="*/ 312 h 312"/>
                </a:gdLst>
                <a:ahLst/>
                <a:cxnLst>
                  <a:cxn ang="0">
                    <a:pos x="0" y="11"/>
                  </a:cxn>
                  <a:cxn ang="0">
                    <a:pos x="19" y="0"/>
                  </a:cxn>
                  <a:cxn ang="0">
                    <a:pos x="52" y="11"/>
                  </a:cxn>
                </a:cxnLst>
                <a:rect l="txL" t="txT" r="txR" b="txB"/>
                <a:pathLst>
                  <a:path w="1440" h="312">
                    <a:moveTo>
                      <a:pt x="0" y="312"/>
                    </a:moveTo>
                    <a:cubicBezTo>
                      <a:pt x="150" y="156"/>
                      <a:pt x="300" y="0"/>
                      <a:pt x="540" y="0"/>
                    </a:cubicBezTo>
                    <a:cubicBezTo>
                      <a:pt x="780" y="0"/>
                      <a:pt x="1110" y="156"/>
                      <a:pt x="1440" y="312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0" name="Freeform 121"/>
              <p:cNvSpPr>
                <a:spLocks noChangeAspect="1"/>
              </p:cNvSpPr>
              <p:nvPr/>
            </p:nvSpPr>
            <p:spPr>
              <a:xfrm>
                <a:off x="1382" y="2400"/>
                <a:ext cx="576" cy="100"/>
              </a:xfrm>
              <a:custGeom>
                <a:avLst/>
                <a:gdLst>
                  <a:gd name="txL" fmla="*/ 0 w 900"/>
                  <a:gd name="txT" fmla="*/ 0 h 156"/>
                  <a:gd name="txR" fmla="*/ 900 w 90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6" y="0"/>
                  </a:cxn>
                </a:cxnLst>
                <a:rect l="txL" t="txT" r="txR" b="txB"/>
                <a:pathLst>
                  <a:path w="900" h="156">
                    <a:moveTo>
                      <a:pt x="0" y="0"/>
                    </a:moveTo>
                    <a:cubicBezTo>
                      <a:pt x="105" y="78"/>
                      <a:pt x="210" y="156"/>
                      <a:pt x="360" y="156"/>
                    </a:cubicBezTo>
                    <a:cubicBezTo>
                      <a:pt x="510" y="156"/>
                      <a:pt x="705" y="78"/>
                      <a:pt x="90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1" name="Freeform 122"/>
              <p:cNvSpPr>
                <a:spLocks noChangeAspect="1"/>
              </p:cNvSpPr>
              <p:nvPr/>
            </p:nvSpPr>
            <p:spPr>
              <a:xfrm>
                <a:off x="1776" y="2400"/>
                <a:ext cx="384" cy="400"/>
              </a:xfrm>
              <a:custGeom>
                <a:avLst/>
                <a:gdLst>
                  <a:gd name="txL" fmla="*/ 0 w 600"/>
                  <a:gd name="txT" fmla="*/ 0 h 624"/>
                  <a:gd name="txR" fmla="*/ 600 w 600"/>
                  <a:gd name="txB" fmla="*/ 624 h 624"/>
                </a:gdLst>
                <a:ahLst/>
                <a:cxnLst>
                  <a:cxn ang="0">
                    <a:pos x="17" y="18"/>
                  </a:cxn>
                  <a:cxn ang="0">
                    <a:pos x="2" y="9"/>
                  </a:cxn>
                  <a:cxn ang="0">
                    <a:pos x="7" y="0"/>
                  </a:cxn>
                </a:cxnLst>
                <a:rect l="txL" t="txT" r="txR" b="txB"/>
                <a:pathLst>
                  <a:path w="600" h="624">
                    <a:moveTo>
                      <a:pt x="600" y="624"/>
                    </a:moveTo>
                    <a:cubicBezTo>
                      <a:pt x="360" y="520"/>
                      <a:pt x="120" y="416"/>
                      <a:pt x="60" y="312"/>
                    </a:cubicBezTo>
                    <a:cubicBezTo>
                      <a:pt x="0" y="208"/>
                      <a:pt x="120" y="104"/>
                      <a:pt x="24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72" name="Freeform 123"/>
              <p:cNvSpPr/>
              <p:nvPr/>
            </p:nvSpPr>
            <p:spPr>
              <a:xfrm>
                <a:off x="432" y="2784"/>
                <a:ext cx="208" cy="480"/>
              </a:xfrm>
              <a:custGeom>
                <a:avLst/>
                <a:gdLst>
                  <a:gd name="txL" fmla="*/ 0 w 208"/>
                  <a:gd name="txT" fmla="*/ 0 h 480"/>
                  <a:gd name="txR" fmla="*/ 208 w 208"/>
                  <a:gd name="txB" fmla="*/ 480 h 480"/>
                </a:gdLst>
                <a:ahLst/>
                <a:cxnLst>
                  <a:cxn ang="0">
                    <a:pos x="96" y="0"/>
                  </a:cxn>
                  <a:cxn ang="0">
                    <a:pos x="192" y="240"/>
                  </a:cxn>
                  <a:cxn ang="0">
                    <a:pos x="0" y="480"/>
                  </a:cxn>
                </a:cxnLst>
                <a:rect l="txL" t="txT" r="txR" b="txB"/>
                <a:pathLst>
                  <a:path w="208" h="480">
                    <a:moveTo>
                      <a:pt x="96" y="0"/>
                    </a:moveTo>
                    <a:cubicBezTo>
                      <a:pt x="152" y="80"/>
                      <a:pt x="208" y="160"/>
                      <a:pt x="192" y="240"/>
                    </a:cubicBezTo>
                    <a:cubicBezTo>
                      <a:pt x="176" y="320"/>
                      <a:pt x="88" y="400"/>
                      <a:pt x="0" y="48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38" name="Line 169"/>
            <p:cNvSpPr/>
            <p:nvPr/>
          </p:nvSpPr>
          <p:spPr>
            <a:xfrm>
              <a:off x="432" y="3277"/>
              <a:ext cx="912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9" name="Line 170"/>
            <p:cNvSpPr/>
            <p:nvPr/>
          </p:nvSpPr>
          <p:spPr>
            <a:xfrm flipV="1">
              <a:off x="1357" y="2784"/>
              <a:ext cx="0" cy="48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0" name="Line 171"/>
            <p:cNvSpPr/>
            <p:nvPr/>
          </p:nvSpPr>
          <p:spPr>
            <a:xfrm flipH="1">
              <a:off x="528" y="2771"/>
              <a:ext cx="816" cy="0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41" name="Line 173"/>
            <p:cNvSpPr/>
            <p:nvPr/>
          </p:nvSpPr>
          <p:spPr>
            <a:xfrm flipH="1">
              <a:off x="423" y="2784"/>
              <a:ext cx="144" cy="52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9702" name="Group 178"/>
          <p:cNvGrpSpPr/>
          <p:nvPr/>
        </p:nvGrpSpPr>
        <p:grpSpPr>
          <a:xfrm>
            <a:off x="4800600" y="3733800"/>
            <a:ext cx="3810000" cy="2333625"/>
            <a:chOff x="3024" y="2352"/>
            <a:chExt cx="2400" cy="1470"/>
          </a:xfrm>
        </p:grpSpPr>
        <p:grpSp>
          <p:nvGrpSpPr>
            <p:cNvPr id="29703" name="Group 175"/>
            <p:cNvGrpSpPr/>
            <p:nvPr/>
          </p:nvGrpSpPr>
          <p:grpSpPr>
            <a:xfrm>
              <a:off x="3024" y="2352"/>
              <a:ext cx="2400" cy="1470"/>
              <a:chOff x="3024" y="2352"/>
              <a:chExt cx="2400" cy="1470"/>
            </a:xfrm>
          </p:grpSpPr>
          <p:sp>
            <p:nvSpPr>
              <p:cNvPr id="29706" name="Line 131"/>
              <p:cNvSpPr>
                <a:spLocks noChangeAspect="1"/>
              </p:cNvSpPr>
              <p:nvPr/>
            </p:nvSpPr>
            <p:spPr>
              <a:xfrm>
                <a:off x="3283" y="3019"/>
                <a:ext cx="1612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07" name="Line 133"/>
              <p:cNvSpPr>
                <a:spLocks noChangeAspect="1"/>
              </p:cNvSpPr>
              <p:nvPr/>
            </p:nvSpPr>
            <p:spPr>
              <a:xfrm>
                <a:off x="3398" y="2619"/>
                <a:ext cx="1267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08" name="Line 134"/>
              <p:cNvSpPr>
                <a:spLocks noChangeAspect="1"/>
              </p:cNvSpPr>
              <p:nvPr/>
            </p:nvSpPr>
            <p:spPr>
              <a:xfrm>
                <a:off x="3168" y="3518"/>
                <a:ext cx="1957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09" name="Line 135"/>
              <p:cNvSpPr>
                <a:spLocks noChangeAspect="1"/>
              </p:cNvSpPr>
              <p:nvPr/>
            </p:nvSpPr>
            <p:spPr>
              <a:xfrm flipH="1" flipV="1">
                <a:off x="4665" y="2619"/>
                <a:ext cx="460" cy="8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10" name="Line 136"/>
              <p:cNvSpPr>
                <a:spLocks noChangeAspect="1"/>
              </p:cNvSpPr>
              <p:nvPr/>
            </p:nvSpPr>
            <p:spPr>
              <a:xfrm flipH="1">
                <a:off x="3168" y="2619"/>
                <a:ext cx="230" cy="8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11" name="Line 137"/>
              <p:cNvSpPr>
                <a:spLocks noChangeAspect="1"/>
              </p:cNvSpPr>
              <p:nvPr/>
            </p:nvSpPr>
            <p:spPr>
              <a:xfrm>
                <a:off x="4089" y="2619"/>
                <a:ext cx="0" cy="899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29712" name="Text Box 139"/>
              <p:cNvSpPr txBox="1">
                <a:spLocks noChangeAspect="1"/>
              </p:cNvSpPr>
              <p:nvPr/>
            </p:nvSpPr>
            <p:spPr>
              <a:xfrm>
                <a:off x="3024" y="3480"/>
                <a:ext cx="461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3" name="Text Box 140"/>
              <p:cNvSpPr txBox="1">
                <a:spLocks noChangeAspect="1"/>
              </p:cNvSpPr>
              <p:nvPr/>
            </p:nvSpPr>
            <p:spPr>
              <a:xfrm>
                <a:off x="3063" y="2861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4" name="Text Box 141"/>
              <p:cNvSpPr txBox="1">
                <a:spLocks noChangeAspect="1"/>
              </p:cNvSpPr>
              <p:nvPr/>
            </p:nvSpPr>
            <p:spPr>
              <a:xfrm>
                <a:off x="3188" y="2400"/>
                <a:ext cx="460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5" name="Text Box 142"/>
              <p:cNvSpPr txBox="1">
                <a:spLocks noChangeAspect="1"/>
              </p:cNvSpPr>
              <p:nvPr/>
            </p:nvSpPr>
            <p:spPr>
              <a:xfrm>
                <a:off x="3964" y="3522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6" name="Text Box 143"/>
              <p:cNvSpPr txBox="1">
                <a:spLocks noChangeAspect="1"/>
              </p:cNvSpPr>
              <p:nvPr/>
            </p:nvSpPr>
            <p:spPr>
              <a:xfrm>
                <a:off x="3879" y="3061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7" name="Text Box 144"/>
              <p:cNvSpPr txBox="1">
                <a:spLocks noChangeAspect="1"/>
              </p:cNvSpPr>
              <p:nvPr/>
            </p:nvSpPr>
            <p:spPr>
              <a:xfrm>
                <a:off x="3945" y="2352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8" name="Text Box 145"/>
              <p:cNvSpPr txBox="1">
                <a:spLocks noChangeAspect="1"/>
              </p:cNvSpPr>
              <p:nvPr/>
            </p:nvSpPr>
            <p:spPr>
              <a:xfrm>
                <a:off x="5079" y="3503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9" name="Text Box 146"/>
              <p:cNvSpPr txBox="1">
                <a:spLocks noChangeAspect="1"/>
              </p:cNvSpPr>
              <p:nvPr/>
            </p:nvSpPr>
            <p:spPr>
              <a:xfrm>
                <a:off x="4895" y="2880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0" name="Text Box 147"/>
              <p:cNvSpPr txBox="1">
                <a:spLocks noChangeAspect="1"/>
              </p:cNvSpPr>
              <p:nvPr/>
            </p:nvSpPr>
            <p:spPr>
              <a:xfrm>
                <a:off x="4694" y="2400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1" name="Text Box 148"/>
              <p:cNvSpPr txBox="1">
                <a:spLocks noChangeAspect="1"/>
              </p:cNvSpPr>
              <p:nvPr/>
            </p:nvSpPr>
            <p:spPr>
              <a:xfrm>
                <a:off x="3590" y="2400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2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2" name="Text Box 149"/>
              <p:cNvSpPr txBox="1">
                <a:spLocks noChangeAspect="1"/>
              </p:cNvSpPr>
              <p:nvPr/>
            </p:nvSpPr>
            <p:spPr>
              <a:xfrm>
                <a:off x="4272" y="2400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3" name="Text Box 150"/>
              <p:cNvSpPr txBox="1">
                <a:spLocks noChangeAspect="1"/>
              </p:cNvSpPr>
              <p:nvPr/>
            </p:nvSpPr>
            <p:spPr>
              <a:xfrm>
                <a:off x="4752" y="2690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3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4" name="Text Box 151"/>
              <p:cNvSpPr txBox="1">
                <a:spLocks noChangeAspect="1"/>
              </p:cNvSpPr>
              <p:nvPr/>
            </p:nvSpPr>
            <p:spPr>
              <a:xfrm>
                <a:off x="4943" y="3099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5" name="Text Box 152"/>
              <p:cNvSpPr txBox="1">
                <a:spLocks noChangeAspect="1"/>
              </p:cNvSpPr>
              <p:nvPr/>
            </p:nvSpPr>
            <p:spPr>
              <a:xfrm>
                <a:off x="4551" y="3503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6" name="Text Box 153"/>
              <p:cNvSpPr txBox="1">
                <a:spLocks noChangeAspect="1"/>
              </p:cNvSpPr>
              <p:nvPr/>
            </p:nvSpPr>
            <p:spPr>
              <a:xfrm>
                <a:off x="3523" y="3499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9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7" name="Text Box 154"/>
              <p:cNvSpPr txBox="1">
                <a:spLocks noChangeAspect="1"/>
              </p:cNvSpPr>
              <p:nvPr/>
            </p:nvSpPr>
            <p:spPr>
              <a:xfrm>
                <a:off x="3072" y="3156"/>
                <a:ext cx="346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5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8" name="Text Box 155"/>
              <p:cNvSpPr txBox="1">
                <a:spLocks noChangeAspect="1"/>
              </p:cNvSpPr>
              <p:nvPr/>
            </p:nvSpPr>
            <p:spPr>
              <a:xfrm>
                <a:off x="3207" y="2688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5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29" name="Text Box 156"/>
              <p:cNvSpPr txBox="1">
                <a:spLocks noChangeAspect="1"/>
              </p:cNvSpPr>
              <p:nvPr/>
            </p:nvSpPr>
            <p:spPr>
              <a:xfrm>
                <a:off x="3513" y="2800"/>
                <a:ext cx="346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6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0" name="Text Box 157"/>
              <p:cNvSpPr txBox="1">
                <a:spLocks noChangeAspect="1"/>
              </p:cNvSpPr>
              <p:nvPr/>
            </p:nvSpPr>
            <p:spPr>
              <a:xfrm>
                <a:off x="4368" y="2809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1" name="Text Box 158"/>
              <p:cNvSpPr txBox="1">
                <a:spLocks noChangeAspect="1"/>
              </p:cNvSpPr>
              <p:nvPr/>
            </p:nvSpPr>
            <p:spPr>
              <a:xfrm>
                <a:off x="3869" y="2690"/>
                <a:ext cx="345" cy="3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3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2" name="Text Box 159"/>
              <p:cNvSpPr txBox="1">
                <a:spLocks noChangeAspect="1"/>
              </p:cNvSpPr>
              <p:nvPr/>
            </p:nvSpPr>
            <p:spPr>
              <a:xfrm>
                <a:off x="4215" y="3171"/>
                <a:ext cx="345" cy="2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0" hangingPunct="0"/>
                <a:r>
                  <a:rPr lang="zh-CN" altLang="en-US" sz="2000" dirty="0">
                    <a:latin typeface="Times New Roman" panose="02020603050405020304" pitchFamily="18" charset="0"/>
                  </a:rPr>
                  <a:t>4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3" name="Freeform 161"/>
              <p:cNvSpPr>
                <a:spLocks noChangeAspect="1"/>
              </p:cNvSpPr>
              <p:nvPr/>
            </p:nvSpPr>
            <p:spPr>
              <a:xfrm>
                <a:off x="4118" y="2650"/>
                <a:ext cx="576" cy="100"/>
              </a:xfrm>
              <a:custGeom>
                <a:avLst/>
                <a:gdLst>
                  <a:gd name="txL" fmla="*/ 0 w 900"/>
                  <a:gd name="txT" fmla="*/ 0 h 156"/>
                  <a:gd name="txR" fmla="*/ 900 w 90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10" y="4"/>
                  </a:cxn>
                  <a:cxn ang="0">
                    <a:pos x="26" y="0"/>
                  </a:cxn>
                </a:cxnLst>
                <a:rect l="txL" t="txT" r="txR" b="txB"/>
                <a:pathLst>
                  <a:path w="900" h="156">
                    <a:moveTo>
                      <a:pt x="0" y="0"/>
                    </a:moveTo>
                    <a:cubicBezTo>
                      <a:pt x="105" y="78"/>
                      <a:pt x="210" y="156"/>
                      <a:pt x="360" y="156"/>
                    </a:cubicBezTo>
                    <a:cubicBezTo>
                      <a:pt x="510" y="156"/>
                      <a:pt x="705" y="78"/>
                      <a:pt x="90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4" name="Freeform 162"/>
              <p:cNvSpPr>
                <a:spLocks noChangeAspect="1"/>
              </p:cNvSpPr>
              <p:nvPr/>
            </p:nvSpPr>
            <p:spPr>
              <a:xfrm>
                <a:off x="4540" y="2650"/>
                <a:ext cx="360" cy="374"/>
              </a:xfrm>
              <a:custGeom>
                <a:avLst/>
                <a:gdLst>
                  <a:gd name="txL" fmla="*/ 0 w 600"/>
                  <a:gd name="txT" fmla="*/ 0 h 624"/>
                  <a:gd name="txR" fmla="*/ 600 w 600"/>
                  <a:gd name="txB" fmla="*/ 624 h 624"/>
                </a:gdLst>
                <a:ahLst/>
                <a:cxnLst>
                  <a:cxn ang="0">
                    <a:pos x="10" y="10"/>
                  </a:cxn>
                  <a:cxn ang="0">
                    <a:pos x="1" y="5"/>
                  </a:cxn>
                  <a:cxn ang="0">
                    <a:pos x="4" y="0"/>
                  </a:cxn>
                </a:cxnLst>
                <a:rect l="txL" t="txT" r="txR" b="txB"/>
                <a:pathLst>
                  <a:path w="600" h="624">
                    <a:moveTo>
                      <a:pt x="600" y="624"/>
                    </a:moveTo>
                    <a:cubicBezTo>
                      <a:pt x="360" y="520"/>
                      <a:pt x="120" y="416"/>
                      <a:pt x="60" y="312"/>
                    </a:cubicBezTo>
                    <a:cubicBezTo>
                      <a:pt x="0" y="208"/>
                      <a:pt x="120" y="104"/>
                      <a:pt x="24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5" name="Freeform 163"/>
              <p:cNvSpPr>
                <a:spLocks noChangeAspect="1"/>
              </p:cNvSpPr>
              <p:nvPr/>
            </p:nvSpPr>
            <p:spPr>
              <a:xfrm>
                <a:off x="3293" y="3024"/>
                <a:ext cx="806" cy="100"/>
              </a:xfrm>
              <a:custGeom>
                <a:avLst/>
                <a:gdLst>
                  <a:gd name="txL" fmla="*/ 0 w 1260"/>
                  <a:gd name="txT" fmla="*/ 0 h 156"/>
                  <a:gd name="txR" fmla="*/ 1260 w 1260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15" y="4"/>
                  </a:cxn>
                  <a:cxn ang="0">
                    <a:pos x="35" y="0"/>
                  </a:cxn>
                </a:cxnLst>
                <a:rect l="txL" t="txT" r="txR" b="txB"/>
                <a:pathLst>
                  <a:path w="1260" h="156">
                    <a:moveTo>
                      <a:pt x="0" y="0"/>
                    </a:moveTo>
                    <a:cubicBezTo>
                      <a:pt x="165" y="78"/>
                      <a:pt x="330" y="156"/>
                      <a:pt x="540" y="156"/>
                    </a:cubicBezTo>
                    <a:cubicBezTo>
                      <a:pt x="750" y="156"/>
                      <a:pt x="1140" y="26"/>
                      <a:pt x="1260" y="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36" name="Freeform 164"/>
              <p:cNvSpPr>
                <a:spLocks noChangeAspect="1"/>
              </p:cNvSpPr>
              <p:nvPr/>
            </p:nvSpPr>
            <p:spPr>
              <a:xfrm>
                <a:off x="4099" y="3051"/>
                <a:ext cx="115" cy="500"/>
              </a:xfrm>
              <a:custGeom>
                <a:avLst/>
                <a:gdLst>
                  <a:gd name="txL" fmla="*/ 0 w 180"/>
                  <a:gd name="txT" fmla="*/ 0 h 780"/>
                  <a:gd name="txR" fmla="*/ 180 w 180"/>
                  <a:gd name="txB" fmla="*/ 780 h 780"/>
                </a:gdLst>
                <a:ahLst/>
                <a:cxnLst>
                  <a:cxn ang="0">
                    <a:pos x="0" y="0"/>
                  </a:cxn>
                  <a:cxn ang="0">
                    <a:pos x="5" y="13"/>
                  </a:cxn>
                  <a:cxn ang="0">
                    <a:pos x="0" y="22"/>
                  </a:cxn>
                </a:cxnLst>
                <a:rect l="txL" t="txT" r="txR" b="txB"/>
                <a:pathLst>
                  <a:path w="180" h="780">
                    <a:moveTo>
                      <a:pt x="0" y="0"/>
                    </a:moveTo>
                    <a:cubicBezTo>
                      <a:pt x="90" y="169"/>
                      <a:pt x="180" y="338"/>
                      <a:pt x="180" y="468"/>
                    </a:cubicBezTo>
                    <a:cubicBezTo>
                      <a:pt x="180" y="598"/>
                      <a:pt x="90" y="689"/>
                      <a:pt x="0" y="780"/>
                    </a:cubicBez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04" name="Line 176"/>
            <p:cNvSpPr/>
            <p:nvPr/>
          </p:nvSpPr>
          <p:spPr>
            <a:xfrm>
              <a:off x="4669" y="2640"/>
              <a:ext cx="192" cy="38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05" name="Line 177"/>
            <p:cNvSpPr/>
            <p:nvPr/>
          </p:nvSpPr>
          <p:spPr>
            <a:xfrm flipH="1">
              <a:off x="3299" y="2640"/>
              <a:ext cx="96" cy="38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722" name="Group 42"/>
          <p:cNvGrpSpPr/>
          <p:nvPr/>
        </p:nvGrpSpPr>
        <p:grpSpPr>
          <a:xfrm>
            <a:off x="762000" y="257175"/>
            <a:ext cx="3810000" cy="2333625"/>
            <a:chOff x="768" y="432"/>
            <a:chExt cx="2400" cy="1470"/>
          </a:xfrm>
        </p:grpSpPr>
        <p:sp>
          <p:nvSpPr>
            <p:cNvPr id="30830" name="Line 8"/>
            <p:cNvSpPr>
              <a:spLocks noChangeAspect="1"/>
            </p:cNvSpPr>
            <p:nvPr/>
          </p:nvSpPr>
          <p:spPr>
            <a:xfrm>
              <a:off x="1027" y="1099"/>
              <a:ext cx="161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831" name="Line 10"/>
            <p:cNvSpPr>
              <a:spLocks noChangeAspect="1"/>
            </p:cNvSpPr>
            <p:nvPr/>
          </p:nvSpPr>
          <p:spPr>
            <a:xfrm>
              <a:off x="1142" y="699"/>
              <a:ext cx="1268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832" name="Line 11"/>
            <p:cNvSpPr>
              <a:spLocks noChangeAspect="1"/>
            </p:cNvSpPr>
            <p:nvPr/>
          </p:nvSpPr>
          <p:spPr>
            <a:xfrm>
              <a:off x="912" y="1598"/>
              <a:ext cx="195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833" name="Line 12"/>
            <p:cNvSpPr>
              <a:spLocks noChangeAspect="1"/>
            </p:cNvSpPr>
            <p:nvPr/>
          </p:nvSpPr>
          <p:spPr>
            <a:xfrm flipH="1" flipV="1">
              <a:off x="2410" y="699"/>
              <a:ext cx="461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834" name="Line 13"/>
            <p:cNvSpPr>
              <a:spLocks noChangeAspect="1"/>
            </p:cNvSpPr>
            <p:nvPr/>
          </p:nvSpPr>
          <p:spPr>
            <a:xfrm flipH="1">
              <a:off x="912" y="699"/>
              <a:ext cx="23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835" name="Line 14"/>
            <p:cNvSpPr>
              <a:spLocks noChangeAspect="1"/>
            </p:cNvSpPr>
            <p:nvPr/>
          </p:nvSpPr>
          <p:spPr>
            <a:xfrm>
              <a:off x="1834" y="699"/>
              <a:ext cx="0" cy="89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0836" name="Text Box 16"/>
            <p:cNvSpPr txBox="1">
              <a:spLocks noChangeAspect="1"/>
            </p:cNvSpPr>
            <p:nvPr/>
          </p:nvSpPr>
          <p:spPr>
            <a:xfrm>
              <a:off x="768" y="156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37" name="Text Box 17"/>
            <p:cNvSpPr txBox="1">
              <a:spLocks noChangeAspect="1"/>
            </p:cNvSpPr>
            <p:nvPr/>
          </p:nvSpPr>
          <p:spPr>
            <a:xfrm>
              <a:off x="806" y="941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38" name="Text Box 18"/>
            <p:cNvSpPr txBox="1">
              <a:spLocks noChangeAspect="1"/>
            </p:cNvSpPr>
            <p:nvPr/>
          </p:nvSpPr>
          <p:spPr>
            <a:xfrm>
              <a:off x="931" y="480"/>
              <a:ext cx="461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39" name="Text Box 19"/>
            <p:cNvSpPr txBox="1">
              <a:spLocks noChangeAspect="1"/>
            </p:cNvSpPr>
            <p:nvPr/>
          </p:nvSpPr>
          <p:spPr>
            <a:xfrm>
              <a:off x="1718" y="160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0" name="Text Box 20"/>
            <p:cNvSpPr txBox="1">
              <a:spLocks noChangeAspect="1"/>
            </p:cNvSpPr>
            <p:nvPr/>
          </p:nvSpPr>
          <p:spPr>
            <a:xfrm>
              <a:off x="1584" y="1032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1" name="Text Box 21"/>
            <p:cNvSpPr txBox="1">
              <a:spLocks noChangeAspect="1"/>
            </p:cNvSpPr>
            <p:nvPr/>
          </p:nvSpPr>
          <p:spPr>
            <a:xfrm>
              <a:off x="1766" y="43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2" name="Text Box 22"/>
            <p:cNvSpPr txBox="1">
              <a:spLocks noChangeAspect="1"/>
            </p:cNvSpPr>
            <p:nvPr/>
          </p:nvSpPr>
          <p:spPr>
            <a:xfrm>
              <a:off x="2822" y="158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3" name="Text Box 23"/>
            <p:cNvSpPr txBox="1">
              <a:spLocks noChangeAspect="1"/>
            </p:cNvSpPr>
            <p:nvPr/>
          </p:nvSpPr>
          <p:spPr>
            <a:xfrm>
              <a:off x="2678" y="912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4" name="Text Box 24"/>
            <p:cNvSpPr txBox="1">
              <a:spLocks noChangeAspect="1"/>
            </p:cNvSpPr>
            <p:nvPr/>
          </p:nvSpPr>
          <p:spPr>
            <a:xfrm>
              <a:off x="2401" y="480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5" name="Text Box 25"/>
            <p:cNvSpPr txBox="1">
              <a:spLocks noChangeAspect="1"/>
            </p:cNvSpPr>
            <p:nvPr/>
          </p:nvSpPr>
          <p:spPr>
            <a:xfrm>
              <a:off x="1335" y="48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2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6" name="Text Box 26"/>
            <p:cNvSpPr txBox="1">
              <a:spLocks noChangeAspect="1"/>
            </p:cNvSpPr>
            <p:nvPr/>
          </p:nvSpPr>
          <p:spPr>
            <a:xfrm>
              <a:off x="2017" y="48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7" name="Text Box 27"/>
            <p:cNvSpPr txBox="1">
              <a:spLocks noChangeAspect="1"/>
            </p:cNvSpPr>
            <p:nvPr/>
          </p:nvSpPr>
          <p:spPr>
            <a:xfrm>
              <a:off x="2496" y="756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8" name="Text Box 28"/>
            <p:cNvSpPr txBox="1">
              <a:spLocks noChangeAspect="1"/>
            </p:cNvSpPr>
            <p:nvPr/>
          </p:nvSpPr>
          <p:spPr>
            <a:xfrm>
              <a:off x="2689" y="117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49" name="Text Box 29"/>
            <p:cNvSpPr txBox="1">
              <a:spLocks noChangeAspect="1"/>
            </p:cNvSpPr>
            <p:nvPr/>
          </p:nvSpPr>
          <p:spPr>
            <a:xfrm>
              <a:off x="2294" y="1583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0" name="Text Box 30"/>
            <p:cNvSpPr txBox="1">
              <a:spLocks noChangeAspect="1"/>
            </p:cNvSpPr>
            <p:nvPr/>
          </p:nvSpPr>
          <p:spPr>
            <a:xfrm>
              <a:off x="1268" y="1579"/>
              <a:ext cx="345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9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1" name="Text Box 31"/>
            <p:cNvSpPr txBox="1">
              <a:spLocks noChangeAspect="1"/>
            </p:cNvSpPr>
            <p:nvPr/>
          </p:nvSpPr>
          <p:spPr>
            <a:xfrm>
              <a:off x="806" y="1236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2" name="Text Box 32"/>
            <p:cNvSpPr txBox="1">
              <a:spLocks noChangeAspect="1"/>
            </p:cNvSpPr>
            <p:nvPr/>
          </p:nvSpPr>
          <p:spPr>
            <a:xfrm>
              <a:off x="951" y="768"/>
              <a:ext cx="34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5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3" name="Text Box 33"/>
            <p:cNvSpPr txBox="1">
              <a:spLocks noChangeAspect="1"/>
            </p:cNvSpPr>
            <p:nvPr/>
          </p:nvSpPr>
          <p:spPr>
            <a:xfrm>
              <a:off x="1258" y="880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6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4" name="Text Box 34"/>
            <p:cNvSpPr txBox="1">
              <a:spLocks noChangeAspect="1"/>
            </p:cNvSpPr>
            <p:nvPr/>
          </p:nvSpPr>
          <p:spPr>
            <a:xfrm>
              <a:off x="2113" y="889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5" name="Text Box 35"/>
            <p:cNvSpPr txBox="1">
              <a:spLocks noChangeAspect="1"/>
            </p:cNvSpPr>
            <p:nvPr/>
          </p:nvSpPr>
          <p:spPr>
            <a:xfrm>
              <a:off x="1613" y="770"/>
              <a:ext cx="346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3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6" name="Text Box 36"/>
            <p:cNvSpPr txBox="1">
              <a:spLocks noChangeAspect="1"/>
            </p:cNvSpPr>
            <p:nvPr/>
          </p:nvSpPr>
          <p:spPr>
            <a:xfrm>
              <a:off x="1670" y="1296"/>
              <a:ext cx="346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dirty="0">
                  <a:latin typeface="Times New Roman" panose="02020603050405020304" pitchFamily="18" charset="0"/>
                </a:rPr>
                <a:t>4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0857" name="Freeform 38"/>
            <p:cNvSpPr>
              <a:spLocks noChangeAspect="1"/>
            </p:cNvSpPr>
            <p:nvPr/>
          </p:nvSpPr>
          <p:spPr>
            <a:xfrm>
              <a:off x="1844" y="1131"/>
              <a:ext cx="115" cy="500"/>
            </a:xfrm>
            <a:custGeom>
              <a:avLst/>
              <a:gdLst>
                <a:gd name="txL" fmla="*/ 0 w 180"/>
                <a:gd name="txT" fmla="*/ 0 h 780"/>
                <a:gd name="txR" fmla="*/ 180 w 180"/>
                <a:gd name="txB" fmla="*/ 780 h 780"/>
              </a:gdLst>
              <a:ahLst/>
              <a:cxnLst>
                <a:cxn ang="0">
                  <a:pos x="0" y="0"/>
                </a:cxn>
                <a:cxn ang="0">
                  <a:pos x="5" y="13"/>
                </a:cxn>
                <a:cxn ang="0">
                  <a:pos x="0" y="22"/>
                </a:cxn>
              </a:cxnLst>
              <a:rect l="txL" t="txT" r="txR" b="txB"/>
              <a:pathLst>
                <a:path w="180" h="780">
                  <a:moveTo>
                    <a:pt x="0" y="0"/>
                  </a:moveTo>
                  <a:cubicBezTo>
                    <a:pt x="90" y="169"/>
                    <a:pt x="180" y="338"/>
                    <a:pt x="180" y="468"/>
                  </a:cubicBezTo>
                  <a:cubicBezTo>
                    <a:pt x="180" y="598"/>
                    <a:pt x="90" y="689"/>
                    <a:pt x="0" y="78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858" name="Freeform 39"/>
            <p:cNvSpPr>
              <a:spLocks noChangeAspect="1"/>
            </p:cNvSpPr>
            <p:nvPr/>
          </p:nvSpPr>
          <p:spPr>
            <a:xfrm>
              <a:off x="1066" y="732"/>
              <a:ext cx="134" cy="399"/>
            </a:xfrm>
            <a:custGeom>
              <a:avLst/>
              <a:gdLst>
                <a:gd name="txL" fmla="*/ 0 w 210"/>
                <a:gd name="txT" fmla="*/ 0 h 624"/>
                <a:gd name="txR" fmla="*/ 210 w 210"/>
                <a:gd name="txB" fmla="*/ 624 h 624"/>
              </a:gdLst>
              <a:ahLst/>
              <a:cxnLst>
                <a:cxn ang="0">
                  <a:pos x="0" y="17"/>
                </a:cxn>
                <a:cxn ang="0">
                  <a:pos x="5" y="8"/>
                </a:cxn>
                <a:cxn ang="0">
                  <a:pos x="5" y="0"/>
                </a:cxn>
              </a:cxnLst>
              <a:rect l="txL" t="txT" r="txR" b="txB"/>
              <a:pathLst>
                <a:path w="210" h="624">
                  <a:moveTo>
                    <a:pt x="0" y="624"/>
                  </a:moveTo>
                  <a:cubicBezTo>
                    <a:pt x="75" y="520"/>
                    <a:pt x="150" y="416"/>
                    <a:pt x="180" y="312"/>
                  </a:cubicBezTo>
                  <a:cubicBezTo>
                    <a:pt x="210" y="208"/>
                    <a:pt x="195" y="104"/>
                    <a:pt x="18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859" name="Freeform 40"/>
            <p:cNvSpPr>
              <a:spLocks noChangeAspect="1"/>
            </p:cNvSpPr>
            <p:nvPr/>
          </p:nvSpPr>
          <p:spPr>
            <a:xfrm>
              <a:off x="1181" y="732"/>
              <a:ext cx="692" cy="100"/>
            </a:xfrm>
            <a:custGeom>
              <a:avLst/>
              <a:gdLst>
                <a:gd name="txL" fmla="*/ 0 w 1080"/>
                <a:gd name="txT" fmla="*/ 0 h 156"/>
                <a:gd name="txR" fmla="*/ 1080 w 108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0" y="4"/>
                </a:cxn>
                <a:cxn ang="0">
                  <a:pos x="31" y="0"/>
                </a:cxn>
              </a:cxnLst>
              <a:rect l="txL" t="txT" r="txR" b="txB"/>
              <a:pathLst>
                <a:path w="1080" h="156">
                  <a:moveTo>
                    <a:pt x="0" y="0"/>
                  </a:moveTo>
                  <a:cubicBezTo>
                    <a:pt x="90" y="78"/>
                    <a:pt x="180" y="156"/>
                    <a:pt x="360" y="156"/>
                  </a:cubicBezTo>
                  <a:cubicBezTo>
                    <a:pt x="540" y="156"/>
                    <a:pt x="810" y="78"/>
                    <a:pt x="108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860" name="Freeform 41"/>
            <p:cNvSpPr>
              <a:spLocks noChangeAspect="1"/>
            </p:cNvSpPr>
            <p:nvPr/>
          </p:nvSpPr>
          <p:spPr>
            <a:xfrm>
              <a:off x="1873" y="1131"/>
              <a:ext cx="807" cy="100"/>
            </a:xfrm>
            <a:custGeom>
              <a:avLst/>
              <a:gdLst>
                <a:gd name="txL" fmla="*/ 0 w 1260"/>
                <a:gd name="txT" fmla="*/ 0 h 156"/>
                <a:gd name="txR" fmla="*/ 1260 w 1260"/>
                <a:gd name="txB" fmla="*/ 156 h 156"/>
              </a:gdLst>
              <a:ahLst/>
              <a:cxnLst>
                <a:cxn ang="0">
                  <a:pos x="0" y="0"/>
                </a:cxn>
                <a:cxn ang="0">
                  <a:pos x="15" y="4"/>
                </a:cxn>
                <a:cxn ang="0">
                  <a:pos x="36" y="0"/>
                </a:cxn>
              </a:cxnLst>
              <a:rect l="txL" t="txT" r="txR" b="txB"/>
              <a:pathLst>
                <a:path w="1260" h="156">
                  <a:moveTo>
                    <a:pt x="0" y="0"/>
                  </a:moveTo>
                  <a:cubicBezTo>
                    <a:pt x="165" y="78"/>
                    <a:pt x="330" y="156"/>
                    <a:pt x="540" y="156"/>
                  </a:cubicBezTo>
                  <a:cubicBezTo>
                    <a:pt x="750" y="156"/>
                    <a:pt x="1005" y="78"/>
                    <a:pt x="126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208"/>
          <p:cNvGrpSpPr/>
          <p:nvPr/>
        </p:nvGrpSpPr>
        <p:grpSpPr>
          <a:xfrm>
            <a:off x="762000" y="3276600"/>
            <a:ext cx="7772400" cy="2819400"/>
            <a:chOff x="480" y="2064"/>
            <a:chExt cx="4896" cy="1776"/>
          </a:xfrm>
        </p:grpSpPr>
        <p:grpSp>
          <p:nvGrpSpPr>
            <p:cNvPr id="30724" name="Group 194"/>
            <p:cNvGrpSpPr/>
            <p:nvPr/>
          </p:nvGrpSpPr>
          <p:grpSpPr>
            <a:xfrm>
              <a:off x="480" y="2112"/>
              <a:ext cx="768" cy="672"/>
              <a:chOff x="480" y="2208"/>
              <a:chExt cx="768" cy="672"/>
            </a:xfrm>
          </p:grpSpPr>
          <p:sp>
            <p:nvSpPr>
              <p:cNvPr id="30818" name="Line 43"/>
              <p:cNvSpPr/>
              <p:nvPr/>
            </p:nvSpPr>
            <p:spPr>
              <a:xfrm>
                <a:off x="480" y="220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9" name="Line 44"/>
              <p:cNvSpPr/>
              <p:nvPr/>
            </p:nvSpPr>
            <p:spPr>
              <a:xfrm>
                <a:off x="864" y="25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0" name="Line 45"/>
              <p:cNvSpPr/>
              <p:nvPr/>
            </p:nvSpPr>
            <p:spPr>
              <a:xfrm>
                <a:off x="480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1" name="Line 46"/>
              <p:cNvSpPr/>
              <p:nvPr/>
            </p:nvSpPr>
            <p:spPr>
              <a:xfrm>
                <a:off x="480" y="25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2" name="Line 47"/>
              <p:cNvSpPr/>
              <p:nvPr/>
            </p:nvSpPr>
            <p:spPr>
              <a:xfrm>
                <a:off x="864" y="220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3" name="Line 48"/>
              <p:cNvSpPr/>
              <p:nvPr/>
            </p:nvSpPr>
            <p:spPr>
              <a:xfrm>
                <a:off x="864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4" name="Line 49"/>
              <p:cNvSpPr/>
              <p:nvPr/>
            </p:nvSpPr>
            <p:spPr>
              <a:xfrm>
                <a:off x="1248" y="220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5" name="Line 50"/>
              <p:cNvSpPr/>
              <p:nvPr/>
            </p:nvSpPr>
            <p:spPr>
              <a:xfrm>
                <a:off x="864" y="220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6" name="Line 51"/>
              <p:cNvSpPr/>
              <p:nvPr/>
            </p:nvSpPr>
            <p:spPr>
              <a:xfrm>
                <a:off x="480" y="220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7" name="Line 52"/>
              <p:cNvSpPr/>
              <p:nvPr/>
            </p:nvSpPr>
            <p:spPr>
              <a:xfrm>
                <a:off x="1248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8" name="Line 53"/>
              <p:cNvSpPr/>
              <p:nvPr/>
            </p:nvSpPr>
            <p:spPr>
              <a:xfrm>
                <a:off x="864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29" name="Line 54"/>
              <p:cNvSpPr/>
              <p:nvPr/>
            </p:nvSpPr>
            <p:spPr>
              <a:xfrm>
                <a:off x="480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25" name="Group 195"/>
            <p:cNvGrpSpPr/>
            <p:nvPr/>
          </p:nvGrpSpPr>
          <p:grpSpPr>
            <a:xfrm>
              <a:off x="1584" y="2064"/>
              <a:ext cx="384" cy="336"/>
              <a:chOff x="1584" y="2064"/>
              <a:chExt cx="384" cy="336"/>
            </a:xfrm>
          </p:grpSpPr>
          <p:sp>
            <p:nvSpPr>
              <p:cNvPr id="30814" name="Line 55"/>
              <p:cNvSpPr/>
              <p:nvPr/>
            </p:nvSpPr>
            <p:spPr>
              <a:xfrm>
                <a:off x="1584" y="206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5" name="Line 58"/>
              <p:cNvSpPr/>
              <p:nvPr/>
            </p:nvSpPr>
            <p:spPr>
              <a:xfrm>
                <a:off x="1584" y="240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6" name="Line 62"/>
              <p:cNvSpPr/>
              <p:nvPr/>
            </p:nvSpPr>
            <p:spPr>
              <a:xfrm>
                <a:off x="1968" y="206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7" name="Line 63"/>
              <p:cNvSpPr/>
              <p:nvPr/>
            </p:nvSpPr>
            <p:spPr>
              <a:xfrm>
                <a:off x="1584" y="206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26" name="Group 196"/>
            <p:cNvGrpSpPr/>
            <p:nvPr/>
          </p:nvGrpSpPr>
          <p:grpSpPr>
            <a:xfrm>
              <a:off x="2304" y="2064"/>
              <a:ext cx="384" cy="336"/>
              <a:chOff x="2304" y="2064"/>
              <a:chExt cx="384" cy="336"/>
            </a:xfrm>
          </p:grpSpPr>
          <p:sp>
            <p:nvSpPr>
              <p:cNvPr id="30810" name="Line 67"/>
              <p:cNvSpPr/>
              <p:nvPr/>
            </p:nvSpPr>
            <p:spPr>
              <a:xfrm>
                <a:off x="2304" y="206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1" name="Line 68"/>
              <p:cNvSpPr/>
              <p:nvPr/>
            </p:nvSpPr>
            <p:spPr>
              <a:xfrm>
                <a:off x="2304" y="240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2" name="Line 69"/>
              <p:cNvSpPr/>
              <p:nvPr/>
            </p:nvSpPr>
            <p:spPr>
              <a:xfrm>
                <a:off x="2688" y="206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13" name="Line 70"/>
              <p:cNvSpPr/>
              <p:nvPr/>
            </p:nvSpPr>
            <p:spPr>
              <a:xfrm>
                <a:off x="2304" y="206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27" name="Group 197"/>
            <p:cNvGrpSpPr/>
            <p:nvPr/>
          </p:nvGrpSpPr>
          <p:grpSpPr>
            <a:xfrm>
              <a:off x="1584" y="2544"/>
              <a:ext cx="384" cy="336"/>
              <a:chOff x="1584" y="2544"/>
              <a:chExt cx="384" cy="336"/>
            </a:xfrm>
          </p:grpSpPr>
          <p:sp>
            <p:nvSpPr>
              <p:cNvPr id="30806" name="Line 71"/>
              <p:cNvSpPr/>
              <p:nvPr/>
            </p:nvSpPr>
            <p:spPr>
              <a:xfrm>
                <a:off x="1584" y="25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7" name="Line 72"/>
              <p:cNvSpPr/>
              <p:nvPr/>
            </p:nvSpPr>
            <p:spPr>
              <a:xfrm>
                <a:off x="1584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8" name="Line 73"/>
              <p:cNvSpPr/>
              <p:nvPr/>
            </p:nvSpPr>
            <p:spPr>
              <a:xfrm>
                <a:off x="1968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9" name="Line 74"/>
              <p:cNvSpPr/>
              <p:nvPr/>
            </p:nvSpPr>
            <p:spPr>
              <a:xfrm>
                <a:off x="1584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28" name="Group 198"/>
            <p:cNvGrpSpPr/>
            <p:nvPr/>
          </p:nvGrpSpPr>
          <p:grpSpPr>
            <a:xfrm>
              <a:off x="2304" y="2544"/>
              <a:ext cx="384" cy="336"/>
              <a:chOff x="2304" y="2544"/>
              <a:chExt cx="384" cy="336"/>
            </a:xfrm>
          </p:grpSpPr>
          <p:sp>
            <p:nvSpPr>
              <p:cNvPr id="30802" name="Line 75"/>
              <p:cNvSpPr/>
              <p:nvPr/>
            </p:nvSpPr>
            <p:spPr>
              <a:xfrm>
                <a:off x="2304" y="25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3" name="Line 76"/>
              <p:cNvSpPr/>
              <p:nvPr/>
            </p:nvSpPr>
            <p:spPr>
              <a:xfrm>
                <a:off x="2304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4" name="Line 77"/>
              <p:cNvSpPr/>
              <p:nvPr/>
            </p:nvSpPr>
            <p:spPr>
              <a:xfrm>
                <a:off x="2688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5" name="Line 78"/>
              <p:cNvSpPr/>
              <p:nvPr/>
            </p:nvSpPr>
            <p:spPr>
              <a:xfrm>
                <a:off x="2304" y="254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29" name="Group 199"/>
            <p:cNvGrpSpPr/>
            <p:nvPr/>
          </p:nvGrpSpPr>
          <p:grpSpPr>
            <a:xfrm>
              <a:off x="3120" y="2112"/>
              <a:ext cx="384" cy="672"/>
              <a:chOff x="3120" y="2112"/>
              <a:chExt cx="384" cy="672"/>
            </a:xfrm>
          </p:grpSpPr>
          <p:sp>
            <p:nvSpPr>
              <p:cNvPr id="30796" name="Line 91"/>
              <p:cNvSpPr/>
              <p:nvPr/>
            </p:nvSpPr>
            <p:spPr>
              <a:xfrm>
                <a:off x="3120" y="211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7" name="Line 93"/>
              <p:cNvSpPr/>
              <p:nvPr/>
            </p:nvSpPr>
            <p:spPr>
              <a:xfrm>
                <a:off x="3120" y="278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8" name="Line 98"/>
              <p:cNvSpPr/>
              <p:nvPr/>
            </p:nvSpPr>
            <p:spPr>
              <a:xfrm>
                <a:off x="3504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9" name="Line 99"/>
              <p:cNvSpPr/>
              <p:nvPr/>
            </p:nvSpPr>
            <p:spPr>
              <a:xfrm>
                <a:off x="3120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0" name="Line 101"/>
              <p:cNvSpPr/>
              <p:nvPr/>
            </p:nvSpPr>
            <p:spPr>
              <a:xfrm>
                <a:off x="3504" y="244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801" name="Line 102"/>
              <p:cNvSpPr/>
              <p:nvPr/>
            </p:nvSpPr>
            <p:spPr>
              <a:xfrm>
                <a:off x="3120" y="244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0" name="Group 200"/>
            <p:cNvGrpSpPr/>
            <p:nvPr/>
          </p:nvGrpSpPr>
          <p:grpSpPr>
            <a:xfrm>
              <a:off x="3744" y="2112"/>
              <a:ext cx="384" cy="672"/>
              <a:chOff x="3744" y="2112"/>
              <a:chExt cx="384" cy="672"/>
            </a:xfrm>
          </p:grpSpPr>
          <p:sp>
            <p:nvSpPr>
              <p:cNvPr id="30790" name="Line 103"/>
              <p:cNvSpPr/>
              <p:nvPr/>
            </p:nvSpPr>
            <p:spPr>
              <a:xfrm>
                <a:off x="3744" y="211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1" name="Line 104"/>
              <p:cNvSpPr/>
              <p:nvPr/>
            </p:nvSpPr>
            <p:spPr>
              <a:xfrm>
                <a:off x="3744" y="278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2" name="Line 105"/>
              <p:cNvSpPr/>
              <p:nvPr/>
            </p:nvSpPr>
            <p:spPr>
              <a:xfrm>
                <a:off x="4128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3" name="Line 106"/>
              <p:cNvSpPr/>
              <p:nvPr/>
            </p:nvSpPr>
            <p:spPr>
              <a:xfrm>
                <a:off x="3744" y="2112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4" name="Line 107"/>
              <p:cNvSpPr/>
              <p:nvPr/>
            </p:nvSpPr>
            <p:spPr>
              <a:xfrm>
                <a:off x="4128" y="244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95" name="Line 108"/>
              <p:cNvSpPr/>
              <p:nvPr/>
            </p:nvSpPr>
            <p:spPr>
              <a:xfrm>
                <a:off x="3744" y="244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1" name="Group 201"/>
            <p:cNvGrpSpPr/>
            <p:nvPr/>
          </p:nvGrpSpPr>
          <p:grpSpPr>
            <a:xfrm>
              <a:off x="4512" y="2064"/>
              <a:ext cx="768" cy="336"/>
              <a:chOff x="4512" y="2064"/>
              <a:chExt cx="768" cy="336"/>
            </a:xfrm>
          </p:grpSpPr>
          <p:sp>
            <p:nvSpPr>
              <p:cNvPr id="30784" name="Line 109"/>
              <p:cNvSpPr/>
              <p:nvPr/>
            </p:nvSpPr>
            <p:spPr>
              <a:xfrm>
                <a:off x="4512" y="206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5" name="Line 110"/>
              <p:cNvSpPr/>
              <p:nvPr/>
            </p:nvSpPr>
            <p:spPr>
              <a:xfrm>
                <a:off x="4896" y="240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6" name="Line 111"/>
              <p:cNvSpPr/>
              <p:nvPr/>
            </p:nvSpPr>
            <p:spPr>
              <a:xfrm>
                <a:off x="4512" y="240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7" name="Line 112"/>
              <p:cNvSpPr/>
              <p:nvPr/>
            </p:nvSpPr>
            <p:spPr>
              <a:xfrm>
                <a:off x="4896" y="206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8" name="Line 113"/>
              <p:cNvSpPr/>
              <p:nvPr/>
            </p:nvSpPr>
            <p:spPr>
              <a:xfrm>
                <a:off x="5280" y="206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9" name="Line 115"/>
              <p:cNvSpPr/>
              <p:nvPr/>
            </p:nvSpPr>
            <p:spPr>
              <a:xfrm>
                <a:off x="4512" y="206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2" name="Group 202"/>
            <p:cNvGrpSpPr/>
            <p:nvPr/>
          </p:nvGrpSpPr>
          <p:grpSpPr>
            <a:xfrm>
              <a:off x="4512" y="2496"/>
              <a:ext cx="768" cy="336"/>
              <a:chOff x="4512" y="2496"/>
              <a:chExt cx="768" cy="336"/>
            </a:xfrm>
          </p:grpSpPr>
          <p:sp>
            <p:nvSpPr>
              <p:cNvPr id="30778" name="Line 116"/>
              <p:cNvSpPr/>
              <p:nvPr/>
            </p:nvSpPr>
            <p:spPr>
              <a:xfrm>
                <a:off x="4512" y="249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9" name="Line 117"/>
              <p:cNvSpPr/>
              <p:nvPr/>
            </p:nvSpPr>
            <p:spPr>
              <a:xfrm>
                <a:off x="4896" y="283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0" name="Line 118"/>
              <p:cNvSpPr/>
              <p:nvPr/>
            </p:nvSpPr>
            <p:spPr>
              <a:xfrm>
                <a:off x="4512" y="283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1" name="Line 119"/>
              <p:cNvSpPr/>
              <p:nvPr/>
            </p:nvSpPr>
            <p:spPr>
              <a:xfrm>
                <a:off x="4896" y="249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2" name="Line 120"/>
              <p:cNvSpPr/>
              <p:nvPr/>
            </p:nvSpPr>
            <p:spPr>
              <a:xfrm>
                <a:off x="5280" y="249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83" name="Line 121"/>
              <p:cNvSpPr/>
              <p:nvPr/>
            </p:nvSpPr>
            <p:spPr>
              <a:xfrm>
                <a:off x="4512" y="2496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3" name="Group 203"/>
            <p:cNvGrpSpPr/>
            <p:nvPr/>
          </p:nvGrpSpPr>
          <p:grpSpPr>
            <a:xfrm>
              <a:off x="528" y="3168"/>
              <a:ext cx="768" cy="672"/>
              <a:chOff x="528" y="3168"/>
              <a:chExt cx="768" cy="672"/>
            </a:xfrm>
          </p:grpSpPr>
          <p:sp>
            <p:nvSpPr>
              <p:cNvPr id="30770" name="Line 122"/>
              <p:cNvSpPr/>
              <p:nvPr/>
            </p:nvSpPr>
            <p:spPr>
              <a:xfrm>
                <a:off x="528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1" name="Line 124"/>
              <p:cNvSpPr/>
              <p:nvPr/>
            </p:nvSpPr>
            <p:spPr>
              <a:xfrm>
                <a:off x="528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2" name="Line 126"/>
              <p:cNvSpPr/>
              <p:nvPr/>
            </p:nvSpPr>
            <p:spPr>
              <a:xfrm>
                <a:off x="912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3" name="Line 127"/>
              <p:cNvSpPr/>
              <p:nvPr/>
            </p:nvSpPr>
            <p:spPr>
              <a:xfrm>
                <a:off x="912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4" name="Line 128"/>
              <p:cNvSpPr/>
              <p:nvPr/>
            </p:nvSpPr>
            <p:spPr>
              <a:xfrm>
                <a:off x="1296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5" name="Line 130"/>
              <p:cNvSpPr/>
              <p:nvPr/>
            </p:nvSpPr>
            <p:spPr>
              <a:xfrm>
                <a:off x="528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6" name="Line 131"/>
              <p:cNvSpPr/>
              <p:nvPr/>
            </p:nvSpPr>
            <p:spPr>
              <a:xfrm>
                <a:off x="1296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7" name="Line 133"/>
              <p:cNvSpPr/>
              <p:nvPr/>
            </p:nvSpPr>
            <p:spPr>
              <a:xfrm>
                <a:off x="528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4" name="Group 204"/>
            <p:cNvGrpSpPr/>
            <p:nvPr/>
          </p:nvGrpSpPr>
          <p:grpSpPr>
            <a:xfrm>
              <a:off x="1632" y="3168"/>
              <a:ext cx="768" cy="672"/>
              <a:chOff x="1632" y="3168"/>
              <a:chExt cx="768" cy="672"/>
            </a:xfrm>
          </p:grpSpPr>
          <p:sp>
            <p:nvSpPr>
              <p:cNvPr id="30762" name="Line 134"/>
              <p:cNvSpPr/>
              <p:nvPr/>
            </p:nvSpPr>
            <p:spPr>
              <a:xfrm>
                <a:off x="1632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3" name="Line 135"/>
              <p:cNvSpPr/>
              <p:nvPr/>
            </p:nvSpPr>
            <p:spPr>
              <a:xfrm>
                <a:off x="2016" y="350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4" name="Line 136"/>
              <p:cNvSpPr/>
              <p:nvPr/>
            </p:nvSpPr>
            <p:spPr>
              <a:xfrm>
                <a:off x="1632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5" name="Line 139"/>
              <p:cNvSpPr/>
              <p:nvPr/>
            </p:nvSpPr>
            <p:spPr>
              <a:xfrm>
                <a:off x="2016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6" name="Line 141"/>
              <p:cNvSpPr/>
              <p:nvPr/>
            </p:nvSpPr>
            <p:spPr>
              <a:xfrm>
                <a:off x="2016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7" name="Line 142"/>
              <p:cNvSpPr/>
              <p:nvPr/>
            </p:nvSpPr>
            <p:spPr>
              <a:xfrm>
                <a:off x="1632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8" name="Line 143"/>
              <p:cNvSpPr/>
              <p:nvPr/>
            </p:nvSpPr>
            <p:spPr>
              <a:xfrm>
                <a:off x="2400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9" name="Line 145"/>
              <p:cNvSpPr/>
              <p:nvPr/>
            </p:nvSpPr>
            <p:spPr>
              <a:xfrm>
                <a:off x="1632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5" name="Group 205"/>
            <p:cNvGrpSpPr/>
            <p:nvPr/>
          </p:nvGrpSpPr>
          <p:grpSpPr>
            <a:xfrm>
              <a:off x="2592" y="3168"/>
              <a:ext cx="768" cy="672"/>
              <a:chOff x="2592" y="3168"/>
              <a:chExt cx="768" cy="672"/>
            </a:xfrm>
          </p:grpSpPr>
          <p:sp>
            <p:nvSpPr>
              <p:cNvPr id="30754" name="Line 160"/>
              <p:cNvSpPr/>
              <p:nvPr/>
            </p:nvSpPr>
            <p:spPr>
              <a:xfrm>
                <a:off x="2592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5" name="Line 161"/>
              <p:cNvSpPr/>
              <p:nvPr/>
            </p:nvSpPr>
            <p:spPr>
              <a:xfrm>
                <a:off x="2592" y="350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6" name="Line 162"/>
              <p:cNvSpPr/>
              <p:nvPr/>
            </p:nvSpPr>
            <p:spPr>
              <a:xfrm>
                <a:off x="2976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7" name="Line 163"/>
              <p:cNvSpPr/>
              <p:nvPr/>
            </p:nvSpPr>
            <p:spPr>
              <a:xfrm>
                <a:off x="2976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8" name="Line 164"/>
              <p:cNvSpPr/>
              <p:nvPr/>
            </p:nvSpPr>
            <p:spPr>
              <a:xfrm>
                <a:off x="3360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9" name="Line 165"/>
              <p:cNvSpPr/>
              <p:nvPr/>
            </p:nvSpPr>
            <p:spPr>
              <a:xfrm>
                <a:off x="2976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0" name="Line 167"/>
              <p:cNvSpPr/>
              <p:nvPr/>
            </p:nvSpPr>
            <p:spPr>
              <a:xfrm>
                <a:off x="3360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1" name="Line 169"/>
              <p:cNvSpPr/>
              <p:nvPr/>
            </p:nvSpPr>
            <p:spPr>
              <a:xfrm>
                <a:off x="2592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6" name="Group 206"/>
            <p:cNvGrpSpPr/>
            <p:nvPr/>
          </p:nvGrpSpPr>
          <p:grpSpPr>
            <a:xfrm>
              <a:off x="3552" y="3168"/>
              <a:ext cx="768" cy="672"/>
              <a:chOff x="3552" y="3168"/>
              <a:chExt cx="768" cy="672"/>
            </a:xfrm>
          </p:grpSpPr>
          <p:sp>
            <p:nvSpPr>
              <p:cNvPr id="30746" name="Line 170"/>
              <p:cNvSpPr/>
              <p:nvPr/>
            </p:nvSpPr>
            <p:spPr>
              <a:xfrm>
                <a:off x="3552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7" name="Line 173"/>
              <p:cNvSpPr/>
              <p:nvPr/>
            </p:nvSpPr>
            <p:spPr>
              <a:xfrm>
                <a:off x="3552" y="350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8" name="Line 174"/>
              <p:cNvSpPr/>
              <p:nvPr/>
            </p:nvSpPr>
            <p:spPr>
              <a:xfrm>
                <a:off x="3936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9" name="Line 175"/>
              <p:cNvSpPr/>
              <p:nvPr/>
            </p:nvSpPr>
            <p:spPr>
              <a:xfrm>
                <a:off x="3936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0" name="Line 176"/>
              <p:cNvSpPr/>
              <p:nvPr/>
            </p:nvSpPr>
            <p:spPr>
              <a:xfrm>
                <a:off x="4320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1" name="Line 178"/>
              <p:cNvSpPr/>
              <p:nvPr/>
            </p:nvSpPr>
            <p:spPr>
              <a:xfrm>
                <a:off x="3552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2" name="Line 179"/>
              <p:cNvSpPr/>
              <p:nvPr/>
            </p:nvSpPr>
            <p:spPr>
              <a:xfrm>
                <a:off x="4320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3" name="Line 180"/>
              <p:cNvSpPr/>
              <p:nvPr/>
            </p:nvSpPr>
            <p:spPr>
              <a:xfrm>
                <a:off x="3936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0737" name="Group 207"/>
            <p:cNvGrpSpPr/>
            <p:nvPr/>
          </p:nvGrpSpPr>
          <p:grpSpPr>
            <a:xfrm>
              <a:off x="4608" y="3168"/>
              <a:ext cx="768" cy="672"/>
              <a:chOff x="4608" y="3168"/>
              <a:chExt cx="768" cy="672"/>
            </a:xfrm>
          </p:grpSpPr>
          <p:sp>
            <p:nvSpPr>
              <p:cNvPr id="30738" name="Line 182"/>
              <p:cNvSpPr/>
              <p:nvPr/>
            </p:nvSpPr>
            <p:spPr>
              <a:xfrm>
                <a:off x="4608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39" name="Line 183"/>
              <p:cNvSpPr/>
              <p:nvPr/>
            </p:nvSpPr>
            <p:spPr>
              <a:xfrm>
                <a:off x="4992" y="350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0" name="Line 184"/>
              <p:cNvSpPr/>
              <p:nvPr/>
            </p:nvSpPr>
            <p:spPr>
              <a:xfrm>
                <a:off x="4608" y="384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1" name="Line 186"/>
              <p:cNvSpPr/>
              <p:nvPr/>
            </p:nvSpPr>
            <p:spPr>
              <a:xfrm>
                <a:off x="4992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2" name="Line 188"/>
              <p:cNvSpPr/>
              <p:nvPr/>
            </p:nvSpPr>
            <p:spPr>
              <a:xfrm>
                <a:off x="5376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3" name="Line 190"/>
              <p:cNvSpPr/>
              <p:nvPr/>
            </p:nvSpPr>
            <p:spPr>
              <a:xfrm>
                <a:off x="4608" y="3168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4" name="Line 192"/>
              <p:cNvSpPr/>
              <p:nvPr/>
            </p:nvSpPr>
            <p:spPr>
              <a:xfrm>
                <a:off x="4992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45" name="Line 193"/>
              <p:cNvSpPr/>
              <p:nvPr/>
            </p:nvSpPr>
            <p:spPr>
              <a:xfrm>
                <a:off x="4608" y="3504"/>
                <a:ext cx="0" cy="3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/>
          <p:nvPr/>
        </p:nvSpPr>
        <p:spPr>
          <a:xfrm>
            <a:off x="0" y="276225"/>
            <a:ext cx="9144000" cy="1860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2255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二、 树及最小树问题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indent="262255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indent="262255" algn="just"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已知有六个城市，它们之间要架设电话线，要求任意两个城市均可以互相通话，并且电话线的总长度最短。   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1747" name="Group 5"/>
          <p:cNvGrpSpPr>
            <a:grpSpLocks noChangeAspect="1"/>
          </p:cNvGrpSpPr>
          <p:nvPr/>
        </p:nvGrpSpPr>
        <p:grpSpPr>
          <a:xfrm>
            <a:off x="2982913" y="2982913"/>
            <a:ext cx="2803525" cy="2374900"/>
            <a:chOff x="5927" y="2991"/>
            <a:chExt cx="2595" cy="2199"/>
          </a:xfrm>
        </p:grpSpPr>
        <p:grpSp>
          <p:nvGrpSpPr>
            <p:cNvPr id="31748" name="Group 6"/>
            <p:cNvGrpSpPr>
              <a:grpSpLocks noChangeAspect="1"/>
            </p:cNvGrpSpPr>
            <p:nvPr/>
          </p:nvGrpSpPr>
          <p:grpSpPr>
            <a:xfrm>
              <a:off x="6287" y="3318"/>
              <a:ext cx="2160" cy="1560"/>
              <a:chOff x="6287" y="3318"/>
              <a:chExt cx="2160" cy="1560"/>
            </a:xfrm>
          </p:grpSpPr>
          <p:sp>
            <p:nvSpPr>
              <p:cNvPr id="31755" name="Line 7"/>
              <p:cNvSpPr>
                <a:spLocks noChangeAspect="1"/>
              </p:cNvSpPr>
              <p:nvPr/>
            </p:nvSpPr>
            <p:spPr>
              <a:xfrm>
                <a:off x="6647" y="3318"/>
                <a:ext cx="1260" cy="0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1756" name="Line 8"/>
              <p:cNvSpPr>
                <a:spLocks noChangeAspect="1"/>
              </p:cNvSpPr>
              <p:nvPr/>
            </p:nvSpPr>
            <p:spPr>
              <a:xfrm>
                <a:off x="7907" y="3318"/>
                <a:ext cx="0" cy="9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1757" name="Line 9"/>
              <p:cNvSpPr>
                <a:spLocks noChangeAspect="1"/>
              </p:cNvSpPr>
              <p:nvPr/>
            </p:nvSpPr>
            <p:spPr>
              <a:xfrm flipH="1">
                <a:off x="6287" y="3318"/>
                <a:ext cx="1620" cy="936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1758" name="Line 10"/>
              <p:cNvSpPr>
                <a:spLocks noChangeAspect="1"/>
              </p:cNvSpPr>
              <p:nvPr/>
            </p:nvSpPr>
            <p:spPr>
              <a:xfrm flipH="1">
                <a:off x="6467" y="4254"/>
                <a:ext cx="1440" cy="468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  <p:sp>
            <p:nvSpPr>
              <p:cNvPr id="31759" name="Line 11"/>
              <p:cNvSpPr>
                <a:spLocks noChangeAspect="1"/>
              </p:cNvSpPr>
              <p:nvPr/>
            </p:nvSpPr>
            <p:spPr>
              <a:xfrm>
                <a:off x="7907" y="4254"/>
                <a:ext cx="540" cy="624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headEnd type="oval" w="med" len="med"/>
                <a:tailEnd type="oval" w="med" len="med"/>
              </a:ln>
            </p:spPr>
          </p:sp>
        </p:grpSp>
        <p:sp>
          <p:nvSpPr>
            <p:cNvPr id="31749" name="Text Box 12"/>
            <p:cNvSpPr txBox="1">
              <a:spLocks noChangeAspect="1"/>
            </p:cNvSpPr>
            <p:nvPr/>
          </p:nvSpPr>
          <p:spPr>
            <a:xfrm>
              <a:off x="6242" y="3087"/>
              <a:ext cx="54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0" name="Text Box 13"/>
            <p:cNvSpPr txBox="1">
              <a:spLocks noChangeAspect="1"/>
            </p:cNvSpPr>
            <p:nvPr/>
          </p:nvSpPr>
          <p:spPr>
            <a:xfrm>
              <a:off x="7847" y="2991"/>
              <a:ext cx="54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1" name="Text Box 14"/>
            <p:cNvSpPr txBox="1">
              <a:spLocks noChangeAspect="1"/>
            </p:cNvSpPr>
            <p:nvPr/>
          </p:nvSpPr>
          <p:spPr>
            <a:xfrm>
              <a:off x="7877" y="3972"/>
              <a:ext cx="54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2" name="Text Box 15"/>
            <p:cNvSpPr txBox="1">
              <a:spLocks noChangeAspect="1"/>
            </p:cNvSpPr>
            <p:nvPr/>
          </p:nvSpPr>
          <p:spPr>
            <a:xfrm>
              <a:off x="7982" y="4722"/>
              <a:ext cx="54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3" name="Text Box 16"/>
            <p:cNvSpPr txBox="1">
              <a:spLocks noChangeAspect="1"/>
            </p:cNvSpPr>
            <p:nvPr/>
          </p:nvSpPr>
          <p:spPr>
            <a:xfrm>
              <a:off x="6107" y="4662"/>
              <a:ext cx="720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4" name="Text Box 17"/>
            <p:cNvSpPr txBox="1">
              <a:spLocks noChangeAspect="1"/>
            </p:cNvSpPr>
            <p:nvPr/>
          </p:nvSpPr>
          <p:spPr>
            <a:xfrm>
              <a:off x="5927" y="3852"/>
              <a:ext cx="72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7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0125"/>
            <a:ext cx="9144000" cy="45005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2" name="Rectangle 37"/>
          <p:cNvSpPr/>
          <p:nvPr/>
        </p:nvSpPr>
        <p:spPr>
          <a:xfrm>
            <a:off x="0" y="381000"/>
            <a:ext cx="9144000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定义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15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设图           是图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=(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V , E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的一支撑子图，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如果图            是一个树,那么称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的一个生成树（支撑树），或简称为图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的树。图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中属于生成树的边称为树枝，不在生成树中的边称为弦。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170" name="Object 2"/>
          <p:cNvGraphicFramePr/>
          <p:nvPr/>
        </p:nvGraphicFramePr>
        <p:xfrm>
          <a:off x="1333500" y="838200"/>
          <a:ext cx="17145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798830" imgH="215900" progId="Equation.3">
                  <p:embed/>
                </p:oleObj>
              </mc:Choice>
              <mc:Fallback>
                <p:oleObj name="" r:id="rId1" imgW="798830" imgH="2159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3500" y="838200"/>
                        <a:ext cx="1714500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Rectangle 52"/>
          <p:cNvSpPr/>
          <p:nvPr/>
        </p:nvSpPr>
        <p:spPr>
          <a:xfrm>
            <a:off x="609600" y="4953000"/>
            <a:ext cx="777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一个图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有生成树的充要条件是</a:t>
            </a:r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是连通图。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174" name="Group 53"/>
          <p:cNvGrpSpPr/>
          <p:nvPr/>
        </p:nvGrpSpPr>
        <p:grpSpPr>
          <a:xfrm>
            <a:off x="1600200" y="2133600"/>
            <a:ext cx="2416175" cy="2230438"/>
            <a:chOff x="1313" y="1680"/>
            <a:chExt cx="1522" cy="1405"/>
          </a:xfrm>
        </p:grpSpPr>
        <p:sp>
          <p:nvSpPr>
            <p:cNvPr id="7185" name="Line 54"/>
            <p:cNvSpPr>
              <a:spLocks noChangeAspect="1"/>
            </p:cNvSpPr>
            <p:nvPr/>
          </p:nvSpPr>
          <p:spPr>
            <a:xfrm flipH="1">
              <a:off x="1561" y="1925"/>
              <a:ext cx="489" cy="4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86" name="Line 55"/>
            <p:cNvSpPr>
              <a:spLocks noChangeAspect="1"/>
            </p:cNvSpPr>
            <p:nvPr/>
          </p:nvSpPr>
          <p:spPr>
            <a:xfrm>
              <a:off x="1561" y="2349"/>
              <a:ext cx="245" cy="5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87" name="Line 56"/>
            <p:cNvSpPr>
              <a:spLocks noChangeAspect="1"/>
            </p:cNvSpPr>
            <p:nvPr/>
          </p:nvSpPr>
          <p:spPr>
            <a:xfrm>
              <a:off x="1806" y="2879"/>
              <a:ext cx="61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88" name="Line 57"/>
            <p:cNvSpPr>
              <a:spLocks noChangeAspect="1"/>
            </p:cNvSpPr>
            <p:nvPr/>
          </p:nvSpPr>
          <p:spPr>
            <a:xfrm>
              <a:off x="2050" y="1925"/>
              <a:ext cx="489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89" name="Line 58"/>
            <p:cNvSpPr>
              <a:spLocks noChangeAspect="1"/>
            </p:cNvSpPr>
            <p:nvPr/>
          </p:nvSpPr>
          <p:spPr>
            <a:xfrm flipH="1">
              <a:off x="2417" y="2243"/>
              <a:ext cx="122" cy="6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90" name="Line 59"/>
            <p:cNvSpPr>
              <a:spLocks noChangeAspect="1"/>
            </p:cNvSpPr>
            <p:nvPr/>
          </p:nvSpPr>
          <p:spPr>
            <a:xfrm flipV="1">
              <a:off x="1561" y="2243"/>
              <a:ext cx="978" cy="10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91" name="Line 60"/>
            <p:cNvSpPr>
              <a:spLocks noChangeAspect="1"/>
            </p:cNvSpPr>
            <p:nvPr/>
          </p:nvSpPr>
          <p:spPr>
            <a:xfrm>
              <a:off x="1561" y="2349"/>
              <a:ext cx="856" cy="53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92" name="Line 61"/>
            <p:cNvSpPr>
              <a:spLocks noChangeAspect="1"/>
            </p:cNvSpPr>
            <p:nvPr/>
          </p:nvSpPr>
          <p:spPr>
            <a:xfrm flipV="1">
              <a:off x="1806" y="2243"/>
              <a:ext cx="733" cy="6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93" name="Text Box 62"/>
            <p:cNvSpPr txBox="1">
              <a:spLocks noChangeAspect="1"/>
            </p:cNvSpPr>
            <p:nvPr/>
          </p:nvSpPr>
          <p:spPr>
            <a:xfrm>
              <a:off x="1841" y="168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4" name="Text Box 63"/>
            <p:cNvSpPr txBox="1">
              <a:spLocks noChangeAspect="1"/>
            </p:cNvSpPr>
            <p:nvPr/>
          </p:nvSpPr>
          <p:spPr>
            <a:xfrm>
              <a:off x="2468" y="200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5" name="Text Box 64"/>
            <p:cNvSpPr txBox="1">
              <a:spLocks noChangeAspect="1"/>
            </p:cNvSpPr>
            <p:nvPr/>
          </p:nvSpPr>
          <p:spPr>
            <a:xfrm>
              <a:off x="2417" y="2763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6" name="Text Box 65"/>
            <p:cNvSpPr txBox="1">
              <a:spLocks noChangeAspect="1"/>
            </p:cNvSpPr>
            <p:nvPr/>
          </p:nvSpPr>
          <p:spPr>
            <a:xfrm>
              <a:off x="1571" y="2767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97" name="Text Box 66"/>
            <p:cNvSpPr txBox="1">
              <a:spLocks noChangeAspect="1"/>
            </p:cNvSpPr>
            <p:nvPr/>
          </p:nvSpPr>
          <p:spPr>
            <a:xfrm>
              <a:off x="1313" y="213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75" name="Group 67"/>
          <p:cNvGrpSpPr/>
          <p:nvPr/>
        </p:nvGrpSpPr>
        <p:grpSpPr>
          <a:xfrm>
            <a:off x="4895850" y="2133600"/>
            <a:ext cx="2190750" cy="2286000"/>
            <a:chOff x="3019" y="1680"/>
            <a:chExt cx="1380" cy="1440"/>
          </a:xfrm>
        </p:grpSpPr>
        <p:sp>
          <p:nvSpPr>
            <p:cNvPr id="7176" name="Line 68"/>
            <p:cNvSpPr>
              <a:spLocks noChangeAspect="1"/>
            </p:cNvSpPr>
            <p:nvPr/>
          </p:nvSpPr>
          <p:spPr>
            <a:xfrm>
              <a:off x="3397" y="2879"/>
              <a:ext cx="611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77" name="Line 69"/>
            <p:cNvSpPr>
              <a:spLocks noChangeAspect="1"/>
            </p:cNvSpPr>
            <p:nvPr/>
          </p:nvSpPr>
          <p:spPr>
            <a:xfrm>
              <a:off x="3641" y="1925"/>
              <a:ext cx="489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78" name="Line 70"/>
            <p:cNvSpPr>
              <a:spLocks noChangeAspect="1"/>
            </p:cNvSpPr>
            <p:nvPr/>
          </p:nvSpPr>
          <p:spPr>
            <a:xfrm flipH="1">
              <a:off x="4008" y="2243"/>
              <a:ext cx="122" cy="6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79" name="Line 71"/>
            <p:cNvSpPr>
              <a:spLocks noChangeAspect="1"/>
            </p:cNvSpPr>
            <p:nvPr/>
          </p:nvSpPr>
          <p:spPr>
            <a:xfrm flipV="1">
              <a:off x="3152" y="2243"/>
              <a:ext cx="978" cy="10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180" name="Text Box 72"/>
            <p:cNvSpPr txBox="1">
              <a:spLocks noChangeAspect="1"/>
            </p:cNvSpPr>
            <p:nvPr/>
          </p:nvSpPr>
          <p:spPr>
            <a:xfrm>
              <a:off x="3426" y="1680"/>
              <a:ext cx="36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1" name="Text Box 73"/>
            <p:cNvSpPr txBox="1">
              <a:spLocks noChangeAspect="1"/>
            </p:cNvSpPr>
            <p:nvPr/>
          </p:nvSpPr>
          <p:spPr>
            <a:xfrm>
              <a:off x="4028" y="1976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2" name="Text Box 74"/>
            <p:cNvSpPr txBox="1">
              <a:spLocks noChangeAspect="1"/>
            </p:cNvSpPr>
            <p:nvPr/>
          </p:nvSpPr>
          <p:spPr>
            <a:xfrm>
              <a:off x="4032" y="280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3" name="Text Box 75"/>
            <p:cNvSpPr txBox="1">
              <a:spLocks noChangeAspect="1"/>
            </p:cNvSpPr>
            <p:nvPr/>
          </p:nvSpPr>
          <p:spPr>
            <a:xfrm>
              <a:off x="3131" y="274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4" name="Text Box 76"/>
            <p:cNvSpPr txBox="1">
              <a:spLocks noChangeAspect="1"/>
            </p:cNvSpPr>
            <p:nvPr/>
          </p:nvSpPr>
          <p:spPr>
            <a:xfrm>
              <a:off x="3019" y="2086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30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171" name="Object 78"/>
          <p:cNvGraphicFramePr/>
          <p:nvPr/>
        </p:nvGraphicFramePr>
        <p:xfrm>
          <a:off x="2362200" y="442913"/>
          <a:ext cx="17145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3" imgW="798830" imgH="215900" progId="Equation.3">
                  <p:embed/>
                </p:oleObj>
              </mc:Choice>
              <mc:Fallback>
                <p:oleObj name="" r:id="rId3" imgW="798830" imgH="2159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442913"/>
                        <a:ext cx="1714500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52"/>
          <p:cNvSpPr/>
          <p:nvPr/>
        </p:nvSpPr>
        <p:spPr>
          <a:xfrm>
            <a:off x="571500" y="1071563"/>
            <a:ext cx="7772400" cy="2492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连通图的生成树的方法：</a:t>
            </a:r>
            <a:endParaRPr lang="en-US" altLang="zh-CN" sz="36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endParaRPr lang="en-US" altLang="zh-CN" sz="36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避圈法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endParaRPr lang="en-US" altLang="zh-CN" sz="2800" b="1" dirty="0">
              <a:latin typeface="楷体_GB2312" pitchFamily="49" charset="-122"/>
              <a:ea typeface="楷体_GB2312" pitchFamily="49" charset="-122"/>
            </a:endParaRPr>
          </a:p>
          <a:p>
            <a:pPr eaLnBrk="0" hangingPunct="0"/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破圈法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8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2938"/>
            <a:ext cx="9144000" cy="4143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85813"/>
            <a:ext cx="9144000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0125"/>
            <a:ext cx="9144000" cy="2643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576638"/>
            <a:ext cx="8358188" cy="495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8688"/>
            <a:ext cx="9144000" cy="3571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9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0188"/>
            <a:ext cx="9144000" cy="10715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37"/>
          <p:cNvSpPr/>
          <p:nvPr/>
        </p:nvSpPr>
        <p:spPr>
          <a:xfrm>
            <a:off x="381000" y="304800"/>
            <a:ext cx="701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用破圈法求出下图的一个生成树。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9939" name="Group 64"/>
          <p:cNvGrpSpPr/>
          <p:nvPr/>
        </p:nvGrpSpPr>
        <p:grpSpPr>
          <a:xfrm>
            <a:off x="2438400" y="838200"/>
            <a:ext cx="3513138" cy="2830513"/>
            <a:chOff x="768" y="720"/>
            <a:chExt cx="2213" cy="1783"/>
          </a:xfrm>
        </p:grpSpPr>
        <p:sp>
          <p:nvSpPr>
            <p:cNvPr id="39980" name="Line 42"/>
            <p:cNvSpPr>
              <a:spLocks noChangeAspect="1"/>
            </p:cNvSpPr>
            <p:nvPr/>
          </p:nvSpPr>
          <p:spPr>
            <a:xfrm flipV="1">
              <a:off x="979" y="941"/>
              <a:ext cx="259" cy="67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1" name="Line 43"/>
            <p:cNvSpPr>
              <a:spLocks noChangeAspect="1"/>
            </p:cNvSpPr>
            <p:nvPr/>
          </p:nvSpPr>
          <p:spPr>
            <a:xfrm>
              <a:off x="979" y="1615"/>
              <a:ext cx="389" cy="56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2" name="Line 44"/>
            <p:cNvSpPr>
              <a:spLocks noChangeAspect="1"/>
            </p:cNvSpPr>
            <p:nvPr/>
          </p:nvSpPr>
          <p:spPr>
            <a:xfrm flipV="1">
              <a:off x="1368" y="1728"/>
              <a:ext cx="1167" cy="4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3" name="Line 45"/>
            <p:cNvSpPr>
              <a:spLocks noChangeAspect="1"/>
            </p:cNvSpPr>
            <p:nvPr/>
          </p:nvSpPr>
          <p:spPr>
            <a:xfrm>
              <a:off x="1238" y="941"/>
              <a:ext cx="1297" cy="78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4" name="Line 46"/>
            <p:cNvSpPr>
              <a:spLocks noChangeAspect="1"/>
            </p:cNvSpPr>
            <p:nvPr/>
          </p:nvSpPr>
          <p:spPr>
            <a:xfrm>
              <a:off x="1238" y="941"/>
              <a:ext cx="130" cy="12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5" name="Line 47"/>
            <p:cNvSpPr>
              <a:spLocks noChangeAspect="1"/>
            </p:cNvSpPr>
            <p:nvPr/>
          </p:nvSpPr>
          <p:spPr>
            <a:xfrm>
              <a:off x="1238" y="941"/>
              <a:ext cx="519" cy="67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6" name="Line 48"/>
            <p:cNvSpPr>
              <a:spLocks noChangeAspect="1"/>
            </p:cNvSpPr>
            <p:nvPr/>
          </p:nvSpPr>
          <p:spPr>
            <a:xfrm flipH="1">
              <a:off x="1368" y="1615"/>
              <a:ext cx="389" cy="56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7" name="Line 49"/>
            <p:cNvSpPr>
              <a:spLocks noChangeAspect="1"/>
            </p:cNvSpPr>
            <p:nvPr/>
          </p:nvSpPr>
          <p:spPr>
            <a:xfrm>
              <a:off x="1757" y="1615"/>
              <a:ext cx="778" cy="1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88" name="Text Box 50"/>
            <p:cNvSpPr txBox="1">
              <a:spLocks noChangeAspect="1"/>
            </p:cNvSpPr>
            <p:nvPr/>
          </p:nvSpPr>
          <p:spPr>
            <a:xfrm>
              <a:off x="768" y="1488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89" name="Text Box 51"/>
            <p:cNvSpPr txBox="1">
              <a:spLocks noChangeAspect="1"/>
            </p:cNvSpPr>
            <p:nvPr/>
          </p:nvSpPr>
          <p:spPr>
            <a:xfrm>
              <a:off x="1008" y="720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0" name="Text Box 52"/>
            <p:cNvSpPr txBox="1">
              <a:spLocks noChangeAspect="1"/>
            </p:cNvSpPr>
            <p:nvPr/>
          </p:nvSpPr>
          <p:spPr>
            <a:xfrm>
              <a:off x="1248" y="2166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1" name="Text Box 53"/>
            <p:cNvSpPr txBox="1">
              <a:spLocks noChangeAspect="1"/>
            </p:cNvSpPr>
            <p:nvPr/>
          </p:nvSpPr>
          <p:spPr>
            <a:xfrm>
              <a:off x="1660" y="1343"/>
              <a:ext cx="389" cy="4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2" name="Text Box 54"/>
            <p:cNvSpPr txBox="1">
              <a:spLocks noChangeAspect="1"/>
            </p:cNvSpPr>
            <p:nvPr/>
          </p:nvSpPr>
          <p:spPr>
            <a:xfrm>
              <a:off x="2592" y="1584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3" name="Text Box 56"/>
            <p:cNvSpPr txBox="1">
              <a:spLocks noChangeAspect="1"/>
            </p:cNvSpPr>
            <p:nvPr/>
          </p:nvSpPr>
          <p:spPr>
            <a:xfrm>
              <a:off x="912" y="1090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4" name="Text Box 57"/>
            <p:cNvSpPr txBox="1">
              <a:spLocks noChangeAspect="1"/>
            </p:cNvSpPr>
            <p:nvPr/>
          </p:nvSpPr>
          <p:spPr>
            <a:xfrm>
              <a:off x="960" y="1732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5" name="Text Box 58"/>
            <p:cNvSpPr txBox="1">
              <a:spLocks noChangeAspect="1"/>
            </p:cNvSpPr>
            <p:nvPr/>
          </p:nvSpPr>
          <p:spPr>
            <a:xfrm>
              <a:off x="1296" y="1427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6" name="Text Box 59"/>
            <p:cNvSpPr txBox="1">
              <a:spLocks noChangeAspect="1"/>
            </p:cNvSpPr>
            <p:nvPr/>
          </p:nvSpPr>
          <p:spPr>
            <a:xfrm>
              <a:off x="1510" y="1153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7" name="Text Box 60"/>
            <p:cNvSpPr txBox="1">
              <a:spLocks noChangeAspect="1"/>
            </p:cNvSpPr>
            <p:nvPr/>
          </p:nvSpPr>
          <p:spPr>
            <a:xfrm>
              <a:off x="1552" y="1728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8" name="Text Box 61"/>
            <p:cNvSpPr txBox="1">
              <a:spLocks noChangeAspect="1"/>
            </p:cNvSpPr>
            <p:nvPr/>
          </p:nvSpPr>
          <p:spPr>
            <a:xfrm>
              <a:off x="1844" y="1920"/>
              <a:ext cx="388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99" name="Text Box 62"/>
            <p:cNvSpPr txBox="1">
              <a:spLocks noChangeAspect="1"/>
            </p:cNvSpPr>
            <p:nvPr/>
          </p:nvSpPr>
          <p:spPr>
            <a:xfrm>
              <a:off x="1768" y="1053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000" name="Text Box 63"/>
            <p:cNvSpPr txBox="1">
              <a:spLocks noChangeAspect="1"/>
            </p:cNvSpPr>
            <p:nvPr/>
          </p:nvSpPr>
          <p:spPr>
            <a:xfrm>
              <a:off x="1941" y="1416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46"/>
          <p:cNvGrpSpPr/>
          <p:nvPr/>
        </p:nvGrpSpPr>
        <p:grpSpPr>
          <a:xfrm>
            <a:off x="5410200" y="3478213"/>
            <a:ext cx="3360738" cy="2922587"/>
            <a:chOff x="715" y="2400"/>
            <a:chExt cx="2117" cy="1841"/>
          </a:xfrm>
        </p:grpSpPr>
        <p:sp>
          <p:nvSpPr>
            <p:cNvPr id="39967" name="Line 132"/>
            <p:cNvSpPr>
              <a:spLocks noChangeAspect="1"/>
            </p:cNvSpPr>
            <p:nvPr/>
          </p:nvSpPr>
          <p:spPr>
            <a:xfrm>
              <a:off x="959" y="3298"/>
              <a:ext cx="389" cy="56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68" name="Line 133"/>
            <p:cNvSpPr>
              <a:spLocks noChangeAspect="1"/>
            </p:cNvSpPr>
            <p:nvPr/>
          </p:nvSpPr>
          <p:spPr>
            <a:xfrm flipV="1">
              <a:off x="1348" y="3410"/>
              <a:ext cx="1166" cy="44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69" name="Line 134"/>
            <p:cNvSpPr>
              <a:spLocks noChangeAspect="1"/>
            </p:cNvSpPr>
            <p:nvPr/>
          </p:nvSpPr>
          <p:spPr>
            <a:xfrm>
              <a:off x="1218" y="2624"/>
              <a:ext cx="519" cy="67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70" name="Line 135"/>
            <p:cNvSpPr>
              <a:spLocks noChangeAspect="1"/>
            </p:cNvSpPr>
            <p:nvPr/>
          </p:nvSpPr>
          <p:spPr>
            <a:xfrm>
              <a:off x="1737" y="3298"/>
              <a:ext cx="777" cy="11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71" name="Text Box 136"/>
            <p:cNvSpPr txBox="1">
              <a:spLocks noChangeAspect="1"/>
            </p:cNvSpPr>
            <p:nvPr/>
          </p:nvSpPr>
          <p:spPr>
            <a:xfrm>
              <a:off x="715" y="3106"/>
              <a:ext cx="38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2" name="Text Box 137"/>
            <p:cNvSpPr txBox="1">
              <a:spLocks noChangeAspect="1"/>
            </p:cNvSpPr>
            <p:nvPr/>
          </p:nvSpPr>
          <p:spPr>
            <a:xfrm>
              <a:off x="1018" y="2400"/>
              <a:ext cx="518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3" name="Text Box 138"/>
            <p:cNvSpPr txBox="1">
              <a:spLocks noChangeAspect="1"/>
            </p:cNvSpPr>
            <p:nvPr/>
          </p:nvSpPr>
          <p:spPr>
            <a:xfrm>
              <a:off x="1175" y="3792"/>
              <a:ext cx="388" cy="4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4" name="Text Box 139"/>
            <p:cNvSpPr txBox="1">
              <a:spLocks noChangeAspect="1"/>
            </p:cNvSpPr>
            <p:nvPr/>
          </p:nvSpPr>
          <p:spPr>
            <a:xfrm>
              <a:off x="1723" y="3072"/>
              <a:ext cx="38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5" name="Text Box 140"/>
            <p:cNvSpPr txBox="1">
              <a:spLocks noChangeAspect="1"/>
            </p:cNvSpPr>
            <p:nvPr/>
          </p:nvSpPr>
          <p:spPr>
            <a:xfrm>
              <a:off x="2443" y="3168"/>
              <a:ext cx="38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6" name="Text Box 142"/>
            <p:cNvSpPr txBox="1">
              <a:spLocks noChangeAspect="1"/>
            </p:cNvSpPr>
            <p:nvPr/>
          </p:nvSpPr>
          <p:spPr>
            <a:xfrm>
              <a:off x="955" y="3458"/>
              <a:ext cx="38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7" name="Text Box 143"/>
            <p:cNvSpPr txBox="1">
              <a:spLocks noChangeAspect="1"/>
            </p:cNvSpPr>
            <p:nvPr/>
          </p:nvSpPr>
          <p:spPr>
            <a:xfrm>
              <a:off x="1435" y="2736"/>
              <a:ext cx="38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8" name="Text Box 144"/>
            <p:cNvSpPr txBox="1">
              <a:spLocks noChangeAspect="1"/>
            </p:cNvSpPr>
            <p:nvPr/>
          </p:nvSpPr>
          <p:spPr>
            <a:xfrm>
              <a:off x="1855" y="3600"/>
              <a:ext cx="389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79" name="Text Box 145"/>
            <p:cNvSpPr txBox="1">
              <a:spLocks noChangeAspect="1"/>
            </p:cNvSpPr>
            <p:nvPr/>
          </p:nvSpPr>
          <p:spPr>
            <a:xfrm>
              <a:off x="2011" y="3119"/>
              <a:ext cx="389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84"/>
          <p:cNvGrpSpPr/>
          <p:nvPr/>
        </p:nvGrpSpPr>
        <p:grpSpPr>
          <a:xfrm>
            <a:off x="914400" y="3276600"/>
            <a:ext cx="4267200" cy="3135313"/>
            <a:chOff x="576" y="2064"/>
            <a:chExt cx="2688" cy="1975"/>
          </a:xfrm>
        </p:grpSpPr>
        <p:sp>
          <p:nvSpPr>
            <p:cNvPr id="39946" name="Line 158"/>
            <p:cNvSpPr>
              <a:spLocks noChangeAspect="1"/>
            </p:cNvSpPr>
            <p:nvPr/>
          </p:nvSpPr>
          <p:spPr>
            <a:xfrm flipV="1">
              <a:off x="832" y="2309"/>
              <a:ext cx="315" cy="74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47" name="Line 159"/>
            <p:cNvSpPr>
              <a:spLocks noChangeAspect="1"/>
            </p:cNvSpPr>
            <p:nvPr/>
          </p:nvSpPr>
          <p:spPr>
            <a:xfrm>
              <a:off x="832" y="3055"/>
              <a:ext cx="473" cy="62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48" name="Line 160"/>
            <p:cNvSpPr>
              <a:spLocks noChangeAspect="1"/>
            </p:cNvSpPr>
            <p:nvPr/>
          </p:nvSpPr>
          <p:spPr>
            <a:xfrm flipV="1">
              <a:off x="1305" y="3181"/>
              <a:ext cx="1417" cy="4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49" name="Line 161"/>
            <p:cNvSpPr>
              <a:spLocks noChangeAspect="1"/>
            </p:cNvSpPr>
            <p:nvPr/>
          </p:nvSpPr>
          <p:spPr>
            <a:xfrm>
              <a:off x="1147" y="2309"/>
              <a:ext cx="1575" cy="87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50" name="Line 162"/>
            <p:cNvSpPr>
              <a:spLocks noChangeAspect="1"/>
            </p:cNvSpPr>
            <p:nvPr/>
          </p:nvSpPr>
          <p:spPr>
            <a:xfrm>
              <a:off x="1147" y="2309"/>
              <a:ext cx="158" cy="136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51" name="Line 163"/>
            <p:cNvSpPr>
              <a:spLocks noChangeAspect="1"/>
            </p:cNvSpPr>
            <p:nvPr/>
          </p:nvSpPr>
          <p:spPr>
            <a:xfrm>
              <a:off x="1147" y="2309"/>
              <a:ext cx="630" cy="74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52" name="Line 164"/>
            <p:cNvSpPr>
              <a:spLocks noChangeAspect="1"/>
            </p:cNvSpPr>
            <p:nvPr/>
          </p:nvSpPr>
          <p:spPr>
            <a:xfrm flipH="1">
              <a:off x="1296" y="3072"/>
              <a:ext cx="472" cy="62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53" name="Line 165"/>
            <p:cNvSpPr>
              <a:spLocks noChangeAspect="1"/>
            </p:cNvSpPr>
            <p:nvPr/>
          </p:nvSpPr>
          <p:spPr>
            <a:xfrm>
              <a:off x="1777" y="3055"/>
              <a:ext cx="945" cy="12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39954" name="Text Box 166"/>
            <p:cNvSpPr txBox="1">
              <a:spLocks noChangeAspect="1"/>
            </p:cNvSpPr>
            <p:nvPr/>
          </p:nvSpPr>
          <p:spPr>
            <a:xfrm>
              <a:off x="576" y="2915"/>
              <a:ext cx="47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5" name="Text Box 167"/>
            <p:cNvSpPr txBox="1">
              <a:spLocks noChangeAspect="1"/>
            </p:cNvSpPr>
            <p:nvPr/>
          </p:nvSpPr>
          <p:spPr>
            <a:xfrm>
              <a:off x="868" y="2064"/>
              <a:ext cx="47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6" name="Text Box 168"/>
            <p:cNvSpPr txBox="1">
              <a:spLocks noChangeAspect="1"/>
            </p:cNvSpPr>
            <p:nvPr/>
          </p:nvSpPr>
          <p:spPr>
            <a:xfrm>
              <a:off x="1159" y="3666"/>
              <a:ext cx="473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7" name="Text Box 169"/>
            <p:cNvSpPr txBox="1">
              <a:spLocks noChangeAspect="1"/>
            </p:cNvSpPr>
            <p:nvPr/>
          </p:nvSpPr>
          <p:spPr>
            <a:xfrm>
              <a:off x="1659" y="2754"/>
              <a:ext cx="473" cy="49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8" name="Text Box 170"/>
            <p:cNvSpPr txBox="1">
              <a:spLocks noChangeAspect="1"/>
            </p:cNvSpPr>
            <p:nvPr/>
          </p:nvSpPr>
          <p:spPr>
            <a:xfrm>
              <a:off x="2792" y="3021"/>
              <a:ext cx="47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59" name="Text Box 171"/>
            <p:cNvSpPr txBox="1">
              <a:spLocks noChangeAspect="1"/>
            </p:cNvSpPr>
            <p:nvPr/>
          </p:nvSpPr>
          <p:spPr>
            <a:xfrm>
              <a:off x="768" y="2496"/>
              <a:ext cx="47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0" name="Text Box 172"/>
            <p:cNvSpPr txBox="1">
              <a:spLocks noChangeAspect="1"/>
            </p:cNvSpPr>
            <p:nvPr/>
          </p:nvSpPr>
          <p:spPr>
            <a:xfrm>
              <a:off x="816" y="3168"/>
              <a:ext cx="473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1" name="Text Box 173"/>
            <p:cNvSpPr txBox="1">
              <a:spLocks noChangeAspect="1"/>
            </p:cNvSpPr>
            <p:nvPr/>
          </p:nvSpPr>
          <p:spPr>
            <a:xfrm>
              <a:off x="1217" y="2847"/>
              <a:ext cx="473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2" name="Text Box 174"/>
            <p:cNvSpPr txBox="1">
              <a:spLocks noChangeAspect="1"/>
            </p:cNvSpPr>
            <p:nvPr/>
          </p:nvSpPr>
          <p:spPr>
            <a:xfrm>
              <a:off x="1477" y="2544"/>
              <a:ext cx="473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3" name="Text Box 175"/>
            <p:cNvSpPr txBox="1">
              <a:spLocks noChangeAspect="1"/>
            </p:cNvSpPr>
            <p:nvPr/>
          </p:nvSpPr>
          <p:spPr>
            <a:xfrm>
              <a:off x="1528" y="3181"/>
              <a:ext cx="473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4" name="Text Box 176"/>
            <p:cNvSpPr txBox="1">
              <a:spLocks noChangeAspect="1"/>
            </p:cNvSpPr>
            <p:nvPr/>
          </p:nvSpPr>
          <p:spPr>
            <a:xfrm>
              <a:off x="1883" y="3393"/>
              <a:ext cx="471" cy="3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5" name="Text Box 177"/>
            <p:cNvSpPr txBox="1">
              <a:spLocks noChangeAspect="1"/>
            </p:cNvSpPr>
            <p:nvPr/>
          </p:nvSpPr>
          <p:spPr>
            <a:xfrm>
              <a:off x="1776" y="2448"/>
              <a:ext cx="47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9966" name="Text Box 178"/>
            <p:cNvSpPr txBox="1">
              <a:spLocks noChangeAspect="1"/>
            </p:cNvSpPr>
            <p:nvPr/>
          </p:nvSpPr>
          <p:spPr>
            <a:xfrm>
              <a:off x="2016" y="2832"/>
              <a:ext cx="472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636" name="Line 180"/>
          <p:cNvSpPr>
            <a:spLocks noChangeAspect="1"/>
          </p:cNvSpPr>
          <p:nvPr/>
        </p:nvSpPr>
        <p:spPr>
          <a:xfrm flipV="1">
            <a:off x="1295400" y="3692525"/>
            <a:ext cx="500063" cy="1184275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oval" w="med" len="med"/>
            <a:tailEnd type="oval" w="med" len="med"/>
          </a:ln>
        </p:spPr>
      </p:sp>
      <p:sp>
        <p:nvSpPr>
          <p:cNvPr id="19637" name="Line 181"/>
          <p:cNvSpPr>
            <a:spLocks noChangeAspect="1"/>
          </p:cNvSpPr>
          <p:nvPr/>
        </p:nvSpPr>
        <p:spPr>
          <a:xfrm>
            <a:off x="1828800" y="3657600"/>
            <a:ext cx="250825" cy="2173288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oval" w="med" len="med"/>
            <a:tailEnd type="oval" w="med" len="med"/>
          </a:ln>
        </p:spPr>
      </p:sp>
      <p:sp>
        <p:nvSpPr>
          <p:cNvPr id="19638" name="Line 182"/>
          <p:cNvSpPr>
            <a:spLocks noChangeAspect="1"/>
          </p:cNvSpPr>
          <p:nvPr/>
        </p:nvSpPr>
        <p:spPr>
          <a:xfrm flipH="1">
            <a:off x="2057400" y="4876800"/>
            <a:ext cx="749300" cy="989013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oval" w="med" len="med"/>
            <a:tailEnd type="oval" w="med" len="med"/>
          </a:ln>
        </p:spPr>
      </p:sp>
      <p:sp>
        <p:nvSpPr>
          <p:cNvPr id="19639" name="Line 183"/>
          <p:cNvSpPr>
            <a:spLocks noChangeAspect="1"/>
          </p:cNvSpPr>
          <p:nvPr/>
        </p:nvSpPr>
        <p:spPr>
          <a:xfrm>
            <a:off x="1828800" y="3657600"/>
            <a:ext cx="2500313" cy="1384300"/>
          </a:xfrm>
          <a:prstGeom prst="line">
            <a:avLst/>
          </a:prstGeom>
          <a:ln w="38100" cap="flat" cmpd="sng">
            <a:solidFill>
              <a:srgbClr val="800000"/>
            </a:solidFill>
            <a:prstDash val="solid"/>
            <a:headEnd type="oval" w="med" len="med"/>
            <a:tailEnd type="oval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6" name="Group 63"/>
          <p:cNvGrpSpPr/>
          <p:nvPr/>
        </p:nvGrpSpPr>
        <p:grpSpPr>
          <a:xfrm>
            <a:off x="0" y="228600"/>
            <a:ext cx="9144000" cy="2684463"/>
            <a:chOff x="0" y="144"/>
            <a:chExt cx="5760" cy="1691"/>
          </a:xfrm>
        </p:grpSpPr>
        <p:sp>
          <p:nvSpPr>
            <p:cNvPr id="8198" name="Rectangle 2"/>
            <p:cNvSpPr/>
            <p:nvPr/>
          </p:nvSpPr>
          <p:spPr>
            <a:xfrm>
              <a:off x="288" y="144"/>
              <a:ext cx="21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三 最小生成树问题</a:t>
              </a:r>
              <a:r>
                <a:rPr lang="zh-CN" altLang="en-US" sz="2800" dirty="0"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28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199" name="Rectangle 5"/>
            <p:cNvSpPr/>
            <p:nvPr/>
          </p:nvSpPr>
          <p:spPr>
            <a:xfrm>
              <a:off x="0" y="432"/>
              <a:ext cx="5760" cy="14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  如果图         是图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G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的一个生成树，那么称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E</a:t>
              </a:r>
              <a:r>
                <a:rPr lang="en-US" altLang="zh-CN" sz="2800" b="1" i="1" baseline="-30000" dirty="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上所有边的权的和为生成树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T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的权，记作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S(T)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。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如果图</a:t>
              </a:r>
              <a:r>
                <a:rPr lang="en-US" altLang="zh-CN" sz="2800" b="1" i="1" dirty="0">
                  <a:latin typeface="楷体_GB2312" pitchFamily="49" charset="-122"/>
                  <a:ea typeface="楷体_GB2312" pitchFamily="49" charset="-122"/>
                </a:rPr>
                <a:t>G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的生成树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T*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的权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S(T*)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在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G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的所有生成树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T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中的权最小，即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algn="just"/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  <a:p>
              <a:pPr algn="just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那么称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T*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是</a:t>
              </a:r>
              <a:r>
                <a:rPr lang="en-US" altLang="zh-CN" sz="2800" b="1" i="1" dirty="0">
                  <a:latin typeface="Times New Roman" panose="02020603050405020304" pitchFamily="18" charset="0"/>
                  <a:ea typeface="楷体_GB2312" pitchFamily="49" charset="-122"/>
                </a:rPr>
                <a:t>G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的最小生成树。 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8194" name="Object 4"/>
            <p:cNvGraphicFramePr/>
            <p:nvPr/>
          </p:nvGraphicFramePr>
          <p:xfrm>
            <a:off x="1248" y="475"/>
            <a:ext cx="878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773430" imgH="215900" progId="Equation.3">
                    <p:embed/>
                  </p:oleObj>
                </mc:Choice>
                <mc:Fallback>
                  <p:oleObj name="" r:id="rId1" imgW="773430" imgH="2159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48" y="475"/>
                          <a:ext cx="878" cy="2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" name="Object 3"/>
            <p:cNvGraphicFramePr/>
            <p:nvPr/>
          </p:nvGraphicFramePr>
          <p:xfrm>
            <a:off x="3360" y="1344"/>
            <a:ext cx="1728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1168400" imgH="279400" progId="Equation.3">
                    <p:embed/>
                  </p:oleObj>
                </mc:Choice>
                <mc:Fallback>
                  <p:oleObj name="" r:id="rId3" imgW="1168400" imgH="2794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60" y="1344"/>
                          <a:ext cx="1728" cy="4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7" name="Rectangle 7"/>
          <p:cNvSpPr/>
          <p:nvPr/>
        </p:nvSpPr>
        <p:spPr>
          <a:xfrm>
            <a:off x="0" y="3200400"/>
            <a:ext cx="914400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许多网络问题都可以归结为最小树问题。例如，设计长度最小的公路网把若干城市联系起来；设计用料最省的电话网把有关单位联系起来等。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0962" name="Group 63"/>
          <p:cNvGrpSpPr/>
          <p:nvPr/>
        </p:nvGrpSpPr>
        <p:grpSpPr>
          <a:xfrm>
            <a:off x="0" y="571500"/>
            <a:ext cx="9144000" cy="2000250"/>
            <a:chOff x="0" y="999"/>
            <a:chExt cx="5760" cy="428"/>
          </a:xfrm>
        </p:grpSpPr>
        <p:sp>
          <p:nvSpPr>
            <p:cNvPr id="41010" name="Rectangle 2"/>
            <p:cNvSpPr/>
            <p:nvPr/>
          </p:nvSpPr>
          <p:spPr>
            <a:xfrm>
              <a:off x="225" y="999"/>
              <a:ext cx="241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算法 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1 Kruskal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算法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1011" name="Rectangle 5"/>
            <p:cNvSpPr/>
            <p:nvPr/>
          </p:nvSpPr>
          <p:spPr>
            <a:xfrm>
              <a:off x="0" y="1159"/>
              <a:ext cx="5760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/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   每步从未选边中选取边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e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，使它与已选边不构成圈，且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e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是未选边中的最小权边，直到选够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n-1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条边为止。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40963" name="Rectangle 7"/>
          <p:cNvSpPr/>
          <p:nvPr/>
        </p:nvSpPr>
        <p:spPr>
          <a:xfrm>
            <a:off x="0" y="2786063"/>
            <a:ext cx="91440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例 某六个城市之间的道路网如图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所示，要求沿着已知长度的道路联结六个城市的电话线网，使电话线的总长度最短。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0964" name="Group 66"/>
          <p:cNvGrpSpPr/>
          <p:nvPr/>
        </p:nvGrpSpPr>
        <p:grpSpPr>
          <a:xfrm>
            <a:off x="1063625" y="4343400"/>
            <a:ext cx="3813175" cy="2054225"/>
            <a:chOff x="670" y="2736"/>
            <a:chExt cx="2402" cy="1294"/>
          </a:xfrm>
        </p:grpSpPr>
        <p:sp>
          <p:nvSpPr>
            <p:cNvPr id="40986" name="Line 13"/>
            <p:cNvSpPr>
              <a:spLocks noChangeAspect="1"/>
            </p:cNvSpPr>
            <p:nvPr/>
          </p:nvSpPr>
          <p:spPr>
            <a:xfrm>
              <a:off x="1383" y="3763"/>
              <a:ext cx="7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87" name="Line 15"/>
            <p:cNvSpPr>
              <a:spLocks noChangeAspect="1"/>
            </p:cNvSpPr>
            <p:nvPr/>
          </p:nvSpPr>
          <p:spPr>
            <a:xfrm>
              <a:off x="1383" y="3020"/>
              <a:ext cx="7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88" name="Line 16"/>
            <p:cNvSpPr>
              <a:spLocks noChangeAspect="1"/>
            </p:cNvSpPr>
            <p:nvPr/>
          </p:nvSpPr>
          <p:spPr>
            <a:xfrm>
              <a:off x="1383" y="3020"/>
              <a:ext cx="0" cy="7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89" name="Line 17"/>
            <p:cNvSpPr>
              <a:spLocks noChangeAspect="1"/>
            </p:cNvSpPr>
            <p:nvPr/>
          </p:nvSpPr>
          <p:spPr>
            <a:xfrm flipV="1">
              <a:off x="2118" y="3020"/>
              <a:ext cx="0" cy="7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90" name="Line 18"/>
            <p:cNvSpPr>
              <a:spLocks noChangeAspect="1"/>
            </p:cNvSpPr>
            <p:nvPr/>
          </p:nvSpPr>
          <p:spPr>
            <a:xfrm>
              <a:off x="2118" y="3020"/>
              <a:ext cx="489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91" name="Line 19"/>
            <p:cNvSpPr>
              <a:spLocks noChangeAspect="1"/>
            </p:cNvSpPr>
            <p:nvPr/>
          </p:nvSpPr>
          <p:spPr>
            <a:xfrm flipH="1">
              <a:off x="2118" y="3338"/>
              <a:ext cx="489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92" name="Line 20"/>
            <p:cNvSpPr>
              <a:spLocks noChangeAspect="1"/>
            </p:cNvSpPr>
            <p:nvPr/>
          </p:nvSpPr>
          <p:spPr>
            <a:xfrm flipH="1" flipV="1">
              <a:off x="894" y="3445"/>
              <a:ext cx="489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93" name="Line 21"/>
            <p:cNvSpPr>
              <a:spLocks noChangeAspect="1"/>
            </p:cNvSpPr>
            <p:nvPr/>
          </p:nvSpPr>
          <p:spPr>
            <a:xfrm flipV="1">
              <a:off x="894" y="3020"/>
              <a:ext cx="489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94" name="Line 22"/>
            <p:cNvSpPr>
              <a:spLocks noChangeAspect="1"/>
            </p:cNvSpPr>
            <p:nvPr/>
          </p:nvSpPr>
          <p:spPr>
            <a:xfrm flipV="1">
              <a:off x="1383" y="3020"/>
              <a:ext cx="735" cy="7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95" name="Text Box 23"/>
            <p:cNvSpPr txBox="1">
              <a:spLocks noChangeAspect="1"/>
            </p:cNvSpPr>
            <p:nvPr/>
          </p:nvSpPr>
          <p:spPr>
            <a:xfrm>
              <a:off x="670" y="3191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96" name="Text Box 24"/>
            <p:cNvSpPr txBox="1">
              <a:spLocks noChangeAspect="1"/>
            </p:cNvSpPr>
            <p:nvPr/>
          </p:nvSpPr>
          <p:spPr>
            <a:xfrm>
              <a:off x="1261" y="371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97" name="Text Box 25"/>
            <p:cNvSpPr txBox="1">
              <a:spLocks noChangeAspect="1"/>
            </p:cNvSpPr>
            <p:nvPr/>
          </p:nvSpPr>
          <p:spPr>
            <a:xfrm>
              <a:off x="1241" y="2736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98" name="Text Box 26"/>
            <p:cNvSpPr txBox="1">
              <a:spLocks noChangeAspect="1"/>
            </p:cNvSpPr>
            <p:nvPr/>
          </p:nvSpPr>
          <p:spPr>
            <a:xfrm>
              <a:off x="1955" y="371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99" name="Text Box 27"/>
            <p:cNvSpPr txBox="1">
              <a:spLocks noChangeAspect="1"/>
            </p:cNvSpPr>
            <p:nvPr/>
          </p:nvSpPr>
          <p:spPr>
            <a:xfrm>
              <a:off x="1975" y="2736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0" name="Text Box 28"/>
            <p:cNvSpPr txBox="1">
              <a:spLocks noChangeAspect="1"/>
            </p:cNvSpPr>
            <p:nvPr/>
          </p:nvSpPr>
          <p:spPr>
            <a:xfrm>
              <a:off x="2644" y="3187"/>
              <a:ext cx="428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1" name="Text Box 29"/>
            <p:cNvSpPr txBox="1">
              <a:spLocks noChangeAspect="1"/>
            </p:cNvSpPr>
            <p:nvPr/>
          </p:nvSpPr>
          <p:spPr>
            <a:xfrm>
              <a:off x="955" y="3020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6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2" name="Text Box 30"/>
            <p:cNvSpPr txBox="1">
              <a:spLocks noChangeAspect="1"/>
            </p:cNvSpPr>
            <p:nvPr/>
          </p:nvSpPr>
          <p:spPr>
            <a:xfrm>
              <a:off x="905" y="351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3" name="Text Box 31"/>
            <p:cNvSpPr txBox="1">
              <a:spLocks noChangeAspect="1"/>
            </p:cNvSpPr>
            <p:nvPr/>
          </p:nvSpPr>
          <p:spPr>
            <a:xfrm>
              <a:off x="1190" y="3232"/>
              <a:ext cx="245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1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4" name="Text Box 32"/>
            <p:cNvSpPr txBox="1">
              <a:spLocks noChangeAspect="1"/>
            </p:cNvSpPr>
            <p:nvPr/>
          </p:nvSpPr>
          <p:spPr>
            <a:xfrm>
              <a:off x="1628" y="2777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5" name="Text Box 33"/>
            <p:cNvSpPr txBox="1">
              <a:spLocks noChangeAspect="1"/>
            </p:cNvSpPr>
            <p:nvPr/>
          </p:nvSpPr>
          <p:spPr>
            <a:xfrm>
              <a:off x="1506" y="323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7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6" name="Text Box 34"/>
            <p:cNvSpPr txBox="1">
              <a:spLocks noChangeAspect="1"/>
            </p:cNvSpPr>
            <p:nvPr/>
          </p:nvSpPr>
          <p:spPr>
            <a:xfrm>
              <a:off x="1598" y="3530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7" name="Text Box 35"/>
            <p:cNvSpPr txBox="1">
              <a:spLocks noChangeAspect="1"/>
            </p:cNvSpPr>
            <p:nvPr/>
          </p:nvSpPr>
          <p:spPr>
            <a:xfrm>
              <a:off x="1914" y="3236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8" name="Text Box 36"/>
            <p:cNvSpPr txBox="1">
              <a:spLocks noChangeAspect="1"/>
            </p:cNvSpPr>
            <p:nvPr/>
          </p:nvSpPr>
          <p:spPr>
            <a:xfrm>
              <a:off x="2271" y="2954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1009" name="Text Box 37"/>
            <p:cNvSpPr txBox="1">
              <a:spLocks noChangeAspect="1"/>
            </p:cNvSpPr>
            <p:nvPr/>
          </p:nvSpPr>
          <p:spPr>
            <a:xfrm>
              <a:off x="2301" y="352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69"/>
          <p:cNvGrpSpPr/>
          <p:nvPr/>
        </p:nvGrpSpPr>
        <p:grpSpPr>
          <a:xfrm>
            <a:off x="5243513" y="5486400"/>
            <a:ext cx="776287" cy="582613"/>
            <a:chOff x="3303" y="3456"/>
            <a:chExt cx="489" cy="367"/>
          </a:xfrm>
        </p:grpSpPr>
        <p:sp>
          <p:nvSpPr>
            <p:cNvPr id="40984" name="Line 47"/>
            <p:cNvSpPr>
              <a:spLocks noChangeAspect="1"/>
            </p:cNvSpPr>
            <p:nvPr/>
          </p:nvSpPr>
          <p:spPr>
            <a:xfrm flipH="1" flipV="1">
              <a:off x="3303" y="3456"/>
              <a:ext cx="489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85" name="Text Box 54"/>
            <p:cNvSpPr txBox="1">
              <a:spLocks noChangeAspect="1"/>
            </p:cNvSpPr>
            <p:nvPr/>
          </p:nvSpPr>
          <p:spPr>
            <a:xfrm>
              <a:off x="3312" y="3504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67"/>
          <p:cNvGrpSpPr/>
          <p:nvPr/>
        </p:nvGrpSpPr>
        <p:grpSpPr>
          <a:xfrm>
            <a:off x="4916488" y="4495800"/>
            <a:ext cx="3529012" cy="1924050"/>
            <a:chOff x="3097" y="2832"/>
            <a:chExt cx="2223" cy="1212"/>
          </a:xfrm>
        </p:grpSpPr>
        <p:sp>
          <p:nvSpPr>
            <p:cNvPr id="40970" name="Line 43"/>
            <p:cNvSpPr>
              <a:spLocks noChangeAspect="1"/>
            </p:cNvSpPr>
            <p:nvPr/>
          </p:nvSpPr>
          <p:spPr>
            <a:xfrm>
              <a:off x="3780" y="3767"/>
              <a:ext cx="73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71" name="Line 44"/>
            <p:cNvSpPr>
              <a:spLocks noChangeAspect="1"/>
            </p:cNvSpPr>
            <p:nvPr/>
          </p:nvSpPr>
          <p:spPr>
            <a:xfrm>
              <a:off x="3780" y="3024"/>
              <a:ext cx="0" cy="7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72" name="Line 45"/>
            <p:cNvSpPr>
              <a:spLocks noChangeAspect="1"/>
            </p:cNvSpPr>
            <p:nvPr/>
          </p:nvSpPr>
          <p:spPr>
            <a:xfrm flipV="1">
              <a:off x="4515" y="3024"/>
              <a:ext cx="0" cy="74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73" name="Line 46"/>
            <p:cNvSpPr>
              <a:spLocks noChangeAspect="1"/>
            </p:cNvSpPr>
            <p:nvPr/>
          </p:nvSpPr>
          <p:spPr>
            <a:xfrm flipH="1">
              <a:off x="4515" y="3342"/>
              <a:ext cx="489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74" name="Text Box 48"/>
            <p:cNvSpPr txBox="1">
              <a:spLocks noChangeAspect="1"/>
            </p:cNvSpPr>
            <p:nvPr/>
          </p:nvSpPr>
          <p:spPr>
            <a:xfrm>
              <a:off x="3097" y="3205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5" name="Text Box 49"/>
            <p:cNvSpPr txBox="1">
              <a:spLocks noChangeAspect="1"/>
            </p:cNvSpPr>
            <p:nvPr/>
          </p:nvSpPr>
          <p:spPr>
            <a:xfrm>
              <a:off x="3637" y="3715"/>
              <a:ext cx="368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6" name="Text Box 50"/>
            <p:cNvSpPr txBox="1">
              <a:spLocks noChangeAspect="1"/>
            </p:cNvSpPr>
            <p:nvPr/>
          </p:nvSpPr>
          <p:spPr>
            <a:xfrm>
              <a:off x="3515" y="283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7" name="Text Box 51"/>
            <p:cNvSpPr txBox="1">
              <a:spLocks noChangeAspect="1"/>
            </p:cNvSpPr>
            <p:nvPr/>
          </p:nvSpPr>
          <p:spPr>
            <a:xfrm>
              <a:off x="4372" y="3726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8" name="Text Box 52"/>
            <p:cNvSpPr txBox="1">
              <a:spLocks noChangeAspect="1"/>
            </p:cNvSpPr>
            <p:nvPr/>
          </p:nvSpPr>
          <p:spPr>
            <a:xfrm>
              <a:off x="4239" y="2856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79" name="Text Box 53"/>
            <p:cNvSpPr txBox="1">
              <a:spLocks noChangeAspect="1"/>
            </p:cNvSpPr>
            <p:nvPr/>
          </p:nvSpPr>
          <p:spPr>
            <a:xfrm>
              <a:off x="4953" y="3120"/>
              <a:ext cx="367" cy="4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80" name="Text Box 55"/>
            <p:cNvSpPr txBox="1">
              <a:spLocks noChangeAspect="1"/>
            </p:cNvSpPr>
            <p:nvPr/>
          </p:nvSpPr>
          <p:spPr>
            <a:xfrm>
              <a:off x="3566" y="3195"/>
              <a:ext cx="245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1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81" name="Text Box 56"/>
            <p:cNvSpPr txBox="1">
              <a:spLocks noChangeAspect="1"/>
            </p:cNvSpPr>
            <p:nvPr/>
          </p:nvSpPr>
          <p:spPr>
            <a:xfrm>
              <a:off x="3954" y="3499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82" name="Text Box 57"/>
            <p:cNvSpPr txBox="1">
              <a:spLocks noChangeAspect="1"/>
            </p:cNvSpPr>
            <p:nvPr/>
          </p:nvSpPr>
          <p:spPr>
            <a:xfrm>
              <a:off x="4300" y="3171"/>
              <a:ext cx="367" cy="4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0983" name="Text Box 58"/>
            <p:cNvSpPr txBox="1">
              <a:spLocks noChangeAspect="1"/>
            </p:cNvSpPr>
            <p:nvPr/>
          </p:nvSpPr>
          <p:spPr>
            <a:xfrm>
              <a:off x="4721" y="347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68"/>
          <p:cNvGrpSpPr/>
          <p:nvPr/>
        </p:nvGrpSpPr>
        <p:grpSpPr>
          <a:xfrm>
            <a:off x="7162800" y="4724400"/>
            <a:ext cx="887413" cy="581025"/>
            <a:chOff x="4512" y="2976"/>
            <a:chExt cx="559" cy="366"/>
          </a:xfrm>
        </p:grpSpPr>
        <p:sp>
          <p:nvSpPr>
            <p:cNvPr id="40968" name="Line 64"/>
            <p:cNvSpPr>
              <a:spLocks noChangeAspect="1"/>
            </p:cNvSpPr>
            <p:nvPr/>
          </p:nvSpPr>
          <p:spPr>
            <a:xfrm>
              <a:off x="4512" y="3024"/>
              <a:ext cx="489" cy="31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0969" name="Text Box 65"/>
            <p:cNvSpPr txBox="1">
              <a:spLocks noChangeAspect="1"/>
            </p:cNvSpPr>
            <p:nvPr/>
          </p:nvSpPr>
          <p:spPr>
            <a:xfrm>
              <a:off x="4704" y="2976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986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00250"/>
            <a:ext cx="9144000" cy="185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Rectangle 2"/>
          <p:cNvSpPr/>
          <p:nvPr/>
        </p:nvSpPr>
        <p:spPr>
          <a:xfrm>
            <a:off x="457200" y="857250"/>
            <a:ext cx="38290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算法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破圈法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2938"/>
            <a:ext cx="9144000" cy="4429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357438"/>
            <a:ext cx="4643438" cy="342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0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2938"/>
            <a:ext cx="9144000" cy="1928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857500"/>
            <a:ext cx="7858125" cy="3643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4375"/>
            <a:ext cx="9144000" cy="5000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43063"/>
            <a:ext cx="9144000" cy="2928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063"/>
            <a:ext cx="9144000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4548188"/>
            <a:ext cx="8572500" cy="523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9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86375"/>
            <a:ext cx="9144000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0"/>
          <p:cNvGrpSpPr/>
          <p:nvPr/>
        </p:nvGrpSpPr>
        <p:grpSpPr>
          <a:xfrm>
            <a:off x="522288" y="1123950"/>
            <a:ext cx="8153400" cy="2533650"/>
            <a:chOff x="329" y="228"/>
            <a:chExt cx="5136" cy="1596"/>
          </a:xfrm>
        </p:grpSpPr>
        <p:sp>
          <p:nvSpPr>
            <p:cNvPr id="9230" name="Rectangle 19"/>
            <p:cNvSpPr/>
            <p:nvPr/>
          </p:nvSpPr>
          <p:spPr>
            <a:xfrm>
              <a:off x="329" y="228"/>
              <a:ext cx="5136" cy="15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276225"/>
              <a:r>
                <a:rPr lang="zh-CN" altLang="en-US" dirty="0">
                  <a:latin typeface="Times New Roman" panose="02020603050405020304" pitchFamily="18" charset="0"/>
                </a:rPr>
                <a:t>              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76225" eaLnBrk="0" hangingPunct="0"/>
              <a:r>
                <a:rPr lang="zh-CN" altLang="en-US" dirty="0">
                  <a:latin typeface="Times New Roman" panose="02020603050405020304" pitchFamily="18" charset="0"/>
                </a:rPr>
                <a:t>最短路的一般提法为：设                  为连通图，图中各边 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76225" eaLnBrk="0" hangingPunct="0"/>
              <a:r>
                <a:rPr lang="zh-CN" altLang="en-US" dirty="0">
                  <a:latin typeface="Times New Roman" panose="02020603050405020304" pitchFamily="18" charset="0"/>
                </a:rPr>
                <a:t>           有权   （                  表示          之间没有边），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76225" eaLnBrk="0" hangingPunct="0"/>
              <a:r>
                <a:rPr lang="zh-CN" altLang="en-US" dirty="0">
                  <a:latin typeface="Times New Roman" panose="02020603050405020304" pitchFamily="18" charset="0"/>
                </a:rPr>
                <a:t>为图中任意两点，求一条路     ，使它为从   到      的所有路中总权最短。即：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76225" eaLnBrk="0" hangingPunct="0"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                                                   最小。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18" name="Object 18"/>
            <p:cNvGraphicFramePr/>
            <p:nvPr/>
          </p:nvGraphicFramePr>
          <p:xfrm>
            <a:off x="2640" y="480"/>
            <a:ext cx="82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" imgW="723900" imgH="203200" progId="Equation.3">
                    <p:embed/>
                  </p:oleObj>
                </mc:Choice>
                <mc:Fallback>
                  <p:oleObj name="" r:id="rId1" imgW="723900" imgH="2032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40" y="480"/>
                          <a:ext cx="820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19" name="Object 16"/>
            <p:cNvGraphicFramePr/>
            <p:nvPr/>
          </p:nvGraphicFramePr>
          <p:xfrm>
            <a:off x="1488" y="687"/>
            <a:ext cx="20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3" imgW="177800" imgH="241300" progId="Equation.3">
                    <p:embed/>
                  </p:oleObj>
                </mc:Choice>
                <mc:Fallback>
                  <p:oleObj name="" r:id="rId3" imgW="177800" imgH="2413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88" y="687"/>
                          <a:ext cx="201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" name="Object 15"/>
            <p:cNvGraphicFramePr/>
            <p:nvPr/>
          </p:nvGraphicFramePr>
          <p:xfrm>
            <a:off x="1968" y="687"/>
            <a:ext cx="6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5" imgW="546100" imgH="241300" progId="Equation.3">
                    <p:embed/>
                  </p:oleObj>
                </mc:Choice>
                <mc:Fallback>
                  <p:oleObj name="" r:id="rId5" imgW="546100" imgH="2413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68" y="687"/>
                          <a:ext cx="619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1" name="Object 13"/>
            <p:cNvGraphicFramePr/>
            <p:nvPr/>
          </p:nvGraphicFramePr>
          <p:xfrm>
            <a:off x="4800" y="672"/>
            <a:ext cx="41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7" imgW="368300" imgH="228600" progId="Equation.3">
                    <p:embed/>
                  </p:oleObj>
                </mc:Choice>
                <mc:Fallback>
                  <p:oleObj name="" r:id="rId7" imgW="368300" imgH="2286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00" y="672"/>
                          <a:ext cx="417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2" name="Object 12"/>
            <p:cNvGraphicFramePr/>
            <p:nvPr/>
          </p:nvGraphicFramePr>
          <p:xfrm>
            <a:off x="2880" y="965"/>
            <a:ext cx="173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9" imgW="152400" imgH="165100" progId="Equation.3">
                    <p:embed/>
                  </p:oleObj>
                </mc:Choice>
                <mc:Fallback>
                  <p:oleObj name="" r:id="rId9" imgW="152400" imgH="1651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880" y="965"/>
                          <a:ext cx="173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3" name="Object 11"/>
            <p:cNvGraphicFramePr/>
            <p:nvPr/>
          </p:nvGraphicFramePr>
          <p:xfrm>
            <a:off x="4032" y="912"/>
            <a:ext cx="18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1" imgW="165100" imgH="228600" progId="Equation.3">
                    <p:embed/>
                  </p:oleObj>
                </mc:Choice>
                <mc:Fallback>
                  <p:oleObj name="" r:id="rId11" imgW="165100" imgH="2286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32" y="912"/>
                          <a:ext cx="187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10"/>
            <p:cNvGraphicFramePr/>
            <p:nvPr/>
          </p:nvGraphicFramePr>
          <p:xfrm>
            <a:off x="476" y="672"/>
            <a:ext cx="532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3" imgW="469900" imgH="241300" progId="Equation.3">
                    <p:embed/>
                  </p:oleObj>
                </mc:Choice>
                <mc:Fallback>
                  <p:oleObj name="" r:id="rId13" imgW="469900" imgH="2413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6" y="672"/>
                          <a:ext cx="532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7"/>
            <p:cNvGraphicFramePr/>
            <p:nvPr/>
          </p:nvGraphicFramePr>
          <p:xfrm>
            <a:off x="3120" y="672"/>
            <a:ext cx="38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5" imgW="342900" imgH="241300" progId="Equation.3">
                    <p:embed/>
                  </p:oleObj>
                </mc:Choice>
                <mc:Fallback>
                  <p:oleObj name="" r:id="rId15" imgW="342900" imgH="2413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20" y="672"/>
                          <a:ext cx="389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3"/>
            <p:cNvGraphicFramePr/>
            <p:nvPr/>
          </p:nvGraphicFramePr>
          <p:xfrm>
            <a:off x="4416" y="912"/>
            <a:ext cx="17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7" imgW="152400" imgH="228600" progId="Equation.3">
                    <p:embed/>
                  </p:oleObj>
                </mc:Choice>
                <mc:Fallback>
                  <p:oleObj name="" r:id="rId17" imgW="152400" imgH="2286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416" y="912"/>
                          <a:ext cx="173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2"/>
            <p:cNvGraphicFramePr/>
            <p:nvPr/>
          </p:nvGraphicFramePr>
          <p:xfrm>
            <a:off x="1776" y="1392"/>
            <a:ext cx="107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9" imgW="951865" imgH="381000" progId="Equation.3">
                    <p:embed/>
                  </p:oleObj>
                </mc:Choice>
                <mc:Fallback>
                  <p:oleObj name="" r:id="rId19" imgW="951865" imgH="3810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776" y="1392"/>
                          <a:ext cx="1079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9" name="Rectangle 25"/>
          <p:cNvSpPr/>
          <p:nvPr/>
        </p:nvSpPr>
        <p:spPr>
          <a:xfrm>
            <a:off x="1219200" y="381000"/>
            <a:ext cx="3581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三 、最短路问题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29" name="Rectangle 25"/>
          <p:cNvSpPr/>
          <p:nvPr/>
        </p:nvSpPr>
        <p:spPr>
          <a:xfrm>
            <a:off x="1219200" y="381000"/>
            <a:ext cx="3581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三 、最短路问题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8131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28750"/>
            <a:ext cx="9144000" cy="3563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247" name="Group 15"/>
          <p:cNvGrpSpPr/>
          <p:nvPr/>
        </p:nvGrpSpPr>
        <p:grpSpPr>
          <a:xfrm>
            <a:off x="468313" y="1979613"/>
            <a:ext cx="8153400" cy="4400550"/>
            <a:chOff x="295" y="381"/>
            <a:chExt cx="5136" cy="2772"/>
          </a:xfrm>
        </p:grpSpPr>
        <p:sp>
          <p:nvSpPr>
            <p:cNvPr id="10249" name="Rectangle 14"/>
            <p:cNvSpPr/>
            <p:nvPr/>
          </p:nvSpPr>
          <p:spPr>
            <a:xfrm>
              <a:off x="295" y="381"/>
              <a:ext cx="5136" cy="27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indent="262255"/>
              <a:r>
                <a:rPr lang="zh-CN" altLang="en-US" b="1" dirty="0">
                  <a:latin typeface="Times New Roman" panose="02020603050405020304" pitchFamily="18" charset="0"/>
                </a:rPr>
                <a:t>算法步骤：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1.给始点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以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zh-CN" altLang="en-US" dirty="0">
                  <a:latin typeface="Times New Roman" panose="02020603050405020304" pitchFamily="18" charset="0"/>
                </a:rPr>
                <a:t>标号               ，这表示从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zh-CN" altLang="en-US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s</a:t>
              </a:r>
              <a:r>
                <a:rPr lang="zh-CN" altLang="en-US" dirty="0">
                  <a:latin typeface="Times New Roman" panose="02020603050405020304" pitchFamily="18" charset="0"/>
                </a:rPr>
                <a:t>的最短距离为0，其余节点均给</a:t>
              </a:r>
              <a:r>
                <a:rPr lang="en-US" altLang="zh-CN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标号，                                        。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>
                <a:lnSpc>
                  <a:spcPct val="11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2.设节点 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i="1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为刚得到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zh-CN" altLang="en-US" dirty="0">
                  <a:latin typeface="Times New Roman" panose="02020603050405020304" pitchFamily="18" charset="0"/>
                </a:rPr>
                <a:t>标号的点，考虑点</a:t>
              </a:r>
              <a:r>
                <a:rPr lang="en-US" altLang="zh-CN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dirty="0">
                  <a:latin typeface="Times New Roman" panose="02020603050405020304" pitchFamily="18" charset="0"/>
                </a:rPr>
                <a:t>，</a:t>
              </a:r>
              <a:r>
                <a:rPr lang="zh-CN" altLang="en-US" dirty="0">
                  <a:latin typeface="Times New Roman" panose="02020603050405020304" pitchFamily="18" charset="0"/>
                </a:rPr>
                <a:t>其中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>
                <a:lnSpc>
                  <a:spcPct val="11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                      ，且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</a:rPr>
                <a:t>为</a:t>
              </a:r>
              <a:r>
                <a:rPr lang="en-US" altLang="zh-CN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标号。对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en-US" altLang="zh-CN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标号进行如下修改：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3.比较所有具有</a:t>
              </a:r>
              <a:r>
                <a:rPr lang="en-US" altLang="zh-CN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标号的节点，把最小者改为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zh-CN" altLang="en-US" dirty="0">
                  <a:latin typeface="Times New Roman" panose="02020603050405020304" pitchFamily="18" charset="0"/>
                </a:rPr>
                <a:t>标号，即：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         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indent="262255" eaLnBrk="0" hangingPunct="0">
                <a:lnSpc>
                  <a:spcPct val="11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当存在两个以上最小者时，可同时改为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zh-CN" altLang="en-US" dirty="0">
                  <a:latin typeface="Times New Roman" panose="02020603050405020304" pitchFamily="18" charset="0"/>
                </a:rPr>
                <a:t>标号。若全部节点均为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zh-CN" altLang="en-US" dirty="0">
                  <a:latin typeface="Times New Roman" panose="02020603050405020304" pitchFamily="18" charset="0"/>
                </a:rPr>
                <a:t>标号，则停止，否则用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k</a:t>
              </a:r>
              <a:r>
                <a:rPr lang="zh-CN" altLang="en-US" dirty="0">
                  <a:latin typeface="Times New Roman" panose="02020603050405020304" pitchFamily="18" charset="0"/>
                </a:rPr>
                <a:t>代替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，</a:t>
              </a:r>
              <a:r>
                <a:rPr lang="zh-CN" altLang="en-US" dirty="0">
                  <a:latin typeface="Times New Roman" panose="02020603050405020304" pitchFamily="18" charset="0"/>
                </a:rPr>
                <a:t>返回步骤（2）。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42" name="Object 13"/>
            <p:cNvGraphicFramePr/>
            <p:nvPr/>
          </p:nvGraphicFramePr>
          <p:xfrm>
            <a:off x="2112" y="624"/>
            <a:ext cx="705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" imgW="622300" imgH="228600" progId="Equation.3">
                    <p:embed/>
                  </p:oleObj>
                </mc:Choice>
                <mc:Fallback>
                  <p:oleObj name="" r:id="rId1" imgW="622300" imgH="2286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12" y="624"/>
                          <a:ext cx="705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3" name="Object 12"/>
            <p:cNvGraphicFramePr/>
            <p:nvPr/>
          </p:nvGraphicFramePr>
          <p:xfrm>
            <a:off x="2668" y="893"/>
            <a:ext cx="1901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3" imgW="1676400" imgH="228600" progId="Equation.3">
                    <p:embed/>
                  </p:oleObj>
                </mc:Choice>
                <mc:Fallback>
                  <p:oleObj name="" r:id="rId3" imgW="1676400" imgH="2286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68" y="893"/>
                          <a:ext cx="1901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4" name="Object 9"/>
            <p:cNvGraphicFramePr/>
            <p:nvPr/>
          </p:nvGraphicFramePr>
          <p:xfrm>
            <a:off x="720" y="1407"/>
            <a:ext cx="8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5" imgW="748665" imgH="241300" progId="Equation.3">
                    <p:embed/>
                  </p:oleObj>
                </mc:Choice>
                <mc:Fallback>
                  <p:oleObj name="" r:id="rId5" imgW="748665" imgH="2413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20" y="1407"/>
                          <a:ext cx="849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" name="Object 5"/>
            <p:cNvGraphicFramePr/>
            <p:nvPr/>
          </p:nvGraphicFramePr>
          <p:xfrm>
            <a:off x="1584" y="1694"/>
            <a:ext cx="218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7" imgW="1930400" imgH="241300" progId="Equation.3">
                    <p:embed/>
                  </p:oleObj>
                </mc:Choice>
                <mc:Fallback>
                  <p:oleObj name="" r:id="rId7" imgW="1930400" imgH="2413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84" y="1694"/>
                          <a:ext cx="2188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6" name="Object 4"/>
            <p:cNvGraphicFramePr/>
            <p:nvPr/>
          </p:nvGraphicFramePr>
          <p:xfrm>
            <a:off x="1632" y="2282"/>
            <a:ext cx="1368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9" imgW="1206500" imgH="228600" progId="Equation.3">
                    <p:embed/>
                  </p:oleObj>
                </mc:Choice>
                <mc:Fallback>
                  <p:oleObj name="" r:id="rId9" imgW="1206500" imgH="2286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32" y="2282"/>
                          <a:ext cx="1368" cy="2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24"/>
          <p:cNvSpPr/>
          <p:nvPr/>
        </p:nvSpPr>
        <p:spPr>
          <a:xfrm>
            <a:off x="395288" y="549275"/>
            <a:ext cx="8382000" cy="9413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2255"/>
            <a:r>
              <a:rPr lang="zh-CN" altLang="en-US" b="1" dirty="0">
                <a:latin typeface="Times New Roman" panose="02020603050405020304" pitchFamily="18" charset="0"/>
              </a:rPr>
              <a:t>(一)、  </a:t>
            </a:r>
            <a:r>
              <a:rPr lang="en-US" altLang="zh-CN" b="1" dirty="0">
                <a:latin typeface="Times New Roman" panose="02020603050405020304" pitchFamily="18" charset="0"/>
                <a:ea typeface="华文彩云" panose="02010800040101010101" pitchFamily="2" charset="-122"/>
              </a:rPr>
              <a:t>Dijkstra</a:t>
            </a:r>
            <a:r>
              <a:rPr lang="zh-CN" altLang="en-US" b="1" dirty="0">
                <a:latin typeface="Times New Roman" panose="02020603050405020304" pitchFamily="18" charset="0"/>
              </a:rPr>
              <a:t>算法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indent="262255" algn="just" eaLnBrk="0" hangingPunct="0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适用于</a:t>
            </a:r>
            <a:r>
              <a:rPr lang="en-US" altLang="zh-CN" b="1" i="1" dirty="0">
                <a:latin typeface="Times New Roman" panose="02020603050405020304" pitchFamily="18" charset="0"/>
              </a:rPr>
              <a:t>w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ij</a:t>
            </a:r>
            <a:r>
              <a:rPr lang="en-US" altLang="zh-CN" b="1" dirty="0">
                <a:latin typeface="Times New Roman" panose="02020603050405020304" pitchFamily="18" charset="0"/>
              </a:rPr>
              <a:t>≥0</a:t>
            </a:r>
            <a:r>
              <a:rPr lang="zh-CN" altLang="en-US" dirty="0">
                <a:latin typeface="Times New Roman" panose="02020603050405020304" pitchFamily="18" charset="0"/>
              </a:rPr>
              <a:t>，给出了从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到任意一个点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的最短路。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74" name="Rectangle 4"/>
          <p:cNvSpPr/>
          <p:nvPr/>
        </p:nvSpPr>
        <p:spPr>
          <a:xfrm>
            <a:off x="381000" y="381000"/>
            <a:ext cx="7086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例一、      </a:t>
            </a:r>
            <a:r>
              <a:rPr lang="zh-CN" altLang="en-US" dirty="0">
                <a:latin typeface="Times New Roman" panose="02020603050405020304" pitchFamily="18" charset="0"/>
              </a:rPr>
              <a:t>用</a:t>
            </a:r>
            <a:r>
              <a:rPr lang="en-US" altLang="zh-CN" dirty="0">
                <a:latin typeface="Times New Roman" panose="02020603050405020304" pitchFamily="18" charset="0"/>
              </a:rPr>
              <a:t>Dijkstra</a:t>
            </a:r>
            <a:r>
              <a:rPr lang="zh-CN" altLang="en-US" dirty="0">
                <a:latin typeface="Times New Roman" panose="02020603050405020304" pitchFamily="18" charset="0"/>
              </a:rPr>
              <a:t>算法求下图从</a:t>
            </a:r>
            <a:r>
              <a:rPr lang="en-US" altLang="zh-CN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的最短路。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1275" name="Group 36"/>
          <p:cNvGrpSpPr/>
          <p:nvPr/>
        </p:nvGrpSpPr>
        <p:grpSpPr>
          <a:xfrm>
            <a:off x="2133600" y="838200"/>
            <a:ext cx="3886200" cy="2078038"/>
            <a:chOff x="1344" y="737"/>
            <a:chExt cx="2448" cy="1309"/>
          </a:xfrm>
        </p:grpSpPr>
        <p:sp>
          <p:nvSpPr>
            <p:cNvPr id="11280" name="Line 10"/>
            <p:cNvSpPr>
              <a:spLocks noChangeAspect="1"/>
            </p:cNvSpPr>
            <p:nvPr/>
          </p:nvSpPr>
          <p:spPr>
            <a:xfrm flipH="1">
              <a:off x="2079" y="1734"/>
              <a:ext cx="85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1" name="Line 12"/>
            <p:cNvSpPr>
              <a:spLocks noChangeAspect="1"/>
            </p:cNvSpPr>
            <p:nvPr/>
          </p:nvSpPr>
          <p:spPr>
            <a:xfrm>
              <a:off x="2079" y="990"/>
              <a:ext cx="0" cy="7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2" name="Line 13"/>
            <p:cNvSpPr>
              <a:spLocks noChangeAspect="1"/>
            </p:cNvSpPr>
            <p:nvPr/>
          </p:nvSpPr>
          <p:spPr>
            <a:xfrm>
              <a:off x="2079" y="990"/>
              <a:ext cx="85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3" name="Line 14"/>
            <p:cNvSpPr>
              <a:spLocks noChangeAspect="1"/>
            </p:cNvSpPr>
            <p:nvPr/>
          </p:nvSpPr>
          <p:spPr>
            <a:xfrm>
              <a:off x="2936" y="990"/>
              <a:ext cx="0" cy="7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4" name="Line 15"/>
            <p:cNvSpPr>
              <a:spLocks noChangeAspect="1"/>
            </p:cNvSpPr>
            <p:nvPr/>
          </p:nvSpPr>
          <p:spPr>
            <a:xfrm flipH="1" flipV="1">
              <a:off x="1589" y="1415"/>
              <a:ext cx="490" cy="3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5" name="Line 16"/>
            <p:cNvSpPr>
              <a:spLocks noChangeAspect="1"/>
            </p:cNvSpPr>
            <p:nvPr/>
          </p:nvSpPr>
          <p:spPr>
            <a:xfrm flipV="1">
              <a:off x="1589" y="990"/>
              <a:ext cx="490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6" name="Line 17"/>
            <p:cNvSpPr>
              <a:spLocks noChangeAspect="1"/>
            </p:cNvSpPr>
            <p:nvPr/>
          </p:nvSpPr>
          <p:spPr>
            <a:xfrm>
              <a:off x="2936" y="990"/>
              <a:ext cx="490" cy="3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7" name="Line 18"/>
            <p:cNvSpPr>
              <a:spLocks noChangeAspect="1"/>
            </p:cNvSpPr>
            <p:nvPr/>
          </p:nvSpPr>
          <p:spPr>
            <a:xfrm flipH="1">
              <a:off x="2936" y="1309"/>
              <a:ext cx="490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8" name="Line 19"/>
            <p:cNvSpPr>
              <a:spLocks noChangeAspect="1"/>
            </p:cNvSpPr>
            <p:nvPr/>
          </p:nvSpPr>
          <p:spPr>
            <a:xfrm>
              <a:off x="2079" y="990"/>
              <a:ext cx="857" cy="7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1289" name="Text Box 20"/>
            <p:cNvSpPr txBox="1">
              <a:spLocks noChangeAspect="1"/>
            </p:cNvSpPr>
            <p:nvPr/>
          </p:nvSpPr>
          <p:spPr>
            <a:xfrm>
              <a:off x="1344" y="121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0" name="Text Box 21"/>
            <p:cNvSpPr txBox="1">
              <a:spLocks noChangeAspect="1"/>
            </p:cNvSpPr>
            <p:nvPr/>
          </p:nvSpPr>
          <p:spPr>
            <a:xfrm>
              <a:off x="1985" y="73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1" name="Text Box 22"/>
            <p:cNvSpPr txBox="1">
              <a:spLocks noChangeAspect="1"/>
            </p:cNvSpPr>
            <p:nvPr/>
          </p:nvSpPr>
          <p:spPr>
            <a:xfrm>
              <a:off x="1985" y="172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2" name="Text Box 23"/>
            <p:cNvSpPr txBox="1">
              <a:spLocks noChangeAspect="1"/>
            </p:cNvSpPr>
            <p:nvPr/>
          </p:nvSpPr>
          <p:spPr>
            <a:xfrm>
              <a:off x="2849" y="73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3" name="Text Box 24"/>
            <p:cNvSpPr txBox="1">
              <a:spLocks noChangeAspect="1"/>
            </p:cNvSpPr>
            <p:nvPr/>
          </p:nvSpPr>
          <p:spPr>
            <a:xfrm>
              <a:off x="3425" y="116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4" name="Text Box 25"/>
            <p:cNvSpPr txBox="1">
              <a:spLocks noChangeAspect="1"/>
            </p:cNvSpPr>
            <p:nvPr/>
          </p:nvSpPr>
          <p:spPr>
            <a:xfrm>
              <a:off x="2849" y="172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5" name="Text Box 26"/>
            <p:cNvSpPr txBox="1">
              <a:spLocks noChangeAspect="1"/>
            </p:cNvSpPr>
            <p:nvPr/>
          </p:nvSpPr>
          <p:spPr>
            <a:xfrm>
              <a:off x="1696" y="1007"/>
              <a:ext cx="368" cy="4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6" name="Text Box 27"/>
            <p:cNvSpPr txBox="1">
              <a:spLocks noChangeAspect="1"/>
            </p:cNvSpPr>
            <p:nvPr/>
          </p:nvSpPr>
          <p:spPr>
            <a:xfrm>
              <a:off x="1697" y="1554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7" name="Text Box 28"/>
            <p:cNvSpPr txBox="1">
              <a:spLocks noChangeAspect="1"/>
            </p:cNvSpPr>
            <p:nvPr/>
          </p:nvSpPr>
          <p:spPr>
            <a:xfrm>
              <a:off x="2324" y="74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8" name="Text Box 29"/>
            <p:cNvSpPr txBox="1">
              <a:spLocks noChangeAspect="1"/>
            </p:cNvSpPr>
            <p:nvPr/>
          </p:nvSpPr>
          <p:spPr>
            <a:xfrm>
              <a:off x="2436" y="114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99" name="Text Box 30"/>
            <p:cNvSpPr txBox="1">
              <a:spLocks noChangeAspect="1"/>
            </p:cNvSpPr>
            <p:nvPr/>
          </p:nvSpPr>
          <p:spPr>
            <a:xfrm>
              <a:off x="2354" y="1693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0" name="Text Box 31"/>
            <p:cNvSpPr txBox="1">
              <a:spLocks noChangeAspect="1"/>
            </p:cNvSpPr>
            <p:nvPr/>
          </p:nvSpPr>
          <p:spPr>
            <a:xfrm>
              <a:off x="2897" y="1203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1" name="Text Box 32"/>
            <p:cNvSpPr txBox="1">
              <a:spLocks noChangeAspect="1"/>
            </p:cNvSpPr>
            <p:nvPr/>
          </p:nvSpPr>
          <p:spPr>
            <a:xfrm>
              <a:off x="3137" y="97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2" name="Text Box 33"/>
            <p:cNvSpPr txBox="1">
              <a:spLocks noChangeAspect="1"/>
            </p:cNvSpPr>
            <p:nvPr/>
          </p:nvSpPr>
          <p:spPr>
            <a:xfrm>
              <a:off x="3136" y="1505"/>
              <a:ext cx="368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303" name="Text Box 35"/>
            <p:cNvSpPr txBox="1">
              <a:spLocks noChangeAspect="1"/>
            </p:cNvSpPr>
            <p:nvPr/>
          </p:nvSpPr>
          <p:spPr>
            <a:xfrm>
              <a:off x="1937" y="122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1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3622" name="Rectangle 70"/>
          <p:cNvSpPr/>
          <p:nvPr/>
        </p:nvSpPr>
        <p:spPr>
          <a:xfrm>
            <a:off x="381000" y="2971800"/>
            <a:ext cx="807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解 </a:t>
            </a:r>
            <a:r>
              <a:rPr lang="zh-CN" altLang="en-US" dirty="0">
                <a:latin typeface="Times New Roman" panose="02020603050405020304" pitchFamily="18" charset="0"/>
              </a:rPr>
              <a:t>  （1）首先给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以</a:t>
            </a:r>
            <a:r>
              <a:rPr lang="en-US" altLang="zh-CN" dirty="0"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</a:rPr>
              <a:t>标号，给其余所有点</a:t>
            </a:r>
            <a:r>
              <a:rPr lang="en-US" altLang="zh-CN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标号。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90" name="Object 38"/>
          <p:cNvGraphicFramePr/>
          <p:nvPr/>
        </p:nvGraphicFramePr>
        <p:xfrm>
          <a:off x="2103438" y="3429000"/>
          <a:ext cx="10969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609600" imgH="215900" progId="Equation.3">
                  <p:embed/>
                </p:oleObj>
              </mc:Choice>
              <mc:Fallback>
                <p:oleObj name="" r:id="rId1" imgW="609600" imgH="2159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3438" y="3429000"/>
                        <a:ext cx="1096962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9" name="Object 37"/>
          <p:cNvGraphicFramePr/>
          <p:nvPr/>
        </p:nvGraphicFramePr>
        <p:xfrm>
          <a:off x="3810000" y="3429000"/>
          <a:ext cx="30845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1714500" imgH="228600" progId="Equation.3">
                  <p:embed/>
                </p:oleObj>
              </mc:Choice>
              <mc:Fallback>
                <p:oleObj name="" r:id="rId3" imgW="1714500" imgH="2286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0" y="3429000"/>
                        <a:ext cx="3084513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40" name="Rectangle 88"/>
          <p:cNvSpPr/>
          <p:nvPr/>
        </p:nvSpPr>
        <p:spPr>
          <a:xfrm>
            <a:off x="990600" y="38100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（2）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645" name="Rectangle 93"/>
          <p:cNvSpPr/>
          <p:nvPr/>
        </p:nvSpPr>
        <p:spPr>
          <a:xfrm>
            <a:off x="609600" y="4648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92430"/>
            <a:r>
              <a:rPr lang="zh-CN" altLang="en-US" dirty="0">
                <a:latin typeface="Times New Roman" panose="02020603050405020304" pitchFamily="18" charset="0"/>
              </a:rPr>
              <a:t>（3）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44" name="Object 92"/>
          <p:cNvGraphicFramePr/>
          <p:nvPr/>
        </p:nvGraphicFramePr>
        <p:xfrm>
          <a:off x="1905000" y="3886200"/>
          <a:ext cx="58277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5" imgW="3238500" imgH="215900" progId="Equation.3">
                  <p:embed/>
                </p:oleObj>
              </mc:Choice>
              <mc:Fallback>
                <p:oleObj name="" r:id="rId5" imgW="3238500" imgH="215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5000" y="3886200"/>
                        <a:ext cx="5827713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43" name="Object 91"/>
          <p:cNvGraphicFramePr/>
          <p:nvPr/>
        </p:nvGraphicFramePr>
        <p:xfrm>
          <a:off x="1905000" y="4267200"/>
          <a:ext cx="58039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7" imgW="3225800" imgH="228600" progId="Equation.3">
                  <p:embed/>
                </p:oleObj>
              </mc:Choice>
              <mc:Fallback>
                <p:oleObj name="" r:id="rId7" imgW="3225800" imgH="2286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5000" y="4267200"/>
                        <a:ext cx="580390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41" name="Object 89"/>
          <p:cNvGraphicFramePr/>
          <p:nvPr/>
        </p:nvGraphicFramePr>
        <p:xfrm>
          <a:off x="1852613" y="4716463"/>
          <a:ext cx="111918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9" imgW="622300" imgH="215900" progId="Equation.3">
                  <p:embed/>
                </p:oleObj>
              </mc:Choice>
              <mc:Fallback>
                <p:oleObj name="" r:id="rId9" imgW="622300" imgH="2159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52613" y="4716463"/>
                        <a:ext cx="1119187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46" name="Rectangle 94"/>
          <p:cNvSpPr/>
          <p:nvPr/>
        </p:nvSpPr>
        <p:spPr>
          <a:xfrm>
            <a:off x="990600" y="51054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（4）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49" name="Object 97"/>
          <p:cNvGraphicFramePr/>
          <p:nvPr/>
        </p:nvGraphicFramePr>
        <p:xfrm>
          <a:off x="1828800" y="5181600"/>
          <a:ext cx="55753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1" imgW="3098800" imgH="228600" progId="Equation.3">
                  <p:embed/>
                </p:oleObj>
              </mc:Choice>
              <mc:Fallback>
                <p:oleObj name="" r:id="rId11" imgW="3098800" imgH="2286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28800" y="5181600"/>
                        <a:ext cx="5575300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48" name="Object 96"/>
          <p:cNvGraphicFramePr/>
          <p:nvPr/>
        </p:nvGraphicFramePr>
        <p:xfrm>
          <a:off x="1822450" y="5562600"/>
          <a:ext cx="58737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3" imgW="3263900" imgH="215900" progId="Equation.3">
                  <p:embed/>
                </p:oleObj>
              </mc:Choice>
              <mc:Fallback>
                <p:oleObj name="" r:id="rId13" imgW="3263900" imgH="2159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22450" y="5562600"/>
                        <a:ext cx="5873750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47" name="Object 95"/>
          <p:cNvGraphicFramePr/>
          <p:nvPr/>
        </p:nvGraphicFramePr>
        <p:xfrm>
          <a:off x="1828800" y="5943600"/>
          <a:ext cx="58499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5" imgW="3251200" imgH="228600" progId="Equation.3">
                  <p:embed/>
                </p:oleObj>
              </mc:Choice>
              <mc:Fallback>
                <p:oleObj name="" r:id="rId15" imgW="3251200" imgH="2286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28800" y="5943600"/>
                        <a:ext cx="58499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22" grpId="0"/>
      <p:bldP spid="23640" grpId="0"/>
      <p:bldP spid="23645" grpId="0"/>
      <p:bldP spid="2364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298" name="Group 2"/>
          <p:cNvGrpSpPr/>
          <p:nvPr/>
        </p:nvGrpSpPr>
        <p:grpSpPr>
          <a:xfrm>
            <a:off x="2133600" y="304800"/>
            <a:ext cx="3886200" cy="2078038"/>
            <a:chOff x="1344" y="737"/>
            <a:chExt cx="2448" cy="1309"/>
          </a:xfrm>
        </p:grpSpPr>
        <p:sp>
          <p:nvSpPr>
            <p:cNvPr id="12306" name="Line 3"/>
            <p:cNvSpPr>
              <a:spLocks noChangeAspect="1"/>
            </p:cNvSpPr>
            <p:nvPr/>
          </p:nvSpPr>
          <p:spPr>
            <a:xfrm flipH="1">
              <a:off x="2079" y="1734"/>
              <a:ext cx="85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07" name="Line 4"/>
            <p:cNvSpPr>
              <a:spLocks noChangeAspect="1"/>
            </p:cNvSpPr>
            <p:nvPr/>
          </p:nvSpPr>
          <p:spPr>
            <a:xfrm>
              <a:off x="2079" y="990"/>
              <a:ext cx="0" cy="7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08" name="Line 5"/>
            <p:cNvSpPr>
              <a:spLocks noChangeAspect="1"/>
            </p:cNvSpPr>
            <p:nvPr/>
          </p:nvSpPr>
          <p:spPr>
            <a:xfrm>
              <a:off x="2079" y="990"/>
              <a:ext cx="85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09" name="Line 6"/>
            <p:cNvSpPr>
              <a:spLocks noChangeAspect="1"/>
            </p:cNvSpPr>
            <p:nvPr/>
          </p:nvSpPr>
          <p:spPr>
            <a:xfrm>
              <a:off x="2936" y="990"/>
              <a:ext cx="0" cy="7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10" name="Line 7"/>
            <p:cNvSpPr>
              <a:spLocks noChangeAspect="1"/>
            </p:cNvSpPr>
            <p:nvPr/>
          </p:nvSpPr>
          <p:spPr>
            <a:xfrm flipH="1" flipV="1">
              <a:off x="1589" y="1415"/>
              <a:ext cx="490" cy="3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11" name="Line 8"/>
            <p:cNvSpPr>
              <a:spLocks noChangeAspect="1"/>
            </p:cNvSpPr>
            <p:nvPr/>
          </p:nvSpPr>
          <p:spPr>
            <a:xfrm flipV="1">
              <a:off x="1589" y="990"/>
              <a:ext cx="490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12" name="Line 9"/>
            <p:cNvSpPr>
              <a:spLocks noChangeAspect="1"/>
            </p:cNvSpPr>
            <p:nvPr/>
          </p:nvSpPr>
          <p:spPr>
            <a:xfrm>
              <a:off x="2936" y="990"/>
              <a:ext cx="490" cy="31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13" name="Line 10"/>
            <p:cNvSpPr>
              <a:spLocks noChangeAspect="1"/>
            </p:cNvSpPr>
            <p:nvPr/>
          </p:nvSpPr>
          <p:spPr>
            <a:xfrm flipH="1">
              <a:off x="2936" y="1309"/>
              <a:ext cx="490" cy="4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14" name="Line 11"/>
            <p:cNvSpPr>
              <a:spLocks noChangeAspect="1"/>
            </p:cNvSpPr>
            <p:nvPr/>
          </p:nvSpPr>
          <p:spPr>
            <a:xfrm>
              <a:off x="2079" y="990"/>
              <a:ext cx="857" cy="74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2315" name="Text Box 12"/>
            <p:cNvSpPr txBox="1">
              <a:spLocks noChangeAspect="1"/>
            </p:cNvSpPr>
            <p:nvPr/>
          </p:nvSpPr>
          <p:spPr>
            <a:xfrm>
              <a:off x="1344" y="121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6" name="Text Box 13"/>
            <p:cNvSpPr txBox="1">
              <a:spLocks noChangeAspect="1"/>
            </p:cNvSpPr>
            <p:nvPr/>
          </p:nvSpPr>
          <p:spPr>
            <a:xfrm>
              <a:off x="1985" y="73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Text Box 14"/>
            <p:cNvSpPr txBox="1">
              <a:spLocks noChangeAspect="1"/>
            </p:cNvSpPr>
            <p:nvPr/>
          </p:nvSpPr>
          <p:spPr>
            <a:xfrm>
              <a:off x="1985" y="172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8" name="Text Box 15"/>
            <p:cNvSpPr txBox="1">
              <a:spLocks noChangeAspect="1"/>
            </p:cNvSpPr>
            <p:nvPr/>
          </p:nvSpPr>
          <p:spPr>
            <a:xfrm>
              <a:off x="2849" y="73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9" name="Text Box 16"/>
            <p:cNvSpPr txBox="1">
              <a:spLocks noChangeAspect="1"/>
            </p:cNvSpPr>
            <p:nvPr/>
          </p:nvSpPr>
          <p:spPr>
            <a:xfrm>
              <a:off x="3425" y="116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0" name="Text Box 17"/>
            <p:cNvSpPr txBox="1">
              <a:spLocks noChangeAspect="1"/>
            </p:cNvSpPr>
            <p:nvPr/>
          </p:nvSpPr>
          <p:spPr>
            <a:xfrm>
              <a:off x="2849" y="172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321" name="Text Box 18"/>
            <p:cNvSpPr txBox="1">
              <a:spLocks noChangeAspect="1"/>
            </p:cNvSpPr>
            <p:nvPr/>
          </p:nvSpPr>
          <p:spPr>
            <a:xfrm>
              <a:off x="1696" y="1007"/>
              <a:ext cx="368" cy="4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3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2" name="Text Box 19"/>
            <p:cNvSpPr txBox="1">
              <a:spLocks noChangeAspect="1"/>
            </p:cNvSpPr>
            <p:nvPr/>
          </p:nvSpPr>
          <p:spPr>
            <a:xfrm>
              <a:off x="1697" y="1554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5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3" name="Text Box 20"/>
            <p:cNvSpPr txBox="1">
              <a:spLocks noChangeAspect="1"/>
            </p:cNvSpPr>
            <p:nvPr/>
          </p:nvSpPr>
          <p:spPr>
            <a:xfrm>
              <a:off x="2324" y="748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4" name="Text Box 21"/>
            <p:cNvSpPr txBox="1">
              <a:spLocks noChangeAspect="1"/>
            </p:cNvSpPr>
            <p:nvPr/>
          </p:nvSpPr>
          <p:spPr>
            <a:xfrm>
              <a:off x="2436" y="1142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5" name="Text Box 22"/>
            <p:cNvSpPr txBox="1">
              <a:spLocks noChangeAspect="1"/>
            </p:cNvSpPr>
            <p:nvPr/>
          </p:nvSpPr>
          <p:spPr>
            <a:xfrm>
              <a:off x="2354" y="1693"/>
              <a:ext cx="368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6" name="Text Box 23"/>
            <p:cNvSpPr txBox="1">
              <a:spLocks noChangeAspect="1"/>
            </p:cNvSpPr>
            <p:nvPr/>
          </p:nvSpPr>
          <p:spPr>
            <a:xfrm>
              <a:off x="2897" y="1203"/>
              <a:ext cx="36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7" name="Text Box 24"/>
            <p:cNvSpPr txBox="1">
              <a:spLocks noChangeAspect="1"/>
            </p:cNvSpPr>
            <p:nvPr/>
          </p:nvSpPr>
          <p:spPr>
            <a:xfrm>
              <a:off x="3137" y="97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4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8" name="Text Box 25"/>
            <p:cNvSpPr txBox="1">
              <a:spLocks noChangeAspect="1"/>
            </p:cNvSpPr>
            <p:nvPr/>
          </p:nvSpPr>
          <p:spPr>
            <a:xfrm>
              <a:off x="3136" y="1505"/>
              <a:ext cx="368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2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2329" name="Text Box 26"/>
            <p:cNvSpPr txBox="1">
              <a:spLocks noChangeAspect="1"/>
            </p:cNvSpPr>
            <p:nvPr/>
          </p:nvSpPr>
          <p:spPr>
            <a:xfrm>
              <a:off x="1937" y="1227"/>
              <a:ext cx="367" cy="31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2000" b="1" dirty="0">
                  <a:latin typeface="Times New Roman" panose="02020603050405020304" pitchFamily="18" charset="0"/>
                </a:rPr>
                <a:t>1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2290" name="Object 27"/>
          <p:cNvGraphicFramePr/>
          <p:nvPr/>
        </p:nvGraphicFramePr>
        <p:xfrm>
          <a:off x="1600200" y="2484438"/>
          <a:ext cx="11128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622300" imgH="228600" progId="Equation.3">
                  <p:embed/>
                </p:oleObj>
              </mc:Choice>
              <mc:Fallback>
                <p:oleObj name="" r:id="rId1" imgW="622300" imgH="2286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2484438"/>
                        <a:ext cx="1112838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Rectangle 29"/>
          <p:cNvSpPr/>
          <p:nvPr/>
        </p:nvSpPr>
        <p:spPr>
          <a:xfrm>
            <a:off x="609600" y="24384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（5）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00" name="Rectangle 30"/>
          <p:cNvSpPr/>
          <p:nvPr/>
        </p:nvSpPr>
        <p:spPr>
          <a:xfrm>
            <a:off x="609600" y="29718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（6）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291" name="Object 39"/>
          <p:cNvGraphicFramePr/>
          <p:nvPr/>
        </p:nvGraphicFramePr>
        <p:xfrm>
          <a:off x="1649413" y="3017838"/>
          <a:ext cx="562133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3124200" imgH="228600" progId="Equation.3">
                  <p:embed/>
                </p:oleObj>
              </mc:Choice>
              <mc:Fallback>
                <p:oleObj name="" r:id="rId3" imgW="3124200" imgH="2286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9413" y="3017838"/>
                        <a:ext cx="5621337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36"/>
          <p:cNvGraphicFramePr/>
          <p:nvPr/>
        </p:nvGraphicFramePr>
        <p:xfrm>
          <a:off x="1600200" y="3573463"/>
          <a:ext cx="11191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5" imgW="622300" imgH="215900" progId="Equation.3">
                  <p:embed/>
                </p:oleObj>
              </mc:Choice>
              <mc:Fallback>
                <p:oleObj name="" r:id="rId5" imgW="622300" imgH="2159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00200" y="3573463"/>
                        <a:ext cx="1119188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35"/>
          <p:cNvGraphicFramePr/>
          <p:nvPr/>
        </p:nvGraphicFramePr>
        <p:xfrm>
          <a:off x="3124200" y="3581400"/>
          <a:ext cx="11191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7" imgW="622300" imgH="228600" progId="Equation.3">
                  <p:embed/>
                </p:oleObj>
              </mc:Choice>
              <mc:Fallback>
                <p:oleObj name="" r:id="rId7" imgW="622300" imgH="2286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4200" y="3581400"/>
                        <a:ext cx="111918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34"/>
          <p:cNvGraphicFramePr/>
          <p:nvPr/>
        </p:nvGraphicFramePr>
        <p:xfrm>
          <a:off x="1676400" y="4114800"/>
          <a:ext cx="58499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9" imgW="3251200" imgH="228600" progId="Equation.3">
                  <p:embed/>
                </p:oleObj>
              </mc:Choice>
              <mc:Fallback>
                <p:oleObj name="" r:id="rId9" imgW="3251200" imgH="2286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6400" y="4114800"/>
                        <a:ext cx="58499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33"/>
          <p:cNvGraphicFramePr/>
          <p:nvPr/>
        </p:nvGraphicFramePr>
        <p:xfrm>
          <a:off x="1676400" y="4648200"/>
          <a:ext cx="584993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1" imgW="3251200" imgH="228600" progId="Equation.3">
                  <p:embed/>
                </p:oleObj>
              </mc:Choice>
              <mc:Fallback>
                <p:oleObj name="" r:id="rId11" imgW="3251200" imgH="2286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6400" y="4648200"/>
                        <a:ext cx="5849938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31"/>
          <p:cNvGraphicFramePr/>
          <p:nvPr/>
        </p:nvGraphicFramePr>
        <p:xfrm>
          <a:off x="1600200" y="5181600"/>
          <a:ext cx="114141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3" imgW="635000" imgH="228600" progId="Equation.3">
                  <p:embed/>
                </p:oleObj>
              </mc:Choice>
              <mc:Fallback>
                <p:oleObj name="" r:id="rId13" imgW="635000" imgH="2286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00200" y="5181600"/>
                        <a:ext cx="1141413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41"/>
          <p:cNvSpPr/>
          <p:nvPr/>
        </p:nvSpPr>
        <p:spPr>
          <a:xfrm>
            <a:off x="609600" y="3505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（7）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02" name="Rectangle 42"/>
          <p:cNvSpPr/>
          <p:nvPr/>
        </p:nvSpPr>
        <p:spPr>
          <a:xfrm>
            <a:off x="609600" y="40386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（8）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03" name="Rectangle 43"/>
          <p:cNvSpPr/>
          <p:nvPr/>
        </p:nvSpPr>
        <p:spPr>
          <a:xfrm>
            <a:off x="609600" y="4648200"/>
            <a:ext cx="946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（9）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04" name="Rectangle 44"/>
          <p:cNvSpPr/>
          <p:nvPr/>
        </p:nvSpPr>
        <p:spPr>
          <a:xfrm>
            <a:off x="609600" y="5105400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（10）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05" name="Rectangle 49"/>
          <p:cNvSpPr/>
          <p:nvPr/>
        </p:nvSpPr>
        <p:spPr>
          <a:xfrm>
            <a:off x="1066800" y="5638800"/>
            <a:ext cx="464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zh-CN" altLang="en-US" dirty="0">
                <a:latin typeface="Times New Roman" panose="02020603050405020304" pitchFamily="18" charset="0"/>
              </a:rPr>
              <a:t>反向追踪得</a:t>
            </a:r>
            <a:r>
              <a:rPr lang="en-US" altLang="zh-CN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的最短路为：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297" name="Object 46"/>
          <p:cNvGraphicFramePr/>
          <p:nvPr/>
        </p:nvGraphicFramePr>
        <p:xfrm>
          <a:off x="5251450" y="5684838"/>
          <a:ext cx="22161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5" imgW="1231265" imgH="228600" progId="Equation.3">
                  <p:embed/>
                </p:oleObj>
              </mc:Choice>
              <mc:Fallback>
                <p:oleObj name="" r:id="rId15" imgW="1231265" imgH="2286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51450" y="5684838"/>
                        <a:ext cx="221615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55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56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57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58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59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60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61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00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49162" name="AutoShape 11"/>
          <p:cNvCxnSpPr>
            <a:stCxn id="49157" idx="6"/>
            <a:endCxn id="49154" idx="2"/>
          </p:cNvCxnSpPr>
          <p:nvPr/>
        </p:nvCxnSpPr>
        <p:spPr>
          <a:xfrm>
            <a:off x="2393950" y="2344738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3" name="AutoShape 12"/>
          <p:cNvCxnSpPr>
            <a:stCxn id="49154" idx="6"/>
            <a:endCxn id="49155" idx="2"/>
          </p:cNvCxnSpPr>
          <p:nvPr/>
        </p:nvCxnSpPr>
        <p:spPr>
          <a:xfrm>
            <a:off x="4776788" y="2344738"/>
            <a:ext cx="191452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4" name="AutoShape 13"/>
          <p:cNvCxnSpPr>
            <a:stCxn id="49157" idx="4"/>
            <a:endCxn id="49161" idx="0"/>
          </p:cNvCxnSpPr>
          <p:nvPr/>
        </p:nvCxnSpPr>
        <p:spPr>
          <a:xfrm>
            <a:off x="2151063" y="2587625"/>
            <a:ext cx="0" cy="194468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5" name="AutoShape 14"/>
          <p:cNvCxnSpPr>
            <a:stCxn id="49161" idx="6"/>
            <a:endCxn id="49156" idx="2"/>
          </p:cNvCxnSpPr>
          <p:nvPr/>
        </p:nvCxnSpPr>
        <p:spPr>
          <a:xfrm>
            <a:off x="2393950" y="4775200"/>
            <a:ext cx="1900238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6" name="AutoShape 15"/>
          <p:cNvCxnSpPr>
            <a:stCxn id="49156" idx="6"/>
            <a:endCxn id="49158" idx="2"/>
          </p:cNvCxnSpPr>
          <p:nvPr/>
        </p:nvCxnSpPr>
        <p:spPr>
          <a:xfrm>
            <a:off x="4779963" y="4775200"/>
            <a:ext cx="1900237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7" name="AutoShape 16"/>
          <p:cNvCxnSpPr>
            <a:stCxn id="49155" idx="4"/>
            <a:endCxn id="49158" idx="0"/>
          </p:cNvCxnSpPr>
          <p:nvPr/>
        </p:nvCxnSpPr>
        <p:spPr>
          <a:xfrm flipH="1">
            <a:off x="6923088" y="2587625"/>
            <a:ext cx="11112" cy="194468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8" name="AutoShape 17"/>
          <p:cNvCxnSpPr>
            <a:stCxn id="49157" idx="5"/>
            <a:endCxn id="49159" idx="1"/>
          </p:cNvCxnSpPr>
          <p:nvPr/>
        </p:nvCxnSpPr>
        <p:spPr>
          <a:xfrm>
            <a:off x="2312988" y="2520950"/>
            <a:ext cx="877887" cy="86677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69" name="AutoShape 18"/>
          <p:cNvCxnSpPr>
            <a:stCxn id="49159" idx="5"/>
            <a:endCxn id="49156" idx="1"/>
          </p:cNvCxnSpPr>
          <p:nvPr/>
        </p:nvCxnSpPr>
        <p:spPr>
          <a:xfrm>
            <a:off x="3514725" y="3740150"/>
            <a:ext cx="860425" cy="85883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70" name="AutoShape 19"/>
          <p:cNvCxnSpPr>
            <a:stCxn id="49161" idx="7"/>
            <a:endCxn id="49159" idx="3"/>
          </p:cNvCxnSpPr>
          <p:nvPr/>
        </p:nvCxnSpPr>
        <p:spPr>
          <a:xfrm flipV="1">
            <a:off x="2312988" y="3740150"/>
            <a:ext cx="877887" cy="85883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71" name="AutoShape 20"/>
          <p:cNvCxnSpPr>
            <a:stCxn id="49159" idx="7"/>
            <a:endCxn id="49154" idx="3"/>
          </p:cNvCxnSpPr>
          <p:nvPr/>
        </p:nvCxnSpPr>
        <p:spPr>
          <a:xfrm flipV="1">
            <a:off x="3514725" y="2520950"/>
            <a:ext cx="857250" cy="86677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72" name="AutoShape 21"/>
          <p:cNvCxnSpPr>
            <a:stCxn id="49156" idx="0"/>
            <a:endCxn id="49154" idx="4"/>
          </p:cNvCxnSpPr>
          <p:nvPr/>
        </p:nvCxnSpPr>
        <p:spPr>
          <a:xfrm flipH="1" flipV="1">
            <a:off x="4533900" y="2587625"/>
            <a:ext cx="3175" cy="194468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73" name="AutoShape 22"/>
          <p:cNvCxnSpPr>
            <a:stCxn id="49154" idx="5"/>
            <a:endCxn id="49160" idx="1"/>
          </p:cNvCxnSpPr>
          <p:nvPr/>
        </p:nvCxnSpPr>
        <p:spPr>
          <a:xfrm>
            <a:off x="4695825" y="2520950"/>
            <a:ext cx="874713" cy="8890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74" name="AutoShape 23"/>
          <p:cNvCxnSpPr>
            <a:stCxn id="49160" idx="7"/>
            <a:endCxn id="49155" idx="3"/>
          </p:cNvCxnSpPr>
          <p:nvPr/>
        </p:nvCxnSpPr>
        <p:spPr>
          <a:xfrm flipV="1">
            <a:off x="5894388" y="2520950"/>
            <a:ext cx="877887" cy="8890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49175" name="AutoShape 24"/>
          <p:cNvCxnSpPr>
            <a:stCxn id="49160" idx="5"/>
            <a:endCxn id="49158" idx="1"/>
          </p:cNvCxnSpPr>
          <p:nvPr/>
        </p:nvCxnSpPr>
        <p:spPr>
          <a:xfrm>
            <a:off x="5894388" y="3762375"/>
            <a:ext cx="866775" cy="836613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49176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77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78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79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0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1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2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3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4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5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6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7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8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89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49190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49191" name="AutoShape 40"/>
          <p:cNvCxnSpPr>
            <a:stCxn id="49156" idx="7"/>
            <a:endCxn id="49160" idx="3"/>
          </p:cNvCxnSpPr>
          <p:nvPr/>
        </p:nvCxnSpPr>
        <p:spPr>
          <a:xfrm flipV="1">
            <a:off x="4699000" y="3762375"/>
            <a:ext cx="871538" cy="836613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49192" name="Text Box 41"/>
          <p:cNvSpPr txBox="1"/>
          <p:nvPr/>
        </p:nvSpPr>
        <p:spPr>
          <a:xfrm>
            <a:off x="609600" y="685800"/>
            <a:ext cx="7620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求从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到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的最短路径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Oval 2"/>
          <p:cNvSpPr/>
          <p:nvPr/>
        </p:nvSpPr>
        <p:spPr>
          <a:xfrm>
            <a:off x="1711325" y="1928813"/>
            <a:ext cx="838200" cy="838200"/>
          </a:xfrm>
          <a:prstGeom prst="ellipse">
            <a:avLst/>
          </a:pr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0179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0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1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2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3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4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5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186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0187" name="AutoShape 11"/>
          <p:cNvCxnSpPr>
            <a:stCxn id="50182" idx="6"/>
            <a:endCxn id="50179" idx="2"/>
          </p:cNvCxnSpPr>
          <p:nvPr/>
        </p:nvCxnSpPr>
        <p:spPr>
          <a:xfrm>
            <a:off x="2393950" y="2344738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88" name="AutoShape 12"/>
          <p:cNvCxnSpPr>
            <a:stCxn id="50179" idx="6"/>
            <a:endCxn id="50180" idx="2"/>
          </p:cNvCxnSpPr>
          <p:nvPr/>
        </p:nvCxnSpPr>
        <p:spPr>
          <a:xfrm>
            <a:off x="4776788" y="2344738"/>
            <a:ext cx="1914525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89" name="AutoShape 13"/>
          <p:cNvCxnSpPr>
            <a:stCxn id="50182" idx="4"/>
            <a:endCxn id="50186" idx="0"/>
          </p:cNvCxnSpPr>
          <p:nvPr/>
        </p:nvCxnSpPr>
        <p:spPr>
          <a:xfrm>
            <a:off x="2151063" y="2587625"/>
            <a:ext cx="0" cy="194468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0" name="AutoShape 14"/>
          <p:cNvCxnSpPr>
            <a:stCxn id="50186" idx="6"/>
            <a:endCxn id="50181" idx="2"/>
          </p:cNvCxnSpPr>
          <p:nvPr/>
        </p:nvCxnSpPr>
        <p:spPr>
          <a:xfrm>
            <a:off x="2393950" y="4775200"/>
            <a:ext cx="1900238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1" name="AutoShape 15"/>
          <p:cNvCxnSpPr>
            <a:stCxn id="50181" idx="6"/>
            <a:endCxn id="50183" idx="2"/>
          </p:cNvCxnSpPr>
          <p:nvPr/>
        </p:nvCxnSpPr>
        <p:spPr>
          <a:xfrm>
            <a:off x="4779963" y="4775200"/>
            <a:ext cx="1900237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2" name="AutoShape 16"/>
          <p:cNvCxnSpPr>
            <a:stCxn id="50180" idx="4"/>
            <a:endCxn id="50183" idx="0"/>
          </p:cNvCxnSpPr>
          <p:nvPr/>
        </p:nvCxnSpPr>
        <p:spPr>
          <a:xfrm flipH="1">
            <a:off x="6923088" y="2587625"/>
            <a:ext cx="11112" cy="194468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3" name="AutoShape 17"/>
          <p:cNvCxnSpPr>
            <a:stCxn id="50182" idx="5"/>
            <a:endCxn id="50184" idx="1"/>
          </p:cNvCxnSpPr>
          <p:nvPr/>
        </p:nvCxnSpPr>
        <p:spPr>
          <a:xfrm>
            <a:off x="2312988" y="2520950"/>
            <a:ext cx="877887" cy="86677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4" name="AutoShape 18"/>
          <p:cNvCxnSpPr>
            <a:stCxn id="50184" idx="5"/>
            <a:endCxn id="50181" idx="1"/>
          </p:cNvCxnSpPr>
          <p:nvPr/>
        </p:nvCxnSpPr>
        <p:spPr>
          <a:xfrm>
            <a:off x="3514725" y="3740150"/>
            <a:ext cx="860425" cy="85883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5" name="AutoShape 19"/>
          <p:cNvCxnSpPr>
            <a:stCxn id="50186" idx="7"/>
            <a:endCxn id="50184" idx="3"/>
          </p:cNvCxnSpPr>
          <p:nvPr/>
        </p:nvCxnSpPr>
        <p:spPr>
          <a:xfrm flipV="1">
            <a:off x="2312988" y="3740150"/>
            <a:ext cx="877887" cy="85883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6" name="AutoShape 20"/>
          <p:cNvCxnSpPr>
            <a:stCxn id="50184" idx="7"/>
            <a:endCxn id="50179" idx="3"/>
          </p:cNvCxnSpPr>
          <p:nvPr/>
        </p:nvCxnSpPr>
        <p:spPr>
          <a:xfrm flipV="1">
            <a:off x="3514725" y="2520950"/>
            <a:ext cx="857250" cy="86677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7" name="AutoShape 21"/>
          <p:cNvCxnSpPr>
            <a:stCxn id="50181" idx="0"/>
            <a:endCxn id="50179" idx="4"/>
          </p:cNvCxnSpPr>
          <p:nvPr/>
        </p:nvCxnSpPr>
        <p:spPr>
          <a:xfrm flipH="1" flipV="1">
            <a:off x="4533900" y="2587625"/>
            <a:ext cx="3175" cy="1944688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8" name="AutoShape 22"/>
          <p:cNvCxnSpPr>
            <a:stCxn id="50179" idx="5"/>
            <a:endCxn id="50185" idx="1"/>
          </p:cNvCxnSpPr>
          <p:nvPr/>
        </p:nvCxnSpPr>
        <p:spPr>
          <a:xfrm>
            <a:off x="4695825" y="2520950"/>
            <a:ext cx="874713" cy="8890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199" name="AutoShape 23"/>
          <p:cNvCxnSpPr>
            <a:stCxn id="50185" idx="7"/>
            <a:endCxn id="50180" idx="3"/>
          </p:cNvCxnSpPr>
          <p:nvPr/>
        </p:nvCxnSpPr>
        <p:spPr>
          <a:xfrm flipV="1">
            <a:off x="5894388" y="2520950"/>
            <a:ext cx="877887" cy="8890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0200" name="AutoShape 24"/>
          <p:cNvCxnSpPr>
            <a:stCxn id="50185" idx="5"/>
            <a:endCxn id="50183" idx="1"/>
          </p:cNvCxnSpPr>
          <p:nvPr/>
        </p:nvCxnSpPr>
        <p:spPr>
          <a:xfrm>
            <a:off x="5894388" y="3762375"/>
            <a:ext cx="866775" cy="836613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0201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2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3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4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5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6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7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8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09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10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11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12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13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14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0215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0216" name="AutoShape 40"/>
          <p:cNvCxnSpPr>
            <a:stCxn id="50181" idx="7"/>
            <a:endCxn id="50185" idx="3"/>
          </p:cNvCxnSpPr>
          <p:nvPr/>
        </p:nvCxnSpPr>
        <p:spPr>
          <a:xfrm flipV="1">
            <a:off x="4699000" y="3762375"/>
            <a:ext cx="871538" cy="836613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0217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={1}, w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=0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0218" name="Text Box 42"/>
          <p:cNvSpPr txBox="1"/>
          <p:nvPr/>
        </p:nvSpPr>
        <p:spPr>
          <a:xfrm>
            <a:off x="914400" y="5410200"/>
            <a:ext cx="7086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latin typeface="Times New Roman" panose="02020603050405020304" pitchFamily="18" charset="0"/>
              </a:rPr>
              <a:t>12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14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16</a:t>
            </a:r>
            <a:r>
              <a:rPr lang="en-US" altLang="en-US" dirty="0">
                <a:latin typeface="Times New Roman" panose="02020603050405020304" pitchFamily="18" charset="0"/>
              </a:rPr>
              <a:t>}=min {0+2,0+1,0+3}=min {2,1,3}=1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X={1,4}, p</a:t>
            </a:r>
            <a:r>
              <a:rPr lang="en-US" altLang="en-US" baseline="-25000" dirty="0">
                <a:latin typeface="Times New Roman" panose="02020603050405020304" pitchFamily="18" charset="0"/>
              </a:rPr>
              <a:t>4</a:t>
            </a:r>
            <a:r>
              <a:rPr lang="en-US" altLang="en-US" dirty="0">
                <a:latin typeface="Times New Roman" panose="02020603050405020304" pitchFamily="18" charset="0"/>
              </a:rPr>
              <a:t>=1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4555" name="Text Box 43"/>
          <p:cNvSpPr txBox="1"/>
          <p:nvPr/>
        </p:nvSpPr>
        <p:spPr>
          <a:xfrm>
            <a:off x="3048000" y="28194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56" name="Line 44"/>
          <p:cNvSpPr/>
          <p:nvPr/>
        </p:nvSpPr>
        <p:spPr>
          <a:xfrm>
            <a:off x="2362200" y="2244725"/>
            <a:ext cx="19050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7" name="Line 45"/>
          <p:cNvSpPr/>
          <p:nvPr/>
        </p:nvSpPr>
        <p:spPr>
          <a:xfrm>
            <a:off x="2362200" y="2420938"/>
            <a:ext cx="914400" cy="931862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8" name="Line 46"/>
          <p:cNvSpPr/>
          <p:nvPr/>
        </p:nvSpPr>
        <p:spPr>
          <a:xfrm>
            <a:off x="2209800" y="2573338"/>
            <a:ext cx="0" cy="19050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59" name="Text Box 47"/>
          <p:cNvSpPr txBox="1"/>
          <p:nvPr/>
        </p:nvSpPr>
        <p:spPr>
          <a:xfrm>
            <a:off x="1752600" y="1600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4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4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6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4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55" grpId="0"/>
      <p:bldP spid="6455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AutoShape 2"/>
          <p:cNvSpPr/>
          <p:nvPr/>
        </p:nvSpPr>
        <p:spPr>
          <a:xfrm rot="2658490">
            <a:off x="1404938" y="2516188"/>
            <a:ext cx="2667000" cy="827087"/>
          </a:xfrm>
          <a:prstGeom prst="roundRect">
            <a:avLst>
              <a:gd name="adj" fmla="val 50000"/>
            </a:avLst>
          </a:pr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03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04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05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06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07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08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09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10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1211" name="AutoShape 11"/>
          <p:cNvCxnSpPr>
            <a:stCxn id="51206" idx="6"/>
            <a:endCxn id="51203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2" name="AutoShape 12"/>
          <p:cNvCxnSpPr>
            <a:stCxn id="51203" idx="6"/>
            <a:endCxn id="51204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3" name="AutoShape 13"/>
          <p:cNvCxnSpPr>
            <a:stCxn id="51206" idx="4"/>
            <a:endCxn id="51210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4" name="AutoShape 14"/>
          <p:cNvCxnSpPr>
            <a:stCxn id="51210" idx="6"/>
            <a:endCxn id="51205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5" name="AutoShape 15"/>
          <p:cNvCxnSpPr>
            <a:stCxn id="51205" idx="6"/>
            <a:endCxn id="51207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6" name="AutoShape 16"/>
          <p:cNvCxnSpPr>
            <a:stCxn id="51204" idx="4"/>
            <a:endCxn id="51207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7" name="AutoShape 17"/>
          <p:cNvCxnSpPr>
            <a:stCxn id="51206" idx="5"/>
            <a:endCxn id="51208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8" name="AutoShape 18"/>
          <p:cNvCxnSpPr>
            <a:stCxn id="51208" idx="5"/>
            <a:endCxn id="51205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19" name="AutoShape 19"/>
          <p:cNvCxnSpPr>
            <a:stCxn id="51210" idx="7"/>
            <a:endCxn id="51208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20" name="AutoShape 20"/>
          <p:cNvCxnSpPr>
            <a:stCxn id="51208" idx="7"/>
            <a:endCxn id="51203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21" name="AutoShape 21"/>
          <p:cNvCxnSpPr>
            <a:stCxn id="51205" idx="0"/>
            <a:endCxn id="51203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22" name="AutoShape 22"/>
          <p:cNvCxnSpPr>
            <a:stCxn id="51203" idx="5"/>
            <a:endCxn id="51209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23" name="AutoShape 23"/>
          <p:cNvCxnSpPr>
            <a:stCxn id="51209" idx="7"/>
            <a:endCxn id="51204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1224" name="AutoShape 24"/>
          <p:cNvCxnSpPr>
            <a:stCxn id="51209" idx="5"/>
            <a:endCxn id="51207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1225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26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27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28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29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0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1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2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3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4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5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6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7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8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1239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1240" name="AutoShape 40"/>
          <p:cNvCxnSpPr>
            <a:stCxn id="51205" idx="7"/>
            <a:endCxn id="51209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1241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</a:rPr>
              <a:t>={1,4}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2" name="Text Box 42"/>
          <p:cNvSpPr txBox="1"/>
          <p:nvPr/>
        </p:nvSpPr>
        <p:spPr>
          <a:xfrm>
            <a:off x="533400" y="5487988"/>
            <a:ext cx="86106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12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16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42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47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}=min {0+2,0+3,1+10,1+2}=min {2,3,11,3}=2</a:t>
            </a:r>
            <a:endParaRPr lang="en-US" altLang="en-US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X={1,2,4}, p</a:t>
            </a:r>
            <a:r>
              <a:rPr lang="en-US" altLang="en-US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=2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3" name="Text Box 43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44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81" name="Line 45"/>
          <p:cNvSpPr/>
          <p:nvPr/>
        </p:nvSpPr>
        <p:spPr>
          <a:xfrm>
            <a:off x="2362200" y="2251075"/>
            <a:ext cx="19050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82" name="Line 46"/>
          <p:cNvSpPr/>
          <p:nvPr/>
        </p:nvSpPr>
        <p:spPr>
          <a:xfrm>
            <a:off x="2209800" y="2590800"/>
            <a:ext cx="0" cy="1981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83" name="Line 47"/>
          <p:cNvSpPr/>
          <p:nvPr/>
        </p:nvSpPr>
        <p:spPr>
          <a:xfrm>
            <a:off x="3581400" y="3657600"/>
            <a:ext cx="914400" cy="914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84" name="Text Box 48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85" name="Line 49"/>
          <p:cNvSpPr/>
          <p:nvPr/>
        </p:nvSpPr>
        <p:spPr>
          <a:xfrm flipV="1">
            <a:off x="3581400" y="2590800"/>
            <a:ext cx="838200" cy="838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5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5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6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6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8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Freeform 2"/>
          <p:cNvSpPr/>
          <p:nvPr/>
        </p:nvSpPr>
        <p:spPr>
          <a:xfrm>
            <a:off x="1697038" y="1905000"/>
            <a:ext cx="3267075" cy="2078038"/>
          </a:xfrm>
          <a:custGeom>
            <a:avLst/>
            <a:gdLst>
              <a:gd name="txL" fmla="*/ 0 w 2058"/>
              <a:gd name="txT" fmla="*/ 0 h 1309"/>
              <a:gd name="txR" fmla="*/ 2058 w 2058"/>
              <a:gd name="txB" fmla="*/ 1309 h 1309"/>
            </a:gdLst>
            <a:ahLst/>
            <a:cxnLst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058" h="1309">
                <a:moveTo>
                  <a:pt x="275" y="0"/>
                </a:moveTo>
                <a:lnTo>
                  <a:pt x="1763" y="0"/>
                </a:lnTo>
                <a:cubicBezTo>
                  <a:pt x="2052" y="13"/>
                  <a:pt x="1960" y="22"/>
                  <a:pt x="2008" y="76"/>
                </a:cubicBezTo>
                <a:cubicBezTo>
                  <a:pt x="2056" y="130"/>
                  <a:pt x="2058" y="250"/>
                  <a:pt x="2051" y="327"/>
                </a:cubicBezTo>
                <a:lnTo>
                  <a:pt x="1955" y="528"/>
                </a:lnTo>
                <a:lnTo>
                  <a:pt x="1235" y="1248"/>
                </a:lnTo>
                <a:lnTo>
                  <a:pt x="1015" y="1309"/>
                </a:lnTo>
                <a:lnTo>
                  <a:pt x="803" y="1200"/>
                </a:lnTo>
                <a:lnTo>
                  <a:pt x="35" y="384"/>
                </a:lnTo>
                <a:lnTo>
                  <a:pt x="0" y="196"/>
                </a:lnTo>
                <a:lnTo>
                  <a:pt x="83" y="48"/>
                </a:lnTo>
                <a:lnTo>
                  <a:pt x="275" y="0"/>
                </a:lnTo>
                <a:close/>
              </a:path>
            </a:pathLst>
          </a:cu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227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28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29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30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31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32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33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34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2235" name="AutoShape 11"/>
          <p:cNvCxnSpPr>
            <a:stCxn id="52230" idx="6"/>
            <a:endCxn id="52227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36" name="AutoShape 12"/>
          <p:cNvCxnSpPr>
            <a:stCxn id="52227" idx="6"/>
            <a:endCxn id="52228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37" name="AutoShape 13"/>
          <p:cNvCxnSpPr>
            <a:stCxn id="52230" idx="4"/>
            <a:endCxn id="52234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38" name="AutoShape 14"/>
          <p:cNvCxnSpPr>
            <a:stCxn id="52234" idx="6"/>
            <a:endCxn id="52229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39" name="AutoShape 15"/>
          <p:cNvCxnSpPr>
            <a:stCxn id="52229" idx="6"/>
            <a:endCxn id="52231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0" name="AutoShape 16"/>
          <p:cNvCxnSpPr>
            <a:stCxn id="52228" idx="4"/>
            <a:endCxn id="52231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1" name="AutoShape 17"/>
          <p:cNvCxnSpPr>
            <a:stCxn id="52230" idx="5"/>
            <a:endCxn id="52232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2" name="AutoShape 18"/>
          <p:cNvCxnSpPr>
            <a:stCxn id="52232" idx="5"/>
            <a:endCxn id="52229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3" name="AutoShape 19"/>
          <p:cNvCxnSpPr>
            <a:stCxn id="52234" idx="7"/>
            <a:endCxn id="52232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4" name="AutoShape 20"/>
          <p:cNvCxnSpPr>
            <a:stCxn id="52232" idx="7"/>
            <a:endCxn id="52227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5" name="AutoShape 21"/>
          <p:cNvCxnSpPr>
            <a:stCxn id="52229" idx="0"/>
            <a:endCxn id="52227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6" name="AutoShape 22"/>
          <p:cNvCxnSpPr>
            <a:stCxn id="52227" idx="5"/>
            <a:endCxn id="52233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7" name="AutoShape 23"/>
          <p:cNvCxnSpPr>
            <a:stCxn id="52233" idx="7"/>
            <a:endCxn id="52228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2248" name="AutoShape 24"/>
          <p:cNvCxnSpPr>
            <a:stCxn id="52233" idx="5"/>
            <a:endCxn id="52231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2249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0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1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2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3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4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5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6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7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8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59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60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61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62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2263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2264" name="AutoShape 40"/>
          <p:cNvCxnSpPr>
            <a:stCxn id="52229" idx="7"/>
            <a:endCxn id="52233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2265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={1,2,4}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2266" name="Text Box 42"/>
          <p:cNvSpPr txBox="1"/>
          <p:nvPr/>
        </p:nvSpPr>
        <p:spPr>
          <a:xfrm>
            <a:off x="914400" y="5410200"/>
            <a:ext cx="8229600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latin typeface="Times New Roman" panose="02020603050405020304" pitchFamily="18" charset="0"/>
              </a:rPr>
              <a:t>16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23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25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47</a:t>
            </a:r>
            <a:r>
              <a:rPr lang="en-US" altLang="en-US" dirty="0">
                <a:latin typeface="Times New Roman" panose="02020603050405020304" pitchFamily="18" charset="0"/>
              </a:rPr>
              <a:t>}=min {0+3,2+6,2+5,1+2}=min {3,8,7,3}=3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X={1,2,4,6}, p</a:t>
            </a:r>
            <a:r>
              <a:rPr lang="en-US" altLang="en-US" baseline="-25000" dirty="0">
                <a:latin typeface="Times New Roman" panose="02020603050405020304" pitchFamily="18" charset="0"/>
              </a:rPr>
              <a:t>6</a:t>
            </a:r>
            <a:r>
              <a:rPr lang="en-US" altLang="en-US" dirty="0">
                <a:latin typeface="Times New Roman" panose="02020603050405020304" pitchFamily="18" charset="0"/>
              </a:rPr>
              <a:t>=3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2267" name="Text Box 43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8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69" name="Text Box 45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606" name="Line 46"/>
          <p:cNvSpPr/>
          <p:nvPr/>
        </p:nvSpPr>
        <p:spPr>
          <a:xfrm>
            <a:off x="2209800" y="2590800"/>
            <a:ext cx="0" cy="19050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07" name="Line 47"/>
          <p:cNvSpPr/>
          <p:nvPr/>
        </p:nvSpPr>
        <p:spPr>
          <a:xfrm>
            <a:off x="3581400" y="3657600"/>
            <a:ext cx="914400" cy="914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08" name="Line 48"/>
          <p:cNvSpPr/>
          <p:nvPr/>
        </p:nvSpPr>
        <p:spPr>
          <a:xfrm>
            <a:off x="4724400" y="2251075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09" name="Line 49"/>
          <p:cNvSpPr/>
          <p:nvPr/>
        </p:nvSpPr>
        <p:spPr>
          <a:xfrm>
            <a:off x="4648200" y="2590800"/>
            <a:ext cx="838200" cy="838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10" name="Text Box 50"/>
          <p:cNvSpPr txBox="1"/>
          <p:nvPr/>
        </p:nvSpPr>
        <p:spPr>
          <a:xfrm>
            <a:off x="1752600" y="5029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6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6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Freeform 2"/>
          <p:cNvSpPr/>
          <p:nvPr/>
        </p:nvSpPr>
        <p:spPr>
          <a:xfrm>
            <a:off x="1697038" y="1905000"/>
            <a:ext cx="3187700" cy="3221038"/>
          </a:xfrm>
          <a:custGeom>
            <a:avLst/>
            <a:gdLst>
              <a:gd name="txL" fmla="*/ 0 w 2008"/>
              <a:gd name="txT" fmla="*/ 0 h 2029"/>
              <a:gd name="txR" fmla="*/ 2008 w 2008"/>
              <a:gd name="txB" fmla="*/ 2029 h 2029"/>
            </a:gdLst>
            <a:ahLst/>
            <a:cxnLst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008" h="2029">
                <a:moveTo>
                  <a:pt x="275" y="0"/>
                </a:moveTo>
                <a:lnTo>
                  <a:pt x="1763" y="0"/>
                </a:lnTo>
                <a:lnTo>
                  <a:pt x="2008" y="131"/>
                </a:lnTo>
                <a:lnTo>
                  <a:pt x="2008" y="403"/>
                </a:lnTo>
                <a:lnTo>
                  <a:pt x="426" y="2029"/>
                </a:lnTo>
                <a:lnTo>
                  <a:pt x="131" y="2029"/>
                </a:lnTo>
                <a:lnTo>
                  <a:pt x="11" y="1843"/>
                </a:lnTo>
                <a:lnTo>
                  <a:pt x="0" y="196"/>
                </a:lnTo>
                <a:lnTo>
                  <a:pt x="83" y="48"/>
                </a:lnTo>
                <a:lnTo>
                  <a:pt x="275" y="0"/>
                </a:lnTo>
                <a:close/>
              </a:path>
            </a:pathLst>
          </a:cu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3251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2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3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4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5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6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7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58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3259" name="AutoShape 11"/>
          <p:cNvCxnSpPr>
            <a:stCxn id="53254" idx="6"/>
            <a:endCxn id="53251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0" name="AutoShape 12"/>
          <p:cNvCxnSpPr>
            <a:stCxn id="53251" idx="6"/>
            <a:endCxn id="53252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1" name="AutoShape 13"/>
          <p:cNvCxnSpPr>
            <a:stCxn id="53254" idx="4"/>
            <a:endCxn id="53258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2" name="AutoShape 14"/>
          <p:cNvCxnSpPr>
            <a:stCxn id="53258" idx="6"/>
            <a:endCxn id="53253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3" name="AutoShape 15"/>
          <p:cNvCxnSpPr>
            <a:stCxn id="53253" idx="6"/>
            <a:endCxn id="53255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4" name="AutoShape 16"/>
          <p:cNvCxnSpPr>
            <a:stCxn id="53252" idx="4"/>
            <a:endCxn id="53255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5" name="AutoShape 17"/>
          <p:cNvCxnSpPr>
            <a:stCxn id="53254" idx="5"/>
            <a:endCxn id="53256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6" name="AutoShape 18"/>
          <p:cNvCxnSpPr>
            <a:stCxn id="53256" idx="5"/>
            <a:endCxn id="53253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7" name="AutoShape 19"/>
          <p:cNvCxnSpPr>
            <a:stCxn id="53258" idx="7"/>
            <a:endCxn id="53256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8" name="AutoShape 20"/>
          <p:cNvCxnSpPr>
            <a:stCxn id="53256" idx="7"/>
            <a:endCxn id="53251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69" name="AutoShape 21"/>
          <p:cNvCxnSpPr>
            <a:stCxn id="53253" idx="0"/>
            <a:endCxn id="53251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70" name="AutoShape 22"/>
          <p:cNvCxnSpPr>
            <a:stCxn id="53251" idx="5"/>
            <a:endCxn id="53257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71" name="AutoShape 23"/>
          <p:cNvCxnSpPr>
            <a:stCxn id="53257" idx="7"/>
            <a:endCxn id="53252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3272" name="AutoShape 24"/>
          <p:cNvCxnSpPr>
            <a:stCxn id="53257" idx="5"/>
            <a:endCxn id="53255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3273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74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75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76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77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78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79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0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1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2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3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4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5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6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3287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3288" name="AutoShape 40"/>
          <p:cNvCxnSpPr>
            <a:stCxn id="53253" idx="7"/>
            <a:endCxn id="53257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3289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={1,2,4,6}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3290" name="Text Box 42"/>
          <p:cNvSpPr txBox="1"/>
          <p:nvPr/>
        </p:nvSpPr>
        <p:spPr>
          <a:xfrm>
            <a:off x="914400" y="5410200"/>
            <a:ext cx="8229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23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25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47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67</a:t>
            </a:r>
            <a:r>
              <a:rPr lang="en-US" altLang="en-US" dirty="0">
                <a:latin typeface="Times New Roman" panose="02020603050405020304" pitchFamily="18" charset="0"/>
              </a:rPr>
              <a:t>}=min {2+6,2+5,1+2,3+4}=min {8,7,3,7}=3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X={1,2,4,6,7}, p</a:t>
            </a:r>
            <a:r>
              <a:rPr lang="en-US" altLang="en-US" baseline="-25000" dirty="0">
                <a:latin typeface="Times New Roman" panose="02020603050405020304" pitchFamily="18" charset="0"/>
              </a:rPr>
              <a:t>7</a:t>
            </a:r>
            <a:r>
              <a:rPr lang="en-US" altLang="en-US" dirty="0">
                <a:latin typeface="Times New Roman" panose="02020603050405020304" pitchFamily="18" charset="0"/>
              </a:rPr>
              <a:t>=3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3291" name="Text Box 43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2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3" name="Text Box 45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4" name="Line 46"/>
          <p:cNvSpPr/>
          <p:nvPr/>
        </p:nvSpPr>
        <p:spPr>
          <a:xfrm>
            <a:off x="3581400" y="3657600"/>
            <a:ext cx="914400" cy="914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95" name="Line 47"/>
          <p:cNvSpPr/>
          <p:nvPr/>
        </p:nvSpPr>
        <p:spPr>
          <a:xfrm>
            <a:off x="4724400" y="2251075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96" name="Line 48"/>
          <p:cNvSpPr/>
          <p:nvPr/>
        </p:nvSpPr>
        <p:spPr>
          <a:xfrm>
            <a:off x="4648200" y="2590800"/>
            <a:ext cx="838200" cy="838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97" name="Line 49"/>
          <p:cNvSpPr/>
          <p:nvPr/>
        </p:nvSpPr>
        <p:spPr>
          <a:xfrm>
            <a:off x="2362200" y="4876800"/>
            <a:ext cx="19050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98" name="Text Box 50"/>
          <p:cNvSpPr txBox="1"/>
          <p:nvPr/>
        </p:nvSpPr>
        <p:spPr>
          <a:xfrm>
            <a:off x="1752600" y="5029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99" name="Text Box 51"/>
          <p:cNvSpPr txBox="1"/>
          <p:nvPr/>
        </p:nvSpPr>
        <p:spPr>
          <a:xfrm>
            <a:off x="4191000" y="5018088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Freeform 2"/>
          <p:cNvSpPr/>
          <p:nvPr/>
        </p:nvSpPr>
        <p:spPr>
          <a:xfrm>
            <a:off x="1697038" y="1905000"/>
            <a:ext cx="3205162" cy="3221038"/>
          </a:xfrm>
          <a:custGeom>
            <a:avLst/>
            <a:gdLst>
              <a:gd name="txL" fmla="*/ 0 w 2019"/>
              <a:gd name="txT" fmla="*/ 0 h 2029"/>
              <a:gd name="txR" fmla="*/ 2019 w 2019"/>
              <a:gd name="txB" fmla="*/ 2029 h 202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019" h="2029">
                <a:moveTo>
                  <a:pt x="275" y="0"/>
                </a:moveTo>
                <a:lnTo>
                  <a:pt x="1790" y="11"/>
                </a:lnTo>
                <a:lnTo>
                  <a:pt x="2008" y="131"/>
                </a:lnTo>
                <a:lnTo>
                  <a:pt x="2019" y="1909"/>
                </a:lnTo>
                <a:lnTo>
                  <a:pt x="1866" y="2007"/>
                </a:lnTo>
                <a:lnTo>
                  <a:pt x="131" y="2029"/>
                </a:lnTo>
                <a:lnTo>
                  <a:pt x="11" y="1843"/>
                </a:lnTo>
                <a:lnTo>
                  <a:pt x="0" y="196"/>
                </a:lnTo>
                <a:lnTo>
                  <a:pt x="83" y="48"/>
                </a:lnTo>
                <a:lnTo>
                  <a:pt x="275" y="0"/>
                </a:lnTo>
                <a:close/>
              </a:path>
            </a:pathLst>
          </a:cu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4275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76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77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78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79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80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81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82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4283" name="AutoShape 11"/>
          <p:cNvCxnSpPr>
            <a:stCxn id="54278" idx="6"/>
            <a:endCxn id="54275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84" name="AutoShape 12"/>
          <p:cNvCxnSpPr>
            <a:stCxn id="54275" idx="6"/>
            <a:endCxn id="54276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85" name="AutoShape 13"/>
          <p:cNvCxnSpPr>
            <a:stCxn id="54278" idx="4"/>
            <a:endCxn id="54282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86" name="AutoShape 14"/>
          <p:cNvCxnSpPr>
            <a:stCxn id="54282" idx="6"/>
            <a:endCxn id="54277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87" name="AutoShape 15"/>
          <p:cNvCxnSpPr>
            <a:stCxn id="54277" idx="6"/>
            <a:endCxn id="54279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88" name="AutoShape 16"/>
          <p:cNvCxnSpPr>
            <a:stCxn id="54276" idx="4"/>
            <a:endCxn id="54279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89" name="AutoShape 17"/>
          <p:cNvCxnSpPr>
            <a:stCxn id="54278" idx="5"/>
            <a:endCxn id="54280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0" name="AutoShape 18"/>
          <p:cNvCxnSpPr>
            <a:stCxn id="54280" idx="5"/>
            <a:endCxn id="54277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1" name="AutoShape 19"/>
          <p:cNvCxnSpPr>
            <a:stCxn id="54282" idx="7"/>
            <a:endCxn id="54280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2" name="AutoShape 20"/>
          <p:cNvCxnSpPr>
            <a:stCxn id="54280" idx="7"/>
            <a:endCxn id="54275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3" name="AutoShape 21"/>
          <p:cNvCxnSpPr>
            <a:stCxn id="54277" idx="0"/>
            <a:endCxn id="54275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4" name="AutoShape 22"/>
          <p:cNvCxnSpPr>
            <a:stCxn id="54275" idx="5"/>
            <a:endCxn id="54281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5" name="AutoShape 23"/>
          <p:cNvCxnSpPr>
            <a:stCxn id="54281" idx="7"/>
            <a:endCxn id="54276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4296" name="AutoShape 24"/>
          <p:cNvCxnSpPr>
            <a:stCxn id="54281" idx="5"/>
            <a:endCxn id="54279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4297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98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299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0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1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2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3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4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5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6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7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8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09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10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4311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4312" name="AutoShape 40"/>
          <p:cNvCxnSpPr>
            <a:stCxn id="54277" idx="7"/>
            <a:endCxn id="54281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4313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={1,2,4,6,7}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4314" name="Text Box 42"/>
          <p:cNvSpPr txBox="1"/>
          <p:nvPr/>
        </p:nvSpPr>
        <p:spPr>
          <a:xfrm>
            <a:off x="914400" y="5410200"/>
            <a:ext cx="8229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23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25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75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78</a:t>
            </a:r>
            <a:r>
              <a:rPr lang="en-US" altLang="en-US" dirty="0">
                <a:latin typeface="Times New Roman" panose="02020603050405020304" pitchFamily="18" charset="0"/>
              </a:rPr>
              <a:t>}=min {2+6,2+5,3+3,3+8}=min {8,7,6,11}=6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X={1,2,4,5,6,7}, p</a:t>
            </a:r>
            <a:r>
              <a:rPr lang="en-US" altLang="en-US" baseline="-25000" dirty="0">
                <a:latin typeface="Times New Roman" panose="02020603050405020304" pitchFamily="18" charset="0"/>
              </a:rPr>
              <a:t>5</a:t>
            </a:r>
            <a:r>
              <a:rPr lang="en-US" altLang="en-US" dirty="0">
                <a:latin typeface="Times New Roman" panose="02020603050405020304" pitchFamily="18" charset="0"/>
              </a:rPr>
              <a:t>=6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4315" name="Text Box 43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6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7" name="Text Box 45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54" name="Line 46"/>
          <p:cNvSpPr/>
          <p:nvPr/>
        </p:nvSpPr>
        <p:spPr>
          <a:xfrm>
            <a:off x="4724400" y="2251075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55" name="Line 47"/>
          <p:cNvSpPr/>
          <p:nvPr/>
        </p:nvSpPr>
        <p:spPr>
          <a:xfrm>
            <a:off x="4648200" y="2590800"/>
            <a:ext cx="838200" cy="838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4320" name="Text Box 48"/>
          <p:cNvSpPr txBox="1"/>
          <p:nvPr/>
        </p:nvSpPr>
        <p:spPr>
          <a:xfrm>
            <a:off x="1752600" y="5029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21" name="Text Box 49"/>
          <p:cNvSpPr txBox="1"/>
          <p:nvPr/>
        </p:nvSpPr>
        <p:spPr>
          <a:xfrm>
            <a:off x="4191000" y="5018088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58" name="Line 50"/>
          <p:cNvSpPr/>
          <p:nvPr/>
        </p:nvSpPr>
        <p:spPr>
          <a:xfrm>
            <a:off x="4724400" y="4876800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59" name="Line 51"/>
          <p:cNvSpPr/>
          <p:nvPr/>
        </p:nvSpPr>
        <p:spPr>
          <a:xfrm flipV="1">
            <a:off x="4759325" y="3810000"/>
            <a:ext cx="838200" cy="838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60" name="Text Box 52"/>
          <p:cNvSpPr txBox="1"/>
          <p:nvPr/>
        </p:nvSpPr>
        <p:spPr>
          <a:xfrm>
            <a:off x="53340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=6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8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0" dur="500"/>
                                        <p:tgtEl>
                                          <p:spTgt spid="6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6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Freeform 2"/>
          <p:cNvSpPr/>
          <p:nvPr/>
        </p:nvSpPr>
        <p:spPr>
          <a:xfrm>
            <a:off x="1697038" y="1905000"/>
            <a:ext cx="4400550" cy="3221038"/>
          </a:xfrm>
          <a:custGeom>
            <a:avLst/>
            <a:gdLst>
              <a:gd name="txL" fmla="*/ 0 w 2772"/>
              <a:gd name="txT" fmla="*/ 0 h 2029"/>
              <a:gd name="txR" fmla="*/ 2772 w 2772"/>
              <a:gd name="txB" fmla="*/ 2029 h 202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772" h="2029">
                <a:moveTo>
                  <a:pt x="275" y="0"/>
                </a:moveTo>
                <a:lnTo>
                  <a:pt x="1790" y="11"/>
                </a:lnTo>
                <a:lnTo>
                  <a:pt x="1975" y="76"/>
                </a:lnTo>
                <a:lnTo>
                  <a:pt x="2772" y="916"/>
                </a:lnTo>
                <a:lnTo>
                  <a:pt x="2772" y="1123"/>
                </a:lnTo>
                <a:lnTo>
                  <a:pt x="2019" y="1909"/>
                </a:lnTo>
                <a:lnTo>
                  <a:pt x="1866" y="2007"/>
                </a:lnTo>
                <a:lnTo>
                  <a:pt x="131" y="2029"/>
                </a:lnTo>
                <a:lnTo>
                  <a:pt x="11" y="1843"/>
                </a:lnTo>
                <a:lnTo>
                  <a:pt x="0" y="196"/>
                </a:lnTo>
                <a:lnTo>
                  <a:pt x="83" y="48"/>
                </a:lnTo>
                <a:lnTo>
                  <a:pt x="275" y="0"/>
                </a:lnTo>
                <a:close/>
              </a:path>
            </a:pathLst>
          </a:cu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5299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0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1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2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3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4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5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06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5307" name="AutoShape 11"/>
          <p:cNvCxnSpPr>
            <a:stCxn id="55302" idx="6"/>
            <a:endCxn id="55299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08" name="AutoShape 12"/>
          <p:cNvCxnSpPr>
            <a:stCxn id="55299" idx="6"/>
            <a:endCxn id="55300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09" name="AutoShape 13"/>
          <p:cNvCxnSpPr>
            <a:stCxn id="55302" idx="4"/>
            <a:endCxn id="55306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0" name="AutoShape 14"/>
          <p:cNvCxnSpPr>
            <a:stCxn id="55306" idx="6"/>
            <a:endCxn id="55301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1" name="AutoShape 15"/>
          <p:cNvCxnSpPr>
            <a:stCxn id="55301" idx="6"/>
            <a:endCxn id="55303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2" name="AutoShape 16"/>
          <p:cNvCxnSpPr>
            <a:stCxn id="55300" idx="4"/>
            <a:endCxn id="55303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3" name="AutoShape 17"/>
          <p:cNvCxnSpPr>
            <a:stCxn id="55302" idx="5"/>
            <a:endCxn id="55304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4" name="AutoShape 18"/>
          <p:cNvCxnSpPr>
            <a:stCxn id="55304" idx="5"/>
            <a:endCxn id="55301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5" name="AutoShape 19"/>
          <p:cNvCxnSpPr>
            <a:stCxn id="55306" idx="7"/>
            <a:endCxn id="55304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6" name="AutoShape 20"/>
          <p:cNvCxnSpPr>
            <a:stCxn id="55304" idx="7"/>
            <a:endCxn id="55299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7" name="AutoShape 21"/>
          <p:cNvCxnSpPr>
            <a:stCxn id="55301" idx="0"/>
            <a:endCxn id="55299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8" name="AutoShape 22"/>
          <p:cNvCxnSpPr>
            <a:stCxn id="55299" idx="5"/>
            <a:endCxn id="55305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19" name="AutoShape 23"/>
          <p:cNvCxnSpPr>
            <a:stCxn id="55305" idx="7"/>
            <a:endCxn id="55300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5320" name="AutoShape 24"/>
          <p:cNvCxnSpPr>
            <a:stCxn id="55305" idx="5"/>
            <a:endCxn id="55303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5321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2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3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4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5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6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7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8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29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30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31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32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33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34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5335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5336" name="AutoShape 40"/>
          <p:cNvCxnSpPr>
            <a:stCxn id="55301" idx="7"/>
            <a:endCxn id="55305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5337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={1,2,4,6,7}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5338" name="Text Box 42"/>
          <p:cNvSpPr txBox="1"/>
          <p:nvPr/>
        </p:nvSpPr>
        <p:spPr>
          <a:xfrm>
            <a:off x="304800" y="5487988"/>
            <a:ext cx="88392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latin typeface="Times New Roman" panose="02020603050405020304" pitchFamily="18" charset="0"/>
              </a:rPr>
              <a:t>23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53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58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78</a:t>
            </a:r>
            <a:r>
              <a:rPr lang="en-US" altLang="en-US" dirty="0">
                <a:latin typeface="Times New Roman" panose="02020603050405020304" pitchFamily="18" charset="0"/>
              </a:rPr>
              <a:t>}=min {2+6,6+9,6+4,3+8}=min {8,15,10,11}=8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X={1,2,3,4,5,6,7}, p</a:t>
            </a:r>
            <a:r>
              <a:rPr lang="en-US" altLang="en-US" baseline="-25000" dirty="0">
                <a:latin typeface="Times New Roman" panose="02020603050405020304" pitchFamily="18" charset="0"/>
              </a:rPr>
              <a:t>3</a:t>
            </a:r>
            <a:r>
              <a:rPr lang="en-US" altLang="en-US" dirty="0">
                <a:latin typeface="Times New Roman" panose="02020603050405020304" pitchFamily="18" charset="0"/>
              </a:rPr>
              <a:t>=8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5339" name="Text Box 43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0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1" name="Text Box 45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78" name="Line 46"/>
          <p:cNvSpPr/>
          <p:nvPr/>
        </p:nvSpPr>
        <p:spPr>
          <a:xfrm>
            <a:off x="4724400" y="2251075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5343" name="Text Box 47"/>
          <p:cNvSpPr txBox="1"/>
          <p:nvPr/>
        </p:nvSpPr>
        <p:spPr>
          <a:xfrm>
            <a:off x="1752600" y="5029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4" name="Text Box 48"/>
          <p:cNvSpPr txBox="1"/>
          <p:nvPr/>
        </p:nvSpPr>
        <p:spPr>
          <a:xfrm>
            <a:off x="4191000" y="5018088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81" name="Line 49"/>
          <p:cNvSpPr/>
          <p:nvPr/>
        </p:nvSpPr>
        <p:spPr>
          <a:xfrm>
            <a:off x="4724400" y="4876800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5346" name="Text Box 50"/>
          <p:cNvSpPr txBox="1"/>
          <p:nvPr/>
        </p:nvSpPr>
        <p:spPr>
          <a:xfrm>
            <a:off x="53340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=6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83" name="Text Box 51"/>
          <p:cNvSpPr txBox="1"/>
          <p:nvPr/>
        </p:nvSpPr>
        <p:spPr>
          <a:xfrm>
            <a:off x="6629400" y="1641475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=8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84" name="Line 52"/>
          <p:cNvSpPr/>
          <p:nvPr/>
        </p:nvSpPr>
        <p:spPr>
          <a:xfrm flipV="1">
            <a:off x="5943600" y="2590800"/>
            <a:ext cx="838200" cy="914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85" name="Line 53"/>
          <p:cNvSpPr/>
          <p:nvPr/>
        </p:nvSpPr>
        <p:spPr>
          <a:xfrm>
            <a:off x="5943600" y="3657600"/>
            <a:ext cx="914400" cy="914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6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6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9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9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9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9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8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Freeform 2"/>
          <p:cNvSpPr/>
          <p:nvPr/>
        </p:nvSpPr>
        <p:spPr>
          <a:xfrm>
            <a:off x="1697038" y="1905000"/>
            <a:ext cx="5699125" cy="3221038"/>
          </a:xfrm>
          <a:custGeom>
            <a:avLst/>
            <a:gdLst>
              <a:gd name="txL" fmla="*/ 0 w 3590"/>
              <a:gd name="txT" fmla="*/ 0 h 2029"/>
              <a:gd name="txR" fmla="*/ 3590 w 3590"/>
              <a:gd name="txB" fmla="*/ 2029 h 202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3590" h="2029">
                <a:moveTo>
                  <a:pt x="275" y="0"/>
                </a:moveTo>
                <a:lnTo>
                  <a:pt x="1790" y="11"/>
                </a:lnTo>
                <a:lnTo>
                  <a:pt x="3470" y="11"/>
                </a:lnTo>
                <a:lnTo>
                  <a:pt x="3590" y="120"/>
                </a:lnTo>
                <a:lnTo>
                  <a:pt x="3590" y="316"/>
                </a:lnTo>
                <a:lnTo>
                  <a:pt x="2019" y="1909"/>
                </a:lnTo>
                <a:lnTo>
                  <a:pt x="1866" y="2007"/>
                </a:lnTo>
                <a:lnTo>
                  <a:pt x="131" y="2029"/>
                </a:lnTo>
                <a:lnTo>
                  <a:pt x="11" y="1843"/>
                </a:lnTo>
                <a:lnTo>
                  <a:pt x="0" y="196"/>
                </a:lnTo>
                <a:lnTo>
                  <a:pt x="83" y="48"/>
                </a:lnTo>
                <a:lnTo>
                  <a:pt x="275" y="0"/>
                </a:lnTo>
                <a:close/>
              </a:path>
            </a:pathLst>
          </a:cu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6323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24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25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26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27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28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29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30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6331" name="AutoShape 11"/>
          <p:cNvCxnSpPr>
            <a:stCxn id="56326" idx="6"/>
            <a:endCxn id="56323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2" name="AutoShape 12"/>
          <p:cNvCxnSpPr>
            <a:stCxn id="56323" idx="6"/>
            <a:endCxn id="56324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3" name="AutoShape 13"/>
          <p:cNvCxnSpPr>
            <a:stCxn id="56326" idx="4"/>
            <a:endCxn id="56330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4" name="AutoShape 14"/>
          <p:cNvCxnSpPr>
            <a:stCxn id="56330" idx="6"/>
            <a:endCxn id="56325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5" name="AutoShape 15"/>
          <p:cNvCxnSpPr>
            <a:stCxn id="56325" idx="6"/>
            <a:endCxn id="56327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6" name="AutoShape 16"/>
          <p:cNvCxnSpPr>
            <a:stCxn id="56324" idx="4"/>
            <a:endCxn id="56327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7" name="AutoShape 17"/>
          <p:cNvCxnSpPr>
            <a:stCxn id="56326" idx="5"/>
            <a:endCxn id="56328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8" name="AutoShape 18"/>
          <p:cNvCxnSpPr>
            <a:stCxn id="56328" idx="5"/>
            <a:endCxn id="56325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39" name="AutoShape 19"/>
          <p:cNvCxnSpPr>
            <a:stCxn id="56330" idx="7"/>
            <a:endCxn id="56328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40" name="AutoShape 20"/>
          <p:cNvCxnSpPr>
            <a:stCxn id="56328" idx="7"/>
            <a:endCxn id="56323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41" name="AutoShape 21"/>
          <p:cNvCxnSpPr>
            <a:stCxn id="56325" idx="0"/>
            <a:endCxn id="56323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42" name="AutoShape 22"/>
          <p:cNvCxnSpPr>
            <a:stCxn id="56323" idx="5"/>
            <a:endCxn id="56329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43" name="AutoShape 23"/>
          <p:cNvCxnSpPr>
            <a:stCxn id="56329" idx="7"/>
            <a:endCxn id="56324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6344" name="AutoShape 24"/>
          <p:cNvCxnSpPr>
            <a:stCxn id="56329" idx="5"/>
            <a:endCxn id="56327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6345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46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47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48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49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0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1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2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3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4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5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6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7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8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6359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6360" name="AutoShape 40"/>
          <p:cNvCxnSpPr>
            <a:stCxn id="56325" idx="7"/>
            <a:endCxn id="56329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6361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={1,2,3,4,6,7}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6362" name="Text Box 42"/>
          <p:cNvSpPr txBox="1"/>
          <p:nvPr/>
        </p:nvSpPr>
        <p:spPr>
          <a:xfrm>
            <a:off x="685800" y="5487988"/>
            <a:ext cx="84582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min {c</a:t>
            </a:r>
            <a:r>
              <a:rPr lang="en-US" altLang="en-US" baseline="-25000" dirty="0">
                <a:latin typeface="Times New Roman" panose="02020603050405020304" pitchFamily="18" charset="0"/>
              </a:rPr>
              <a:t>38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58</a:t>
            </a:r>
            <a:r>
              <a:rPr lang="en-US" altLang="en-US" dirty="0">
                <a:latin typeface="Times New Roman" panose="02020603050405020304" pitchFamily="18" charset="0"/>
              </a:rPr>
              <a:t>,c</a:t>
            </a:r>
            <a:r>
              <a:rPr lang="en-US" altLang="en-US" baseline="-25000" dirty="0">
                <a:latin typeface="Times New Roman" panose="02020603050405020304" pitchFamily="18" charset="0"/>
              </a:rPr>
              <a:t>78</a:t>
            </a:r>
            <a:r>
              <a:rPr lang="en-US" altLang="en-US" dirty="0">
                <a:latin typeface="Times New Roman" panose="02020603050405020304" pitchFamily="18" charset="0"/>
              </a:rPr>
              <a:t>}=min {8+6,6+4,3+7}=min {14,10,11}=10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X={1,2,3,4,5,6,7,8}, p</a:t>
            </a:r>
            <a:r>
              <a:rPr lang="en-US" altLang="en-US" baseline="-25000" dirty="0">
                <a:latin typeface="Times New Roman" panose="02020603050405020304" pitchFamily="18" charset="0"/>
              </a:rPr>
              <a:t>8</a:t>
            </a:r>
            <a:r>
              <a:rPr lang="en-US" altLang="en-US" dirty="0">
                <a:latin typeface="Times New Roman" panose="02020603050405020304" pitchFamily="18" charset="0"/>
              </a:rPr>
              <a:t>=10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6363" name="Text Box 43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4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5" name="Text Box 45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6" name="Text Box 46"/>
          <p:cNvSpPr txBox="1"/>
          <p:nvPr/>
        </p:nvSpPr>
        <p:spPr>
          <a:xfrm>
            <a:off x="1752600" y="5029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67" name="Text Box 47"/>
          <p:cNvSpPr txBox="1"/>
          <p:nvPr/>
        </p:nvSpPr>
        <p:spPr>
          <a:xfrm>
            <a:off x="4191000" y="5018088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704" name="Line 48"/>
          <p:cNvSpPr/>
          <p:nvPr/>
        </p:nvSpPr>
        <p:spPr>
          <a:xfrm>
            <a:off x="4724400" y="4876800"/>
            <a:ext cx="19812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6369" name="Text Box 49"/>
          <p:cNvSpPr txBox="1"/>
          <p:nvPr/>
        </p:nvSpPr>
        <p:spPr>
          <a:xfrm>
            <a:off x="53340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=6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70" name="Text Box 50"/>
          <p:cNvSpPr txBox="1"/>
          <p:nvPr/>
        </p:nvSpPr>
        <p:spPr>
          <a:xfrm>
            <a:off x="6629400" y="1641475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=8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707" name="Line 51"/>
          <p:cNvSpPr/>
          <p:nvPr/>
        </p:nvSpPr>
        <p:spPr>
          <a:xfrm>
            <a:off x="5943600" y="3657600"/>
            <a:ext cx="914400" cy="914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708" name="Line 52"/>
          <p:cNvSpPr/>
          <p:nvPr/>
        </p:nvSpPr>
        <p:spPr>
          <a:xfrm>
            <a:off x="7010400" y="2590800"/>
            <a:ext cx="0" cy="1981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709" name="Text Box 53"/>
          <p:cNvSpPr txBox="1"/>
          <p:nvPr/>
        </p:nvSpPr>
        <p:spPr>
          <a:xfrm>
            <a:off x="6535738" y="4965700"/>
            <a:ext cx="914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0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0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7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0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0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Freeform 2"/>
          <p:cNvSpPr/>
          <p:nvPr/>
        </p:nvSpPr>
        <p:spPr>
          <a:xfrm>
            <a:off x="1697038" y="1905000"/>
            <a:ext cx="5699125" cy="3221038"/>
          </a:xfrm>
          <a:custGeom>
            <a:avLst/>
            <a:gdLst>
              <a:gd name="txL" fmla="*/ 0 w 3590"/>
              <a:gd name="txT" fmla="*/ 0 h 2029"/>
              <a:gd name="txR" fmla="*/ 3590 w 3590"/>
              <a:gd name="txB" fmla="*/ 2029 h 2029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3590" h="2029">
                <a:moveTo>
                  <a:pt x="275" y="0"/>
                </a:moveTo>
                <a:lnTo>
                  <a:pt x="1790" y="11"/>
                </a:lnTo>
                <a:lnTo>
                  <a:pt x="3470" y="11"/>
                </a:lnTo>
                <a:lnTo>
                  <a:pt x="3590" y="120"/>
                </a:lnTo>
                <a:lnTo>
                  <a:pt x="3590" y="1767"/>
                </a:lnTo>
                <a:lnTo>
                  <a:pt x="3568" y="1963"/>
                </a:lnTo>
                <a:lnTo>
                  <a:pt x="3448" y="2007"/>
                </a:lnTo>
                <a:lnTo>
                  <a:pt x="131" y="2029"/>
                </a:lnTo>
                <a:lnTo>
                  <a:pt x="11" y="1843"/>
                </a:lnTo>
                <a:lnTo>
                  <a:pt x="0" y="196"/>
                </a:lnTo>
                <a:lnTo>
                  <a:pt x="83" y="48"/>
                </a:lnTo>
                <a:lnTo>
                  <a:pt x="275" y="0"/>
                </a:lnTo>
                <a:close/>
              </a:path>
            </a:pathLst>
          </a:custGeom>
          <a:solidFill>
            <a:srgbClr val="336600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347" name="Oval 3"/>
          <p:cNvSpPr/>
          <p:nvPr/>
        </p:nvSpPr>
        <p:spPr>
          <a:xfrm>
            <a:off x="43053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48" name="Oval 4"/>
          <p:cNvSpPr/>
          <p:nvPr/>
        </p:nvSpPr>
        <p:spPr>
          <a:xfrm>
            <a:off x="6705600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49" name="Oval 5"/>
          <p:cNvSpPr/>
          <p:nvPr/>
        </p:nvSpPr>
        <p:spPr>
          <a:xfrm>
            <a:off x="4308475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50" name="Oval 6"/>
          <p:cNvSpPr/>
          <p:nvPr/>
        </p:nvSpPr>
        <p:spPr>
          <a:xfrm>
            <a:off x="1922463" y="21161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51" name="Oval 7"/>
          <p:cNvSpPr/>
          <p:nvPr/>
        </p:nvSpPr>
        <p:spPr>
          <a:xfrm>
            <a:off x="6694488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52" name="Oval 8"/>
          <p:cNvSpPr/>
          <p:nvPr/>
        </p:nvSpPr>
        <p:spPr>
          <a:xfrm>
            <a:off x="3124200" y="3335338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53" name="Oval 9"/>
          <p:cNvSpPr/>
          <p:nvPr/>
        </p:nvSpPr>
        <p:spPr>
          <a:xfrm>
            <a:off x="5503863" y="3357563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54" name="Oval 10"/>
          <p:cNvSpPr/>
          <p:nvPr/>
        </p:nvSpPr>
        <p:spPr>
          <a:xfrm>
            <a:off x="1922463" y="4546600"/>
            <a:ext cx="457200" cy="457200"/>
          </a:xfrm>
          <a:prstGeom prst="ellipse">
            <a:avLst/>
          </a:prstGeom>
          <a:solidFill>
            <a:srgbClr val="6699FF"/>
          </a:solidFill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7355" name="AutoShape 11"/>
          <p:cNvCxnSpPr>
            <a:stCxn id="57350" idx="6"/>
            <a:endCxn id="57347" idx="2"/>
          </p:cNvCxnSpPr>
          <p:nvPr/>
        </p:nvCxnSpPr>
        <p:spPr>
          <a:xfrm>
            <a:off x="2395538" y="2344738"/>
            <a:ext cx="1893887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56" name="AutoShape 12"/>
          <p:cNvCxnSpPr>
            <a:stCxn id="57347" idx="6"/>
            <a:endCxn id="57348" idx="2"/>
          </p:cNvCxnSpPr>
          <p:nvPr/>
        </p:nvCxnSpPr>
        <p:spPr>
          <a:xfrm>
            <a:off x="4778375" y="2344738"/>
            <a:ext cx="1911350" cy="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57" name="AutoShape 13"/>
          <p:cNvCxnSpPr>
            <a:stCxn id="57350" idx="4"/>
            <a:endCxn id="57354" idx="0"/>
          </p:cNvCxnSpPr>
          <p:nvPr/>
        </p:nvCxnSpPr>
        <p:spPr>
          <a:xfrm>
            <a:off x="2151063" y="2589213"/>
            <a:ext cx="0" cy="194151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58" name="AutoShape 14"/>
          <p:cNvCxnSpPr>
            <a:stCxn id="57354" idx="6"/>
            <a:endCxn id="57349" idx="2"/>
          </p:cNvCxnSpPr>
          <p:nvPr/>
        </p:nvCxnSpPr>
        <p:spPr>
          <a:xfrm>
            <a:off x="2395538" y="4775200"/>
            <a:ext cx="1897062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59" name="AutoShape 15"/>
          <p:cNvCxnSpPr>
            <a:stCxn id="57349" idx="6"/>
            <a:endCxn id="57351" idx="2"/>
          </p:cNvCxnSpPr>
          <p:nvPr/>
        </p:nvCxnSpPr>
        <p:spPr>
          <a:xfrm>
            <a:off x="4781550" y="4775200"/>
            <a:ext cx="1897063" cy="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0" name="AutoShape 16"/>
          <p:cNvCxnSpPr>
            <a:stCxn id="57348" idx="4"/>
            <a:endCxn id="57351" idx="0"/>
          </p:cNvCxnSpPr>
          <p:nvPr/>
        </p:nvCxnSpPr>
        <p:spPr>
          <a:xfrm flipH="1">
            <a:off x="6923088" y="2589213"/>
            <a:ext cx="11112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1" name="AutoShape 17"/>
          <p:cNvCxnSpPr>
            <a:stCxn id="57350" idx="5"/>
            <a:endCxn id="57352" idx="1"/>
          </p:cNvCxnSpPr>
          <p:nvPr/>
        </p:nvCxnSpPr>
        <p:spPr>
          <a:xfrm>
            <a:off x="2312988" y="2522538"/>
            <a:ext cx="877887" cy="8636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2" name="AutoShape 18"/>
          <p:cNvCxnSpPr>
            <a:stCxn id="57352" idx="5"/>
            <a:endCxn id="57349" idx="1"/>
          </p:cNvCxnSpPr>
          <p:nvPr/>
        </p:nvCxnSpPr>
        <p:spPr>
          <a:xfrm>
            <a:off x="3514725" y="3741738"/>
            <a:ext cx="860425" cy="855662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3" name="AutoShape 19"/>
          <p:cNvCxnSpPr>
            <a:stCxn id="57354" idx="7"/>
            <a:endCxn id="57352" idx="3"/>
          </p:cNvCxnSpPr>
          <p:nvPr/>
        </p:nvCxnSpPr>
        <p:spPr>
          <a:xfrm flipV="1">
            <a:off x="2312988" y="3741738"/>
            <a:ext cx="877887" cy="8556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4" name="AutoShape 20"/>
          <p:cNvCxnSpPr>
            <a:stCxn id="57352" idx="7"/>
            <a:endCxn id="57347" idx="3"/>
          </p:cNvCxnSpPr>
          <p:nvPr/>
        </p:nvCxnSpPr>
        <p:spPr>
          <a:xfrm flipV="1">
            <a:off x="3514725" y="2522538"/>
            <a:ext cx="857250" cy="863600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5" name="AutoShape 21"/>
          <p:cNvCxnSpPr>
            <a:stCxn id="57349" idx="0"/>
            <a:endCxn id="57347" idx="4"/>
          </p:cNvCxnSpPr>
          <p:nvPr/>
        </p:nvCxnSpPr>
        <p:spPr>
          <a:xfrm flipH="1" flipV="1">
            <a:off x="4533900" y="2589213"/>
            <a:ext cx="3175" cy="194151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6" name="AutoShape 22"/>
          <p:cNvCxnSpPr>
            <a:stCxn id="57347" idx="5"/>
            <a:endCxn id="57353" idx="1"/>
          </p:cNvCxnSpPr>
          <p:nvPr/>
        </p:nvCxnSpPr>
        <p:spPr>
          <a:xfrm>
            <a:off x="4695825" y="2522538"/>
            <a:ext cx="874713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7" name="AutoShape 23"/>
          <p:cNvCxnSpPr>
            <a:stCxn id="57353" idx="7"/>
            <a:endCxn id="57348" idx="3"/>
          </p:cNvCxnSpPr>
          <p:nvPr/>
        </p:nvCxnSpPr>
        <p:spPr>
          <a:xfrm flipV="1">
            <a:off x="5894388" y="2522538"/>
            <a:ext cx="877887" cy="8858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lg"/>
          </a:ln>
        </p:spPr>
      </p:cxnSp>
      <p:cxnSp>
        <p:nvCxnSpPr>
          <p:cNvPr id="57368" name="AutoShape 24"/>
          <p:cNvCxnSpPr>
            <a:stCxn id="57353" idx="5"/>
            <a:endCxn id="57351" idx="1"/>
          </p:cNvCxnSpPr>
          <p:nvPr/>
        </p:nvCxnSpPr>
        <p:spPr>
          <a:xfrm>
            <a:off x="5894388" y="3763963"/>
            <a:ext cx="866775" cy="833437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7369" name="Text Box 25"/>
          <p:cNvSpPr txBox="1"/>
          <p:nvPr/>
        </p:nvSpPr>
        <p:spPr>
          <a:xfrm>
            <a:off x="5410200" y="1951038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0" name="Text Box 26"/>
          <p:cNvSpPr txBox="1"/>
          <p:nvPr/>
        </p:nvSpPr>
        <p:spPr>
          <a:xfrm>
            <a:off x="27432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1" name="Text Box 27"/>
          <p:cNvSpPr txBox="1"/>
          <p:nvPr/>
        </p:nvSpPr>
        <p:spPr>
          <a:xfrm>
            <a:off x="18288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2" name="Text Box 28"/>
          <p:cNvSpPr txBox="1"/>
          <p:nvPr/>
        </p:nvSpPr>
        <p:spPr>
          <a:xfrm>
            <a:off x="32004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3" name="Text Box 29"/>
          <p:cNvSpPr txBox="1"/>
          <p:nvPr/>
        </p:nvSpPr>
        <p:spPr>
          <a:xfrm>
            <a:off x="3581400" y="2651125"/>
            <a:ext cx="45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10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4" name="Text Box 30"/>
          <p:cNvSpPr txBox="1"/>
          <p:nvPr/>
        </p:nvSpPr>
        <p:spPr>
          <a:xfrm>
            <a:off x="27432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5" name="Text Box 31"/>
          <p:cNvSpPr txBox="1"/>
          <p:nvPr/>
        </p:nvSpPr>
        <p:spPr>
          <a:xfrm>
            <a:off x="3657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6" name="Text Box 32"/>
          <p:cNvSpPr txBox="1"/>
          <p:nvPr/>
        </p:nvSpPr>
        <p:spPr>
          <a:xfrm>
            <a:off x="4267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7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7" name="Text Box 33"/>
          <p:cNvSpPr txBox="1"/>
          <p:nvPr/>
        </p:nvSpPr>
        <p:spPr>
          <a:xfrm>
            <a:off x="51054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8" name="Text Box 34"/>
          <p:cNvSpPr txBox="1"/>
          <p:nvPr/>
        </p:nvSpPr>
        <p:spPr>
          <a:xfrm>
            <a:off x="6019800" y="26511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79" name="Text Box 35"/>
          <p:cNvSpPr txBox="1"/>
          <p:nvPr/>
        </p:nvSpPr>
        <p:spPr>
          <a:xfrm>
            <a:off x="5181600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80" name="Text Box 36"/>
          <p:cNvSpPr txBox="1"/>
          <p:nvPr/>
        </p:nvSpPr>
        <p:spPr>
          <a:xfrm>
            <a:off x="6002338" y="4022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81" name="Text Box 37"/>
          <p:cNvSpPr txBox="1"/>
          <p:nvPr/>
        </p:nvSpPr>
        <p:spPr>
          <a:xfrm>
            <a:off x="6934200" y="33369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82" name="Text Box 38"/>
          <p:cNvSpPr txBox="1"/>
          <p:nvPr/>
        </p:nvSpPr>
        <p:spPr>
          <a:xfrm>
            <a:off x="5638800" y="478472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57383" name="Text Box 39"/>
          <p:cNvSpPr txBox="1"/>
          <p:nvPr/>
        </p:nvSpPr>
        <p:spPr>
          <a:xfrm>
            <a:off x="3200400" y="1946275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57384" name="AutoShape 40"/>
          <p:cNvCxnSpPr>
            <a:stCxn id="57349" idx="7"/>
            <a:endCxn id="57353" idx="3"/>
          </p:cNvCxnSpPr>
          <p:nvPr/>
        </p:nvCxnSpPr>
        <p:spPr>
          <a:xfrm flipV="1">
            <a:off x="4699000" y="3763963"/>
            <a:ext cx="871538" cy="833437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stealth" w="med" len="lg"/>
          </a:ln>
        </p:spPr>
      </p:cxnSp>
      <p:sp>
        <p:nvSpPr>
          <p:cNvPr id="57385" name="Text Box 41"/>
          <p:cNvSpPr txBox="1"/>
          <p:nvPr/>
        </p:nvSpPr>
        <p:spPr>
          <a:xfrm>
            <a:off x="838200" y="838200"/>
            <a:ext cx="7315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en-US" sz="2800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={1,2,3,4,6,7,8}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57386" name="Text Box 42"/>
          <p:cNvSpPr txBox="1"/>
          <p:nvPr/>
        </p:nvSpPr>
        <p:spPr>
          <a:xfrm>
            <a:off x="685800" y="5487988"/>
            <a:ext cx="845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到8的最短路径为{1，4，7，5，8}，长度为10。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387" name="Text Box 43"/>
          <p:cNvSpPr txBox="1"/>
          <p:nvPr/>
        </p:nvSpPr>
        <p:spPr>
          <a:xfrm>
            <a:off x="41148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=2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88" name="Text Box 44"/>
          <p:cNvSpPr txBox="1"/>
          <p:nvPr/>
        </p:nvSpPr>
        <p:spPr>
          <a:xfrm>
            <a:off x="29718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89" name="Text Box 45"/>
          <p:cNvSpPr txBox="1"/>
          <p:nvPr/>
        </p:nvSpPr>
        <p:spPr>
          <a:xfrm>
            <a:off x="1752600" y="16002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90" name="Text Box 46"/>
          <p:cNvSpPr txBox="1"/>
          <p:nvPr/>
        </p:nvSpPr>
        <p:spPr>
          <a:xfrm>
            <a:off x="1752600" y="5029200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91" name="Text Box 47"/>
          <p:cNvSpPr txBox="1"/>
          <p:nvPr/>
        </p:nvSpPr>
        <p:spPr>
          <a:xfrm>
            <a:off x="4191000" y="5018088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=3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92" name="Text Box 48"/>
          <p:cNvSpPr txBox="1"/>
          <p:nvPr/>
        </p:nvSpPr>
        <p:spPr>
          <a:xfrm>
            <a:off x="5334000" y="2819400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=6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93" name="Text Box 49"/>
          <p:cNvSpPr txBox="1"/>
          <p:nvPr/>
        </p:nvSpPr>
        <p:spPr>
          <a:xfrm>
            <a:off x="6629400" y="1641475"/>
            <a:ext cx="76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=8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94" name="Text Box 50"/>
          <p:cNvSpPr txBox="1"/>
          <p:nvPr/>
        </p:nvSpPr>
        <p:spPr>
          <a:xfrm>
            <a:off x="6535738" y="4965700"/>
            <a:ext cx="914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=10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5" name="Text Box 1026"/>
          <p:cNvSpPr txBox="1"/>
          <p:nvPr/>
        </p:nvSpPr>
        <p:spPr>
          <a:xfrm>
            <a:off x="1219200" y="762000"/>
            <a:ext cx="563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求从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到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的最短路线。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3314" name="Object 1027"/>
          <p:cNvGraphicFramePr/>
          <p:nvPr/>
        </p:nvGraphicFramePr>
        <p:xfrm>
          <a:off x="1295400" y="1752600"/>
          <a:ext cx="68580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2981325" imgH="1704975" progId="MSDraw.Drawing.8.2">
                  <p:embed/>
                </p:oleObj>
              </mc:Choice>
              <mc:Fallback>
                <p:oleObj name="" r:id="rId1" imgW="2981325" imgH="1704975" progId="MSDraw.Drawing.8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1752600"/>
                        <a:ext cx="6858000" cy="358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8370" name="Group 3"/>
          <p:cNvGrpSpPr/>
          <p:nvPr/>
        </p:nvGrpSpPr>
        <p:grpSpPr>
          <a:xfrm>
            <a:off x="7938" y="536575"/>
            <a:ext cx="9128125" cy="6013450"/>
            <a:chOff x="0" y="384"/>
            <a:chExt cx="3534" cy="4813"/>
          </a:xfrm>
        </p:grpSpPr>
        <p:grpSp>
          <p:nvGrpSpPr>
            <p:cNvPr id="58372" name="Group 4"/>
            <p:cNvGrpSpPr/>
            <p:nvPr/>
          </p:nvGrpSpPr>
          <p:grpSpPr>
            <a:xfrm>
              <a:off x="0" y="384"/>
              <a:ext cx="448" cy="384"/>
              <a:chOff x="0" y="384"/>
              <a:chExt cx="448" cy="384"/>
            </a:xfrm>
          </p:grpSpPr>
          <p:sp>
            <p:nvSpPr>
              <p:cNvPr id="58571" name="Rectangle 5"/>
              <p:cNvSpPr/>
              <p:nvPr/>
            </p:nvSpPr>
            <p:spPr>
              <a:xfrm>
                <a:off x="43" y="384"/>
                <a:ext cx="36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72" name="Rectangle 6"/>
              <p:cNvSpPr/>
              <p:nvPr/>
            </p:nvSpPr>
            <p:spPr>
              <a:xfrm>
                <a:off x="0" y="384"/>
                <a:ext cx="44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3" name="Group 7"/>
            <p:cNvGrpSpPr/>
            <p:nvPr/>
          </p:nvGrpSpPr>
          <p:grpSpPr>
            <a:xfrm>
              <a:off x="448" y="384"/>
              <a:ext cx="424" cy="384"/>
              <a:chOff x="448" y="384"/>
              <a:chExt cx="424" cy="384"/>
            </a:xfrm>
          </p:grpSpPr>
          <p:sp>
            <p:nvSpPr>
              <p:cNvPr id="58569" name="Rectangle 8"/>
              <p:cNvSpPr/>
              <p:nvPr/>
            </p:nvSpPr>
            <p:spPr>
              <a:xfrm>
                <a:off x="491" y="384"/>
                <a:ext cx="33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70" name="Rectangle 9"/>
              <p:cNvSpPr/>
              <p:nvPr/>
            </p:nvSpPr>
            <p:spPr>
              <a:xfrm>
                <a:off x="448" y="384"/>
                <a:ext cx="42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4" name="Group 10"/>
            <p:cNvGrpSpPr/>
            <p:nvPr/>
          </p:nvGrpSpPr>
          <p:grpSpPr>
            <a:xfrm>
              <a:off x="872" y="384"/>
              <a:ext cx="424" cy="384"/>
              <a:chOff x="872" y="384"/>
              <a:chExt cx="424" cy="384"/>
            </a:xfrm>
          </p:grpSpPr>
          <p:sp>
            <p:nvSpPr>
              <p:cNvPr id="58567" name="Rectangle 11"/>
              <p:cNvSpPr/>
              <p:nvPr/>
            </p:nvSpPr>
            <p:spPr>
              <a:xfrm>
                <a:off x="915" y="384"/>
                <a:ext cx="33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68" name="Rectangle 12"/>
              <p:cNvSpPr/>
              <p:nvPr/>
            </p:nvSpPr>
            <p:spPr>
              <a:xfrm>
                <a:off x="872" y="384"/>
                <a:ext cx="42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5" name="Group 13"/>
            <p:cNvGrpSpPr/>
            <p:nvPr/>
          </p:nvGrpSpPr>
          <p:grpSpPr>
            <a:xfrm>
              <a:off x="1296" y="384"/>
              <a:ext cx="422" cy="384"/>
              <a:chOff x="1296" y="384"/>
              <a:chExt cx="422" cy="384"/>
            </a:xfrm>
          </p:grpSpPr>
          <p:sp>
            <p:nvSpPr>
              <p:cNvPr id="58565" name="Rectangle 14"/>
              <p:cNvSpPr/>
              <p:nvPr/>
            </p:nvSpPr>
            <p:spPr>
              <a:xfrm>
                <a:off x="1339" y="384"/>
                <a:ext cx="33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66" name="Rectangle 15"/>
              <p:cNvSpPr/>
              <p:nvPr/>
            </p:nvSpPr>
            <p:spPr>
              <a:xfrm>
                <a:off x="1296" y="384"/>
                <a:ext cx="422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6" name="Group 16"/>
            <p:cNvGrpSpPr/>
            <p:nvPr/>
          </p:nvGrpSpPr>
          <p:grpSpPr>
            <a:xfrm>
              <a:off x="1718" y="384"/>
              <a:ext cx="424" cy="384"/>
              <a:chOff x="1718" y="384"/>
              <a:chExt cx="424" cy="384"/>
            </a:xfrm>
          </p:grpSpPr>
          <p:sp>
            <p:nvSpPr>
              <p:cNvPr id="58563" name="Rectangle 17"/>
              <p:cNvSpPr/>
              <p:nvPr/>
            </p:nvSpPr>
            <p:spPr>
              <a:xfrm>
                <a:off x="1761" y="384"/>
                <a:ext cx="33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64" name="Rectangle 18"/>
              <p:cNvSpPr/>
              <p:nvPr/>
            </p:nvSpPr>
            <p:spPr>
              <a:xfrm>
                <a:off x="1718" y="384"/>
                <a:ext cx="42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7" name="Group 19"/>
            <p:cNvGrpSpPr/>
            <p:nvPr/>
          </p:nvGrpSpPr>
          <p:grpSpPr>
            <a:xfrm>
              <a:off x="2142" y="384"/>
              <a:ext cx="464" cy="384"/>
              <a:chOff x="2142" y="384"/>
              <a:chExt cx="464" cy="384"/>
            </a:xfrm>
          </p:grpSpPr>
          <p:sp>
            <p:nvSpPr>
              <p:cNvPr id="58561" name="Rectangle 20"/>
              <p:cNvSpPr/>
              <p:nvPr/>
            </p:nvSpPr>
            <p:spPr>
              <a:xfrm>
                <a:off x="2185" y="384"/>
                <a:ext cx="37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6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62" name="Rectangle 21"/>
              <p:cNvSpPr/>
              <p:nvPr/>
            </p:nvSpPr>
            <p:spPr>
              <a:xfrm>
                <a:off x="2142" y="384"/>
                <a:ext cx="46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8" name="Group 22"/>
            <p:cNvGrpSpPr/>
            <p:nvPr/>
          </p:nvGrpSpPr>
          <p:grpSpPr>
            <a:xfrm>
              <a:off x="2606" y="384"/>
              <a:ext cx="464" cy="384"/>
              <a:chOff x="2606" y="384"/>
              <a:chExt cx="464" cy="384"/>
            </a:xfrm>
          </p:grpSpPr>
          <p:sp>
            <p:nvSpPr>
              <p:cNvPr id="58559" name="Rectangle 23"/>
              <p:cNvSpPr/>
              <p:nvPr/>
            </p:nvSpPr>
            <p:spPr>
              <a:xfrm>
                <a:off x="2649" y="384"/>
                <a:ext cx="37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7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60" name="Rectangle 24"/>
              <p:cNvSpPr/>
              <p:nvPr/>
            </p:nvSpPr>
            <p:spPr>
              <a:xfrm>
                <a:off x="2606" y="384"/>
                <a:ext cx="46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79" name="Group 25"/>
            <p:cNvGrpSpPr/>
            <p:nvPr/>
          </p:nvGrpSpPr>
          <p:grpSpPr>
            <a:xfrm>
              <a:off x="3070" y="384"/>
              <a:ext cx="464" cy="384"/>
              <a:chOff x="3070" y="384"/>
              <a:chExt cx="464" cy="384"/>
            </a:xfrm>
          </p:grpSpPr>
          <p:sp>
            <p:nvSpPr>
              <p:cNvPr id="58557" name="Rectangle 26"/>
              <p:cNvSpPr/>
              <p:nvPr/>
            </p:nvSpPr>
            <p:spPr>
              <a:xfrm>
                <a:off x="3113" y="384"/>
                <a:ext cx="378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ctr"/>
                <a:r>
                  <a:rPr lang="en-US" altLang="zh-CN" sz="18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8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ctr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58" name="Rectangle 27"/>
              <p:cNvSpPr/>
              <p:nvPr/>
            </p:nvSpPr>
            <p:spPr>
              <a:xfrm>
                <a:off x="3070" y="384"/>
                <a:ext cx="464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0" name="Group 28"/>
            <p:cNvGrpSpPr/>
            <p:nvPr/>
          </p:nvGrpSpPr>
          <p:grpSpPr>
            <a:xfrm>
              <a:off x="0" y="768"/>
              <a:ext cx="448" cy="480"/>
              <a:chOff x="0" y="768"/>
              <a:chExt cx="448" cy="480"/>
            </a:xfrm>
          </p:grpSpPr>
          <p:sp>
            <p:nvSpPr>
              <p:cNvPr id="58555" name="Rectangle 29"/>
              <p:cNvSpPr/>
              <p:nvPr/>
            </p:nvSpPr>
            <p:spPr>
              <a:xfrm>
                <a:off x="43" y="768"/>
                <a:ext cx="362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① 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=0</a:t>
                </a:r>
                <a:endParaRPr lang="en-US" altLang="zh-CN" sz="1800" b="1" dirty="0">
                  <a:solidFill>
                    <a:srgbClr val="0000CC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56" name="Rectangle 30"/>
              <p:cNvSpPr/>
              <p:nvPr/>
            </p:nvSpPr>
            <p:spPr>
              <a:xfrm>
                <a:off x="0" y="768"/>
                <a:ext cx="448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1" name="Group 31"/>
            <p:cNvGrpSpPr/>
            <p:nvPr/>
          </p:nvGrpSpPr>
          <p:grpSpPr>
            <a:xfrm>
              <a:off x="448" y="768"/>
              <a:ext cx="424" cy="480"/>
              <a:chOff x="448" y="768"/>
              <a:chExt cx="424" cy="480"/>
            </a:xfrm>
          </p:grpSpPr>
          <p:sp>
            <p:nvSpPr>
              <p:cNvPr id="58553" name="Rectangle 32"/>
              <p:cNvSpPr/>
              <p:nvPr/>
            </p:nvSpPr>
            <p:spPr>
              <a:xfrm>
                <a:off x="491" y="768"/>
                <a:ext cx="33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54" name="Rectangle 33"/>
              <p:cNvSpPr/>
              <p:nvPr/>
            </p:nvSpPr>
            <p:spPr>
              <a:xfrm>
                <a:off x="448" y="768"/>
                <a:ext cx="42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2" name="Group 34"/>
            <p:cNvGrpSpPr/>
            <p:nvPr/>
          </p:nvGrpSpPr>
          <p:grpSpPr>
            <a:xfrm>
              <a:off x="872" y="768"/>
              <a:ext cx="424" cy="480"/>
              <a:chOff x="872" y="768"/>
              <a:chExt cx="424" cy="480"/>
            </a:xfrm>
          </p:grpSpPr>
          <p:sp>
            <p:nvSpPr>
              <p:cNvPr id="58551" name="Rectangle 35"/>
              <p:cNvSpPr/>
              <p:nvPr/>
            </p:nvSpPr>
            <p:spPr>
              <a:xfrm>
                <a:off x="915" y="768"/>
                <a:ext cx="33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52" name="Rectangle 36"/>
              <p:cNvSpPr/>
              <p:nvPr/>
            </p:nvSpPr>
            <p:spPr>
              <a:xfrm>
                <a:off x="872" y="768"/>
                <a:ext cx="42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3" name="Group 37"/>
            <p:cNvGrpSpPr/>
            <p:nvPr/>
          </p:nvGrpSpPr>
          <p:grpSpPr>
            <a:xfrm>
              <a:off x="1296" y="768"/>
              <a:ext cx="422" cy="480"/>
              <a:chOff x="1296" y="768"/>
              <a:chExt cx="422" cy="480"/>
            </a:xfrm>
          </p:grpSpPr>
          <p:sp>
            <p:nvSpPr>
              <p:cNvPr id="58549" name="Rectangle 38"/>
              <p:cNvSpPr/>
              <p:nvPr/>
            </p:nvSpPr>
            <p:spPr>
              <a:xfrm>
                <a:off x="1339" y="768"/>
                <a:ext cx="33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50" name="Rectangle 39"/>
              <p:cNvSpPr/>
              <p:nvPr/>
            </p:nvSpPr>
            <p:spPr>
              <a:xfrm>
                <a:off x="1296" y="768"/>
                <a:ext cx="42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4" name="Group 40"/>
            <p:cNvGrpSpPr/>
            <p:nvPr/>
          </p:nvGrpSpPr>
          <p:grpSpPr>
            <a:xfrm>
              <a:off x="1718" y="768"/>
              <a:ext cx="424" cy="480"/>
              <a:chOff x="1718" y="768"/>
              <a:chExt cx="424" cy="480"/>
            </a:xfrm>
          </p:grpSpPr>
          <p:sp>
            <p:nvSpPr>
              <p:cNvPr id="58547" name="Rectangle 41"/>
              <p:cNvSpPr/>
              <p:nvPr/>
            </p:nvSpPr>
            <p:spPr>
              <a:xfrm>
                <a:off x="1761" y="768"/>
                <a:ext cx="33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48" name="Rectangle 42"/>
              <p:cNvSpPr/>
              <p:nvPr/>
            </p:nvSpPr>
            <p:spPr>
              <a:xfrm>
                <a:off x="1718" y="768"/>
                <a:ext cx="42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5" name="Group 43"/>
            <p:cNvGrpSpPr/>
            <p:nvPr/>
          </p:nvGrpSpPr>
          <p:grpSpPr>
            <a:xfrm>
              <a:off x="2142" y="768"/>
              <a:ext cx="464" cy="480"/>
              <a:chOff x="2142" y="768"/>
              <a:chExt cx="464" cy="480"/>
            </a:xfrm>
          </p:grpSpPr>
          <p:sp>
            <p:nvSpPr>
              <p:cNvPr id="58545" name="Rectangle 44"/>
              <p:cNvSpPr/>
              <p:nvPr/>
            </p:nvSpPr>
            <p:spPr>
              <a:xfrm>
                <a:off x="2185" y="768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46" name="Rectangle 45"/>
              <p:cNvSpPr/>
              <p:nvPr/>
            </p:nvSpPr>
            <p:spPr>
              <a:xfrm>
                <a:off x="2142" y="768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6" name="Group 46"/>
            <p:cNvGrpSpPr/>
            <p:nvPr/>
          </p:nvGrpSpPr>
          <p:grpSpPr>
            <a:xfrm>
              <a:off x="2606" y="768"/>
              <a:ext cx="464" cy="480"/>
              <a:chOff x="2606" y="768"/>
              <a:chExt cx="464" cy="480"/>
            </a:xfrm>
          </p:grpSpPr>
          <p:sp>
            <p:nvSpPr>
              <p:cNvPr id="58543" name="Rectangle 47"/>
              <p:cNvSpPr/>
              <p:nvPr/>
            </p:nvSpPr>
            <p:spPr>
              <a:xfrm>
                <a:off x="2649" y="768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44" name="Rectangle 48"/>
              <p:cNvSpPr/>
              <p:nvPr/>
            </p:nvSpPr>
            <p:spPr>
              <a:xfrm>
                <a:off x="2606" y="768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7" name="Group 49"/>
            <p:cNvGrpSpPr/>
            <p:nvPr/>
          </p:nvGrpSpPr>
          <p:grpSpPr>
            <a:xfrm>
              <a:off x="3070" y="768"/>
              <a:ext cx="464" cy="480"/>
              <a:chOff x="3070" y="768"/>
              <a:chExt cx="464" cy="480"/>
            </a:xfrm>
          </p:grpSpPr>
          <p:sp>
            <p:nvSpPr>
              <p:cNvPr id="58541" name="Rectangle 50"/>
              <p:cNvSpPr/>
              <p:nvPr/>
            </p:nvSpPr>
            <p:spPr>
              <a:xfrm>
                <a:off x="3113" y="768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42" name="Rectangle 51"/>
              <p:cNvSpPr/>
              <p:nvPr/>
            </p:nvSpPr>
            <p:spPr>
              <a:xfrm>
                <a:off x="3070" y="768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8" name="Group 52"/>
            <p:cNvGrpSpPr/>
            <p:nvPr/>
          </p:nvGrpSpPr>
          <p:grpSpPr>
            <a:xfrm>
              <a:off x="0" y="1248"/>
              <a:ext cx="448" cy="567"/>
              <a:chOff x="0" y="1248"/>
              <a:chExt cx="448" cy="567"/>
            </a:xfrm>
          </p:grpSpPr>
          <p:sp>
            <p:nvSpPr>
              <p:cNvPr id="58539" name="Rectangle 53"/>
              <p:cNvSpPr/>
              <p:nvPr/>
            </p:nvSpPr>
            <p:spPr>
              <a:xfrm>
                <a:off x="43" y="1248"/>
                <a:ext cx="362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②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40" name="Rectangle 54"/>
              <p:cNvSpPr/>
              <p:nvPr/>
            </p:nvSpPr>
            <p:spPr>
              <a:xfrm>
                <a:off x="0" y="1248"/>
                <a:ext cx="448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89" name="Group 55"/>
            <p:cNvGrpSpPr/>
            <p:nvPr/>
          </p:nvGrpSpPr>
          <p:grpSpPr>
            <a:xfrm>
              <a:off x="448" y="1248"/>
              <a:ext cx="424" cy="567"/>
              <a:chOff x="448" y="1248"/>
              <a:chExt cx="424" cy="567"/>
            </a:xfrm>
          </p:grpSpPr>
          <p:sp>
            <p:nvSpPr>
              <p:cNvPr id="58537" name="Rectangle 56"/>
              <p:cNvSpPr/>
              <p:nvPr/>
            </p:nvSpPr>
            <p:spPr>
              <a:xfrm>
                <a:off x="491" y="1248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=T=3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8" name="Rectangle 57"/>
              <p:cNvSpPr/>
              <p:nvPr/>
            </p:nvSpPr>
            <p:spPr>
              <a:xfrm>
                <a:off x="448" y="1248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0" name="Group 58"/>
            <p:cNvGrpSpPr/>
            <p:nvPr/>
          </p:nvGrpSpPr>
          <p:grpSpPr>
            <a:xfrm>
              <a:off x="872" y="1248"/>
              <a:ext cx="424" cy="567"/>
              <a:chOff x="872" y="1248"/>
              <a:chExt cx="424" cy="567"/>
            </a:xfrm>
          </p:grpSpPr>
          <p:sp>
            <p:nvSpPr>
              <p:cNvPr id="58535" name="Rectangle 59"/>
              <p:cNvSpPr/>
              <p:nvPr/>
            </p:nvSpPr>
            <p:spPr>
              <a:xfrm>
                <a:off x="915" y="1248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6" name="Rectangle 60"/>
              <p:cNvSpPr/>
              <p:nvPr/>
            </p:nvSpPr>
            <p:spPr>
              <a:xfrm>
                <a:off x="872" y="1248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1" name="Group 61"/>
            <p:cNvGrpSpPr/>
            <p:nvPr/>
          </p:nvGrpSpPr>
          <p:grpSpPr>
            <a:xfrm>
              <a:off x="1296" y="1248"/>
              <a:ext cx="422" cy="567"/>
              <a:chOff x="1296" y="1248"/>
              <a:chExt cx="422" cy="567"/>
            </a:xfrm>
          </p:grpSpPr>
          <p:sp>
            <p:nvSpPr>
              <p:cNvPr id="58533" name="Rectangle 62"/>
              <p:cNvSpPr/>
              <p:nvPr/>
            </p:nvSpPr>
            <p:spPr>
              <a:xfrm>
                <a:off x="1339" y="1248"/>
                <a:ext cx="336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T=7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4" name="Rectangle 63"/>
              <p:cNvSpPr/>
              <p:nvPr/>
            </p:nvSpPr>
            <p:spPr>
              <a:xfrm>
                <a:off x="1296" y="1248"/>
                <a:ext cx="422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2" name="Group 64"/>
            <p:cNvGrpSpPr/>
            <p:nvPr/>
          </p:nvGrpSpPr>
          <p:grpSpPr>
            <a:xfrm>
              <a:off x="1718" y="1248"/>
              <a:ext cx="424" cy="567"/>
              <a:chOff x="1718" y="1248"/>
              <a:chExt cx="424" cy="567"/>
            </a:xfrm>
          </p:grpSpPr>
          <p:sp>
            <p:nvSpPr>
              <p:cNvPr id="58531" name="Rectangle 65"/>
              <p:cNvSpPr/>
              <p:nvPr/>
            </p:nvSpPr>
            <p:spPr>
              <a:xfrm>
                <a:off x="1761" y="1248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2" name="Rectangle 66"/>
              <p:cNvSpPr/>
              <p:nvPr/>
            </p:nvSpPr>
            <p:spPr>
              <a:xfrm>
                <a:off x="1718" y="1248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3" name="Group 67"/>
            <p:cNvGrpSpPr/>
            <p:nvPr/>
          </p:nvGrpSpPr>
          <p:grpSpPr>
            <a:xfrm>
              <a:off x="2142" y="1248"/>
              <a:ext cx="464" cy="567"/>
              <a:chOff x="2142" y="1248"/>
              <a:chExt cx="464" cy="567"/>
            </a:xfrm>
          </p:grpSpPr>
          <p:sp>
            <p:nvSpPr>
              <p:cNvPr id="58529" name="Rectangle 68"/>
              <p:cNvSpPr/>
              <p:nvPr/>
            </p:nvSpPr>
            <p:spPr>
              <a:xfrm>
                <a:off x="2185" y="1248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30" name="Rectangle 69"/>
              <p:cNvSpPr/>
              <p:nvPr/>
            </p:nvSpPr>
            <p:spPr>
              <a:xfrm>
                <a:off x="2142" y="1248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4" name="Group 70"/>
            <p:cNvGrpSpPr/>
            <p:nvPr/>
          </p:nvGrpSpPr>
          <p:grpSpPr>
            <a:xfrm>
              <a:off x="2606" y="1248"/>
              <a:ext cx="464" cy="567"/>
              <a:chOff x="2606" y="1248"/>
              <a:chExt cx="464" cy="567"/>
            </a:xfrm>
          </p:grpSpPr>
          <p:sp>
            <p:nvSpPr>
              <p:cNvPr id="58527" name="Rectangle 71"/>
              <p:cNvSpPr/>
              <p:nvPr/>
            </p:nvSpPr>
            <p:spPr>
              <a:xfrm>
                <a:off x="2649" y="1248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8" name="Rectangle 72"/>
              <p:cNvSpPr/>
              <p:nvPr/>
            </p:nvSpPr>
            <p:spPr>
              <a:xfrm>
                <a:off x="2606" y="1248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5" name="Group 73"/>
            <p:cNvGrpSpPr/>
            <p:nvPr/>
          </p:nvGrpSpPr>
          <p:grpSpPr>
            <a:xfrm>
              <a:off x="3070" y="1248"/>
              <a:ext cx="464" cy="567"/>
              <a:chOff x="3070" y="1248"/>
              <a:chExt cx="464" cy="567"/>
            </a:xfrm>
          </p:grpSpPr>
          <p:sp>
            <p:nvSpPr>
              <p:cNvPr id="58525" name="Rectangle 74"/>
              <p:cNvSpPr/>
              <p:nvPr/>
            </p:nvSpPr>
            <p:spPr>
              <a:xfrm>
                <a:off x="3113" y="1248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6" name="Rectangle 75"/>
              <p:cNvSpPr/>
              <p:nvPr/>
            </p:nvSpPr>
            <p:spPr>
              <a:xfrm>
                <a:off x="3070" y="1248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6" name="Group 76"/>
            <p:cNvGrpSpPr/>
            <p:nvPr/>
          </p:nvGrpSpPr>
          <p:grpSpPr>
            <a:xfrm>
              <a:off x="0" y="1815"/>
              <a:ext cx="448" cy="480"/>
              <a:chOff x="0" y="1815"/>
              <a:chExt cx="448" cy="480"/>
            </a:xfrm>
          </p:grpSpPr>
          <p:sp>
            <p:nvSpPr>
              <p:cNvPr id="58523" name="Rectangle 77"/>
              <p:cNvSpPr/>
              <p:nvPr/>
            </p:nvSpPr>
            <p:spPr>
              <a:xfrm>
                <a:off x="43" y="1815"/>
                <a:ext cx="362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4" name="Rectangle 78"/>
              <p:cNvSpPr/>
              <p:nvPr/>
            </p:nvSpPr>
            <p:spPr>
              <a:xfrm>
                <a:off x="0" y="1815"/>
                <a:ext cx="448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7" name="Group 79"/>
            <p:cNvGrpSpPr/>
            <p:nvPr/>
          </p:nvGrpSpPr>
          <p:grpSpPr>
            <a:xfrm>
              <a:off x="448" y="1815"/>
              <a:ext cx="424" cy="480"/>
              <a:chOff x="448" y="1815"/>
              <a:chExt cx="424" cy="480"/>
            </a:xfrm>
          </p:grpSpPr>
          <p:sp>
            <p:nvSpPr>
              <p:cNvPr id="58521" name="Rectangle 80"/>
              <p:cNvSpPr/>
              <p:nvPr/>
            </p:nvSpPr>
            <p:spPr>
              <a:xfrm>
                <a:off x="491" y="1815"/>
                <a:ext cx="33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③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2" name="Rectangle 81"/>
              <p:cNvSpPr/>
              <p:nvPr/>
            </p:nvSpPr>
            <p:spPr>
              <a:xfrm>
                <a:off x="448" y="1815"/>
                <a:ext cx="42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8" name="Group 82"/>
            <p:cNvGrpSpPr/>
            <p:nvPr/>
          </p:nvGrpSpPr>
          <p:grpSpPr>
            <a:xfrm>
              <a:off x="872" y="1815"/>
              <a:ext cx="424" cy="480"/>
              <a:chOff x="872" y="1815"/>
              <a:chExt cx="424" cy="480"/>
            </a:xfrm>
          </p:grpSpPr>
          <p:sp>
            <p:nvSpPr>
              <p:cNvPr id="58519" name="Rectangle 83"/>
              <p:cNvSpPr/>
              <p:nvPr/>
            </p:nvSpPr>
            <p:spPr>
              <a:xfrm>
                <a:off x="915" y="1815"/>
                <a:ext cx="33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T=6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20" name="Rectangle 84"/>
              <p:cNvSpPr/>
              <p:nvPr/>
            </p:nvSpPr>
            <p:spPr>
              <a:xfrm>
                <a:off x="872" y="1815"/>
                <a:ext cx="42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399" name="Group 85"/>
            <p:cNvGrpSpPr/>
            <p:nvPr/>
          </p:nvGrpSpPr>
          <p:grpSpPr>
            <a:xfrm>
              <a:off x="1296" y="1815"/>
              <a:ext cx="422" cy="480"/>
              <a:chOff x="1296" y="1815"/>
              <a:chExt cx="422" cy="480"/>
            </a:xfrm>
          </p:grpSpPr>
          <p:sp>
            <p:nvSpPr>
              <p:cNvPr id="58517" name="Rectangle 86"/>
              <p:cNvSpPr/>
              <p:nvPr/>
            </p:nvSpPr>
            <p:spPr>
              <a:xfrm>
                <a:off x="1339" y="1815"/>
                <a:ext cx="336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T=7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18" name="Rectangle 87"/>
              <p:cNvSpPr/>
              <p:nvPr/>
            </p:nvSpPr>
            <p:spPr>
              <a:xfrm>
                <a:off x="1296" y="1815"/>
                <a:ext cx="422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0" name="Group 88"/>
            <p:cNvGrpSpPr/>
            <p:nvPr/>
          </p:nvGrpSpPr>
          <p:grpSpPr>
            <a:xfrm>
              <a:off x="1718" y="1815"/>
              <a:ext cx="424" cy="480"/>
              <a:chOff x="1718" y="1815"/>
              <a:chExt cx="424" cy="480"/>
            </a:xfrm>
          </p:grpSpPr>
          <p:sp>
            <p:nvSpPr>
              <p:cNvPr id="58515" name="Rectangle 89"/>
              <p:cNvSpPr/>
              <p:nvPr/>
            </p:nvSpPr>
            <p:spPr>
              <a:xfrm>
                <a:off x="1761" y="1815"/>
                <a:ext cx="33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=T=5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16" name="Rectangle 90"/>
              <p:cNvSpPr/>
              <p:nvPr/>
            </p:nvSpPr>
            <p:spPr>
              <a:xfrm>
                <a:off x="1718" y="1815"/>
                <a:ext cx="42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1" name="Group 91"/>
            <p:cNvGrpSpPr/>
            <p:nvPr/>
          </p:nvGrpSpPr>
          <p:grpSpPr>
            <a:xfrm>
              <a:off x="2142" y="1815"/>
              <a:ext cx="464" cy="480"/>
              <a:chOff x="2142" y="1815"/>
              <a:chExt cx="464" cy="480"/>
            </a:xfrm>
          </p:grpSpPr>
          <p:sp>
            <p:nvSpPr>
              <p:cNvPr id="58513" name="Rectangle 92"/>
              <p:cNvSpPr/>
              <p:nvPr/>
            </p:nvSpPr>
            <p:spPr>
              <a:xfrm>
                <a:off x="2185" y="1815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14" name="Rectangle 93"/>
              <p:cNvSpPr/>
              <p:nvPr/>
            </p:nvSpPr>
            <p:spPr>
              <a:xfrm>
                <a:off x="2142" y="1815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2" name="Group 94"/>
            <p:cNvGrpSpPr/>
            <p:nvPr/>
          </p:nvGrpSpPr>
          <p:grpSpPr>
            <a:xfrm>
              <a:off x="2606" y="1815"/>
              <a:ext cx="464" cy="480"/>
              <a:chOff x="2606" y="1815"/>
              <a:chExt cx="464" cy="480"/>
            </a:xfrm>
          </p:grpSpPr>
          <p:sp>
            <p:nvSpPr>
              <p:cNvPr id="58511" name="Rectangle 95"/>
              <p:cNvSpPr/>
              <p:nvPr/>
            </p:nvSpPr>
            <p:spPr>
              <a:xfrm>
                <a:off x="2649" y="1815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12" name="Rectangle 96"/>
              <p:cNvSpPr/>
              <p:nvPr/>
            </p:nvSpPr>
            <p:spPr>
              <a:xfrm>
                <a:off x="2606" y="1815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3" name="Group 97"/>
            <p:cNvGrpSpPr/>
            <p:nvPr/>
          </p:nvGrpSpPr>
          <p:grpSpPr>
            <a:xfrm>
              <a:off x="3070" y="1815"/>
              <a:ext cx="464" cy="480"/>
              <a:chOff x="3070" y="1815"/>
              <a:chExt cx="464" cy="480"/>
            </a:xfrm>
          </p:grpSpPr>
          <p:sp>
            <p:nvSpPr>
              <p:cNvPr id="58509" name="Rectangle 98"/>
              <p:cNvSpPr/>
              <p:nvPr/>
            </p:nvSpPr>
            <p:spPr>
              <a:xfrm>
                <a:off x="3113" y="1815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10" name="Rectangle 99"/>
              <p:cNvSpPr/>
              <p:nvPr/>
            </p:nvSpPr>
            <p:spPr>
              <a:xfrm>
                <a:off x="3070" y="1815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4" name="Group 100"/>
            <p:cNvGrpSpPr/>
            <p:nvPr/>
          </p:nvGrpSpPr>
          <p:grpSpPr>
            <a:xfrm>
              <a:off x="0" y="2295"/>
              <a:ext cx="448" cy="567"/>
              <a:chOff x="0" y="2295"/>
              <a:chExt cx="448" cy="567"/>
            </a:xfrm>
          </p:grpSpPr>
          <p:sp>
            <p:nvSpPr>
              <p:cNvPr id="58507" name="Rectangle 101"/>
              <p:cNvSpPr/>
              <p:nvPr/>
            </p:nvSpPr>
            <p:spPr>
              <a:xfrm>
                <a:off x="43" y="2295"/>
                <a:ext cx="362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8" name="Rectangle 102"/>
              <p:cNvSpPr/>
              <p:nvPr/>
            </p:nvSpPr>
            <p:spPr>
              <a:xfrm>
                <a:off x="0" y="2295"/>
                <a:ext cx="448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5" name="Group 103"/>
            <p:cNvGrpSpPr/>
            <p:nvPr/>
          </p:nvGrpSpPr>
          <p:grpSpPr>
            <a:xfrm>
              <a:off x="448" y="2295"/>
              <a:ext cx="424" cy="567"/>
              <a:chOff x="448" y="2295"/>
              <a:chExt cx="424" cy="567"/>
            </a:xfrm>
          </p:grpSpPr>
          <p:sp>
            <p:nvSpPr>
              <p:cNvPr id="58505" name="Rectangle 104"/>
              <p:cNvSpPr/>
              <p:nvPr/>
            </p:nvSpPr>
            <p:spPr>
              <a:xfrm>
                <a:off x="491" y="2295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④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6" name="Rectangle 105"/>
              <p:cNvSpPr/>
              <p:nvPr/>
            </p:nvSpPr>
            <p:spPr>
              <a:xfrm>
                <a:off x="448" y="2295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6" name="Group 106"/>
            <p:cNvGrpSpPr/>
            <p:nvPr/>
          </p:nvGrpSpPr>
          <p:grpSpPr>
            <a:xfrm>
              <a:off x="872" y="2295"/>
              <a:ext cx="424" cy="567"/>
              <a:chOff x="872" y="2295"/>
              <a:chExt cx="424" cy="567"/>
            </a:xfrm>
          </p:grpSpPr>
          <p:sp>
            <p:nvSpPr>
              <p:cNvPr id="58503" name="Rectangle 107"/>
              <p:cNvSpPr/>
              <p:nvPr/>
            </p:nvSpPr>
            <p:spPr>
              <a:xfrm>
                <a:off x="915" y="2295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=T=6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4" name="Rectangle 108"/>
              <p:cNvSpPr/>
              <p:nvPr/>
            </p:nvSpPr>
            <p:spPr>
              <a:xfrm>
                <a:off x="872" y="2295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7" name="Group 109"/>
            <p:cNvGrpSpPr/>
            <p:nvPr/>
          </p:nvGrpSpPr>
          <p:grpSpPr>
            <a:xfrm>
              <a:off x="1296" y="2295"/>
              <a:ext cx="422" cy="567"/>
              <a:chOff x="1296" y="2295"/>
              <a:chExt cx="422" cy="567"/>
            </a:xfrm>
          </p:grpSpPr>
          <p:sp>
            <p:nvSpPr>
              <p:cNvPr id="58501" name="Rectangle 110"/>
              <p:cNvSpPr/>
              <p:nvPr/>
            </p:nvSpPr>
            <p:spPr>
              <a:xfrm>
                <a:off x="1339" y="2295"/>
                <a:ext cx="336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T=6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2" name="Rectangle 111"/>
              <p:cNvSpPr/>
              <p:nvPr/>
            </p:nvSpPr>
            <p:spPr>
              <a:xfrm>
                <a:off x="1296" y="2295"/>
                <a:ext cx="422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8" name="Group 112"/>
            <p:cNvGrpSpPr/>
            <p:nvPr/>
          </p:nvGrpSpPr>
          <p:grpSpPr>
            <a:xfrm>
              <a:off x="1718" y="2295"/>
              <a:ext cx="424" cy="567"/>
              <a:chOff x="1718" y="2295"/>
              <a:chExt cx="424" cy="567"/>
            </a:xfrm>
          </p:grpSpPr>
          <p:sp>
            <p:nvSpPr>
              <p:cNvPr id="58499" name="Rectangle 113"/>
              <p:cNvSpPr/>
              <p:nvPr/>
            </p:nvSpPr>
            <p:spPr>
              <a:xfrm>
                <a:off x="1761" y="2295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500" name="Rectangle 114"/>
              <p:cNvSpPr/>
              <p:nvPr/>
            </p:nvSpPr>
            <p:spPr>
              <a:xfrm>
                <a:off x="1718" y="2295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09" name="Group 115"/>
            <p:cNvGrpSpPr/>
            <p:nvPr/>
          </p:nvGrpSpPr>
          <p:grpSpPr>
            <a:xfrm>
              <a:off x="2142" y="2295"/>
              <a:ext cx="464" cy="567"/>
              <a:chOff x="2142" y="2295"/>
              <a:chExt cx="464" cy="567"/>
            </a:xfrm>
          </p:grpSpPr>
          <p:sp>
            <p:nvSpPr>
              <p:cNvPr id="58497" name="Rectangle 116"/>
              <p:cNvSpPr/>
              <p:nvPr/>
            </p:nvSpPr>
            <p:spPr>
              <a:xfrm>
                <a:off x="2185" y="2295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T=8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8" name="Rectangle 117"/>
              <p:cNvSpPr/>
              <p:nvPr/>
            </p:nvSpPr>
            <p:spPr>
              <a:xfrm>
                <a:off x="2142" y="2295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0" name="Group 118"/>
            <p:cNvGrpSpPr/>
            <p:nvPr/>
          </p:nvGrpSpPr>
          <p:grpSpPr>
            <a:xfrm>
              <a:off x="2606" y="2295"/>
              <a:ext cx="464" cy="567"/>
              <a:chOff x="2606" y="2295"/>
              <a:chExt cx="464" cy="567"/>
            </a:xfrm>
          </p:grpSpPr>
          <p:sp>
            <p:nvSpPr>
              <p:cNvPr id="58495" name="Rectangle 119"/>
              <p:cNvSpPr/>
              <p:nvPr/>
            </p:nvSpPr>
            <p:spPr>
              <a:xfrm>
                <a:off x="2649" y="2295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6" name="Rectangle 120"/>
              <p:cNvSpPr/>
              <p:nvPr/>
            </p:nvSpPr>
            <p:spPr>
              <a:xfrm>
                <a:off x="2606" y="2295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1" name="Group 121"/>
            <p:cNvGrpSpPr/>
            <p:nvPr/>
          </p:nvGrpSpPr>
          <p:grpSpPr>
            <a:xfrm>
              <a:off x="3070" y="2295"/>
              <a:ext cx="464" cy="567"/>
              <a:chOff x="3070" y="2295"/>
              <a:chExt cx="464" cy="567"/>
            </a:xfrm>
          </p:grpSpPr>
          <p:sp>
            <p:nvSpPr>
              <p:cNvPr id="58493" name="Rectangle 122"/>
              <p:cNvSpPr/>
              <p:nvPr/>
            </p:nvSpPr>
            <p:spPr>
              <a:xfrm>
                <a:off x="3113" y="2295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T=+∞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4" name="Rectangle 123"/>
              <p:cNvSpPr/>
              <p:nvPr/>
            </p:nvSpPr>
            <p:spPr>
              <a:xfrm>
                <a:off x="3070" y="2295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2" name="Group 124"/>
            <p:cNvGrpSpPr/>
            <p:nvPr/>
          </p:nvGrpSpPr>
          <p:grpSpPr>
            <a:xfrm>
              <a:off x="0" y="2862"/>
              <a:ext cx="448" cy="721"/>
              <a:chOff x="0" y="2862"/>
              <a:chExt cx="448" cy="721"/>
            </a:xfrm>
          </p:grpSpPr>
          <p:sp>
            <p:nvSpPr>
              <p:cNvPr id="58491" name="Rectangle 125"/>
              <p:cNvSpPr/>
              <p:nvPr/>
            </p:nvSpPr>
            <p:spPr>
              <a:xfrm>
                <a:off x="43" y="2862"/>
                <a:ext cx="362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2" name="Rectangle 126"/>
              <p:cNvSpPr/>
              <p:nvPr/>
            </p:nvSpPr>
            <p:spPr>
              <a:xfrm>
                <a:off x="0" y="2862"/>
                <a:ext cx="448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3" name="Group 127"/>
            <p:cNvGrpSpPr/>
            <p:nvPr/>
          </p:nvGrpSpPr>
          <p:grpSpPr>
            <a:xfrm>
              <a:off x="448" y="2862"/>
              <a:ext cx="424" cy="721"/>
              <a:chOff x="448" y="2862"/>
              <a:chExt cx="424" cy="721"/>
            </a:xfrm>
          </p:grpSpPr>
          <p:sp>
            <p:nvSpPr>
              <p:cNvPr id="58489" name="Rectangle 128"/>
              <p:cNvSpPr/>
              <p:nvPr/>
            </p:nvSpPr>
            <p:spPr>
              <a:xfrm>
                <a:off x="491" y="2862"/>
                <a:ext cx="338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90" name="Rectangle 129"/>
              <p:cNvSpPr/>
              <p:nvPr/>
            </p:nvSpPr>
            <p:spPr>
              <a:xfrm>
                <a:off x="448" y="2862"/>
                <a:ext cx="424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4" name="Group 130"/>
            <p:cNvGrpSpPr/>
            <p:nvPr/>
          </p:nvGrpSpPr>
          <p:grpSpPr>
            <a:xfrm>
              <a:off x="872" y="2862"/>
              <a:ext cx="424" cy="721"/>
              <a:chOff x="872" y="2862"/>
              <a:chExt cx="424" cy="721"/>
            </a:xfrm>
          </p:grpSpPr>
          <p:sp>
            <p:nvSpPr>
              <p:cNvPr id="58487" name="Rectangle 131"/>
              <p:cNvSpPr/>
              <p:nvPr/>
            </p:nvSpPr>
            <p:spPr>
              <a:xfrm>
                <a:off x="915" y="2862"/>
                <a:ext cx="338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⑤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88" name="Rectangle 132"/>
              <p:cNvSpPr/>
              <p:nvPr/>
            </p:nvSpPr>
            <p:spPr>
              <a:xfrm>
                <a:off x="872" y="2862"/>
                <a:ext cx="424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5" name="Group 133"/>
            <p:cNvGrpSpPr/>
            <p:nvPr/>
          </p:nvGrpSpPr>
          <p:grpSpPr>
            <a:xfrm>
              <a:off x="1296" y="2862"/>
              <a:ext cx="422" cy="721"/>
              <a:chOff x="1296" y="2862"/>
              <a:chExt cx="422" cy="721"/>
            </a:xfrm>
          </p:grpSpPr>
          <p:sp>
            <p:nvSpPr>
              <p:cNvPr id="58485" name="Rectangle 134"/>
              <p:cNvSpPr/>
              <p:nvPr/>
            </p:nvSpPr>
            <p:spPr>
              <a:xfrm>
                <a:off x="1339" y="2862"/>
                <a:ext cx="336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=T=6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86" name="Rectangle 135"/>
              <p:cNvSpPr/>
              <p:nvPr/>
            </p:nvSpPr>
            <p:spPr>
              <a:xfrm>
                <a:off x="1296" y="2862"/>
                <a:ext cx="422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6" name="Group 136"/>
            <p:cNvGrpSpPr/>
            <p:nvPr/>
          </p:nvGrpSpPr>
          <p:grpSpPr>
            <a:xfrm>
              <a:off x="1718" y="2862"/>
              <a:ext cx="424" cy="721"/>
              <a:chOff x="1718" y="2862"/>
              <a:chExt cx="424" cy="721"/>
            </a:xfrm>
          </p:grpSpPr>
          <p:sp>
            <p:nvSpPr>
              <p:cNvPr id="58483" name="Rectangle 137"/>
              <p:cNvSpPr/>
              <p:nvPr/>
            </p:nvSpPr>
            <p:spPr>
              <a:xfrm>
                <a:off x="1761" y="2862"/>
                <a:ext cx="338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84" name="Rectangle 138"/>
              <p:cNvSpPr/>
              <p:nvPr/>
            </p:nvSpPr>
            <p:spPr>
              <a:xfrm>
                <a:off x="1718" y="2862"/>
                <a:ext cx="424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7" name="Group 139"/>
            <p:cNvGrpSpPr/>
            <p:nvPr/>
          </p:nvGrpSpPr>
          <p:grpSpPr>
            <a:xfrm>
              <a:off x="2142" y="2862"/>
              <a:ext cx="464" cy="721"/>
              <a:chOff x="2142" y="2862"/>
              <a:chExt cx="464" cy="721"/>
            </a:xfrm>
          </p:grpSpPr>
          <p:sp>
            <p:nvSpPr>
              <p:cNvPr id="58481" name="Rectangle 140"/>
              <p:cNvSpPr/>
              <p:nvPr/>
            </p:nvSpPr>
            <p:spPr>
              <a:xfrm>
                <a:off x="2185" y="2862"/>
                <a:ext cx="378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T=8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82" name="Rectangle 141"/>
              <p:cNvSpPr/>
              <p:nvPr/>
            </p:nvSpPr>
            <p:spPr>
              <a:xfrm>
                <a:off x="2142" y="2862"/>
                <a:ext cx="464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8" name="Group 142"/>
            <p:cNvGrpSpPr/>
            <p:nvPr/>
          </p:nvGrpSpPr>
          <p:grpSpPr>
            <a:xfrm>
              <a:off x="2606" y="2862"/>
              <a:ext cx="464" cy="721"/>
              <a:chOff x="2606" y="2862"/>
              <a:chExt cx="464" cy="721"/>
            </a:xfrm>
          </p:grpSpPr>
          <p:sp>
            <p:nvSpPr>
              <p:cNvPr id="58479" name="Rectangle 143"/>
              <p:cNvSpPr/>
              <p:nvPr/>
            </p:nvSpPr>
            <p:spPr>
              <a:xfrm>
                <a:off x="2649" y="2862"/>
                <a:ext cx="378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T=9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solidFill>
                    <a:schemeClr val="accent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80" name="Rectangle 144"/>
              <p:cNvSpPr/>
              <p:nvPr/>
            </p:nvSpPr>
            <p:spPr>
              <a:xfrm>
                <a:off x="2606" y="2862"/>
                <a:ext cx="464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19" name="Group 145"/>
            <p:cNvGrpSpPr/>
            <p:nvPr/>
          </p:nvGrpSpPr>
          <p:grpSpPr>
            <a:xfrm>
              <a:off x="3070" y="2862"/>
              <a:ext cx="464" cy="721"/>
              <a:chOff x="3070" y="2862"/>
              <a:chExt cx="464" cy="721"/>
            </a:xfrm>
          </p:grpSpPr>
          <p:sp>
            <p:nvSpPr>
              <p:cNvPr id="58477" name="Rectangle 146"/>
              <p:cNvSpPr/>
              <p:nvPr/>
            </p:nvSpPr>
            <p:spPr>
              <a:xfrm>
                <a:off x="3113" y="2862"/>
                <a:ext cx="378" cy="7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T=12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78" name="Rectangle 147"/>
              <p:cNvSpPr/>
              <p:nvPr/>
            </p:nvSpPr>
            <p:spPr>
              <a:xfrm>
                <a:off x="3070" y="2862"/>
                <a:ext cx="464" cy="721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0" name="Group 148"/>
            <p:cNvGrpSpPr/>
            <p:nvPr/>
          </p:nvGrpSpPr>
          <p:grpSpPr>
            <a:xfrm>
              <a:off x="0" y="3583"/>
              <a:ext cx="448" cy="567"/>
              <a:chOff x="0" y="3583"/>
              <a:chExt cx="448" cy="567"/>
            </a:xfrm>
          </p:grpSpPr>
          <p:sp>
            <p:nvSpPr>
              <p:cNvPr id="58475" name="Rectangle 149"/>
              <p:cNvSpPr/>
              <p:nvPr/>
            </p:nvSpPr>
            <p:spPr>
              <a:xfrm>
                <a:off x="43" y="3583"/>
                <a:ext cx="362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76" name="Rectangle 150"/>
              <p:cNvSpPr/>
              <p:nvPr/>
            </p:nvSpPr>
            <p:spPr>
              <a:xfrm>
                <a:off x="0" y="3583"/>
                <a:ext cx="448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1" name="Group 151"/>
            <p:cNvGrpSpPr/>
            <p:nvPr/>
          </p:nvGrpSpPr>
          <p:grpSpPr>
            <a:xfrm>
              <a:off x="448" y="3583"/>
              <a:ext cx="424" cy="567"/>
              <a:chOff x="448" y="3583"/>
              <a:chExt cx="424" cy="567"/>
            </a:xfrm>
          </p:grpSpPr>
          <p:sp>
            <p:nvSpPr>
              <p:cNvPr id="58473" name="Rectangle 152"/>
              <p:cNvSpPr/>
              <p:nvPr/>
            </p:nvSpPr>
            <p:spPr>
              <a:xfrm>
                <a:off x="491" y="3583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74" name="Rectangle 153"/>
              <p:cNvSpPr/>
              <p:nvPr/>
            </p:nvSpPr>
            <p:spPr>
              <a:xfrm>
                <a:off x="448" y="3583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2" name="Group 154"/>
            <p:cNvGrpSpPr/>
            <p:nvPr/>
          </p:nvGrpSpPr>
          <p:grpSpPr>
            <a:xfrm>
              <a:off x="872" y="3583"/>
              <a:ext cx="424" cy="567"/>
              <a:chOff x="872" y="3583"/>
              <a:chExt cx="424" cy="567"/>
            </a:xfrm>
          </p:grpSpPr>
          <p:sp>
            <p:nvSpPr>
              <p:cNvPr id="58471" name="Rectangle 155"/>
              <p:cNvSpPr/>
              <p:nvPr/>
            </p:nvSpPr>
            <p:spPr>
              <a:xfrm>
                <a:off x="915" y="3583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72" name="Rectangle 156"/>
              <p:cNvSpPr/>
              <p:nvPr/>
            </p:nvSpPr>
            <p:spPr>
              <a:xfrm>
                <a:off x="872" y="3583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3" name="Group 157"/>
            <p:cNvGrpSpPr/>
            <p:nvPr/>
          </p:nvGrpSpPr>
          <p:grpSpPr>
            <a:xfrm>
              <a:off x="1296" y="3583"/>
              <a:ext cx="422" cy="567"/>
              <a:chOff x="1296" y="3583"/>
              <a:chExt cx="422" cy="567"/>
            </a:xfrm>
          </p:grpSpPr>
          <p:sp>
            <p:nvSpPr>
              <p:cNvPr id="58469" name="Rectangle 158"/>
              <p:cNvSpPr/>
              <p:nvPr/>
            </p:nvSpPr>
            <p:spPr>
              <a:xfrm>
                <a:off x="1339" y="3583"/>
                <a:ext cx="336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70" name="Rectangle 159"/>
              <p:cNvSpPr/>
              <p:nvPr/>
            </p:nvSpPr>
            <p:spPr>
              <a:xfrm>
                <a:off x="1296" y="3583"/>
                <a:ext cx="422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4" name="Group 160"/>
            <p:cNvGrpSpPr/>
            <p:nvPr/>
          </p:nvGrpSpPr>
          <p:grpSpPr>
            <a:xfrm>
              <a:off x="1718" y="3583"/>
              <a:ext cx="424" cy="567"/>
              <a:chOff x="1718" y="3583"/>
              <a:chExt cx="424" cy="567"/>
            </a:xfrm>
          </p:grpSpPr>
          <p:sp>
            <p:nvSpPr>
              <p:cNvPr id="58467" name="Rectangle 161"/>
              <p:cNvSpPr/>
              <p:nvPr/>
            </p:nvSpPr>
            <p:spPr>
              <a:xfrm>
                <a:off x="1761" y="3583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⑥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8" name="Rectangle 162"/>
              <p:cNvSpPr/>
              <p:nvPr/>
            </p:nvSpPr>
            <p:spPr>
              <a:xfrm>
                <a:off x="1718" y="3583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5" name="Group 163"/>
            <p:cNvGrpSpPr/>
            <p:nvPr/>
          </p:nvGrpSpPr>
          <p:grpSpPr>
            <a:xfrm>
              <a:off x="2142" y="3583"/>
              <a:ext cx="464" cy="567"/>
              <a:chOff x="2142" y="3583"/>
              <a:chExt cx="464" cy="567"/>
            </a:xfrm>
          </p:grpSpPr>
          <p:sp>
            <p:nvSpPr>
              <p:cNvPr id="58465" name="Rectangle 164"/>
              <p:cNvSpPr/>
              <p:nvPr/>
            </p:nvSpPr>
            <p:spPr>
              <a:xfrm>
                <a:off x="2185" y="3583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=T=8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6" name="Rectangle 165"/>
              <p:cNvSpPr/>
              <p:nvPr/>
            </p:nvSpPr>
            <p:spPr>
              <a:xfrm>
                <a:off x="2142" y="3583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6" name="Group 166"/>
            <p:cNvGrpSpPr/>
            <p:nvPr/>
          </p:nvGrpSpPr>
          <p:grpSpPr>
            <a:xfrm>
              <a:off x="2606" y="3583"/>
              <a:ext cx="464" cy="567"/>
              <a:chOff x="2606" y="3583"/>
              <a:chExt cx="464" cy="567"/>
            </a:xfrm>
          </p:grpSpPr>
          <p:sp>
            <p:nvSpPr>
              <p:cNvPr id="58463" name="Rectangle 167"/>
              <p:cNvSpPr/>
              <p:nvPr/>
            </p:nvSpPr>
            <p:spPr>
              <a:xfrm>
                <a:off x="2649" y="3583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T=10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4" name="Rectangle 168"/>
              <p:cNvSpPr/>
              <p:nvPr/>
            </p:nvSpPr>
            <p:spPr>
              <a:xfrm>
                <a:off x="2606" y="3583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7" name="Group 169"/>
            <p:cNvGrpSpPr/>
            <p:nvPr/>
          </p:nvGrpSpPr>
          <p:grpSpPr>
            <a:xfrm>
              <a:off x="3070" y="3583"/>
              <a:ext cx="464" cy="567"/>
              <a:chOff x="3070" y="3583"/>
              <a:chExt cx="464" cy="567"/>
            </a:xfrm>
          </p:grpSpPr>
          <p:sp>
            <p:nvSpPr>
              <p:cNvPr id="58461" name="Rectangle 170"/>
              <p:cNvSpPr/>
              <p:nvPr/>
            </p:nvSpPr>
            <p:spPr>
              <a:xfrm>
                <a:off x="3113" y="3583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T=10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2" name="Rectangle 171"/>
              <p:cNvSpPr/>
              <p:nvPr/>
            </p:nvSpPr>
            <p:spPr>
              <a:xfrm>
                <a:off x="3070" y="3583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8" name="Group 172"/>
            <p:cNvGrpSpPr/>
            <p:nvPr/>
          </p:nvGrpSpPr>
          <p:grpSpPr>
            <a:xfrm>
              <a:off x="0" y="4150"/>
              <a:ext cx="448" cy="567"/>
              <a:chOff x="0" y="4150"/>
              <a:chExt cx="448" cy="567"/>
            </a:xfrm>
          </p:grpSpPr>
          <p:sp>
            <p:nvSpPr>
              <p:cNvPr id="58459" name="Rectangle 173"/>
              <p:cNvSpPr/>
              <p:nvPr/>
            </p:nvSpPr>
            <p:spPr>
              <a:xfrm>
                <a:off x="43" y="4150"/>
                <a:ext cx="362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60" name="Rectangle 174"/>
              <p:cNvSpPr/>
              <p:nvPr/>
            </p:nvSpPr>
            <p:spPr>
              <a:xfrm>
                <a:off x="0" y="4150"/>
                <a:ext cx="448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29" name="Group 175"/>
            <p:cNvGrpSpPr/>
            <p:nvPr/>
          </p:nvGrpSpPr>
          <p:grpSpPr>
            <a:xfrm>
              <a:off x="448" y="4150"/>
              <a:ext cx="424" cy="567"/>
              <a:chOff x="448" y="4150"/>
              <a:chExt cx="424" cy="567"/>
            </a:xfrm>
          </p:grpSpPr>
          <p:sp>
            <p:nvSpPr>
              <p:cNvPr id="58457" name="Rectangle 176"/>
              <p:cNvSpPr/>
              <p:nvPr/>
            </p:nvSpPr>
            <p:spPr>
              <a:xfrm>
                <a:off x="491" y="4150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8" name="Rectangle 177"/>
              <p:cNvSpPr/>
              <p:nvPr/>
            </p:nvSpPr>
            <p:spPr>
              <a:xfrm>
                <a:off x="448" y="4150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0" name="Group 178"/>
            <p:cNvGrpSpPr/>
            <p:nvPr/>
          </p:nvGrpSpPr>
          <p:grpSpPr>
            <a:xfrm>
              <a:off x="872" y="4150"/>
              <a:ext cx="424" cy="567"/>
              <a:chOff x="872" y="4150"/>
              <a:chExt cx="424" cy="567"/>
            </a:xfrm>
          </p:grpSpPr>
          <p:sp>
            <p:nvSpPr>
              <p:cNvPr id="58455" name="Rectangle 179"/>
              <p:cNvSpPr/>
              <p:nvPr/>
            </p:nvSpPr>
            <p:spPr>
              <a:xfrm>
                <a:off x="915" y="4150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6" name="Rectangle 180"/>
              <p:cNvSpPr/>
              <p:nvPr/>
            </p:nvSpPr>
            <p:spPr>
              <a:xfrm>
                <a:off x="872" y="4150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1" name="Group 181"/>
            <p:cNvGrpSpPr/>
            <p:nvPr/>
          </p:nvGrpSpPr>
          <p:grpSpPr>
            <a:xfrm>
              <a:off x="1296" y="4150"/>
              <a:ext cx="422" cy="567"/>
              <a:chOff x="1296" y="4150"/>
              <a:chExt cx="422" cy="567"/>
            </a:xfrm>
          </p:grpSpPr>
          <p:sp>
            <p:nvSpPr>
              <p:cNvPr id="58453" name="Rectangle 182"/>
              <p:cNvSpPr/>
              <p:nvPr/>
            </p:nvSpPr>
            <p:spPr>
              <a:xfrm>
                <a:off x="1339" y="4150"/>
                <a:ext cx="336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4" name="Rectangle 183"/>
              <p:cNvSpPr/>
              <p:nvPr/>
            </p:nvSpPr>
            <p:spPr>
              <a:xfrm>
                <a:off x="1296" y="4150"/>
                <a:ext cx="422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2" name="Group 184"/>
            <p:cNvGrpSpPr/>
            <p:nvPr/>
          </p:nvGrpSpPr>
          <p:grpSpPr>
            <a:xfrm>
              <a:off x="1718" y="4150"/>
              <a:ext cx="424" cy="567"/>
              <a:chOff x="1718" y="4150"/>
              <a:chExt cx="424" cy="567"/>
            </a:xfrm>
          </p:grpSpPr>
          <p:sp>
            <p:nvSpPr>
              <p:cNvPr id="58451" name="Rectangle 185"/>
              <p:cNvSpPr/>
              <p:nvPr/>
            </p:nvSpPr>
            <p:spPr>
              <a:xfrm>
                <a:off x="1761" y="4150"/>
                <a:ext cx="33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 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2" name="Rectangle 186"/>
              <p:cNvSpPr/>
              <p:nvPr/>
            </p:nvSpPr>
            <p:spPr>
              <a:xfrm>
                <a:off x="1718" y="4150"/>
                <a:ext cx="42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3" name="Group 187"/>
            <p:cNvGrpSpPr/>
            <p:nvPr/>
          </p:nvGrpSpPr>
          <p:grpSpPr>
            <a:xfrm>
              <a:off x="2142" y="4150"/>
              <a:ext cx="464" cy="567"/>
              <a:chOff x="2142" y="4150"/>
              <a:chExt cx="464" cy="567"/>
            </a:xfrm>
          </p:grpSpPr>
          <p:sp>
            <p:nvSpPr>
              <p:cNvPr id="58449" name="Rectangle 188"/>
              <p:cNvSpPr/>
              <p:nvPr/>
            </p:nvSpPr>
            <p:spPr>
              <a:xfrm>
                <a:off x="2185" y="4150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⑦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50" name="Rectangle 189"/>
              <p:cNvSpPr/>
              <p:nvPr/>
            </p:nvSpPr>
            <p:spPr>
              <a:xfrm>
                <a:off x="2142" y="4150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4" name="Group 190"/>
            <p:cNvGrpSpPr/>
            <p:nvPr/>
          </p:nvGrpSpPr>
          <p:grpSpPr>
            <a:xfrm>
              <a:off x="2606" y="4150"/>
              <a:ext cx="464" cy="567"/>
              <a:chOff x="2606" y="4150"/>
              <a:chExt cx="464" cy="567"/>
            </a:xfrm>
          </p:grpSpPr>
          <p:sp>
            <p:nvSpPr>
              <p:cNvPr id="58447" name="Rectangle 191"/>
              <p:cNvSpPr/>
              <p:nvPr/>
            </p:nvSpPr>
            <p:spPr>
              <a:xfrm>
                <a:off x="2649" y="4150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=T=9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8" name="Rectangle 192"/>
              <p:cNvSpPr/>
              <p:nvPr/>
            </p:nvSpPr>
            <p:spPr>
              <a:xfrm>
                <a:off x="2606" y="4150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5" name="Group 193"/>
            <p:cNvGrpSpPr/>
            <p:nvPr/>
          </p:nvGrpSpPr>
          <p:grpSpPr>
            <a:xfrm>
              <a:off x="3070" y="4150"/>
              <a:ext cx="464" cy="567"/>
              <a:chOff x="3070" y="4150"/>
              <a:chExt cx="464" cy="567"/>
            </a:xfrm>
          </p:grpSpPr>
          <p:sp>
            <p:nvSpPr>
              <p:cNvPr id="58445" name="Rectangle 194"/>
              <p:cNvSpPr/>
              <p:nvPr/>
            </p:nvSpPr>
            <p:spPr>
              <a:xfrm>
                <a:off x="3113" y="4150"/>
                <a:ext cx="378" cy="5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bIns="0"/>
              <a:p>
                <a:pPr algn="just"/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T=11</a:t>
                </a:r>
                <a:endPara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6" name="Rectangle 195"/>
              <p:cNvSpPr/>
              <p:nvPr/>
            </p:nvSpPr>
            <p:spPr>
              <a:xfrm>
                <a:off x="3070" y="4150"/>
                <a:ext cx="464" cy="567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6" name="Group 196"/>
            <p:cNvGrpSpPr/>
            <p:nvPr/>
          </p:nvGrpSpPr>
          <p:grpSpPr>
            <a:xfrm>
              <a:off x="0" y="4717"/>
              <a:ext cx="2606" cy="480"/>
              <a:chOff x="0" y="4717"/>
              <a:chExt cx="2606" cy="480"/>
            </a:xfrm>
          </p:grpSpPr>
          <p:sp>
            <p:nvSpPr>
              <p:cNvPr id="58443" name="Rectangle 197"/>
              <p:cNvSpPr/>
              <p:nvPr/>
            </p:nvSpPr>
            <p:spPr>
              <a:xfrm>
                <a:off x="43" y="4717"/>
                <a:ext cx="252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再无其它</a:t>
                </a:r>
                <a:r>
                  <a:rPr lang="en-US" altLang="zh-CN" sz="1800" b="1" dirty="0">
                    <a:latin typeface="Times New Roman" panose="02020603050405020304" pitchFamily="18" charset="0"/>
                    <a:ea typeface="楷体_GB2312" pitchFamily="49" charset="-122"/>
                  </a:rPr>
                  <a:t>T </a:t>
                </a:r>
                <a:r>
                  <a:rPr lang="zh-CN" altLang="en-US" sz="1800" b="1" dirty="0">
                    <a:latin typeface="楷体_GB2312" pitchFamily="49" charset="-122"/>
                    <a:ea typeface="楷体_GB2312" pitchFamily="49" charset="-122"/>
                  </a:rPr>
                  <a:t>标号，所以</a:t>
                </a:r>
                <a:r>
                  <a:rPr lang="zh-CN" altLang="en-US" sz="1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1800" b="1" dirty="0">
                    <a:latin typeface="Times New Roman" panose="02020603050405020304" pitchFamily="18" charset="0"/>
                  </a:rPr>
                  <a:t>T(V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8</a:t>
                </a:r>
                <a:r>
                  <a:rPr lang="en-US" altLang="zh-CN" sz="1800" b="1" dirty="0">
                    <a:latin typeface="Times New Roman" panose="02020603050405020304" pitchFamily="18" charset="0"/>
                  </a:rPr>
                  <a:t>)=P(V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</a:rPr>
                  <a:t>8</a:t>
                </a:r>
                <a:r>
                  <a:rPr lang="en-US" altLang="zh-CN" sz="1800" b="1" dirty="0">
                    <a:latin typeface="Times New Roman" panose="02020603050405020304" pitchFamily="18" charset="0"/>
                  </a:rPr>
                  <a:t>)=10;       min L(μ)=10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4" name="Rectangle 198"/>
              <p:cNvSpPr/>
              <p:nvPr/>
            </p:nvSpPr>
            <p:spPr>
              <a:xfrm>
                <a:off x="0" y="4717"/>
                <a:ext cx="2606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7" name="Group 199"/>
            <p:cNvGrpSpPr/>
            <p:nvPr/>
          </p:nvGrpSpPr>
          <p:grpSpPr>
            <a:xfrm>
              <a:off x="2606" y="4717"/>
              <a:ext cx="464" cy="480"/>
              <a:chOff x="2606" y="4717"/>
              <a:chExt cx="464" cy="480"/>
            </a:xfrm>
          </p:grpSpPr>
          <p:sp>
            <p:nvSpPr>
              <p:cNvPr id="58441" name="Rectangle 200"/>
              <p:cNvSpPr/>
              <p:nvPr/>
            </p:nvSpPr>
            <p:spPr>
              <a:xfrm>
                <a:off x="2649" y="4717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zh-CN" altLang="en-US" sz="1800" b="1" dirty="0">
                    <a:latin typeface="Times New Roman" panose="02020603050405020304" pitchFamily="18" charset="0"/>
                  </a:rPr>
                  <a:t>⑧</a:t>
                </a:r>
                <a:endParaRPr lang="zh-CN" altLang="en-US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2" name="Rectangle 201"/>
              <p:cNvSpPr/>
              <p:nvPr/>
            </p:nvSpPr>
            <p:spPr>
              <a:xfrm>
                <a:off x="2606" y="4717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8438" name="Group 202"/>
            <p:cNvGrpSpPr/>
            <p:nvPr/>
          </p:nvGrpSpPr>
          <p:grpSpPr>
            <a:xfrm>
              <a:off x="3070" y="4717"/>
              <a:ext cx="464" cy="480"/>
              <a:chOff x="3070" y="4717"/>
              <a:chExt cx="464" cy="480"/>
            </a:xfrm>
          </p:grpSpPr>
          <p:sp>
            <p:nvSpPr>
              <p:cNvPr id="58439" name="Rectangle 203"/>
              <p:cNvSpPr/>
              <p:nvPr/>
            </p:nvSpPr>
            <p:spPr>
              <a:xfrm>
                <a:off x="3113" y="4717"/>
                <a:ext cx="378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/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=T=10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  <a:p>
                <a:pPr algn="just" eaLnBrk="0" hangingPunct="0"/>
                <a:endParaRPr lang="zh-CN" altLang="en-US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40" name="Rectangle 204"/>
              <p:cNvSpPr/>
              <p:nvPr/>
            </p:nvSpPr>
            <p:spPr>
              <a:xfrm>
                <a:off x="3070" y="4717"/>
                <a:ext cx="464" cy="48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8371" name="Rectangle 205"/>
          <p:cNvSpPr/>
          <p:nvPr/>
        </p:nvSpPr>
        <p:spPr>
          <a:xfrm>
            <a:off x="0" y="533400"/>
            <a:ext cx="9144000" cy="6019800"/>
          </a:xfrm>
          <a:prstGeom prst="rect">
            <a:avLst/>
          </a:prstGeom>
          <a:noFill/>
          <a:ln w="11112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Text Box 3"/>
          <p:cNvSpPr txBox="1"/>
          <p:nvPr/>
        </p:nvSpPr>
        <p:spPr>
          <a:xfrm>
            <a:off x="762000" y="4300538"/>
            <a:ext cx="7543800" cy="2100262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        由此看到，此方法不仅求出了从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到 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的最短路长，同时也求出了从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到 任意一点 的最短路长。将从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到 任一点的最短路权标在图上，即可求出从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到 任一点的最短路线。本例中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到 </a:t>
            </a:r>
            <a:r>
              <a:rPr lang="en-US" altLang="zh-CN" b="1" dirty="0"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8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的最短路线是：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             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→ 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→ 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→ 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→ v</a:t>
            </a:r>
            <a:r>
              <a:rPr lang="en-US" altLang="zh-CN" b="1" baseline="-30000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4338" name="Object 2"/>
          <p:cNvGraphicFramePr/>
          <p:nvPr/>
        </p:nvGraphicFramePr>
        <p:xfrm>
          <a:off x="838200" y="457200"/>
          <a:ext cx="77724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3028950" imgH="1533525" progId="Photoshop.Image.6">
                  <p:embed/>
                </p:oleObj>
              </mc:Choice>
              <mc:Fallback>
                <p:oleObj name="" r:id="rId1" imgW="3028950" imgH="1533525" progId="Photoshop.Image.6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457200"/>
                        <a:ext cx="7772400" cy="34290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368" name="Group 128"/>
          <p:cNvGrpSpPr/>
          <p:nvPr/>
        </p:nvGrpSpPr>
        <p:grpSpPr>
          <a:xfrm>
            <a:off x="685800" y="228600"/>
            <a:ext cx="8077200" cy="6324600"/>
            <a:chOff x="432" y="144"/>
            <a:chExt cx="5088" cy="3984"/>
          </a:xfrm>
        </p:grpSpPr>
        <p:sp>
          <p:nvSpPr>
            <p:cNvPr id="15369" name="Rectangle 121"/>
            <p:cNvSpPr/>
            <p:nvPr/>
          </p:nvSpPr>
          <p:spPr>
            <a:xfrm>
              <a:off x="432" y="144"/>
              <a:ext cx="5088" cy="39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/>
              <a:r>
                <a:rPr lang="zh-CN" altLang="en-US" b="1" dirty="0">
                  <a:latin typeface="Times New Roman" panose="02020603050405020304" pitchFamily="18" charset="0"/>
                </a:rPr>
                <a:t>（二）、  逐次逼近法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/>
              <a:r>
                <a:rPr lang="zh-CN" altLang="en-US" dirty="0">
                  <a:latin typeface="Times New Roman" panose="02020603050405020304" pitchFamily="18" charset="0"/>
                </a:rPr>
                <a:t>算法的基本思路与步骤：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/>
              <a:r>
                <a:rPr lang="zh-CN" altLang="en-US" dirty="0">
                  <a:latin typeface="Times New Roman" panose="02020603050405020304" pitchFamily="18" charset="0"/>
                </a:rPr>
                <a:t>首先设任一点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</a:rPr>
                <a:t>到任一点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</a:rPr>
                <a:t>都有一条弧。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/>
              <a:r>
                <a:rPr lang="zh-CN" altLang="en-US" dirty="0">
                  <a:latin typeface="Times New Roman" panose="02020603050405020304" pitchFamily="18" charset="0"/>
                </a:rPr>
                <a:t>显然，从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</a:rPr>
                <a:t>的最短路是从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出发，沿着这条路到某个点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</a:rPr>
                <a:t>再沿弧(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,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en-US" altLang="zh-CN" dirty="0">
                  <a:latin typeface="Times New Roman" panose="02020603050405020304" pitchFamily="18" charset="0"/>
                </a:rPr>
                <a:t>。</a:t>
              </a:r>
              <a:r>
                <a:rPr lang="zh-CN" altLang="en-US" dirty="0">
                  <a:latin typeface="Times New Roman" panose="02020603050405020304" pitchFamily="18" charset="0"/>
                </a:rPr>
                <a:t>则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</a:rPr>
                <a:t>的这条路必然也是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</a:rPr>
                <a:t>的所有路中的最短路。设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1j</a:t>
              </a:r>
              <a:r>
                <a:rPr lang="zh-CN" altLang="en-US" dirty="0">
                  <a:latin typeface="Times New Roman" panose="02020603050405020304" pitchFamily="18" charset="0"/>
                </a:rPr>
                <a:t>表示从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</a:rPr>
                <a:t>的最短路长，</a:t>
              </a:r>
              <a:r>
                <a:rPr lang="en-US" altLang="zh-CN" dirty="0">
                  <a:latin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1i</a:t>
              </a:r>
              <a:r>
                <a:rPr lang="zh-CN" altLang="en-US" dirty="0">
                  <a:latin typeface="Times New Roman" panose="02020603050405020304" pitchFamily="18" charset="0"/>
                </a:rPr>
                <a:t>表示从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zh-CN" altLang="en-US" dirty="0">
                  <a:latin typeface="Times New Roman" panose="02020603050405020304" pitchFamily="18" charset="0"/>
                </a:rPr>
                <a:t>的最短路长，则有下列方程：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/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>
                <a:lnSpc>
                  <a:spcPct val="70000"/>
                </a:lnSpc>
              </a:pP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/>
              <a:r>
                <a:rPr lang="zh-CN" altLang="en-US" dirty="0">
                  <a:latin typeface="Times New Roman" panose="02020603050405020304" pitchFamily="18" charset="0"/>
                </a:rPr>
                <a:t>     开始时，令     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即用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j</a:t>
              </a:r>
              <a:r>
                <a:rPr lang="zh-CN" altLang="en-US" dirty="0">
                  <a:latin typeface="Times New Roman" panose="02020603050405020304" pitchFamily="18" charset="0"/>
                </a:rPr>
                <a:t>的直接距离做初始解。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>
                <a:lnSpc>
                  <a:spcPct val="12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从第二步起，使用递推公式：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>
                <a:lnSpc>
                  <a:spcPct val="140000"/>
                </a:lnSpc>
              </a:pP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 eaLnBrk="0" hangingPunct="0">
                <a:lnSpc>
                  <a:spcPct val="0"/>
                </a:lnSpc>
              </a:pPr>
              <a:endParaRPr lang="zh-CN" altLang="en-US" dirty="0">
                <a:latin typeface="Times New Roman" panose="02020603050405020304" pitchFamily="18" charset="0"/>
              </a:endParaRPr>
            </a:p>
            <a:p>
              <a:pPr algn="just"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求         ，当进行到第</a:t>
              </a:r>
              <a:r>
                <a:rPr lang="en-US" altLang="zh-CN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步，若出现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endParaRPr lang="zh-CN" altLang="en-US" dirty="0">
                <a:latin typeface="Times New Roman" panose="02020603050405020304" pitchFamily="18" charset="0"/>
              </a:endParaRPr>
            </a:p>
            <a:p>
              <a:r>
                <a:rPr lang="zh-CN" altLang="en-US" dirty="0">
                  <a:latin typeface="Times New Roman" panose="02020603050405020304" pitchFamily="18" charset="0"/>
                </a:rPr>
                <a:t>则停止计算，                                   即为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zh-CN" altLang="en-US" dirty="0">
                  <a:latin typeface="Times New Roman" panose="02020603050405020304" pitchFamily="18" charset="0"/>
                </a:rPr>
                <a:t>到各点的最短路长。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62" name="Object 122"/>
            <p:cNvGraphicFramePr/>
            <p:nvPr/>
          </p:nvGraphicFramePr>
          <p:xfrm>
            <a:off x="2016" y="1824"/>
            <a:ext cx="135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" imgW="1193800" imgH="279400" progId="Equation.3">
                    <p:embed/>
                  </p:oleObj>
                </mc:Choice>
                <mc:Fallback>
                  <p:oleObj name="" r:id="rId1" imgW="1193800" imgH="2794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6" y="1824"/>
                          <a:ext cx="1353" cy="3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3" name="Object 123"/>
            <p:cNvGraphicFramePr/>
            <p:nvPr/>
          </p:nvGraphicFramePr>
          <p:xfrm>
            <a:off x="2016" y="2160"/>
            <a:ext cx="207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3" imgW="1828800" imgH="254000" progId="Equation.3">
                    <p:embed/>
                  </p:oleObj>
                </mc:Choice>
                <mc:Fallback>
                  <p:oleObj name="" r:id="rId3" imgW="1828800" imgH="2540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16" y="2160"/>
                          <a:ext cx="2073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4" name="Object 124"/>
            <p:cNvGraphicFramePr/>
            <p:nvPr/>
          </p:nvGraphicFramePr>
          <p:xfrm>
            <a:off x="1244" y="2981"/>
            <a:ext cx="312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5" imgW="2755900" imgH="292100" progId="Equation.3">
                    <p:embed/>
                  </p:oleObj>
                </mc:Choice>
                <mc:Fallback>
                  <p:oleObj name="" r:id="rId5" imgW="2755900" imgH="2921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44" y="2981"/>
                          <a:ext cx="3124" cy="3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5" name="Object 125"/>
            <p:cNvGraphicFramePr/>
            <p:nvPr/>
          </p:nvGraphicFramePr>
          <p:xfrm>
            <a:off x="768" y="3360"/>
            <a:ext cx="31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7" imgW="279400" imgH="254000" progId="Equation.3">
                    <p:embed/>
                  </p:oleObj>
                </mc:Choice>
                <mc:Fallback>
                  <p:oleObj name="" r:id="rId7" imgW="279400" imgH="2540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68" y="3360"/>
                          <a:ext cx="31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126"/>
            <p:cNvGraphicFramePr/>
            <p:nvPr/>
          </p:nvGraphicFramePr>
          <p:xfrm>
            <a:off x="1920" y="3600"/>
            <a:ext cx="223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9" imgW="1968500" imgH="254000" progId="Equation.3">
                    <p:embed/>
                  </p:oleObj>
                </mc:Choice>
                <mc:Fallback>
                  <p:oleObj name="" r:id="rId9" imgW="1968500" imgH="2540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20" y="3600"/>
                          <a:ext cx="2231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127"/>
            <p:cNvGraphicFramePr/>
            <p:nvPr/>
          </p:nvGraphicFramePr>
          <p:xfrm>
            <a:off x="1728" y="3840"/>
            <a:ext cx="146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1" imgW="1295400" imgH="254000" progId="Equation.3">
                    <p:embed/>
                  </p:oleObj>
                </mc:Choice>
                <mc:Fallback>
                  <p:oleObj name="" r:id="rId11" imgW="1295400" imgH="2540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728" y="3840"/>
                          <a:ext cx="146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65" name="Rectangle 41"/>
          <p:cNvSpPr/>
          <p:nvPr/>
        </p:nvSpPr>
        <p:spPr>
          <a:xfrm>
            <a:off x="304800" y="3048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例二、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00"/>
          <p:cNvGrpSpPr/>
          <p:nvPr/>
        </p:nvGrpSpPr>
        <p:grpSpPr>
          <a:xfrm>
            <a:off x="2667000" y="228600"/>
            <a:ext cx="3846513" cy="2557463"/>
            <a:chOff x="960" y="624"/>
            <a:chExt cx="2423" cy="1611"/>
          </a:xfrm>
        </p:grpSpPr>
        <p:sp>
          <p:nvSpPr>
            <p:cNvPr id="59539" name="Text Box 39"/>
            <p:cNvSpPr txBox="1"/>
            <p:nvPr/>
          </p:nvSpPr>
          <p:spPr>
            <a:xfrm>
              <a:off x="2070" y="1940"/>
              <a:ext cx="144" cy="6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pPr algn="just"/>
              <a:r>
                <a:rPr lang="zh-CN" altLang="en-US" sz="1000" b="1" dirty="0">
                  <a:latin typeface="Times New Roman" panose="02020603050405020304" pitchFamily="18" charset="0"/>
                </a:rPr>
                <a:t> </a:t>
              </a:r>
              <a:endParaRPr lang="zh-CN" altLang="en-US" sz="1000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40" name="Line 44"/>
            <p:cNvSpPr>
              <a:spLocks noChangeAspect="1"/>
            </p:cNvSpPr>
            <p:nvPr/>
          </p:nvSpPr>
          <p:spPr>
            <a:xfrm>
              <a:off x="1200" y="1403"/>
              <a:ext cx="57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41" name="Line 45"/>
            <p:cNvSpPr>
              <a:spLocks noChangeAspect="1"/>
            </p:cNvSpPr>
            <p:nvPr/>
          </p:nvSpPr>
          <p:spPr>
            <a:xfrm flipV="1">
              <a:off x="1533" y="1206"/>
              <a:ext cx="69" cy="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42" name="Line 46"/>
            <p:cNvSpPr>
              <a:spLocks noChangeAspect="1"/>
            </p:cNvSpPr>
            <p:nvPr/>
          </p:nvSpPr>
          <p:spPr>
            <a:xfrm flipH="1" flipV="1">
              <a:off x="1384" y="1773"/>
              <a:ext cx="196" cy="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43" name="Line 47"/>
            <p:cNvSpPr>
              <a:spLocks noChangeAspect="1"/>
            </p:cNvSpPr>
            <p:nvPr/>
          </p:nvSpPr>
          <p:spPr>
            <a:xfrm flipH="1">
              <a:off x="1326" y="962"/>
              <a:ext cx="144" cy="12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44" name="Line 48"/>
            <p:cNvSpPr>
              <a:spLocks noChangeAspect="1"/>
            </p:cNvSpPr>
            <p:nvPr/>
          </p:nvSpPr>
          <p:spPr>
            <a:xfrm>
              <a:off x="1522" y="1476"/>
              <a:ext cx="107" cy="1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45" name="Text Box 50"/>
            <p:cNvSpPr txBox="1">
              <a:spLocks noChangeAspect="1"/>
            </p:cNvSpPr>
            <p:nvPr/>
          </p:nvSpPr>
          <p:spPr>
            <a:xfrm>
              <a:off x="1385" y="1042"/>
              <a:ext cx="391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－1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46" name="Text Box 52"/>
            <p:cNvSpPr txBox="1">
              <a:spLocks noChangeAspect="1"/>
            </p:cNvSpPr>
            <p:nvPr/>
          </p:nvSpPr>
          <p:spPr>
            <a:xfrm>
              <a:off x="1188" y="1657"/>
              <a:ext cx="29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8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47" name="Text Box 53"/>
            <p:cNvSpPr txBox="1">
              <a:spLocks noChangeAspect="1"/>
            </p:cNvSpPr>
            <p:nvPr/>
          </p:nvSpPr>
          <p:spPr>
            <a:xfrm>
              <a:off x="960" y="1258"/>
              <a:ext cx="294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48" name="Text Box 54"/>
            <p:cNvSpPr txBox="1">
              <a:spLocks noChangeAspect="1"/>
            </p:cNvSpPr>
            <p:nvPr/>
          </p:nvSpPr>
          <p:spPr>
            <a:xfrm>
              <a:off x="1637" y="631"/>
              <a:ext cx="29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49" name="Text Box 55"/>
            <p:cNvSpPr txBox="1">
              <a:spLocks noChangeAspect="1"/>
            </p:cNvSpPr>
            <p:nvPr/>
          </p:nvSpPr>
          <p:spPr>
            <a:xfrm>
              <a:off x="1743" y="1209"/>
              <a:ext cx="294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0" name="Text Box 56"/>
            <p:cNvSpPr txBox="1">
              <a:spLocks noChangeAspect="1"/>
            </p:cNvSpPr>
            <p:nvPr/>
          </p:nvSpPr>
          <p:spPr>
            <a:xfrm>
              <a:off x="1645" y="1871"/>
              <a:ext cx="29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1" name="Text Box 57"/>
            <p:cNvSpPr txBox="1">
              <a:spLocks noChangeAspect="1"/>
            </p:cNvSpPr>
            <p:nvPr/>
          </p:nvSpPr>
          <p:spPr>
            <a:xfrm>
              <a:off x="2461" y="680"/>
              <a:ext cx="29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2" name="Text Box 59"/>
            <p:cNvSpPr txBox="1">
              <a:spLocks noChangeAspect="1"/>
            </p:cNvSpPr>
            <p:nvPr/>
          </p:nvSpPr>
          <p:spPr>
            <a:xfrm>
              <a:off x="1392" y="1234"/>
              <a:ext cx="391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－2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3" name="Text Box 60"/>
            <p:cNvSpPr txBox="1">
              <a:spLocks noChangeAspect="1"/>
            </p:cNvSpPr>
            <p:nvPr/>
          </p:nvSpPr>
          <p:spPr>
            <a:xfrm>
              <a:off x="1196" y="923"/>
              <a:ext cx="1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6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4" name="Text Box 61"/>
            <p:cNvSpPr txBox="1">
              <a:spLocks noChangeAspect="1"/>
            </p:cNvSpPr>
            <p:nvPr/>
          </p:nvSpPr>
          <p:spPr>
            <a:xfrm>
              <a:off x="1728" y="1056"/>
              <a:ext cx="391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－3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5" name="Text Box 62"/>
            <p:cNvSpPr txBox="1">
              <a:spLocks noChangeAspect="1"/>
            </p:cNvSpPr>
            <p:nvPr/>
          </p:nvSpPr>
          <p:spPr>
            <a:xfrm>
              <a:off x="1743" y="1460"/>
              <a:ext cx="39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－5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6" name="Text Box 63"/>
            <p:cNvSpPr txBox="1">
              <a:spLocks noChangeAspect="1"/>
            </p:cNvSpPr>
            <p:nvPr/>
          </p:nvSpPr>
          <p:spPr>
            <a:xfrm>
              <a:off x="1968" y="624"/>
              <a:ext cx="392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－1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7" name="Text Box 64"/>
            <p:cNvSpPr txBox="1">
              <a:spLocks noChangeAspect="1"/>
            </p:cNvSpPr>
            <p:nvPr/>
          </p:nvSpPr>
          <p:spPr>
            <a:xfrm>
              <a:off x="2755" y="976"/>
              <a:ext cx="391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－3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8" name="Text Box 65"/>
            <p:cNvSpPr txBox="1">
              <a:spLocks noChangeAspect="1"/>
            </p:cNvSpPr>
            <p:nvPr/>
          </p:nvSpPr>
          <p:spPr>
            <a:xfrm>
              <a:off x="2714" y="1649"/>
              <a:ext cx="39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－5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59" name="Text Box 66"/>
            <p:cNvSpPr txBox="1">
              <a:spLocks noChangeAspect="1"/>
            </p:cNvSpPr>
            <p:nvPr/>
          </p:nvSpPr>
          <p:spPr>
            <a:xfrm>
              <a:off x="2037" y="954"/>
              <a:ext cx="294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2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60" name="Text Box 67"/>
            <p:cNvSpPr txBox="1">
              <a:spLocks noChangeAspect="1"/>
            </p:cNvSpPr>
            <p:nvPr/>
          </p:nvSpPr>
          <p:spPr>
            <a:xfrm>
              <a:off x="2053" y="1206"/>
              <a:ext cx="196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1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61" name="Text Box 68"/>
            <p:cNvSpPr txBox="1">
              <a:spLocks noChangeAspect="1"/>
            </p:cNvSpPr>
            <p:nvPr/>
          </p:nvSpPr>
          <p:spPr>
            <a:xfrm>
              <a:off x="1980" y="1980"/>
              <a:ext cx="34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－1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62" name="Text Box 69"/>
            <p:cNvSpPr txBox="1">
              <a:spLocks noChangeAspect="1"/>
            </p:cNvSpPr>
            <p:nvPr/>
          </p:nvSpPr>
          <p:spPr>
            <a:xfrm>
              <a:off x="2108" y="1618"/>
              <a:ext cx="196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2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63" name="Text Box 70"/>
            <p:cNvSpPr txBox="1">
              <a:spLocks noChangeAspect="1"/>
            </p:cNvSpPr>
            <p:nvPr/>
          </p:nvSpPr>
          <p:spPr>
            <a:xfrm>
              <a:off x="2400" y="1044"/>
              <a:ext cx="1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1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64" name="Text Box 71"/>
            <p:cNvSpPr txBox="1">
              <a:spLocks noChangeAspect="1"/>
            </p:cNvSpPr>
            <p:nvPr/>
          </p:nvSpPr>
          <p:spPr>
            <a:xfrm>
              <a:off x="2400" y="1536"/>
              <a:ext cx="196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1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65" name="Line 72"/>
            <p:cNvSpPr>
              <a:spLocks noChangeAspect="1"/>
            </p:cNvSpPr>
            <p:nvPr/>
          </p:nvSpPr>
          <p:spPr>
            <a:xfrm>
              <a:off x="1680" y="1403"/>
              <a:ext cx="879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66" name="Line 73"/>
            <p:cNvSpPr>
              <a:spLocks noChangeAspect="1"/>
            </p:cNvSpPr>
            <p:nvPr/>
          </p:nvSpPr>
          <p:spPr>
            <a:xfrm>
              <a:off x="2559" y="1403"/>
              <a:ext cx="58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67" name="Line 74"/>
            <p:cNvSpPr>
              <a:spLocks noChangeAspect="1"/>
            </p:cNvSpPr>
            <p:nvPr/>
          </p:nvSpPr>
          <p:spPr>
            <a:xfrm flipV="1">
              <a:off x="1776" y="894"/>
              <a:ext cx="0" cy="5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68" name="Line 75"/>
            <p:cNvSpPr>
              <a:spLocks noChangeAspect="1"/>
            </p:cNvSpPr>
            <p:nvPr/>
          </p:nvSpPr>
          <p:spPr>
            <a:xfrm>
              <a:off x="2559" y="1419"/>
              <a:ext cx="0" cy="5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69" name="Line 76"/>
            <p:cNvSpPr>
              <a:spLocks noChangeAspect="1"/>
            </p:cNvSpPr>
            <p:nvPr/>
          </p:nvSpPr>
          <p:spPr>
            <a:xfrm>
              <a:off x="1776" y="1403"/>
              <a:ext cx="0" cy="5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70" name="Line 77"/>
            <p:cNvSpPr>
              <a:spLocks noChangeAspect="1"/>
            </p:cNvSpPr>
            <p:nvPr/>
          </p:nvSpPr>
          <p:spPr>
            <a:xfrm flipV="1">
              <a:off x="2559" y="894"/>
              <a:ext cx="0" cy="5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71" name="Oval 78"/>
            <p:cNvSpPr>
              <a:spLocks noChangeAspect="1"/>
            </p:cNvSpPr>
            <p:nvPr/>
          </p:nvSpPr>
          <p:spPr>
            <a:xfrm>
              <a:off x="1776" y="1827"/>
              <a:ext cx="783" cy="17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72" name="Oval 79"/>
            <p:cNvSpPr>
              <a:spLocks noChangeAspect="1"/>
            </p:cNvSpPr>
            <p:nvPr/>
          </p:nvSpPr>
          <p:spPr>
            <a:xfrm>
              <a:off x="1776" y="809"/>
              <a:ext cx="783" cy="17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73" name="Line 80"/>
            <p:cNvSpPr>
              <a:spLocks noChangeAspect="1"/>
            </p:cNvSpPr>
            <p:nvPr/>
          </p:nvSpPr>
          <p:spPr>
            <a:xfrm flipH="1">
              <a:off x="2559" y="1403"/>
              <a:ext cx="587" cy="5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74" name="Line 81"/>
            <p:cNvSpPr>
              <a:spLocks noChangeAspect="1"/>
            </p:cNvSpPr>
            <p:nvPr/>
          </p:nvSpPr>
          <p:spPr>
            <a:xfrm flipH="1">
              <a:off x="2782" y="1638"/>
              <a:ext cx="98" cy="8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75" name="Line 82"/>
            <p:cNvSpPr>
              <a:spLocks noChangeAspect="1"/>
            </p:cNvSpPr>
            <p:nvPr/>
          </p:nvSpPr>
          <p:spPr>
            <a:xfrm flipH="1" flipV="1">
              <a:off x="2559" y="894"/>
              <a:ext cx="587" cy="509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576" name="Line 83"/>
            <p:cNvSpPr>
              <a:spLocks noChangeAspect="1"/>
            </p:cNvSpPr>
            <p:nvPr/>
          </p:nvSpPr>
          <p:spPr>
            <a:xfrm flipH="1" flipV="1">
              <a:off x="2853" y="1149"/>
              <a:ext cx="98" cy="8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77" name="Line 84"/>
            <p:cNvSpPr>
              <a:spLocks noChangeAspect="1"/>
            </p:cNvSpPr>
            <p:nvPr/>
          </p:nvSpPr>
          <p:spPr>
            <a:xfrm flipH="1">
              <a:off x="2069" y="1997"/>
              <a:ext cx="19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78" name="Line 85"/>
            <p:cNvSpPr>
              <a:spLocks noChangeAspect="1"/>
            </p:cNvSpPr>
            <p:nvPr/>
          </p:nvSpPr>
          <p:spPr>
            <a:xfrm>
              <a:off x="2069" y="1827"/>
              <a:ext cx="19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79" name="Line 86"/>
            <p:cNvSpPr>
              <a:spLocks noChangeAspect="1"/>
            </p:cNvSpPr>
            <p:nvPr/>
          </p:nvSpPr>
          <p:spPr>
            <a:xfrm>
              <a:off x="2069" y="979"/>
              <a:ext cx="19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80" name="Line 87"/>
            <p:cNvSpPr>
              <a:spLocks noChangeAspect="1"/>
            </p:cNvSpPr>
            <p:nvPr/>
          </p:nvSpPr>
          <p:spPr>
            <a:xfrm flipH="1">
              <a:off x="2064" y="809"/>
              <a:ext cx="24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59581" name="Text Box 88"/>
            <p:cNvSpPr txBox="1">
              <a:spLocks noChangeAspect="1"/>
            </p:cNvSpPr>
            <p:nvPr/>
          </p:nvSpPr>
          <p:spPr>
            <a:xfrm>
              <a:off x="2518" y="1209"/>
              <a:ext cx="294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82" name="Text Box 89"/>
            <p:cNvSpPr txBox="1">
              <a:spLocks noChangeAspect="1"/>
            </p:cNvSpPr>
            <p:nvPr/>
          </p:nvSpPr>
          <p:spPr>
            <a:xfrm>
              <a:off x="2486" y="1855"/>
              <a:ext cx="293" cy="25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83" name="Text Box 90"/>
            <p:cNvSpPr txBox="1">
              <a:spLocks noChangeAspect="1"/>
            </p:cNvSpPr>
            <p:nvPr/>
          </p:nvSpPr>
          <p:spPr>
            <a:xfrm>
              <a:off x="3089" y="1250"/>
              <a:ext cx="294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sz="16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84" name="Freeform 93"/>
            <p:cNvSpPr>
              <a:spLocks noChangeAspect="1"/>
            </p:cNvSpPr>
            <p:nvPr/>
          </p:nvSpPr>
          <p:spPr>
            <a:xfrm>
              <a:off x="1200" y="863"/>
              <a:ext cx="584" cy="560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4" y="0"/>
                </a:cxn>
                <a:cxn ang="0">
                  <a:pos x="2" y="1"/>
                </a:cxn>
                <a:cxn ang="0">
                  <a:pos x="0" y="3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810" y="65"/>
                    <a:pt x="540" y="130"/>
                    <a:pt x="360" y="312"/>
                  </a:cubicBezTo>
                  <a:cubicBezTo>
                    <a:pt x="180" y="494"/>
                    <a:pt x="90" y="793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85" name="Freeform 94"/>
            <p:cNvSpPr>
              <a:spLocks noChangeAspect="1"/>
            </p:cNvSpPr>
            <p:nvPr/>
          </p:nvSpPr>
          <p:spPr>
            <a:xfrm>
              <a:off x="1200" y="863"/>
              <a:ext cx="551" cy="550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3" y="0"/>
                </a:cxn>
                <a:cxn ang="0">
                  <a:pos x="2" y="2"/>
                </a:cxn>
                <a:cxn ang="0">
                  <a:pos x="0" y="3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1080" y="221"/>
                    <a:pt x="1080" y="442"/>
                    <a:pt x="900" y="624"/>
                  </a:cubicBezTo>
                  <a:cubicBezTo>
                    <a:pt x="720" y="806"/>
                    <a:pt x="360" y="949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86" name="Freeform 96"/>
            <p:cNvSpPr>
              <a:spLocks noChangeAspect="1"/>
            </p:cNvSpPr>
            <p:nvPr/>
          </p:nvSpPr>
          <p:spPr>
            <a:xfrm rot="-5402938">
              <a:off x="1215" y="1359"/>
              <a:ext cx="531" cy="590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0" y="4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810" y="65"/>
                    <a:pt x="540" y="130"/>
                    <a:pt x="360" y="312"/>
                  </a:cubicBezTo>
                  <a:cubicBezTo>
                    <a:pt x="180" y="494"/>
                    <a:pt x="90" y="793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87" name="Freeform 97"/>
            <p:cNvSpPr>
              <a:spLocks noChangeAspect="1"/>
            </p:cNvSpPr>
            <p:nvPr/>
          </p:nvSpPr>
          <p:spPr>
            <a:xfrm rot="-5402938">
              <a:off x="1218" y="1372"/>
              <a:ext cx="540" cy="591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2" y="0"/>
                </a:cxn>
                <a:cxn ang="0">
                  <a:pos x="1" y="3"/>
                </a:cxn>
                <a:cxn ang="0">
                  <a:pos x="0" y="4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1080" y="221"/>
                    <a:pt x="1080" y="442"/>
                    <a:pt x="900" y="624"/>
                  </a:cubicBezTo>
                  <a:cubicBezTo>
                    <a:pt x="720" y="806"/>
                    <a:pt x="360" y="949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88" name="Text Box 98"/>
            <p:cNvSpPr txBox="1">
              <a:spLocks noChangeAspect="1"/>
            </p:cNvSpPr>
            <p:nvPr/>
          </p:nvSpPr>
          <p:spPr>
            <a:xfrm>
              <a:off x="1440" y="1488"/>
              <a:ext cx="144" cy="19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3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589" name="Text Box 99"/>
            <p:cNvSpPr txBox="1">
              <a:spLocks noChangeAspect="1"/>
            </p:cNvSpPr>
            <p:nvPr/>
          </p:nvSpPr>
          <p:spPr>
            <a:xfrm>
              <a:off x="2688" y="1246"/>
              <a:ext cx="192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sz="1600" b="1" dirty="0">
                  <a:latin typeface="Times New Roman" panose="02020603050405020304" pitchFamily="18" charset="0"/>
                </a:rPr>
                <a:t>7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9396" name="表格 59395"/>
          <p:cNvGraphicFramePr/>
          <p:nvPr/>
        </p:nvGraphicFramePr>
        <p:xfrm>
          <a:off x="533400" y="2667000"/>
          <a:ext cx="8153400" cy="3978275"/>
        </p:xfrm>
        <a:graphic>
          <a:graphicData uri="http://schemas.openxmlformats.org/drawingml/2006/table">
            <a:tbl>
              <a:tblPr/>
              <a:tblGrid>
                <a:gridCol w="819150"/>
                <a:gridCol w="608013"/>
                <a:gridCol w="611187"/>
                <a:gridCol w="614363"/>
                <a:gridCol w="611187"/>
                <a:gridCol w="612775"/>
                <a:gridCol w="608013"/>
                <a:gridCol w="611187"/>
                <a:gridCol w="576263"/>
                <a:gridCol w="649287"/>
                <a:gridCol w="611188"/>
                <a:gridCol w="609600"/>
                <a:gridCol w="611187"/>
              </a:tblGrid>
              <a:tr h="441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7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8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US" altLang="zh-CN" b="1" baseline="30000" dirty="0">
                          <a:latin typeface="Times New Roman" panose="02020603050405020304" pitchFamily="18" charset="0"/>
                        </a:rPr>
                        <a:t>(1)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US" altLang="zh-CN" b="1" baseline="30000" dirty="0">
                          <a:latin typeface="Times New Roman" panose="02020603050405020304" pitchFamily="18" charset="0"/>
                        </a:rPr>
                        <a:t>(2)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US" altLang="zh-CN" b="1" baseline="30000" dirty="0">
                          <a:latin typeface="Times New Roman" panose="02020603050405020304" pitchFamily="18" charset="0"/>
                        </a:rPr>
                        <a:t>(3)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P</a:t>
                      </a:r>
                      <a:r>
                        <a:rPr lang="en-US" altLang="zh-CN" b="1" baseline="30000" dirty="0">
                          <a:latin typeface="Times New Roman" panose="02020603050405020304" pitchFamily="18" charset="0"/>
                        </a:rPr>
                        <a:t>(4)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8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-7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-7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-7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7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7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v</a:t>
                      </a:r>
                      <a:r>
                        <a:rPr lang="en-US" altLang="zh-CN" b="1" baseline="-30000" dirty="0">
                          <a:latin typeface="Times New Roman" panose="02020603050405020304" pitchFamily="18" charset="0"/>
                        </a:rPr>
                        <a:t>8</a:t>
                      </a:r>
                      <a:endParaRPr lang="zh-CN" altLang="en-US" b="1" baseline="-30000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 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zh-CN" altLang="en-US" b="1" dirty="0">
                        <a:latin typeface="Times New Roman" panose="02020603050405020304" pitchFamily="18" charset="0"/>
                      </a:endParaRPr>
                    </a:p>
                  </a:txBody>
                  <a:tcPr marL="38100" marR="38100" marT="38100" marB="38100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917" name="Rectangle 293"/>
          <p:cNvSpPr/>
          <p:nvPr/>
        </p:nvSpPr>
        <p:spPr>
          <a:xfrm>
            <a:off x="533400" y="817563"/>
            <a:ext cx="20320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求图中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 baseline="-25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到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各点的最短路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65" grpId="0"/>
      <p:bldP spid="269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0418" name="Group 56"/>
          <p:cNvGrpSpPr/>
          <p:nvPr/>
        </p:nvGrpSpPr>
        <p:grpSpPr>
          <a:xfrm>
            <a:off x="1219200" y="762000"/>
            <a:ext cx="6934200" cy="5084763"/>
            <a:chOff x="768" y="493"/>
            <a:chExt cx="4368" cy="3203"/>
          </a:xfrm>
        </p:grpSpPr>
        <p:sp>
          <p:nvSpPr>
            <p:cNvPr id="60427" name="Text Box 3"/>
            <p:cNvSpPr txBox="1"/>
            <p:nvPr/>
          </p:nvSpPr>
          <p:spPr>
            <a:xfrm>
              <a:off x="2691" y="3002"/>
              <a:ext cx="268" cy="126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p>
              <a:pPr algn="just"/>
              <a:r>
                <a:rPr lang="zh-CN" altLang="en-US" b="1" dirty="0">
                  <a:latin typeface="Times New Roman" panose="02020603050405020304" pitchFamily="18" charset="0"/>
                </a:rPr>
                <a:t> </a:t>
              </a:r>
              <a:endParaRPr lang="zh-CN" altLang="en-US" b="1" dirty="0">
                <a:latin typeface="Times New Roman" panose="02020603050405020304" pitchFamily="18" charset="0"/>
              </a:endParaRPr>
            </a:p>
            <a:p>
              <a:pPr eaLnBrk="0" hangingPunct="0"/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28" name="Line 4"/>
            <p:cNvSpPr>
              <a:spLocks noChangeAspect="1"/>
            </p:cNvSpPr>
            <p:nvPr/>
          </p:nvSpPr>
          <p:spPr>
            <a:xfrm>
              <a:off x="1071" y="1914"/>
              <a:ext cx="107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29" name="Line 5"/>
            <p:cNvSpPr>
              <a:spLocks noChangeAspect="1"/>
            </p:cNvSpPr>
            <p:nvPr/>
          </p:nvSpPr>
          <p:spPr>
            <a:xfrm flipV="1">
              <a:off x="1691" y="1515"/>
              <a:ext cx="129" cy="12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30" name="Line 6"/>
            <p:cNvSpPr>
              <a:spLocks noChangeAspect="1"/>
            </p:cNvSpPr>
            <p:nvPr/>
          </p:nvSpPr>
          <p:spPr>
            <a:xfrm flipH="1" flipV="1">
              <a:off x="1414" y="2664"/>
              <a:ext cx="365" cy="17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31" name="Line 7"/>
            <p:cNvSpPr>
              <a:spLocks noChangeAspect="1"/>
            </p:cNvSpPr>
            <p:nvPr/>
          </p:nvSpPr>
          <p:spPr>
            <a:xfrm flipH="1">
              <a:off x="1306" y="1021"/>
              <a:ext cx="268" cy="25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32" name="Line 8"/>
            <p:cNvSpPr>
              <a:spLocks noChangeAspect="1"/>
            </p:cNvSpPr>
            <p:nvPr/>
          </p:nvSpPr>
          <p:spPr>
            <a:xfrm>
              <a:off x="1671" y="2062"/>
              <a:ext cx="199" cy="2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33" name="Text Box 9"/>
            <p:cNvSpPr txBox="1">
              <a:spLocks noChangeAspect="1"/>
            </p:cNvSpPr>
            <p:nvPr/>
          </p:nvSpPr>
          <p:spPr>
            <a:xfrm>
              <a:off x="1575" y="1261"/>
              <a:ext cx="729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－1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34" name="Text Box 10"/>
            <p:cNvSpPr txBox="1">
              <a:spLocks noChangeAspect="1"/>
            </p:cNvSpPr>
            <p:nvPr/>
          </p:nvSpPr>
          <p:spPr>
            <a:xfrm>
              <a:off x="1049" y="2429"/>
              <a:ext cx="547" cy="5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8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35" name="Text Box 11"/>
            <p:cNvSpPr txBox="1">
              <a:spLocks noChangeAspect="1"/>
            </p:cNvSpPr>
            <p:nvPr/>
          </p:nvSpPr>
          <p:spPr>
            <a:xfrm>
              <a:off x="768" y="1742"/>
              <a:ext cx="547" cy="51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36" name="Text Box 12"/>
            <p:cNvSpPr txBox="1">
              <a:spLocks noChangeAspect="1"/>
            </p:cNvSpPr>
            <p:nvPr/>
          </p:nvSpPr>
          <p:spPr>
            <a:xfrm>
              <a:off x="1885" y="539"/>
              <a:ext cx="547" cy="5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37" name="Text Box 13"/>
            <p:cNvSpPr txBox="1">
              <a:spLocks noChangeAspect="1"/>
            </p:cNvSpPr>
            <p:nvPr/>
          </p:nvSpPr>
          <p:spPr>
            <a:xfrm>
              <a:off x="2140" y="1645"/>
              <a:ext cx="548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38" name="Text Box 14"/>
            <p:cNvSpPr txBox="1">
              <a:spLocks noChangeAspect="1"/>
            </p:cNvSpPr>
            <p:nvPr/>
          </p:nvSpPr>
          <p:spPr>
            <a:xfrm>
              <a:off x="1900" y="2988"/>
              <a:ext cx="547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39" name="Text Box 15"/>
            <p:cNvSpPr txBox="1">
              <a:spLocks noChangeAspect="1"/>
            </p:cNvSpPr>
            <p:nvPr/>
          </p:nvSpPr>
          <p:spPr>
            <a:xfrm>
              <a:off x="3580" y="576"/>
              <a:ext cx="548" cy="5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0" name="Text Box 16"/>
            <p:cNvSpPr txBox="1">
              <a:spLocks noChangeAspect="1"/>
            </p:cNvSpPr>
            <p:nvPr/>
          </p:nvSpPr>
          <p:spPr>
            <a:xfrm>
              <a:off x="1575" y="1632"/>
              <a:ext cx="729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－2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1" name="Text Box 17"/>
            <p:cNvSpPr txBox="1">
              <a:spLocks noChangeAspect="1"/>
            </p:cNvSpPr>
            <p:nvPr/>
          </p:nvSpPr>
          <p:spPr>
            <a:xfrm>
              <a:off x="1123" y="1116"/>
              <a:ext cx="365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6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2" name="Text Box 18"/>
            <p:cNvSpPr txBox="1">
              <a:spLocks noChangeAspect="1"/>
            </p:cNvSpPr>
            <p:nvPr/>
          </p:nvSpPr>
          <p:spPr>
            <a:xfrm>
              <a:off x="2104" y="1211"/>
              <a:ext cx="728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－3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3" name="Text Box 19"/>
            <p:cNvSpPr txBox="1">
              <a:spLocks noChangeAspect="1"/>
            </p:cNvSpPr>
            <p:nvPr/>
          </p:nvSpPr>
          <p:spPr>
            <a:xfrm>
              <a:off x="2082" y="2030"/>
              <a:ext cx="730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－5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4" name="Text Box 20"/>
            <p:cNvSpPr txBox="1">
              <a:spLocks noChangeAspect="1"/>
            </p:cNvSpPr>
            <p:nvPr/>
          </p:nvSpPr>
          <p:spPr>
            <a:xfrm>
              <a:off x="2534" y="493"/>
              <a:ext cx="730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－1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5" name="Text Box 21"/>
            <p:cNvSpPr txBox="1">
              <a:spLocks noChangeAspect="1"/>
            </p:cNvSpPr>
            <p:nvPr/>
          </p:nvSpPr>
          <p:spPr>
            <a:xfrm>
              <a:off x="3967" y="1049"/>
              <a:ext cx="728" cy="39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－3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6" name="Text Box 22"/>
            <p:cNvSpPr txBox="1">
              <a:spLocks noChangeAspect="1"/>
            </p:cNvSpPr>
            <p:nvPr/>
          </p:nvSpPr>
          <p:spPr>
            <a:xfrm>
              <a:off x="4022" y="2556"/>
              <a:ext cx="730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－5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7" name="Text Box 23"/>
            <p:cNvSpPr txBox="1">
              <a:spLocks noChangeAspect="1"/>
            </p:cNvSpPr>
            <p:nvPr/>
          </p:nvSpPr>
          <p:spPr>
            <a:xfrm>
              <a:off x="2717" y="1056"/>
              <a:ext cx="547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2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8" name="Text Box 24"/>
            <p:cNvSpPr txBox="1">
              <a:spLocks noChangeAspect="1"/>
            </p:cNvSpPr>
            <p:nvPr/>
          </p:nvSpPr>
          <p:spPr>
            <a:xfrm>
              <a:off x="2659" y="1515"/>
              <a:ext cx="365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1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49" name="Text Box 25"/>
            <p:cNvSpPr txBox="1">
              <a:spLocks noChangeAspect="1"/>
            </p:cNvSpPr>
            <p:nvPr/>
          </p:nvSpPr>
          <p:spPr>
            <a:xfrm>
              <a:off x="2523" y="3179"/>
              <a:ext cx="637" cy="5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－1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50" name="Text Box 26"/>
            <p:cNvSpPr txBox="1">
              <a:spLocks noChangeAspect="1"/>
            </p:cNvSpPr>
            <p:nvPr/>
          </p:nvSpPr>
          <p:spPr>
            <a:xfrm>
              <a:off x="2762" y="2461"/>
              <a:ext cx="365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2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51" name="Text Box 27"/>
            <p:cNvSpPr txBox="1">
              <a:spLocks noChangeAspect="1"/>
            </p:cNvSpPr>
            <p:nvPr/>
          </p:nvSpPr>
          <p:spPr>
            <a:xfrm>
              <a:off x="3306" y="1187"/>
              <a:ext cx="364" cy="5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1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52" name="Text Box 28"/>
            <p:cNvSpPr txBox="1">
              <a:spLocks noChangeAspect="1"/>
            </p:cNvSpPr>
            <p:nvPr/>
          </p:nvSpPr>
          <p:spPr>
            <a:xfrm>
              <a:off x="3306" y="2184"/>
              <a:ext cx="364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1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53" name="Line 29"/>
            <p:cNvSpPr>
              <a:spLocks noChangeAspect="1"/>
            </p:cNvSpPr>
            <p:nvPr/>
          </p:nvSpPr>
          <p:spPr>
            <a:xfrm>
              <a:off x="1965" y="1914"/>
              <a:ext cx="163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54" name="Line 30"/>
            <p:cNvSpPr>
              <a:spLocks noChangeAspect="1"/>
            </p:cNvSpPr>
            <p:nvPr/>
          </p:nvSpPr>
          <p:spPr>
            <a:xfrm>
              <a:off x="3602" y="1914"/>
              <a:ext cx="1093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55" name="Line 31"/>
            <p:cNvSpPr>
              <a:spLocks noChangeAspect="1"/>
            </p:cNvSpPr>
            <p:nvPr/>
          </p:nvSpPr>
          <p:spPr>
            <a:xfrm flipV="1">
              <a:off x="2144" y="883"/>
              <a:ext cx="0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56" name="Line 32"/>
            <p:cNvSpPr>
              <a:spLocks noChangeAspect="1"/>
            </p:cNvSpPr>
            <p:nvPr/>
          </p:nvSpPr>
          <p:spPr>
            <a:xfrm>
              <a:off x="3602" y="1947"/>
              <a:ext cx="0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57" name="Line 33"/>
            <p:cNvSpPr>
              <a:spLocks noChangeAspect="1"/>
            </p:cNvSpPr>
            <p:nvPr/>
          </p:nvSpPr>
          <p:spPr>
            <a:xfrm>
              <a:off x="2144" y="1914"/>
              <a:ext cx="0" cy="10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58" name="Line 34"/>
            <p:cNvSpPr>
              <a:spLocks noChangeAspect="1"/>
            </p:cNvSpPr>
            <p:nvPr/>
          </p:nvSpPr>
          <p:spPr>
            <a:xfrm flipV="1">
              <a:off x="3602" y="883"/>
              <a:ext cx="0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59" name="Oval 35"/>
            <p:cNvSpPr>
              <a:spLocks noChangeAspect="1"/>
            </p:cNvSpPr>
            <p:nvPr/>
          </p:nvSpPr>
          <p:spPr>
            <a:xfrm>
              <a:off x="2144" y="2773"/>
              <a:ext cx="1458" cy="3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60" name="Oval 36"/>
            <p:cNvSpPr>
              <a:spLocks noChangeAspect="1"/>
            </p:cNvSpPr>
            <p:nvPr/>
          </p:nvSpPr>
          <p:spPr>
            <a:xfrm>
              <a:off x="2144" y="711"/>
              <a:ext cx="1458" cy="344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61" name="Line 37"/>
            <p:cNvSpPr>
              <a:spLocks noChangeAspect="1"/>
            </p:cNvSpPr>
            <p:nvPr/>
          </p:nvSpPr>
          <p:spPr>
            <a:xfrm flipH="1">
              <a:off x="3602" y="1914"/>
              <a:ext cx="1093" cy="103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2" name="Line 38"/>
            <p:cNvSpPr>
              <a:spLocks noChangeAspect="1"/>
            </p:cNvSpPr>
            <p:nvPr/>
          </p:nvSpPr>
          <p:spPr>
            <a:xfrm flipH="1">
              <a:off x="4017" y="2390"/>
              <a:ext cx="182" cy="17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63" name="Line 39"/>
            <p:cNvSpPr>
              <a:spLocks noChangeAspect="1"/>
            </p:cNvSpPr>
            <p:nvPr/>
          </p:nvSpPr>
          <p:spPr>
            <a:xfrm flipH="1" flipV="1">
              <a:off x="3602" y="883"/>
              <a:ext cx="1093" cy="103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4" name="Line 40"/>
            <p:cNvSpPr>
              <a:spLocks noChangeAspect="1"/>
            </p:cNvSpPr>
            <p:nvPr/>
          </p:nvSpPr>
          <p:spPr>
            <a:xfrm flipH="1" flipV="1">
              <a:off x="4149" y="1400"/>
              <a:ext cx="183" cy="17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65" name="Line 41"/>
            <p:cNvSpPr>
              <a:spLocks noChangeAspect="1"/>
            </p:cNvSpPr>
            <p:nvPr/>
          </p:nvSpPr>
          <p:spPr>
            <a:xfrm flipH="1">
              <a:off x="2689" y="3118"/>
              <a:ext cx="3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66" name="Line 42"/>
            <p:cNvSpPr>
              <a:spLocks noChangeAspect="1"/>
            </p:cNvSpPr>
            <p:nvPr/>
          </p:nvSpPr>
          <p:spPr>
            <a:xfrm>
              <a:off x="2689" y="2773"/>
              <a:ext cx="3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67" name="Line 43"/>
            <p:cNvSpPr>
              <a:spLocks noChangeAspect="1"/>
            </p:cNvSpPr>
            <p:nvPr/>
          </p:nvSpPr>
          <p:spPr>
            <a:xfrm>
              <a:off x="2689" y="1055"/>
              <a:ext cx="365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68" name="Line 44"/>
            <p:cNvSpPr>
              <a:spLocks noChangeAspect="1"/>
            </p:cNvSpPr>
            <p:nvPr/>
          </p:nvSpPr>
          <p:spPr>
            <a:xfrm flipH="1">
              <a:off x="2680" y="711"/>
              <a:ext cx="447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0469" name="Text Box 45"/>
            <p:cNvSpPr txBox="1">
              <a:spLocks noChangeAspect="1"/>
            </p:cNvSpPr>
            <p:nvPr/>
          </p:nvSpPr>
          <p:spPr>
            <a:xfrm>
              <a:off x="3600" y="1632"/>
              <a:ext cx="548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70" name="Text Box 46"/>
            <p:cNvSpPr txBox="1">
              <a:spLocks noChangeAspect="1"/>
            </p:cNvSpPr>
            <p:nvPr/>
          </p:nvSpPr>
          <p:spPr>
            <a:xfrm>
              <a:off x="3631" y="2989"/>
              <a:ext cx="545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71" name="Text Box 47"/>
            <p:cNvSpPr txBox="1">
              <a:spLocks noChangeAspect="1"/>
            </p:cNvSpPr>
            <p:nvPr/>
          </p:nvSpPr>
          <p:spPr>
            <a:xfrm>
              <a:off x="4589" y="1604"/>
              <a:ext cx="547" cy="6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en-US" altLang="zh-CN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72" name="Freeform 48"/>
            <p:cNvSpPr>
              <a:spLocks noChangeAspect="1"/>
            </p:cNvSpPr>
            <p:nvPr/>
          </p:nvSpPr>
          <p:spPr>
            <a:xfrm>
              <a:off x="1071" y="820"/>
              <a:ext cx="1087" cy="1135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1143" y="0"/>
                </a:cxn>
                <a:cxn ang="0">
                  <a:pos x="378" y="441"/>
                </a:cxn>
                <a:cxn ang="0">
                  <a:pos x="0" y="1545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810" y="65"/>
                    <a:pt x="540" y="130"/>
                    <a:pt x="360" y="312"/>
                  </a:cubicBezTo>
                  <a:cubicBezTo>
                    <a:pt x="180" y="494"/>
                    <a:pt x="90" y="793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73" name="Freeform 49"/>
            <p:cNvSpPr>
              <a:spLocks noChangeAspect="1"/>
            </p:cNvSpPr>
            <p:nvPr/>
          </p:nvSpPr>
          <p:spPr>
            <a:xfrm>
              <a:off x="1071" y="820"/>
              <a:ext cx="1026" cy="1115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680" y="0"/>
                </a:cxn>
                <a:cxn ang="0">
                  <a:pos x="566" y="753"/>
                </a:cxn>
                <a:cxn ang="0">
                  <a:pos x="0" y="1317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1080" y="221"/>
                    <a:pt x="1080" y="442"/>
                    <a:pt x="900" y="624"/>
                  </a:cubicBezTo>
                  <a:cubicBezTo>
                    <a:pt x="720" y="806"/>
                    <a:pt x="360" y="949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74" name="Freeform 50"/>
            <p:cNvSpPr>
              <a:spLocks noChangeAspect="1"/>
            </p:cNvSpPr>
            <p:nvPr/>
          </p:nvSpPr>
          <p:spPr>
            <a:xfrm rot="-5402938">
              <a:off x="1056" y="1874"/>
              <a:ext cx="1076" cy="1099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1044" y="0"/>
                </a:cxn>
                <a:cxn ang="0">
                  <a:pos x="351" y="330"/>
                </a:cxn>
                <a:cxn ang="0">
                  <a:pos x="0" y="1155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810" y="65"/>
                    <a:pt x="540" y="130"/>
                    <a:pt x="360" y="312"/>
                  </a:cubicBezTo>
                  <a:cubicBezTo>
                    <a:pt x="180" y="494"/>
                    <a:pt x="90" y="793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75" name="Freeform 51"/>
            <p:cNvSpPr>
              <a:spLocks noChangeAspect="1"/>
            </p:cNvSpPr>
            <p:nvPr/>
          </p:nvSpPr>
          <p:spPr>
            <a:xfrm rot="-5402938">
              <a:off x="1061" y="1901"/>
              <a:ext cx="1094" cy="1100"/>
            </a:xfrm>
            <a:custGeom>
              <a:avLst/>
              <a:gdLst>
                <a:gd name="txL" fmla="*/ 0 w 1080"/>
                <a:gd name="txT" fmla="*/ 0 h 1092"/>
                <a:gd name="txR" fmla="*/ 1080 w 1080"/>
                <a:gd name="txB" fmla="*/ 1092 h 1092"/>
              </a:gdLst>
              <a:ahLst/>
              <a:cxnLst>
                <a:cxn ang="0">
                  <a:pos x="1213" y="0"/>
                </a:cxn>
                <a:cxn ang="0">
                  <a:pos x="1011" y="669"/>
                </a:cxn>
                <a:cxn ang="0">
                  <a:pos x="0" y="1164"/>
                </a:cxn>
              </a:cxnLst>
              <a:rect l="txL" t="txT" r="txR" b="txB"/>
              <a:pathLst>
                <a:path w="1080" h="1092">
                  <a:moveTo>
                    <a:pt x="1080" y="0"/>
                  </a:moveTo>
                  <a:cubicBezTo>
                    <a:pt x="1080" y="221"/>
                    <a:pt x="1080" y="442"/>
                    <a:pt x="900" y="624"/>
                  </a:cubicBezTo>
                  <a:cubicBezTo>
                    <a:pt x="720" y="806"/>
                    <a:pt x="360" y="949"/>
                    <a:pt x="0" y="109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76" name="Text Box 52"/>
            <p:cNvSpPr txBox="1">
              <a:spLocks noChangeAspect="1"/>
            </p:cNvSpPr>
            <p:nvPr/>
          </p:nvSpPr>
          <p:spPr>
            <a:xfrm>
              <a:off x="1518" y="2087"/>
              <a:ext cx="268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3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77" name="Text Box 53"/>
            <p:cNvSpPr txBox="1">
              <a:spLocks noChangeAspect="1"/>
            </p:cNvSpPr>
            <p:nvPr/>
          </p:nvSpPr>
          <p:spPr>
            <a:xfrm>
              <a:off x="3963" y="1671"/>
              <a:ext cx="357" cy="39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algn="just" eaLnBrk="0" hangingPunct="0"/>
              <a:r>
                <a:rPr lang="zh-CN" altLang="en-US" b="1" dirty="0">
                  <a:latin typeface="Times New Roman" panose="02020603050405020304" pitchFamily="18" charset="0"/>
                </a:rPr>
                <a:t>7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1497" name="Text Box 57"/>
          <p:cNvSpPr txBox="1"/>
          <p:nvPr/>
        </p:nvSpPr>
        <p:spPr>
          <a:xfrm>
            <a:off x="381000" y="24384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（0，0）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98" name="Text Box 58"/>
          <p:cNvSpPr txBox="1"/>
          <p:nvPr/>
        </p:nvSpPr>
        <p:spPr>
          <a:xfrm>
            <a:off x="2667000" y="5334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，-5）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99" name="Text Box 59"/>
          <p:cNvSpPr txBox="1"/>
          <p:nvPr/>
        </p:nvSpPr>
        <p:spPr>
          <a:xfrm>
            <a:off x="3505200" y="28194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，-2）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0" name="Text Box 60"/>
          <p:cNvSpPr txBox="1"/>
          <p:nvPr/>
        </p:nvSpPr>
        <p:spPr>
          <a:xfrm>
            <a:off x="2590800" y="52578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，-7）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1" name="Text Box 61"/>
          <p:cNvSpPr txBox="1"/>
          <p:nvPr/>
        </p:nvSpPr>
        <p:spPr>
          <a:xfrm>
            <a:off x="5943600" y="6096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，-3）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2" name="Text Box 62"/>
          <p:cNvSpPr txBox="1"/>
          <p:nvPr/>
        </p:nvSpPr>
        <p:spPr>
          <a:xfrm>
            <a:off x="5562600" y="51816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，-5）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3" name="Text Box 63"/>
          <p:cNvSpPr txBox="1"/>
          <p:nvPr/>
        </p:nvSpPr>
        <p:spPr>
          <a:xfrm>
            <a:off x="5638800" y="30480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，-1）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4" name="Text Box 64"/>
          <p:cNvSpPr txBox="1"/>
          <p:nvPr/>
        </p:nvSpPr>
        <p:spPr>
          <a:xfrm>
            <a:off x="7413625" y="2438400"/>
            <a:ext cx="1577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（ </a:t>
            </a:r>
            <a:r>
              <a:rPr lang="en-US" altLang="zh-CN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baseline="-25000" dirty="0">
                <a:solidFill>
                  <a:srgbClr val="0000CC"/>
                </a:solidFill>
                <a:latin typeface="Times New Roman" panose="02020603050405020304" pitchFamily="18" charset="0"/>
              </a:rPr>
              <a:t>6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，6）</a:t>
            </a:r>
            <a:endParaRPr lang="zh-CN" altLang="en-US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7" grpId="0"/>
      <p:bldP spid="61498" grpId="0"/>
      <p:bldP spid="61499" grpId="0"/>
      <p:bldP spid="61500" grpId="0"/>
      <p:bldP spid="61501" grpId="0"/>
      <p:bldP spid="61502" grpId="0"/>
      <p:bldP spid="61503" grpId="0"/>
      <p:bldP spid="6150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29" name="Rectangle 25"/>
          <p:cNvSpPr/>
          <p:nvPr/>
        </p:nvSpPr>
        <p:spPr>
          <a:xfrm>
            <a:off x="1219200" y="381000"/>
            <a:ext cx="65214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 、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Floyd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算法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144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0213"/>
            <a:ext cx="9144000" cy="3529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29" name="Rectangle 25"/>
          <p:cNvSpPr/>
          <p:nvPr/>
        </p:nvSpPr>
        <p:spPr>
          <a:xfrm>
            <a:off x="1219200" y="381000"/>
            <a:ext cx="65214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 、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Floyd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算法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62467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628775"/>
            <a:ext cx="8496300" cy="3887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/>
          <p:nvPr/>
        </p:nvSpPr>
        <p:spPr>
          <a:xfrm>
            <a:off x="0" y="228600"/>
            <a:ext cx="9144000" cy="3810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例三、求：5年内，哪些年初购置新设备，使5年内的总费用最小。</a:t>
            </a:r>
            <a:endParaRPr lang="zh-CN" altLang="en-US" sz="26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解：（1）分析：可行的购置方案（更新计划）是很多的，</a:t>
            </a:r>
            <a:endParaRPr lang="zh-CN" altLang="en-US" sz="26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 如： 1）  每年购置一台新的，则对应的费用为：</a:t>
            </a:r>
            <a:endParaRPr lang="zh-CN" altLang="en-US" sz="26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11+11+12+12+13 +5+5+5+5+5 = 84</a:t>
            </a:r>
            <a:endParaRPr lang="zh-CN" altLang="en-US" sz="26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      2 )第一年购置新的，一直用到第五年年底，则总费用为：     </a:t>
            </a:r>
            <a:r>
              <a:rPr lang="zh-CN" altLang="en-US" sz="26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11+5+6+8+11+18 = 59</a:t>
            </a: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        </a:t>
            </a:r>
            <a:endParaRPr lang="zh-CN" altLang="en-US" sz="26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       显然不同的方案对应不同的费用。 </a:t>
            </a:r>
            <a:endParaRPr lang="zh-CN" altLang="en-US" sz="2600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3491" name="Group 3"/>
          <p:cNvGrpSpPr/>
          <p:nvPr/>
        </p:nvGrpSpPr>
        <p:grpSpPr>
          <a:xfrm>
            <a:off x="304800" y="4114800"/>
            <a:ext cx="8534400" cy="2362200"/>
            <a:chOff x="-3" y="381"/>
            <a:chExt cx="2026" cy="1542"/>
          </a:xfrm>
        </p:grpSpPr>
        <p:grpSp>
          <p:nvGrpSpPr>
            <p:cNvPr id="63492" name="Group 4"/>
            <p:cNvGrpSpPr/>
            <p:nvPr/>
          </p:nvGrpSpPr>
          <p:grpSpPr>
            <a:xfrm>
              <a:off x="0" y="384"/>
              <a:ext cx="2020" cy="1536"/>
              <a:chOff x="0" y="384"/>
              <a:chExt cx="2020" cy="1536"/>
            </a:xfrm>
          </p:grpSpPr>
          <p:grpSp>
            <p:nvGrpSpPr>
              <p:cNvPr id="63494" name="Group 5"/>
              <p:cNvGrpSpPr/>
              <p:nvPr/>
            </p:nvGrpSpPr>
            <p:grpSpPr>
              <a:xfrm>
                <a:off x="0" y="384"/>
                <a:ext cx="638" cy="384"/>
                <a:chOff x="0" y="384"/>
                <a:chExt cx="638" cy="384"/>
              </a:xfrm>
            </p:grpSpPr>
            <p:sp>
              <p:nvSpPr>
                <p:cNvPr id="63516" name="Rectangle 6"/>
                <p:cNvSpPr/>
                <p:nvPr/>
              </p:nvSpPr>
              <p:spPr>
                <a:xfrm>
                  <a:off x="43" y="384"/>
                  <a:ext cx="55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第</a:t>
                  </a:r>
                  <a:r>
                    <a:rPr lang="en-US" altLang="zh-CN" b="1" dirty="0">
                      <a:latin typeface="楷体_GB2312" pitchFamily="49" charset="-122"/>
                      <a:ea typeface="楷体_GB2312" pitchFamily="49" charset="-122"/>
                    </a:rPr>
                    <a:t>i</a:t>
                  </a:r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年度</a:t>
                  </a:r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  <a:p>
                  <a:pPr algn="just" eaLnBrk="0" hangingPunct="0"/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63517" name="Rectangle 7"/>
                <p:cNvSpPr/>
                <p:nvPr/>
              </p:nvSpPr>
              <p:spPr>
                <a:xfrm>
                  <a:off x="0" y="384"/>
                  <a:ext cx="63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495" name="Group 8"/>
              <p:cNvGrpSpPr/>
              <p:nvPr/>
            </p:nvGrpSpPr>
            <p:grpSpPr>
              <a:xfrm>
                <a:off x="638" y="384"/>
                <a:ext cx="1382" cy="384"/>
                <a:chOff x="638" y="384"/>
                <a:chExt cx="1382" cy="384"/>
              </a:xfrm>
            </p:grpSpPr>
            <p:sp>
              <p:nvSpPr>
                <p:cNvPr id="63514" name="Rectangle 9"/>
                <p:cNvSpPr/>
                <p:nvPr/>
              </p:nvSpPr>
              <p:spPr>
                <a:xfrm>
                  <a:off x="681" y="384"/>
                  <a:ext cx="129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 </a:t>
                  </a:r>
                  <a:r>
                    <a:rPr lang="zh-CN" altLang="en-US" b="1" dirty="0">
                      <a:latin typeface="Times New Roman" panose="02020603050405020304" pitchFamily="18" charset="0"/>
                      <a:ea typeface="楷体_GB2312" pitchFamily="49" charset="-122"/>
                    </a:rPr>
                    <a:t>1           2         3        4        5</a:t>
                  </a:r>
                  <a:endParaRPr lang="zh-CN" altLang="en-US" b="1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3515" name="Rectangle 10"/>
                <p:cNvSpPr/>
                <p:nvPr/>
              </p:nvSpPr>
              <p:spPr>
                <a:xfrm>
                  <a:off x="638" y="384"/>
                  <a:ext cx="1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496" name="Group 11"/>
              <p:cNvGrpSpPr/>
              <p:nvPr/>
            </p:nvGrpSpPr>
            <p:grpSpPr>
              <a:xfrm>
                <a:off x="0" y="768"/>
                <a:ext cx="638" cy="384"/>
                <a:chOff x="0" y="768"/>
                <a:chExt cx="638" cy="384"/>
              </a:xfrm>
            </p:grpSpPr>
            <p:sp>
              <p:nvSpPr>
                <p:cNvPr id="63512" name="Rectangle 12"/>
                <p:cNvSpPr/>
                <p:nvPr/>
              </p:nvSpPr>
              <p:spPr>
                <a:xfrm>
                  <a:off x="43" y="768"/>
                  <a:ext cx="55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购置费</a:t>
                  </a:r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  <a:p>
                  <a:pPr algn="just" eaLnBrk="0" hangingPunct="0"/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63513" name="Rectangle 13"/>
                <p:cNvSpPr/>
                <p:nvPr/>
              </p:nvSpPr>
              <p:spPr>
                <a:xfrm>
                  <a:off x="0" y="768"/>
                  <a:ext cx="63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497" name="Group 14"/>
              <p:cNvGrpSpPr/>
              <p:nvPr/>
            </p:nvGrpSpPr>
            <p:grpSpPr>
              <a:xfrm>
                <a:off x="638" y="768"/>
                <a:ext cx="1382" cy="384"/>
                <a:chOff x="638" y="768"/>
                <a:chExt cx="1382" cy="384"/>
              </a:xfrm>
            </p:grpSpPr>
            <p:sp>
              <p:nvSpPr>
                <p:cNvPr id="63510" name="Rectangle 15"/>
                <p:cNvSpPr/>
                <p:nvPr/>
              </p:nvSpPr>
              <p:spPr>
                <a:xfrm>
                  <a:off x="681" y="768"/>
                  <a:ext cx="129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Times New Roman" panose="02020603050405020304" pitchFamily="18" charset="0"/>
                      <a:ea typeface="楷体_GB2312" pitchFamily="49" charset="-122"/>
                    </a:rPr>
                    <a:t> 11         11       12      12      13</a:t>
                  </a:r>
                  <a:endParaRPr lang="zh-CN" altLang="en-US" b="1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just" eaLnBrk="0" hangingPunct="0"/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63511" name="Rectangle 16"/>
                <p:cNvSpPr/>
                <p:nvPr/>
              </p:nvSpPr>
              <p:spPr>
                <a:xfrm>
                  <a:off x="638" y="768"/>
                  <a:ext cx="1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498" name="Group 17"/>
              <p:cNvGrpSpPr/>
              <p:nvPr/>
            </p:nvGrpSpPr>
            <p:grpSpPr>
              <a:xfrm>
                <a:off x="0" y="1152"/>
                <a:ext cx="638" cy="384"/>
                <a:chOff x="0" y="1152"/>
                <a:chExt cx="638" cy="384"/>
              </a:xfrm>
            </p:grpSpPr>
            <p:sp>
              <p:nvSpPr>
                <p:cNvPr id="63508" name="Rectangle 18"/>
                <p:cNvSpPr/>
                <p:nvPr/>
              </p:nvSpPr>
              <p:spPr>
                <a:xfrm>
                  <a:off x="43" y="1152"/>
                  <a:ext cx="55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设备役龄</a:t>
                  </a:r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  <a:p>
                  <a:pPr algn="just" eaLnBrk="0" hangingPunct="0"/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63509" name="Rectangle 19"/>
                <p:cNvSpPr/>
                <p:nvPr/>
              </p:nvSpPr>
              <p:spPr>
                <a:xfrm>
                  <a:off x="0" y="1152"/>
                  <a:ext cx="63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499" name="Group 20"/>
              <p:cNvGrpSpPr/>
              <p:nvPr/>
            </p:nvGrpSpPr>
            <p:grpSpPr>
              <a:xfrm>
                <a:off x="638" y="1152"/>
                <a:ext cx="1382" cy="384"/>
                <a:chOff x="638" y="1152"/>
                <a:chExt cx="1382" cy="384"/>
              </a:xfrm>
            </p:grpSpPr>
            <p:sp>
              <p:nvSpPr>
                <p:cNvPr id="63506" name="Rectangle 21"/>
                <p:cNvSpPr/>
                <p:nvPr/>
              </p:nvSpPr>
              <p:spPr>
                <a:xfrm>
                  <a:off x="681" y="1152"/>
                  <a:ext cx="129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Times New Roman" panose="02020603050405020304" pitchFamily="18" charset="0"/>
                      <a:ea typeface="楷体_GB2312" pitchFamily="49" charset="-122"/>
                    </a:rPr>
                    <a:t>0-1       1-2      2-3     3-4     4-5</a:t>
                  </a:r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63507" name="Rectangle 22"/>
                <p:cNvSpPr/>
                <p:nvPr/>
              </p:nvSpPr>
              <p:spPr>
                <a:xfrm>
                  <a:off x="638" y="1152"/>
                  <a:ext cx="1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500" name="Group 23"/>
              <p:cNvGrpSpPr/>
              <p:nvPr/>
            </p:nvGrpSpPr>
            <p:grpSpPr>
              <a:xfrm>
                <a:off x="0" y="1536"/>
                <a:ext cx="638" cy="384"/>
                <a:chOff x="0" y="1536"/>
                <a:chExt cx="638" cy="384"/>
              </a:xfrm>
            </p:grpSpPr>
            <p:sp>
              <p:nvSpPr>
                <p:cNvPr id="63504" name="Rectangle 24"/>
                <p:cNvSpPr/>
                <p:nvPr/>
              </p:nvSpPr>
              <p:spPr>
                <a:xfrm>
                  <a:off x="43" y="1536"/>
                  <a:ext cx="552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维修费用</a:t>
                  </a:r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  <a:p>
                  <a:pPr algn="just" eaLnBrk="0" hangingPunct="0"/>
                  <a:endParaRPr lang="zh-CN" altLang="en-US" b="1" dirty="0"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  <p:sp>
              <p:nvSpPr>
                <p:cNvPr id="63505" name="Rectangle 25"/>
                <p:cNvSpPr/>
                <p:nvPr/>
              </p:nvSpPr>
              <p:spPr>
                <a:xfrm>
                  <a:off x="0" y="1536"/>
                  <a:ext cx="638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3501" name="Group 26"/>
              <p:cNvGrpSpPr/>
              <p:nvPr/>
            </p:nvGrpSpPr>
            <p:grpSpPr>
              <a:xfrm>
                <a:off x="638" y="1536"/>
                <a:ext cx="1382" cy="384"/>
                <a:chOff x="638" y="1536"/>
                <a:chExt cx="1382" cy="384"/>
              </a:xfrm>
            </p:grpSpPr>
            <p:sp>
              <p:nvSpPr>
                <p:cNvPr id="63502" name="Rectangle 27"/>
                <p:cNvSpPr/>
                <p:nvPr/>
              </p:nvSpPr>
              <p:spPr>
                <a:xfrm>
                  <a:off x="681" y="1536"/>
                  <a:ext cx="1296" cy="38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algn="just"/>
                  <a:r>
                    <a:rPr lang="zh-CN" altLang="en-US" b="1" dirty="0">
                      <a:latin typeface="楷体_GB2312" pitchFamily="49" charset="-122"/>
                      <a:ea typeface="楷体_GB2312" pitchFamily="49" charset="-122"/>
                    </a:rPr>
                    <a:t> </a:t>
                  </a:r>
                  <a:r>
                    <a:rPr lang="zh-CN" altLang="en-US" b="1" dirty="0">
                      <a:latin typeface="Times New Roman" panose="02020603050405020304" pitchFamily="18" charset="0"/>
                      <a:ea typeface="楷体_GB2312" pitchFamily="49" charset="-122"/>
                    </a:rPr>
                    <a:t>5           6         8       11      18</a:t>
                  </a:r>
                  <a:endParaRPr lang="zh-CN" altLang="en-US" b="1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3503" name="Rectangle 28"/>
                <p:cNvSpPr/>
                <p:nvPr/>
              </p:nvSpPr>
              <p:spPr>
                <a:xfrm>
                  <a:off x="638" y="1536"/>
                  <a:ext cx="1382" cy="384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3493" name="Rectangle 29"/>
            <p:cNvSpPr/>
            <p:nvPr/>
          </p:nvSpPr>
          <p:spPr>
            <a:xfrm>
              <a:off x="-3" y="381"/>
              <a:ext cx="2026" cy="154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/>
          <p:nvPr/>
        </p:nvSpPr>
        <p:spPr>
          <a:xfrm>
            <a:off x="0" y="685800"/>
            <a:ext cx="9144000" cy="5410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just"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（2）方法：将此问题用一个赋权有向图来描述，然后求这个赋权有向图的最短路。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求解步骤：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1）画赋权有向图：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algn="just"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设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表示第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年初购进一台新设备，(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,V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)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表示第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i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年初购买新设备用到第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年初（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j-1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年底），而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W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i j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表示相应费用，则5年的一个更新计划相当于从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到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800" b="1" baseline="-30000" dirty="0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的一条路。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2）求解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386" name="Object 2"/>
          <p:cNvGraphicFramePr/>
          <p:nvPr/>
        </p:nvGraphicFramePr>
        <p:xfrm>
          <a:off x="1905000" y="304800"/>
          <a:ext cx="70104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3752850" imgH="2800350" progId="Photoshop.Image.6">
                  <p:embed/>
                </p:oleObj>
              </mc:Choice>
              <mc:Fallback>
                <p:oleObj name="" r:id="rId1" imgW="3752850" imgH="2800350" progId="Photoshop.Image.6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304800"/>
                        <a:ext cx="7010400" cy="5029200"/>
                      </a:xfrm>
                      <a:prstGeom prst="rect">
                        <a:avLst/>
                      </a:prstGeom>
                      <a:solidFill>
                        <a:schemeClr val="hlink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9" name="Rectangle 3"/>
          <p:cNvSpPr>
            <a:spLocks noGrp="1"/>
          </p:cNvSpPr>
          <p:nvPr>
            <p:ph type="subTitle" idx="1"/>
          </p:nvPr>
        </p:nvSpPr>
        <p:spPr>
          <a:xfrm>
            <a:off x="76200" y="4648200"/>
            <a:ext cx="3352800" cy="1752600"/>
          </a:xfrm>
          <a:solidFill>
            <a:schemeClr val="folHlink">
              <a:alpha val="100000"/>
            </a:schemeClr>
          </a:solidFill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ClrTx/>
              <a:buSzTx/>
              <a:buFontTx/>
            </a:pP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</a:t>
            </a:r>
            <a:r>
              <a:rPr kumimoji="1" lang="en-US" altLang="zh-CN" sz="2000" b="1" baseline="-30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12</a:t>
            </a: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=11+5=16</a:t>
            </a:r>
            <a:endParaRPr kumimoji="1" lang="en-US" altLang="zh-CN" sz="20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90000"/>
              </a:lnSpc>
              <a:buClrTx/>
              <a:buSzTx/>
              <a:buFontTx/>
            </a:pP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</a:t>
            </a:r>
            <a:r>
              <a:rPr kumimoji="1" lang="en-US" altLang="zh-CN" sz="2000" b="1" baseline="-30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13</a:t>
            </a: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=11+5+6=22</a:t>
            </a:r>
            <a:endParaRPr kumimoji="1" lang="en-US" altLang="zh-CN" sz="20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90000"/>
              </a:lnSpc>
              <a:buClrTx/>
              <a:buSzTx/>
              <a:buFontTx/>
            </a:pP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</a:t>
            </a:r>
            <a:r>
              <a:rPr kumimoji="1" lang="en-US" altLang="zh-CN" sz="2000" b="1" baseline="-30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14</a:t>
            </a: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=11+5+6+8=30</a:t>
            </a:r>
            <a:endParaRPr kumimoji="1" lang="en-US" altLang="zh-CN" sz="20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  <a:p>
            <a:pPr algn="just" eaLnBrk="1" hangingPunct="1">
              <a:lnSpc>
                <a:spcPct val="90000"/>
              </a:lnSpc>
              <a:buClrTx/>
              <a:buSzTx/>
              <a:buFontTx/>
            </a:pP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</a:t>
            </a:r>
            <a:r>
              <a:rPr kumimoji="1" lang="en-US" altLang="zh-CN" sz="2000" b="1" baseline="-30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15</a:t>
            </a: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=11+5+6+8+11=41</a:t>
            </a:r>
            <a:endParaRPr kumimoji="1" lang="en-US" altLang="zh-CN" sz="20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buClrTx/>
              <a:buSzTx/>
              <a:buFontTx/>
            </a:pP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W</a:t>
            </a:r>
            <a:r>
              <a:rPr kumimoji="1" lang="en-US" altLang="zh-CN" sz="2000" b="1" baseline="-30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16</a:t>
            </a:r>
            <a:r>
              <a:rPr kumimoji="1" lang="en-US" altLang="zh-CN" sz="2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 =11+5+6++8+11+18=59 </a:t>
            </a:r>
            <a:endParaRPr kumimoji="1" lang="en-US" altLang="zh-CN" sz="2000" b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0900" name="Text Box 4"/>
          <p:cNvSpPr txBox="1"/>
          <p:nvPr/>
        </p:nvSpPr>
        <p:spPr>
          <a:xfrm>
            <a:off x="3962400" y="5562600"/>
            <a:ext cx="4953000" cy="8540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23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=11+5=16           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=11+5+6=22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25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=11+5+6+8=30  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26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=11+5+6+8+11=41 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2" name="Text Box 6"/>
          <p:cNvSpPr txBox="1"/>
          <p:nvPr/>
        </p:nvSpPr>
        <p:spPr>
          <a:xfrm>
            <a:off x="152400" y="3032125"/>
            <a:ext cx="2209800" cy="13112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45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=12+5=17 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46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=12+5+6=23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56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=13+5=18  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1" name="Text Box 5"/>
          <p:cNvSpPr txBox="1"/>
          <p:nvPr/>
        </p:nvSpPr>
        <p:spPr>
          <a:xfrm>
            <a:off x="76200" y="365125"/>
            <a:ext cx="2362200" cy="1311275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>
            <a:spAutoFit/>
          </a:bodyPr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34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=12+5=17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35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=12+5+6=23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sz="2000" b="1" baseline="-30000" dirty="0">
                <a:solidFill>
                  <a:schemeClr val="accent2"/>
                </a:solidFill>
                <a:latin typeface="Times New Roman" panose="02020603050405020304" pitchFamily="18" charset="0"/>
              </a:rPr>
              <a:t>36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=12+5+6+8=31 </a:t>
            </a:r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charRg st="1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9">
                                            <p:txEl>
                                              <p:charRg st="1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9">
                                            <p:txEl>
                                              <p:charRg st="1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899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9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charRg st="4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899">
                                            <p:txEl>
                                              <p:charRg st="4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899">
                                            <p:txEl>
                                              <p:charRg st="4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charRg st="65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899">
                                            <p:txEl>
                                              <p:charRg st="65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899">
                                            <p:txEl>
                                              <p:charRg st="65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nimBg="1" build="p"/>
      <p:bldP spid="80900" grpId="0" animBg="1"/>
      <p:bldP spid="80902" grpId="0" animBg="1"/>
      <p:bldP spid="8090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/>
          <p:nvPr/>
        </p:nvSpPr>
        <p:spPr>
          <a:xfrm>
            <a:off x="533400" y="457200"/>
            <a:ext cx="8153400" cy="301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例四、 某工厂使用一种设备，这种设备在一定的年限内随着时间的推移逐渐损坏。所以工厂在每年年初都要决定设备是否更新。若购置设备，每年需支付购置费用；若继续使用旧设备，需要支付维修与运行费用，而且随着设备的老化会逐年增加。计划期（五年）内中每年的购置费、维修费与运行费如表所示，工厂要制定今后五年设备更新计划，问采用何种方案才能使包括购置费、维修费与运行费在内的总费用最小。 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65539" name="表格 65538"/>
          <p:cNvGraphicFramePr/>
          <p:nvPr/>
        </p:nvGraphicFramePr>
        <p:xfrm>
          <a:off x="1219200" y="4038600"/>
          <a:ext cx="6858000" cy="1833563"/>
        </p:xfrm>
        <a:graphic>
          <a:graphicData uri="http://schemas.openxmlformats.org/drawingml/2006/table">
            <a:tbl>
              <a:tblPr/>
              <a:tblGrid>
                <a:gridCol w="1873250"/>
                <a:gridCol w="995363"/>
                <a:gridCol w="998537"/>
                <a:gridCol w="996950"/>
                <a:gridCol w="996950"/>
                <a:gridCol w="9969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年份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购置费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18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20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21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23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24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使用年数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9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维修费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7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12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18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6562" name="表格 66561"/>
          <p:cNvGraphicFramePr/>
          <p:nvPr/>
        </p:nvGraphicFramePr>
        <p:xfrm>
          <a:off x="990600" y="533400"/>
          <a:ext cx="7010400" cy="1833563"/>
        </p:xfrm>
        <a:graphic>
          <a:graphicData uri="http://schemas.openxmlformats.org/drawingml/2006/table">
            <a:tbl>
              <a:tblPr/>
              <a:tblGrid>
                <a:gridCol w="1912938"/>
                <a:gridCol w="1019175"/>
                <a:gridCol w="1020762"/>
                <a:gridCol w="1017588"/>
                <a:gridCol w="1020762"/>
                <a:gridCol w="1019175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年份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购置费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18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20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21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23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24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使用年数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</a:rPr>
                        <a:t>~</a:t>
                      </a: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9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维修费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7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12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18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楷体_GB2312" pitchFamily="49" charset="-122"/>
                          <a:ea typeface="楷体_GB2312" pitchFamily="49" charset="-122"/>
                        </a:rPr>
                        <a:t>25</a:t>
                      </a:r>
                      <a:endParaRPr lang="zh-CN" altLang="en-US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599" name="Text Box 42"/>
          <p:cNvSpPr txBox="1">
            <a:spLocks noChangeAspect="1"/>
          </p:cNvSpPr>
          <p:nvPr/>
        </p:nvSpPr>
        <p:spPr>
          <a:xfrm>
            <a:off x="5405438" y="4692650"/>
            <a:ext cx="701675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28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00" name="Freeform 45"/>
          <p:cNvSpPr>
            <a:spLocks noChangeAspect="1"/>
          </p:cNvSpPr>
          <p:nvPr/>
        </p:nvSpPr>
        <p:spPr>
          <a:xfrm>
            <a:off x="946150" y="4095750"/>
            <a:ext cx="2805113" cy="485775"/>
          </a:xfrm>
          <a:custGeom>
            <a:avLst/>
            <a:gdLst>
              <a:gd name="txL" fmla="*/ 0 w 2160"/>
              <a:gd name="txT" fmla="*/ 0 h 312"/>
              <a:gd name="txR" fmla="*/ 2160 w 2160"/>
              <a:gd name="txB" fmla="*/ 312 h 312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2160" h="312">
                <a:moveTo>
                  <a:pt x="0" y="312"/>
                </a:moveTo>
                <a:cubicBezTo>
                  <a:pt x="360" y="156"/>
                  <a:pt x="720" y="0"/>
                  <a:pt x="1080" y="0"/>
                </a:cubicBezTo>
                <a:cubicBezTo>
                  <a:pt x="1440" y="0"/>
                  <a:pt x="1800" y="156"/>
                  <a:pt x="2160" y="312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1" name="Freeform 48"/>
          <p:cNvSpPr>
            <a:spLocks noChangeAspect="1"/>
          </p:cNvSpPr>
          <p:nvPr/>
        </p:nvSpPr>
        <p:spPr>
          <a:xfrm>
            <a:off x="2349500" y="5045075"/>
            <a:ext cx="2801938" cy="244475"/>
          </a:xfrm>
          <a:custGeom>
            <a:avLst/>
            <a:gdLst>
              <a:gd name="txL" fmla="*/ 0 w 2160"/>
              <a:gd name="txT" fmla="*/ 0 h 156"/>
              <a:gd name="txR" fmla="*/ 2160 w 2160"/>
              <a:gd name="txB" fmla="*/ 156 h 156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160" h="156">
                <a:moveTo>
                  <a:pt x="0" y="0"/>
                </a:moveTo>
                <a:cubicBezTo>
                  <a:pt x="360" y="78"/>
                  <a:pt x="720" y="156"/>
                  <a:pt x="1080" y="156"/>
                </a:cubicBezTo>
                <a:cubicBezTo>
                  <a:pt x="1440" y="156"/>
                  <a:pt x="1800" y="78"/>
                  <a:pt x="216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2" name="Freeform 49"/>
          <p:cNvSpPr>
            <a:spLocks noChangeAspect="1"/>
          </p:cNvSpPr>
          <p:nvPr/>
        </p:nvSpPr>
        <p:spPr>
          <a:xfrm rot="-38865">
            <a:off x="2503488" y="5072063"/>
            <a:ext cx="3971925" cy="730250"/>
          </a:xfrm>
          <a:custGeom>
            <a:avLst/>
            <a:gdLst>
              <a:gd name="txL" fmla="*/ 0 w 3060"/>
              <a:gd name="txT" fmla="*/ 0 h 468"/>
              <a:gd name="txR" fmla="*/ 3060 w 3060"/>
              <a:gd name="txB" fmla="*/ 468 h 468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3060" h="468">
                <a:moveTo>
                  <a:pt x="0" y="0"/>
                </a:moveTo>
                <a:cubicBezTo>
                  <a:pt x="555" y="234"/>
                  <a:pt x="1110" y="468"/>
                  <a:pt x="1620" y="468"/>
                </a:cubicBezTo>
                <a:cubicBezTo>
                  <a:pt x="2130" y="468"/>
                  <a:pt x="2595" y="234"/>
                  <a:pt x="306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3" name="Freeform 50"/>
          <p:cNvSpPr>
            <a:spLocks noChangeAspect="1"/>
          </p:cNvSpPr>
          <p:nvPr/>
        </p:nvSpPr>
        <p:spPr>
          <a:xfrm rot="5798">
            <a:off x="2349500" y="5102225"/>
            <a:ext cx="5607050" cy="973138"/>
          </a:xfrm>
          <a:custGeom>
            <a:avLst/>
            <a:gdLst>
              <a:gd name="txL" fmla="*/ 0 w 4320"/>
              <a:gd name="txT" fmla="*/ 0 h 624"/>
              <a:gd name="txR" fmla="*/ 4320 w 4320"/>
              <a:gd name="txB" fmla="*/ 624 h 62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4320" h="624">
                <a:moveTo>
                  <a:pt x="0" y="0"/>
                </a:moveTo>
                <a:cubicBezTo>
                  <a:pt x="720" y="312"/>
                  <a:pt x="1440" y="624"/>
                  <a:pt x="2160" y="624"/>
                </a:cubicBezTo>
                <a:cubicBezTo>
                  <a:pt x="2880" y="624"/>
                  <a:pt x="3960" y="104"/>
                  <a:pt x="4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4" name="Freeform 51"/>
          <p:cNvSpPr>
            <a:spLocks noChangeAspect="1"/>
          </p:cNvSpPr>
          <p:nvPr/>
        </p:nvSpPr>
        <p:spPr>
          <a:xfrm>
            <a:off x="946150" y="3702050"/>
            <a:ext cx="3971925" cy="973138"/>
          </a:xfrm>
          <a:custGeom>
            <a:avLst/>
            <a:gdLst>
              <a:gd name="txL" fmla="*/ 0 w 3060"/>
              <a:gd name="txT" fmla="*/ 0 h 624"/>
              <a:gd name="txR" fmla="*/ 3060 w 3060"/>
              <a:gd name="txB" fmla="*/ 624 h 624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3060" h="624">
                <a:moveTo>
                  <a:pt x="0" y="624"/>
                </a:moveTo>
                <a:cubicBezTo>
                  <a:pt x="465" y="312"/>
                  <a:pt x="930" y="0"/>
                  <a:pt x="1440" y="0"/>
                </a:cubicBezTo>
                <a:cubicBezTo>
                  <a:pt x="1950" y="0"/>
                  <a:pt x="2505" y="312"/>
                  <a:pt x="3060" y="624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5" name="Freeform 52"/>
          <p:cNvSpPr>
            <a:spLocks noChangeAspect="1"/>
          </p:cNvSpPr>
          <p:nvPr/>
        </p:nvSpPr>
        <p:spPr>
          <a:xfrm>
            <a:off x="946150" y="3216275"/>
            <a:ext cx="5608638" cy="1458913"/>
          </a:xfrm>
          <a:custGeom>
            <a:avLst/>
            <a:gdLst>
              <a:gd name="txL" fmla="*/ 0 w 4320"/>
              <a:gd name="txT" fmla="*/ 0 h 936"/>
              <a:gd name="txR" fmla="*/ 4320 w 4320"/>
              <a:gd name="txB" fmla="*/ 936 h 936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4320" h="936">
                <a:moveTo>
                  <a:pt x="0" y="936"/>
                </a:moveTo>
                <a:cubicBezTo>
                  <a:pt x="720" y="468"/>
                  <a:pt x="1440" y="0"/>
                  <a:pt x="2160" y="0"/>
                </a:cubicBezTo>
                <a:cubicBezTo>
                  <a:pt x="2880" y="0"/>
                  <a:pt x="3600" y="468"/>
                  <a:pt x="4320" y="936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6" name="Freeform 53"/>
          <p:cNvSpPr>
            <a:spLocks noChangeAspect="1"/>
          </p:cNvSpPr>
          <p:nvPr/>
        </p:nvSpPr>
        <p:spPr>
          <a:xfrm>
            <a:off x="946150" y="2971800"/>
            <a:ext cx="7010400" cy="1703388"/>
          </a:xfrm>
          <a:custGeom>
            <a:avLst/>
            <a:gdLst>
              <a:gd name="txL" fmla="*/ 0 w 5400"/>
              <a:gd name="txT" fmla="*/ 0 h 1092"/>
              <a:gd name="txR" fmla="*/ 5400 w 5400"/>
              <a:gd name="txB" fmla="*/ 1092 h 1092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5400" h="1092">
                <a:moveTo>
                  <a:pt x="0" y="1092"/>
                </a:moveTo>
                <a:cubicBezTo>
                  <a:pt x="900" y="546"/>
                  <a:pt x="1800" y="0"/>
                  <a:pt x="2700" y="0"/>
                </a:cubicBezTo>
                <a:cubicBezTo>
                  <a:pt x="3600" y="0"/>
                  <a:pt x="4500" y="546"/>
                  <a:pt x="5400" y="1092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7" name="Freeform 54"/>
          <p:cNvSpPr>
            <a:spLocks noChangeAspect="1"/>
          </p:cNvSpPr>
          <p:nvPr/>
        </p:nvSpPr>
        <p:spPr>
          <a:xfrm>
            <a:off x="3751263" y="4875213"/>
            <a:ext cx="2803525" cy="527050"/>
          </a:xfrm>
          <a:custGeom>
            <a:avLst/>
            <a:gdLst>
              <a:gd name="txL" fmla="*/ 0 w 2160"/>
              <a:gd name="txT" fmla="*/ 0 h 338"/>
              <a:gd name="txR" fmla="*/ 2160 w 2160"/>
              <a:gd name="txB" fmla="*/ 338 h 33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2160" h="338">
                <a:moveTo>
                  <a:pt x="0" y="156"/>
                </a:moveTo>
                <a:cubicBezTo>
                  <a:pt x="360" y="247"/>
                  <a:pt x="720" y="338"/>
                  <a:pt x="1080" y="312"/>
                </a:cubicBezTo>
                <a:cubicBezTo>
                  <a:pt x="1440" y="286"/>
                  <a:pt x="1800" y="143"/>
                  <a:pt x="216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8" name="Freeform 55"/>
          <p:cNvSpPr>
            <a:spLocks noChangeAspect="1"/>
          </p:cNvSpPr>
          <p:nvPr/>
        </p:nvSpPr>
        <p:spPr>
          <a:xfrm>
            <a:off x="3848100" y="4872038"/>
            <a:ext cx="3971925" cy="771525"/>
          </a:xfrm>
          <a:custGeom>
            <a:avLst/>
            <a:gdLst>
              <a:gd name="txL" fmla="*/ 0 w 3060"/>
              <a:gd name="txT" fmla="*/ 0 h 494"/>
              <a:gd name="txR" fmla="*/ 3060 w 3060"/>
              <a:gd name="txB" fmla="*/ 494 h 494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3060" h="494">
                <a:moveTo>
                  <a:pt x="0" y="156"/>
                </a:moveTo>
                <a:cubicBezTo>
                  <a:pt x="645" y="325"/>
                  <a:pt x="1290" y="494"/>
                  <a:pt x="1800" y="468"/>
                </a:cubicBezTo>
                <a:cubicBezTo>
                  <a:pt x="2310" y="442"/>
                  <a:pt x="2685" y="221"/>
                  <a:pt x="306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9" name="Freeform 56"/>
          <p:cNvSpPr>
            <a:spLocks noChangeAspect="1"/>
          </p:cNvSpPr>
          <p:nvPr/>
        </p:nvSpPr>
        <p:spPr>
          <a:xfrm>
            <a:off x="5211763" y="4187825"/>
            <a:ext cx="2568575" cy="487363"/>
          </a:xfrm>
          <a:custGeom>
            <a:avLst/>
            <a:gdLst>
              <a:gd name="txL" fmla="*/ 0 w 1980"/>
              <a:gd name="txT" fmla="*/ 0 h 312"/>
              <a:gd name="txR" fmla="*/ 1980 w 1980"/>
              <a:gd name="txB" fmla="*/ 312 h 312"/>
            </a:gdLst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txL" t="txT" r="txR" b="txB"/>
            <a:pathLst>
              <a:path w="1980" h="312">
                <a:moveTo>
                  <a:pt x="0" y="312"/>
                </a:moveTo>
                <a:cubicBezTo>
                  <a:pt x="375" y="156"/>
                  <a:pt x="750" y="0"/>
                  <a:pt x="1080" y="0"/>
                </a:cubicBezTo>
                <a:cubicBezTo>
                  <a:pt x="1410" y="0"/>
                  <a:pt x="1695" y="156"/>
                  <a:pt x="1980" y="312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0" name="Oval 59"/>
          <p:cNvSpPr>
            <a:spLocks noChangeAspect="1"/>
          </p:cNvSpPr>
          <p:nvPr/>
        </p:nvSpPr>
        <p:spPr>
          <a:xfrm>
            <a:off x="712788" y="4581525"/>
            <a:ext cx="466725" cy="48895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1" name="Oval 60"/>
          <p:cNvSpPr>
            <a:spLocks noChangeAspect="1"/>
          </p:cNvSpPr>
          <p:nvPr/>
        </p:nvSpPr>
        <p:spPr>
          <a:xfrm>
            <a:off x="2114550" y="4581525"/>
            <a:ext cx="468313" cy="48895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2" name="Oval 61"/>
          <p:cNvSpPr>
            <a:spLocks noChangeAspect="1"/>
          </p:cNvSpPr>
          <p:nvPr/>
        </p:nvSpPr>
        <p:spPr>
          <a:xfrm>
            <a:off x="3517900" y="4581525"/>
            <a:ext cx="466725" cy="48895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3" name="Oval 62"/>
          <p:cNvSpPr>
            <a:spLocks noChangeAspect="1"/>
          </p:cNvSpPr>
          <p:nvPr/>
        </p:nvSpPr>
        <p:spPr>
          <a:xfrm>
            <a:off x="4918075" y="4581525"/>
            <a:ext cx="468313" cy="48895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4" name="Oval 63"/>
          <p:cNvSpPr>
            <a:spLocks noChangeAspect="1"/>
          </p:cNvSpPr>
          <p:nvPr/>
        </p:nvSpPr>
        <p:spPr>
          <a:xfrm>
            <a:off x="6321425" y="4581525"/>
            <a:ext cx="466725" cy="48895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5" name="Oval 64"/>
          <p:cNvSpPr>
            <a:spLocks noChangeAspect="1"/>
          </p:cNvSpPr>
          <p:nvPr/>
        </p:nvSpPr>
        <p:spPr>
          <a:xfrm>
            <a:off x="7723188" y="4581525"/>
            <a:ext cx="466725" cy="488950"/>
          </a:xfrm>
          <a:prstGeom prst="ellipse">
            <a:avLst/>
          </a:prstGeom>
          <a:solidFill>
            <a:schemeClr val="hlink"/>
          </a:solidFill>
          <a:ln w="9525">
            <a:noFill/>
          </a:ln>
        </p:spPr>
        <p:txBody>
          <a:bodyPr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6" name="Line 65"/>
          <p:cNvSpPr>
            <a:spLocks noChangeAspect="1"/>
          </p:cNvSpPr>
          <p:nvPr/>
        </p:nvSpPr>
        <p:spPr>
          <a:xfrm>
            <a:off x="1179513" y="4826000"/>
            <a:ext cx="93503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17" name="Line 66"/>
          <p:cNvSpPr>
            <a:spLocks noChangeAspect="1"/>
          </p:cNvSpPr>
          <p:nvPr/>
        </p:nvSpPr>
        <p:spPr>
          <a:xfrm>
            <a:off x="2582863" y="4826000"/>
            <a:ext cx="93503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18" name="Line 67"/>
          <p:cNvSpPr>
            <a:spLocks noChangeAspect="1"/>
          </p:cNvSpPr>
          <p:nvPr/>
        </p:nvSpPr>
        <p:spPr>
          <a:xfrm>
            <a:off x="3984625" y="4826000"/>
            <a:ext cx="9334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19" name="Line 68"/>
          <p:cNvSpPr>
            <a:spLocks noChangeAspect="1"/>
          </p:cNvSpPr>
          <p:nvPr/>
        </p:nvSpPr>
        <p:spPr>
          <a:xfrm>
            <a:off x="5386388" y="4826000"/>
            <a:ext cx="93503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20" name="Line 69"/>
          <p:cNvSpPr>
            <a:spLocks noChangeAspect="1"/>
          </p:cNvSpPr>
          <p:nvPr/>
        </p:nvSpPr>
        <p:spPr>
          <a:xfrm>
            <a:off x="6788150" y="4826000"/>
            <a:ext cx="935038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21" name="Text Box 70"/>
          <p:cNvSpPr txBox="1">
            <a:spLocks noChangeAspect="1"/>
          </p:cNvSpPr>
          <p:nvPr/>
        </p:nvSpPr>
        <p:spPr>
          <a:xfrm>
            <a:off x="609600" y="4457700"/>
            <a:ext cx="700088" cy="730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6622" name="Text Box 71"/>
          <p:cNvSpPr txBox="1">
            <a:spLocks noChangeAspect="1"/>
          </p:cNvSpPr>
          <p:nvPr/>
        </p:nvSpPr>
        <p:spPr>
          <a:xfrm>
            <a:off x="1873250" y="4427538"/>
            <a:ext cx="936625" cy="730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6623" name="Text Box 72"/>
          <p:cNvSpPr txBox="1">
            <a:spLocks noChangeAspect="1"/>
          </p:cNvSpPr>
          <p:nvPr/>
        </p:nvSpPr>
        <p:spPr>
          <a:xfrm>
            <a:off x="3449638" y="4283075"/>
            <a:ext cx="700087" cy="974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6624" name="Text Box 73"/>
          <p:cNvSpPr txBox="1">
            <a:spLocks noChangeAspect="1"/>
          </p:cNvSpPr>
          <p:nvPr/>
        </p:nvSpPr>
        <p:spPr>
          <a:xfrm>
            <a:off x="4824413" y="4432300"/>
            <a:ext cx="700087" cy="730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6625" name="Text Box 74"/>
          <p:cNvSpPr txBox="1">
            <a:spLocks noChangeAspect="1"/>
          </p:cNvSpPr>
          <p:nvPr/>
        </p:nvSpPr>
        <p:spPr>
          <a:xfrm>
            <a:off x="6172200" y="4283075"/>
            <a:ext cx="703263" cy="974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6626" name="Text Box 75"/>
          <p:cNvSpPr txBox="1">
            <a:spLocks noChangeAspect="1"/>
          </p:cNvSpPr>
          <p:nvPr/>
        </p:nvSpPr>
        <p:spPr>
          <a:xfrm>
            <a:off x="7605713" y="4456113"/>
            <a:ext cx="700087" cy="7302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66627" name="Line 76"/>
          <p:cNvSpPr>
            <a:spLocks noChangeAspect="1"/>
          </p:cNvSpPr>
          <p:nvPr/>
        </p:nvSpPr>
        <p:spPr>
          <a:xfrm>
            <a:off x="3429000" y="5283200"/>
            <a:ext cx="4683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28" name="Line 77"/>
          <p:cNvSpPr>
            <a:spLocks noChangeAspect="1"/>
          </p:cNvSpPr>
          <p:nvPr/>
        </p:nvSpPr>
        <p:spPr>
          <a:xfrm>
            <a:off x="4356100" y="5791200"/>
            <a:ext cx="468313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29" name="Line 78"/>
          <p:cNvSpPr>
            <a:spLocks noChangeAspect="1"/>
          </p:cNvSpPr>
          <p:nvPr/>
        </p:nvSpPr>
        <p:spPr>
          <a:xfrm>
            <a:off x="4992688" y="6062663"/>
            <a:ext cx="346075" cy="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0" name="Line 79"/>
          <p:cNvSpPr>
            <a:spLocks noChangeAspect="1"/>
          </p:cNvSpPr>
          <p:nvPr/>
        </p:nvSpPr>
        <p:spPr>
          <a:xfrm>
            <a:off x="6088063" y="5594350"/>
            <a:ext cx="2333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1" name="Line 80"/>
          <p:cNvSpPr>
            <a:spLocks noChangeAspect="1"/>
          </p:cNvSpPr>
          <p:nvPr/>
        </p:nvSpPr>
        <p:spPr>
          <a:xfrm>
            <a:off x="5076825" y="5354638"/>
            <a:ext cx="261938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2" name="Line 83"/>
          <p:cNvSpPr>
            <a:spLocks noChangeAspect="1"/>
          </p:cNvSpPr>
          <p:nvPr/>
        </p:nvSpPr>
        <p:spPr>
          <a:xfrm>
            <a:off x="6508750" y="4195763"/>
            <a:ext cx="279400" cy="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3" name="Line 84"/>
          <p:cNvSpPr>
            <a:spLocks noChangeAspect="1"/>
          </p:cNvSpPr>
          <p:nvPr/>
        </p:nvSpPr>
        <p:spPr>
          <a:xfrm>
            <a:off x="2889250" y="4183063"/>
            <a:ext cx="417513" cy="1873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4" name="Line 85"/>
          <p:cNvSpPr>
            <a:spLocks noChangeAspect="1"/>
          </p:cNvSpPr>
          <p:nvPr/>
        </p:nvSpPr>
        <p:spPr>
          <a:xfrm>
            <a:off x="3513138" y="3860800"/>
            <a:ext cx="384175" cy="17145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5" name="Line 86"/>
          <p:cNvSpPr>
            <a:spLocks noChangeAspect="1"/>
          </p:cNvSpPr>
          <p:nvPr/>
        </p:nvSpPr>
        <p:spPr>
          <a:xfrm>
            <a:off x="4440238" y="3332163"/>
            <a:ext cx="468312" cy="2095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6" name="Line 87"/>
          <p:cNvSpPr>
            <a:spLocks noChangeAspect="1"/>
          </p:cNvSpPr>
          <p:nvPr/>
        </p:nvSpPr>
        <p:spPr>
          <a:xfrm>
            <a:off x="5621338" y="3230563"/>
            <a:ext cx="466725" cy="2111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66637" name="Text Box 88"/>
          <p:cNvSpPr txBox="1">
            <a:spLocks noChangeAspect="1"/>
          </p:cNvSpPr>
          <p:nvPr/>
        </p:nvSpPr>
        <p:spPr>
          <a:xfrm>
            <a:off x="1258888" y="4632325"/>
            <a:ext cx="701675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23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38" name="Text Box 89"/>
          <p:cNvSpPr txBox="1">
            <a:spLocks noChangeAspect="1"/>
          </p:cNvSpPr>
          <p:nvPr/>
        </p:nvSpPr>
        <p:spPr>
          <a:xfrm>
            <a:off x="2738438" y="4727575"/>
            <a:ext cx="700087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25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39" name="Text Box 90"/>
          <p:cNvSpPr txBox="1">
            <a:spLocks noChangeAspect="1"/>
          </p:cNvSpPr>
          <p:nvPr/>
        </p:nvSpPr>
        <p:spPr>
          <a:xfrm>
            <a:off x="4081463" y="4673600"/>
            <a:ext cx="701675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26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0" name="Text Box 91"/>
          <p:cNvSpPr txBox="1">
            <a:spLocks noChangeAspect="1"/>
          </p:cNvSpPr>
          <p:nvPr/>
        </p:nvSpPr>
        <p:spPr>
          <a:xfrm>
            <a:off x="6788150" y="4722813"/>
            <a:ext cx="701675" cy="6302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29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1" name="Text Box 92"/>
          <p:cNvSpPr txBox="1">
            <a:spLocks noChangeAspect="1"/>
          </p:cNvSpPr>
          <p:nvPr/>
        </p:nvSpPr>
        <p:spPr>
          <a:xfrm>
            <a:off x="2349500" y="3994150"/>
            <a:ext cx="700088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30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2" name="Text Box 93"/>
          <p:cNvSpPr txBox="1">
            <a:spLocks noChangeAspect="1"/>
          </p:cNvSpPr>
          <p:nvPr/>
        </p:nvSpPr>
        <p:spPr>
          <a:xfrm>
            <a:off x="2970213" y="3671888"/>
            <a:ext cx="935037" cy="6302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42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3" name="Text Box 94"/>
          <p:cNvSpPr txBox="1">
            <a:spLocks noChangeAspect="1"/>
          </p:cNvSpPr>
          <p:nvPr/>
        </p:nvSpPr>
        <p:spPr>
          <a:xfrm>
            <a:off x="4041775" y="3233738"/>
            <a:ext cx="935038" cy="6318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60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4" name="Text Box 95"/>
          <p:cNvSpPr txBox="1">
            <a:spLocks noChangeAspect="1"/>
          </p:cNvSpPr>
          <p:nvPr/>
        </p:nvSpPr>
        <p:spPr>
          <a:xfrm>
            <a:off x="4908550" y="2971800"/>
            <a:ext cx="933450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85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5" name="Text Box 96"/>
          <p:cNvSpPr txBox="1">
            <a:spLocks noChangeAspect="1"/>
          </p:cNvSpPr>
          <p:nvPr/>
        </p:nvSpPr>
        <p:spPr>
          <a:xfrm>
            <a:off x="3594100" y="5141913"/>
            <a:ext cx="701675" cy="6302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32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6" name="Text Box 97"/>
          <p:cNvSpPr txBox="1">
            <a:spLocks noChangeAspect="1"/>
          </p:cNvSpPr>
          <p:nvPr/>
        </p:nvSpPr>
        <p:spPr>
          <a:xfrm>
            <a:off x="4100513" y="5270500"/>
            <a:ext cx="935037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44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7" name="Text Box 98"/>
          <p:cNvSpPr txBox="1">
            <a:spLocks noChangeAspect="1"/>
          </p:cNvSpPr>
          <p:nvPr/>
        </p:nvSpPr>
        <p:spPr>
          <a:xfrm>
            <a:off x="5132388" y="5541963"/>
            <a:ext cx="701675" cy="6302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62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8" name="Text Box 99"/>
          <p:cNvSpPr txBox="1">
            <a:spLocks noChangeAspect="1"/>
          </p:cNvSpPr>
          <p:nvPr/>
        </p:nvSpPr>
        <p:spPr>
          <a:xfrm>
            <a:off x="4802188" y="4872038"/>
            <a:ext cx="935037" cy="6302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33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49" name="Text Box 100"/>
          <p:cNvSpPr txBox="1">
            <a:spLocks noChangeAspect="1"/>
          </p:cNvSpPr>
          <p:nvPr/>
        </p:nvSpPr>
        <p:spPr>
          <a:xfrm>
            <a:off x="6107113" y="5011738"/>
            <a:ext cx="701675" cy="6302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45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66650" name="Text Box 103"/>
          <p:cNvSpPr txBox="1">
            <a:spLocks noChangeAspect="1"/>
          </p:cNvSpPr>
          <p:nvPr/>
        </p:nvSpPr>
        <p:spPr>
          <a:xfrm>
            <a:off x="6380163" y="4092575"/>
            <a:ext cx="700087" cy="630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en-US" sz="2000" b="1" dirty="0">
                <a:latin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</a:rPr>
              <a:t>5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PP_MARK_KEY" val="c994bfff-60ff-48cd-bc25-886c73aaa849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7245</Words>
  <Application>WPS 演示</Application>
  <PresentationFormat>全屏显示(4:3)</PresentationFormat>
  <Paragraphs>2322</Paragraphs>
  <Slides>64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74</vt:i4>
      </vt:variant>
      <vt:variant>
        <vt:lpstr>幻灯片标题</vt:lpstr>
      </vt:variant>
      <vt:variant>
        <vt:i4>64</vt:i4>
      </vt:variant>
    </vt:vector>
  </HeadingPairs>
  <TitlesOfParts>
    <vt:vector size="152" baseType="lpstr">
      <vt:lpstr>Arial</vt:lpstr>
      <vt:lpstr>宋体</vt:lpstr>
      <vt:lpstr>Wingdings</vt:lpstr>
      <vt:lpstr>Times New Roman</vt:lpstr>
      <vt:lpstr>Calibri</vt:lpstr>
      <vt:lpstr>黑体</vt:lpstr>
      <vt:lpstr>楷体_GB2312</vt:lpstr>
      <vt:lpstr>新宋体</vt:lpstr>
      <vt:lpstr>隶书</vt:lpstr>
      <vt:lpstr>Symbol</vt:lpstr>
      <vt:lpstr>华文彩云</vt:lpstr>
      <vt:lpstr>微软雅黑</vt:lpstr>
      <vt:lpstr>Arial Unicode MS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MSDraw.Drawing.8.2</vt:lpstr>
      <vt:lpstr>Photoshop.Image.6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Photoshop.Image.6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Albert Yang</cp:lastModifiedBy>
  <cp:revision>97</cp:revision>
  <dcterms:created xsi:type="dcterms:W3CDTF">2022-12-18T08:54:50Z</dcterms:created>
  <dcterms:modified xsi:type="dcterms:W3CDTF">2022-12-18T08:55:01Z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4027B6D1A2024CC4BAE3FF4B87FFB4F7</vt:lpwstr>
  </property>
  <property fmtid="{D5CDD505-2E9C-101B-9397-08002B2CF9AE}" pid="3" name="KSOProductBuildVer">
    <vt:lpwstr>2052-11.1.0.12980</vt:lpwstr>
  </property>
</Properties>
</file>