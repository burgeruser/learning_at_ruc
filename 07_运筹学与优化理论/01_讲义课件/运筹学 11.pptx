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93" r:id="rId4"/>
    <p:sldId id="294" r:id="rId5"/>
    <p:sldId id="295" r:id="rId6"/>
    <p:sldId id="296" r:id="rId7"/>
    <p:sldId id="297" r:id="rId8"/>
    <p:sldId id="298" r:id="rId9"/>
    <p:sldId id="300" r:id="rId10"/>
    <p:sldId id="299" r:id="rId11"/>
    <p:sldId id="301" r:id="rId12"/>
    <p:sldId id="302" r:id="rId13"/>
    <p:sldId id="303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2" r:id="rId24"/>
    <p:sldId id="291" r:id="rId25"/>
    <p:sldId id="305" r:id="rId26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FFFFFF"/>
    <a:srgbClr val="DDDDDD"/>
    <a:srgbClr val="996633"/>
    <a:srgbClr val="FF0000"/>
    <a:srgbClr val="009900"/>
    <a:srgbClr val="000066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954"/>
    <p:restoredTop sz="93569"/>
  </p:normalViewPr>
  <p:slideViewPr>
    <p:cSldViewPr showGuides="1">
      <p:cViewPr varScale="1">
        <p:scale>
          <a:sx n="67" d="100"/>
          <a:sy n="67" d="100"/>
        </p:scale>
        <p:origin x="-133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3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1026"/>
          <p:cNvSpPr txBox="1"/>
          <p:nvPr/>
        </p:nvSpPr>
        <p:spPr>
          <a:xfrm>
            <a:off x="457200" y="533400"/>
            <a:ext cx="8686800" cy="1025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5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动   态   规   划</a:t>
            </a:r>
            <a:endParaRPr lang="zh-CN" altLang="en-US" sz="5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30000"/>
              </a:lnSpc>
              <a:spcBef>
                <a:spcPct val="50000"/>
              </a:spcBef>
            </a:pPr>
            <a:r>
              <a:rPr lang="zh-CN" altLang="en-US" sz="36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36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(Dynamic  programming)</a:t>
            </a:r>
            <a:endParaRPr lang="en-US" altLang="zh-CN" sz="36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43" name="Line 1027"/>
          <p:cNvSpPr/>
          <p:nvPr/>
        </p:nvSpPr>
        <p:spPr>
          <a:xfrm>
            <a:off x="0" y="1676400"/>
            <a:ext cx="91440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Text Box 1028"/>
          <p:cNvSpPr txBox="1"/>
          <p:nvPr/>
        </p:nvSpPr>
        <p:spPr>
          <a:xfrm>
            <a:off x="228600" y="2133600"/>
            <a:ext cx="86868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400" dirty="0">
                <a:solidFill>
                  <a:srgbClr val="663300"/>
                </a:solidFill>
                <a:latin typeface="Times New Roman" panose="02020603050405020304" pitchFamily="18" charset="0"/>
              </a:rPr>
              <a:t>动态规划的基本思想</a:t>
            </a:r>
            <a:endParaRPr lang="zh-CN" altLang="en-US" sz="4400" dirty="0">
              <a:solidFill>
                <a:srgbClr val="66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9" name="Rectangle 1029"/>
          <p:cNvSpPr/>
          <p:nvPr/>
        </p:nvSpPr>
        <p:spPr>
          <a:xfrm>
            <a:off x="2798763" y="3048000"/>
            <a:ext cx="5049837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400" dirty="0">
                <a:solidFill>
                  <a:srgbClr val="663300"/>
                </a:solidFill>
                <a:latin typeface="Times New Roman" panose="02020603050405020304" pitchFamily="18" charset="0"/>
              </a:rPr>
              <a:t>最短路径问题</a:t>
            </a:r>
            <a:endParaRPr lang="zh-CN" altLang="en-US" sz="4400" dirty="0">
              <a:solidFill>
                <a:srgbClr val="66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0" name="Rectangle 1030"/>
          <p:cNvSpPr/>
          <p:nvPr/>
        </p:nvSpPr>
        <p:spPr>
          <a:xfrm>
            <a:off x="2667000" y="3962400"/>
            <a:ext cx="50292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400" dirty="0">
                <a:solidFill>
                  <a:srgbClr val="663300"/>
                </a:solidFill>
                <a:latin typeface="Times New Roman" panose="02020603050405020304" pitchFamily="18" charset="0"/>
              </a:rPr>
              <a:t>资源分配问题</a:t>
            </a:r>
            <a:endParaRPr lang="zh-CN" altLang="en-US" sz="4400" dirty="0">
              <a:solidFill>
                <a:srgbClr val="66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1" name="Rectangle 1031"/>
          <p:cNvSpPr/>
          <p:nvPr/>
        </p:nvSpPr>
        <p:spPr>
          <a:xfrm>
            <a:off x="3276600" y="4953000"/>
            <a:ext cx="35814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400" dirty="0">
                <a:solidFill>
                  <a:srgbClr val="663300"/>
                </a:solidFill>
                <a:latin typeface="Times New Roman" panose="02020603050405020304" pitchFamily="18" charset="0"/>
              </a:rPr>
              <a:t>背包问题</a:t>
            </a:r>
            <a:endParaRPr lang="zh-CN" altLang="en-US" sz="4400" dirty="0">
              <a:solidFill>
                <a:srgbClr val="66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7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/>
      <p:bldP spid="11270" grpId="0"/>
      <p:bldP spid="112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4438"/>
            <a:ext cx="9144000" cy="4929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128"/>
          <p:cNvSpPr txBox="1">
            <a:spLocks noChangeArrowheads="1"/>
          </p:cNvSpPr>
          <p:nvPr/>
        </p:nvSpPr>
        <p:spPr bwMode="auto">
          <a:xfrm>
            <a:off x="304800" y="228600"/>
            <a:ext cx="4419600" cy="83820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3600" kern="0" cap="none" spc="0" normalizeH="0" baseline="0" noProof="0" dirty="0">
                <a:solidFill>
                  <a:srgbClr val="006666"/>
                </a:solidFill>
                <a:latin typeface="+mj-lt"/>
                <a:ea typeface="黑体" panose="02010609060101010101" pitchFamily="49" charset="-122"/>
                <a:cs typeface="+mj-cs"/>
              </a:rPr>
              <a:t>三、资源分配问题</a:t>
            </a:r>
            <a:endParaRPr kumimoji="1" lang="zh-CN" altLang="en-US" sz="3600" kern="0" cap="none" spc="0" normalizeH="0" baseline="0" noProof="0" dirty="0">
              <a:solidFill>
                <a:srgbClr val="006666"/>
              </a:solidFill>
              <a:latin typeface="+mj-lt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9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0125"/>
            <a:ext cx="9144000" cy="5072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3000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00"/>
            <a:ext cx="9144000" cy="471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4438"/>
            <a:ext cx="9144000" cy="3857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4286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57313"/>
            <a:ext cx="9144000" cy="2500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4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0125"/>
            <a:ext cx="9144000" cy="4857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0063"/>
            <a:ext cx="9144000" cy="5572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4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2" name="Rectangle 4"/>
          <p:cNvSpPr/>
          <p:nvPr/>
        </p:nvSpPr>
        <p:spPr>
          <a:xfrm>
            <a:off x="0" y="3124200"/>
            <a:ext cx="9144000" cy="19812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71" name="Rectangle 3"/>
          <p:cNvSpPr/>
          <p:nvPr/>
        </p:nvSpPr>
        <p:spPr>
          <a:xfrm>
            <a:off x="0" y="762000"/>
            <a:ext cx="9144000" cy="23622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85" name="Text Box 2"/>
          <p:cNvSpPr txBox="1"/>
          <p:nvPr/>
        </p:nvSpPr>
        <p:spPr>
          <a:xfrm>
            <a:off x="228600" y="228600"/>
            <a:ext cx="8686800" cy="6372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建立动态规划模型的步骤 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  </a:t>
            </a:r>
            <a:r>
              <a:rPr lang="en-US" altLang="zh-CN" dirty="0">
                <a:solidFill>
                  <a:srgbClr val="000066"/>
                </a:solidFill>
                <a:latin typeface="楷体_GB2312" pitchFamily="49" charset="-122"/>
              </a:rPr>
              <a:t>1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、划分阶段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划分阶段是运用动态规划求解多阶段决策问题的第一步，在确定多阶段特性后，按时间或空间先后顺序，将过程划分为若干相互联系的阶段。对于静态问题要人为地赋予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时间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概念，以便划分阶段。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  </a:t>
            </a:r>
            <a:r>
              <a:rPr lang="en-US" altLang="zh-CN" dirty="0">
                <a:solidFill>
                  <a:srgbClr val="000066"/>
                </a:solidFill>
                <a:latin typeface="楷体_GB2312" pitchFamily="49" charset="-122"/>
              </a:rPr>
              <a:t>2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、正确选择状态变量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选择变量既要能确切描述过程演变又要满足无后效性，而且各阶段状态变量的取值能够确定。一般地，状态变量的选择是从过程演变的特点中寻找。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  </a:t>
            </a:r>
            <a:r>
              <a:rPr lang="en-US" altLang="zh-CN" dirty="0">
                <a:solidFill>
                  <a:srgbClr val="000066"/>
                </a:solidFill>
                <a:latin typeface="楷体_GB2312" pitchFamily="49" charset="-122"/>
              </a:rPr>
              <a:t>3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、确定决策变量及允许决策集合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通常选择所求解问题的关键变量作为决策变量，同时要给出决策变量的取值范围，即确定允许决策集合。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  <p:bldP spid="7172" grpId="0" animBg="1"/>
      <p:bldP spid="717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9" name="Rectangle 7"/>
          <p:cNvSpPr/>
          <p:nvPr/>
        </p:nvSpPr>
        <p:spPr>
          <a:xfrm>
            <a:off x="0" y="4419600"/>
            <a:ext cx="9144000" cy="1752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7" name="Rectangle 5"/>
          <p:cNvSpPr/>
          <p:nvPr/>
        </p:nvSpPr>
        <p:spPr>
          <a:xfrm>
            <a:off x="0" y="2971800"/>
            <a:ext cx="9144000" cy="1447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6" name="Rectangle 4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5" name="Rectangle 3"/>
          <p:cNvSpPr/>
          <p:nvPr/>
        </p:nvSpPr>
        <p:spPr>
          <a:xfrm>
            <a:off x="0" y="457200"/>
            <a:ext cx="9144000" cy="1600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10" name="Rectangle 2"/>
          <p:cNvSpPr/>
          <p:nvPr/>
        </p:nvSpPr>
        <p:spPr>
          <a:xfrm>
            <a:off x="228600" y="533400"/>
            <a:ext cx="8686800" cy="4406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楷体_GB2312" pitchFamily="49" charset="-122"/>
              </a:rPr>
              <a:t>  4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、确定状态转移方程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根据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阶段状态变量和决策变量，写出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0" dirty="0">
                <a:solidFill>
                  <a:srgbClr val="000066"/>
                </a:solidFill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阶段状态变量，状态转移方程应当具有递推关系。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  </a:t>
            </a:r>
            <a:r>
              <a:rPr lang="en-US" altLang="zh-CN" dirty="0">
                <a:solidFill>
                  <a:srgbClr val="000066"/>
                </a:solidFill>
                <a:latin typeface="楷体_GB2312" pitchFamily="49" charset="-122"/>
              </a:rPr>
              <a:t>5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、确定阶段指标函数和最优指标函数，建立动态规划基本方程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  阶段指标函数是指第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solidFill>
                  <a:srgbClr val="000066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阶段的收益，最优指标函数是指从第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阶段状态出发到第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阶段末所获得收益的最优值，最后写出动态规划基本方程。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   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</p:txBody>
      </p:sp>
      <p:sp>
        <p:nvSpPr>
          <p:cNvPr id="8198" name="Rectangle 6"/>
          <p:cNvSpPr/>
          <p:nvPr/>
        </p:nvSpPr>
        <p:spPr>
          <a:xfrm>
            <a:off x="0" y="4467225"/>
            <a:ext cx="9144000" cy="1628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楷体_GB2312" pitchFamily="49" charset="-122"/>
              </a:rPr>
              <a:t>   </a:t>
            </a:r>
            <a:r>
              <a:rPr lang="zh-CN" altLang="en-US" dirty="0">
                <a:solidFill>
                  <a:srgbClr val="000066"/>
                </a:solidFill>
                <a:latin typeface="楷体_GB2312" pitchFamily="49" charset="-122"/>
              </a:rPr>
              <a:t>以上五步是建立动态规划数学模型的一般步骤。由于动态规划模型与线性规划模型不同，动态规划模型没有统一的模式，建模时必须根据具体问题具体分析，只有通过不断实践总结，才能较好掌握建模方法与技巧。 </a:t>
            </a:r>
            <a:endParaRPr lang="zh-CN" altLang="en-US" dirty="0">
              <a:solidFill>
                <a:srgbClr val="000066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nimBg="1"/>
      <p:bldP spid="8197" grpId="0" animBg="1"/>
      <p:bldP spid="8196" grpId="0" animBg="1"/>
      <p:bldP spid="8195" grpId="0" animBg="1"/>
      <p:bldP spid="81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ext Box 2"/>
          <p:cNvSpPr txBox="1"/>
          <p:nvPr/>
        </p:nvSpPr>
        <p:spPr>
          <a:xfrm>
            <a:off x="228600" y="1066800"/>
            <a:ext cx="86868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有一个徒步旅行者，其可携带物品重量的限度为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公斤，设有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种物品可供他选择装入包中。已知每种物品的重量及使用价值（作用），问此人应如何选择携带的物品（各几件），使所起作用（使用价值）最大？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797" name="Group 125"/>
          <p:cNvGraphicFramePr>
            <a:graphicFrameLocks noGrp="1"/>
          </p:cNvGraphicFramePr>
          <p:nvPr/>
        </p:nvGraphicFramePr>
        <p:xfrm>
          <a:off x="228600" y="2971800"/>
          <a:ext cx="8686800" cy="2057400"/>
        </p:xfrm>
        <a:graphic>
          <a:graphicData uri="http://schemas.openxmlformats.org/drawingml/2006/table">
            <a:tbl>
              <a:tblPr/>
              <a:tblGrid>
                <a:gridCol w="2362200"/>
                <a:gridCol w="6324600"/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物品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1        2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…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 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…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8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重量（公斤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/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件）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a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      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… 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         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 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800" b="1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每件使用价值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c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        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           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</a:t>
                      </a:r>
                      <a:r>
                        <a:rPr kumimoji="1" lang="en-US" altLang="zh-CN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800" b="1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800" b="1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28750" name="Text Box 78"/>
          <p:cNvSpPr txBox="1"/>
          <p:nvPr/>
        </p:nvSpPr>
        <p:spPr>
          <a:xfrm>
            <a:off x="228600" y="5105400"/>
            <a:ext cx="86868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这就是背包问题。类似的还有工厂里的下料问题、运输中的货物装载问题、人造卫星内的物品装载问题等。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800" name="Text Box 128"/>
          <p:cNvSpPr txBox="1">
            <a:spLocks noGrp="1"/>
          </p:cNvSpPr>
          <p:nvPr>
            <p:ph type="ctrTitle"/>
          </p:nvPr>
        </p:nvSpPr>
        <p:spPr>
          <a:xfrm>
            <a:off x="304800" y="228600"/>
            <a:ext cx="4419600" cy="838200"/>
          </a:xfrm>
          <a:noFill/>
          <a:ln>
            <a:noFill/>
          </a:ln>
        </p:spPr>
        <p:txBody>
          <a:bodyPr/>
          <a:p>
            <a:pPr algn="l"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006666"/>
                </a:solidFill>
                <a:ea typeface="黑体" panose="02010609060101010101" pitchFamily="49" charset="-122"/>
              </a:rPr>
              <a:t>四、背包问题</a:t>
            </a:r>
            <a:endParaRPr lang="zh-CN" altLang="en-US" sz="3600" b="1" dirty="0">
              <a:solidFill>
                <a:srgbClr val="006666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750" grpId="0"/>
      <p:bldP spid="2880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ext Box 2"/>
          <p:cNvSpPr txBox="1"/>
          <p:nvPr/>
        </p:nvSpPr>
        <p:spPr>
          <a:xfrm>
            <a:off x="228600" y="457200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0" i="1" baseline="-25000" dirty="0">
                <a:solidFill>
                  <a:srgbClr val="000066"/>
                </a:solidFill>
                <a:latin typeface="Times New Roman" panose="02020603050405020304" pitchFamily="18" charset="0"/>
              </a:rPr>
              <a:t>j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为第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j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种物品的装件数（非负整数）则问题的数学模型如下：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0112" name="Object 1024"/>
          <p:cNvGraphicFramePr>
            <a:graphicFrameLocks noChangeAspect="1"/>
          </p:cNvGraphicFramePr>
          <p:nvPr/>
        </p:nvGraphicFramePr>
        <p:xfrm>
          <a:off x="2540000" y="833438"/>
          <a:ext cx="5132388" cy="313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82800" imgH="1206500" progId="Equation.3">
                  <p:embed/>
                </p:oleObj>
              </mc:Choice>
              <mc:Fallback>
                <p:oleObj name="" r:id="rId1" imgW="2082800" imgH="1206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0000" y="833438"/>
                        <a:ext cx="5132388" cy="3135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4"/>
          <p:cNvSpPr txBox="1"/>
          <p:nvPr/>
        </p:nvSpPr>
        <p:spPr>
          <a:xfrm>
            <a:off x="228600" y="4038600"/>
            <a:ext cx="8610600" cy="2228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用动态规划方法求解，令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</a:rPr>
              <a:t>(y)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=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总重量不超过</a:t>
            </a:r>
            <a:r>
              <a:rPr lang="zh-CN" altLang="en-US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公斤，包中只装有前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k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种物品时的最大使用价值。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  其中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≥</a:t>
            </a:r>
            <a:r>
              <a:rPr lang="en-US" altLang="zh-CN" b="0" dirty="0">
                <a:solidFill>
                  <a:srgbClr val="000066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dirty="0">
                <a:solidFill>
                  <a:srgbClr val="000066"/>
                </a:solidFill>
                <a:latin typeface="Times New Roman" panose="02020603050405020304" pitchFamily="18" charset="0"/>
              </a:rPr>
              <a:t>1,2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所以问题就是求 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solidFill>
                  <a:srgbClr val="00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0066"/>
                </a:solidFill>
                <a:latin typeface="Times New Roman" panose="02020603050405020304" pitchFamily="18" charset="0"/>
              </a:rPr>
              <a:t>(a)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90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" name="Text Box 2"/>
          <p:cNvSpPr txBox="1"/>
          <p:nvPr/>
        </p:nvSpPr>
        <p:spPr>
          <a:xfrm>
            <a:off x="228600" y="304800"/>
            <a:ext cx="8686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</a:rPr>
              <a:t>其递推关系式为：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050" name="Object 1024"/>
          <p:cNvGraphicFramePr>
            <a:graphicFrameLocks noChangeAspect="1"/>
          </p:cNvGraphicFramePr>
          <p:nvPr/>
        </p:nvGraphicFramePr>
        <p:xfrm>
          <a:off x="198438" y="954088"/>
          <a:ext cx="8826500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362200" imgH="635000" progId="Equation.3">
                  <p:embed/>
                </p:oleObj>
              </mc:Choice>
              <mc:Fallback>
                <p:oleObj name="" r:id="rId1" imgW="2362200" imgH="635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438" y="954088"/>
                        <a:ext cx="8826500" cy="182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Text Box 4"/>
          <p:cNvSpPr txBox="1"/>
          <p:nvPr/>
        </p:nvSpPr>
        <p:spPr>
          <a:xfrm>
            <a:off x="228600" y="2895600"/>
            <a:ext cx="8610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</a:rPr>
              <a:t>当 </a:t>
            </a:r>
            <a:r>
              <a:rPr lang="en-US" altLang="zh-CN" sz="3200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0" dirty="0">
                <a:solidFill>
                  <a:srgbClr val="000066"/>
                </a:solidFill>
                <a:latin typeface="Times New Roman" panose="02020603050405020304" pitchFamily="18" charset="0"/>
              </a:rPr>
              <a:t>=1 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</a:rPr>
              <a:t>时，有：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1137" name="Object 1025"/>
          <p:cNvGraphicFramePr>
            <a:graphicFrameLocks noChangeAspect="1"/>
          </p:cNvGraphicFramePr>
          <p:nvPr/>
        </p:nvGraphicFramePr>
        <p:xfrm>
          <a:off x="1314450" y="3546475"/>
          <a:ext cx="6819900" cy="273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349500" imgH="990600" progId="Equation.3">
                  <p:embed/>
                </p:oleObj>
              </mc:Choice>
              <mc:Fallback>
                <p:oleObj name="" r:id="rId3" imgW="2349500" imgH="990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4450" y="3546475"/>
                        <a:ext cx="6819900" cy="2738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9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6" name="Text Box 2"/>
          <p:cNvSpPr txBox="1"/>
          <p:nvPr/>
        </p:nvSpPr>
        <p:spPr>
          <a:xfrm>
            <a:off x="228600" y="4572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例题：求下面背包问题的最优解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4" name="Object 1024"/>
          <p:cNvGraphicFramePr>
            <a:graphicFrameLocks noChangeAspect="1"/>
          </p:cNvGraphicFramePr>
          <p:nvPr/>
        </p:nvGraphicFramePr>
        <p:xfrm>
          <a:off x="368300" y="1125538"/>
          <a:ext cx="4625975" cy="20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637665" imgH="723900" progId="Equation.3">
                  <p:embed/>
                </p:oleObj>
              </mc:Choice>
              <mc:Fallback>
                <p:oleObj name="" r:id="rId1" imgW="1637665" imgH="723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8300" y="1125538"/>
                        <a:ext cx="4625975" cy="2003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8" name="Group 44"/>
          <p:cNvGraphicFramePr>
            <a:graphicFrameLocks noGrp="1"/>
          </p:cNvGraphicFramePr>
          <p:nvPr/>
        </p:nvGraphicFramePr>
        <p:xfrm>
          <a:off x="5029200" y="1219200"/>
          <a:ext cx="3886200" cy="1554163"/>
        </p:xfrm>
        <a:graphic>
          <a:graphicData uri="http://schemas.openxmlformats.org/drawingml/2006/table">
            <a:tbl>
              <a:tblPr/>
              <a:tblGrid>
                <a:gridCol w="1981200"/>
                <a:gridCol w="1905000"/>
              </a:tblGrid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物品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1     2     3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重量（公斤）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3     2     5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使用价值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8     5    12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31780" name="Text Box 36"/>
          <p:cNvSpPr txBox="1"/>
          <p:nvPr/>
        </p:nvSpPr>
        <p:spPr>
          <a:xfrm>
            <a:off x="228600" y="33528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解：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dirty="0">
                <a:solidFill>
                  <a:srgbClr val="000066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，问题是求 </a:t>
            </a:r>
            <a:r>
              <a:rPr lang="en-US" altLang="zh-CN" b="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0" i="1" baseline="-25000" dirty="0">
                <a:solidFill>
                  <a:srgbClr val="000066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0" dirty="0">
                <a:solidFill>
                  <a:srgbClr val="000066"/>
                </a:solidFill>
                <a:latin typeface="Times New Roman" panose="02020603050405020304" pitchFamily="18" charset="0"/>
              </a:rPr>
              <a:t>(5)</a:t>
            </a:r>
            <a:endParaRPr lang="en-US" altLang="zh-CN" b="0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161" name="Object 1025"/>
          <p:cNvGraphicFramePr>
            <a:graphicFrameLocks noChangeAspect="1"/>
          </p:cNvGraphicFramePr>
          <p:nvPr/>
        </p:nvGraphicFramePr>
        <p:xfrm>
          <a:off x="180975" y="4248150"/>
          <a:ext cx="8507413" cy="212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2184400" imgH="698500" progId="Equation.3">
                  <p:embed/>
                </p:oleObj>
              </mc:Choice>
              <mc:Fallback>
                <p:oleObj name="" r:id="rId3" imgW="2184400" imgH="6985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975" y="4248150"/>
                        <a:ext cx="8507413" cy="2125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8" name="Object 1024"/>
          <p:cNvGraphicFramePr>
            <a:graphicFrameLocks noChangeAspect="1"/>
          </p:cNvGraphicFramePr>
          <p:nvPr/>
        </p:nvGraphicFramePr>
        <p:xfrm>
          <a:off x="106363" y="379413"/>
          <a:ext cx="8704262" cy="548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235200" imgH="1803400" progId="Equation.3">
                  <p:embed/>
                </p:oleObj>
              </mc:Choice>
              <mc:Fallback>
                <p:oleObj name="" r:id="rId1" imgW="2235200" imgH="18034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363" y="379413"/>
                        <a:ext cx="8704262" cy="548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122" name="Object 1024"/>
          <p:cNvGraphicFramePr>
            <a:graphicFrameLocks noChangeAspect="1"/>
          </p:cNvGraphicFramePr>
          <p:nvPr/>
        </p:nvGraphicFramePr>
        <p:xfrm>
          <a:off x="130175" y="398463"/>
          <a:ext cx="8959850" cy="545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2933700" imgH="1790700" progId="Equation.3">
                  <p:embed/>
                </p:oleObj>
              </mc:Choice>
              <mc:Fallback>
                <p:oleObj name="" r:id="rId1" imgW="2933700" imgH="1790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0175" y="398463"/>
                        <a:ext cx="8959850" cy="5451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6" name="Object 1024"/>
          <p:cNvGraphicFramePr>
            <a:graphicFrameLocks noChangeAspect="1"/>
          </p:cNvGraphicFramePr>
          <p:nvPr/>
        </p:nvGraphicFramePr>
        <p:xfrm>
          <a:off x="1392238" y="398463"/>
          <a:ext cx="6437312" cy="545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108200" imgH="1790700" progId="Equation.3">
                  <p:embed/>
                </p:oleObj>
              </mc:Choice>
              <mc:Fallback>
                <p:oleObj name="" r:id="rId1" imgW="2108200" imgH="17907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92238" y="398463"/>
                        <a:ext cx="6437312" cy="5451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70" name="Object 0"/>
          <p:cNvGraphicFramePr>
            <a:graphicFrameLocks noChangeAspect="1"/>
          </p:cNvGraphicFramePr>
          <p:nvPr/>
        </p:nvGraphicFramePr>
        <p:xfrm>
          <a:off x="1530350" y="98425"/>
          <a:ext cx="5400675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2095500" imgH="1638300" progId="Equation.3">
                  <p:embed/>
                </p:oleObj>
              </mc:Choice>
              <mc:Fallback>
                <p:oleObj name="" r:id="rId1" imgW="2095500" imgH="16383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0350" y="98425"/>
                        <a:ext cx="5400675" cy="422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7" name="Object 1"/>
          <p:cNvGraphicFramePr>
            <a:graphicFrameLocks noChangeAspect="1"/>
          </p:cNvGraphicFramePr>
          <p:nvPr/>
        </p:nvGraphicFramePr>
        <p:xfrm>
          <a:off x="28575" y="4210050"/>
          <a:ext cx="9015413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3111500" imgH="698500" progId="Equation.3">
                  <p:embed/>
                </p:oleObj>
              </mc:Choice>
              <mc:Fallback>
                <p:oleObj name="" r:id="rId3" imgW="3111500" imgH="6985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5" y="4210050"/>
                        <a:ext cx="9015413" cy="212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6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6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4" name="Object 1024"/>
          <p:cNvGraphicFramePr>
            <a:graphicFrameLocks noChangeAspect="1"/>
          </p:cNvGraphicFramePr>
          <p:nvPr/>
        </p:nvGraphicFramePr>
        <p:xfrm>
          <a:off x="31750" y="346075"/>
          <a:ext cx="9094788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213100" imgH="660400" progId="Equation.3">
                  <p:embed/>
                </p:oleObj>
              </mc:Choice>
              <mc:Fallback>
                <p:oleObj name="" r:id="rId1" imgW="3213100" imgH="6604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750" y="346075"/>
                        <a:ext cx="9094788" cy="182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1" name="Object 1025"/>
          <p:cNvGraphicFramePr>
            <a:graphicFrameLocks noChangeAspect="1"/>
          </p:cNvGraphicFramePr>
          <p:nvPr/>
        </p:nvGraphicFramePr>
        <p:xfrm>
          <a:off x="34925" y="2409825"/>
          <a:ext cx="9077325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2362200" imgH="1130300" progId="Equation.3">
                  <p:embed/>
                </p:oleObj>
              </mc:Choice>
              <mc:Fallback>
                <p:oleObj name="" r:id="rId3" imgW="2362200" imgH="11303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25" y="2409825"/>
                        <a:ext cx="9077325" cy="356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Text Box 4"/>
          <p:cNvSpPr txBox="1"/>
          <p:nvPr/>
        </p:nvSpPr>
        <p:spPr>
          <a:xfrm>
            <a:off x="228600" y="5859463"/>
            <a:ext cx="868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所以，最优解为 </a:t>
            </a:r>
            <a:r>
              <a:rPr lang="en-US" altLang="zh-CN" i="1" dirty="0">
                <a:solidFill>
                  <a:srgbClr val="99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</a:rPr>
              <a:t>＝（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1 .  1 .  0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</a:rPr>
              <a:t>），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最优值为 </a:t>
            </a:r>
            <a:r>
              <a:rPr lang="en-US" altLang="zh-CN" i="1" dirty="0">
                <a:solidFill>
                  <a:srgbClr val="990000"/>
                </a:solidFill>
                <a:latin typeface="Times New Roman" panose="02020603050405020304" pitchFamily="18" charset="0"/>
              </a:rPr>
              <a:t>Z 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= 13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97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/>
          <p:nvPr/>
        </p:nvSpPr>
        <p:spPr>
          <a:xfrm>
            <a:off x="457200" y="381000"/>
            <a:ext cx="81534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练习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：某厂生产三种产品，各种产品重量与利润的关系如表所示。现将此三种产品运往市场出售，运输能力总重量不超过 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6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吨，问如何安排运输，使总利润最大？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8936" name="Group 24"/>
          <p:cNvGraphicFramePr>
            <a:graphicFrameLocks noGrp="1"/>
          </p:cNvGraphicFramePr>
          <p:nvPr/>
        </p:nvGraphicFramePr>
        <p:xfrm>
          <a:off x="2057400" y="2438400"/>
          <a:ext cx="5029200" cy="2286000"/>
        </p:xfrm>
        <a:graphic>
          <a:graphicData uri="http://schemas.openxmlformats.org/drawingml/2006/table">
            <a:tbl>
              <a:tblPr/>
              <a:tblGrid>
                <a:gridCol w="2563813"/>
                <a:gridCol w="2465387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种类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1      2      3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重量（吨）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2      3      4  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单件利润（元）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80   130  180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  <p:sp>
        <p:nvSpPr>
          <p:cNvPr id="38937" name="Text Box 25"/>
          <p:cNvSpPr txBox="1"/>
          <p:nvPr/>
        </p:nvSpPr>
        <p:spPr>
          <a:xfrm>
            <a:off x="228600" y="5410200"/>
            <a:ext cx="8610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</a:rPr>
              <a:t>最优方案：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0" i="1" baseline="-25000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楷体_GB2312" pitchFamily="49" charset="-122"/>
              </a:rPr>
              <a:t>=</a:t>
            </a: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latin typeface="楷体_GB2312" pitchFamily="49" charset="-122"/>
              </a:rPr>
              <a:t>0.2.0</a:t>
            </a: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</a:rPr>
              <a:t>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dirty="0">
                <a:solidFill>
                  <a:srgbClr val="FF0000"/>
                </a:solidFill>
                <a:latin typeface="楷体_GB2312" pitchFamily="49" charset="-122"/>
              </a:rPr>
              <a:t> =</a:t>
            </a: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</a:rPr>
              <a:t>（</a:t>
            </a:r>
            <a:r>
              <a:rPr lang="en-US" altLang="zh-CN" sz="3200" dirty="0">
                <a:solidFill>
                  <a:srgbClr val="FF0000"/>
                </a:solidFill>
                <a:latin typeface="楷体_GB2312" pitchFamily="49" charset="-122"/>
              </a:rPr>
              <a:t>1.0.1</a:t>
            </a: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</a:rPr>
              <a:t>）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3200" dirty="0">
                <a:solidFill>
                  <a:srgbClr val="FF0000"/>
                </a:solidFill>
                <a:latin typeface="楷体_GB2312" pitchFamily="49" charset="-122"/>
              </a:rPr>
              <a:t>=260</a:t>
            </a:r>
            <a:endParaRPr lang="en-US" altLang="zh-CN" sz="3200" dirty="0">
              <a:solidFill>
                <a:srgbClr val="FF00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8937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8937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Text Box 2"/>
          <p:cNvSpPr txBox="1"/>
          <p:nvPr/>
        </p:nvSpPr>
        <p:spPr>
          <a:xfrm>
            <a:off x="228600" y="457200"/>
            <a:ext cx="85883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练习</a:t>
            </a: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：求下列问题的最优解                 </a:t>
            </a:r>
            <a:endParaRPr lang="zh-CN" altLang="en-US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1600200" y="1219200"/>
          <a:ext cx="5619750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574800" imgH="723900" progId="Equation.3">
                  <p:embed/>
                </p:oleObj>
              </mc:Choice>
              <mc:Fallback>
                <p:oleObj name="" r:id="rId1" imgW="1574800" imgH="7239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1219200"/>
                        <a:ext cx="5619750" cy="245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/>
          <p:cNvSpPr txBox="1"/>
          <p:nvPr/>
        </p:nvSpPr>
        <p:spPr>
          <a:xfrm>
            <a:off x="1066800" y="4800600"/>
            <a:ext cx="6858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rgbClr val="99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3200" b="0" i="1" dirty="0">
                <a:solidFill>
                  <a:srgbClr val="99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3200" b="0" dirty="0">
                <a:solidFill>
                  <a:srgbClr val="990000"/>
                </a:solidFill>
                <a:latin typeface="Times New Roman" panose="02020603050405020304" pitchFamily="18" charset="0"/>
              </a:rPr>
              <a:t>=(2.  1.  0)</a:t>
            </a:r>
            <a:r>
              <a:rPr lang="en-US" altLang="zh-CN" sz="3200" dirty="0">
                <a:latin typeface="Times New Roman" panose="02020603050405020304" pitchFamily="18" charset="0"/>
              </a:rPr>
              <a:t>             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</a:rPr>
              <a:t>最优值为</a:t>
            </a:r>
            <a:r>
              <a:rPr lang="zh-CN" altLang="en-US" sz="3200" dirty="0">
                <a:latin typeface="Times New Roman" panose="02020603050405020304" pitchFamily="18" charset="0"/>
              </a:rPr>
              <a:t>    </a:t>
            </a:r>
            <a:r>
              <a:rPr lang="en-US" altLang="zh-CN" sz="3200" b="0" i="1" dirty="0">
                <a:solidFill>
                  <a:srgbClr val="9900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3200" b="0" dirty="0">
                <a:solidFill>
                  <a:srgbClr val="990000"/>
                </a:solidFill>
                <a:latin typeface="Times New Roman" panose="02020603050405020304" pitchFamily="18" charset="0"/>
              </a:rPr>
              <a:t> = 13</a:t>
            </a:r>
            <a:endParaRPr lang="en-US" altLang="zh-CN" sz="3200" b="0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7892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7892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noFill/>
          <a:ln>
            <a:noFill/>
          </a:ln>
        </p:spPr>
        <p:txBody>
          <a:bodyPr/>
          <a:p>
            <a:pPr marL="533400" indent="-533400" algn="ctr" eaLnBrk="1" hangingPunct="1">
              <a:buFont typeface="Wingdings" panose="05000000000000000000" pitchFamily="2" charset="2"/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2457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PP_MARK_KEY" val="56590430-23eb-46e7-b31a-9251b6cba31a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1446</Words>
  <Application>WPS 演示</Application>
  <PresentationFormat>全屏显示(4:3)</PresentationFormat>
  <Paragraphs>97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24</vt:i4>
      </vt:variant>
    </vt:vector>
  </HeadingPairs>
  <TitlesOfParts>
    <vt:vector size="48" baseType="lpstr">
      <vt:lpstr>Arial</vt:lpstr>
      <vt:lpstr>宋体</vt:lpstr>
      <vt:lpstr>Wingdings</vt:lpstr>
      <vt:lpstr>Times New Roman</vt:lpstr>
      <vt:lpstr>楷体_GB2312</vt:lpstr>
      <vt:lpstr>新宋体</vt:lpstr>
      <vt:lpstr>Calibri</vt:lpstr>
      <vt:lpstr>黑体</vt:lpstr>
      <vt:lpstr>微软雅黑</vt:lpstr>
      <vt:lpstr>Arial Unicode MS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kjdx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>Albert Yang</cp:lastModifiedBy>
  <cp:revision>74</cp:revision>
  <dcterms:created xsi:type="dcterms:W3CDTF">2003-07-21T03:02:02Z</dcterms:created>
  <dcterms:modified xsi:type="dcterms:W3CDTF">2022-12-11T09:09:52Z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C9484A8FC8A543DBA11253EA56B67BAD</vt:lpwstr>
  </property>
  <property fmtid="{D5CDD505-2E9C-101B-9397-08002B2CF9AE}" pid="3" name="KSOProductBuildVer">
    <vt:lpwstr>2052-11.1.0.12980</vt:lpwstr>
  </property>
</Properties>
</file>