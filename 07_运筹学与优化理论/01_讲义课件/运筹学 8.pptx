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0" r:id="rId3"/>
    <p:sldId id="312" r:id="rId4"/>
    <p:sldId id="257" r:id="rId5"/>
    <p:sldId id="258" r:id="rId6"/>
    <p:sldId id="259" r:id="rId7"/>
    <p:sldId id="261" r:id="rId8"/>
    <p:sldId id="262" r:id="rId9"/>
    <p:sldId id="263" r:id="rId10"/>
    <p:sldId id="266" r:id="rId11"/>
    <p:sldId id="267" r:id="rId12"/>
    <p:sldId id="268" r:id="rId13"/>
    <p:sldId id="269" r:id="rId14"/>
    <p:sldId id="270" r:id="rId15"/>
    <p:sldId id="264" r:id="rId16"/>
    <p:sldId id="265" r:id="rId17"/>
    <p:sldId id="271" r:id="rId18"/>
    <p:sldId id="272" r:id="rId19"/>
    <p:sldId id="273" r:id="rId20"/>
    <p:sldId id="274" r:id="rId21"/>
    <p:sldId id="275" r:id="rId22"/>
    <p:sldId id="276" r:id="rId23"/>
    <p:sldId id="277" r:id="rId24"/>
    <p:sldId id="279" r:id="rId25"/>
    <p:sldId id="278" r:id="rId26"/>
    <p:sldId id="280" r:id="rId27"/>
    <p:sldId id="296" r:id="rId28"/>
    <p:sldId id="297" r:id="rId29"/>
    <p:sldId id="281" r:id="rId30"/>
    <p:sldId id="282" r:id="rId31"/>
    <p:sldId id="283" r:id="rId32"/>
    <p:sldId id="284" r:id="rId33"/>
    <p:sldId id="285" r:id="rId34"/>
    <p:sldId id="286" r:id="rId35"/>
    <p:sldId id="290" r:id="rId36"/>
    <p:sldId id="287" r:id="rId37"/>
    <p:sldId id="288" r:id="rId38"/>
    <p:sldId id="289" r:id="rId39"/>
    <p:sldId id="291" r:id="rId40"/>
    <p:sldId id="294" r:id="rId41"/>
    <p:sldId id="295" r:id="rId42"/>
    <p:sldId id="298" r:id="rId43"/>
    <p:sldId id="299" r:id="rId44"/>
    <p:sldId id="300" r:id="rId45"/>
    <p:sldId id="302" r:id="rId46"/>
    <p:sldId id="310" r:id="rId47"/>
    <p:sldId id="308" r:id="rId48"/>
    <p:sldId id="309" r:id="rId49"/>
    <p:sldId id="311" r:id="rId50"/>
  </p:sldIdLst>
  <p:sldSz cx="9144000" cy="6858000" type="screen4x3"/>
  <p:notesSz cx="6858000" cy="9144000"/>
  <p:custDataLst>
    <p:tags r:id="rId54"/>
  </p:custDataLst>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00"/>
    <a:srgbClr val="CCFFFF"/>
    <a:srgbClr val="CCECFF"/>
    <a:srgbClr val="CCFFCC"/>
    <a:srgbClr val="FFFFCC"/>
    <a:srgbClr val="FF6600"/>
    <a:srgbClr val="00FF99"/>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17"/>
    <p:restoredTop sz="94678"/>
  </p:normalViewPr>
  <p:slideViewPr>
    <p:cSldViewPr showGuides="1">
      <p:cViewPr varScale="1">
        <p:scale>
          <a:sx n="63" d="100"/>
          <a:sy n="63" d="100"/>
        </p:scale>
        <p:origin x="-151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gs" Target="tags/tag1.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5.wmf"/><Relationship Id="rId4" Type="http://schemas.openxmlformats.org/officeDocument/2006/relationships/image" Target="../media/image4.wmf"/><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26.wmf"/><Relationship Id="rId8" Type="http://schemas.openxmlformats.org/officeDocument/2006/relationships/image" Target="../media/image32.wmf"/><Relationship Id="rId7" Type="http://schemas.openxmlformats.org/officeDocument/2006/relationships/image" Target="../media/image31.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3.wmf"/><Relationship Id="rId1" Type="http://schemas.openxmlformats.org/officeDocument/2006/relationships/image" Target="../media/image24.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32.wmf"/><Relationship Id="rId7" Type="http://schemas.openxmlformats.org/officeDocument/2006/relationships/image" Target="../media/image31.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3.wmf"/><Relationship Id="rId1" Type="http://schemas.openxmlformats.org/officeDocument/2006/relationships/image" Target="../media/image2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6.vml.rels><?xml version="1.0" encoding="UTF-8" standalone="yes"?>
<Relationships xmlns="http://schemas.openxmlformats.org/package/2006/relationships"><Relationship Id="rId7" Type="http://schemas.openxmlformats.org/officeDocument/2006/relationships/image" Target="../media/image34.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3.wmf"/><Relationship Id="rId1" Type="http://schemas.openxmlformats.org/officeDocument/2006/relationships/image" Target="../media/image24.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46.wmf"/><Relationship Id="rId8" Type="http://schemas.openxmlformats.org/officeDocument/2006/relationships/image" Target="../media/image45.wmf"/><Relationship Id="rId7" Type="http://schemas.openxmlformats.org/officeDocument/2006/relationships/image" Target="../media/image44.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2" Type="http://schemas.openxmlformats.org/officeDocument/2006/relationships/image" Target="../media/image49.wmf"/><Relationship Id="rId11" Type="http://schemas.openxmlformats.org/officeDocument/2006/relationships/image" Target="../media/image48.wmf"/><Relationship Id="rId10" Type="http://schemas.openxmlformats.org/officeDocument/2006/relationships/image" Target="../media/image47.wmf"/><Relationship Id="rId1" Type="http://schemas.openxmlformats.org/officeDocument/2006/relationships/image" Target="../media/image28.w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46.wmf"/><Relationship Id="rId8" Type="http://schemas.openxmlformats.org/officeDocument/2006/relationships/image" Target="../media/image45.wmf"/><Relationship Id="rId7" Type="http://schemas.openxmlformats.org/officeDocument/2006/relationships/image" Target="../media/image44.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1" Type="http://schemas.openxmlformats.org/officeDocument/2006/relationships/image" Target="../media/image49.wmf"/><Relationship Id="rId10" Type="http://schemas.openxmlformats.org/officeDocument/2006/relationships/image" Target="../media/image47.wmf"/><Relationship Id="rId1" Type="http://schemas.openxmlformats.org/officeDocument/2006/relationships/image" Target="../media/image28.wmf"/></Relationships>
</file>

<file path=ppt/drawings/_rels/vmlDrawing22.vml.rels><?xml version="1.0" encoding="UTF-8" standalone="yes"?>
<Relationships xmlns="http://schemas.openxmlformats.org/package/2006/relationships"><Relationship Id="rId9" Type="http://schemas.openxmlformats.org/officeDocument/2006/relationships/image" Target="../media/image46.wmf"/><Relationship Id="rId8" Type="http://schemas.openxmlformats.org/officeDocument/2006/relationships/image" Target="../media/image45.wmf"/><Relationship Id="rId7" Type="http://schemas.openxmlformats.org/officeDocument/2006/relationships/image" Target="../media/image44.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0" Type="http://schemas.openxmlformats.org/officeDocument/2006/relationships/image" Target="../media/image49.wmf"/><Relationship Id="rId1" Type="http://schemas.openxmlformats.org/officeDocument/2006/relationships/image" Target="../media/image28.wmf"/></Relationships>
</file>

<file path=ppt/drawings/_rels/vmlDrawing23.vml.rels><?xml version="1.0" encoding="UTF-8" standalone="yes"?>
<Relationships xmlns="http://schemas.openxmlformats.org/package/2006/relationships"><Relationship Id="rId9" Type="http://schemas.openxmlformats.org/officeDocument/2006/relationships/image" Target="../media/image49.wmf"/><Relationship Id="rId8" Type="http://schemas.openxmlformats.org/officeDocument/2006/relationships/image" Target="../media/image45.wmf"/><Relationship Id="rId7" Type="http://schemas.openxmlformats.org/officeDocument/2006/relationships/image" Target="../media/image44.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28.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49.wmf"/><Relationship Id="rId8" Type="http://schemas.openxmlformats.org/officeDocument/2006/relationships/image" Target="../media/image45.wmf"/><Relationship Id="rId7" Type="http://schemas.openxmlformats.org/officeDocument/2006/relationships/image" Target="../media/image44.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28.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9.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27.vml.rels><?xml version="1.0" encoding="UTF-8" standalone="yes"?>
<Relationships xmlns="http://schemas.openxmlformats.org/package/2006/relationships"><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28.wmf"/></Relationships>
</file>

<file path=ppt/drawings/_rels/vmlDrawing28.vml.rels><?xml version="1.0" encoding="UTF-8" standalone="yes"?>
<Relationships xmlns="http://schemas.openxmlformats.org/package/2006/relationships"><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28.wmf"/></Relationships>
</file>

<file path=ppt/drawings/_rels/vmlDrawing29.vml.rels><?xml version="1.0" encoding="UTF-8" standalone="yes"?>
<Relationships xmlns="http://schemas.openxmlformats.org/package/2006/relationships"><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28.wmf"/></Relationships>
</file>

<file path=ppt/drawings/_rels/vmlDrawing30.vml.rels><?xml version="1.0" encoding="UTF-8" standalone="yes"?>
<Relationships xmlns="http://schemas.openxmlformats.org/package/2006/relationships"><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28.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5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33" name="Line 9"/>
          <p:cNvSpPr>
            <a:spLocks noChangeShapeType="1"/>
          </p:cNvSpPr>
          <p:nvPr/>
        </p:nvSpPr>
        <p:spPr bwMode="auto">
          <a:xfrm>
            <a:off x="0" y="228600"/>
            <a:ext cx="0" cy="0"/>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random/>
  </p:transition>
  <p:hf sldNum="0"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4.wmf"/><Relationship Id="rId7" Type="http://schemas.openxmlformats.org/officeDocument/2006/relationships/oleObject" Target="../embeddings/oleObject4.bin"/><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2" Type="http://schemas.openxmlformats.org/officeDocument/2006/relationships/vmlDrawing" Target="../drawings/vmlDrawing1.vml"/><Relationship Id="rId11" Type="http://schemas.openxmlformats.org/officeDocument/2006/relationships/slideLayout" Target="../slideLayouts/slideLayout7.xml"/><Relationship Id="rId10" Type="http://schemas.openxmlformats.org/officeDocument/2006/relationships/image" Target="../media/image5.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1.xml"/><Relationship Id="rId6" Type="http://schemas.openxmlformats.org/officeDocument/2006/relationships/image" Target="../media/image8.wmf"/><Relationship Id="rId5" Type="http://schemas.openxmlformats.org/officeDocument/2006/relationships/oleObject" Target="../embeddings/oleObject8.bin"/><Relationship Id="rId4" Type="http://schemas.openxmlformats.org/officeDocument/2006/relationships/image" Target="../media/image7.wmf"/><Relationship Id="rId3" Type="http://schemas.openxmlformats.org/officeDocument/2006/relationships/oleObject" Target="../embeddings/oleObject7.bin"/><Relationship Id="rId2" Type="http://schemas.openxmlformats.org/officeDocument/2006/relationships/image" Target="../media/image6.wmf"/><Relationship Id="rId1"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10.wmf"/><Relationship Id="rId3" Type="http://schemas.openxmlformats.org/officeDocument/2006/relationships/oleObject" Target="../embeddings/oleObject10.bin"/><Relationship Id="rId2" Type="http://schemas.openxmlformats.org/officeDocument/2006/relationships/image" Target="../media/image9.wmf"/><Relationship Id="rId1" Type="http://schemas.openxmlformats.org/officeDocument/2006/relationships/oleObject" Target="../embeddings/oleObject9.bin"/></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1.xml"/><Relationship Id="rId4" Type="http://schemas.openxmlformats.org/officeDocument/2006/relationships/image" Target="../media/image12.wmf"/><Relationship Id="rId3" Type="http://schemas.openxmlformats.org/officeDocument/2006/relationships/oleObject" Target="../embeddings/oleObject12.bin"/><Relationship Id="rId2" Type="http://schemas.openxmlformats.org/officeDocument/2006/relationships/image" Target="../media/image11.wmf"/><Relationship Id="rId1"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14.wmf"/><Relationship Id="rId3" Type="http://schemas.openxmlformats.org/officeDocument/2006/relationships/oleObject" Target="../embeddings/oleObject14.bin"/><Relationship Id="rId2" Type="http://schemas.openxmlformats.org/officeDocument/2006/relationships/image" Target="../media/image13.wmf"/><Relationship Id="rId1" Type="http://schemas.openxmlformats.org/officeDocument/2006/relationships/oleObject" Target="../embeddings/oleObject13.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xml"/><Relationship Id="rId2" Type="http://schemas.openxmlformats.org/officeDocument/2006/relationships/image" Target="../media/image15.wmf"/><Relationship Id="rId1" Type="http://schemas.openxmlformats.org/officeDocument/2006/relationships/oleObject" Target="../embeddings/oleObject15.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16.bin"/></Relationships>
</file>

<file path=ppt/slides/_rels/slide17.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7.xml"/><Relationship Id="rId6" Type="http://schemas.openxmlformats.org/officeDocument/2006/relationships/image" Target="../media/image19.wmf"/><Relationship Id="rId5" Type="http://schemas.openxmlformats.org/officeDocument/2006/relationships/oleObject" Target="../embeddings/oleObject19.bin"/><Relationship Id="rId4" Type="http://schemas.openxmlformats.org/officeDocument/2006/relationships/image" Target="../media/image18.wmf"/><Relationship Id="rId3" Type="http://schemas.openxmlformats.org/officeDocument/2006/relationships/oleObject" Target="../embeddings/oleObject18.bin"/><Relationship Id="rId2" Type="http://schemas.openxmlformats.org/officeDocument/2006/relationships/image" Target="../media/image17.wmf"/><Relationship Id="rId1" Type="http://schemas.openxmlformats.org/officeDocument/2006/relationships/oleObject" Target="../embeddings/oleObject17.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20.wmf"/><Relationship Id="rId1" Type="http://schemas.openxmlformats.org/officeDocument/2006/relationships/oleObject" Target="../embeddings/oleObject20.bin"/></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4.wmf"/><Relationship Id="rId7" Type="http://schemas.openxmlformats.org/officeDocument/2006/relationships/oleObject" Target="../embeddings/oleObject24.bin"/><Relationship Id="rId6" Type="http://schemas.openxmlformats.org/officeDocument/2006/relationships/image" Target="../media/image23.wmf"/><Relationship Id="rId5" Type="http://schemas.openxmlformats.org/officeDocument/2006/relationships/oleObject" Target="../embeddings/oleObject23.bin"/><Relationship Id="rId4" Type="http://schemas.openxmlformats.org/officeDocument/2006/relationships/image" Target="../media/image22.wmf"/><Relationship Id="rId3" Type="http://schemas.openxmlformats.org/officeDocument/2006/relationships/oleObject" Target="../embeddings/oleObject22.bin"/><Relationship Id="rId2" Type="http://schemas.openxmlformats.org/officeDocument/2006/relationships/image" Target="../media/image21.wmf"/><Relationship Id="rId10" Type="http://schemas.openxmlformats.org/officeDocument/2006/relationships/vmlDrawing" Target="../drawings/vmlDrawing10.vml"/><Relationship Id="rId1" Type="http://schemas.openxmlformats.org/officeDocument/2006/relationships/oleObject" Target="../embeddings/oleObject21.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25.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26.wmf"/><Relationship Id="rId1" Type="http://schemas.openxmlformats.org/officeDocument/2006/relationships/oleObject" Target="../embeddings/oleObject26.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image" Target="../media/image28.wmf"/><Relationship Id="rId7" Type="http://schemas.openxmlformats.org/officeDocument/2006/relationships/oleObject" Target="../embeddings/oleObject30.bin"/><Relationship Id="rId6" Type="http://schemas.openxmlformats.org/officeDocument/2006/relationships/image" Target="../media/image27.wmf"/><Relationship Id="rId5" Type="http://schemas.openxmlformats.org/officeDocument/2006/relationships/oleObject" Target="../embeddings/oleObject29.bin"/><Relationship Id="rId4" Type="http://schemas.openxmlformats.org/officeDocument/2006/relationships/image" Target="../media/image23.wmf"/><Relationship Id="rId3" Type="http://schemas.openxmlformats.org/officeDocument/2006/relationships/oleObject" Target="../embeddings/oleObject28.bin"/><Relationship Id="rId20" Type="http://schemas.openxmlformats.org/officeDocument/2006/relationships/vmlDrawing" Target="../drawings/vmlDrawing13.vml"/><Relationship Id="rId2" Type="http://schemas.openxmlformats.org/officeDocument/2006/relationships/image" Target="../media/image24.wmf"/><Relationship Id="rId19" Type="http://schemas.openxmlformats.org/officeDocument/2006/relationships/slideLayout" Target="../slideLayouts/slideLayout7.xml"/><Relationship Id="rId18" Type="http://schemas.openxmlformats.org/officeDocument/2006/relationships/image" Target="../media/image26.wmf"/><Relationship Id="rId17" Type="http://schemas.openxmlformats.org/officeDocument/2006/relationships/oleObject" Target="../embeddings/oleObject35.bin"/><Relationship Id="rId16" Type="http://schemas.openxmlformats.org/officeDocument/2006/relationships/image" Target="../media/image32.wmf"/><Relationship Id="rId15" Type="http://schemas.openxmlformats.org/officeDocument/2006/relationships/oleObject" Target="../embeddings/oleObject34.bin"/><Relationship Id="rId14" Type="http://schemas.openxmlformats.org/officeDocument/2006/relationships/image" Target="../media/image31.wmf"/><Relationship Id="rId13" Type="http://schemas.openxmlformats.org/officeDocument/2006/relationships/oleObject" Target="../embeddings/oleObject33.bin"/><Relationship Id="rId12" Type="http://schemas.openxmlformats.org/officeDocument/2006/relationships/image" Target="../media/image30.wmf"/><Relationship Id="rId11" Type="http://schemas.openxmlformats.org/officeDocument/2006/relationships/oleObject" Target="../embeddings/oleObject32.bin"/><Relationship Id="rId10" Type="http://schemas.openxmlformats.org/officeDocument/2006/relationships/image" Target="../media/image29.wmf"/><Relationship Id="rId1" Type="http://schemas.openxmlformats.org/officeDocument/2006/relationships/oleObject" Target="../embeddings/oleObject27.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40.bin"/><Relationship Id="rId8" Type="http://schemas.openxmlformats.org/officeDocument/2006/relationships/image" Target="../media/image28.wmf"/><Relationship Id="rId7" Type="http://schemas.openxmlformats.org/officeDocument/2006/relationships/oleObject" Target="../embeddings/oleObject39.bin"/><Relationship Id="rId6" Type="http://schemas.openxmlformats.org/officeDocument/2006/relationships/image" Target="../media/image27.wmf"/><Relationship Id="rId5" Type="http://schemas.openxmlformats.org/officeDocument/2006/relationships/oleObject" Target="../embeddings/oleObject38.bin"/><Relationship Id="rId4" Type="http://schemas.openxmlformats.org/officeDocument/2006/relationships/image" Target="../media/image23.wmf"/><Relationship Id="rId3" Type="http://schemas.openxmlformats.org/officeDocument/2006/relationships/oleObject" Target="../embeddings/oleObject37.bin"/><Relationship Id="rId2" Type="http://schemas.openxmlformats.org/officeDocument/2006/relationships/image" Target="../media/image24.wmf"/><Relationship Id="rId19" Type="http://schemas.openxmlformats.org/officeDocument/2006/relationships/vmlDrawing" Target="../drawings/vmlDrawing14.vml"/><Relationship Id="rId18" Type="http://schemas.openxmlformats.org/officeDocument/2006/relationships/slideLayout" Target="../slideLayouts/slideLayout7.xml"/><Relationship Id="rId17" Type="http://schemas.openxmlformats.org/officeDocument/2006/relationships/oleObject" Target="../embeddings/oleObject44.bin"/><Relationship Id="rId16" Type="http://schemas.openxmlformats.org/officeDocument/2006/relationships/image" Target="../media/image32.wmf"/><Relationship Id="rId15" Type="http://schemas.openxmlformats.org/officeDocument/2006/relationships/oleObject" Target="../embeddings/oleObject43.bin"/><Relationship Id="rId14" Type="http://schemas.openxmlformats.org/officeDocument/2006/relationships/image" Target="../media/image31.wmf"/><Relationship Id="rId13" Type="http://schemas.openxmlformats.org/officeDocument/2006/relationships/oleObject" Target="../embeddings/oleObject42.bin"/><Relationship Id="rId12" Type="http://schemas.openxmlformats.org/officeDocument/2006/relationships/image" Target="../media/image30.wmf"/><Relationship Id="rId11" Type="http://schemas.openxmlformats.org/officeDocument/2006/relationships/oleObject" Target="../embeddings/oleObject41.bin"/><Relationship Id="rId10" Type="http://schemas.openxmlformats.org/officeDocument/2006/relationships/image" Target="../media/image29.wmf"/><Relationship Id="rId1" Type="http://schemas.openxmlformats.org/officeDocument/2006/relationships/oleObject" Target="../embeddings/oleObject36.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1.xml"/><Relationship Id="rId2" Type="http://schemas.openxmlformats.org/officeDocument/2006/relationships/image" Target="../media/image33.wmf"/><Relationship Id="rId1" Type="http://schemas.openxmlformats.org/officeDocument/2006/relationships/oleObject" Target="../embeddings/oleObject45.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50.bin"/><Relationship Id="rId8" Type="http://schemas.openxmlformats.org/officeDocument/2006/relationships/image" Target="../media/image28.wmf"/><Relationship Id="rId7" Type="http://schemas.openxmlformats.org/officeDocument/2006/relationships/oleObject" Target="../embeddings/oleObject49.bin"/><Relationship Id="rId6" Type="http://schemas.openxmlformats.org/officeDocument/2006/relationships/image" Target="../media/image27.wmf"/><Relationship Id="rId5" Type="http://schemas.openxmlformats.org/officeDocument/2006/relationships/oleObject" Target="../embeddings/oleObject48.bin"/><Relationship Id="rId4" Type="http://schemas.openxmlformats.org/officeDocument/2006/relationships/image" Target="../media/image23.wmf"/><Relationship Id="rId3" Type="http://schemas.openxmlformats.org/officeDocument/2006/relationships/oleObject" Target="../embeddings/oleObject47.bin"/><Relationship Id="rId2" Type="http://schemas.openxmlformats.org/officeDocument/2006/relationships/image" Target="../media/image24.wmf"/><Relationship Id="rId16" Type="http://schemas.openxmlformats.org/officeDocument/2006/relationships/vmlDrawing" Target="../drawings/vmlDrawing16.vml"/><Relationship Id="rId15" Type="http://schemas.openxmlformats.org/officeDocument/2006/relationships/slideLayout" Target="../slideLayouts/slideLayout7.xml"/><Relationship Id="rId14" Type="http://schemas.openxmlformats.org/officeDocument/2006/relationships/image" Target="../media/image34.wmf"/><Relationship Id="rId13" Type="http://schemas.openxmlformats.org/officeDocument/2006/relationships/oleObject" Target="../embeddings/oleObject52.bin"/><Relationship Id="rId12" Type="http://schemas.openxmlformats.org/officeDocument/2006/relationships/image" Target="../media/image30.wmf"/><Relationship Id="rId11" Type="http://schemas.openxmlformats.org/officeDocument/2006/relationships/oleObject" Target="../embeddings/oleObject51.bin"/><Relationship Id="rId10" Type="http://schemas.openxmlformats.org/officeDocument/2006/relationships/image" Target="../media/image29.wmf"/><Relationship Id="rId1" Type="http://schemas.openxmlformats.org/officeDocument/2006/relationships/oleObject" Target="../embeddings/oleObject46.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59.bin"/><Relationship Id="rId8" Type="http://schemas.openxmlformats.org/officeDocument/2006/relationships/oleObject" Target="../embeddings/oleObject58.bin"/><Relationship Id="rId7" Type="http://schemas.openxmlformats.org/officeDocument/2006/relationships/oleObject" Target="../embeddings/oleObject57.bin"/><Relationship Id="rId6" Type="http://schemas.openxmlformats.org/officeDocument/2006/relationships/oleObject" Target="../embeddings/oleObject56.bin"/><Relationship Id="rId5" Type="http://schemas.openxmlformats.org/officeDocument/2006/relationships/oleObject" Target="../embeddings/oleObject55.bin"/><Relationship Id="rId4" Type="http://schemas.openxmlformats.org/officeDocument/2006/relationships/image" Target="../media/image36.wmf"/><Relationship Id="rId3" Type="http://schemas.openxmlformats.org/officeDocument/2006/relationships/oleObject" Target="../embeddings/oleObject54.bin"/><Relationship Id="rId23" Type="http://schemas.openxmlformats.org/officeDocument/2006/relationships/vmlDrawing" Target="../drawings/vmlDrawing17.vml"/><Relationship Id="rId22" Type="http://schemas.openxmlformats.org/officeDocument/2006/relationships/slideLayout" Target="../slideLayouts/slideLayout1.xml"/><Relationship Id="rId21" Type="http://schemas.openxmlformats.org/officeDocument/2006/relationships/oleObject" Target="../embeddings/oleObject71.bin"/><Relationship Id="rId20" Type="http://schemas.openxmlformats.org/officeDocument/2006/relationships/oleObject" Target="../embeddings/oleObject70.bin"/><Relationship Id="rId2" Type="http://schemas.openxmlformats.org/officeDocument/2006/relationships/image" Target="../media/image35.wmf"/><Relationship Id="rId19" Type="http://schemas.openxmlformats.org/officeDocument/2006/relationships/oleObject" Target="../embeddings/oleObject69.bin"/><Relationship Id="rId18" Type="http://schemas.openxmlformats.org/officeDocument/2006/relationships/oleObject" Target="../embeddings/oleObject68.bin"/><Relationship Id="rId17" Type="http://schemas.openxmlformats.org/officeDocument/2006/relationships/oleObject" Target="../embeddings/oleObject67.bin"/><Relationship Id="rId16" Type="http://schemas.openxmlformats.org/officeDocument/2006/relationships/oleObject" Target="../embeddings/oleObject66.bin"/><Relationship Id="rId15" Type="http://schemas.openxmlformats.org/officeDocument/2006/relationships/oleObject" Target="../embeddings/oleObject65.bin"/><Relationship Id="rId14" Type="http://schemas.openxmlformats.org/officeDocument/2006/relationships/oleObject" Target="../embeddings/oleObject64.bin"/><Relationship Id="rId13" Type="http://schemas.openxmlformats.org/officeDocument/2006/relationships/oleObject" Target="../embeddings/oleObject63.bin"/><Relationship Id="rId12" Type="http://schemas.openxmlformats.org/officeDocument/2006/relationships/oleObject" Target="../embeddings/oleObject62.bin"/><Relationship Id="rId11" Type="http://schemas.openxmlformats.org/officeDocument/2006/relationships/oleObject" Target="../embeddings/oleObject61.bin"/><Relationship Id="rId10" Type="http://schemas.openxmlformats.org/officeDocument/2006/relationships/oleObject" Target="../embeddings/oleObject60.bin"/><Relationship Id="rId1" Type="http://schemas.openxmlformats.org/officeDocument/2006/relationships/oleObject" Target="../embeddings/oleObject53.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37.wmf"/><Relationship Id="rId1" Type="http://schemas.openxmlformats.org/officeDocument/2006/relationships/oleObject" Target="../embeddings/oleObject72.bin"/></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1.xml"/><Relationship Id="rId2" Type="http://schemas.openxmlformats.org/officeDocument/2006/relationships/image" Target="../media/image38.wmf"/><Relationship Id="rId1" Type="http://schemas.openxmlformats.org/officeDocument/2006/relationships/oleObject" Target="../embeddings/oleObject73.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78.bin"/><Relationship Id="rId8" Type="http://schemas.openxmlformats.org/officeDocument/2006/relationships/image" Target="../media/image41.wmf"/><Relationship Id="rId7" Type="http://schemas.openxmlformats.org/officeDocument/2006/relationships/oleObject" Target="../embeddings/oleObject77.bin"/><Relationship Id="rId6" Type="http://schemas.openxmlformats.org/officeDocument/2006/relationships/image" Target="../media/image40.wmf"/><Relationship Id="rId5" Type="http://schemas.openxmlformats.org/officeDocument/2006/relationships/oleObject" Target="../embeddings/oleObject76.bin"/><Relationship Id="rId4" Type="http://schemas.openxmlformats.org/officeDocument/2006/relationships/image" Target="../media/image39.wmf"/><Relationship Id="rId3" Type="http://schemas.openxmlformats.org/officeDocument/2006/relationships/oleObject" Target="../embeddings/oleObject75.bin"/><Relationship Id="rId27" Type="http://schemas.openxmlformats.org/officeDocument/2006/relationships/vmlDrawing" Target="../drawings/vmlDrawing20.vml"/><Relationship Id="rId26" Type="http://schemas.openxmlformats.org/officeDocument/2006/relationships/slideLayout" Target="../slideLayouts/slideLayout7.xml"/><Relationship Id="rId25" Type="http://schemas.openxmlformats.org/officeDocument/2006/relationships/oleObject" Target="../embeddings/oleObject86.bin"/><Relationship Id="rId24" Type="http://schemas.openxmlformats.org/officeDocument/2006/relationships/image" Target="../media/image49.wmf"/><Relationship Id="rId23" Type="http://schemas.openxmlformats.org/officeDocument/2006/relationships/oleObject" Target="../embeddings/oleObject85.bin"/><Relationship Id="rId22" Type="http://schemas.openxmlformats.org/officeDocument/2006/relationships/image" Target="../media/image48.wmf"/><Relationship Id="rId21" Type="http://schemas.openxmlformats.org/officeDocument/2006/relationships/oleObject" Target="../embeddings/oleObject84.bin"/><Relationship Id="rId20" Type="http://schemas.openxmlformats.org/officeDocument/2006/relationships/image" Target="../media/image47.wmf"/><Relationship Id="rId2" Type="http://schemas.openxmlformats.org/officeDocument/2006/relationships/image" Target="../media/image28.wmf"/><Relationship Id="rId19" Type="http://schemas.openxmlformats.org/officeDocument/2006/relationships/oleObject" Target="../embeddings/oleObject83.bin"/><Relationship Id="rId18" Type="http://schemas.openxmlformats.org/officeDocument/2006/relationships/image" Target="../media/image46.wmf"/><Relationship Id="rId17" Type="http://schemas.openxmlformats.org/officeDocument/2006/relationships/oleObject" Target="../embeddings/oleObject82.bin"/><Relationship Id="rId16" Type="http://schemas.openxmlformats.org/officeDocument/2006/relationships/image" Target="../media/image45.wmf"/><Relationship Id="rId15" Type="http://schemas.openxmlformats.org/officeDocument/2006/relationships/oleObject" Target="../embeddings/oleObject81.bin"/><Relationship Id="rId14" Type="http://schemas.openxmlformats.org/officeDocument/2006/relationships/image" Target="../media/image44.wmf"/><Relationship Id="rId13" Type="http://schemas.openxmlformats.org/officeDocument/2006/relationships/oleObject" Target="../embeddings/oleObject80.bin"/><Relationship Id="rId12" Type="http://schemas.openxmlformats.org/officeDocument/2006/relationships/image" Target="../media/image43.wmf"/><Relationship Id="rId11" Type="http://schemas.openxmlformats.org/officeDocument/2006/relationships/oleObject" Target="../embeddings/oleObject79.bin"/><Relationship Id="rId10" Type="http://schemas.openxmlformats.org/officeDocument/2006/relationships/image" Target="../media/image42.wmf"/><Relationship Id="rId1" Type="http://schemas.openxmlformats.org/officeDocument/2006/relationships/oleObject" Target="../embeddings/oleObject74.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91.bin"/><Relationship Id="rId8" Type="http://schemas.openxmlformats.org/officeDocument/2006/relationships/image" Target="../media/image41.wmf"/><Relationship Id="rId7" Type="http://schemas.openxmlformats.org/officeDocument/2006/relationships/oleObject" Target="../embeddings/oleObject90.bin"/><Relationship Id="rId6" Type="http://schemas.openxmlformats.org/officeDocument/2006/relationships/image" Target="../media/image40.wmf"/><Relationship Id="rId5" Type="http://schemas.openxmlformats.org/officeDocument/2006/relationships/oleObject" Target="../embeddings/oleObject89.bin"/><Relationship Id="rId4" Type="http://schemas.openxmlformats.org/officeDocument/2006/relationships/image" Target="../media/image39.wmf"/><Relationship Id="rId3" Type="http://schemas.openxmlformats.org/officeDocument/2006/relationships/oleObject" Target="../embeddings/oleObject88.bin"/><Relationship Id="rId25" Type="http://schemas.openxmlformats.org/officeDocument/2006/relationships/vmlDrawing" Target="../drawings/vmlDrawing21.vml"/><Relationship Id="rId24" Type="http://schemas.openxmlformats.org/officeDocument/2006/relationships/slideLayout" Target="../slideLayouts/slideLayout7.xml"/><Relationship Id="rId23" Type="http://schemas.openxmlformats.org/officeDocument/2006/relationships/oleObject" Target="../embeddings/oleObject98.bin"/><Relationship Id="rId22" Type="http://schemas.openxmlformats.org/officeDocument/2006/relationships/image" Target="../media/image49.wmf"/><Relationship Id="rId21" Type="http://schemas.openxmlformats.org/officeDocument/2006/relationships/oleObject" Target="../embeddings/oleObject97.bin"/><Relationship Id="rId20" Type="http://schemas.openxmlformats.org/officeDocument/2006/relationships/image" Target="../media/image47.wmf"/><Relationship Id="rId2" Type="http://schemas.openxmlformats.org/officeDocument/2006/relationships/image" Target="../media/image28.wmf"/><Relationship Id="rId19" Type="http://schemas.openxmlformats.org/officeDocument/2006/relationships/oleObject" Target="../embeddings/oleObject96.bin"/><Relationship Id="rId18" Type="http://schemas.openxmlformats.org/officeDocument/2006/relationships/image" Target="../media/image46.wmf"/><Relationship Id="rId17" Type="http://schemas.openxmlformats.org/officeDocument/2006/relationships/oleObject" Target="../embeddings/oleObject95.bin"/><Relationship Id="rId16" Type="http://schemas.openxmlformats.org/officeDocument/2006/relationships/image" Target="../media/image45.wmf"/><Relationship Id="rId15" Type="http://schemas.openxmlformats.org/officeDocument/2006/relationships/oleObject" Target="../embeddings/oleObject94.bin"/><Relationship Id="rId14" Type="http://schemas.openxmlformats.org/officeDocument/2006/relationships/image" Target="../media/image44.wmf"/><Relationship Id="rId13" Type="http://schemas.openxmlformats.org/officeDocument/2006/relationships/oleObject" Target="../embeddings/oleObject93.bin"/><Relationship Id="rId12" Type="http://schemas.openxmlformats.org/officeDocument/2006/relationships/image" Target="../media/image43.wmf"/><Relationship Id="rId11" Type="http://schemas.openxmlformats.org/officeDocument/2006/relationships/oleObject" Target="../embeddings/oleObject92.bin"/><Relationship Id="rId10" Type="http://schemas.openxmlformats.org/officeDocument/2006/relationships/image" Target="../media/image42.wmf"/><Relationship Id="rId1" Type="http://schemas.openxmlformats.org/officeDocument/2006/relationships/oleObject" Target="../embeddings/oleObject87.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103.bin"/><Relationship Id="rId8" Type="http://schemas.openxmlformats.org/officeDocument/2006/relationships/image" Target="../media/image41.wmf"/><Relationship Id="rId7" Type="http://schemas.openxmlformats.org/officeDocument/2006/relationships/oleObject" Target="../embeddings/oleObject102.bin"/><Relationship Id="rId6" Type="http://schemas.openxmlformats.org/officeDocument/2006/relationships/image" Target="../media/image40.wmf"/><Relationship Id="rId5" Type="http://schemas.openxmlformats.org/officeDocument/2006/relationships/oleObject" Target="../embeddings/oleObject101.bin"/><Relationship Id="rId4" Type="http://schemas.openxmlformats.org/officeDocument/2006/relationships/image" Target="../media/image39.wmf"/><Relationship Id="rId3" Type="http://schemas.openxmlformats.org/officeDocument/2006/relationships/oleObject" Target="../embeddings/oleObject100.bin"/><Relationship Id="rId24" Type="http://schemas.openxmlformats.org/officeDocument/2006/relationships/vmlDrawing" Target="../drawings/vmlDrawing22.vml"/><Relationship Id="rId23" Type="http://schemas.openxmlformats.org/officeDocument/2006/relationships/slideLayout" Target="../slideLayouts/slideLayout7.xml"/><Relationship Id="rId22" Type="http://schemas.openxmlformats.org/officeDocument/2006/relationships/oleObject" Target="../embeddings/oleObject110.bin"/><Relationship Id="rId21" Type="http://schemas.openxmlformats.org/officeDocument/2006/relationships/oleObject" Target="../embeddings/oleObject109.bin"/><Relationship Id="rId20" Type="http://schemas.openxmlformats.org/officeDocument/2006/relationships/image" Target="../media/image49.wmf"/><Relationship Id="rId2" Type="http://schemas.openxmlformats.org/officeDocument/2006/relationships/image" Target="../media/image28.wmf"/><Relationship Id="rId19" Type="http://schemas.openxmlformats.org/officeDocument/2006/relationships/oleObject" Target="../embeddings/oleObject108.bin"/><Relationship Id="rId18" Type="http://schemas.openxmlformats.org/officeDocument/2006/relationships/image" Target="../media/image46.wmf"/><Relationship Id="rId17" Type="http://schemas.openxmlformats.org/officeDocument/2006/relationships/oleObject" Target="../embeddings/oleObject107.bin"/><Relationship Id="rId16" Type="http://schemas.openxmlformats.org/officeDocument/2006/relationships/image" Target="../media/image45.wmf"/><Relationship Id="rId15" Type="http://schemas.openxmlformats.org/officeDocument/2006/relationships/oleObject" Target="../embeddings/oleObject106.bin"/><Relationship Id="rId14" Type="http://schemas.openxmlformats.org/officeDocument/2006/relationships/image" Target="../media/image44.wmf"/><Relationship Id="rId13" Type="http://schemas.openxmlformats.org/officeDocument/2006/relationships/oleObject" Target="../embeddings/oleObject105.bin"/><Relationship Id="rId12" Type="http://schemas.openxmlformats.org/officeDocument/2006/relationships/image" Target="../media/image43.wmf"/><Relationship Id="rId11" Type="http://schemas.openxmlformats.org/officeDocument/2006/relationships/oleObject" Target="../embeddings/oleObject104.bin"/><Relationship Id="rId10" Type="http://schemas.openxmlformats.org/officeDocument/2006/relationships/image" Target="../media/image42.wmf"/><Relationship Id="rId1" Type="http://schemas.openxmlformats.org/officeDocument/2006/relationships/oleObject" Target="../embeddings/oleObject99.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115.bin"/><Relationship Id="rId8" Type="http://schemas.openxmlformats.org/officeDocument/2006/relationships/image" Target="../media/image41.wmf"/><Relationship Id="rId7" Type="http://schemas.openxmlformats.org/officeDocument/2006/relationships/oleObject" Target="../embeddings/oleObject114.bin"/><Relationship Id="rId6" Type="http://schemas.openxmlformats.org/officeDocument/2006/relationships/image" Target="../media/image40.wmf"/><Relationship Id="rId5" Type="http://schemas.openxmlformats.org/officeDocument/2006/relationships/oleObject" Target="../embeddings/oleObject113.bin"/><Relationship Id="rId4" Type="http://schemas.openxmlformats.org/officeDocument/2006/relationships/image" Target="../media/image39.wmf"/><Relationship Id="rId3" Type="http://schemas.openxmlformats.org/officeDocument/2006/relationships/oleObject" Target="../embeddings/oleObject112.bin"/><Relationship Id="rId23" Type="http://schemas.openxmlformats.org/officeDocument/2006/relationships/vmlDrawing" Target="../drawings/vmlDrawing23.vml"/><Relationship Id="rId22" Type="http://schemas.openxmlformats.org/officeDocument/2006/relationships/slideLayout" Target="../slideLayouts/slideLayout7.xml"/><Relationship Id="rId21" Type="http://schemas.openxmlformats.org/officeDocument/2006/relationships/oleObject" Target="../embeddings/oleObject122.bin"/><Relationship Id="rId20" Type="http://schemas.openxmlformats.org/officeDocument/2006/relationships/oleObject" Target="../embeddings/oleObject121.bin"/><Relationship Id="rId2" Type="http://schemas.openxmlformats.org/officeDocument/2006/relationships/image" Target="../media/image28.wmf"/><Relationship Id="rId19" Type="http://schemas.openxmlformats.org/officeDocument/2006/relationships/oleObject" Target="../embeddings/oleObject120.bin"/><Relationship Id="rId18" Type="http://schemas.openxmlformats.org/officeDocument/2006/relationships/image" Target="../media/image49.wmf"/><Relationship Id="rId17" Type="http://schemas.openxmlformats.org/officeDocument/2006/relationships/oleObject" Target="../embeddings/oleObject119.bin"/><Relationship Id="rId16" Type="http://schemas.openxmlformats.org/officeDocument/2006/relationships/image" Target="../media/image45.wmf"/><Relationship Id="rId15" Type="http://schemas.openxmlformats.org/officeDocument/2006/relationships/oleObject" Target="../embeddings/oleObject118.bin"/><Relationship Id="rId14" Type="http://schemas.openxmlformats.org/officeDocument/2006/relationships/image" Target="../media/image44.wmf"/><Relationship Id="rId13" Type="http://schemas.openxmlformats.org/officeDocument/2006/relationships/oleObject" Target="../embeddings/oleObject117.bin"/><Relationship Id="rId12" Type="http://schemas.openxmlformats.org/officeDocument/2006/relationships/image" Target="../media/image43.wmf"/><Relationship Id="rId11" Type="http://schemas.openxmlformats.org/officeDocument/2006/relationships/oleObject" Target="../embeddings/oleObject116.bin"/><Relationship Id="rId10" Type="http://schemas.openxmlformats.org/officeDocument/2006/relationships/image" Target="../media/image42.wmf"/><Relationship Id="rId1" Type="http://schemas.openxmlformats.org/officeDocument/2006/relationships/oleObject" Target="../embeddings/oleObject111.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127.bin"/><Relationship Id="rId8" Type="http://schemas.openxmlformats.org/officeDocument/2006/relationships/image" Target="../media/image41.wmf"/><Relationship Id="rId7" Type="http://schemas.openxmlformats.org/officeDocument/2006/relationships/oleObject" Target="../embeddings/oleObject126.bin"/><Relationship Id="rId6" Type="http://schemas.openxmlformats.org/officeDocument/2006/relationships/image" Target="../media/image40.wmf"/><Relationship Id="rId5" Type="http://schemas.openxmlformats.org/officeDocument/2006/relationships/oleObject" Target="../embeddings/oleObject125.bin"/><Relationship Id="rId4" Type="http://schemas.openxmlformats.org/officeDocument/2006/relationships/image" Target="../media/image39.wmf"/><Relationship Id="rId3" Type="http://schemas.openxmlformats.org/officeDocument/2006/relationships/oleObject" Target="../embeddings/oleObject124.bin"/><Relationship Id="rId23" Type="http://schemas.openxmlformats.org/officeDocument/2006/relationships/vmlDrawing" Target="../drawings/vmlDrawing24.vml"/><Relationship Id="rId22" Type="http://schemas.openxmlformats.org/officeDocument/2006/relationships/slideLayout" Target="../slideLayouts/slideLayout7.xml"/><Relationship Id="rId21" Type="http://schemas.openxmlformats.org/officeDocument/2006/relationships/oleObject" Target="../embeddings/oleObject134.bin"/><Relationship Id="rId20" Type="http://schemas.openxmlformats.org/officeDocument/2006/relationships/oleObject" Target="../embeddings/oleObject133.bin"/><Relationship Id="rId2" Type="http://schemas.openxmlformats.org/officeDocument/2006/relationships/image" Target="../media/image28.wmf"/><Relationship Id="rId19" Type="http://schemas.openxmlformats.org/officeDocument/2006/relationships/oleObject" Target="../embeddings/oleObject132.bin"/><Relationship Id="rId18" Type="http://schemas.openxmlformats.org/officeDocument/2006/relationships/image" Target="../media/image49.wmf"/><Relationship Id="rId17" Type="http://schemas.openxmlformats.org/officeDocument/2006/relationships/oleObject" Target="../embeddings/oleObject131.bin"/><Relationship Id="rId16" Type="http://schemas.openxmlformats.org/officeDocument/2006/relationships/image" Target="../media/image45.wmf"/><Relationship Id="rId15" Type="http://schemas.openxmlformats.org/officeDocument/2006/relationships/oleObject" Target="../embeddings/oleObject130.bin"/><Relationship Id="rId14" Type="http://schemas.openxmlformats.org/officeDocument/2006/relationships/image" Target="../media/image44.wmf"/><Relationship Id="rId13" Type="http://schemas.openxmlformats.org/officeDocument/2006/relationships/oleObject" Target="../embeddings/oleObject129.bin"/><Relationship Id="rId12" Type="http://schemas.openxmlformats.org/officeDocument/2006/relationships/image" Target="../media/image43.wmf"/><Relationship Id="rId11" Type="http://schemas.openxmlformats.org/officeDocument/2006/relationships/oleObject" Target="../embeddings/oleObject128.bin"/><Relationship Id="rId10" Type="http://schemas.openxmlformats.org/officeDocument/2006/relationships/image" Target="../media/image42.wmf"/><Relationship Id="rId1" Type="http://schemas.openxmlformats.org/officeDocument/2006/relationships/oleObject" Target="../embeddings/oleObject123.bin"/></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7.xml"/><Relationship Id="rId4" Type="http://schemas.openxmlformats.org/officeDocument/2006/relationships/image" Target="../media/image41.wmf"/><Relationship Id="rId3" Type="http://schemas.openxmlformats.org/officeDocument/2006/relationships/oleObject" Target="../embeddings/oleObject136.bin"/><Relationship Id="rId2" Type="http://schemas.openxmlformats.org/officeDocument/2006/relationships/image" Target="../media/image49.wmf"/><Relationship Id="rId1" Type="http://schemas.openxmlformats.org/officeDocument/2006/relationships/oleObject" Target="../embeddings/oleObject135.bin"/></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1.xml"/><Relationship Id="rId2" Type="http://schemas.openxmlformats.org/officeDocument/2006/relationships/image" Target="../media/image50.wmf"/><Relationship Id="rId1" Type="http://schemas.openxmlformats.org/officeDocument/2006/relationships/oleObject" Target="../embeddings/oleObject137.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142.bin"/><Relationship Id="rId8" Type="http://schemas.openxmlformats.org/officeDocument/2006/relationships/image" Target="../media/image41.wmf"/><Relationship Id="rId7" Type="http://schemas.openxmlformats.org/officeDocument/2006/relationships/oleObject" Target="../embeddings/oleObject141.bin"/><Relationship Id="rId6" Type="http://schemas.openxmlformats.org/officeDocument/2006/relationships/image" Target="../media/image40.wmf"/><Relationship Id="rId5" Type="http://schemas.openxmlformats.org/officeDocument/2006/relationships/oleObject" Target="../embeddings/oleObject140.bin"/><Relationship Id="rId4" Type="http://schemas.openxmlformats.org/officeDocument/2006/relationships/image" Target="../media/image39.wmf"/><Relationship Id="rId3" Type="http://schemas.openxmlformats.org/officeDocument/2006/relationships/oleObject" Target="../embeddings/oleObject139.bin"/><Relationship Id="rId2" Type="http://schemas.openxmlformats.org/officeDocument/2006/relationships/image" Target="../media/image28.wmf"/><Relationship Id="rId18" Type="http://schemas.openxmlformats.org/officeDocument/2006/relationships/vmlDrawing" Target="../drawings/vmlDrawing27.vml"/><Relationship Id="rId17" Type="http://schemas.openxmlformats.org/officeDocument/2006/relationships/slideLayout" Target="../slideLayouts/slideLayout7.xml"/><Relationship Id="rId16" Type="http://schemas.openxmlformats.org/officeDocument/2006/relationships/oleObject" Target="../embeddings/oleObject147.bin"/><Relationship Id="rId15" Type="http://schemas.openxmlformats.org/officeDocument/2006/relationships/oleObject" Target="../embeddings/oleObject146.bin"/><Relationship Id="rId14" Type="http://schemas.openxmlformats.org/officeDocument/2006/relationships/oleObject" Target="../embeddings/oleObject145.bin"/><Relationship Id="rId13" Type="http://schemas.openxmlformats.org/officeDocument/2006/relationships/oleObject" Target="../embeddings/oleObject144.bin"/><Relationship Id="rId12" Type="http://schemas.openxmlformats.org/officeDocument/2006/relationships/image" Target="../media/image43.wmf"/><Relationship Id="rId11" Type="http://schemas.openxmlformats.org/officeDocument/2006/relationships/oleObject" Target="../embeddings/oleObject143.bin"/><Relationship Id="rId10" Type="http://schemas.openxmlformats.org/officeDocument/2006/relationships/image" Target="../media/image42.wmf"/><Relationship Id="rId1" Type="http://schemas.openxmlformats.org/officeDocument/2006/relationships/oleObject" Target="../embeddings/oleObject138.bin"/></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152.bin"/><Relationship Id="rId8" Type="http://schemas.openxmlformats.org/officeDocument/2006/relationships/image" Target="../media/image41.wmf"/><Relationship Id="rId7" Type="http://schemas.openxmlformats.org/officeDocument/2006/relationships/oleObject" Target="../embeddings/oleObject151.bin"/><Relationship Id="rId6" Type="http://schemas.openxmlformats.org/officeDocument/2006/relationships/image" Target="../media/image40.wmf"/><Relationship Id="rId5" Type="http://schemas.openxmlformats.org/officeDocument/2006/relationships/oleObject" Target="../embeddings/oleObject150.bin"/><Relationship Id="rId4" Type="http://schemas.openxmlformats.org/officeDocument/2006/relationships/image" Target="../media/image39.wmf"/><Relationship Id="rId3" Type="http://schemas.openxmlformats.org/officeDocument/2006/relationships/oleObject" Target="../embeddings/oleObject149.bin"/><Relationship Id="rId2" Type="http://schemas.openxmlformats.org/officeDocument/2006/relationships/image" Target="../media/image28.wmf"/><Relationship Id="rId17" Type="http://schemas.openxmlformats.org/officeDocument/2006/relationships/vmlDrawing" Target="../drawings/vmlDrawing28.vml"/><Relationship Id="rId16" Type="http://schemas.openxmlformats.org/officeDocument/2006/relationships/slideLayout" Target="../slideLayouts/slideLayout7.xml"/><Relationship Id="rId15" Type="http://schemas.openxmlformats.org/officeDocument/2006/relationships/oleObject" Target="../embeddings/oleObject156.bin"/><Relationship Id="rId14" Type="http://schemas.openxmlformats.org/officeDocument/2006/relationships/oleObject" Target="../embeddings/oleObject155.bin"/><Relationship Id="rId13" Type="http://schemas.openxmlformats.org/officeDocument/2006/relationships/oleObject" Target="../embeddings/oleObject154.bin"/><Relationship Id="rId12" Type="http://schemas.openxmlformats.org/officeDocument/2006/relationships/image" Target="../media/image43.wmf"/><Relationship Id="rId11" Type="http://schemas.openxmlformats.org/officeDocument/2006/relationships/oleObject" Target="../embeddings/oleObject153.bin"/><Relationship Id="rId10" Type="http://schemas.openxmlformats.org/officeDocument/2006/relationships/image" Target="../media/image42.wmf"/><Relationship Id="rId1" Type="http://schemas.openxmlformats.org/officeDocument/2006/relationships/oleObject" Target="../embeddings/oleObject148.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161.bin"/><Relationship Id="rId8" Type="http://schemas.openxmlformats.org/officeDocument/2006/relationships/image" Target="../media/image41.wmf"/><Relationship Id="rId7" Type="http://schemas.openxmlformats.org/officeDocument/2006/relationships/oleObject" Target="../embeddings/oleObject160.bin"/><Relationship Id="rId6" Type="http://schemas.openxmlformats.org/officeDocument/2006/relationships/image" Target="../media/image40.wmf"/><Relationship Id="rId5" Type="http://schemas.openxmlformats.org/officeDocument/2006/relationships/oleObject" Target="../embeddings/oleObject159.bin"/><Relationship Id="rId4" Type="http://schemas.openxmlformats.org/officeDocument/2006/relationships/image" Target="../media/image39.wmf"/><Relationship Id="rId3" Type="http://schemas.openxmlformats.org/officeDocument/2006/relationships/oleObject" Target="../embeddings/oleObject158.bin"/><Relationship Id="rId2" Type="http://schemas.openxmlformats.org/officeDocument/2006/relationships/image" Target="../media/image28.wmf"/><Relationship Id="rId17" Type="http://schemas.openxmlformats.org/officeDocument/2006/relationships/vmlDrawing" Target="../drawings/vmlDrawing29.vml"/><Relationship Id="rId16" Type="http://schemas.openxmlformats.org/officeDocument/2006/relationships/slideLayout" Target="../slideLayouts/slideLayout7.xml"/><Relationship Id="rId15" Type="http://schemas.openxmlformats.org/officeDocument/2006/relationships/oleObject" Target="../embeddings/oleObject165.bin"/><Relationship Id="rId14" Type="http://schemas.openxmlformats.org/officeDocument/2006/relationships/oleObject" Target="../embeddings/oleObject164.bin"/><Relationship Id="rId13" Type="http://schemas.openxmlformats.org/officeDocument/2006/relationships/oleObject" Target="../embeddings/oleObject163.bin"/><Relationship Id="rId12" Type="http://schemas.openxmlformats.org/officeDocument/2006/relationships/image" Target="../media/image43.wmf"/><Relationship Id="rId11" Type="http://schemas.openxmlformats.org/officeDocument/2006/relationships/oleObject" Target="../embeddings/oleObject162.bin"/><Relationship Id="rId10" Type="http://schemas.openxmlformats.org/officeDocument/2006/relationships/image" Target="../media/image42.wmf"/><Relationship Id="rId1" Type="http://schemas.openxmlformats.org/officeDocument/2006/relationships/oleObject" Target="../embeddings/oleObject157.bin"/></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170.bin"/><Relationship Id="rId8" Type="http://schemas.openxmlformats.org/officeDocument/2006/relationships/image" Target="../media/image41.wmf"/><Relationship Id="rId7" Type="http://schemas.openxmlformats.org/officeDocument/2006/relationships/oleObject" Target="../embeddings/oleObject169.bin"/><Relationship Id="rId6" Type="http://schemas.openxmlformats.org/officeDocument/2006/relationships/image" Target="../media/image40.wmf"/><Relationship Id="rId5" Type="http://schemas.openxmlformats.org/officeDocument/2006/relationships/oleObject" Target="../embeddings/oleObject168.bin"/><Relationship Id="rId4" Type="http://schemas.openxmlformats.org/officeDocument/2006/relationships/image" Target="../media/image39.wmf"/><Relationship Id="rId3" Type="http://schemas.openxmlformats.org/officeDocument/2006/relationships/oleObject" Target="../embeddings/oleObject167.bin"/><Relationship Id="rId2" Type="http://schemas.openxmlformats.org/officeDocument/2006/relationships/image" Target="../media/image28.wmf"/><Relationship Id="rId15" Type="http://schemas.openxmlformats.org/officeDocument/2006/relationships/vmlDrawing" Target="../drawings/vmlDrawing30.vml"/><Relationship Id="rId14" Type="http://schemas.openxmlformats.org/officeDocument/2006/relationships/slideLayout" Target="../slideLayouts/slideLayout7.xml"/><Relationship Id="rId13" Type="http://schemas.openxmlformats.org/officeDocument/2006/relationships/oleObject" Target="../embeddings/oleObject172.bin"/><Relationship Id="rId12" Type="http://schemas.openxmlformats.org/officeDocument/2006/relationships/image" Target="../media/image43.wmf"/><Relationship Id="rId11" Type="http://schemas.openxmlformats.org/officeDocument/2006/relationships/oleObject" Target="../embeddings/oleObject171.bin"/><Relationship Id="rId10" Type="http://schemas.openxmlformats.org/officeDocument/2006/relationships/image" Target="../media/image42.wmf"/><Relationship Id="rId1" Type="http://schemas.openxmlformats.org/officeDocument/2006/relationships/oleObject" Target="../embeddings/oleObject166.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7.xml"/><Relationship Id="rId2" Type="http://schemas.openxmlformats.org/officeDocument/2006/relationships/image" Target="../media/image51.wmf"/><Relationship Id="rId1" Type="http://schemas.openxmlformats.org/officeDocument/2006/relationships/oleObject" Target="../embeddings/oleObject173.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32.vml"/><Relationship Id="rId3" Type="http://schemas.openxmlformats.org/officeDocument/2006/relationships/slideLayout" Target="../slideLayouts/slideLayout7.xml"/><Relationship Id="rId2" Type="http://schemas.openxmlformats.org/officeDocument/2006/relationships/image" Target="../media/image52.wmf"/><Relationship Id="rId1" Type="http://schemas.openxmlformats.org/officeDocument/2006/relationships/oleObject" Target="../embeddings/oleObject174.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ext Box 2"/>
          <p:cNvSpPr txBox="1"/>
          <p:nvPr/>
        </p:nvSpPr>
        <p:spPr>
          <a:xfrm>
            <a:off x="228600" y="228600"/>
            <a:ext cx="8686800" cy="1463675"/>
          </a:xfrm>
          <a:prstGeom prst="rect">
            <a:avLst/>
          </a:prstGeom>
          <a:noFill/>
          <a:ln w="9525">
            <a:noFill/>
          </a:ln>
        </p:spPr>
        <p:txBody>
          <a:bodyPr>
            <a:spAutoFit/>
          </a:bodyPr>
          <a:p>
            <a:pPr algn="ctr"/>
            <a:r>
              <a:rPr lang="zh-CN" altLang="en-US" sz="5400" b="1" dirty="0">
                <a:solidFill>
                  <a:schemeClr val="accent2"/>
                </a:solidFill>
                <a:latin typeface="Times New Roman" panose="02020603050405020304" pitchFamily="18" charset="0"/>
                <a:ea typeface="黑体" panose="02010609060101010101" pitchFamily="49" charset="-122"/>
              </a:rPr>
              <a:t>目  标  规  划</a:t>
            </a:r>
            <a:endParaRPr lang="zh-CN" altLang="en-US" sz="5400" b="1" dirty="0">
              <a:solidFill>
                <a:schemeClr val="accent2"/>
              </a:solidFill>
              <a:latin typeface="Times New Roman" panose="02020603050405020304" pitchFamily="18" charset="0"/>
              <a:ea typeface="黑体" panose="02010609060101010101" pitchFamily="49" charset="-122"/>
            </a:endParaRPr>
          </a:p>
          <a:p>
            <a:pPr algn="ctr"/>
            <a:r>
              <a:rPr lang="en-US" altLang="zh-CN" sz="3600" b="1" dirty="0">
                <a:solidFill>
                  <a:schemeClr val="accent2"/>
                </a:solidFill>
                <a:latin typeface="Times New Roman" panose="02020603050405020304" pitchFamily="18" charset="0"/>
                <a:ea typeface="黑体" panose="02010609060101010101" pitchFamily="49" charset="-122"/>
              </a:rPr>
              <a:t>(Goal  programming)</a:t>
            </a:r>
            <a:endParaRPr lang="en-US" altLang="zh-CN" sz="3600" b="1" dirty="0">
              <a:solidFill>
                <a:schemeClr val="accent2"/>
              </a:solidFill>
              <a:latin typeface="Times New Roman" panose="02020603050405020304" pitchFamily="18" charset="0"/>
              <a:ea typeface="黑体" panose="02010609060101010101" pitchFamily="49" charset="-122"/>
            </a:endParaRPr>
          </a:p>
        </p:txBody>
      </p:sp>
      <p:sp>
        <p:nvSpPr>
          <p:cNvPr id="34819" name="Line 3"/>
          <p:cNvSpPr/>
          <p:nvPr/>
        </p:nvSpPr>
        <p:spPr>
          <a:xfrm>
            <a:off x="0" y="1752600"/>
            <a:ext cx="9144000" cy="0"/>
          </a:xfrm>
          <a:prstGeom prst="line">
            <a:avLst/>
          </a:prstGeom>
          <a:ln w="57150" cap="flat" cmpd="sng">
            <a:solidFill>
              <a:srgbClr val="FF0000"/>
            </a:solidFill>
            <a:prstDash val="solid"/>
            <a:headEnd type="none" w="med" len="med"/>
            <a:tailEnd type="none" w="med" len="med"/>
          </a:ln>
        </p:spPr>
      </p:sp>
      <p:sp>
        <p:nvSpPr>
          <p:cNvPr id="6148" name="Text Box 4"/>
          <p:cNvSpPr txBox="1"/>
          <p:nvPr/>
        </p:nvSpPr>
        <p:spPr>
          <a:xfrm>
            <a:off x="0" y="3124200"/>
            <a:ext cx="8686800" cy="701675"/>
          </a:xfrm>
          <a:prstGeom prst="rect">
            <a:avLst/>
          </a:prstGeom>
          <a:noFill/>
          <a:ln w="9525">
            <a:noFill/>
          </a:ln>
        </p:spPr>
        <p:txBody>
          <a:bodyPr>
            <a:spAutoFit/>
          </a:bodyPr>
          <a:p>
            <a:pPr algn="ctr"/>
            <a:r>
              <a:rPr lang="zh-CN" altLang="en-US" sz="4000" b="1" dirty="0">
                <a:latin typeface="Times New Roman" panose="02020603050405020304" pitchFamily="18" charset="0"/>
                <a:ea typeface="黑体" panose="02010609060101010101" pitchFamily="49" charset="-122"/>
              </a:rPr>
              <a:t>目标规划的数学模型</a:t>
            </a:r>
            <a:endParaRPr lang="zh-CN" altLang="en-US" sz="4000" b="1" dirty="0">
              <a:latin typeface="Times New Roman" panose="02020603050405020304" pitchFamily="18" charset="0"/>
              <a:ea typeface="黑体" panose="02010609060101010101" pitchFamily="49" charset="-122"/>
            </a:endParaRPr>
          </a:p>
        </p:txBody>
      </p:sp>
      <p:sp>
        <p:nvSpPr>
          <p:cNvPr id="6150" name="Text Box 6"/>
          <p:cNvSpPr txBox="1"/>
          <p:nvPr/>
        </p:nvSpPr>
        <p:spPr>
          <a:xfrm>
            <a:off x="0" y="4191000"/>
            <a:ext cx="8686800" cy="701675"/>
          </a:xfrm>
          <a:prstGeom prst="rect">
            <a:avLst/>
          </a:prstGeom>
          <a:noFill/>
          <a:ln w="9525">
            <a:noFill/>
          </a:ln>
        </p:spPr>
        <p:txBody>
          <a:bodyPr>
            <a:spAutoFit/>
          </a:bodyPr>
          <a:p>
            <a:pPr algn="ctr"/>
            <a:r>
              <a:rPr lang="zh-CN" altLang="en-US" sz="4000" b="1" dirty="0">
                <a:latin typeface="Times New Roman" panose="02020603050405020304" pitchFamily="18" charset="0"/>
                <a:ea typeface="黑体" panose="02010609060101010101" pitchFamily="49" charset="-122"/>
              </a:rPr>
              <a:t>目标规划的图解法</a:t>
            </a:r>
            <a:endParaRPr lang="zh-CN" altLang="en-US" sz="4000" b="1" dirty="0">
              <a:latin typeface="Times New Roman" panose="02020603050405020304" pitchFamily="18" charset="0"/>
              <a:ea typeface="黑体" panose="02010609060101010101" pitchFamily="49" charset="-122"/>
            </a:endParaRPr>
          </a:p>
        </p:txBody>
      </p:sp>
      <p:sp>
        <p:nvSpPr>
          <p:cNvPr id="6151" name="Text Box 7"/>
          <p:cNvSpPr txBox="1"/>
          <p:nvPr/>
        </p:nvSpPr>
        <p:spPr>
          <a:xfrm>
            <a:off x="0" y="5181600"/>
            <a:ext cx="8686800" cy="701675"/>
          </a:xfrm>
          <a:prstGeom prst="rect">
            <a:avLst/>
          </a:prstGeom>
          <a:noFill/>
          <a:ln w="9525">
            <a:noFill/>
          </a:ln>
        </p:spPr>
        <p:txBody>
          <a:bodyPr>
            <a:spAutoFit/>
          </a:bodyPr>
          <a:p>
            <a:pPr algn="ctr">
              <a:spcBef>
                <a:spcPct val="50000"/>
              </a:spcBef>
            </a:pPr>
            <a:r>
              <a:rPr lang="zh-CN" altLang="en-US" sz="4000" b="1" dirty="0">
                <a:latin typeface="Times New Roman" panose="02020603050405020304" pitchFamily="18" charset="0"/>
                <a:ea typeface="黑体" panose="02010609060101010101" pitchFamily="49" charset="-122"/>
              </a:rPr>
              <a:t>目标规划的单纯形法</a:t>
            </a:r>
            <a:endParaRPr lang="zh-CN" altLang="en-US" sz="4000" b="1" dirty="0">
              <a:latin typeface="Times New Roman" panose="02020603050405020304" pitchFamily="18" charset="0"/>
              <a:ea typeface="黑体" panose="02010609060101010101" pitchFamily="49" charset="-122"/>
            </a:endParaRPr>
          </a:p>
        </p:txBody>
      </p:sp>
      <p:sp>
        <p:nvSpPr>
          <p:cNvPr id="6152" name="Text Box 8"/>
          <p:cNvSpPr txBox="1"/>
          <p:nvPr/>
        </p:nvSpPr>
        <p:spPr>
          <a:xfrm>
            <a:off x="0" y="2133600"/>
            <a:ext cx="8686800" cy="701675"/>
          </a:xfrm>
          <a:prstGeom prst="rect">
            <a:avLst/>
          </a:prstGeom>
          <a:noFill/>
          <a:ln w="9525">
            <a:noFill/>
          </a:ln>
        </p:spPr>
        <p:txBody>
          <a:bodyPr>
            <a:spAutoFit/>
          </a:bodyPr>
          <a:p>
            <a:pPr algn="ctr"/>
            <a:r>
              <a:rPr lang="zh-CN" altLang="en-US" sz="4000" b="1" dirty="0">
                <a:latin typeface="Times New Roman" panose="02020603050405020304" pitchFamily="18" charset="0"/>
                <a:ea typeface="黑体" panose="02010609060101010101" pitchFamily="49" charset="-122"/>
              </a:rPr>
              <a:t>目标规划概述</a:t>
            </a:r>
            <a:endParaRPr lang="zh-CN" altLang="en-US" sz="4000" b="1" dirty="0">
              <a:latin typeface="Times New Roman" panose="02020603050405020304" pitchFamily="18" charset="0"/>
              <a:ea typeface="黑体" panose="02010609060101010101" pitchFamily="49" charset="-122"/>
            </a:endParaRPr>
          </a:p>
        </p:txBody>
      </p:sp>
      <p:sp>
        <p:nvSpPr>
          <p:cNvPr id="6153" name="Rectangle 9"/>
          <p:cNvSpPr/>
          <p:nvPr/>
        </p:nvSpPr>
        <p:spPr>
          <a:xfrm>
            <a:off x="2209800" y="6019800"/>
            <a:ext cx="914400" cy="533400"/>
          </a:xfrm>
          <a:prstGeom prst="rect">
            <a:avLst/>
          </a:prstGeom>
          <a:noFill/>
          <a:ln w="9525">
            <a:noFill/>
          </a:ln>
        </p:spPr>
        <p:txBody>
          <a:bodyPr wrap="none" anchor="ctr" anchorCtr="0"/>
          <a:p>
            <a:endParaRPr lang="zh-CN" altLang="en-US" dirty="0">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52"/>
                                        </p:tgtEl>
                                        <p:attrNameLst>
                                          <p:attrName>style.visibility</p:attrName>
                                        </p:attrNameLst>
                                      </p:cBhvr>
                                      <p:to>
                                        <p:strVal val="visible"/>
                                      </p:to>
                                    </p:set>
                                    <p:anim calcmode="lin" valueType="num">
                                      <p:cBhvr additive="base">
                                        <p:cTn id="7" dur="500" fill="hold"/>
                                        <p:tgtEl>
                                          <p:spTgt spid="6152"/>
                                        </p:tgtEl>
                                        <p:attrNameLst>
                                          <p:attrName>ppt_x</p:attrName>
                                        </p:attrNameLst>
                                      </p:cBhvr>
                                      <p:tavLst>
                                        <p:tav tm="0">
                                          <p:val>
                                            <p:strVal val="0-#ppt_w/2"/>
                                          </p:val>
                                        </p:tav>
                                        <p:tav tm="100000">
                                          <p:val>
                                            <p:strVal val="#ppt_x"/>
                                          </p:val>
                                        </p:tav>
                                      </p:tavLst>
                                    </p:anim>
                                    <p:anim calcmode="lin" valueType="num">
                                      <p:cBhvr additive="base">
                                        <p:cTn id="8" dur="500" fill="hold"/>
                                        <p:tgtEl>
                                          <p:spTgt spid="6152"/>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6152"/>
                                        </p:tgtEl>
                                        <p:attrNameLst>
                                          <p:attrName>ppt_c</p:attrName>
                                        </p:attrNameLst>
                                      </p:cBhvr>
                                      <p:to>
                                        <a:srgbClr val="FF9900"/>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148"/>
                                        </p:tgtEl>
                                        <p:attrNameLst>
                                          <p:attrName>style.visibility</p:attrName>
                                        </p:attrNameLst>
                                      </p:cBhvr>
                                      <p:to>
                                        <p:strVal val="visible"/>
                                      </p:to>
                                    </p:set>
                                    <p:anim calcmode="lin" valueType="num">
                                      <p:cBhvr additive="base">
                                        <p:cTn id="13" dur="500" fill="hold"/>
                                        <p:tgtEl>
                                          <p:spTgt spid="6148"/>
                                        </p:tgtEl>
                                        <p:attrNameLst>
                                          <p:attrName>ppt_x</p:attrName>
                                        </p:attrNameLst>
                                      </p:cBhvr>
                                      <p:tavLst>
                                        <p:tav tm="0">
                                          <p:val>
                                            <p:strVal val="1+#ppt_w/2"/>
                                          </p:val>
                                        </p:tav>
                                        <p:tav tm="100000">
                                          <p:val>
                                            <p:strVal val="#ppt_x"/>
                                          </p:val>
                                        </p:tav>
                                      </p:tavLst>
                                    </p:anim>
                                    <p:anim calcmode="lin" valueType="num">
                                      <p:cBhvr additive="base">
                                        <p:cTn id="14" dur="500" fill="hold"/>
                                        <p:tgtEl>
                                          <p:spTgt spid="6148"/>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6148"/>
                                        </p:tgtEl>
                                        <p:attrNameLst>
                                          <p:attrName>ppt_c</p:attrName>
                                        </p:attrNameLst>
                                      </p:cBhvr>
                                      <p:to>
                                        <a:srgbClr val="FF9900"/>
                                      </p:to>
                                    </p:animClr>
                                  </p:sub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6150"/>
                                        </p:tgtEl>
                                        <p:attrNameLst>
                                          <p:attrName>style.visibility</p:attrName>
                                        </p:attrNameLst>
                                      </p:cBhvr>
                                      <p:to>
                                        <p:strVal val="visible"/>
                                      </p:to>
                                    </p:set>
                                    <p:animEffect transition="in" filter="dissolve">
                                      <p:cBhvr>
                                        <p:cTn id="19" dur="500"/>
                                        <p:tgtEl>
                                          <p:spTgt spid="6150"/>
                                        </p:tgtEl>
                                      </p:cBhvr>
                                    </p:animEffect>
                                  </p:childTnLst>
                                  <p:subTnLst>
                                    <p:animClr clrSpc="rgb" dir="cw">
                                      <p:cBhvr override="childStyle">
                                        <p:cTn dur="1" fill="hold" display="0" masterRel="nextClick" afterEffect="1"/>
                                        <p:tgtEl>
                                          <p:spTgt spid="6150"/>
                                        </p:tgtEl>
                                        <p:attrNameLst>
                                          <p:attrName>ppt_c</p:attrName>
                                        </p:attrNameLst>
                                      </p:cBhvr>
                                      <p:to>
                                        <a:srgbClr val="FF9900"/>
                                      </p:to>
                                    </p:animClr>
                                  </p:sub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151"/>
                                        </p:tgtEl>
                                        <p:attrNameLst>
                                          <p:attrName>style.visibility</p:attrName>
                                        </p:attrNameLst>
                                      </p:cBhvr>
                                      <p:to>
                                        <p:strVal val="visible"/>
                                      </p:to>
                                    </p:set>
                                    <p:anim calcmode="lin" valueType="num">
                                      <p:cBhvr additive="base">
                                        <p:cTn id="24" dur="500" fill="hold"/>
                                        <p:tgtEl>
                                          <p:spTgt spid="6151"/>
                                        </p:tgtEl>
                                        <p:attrNameLst>
                                          <p:attrName>ppt_x</p:attrName>
                                        </p:attrNameLst>
                                      </p:cBhvr>
                                      <p:tavLst>
                                        <p:tav tm="0">
                                          <p:val>
                                            <p:strVal val="#ppt_x"/>
                                          </p:val>
                                        </p:tav>
                                        <p:tav tm="100000">
                                          <p:val>
                                            <p:strVal val="#ppt_x"/>
                                          </p:val>
                                        </p:tav>
                                      </p:tavLst>
                                    </p:anim>
                                    <p:anim calcmode="lin" valueType="num">
                                      <p:cBhvr additive="base">
                                        <p:cTn id="25" dur="500" fill="hold"/>
                                        <p:tgtEl>
                                          <p:spTgt spid="6151"/>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6151"/>
                                        </p:tgtEl>
                                        <p:attrNameLst>
                                          <p:attrName>ppt_c</p:attrName>
                                        </p:attrNameLst>
                                      </p:cBhvr>
                                      <p:to>
                                        <a:srgbClr val="FF9900"/>
                                      </p:to>
                                    </p:animClr>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nodePh="1">
                                  <p:stCondLst>
                                    <p:cond delay="0"/>
                                  </p:stCondLst>
                                  <p:endCondLst>
                                    <p:cond evt="begin" delay="0">
                                      <p:tn val="28"/>
                                    </p:cond>
                                  </p:endCondLst>
                                  <p:childTnLst>
                                    <p:set>
                                      <p:cBhvr>
                                        <p:cTn id="29" dur="1" fill="hold">
                                          <p:stCondLst>
                                            <p:cond delay="0"/>
                                          </p:stCondLst>
                                        </p:cTn>
                                        <p:tgtEl>
                                          <p:spTgt spid="6153"/>
                                        </p:tgtEl>
                                        <p:attrNameLst>
                                          <p:attrName>style.visibility</p:attrName>
                                        </p:attrNameLst>
                                      </p:cBhvr>
                                      <p:to>
                                        <p:strVal val="visible"/>
                                      </p:to>
                                    </p:set>
                                    <p:anim calcmode="lin" valueType="num">
                                      <p:cBhvr additive="base">
                                        <p:cTn id="30" dur="500" fill="hold"/>
                                        <p:tgtEl>
                                          <p:spTgt spid="6153"/>
                                        </p:tgtEl>
                                        <p:attrNameLst>
                                          <p:attrName>ppt_x</p:attrName>
                                        </p:attrNameLst>
                                      </p:cBhvr>
                                      <p:tavLst>
                                        <p:tav tm="0">
                                          <p:val>
                                            <p:strVal val="0-#ppt_w/2"/>
                                          </p:val>
                                        </p:tav>
                                        <p:tav tm="100000">
                                          <p:val>
                                            <p:strVal val="#ppt_x"/>
                                          </p:val>
                                        </p:tav>
                                      </p:tavLst>
                                    </p:anim>
                                    <p:anim calcmode="lin" valueType="num">
                                      <p:cBhvr additive="base">
                                        <p:cTn id="31" dur="500" fill="hold"/>
                                        <p:tgtEl>
                                          <p:spTgt spid="61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50" grpId="0"/>
      <p:bldP spid="6151" grpId="0"/>
      <p:bldP spid="6152" grpId="0"/>
      <p:bldP spid="615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1" name="Text Box 3"/>
          <p:cNvSpPr txBox="1"/>
          <p:nvPr/>
        </p:nvSpPr>
        <p:spPr>
          <a:xfrm>
            <a:off x="228600" y="1371600"/>
            <a:ext cx="8686800" cy="946150"/>
          </a:xfrm>
          <a:prstGeom prst="rect">
            <a:avLst/>
          </a:prstGeom>
          <a:noFill/>
          <a:ln w="9525">
            <a:noFill/>
          </a:ln>
        </p:spPr>
        <p:txBody>
          <a:bodyPr>
            <a:spAutoFit/>
          </a:bodyPr>
          <a:p>
            <a:r>
              <a:rPr lang="en-US" altLang="zh-CN" sz="2800" b="1" dirty="0">
                <a:solidFill>
                  <a:srgbClr val="000066"/>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目标规划是在线性规划的基础上，为适应经济管理中多目标决策的需要而逐步发展起来的一个分支。</a:t>
            </a:r>
            <a:endParaRPr lang="zh-CN" altLang="en-US" sz="2800" b="1" dirty="0">
              <a:solidFill>
                <a:srgbClr val="0000FF"/>
              </a:solidFill>
              <a:latin typeface="Times New Roman" panose="02020603050405020304" pitchFamily="18" charset="0"/>
            </a:endParaRPr>
          </a:p>
        </p:txBody>
      </p:sp>
      <p:sp>
        <p:nvSpPr>
          <p:cNvPr id="2052" name="Text Box 4"/>
          <p:cNvSpPr txBox="1"/>
          <p:nvPr/>
        </p:nvSpPr>
        <p:spPr>
          <a:xfrm>
            <a:off x="0" y="5334000"/>
            <a:ext cx="9144000" cy="519113"/>
          </a:xfrm>
          <a:prstGeom prst="rect">
            <a:avLst/>
          </a:prstGeom>
          <a:noFill/>
          <a:ln w="9525">
            <a:noFill/>
          </a:ln>
        </p:spPr>
        <p:txBody>
          <a:bodyPr>
            <a:spAutoFit/>
          </a:bodyPr>
          <a:p>
            <a:r>
              <a:rPr lang="en-US" altLang="zh-CN" sz="2800" b="1" dirty="0">
                <a:solidFill>
                  <a:srgbClr val="0000FF"/>
                </a:solidFill>
                <a:latin typeface="楷体_GB2312" pitchFamily="49" charset="-122"/>
              </a:rPr>
              <a:t>   </a:t>
            </a:r>
            <a:r>
              <a:rPr lang="en-US" altLang="zh-CN" sz="2800" b="1" dirty="0">
                <a:solidFill>
                  <a:srgbClr val="800080"/>
                </a:solidFill>
                <a:latin typeface="楷体_GB2312" pitchFamily="49" charset="-122"/>
              </a:rPr>
              <a:t>2</a:t>
            </a:r>
            <a:r>
              <a:rPr lang="zh-CN" altLang="en-US" sz="2800" b="1" dirty="0">
                <a:solidFill>
                  <a:srgbClr val="800080"/>
                </a:solidFill>
                <a:latin typeface="楷体_GB2312" pitchFamily="49" charset="-122"/>
              </a:rPr>
              <a:t>、线性规划求最优解；目标规划是找到一个满意解。</a:t>
            </a:r>
            <a:endParaRPr lang="zh-CN" altLang="en-US" sz="2800" b="1" dirty="0">
              <a:solidFill>
                <a:srgbClr val="800080"/>
              </a:solidFill>
              <a:latin typeface="楷体_GB2312" pitchFamily="49" charset="-122"/>
            </a:endParaRPr>
          </a:p>
        </p:txBody>
      </p:sp>
      <p:sp>
        <p:nvSpPr>
          <p:cNvPr id="2054" name="Rectangle 6"/>
          <p:cNvSpPr/>
          <p:nvPr/>
        </p:nvSpPr>
        <p:spPr>
          <a:xfrm>
            <a:off x="228600" y="3657600"/>
            <a:ext cx="8915400" cy="1373188"/>
          </a:xfrm>
          <a:prstGeom prst="rect">
            <a:avLst/>
          </a:prstGeom>
          <a:noFill/>
          <a:ln w="9525">
            <a:noFill/>
          </a:ln>
        </p:spPr>
        <p:txBody>
          <a:bodyPr>
            <a:spAutoFit/>
          </a:bodyPr>
          <a:p>
            <a:r>
              <a:rPr lang="en-US" altLang="zh-CN" sz="2800" b="1" dirty="0">
                <a:solidFill>
                  <a:srgbClr val="0000FF"/>
                </a:solidFill>
                <a:latin typeface="楷体_GB2312" pitchFamily="49" charset="-122"/>
              </a:rPr>
              <a:t>   1</a:t>
            </a:r>
            <a:r>
              <a:rPr lang="zh-CN" altLang="en-US" sz="2800" b="1" dirty="0">
                <a:solidFill>
                  <a:srgbClr val="0000FF"/>
                </a:solidFill>
                <a:latin typeface="楷体_GB2312" pitchFamily="49" charset="-122"/>
              </a:rPr>
              <a:t>、线性规划只讨论一个线性目标函数在一组线性约束条件下的极值问题；而目标规划是多个目标决策，可求得更切合实际的解。</a:t>
            </a:r>
            <a:endParaRPr lang="zh-CN" altLang="en-US" sz="2800" b="1" dirty="0">
              <a:solidFill>
                <a:srgbClr val="0000FF"/>
              </a:solidFill>
              <a:latin typeface="楷体_GB2312" pitchFamily="49" charset="-122"/>
            </a:endParaRPr>
          </a:p>
        </p:txBody>
      </p:sp>
      <p:sp>
        <p:nvSpPr>
          <p:cNvPr id="2055" name="Rectangle 7"/>
          <p:cNvSpPr>
            <a:spLocks noGrp="1"/>
          </p:cNvSpPr>
          <p:nvPr>
            <p:ph type="ctrTitle"/>
          </p:nvPr>
        </p:nvSpPr>
        <p:spPr>
          <a:xfrm>
            <a:off x="685800" y="609600"/>
            <a:ext cx="7772400" cy="1143000"/>
          </a:xfrm>
          <a:noFill/>
          <a:ln>
            <a:noFill/>
          </a:ln>
        </p:spPr>
        <p:txBody>
          <a:bodyPr/>
          <a:p>
            <a:pPr algn="l" eaLnBrk="1" hangingPunct="1">
              <a:buClrTx/>
              <a:buSzTx/>
              <a:buFontTx/>
            </a:pPr>
            <a:r>
              <a:rPr lang="zh-CN" altLang="en-US" sz="3600" b="1" dirty="0">
                <a:solidFill>
                  <a:srgbClr val="800080"/>
                </a:solidFill>
                <a:ea typeface="楷体_GB2312" pitchFamily="49" charset="-122"/>
              </a:rPr>
              <a:t>一、目标规划概述</a:t>
            </a:r>
            <a:endParaRPr lang="zh-CN" altLang="en-US" sz="3600" b="1" dirty="0">
              <a:solidFill>
                <a:srgbClr val="800080"/>
              </a:solidFill>
              <a:ea typeface="楷体_GB2312" pitchFamily="49" charset="-122"/>
            </a:endParaRPr>
          </a:p>
        </p:txBody>
      </p:sp>
      <p:sp>
        <p:nvSpPr>
          <p:cNvPr id="2056" name="Rectangle 8"/>
          <p:cNvSpPr>
            <a:spLocks noGrp="1"/>
          </p:cNvSpPr>
          <p:nvPr>
            <p:ph type="subTitle" idx="1"/>
          </p:nvPr>
        </p:nvSpPr>
        <p:spPr>
          <a:xfrm>
            <a:off x="457200" y="2743200"/>
            <a:ext cx="8077200" cy="838200"/>
          </a:xfrm>
          <a:noFill/>
          <a:ln>
            <a:noFill/>
          </a:ln>
        </p:spPr>
        <p:txBody>
          <a:bodyPr/>
          <a:p>
            <a:pPr algn="l" eaLnBrk="1" hangingPunct="1">
              <a:buClrTx/>
              <a:buSzTx/>
              <a:buFontTx/>
            </a:pPr>
            <a:r>
              <a:rPr kumimoji="1" lang="zh-CN" altLang="en-US" b="1" dirty="0">
                <a:solidFill>
                  <a:srgbClr val="800080"/>
                </a:solidFill>
                <a:latin typeface="楷体_GB2312" pitchFamily="49" charset="-122"/>
                <a:ea typeface="楷体_GB2312" pitchFamily="49" charset="-122"/>
                <a:cs typeface="+mn-cs"/>
              </a:rPr>
              <a:t>（一）、目标规划与线性规划的比较</a:t>
            </a:r>
            <a:endParaRPr kumimoji="1" lang="zh-CN" altLang="en-US" b="1" dirty="0">
              <a:solidFill>
                <a:srgbClr val="800080"/>
              </a:solidFill>
              <a:latin typeface="楷体_GB2312" pitchFamily="49" charset="-122"/>
              <a:ea typeface="楷体_GB2312" pitchFamily="49" charset="-122"/>
              <a:cs typeface="+mn-cs"/>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55"/>
                                        </p:tgtEl>
                                        <p:attrNameLst>
                                          <p:attrName>style.visibility</p:attrName>
                                        </p:attrNameLst>
                                      </p:cBhvr>
                                      <p:to>
                                        <p:strVal val="visible"/>
                                      </p:to>
                                    </p:set>
                                    <p:anim calcmode="lin" valueType="num">
                                      <p:cBhvr additive="base">
                                        <p:cTn id="7" dur="500" fill="hold"/>
                                        <p:tgtEl>
                                          <p:spTgt spid="2055"/>
                                        </p:tgtEl>
                                        <p:attrNameLst>
                                          <p:attrName>ppt_x</p:attrName>
                                        </p:attrNameLst>
                                      </p:cBhvr>
                                      <p:tavLst>
                                        <p:tav tm="0">
                                          <p:val>
                                            <p:strVal val="0-#ppt_w/2"/>
                                          </p:val>
                                        </p:tav>
                                        <p:tav tm="100000">
                                          <p:val>
                                            <p:strVal val="#ppt_x"/>
                                          </p:val>
                                        </p:tav>
                                      </p:tavLst>
                                    </p:anim>
                                    <p:anim calcmode="lin" valueType="num">
                                      <p:cBhvr additive="base">
                                        <p:cTn id="8" dur="500" fill="hold"/>
                                        <p:tgtEl>
                                          <p:spTgt spid="20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wd">
                                    <p:tmAbs val="300"/>
                                  </p:iterate>
                                  <p:childTnLst>
                                    <p:set>
                                      <p:cBhvr>
                                        <p:cTn id="12" dur="1" fill="hold">
                                          <p:stCondLst>
                                            <p:cond delay="299"/>
                                          </p:stCondLst>
                                        </p:cTn>
                                        <p:tgtEl>
                                          <p:spTgt spid="20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056">
                                            <p:txEl>
                                              <p:charRg st="0" end="17"/>
                                            </p:txEl>
                                          </p:spTgt>
                                        </p:tgtEl>
                                        <p:attrNameLst>
                                          <p:attrName>style.visibility</p:attrName>
                                        </p:attrNameLst>
                                      </p:cBhvr>
                                      <p:to>
                                        <p:strVal val="visible"/>
                                      </p:to>
                                    </p:set>
                                    <p:anim calcmode="lin" valueType="num">
                                      <p:cBhvr additive="base">
                                        <p:cTn id="17" dur="500" fill="hold"/>
                                        <p:tgtEl>
                                          <p:spTgt spid="2056">
                                            <p:txEl>
                                              <p:charRg st="0" end="17"/>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056">
                                            <p:txEl>
                                              <p:charRg st="0" end="17"/>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 presetClass="entr" presetSubtype="5" fill="hold" grpId="0" nodeType="clickEffect">
                                  <p:stCondLst>
                                    <p:cond delay="0"/>
                                  </p:stCondLst>
                                  <p:childTnLst>
                                    <p:set>
                                      <p:cBhvr>
                                        <p:cTn id="22" dur="1" fill="hold">
                                          <p:stCondLst>
                                            <p:cond delay="0"/>
                                          </p:stCondLst>
                                        </p:cTn>
                                        <p:tgtEl>
                                          <p:spTgt spid="2054"/>
                                        </p:tgtEl>
                                        <p:attrNameLst>
                                          <p:attrName>style.visibility</p:attrName>
                                        </p:attrNameLst>
                                      </p:cBhvr>
                                      <p:to>
                                        <p:strVal val="visible"/>
                                      </p:to>
                                    </p:set>
                                    <p:animEffect transition="in" filter="checkerboard(down)">
                                      <p:cBhvr>
                                        <p:cTn id="23" dur="500"/>
                                        <p:tgtEl>
                                          <p:spTgt spid="2054"/>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lt">
                                    <p:tmAbs val="75"/>
                                  </p:iterate>
                                  <p:childTnLst>
                                    <p:set>
                                      <p:cBhvr>
                                        <p:cTn id="27" dur="1" fill="hold">
                                          <p:stCondLst>
                                            <p:cond delay="74"/>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p:bldP spid="2052" grpId="0"/>
      <p:bldP spid="2054" grpId="0"/>
      <p:bldP spid="2055" grpId="0"/>
      <p:bldP spid="205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ext Box 2"/>
          <p:cNvSpPr txBox="1"/>
          <p:nvPr/>
        </p:nvSpPr>
        <p:spPr>
          <a:xfrm>
            <a:off x="228600" y="2286000"/>
            <a:ext cx="8686800" cy="1373188"/>
          </a:xfrm>
          <a:prstGeom prst="rect">
            <a:avLst/>
          </a:prstGeom>
          <a:noFill/>
          <a:ln w="9525">
            <a:noFill/>
          </a:ln>
        </p:spPr>
        <p:txBody>
          <a:bodyPr>
            <a:spAutoFit/>
          </a:bodyPr>
          <a:p>
            <a:r>
              <a:rPr lang="en-US" altLang="zh-CN" sz="2800" b="1" dirty="0">
                <a:solidFill>
                  <a:srgbClr val="800080"/>
                </a:solidFill>
                <a:latin typeface="楷体_GB2312" pitchFamily="49" charset="-122"/>
              </a:rPr>
              <a:t>  4</a:t>
            </a:r>
            <a:r>
              <a:rPr lang="zh-CN" altLang="en-US" sz="2800" b="1" dirty="0">
                <a:solidFill>
                  <a:srgbClr val="800080"/>
                </a:solidFill>
                <a:latin typeface="楷体_GB2312" pitchFamily="49" charset="-122"/>
              </a:rPr>
              <a:t>、线性规划的最优解是绝对意义下的最优，但需花去大量的人力、物力、财力才能得到；实际过程中，只要求得满意解，就能满足需要（或更能满足需要）。  </a:t>
            </a:r>
            <a:endParaRPr lang="zh-CN" altLang="en-US" sz="2800" b="1" dirty="0">
              <a:solidFill>
                <a:srgbClr val="800080"/>
              </a:solidFill>
              <a:latin typeface="楷体_GB2312" pitchFamily="49" charset="-122"/>
            </a:endParaRPr>
          </a:p>
        </p:txBody>
      </p:sp>
      <p:sp>
        <p:nvSpPr>
          <p:cNvPr id="3076" name="Text Box 4"/>
          <p:cNvSpPr txBox="1"/>
          <p:nvPr/>
        </p:nvSpPr>
        <p:spPr>
          <a:xfrm>
            <a:off x="228600" y="685800"/>
            <a:ext cx="8915400" cy="946150"/>
          </a:xfrm>
          <a:prstGeom prst="rect">
            <a:avLst/>
          </a:prstGeom>
          <a:noFill/>
          <a:ln w="9525">
            <a:noFill/>
          </a:ln>
        </p:spPr>
        <p:txBody>
          <a:bodyPr>
            <a:spAutoFit/>
          </a:bodyPr>
          <a:p>
            <a:pPr>
              <a:spcBef>
                <a:spcPct val="50000"/>
              </a:spcBef>
            </a:pPr>
            <a:r>
              <a:rPr lang="en-US" altLang="zh-CN" sz="2800" b="1" dirty="0">
                <a:solidFill>
                  <a:srgbClr val="0000FF"/>
                </a:solidFill>
                <a:latin typeface="楷体_GB2312" pitchFamily="49" charset="-122"/>
              </a:rPr>
              <a:t>  3</a:t>
            </a:r>
            <a:r>
              <a:rPr lang="zh-CN" altLang="en-US" sz="2800" b="1" dirty="0">
                <a:solidFill>
                  <a:srgbClr val="0000FF"/>
                </a:solidFill>
                <a:latin typeface="楷体_GB2312" pitchFamily="49" charset="-122"/>
              </a:rPr>
              <a:t>、线性规划中的约束条件是同等重要的，是硬约束；而目标规划中有轻重缓急和主次之分，即有优先权。</a:t>
            </a:r>
            <a:endParaRPr lang="zh-CN" altLang="en-US" sz="2800" b="1" dirty="0">
              <a:solidFill>
                <a:srgbClr val="0000FF"/>
              </a:solidFill>
              <a:latin typeface="楷体_GB2312" pitchFamily="49" charset="-122"/>
            </a:endParaRPr>
          </a:p>
        </p:txBody>
      </p:sp>
      <p:sp>
        <p:nvSpPr>
          <p:cNvPr id="3078" name="Text Box 6"/>
          <p:cNvSpPr txBox="1"/>
          <p:nvPr/>
        </p:nvSpPr>
        <p:spPr>
          <a:xfrm>
            <a:off x="228600" y="4343400"/>
            <a:ext cx="8686800" cy="946150"/>
          </a:xfrm>
          <a:prstGeom prst="rect">
            <a:avLst/>
          </a:prstGeom>
          <a:noFill/>
          <a:ln w="9525">
            <a:noFill/>
          </a:ln>
        </p:spPr>
        <p:txBody>
          <a:bodyPr>
            <a:spAutoFit/>
          </a:bodyPr>
          <a:p>
            <a:pPr>
              <a:spcBef>
                <a:spcPct val="50000"/>
              </a:spcBef>
            </a:pPr>
            <a:r>
              <a:rPr lang="zh-CN" altLang="en-US" sz="2800" b="1" dirty="0">
                <a:solidFill>
                  <a:srgbClr val="0000FF"/>
                </a:solidFill>
                <a:latin typeface="楷体_GB2312" pitchFamily="49" charset="-122"/>
              </a:rPr>
              <a:t>目前，已经在经济计划、生产管理、经营管理、市场分析、财务管理等方面得到了广泛的应用。</a:t>
            </a:r>
            <a:endParaRPr lang="zh-CN" altLang="en-US" sz="2800" b="1" dirty="0">
              <a:solidFill>
                <a:srgbClr val="0000FF"/>
              </a:solidFill>
              <a:latin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checkerboard(across)">
                                      <p:cBhvr>
                                        <p:cTn id="7" dur="500"/>
                                        <p:tgtEl>
                                          <p:spTgt spid="307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iterate type="lt">
                                    <p:tmPct val="100000"/>
                                  </p:iterate>
                                  <p:childTnLst>
                                    <p:set>
                                      <p:cBhvr>
                                        <p:cTn id="11" dur="1" fill="hold">
                                          <p:stCondLst>
                                            <p:cond delay="0"/>
                                          </p:stCondLst>
                                        </p:cTn>
                                        <p:tgtEl>
                                          <p:spTgt spid="3074">
                                            <p:txEl>
                                              <p:charRg st="0" end="75"/>
                                            </p:txEl>
                                          </p:spTgt>
                                        </p:tgtEl>
                                        <p:attrNameLst>
                                          <p:attrName>style.visibility</p:attrName>
                                        </p:attrNameLst>
                                      </p:cBhvr>
                                      <p:to>
                                        <p:strVal val="visible"/>
                                      </p:to>
                                    </p:set>
                                    <p:animEffect transition="in" filter="dissolve">
                                      <p:cBhvr>
                                        <p:cTn id="12" dur="75"/>
                                        <p:tgtEl>
                                          <p:spTgt spid="3074">
                                            <p:txEl>
                                              <p:charRg st="0" end="75"/>
                                            </p:txEl>
                                          </p:spTgt>
                                        </p:tgtEl>
                                      </p:cBhvr>
                                    </p:animEffect>
                                  </p:childTnLst>
                                  <p:subTnLst>
                                    <p:animClr clrSpc="rgb" dir="cw">
                                      <p:cBhvr override="childStyle">
                                        <p:cTn dur="1" fill="hold" display="0" masterRel="nextClick" afterEffect="1"/>
                                        <p:tgtEl>
                                          <p:spTgt spid="3074">
                                            <p:txEl>
                                              <p:charRg st="0" end="75"/>
                                            </p:txEl>
                                          </p:spTgt>
                                        </p:tgtEl>
                                        <p:attrNameLst>
                                          <p:attrName>ppt_c</p:attrName>
                                        </p:attrNameLst>
                                      </p:cBhvr>
                                      <p:to>
                                        <a:srgbClr val="800000"/>
                                      </p:to>
                                    </p:animClr>
                                  </p:subTnLst>
                                </p:cTn>
                              </p:par>
                            </p:childTnLst>
                          </p:cTn>
                        </p:par>
                      </p:childTnLst>
                    </p:cTn>
                  </p:par>
                  <p:par>
                    <p:cTn id="13" fill="hold">
                      <p:stCondLst>
                        <p:cond delay="indefinite"/>
                      </p:stCondLst>
                      <p:childTnLst>
                        <p:par>
                          <p:cTn id="14" fill="hold">
                            <p:stCondLst>
                              <p:cond delay="0"/>
                            </p:stCondLst>
                            <p:childTnLst>
                              <p:par>
                                <p:cTn id="15" presetID="17" presetClass="entr" presetSubtype="4" fill="hold" grpId="0" nodeType="clickEffect">
                                  <p:stCondLst>
                                    <p:cond delay="0"/>
                                  </p:stCondLst>
                                  <p:childTnLst>
                                    <p:set>
                                      <p:cBhvr>
                                        <p:cTn id="16" dur="1" fill="hold">
                                          <p:stCondLst>
                                            <p:cond delay="0"/>
                                          </p:stCondLst>
                                        </p:cTn>
                                        <p:tgtEl>
                                          <p:spTgt spid="3078"/>
                                        </p:tgtEl>
                                        <p:attrNameLst>
                                          <p:attrName>style.visibility</p:attrName>
                                        </p:attrNameLst>
                                      </p:cBhvr>
                                      <p:to>
                                        <p:strVal val="visible"/>
                                      </p:to>
                                    </p:set>
                                    <p:anim calcmode="lin" valueType="num">
                                      <p:cBhvr>
                                        <p:cTn id="17" dur="500" fill="hold"/>
                                        <p:tgtEl>
                                          <p:spTgt spid="3078"/>
                                        </p:tgtEl>
                                        <p:attrNameLst>
                                          <p:attrName>ppt_x</p:attrName>
                                        </p:attrNameLst>
                                      </p:cBhvr>
                                      <p:tavLst>
                                        <p:tav tm="0">
                                          <p:val>
                                            <p:strVal val="#ppt_x"/>
                                          </p:val>
                                        </p:tav>
                                        <p:tav tm="100000">
                                          <p:val>
                                            <p:strVal val="#ppt_x"/>
                                          </p:val>
                                        </p:tav>
                                      </p:tavLst>
                                    </p:anim>
                                    <p:anim calcmode="lin" valueType="num">
                                      <p:cBhvr>
                                        <p:cTn id="18" dur="500" fill="hold"/>
                                        <p:tgtEl>
                                          <p:spTgt spid="3078"/>
                                        </p:tgtEl>
                                        <p:attrNameLst>
                                          <p:attrName>ppt_y</p:attrName>
                                        </p:attrNameLst>
                                      </p:cBhvr>
                                      <p:tavLst>
                                        <p:tav tm="0">
                                          <p:val>
                                            <p:strVal val="#ppt_y+#ppt_h/2"/>
                                          </p:val>
                                        </p:tav>
                                        <p:tav tm="100000">
                                          <p:val>
                                            <p:strVal val="#ppt_y"/>
                                          </p:val>
                                        </p:tav>
                                      </p:tavLst>
                                    </p:anim>
                                    <p:anim calcmode="lin" valueType="num">
                                      <p:cBhvr>
                                        <p:cTn id="19" dur="500" fill="hold"/>
                                        <p:tgtEl>
                                          <p:spTgt spid="3078"/>
                                        </p:tgtEl>
                                        <p:attrNameLst>
                                          <p:attrName>ppt_w</p:attrName>
                                        </p:attrNameLst>
                                      </p:cBhvr>
                                      <p:tavLst>
                                        <p:tav tm="0">
                                          <p:val>
                                            <p:strVal val="#ppt_w"/>
                                          </p:val>
                                        </p:tav>
                                        <p:tav tm="100000">
                                          <p:val>
                                            <p:strVal val="#ppt_w"/>
                                          </p:val>
                                        </p:tav>
                                      </p:tavLst>
                                    </p:anim>
                                    <p:anim calcmode="lin" valueType="num">
                                      <p:cBhvr>
                                        <p:cTn id="20" dur="500" fill="hold"/>
                                        <p:tgtEl>
                                          <p:spTgt spid="3078"/>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build="p"/>
      <p:bldP spid="3076" grpId="0"/>
      <p:bldP spid="307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228600" y="1066800"/>
            <a:ext cx="8610600" cy="2227263"/>
          </a:xfrm>
          <a:prstGeom prst="rect">
            <a:avLst/>
          </a:prstGeom>
          <a:noFill/>
          <a:ln w="9525">
            <a:noFill/>
          </a:ln>
        </p:spPr>
        <p:txBody>
          <a:bodyPr>
            <a:spAutoFit/>
          </a:bodyPr>
          <a:p>
            <a:r>
              <a:rPr lang="en-US" altLang="zh-CN" sz="2800" b="1" dirty="0">
                <a:solidFill>
                  <a:srgbClr val="800080"/>
                </a:solidFill>
                <a:latin typeface="Times New Roman" panose="02020603050405020304" pitchFamily="18" charset="0"/>
              </a:rPr>
              <a:t>    </a:t>
            </a:r>
            <a:r>
              <a:rPr lang="zh-CN" altLang="en-US" sz="2800" b="1" dirty="0">
                <a:latin typeface="Times New Roman" panose="02020603050405020304" pitchFamily="18" charset="0"/>
              </a:rPr>
              <a:t>例一、某厂计划在下一个生产周期内生产甲、乙两种产品，已知资料如表所示。试制定生产计划，使获得的利润最大？同时，根据市场预测，甲的销路不是太好，应尽可能少生产；乙的销路较好，可以扩大生产。试建立此问题的数学模型。</a:t>
            </a:r>
            <a:endParaRPr lang="zh-CN" altLang="en-US" sz="2800" b="1" dirty="0">
              <a:latin typeface="Times New Roman" panose="02020603050405020304" pitchFamily="18" charset="0"/>
            </a:endParaRPr>
          </a:p>
        </p:txBody>
      </p:sp>
      <p:grpSp>
        <p:nvGrpSpPr>
          <p:cNvPr id="2" name="Group 226"/>
          <p:cNvGrpSpPr/>
          <p:nvPr/>
        </p:nvGrpSpPr>
        <p:grpSpPr>
          <a:xfrm>
            <a:off x="2286000" y="3733800"/>
            <a:ext cx="4876800" cy="2508250"/>
            <a:chOff x="1440" y="2208"/>
            <a:chExt cx="3072" cy="1580"/>
          </a:xfrm>
        </p:grpSpPr>
        <p:sp>
          <p:nvSpPr>
            <p:cNvPr id="37893" name="Rectangle 24"/>
            <p:cNvSpPr/>
            <p:nvPr/>
          </p:nvSpPr>
          <p:spPr>
            <a:xfrm>
              <a:off x="3600" y="3501"/>
              <a:ext cx="912" cy="287"/>
            </a:xfrm>
            <a:prstGeom prst="rect">
              <a:avLst/>
            </a:prstGeom>
            <a:solidFill>
              <a:schemeClr val="hlink"/>
            </a:solidFill>
            <a:ln w="9525">
              <a:noFill/>
            </a:ln>
          </p:spPr>
          <p:txBody>
            <a:bodyPr/>
            <a:p>
              <a:pPr algn="ctr">
                <a:spcBef>
                  <a:spcPct val="20000"/>
                </a:spcBef>
              </a:pPr>
              <a:endParaRPr lang="zh-CN" altLang="zh-CN" b="1" dirty="0">
                <a:latin typeface="Times New Roman" panose="02020603050405020304" pitchFamily="18" charset="0"/>
              </a:endParaRPr>
            </a:p>
          </p:txBody>
        </p:sp>
        <p:sp>
          <p:nvSpPr>
            <p:cNvPr id="37894" name="Rectangle 23"/>
            <p:cNvSpPr/>
            <p:nvPr/>
          </p:nvSpPr>
          <p:spPr>
            <a:xfrm>
              <a:off x="2976" y="3501"/>
              <a:ext cx="624" cy="287"/>
            </a:xfrm>
            <a:prstGeom prst="rect">
              <a:avLst/>
            </a:prstGeom>
            <a:solidFill>
              <a:schemeClr val="hlink"/>
            </a:solidFill>
            <a:ln w="9525">
              <a:noFill/>
            </a:ln>
          </p:spPr>
          <p:txBody>
            <a:bodyPr/>
            <a:p>
              <a:pPr algn="ctr">
                <a:spcBef>
                  <a:spcPct val="20000"/>
                </a:spcBef>
              </a:pPr>
              <a:r>
                <a:rPr lang="en-US" altLang="zh-CN" b="1" dirty="0">
                  <a:latin typeface="Times New Roman" panose="02020603050405020304" pitchFamily="18" charset="0"/>
                </a:rPr>
                <a:t>120</a:t>
              </a:r>
              <a:endParaRPr lang="en-US" altLang="zh-CN" b="1" dirty="0">
                <a:latin typeface="Times New Roman" panose="02020603050405020304" pitchFamily="18" charset="0"/>
              </a:endParaRPr>
            </a:p>
          </p:txBody>
        </p:sp>
        <p:sp>
          <p:nvSpPr>
            <p:cNvPr id="37895" name="Rectangle 22"/>
            <p:cNvSpPr/>
            <p:nvPr/>
          </p:nvSpPr>
          <p:spPr>
            <a:xfrm>
              <a:off x="2400" y="3501"/>
              <a:ext cx="576" cy="287"/>
            </a:xfrm>
            <a:prstGeom prst="rect">
              <a:avLst/>
            </a:prstGeom>
            <a:solidFill>
              <a:schemeClr val="hlink"/>
            </a:solidFill>
            <a:ln w="9525">
              <a:noFill/>
            </a:ln>
          </p:spPr>
          <p:txBody>
            <a:bodyPr/>
            <a:p>
              <a:pPr algn="ctr">
                <a:spcBef>
                  <a:spcPct val="20000"/>
                </a:spcBef>
              </a:pPr>
              <a:r>
                <a:rPr lang="en-US" altLang="zh-CN" b="1" dirty="0">
                  <a:latin typeface="Times New Roman" panose="02020603050405020304" pitchFamily="18" charset="0"/>
                </a:rPr>
                <a:t>70</a:t>
              </a:r>
              <a:endParaRPr lang="en-US" altLang="zh-CN" b="1" dirty="0">
                <a:latin typeface="Times New Roman" panose="02020603050405020304" pitchFamily="18" charset="0"/>
              </a:endParaRPr>
            </a:p>
          </p:txBody>
        </p:sp>
        <p:sp>
          <p:nvSpPr>
            <p:cNvPr id="37896" name="Rectangle 21"/>
            <p:cNvSpPr/>
            <p:nvPr/>
          </p:nvSpPr>
          <p:spPr>
            <a:xfrm>
              <a:off x="1440" y="3501"/>
              <a:ext cx="960" cy="287"/>
            </a:xfrm>
            <a:prstGeom prst="rect">
              <a:avLst/>
            </a:prstGeom>
            <a:solidFill>
              <a:schemeClr val="hlink"/>
            </a:solidFill>
            <a:ln w="9525">
              <a:noFill/>
            </a:ln>
          </p:spPr>
          <p:txBody>
            <a:bodyPr/>
            <a:p>
              <a:pPr algn="ctr">
                <a:spcBef>
                  <a:spcPct val="20000"/>
                </a:spcBef>
              </a:pPr>
              <a:r>
                <a:rPr lang="zh-CN" altLang="en-US" b="1" dirty="0">
                  <a:latin typeface="Times New Roman" panose="02020603050405020304" pitchFamily="18" charset="0"/>
                </a:rPr>
                <a:t>单件利润</a:t>
              </a:r>
              <a:endParaRPr lang="zh-CN" altLang="en-US" b="1" dirty="0">
                <a:latin typeface="Times New Roman" panose="02020603050405020304" pitchFamily="18" charset="0"/>
              </a:endParaRPr>
            </a:p>
          </p:txBody>
        </p:sp>
        <p:sp>
          <p:nvSpPr>
            <p:cNvPr id="37897" name="Rectangle 20"/>
            <p:cNvSpPr/>
            <p:nvPr/>
          </p:nvSpPr>
          <p:spPr>
            <a:xfrm>
              <a:off x="3600" y="3214"/>
              <a:ext cx="912" cy="287"/>
            </a:xfrm>
            <a:prstGeom prst="rect">
              <a:avLst/>
            </a:prstGeom>
            <a:solidFill>
              <a:srgbClr val="9999FF"/>
            </a:solidFill>
            <a:ln w="9525">
              <a:noFill/>
            </a:ln>
          </p:spPr>
          <p:txBody>
            <a:bodyPr/>
            <a:p>
              <a:pPr algn="ctr">
                <a:spcBef>
                  <a:spcPct val="20000"/>
                </a:spcBef>
              </a:pPr>
              <a:r>
                <a:rPr lang="en-US" altLang="zh-CN" b="1" dirty="0">
                  <a:latin typeface="Times New Roman" panose="02020603050405020304" pitchFamily="18" charset="0"/>
                </a:rPr>
                <a:t>3000</a:t>
              </a:r>
              <a:endParaRPr lang="en-US" altLang="zh-CN" b="1" dirty="0">
                <a:latin typeface="Times New Roman" panose="02020603050405020304" pitchFamily="18" charset="0"/>
              </a:endParaRPr>
            </a:p>
          </p:txBody>
        </p:sp>
        <p:sp>
          <p:nvSpPr>
            <p:cNvPr id="37898" name="Rectangle 19"/>
            <p:cNvSpPr/>
            <p:nvPr/>
          </p:nvSpPr>
          <p:spPr>
            <a:xfrm>
              <a:off x="2976" y="3214"/>
              <a:ext cx="624" cy="287"/>
            </a:xfrm>
            <a:prstGeom prst="rect">
              <a:avLst/>
            </a:prstGeom>
            <a:solidFill>
              <a:srgbClr val="9999FF"/>
            </a:solidFill>
            <a:ln w="9525">
              <a:noFill/>
            </a:ln>
          </p:spPr>
          <p:txBody>
            <a:bodyPr/>
            <a:p>
              <a:pPr algn="ctr">
                <a:spcBef>
                  <a:spcPct val="20000"/>
                </a:spcBef>
              </a:pPr>
              <a:r>
                <a:rPr lang="en-US" altLang="zh-CN" b="1" dirty="0">
                  <a:latin typeface="Times New Roman" panose="02020603050405020304" pitchFamily="18" charset="0"/>
                </a:rPr>
                <a:t>10</a:t>
              </a:r>
              <a:endParaRPr lang="en-US" altLang="zh-CN" b="1" dirty="0">
                <a:latin typeface="Times New Roman" panose="02020603050405020304" pitchFamily="18" charset="0"/>
              </a:endParaRPr>
            </a:p>
          </p:txBody>
        </p:sp>
        <p:sp>
          <p:nvSpPr>
            <p:cNvPr id="37899" name="Rectangle 18"/>
            <p:cNvSpPr/>
            <p:nvPr/>
          </p:nvSpPr>
          <p:spPr>
            <a:xfrm>
              <a:off x="2400" y="3214"/>
              <a:ext cx="576" cy="287"/>
            </a:xfrm>
            <a:prstGeom prst="rect">
              <a:avLst/>
            </a:prstGeom>
            <a:solidFill>
              <a:srgbClr val="9999FF"/>
            </a:solidFill>
            <a:ln w="9525">
              <a:noFill/>
            </a:ln>
          </p:spPr>
          <p:txBody>
            <a:bodyPr/>
            <a:p>
              <a:pPr algn="ctr">
                <a:spcBef>
                  <a:spcPct val="20000"/>
                </a:spcBef>
              </a:pPr>
              <a:r>
                <a:rPr lang="en-US" altLang="zh-CN" b="1" dirty="0">
                  <a:latin typeface="Times New Roman" panose="02020603050405020304" pitchFamily="18" charset="0"/>
                </a:rPr>
                <a:t>3</a:t>
              </a:r>
              <a:endParaRPr lang="en-US" altLang="zh-CN" b="1" dirty="0">
                <a:latin typeface="Times New Roman" panose="02020603050405020304" pitchFamily="18" charset="0"/>
              </a:endParaRPr>
            </a:p>
          </p:txBody>
        </p:sp>
        <p:sp>
          <p:nvSpPr>
            <p:cNvPr id="37900" name="Rectangle 17"/>
            <p:cNvSpPr/>
            <p:nvPr/>
          </p:nvSpPr>
          <p:spPr>
            <a:xfrm>
              <a:off x="1440" y="3214"/>
              <a:ext cx="960" cy="287"/>
            </a:xfrm>
            <a:prstGeom prst="rect">
              <a:avLst/>
            </a:prstGeom>
            <a:solidFill>
              <a:srgbClr val="9999FF"/>
            </a:solidFill>
            <a:ln w="9525">
              <a:noFill/>
            </a:ln>
          </p:spPr>
          <p:txBody>
            <a:bodyPr/>
            <a:p>
              <a:pPr algn="ctr">
                <a:spcBef>
                  <a:spcPct val="20000"/>
                </a:spcBef>
              </a:pPr>
              <a:r>
                <a:rPr lang="zh-CN" altLang="en-US" b="1" dirty="0">
                  <a:latin typeface="Times New Roman" panose="02020603050405020304" pitchFamily="18" charset="0"/>
                </a:rPr>
                <a:t>设备台时</a:t>
              </a:r>
              <a:endParaRPr lang="zh-CN" altLang="en-US" b="1" dirty="0">
                <a:latin typeface="Times New Roman" panose="02020603050405020304" pitchFamily="18" charset="0"/>
              </a:endParaRPr>
            </a:p>
          </p:txBody>
        </p:sp>
        <p:sp>
          <p:nvSpPr>
            <p:cNvPr id="37901" name="Rectangle 16"/>
            <p:cNvSpPr/>
            <p:nvPr/>
          </p:nvSpPr>
          <p:spPr>
            <a:xfrm>
              <a:off x="3600" y="2927"/>
              <a:ext cx="912" cy="287"/>
            </a:xfrm>
            <a:prstGeom prst="rect">
              <a:avLst/>
            </a:prstGeom>
            <a:solidFill>
              <a:schemeClr val="hlink"/>
            </a:solidFill>
            <a:ln w="9525">
              <a:noFill/>
            </a:ln>
          </p:spPr>
          <p:txBody>
            <a:bodyPr/>
            <a:p>
              <a:pPr algn="ctr">
                <a:spcBef>
                  <a:spcPct val="20000"/>
                </a:spcBef>
              </a:pPr>
              <a:r>
                <a:rPr lang="en-US" altLang="zh-CN" b="1" dirty="0">
                  <a:latin typeface="Times New Roman" panose="02020603050405020304" pitchFamily="18" charset="0"/>
                </a:rPr>
                <a:t>2000</a:t>
              </a:r>
              <a:endParaRPr lang="en-US" altLang="zh-CN" b="1" dirty="0">
                <a:latin typeface="Times New Roman" panose="02020603050405020304" pitchFamily="18" charset="0"/>
              </a:endParaRPr>
            </a:p>
          </p:txBody>
        </p:sp>
        <p:sp>
          <p:nvSpPr>
            <p:cNvPr id="37902" name="Rectangle 15"/>
            <p:cNvSpPr/>
            <p:nvPr/>
          </p:nvSpPr>
          <p:spPr>
            <a:xfrm>
              <a:off x="2976" y="2927"/>
              <a:ext cx="624" cy="287"/>
            </a:xfrm>
            <a:prstGeom prst="rect">
              <a:avLst/>
            </a:prstGeom>
            <a:solidFill>
              <a:schemeClr val="hlink"/>
            </a:solidFill>
            <a:ln w="9525">
              <a:noFill/>
            </a:ln>
          </p:spPr>
          <p:txBody>
            <a:bodyPr/>
            <a:p>
              <a:pPr algn="ctr">
                <a:spcBef>
                  <a:spcPct val="20000"/>
                </a:spcBef>
              </a:pPr>
              <a:r>
                <a:rPr lang="en-US" altLang="zh-CN" b="1" dirty="0">
                  <a:latin typeface="Times New Roman" panose="02020603050405020304" pitchFamily="18" charset="0"/>
                </a:rPr>
                <a:t>5</a:t>
              </a:r>
              <a:endParaRPr lang="en-US" altLang="zh-CN" b="1" dirty="0">
                <a:latin typeface="Times New Roman" panose="02020603050405020304" pitchFamily="18" charset="0"/>
              </a:endParaRPr>
            </a:p>
          </p:txBody>
        </p:sp>
        <p:sp>
          <p:nvSpPr>
            <p:cNvPr id="37903" name="Rectangle 14"/>
            <p:cNvSpPr/>
            <p:nvPr/>
          </p:nvSpPr>
          <p:spPr>
            <a:xfrm>
              <a:off x="2400" y="2927"/>
              <a:ext cx="576" cy="287"/>
            </a:xfrm>
            <a:prstGeom prst="rect">
              <a:avLst/>
            </a:prstGeom>
            <a:solidFill>
              <a:schemeClr val="hlink"/>
            </a:solidFill>
            <a:ln w="9525">
              <a:noFill/>
            </a:ln>
          </p:spPr>
          <p:txBody>
            <a:bodyPr/>
            <a:p>
              <a:pPr algn="ctr">
                <a:spcBef>
                  <a:spcPct val="20000"/>
                </a:spcBef>
              </a:pPr>
              <a:r>
                <a:rPr lang="en-US" altLang="zh-CN" b="1" dirty="0">
                  <a:latin typeface="Times New Roman" panose="02020603050405020304" pitchFamily="18" charset="0"/>
                </a:rPr>
                <a:t>4</a:t>
              </a:r>
              <a:endParaRPr lang="en-US" altLang="zh-CN" b="1" dirty="0">
                <a:latin typeface="Times New Roman" panose="02020603050405020304" pitchFamily="18" charset="0"/>
              </a:endParaRPr>
            </a:p>
          </p:txBody>
        </p:sp>
        <p:sp>
          <p:nvSpPr>
            <p:cNvPr id="37904" name="Rectangle 13"/>
            <p:cNvSpPr/>
            <p:nvPr/>
          </p:nvSpPr>
          <p:spPr>
            <a:xfrm>
              <a:off x="1440" y="2927"/>
              <a:ext cx="960" cy="287"/>
            </a:xfrm>
            <a:prstGeom prst="rect">
              <a:avLst/>
            </a:prstGeom>
            <a:solidFill>
              <a:schemeClr val="hlink"/>
            </a:solidFill>
            <a:ln w="9525">
              <a:noFill/>
            </a:ln>
          </p:spPr>
          <p:txBody>
            <a:bodyPr/>
            <a:p>
              <a:pPr algn="ctr">
                <a:spcBef>
                  <a:spcPct val="20000"/>
                </a:spcBef>
              </a:pPr>
              <a:r>
                <a:rPr lang="zh-CN" altLang="en-US" b="1" dirty="0">
                  <a:latin typeface="Times New Roman" panose="02020603050405020304" pitchFamily="18" charset="0"/>
                </a:rPr>
                <a:t>煤炭</a:t>
              </a:r>
              <a:endParaRPr lang="zh-CN" altLang="en-US" b="1" dirty="0">
                <a:latin typeface="Times New Roman" panose="02020603050405020304" pitchFamily="18" charset="0"/>
              </a:endParaRPr>
            </a:p>
          </p:txBody>
        </p:sp>
        <p:sp>
          <p:nvSpPr>
            <p:cNvPr id="37905" name="Rectangle 12"/>
            <p:cNvSpPr/>
            <p:nvPr/>
          </p:nvSpPr>
          <p:spPr>
            <a:xfrm>
              <a:off x="3600" y="2640"/>
              <a:ext cx="912" cy="287"/>
            </a:xfrm>
            <a:prstGeom prst="rect">
              <a:avLst/>
            </a:prstGeom>
            <a:solidFill>
              <a:srgbClr val="9999FF"/>
            </a:solidFill>
            <a:ln w="9525">
              <a:noFill/>
            </a:ln>
          </p:spPr>
          <p:txBody>
            <a:bodyPr/>
            <a:p>
              <a:pPr algn="ctr">
                <a:spcBef>
                  <a:spcPct val="20000"/>
                </a:spcBef>
              </a:pPr>
              <a:r>
                <a:rPr lang="en-US" altLang="zh-CN" b="1" dirty="0">
                  <a:latin typeface="Times New Roman" panose="02020603050405020304" pitchFamily="18" charset="0"/>
                </a:rPr>
                <a:t>3600</a:t>
              </a:r>
              <a:endParaRPr lang="en-US" altLang="zh-CN" b="1" dirty="0">
                <a:latin typeface="Times New Roman" panose="02020603050405020304" pitchFamily="18" charset="0"/>
              </a:endParaRPr>
            </a:p>
          </p:txBody>
        </p:sp>
        <p:sp>
          <p:nvSpPr>
            <p:cNvPr id="37906" name="Rectangle 11"/>
            <p:cNvSpPr/>
            <p:nvPr/>
          </p:nvSpPr>
          <p:spPr>
            <a:xfrm>
              <a:off x="2976" y="2640"/>
              <a:ext cx="624" cy="287"/>
            </a:xfrm>
            <a:prstGeom prst="rect">
              <a:avLst/>
            </a:prstGeom>
            <a:solidFill>
              <a:srgbClr val="9999FF"/>
            </a:solidFill>
            <a:ln w="9525">
              <a:noFill/>
            </a:ln>
          </p:spPr>
          <p:txBody>
            <a:bodyPr/>
            <a:p>
              <a:pPr algn="ctr">
                <a:spcBef>
                  <a:spcPct val="20000"/>
                </a:spcBef>
              </a:pPr>
              <a:r>
                <a:rPr lang="en-US" altLang="zh-CN" b="1" dirty="0">
                  <a:latin typeface="Times New Roman" panose="02020603050405020304" pitchFamily="18" charset="0"/>
                </a:rPr>
                <a:t>4</a:t>
              </a:r>
              <a:endParaRPr lang="en-US" altLang="zh-CN" b="1" dirty="0">
                <a:latin typeface="Times New Roman" panose="02020603050405020304" pitchFamily="18" charset="0"/>
              </a:endParaRPr>
            </a:p>
          </p:txBody>
        </p:sp>
        <p:sp>
          <p:nvSpPr>
            <p:cNvPr id="37907" name="Rectangle 10"/>
            <p:cNvSpPr/>
            <p:nvPr/>
          </p:nvSpPr>
          <p:spPr>
            <a:xfrm>
              <a:off x="2400" y="2640"/>
              <a:ext cx="576" cy="287"/>
            </a:xfrm>
            <a:prstGeom prst="rect">
              <a:avLst/>
            </a:prstGeom>
            <a:solidFill>
              <a:srgbClr val="9999FF"/>
            </a:solidFill>
            <a:ln w="9525">
              <a:noFill/>
            </a:ln>
          </p:spPr>
          <p:txBody>
            <a:bodyPr/>
            <a:p>
              <a:pPr algn="ctr">
                <a:spcBef>
                  <a:spcPct val="20000"/>
                </a:spcBef>
              </a:pPr>
              <a:r>
                <a:rPr lang="en-US" altLang="zh-CN" b="1" dirty="0">
                  <a:latin typeface="Times New Roman" panose="02020603050405020304" pitchFamily="18" charset="0"/>
                </a:rPr>
                <a:t>9</a:t>
              </a:r>
              <a:endParaRPr lang="en-US" altLang="zh-CN" b="1" dirty="0">
                <a:latin typeface="Times New Roman" panose="02020603050405020304" pitchFamily="18" charset="0"/>
              </a:endParaRPr>
            </a:p>
          </p:txBody>
        </p:sp>
        <p:sp>
          <p:nvSpPr>
            <p:cNvPr id="37908" name="Rectangle 9"/>
            <p:cNvSpPr/>
            <p:nvPr/>
          </p:nvSpPr>
          <p:spPr>
            <a:xfrm>
              <a:off x="1440" y="2640"/>
              <a:ext cx="960" cy="287"/>
            </a:xfrm>
            <a:prstGeom prst="rect">
              <a:avLst/>
            </a:prstGeom>
            <a:solidFill>
              <a:srgbClr val="9999FF"/>
            </a:solidFill>
            <a:ln w="9525">
              <a:noFill/>
            </a:ln>
          </p:spPr>
          <p:txBody>
            <a:bodyPr/>
            <a:p>
              <a:pPr algn="ctr">
                <a:spcBef>
                  <a:spcPct val="20000"/>
                </a:spcBef>
              </a:pPr>
              <a:r>
                <a:rPr lang="zh-CN" altLang="en-US" b="1" dirty="0">
                  <a:latin typeface="Times New Roman" panose="02020603050405020304" pitchFamily="18" charset="0"/>
                </a:rPr>
                <a:t>钢材</a:t>
              </a:r>
              <a:endParaRPr lang="zh-CN" altLang="en-US" b="1" dirty="0">
                <a:latin typeface="Times New Roman" panose="02020603050405020304" pitchFamily="18" charset="0"/>
              </a:endParaRPr>
            </a:p>
          </p:txBody>
        </p:sp>
        <p:sp>
          <p:nvSpPr>
            <p:cNvPr id="37909" name="Rectangle 8"/>
            <p:cNvSpPr/>
            <p:nvPr/>
          </p:nvSpPr>
          <p:spPr>
            <a:xfrm>
              <a:off x="3600" y="2208"/>
              <a:ext cx="912" cy="432"/>
            </a:xfrm>
            <a:prstGeom prst="rect">
              <a:avLst/>
            </a:prstGeom>
            <a:solidFill>
              <a:schemeClr val="hlink"/>
            </a:solidFill>
            <a:ln w="9525">
              <a:noFill/>
            </a:ln>
          </p:spPr>
          <p:txBody>
            <a:bodyPr/>
            <a:p>
              <a:pPr algn="ctr">
                <a:spcBef>
                  <a:spcPct val="20000"/>
                </a:spcBef>
              </a:pPr>
              <a:r>
                <a:rPr lang="zh-CN" altLang="en-US" b="1" dirty="0">
                  <a:latin typeface="Times New Roman" panose="02020603050405020304" pitchFamily="18" charset="0"/>
                </a:rPr>
                <a:t>资源限制</a:t>
              </a:r>
              <a:endParaRPr lang="zh-CN" altLang="en-US" b="1" dirty="0">
                <a:latin typeface="Times New Roman" panose="02020603050405020304" pitchFamily="18" charset="0"/>
              </a:endParaRPr>
            </a:p>
          </p:txBody>
        </p:sp>
        <p:sp>
          <p:nvSpPr>
            <p:cNvPr id="37910" name="Rectangle 7"/>
            <p:cNvSpPr/>
            <p:nvPr/>
          </p:nvSpPr>
          <p:spPr>
            <a:xfrm>
              <a:off x="2976" y="2208"/>
              <a:ext cx="624" cy="432"/>
            </a:xfrm>
            <a:prstGeom prst="rect">
              <a:avLst/>
            </a:prstGeom>
            <a:solidFill>
              <a:schemeClr val="hlink"/>
            </a:solidFill>
            <a:ln w="9525">
              <a:noFill/>
            </a:ln>
          </p:spPr>
          <p:txBody>
            <a:bodyPr/>
            <a:p>
              <a:pPr algn="ctr">
                <a:spcBef>
                  <a:spcPct val="20000"/>
                </a:spcBef>
              </a:pPr>
              <a:r>
                <a:rPr lang="zh-CN" altLang="en-US" b="1" dirty="0">
                  <a:latin typeface="Times New Roman" panose="02020603050405020304" pitchFamily="18" charset="0"/>
                </a:rPr>
                <a:t>乙</a:t>
              </a:r>
              <a:endParaRPr lang="zh-CN" altLang="en-US" b="1" dirty="0">
                <a:latin typeface="Times New Roman" panose="02020603050405020304" pitchFamily="18" charset="0"/>
              </a:endParaRPr>
            </a:p>
          </p:txBody>
        </p:sp>
        <p:sp>
          <p:nvSpPr>
            <p:cNvPr id="37911" name="Rectangle 6"/>
            <p:cNvSpPr/>
            <p:nvPr/>
          </p:nvSpPr>
          <p:spPr>
            <a:xfrm>
              <a:off x="2400" y="2208"/>
              <a:ext cx="576" cy="432"/>
            </a:xfrm>
            <a:prstGeom prst="rect">
              <a:avLst/>
            </a:prstGeom>
            <a:solidFill>
              <a:schemeClr val="hlink"/>
            </a:solidFill>
            <a:ln w="9525">
              <a:noFill/>
            </a:ln>
          </p:spPr>
          <p:txBody>
            <a:bodyPr/>
            <a:p>
              <a:pPr algn="ctr">
                <a:spcBef>
                  <a:spcPct val="20000"/>
                </a:spcBef>
              </a:pPr>
              <a:r>
                <a:rPr lang="zh-CN" altLang="en-US" b="1" dirty="0">
                  <a:latin typeface="Times New Roman" panose="02020603050405020304" pitchFamily="18" charset="0"/>
                </a:rPr>
                <a:t>甲</a:t>
              </a:r>
              <a:endParaRPr lang="zh-CN" altLang="en-US" b="1" dirty="0">
                <a:latin typeface="Times New Roman" panose="02020603050405020304" pitchFamily="18" charset="0"/>
              </a:endParaRPr>
            </a:p>
          </p:txBody>
        </p:sp>
        <p:sp>
          <p:nvSpPr>
            <p:cNvPr id="37912" name="Rectangle 5"/>
            <p:cNvSpPr/>
            <p:nvPr/>
          </p:nvSpPr>
          <p:spPr>
            <a:xfrm>
              <a:off x="1440" y="2208"/>
              <a:ext cx="960" cy="432"/>
            </a:xfrm>
            <a:prstGeom prst="rect">
              <a:avLst/>
            </a:prstGeom>
            <a:solidFill>
              <a:schemeClr val="hlink"/>
            </a:solidFill>
            <a:ln w="9525">
              <a:noFill/>
            </a:ln>
          </p:spPr>
          <p:txBody>
            <a:bodyPr/>
            <a:p>
              <a:pPr>
                <a:spcBef>
                  <a:spcPct val="20000"/>
                </a:spcBef>
              </a:pPr>
              <a:r>
                <a:rPr lang="en-US" altLang="zh-CN" sz="1600" b="1" dirty="0">
                  <a:latin typeface="Times New Roman" panose="02020603050405020304" pitchFamily="18" charset="0"/>
                </a:rPr>
                <a:t>   </a:t>
              </a:r>
              <a:r>
                <a:rPr lang="zh-CN" altLang="en-US" sz="1600" b="1" dirty="0">
                  <a:latin typeface="Times New Roman" panose="02020603050405020304" pitchFamily="18" charset="0"/>
                </a:rPr>
                <a:t>单位       产品</a:t>
              </a:r>
              <a:endParaRPr lang="zh-CN" altLang="en-US" sz="1600" b="1" dirty="0">
                <a:latin typeface="Times New Roman" panose="02020603050405020304" pitchFamily="18" charset="0"/>
              </a:endParaRPr>
            </a:p>
            <a:p>
              <a:pPr>
                <a:spcBef>
                  <a:spcPct val="20000"/>
                </a:spcBef>
              </a:pPr>
              <a:r>
                <a:rPr lang="zh-CN" altLang="en-US" sz="1600" b="1" dirty="0">
                  <a:latin typeface="Times New Roman" panose="02020603050405020304" pitchFamily="18" charset="0"/>
                </a:rPr>
                <a:t>资源      消耗</a:t>
              </a:r>
              <a:endParaRPr lang="zh-CN" altLang="en-US" sz="1600" b="1" dirty="0">
                <a:latin typeface="Times New Roman" panose="02020603050405020304" pitchFamily="18" charset="0"/>
              </a:endParaRPr>
            </a:p>
          </p:txBody>
        </p:sp>
        <p:sp>
          <p:nvSpPr>
            <p:cNvPr id="37913" name="Line 25"/>
            <p:cNvSpPr/>
            <p:nvPr/>
          </p:nvSpPr>
          <p:spPr>
            <a:xfrm>
              <a:off x="1440" y="2208"/>
              <a:ext cx="3072" cy="0"/>
            </a:xfrm>
            <a:prstGeom prst="line">
              <a:avLst/>
            </a:prstGeom>
            <a:ln w="28575" cap="sq" cmpd="sng">
              <a:solidFill>
                <a:schemeClr val="tx1"/>
              </a:solidFill>
              <a:prstDash val="solid"/>
              <a:headEnd type="none" w="med" len="med"/>
              <a:tailEnd type="none" w="med" len="med"/>
            </a:ln>
          </p:spPr>
        </p:sp>
        <p:sp>
          <p:nvSpPr>
            <p:cNvPr id="37914" name="Line 26"/>
            <p:cNvSpPr/>
            <p:nvPr/>
          </p:nvSpPr>
          <p:spPr>
            <a:xfrm>
              <a:off x="1440" y="2640"/>
              <a:ext cx="3072" cy="0"/>
            </a:xfrm>
            <a:prstGeom prst="line">
              <a:avLst/>
            </a:prstGeom>
            <a:ln w="12700" cap="flat" cmpd="sng">
              <a:solidFill>
                <a:schemeClr val="tx1"/>
              </a:solidFill>
              <a:prstDash val="solid"/>
              <a:headEnd type="none" w="med" len="med"/>
              <a:tailEnd type="none" w="med" len="med"/>
            </a:ln>
          </p:spPr>
        </p:sp>
        <p:sp>
          <p:nvSpPr>
            <p:cNvPr id="37915" name="Line 27"/>
            <p:cNvSpPr/>
            <p:nvPr/>
          </p:nvSpPr>
          <p:spPr>
            <a:xfrm>
              <a:off x="1440" y="2927"/>
              <a:ext cx="3072" cy="0"/>
            </a:xfrm>
            <a:prstGeom prst="line">
              <a:avLst/>
            </a:prstGeom>
            <a:ln w="12700" cap="flat" cmpd="sng">
              <a:solidFill>
                <a:schemeClr val="tx1"/>
              </a:solidFill>
              <a:prstDash val="solid"/>
              <a:headEnd type="none" w="med" len="med"/>
              <a:tailEnd type="none" w="med" len="med"/>
            </a:ln>
          </p:spPr>
        </p:sp>
        <p:sp>
          <p:nvSpPr>
            <p:cNvPr id="37916" name="Line 28"/>
            <p:cNvSpPr/>
            <p:nvPr/>
          </p:nvSpPr>
          <p:spPr>
            <a:xfrm>
              <a:off x="1440" y="3214"/>
              <a:ext cx="3072" cy="0"/>
            </a:xfrm>
            <a:prstGeom prst="line">
              <a:avLst/>
            </a:prstGeom>
            <a:ln w="12700" cap="flat" cmpd="sng">
              <a:solidFill>
                <a:schemeClr val="tx1"/>
              </a:solidFill>
              <a:prstDash val="solid"/>
              <a:headEnd type="none" w="med" len="med"/>
              <a:tailEnd type="none" w="med" len="med"/>
            </a:ln>
          </p:spPr>
        </p:sp>
        <p:sp>
          <p:nvSpPr>
            <p:cNvPr id="37917" name="Line 29"/>
            <p:cNvSpPr/>
            <p:nvPr/>
          </p:nvSpPr>
          <p:spPr>
            <a:xfrm>
              <a:off x="1440" y="3501"/>
              <a:ext cx="3072" cy="0"/>
            </a:xfrm>
            <a:prstGeom prst="line">
              <a:avLst/>
            </a:prstGeom>
            <a:ln w="12700" cap="flat" cmpd="sng">
              <a:solidFill>
                <a:schemeClr val="tx1"/>
              </a:solidFill>
              <a:prstDash val="solid"/>
              <a:headEnd type="none" w="med" len="med"/>
              <a:tailEnd type="none" w="med" len="med"/>
            </a:ln>
          </p:spPr>
        </p:sp>
        <p:sp>
          <p:nvSpPr>
            <p:cNvPr id="37918" name="Line 30"/>
            <p:cNvSpPr/>
            <p:nvPr/>
          </p:nvSpPr>
          <p:spPr>
            <a:xfrm>
              <a:off x="1440" y="3788"/>
              <a:ext cx="3072" cy="0"/>
            </a:xfrm>
            <a:prstGeom prst="line">
              <a:avLst/>
            </a:prstGeom>
            <a:ln w="28575" cap="sq" cmpd="sng">
              <a:solidFill>
                <a:schemeClr val="tx1"/>
              </a:solidFill>
              <a:prstDash val="solid"/>
              <a:headEnd type="none" w="med" len="med"/>
              <a:tailEnd type="none" w="med" len="med"/>
            </a:ln>
          </p:spPr>
        </p:sp>
        <p:sp>
          <p:nvSpPr>
            <p:cNvPr id="37919" name="Line 31"/>
            <p:cNvSpPr/>
            <p:nvPr/>
          </p:nvSpPr>
          <p:spPr>
            <a:xfrm>
              <a:off x="1440" y="2208"/>
              <a:ext cx="0" cy="1580"/>
            </a:xfrm>
            <a:prstGeom prst="line">
              <a:avLst/>
            </a:prstGeom>
            <a:ln w="28575" cap="sq" cmpd="sng">
              <a:solidFill>
                <a:schemeClr val="tx1"/>
              </a:solidFill>
              <a:prstDash val="solid"/>
              <a:headEnd type="none" w="med" len="med"/>
              <a:tailEnd type="none" w="med" len="med"/>
            </a:ln>
          </p:spPr>
        </p:sp>
        <p:sp>
          <p:nvSpPr>
            <p:cNvPr id="37920" name="Line 32"/>
            <p:cNvSpPr/>
            <p:nvPr/>
          </p:nvSpPr>
          <p:spPr>
            <a:xfrm>
              <a:off x="2400" y="2208"/>
              <a:ext cx="0" cy="1580"/>
            </a:xfrm>
            <a:prstGeom prst="line">
              <a:avLst/>
            </a:prstGeom>
            <a:ln w="12700" cap="flat" cmpd="sng">
              <a:solidFill>
                <a:schemeClr val="tx1"/>
              </a:solidFill>
              <a:prstDash val="solid"/>
              <a:headEnd type="none" w="med" len="med"/>
              <a:tailEnd type="none" w="med" len="med"/>
            </a:ln>
          </p:spPr>
        </p:sp>
        <p:sp>
          <p:nvSpPr>
            <p:cNvPr id="37921" name="Line 33"/>
            <p:cNvSpPr/>
            <p:nvPr/>
          </p:nvSpPr>
          <p:spPr>
            <a:xfrm>
              <a:off x="2976" y="2208"/>
              <a:ext cx="0" cy="1580"/>
            </a:xfrm>
            <a:prstGeom prst="line">
              <a:avLst/>
            </a:prstGeom>
            <a:ln w="12700" cap="flat" cmpd="sng">
              <a:solidFill>
                <a:schemeClr val="tx1"/>
              </a:solidFill>
              <a:prstDash val="solid"/>
              <a:headEnd type="none" w="med" len="med"/>
              <a:tailEnd type="none" w="med" len="med"/>
            </a:ln>
          </p:spPr>
        </p:sp>
        <p:sp>
          <p:nvSpPr>
            <p:cNvPr id="37922" name="Line 34"/>
            <p:cNvSpPr/>
            <p:nvPr/>
          </p:nvSpPr>
          <p:spPr>
            <a:xfrm>
              <a:off x="3600" y="2208"/>
              <a:ext cx="0" cy="1580"/>
            </a:xfrm>
            <a:prstGeom prst="line">
              <a:avLst/>
            </a:prstGeom>
            <a:ln w="12700" cap="flat" cmpd="sng">
              <a:solidFill>
                <a:schemeClr val="tx1"/>
              </a:solidFill>
              <a:prstDash val="solid"/>
              <a:headEnd type="none" w="med" len="med"/>
              <a:tailEnd type="none" w="med" len="med"/>
            </a:ln>
          </p:spPr>
        </p:sp>
        <p:sp>
          <p:nvSpPr>
            <p:cNvPr id="37923" name="Line 35"/>
            <p:cNvSpPr/>
            <p:nvPr/>
          </p:nvSpPr>
          <p:spPr>
            <a:xfrm>
              <a:off x="4512" y="2208"/>
              <a:ext cx="0" cy="1580"/>
            </a:xfrm>
            <a:prstGeom prst="line">
              <a:avLst/>
            </a:prstGeom>
            <a:ln w="28575" cap="sq" cmpd="sng">
              <a:solidFill>
                <a:schemeClr val="tx1"/>
              </a:solidFill>
              <a:prstDash val="solid"/>
              <a:headEnd type="none" w="med" len="med"/>
              <a:tailEnd type="none" w="med" len="med"/>
            </a:ln>
          </p:spPr>
        </p:sp>
        <p:sp>
          <p:nvSpPr>
            <p:cNvPr id="37924" name="Line 45"/>
            <p:cNvSpPr/>
            <p:nvPr/>
          </p:nvSpPr>
          <p:spPr>
            <a:xfrm flipH="1" flipV="1">
              <a:off x="1920" y="2208"/>
              <a:ext cx="480" cy="432"/>
            </a:xfrm>
            <a:prstGeom prst="line">
              <a:avLst/>
            </a:prstGeom>
            <a:ln w="9525" cap="flat" cmpd="sng">
              <a:solidFill>
                <a:schemeClr val="tx1"/>
              </a:solidFill>
              <a:prstDash val="solid"/>
              <a:headEnd type="none" w="med" len="med"/>
              <a:tailEnd type="none" w="med" len="med"/>
            </a:ln>
          </p:spPr>
        </p:sp>
        <p:sp>
          <p:nvSpPr>
            <p:cNvPr id="37925" name="Line 46"/>
            <p:cNvSpPr/>
            <p:nvPr/>
          </p:nvSpPr>
          <p:spPr>
            <a:xfrm flipH="1" flipV="1">
              <a:off x="1440" y="2400"/>
              <a:ext cx="960" cy="240"/>
            </a:xfrm>
            <a:prstGeom prst="line">
              <a:avLst/>
            </a:prstGeom>
            <a:ln w="9525" cap="flat" cmpd="sng">
              <a:solidFill>
                <a:schemeClr val="tx1"/>
              </a:solidFill>
              <a:prstDash val="solid"/>
              <a:headEnd type="none" w="med" len="med"/>
              <a:tailEnd type="none" w="med" len="med"/>
            </a:ln>
          </p:spPr>
        </p:sp>
      </p:grpSp>
      <p:sp>
        <p:nvSpPr>
          <p:cNvPr id="37892" name="Rectangle 227"/>
          <p:cNvSpPr>
            <a:spLocks noGrp="1"/>
          </p:cNvSpPr>
          <p:nvPr>
            <p:ph type="ctrTitle"/>
          </p:nvPr>
        </p:nvSpPr>
        <p:spPr>
          <a:xfrm>
            <a:off x="685800" y="304800"/>
            <a:ext cx="7772400" cy="1143000"/>
          </a:xfrm>
          <a:noFill/>
          <a:ln>
            <a:noFill/>
          </a:ln>
        </p:spPr>
        <p:txBody>
          <a:bodyPr/>
          <a:p>
            <a:pPr algn="l" eaLnBrk="1" hangingPunct="1">
              <a:buClrTx/>
              <a:buSzTx/>
              <a:buFontTx/>
            </a:pPr>
            <a:r>
              <a:rPr lang="zh-CN" altLang="en-US" sz="3200" b="1" dirty="0">
                <a:solidFill>
                  <a:srgbClr val="800080"/>
                </a:solidFill>
                <a:ea typeface="楷体_GB2312" pitchFamily="49" charset="-122"/>
              </a:rPr>
              <a:t>（二）、目标规划的基本概念</a:t>
            </a:r>
            <a:endParaRPr lang="zh-CN" altLang="en-US" sz="3200" b="1" dirty="0">
              <a:solidFill>
                <a:srgbClr val="800080"/>
              </a:solidFill>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0"/>
                                  </p:iterate>
                                  <p:childTnLst>
                                    <p:set>
                                      <p:cBhvr>
                                        <p:cTn id="6" dur="1" fill="hold">
                                          <p:stCondLst>
                                            <p:cond delay="0"/>
                                          </p:stCondLst>
                                        </p:cTn>
                                        <p:tgtEl>
                                          <p:spTgt spid="4099"/>
                                        </p:tgtEl>
                                        <p:attrNameLst>
                                          <p:attrName>style.visibility</p:attrName>
                                        </p:attrNameLst>
                                      </p:cBhvr>
                                      <p:to>
                                        <p:strVal val="visible"/>
                                      </p:to>
                                    </p:set>
                                    <p:animEffect transition="in" filter="dissolve">
                                      <p:cBhvr>
                                        <p:cTn id="7" dur="300"/>
                                        <p:tgtEl>
                                          <p:spTgt spid="4099"/>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499"/>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rev="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34" name="Rectangle 14"/>
          <p:cNvSpPr/>
          <p:nvPr/>
        </p:nvSpPr>
        <p:spPr>
          <a:xfrm>
            <a:off x="4876800" y="2667000"/>
            <a:ext cx="3505200" cy="457200"/>
          </a:xfrm>
          <a:prstGeom prst="rect">
            <a:avLst/>
          </a:prstGeom>
          <a:solidFill>
            <a:schemeClr val="folHlink"/>
          </a:solidFill>
          <a:ln w="9525">
            <a:noFill/>
          </a:ln>
        </p:spPr>
        <p:txBody>
          <a:bodyPr wrap="none" anchor="ctr" anchorCtr="0"/>
          <a:p>
            <a:endParaRPr lang="zh-CN" altLang="en-US" dirty="0">
              <a:latin typeface="Times New Roman" panose="02020603050405020304" pitchFamily="18" charset="0"/>
            </a:endParaRPr>
          </a:p>
        </p:txBody>
      </p:sp>
      <p:sp>
        <p:nvSpPr>
          <p:cNvPr id="5133" name="Rectangle 13"/>
          <p:cNvSpPr/>
          <p:nvPr/>
        </p:nvSpPr>
        <p:spPr>
          <a:xfrm>
            <a:off x="4876800" y="2209800"/>
            <a:ext cx="3505200" cy="457200"/>
          </a:xfrm>
          <a:prstGeom prst="rect">
            <a:avLst/>
          </a:prstGeom>
          <a:solidFill>
            <a:srgbClr val="FF99FF"/>
          </a:solidFill>
          <a:ln w="9525">
            <a:noFill/>
          </a:ln>
        </p:spPr>
        <p:txBody>
          <a:bodyPr wrap="none" anchor="ctr" anchorCtr="0"/>
          <a:p>
            <a:endParaRPr lang="zh-CN" altLang="en-US" dirty="0">
              <a:latin typeface="Times New Roman" panose="02020603050405020304" pitchFamily="18" charset="0"/>
            </a:endParaRPr>
          </a:p>
        </p:txBody>
      </p:sp>
      <p:sp>
        <p:nvSpPr>
          <p:cNvPr id="5132" name="Rectangle 12"/>
          <p:cNvSpPr/>
          <p:nvPr/>
        </p:nvSpPr>
        <p:spPr>
          <a:xfrm>
            <a:off x="4876800" y="1752600"/>
            <a:ext cx="3505200" cy="457200"/>
          </a:xfrm>
          <a:prstGeom prst="rect">
            <a:avLst/>
          </a:prstGeom>
          <a:solidFill>
            <a:schemeClr val="hlink"/>
          </a:solidFill>
          <a:ln w="9525">
            <a:noFill/>
          </a:ln>
        </p:spPr>
        <p:txBody>
          <a:bodyPr wrap="none" anchor="ctr" anchorCtr="0"/>
          <a:p>
            <a:endParaRPr lang="zh-CN" altLang="en-US" dirty="0">
              <a:latin typeface="Times New Roman" panose="02020603050405020304" pitchFamily="18" charset="0"/>
            </a:endParaRPr>
          </a:p>
        </p:txBody>
      </p:sp>
      <p:sp>
        <p:nvSpPr>
          <p:cNvPr id="38917" name="Text Box 2"/>
          <p:cNvSpPr txBox="1"/>
          <p:nvPr/>
        </p:nvSpPr>
        <p:spPr>
          <a:xfrm>
            <a:off x="228600" y="479425"/>
            <a:ext cx="5029200" cy="519113"/>
          </a:xfrm>
          <a:prstGeom prst="rect">
            <a:avLst/>
          </a:prstGeom>
          <a:noFill/>
          <a:ln w="9525">
            <a:noFill/>
          </a:ln>
        </p:spPr>
        <p:txBody>
          <a:bodyPr>
            <a:spAutoFit/>
          </a:bodyPr>
          <a:p>
            <a:r>
              <a:rPr lang="zh-CN" altLang="en-US" sz="2800" b="1" dirty="0">
                <a:latin typeface="Times New Roman" panose="02020603050405020304" pitchFamily="18" charset="0"/>
              </a:rPr>
              <a:t>设：甲产品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r>
              <a:rPr lang="en-US" altLang="zh-CN" sz="2800" b="1" i="1" dirty="0">
                <a:latin typeface="Times New Roman" panose="02020603050405020304" pitchFamily="18" charset="0"/>
              </a:rPr>
              <a:t> </a:t>
            </a:r>
            <a:r>
              <a:rPr lang="zh-CN" altLang="en-US" sz="2800" b="1" dirty="0">
                <a:latin typeface="Times New Roman" panose="02020603050405020304" pitchFamily="18" charset="0"/>
              </a:rPr>
              <a:t>，乙产品    </a:t>
            </a:r>
            <a:r>
              <a:rPr lang="zh-CN" altLang="en-US" sz="2800" b="1" i="1" dirty="0">
                <a:latin typeface="Times New Roman" panose="02020603050405020304" pitchFamily="18" charset="0"/>
              </a:rPr>
              <a:t>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r>
              <a:rPr lang="en-US" altLang="zh-CN" sz="2800" b="1" i="1" dirty="0">
                <a:latin typeface="Times New Roman" panose="02020603050405020304" pitchFamily="18" charset="0"/>
              </a:rPr>
              <a:t> </a:t>
            </a:r>
            <a:endParaRPr lang="en-US" altLang="zh-CN" sz="2800" b="1" i="1" dirty="0">
              <a:latin typeface="Times New Roman" panose="02020603050405020304" pitchFamily="18" charset="0"/>
            </a:endParaRPr>
          </a:p>
        </p:txBody>
      </p:sp>
      <p:sp>
        <p:nvSpPr>
          <p:cNvPr id="38918" name="Line 3"/>
          <p:cNvSpPr/>
          <p:nvPr/>
        </p:nvSpPr>
        <p:spPr>
          <a:xfrm>
            <a:off x="2133600" y="762000"/>
            <a:ext cx="304800" cy="0"/>
          </a:xfrm>
          <a:prstGeom prst="line">
            <a:avLst/>
          </a:prstGeom>
          <a:ln w="9525" cap="flat" cmpd="sng">
            <a:solidFill>
              <a:schemeClr val="tx1"/>
            </a:solidFill>
            <a:prstDash val="solid"/>
            <a:headEnd type="none" w="med" len="med"/>
            <a:tailEnd type="triangle" w="med" len="med"/>
          </a:ln>
        </p:spPr>
      </p:sp>
      <p:sp>
        <p:nvSpPr>
          <p:cNvPr id="38919" name="Line 4"/>
          <p:cNvSpPr/>
          <p:nvPr/>
        </p:nvSpPr>
        <p:spPr>
          <a:xfrm>
            <a:off x="4419600" y="762000"/>
            <a:ext cx="304800" cy="0"/>
          </a:xfrm>
          <a:prstGeom prst="line">
            <a:avLst/>
          </a:prstGeom>
          <a:ln w="9525" cap="flat" cmpd="sng">
            <a:solidFill>
              <a:schemeClr val="tx1"/>
            </a:solidFill>
            <a:prstDash val="solid"/>
            <a:headEnd type="none" w="med" len="med"/>
            <a:tailEnd type="triangle" w="med" len="med"/>
          </a:ln>
        </p:spPr>
      </p:sp>
      <p:sp>
        <p:nvSpPr>
          <p:cNvPr id="5125" name="Text Box 5"/>
          <p:cNvSpPr txBox="1"/>
          <p:nvPr/>
        </p:nvSpPr>
        <p:spPr>
          <a:xfrm>
            <a:off x="381000" y="1143000"/>
            <a:ext cx="1619250" cy="519113"/>
          </a:xfrm>
          <a:prstGeom prst="rect">
            <a:avLst/>
          </a:prstGeom>
          <a:noFill/>
          <a:ln w="9525">
            <a:noFill/>
          </a:ln>
        </p:spPr>
        <p:txBody>
          <a:bodyPr wrap="none">
            <a:spAutoFit/>
          </a:bodyPr>
          <a:p>
            <a:r>
              <a:rPr lang="zh-CN" altLang="en-US" sz="2800" b="1" dirty="0">
                <a:latin typeface="Times New Roman" panose="02020603050405020304" pitchFamily="18" charset="0"/>
              </a:rPr>
              <a:t>一般有：</a:t>
            </a:r>
            <a:endParaRPr lang="zh-CN" altLang="en-US" sz="2800" b="1" dirty="0">
              <a:latin typeface="Times New Roman" panose="02020603050405020304" pitchFamily="18" charset="0"/>
            </a:endParaRPr>
          </a:p>
        </p:txBody>
      </p:sp>
      <p:sp>
        <p:nvSpPr>
          <p:cNvPr id="5126" name="Text Box 6"/>
          <p:cNvSpPr txBox="1"/>
          <p:nvPr/>
        </p:nvSpPr>
        <p:spPr>
          <a:xfrm>
            <a:off x="762000" y="1752600"/>
            <a:ext cx="3387725" cy="2227263"/>
          </a:xfrm>
          <a:prstGeom prst="rect">
            <a:avLst/>
          </a:prstGeom>
          <a:noFill/>
          <a:ln w="9525">
            <a:noFill/>
          </a:ln>
        </p:spPr>
        <p:txBody>
          <a:bodyPr wrap="none">
            <a:spAutoFit/>
          </a:bodyPr>
          <a:p>
            <a:r>
              <a:rPr lang="en-US" altLang="zh-CN" sz="2800" b="1" dirty="0">
                <a:latin typeface="Times New Roman" panose="02020603050405020304" pitchFamily="18" charset="0"/>
                <a:ea typeface="宋体" panose="02010600030101010101" pitchFamily="2" charset="-122"/>
              </a:rPr>
              <a:t>maxZ=70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r>
              <a:rPr lang="en-US" altLang="zh-CN" sz="2800" b="1" i="1" dirty="0">
                <a:latin typeface="Times New Roman" panose="02020603050405020304" pitchFamily="18" charset="0"/>
              </a:rPr>
              <a:t> </a:t>
            </a:r>
            <a:r>
              <a:rPr lang="en-US" altLang="zh-CN" sz="2800" b="1" dirty="0">
                <a:latin typeface="Times New Roman" panose="02020603050405020304" pitchFamily="18" charset="0"/>
                <a:ea typeface="宋体" panose="02010600030101010101" pitchFamily="2" charset="-122"/>
              </a:rPr>
              <a:t>+ 120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endParaRPr lang="en-US" altLang="zh-CN" sz="2800" b="1" baseline="-30000" dirty="0">
              <a:latin typeface="Times New Roman" panose="02020603050405020304" pitchFamily="18" charset="0"/>
            </a:endParaRPr>
          </a:p>
          <a:p>
            <a:r>
              <a:rPr lang="en-US" altLang="zh-CN" sz="2800" b="1" dirty="0">
                <a:latin typeface="Times New Roman" panose="02020603050405020304" pitchFamily="18" charset="0"/>
                <a:ea typeface="宋体" panose="02010600030101010101" pitchFamily="2" charset="-122"/>
              </a:rPr>
              <a:t>     9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r>
              <a:rPr lang="en-US" altLang="zh-CN" sz="2800" b="1" dirty="0">
                <a:latin typeface="Times New Roman" panose="02020603050405020304" pitchFamily="18" charset="0"/>
                <a:ea typeface="宋体" panose="02010600030101010101" pitchFamily="2" charset="-122"/>
              </a:rPr>
              <a:t> +4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r>
              <a:rPr lang="en-US" altLang="zh-CN" sz="2800" b="1" dirty="0">
                <a:latin typeface="Times New Roman" panose="02020603050405020304" pitchFamily="18" charset="0"/>
                <a:ea typeface="宋体" panose="02010600030101010101" pitchFamily="2" charset="-122"/>
              </a:rPr>
              <a:t> ≤3600</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     4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r>
              <a:rPr lang="en-US" altLang="zh-CN" sz="2800" b="1" dirty="0">
                <a:latin typeface="Times New Roman" panose="02020603050405020304" pitchFamily="18" charset="0"/>
                <a:ea typeface="宋体" panose="02010600030101010101" pitchFamily="2" charset="-122"/>
              </a:rPr>
              <a:t> +5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r>
              <a:rPr lang="en-US" altLang="zh-CN" sz="2800" b="1" dirty="0">
                <a:latin typeface="Times New Roman" panose="02020603050405020304" pitchFamily="18" charset="0"/>
                <a:ea typeface="宋体" panose="02010600030101010101" pitchFamily="2" charset="-122"/>
              </a:rPr>
              <a:t> ≤ 2000</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     3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r>
              <a:rPr lang="en-US" altLang="zh-CN" sz="2800" b="1" dirty="0">
                <a:latin typeface="Times New Roman" panose="02020603050405020304" pitchFamily="18" charset="0"/>
                <a:ea typeface="宋体" panose="02010600030101010101" pitchFamily="2" charset="-122"/>
              </a:rPr>
              <a:t> +10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r>
              <a:rPr lang="en-US" altLang="zh-CN" sz="2800" b="1" dirty="0">
                <a:latin typeface="Times New Roman" panose="02020603050405020304" pitchFamily="18" charset="0"/>
                <a:ea typeface="宋体" panose="02010600030101010101" pitchFamily="2" charset="-122"/>
              </a:rPr>
              <a:t> ≤3000</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 </a:t>
            </a:r>
            <a:r>
              <a:rPr lang="zh-CN" altLang="en-US" sz="2800" b="1" dirty="0">
                <a:latin typeface="Times New Roman" panose="02020603050405020304" pitchFamily="18" charset="0"/>
              </a:rPr>
              <a:t>，</a:t>
            </a:r>
            <a:r>
              <a:rPr lang="zh-CN" altLang="en-US" sz="2800" b="1" i="1" baseline="-30000" dirty="0">
                <a:latin typeface="Times New Roman" panose="02020603050405020304" pitchFamily="18" charset="0"/>
              </a:rPr>
              <a:t>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 </a:t>
            </a:r>
            <a:r>
              <a:rPr lang="en-US" altLang="zh-CN" sz="2800" b="1" dirty="0">
                <a:latin typeface="Times New Roman" panose="02020603050405020304" pitchFamily="18" charset="0"/>
              </a:rPr>
              <a:t>≥0</a:t>
            </a:r>
            <a:endParaRPr lang="en-US" altLang="zh-CN" sz="2800" b="1" dirty="0">
              <a:latin typeface="Times New Roman" panose="02020603050405020304" pitchFamily="18" charset="0"/>
            </a:endParaRPr>
          </a:p>
        </p:txBody>
      </p:sp>
      <p:sp>
        <p:nvSpPr>
          <p:cNvPr id="5127" name="AutoShape 7"/>
          <p:cNvSpPr/>
          <p:nvPr/>
        </p:nvSpPr>
        <p:spPr>
          <a:xfrm>
            <a:off x="1066800" y="2362200"/>
            <a:ext cx="152400" cy="1447800"/>
          </a:xfrm>
          <a:prstGeom prst="leftBrace">
            <a:avLst>
              <a:gd name="adj1" fmla="val 79166"/>
              <a:gd name="adj2" fmla="val 50000"/>
            </a:avLst>
          </a:prstGeom>
          <a:noFill/>
          <a:ln w="2857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128" name="Text Box 8"/>
          <p:cNvSpPr txBox="1"/>
          <p:nvPr/>
        </p:nvSpPr>
        <p:spPr>
          <a:xfrm>
            <a:off x="4343400" y="1219200"/>
            <a:ext cx="1260475" cy="519113"/>
          </a:xfrm>
          <a:prstGeom prst="rect">
            <a:avLst/>
          </a:prstGeom>
          <a:noFill/>
          <a:ln w="9525">
            <a:noFill/>
          </a:ln>
        </p:spPr>
        <p:txBody>
          <a:bodyPr wrap="none">
            <a:spAutoFit/>
          </a:bodyPr>
          <a:p>
            <a:r>
              <a:rPr lang="zh-CN" altLang="en-US" sz="2800" b="1" dirty="0">
                <a:latin typeface="Times New Roman" panose="02020603050405020304" pitchFamily="18" charset="0"/>
              </a:rPr>
              <a:t>同时：</a:t>
            </a:r>
            <a:endParaRPr lang="zh-CN" altLang="en-US" sz="2800" b="1" dirty="0">
              <a:latin typeface="Times New Roman" panose="02020603050405020304" pitchFamily="18" charset="0"/>
            </a:endParaRPr>
          </a:p>
        </p:txBody>
      </p:sp>
      <p:sp>
        <p:nvSpPr>
          <p:cNvPr id="5129" name="Text Box 9"/>
          <p:cNvSpPr txBox="1"/>
          <p:nvPr/>
        </p:nvSpPr>
        <p:spPr>
          <a:xfrm>
            <a:off x="4953000" y="1752600"/>
            <a:ext cx="3606800" cy="3081338"/>
          </a:xfrm>
          <a:prstGeom prst="rect">
            <a:avLst/>
          </a:prstGeom>
          <a:noFill/>
          <a:ln w="9525">
            <a:noFill/>
          </a:ln>
        </p:spPr>
        <p:txBody>
          <a:bodyPr>
            <a:spAutoFit/>
          </a:bodyPr>
          <a:p>
            <a:r>
              <a:rPr lang="en-US" altLang="zh-CN" sz="2800" b="1" dirty="0">
                <a:latin typeface="Times New Roman" panose="02020603050405020304" pitchFamily="18" charset="0"/>
                <a:ea typeface="宋体" panose="02010600030101010101" pitchFamily="2" charset="-122"/>
              </a:rPr>
              <a:t>max</a:t>
            </a:r>
            <a:r>
              <a:rPr lang="en-US" altLang="zh-CN" sz="2800" b="1" dirty="0">
                <a:latin typeface="Times New Roman" panose="02020603050405020304" pitchFamily="18" charset="0"/>
              </a:rPr>
              <a:t>Z</a:t>
            </a:r>
            <a:r>
              <a:rPr lang="en-US" altLang="zh-CN" sz="2800" b="1" baseline="-30000" dirty="0">
                <a:latin typeface="Times New Roman" panose="02020603050405020304" pitchFamily="18" charset="0"/>
              </a:rPr>
              <a:t>1</a:t>
            </a:r>
            <a:r>
              <a:rPr lang="en-US" altLang="zh-CN" sz="2800" b="1" dirty="0">
                <a:latin typeface="Times New Roman" panose="02020603050405020304" pitchFamily="18" charset="0"/>
                <a:ea typeface="宋体" panose="02010600030101010101" pitchFamily="2" charset="-122"/>
              </a:rPr>
              <a:t>=70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r>
              <a:rPr lang="en-US" altLang="zh-CN" sz="2800" b="1" i="1" dirty="0">
                <a:latin typeface="Times New Roman" panose="02020603050405020304" pitchFamily="18" charset="0"/>
              </a:rPr>
              <a:t> </a:t>
            </a:r>
            <a:r>
              <a:rPr lang="en-US" altLang="zh-CN" sz="2800" b="1" dirty="0">
                <a:latin typeface="Times New Roman" panose="02020603050405020304" pitchFamily="18" charset="0"/>
                <a:ea typeface="宋体" panose="02010600030101010101" pitchFamily="2" charset="-122"/>
              </a:rPr>
              <a:t>+ 120</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min</a:t>
            </a:r>
            <a:r>
              <a:rPr lang="en-US" altLang="zh-CN" sz="2800" b="1" dirty="0">
                <a:latin typeface="Times New Roman" panose="02020603050405020304" pitchFamily="18" charset="0"/>
              </a:rPr>
              <a:t>Z</a:t>
            </a:r>
            <a:r>
              <a:rPr lang="en-US" altLang="zh-CN" sz="2800" b="1" baseline="-30000" dirty="0">
                <a:latin typeface="Times New Roman" panose="02020603050405020304" pitchFamily="18" charset="0"/>
              </a:rPr>
              <a:t>2</a:t>
            </a:r>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max</a:t>
            </a:r>
            <a:r>
              <a:rPr lang="en-US" altLang="zh-CN" sz="2800" b="1" dirty="0">
                <a:latin typeface="Times New Roman" panose="02020603050405020304" pitchFamily="18" charset="0"/>
              </a:rPr>
              <a:t>Z</a:t>
            </a:r>
            <a:r>
              <a:rPr lang="en-US" altLang="zh-CN" sz="2800" b="1" baseline="-30000" dirty="0">
                <a:latin typeface="Times New Roman" panose="02020603050405020304" pitchFamily="18" charset="0"/>
              </a:rPr>
              <a:t>3</a:t>
            </a:r>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     9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r>
              <a:rPr lang="en-US" altLang="zh-CN" sz="2800" b="1" dirty="0">
                <a:latin typeface="Times New Roman" panose="02020603050405020304" pitchFamily="18" charset="0"/>
                <a:ea typeface="宋体" panose="02010600030101010101" pitchFamily="2" charset="-122"/>
              </a:rPr>
              <a:t> +4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r>
              <a:rPr lang="en-US" altLang="zh-CN" sz="2800" b="1" dirty="0">
                <a:latin typeface="Times New Roman" panose="02020603050405020304" pitchFamily="18" charset="0"/>
                <a:ea typeface="宋体" panose="02010600030101010101" pitchFamily="2" charset="-122"/>
              </a:rPr>
              <a:t> ≤3600</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     4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r>
              <a:rPr lang="en-US" altLang="zh-CN" sz="2800" b="1" dirty="0">
                <a:latin typeface="Times New Roman" panose="02020603050405020304" pitchFamily="18" charset="0"/>
                <a:ea typeface="宋体" panose="02010600030101010101" pitchFamily="2" charset="-122"/>
              </a:rPr>
              <a:t> +5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r>
              <a:rPr lang="en-US" altLang="zh-CN" sz="2800" b="1" dirty="0">
                <a:latin typeface="Times New Roman" panose="02020603050405020304" pitchFamily="18" charset="0"/>
                <a:ea typeface="宋体" panose="02010600030101010101" pitchFamily="2" charset="-122"/>
              </a:rPr>
              <a:t> ≤ 2000</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     3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r>
              <a:rPr lang="en-US" altLang="zh-CN" sz="2800" b="1" dirty="0">
                <a:latin typeface="Times New Roman" panose="02020603050405020304" pitchFamily="18" charset="0"/>
                <a:ea typeface="宋体" panose="02010600030101010101" pitchFamily="2" charset="-122"/>
              </a:rPr>
              <a:t> +10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r>
              <a:rPr lang="en-US" altLang="zh-CN" sz="2800" b="1" dirty="0">
                <a:latin typeface="Times New Roman" panose="02020603050405020304" pitchFamily="18" charset="0"/>
                <a:ea typeface="宋体" panose="02010600030101010101" pitchFamily="2" charset="-122"/>
              </a:rPr>
              <a:t> ≤3000</a:t>
            </a:r>
            <a:endParaRPr lang="en-US" altLang="zh-CN" sz="2800" b="1" dirty="0">
              <a:latin typeface="Times New Roman" panose="02020603050405020304" pitchFamily="18" charset="0"/>
              <a:ea typeface="宋体" panose="02010600030101010101" pitchFamily="2" charset="-122"/>
            </a:endParaRPr>
          </a:p>
          <a:p>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 </a:t>
            </a:r>
            <a:r>
              <a:rPr lang="zh-CN" altLang="en-US" sz="2800" b="1" dirty="0">
                <a:latin typeface="Times New Roman" panose="02020603050405020304" pitchFamily="18" charset="0"/>
              </a:rPr>
              <a:t>，</a:t>
            </a:r>
            <a:r>
              <a:rPr lang="zh-CN" altLang="en-US" sz="2800" b="1" i="1" baseline="-30000" dirty="0">
                <a:latin typeface="Times New Roman" panose="02020603050405020304" pitchFamily="18" charset="0"/>
              </a:rPr>
              <a:t> </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 </a:t>
            </a:r>
            <a:r>
              <a:rPr lang="en-US" altLang="zh-CN" sz="2800" b="1" dirty="0">
                <a:latin typeface="Times New Roman" panose="02020603050405020304" pitchFamily="18" charset="0"/>
              </a:rPr>
              <a:t>≥0</a:t>
            </a:r>
            <a:endParaRPr lang="en-US" altLang="zh-CN" sz="2800" b="1" dirty="0">
              <a:latin typeface="Times New Roman" panose="02020603050405020304" pitchFamily="18" charset="0"/>
            </a:endParaRPr>
          </a:p>
        </p:txBody>
      </p:sp>
      <p:sp>
        <p:nvSpPr>
          <p:cNvPr id="5130" name="AutoShape 10"/>
          <p:cNvSpPr/>
          <p:nvPr/>
        </p:nvSpPr>
        <p:spPr>
          <a:xfrm>
            <a:off x="5257800" y="3200400"/>
            <a:ext cx="152400" cy="1447800"/>
          </a:xfrm>
          <a:prstGeom prst="leftBrace">
            <a:avLst>
              <a:gd name="adj1" fmla="val 79166"/>
              <a:gd name="adj2" fmla="val 50000"/>
            </a:avLst>
          </a:prstGeom>
          <a:noFill/>
          <a:ln w="2857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131" name="Text Box 11"/>
          <p:cNvSpPr txBox="1"/>
          <p:nvPr/>
        </p:nvSpPr>
        <p:spPr>
          <a:xfrm>
            <a:off x="228600" y="5181600"/>
            <a:ext cx="8686800" cy="946150"/>
          </a:xfrm>
          <a:prstGeom prst="rect">
            <a:avLst/>
          </a:prstGeom>
          <a:noFill/>
          <a:ln w="9525">
            <a:noFill/>
          </a:ln>
        </p:spPr>
        <p:txBody>
          <a:bodyPr>
            <a:spAutoFit/>
          </a:bodyPr>
          <a:p>
            <a:r>
              <a:rPr lang="en-US" altLang="zh-CN" sz="2800" b="1" dirty="0">
                <a:latin typeface="Times New Roman" panose="02020603050405020304" pitchFamily="18" charset="0"/>
              </a:rPr>
              <a:t>      </a:t>
            </a:r>
            <a:r>
              <a:rPr lang="zh-CN" altLang="en-US" sz="2800" b="1" dirty="0">
                <a:latin typeface="Times New Roman" panose="02020603050405020304" pitchFamily="18" charset="0"/>
              </a:rPr>
              <a:t>显然，这是一个多目标规划问题，用线性规划方法很难找到最优解。</a:t>
            </a:r>
            <a:endParaRPr lang="zh-CN" altLang="en-US" sz="2800" b="1" dirty="0">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5"/>
                                        </p:tgtEl>
                                        <p:attrNameLst>
                                          <p:attrName>style.visibility</p:attrName>
                                        </p:attrNameLst>
                                      </p:cBhvr>
                                      <p:to>
                                        <p:strVal val="visible"/>
                                      </p:to>
                                    </p:set>
                                  </p:childTnLst>
                                </p:cTn>
                              </p:par>
                            </p:childTnLst>
                          </p:cTn>
                        </p:par>
                        <p:par>
                          <p:cTn id="7" fill="hold">
                            <p:stCondLst>
                              <p:cond delay="500"/>
                            </p:stCondLst>
                            <p:childTnLst>
                              <p:par>
                                <p:cTn id="8" presetID="17" presetClass="entr" presetSubtype="2" fill="hold" grpId="0" nodeType="afterEffect">
                                  <p:stCondLst>
                                    <p:cond delay="0"/>
                                  </p:stCondLst>
                                  <p:childTnLst>
                                    <p:set>
                                      <p:cBhvr>
                                        <p:cTn id="9" dur="1" fill="hold">
                                          <p:stCondLst>
                                            <p:cond delay="0"/>
                                          </p:stCondLst>
                                        </p:cTn>
                                        <p:tgtEl>
                                          <p:spTgt spid="5126"/>
                                        </p:tgtEl>
                                        <p:attrNameLst>
                                          <p:attrName>style.visibility</p:attrName>
                                        </p:attrNameLst>
                                      </p:cBhvr>
                                      <p:to>
                                        <p:strVal val="visible"/>
                                      </p:to>
                                    </p:set>
                                    <p:anim calcmode="lin" valueType="num">
                                      <p:cBhvr>
                                        <p:cTn id="10" dur="500" fill="hold"/>
                                        <p:tgtEl>
                                          <p:spTgt spid="5126"/>
                                        </p:tgtEl>
                                        <p:attrNameLst>
                                          <p:attrName>ppt_x</p:attrName>
                                        </p:attrNameLst>
                                      </p:cBhvr>
                                      <p:tavLst>
                                        <p:tav tm="0">
                                          <p:val>
                                            <p:strVal val="#ppt_x+#ppt_w/2"/>
                                          </p:val>
                                        </p:tav>
                                        <p:tav tm="100000">
                                          <p:val>
                                            <p:strVal val="#ppt_x"/>
                                          </p:val>
                                        </p:tav>
                                      </p:tavLst>
                                    </p:anim>
                                    <p:anim calcmode="lin" valueType="num">
                                      <p:cBhvr>
                                        <p:cTn id="11" dur="500" fill="hold"/>
                                        <p:tgtEl>
                                          <p:spTgt spid="5126"/>
                                        </p:tgtEl>
                                        <p:attrNameLst>
                                          <p:attrName>ppt_y</p:attrName>
                                        </p:attrNameLst>
                                      </p:cBhvr>
                                      <p:tavLst>
                                        <p:tav tm="0">
                                          <p:val>
                                            <p:strVal val="#ppt_y"/>
                                          </p:val>
                                        </p:tav>
                                        <p:tav tm="100000">
                                          <p:val>
                                            <p:strVal val="#ppt_y"/>
                                          </p:val>
                                        </p:tav>
                                      </p:tavLst>
                                    </p:anim>
                                    <p:anim calcmode="lin" valueType="num">
                                      <p:cBhvr>
                                        <p:cTn id="12" dur="500" fill="hold"/>
                                        <p:tgtEl>
                                          <p:spTgt spid="5126"/>
                                        </p:tgtEl>
                                        <p:attrNameLst>
                                          <p:attrName>ppt_w</p:attrName>
                                        </p:attrNameLst>
                                      </p:cBhvr>
                                      <p:tavLst>
                                        <p:tav tm="0">
                                          <p:val>
                                            <p:fltVal val="0.000000"/>
                                          </p:val>
                                        </p:tav>
                                        <p:tav tm="100000">
                                          <p:val>
                                            <p:strVal val="#ppt_w"/>
                                          </p:val>
                                        </p:tav>
                                      </p:tavLst>
                                    </p:anim>
                                    <p:anim calcmode="lin" valueType="num">
                                      <p:cBhvr>
                                        <p:cTn id="13" dur="500" fill="hold"/>
                                        <p:tgtEl>
                                          <p:spTgt spid="5126"/>
                                        </p:tgtEl>
                                        <p:attrNameLst>
                                          <p:attrName>ppt_h</p:attrName>
                                        </p:attrNameLst>
                                      </p:cBhvr>
                                      <p:tavLst>
                                        <p:tav tm="0">
                                          <p:val>
                                            <p:strVal val="#ppt_h"/>
                                          </p:val>
                                        </p:tav>
                                        <p:tav tm="100000">
                                          <p:val>
                                            <p:strVal val="#ppt_h"/>
                                          </p:val>
                                        </p:tav>
                                      </p:tavLst>
                                    </p:anim>
                                  </p:childTnLst>
                                </p:cTn>
                              </p:par>
                            </p:childTnLst>
                          </p:cTn>
                        </p:par>
                        <p:par>
                          <p:cTn id="14" fill="hold">
                            <p:stCondLst>
                              <p:cond delay="1000"/>
                            </p:stCondLst>
                            <p:childTnLst>
                              <p:par>
                                <p:cTn id="15" presetID="16" presetClass="entr" presetSubtype="42" fill="hold" grpId="0" nodeType="afterEffect">
                                  <p:stCondLst>
                                    <p:cond delay="0"/>
                                  </p:stCondLst>
                                  <p:childTnLst>
                                    <p:set>
                                      <p:cBhvr>
                                        <p:cTn id="16" dur="1" fill="hold">
                                          <p:stCondLst>
                                            <p:cond delay="0"/>
                                          </p:stCondLst>
                                        </p:cTn>
                                        <p:tgtEl>
                                          <p:spTgt spid="5127"/>
                                        </p:tgtEl>
                                        <p:attrNameLst>
                                          <p:attrName>style.visibility</p:attrName>
                                        </p:attrNameLst>
                                      </p:cBhvr>
                                      <p:to>
                                        <p:strVal val="visible"/>
                                      </p:to>
                                    </p:set>
                                    <p:animEffect transition="in" filter="barn(outHorizontal)">
                                      <p:cBhvr>
                                        <p:cTn id="17" dur="500"/>
                                        <p:tgtEl>
                                          <p:spTgt spid="512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5128"/>
                                        </p:tgtEl>
                                        <p:attrNameLst>
                                          <p:attrName>style.visibility</p:attrName>
                                        </p:attrNameLst>
                                      </p:cBhvr>
                                      <p:to>
                                        <p:strVal val="visible"/>
                                      </p:to>
                                    </p:set>
                                  </p:childTnLst>
                                </p:cTn>
                              </p:par>
                            </p:childTnLst>
                          </p:cTn>
                        </p:par>
                        <p:par>
                          <p:cTn id="22" fill="hold">
                            <p:stCondLst>
                              <p:cond delay="500"/>
                            </p:stCondLst>
                            <p:childTnLst>
                              <p:par>
                                <p:cTn id="23" presetID="16" presetClass="entr" presetSubtype="42" fill="hold" grpId="0" nodeType="afterEffect">
                                  <p:stCondLst>
                                    <p:cond delay="0"/>
                                  </p:stCondLst>
                                  <p:childTnLst>
                                    <p:set>
                                      <p:cBhvr>
                                        <p:cTn id="24" dur="1" fill="hold">
                                          <p:stCondLst>
                                            <p:cond delay="0"/>
                                          </p:stCondLst>
                                        </p:cTn>
                                        <p:tgtEl>
                                          <p:spTgt spid="5130"/>
                                        </p:tgtEl>
                                        <p:attrNameLst>
                                          <p:attrName>style.visibility</p:attrName>
                                        </p:attrNameLst>
                                      </p:cBhvr>
                                      <p:to>
                                        <p:strVal val="visible"/>
                                      </p:to>
                                    </p:set>
                                    <p:animEffect transition="in" filter="barn(outHorizontal)">
                                      <p:cBhvr>
                                        <p:cTn id="25" dur="500"/>
                                        <p:tgtEl>
                                          <p:spTgt spid="5130"/>
                                        </p:tgtEl>
                                      </p:cBhvr>
                                    </p:animEffect>
                                  </p:childTnLst>
                                </p:cTn>
                              </p:par>
                            </p:childTnLst>
                          </p:cTn>
                        </p:par>
                        <p:par>
                          <p:cTn id="26" fill="hold">
                            <p:stCondLst>
                              <p:cond delay="1000"/>
                            </p:stCondLst>
                            <p:childTnLst>
                              <p:par>
                                <p:cTn id="27" presetID="17" presetClass="entr" presetSubtype="8" fill="hold" grpId="0" nodeType="afterEffect">
                                  <p:stCondLst>
                                    <p:cond delay="0"/>
                                  </p:stCondLst>
                                  <p:childTnLst>
                                    <p:set>
                                      <p:cBhvr>
                                        <p:cTn id="28" dur="1" fill="hold">
                                          <p:stCondLst>
                                            <p:cond delay="0"/>
                                          </p:stCondLst>
                                        </p:cTn>
                                        <p:tgtEl>
                                          <p:spTgt spid="5129"/>
                                        </p:tgtEl>
                                        <p:attrNameLst>
                                          <p:attrName>style.visibility</p:attrName>
                                        </p:attrNameLst>
                                      </p:cBhvr>
                                      <p:to>
                                        <p:strVal val="visible"/>
                                      </p:to>
                                    </p:set>
                                    <p:anim calcmode="lin" valueType="num">
                                      <p:cBhvr>
                                        <p:cTn id="29" dur="500" fill="hold"/>
                                        <p:tgtEl>
                                          <p:spTgt spid="5129"/>
                                        </p:tgtEl>
                                        <p:attrNameLst>
                                          <p:attrName>ppt_x</p:attrName>
                                        </p:attrNameLst>
                                      </p:cBhvr>
                                      <p:tavLst>
                                        <p:tav tm="0">
                                          <p:val>
                                            <p:strVal val="#ppt_x-#ppt_w/2"/>
                                          </p:val>
                                        </p:tav>
                                        <p:tav tm="100000">
                                          <p:val>
                                            <p:strVal val="#ppt_x"/>
                                          </p:val>
                                        </p:tav>
                                      </p:tavLst>
                                    </p:anim>
                                    <p:anim calcmode="lin" valueType="num">
                                      <p:cBhvr>
                                        <p:cTn id="30" dur="500" fill="hold"/>
                                        <p:tgtEl>
                                          <p:spTgt spid="5129"/>
                                        </p:tgtEl>
                                        <p:attrNameLst>
                                          <p:attrName>ppt_y</p:attrName>
                                        </p:attrNameLst>
                                      </p:cBhvr>
                                      <p:tavLst>
                                        <p:tav tm="0">
                                          <p:val>
                                            <p:strVal val="#ppt_y"/>
                                          </p:val>
                                        </p:tav>
                                        <p:tav tm="100000">
                                          <p:val>
                                            <p:strVal val="#ppt_y"/>
                                          </p:val>
                                        </p:tav>
                                      </p:tavLst>
                                    </p:anim>
                                    <p:anim calcmode="lin" valueType="num">
                                      <p:cBhvr>
                                        <p:cTn id="31" dur="500" fill="hold"/>
                                        <p:tgtEl>
                                          <p:spTgt spid="5129"/>
                                        </p:tgtEl>
                                        <p:attrNameLst>
                                          <p:attrName>ppt_w</p:attrName>
                                        </p:attrNameLst>
                                      </p:cBhvr>
                                      <p:tavLst>
                                        <p:tav tm="0">
                                          <p:val>
                                            <p:fltVal val="0.000000"/>
                                          </p:val>
                                        </p:tav>
                                        <p:tav tm="100000">
                                          <p:val>
                                            <p:strVal val="#ppt_w"/>
                                          </p:val>
                                        </p:tav>
                                      </p:tavLst>
                                    </p:anim>
                                    <p:anim calcmode="lin" valueType="num">
                                      <p:cBhvr>
                                        <p:cTn id="32" dur="500" fill="hold"/>
                                        <p:tgtEl>
                                          <p:spTgt spid="5129"/>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8" fill="hold" grpId="0" nodeType="clickEffect">
                                  <p:stCondLst>
                                    <p:cond delay="0"/>
                                  </p:stCondLst>
                                  <p:childTnLst>
                                    <p:set>
                                      <p:cBhvr>
                                        <p:cTn id="36" dur="1" fill="hold">
                                          <p:stCondLst>
                                            <p:cond delay="0"/>
                                          </p:stCondLst>
                                        </p:cTn>
                                        <p:tgtEl>
                                          <p:spTgt spid="5132"/>
                                        </p:tgtEl>
                                        <p:attrNameLst>
                                          <p:attrName>style.visibility</p:attrName>
                                        </p:attrNameLst>
                                      </p:cBhvr>
                                      <p:to>
                                        <p:strVal val="visible"/>
                                      </p:to>
                                    </p:set>
                                    <p:anim calcmode="lin" valueType="num">
                                      <p:cBhvr>
                                        <p:cTn id="37" dur="500" fill="hold"/>
                                        <p:tgtEl>
                                          <p:spTgt spid="5132"/>
                                        </p:tgtEl>
                                        <p:attrNameLst>
                                          <p:attrName>ppt_x</p:attrName>
                                        </p:attrNameLst>
                                      </p:cBhvr>
                                      <p:tavLst>
                                        <p:tav tm="0">
                                          <p:val>
                                            <p:strVal val="#ppt_x-#ppt_w/2"/>
                                          </p:val>
                                        </p:tav>
                                        <p:tav tm="100000">
                                          <p:val>
                                            <p:strVal val="#ppt_x"/>
                                          </p:val>
                                        </p:tav>
                                      </p:tavLst>
                                    </p:anim>
                                    <p:anim calcmode="lin" valueType="num">
                                      <p:cBhvr>
                                        <p:cTn id="38" dur="500" fill="hold"/>
                                        <p:tgtEl>
                                          <p:spTgt spid="5132"/>
                                        </p:tgtEl>
                                        <p:attrNameLst>
                                          <p:attrName>ppt_y</p:attrName>
                                        </p:attrNameLst>
                                      </p:cBhvr>
                                      <p:tavLst>
                                        <p:tav tm="0">
                                          <p:val>
                                            <p:strVal val="#ppt_y"/>
                                          </p:val>
                                        </p:tav>
                                        <p:tav tm="100000">
                                          <p:val>
                                            <p:strVal val="#ppt_y"/>
                                          </p:val>
                                        </p:tav>
                                      </p:tavLst>
                                    </p:anim>
                                    <p:anim calcmode="lin" valueType="num">
                                      <p:cBhvr>
                                        <p:cTn id="39" dur="500" fill="hold"/>
                                        <p:tgtEl>
                                          <p:spTgt spid="5132"/>
                                        </p:tgtEl>
                                        <p:attrNameLst>
                                          <p:attrName>ppt_w</p:attrName>
                                        </p:attrNameLst>
                                      </p:cBhvr>
                                      <p:tavLst>
                                        <p:tav tm="0">
                                          <p:val>
                                            <p:fltVal val="0.000000"/>
                                          </p:val>
                                        </p:tav>
                                        <p:tav tm="100000">
                                          <p:val>
                                            <p:strVal val="#ppt_w"/>
                                          </p:val>
                                        </p:tav>
                                      </p:tavLst>
                                    </p:anim>
                                    <p:anim calcmode="lin" valueType="num">
                                      <p:cBhvr>
                                        <p:cTn id="40" dur="500" fill="hold"/>
                                        <p:tgtEl>
                                          <p:spTgt spid="5132"/>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8" fill="hold" grpId="0" nodeType="clickEffect">
                                  <p:stCondLst>
                                    <p:cond delay="0"/>
                                  </p:stCondLst>
                                  <p:childTnLst>
                                    <p:set>
                                      <p:cBhvr>
                                        <p:cTn id="44" dur="1" fill="hold">
                                          <p:stCondLst>
                                            <p:cond delay="0"/>
                                          </p:stCondLst>
                                        </p:cTn>
                                        <p:tgtEl>
                                          <p:spTgt spid="5133"/>
                                        </p:tgtEl>
                                        <p:attrNameLst>
                                          <p:attrName>style.visibility</p:attrName>
                                        </p:attrNameLst>
                                      </p:cBhvr>
                                      <p:to>
                                        <p:strVal val="visible"/>
                                      </p:to>
                                    </p:set>
                                    <p:anim calcmode="lin" valueType="num">
                                      <p:cBhvr>
                                        <p:cTn id="45" dur="500" fill="hold"/>
                                        <p:tgtEl>
                                          <p:spTgt spid="5133"/>
                                        </p:tgtEl>
                                        <p:attrNameLst>
                                          <p:attrName>ppt_x</p:attrName>
                                        </p:attrNameLst>
                                      </p:cBhvr>
                                      <p:tavLst>
                                        <p:tav tm="0">
                                          <p:val>
                                            <p:strVal val="#ppt_x-#ppt_w/2"/>
                                          </p:val>
                                        </p:tav>
                                        <p:tav tm="100000">
                                          <p:val>
                                            <p:strVal val="#ppt_x"/>
                                          </p:val>
                                        </p:tav>
                                      </p:tavLst>
                                    </p:anim>
                                    <p:anim calcmode="lin" valueType="num">
                                      <p:cBhvr>
                                        <p:cTn id="46" dur="500" fill="hold"/>
                                        <p:tgtEl>
                                          <p:spTgt spid="5133"/>
                                        </p:tgtEl>
                                        <p:attrNameLst>
                                          <p:attrName>ppt_y</p:attrName>
                                        </p:attrNameLst>
                                      </p:cBhvr>
                                      <p:tavLst>
                                        <p:tav tm="0">
                                          <p:val>
                                            <p:strVal val="#ppt_y"/>
                                          </p:val>
                                        </p:tav>
                                        <p:tav tm="100000">
                                          <p:val>
                                            <p:strVal val="#ppt_y"/>
                                          </p:val>
                                        </p:tav>
                                      </p:tavLst>
                                    </p:anim>
                                    <p:anim calcmode="lin" valueType="num">
                                      <p:cBhvr>
                                        <p:cTn id="47" dur="500" fill="hold"/>
                                        <p:tgtEl>
                                          <p:spTgt spid="5133"/>
                                        </p:tgtEl>
                                        <p:attrNameLst>
                                          <p:attrName>ppt_w</p:attrName>
                                        </p:attrNameLst>
                                      </p:cBhvr>
                                      <p:tavLst>
                                        <p:tav tm="0">
                                          <p:val>
                                            <p:fltVal val="0.000000"/>
                                          </p:val>
                                        </p:tav>
                                        <p:tav tm="100000">
                                          <p:val>
                                            <p:strVal val="#ppt_w"/>
                                          </p:val>
                                        </p:tav>
                                      </p:tavLst>
                                    </p:anim>
                                    <p:anim calcmode="lin" valueType="num">
                                      <p:cBhvr>
                                        <p:cTn id="48" dur="500" fill="hold"/>
                                        <p:tgtEl>
                                          <p:spTgt spid="5133"/>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8" fill="hold" grpId="0" nodeType="clickEffect">
                                  <p:stCondLst>
                                    <p:cond delay="0"/>
                                  </p:stCondLst>
                                  <p:childTnLst>
                                    <p:set>
                                      <p:cBhvr>
                                        <p:cTn id="52" dur="1" fill="hold">
                                          <p:stCondLst>
                                            <p:cond delay="0"/>
                                          </p:stCondLst>
                                        </p:cTn>
                                        <p:tgtEl>
                                          <p:spTgt spid="5134"/>
                                        </p:tgtEl>
                                        <p:attrNameLst>
                                          <p:attrName>style.visibility</p:attrName>
                                        </p:attrNameLst>
                                      </p:cBhvr>
                                      <p:to>
                                        <p:strVal val="visible"/>
                                      </p:to>
                                    </p:set>
                                    <p:anim calcmode="lin" valueType="num">
                                      <p:cBhvr>
                                        <p:cTn id="53" dur="500" fill="hold"/>
                                        <p:tgtEl>
                                          <p:spTgt spid="5134"/>
                                        </p:tgtEl>
                                        <p:attrNameLst>
                                          <p:attrName>ppt_x</p:attrName>
                                        </p:attrNameLst>
                                      </p:cBhvr>
                                      <p:tavLst>
                                        <p:tav tm="0">
                                          <p:val>
                                            <p:strVal val="#ppt_x-#ppt_w/2"/>
                                          </p:val>
                                        </p:tav>
                                        <p:tav tm="100000">
                                          <p:val>
                                            <p:strVal val="#ppt_x"/>
                                          </p:val>
                                        </p:tav>
                                      </p:tavLst>
                                    </p:anim>
                                    <p:anim calcmode="lin" valueType="num">
                                      <p:cBhvr>
                                        <p:cTn id="54" dur="500" fill="hold"/>
                                        <p:tgtEl>
                                          <p:spTgt spid="5134"/>
                                        </p:tgtEl>
                                        <p:attrNameLst>
                                          <p:attrName>ppt_y</p:attrName>
                                        </p:attrNameLst>
                                      </p:cBhvr>
                                      <p:tavLst>
                                        <p:tav tm="0">
                                          <p:val>
                                            <p:strVal val="#ppt_y"/>
                                          </p:val>
                                        </p:tav>
                                        <p:tav tm="100000">
                                          <p:val>
                                            <p:strVal val="#ppt_y"/>
                                          </p:val>
                                        </p:tav>
                                      </p:tavLst>
                                    </p:anim>
                                    <p:anim calcmode="lin" valueType="num">
                                      <p:cBhvr>
                                        <p:cTn id="55" dur="500" fill="hold"/>
                                        <p:tgtEl>
                                          <p:spTgt spid="5134"/>
                                        </p:tgtEl>
                                        <p:attrNameLst>
                                          <p:attrName>ppt_w</p:attrName>
                                        </p:attrNameLst>
                                      </p:cBhvr>
                                      <p:tavLst>
                                        <p:tav tm="0">
                                          <p:val>
                                            <p:fltVal val="0.000000"/>
                                          </p:val>
                                        </p:tav>
                                        <p:tav tm="100000">
                                          <p:val>
                                            <p:strVal val="#ppt_w"/>
                                          </p:val>
                                        </p:tav>
                                      </p:tavLst>
                                    </p:anim>
                                    <p:anim calcmode="lin" valueType="num">
                                      <p:cBhvr>
                                        <p:cTn id="56" dur="500" fill="hold"/>
                                        <p:tgtEl>
                                          <p:spTgt spid="5134"/>
                                        </p:tgtEl>
                                        <p:attrNameLst>
                                          <p:attrName>ppt_h</p:attrName>
                                        </p:attrNameLst>
                                      </p:cBhvr>
                                      <p:tavLst>
                                        <p:tav tm="0">
                                          <p:val>
                                            <p:strVal val="#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8" presetClass="entr" presetSubtype="6" fill="hold" grpId="0" nodeType="clickEffect">
                                  <p:stCondLst>
                                    <p:cond delay="0"/>
                                  </p:stCondLst>
                                  <p:childTnLst>
                                    <p:set>
                                      <p:cBhvr>
                                        <p:cTn id="60" dur="1" fill="hold">
                                          <p:stCondLst>
                                            <p:cond delay="0"/>
                                          </p:stCondLst>
                                        </p:cTn>
                                        <p:tgtEl>
                                          <p:spTgt spid="5131"/>
                                        </p:tgtEl>
                                        <p:attrNameLst>
                                          <p:attrName>style.visibility</p:attrName>
                                        </p:attrNameLst>
                                      </p:cBhvr>
                                      <p:to>
                                        <p:strVal val="visible"/>
                                      </p:to>
                                    </p:set>
                                    <p:animEffect transition="in" filter="strips(downRight)">
                                      <p:cBhvr>
                                        <p:cTn id="61" dur="500"/>
                                        <p:tgtEl>
                                          <p:spTgt spid="5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4" grpId="0" animBg="1"/>
      <p:bldP spid="5133" grpId="0" animBg="1"/>
      <p:bldP spid="5132" grpId="0" animBg="1"/>
      <p:bldP spid="5125" grpId="0"/>
      <p:bldP spid="5126" grpId="0"/>
      <p:bldP spid="5127" grpId="0" animBg="1"/>
      <p:bldP spid="5128" grpId="0"/>
      <p:bldP spid="5129" grpId="0"/>
      <p:bldP spid="5130" grpId="0" animBg="1"/>
      <p:bldP spid="513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8" name="Rectangle 10"/>
          <p:cNvSpPr/>
          <p:nvPr/>
        </p:nvSpPr>
        <p:spPr>
          <a:xfrm>
            <a:off x="0" y="5257800"/>
            <a:ext cx="9144000" cy="838200"/>
          </a:xfrm>
          <a:prstGeom prst="rect">
            <a:avLst/>
          </a:prstGeom>
          <a:solidFill>
            <a:srgbClr val="CCFFFF"/>
          </a:solidFill>
          <a:ln w="9525">
            <a:noFill/>
          </a:ln>
        </p:spPr>
        <p:txBody>
          <a:bodyPr wrap="none" anchor="ctr" anchorCtr="0"/>
          <a:p>
            <a:endParaRPr lang="zh-CN" altLang="en-US" dirty="0">
              <a:latin typeface="Times New Roman" panose="02020603050405020304" pitchFamily="18" charset="0"/>
            </a:endParaRPr>
          </a:p>
        </p:txBody>
      </p:sp>
      <p:sp>
        <p:nvSpPr>
          <p:cNvPr id="7177" name="Rectangle 9"/>
          <p:cNvSpPr/>
          <p:nvPr/>
        </p:nvSpPr>
        <p:spPr>
          <a:xfrm>
            <a:off x="0" y="4419600"/>
            <a:ext cx="9144000" cy="838200"/>
          </a:xfrm>
          <a:prstGeom prst="rect">
            <a:avLst/>
          </a:prstGeom>
          <a:solidFill>
            <a:srgbClr val="CCECFF"/>
          </a:solidFill>
          <a:ln w="9525">
            <a:noFill/>
          </a:ln>
        </p:spPr>
        <p:txBody>
          <a:bodyPr wrap="none" anchor="ctr" anchorCtr="0"/>
          <a:p>
            <a:endParaRPr lang="zh-CN" altLang="en-US" dirty="0">
              <a:latin typeface="Times New Roman" panose="02020603050405020304" pitchFamily="18" charset="0"/>
            </a:endParaRPr>
          </a:p>
        </p:txBody>
      </p:sp>
      <p:sp>
        <p:nvSpPr>
          <p:cNvPr id="7176" name="Rectangle 8"/>
          <p:cNvSpPr/>
          <p:nvPr/>
        </p:nvSpPr>
        <p:spPr>
          <a:xfrm>
            <a:off x="0" y="2743200"/>
            <a:ext cx="9144000" cy="762000"/>
          </a:xfrm>
          <a:prstGeom prst="rect">
            <a:avLst/>
          </a:prstGeom>
          <a:solidFill>
            <a:srgbClr val="CCECFF"/>
          </a:solidFill>
          <a:ln w="9525">
            <a:noFill/>
          </a:ln>
        </p:spPr>
        <p:txBody>
          <a:bodyPr wrap="none" anchor="ctr" anchorCtr="0"/>
          <a:p>
            <a:endParaRPr lang="zh-CN" altLang="en-US" dirty="0">
              <a:latin typeface="Times New Roman" panose="02020603050405020304" pitchFamily="18" charset="0"/>
            </a:endParaRPr>
          </a:p>
        </p:txBody>
      </p:sp>
      <p:sp>
        <p:nvSpPr>
          <p:cNvPr id="7171" name="Text Box 3"/>
          <p:cNvSpPr txBox="1"/>
          <p:nvPr/>
        </p:nvSpPr>
        <p:spPr>
          <a:xfrm>
            <a:off x="179388" y="914400"/>
            <a:ext cx="8964612" cy="5216525"/>
          </a:xfrm>
          <a:prstGeom prst="rect">
            <a:avLst/>
          </a:prstGeom>
          <a:noFill/>
          <a:ln w="9525">
            <a:noFill/>
          </a:ln>
        </p:spPr>
        <p:txBody>
          <a:bodyPr>
            <a:spAutoFit/>
          </a:bodyPr>
          <a:p>
            <a:r>
              <a:rPr lang="en-US" altLang="zh-CN" sz="2800" b="1" dirty="0">
                <a:solidFill>
                  <a:srgbClr val="0000FF"/>
                </a:solidFill>
                <a:latin typeface="楷体_GB2312" pitchFamily="49" charset="-122"/>
              </a:rPr>
              <a:t>    </a:t>
            </a:r>
            <a:endParaRPr lang="en-US" altLang="zh-CN" sz="2800" b="1" dirty="0">
              <a:solidFill>
                <a:srgbClr val="0000FF"/>
              </a:solidFill>
              <a:latin typeface="楷体_GB2312" pitchFamily="49" charset="-122"/>
            </a:endParaRPr>
          </a:p>
          <a:p>
            <a:r>
              <a:rPr lang="en-US" altLang="zh-CN" sz="2800" b="1" dirty="0">
                <a:solidFill>
                  <a:srgbClr val="0000FF"/>
                </a:solidFill>
                <a:latin typeface="楷体_GB2312" pitchFamily="49" charset="-122"/>
              </a:rPr>
              <a:t>    </a:t>
            </a:r>
            <a:r>
              <a:rPr lang="zh-CN" altLang="en-US" sz="2800" b="1" dirty="0">
                <a:solidFill>
                  <a:srgbClr val="0000FF"/>
                </a:solidFill>
                <a:latin typeface="楷体_GB2312" pitchFamily="49" charset="-122"/>
              </a:rPr>
              <a:t>目标规划通过引入目标值和偏差变量，可以将目标函数转化为目标约束。</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目标值：是指预先给定的某个目标的一个期望值。</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实现值或决策值：是指当决策变量</a:t>
            </a:r>
            <a:r>
              <a:rPr lang="en-US" altLang="zh-CN" sz="2800" b="1" i="1" dirty="0">
                <a:solidFill>
                  <a:srgbClr val="0000FF"/>
                </a:solidFill>
                <a:latin typeface="楷体_GB2312" pitchFamily="49" charset="-122"/>
              </a:rPr>
              <a:t>x</a:t>
            </a:r>
            <a:r>
              <a:rPr lang="en-US" altLang="zh-CN" sz="2800" b="1" i="1" baseline="-30000" dirty="0">
                <a:solidFill>
                  <a:srgbClr val="0000FF"/>
                </a:solidFill>
                <a:latin typeface="楷体_GB2312" pitchFamily="49" charset="-122"/>
              </a:rPr>
              <a:t>j</a:t>
            </a:r>
            <a:r>
              <a:rPr lang="en-US" altLang="zh-CN" sz="2800" b="1" baseline="-30000" dirty="0">
                <a:solidFill>
                  <a:srgbClr val="0000FF"/>
                </a:solidFill>
                <a:latin typeface="楷体_GB2312" pitchFamily="49" charset="-122"/>
              </a:rPr>
              <a:t> </a:t>
            </a:r>
            <a:r>
              <a:rPr lang="zh-CN" altLang="en-US" sz="2800" b="1" dirty="0">
                <a:solidFill>
                  <a:srgbClr val="0000FF"/>
                </a:solidFill>
                <a:latin typeface="楷体_GB2312" pitchFamily="49" charset="-122"/>
              </a:rPr>
              <a:t>选定以后，目标函数的对应值。</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偏差变量（事先无法确定的未知数）：是指实现值和目标值之间的差异</a:t>
            </a:r>
            <a:r>
              <a:rPr lang="en-US" altLang="zh-CN" sz="2800" b="1" dirty="0">
                <a:solidFill>
                  <a:srgbClr val="0000FF"/>
                </a:solidFill>
                <a:latin typeface="楷体_GB2312" pitchFamily="49" charset="-122"/>
              </a:rPr>
              <a:t>,</a:t>
            </a:r>
            <a:r>
              <a:rPr lang="zh-CN" altLang="en-US" sz="2800" b="1" dirty="0">
                <a:solidFill>
                  <a:srgbClr val="0000FF"/>
                </a:solidFill>
                <a:latin typeface="楷体_GB2312" pitchFamily="49" charset="-122"/>
              </a:rPr>
              <a:t>记为 </a:t>
            </a:r>
            <a:r>
              <a:rPr lang="en-US" altLang="zh-CN" sz="2800" b="1" dirty="0">
                <a:solidFill>
                  <a:srgbClr val="0000FF"/>
                </a:solidFill>
                <a:latin typeface="楷体_GB2312" pitchFamily="49" charset="-122"/>
              </a:rPr>
              <a:t>d </a:t>
            </a:r>
            <a:r>
              <a:rPr lang="zh-CN" altLang="en-US" sz="2800" b="1" dirty="0">
                <a:solidFill>
                  <a:srgbClr val="0000FF"/>
                </a:solidFill>
                <a:latin typeface="楷体_GB2312" pitchFamily="49" charset="-122"/>
              </a:rPr>
              <a:t>。</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正偏差变量：表示实现值超过目标值的部分，记为 </a:t>
            </a:r>
            <a:r>
              <a:rPr lang="en-US" altLang="zh-CN" sz="2800" b="1" dirty="0">
                <a:solidFill>
                  <a:srgbClr val="0000FF"/>
                </a:solidFill>
                <a:latin typeface="楷体_GB2312" pitchFamily="49" charset="-122"/>
              </a:rPr>
              <a:t>d</a:t>
            </a:r>
            <a:r>
              <a:rPr lang="zh-CN" altLang="en-US" sz="2800" b="1" baseline="30000" dirty="0">
                <a:solidFill>
                  <a:srgbClr val="0000FF"/>
                </a:solidFill>
                <a:latin typeface="Times New Roman" panose="02020603050405020304" pitchFamily="18" charset="0"/>
              </a:rPr>
              <a:t>＋</a:t>
            </a:r>
            <a:r>
              <a:rPr lang="zh-CN" altLang="en-US" sz="2800" b="1" dirty="0">
                <a:solidFill>
                  <a:srgbClr val="0000FF"/>
                </a:solidFill>
                <a:latin typeface="楷体_GB2312" pitchFamily="49" charset="-122"/>
              </a:rPr>
              <a:t>。</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负偏差变量：表示实现值未达到目标值的部分，记为 </a:t>
            </a:r>
            <a:r>
              <a:rPr lang="en-US" altLang="zh-CN" sz="2800" b="1" dirty="0">
                <a:solidFill>
                  <a:srgbClr val="0000FF"/>
                </a:solidFill>
                <a:latin typeface="楷体_GB2312" pitchFamily="49" charset="-122"/>
              </a:rPr>
              <a:t>d</a:t>
            </a:r>
            <a:r>
              <a:rPr lang="zh-CN" altLang="en-US" sz="2800" b="1" baseline="30000" dirty="0">
                <a:solidFill>
                  <a:srgbClr val="0000FF"/>
                </a:solidFill>
                <a:latin typeface="Times New Roman" panose="02020603050405020304" pitchFamily="18" charset="0"/>
              </a:rPr>
              <a:t>－</a:t>
            </a:r>
            <a:r>
              <a:rPr lang="zh-CN" altLang="en-US" sz="2800" b="1" dirty="0">
                <a:solidFill>
                  <a:srgbClr val="0000FF"/>
                </a:solidFill>
                <a:latin typeface="楷体_GB2312" pitchFamily="49" charset="-122"/>
              </a:rPr>
              <a:t>。</a:t>
            </a:r>
            <a:endParaRPr lang="zh-CN" altLang="en-US" sz="2800" b="1" dirty="0">
              <a:solidFill>
                <a:srgbClr val="0000FF"/>
              </a:solidFill>
              <a:latin typeface="楷体_GB2312" pitchFamily="49" charset="-122"/>
            </a:endParaRPr>
          </a:p>
        </p:txBody>
      </p:sp>
      <p:sp>
        <p:nvSpPr>
          <p:cNvPr id="7172" name="Line 4"/>
          <p:cNvSpPr/>
          <p:nvPr/>
        </p:nvSpPr>
        <p:spPr>
          <a:xfrm>
            <a:off x="1066800" y="2667000"/>
            <a:ext cx="7543800" cy="0"/>
          </a:xfrm>
          <a:prstGeom prst="line">
            <a:avLst/>
          </a:prstGeom>
          <a:ln w="57150" cap="flat" cmpd="sng">
            <a:solidFill>
              <a:srgbClr val="FF0000"/>
            </a:solidFill>
            <a:prstDash val="solid"/>
            <a:headEnd type="none" w="med" len="med"/>
            <a:tailEnd type="none" w="med" len="med"/>
          </a:ln>
        </p:spPr>
      </p:sp>
      <p:sp>
        <p:nvSpPr>
          <p:cNvPr id="7173" name="Line 5"/>
          <p:cNvSpPr/>
          <p:nvPr/>
        </p:nvSpPr>
        <p:spPr>
          <a:xfrm>
            <a:off x="990600" y="3962400"/>
            <a:ext cx="7543800" cy="0"/>
          </a:xfrm>
          <a:prstGeom prst="line">
            <a:avLst/>
          </a:prstGeom>
          <a:ln w="57150" cap="flat" cmpd="sng">
            <a:solidFill>
              <a:srgbClr val="FF0000"/>
            </a:solidFill>
            <a:prstDash val="solid"/>
            <a:headEnd type="none" w="med" len="med"/>
            <a:tailEnd type="none" w="med" len="med"/>
          </a:ln>
        </p:spPr>
      </p:sp>
      <p:sp>
        <p:nvSpPr>
          <p:cNvPr id="7175" name="Line 7"/>
          <p:cNvSpPr/>
          <p:nvPr/>
        </p:nvSpPr>
        <p:spPr>
          <a:xfrm>
            <a:off x="381000" y="4419600"/>
            <a:ext cx="5105400" cy="0"/>
          </a:xfrm>
          <a:prstGeom prst="line">
            <a:avLst/>
          </a:prstGeom>
          <a:ln w="57150" cap="flat" cmpd="sng">
            <a:solidFill>
              <a:srgbClr val="FF0000"/>
            </a:solidFill>
            <a:prstDash val="solid"/>
            <a:headEnd type="none" w="med" len="med"/>
            <a:tailEnd type="none" w="med" len="med"/>
          </a:ln>
        </p:spPr>
      </p:sp>
      <p:sp>
        <p:nvSpPr>
          <p:cNvPr id="39945" name="Rectangle 12"/>
          <p:cNvSpPr>
            <a:spLocks noGrp="1"/>
          </p:cNvSpPr>
          <p:nvPr>
            <p:ph type="ctrTitle"/>
          </p:nvPr>
        </p:nvSpPr>
        <p:spPr>
          <a:xfrm>
            <a:off x="685800" y="457200"/>
            <a:ext cx="7772400" cy="685800"/>
          </a:xfrm>
          <a:noFill/>
          <a:ln>
            <a:noFill/>
          </a:ln>
        </p:spPr>
        <p:txBody>
          <a:bodyPr/>
          <a:p>
            <a:pPr algn="l" eaLnBrk="1" hangingPunct="1">
              <a:buClrTx/>
              <a:buSzTx/>
              <a:buFontTx/>
            </a:pPr>
            <a:r>
              <a:rPr lang="en-US" altLang="zh-CN" sz="3200" b="1" dirty="0">
                <a:solidFill>
                  <a:srgbClr val="800080"/>
                </a:solidFill>
                <a:latin typeface="楷体_GB2312" pitchFamily="49" charset="-122"/>
                <a:ea typeface="楷体_GB2312" pitchFamily="49" charset="-122"/>
              </a:rPr>
              <a:t>1</a:t>
            </a:r>
            <a:r>
              <a:rPr lang="zh-CN" altLang="en-US" sz="3200" b="1" dirty="0">
                <a:solidFill>
                  <a:srgbClr val="800080"/>
                </a:solidFill>
                <a:latin typeface="楷体_GB2312" pitchFamily="49" charset="-122"/>
                <a:ea typeface="楷体_GB2312" pitchFamily="49" charset="-122"/>
              </a:rPr>
              <a:t>、目标值和偏差变量</a:t>
            </a:r>
            <a:endParaRPr lang="zh-CN" altLang="en-US" sz="3200" b="1" dirty="0">
              <a:solidFill>
                <a:srgbClr val="800080"/>
              </a:solidFill>
              <a:latin typeface="楷体_GB2312" pitchFamily="49" charset="-122"/>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checkerboard(across)">
                                      <p:cBhvr>
                                        <p:cTn id="7" dur="500"/>
                                        <p:tgtEl>
                                          <p:spTgt spid="7171"/>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nodeType="clickEffect">
                                  <p:stCondLst>
                                    <p:cond delay="0"/>
                                  </p:stCondLst>
                                  <p:childTnLst>
                                    <p:set>
                                      <p:cBhvr>
                                        <p:cTn id="11" dur="1" fill="hold">
                                          <p:stCondLst>
                                            <p:cond delay="0"/>
                                          </p:stCondLst>
                                        </p:cTn>
                                        <p:tgtEl>
                                          <p:spTgt spid="7172"/>
                                        </p:tgtEl>
                                        <p:attrNameLst>
                                          <p:attrName>style.visibility</p:attrName>
                                        </p:attrNameLst>
                                      </p:cBhvr>
                                      <p:to>
                                        <p:strVal val="visible"/>
                                      </p:to>
                                    </p:set>
                                    <p:anim calcmode="lin" valueType="num">
                                      <p:cBhvr>
                                        <p:cTn id="12" dur="500" fill="hold"/>
                                        <p:tgtEl>
                                          <p:spTgt spid="7172"/>
                                        </p:tgtEl>
                                        <p:attrNameLst>
                                          <p:attrName>ppt_x</p:attrName>
                                        </p:attrNameLst>
                                      </p:cBhvr>
                                      <p:tavLst>
                                        <p:tav tm="0">
                                          <p:val>
                                            <p:strVal val="#ppt_x-#ppt_w/2"/>
                                          </p:val>
                                        </p:tav>
                                        <p:tav tm="100000">
                                          <p:val>
                                            <p:strVal val="#ppt_x"/>
                                          </p:val>
                                        </p:tav>
                                      </p:tavLst>
                                    </p:anim>
                                    <p:anim calcmode="lin" valueType="num">
                                      <p:cBhvr>
                                        <p:cTn id="13" dur="500" fill="hold"/>
                                        <p:tgtEl>
                                          <p:spTgt spid="7172"/>
                                        </p:tgtEl>
                                        <p:attrNameLst>
                                          <p:attrName>ppt_y</p:attrName>
                                        </p:attrNameLst>
                                      </p:cBhvr>
                                      <p:tavLst>
                                        <p:tav tm="0">
                                          <p:val>
                                            <p:strVal val="#ppt_y"/>
                                          </p:val>
                                        </p:tav>
                                        <p:tav tm="100000">
                                          <p:val>
                                            <p:strVal val="#ppt_y"/>
                                          </p:val>
                                        </p:tav>
                                      </p:tavLst>
                                    </p:anim>
                                    <p:anim calcmode="lin" valueType="num">
                                      <p:cBhvr>
                                        <p:cTn id="14" dur="500" fill="hold"/>
                                        <p:tgtEl>
                                          <p:spTgt spid="7172"/>
                                        </p:tgtEl>
                                        <p:attrNameLst>
                                          <p:attrName>ppt_w</p:attrName>
                                        </p:attrNameLst>
                                      </p:cBhvr>
                                      <p:tavLst>
                                        <p:tav tm="0">
                                          <p:val>
                                            <p:fltVal val="0.000000"/>
                                          </p:val>
                                        </p:tav>
                                        <p:tav tm="100000">
                                          <p:val>
                                            <p:strVal val="#ppt_w"/>
                                          </p:val>
                                        </p:tav>
                                      </p:tavLst>
                                    </p:anim>
                                    <p:anim calcmode="lin" valueType="num">
                                      <p:cBhvr>
                                        <p:cTn id="15" dur="500" fill="hold"/>
                                        <p:tgtEl>
                                          <p:spTgt spid="7172"/>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176"/>
                                        </p:tgtEl>
                                        <p:attrNameLst>
                                          <p:attrName>style.visibility</p:attrName>
                                        </p:attrNameLst>
                                      </p:cBhvr>
                                      <p:to>
                                        <p:strVal val="visible"/>
                                      </p:to>
                                    </p:set>
                                    <p:animEffect transition="in" filter="blinds(horizontal)">
                                      <p:cBhvr>
                                        <p:cTn id="20" dur="500"/>
                                        <p:tgtEl>
                                          <p:spTgt spid="7176"/>
                                        </p:tgtEl>
                                      </p:cBhvr>
                                    </p:animEffect>
                                  </p:childTnLst>
                                  <p:subTnLst>
                                    <p:set>
                                      <p:cBhvr override="childStyle">
                                        <p:cTn dur="1" fill="hold" display="0" masterRel="nextClick" afterEffect="1"/>
                                        <p:tgtEl>
                                          <p:spTgt spid="7176"/>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7" presetClass="entr" presetSubtype="8" fill="hold" nodeType="clickEffect">
                                  <p:stCondLst>
                                    <p:cond delay="0"/>
                                  </p:stCondLst>
                                  <p:childTnLst>
                                    <p:set>
                                      <p:cBhvr>
                                        <p:cTn id="24" dur="1" fill="hold">
                                          <p:stCondLst>
                                            <p:cond delay="0"/>
                                          </p:stCondLst>
                                        </p:cTn>
                                        <p:tgtEl>
                                          <p:spTgt spid="7173"/>
                                        </p:tgtEl>
                                        <p:attrNameLst>
                                          <p:attrName>style.visibility</p:attrName>
                                        </p:attrNameLst>
                                      </p:cBhvr>
                                      <p:to>
                                        <p:strVal val="visible"/>
                                      </p:to>
                                    </p:set>
                                    <p:anim calcmode="lin" valueType="num">
                                      <p:cBhvr>
                                        <p:cTn id="25" dur="500" fill="hold"/>
                                        <p:tgtEl>
                                          <p:spTgt spid="7173"/>
                                        </p:tgtEl>
                                        <p:attrNameLst>
                                          <p:attrName>ppt_x</p:attrName>
                                        </p:attrNameLst>
                                      </p:cBhvr>
                                      <p:tavLst>
                                        <p:tav tm="0">
                                          <p:val>
                                            <p:strVal val="#ppt_x-#ppt_w/2"/>
                                          </p:val>
                                        </p:tav>
                                        <p:tav tm="100000">
                                          <p:val>
                                            <p:strVal val="#ppt_x"/>
                                          </p:val>
                                        </p:tav>
                                      </p:tavLst>
                                    </p:anim>
                                    <p:anim calcmode="lin" valueType="num">
                                      <p:cBhvr>
                                        <p:cTn id="26" dur="500" fill="hold"/>
                                        <p:tgtEl>
                                          <p:spTgt spid="7173"/>
                                        </p:tgtEl>
                                        <p:attrNameLst>
                                          <p:attrName>ppt_y</p:attrName>
                                        </p:attrNameLst>
                                      </p:cBhvr>
                                      <p:tavLst>
                                        <p:tav tm="0">
                                          <p:val>
                                            <p:strVal val="#ppt_y"/>
                                          </p:val>
                                        </p:tav>
                                        <p:tav tm="100000">
                                          <p:val>
                                            <p:strVal val="#ppt_y"/>
                                          </p:val>
                                        </p:tav>
                                      </p:tavLst>
                                    </p:anim>
                                    <p:anim calcmode="lin" valueType="num">
                                      <p:cBhvr>
                                        <p:cTn id="27" dur="500" fill="hold"/>
                                        <p:tgtEl>
                                          <p:spTgt spid="7173"/>
                                        </p:tgtEl>
                                        <p:attrNameLst>
                                          <p:attrName>ppt_w</p:attrName>
                                        </p:attrNameLst>
                                      </p:cBhvr>
                                      <p:tavLst>
                                        <p:tav tm="0">
                                          <p:val>
                                            <p:fltVal val="0.000000"/>
                                          </p:val>
                                        </p:tav>
                                        <p:tav tm="100000">
                                          <p:val>
                                            <p:strVal val="#ppt_w"/>
                                          </p:val>
                                        </p:tav>
                                      </p:tavLst>
                                    </p:anim>
                                    <p:anim calcmode="lin" valueType="num">
                                      <p:cBhvr>
                                        <p:cTn id="28" dur="500" fill="hold"/>
                                        <p:tgtEl>
                                          <p:spTgt spid="7173"/>
                                        </p:tgtEl>
                                        <p:attrNameLst>
                                          <p:attrName>ppt_h</p:attrName>
                                        </p:attrNameLst>
                                      </p:cBhvr>
                                      <p:tavLst>
                                        <p:tav tm="0">
                                          <p:val>
                                            <p:strVal val="#ppt_h"/>
                                          </p:val>
                                        </p:tav>
                                        <p:tav tm="100000">
                                          <p:val>
                                            <p:strVal val="#ppt_h"/>
                                          </p:val>
                                        </p:tav>
                                      </p:tavLst>
                                    </p:anim>
                                  </p:childTnLst>
                                </p:cTn>
                              </p:par>
                            </p:childTnLst>
                          </p:cTn>
                        </p:par>
                        <p:par>
                          <p:cTn id="29" fill="hold">
                            <p:stCondLst>
                              <p:cond delay="500"/>
                            </p:stCondLst>
                            <p:childTnLst>
                              <p:par>
                                <p:cTn id="30" presetID="17" presetClass="entr" presetSubtype="8" fill="hold" nodeType="afterEffect">
                                  <p:stCondLst>
                                    <p:cond delay="0"/>
                                  </p:stCondLst>
                                  <p:childTnLst>
                                    <p:set>
                                      <p:cBhvr>
                                        <p:cTn id="31" dur="1" fill="hold">
                                          <p:stCondLst>
                                            <p:cond delay="0"/>
                                          </p:stCondLst>
                                        </p:cTn>
                                        <p:tgtEl>
                                          <p:spTgt spid="7175"/>
                                        </p:tgtEl>
                                        <p:attrNameLst>
                                          <p:attrName>style.visibility</p:attrName>
                                        </p:attrNameLst>
                                      </p:cBhvr>
                                      <p:to>
                                        <p:strVal val="visible"/>
                                      </p:to>
                                    </p:set>
                                    <p:anim calcmode="lin" valueType="num">
                                      <p:cBhvr>
                                        <p:cTn id="32" dur="500" fill="hold"/>
                                        <p:tgtEl>
                                          <p:spTgt spid="7175"/>
                                        </p:tgtEl>
                                        <p:attrNameLst>
                                          <p:attrName>ppt_x</p:attrName>
                                        </p:attrNameLst>
                                      </p:cBhvr>
                                      <p:tavLst>
                                        <p:tav tm="0">
                                          <p:val>
                                            <p:strVal val="#ppt_x-#ppt_w/2"/>
                                          </p:val>
                                        </p:tav>
                                        <p:tav tm="100000">
                                          <p:val>
                                            <p:strVal val="#ppt_x"/>
                                          </p:val>
                                        </p:tav>
                                      </p:tavLst>
                                    </p:anim>
                                    <p:anim calcmode="lin" valueType="num">
                                      <p:cBhvr>
                                        <p:cTn id="33" dur="500" fill="hold"/>
                                        <p:tgtEl>
                                          <p:spTgt spid="7175"/>
                                        </p:tgtEl>
                                        <p:attrNameLst>
                                          <p:attrName>ppt_y</p:attrName>
                                        </p:attrNameLst>
                                      </p:cBhvr>
                                      <p:tavLst>
                                        <p:tav tm="0">
                                          <p:val>
                                            <p:strVal val="#ppt_y"/>
                                          </p:val>
                                        </p:tav>
                                        <p:tav tm="100000">
                                          <p:val>
                                            <p:strVal val="#ppt_y"/>
                                          </p:val>
                                        </p:tav>
                                      </p:tavLst>
                                    </p:anim>
                                    <p:anim calcmode="lin" valueType="num">
                                      <p:cBhvr>
                                        <p:cTn id="34" dur="500" fill="hold"/>
                                        <p:tgtEl>
                                          <p:spTgt spid="7175"/>
                                        </p:tgtEl>
                                        <p:attrNameLst>
                                          <p:attrName>ppt_w</p:attrName>
                                        </p:attrNameLst>
                                      </p:cBhvr>
                                      <p:tavLst>
                                        <p:tav tm="0">
                                          <p:val>
                                            <p:fltVal val="0.000000"/>
                                          </p:val>
                                        </p:tav>
                                        <p:tav tm="100000">
                                          <p:val>
                                            <p:strVal val="#ppt_w"/>
                                          </p:val>
                                        </p:tav>
                                      </p:tavLst>
                                    </p:anim>
                                    <p:anim calcmode="lin" valueType="num">
                                      <p:cBhvr>
                                        <p:cTn id="35" dur="500" fill="hold"/>
                                        <p:tgtEl>
                                          <p:spTgt spid="7175"/>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7177"/>
                                        </p:tgtEl>
                                        <p:attrNameLst>
                                          <p:attrName>style.visibility</p:attrName>
                                        </p:attrNameLst>
                                      </p:cBhvr>
                                      <p:to>
                                        <p:strVal val="visible"/>
                                      </p:to>
                                    </p:set>
                                    <p:animEffect transition="in" filter="box(in)">
                                      <p:cBhvr>
                                        <p:cTn id="40" dur="500"/>
                                        <p:tgtEl>
                                          <p:spTgt spid="7177"/>
                                        </p:tgtEl>
                                      </p:cBhvr>
                                    </p:animEffect>
                                  </p:childTnLst>
                                  <p:subTnLst>
                                    <p:set>
                                      <p:cBhvr override="childStyle">
                                        <p:cTn dur="1" fill="hold" display="0" masterRel="nextClick" afterEffect="1"/>
                                        <p:tgtEl>
                                          <p:spTgt spid="7177"/>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7178"/>
                                        </p:tgtEl>
                                        <p:attrNameLst>
                                          <p:attrName>style.visibility</p:attrName>
                                        </p:attrNameLst>
                                      </p:cBhvr>
                                      <p:to>
                                        <p:strVal val="visible"/>
                                      </p:to>
                                    </p:set>
                                    <p:animEffect transition="in" filter="checkerboard(across)">
                                      <p:cBhvr>
                                        <p:cTn id="45" dur="500"/>
                                        <p:tgtEl>
                                          <p:spTgt spid="7178"/>
                                        </p:tgtEl>
                                      </p:cBhvr>
                                    </p:animEffect>
                                  </p:childTnLst>
                                  <p:subTnLst>
                                    <p:set>
                                      <p:cBhvr override="childStyle">
                                        <p:cTn dur="1" fill="hold" display="0" masterRel="sameClick" afterEffect="1">
                                          <p:stCondLst>
                                            <p:cond evt="end" delay="0">
                                              <p:tn val="43"/>
                                            </p:cond>
                                          </p:stCondLst>
                                        </p:cTn>
                                        <p:tgtEl>
                                          <p:spTgt spid="717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 grpId="0" animBg="1"/>
      <p:bldP spid="7177" grpId="0" animBg="1"/>
      <p:bldP spid="7176" grpId="0" animBg="1"/>
      <p:bldP spid="717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ext Box 2"/>
          <p:cNvSpPr txBox="1"/>
          <p:nvPr/>
        </p:nvSpPr>
        <p:spPr>
          <a:xfrm>
            <a:off x="228600" y="1066800"/>
            <a:ext cx="8686800" cy="2227263"/>
          </a:xfrm>
          <a:prstGeom prst="rect">
            <a:avLst/>
          </a:prstGeom>
          <a:noFill/>
          <a:ln w="9525">
            <a:noFill/>
          </a:ln>
        </p:spPr>
        <p:txBody>
          <a:bodyPr>
            <a:spAutoFit/>
          </a:bodyPr>
          <a:p>
            <a:r>
              <a:rPr lang="en-US" altLang="zh-CN" sz="2800" b="1" dirty="0">
                <a:latin typeface="Times New Roman" panose="02020603050405020304" pitchFamily="18" charset="0"/>
              </a:rPr>
              <a:t>        </a:t>
            </a:r>
            <a:endParaRPr lang="en-US" altLang="zh-CN" sz="2800" b="1" dirty="0">
              <a:solidFill>
                <a:srgbClr val="0000FF"/>
              </a:solidFill>
              <a:latin typeface="Times New Roman" panose="02020603050405020304" pitchFamily="18" charset="0"/>
            </a:endParaRPr>
          </a:p>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当完成或超额完成规定的指标则表示：</a:t>
            </a:r>
            <a:r>
              <a:rPr lang="en-US" altLang="zh-CN" sz="2800" b="1" dirty="0">
                <a:solidFill>
                  <a:srgbClr val="0000FF"/>
                </a:solidFill>
                <a:latin typeface="楷体_GB2312" pitchFamily="49" charset="-122"/>
              </a:rPr>
              <a:t>d</a:t>
            </a:r>
            <a:r>
              <a:rPr lang="zh-CN" altLang="en-US" sz="2800" b="1" baseline="30000"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0, </a:t>
            </a:r>
            <a:r>
              <a:rPr lang="en-US" altLang="zh-CN" sz="2800" b="1" dirty="0">
                <a:solidFill>
                  <a:srgbClr val="0000FF"/>
                </a:solidFill>
                <a:latin typeface="楷体_GB2312" pitchFamily="49" charset="-122"/>
              </a:rPr>
              <a:t>d</a:t>
            </a:r>
            <a:r>
              <a:rPr lang="zh-CN" altLang="en-US" sz="2800" b="1" baseline="30000"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0</a:t>
            </a:r>
            <a:endParaRPr lang="en-US" altLang="zh-CN" sz="2800" b="1" dirty="0">
              <a:solidFill>
                <a:srgbClr val="0000FF"/>
              </a:solidFill>
              <a:latin typeface="Times New Roman" panose="02020603050405020304" pitchFamily="18" charset="0"/>
            </a:endParaRPr>
          </a:p>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当未完成规定的指标则表示： </a:t>
            </a:r>
            <a:r>
              <a:rPr lang="en-US" altLang="zh-CN" sz="2800" b="1" dirty="0">
                <a:solidFill>
                  <a:srgbClr val="0000FF"/>
                </a:solidFill>
                <a:latin typeface="楷体_GB2312" pitchFamily="49" charset="-122"/>
              </a:rPr>
              <a:t>d</a:t>
            </a:r>
            <a:r>
              <a:rPr lang="zh-CN" altLang="en-US" sz="2800" b="1" baseline="30000"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0, </a:t>
            </a:r>
            <a:r>
              <a:rPr lang="en-US" altLang="zh-CN" sz="2800" b="1" dirty="0">
                <a:solidFill>
                  <a:srgbClr val="0000FF"/>
                </a:solidFill>
                <a:latin typeface="楷体_GB2312" pitchFamily="49" charset="-122"/>
              </a:rPr>
              <a:t>d</a:t>
            </a:r>
            <a:r>
              <a:rPr lang="zh-CN" altLang="en-US" sz="2800" b="1" baseline="30000"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0</a:t>
            </a:r>
            <a:endParaRPr lang="en-US" altLang="zh-CN" sz="2800" b="1" dirty="0">
              <a:solidFill>
                <a:srgbClr val="0000FF"/>
              </a:solidFill>
              <a:latin typeface="Times New Roman" panose="02020603050405020304" pitchFamily="18" charset="0"/>
            </a:endParaRPr>
          </a:p>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当恰好完成指标时则表示： </a:t>
            </a:r>
            <a:r>
              <a:rPr lang="en-US" altLang="zh-CN" sz="2800" b="1" dirty="0">
                <a:solidFill>
                  <a:srgbClr val="0000FF"/>
                </a:solidFill>
                <a:latin typeface="楷体_GB2312" pitchFamily="49" charset="-122"/>
              </a:rPr>
              <a:t>d</a:t>
            </a:r>
            <a:r>
              <a:rPr lang="zh-CN" altLang="en-US" sz="2800" b="1" baseline="30000"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0, </a:t>
            </a:r>
            <a:r>
              <a:rPr lang="en-US" altLang="zh-CN" sz="2800" b="1" dirty="0">
                <a:solidFill>
                  <a:srgbClr val="0000FF"/>
                </a:solidFill>
                <a:latin typeface="楷体_GB2312" pitchFamily="49" charset="-122"/>
              </a:rPr>
              <a:t>d</a:t>
            </a:r>
            <a:r>
              <a:rPr lang="zh-CN" altLang="en-US" sz="2800" b="1" baseline="30000"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0</a:t>
            </a:r>
            <a:endParaRPr lang="en-US" altLang="zh-CN" sz="2800" b="1" dirty="0">
              <a:solidFill>
                <a:srgbClr val="0000FF"/>
              </a:solidFill>
              <a:latin typeface="Times New Roman" panose="02020603050405020304" pitchFamily="18" charset="0"/>
            </a:endParaRPr>
          </a:p>
          <a:p>
            <a:r>
              <a:rPr lang="en-US" altLang="zh-CN" sz="2800" b="1" dirty="0">
                <a:solidFill>
                  <a:srgbClr val="0000FF"/>
                </a:solidFill>
                <a:latin typeface="Times New Roman" panose="02020603050405020304" pitchFamily="18" charset="0"/>
              </a:rPr>
              <a:t>       ∴ </a:t>
            </a:r>
            <a:r>
              <a:rPr lang="en-US" altLang="zh-CN" sz="2800" b="1" dirty="0">
                <a:solidFill>
                  <a:srgbClr val="0000FF"/>
                </a:solidFill>
                <a:latin typeface="楷体_GB2312" pitchFamily="49" charset="-122"/>
              </a:rPr>
              <a:t>d</a:t>
            </a:r>
            <a:r>
              <a:rPr lang="zh-CN" altLang="en-US" sz="2800" b="1" baseline="30000"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 </a:t>
            </a:r>
            <a:r>
              <a:rPr lang="en-US" altLang="zh-CN" sz="2800" b="1" dirty="0">
                <a:solidFill>
                  <a:srgbClr val="0000FF"/>
                </a:solidFill>
                <a:latin typeface="楷体_GB2312" pitchFamily="49" charset="-122"/>
              </a:rPr>
              <a:t>d</a:t>
            </a:r>
            <a:r>
              <a:rPr lang="zh-CN" altLang="en-US" sz="2800" b="1" baseline="30000"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 </a:t>
            </a:r>
            <a:r>
              <a:rPr lang="zh-CN" altLang="en-US" sz="2800" b="1" dirty="0">
                <a:solidFill>
                  <a:srgbClr val="0000FF"/>
                </a:solidFill>
                <a:latin typeface="楷体_GB2312" pitchFamily="49" charset="-122"/>
              </a:rPr>
              <a:t>＝</a:t>
            </a:r>
            <a:r>
              <a:rPr lang="en-US" altLang="zh-CN" sz="2800" b="1" dirty="0">
                <a:solidFill>
                  <a:srgbClr val="0000FF"/>
                </a:solidFill>
                <a:latin typeface="楷体_GB2312" pitchFamily="49" charset="-122"/>
              </a:rPr>
              <a:t>0 </a:t>
            </a:r>
            <a:r>
              <a:rPr lang="zh-CN" altLang="en-US" sz="2800" b="1" dirty="0">
                <a:solidFill>
                  <a:srgbClr val="0000FF"/>
                </a:solidFill>
                <a:latin typeface="楷体_GB2312" pitchFamily="49" charset="-122"/>
              </a:rPr>
              <a:t>成立。</a:t>
            </a:r>
            <a:endParaRPr lang="zh-CN" altLang="en-US" sz="2800" b="1" dirty="0">
              <a:solidFill>
                <a:srgbClr val="0000FF"/>
              </a:solidFill>
              <a:latin typeface="楷体_GB2312" pitchFamily="49" charset="-122"/>
            </a:endParaRPr>
          </a:p>
        </p:txBody>
      </p:sp>
      <p:sp>
        <p:nvSpPr>
          <p:cNvPr id="8195" name="Text Box 3"/>
          <p:cNvSpPr txBox="1"/>
          <p:nvPr/>
        </p:nvSpPr>
        <p:spPr>
          <a:xfrm>
            <a:off x="228600" y="4267200"/>
            <a:ext cx="8610600" cy="1800225"/>
          </a:xfrm>
          <a:prstGeom prst="rect">
            <a:avLst/>
          </a:prstGeom>
          <a:noFill/>
          <a:ln w="9525">
            <a:noFill/>
          </a:ln>
        </p:spPr>
        <p:txBody>
          <a:bodyPr>
            <a:spAutoFit/>
          </a:bodyPr>
          <a:p>
            <a:r>
              <a:rPr lang="en-US" altLang="zh-CN" sz="2800" b="1" dirty="0">
                <a:solidFill>
                  <a:srgbClr val="0000FF"/>
                </a:solidFill>
                <a:latin typeface="楷体_GB2312" pitchFamily="49" charset="-122"/>
              </a:rPr>
              <a:t>    </a:t>
            </a:r>
            <a:r>
              <a:rPr lang="zh-CN" altLang="en-US" sz="2800" b="1" dirty="0">
                <a:latin typeface="楷体_GB2312" pitchFamily="49" charset="-122"/>
              </a:rPr>
              <a:t>引入了目标值和正、负偏差变量后，就对某一问题有了新的限制，即目标约束。</a:t>
            </a:r>
            <a:endParaRPr lang="zh-CN" altLang="en-US" sz="2800" b="1" dirty="0">
              <a:latin typeface="楷体_GB2312" pitchFamily="49" charset="-122"/>
            </a:endParaRPr>
          </a:p>
          <a:p>
            <a:r>
              <a:rPr lang="zh-CN" altLang="en-US" sz="2800" b="1" dirty="0">
                <a:latin typeface="楷体_GB2312" pitchFamily="49" charset="-122"/>
              </a:rPr>
              <a:t>  目标约束即可对原目标函数起作用，也可对原约束起作用。</a:t>
            </a:r>
            <a:r>
              <a:rPr lang="zh-CN" altLang="en-US" sz="2800" b="1" dirty="0">
                <a:latin typeface="Times New Roman" panose="02020603050405020304" pitchFamily="18" charset="0"/>
              </a:rPr>
              <a:t>目标约束是目标规划中特有的，是软约束。</a:t>
            </a:r>
            <a:endParaRPr lang="zh-CN" altLang="en-US" sz="2800" b="1" dirty="0">
              <a:latin typeface="Times New Roman" panose="02020603050405020304" pitchFamily="18" charset="0"/>
            </a:endParaRPr>
          </a:p>
        </p:txBody>
      </p:sp>
      <p:sp>
        <p:nvSpPr>
          <p:cNvPr id="8196" name="Text Box 4"/>
          <p:cNvSpPr txBox="1"/>
          <p:nvPr/>
        </p:nvSpPr>
        <p:spPr>
          <a:xfrm>
            <a:off x="457200" y="304800"/>
            <a:ext cx="8359775" cy="946150"/>
          </a:xfrm>
          <a:prstGeom prst="rect">
            <a:avLst/>
          </a:prstGeom>
          <a:noFill/>
          <a:ln w="9525">
            <a:noFill/>
          </a:ln>
        </p:spPr>
        <p:txBody>
          <a:bodyPr>
            <a:spAutoFit/>
          </a:bodyPr>
          <a:p>
            <a:pPr>
              <a:spcBef>
                <a:spcPct val="50000"/>
              </a:spcBef>
            </a:pPr>
            <a:r>
              <a:rPr lang="zh-CN" altLang="en-US" sz="2800" b="1" dirty="0">
                <a:solidFill>
                  <a:srgbClr val="663300"/>
                </a:solidFill>
                <a:latin typeface="Times New Roman" panose="02020603050405020304" pitchFamily="18" charset="0"/>
              </a:rPr>
              <a:t>在一次决策中，实现值不可能既超过目标值又未达到目标值，故有 </a:t>
            </a:r>
            <a:r>
              <a:rPr lang="en-US" altLang="zh-CN" sz="2800" b="1" dirty="0">
                <a:solidFill>
                  <a:srgbClr val="663300"/>
                </a:solidFill>
                <a:latin typeface="楷体_GB2312" pitchFamily="49" charset="-122"/>
              </a:rPr>
              <a:t>d</a:t>
            </a:r>
            <a:r>
              <a:rPr lang="zh-CN" altLang="en-US" sz="2800" b="1" baseline="30000" dirty="0">
                <a:solidFill>
                  <a:srgbClr val="663300"/>
                </a:solidFill>
                <a:latin typeface="Times New Roman" panose="02020603050405020304" pitchFamily="18" charset="0"/>
              </a:rPr>
              <a:t>＋</a:t>
            </a:r>
            <a:r>
              <a:rPr lang="en-US" altLang="zh-CN" sz="2800" b="1" dirty="0">
                <a:solidFill>
                  <a:srgbClr val="663300"/>
                </a:solidFill>
                <a:latin typeface="Times New Roman" panose="02020603050405020304" pitchFamily="18" charset="0"/>
              </a:rPr>
              <a:t>× </a:t>
            </a:r>
            <a:r>
              <a:rPr lang="en-US" altLang="zh-CN" sz="2800" b="1" dirty="0">
                <a:solidFill>
                  <a:srgbClr val="663300"/>
                </a:solidFill>
                <a:latin typeface="楷体_GB2312" pitchFamily="49" charset="-122"/>
              </a:rPr>
              <a:t>d</a:t>
            </a:r>
            <a:r>
              <a:rPr lang="zh-CN" altLang="en-US" sz="2800" b="1" baseline="30000" dirty="0">
                <a:solidFill>
                  <a:srgbClr val="663300"/>
                </a:solidFill>
                <a:latin typeface="Times New Roman" panose="02020603050405020304" pitchFamily="18" charset="0"/>
              </a:rPr>
              <a:t>－</a:t>
            </a:r>
            <a:r>
              <a:rPr lang="zh-CN" altLang="en-US" sz="2800" b="1" dirty="0">
                <a:solidFill>
                  <a:srgbClr val="663300"/>
                </a:solidFill>
                <a:latin typeface="Times New Roman" panose="02020603050405020304" pitchFamily="18" charset="0"/>
              </a:rPr>
              <a:t> </a:t>
            </a:r>
            <a:r>
              <a:rPr lang="zh-CN" altLang="en-US" sz="2800" b="1" dirty="0">
                <a:solidFill>
                  <a:srgbClr val="663300"/>
                </a:solidFill>
                <a:latin typeface="楷体_GB2312" pitchFamily="49" charset="-122"/>
              </a:rPr>
              <a:t>＝</a:t>
            </a:r>
            <a:r>
              <a:rPr lang="en-US" altLang="zh-CN" sz="2800" b="1" dirty="0">
                <a:solidFill>
                  <a:srgbClr val="663300"/>
                </a:solidFill>
                <a:latin typeface="楷体_GB2312" pitchFamily="49" charset="-122"/>
              </a:rPr>
              <a:t>0,</a:t>
            </a:r>
            <a:r>
              <a:rPr lang="zh-CN" altLang="en-US" sz="2800" b="1" dirty="0">
                <a:solidFill>
                  <a:srgbClr val="663300"/>
                </a:solidFill>
                <a:latin typeface="楷体_GB2312" pitchFamily="49" charset="-122"/>
              </a:rPr>
              <a:t>并规定</a:t>
            </a:r>
            <a:r>
              <a:rPr lang="en-US" altLang="zh-CN" sz="2800" b="1" dirty="0">
                <a:solidFill>
                  <a:srgbClr val="663300"/>
                </a:solidFill>
                <a:latin typeface="楷体_GB2312" pitchFamily="49" charset="-122"/>
              </a:rPr>
              <a:t>d</a:t>
            </a:r>
            <a:r>
              <a:rPr lang="zh-CN" altLang="en-US" sz="2800" b="1" baseline="30000" dirty="0">
                <a:solidFill>
                  <a:srgbClr val="663300"/>
                </a:solidFill>
                <a:latin typeface="Times New Roman" panose="02020603050405020304" pitchFamily="18" charset="0"/>
              </a:rPr>
              <a:t>＋</a:t>
            </a:r>
            <a:r>
              <a:rPr lang="zh-CN" altLang="en-US" sz="2800" b="1" dirty="0">
                <a:solidFill>
                  <a:srgbClr val="663300"/>
                </a:solidFill>
                <a:latin typeface="Times New Roman" panose="02020603050405020304" pitchFamily="18" charset="0"/>
              </a:rPr>
              <a:t>≥</a:t>
            </a:r>
            <a:r>
              <a:rPr lang="en-US" altLang="zh-CN" sz="2800" b="1" dirty="0">
                <a:solidFill>
                  <a:srgbClr val="663300"/>
                </a:solidFill>
                <a:latin typeface="Times New Roman" panose="02020603050405020304" pitchFamily="18" charset="0"/>
              </a:rPr>
              <a:t>0, </a:t>
            </a:r>
            <a:r>
              <a:rPr lang="en-US" altLang="zh-CN" sz="2800" b="1" dirty="0">
                <a:solidFill>
                  <a:srgbClr val="663300"/>
                </a:solidFill>
                <a:latin typeface="楷体_GB2312" pitchFamily="49" charset="-122"/>
              </a:rPr>
              <a:t>d</a:t>
            </a:r>
            <a:r>
              <a:rPr lang="zh-CN" altLang="en-US" sz="2800" b="1" baseline="30000" dirty="0">
                <a:solidFill>
                  <a:srgbClr val="663300"/>
                </a:solidFill>
                <a:latin typeface="Times New Roman" panose="02020603050405020304" pitchFamily="18" charset="0"/>
              </a:rPr>
              <a:t>－</a:t>
            </a:r>
            <a:r>
              <a:rPr lang="zh-CN" altLang="en-US" sz="2800" b="1" dirty="0">
                <a:solidFill>
                  <a:srgbClr val="663300"/>
                </a:solidFill>
                <a:latin typeface="Times New Roman" panose="02020603050405020304" pitchFamily="18" charset="0"/>
              </a:rPr>
              <a:t>≥</a:t>
            </a:r>
            <a:r>
              <a:rPr lang="en-US" altLang="zh-CN" sz="2800" b="1" dirty="0">
                <a:solidFill>
                  <a:srgbClr val="663300"/>
                </a:solidFill>
                <a:latin typeface="Times New Roman" panose="02020603050405020304" pitchFamily="18" charset="0"/>
              </a:rPr>
              <a:t>0</a:t>
            </a:r>
            <a:endParaRPr lang="en-US" altLang="zh-CN" sz="2800" b="1" dirty="0">
              <a:solidFill>
                <a:srgbClr val="663300"/>
              </a:solidFill>
              <a:latin typeface="Times New Roman" panose="02020603050405020304" pitchFamily="18" charset="0"/>
            </a:endParaRPr>
          </a:p>
        </p:txBody>
      </p:sp>
      <p:sp>
        <p:nvSpPr>
          <p:cNvPr id="8198" name="Rectangle 6"/>
          <p:cNvSpPr>
            <a:spLocks noGrp="1"/>
          </p:cNvSpPr>
          <p:nvPr>
            <p:ph type="ctrTitle"/>
          </p:nvPr>
        </p:nvSpPr>
        <p:spPr>
          <a:xfrm>
            <a:off x="685800" y="3276600"/>
            <a:ext cx="7772400" cy="685800"/>
          </a:xfrm>
          <a:noFill/>
          <a:ln>
            <a:noFill/>
          </a:ln>
        </p:spPr>
        <p:txBody>
          <a:bodyPr/>
          <a:p>
            <a:pPr algn="l" eaLnBrk="1" hangingPunct="1">
              <a:buClrTx/>
              <a:buSzTx/>
              <a:buFontTx/>
            </a:pPr>
            <a:r>
              <a:rPr lang="en-US" altLang="zh-CN" sz="3200" b="1" dirty="0">
                <a:solidFill>
                  <a:srgbClr val="800080"/>
                </a:solidFill>
                <a:latin typeface="楷体_GB2312" pitchFamily="49" charset="-122"/>
                <a:ea typeface="楷体_GB2312" pitchFamily="49" charset="-122"/>
              </a:rPr>
              <a:t>2</a:t>
            </a:r>
            <a:r>
              <a:rPr lang="zh-CN" altLang="en-US" sz="3200" b="1" dirty="0">
                <a:solidFill>
                  <a:srgbClr val="800080"/>
                </a:solidFill>
                <a:latin typeface="楷体_GB2312" pitchFamily="49" charset="-122"/>
                <a:ea typeface="楷体_GB2312" pitchFamily="49" charset="-122"/>
              </a:rPr>
              <a:t>、目标约束和绝对约束</a:t>
            </a:r>
            <a:endParaRPr lang="zh-CN" altLang="en-US" sz="3200" b="1" dirty="0">
              <a:solidFill>
                <a:srgbClr val="800080"/>
              </a:solidFill>
              <a:latin typeface="楷体_GB2312" pitchFamily="49" charset="-122"/>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8196"/>
                                        </p:tgtEl>
                                        <p:attrNameLst>
                                          <p:attrName>style.visibility</p:attrName>
                                        </p:attrNameLst>
                                      </p:cBhvr>
                                      <p:to>
                                        <p:strVal val="visible"/>
                                      </p:to>
                                    </p:set>
                                    <p:anim to="" calcmode="lin" valueType="num">
                                      <p:cBhvr>
                                        <p:cTn id="7" dur="1" fill="hold"/>
                                        <p:tgtEl>
                                          <p:spTgt spid="8196"/>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4"/>
                                        </p:tgtEl>
                                        <p:attrNameLst>
                                          <p:attrName>style.visibility</p:attrName>
                                        </p:attrNameLst>
                                      </p:cBhvr>
                                      <p:to>
                                        <p:strVal val="visible"/>
                                      </p:to>
                                    </p:set>
                                    <p:animEffect transition="in" filter="blinds(horizontal)">
                                      <p:cBhvr>
                                        <p:cTn id="12" dur="500"/>
                                        <p:tgtEl>
                                          <p:spTgt spid="819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8198"/>
                                        </p:tgtEl>
                                        <p:attrNameLst>
                                          <p:attrName>style.visibility</p:attrName>
                                        </p:attrNameLst>
                                      </p:cBhvr>
                                      <p:to>
                                        <p:strVal val="visible"/>
                                      </p:to>
                                    </p:set>
                                    <p:anim calcmode="lin" valueType="num">
                                      <p:cBhvr additive="base">
                                        <p:cTn id="17" dur="500" fill="hold"/>
                                        <p:tgtEl>
                                          <p:spTgt spid="8198"/>
                                        </p:tgtEl>
                                        <p:attrNameLst>
                                          <p:attrName>ppt_x</p:attrName>
                                        </p:attrNameLst>
                                      </p:cBhvr>
                                      <p:tavLst>
                                        <p:tav tm="0">
                                          <p:val>
                                            <p:strVal val="0-#ppt_w/2"/>
                                          </p:val>
                                        </p:tav>
                                        <p:tav tm="100000">
                                          <p:val>
                                            <p:strVal val="#ppt_x"/>
                                          </p:val>
                                        </p:tav>
                                      </p:tavLst>
                                    </p:anim>
                                    <p:anim calcmode="lin" valueType="num">
                                      <p:cBhvr additive="base">
                                        <p:cTn id="18" dur="500" fill="hold"/>
                                        <p:tgtEl>
                                          <p:spTgt spid="819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8195"/>
                                        </p:tgtEl>
                                        <p:attrNameLst>
                                          <p:attrName>style.visibility</p:attrName>
                                        </p:attrNameLst>
                                      </p:cBhvr>
                                      <p:to>
                                        <p:strVal val="visible"/>
                                      </p:to>
                                    </p:set>
                                    <p:animEffect transition="in" filter="blinds(vertical)">
                                      <p:cBhvr>
                                        <p:cTn id="23"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8195" grpId="0"/>
      <p:bldP spid="8196" grpId="0"/>
      <p:bldP spid="819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20" name="Text Box 4"/>
          <p:cNvSpPr txBox="1"/>
          <p:nvPr/>
        </p:nvSpPr>
        <p:spPr>
          <a:xfrm>
            <a:off x="228600" y="457200"/>
            <a:ext cx="8686800" cy="1373188"/>
          </a:xfrm>
          <a:prstGeom prst="rect">
            <a:avLst/>
          </a:prstGeom>
          <a:noFill/>
          <a:ln w="9525">
            <a:noFill/>
          </a:ln>
        </p:spPr>
        <p:txBody>
          <a:bodyPr>
            <a:spAutoFit/>
          </a:bodyPr>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绝对约束（系统约束）是指必须严格满足的等式或不等式约束。如线性规划中的所有约束条件都是绝对约束，否则无可行解。所以，绝对约束是硬约束。</a:t>
            </a:r>
            <a:endParaRPr lang="zh-CN" altLang="en-US" sz="2800" b="1" dirty="0">
              <a:solidFill>
                <a:srgbClr val="0000FF"/>
              </a:solidFill>
              <a:latin typeface="Times New Roman" panose="02020603050405020304" pitchFamily="18" charset="0"/>
            </a:endParaRPr>
          </a:p>
        </p:txBody>
      </p:sp>
      <p:sp>
        <p:nvSpPr>
          <p:cNvPr id="9223" name="Text Box 7"/>
          <p:cNvSpPr txBox="1"/>
          <p:nvPr/>
        </p:nvSpPr>
        <p:spPr>
          <a:xfrm>
            <a:off x="228600" y="2047875"/>
            <a:ext cx="8686800" cy="1800225"/>
          </a:xfrm>
          <a:prstGeom prst="rect">
            <a:avLst/>
          </a:prstGeom>
          <a:noFill/>
          <a:ln w="9525">
            <a:noFill/>
          </a:ln>
        </p:spPr>
        <p:txBody>
          <a:bodyPr>
            <a:spAutoFit/>
          </a:bodyPr>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例如：在例一中，规定</a:t>
            </a:r>
            <a:r>
              <a:rPr lang="en-US" altLang="zh-CN" sz="2800" b="1" dirty="0">
                <a:solidFill>
                  <a:srgbClr val="0000FF"/>
                </a:solidFill>
                <a:latin typeface="Times New Roman" panose="02020603050405020304" pitchFamily="18" charset="0"/>
              </a:rPr>
              <a:t>Z</a:t>
            </a:r>
            <a:r>
              <a:rPr lang="en-US" altLang="zh-CN" sz="2800" b="1" baseline="-30000" dirty="0">
                <a:solidFill>
                  <a:srgbClr val="0000FF"/>
                </a:solidFill>
                <a:latin typeface="Times New Roman" panose="02020603050405020304" pitchFamily="18" charset="0"/>
              </a:rPr>
              <a:t>1</a:t>
            </a:r>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的目标值为 </a:t>
            </a:r>
            <a:r>
              <a:rPr lang="en-US" altLang="zh-CN" sz="2800" b="1" dirty="0">
                <a:solidFill>
                  <a:srgbClr val="0000FF"/>
                </a:solidFill>
                <a:latin typeface="Times New Roman" panose="02020603050405020304" pitchFamily="18" charset="0"/>
              </a:rPr>
              <a:t>50000,</a:t>
            </a:r>
            <a:r>
              <a:rPr lang="zh-CN" altLang="en-US" sz="2800" b="1" dirty="0">
                <a:solidFill>
                  <a:srgbClr val="0000FF"/>
                </a:solidFill>
                <a:latin typeface="Times New Roman" panose="02020603050405020304" pitchFamily="18" charset="0"/>
              </a:rPr>
              <a:t>正、负偏差为</a:t>
            </a:r>
            <a:r>
              <a:rPr lang="en-US" altLang="zh-CN" sz="2800" b="1" i="1" dirty="0">
                <a:latin typeface="Times New Roman" panose="02020603050405020304" pitchFamily="18" charset="0"/>
              </a:rPr>
              <a:t>d</a:t>
            </a:r>
            <a:r>
              <a:rPr lang="zh-CN" altLang="en-US" sz="2800" b="1" i="1" baseline="30000" dirty="0">
                <a:latin typeface="Times New Roman" panose="02020603050405020304" pitchFamily="18" charset="0"/>
              </a:rPr>
              <a:t>＋</a:t>
            </a:r>
            <a:r>
              <a:rPr lang="zh-CN" altLang="en-US" sz="2800" b="1" i="1" dirty="0">
                <a:latin typeface="Times New Roman" panose="02020603050405020304" pitchFamily="18" charset="0"/>
              </a:rPr>
              <a:t>、</a:t>
            </a:r>
            <a:r>
              <a:rPr lang="en-US" altLang="zh-CN" sz="2800" b="1" i="1" dirty="0">
                <a:latin typeface="Times New Roman" panose="02020603050405020304" pitchFamily="18" charset="0"/>
              </a:rPr>
              <a:t>d</a:t>
            </a:r>
            <a:r>
              <a:rPr lang="zh-CN" altLang="en-US" sz="2800" b="1" i="1" baseline="30000" dirty="0">
                <a:latin typeface="Times New Roman" panose="02020603050405020304" pitchFamily="18" charset="0"/>
              </a:rPr>
              <a:t>－</a:t>
            </a:r>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则目标函数可以转换为目标约束，既</a:t>
            </a:r>
            <a:endParaRPr lang="zh-CN" altLang="en-US" sz="2800" b="1" dirty="0">
              <a:solidFill>
                <a:srgbClr val="0000FF"/>
              </a:solidFill>
              <a:latin typeface="Times New Roman" panose="02020603050405020304" pitchFamily="18" charset="0"/>
            </a:endParaRPr>
          </a:p>
          <a:p>
            <a:r>
              <a:rPr lang="en-US" altLang="zh-CN" sz="2800" dirty="0">
                <a:latin typeface="Times New Roman" panose="02020603050405020304" pitchFamily="18" charset="0"/>
                <a:ea typeface="宋体" panose="02010600030101010101" pitchFamily="2" charset="-122"/>
              </a:rPr>
              <a:t>70 </a:t>
            </a:r>
            <a:r>
              <a:rPr lang="en-US" altLang="zh-CN" sz="2800" i="1" dirty="0">
                <a:latin typeface="Times New Roman" panose="02020603050405020304" pitchFamily="18" charset="0"/>
              </a:rPr>
              <a:t>x</a:t>
            </a:r>
            <a:r>
              <a:rPr lang="en-US" altLang="zh-CN" sz="2800" i="1" baseline="-30000" dirty="0">
                <a:latin typeface="Times New Roman" panose="02020603050405020304" pitchFamily="18" charset="0"/>
              </a:rPr>
              <a:t>1</a:t>
            </a:r>
            <a:r>
              <a:rPr lang="en-US" altLang="zh-CN" sz="2800" i="1" dirty="0">
                <a:latin typeface="Times New Roman" panose="02020603050405020304" pitchFamily="18" charset="0"/>
              </a:rPr>
              <a:t> </a:t>
            </a:r>
            <a:r>
              <a:rPr lang="en-US" altLang="zh-CN" sz="2800" dirty="0">
                <a:latin typeface="Times New Roman" panose="02020603050405020304" pitchFamily="18" charset="0"/>
                <a:ea typeface="宋体" panose="02010600030101010101" pitchFamily="2" charset="-122"/>
              </a:rPr>
              <a:t>+ 120 </a:t>
            </a:r>
            <a:r>
              <a:rPr lang="en-US" altLang="zh-CN" sz="2800" i="1" dirty="0">
                <a:latin typeface="Times New Roman" panose="02020603050405020304" pitchFamily="18" charset="0"/>
              </a:rPr>
              <a:t>x</a:t>
            </a:r>
            <a:r>
              <a:rPr lang="en-US" altLang="zh-CN" sz="2800" i="1" baseline="-30000" dirty="0">
                <a:latin typeface="Times New Roman" panose="02020603050405020304" pitchFamily="18" charset="0"/>
              </a:rPr>
              <a:t>2</a:t>
            </a:r>
            <a:r>
              <a:rPr lang="zh-CN" altLang="en-US" sz="2800" dirty="0">
                <a:latin typeface="Times New Roman" panose="02020603050405020304" pitchFamily="18" charset="0"/>
              </a:rPr>
              <a:t>＋             ＝</a:t>
            </a:r>
            <a:r>
              <a:rPr lang="en-US" altLang="zh-CN" sz="2800" dirty="0">
                <a:latin typeface="Times New Roman" panose="02020603050405020304" pitchFamily="18" charset="0"/>
              </a:rPr>
              <a:t>50000</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a:p>
            <a:r>
              <a:rPr lang="zh-CN" altLang="en-US" sz="2800" b="1" dirty="0">
                <a:latin typeface="Times New Roman" panose="02020603050405020304" pitchFamily="18" charset="0"/>
              </a:rPr>
              <a:t>    </a:t>
            </a:r>
            <a:r>
              <a:rPr lang="zh-CN" altLang="en-US" sz="2800" b="1" dirty="0">
                <a:solidFill>
                  <a:srgbClr val="0000FF"/>
                </a:solidFill>
                <a:latin typeface="Times New Roman" panose="02020603050405020304" pitchFamily="18" charset="0"/>
              </a:rPr>
              <a:t>同样，若规定 </a:t>
            </a:r>
            <a:r>
              <a:rPr lang="en-US" altLang="zh-CN" sz="2800" dirty="0">
                <a:latin typeface="Times New Roman" panose="02020603050405020304" pitchFamily="18" charset="0"/>
              </a:rPr>
              <a:t>Z</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a:t>
            </a:r>
            <a:r>
              <a:rPr lang="en-US" altLang="zh-CN" sz="2800" dirty="0">
                <a:latin typeface="Times New Roman" panose="02020603050405020304" pitchFamily="18" charset="0"/>
              </a:rPr>
              <a:t>200</a:t>
            </a:r>
            <a:r>
              <a:rPr lang="zh-CN" altLang="en-US" sz="2800" dirty="0">
                <a:latin typeface="Times New Roman" panose="02020603050405020304" pitchFamily="18" charset="0"/>
              </a:rPr>
              <a:t>， </a:t>
            </a:r>
            <a:r>
              <a:rPr lang="en-US" altLang="zh-CN" sz="2800" dirty="0">
                <a:latin typeface="Times New Roman" panose="02020603050405020304" pitchFamily="18" charset="0"/>
              </a:rPr>
              <a:t>Z</a:t>
            </a:r>
            <a:r>
              <a:rPr lang="en-US" altLang="zh-CN" sz="2800" baseline="-30000" dirty="0">
                <a:latin typeface="Times New Roman" panose="02020603050405020304" pitchFamily="18" charset="0"/>
              </a:rPr>
              <a:t>3</a:t>
            </a:r>
            <a:r>
              <a:rPr lang="zh-CN" altLang="en-US" sz="2800" dirty="0">
                <a:latin typeface="Times New Roman" panose="02020603050405020304" pitchFamily="18" charset="0"/>
              </a:rPr>
              <a:t>＝</a:t>
            </a:r>
            <a:r>
              <a:rPr lang="en-US" altLang="zh-CN" sz="2800" dirty="0">
                <a:latin typeface="Times New Roman" panose="02020603050405020304" pitchFamily="18" charset="0"/>
              </a:rPr>
              <a:t>250</a:t>
            </a:r>
            <a:r>
              <a:rPr lang="en-US" altLang="zh-CN" sz="2800" b="1" dirty="0">
                <a:latin typeface="Times New Roman" panose="02020603050405020304" pitchFamily="18" charset="0"/>
              </a:rPr>
              <a:t>  </a:t>
            </a:r>
            <a:r>
              <a:rPr lang="zh-CN" altLang="en-US" sz="2800" b="1" dirty="0">
                <a:solidFill>
                  <a:srgbClr val="0000FF"/>
                </a:solidFill>
                <a:latin typeface="Times New Roman" panose="02020603050405020304" pitchFamily="18" charset="0"/>
              </a:rPr>
              <a:t>则有                                     </a:t>
            </a:r>
            <a:endParaRPr lang="zh-CN" altLang="en-US" sz="2800" b="1" dirty="0">
              <a:solidFill>
                <a:srgbClr val="0000FF"/>
              </a:solidFill>
              <a:latin typeface="Times New Roman" panose="02020603050405020304" pitchFamily="18" charset="0"/>
            </a:endParaRPr>
          </a:p>
        </p:txBody>
      </p:sp>
      <p:graphicFrame>
        <p:nvGraphicFramePr>
          <p:cNvPr id="9224" name="Object 8"/>
          <p:cNvGraphicFramePr/>
          <p:nvPr/>
        </p:nvGraphicFramePr>
        <p:xfrm>
          <a:off x="2743200" y="2819400"/>
          <a:ext cx="1219200" cy="609600"/>
        </p:xfrm>
        <a:graphic>
          <a:graphicData uri="http://schemas.openxmlformats.org/presentationml/2006/ole">
            <mc:AlternateContent xmlns:mc="http://schemas.openxmlformats.org/markup-compatibility/2006">
              <mc:Choice xmlns:v="urn:schemas-microsoft-com:vml" Requires="v">
                <p:oleObj spid="_x0000_s3076" name="" r:id="rId1" imgW="495300" imgH="228600" progId="Equation.3">
                  <p:embed/>
                </p:oleObj>
              </mc:Choice>
              <mc:Fallback>
                <p:oleObj name="" r:id="rId1" imgW="495300" imgH="228600" progId="Equation.3">
                  <p:embed/>
                  <p:pic>
                    <p:nvPicPr>
                      <p:cNvPr id="0" name="图片 3075"/>
                      <p:cNvPicPr/>
                      <p:nvPr/>
                    </p:nvPicPr>
                    <p:blipFill>
                      <a:blip r:embed="rId2"/>
                      <a:stretch>
                        <a:fillRect/>
                      </a:stretch>
                    </p:blipFill>
                    <p:spPr>
                      <a:xfrm>
                        <a:off x="2743200" y="2819400"/>
                        <a:ext cx="1219200" cy="609600"/>
                      </a:xfrm>
                      <a:prstGeom prst="rect">
                        <a:avLst/>
                      </a:prstGeom>
                      <a:noFill/>
                      <a:ln w="38100">
                        <a:noFill/>
                        <a:miter/>
                      </a:ln>
                    </p:spPr>
                  </p:pic>
                </p:oleObj>
              </mc:Fallback>
            </mc:AlternateContent>
          </a:graphicData>
        </a:graphic>
      </p:graphicFrame>
      <p:graphicFrame>
        <p:nvGraphicFramePr>
          <p:cNvPr id="9225" name="Object 9"/>
          <p:cNvGraphicFramePr/>
          <p:nvPr/>
        </p:nvGraphicFramePr>
        <p:xfrm>
          <a:off x="609600" y="3733800"/>
          <a:ext cx="3048000" cy="609600"/>
        </p:xfrm>
        <a:graphic>
          <a:graphicData uri="http://schemas.openxmlformats.org/presentationml/2006/ole">
            <mc:AlternateContent xmlns:mc="http://schemas.openxmlformats.org/markup-compatibility/2006">
              <mc:Choice xmlns:v="urn:schemas-microsoft-com:vml" Requires="v">
                <p:oleObj spid="_x0000_s3079" name="" r:id="rId3" imgW="1155700" imgH="228600" progId="Equation.3">
                  <p:embed/>
                </p:oleObj>
              </mc:Choice>
              <mc:Fallback>
                <p:oleObj name="" r:id="rId3" imgW="1155700" imgH="228600" progId="Equation.3">
                  <p:embed/>
                  <p:pic>
                    <p:nvPicPr>
                      <p:cNvPr id="0" name="图片 3078"/>
                      <p:cNvPicPr/>
                      <p:nvPr/>
                    </p:nvPicPr>
                    <p:blipFill>
                      <a:blip r:embed="rId4"/>
                      <a:stretch>
                        <a:fillRect/>
                      </a:stretch>
                    </p:blipFill>
                    <p:spPr>
                      <a:xfrm>
                        <a:off x="609600" y="3733800"/>
                        <a:ext cx="3048000" cy="609600"/>
                      </a:xfrm>
                      <a:prstGeom prst="rect">
                        <a:avLst/>
                      </a:prstGeom>
                      <a:noFill/>
                      <a:ln w="38100">
                        <a:noFill/>
                        <a:miter/>
                      </a:ln>
                    </p:spPr>
                  </p:pic>
                </p:oleObj>
              </mc:Fallback>
            </mc:AlternateContent>
          </a:graphicData>
        </a:graphic>
      </p:graphicFrame>
      <p:graphicFrame>
        <p:nvGraphicFramePr>
          <p:cNvPr id="9226" name="Object 10"/>
          <p:cNvGraphicFramePr/>
          <p:nvPr/>
        </p:nvGraphicFramePr>
        <p:xfrm>
          <a:off x="609600" y="4343400"/>
          <a:ext cx="3048000" cy="630238"/>
        </p:xfrm>
        <a:graphic>
          <a:graphicData uri="http://schemas.openxmlformats.org/presentationml/2006/ole">
            <mc:AlternateContent xmlns:mc="http://schemas.openxmlformats.org/markup-compatibility/2006">
              <mc:Choice xmlns:v="urn:schemas-microsoft-com:vml" Requires="v">
                <p:oleObj spid="_x0000_s3078" name="" r:id="rId5" imgW="1167765" imgH="241300" progId="Equation.3">
                  <p:embed/>
                </p:oleObj>
              </mc:Choice>
              <mc:Fallback>
                <p:oleObj name="" r:id="rId5" imgW="1167765" imgH="241300" progId="Equation.3">
                  <p:embed/>
                  <p:pic>
                    <p:nvPicPr>
                      <p:cNvPr id="0" name="图片 3077"/>
                      <p:cNvPicPr/>
                      <p:nvPr/>
                    </p:nvPicPr>
                    <p:blipFill>
                      <a:blip r:embed="rId6"/>
                      <a:stretch>
                        <a:fillRect/>
                      </a:stretch>
                    </p:blipFill>
                    <p:spPr>
                      <a:xfrm>
                        <a:off x="609600" y="4343400"/>
                        <a:ext cx="3048000" cy="630238"/>
                      </a:xfrm>
                      <a:prstGeom prst="rect">
                        <a:avLst/>
                      </a:prstGeom>
                      <a:noFill/>
                      <a:ln w="38100">
                        <a:noFill/>
                        <a:miter/>
                      </a:ln>
                    </p:spPr>
                  </p:pic>
                </p:oleObj>
              </mc:Fallback>
            </mc:AlternateContent>
          </a:graphicData>
        </a:graphic>
      </p:graphicFrame>
      <p:graphicFrame>
        <p:nvGraphicFramePr>
          <p:cNvPr id="9227" name="Object 11"/>
          <p:cNvGraphicFramePr/>
          <p:nvPr/>
        </p:nvGraphicFramePr>
        <p:xfrm>
          <a:off x="4343400" y="3960813"/>
          <a:ext cx="3810000" cy="687387"/>
        </p:xfrm>
        <a:graphic>
          <a:graphicData uri="http://schemas.openxmlformats.org/presentationml/2006/ole">
            <mc:AlternateContent xmlns:mc="http://schemas.openxmlformats.org/markup-compatibility/2006">
              <mc:Choice xmlns:v="urn:schemas-microsoft-com:vml" Requires="v">
                <p:oleObj spid="_x0000_s3077" name="" r:id="rId7" imgW="1383030" imgH="254000" progId="Equation.3">
                  <p:embed/>
                </p:oleObj>
              </mc:Choice>
              <mc:Fallback>
                <p:oleObj name="" r:id="rId7" imgW="1383030" imgH="254000" progId="Equation.3">
                  <p:embed/>
                  <p:pic>
                    <p:nvPicPr>
                      <p:cNvPr id="0" name="图片 3076"/>
                      <p:cNvPicPr/>
                      <p:nvPr/>
                    </p:nvPicPr>
                    <p:blipFill>
                      <a:blip r:embed="rId8"/>
                      <a:stretch>
                        <a:fillRect/>
                      </a:stretch>
                    </p:blipFill>
                    <p:spPr>
                      <a:xfrm>
                        <a:off x="4343400" y="3960813"/>
                        <a:ext cx="3810000" cy="687387"/>
                      </a:xfrm>
                      <a:prstGeom prst="rect">
                        <a:avLst/>
                      </a:prstGeom>
                      <a:noFill/>
                      <a:ln w="38100">
                        <a:noFill/>
                        <a:miter/>
                      </a:ln>
                    </p:spPr>
                  </p:pic>
                </p:oleObj>
              </mc:Fallback>
            </mc:AlternateContent>
          </a:graphicData>
        </a:graphic>
      </p:graphicFrame>
      <p:sp>
        <p:nvSpPr>
          <p:cNvPr id="9229" name="Text Box 13"/>
          <p:cNvSpPr txBox="1"/>
          <p:nvPr/>
        </p:nvSpPr>
        <p:spPr>
          <a:xfrm>
            <a:off x="228600" y="5070475"/>
            <a:ext cx="8686800" cy="946150"/>
          </a:xfrm>
          <a:prstGeom prst="rect">
            <a:avLst/>
          </a:prstGeom>
          <a:noFill/>
          <a:ln w="9525">
            <a:noFill/>
          </a:ln>
        </p:spPr>
        <p:txBody>
          <a:bodyPr>
            <a:spAutoFit/>
          </a:bodyPr>
          <a:p>
            <a:r>
              <a:rPr lang="en-US" altLang="zh-CN" sz="2800" b="1" dirty="0">
                <a:solidFill>
                  <a:srgbClr val="0000FF"/>
                </a:solidFill>
                <a:latin typeface="楷体_GB2312" pitchFamily="49" charset="-122"/>
              </a:rPr>
              <a:t>  </a:t>
            </a:r>
            <a:r>
              <a:rPr lang="zh-CN" altLang="en-US" sz="2800" b="1" dirty="0">
                <a:solidFill>
                  <a:srgbClr val="0000FF"/>
                </a:solidFill>
                <a:latin typeface="楷体_GB2312" pitchFamily="49" charset="-122"/>
              </a:rPr>
              <a:t>若规定</a:t>
            </a:r>
            <a:r>
              <a:rPr lang="en-US" altLang="zh-CN" sz="2800" b="1" dirty="0">
                <a:solidFill>
                  <a:srgbClr val="0000FF"/>
                </a:solidFill>
                <a:latin typeface="楷体_GB2312" pitchFamily="49" charset="-122"/>
              </a:rPr>
              <a:t>3600</a:t>
            </a:r>
            <a:r>
              <a:rPr lang="zh-CN" altLang="en-US" sz="2800" b="1" dirty="0">
                <a:solidFill>
                  <a:srgbClr val="0000FF"/>
                </a:solidFill>
                <a:latin typeface="楷体_GB2312" pitchFamily="49" charset="-122"/>
              </a:rPr>
              <a:t>的钢材必须用完，原式</a:t>
            </a:r>
            <a:r>
              <a:rPr lang="en-US" altLang="zh-CN" sz="2800" dirty="0">
                <a:latin typeface="Times New Roman" panose="02020603050405020304" pitchFamily="18" charset="0"/>
                <a:ea typeface="宋体" panose="02010600030101010101" pitchFamily="2" charset="-122"/>
              </a:rPr>
              <a:t>9 </a:t>
            </a:r>
            <a:r>
              <a:rPr lang="en-US" altLang="zh-CN" sz="2800" i="1" dirty="0">
                <a:latin typeface="Times New Roman" panose="02020603050405020304" pitchFamily="18" charset="0"/>
              </a:rPr>
              <a:t>x</a:t>
            </a:r>
            <a:r>
              <a:rPr lang="en-US" altLang="zh-CN" sz="2800" i="1" baseline="-30000" dirty="0">
                <a:latin typeface="Times New Roman" panose="02020603050405020304" pitchFamily="18" charset="0"/>
              </a:rPr>
              <a:t>1</a:t>
            </a:r>
            <a:r>
              <a:rPr lang="en-US" altLang="zh-CN" sz="2800" dirty="0">
                <a:latin typeface="Times New Roman" panose="02020603050405020304" pitchFamily="18" charset="0"/>
                <a:ea typeface="宋体" panose="02010600030101010101" pitchFamily="2" charset="-122"/>
              </a:rPr>
              <a:t> +4 </a:t>
            </a:r>
            <a:r>
              <a:rPr lang="en-US" altLang="zh-CN" sz="2800" i="1" dirty="0">
                <a:latin typeface="Times New Roman" panose="02020603050405020304" pitchFamily="18" charset="0"/>
              </a:rPr>
              <a:t>x</a:t>
            </a:r>
            <a:r>
              <a:rPr lang="en-US" altLang="zh-CN" sz="2800" i="1" baseline="-30000" dirty="0">
                <a:latin typeface="Times New Roman" panose="02020603050405020304" pitchFamily="18" charset="0"/>
              </a:rPr>
              <a:t>2</a:t>
            </a:r>
            <a:r>
              <a:rPr lang="en-US" altLang="zh-CN" sz="2800" dirty="0">
                <a:latin typeface="Times New Roman" panose="02020603050405020304" pitchFamily="18" charset="0"/>
                <a:ea typeface="宋体" panose="02010600030101010101" pitchFamily="2" charset="-122"/>
              </a:rPr>
              <a:t> ≤3600</a:t>
            </a:r>
            <a:endParaRPr lang="en-US" altLang="zh-CN" sz="2800" dirty="0">
              <a:latin typeface="Times New Roman" panose="02020603050405020304" pitchFamily="18" charset="0"/>
              <a:ea typeface="宋体" panose="02010600030101010101" pitchFamily="2" charset="-122"/>
            </a:endParaRPr>
          </a:p>
          <a:p>
            <a:r>
              <a:rPr lang="zh-CN" altLang="en-US" sz="2800" b="1" dirty="0">
                <a:solidFill>
                  <a:srgbClr val="0000FF"/>
                </a:solidFill>
                <a:latin typeface="楷体_GB2312" pitchFamily="49" charset="-122"/>
              </a:rPr>
              <a:t>则变为</a:t>
            </a:r>
            <a:endParaRPr lang="zh-CN" altLang="en-US" sz="2800" b="1" dirty="0">
              <a:solidFill>
                <a:srgbClr val="0000FF"/>
              </a:solidFill>
              <a:latin typeface="楷体_GB2312" pitchFamily="49" charset="-122"/>
            </a:endParaRPr>
          </a:p>
        </p:txBody>
      </p:sp>
      <p:graphicFrame>
        <p:nvGraphicFramePr>
          <p:cNvPr id="9230" name="Object 14"/>
          <p:cNvGraphicFramePr/>
          <p:nvPr/>
        </p:nvGraphicFramePr>
        <p:xfrm>
          <a:off x="1447800" y="5486400"/>
          <a:ext cx="5886450" cy="569913"/>
        </p:xfrm>
        <a:graphic>
          <a:graphicData uri="http://schemas.openxmlformats.org/presentationml/2006/ole">
            <mc:AlternateContent xmlns:mc="http://schemas.openxmlformats.org/markup-compatibility/2006">
              <mc:Choice xmlns:v="urn:schemas-microsoft-com:vml" Requires="v">
                <p:oleObj spid="_x0000_s3080" name="" r:id="rId9" imgW="2362200" imgH="228600" progId="Equation.3">
                  <p:embed/>
                </p:oleObj>
              </mc:Choice>
              <mc:Fallback>
                <p:oleObj name="" r:id="rId9" imgW="2362200" imgH="228600" progId="Equation.3">
                  <p:embed/>
                  <p:pic>
                    <p:nvPicPr>
                      <p:cNvPr id="0" name="图片 3079"/>
                      <p:cNvPicPr/>
                      <p:nvPr/>
                    </p:nvPicPr>
                    <p:blipFill>
                      <a:blip r:embed="rId10"/>
                      <a:stretch>
                        <a:fillRect/>
                      </a:stretch>
                    </p:blipFill>
                    <p:spPr>
                      <a:xfrm>
                        <a:off x="1447800" y="5486400"/>
                        <a:ext cx="5886450" cy="569913"/>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slide(fromTop)">
                                      <p:cBhvr>
                                        <p:cTn id="7" dur="500"/>
                                        <p:tgtEl>
                                          <p:spTgt spid="92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9223"/>
                                        </p:tgtEl>
                                        <p:attrNameLst>
                                          <p:attrName>style.visibility</p:attrName>
                                        </p:attrNameLst>
                                      </p:cBhvr>
                                      <p:to>
                                        <p:strVal val="visible"/>
                                      </p:to>
                                    </p:set>
                                    <p:animEffect transition="in" filter="blinds(vertical)">
                                      <p:cBhvr>
                                        <p:cTn id="12" dur="500"/>
                                        <p:tgtEl>
                                          <p:spTgt spid="9223"/>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9224"/>
                                        </p:tgtEl>
                                        <p:attrNameLst>
                                          <p:attrName>style.visibility</p:attrName>
                                        </p:attrNameLst>
                                      </p:cBhvr>
                                      <p:to>
                                        <p:strVal val="visible"/>
                                      </p:to>
                                    </p:set>
                                    <p:animEffect transition="in" filter="dissolve">
                                      <p:cBhvr>
                                        <p:cTn id="16" dur="500"/>
                                        <p:tgtEl>
                                          <p:spTgt spid="922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9225"/>
                                        </p:tgtEl>
                                        <p:attrNameLst>
                                          <p:attrName>style.visibility</p:attrName>
                                        </p:attrNameLst>
                                      </p:cBhvr>
                                      <p:to>
                                        <p:strVal val="visible"/>
                                      </p:to>
                                    </p:set>
                                    <p:animEffect transition="in" filter="dissolve">
                                      <p:cBhvr>
                                        <p:cTn id="21" dur="500"/>
                                        <p:tgtEl>
                                          <p:spTgt spid="922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9226"/>
                                        </p:tgtEl>
                                        <p:attrNameLst>
                                          <p:attrName>style.visibility</p:attrName>
                                        </p:attrNameLst>
                                      </p:cBhvr>
                                      <p:to>
                                        <p:strVal val="visible"/>
                                      </p:to>
                                    </p:set>
                                    <p:animEffect transition="in" filter="dissolve">
                                      <p:cBhvr>
                                        <p:cTn id="26" dur="500"/>
                                        <p:tgtEl>
                                          <p:spTgt spid="922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9227"/>
                                        </p:tgtEl>
                                        <p:attrNameLst>
                                          <p:attrName>style.visibility</p:attrName>
                                        </p:attrNameLst>
                                      </p:cBhvr>
                                      <p:to>
                                        <p:strVal val="visible"/>
                                      </p:to>
                                    </p:set>
                                    <p:animEffect transition="in" filter="dissolve">
                                      <p:cBhvr>
                                        <p:cTn id="31" dur="500"/>
                                        <p:tgtEl>
                                          <p:spTgt spid="9227"/>
                                        </p:tgtEl>
                                      </p:cBhvr>
                                    </p:animEffect>
                                  </p:childTnLst>
                                </p:cTn>
                              </p:par>
                            </p:childTnLst>
                          </p:cTn>
                        </p:par>
                      </p:childTnLst>
                    </p:cTn>
                  </p:par>
                  <p:par>
                    <p:cTn id="32" fill="hold">
                      <p:stCondLst>
                        <p:cond delay="indefinite"/>
                      </p:stCondLst>
                      <p:childTnLst>
                        <p:par>
                          <p:cTn id="33" fill="hold">
                            <p:stCondLst>
                              <p:cond delay="0"/>
                            </p:stCondLst>
                            <p:childTnLst>
                              <p:par>
                                <p:cTn id="34" presetID="17" presetClass="entr" presetSubtype="8" fill="hold" grpId="0" nodeType="clickEffect">
                                  <p:stCondLst>
                                    <p:cond delay="0"/>
                                  </p:stCondLst>
                                  <p:childTnLst>
                                    <p:set>
                                      <p:cBhvr>
                                        <p:cTn id="35" dur="1" fill="hold">
                                          <p:stCondLst>
                                            <p:cond delay="0"/>
                                          </p:stCondLst>
                                        </p:cTn>
                                        <p:tgtEl>
                                          <p:spTgt spid="9229"/>
                                        </p:tgtEl>
                                        <p:attrNameLst>
                                          <p:attrName>style.visibility</p:attrName>
                                        </p:attrNameLst>
                                      </p:cBhvr>
                                      <p:to>
                                        <p:strVal val="visible"/>
                                      </p:to>
                                    </p:set>
                                    <p:anim calcmode="lin" valueType="num">
                                      <p:cBhvr>
                                        <p:cTn id="36" dur="500" fill="hold"/>
                                        <p:tgtEl>
                                          <p:spTgt spid="9229"/>
                                        </p:tgtEl>
                                        <p:attrNameLst>
                                          <p:attrName>ppt_x</p:attrName>
                                        </p:attrNameLst>
                                      </p:cBhvr>
                                      <p:tavLst>
                                        <p:tav tm="0">
                                          <p:val>
                                            <p:strVal val="#ppt_x-#ppt_w/2"/>
                                          </p:val>
                                        </p:tav>
                                        <p:tav tm="100000">
                                          <p:val>
                                            <p:strVal val="#ppt_x"/>
                                          </p:val>
                                        </p:tav>
                                      </p:tavLst>
                                    </p:anim>
                                    <p:anim calcmode="lin" valueType="num">
                                      <p:cBhvr>
                                        <p:cTn id="37" dur="500" fill="hold"/>
                                        <p:tgtEl>
                                          <p:spTgt spid="9229"/>
                                        </p:tgtEl>
                                        <p:attrNameLst>
                                          <p:attrName>ppt_y</p:attrName>
                                        </p:attrNameLst>
                                      </p:cBhvr>
                                      <p:tavLst>
                                        <p:tav tm="0">
                                          <p:val>
                                            <p:strVal val="#ppt_y"/>
                                          </p:val>
                                        </p:tav>
                                        <p:tav tm="100000">
                                          <p:val>
                                            <p:strVal val="#ppt_y"/>
                                          </p:val>
                                        </p:tav>
                                      </p:tavLst>
                                    </p:anim>
                                    <p:anim calcmode="lin" valueType="num">
                                      <p:cBhvr>
                                        <p:cTn id="38" dur="500" fill="hold"/>
                                        <p:tgtEl>
                                          <p:spTgt spid="9229"/>
                                        </p:tgtEl>
                                        <p:attrNameLst>
                                          <p:attrName>ppt_w</p:attrName>
                                        </p:attrNameLst>
                                      </p:cBhvr>
                                      <p:tavLst>
                                        <p:tav tm="0">
                                          <p:val>
                                            <p:fltVal val="0.000000"/>
                                          </p:val>
                                        </p:tav>
                                        <p:tav tm="100000">
                                          <p:val>
                                            <p:strVal val="#ppt_w"/>
                                          </p:val>
                                        </p:tav>
                                      </p:tavLst>
                                    </p:anim>
                                    <p:anim calcmode="lin" valueType="num">
                                      <p:cBhvr>
                                        <p:cTn id="39" dur="500" fill="hold"/>
                                        <p:tgtEl>
                                          <p:spTgt spid="9229"/>
                                        </p:tgtEl>
                                        <p:attrNameLst>
                                          <p:attrName>ppt_h</p:attrName>
                                        </p:attrNameLst>
                                      </p:cBhvr>
                                      <p:tavLst>
                                        <p:tav tm="0">
                                          <p:val>
                                            <p:strVal val="#ppt_h"/>
                                          </p:val>
                                        </p:tav>
                                        <p:tav tm="100000">
                                          <p:val>
                                            <p:strVal val="#ppt_h"/>
                                          </p:val>
                                        </p:tav>
                                      </p:tavLst>
                                    </p:anim>
                                  </p:childTnLst>
                                </p:cTn>
                              </p:par>
                            </p:childTnLst>
                          </p:cTn>
                        </p:par>
                        <p:par>
                          <p:cTn id="40" fill="hold">
                            <p:stCondLst>
                              <p:cond delay="500"/>
                            </p:stCondLst>
                            <p:childTnLst>
                              <p:par>
                                <p:cTn id="41" presetID="9" presetClass="entr" presetSubtype="0" fill="hold" nodeType="afterEffect">
                                  <p:stCondLst>
                                    <p:cond delay="0"/>
                                  </p:stCondLst>
                                  <p:childTnLst>
                                    <p:set>
                                      <p:cBhvr>
                                        <p:cTn id="42" dur="1" fill="hold">
                                          <p:stCondLst>
                                            <p:cond delay="0"/>
                                          </p:stCondLst>
                                        </p:cTn>
                                        <p:tgtEl>
                                          <p:spTgt spid="9230"/>
                                        </p:tgtEl>
                                        <p:attrNameLst>
                                          <p:attrName>style.visibility</p:attrName>
                                        </p:attrNameLst>
                                      </p:cBhvr>
                                      <p:to>
                                        <p:strVal val="visible"/>
                                      </p:to>
                                    </p:set>
                                    <p:animEffect transition="in" filter="dissolve">
                                      <p:cBhvr>
                                        <p:cTn id="43" dur="500"/>
                                        <p:tgtEl>
                                          <p:spTgt spid="9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9223" grpId="0"/>
      <p:bldP spid="922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4" name="Rectangle 6"/>
          <p:cNvSpPr/>
          <p:nvPr/>
        </p:nvSpPr>
        <p:spPr>
          <a:xfrm>
            <a:off x="0" y="4419600"/>
            <a:ext cx="9144000" cy="914400"/>
          </a:xfrm>
          <a:prstGeom prst="rect">
            <a:avLst/>
          </a:prstGeom>
          <a:solidFill>
            <a:schemeClr val="hlink"/>
          </a:solidFill>
          <a:ln w="9525">
            <a:noFill/>
          </a:ln>
        </p:spPr>
        <p:txBody>
          <a:bodyPr wrap="none" anchor="ctr" anchorCtr="0"/>
          <a:p>
            <a:endParaRPr lang="zh-CN" altLang="en-US" dirty="0">
              <a:latin typeface="Times New Roman" panose="02020603050405020304" pitchFamily="18" charset="0"/>
            </a:endParaRPr>
          </a:p>
        </p:txBody>
      </p:sp>
      <p:sp>
        <p:nvSpPr>
          <p:cNvPr id="12293" name="Rectangle 5"/>
          <p:cNvSpPr/>
          <p:nvPr/>
        </p:nvSpPr>
        <p:spPr>
          <a:xfrm>
            <a:off x="0" y="3505200"/>
            <a:ext cx="9144000" cy="914400"/>
          </a:xfrm>
          <a:prstGeom prst="rect">
            <a:avLst/>
          </a:prstGeom>
          <a:solidFill>
            <a:schemeClr val="hlink"/>
          </a:solidFill>
          <a:ln w="9525">
            <a:noFill/>
          </a:ln>
        </p:spPr>
        <p:txBody>
          <a:bodyPr wrap="none" anchor="ctr" anchorCtr="0"/>
          <a:p>
            <a:endParaRPr lang="zh-CN" altLang="en-US" dirty="0">
              <a:latin typeface="Times New Roman" panose="02020603050405020304" pitchFamily="18" charset="0"/>
            </a:endParaRPr>
          </a:p>
        </p:txBody>
      </p:sp>
      <p:sp>
        <p:nvSpPr>
          <p:cNvPr id="12292" name="Rectangle 4"/>
          <p:cNvSpPr/>
          <p:nvPr/>
        </p:nvSpPr>
        <p:spPr>
          <a:xfrm>
            <a:off x="0" y="2743200"/>
            <a:ext cx="9144000" cy="838200"/>
          </a:xfrm>
          <a:prstGeom prst="rect">
            <a:avLst/>
          </a:prstGeom>
          <a:solidFill>
            <a:schemeClr val="hlink"/>
          </a:solidFill>
          <a:ln w="9525">
            <a:noFill/>
          </a:ln>
        </p:spPr>
        <p:txBody>
          <a:bodyPr wrap="none" anchor="ctr" anchorCtr="0"/>
          <a:p>
            <a:endParaRPr lang="zh-CN" altLang="en-US" dirty="0">
              <a:latin typeface="Times New Roman" panose="02020603050405020304" pitchFamily="18" charset="0"/>
            </a:endParaRPr>
          </a:p>
        </p:txBody>
      </p:sp>
      <p:sp>
        <p:nvSpPr>
          <p:cNvPr id="41989" name="Text Box 2"/>
          <p:cNvSpPr txBox="1"/>
          <p:nvPr/>
        </p:nvSpPr>
        <p:spPr>
          <a:xfrm>
            <a:off x="228600" y="304800"/>
            <a:ext cx="8610600" cy="519113"/>
          </a:xfrm>
          <a:prstGeom prst="rect">
            <a:avLst/>
          </a:prstGeom>
          <a:noFill/>
          <a:ln w="9525">
            <a:noFill/>
          </a:ln>
        </p:spPr>
        <p:txBody>
          <a:bodyPr>
            <a:spAutoFit/>
          </a:bodyPr>
          <a:p>
            <a:r>
              <a:rPr lang="en-US" altLang="zh-CN" sz="2800" b="1" dirty="0">
                <a:solidFill>
                  <a:srgbClr val="0000FF"/>
                </a:solidFill>
                <a:latin typeface="楷体_GB2312" pitchFamily="49" charset="-122"/>
              </a:rPr>
              <a:t>  </a:t>
            </a:r>
            <a:endParaRPr lang="en-US" altLang="zh-CN" sz="3200" b="1" dirty="0">
              <a:solidFill>
                <a:srgbClr val="800080"/>
              </a:solidFill>
              <a:latin typeface="楷体_GB2312" pitchFamily="49" charset="-122"/>
            </a:endParaRPr>
          </a:p>
        </p:txBody>
      </p:sp>
      <p:sp>
        <p:nvSpPr>
          <p:cNvPr id="41990" name="Text Box 3"/>
          <p:cNvSpPr txBox="1"/>
          <p:nvPr/>
        </p:nvSpPr>
        <p:spPr>
          <a:xfrm>
            <a:off x="0" y="990600"/>
            <a:ext cx="9144000" cy="5643563"/>
          </a:xfrm>
          <a:prstGeom prst="rect">
            <a:avLst/>
          </a:prstGeom>
          <a:noFill/>
          <a:ln w="9525">
            <a:noFill/>
          </a:ln>
        </p:spPr>
        <p:txBody>
          <a:bodyPr>
            <a:spAutoFit/>
          </a:bodyPr>
          <a:p>
            <a:r>
              <a:rPr lang="en-US" altLang="zh-CN" sz="2800" b="1" dirty="0">
                <a:latin typeface="Times New Roman" panose="02020603050405020304" pitchFamily="18" charset="0"/>
              </a:rPr>
              <a:t>   </a:t>
            </a:r>
            <a:r>
              <a:rPr lang="zh-CN" altLang="en-US" sz="2800" b="1" dirty="0">
                <a:solidFill>
                  <a:srgbClr val="0000FF"/>
                </a:solidFill>
                <a:latin typeface="Times New Roman" panose="02020603050405020304" pitchFamily="18" charset="0"/>
              </a:rPr>
              <a:t>达成函数是一个使总偏差量为最小的目标函数，记为 </a:t>
            </a:r>
            <a:r>
              <a:rPr lang="en-US" altLang="zh-CN" sz="2800" b="1" dirty="0">
                <a:solidFill>
                  <a:srgbClr val="0000FF"/>
                </a:solidFill>
                <a:latin typeface="Times New Roman" panose="02020603050405020304" pitchFamily="18" charset="0"/>
              </a:rPr>
              <a:t>minZ = </a:t>
            </a:r>
            <a:r>
              <a:rPr lang="en-US" altLang="zh-CN" sz="2800" b="1" i="1" dirty="0">
                <a:solidFill>
                  <a:srgbClr val="0000FF"/>
                </a:solidFill>
                <a:latin typeface="Times New Roman" panose="02020603050405020304" pitchFamily="18" charset="0"/>
              </a:rPr>
              <a:t>f</a:t>
            </a:r>
            <a:r>
              <a:rPr lang="zh-CN" altLang="en-US" sz="2800" b="1" dirty="0">
                <a:solidFill>
                  <a:srgbClr val="0000FF"/>
                </a:solidFill>
                <a:latin typeface="Times New Roman" panose="02020603050405020304" pitchFamily="18" charset="0"/>
              </a:rPr>
              <a:t>（</a:t>
            </a:r>
            <a:r>
              <a:rPr lang="en-US" altLang="zh-CN" sz="2800" b="1" i="1" dirty="0">
                <a:solidFill>
                  <a:srgbClr val="0000FF"/>
                </a:solidFill>
                <a:latin typeface="Times New Roman" panose="02020603050405020304" pitchFamily="18" charset="0"/>
              </a:rPr>
              <a:t>d</a:t>
            </a:r>
            <a:r>
              <a:rPr lang="zh-CN" altLang="en-US" sz="2800" b="1" i="1" baseline="30000" dirty="0">
                <a:solidFill>
                  <a:srgbClr val="0000FF"/>
                </a:solidFill>
                <a:latin typeface="Times New Roman" panose="02020603050405020304" pitchFamily="18" charset="0"/>
              </a:rPr>
              <a:t>＋</a:t>
            </a:r>
            <a:r>
              <a:rPr lang="zh-CN" altLang="en-US" sz="2800" b="1" i="1" dirty="0">
                <a:solidFill>
                  <a:srgbClr val="0000FF"/>
                </a:solidFill>
                <a:latin typeface="Times New Roman" panose="02020603050405020304" pitchFamily="18" charset="0"/>
              </a:rPr>
              <a:t>、</a:t>
            </a:r>
            <a:r>
              <a:rPr lang="en-US" altLang="zh-CN" sz="2800" b="1" i="1" dirty="0">
                <a:solidFill>
                  <a:srgbClr val="0000FF"/>
                </a:solidFill>
                <a:latin typeface="Times New Roman" panose="02020603050405020304" pitchFamily="18" charset="0"/>
              </a:rPr>
              <a:t>d</a:t>
            </a:r>
            <a:r>
              <a:rPr lang="zh-CN" altLang="en-US" sz="2800" b="1" i="1" baseline="30000"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一般说来，有以下三种情况，但只能出现其中之一：</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⑴</a:t>
            </a:r>
            <a:r>
              <a:rPr lang="en-US" altLang="zh-CN" sz="2800" b="1"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要求恰好达到规定的目标值，即正、负偏差变量要尽可能小，则</a:t>
            </a:r>
            <a:r>
              <a:rPr lang="en-US" altLang="zh-CN" sz="2800" b="1" dirty="0">
                <a:solidFill>
                  <a:srgbClr val="0000FF"/>
                </a:solidFill>
                <a:latin typeface="Times New Roman" panose="02020603050405020304" pitchFamily="18" charset="0"/>
              </a:rPr>
              <a:t>minZ = </a:t>
            </a:r>
            <a:r>
              <a:rPr lang="en-US" altLang="zh-CN" sz="2800" b="1" i="1" dirty="0">
                <a:solidFill>
                  <a:srgbClr val="0000FF"/>
                </a:solidFill>
                <a:latin typeface="Times New Roman" panose="02020603050405020304" pitchFamily="18" charset="0"/>
              </a:rPr>
              <a:t>f</a:t>
            </a:r>
            <a:r>
              <a:rPr lang="zh-CN" altLang="en-US" sz="2800" b="1" dirty="0">
                <a:solidFill>
                  <a:srgbClr val="0000FF"/>
                </a:solidFill>
                <a:latin typeface="Times New Roman" panose="02020603050405020304" pitchFamily="18" charset="0"/>
              </a:rPr>
              <a:t>（</a:t>
            </a:r>
            <a:r>
              <a:rPr lang="en-US" altLang="zh-CN" sz="2800" b="1" i="1" dirty="0">
                <a:solidFill>
                  <a:srgbClr val="0000FF"/>
                </a:solidFill>
                <a:latin typeface="Times New Roman" panose="02020603050405020304" pitchFamily="18" charset="0"/>
              </a:rPr>
              <a:t>d</a:t>
            </a:r>
            <a:r>
              <a:rPr lang="zh-CN" altLang="en-US" sz="2800" b="1" i="1" baseline="30000" dirty="0">
                <a:solidFill>
                  <a:srgbClr val="0000FF"/>
                </a:solidFill>
                <a:latin typeface="Times New Roman" panose="02020603050405020304" pitchFamily="18" charset="0"/>
              </a:rPr>
              <a:t>＋</a:t>
            </a:r>
            <a:r>
              <a:rPr lang="zh-CN" altLang="en-US" sz="2800" b="1" i="1" dirty="0">
                <a:solidFill>
                  <a:srgbClr val="0000FF"/>
                </a:solidFill>
                <a:latin typeface="Times New Roman" panose="02020603050405020304" pitchFamily="18" charset="0"/>
              </a:rPr>
              <a:t>＋ </a:t>
            </a:r>
            <a:r>
              <a:rPr lang="en-US" altLang="zh-CN" sz="2800" b="1" i="1" dirty="0">
                <a:solidFill>
                  <a:srgbClr val="0000FF"/>
                </a:solidFill>
                <a:latin typeface="Times New Roman" panose="02020603050405020304" pitchFamily="18" charset="0"/>
              </a:rPr>
              <a:t>d</a:t>
            </a:r>
            <a:r>
              <a:rPr lang="zh-CN" altLang="en-US" sz="2800" b="1" i="1" baseline="30000"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⑵</a:t>
            </a:r>
            <a:r>
              <a:rPr lang="en-US" altLang="zh-CN" sz="2800" b="1"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要求不超过目标值，即允许达不到目标值，也就是正偏差变量尽可能小，则</a:t>
            </a:r>
            <a:r>
              <a:rPr lang="en-US" altLang="zh-CN" sz="2800" b="1" dirty="0">
                <a:solidFill>
                  <a:srgbClr val="0000FF"/>
                </a:solidFill>
                <a:latin typeface="Times New Roman" panose="02020603050405020304" pitchFamily="18" charset="0"/>
              </a:rPr>
              <a:t>minZ = </a:t>
            </a:r>
            <a:r>
              <a:rPr lang="en-US" altLang="zh-CN" sz="2800" b="1" i="1" dirty="0">
                <a:solidFill>
                  <a:srgbClr val="0000FF"/>
                </a:solidFill>
                <a:latin typeface="Times New Roman" panose="02020603050405020304" pitchFamily="18" charset="0"/>
              </a:rPr>
              <a:t>f</a:t>
            </a:r>
            <a:r>
              <a:rPr lang="zh-CN" altLang="en-US" sz="2800" b="1" dirty="0">
                <a:solidFill>
                  <a:srgbClr val="0000FF"/>
                </a:solidFill>
                <a:latin typeface="Times New Roman" panose="02020603050405020304" pitchFamily="18" charset="0"/>
              </a:rPr>
              <a:t>（</a:t>
            </a:r>
            <a:r>
              <a:rPr lang="en-US" altLang="zh-CN" sz="2800" b="1" i="1" dirty="0">
                <a:solidFill>
                  <a:srgbClr val="0000FF"/>
                </a:solidFill>
                <a:latin typeface="Times New Roman" panose="02020603050405020304" pitchFamily="18" charset="0"/>
              </a:rPr>
              <a:t>d</a:t>
            </a:r>
            <a:r>
              <a:rPr lang="zh-CN" altLang="en-US" sz="2800" b="1" i="1" baseline="30000"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⑶</a:t>
            </a:r>
            <a:r>
              <a:rPr lang="en-US" altLang="zh-CN" sz="2800" b="1"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要求超过目标值，即超过量不限，但不低于目标值，也就是负偏差变量尽可能小，则</a:t>
            </a:r>
            <a:r>
              <a:rPr lang="en-US" altLang="zh-CN" sz="2800" b="1" dirty="0">
                <a:solidFill>
                  <a:srgbClr val="0000FF"/>
                </a:solidFill>
                <a:latin typeface="Times New Roman" panose="02020603050405020304" pitchFamily="18" charset="0"/>
              </a:rPr>
              <a:t>minZ = </a:t>
            </a:r>
            <a:r>
              <a:rPr lang="en-US" altLang="zh-CN" sz="2800" b="1" i="1" dirty="0">
                <a:solidFill>
                  <a:srgbClr val="0000FF"/>
                </a:solidFill>
                <a:latin typeface="Times New Roman" panose="02020603050405020304" pitchFamily="18" charset="0"/>
              </a:rPr>
              <a:t>f</a:t>
            </a:r>
            <a:r>
              <a:rPr lang="zh-CN" altLang="en-US" sz="2800" b="1" dirty="0">
                <a:solidFill>
                  <a:srgbClr val="0000FF"/>
                </a:solidFill>
                <a:latin typeface="Times New Roman" panose="02020603050405020304" pitchFamily="18" charset="0"/>
              </a:rPr>
              <a:t>（</a:t>
            </a:r>
            <a:r>
              <a:rPr lang="en-US" altLang="zh-CN" sz="2800" b="1" i="1" dirty="0">
                <a:solidFill>
                  <a:srgbClr val="0000FF"/>
                </a:solidFill>
                <a:latin typeface="Times New Roman" panose="02020603050405020304" pitchFamily="18" charset="0"/>
              </a:rPr>
              <a:t>d</a:t>
            </a:r>
            <a:r>
              <a:rPr lang="zh-CN" altLang="en-US" sz="2800" b="1" i="1" baseline="30000" dirty="0">
                <a:solidFill>
                  <a:srgbClr val="0000FF"/>
                </a:solidFill>
                <a:latin typeface="Times New Roman" panose="02020603050405020304" pitchFamily="18" charset="0"/>
              </a:rPr>
              <a:t>－</a:t>
            </a:r>
            <a:r>
              <a:rPr lang="zh-CN" altLang="en-US" sz="2800" b="1" dirty="0">
                <a:solidFill>
                  <a:srgbClr val="0000FF"/>
                </a:solidFill>
                <a:latin typeface="Times New Roman" panose="02020603050405020304" pitchFamily="18" charset="0"/>
              </a:rPr>
              <a:t>）。</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对于由绝对约束转化而来的目标函数，也照上述处理即可。</a:t>
            </a:r>
            <a:endParaRPr lang="zh-CN" altLang="en-US" sz="2800" b="1" dirty="0">
              <a:solidFill>
                <a:srgbClr val="0000FF"/>
              </a:solidFill>
              <a:latin typeface="Times New Roman" panose="02020603050405020304" pitchFamily="18" charset="0"/>
            </a:endParaRPr>
          </a:p>
        </p:txBody>
      </p:sp>
      <p:sp>
        <p:nvSpPr>
          <p:cNvPr id="12295" name="Rectangle 7"/>
          <p:cNvSpPr/>
          <p:nvPr/>
        </p:nvSpPr>
        <p:spPr>
          <a:xfrm>
            <a:off x="0" y="5638800"/>
            <a:ext cx="9144000" cy="914400"/>
          </a:xfrm>
          <a:prstGeom prst="rect">
            <a:avLst/>
          </a:prstGeom>
          <a:noFill/>
          <a:ln w="9525">
            <a:noFill/>
          </a:ln>
        </p:spPr>
        <p:txBody>
          <a:bodyPr wrap="none" anchor="ctr" anchorCtr="0"/>
          <a:p>
            <a:endParaRPr lang="zh-CN" altLang="en-US" dirty="0">
              <a:latin typeface="Times New Roman" panose="02020603050405020304" pitchFamily="18" charset="0"/>
            </a:endParaRPr>
          </a:p>
        </p:txBody>
      </p:sp>
      <p:sp>
        <p:nvSpPr>
          <p:cNvPr id="41992" name="Rectangle 8"/>
          <p:cNvSpPr>
            <a:spLocks noGrp="1"/>
          </p:cNvSpPr>
          <p:nvPr>
            <p:ph type="ctrTitle"/>
          </p:nvPr>
        </p:nvSpPr>
        <p:spPr>
          <a:xfrm>
            <a:off x="228600" y="304800"/>
            <a:ext cx="8915400" cy="609600"/>
          </a:xfrm>
          <a:noFill/>
          <a:ln>
            <a:noFill/>
          </a:ln>
        </p:spPr>
        <p:txBody>
          <a:bodyPr/>
          <a:p>
            <a:pPr algn="l" eaLnBrk="1" hangingPunct="1">
              <a:buClrTx/>
              <a:buSzTx/>
              <a:buFontTx/>
            </a:pPr>
            <a:r>
              <a:rPr lang="en-US" altLang="zh-CN" sz="3200" b="1" dirty="0">
                <a:solidFill>
                  <a:srgbClr val="800080"/>
                </a:solidFill>
                <a:latin typeface="楷体_GB2312" pitchFamily="49" charset="-122"/>
                <a:ea typeface="楷体_GB2312" pitchFamily="49" charset="-122"/>
              </a:rPr>
              <a:t>3</a:t>
            </a:r>
            <a:r>
              <a:rPr lang="zh-CN" altLang="en-US" sz="3200" b="1" dirty="0">
                <a:solidFill>
                  <a:srgbClr val="800080"/>
                </a:solidFill>
                <a:latin typeface="楷体_GB2312" pitchFamily="49" charset="-122"/>
                <a:ea typeface="楷体_GB2312" pitchFamily="49" charset="-122"/>
              </a:rPr>
              <a:t>、达成函数（即目标规划中的目标函数）</a:t>
            </a:r>
            <a:endParaRPr lang="zh-CN" altLang="en-US" sz="3200" b="1" dirty="0">
              <a:solidFill>
                <a:srgbClr val="800080"/>
              </a:solidFill>
              <a:latin typeface="楷体_GB2312" pitchFamily="49" charset="-122"/>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 calcmode="lin" valueType="num">
                                      <p:cBhvr>
                                        <p:cTn id="7" dur="500" fill="hold"/>
                                        <p:tgtEl>
                                          <p:spTgt spid="12292"/>
                                        </p:tgtEl>
                                        <p:attrNameLst>
                                          <p:attrName>ppt_x</p:attrName>
                                        </p:attrNameLst>
                                      </p:cBhvr>
                                      <p:tavLst>
                                        <p:tav tm="0">
                                          <p:val>
                                            <p:strVal val="#ppt_x-#ppt_w/2"/>
                                          </p:val>
                                        </p:tav>
                                        <p:tav tm="100000">
                                          <p:val>
                                            <p:strVal val="#ppt_x"/>
                                          </p:val>
                                        </p:tav>
                                      </p:tavLst>
                                    </p:anim>
                                    <p:anim calcmode="lin" valueType="num">
                                      <p:cBhvr>
                                        <p:cTn id="8" dur="500" fill="hold"/>
                                        <p:tgtEl>
                                          <p:spTgt spid="12292"/>
                                        </p:tgtEl>
                                        <p:attrNameLst>
                                          <p:attrName>ppt_y</p:attrName>
                                        </p:attrNameLst>
                                      </p:cBhvr>
                                      <p:tavLst>
                                        <p:tav tm="0">
                                          <p:val>
                                            <p:strVal val="#ppt_y"/>
                                          </p:val>
                                        </p:tav>
                                        <p:tav tm="100000">
                                          <p:val>
                                            <p:strVal val="#ppt_y"/>
                                          </p:val>
                                        </p:tav>
                                      </p:tavLst>
                                    </p:anim>
                                    <p:anim calcmode="lin" valueType="num">
                                      <p:cBhvr>
                                        <p:cTn id="9" dur="500" fill="hold"/>
                                        <p:tgtEl>
                                          <p:spTgt spid="12292"/>
                                        </p:tgtEl>
                                        <p:attrNameLst>
                                          <p:attrName>ppt_w</p:attrName>
                                        </p:attrNameLst>
                                      </p:cBhvr>
                                      <p:tavLst>
                                        <p:tav tm="0">
                                          <p:val>
                                            <p:fltVal val="0.000000"/>
                                          </p:val>
                                        </p:tav>
                                        <p:tav tm="100000">
                                          <p:val>
                                            <p:strVal val="#ppt_w"/>
                                          </p:val>
                                        </p:tav>
                                      </p:tavLst>
                                    </p:anim>
                                    <p:anim calcmode="lin" valueType="num">
                                      <p:cBhvr>
                                        <p:cTn id="10" dur="500" fill="hold"/>
                                        <p:tgtEl>
                                          <p:spTgt spid="12292"/>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2292"/>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7" presetClass="entr" presetSubtype="2" fill="hold" grpId="0" nodeType="clickEffect">
                                  <p:stCondLst>
                                    <p:cond delay="0"/>
                                  </p:stCondLst>
                                  <p:childTnLst>
                                    <p:set>
                                      <p:cBhvr>
                                        <p:cTn id="14" dur="1" fill="hold">
                                          <p:stCondLst>
                                            <p:cond delay="0"/>
                                          </p:stCondLst>
                                        </p:cTn>
                                        <p:tgtEl>
                                          <p:spTgt spid="12293"/>
                                        </p:tgtEl>
                                        <p:attrNameLst>
                                          <p:attrName>style.visibility</p:attrName>
                                        </p:attrNameLst>
                                      </p:cBhvr>
                                      <p:to>
                                        <p:strVal val="visible"/>
                                      </p:to>
                                    </p:set>
                                    <p:anim calcmode="lin" valueType="num">
                                      <p:cBhvr>
                                        <p:cTn id="15" dur="500" fill="hold"/>
                                        <p:tgtEl>
                                          <p:spTgt spid="12293"/>
                                        </p:tgtEl>
                                        <p:attrNameLst>
                                          <p:attrName>ppt_x</p:attrName>
                                        </p:attrNameLst>
                                      </p:cBhvr>
                                      <p:tavLst>
                                        <p:tav tm="0">
                                          <p:val>
                                            <p:strVal val="#ppt_x+#ppt_w/2"/>
                                          </p:val>
                                        </p:tav>
                                        <p:tav tm="100000">
                                          <p:val>
                                            <p:strVal val="#ppt_x"/>
                                          </p:val>
                                        </p:tav>
                                      </p:tavLst>
                                    </p:anim>
                                    <p:anim calcmode="lin" valueType="num">
                                      <p:cBhvr>
                                        <p:cTn id="16" dur="500" fill="hold"/>
                                        <p:tgtEl>
                                          <p:spTgt spid="12293"/>
                                        </p:tgtEl>
                                        <p:attrNameLst>
                                          <p:attrName>ppt_y</p:attrName>
                                        </p:attrNameLst>
                                      </p:cBhvr>
                                      <p:tavLst>
                                        <p:tav tm="0">
                                          <p:val>
                                            <p:strVal val="#ppt_y"/>
                                          </p:val>
                                        </p:tav>
                                        <p:tav tm="100000">
                                          <p:val>
                                            <p:strVal val="#ppt_y"/>
                                          </p:val>
                                        </p:tav>
                                      </p:tavLst>
                                    </p:anim>
                                    <p:anim calcmode="lin" valueType="num">
                                      <p:cBhvr>
                                        <p:cTn id="17" dur="500" fill="hold"/>
                                        <p:tgtEl>
                                          <p:spTgt spid="12293"/>
                                        </p:tgtEl>
                                        <p:attrNameLst>
                                          <p:attrName>ppt_w</p:attrName>
                                        </p:attrNameLst>
                                      </p:cBhvr>
                                      <p:tavLst>
                                        <p:tav tm="0">
                                          <p:val>
                                            <p:fltVal val="0.000000"/>
                                          </p:val>
                                        </p:tav>
                                        <p:tav tm="100000">
                                          <p:val>
                                            <p:strVal val="#ppt_w"/>
                                          </p:val>
                                        </p:tav>
                                      </p:tavLst>
                                    </p:anim>
                                    <p:anim calcmode="lin" valueType="num">
                                      <p:cBhvr>
                                        <p:cTn id="18" dur="500" fill="hold"/>
                                        <p:tgtEl>
                                          <p:spTgt spid="12293"/>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2293"/>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2294"/>
                                        </p:tgtEl>
                                        <p:attrNameLst>
                                          <p:attrName>style.visibility</p:attrName>
                                        </p:attrNameLst>
                                      </p:cBhvr>
                                      <p:to>
                                        <p:strVal val="visible"/>
                                      </p:to>
                                    </p:set>
                                    <p:anim calcmode="lin" valueType="num">
                                      <p:cBhvr>
                                        <p:cTn id="23" dur="500" fill="hold"/>
                                        <p:tgtEl>
                                          <p:spTgt spid="12294"/>
                                        </p:tgtEl>
                                        <p:attrNameLst>
                                          <p:attrName>ppt_x</p:attrName>
                                        </p:attrNameLst>
                                      </p:cBhvr>
                                      <p:tavLst>
                                        <p:tav tm="0">
                                          <p:val>
                                            <p:strVal val="#ppt_x-#ppt_w/2"/>
                                          </p:val>
                                        </p:tav>
                                        <p:tav tm="100000">
                                          <p:val>
                                            <p:strVal val="#ppt_x"/>
                                          </p:val>
                                        </p:tav>
                                      </p:tavLst>
                                    </p:anim>
                                    <p:anim calcmode="lin" valueType="num">
                                      <p:cBhvr>
                                        <p:cTn id="24" dur="500" fill="hold"/>
                                        <p:tgtEl>
                                          <p:spTgt spid="12294"/>
                                        </p:tgtEl>
                                        <p:attrNameLst>
                                          <p:attrName>ppt_y</p:attrName>
                                        </p:attrNameLst>
                                      </p:cBhvr>
                                      <p:tavLst>
                                        <p:tav tm="0">
                                          <p:val>
                                            <p:strVal val="#ppt_y"/>
                                          </p:val>
                                        </p:tav>
                                        <p:tav tm="100000">
                                          <p:val>
                                            <p:strVal val="#ppt_y"/>
                                          </p:val>
                                        </p:tav>
                                      </p:tavLst>
                                    </p:anim>
                                    <p:anim calcmode="lin" valueType="num">
                                      <p:cBhvr>
                                        <p:cTn id="25" dur="500" fill="hold"/>
                                        <p:tgtEl>
                                          <p:spTgt spid="12294"/>
                                        </p:tgtEl>
                                        <p:attrNameLst>
                                          <p:attrName>ppt_w</p:attrName>
                                        </p:attrNameLst>
                                      </p:cBhvr>
                                      <p:tavLst>
                                        <p:tav tm="0">
                                          <p:val>
                                            <p:fltVal val="0.000000"/>
                                          </p:val>
                                        </p:tav>
                                        <p:tav tm="100000">
                                          <p:val>
                                            <p:strVal val="#ppt_w"/>
                                          </p:val>
                                        </p:tav>
                                      </p:tavLst>
                                    </p:anim>
                                    <p:anim calcmode="lin" valueType="num">
                                      <p:cBhvr>
                                        <p:cTn id="26" dur="500" fill="hold"/>
                                        <p:tgtEl>
                                          <p:spTgt spid="12294"/>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2294"/>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nodePh="1">
                                  <p:stCondLst>
                                    <p:cond delay="0"/>
                                  </p:stCondLst>
                                  <p:endCondLst>
                                    <p:cond evt="begin" delay="0">
                                      <p:tn val="29"/>
                                    </p:cond>
                                  </p:endCondLst>
                                  <p:childTnLst>
                                    <p:set>
                                      <p:cBhvr>
                                        <p:cTn id="30" dur="1" fill="hold">
                                          <p:stCondLst>
                                            <p:cond delay="0"/>
                                          </p:stCondLst>
                                        </p:cTn>
                                        <p:tgtEl>
                                          <p:spTgt spid="12295"/>
                                        </p:tgtEl>
                                        <p:attrNameLst>
                                          <p:attrName>style.visibility</p:attrName>
                                        </p:attrNameLst>
                                      </p:cBhvr>
                                      <p:to>
                                        <p:strVal val="visible"/>
                                      </p:to>
                                    </p:set>
                                    <p:anim calcmode="lin" valueType="num">
                                      <p:cBhvr>
                                        <p:cTn id="31" dur="500" fill="hold"/>
                                        <p:tgtEl>
                                          <p:spTgt spid="12295"/>
                                        </p:tgtEl>
                                        <p:attrNameLst>
                                          <p:attrName>ppt_x</p:attrName>
                                        </p:attrNameLst>
                                      </p:cBhvr>
                                      <p:tavLst>
                                        <p:tav tm="0">
                                          <p:val>
                                            <p:strVal val="#ppt_x-#ppt_w/2"/>
                                          </p:val>
                                        </p:tav>
                                        <p:tav tm="100000">
                                          <p:val>
                                            <p:strVal val="#ppt_x"/>
                                          </p:val>
                                        </p:tav>
                                      </p:tavLst>
                                    </p:anim>
                                    <p:anim calcmode="lin" valueType="num">
                                      <p:cBhvr>
                                        <p:cTn id="32" dur="500" fill="hold"/>
                                        <p:tgtEl>
                                          <p:spTgt spid="12295"/>
                                        </p:tgtEl>
                                        <p:attrNameLst>
                                          <p:attrName>ppt_y</p:attrName>
                                        </p:attrNameLst>
                                      </p:cBhvr>
                                      <p:tavLst>
                                        <p:tav tm="0">
                                          <p:val>
                                            <p:strVal val="#ppt_y"/>
                                          </p:val>
                                        </p:tav>
                                        <p:tav tm="100000">
                                          <p:val>
                                            <p:strVal val="#ppt_y"/>
                                          </p:val>
                                        </p:tav>
                                      </p:tavLst>
                                    </p:anim>
                                    <p:anim calcmode="lin" valueType="num">
                                      <p:cBhvr>
                                        <p:cTn id="33" dur="500" fill="hold"/>
                                        <p:tgtEl>
                                          <p:spTgt spid="12295"/>
                                        </p:tgtEl>
                                        <p:attrNameLst>
                                          <p:attrName>ppt_w</p:attrName>
                                        </p:attrNameLst>
                                      </p:cBhvr>
                                      <p:tavLst>
                                        <p:tav tm="0">
                                          <p:val>
                                            <p:fltVal val="0.000000"/>
                                          </p:val>
                                        </p:tav>
                                        <p:tav tm="100000">
                                          <p:val>
                                            <p:strVal val="#ppt_w"/>
                                          </p:val>
                                        </p:tav>
                                      </p:tavLst>
                                    </p:anim>
                                    <p:anim calcmode="lin" valueType="num">
                                      <p:cBhvr>
                                        <p:cTn id="34" dur="500" fill="hold"/>
                                        <p:tgtEl>
                                          <p:spTgt spid="12295"/>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229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animBg="1"/>
      <p:bldP spid="12293" grpId="0" animBg="1"/>
      <p:bldP spid="12292" grpId="0" animBg="1"/>
      <p:bldP spid="1229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Text Box 3"/>
          <p:cNvSpPr txBox="1"/>
          <p:nvPr/>
        </p:nvSpPr>
        <p:spPr>
          <a:xfrm>
            <a:off x="304800" y="1371600"/>
            <a:ext cx="8553450" cy="1800225"/>
          </a:xfrm>
          <a:prstGeom prst="rect">
            <a:avLst/>
          </a:prstGeom>
          <a:noFill/>
          <a:ln w="9525">
            <a:noFill/>
          </a:ln>
        </p:spPr>
        <p:txBody>
          <a:bodyPr>
            <a:spAutoFit/>
          </a:bodyPr>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优先因子</a:t>
            </a:r>
            <a:r>
              <a:rPr lang="en-US" altLang="zh-CN" sz="2800" dirty="0">
                <a:solidFill>
                  <a:srgbClr val="0000FF"/>
                </a:solidFill>
                <a:latin typeface="Times New Roman" panose="02020603050405020304" pitchFamily="18" charset="0"/>
              </a:rPr>
              <a:t>P</a:t>
            </a:r>
            <a:r>
              <a:rPr lang="en-US" altLang="zh-CN" sz="2800" baseline="-30000" dirty="0">
                <a:solidFill>
                  <a:srgbClr val="0000FF"/>
                </a:solidFill>
                <a:latin typeface="Times New Roman" panose="02020603050405020304" pitchFamily="18" charset="0"/>
              </a:rPr>
              <a:t>k </a:t>
            </a:r>
            <a:r>
              <a:rPr lang="en-US" altLang="zh-CN" sz="2800" b="1" baseline="-30000" dirty="0">
                <a:solidFill>
                  <a:srgbClr val="0000FF"/>
                </a:solidFill>
                <a:latin typeface="Times New Roman" panose="02020603050405020304" pitchFamily="18" charset="0"/>
              </a:rPr>
              <a:t> </a:t>
            </a:r>
            <a:r>
              <a:rPr lang="zh-CN" altLang="en-US" sz="2800" b="1" dirty="0">
                <a:solidFill>
                  <a:srgbClr val="0000FF"/>
                </a:solidFill>
                <a:latin typeface="楷体_GB2312" pitchFamily="49" charset="-122"/>
              </a:rPr>
              <a:t>是将决策目标按其重要程度排序并表示出来。</a:t>
            </a:r>
            <a:r>
              <a:rPr lang="en-US" altLang="zh-CN" sz="2800" dirty="0">
                <a:solidFill>
                  <a:srgbClr val="0000FF"/>
                </a:solidFill>
                <a:latin typeface="楷体_GB2312" pitchFamily="49" charset="-122"/>
              </a:rPr>
              <a:t>P</a:t>
            </a:r>
            <a:r>
              <a:rPr lang="en-US" altLang="zh-CN" sz="2800" baseline="-30000" dirty="0">
                <a:solidFill>
                  <a:srgbClr val="0000FF"/>
                </a:solidFill>
                <a:latin typeface="楷体_GB2312" pitchFamily="49" charset="-122"/>
              </a:rPr>
              <a:t>1</a:t>
            </a:r>
            <a:r>
              <a:rPr lang="en-US" altLang="zh-CN" sz="2800" dirty="0">
                <a:solidFill>
                  <a:srgbClr val="0000FF"/>
                </a:solidFill>
                <a:latin typeface="楷体_GB2312" pitchFamily="49" charset="-122"/>
              </a:rPr>
              <a:t>&gt;&gt;P</a:t>
            </a:r>
            <a:r>
              <a:rPr lang="en-US" altLang="zh-CN" sz="2800" baseline="-30000" dirty="0">
                <a:solidFill>
                  <a:srgbClr val="0000FF"/>
                </a:solidFill>
                <a:latin typeface="楷体_GB2312" pitchFamily="49" charset="-122"/>
              </a:rPr>
              <a:t>2</a:t>
            </a:r>
            <a:r>
              <a:rPr lang="en-US" altLang="zh-CN" sz="2800" dirty="0">
                <a:solidFill>
                  <a:srgbClr val="0000FF"/>
                </a:solidFill>
                <a:latin typeface="楷体_GB2312" pitchFamily="49" charset="-122"/>
              </a:rPr>
              <a:t>&gt;&gt;</a:t>
            </a:r>
            <a:r>
              <a:rPr lang="en-US" altLang="zh-CN" sz="2800" dirty="0">
                <a:solidFill>
                  <a:srgbClr val="0000FF"/>
                </a:solidFill>
                <a:latin typeface="Times New Roman" panose="02020603050405020304" pitchFamily="18" charset="0"/>
              </a:rPr>
              <a:t>…</a:t>
            </a:r>
            <a:r>
              <a:rPr lang="en-US" altLang="zh-CN" sz="2800" dirty="0">
                <a:solidFill>
                  <a:srgbClr val="0000FF"/>
                </a:solidFill>
                <a:latin typeface="楷体_GB2312" pitchFamily="49" charset="-122"/>
              </a:rPr>
              <a:t>&gt;&gt;P</a:t>
            </a:r>
            <a:r>
              <a:rPr lang="en-US" altLang="zh-CN" sz="2800" baseline="-30000" dirty="0">
                <a:solidFill>
                  <a:srgbClr val="0000FF"/>
                </a:solidFill>
                <a:latin typeface="楷体_GB2312" pitchFamily="49" charset="-122"/>
              </a:rPr>
              <a:t>k</a:t>
            </a:r>
            <a:r>
              <a:rPr lang="en-US" altLang="zh-CN" sz="2800" dirty="0">
                <a:solidFill>
                  <a:srgbClr val="0000FF"/>
                </a:solidFill>
                <a:latin typeface="楷体_GB2312" pitchFamily="49" charset="-122"/>
              </a:rPr>
              <a:t>&gt;&gt;P</a:t>
            </a:r>
            <a:r>
              <a:rPr lang="en-US" altLang="zh-CN" sz="2800" baseline="-30000" dirty="0">
                <a:solidFill>
                  <a:srgbClr val="0000FF"/>
                </a:solidFill>
                <a:latin typeface="楷体_GB2312" pitchFamily="49" charset="-122"/>
              </a:rPr>
              <a:t>k+1</a:t>
            </a:r>
            <a:r>
              <a:rPr lang="en-US" altLang="zh-CN" sz="2800" dirty="0">
                <a:solidFill>
                  <a:srgbClr val="0000FF"/>
                </a:solidFill>
                <a:latin typeface="楷体_GB2312" pitchFamily="49" charset="-122"/>
              </a:rPr>
              <a:t>&gt;&gt;</a:t>
            </a:r>
            <a:r>
              <a:rPr lang="en-US" altLang="zh-CN" sz="2800" dirty="0">
                <a:solidFill>
                  <a:srgbClr val="0000FF"/>
                </a:solidFill>
                <a:latin typeface="Times New Roman" panose="02020603050405020304" pitchFamily="18" charset="0"/>
              </a:rPr>
              <a:t>…</a:t>
            </a:r>
            <a:r>
              <a:rPr lang="en-US" altLang="zh-CN" sz="2800" dirty="0">
                <a:solidFill>
                  <a:srgbClr val="0000FF"/>
                </a:solidFill>
                <a:latin typeface="楷体_GB2312" pitchFamily="49" charset="-122"/>
              </a:rPr>
              <a:t>&gt;&gt;P</a:t>
            </a:r>
            <a:r>
              <a:rPr lang="en-US" altLang="zh-CN" sz="2800" baseline="-30000" dirty="0">
                <a:solidFill>
                  <a:srgbClr val="0000FF"/>
                </a:solidFill>
                <a:latin typeface="楷体_GB2312" pitchFamily="49" charset="-122"/>
              </a:rPr>
              <a:t>K</a:t>
            </a:r>
            <a:r>
              <a:rPr lang="en-US" altLang="zh-CN" sz="2800" dirty="0">
                <a:solidFill>
                  <a:srgbClr val="0000FF"/>
                </a:solidFill>
                <a:latin typeface="楷体_GB2312" pitchFamily="49" charset="-122"/>
              </a:rPr>
              <a:t> </a:t>
            </a:r>
            <a:r>
              <a:rPr lang="zh-CN" altLang="en-US" sz="2800" dirty="0">
                <a:solidFill>
                  <a:srgbClr val="0000FF"/>
                </a:solidFill>
                <a:latin typeface="楷体_GB2312" pitchFamily="49" charset="-122"/>
              </a:rPr>
              <a:t>，</a:t>
            </a:r>
            <a:r>
              <a:rPr lang="en-US" altLang="zh-CN" sz="2800" dirty="0">
                <a:solidFill>
                  <a:srgbClr val="0000FF"/>
                </a:solidFill>
                <a:latin typeface="楷体_GB2312" pitchFamily="49" charset="-122"/>
              </a:rPr>
              <a:t>k=1.2</a:t>
            </a:r>
            <a:r>
              <a:rPr lang="en-US" altLang="zh-CN" sz="2800" dirty="0">
                <a:solidFill>
                  <a:srgbClr val="0000FF"/>
                </a:solidFill>
                <a:latin typeface="Times New Roman" panose="02020603050405020304" pitchFamily="18" charset="0"/>
              </a:rPr>
              <a:t>…</a:t>
            </a:r>
            <a:r>
              <a:rPr lang="en-US" altLang="zh-CN" sz="2800" dirty="0">
                <a:solidFill>
                  <a:srgbClr val="0000FF"/>
                </a:solidFill>
                <a:latin typeface="楷体_GB2312" pitchFamily="49" charset="-122"/>
              </a:rPr>
              <a:t>K</a:t>
            </a:r>
            <a:r>
              <a:rPr lang="zh-CN" altLang="en-US" sz="2800" dirty="0">
                <a:solidFill>
                  <a:srgbClr val="0000FF"/>
                </a:solidFill>
                <a:latin typeface="楷体_GB2312" pitchFamily="49" charset="-122"/>
              </a:rPr>
              <a:t>。</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权系数</a:t>
            </a:r>
            <a:r>
              <a:rPr lang="en-US" altLang="zh-CN" sz="2800" dirty="0">
                <a:solidFill>
                  <a:srgbClr val="0000FF"/>
                </a:solidFill>
                <a:latin typeface="楷体_GB2312" pitchFamily="49" charset="-122"/>
              </a:rPr>
              <a:t>ω</a:t>
            </a:r>
            <a:r>
              <a:rPr lang="en-US" altLang="zh-CN" sz="2800" baseline="-30000" dirty="0">
                <a:solidFill>
                  <a:srgbClr val="0000FF"/>
                </a:solidFill>
                <a:latin typeface="楷体_GB2312" pitchFamily="49" charset="-122"/>
              </a:rPr>
              <a:t>k</a:t>
            </a:r>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区别具有相同优先因子的两个目标的差别，决策者可视具体情况而定。</a:t>
            </a:r>
            <a:endParaRPr lang="zh-CN" altLang="en-US" sz="2800" b="1" dirty="0">
              <a:solidFill>
                <a:srgbClr val="0000FF"/>
              </a:solidFill>
              <a:latin typeface="Times New Roman" panose="02020603050405020304" pitchFamily="18" charset="0"/>
            </a:endParaRPr>
          </a:p>
        </p:txBody>
      </p:sp>
      <p:sp>
        <p:nvSpPr>
          <p:cNvPr id="13323" name="Text Box 11"/>
          <p:cNvSpPr txBox="1"/>
          <p:nvPr/>
        </p:nvSpPr>
        <p:spPr>
          <a:xfrm>
            <a:off x="228600" y="4191000"/>
            <a:ext cx="8686800" cy="1373188"/>
          </a:xfrm>
          <a:prstGeom prst="rect">
            <a:avLst/>
          </a:prstGeom>
          <a:noFill/>
          <a:ln w="9525">
            <a:noFill/>
          </a:ln>
        </p:spPr>
        <p:txBody>
          <a:bodyPr>
            <a:spAutoFit/>
          </a:bodyPr>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对于这种解来说，前面的目标可以保证实现或部分实现，而后面的目标就不一定能保证实现或部分实现，有些可能就不能实现。</a:t>
            </a:r>
            <a:endParaRPr lang="zh-CN" altLang="en-US" sz="2800" b="1" dirty="0">
              <a:solidFill>
                <a:srgbClr val="0000FF"/>
              </a:solidFill>
              <a:latin typeface="Times New Roman" panose="02020603050405020304" pitchFamily="18" charset="0"/>
            </a:endParaRPr>
          </a:p>
        </p:txBody>
      </p:sp>
      <p:sp>
        <p:nvSpPr>
          <p:cNvPr id="13324" name="Rectangle 12"/>
          <p:cNvSpPr>
            <a:spLocks noGrp="1"/>
          </p:cNvSpPr>
          <p:nvPr>
            <p:ph type="ctrTitle"/>
          </p:nvPr>
        </p:nvSpPr>
        <p:spPr>
          <a:xfrm>
            <a:off x="685800" y="533400"/>
            <a:ext cx="8001000" cy="685800"/>
          </a:xfrm>
          <a:noFill/>
          <a:ln>
            <a:noFill/>
          </a:ln>
        </p:spPr>
        <p:txBody>
          <a:bodyPr/>
          <a:p>
            <a:pPr algn="l" eaLnBrk="1" hangingPunct="1">
              <a:buClrTx/>
              <a:buSzTx/>
              <a:buFontTx/>
            </a:pPr>
            <a:r>
              <a:rPr lang="en-US" altLang="zh-CN" sz="3200" b="1" dirty="0">
                <a:solidFill>
                  <a:srgbClr val="800080"/>
                </a:solidFill>
                <a:latin typeface="楷体_GB2312" pitchFamily="49" charset="-122"/>
                <a:ea typeface="楷体_GB2312" pitchFamily="49" charset="-122"/>
              </a:rPr>
              <a:t>4</a:t>
            </a:r>
            <a:r>
              <a:rPr lang="zh-CN" altLang="en-US" sz="3200" b="1" dirty="0">
                <a:solidFill>
                  <a:srgbClr val="800080"/>
                </a:solidFill>
                <a:latin typeface="楷体_GB2312" pitchFamily="49" charset="-122"/>
                <a:ea typeface="楷体_GB2312" pitchFamily="49" charset="-122"/>
              </a:rPr>
              <a:t>、优先因子（优先等级）与优先权系数</a:t>
            </a:r>
            <a:endParaRPr lang="zh-CN" altLang="en-US" sz="3200" b="1" dirty="0">
              <a:solidFill>
                <a:srgbClr val="800080"/>
              </a:solidFill>
              <a:latin typeface="楷体_GB2312" pitchFamily="49" charset="-122"/>
              <a:ea typeface="楷体_GB2312" pitchFamily="49" charset="-122"/>
            </a:endParaRPr>
          </a:p>
        </p:txBody>
      </p:sp>
      <p:sp>
        <p:nvSpPr>
          <p:cNvPr id="13325" name="Rectangle 13"/>
          <p:cNvSpPr>
            <a:spLocks noGrp="1"/>
          </p:cNvSpPr>
          <p:nvPr>
            <p:ph type="subTitle" idx="1"/>
          </p:nvPr>
        </p:nvSpPr>
        <p:spPr>
          <a:xfrm>
            <a:off x="381000" y="3429000"/>
            <a:ext cx="8229600" cy="685800"/>
          </a:xfrm>
          <a:noFill/>
          <a:ln>
            <a:noFill/>
          </a:ln>
        </p:spPr>
        <p:txBody>
          <a:bodyPr/>
          <a:p>
            <a:pPr algn="l" eaLnBrk="1" hangingPunct="1">
              <a:buClrTx/>
              <a:buSzTx/>
              <a:buFontTx/>
            </a:pPr>
            <a:r>
              <a:rPr kumimoji="1" lang="en-US" altLang="zh-CN" b="1" dirty="0">
                <a:solidFill>
                  <a:srgbClr val="800080"/>
                </a:solidFill>
                <a:latin typeface="楷体_GB2312" pitchFamily="49" charset="-122"/>
                <a:ea typeface="楷体_GB2312" pitchFamily="49" charset="-122"/>
                <a:cs typeface="+mn-cs"/>
              </a:rPr>
              <a:t> 5</a:t>
            </a:r>
            <a:r>
              <a:rPr kumimoji="1" lang="zh-CN" altLang="en-US" b="1" dirty="0">
                <a:solidFill>
                  <a:srgbClr val="800080"/>
                </a:solidFill>
                <a:latin typeface="楷体_GB2312" pitchFamily="49" charset="-122"/>
                <a:ea typeface="楷体_GB2312" pitchFamily="49" charset="-122"/>
                <a:cs typeface="+mn-cs"/>
              </a:rPr>
              <a:t>、满意解（具有层次意义的解）</a:t>
            </a:r>
            <a:endParaRPr kumimoji="1" lang="zh-CN" altLang="en-US" b="1" dirty="0">
              <a:solidFill>
                <a:srgbClr val="800080"/>
              </a:solidFill>
              <a:latin typeface="楷体_GB2312" pitchFamily="49" charset="-122"/>
              <a:ea typeface="楷体_GB2312" pitchFamily="49" charset="-122"/>
              <a:cs typeface="+mn-cs"/>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24"/>
                                        </p:tgtEl>
                                        <p:attrNameLst>
                                          <p:attrName>style.visibility</p:attrName>
                                        </p:attrNameLst>
                                      </p:cBhvr>
                                      <p:to>
                                        <p:strVal val="visible"/>
                                      </p:to>
                                    </p:set>
                                    <p:anim calcmode="lin" valueType="num">
                                      <p:cBhvr additive="base">
                                        <p:cTn id="7" dur="500" fill="hold"/>
                                        <p:tgtEl>
                                          <p:spTgt spid="13324"/>
                                        </p:tgtEl>
                                        <p:attrNameLst>
                                          <p:attrName>ppt_x</p:attrName>
                                        </p:attrNameLst>
                                      </p:cBhvr>
                                      <p:tavLst>
                                        <p:tav tm="0">
                                          <p:val>
                                            <p:strVal val="0-#ppt_w/2"/>
                                          </p:val>
                                        </p:tav>
                                        <p:tav tm="100000">
                                          <p:val>
                                            <p:strVal val="#ppt_x"/>
                                          </p:val>
                                        </p:tav>
                                      </p:tavLst>
                                    </p:anim>
                                    <p:anim calcmode="lin" valueType="num">
                                      <p:cBhvr additive="base">
                                        <p:cTn id="8" dur="500" fill="hold"/>
                                        <p:tgtEl>
                                          <p:spTgt spid="1332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13315"/>
                                        </p:tgtEl>
                                        <p:attrNameLst>
                                          <p:attrName>style.visibility</p:attrName>
                                        </p:attrNameLst>
                                      </p:cBhvr>
                                      <p:to>
                                        <p:strVal val="visible"/>
                                      </p:to>
                                    </p:set>
                                    <p:animEffect transition="in" filter="barn(outHorizontal)">
                                      <p:cBhvr>
                                        <p:cTn id="13" dur="500"/>
                                        <p:tgtEl>
                                          <p:spTgt spid="1331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3325">
                                            <p:txEl>
                                              <p:charRg st="0" end="17"/>
                                            </p:txEl>
                                          </p:spTgt>
                                        </p:tgtEl>
                                        <p:attrNameLst>
                                          <p:attrName>style.visibility</p:attrName>
                                        </p:attrNameLst>
                                      </p:cBhvr>
                                      <p:to>
                                        <p:strVal val="visible"/>
                                      </p:to>
                                    </p:set>
                                    <p:anim calcmode="lin" valueType="num">
                                      <p:cBhvr additive="base">
                                        <p:cTn id="18" dur="500" fill="hold"/>
                                        <p:tgtEl>
                                          <p:spTgt spid="13325">
                                            <p:txEl>
                                              <p:charRg st="0" end="17"/>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3325">
                                            <p:txEl>
                                              <p:charRg st="0" end="17"/>
                                            </p:txEl>
                                          </p:spTgt>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16" presetClass="entr" presetSubtype="37" fill="hold" grpId="0" nodeType="afterEffect">
                                  <p:stCondLst>
                                    <p:cond delay="0"/>
                                  </p:stCondLst>
                                  <p:childTnLst>
                                    <p:set>
                                      <p:cBhvr>
                                        <p:cTn id="22" dur="1" fill="hold">
                                          <p:stCondLst>
                                            <p:cond delay="0"/>
                                          </p:stCondLst>
                                        </p:cTn>
                                        <p:tgtEl>
                                          <p:spTgt spid="13323"/>
                                        </p:tgtEl>
                                        <p:attrNameLst>
                                          <p:attrName>style.visibility</p:attrName>
                                        </p:attrNameLst>
                                      </p:cBhvr>
                                      <p:to>
                                        <p:strVal val="visible"/>
                                      </p:to>
                                    </p:set>
                                    <p:animEffect transition="in" filter="barn(outVertical)">
                                      <p:cBhvr>
                                        <p:cTn id="23" dur="500"/>
                                        <p:tgtEl>
                                          <p:spTgt spid="13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P spid="13323" grpId="0"/>
      <p:bldP spid="13324" grpId="0"/>
      <p:bldP spid="1332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3" name="Text Box 4"/>
          <p:cNvSpPr txBox="1"/>
          <p:nvPr/>
        </p:nvSpPr>
        <p:spPr>
          <a:xfrm>
            <a:off x="228600" y="349250"/>
            <a:ext cx="8686800" cy="2227263"/>
          </a:xfrm>
          <a:prstGeom prst="rect">
            <a:avLst/>
          </a:prstGeom>
          <a:noFill/>
          <a:ln w="9525">
            <a:noFill/>
          </a:ln>
        </p:spPr>
        <p:txBody>
          <a:bodyPr>
            <a:spAutoFit/>
          </a:bodyPr>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若在例一中提出下列要求：</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1</a:t>
            </a:r>
            <a:r>
              <a:rPr lang="zh-CN" altLang="en-US" sz="2800" b="1" dirty="0">
                <a:solidFill>
                  <a:srgbClr val="0000FF"/>
                </a:solidFill>
                <a:latin typeface="Times New Roman" panose="02020603050405020304" pitchFamily="18" charset="0"/>
              </a:rPr>
              <a:t>、完成或超额完成利润指标 </a:t>
            </a:r>
            <a:r>
              <a:rPr lang="en-US" altLang="zh-CN" sz="2800" b="1" dirty="0">
                <a:solidFill>
                  <a:srgbClr val="0000FF"/>
                </a:solidFill>
                <a:latin typeface="Times New Roman" panose="02020603050405020304" pitchFamily="18" charset="0"/>
              </a:rPr>
              <a:t>50000</a:t>
            </a:r>
            <a:r>
              <a:rPr lang="zh-CN" altLang="en-US" sz="2800" b="1" dirty="0">
                <a:solidFill>
                  <a:srgbClr val="0000FF"/>
                </a:solidFill>
                <a:latin typeface="Times New Roman" panose="02020603050405020304" pitchFamily="18" charset="0"/>
              </a:rPr>
              <a:t>元；</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2</a:t>
            </a:r>
            <a:r>
              <a:rPr lang="zh-CN" altLang="en-US" sz="2800" b="1" dirty="0">
                <a:solidFill>
                  <a:srgbClr val="0000FF"/>
                </a:solidFill>
                <a:latin typeface="Times New Roman" panose="02020603050405020304" pitchFamily="18" charset="0"/>
              </a:rPr>
              <a:t>、产品甲不超过 </a:t>
            </a:r>
            <a:r>
              <a:rPr lang="en-US" altLang="zh-CN" sz="2800" b="1" dirty="0">
                <a:solidFill>
                  <a:srgbClr val="0000FF"/>
                </a:solidFill>
                <a:latin typeface="Times New Roman" panose="02020603050405020304" pitchFamily="18" charset="0"/>
              </a:rPr>
              <a:t>200</a:t>
            </a:r>
            <a:r>
              <a:rPr lang="zh-CN" altLang="en-US" sz="2800" b="1" dirty="0">
                <a:solidFill>
                  <a:srgbClr val="0000FF"/>
                </a:solidFill>
                <a:latin typeface="Times New Roman" panose="02020603050405020304" pitchFamily="18" charset="0"/>
              </a:rPr>
              <a:t>件，产品乙不低于 </a:t>
            </a:r>
            <a:r>
              <a:rPr lang="en-US" altLang="zh-CN" sz="2800" b="1" dirty="0">
                <a:solidFill>
                  <a:srgbClr val="0000FF"/>
                </a:solidFill>
                <a:latin typeface="Times New Roman" panose="02020603050405020304" pitchFamily="18" charset="0"/>
              </a:rPr>
              <a:t>250</a:t>
            </a:r>
            <a:r>
              <a:rPr lang="zh-CN" altLang="en-US" sz="2800" b="1" dirty="0">
                <a:solidFill>
                  <a:srgbClr val="0000FF"/>
                </a:solidFill>
                <a:latin typeface="Times New Roman" panose="02020603050405020304" pitchFamily="18" charset="0"/>
              </a:rPr>
              <a:t>件；</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3</a:t>
            </a:r>
            <a:r>
              <a:rPr lang="zh-CN" altLang="en-US" sz="2800" b="1" dirty="0">
                <a:solidFill>
                  <a:srgbClr val="0000FF"/>
                </a:solidFill>
                <a:latin typeface="Times New Roman" panose="02020603050405020304" pitchFamily="18" charset="0"/>
              </a:rPr>
              <a:t>、现有钢材 </a:t>
            </a:r>
            <a:r>
              <a:rPr lang="en-US" altLang="zh-CN" sz="2800" b="1" dirty="0">
                <a:solidFill>
                  <a:srgbClr val="0000FF"/>
                </a:solidFill>
                <a:latin typeface="Times New Roman" panose="02020603050405020304" pitchFamily="18" charset="0"/>
              </a:rPr>
              <a:t>3600</a:t>
            </a:r>
            <a:r>
              <a:rPr lang="zh-CN" altLang="en-US" sz="2800" b="1" dirty="0">
                <a:solidFill>
                  <a:srgbClr val="0000FF"/>
                </a:solidFill>
                <a:latin typeface="Times New Roman" panose="02020603050405020304" pitchFamily="18" charset="0"/>
              </a:rPr>
              <a:t>吨必须用完。</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试建立目标规划模型。 </a:t>
            </a:r>
            <a:endParaRPr lang="zh-CN" altLang="en-US" sz="2800" b="1" dirty="0">
              <a:solidFill>
                <a:srgbClr val="0000FF"/>
              </a:solidFill>
              <a:latin typeface="Times New Roman" panose="02020603050405020304" pitchFamily="18" charset="0"/>
            </a:endParaRPr>
          </a:p>
        </p:txBody>
      </p:sp>
      <p:sp>
        <p:nvSpPr>
          <p:cNvPr id="14341" name="Text Box 5"/>
          <p:cNvSpPr txBox="1"/>
          <p:nvPr/>
        </p:nvSpPr>
        <p:spPr>
          <a:xfrm>
            <a:off x="228600" y="2667000"/>
            <a:ext cx="8686800" cy="2227263"/>
          </a:xfrm>
          <a:prstGeom prst="rect">
            <a:avLst/>
          </a:prstGeom>
          <a:noFill/>
          <a:ln w="9525">
            <a:noFill/>
          </a:ln>
        </p:spPr>
        <p:txBody>
          <a:bodyPr>
            <a:spAutoFit/>
          </a:bodyPr>
          <a:p>
            <a:r>
              <a:rPr lang="zh-CN" altLang="en-US" sz="2800" b="1" dirty="0">
                <a:solidFill>
                  <a:srgbClr val="0000FF"/>
                </a:solidFill>
                <a:latin typeface="Times New Roman" panose="02020603050405020304" pitchFamily="18" charset="0"/>
              </a:rPr>
              <a:t>分析：题目有三个目标层次，包含四个目标值。</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第一目标：</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第二目标：有两个要求即甲      ，乙     ，但两个具有相同的优先因子，因此需要确定权系数。本题可用单件利润比作为权系数即 </a:t>
            </a:r>
            <a:r>
              <a:rPr lang="en-US" altLang="zh-CN" sz="2800" b="1" dirty="0">
                <a:solidFill>
                  <a:srgbClr val="0000FF"/>
                </a:solidFill>
                <a:latin typeface="Times New Roman" panose="02020603050405020304" pitchFamily="18" charset="0"/>
              </a:rPr>
              <a:t>70 :120</a:t>
            </a:r>
            <a:r>
              <a:rPr lang="zh-CN" altLang="en-US" sz="2800" b="1" dirty="0">
                <a:solidFill>
                  <a:srgbClr val="0000FF"/>
                </a:solidFill>
                <a:latin typeface="Times New Roman" panose="02020603050405020304" pitchFamily="18" charset="0"/>
              </a:rPr>
              <a:t>，化简为</a:t>
            </a:r>
            <a:r>
              <a:rPr lang="en-US" altLang="zh-CN" sz="2800" b="1" dirty="0">
                <a:solidFill>
                  <a:srgbClr val="0000FF"/>
                </a:solidFill>
                <a:latin typeface="Times New Roman" panose="02020603050405020304" pitchFamily="18" charset="0"/>
              </a:rPr>
              <a:t>7:12</a:t>
            </a:r>
            <a:r>
              <a:rPr lang="zh-CN" altLang="en-US" sz="2800" b="1" dirty="0">
                <a:solidFill>
                  <a:srgbClr val="0000FF"/>
                </a:solidFill>
                <a:latin typeface="Times New Roman" panose="02020603050405020304" pitchFamily="18" charset="0"/>
              </a:rPr>
              <a:t>。</a:t>
            </a:r>
            <a:endParaRPr lang="zh-CN" altLang="en-US" sz="2800" b="1" dirty="0">
              <a:solidFill>
                <a:srgbClr val="0000FF"/>
              </a:solidFill>
              <a:latin typeface="Times New Roman" panose="02020603050405020304" pitchFamily="18" charset="0"/>
            </a:endParaRPr>
          </a:p>
        </p:txBody>
      </p:sp>
      <p:graphicFrame>
        <p:nvGraphicFramePr>
          <p:cNvPr id="14342" name="Object 6"/>
          <p:cNvGraphicFramePr/>
          <p:nvPr/>
        </p:nvGraphicFramePr>
        <p:xfrm>
          <a:off x="3352800" y="3048000"/>
          <a:ext cx="914400" cy="571500"/>
        </p:xfrm>
        <a:graphic>
          <a:graphicData uri="http://schemas.openxmlformats.org/presentationml/2006/ole">
            <mc:AlternateContent xmlns:mc="http://schemas.openxmlformats.org/markup-compatibility/2006">
              <mc:Choice xmlns:v="urn:schemas-microsoft-com:vml" Requires="v">
                <p:oleObj spid="_x0000_s3079" name="" r:id="rId1" imgW="304800" imgH="228600" progId="Equation.3">
                  <p:embed/>
                </p:oleObj>
              </mc:Choice>
              <mc:Fallback>
                <p:oleObj name="" r:id="rId1" imgW="304800" imgH="228600" progId="Equation.3">
                  <p:embed/>
                  <p:pic>
                    <p:nvPicPr>
                      <p:cNvPr id="0" name="图片 3078"/>
                      <p:cNvPicPr/>
                      <p:nvPr/>
                    </p:nvPicPr>
                    <p:blipFill>
                      <a:blip r:embed="rId2"/>
                      <a:stretch>
                        <a:fillRect/>
                      </a:stretch>
                    </p:blipFill>
                    <p:spPr>
                      <a:xfrm>
                        <a:off x="3352800" y="3048000"/>
                        <a:ext cx="914400" cy="571500"/>
                      </a:xfrm>
                      <a:prstGeom prst="rect">
                        <a:avLst/>
                      </a:prstGeom>
                      <a:noFill/>
                      <a:ln w="38100">
                        <a:noFill/>
                        <a:miter/>
                      </a:ln>
                    </p:spPr>
                  </p:pic>
                </p:oleObj>
              </mc:Fallback>
            </mc:AlternateContent>
          </a:graphicData>
        </a:graphic>
      </p:graphicFrame>
      <p:graphicFrame>
        <p:nvGraphicFramePr>
          <p:cNvPr id="14343" name="Object 7"/>
          <p:cNvGraphicFramePr/>
          <p:nvPr/>
        </p:nvGraphicFramePr>
        <p:xfrm>
          <a:off x="5791200" y="3429000"/>
          <a:ext cx="1828800" cy="609600"/>
        </p:xfrm>
        <a:graphic>
          <a:graphicData uri="http://schemas.openxmlformats.org/presentationml/2006/ole">
            <mc:AlternateContent xmlns:mc="http://schemas.openxmlformats.org/markup-compatibility/2006">
              <mc:Choice xmlns:v="urn:schemas-microsoft-com:vml" Requires="v">
                <p:oleObj spid="_x0000_s3077" name="" r:id="rId3" imgW="622300" imgH="241300" progId="Equation.3">
                  <p:embed/>
                </p:oleObj>
              </mc:Choice>
              <mc:Fallback>
                <p:oleObj name="" r:id="rId3" imgW="622300" imgH="241300" progId="Equation.3">
                  <p:embed/>
                  <p:pic>
                    <p:nvPicPr>
                      <p:cNvPr id="0" name="图片 3076"/>
                      <p:cNvPicPr/>
                      <p:nvPr/>
                    </p:nvPicPr>
                    <p:blipFill>
                      <a:blip r:embed="rId4"/>
                      <a:stretch>
                        <a:fillRect/>
                      </a:stretch>
                    </p:blipFill>
                    <p:spPr>
                      <a:xfrm>
                        <a:off x="5791200" y="3429000"/>
                        <a:ext cx="1828800" cy="609600"/>
                      </a:xfrm>
                      <a:prstGeom prst="rect">
                        <a:avLst/>
                      </a:prstGeom>
                      <a:noFill/>
                      <a:ln w="38100">
                        <a:noFill/>
                        <a:miter/>
                      </a:ln>
                    </p:spPr>
                  </p:pic>
                </p:oleObj>
              </mc:Fallback>
            </mc:AlternateContent>
          </a:graphicData>
        </a:graphic>
      </p:graphicFrame>
      <p:graphicFrame>
        <p:nvGraphicFramePr>
          <p:cNvPr id="14344" name="Object 8"/>
          <p:cNvGraphicFramePr/>
          <p:nvPr/>
        </p:nvGraphicFramePr>
        <p:xfrm>
          <a:off x="1447800" y="4876800"/>
          <a:ext cx="3733800" cy="609600"/>
        </p:xfrm>
        <a:graphic>
          <a:graphicData uri="http://schemas.openxmlformats.org/presentationml/2006/ole">
            <mc:AlternateContent xmlns:mc="http://schemas.openxmlformats.org/markup-compatibility/2006">
              <mc:Choice xmlns:v="urn:schemas-microsoft-com:vml" Requires="v">
                <p:oleObj spid="_x0000_s3076" name="" r:id="rId5" imgW="1129665" imgH="241300" progId="Equation.3">
                  <p:embed/>
                </p:oleObj>
              </mc:Choice>
              <mc:Fallback>
                <p:oleObj name="" r:id="rId5" imgW="1129665" imgH="241300" progId="Equation.3">
                  <p:embed/>
                  <p:pic>
                    <p:nvPicPr>
                      <p:cNvPr id="0" name="图片 3075"/>
                      <p:cNvPicPr/>
                      <p:nvPr/>
                    </p:nvPicPr>
                    <p:blipFill>
                      <a:blip r:embed="rId6"/>
                      <a:stretch>
                        <a:fillRect/>
                      </a:stretch>
                    </p:blipFill>
                    <p:spPr>
                      <a:xfrm>
                        <a:off x="1447800" y="4876800"/>
                        <a:ext cx="3733800" cy="609600"/>
                      </a:xfrm>
                      <a:prstGeom prst="rect">
                        <a:avLst/>
                      </a:prstGeom>
                      <a:noFill/>
                      <a:ln w="38100">
                        <a:noFill/>
                        <a:miter/>
                      </a:ln>
                    </p:spPr>
                  </p:pic>
                </p:oleObj>
              </mc:Fallback>
            </mc:AlternateContent>
          </a:graphicData>
        </a:graphic>
      </p:graphicFrame>
      <p:sp>
        <p:nvSpPr>
          <p:cNvPr id="14347" name="Line 11"/>
          <p:cNvSpPr/>
          <p:nvPr/>
        </p:nvSpPr>
        <p:spPr>
          <a:xfrm>
            <a:off x="1371600" y="3124200"/>
            <a:ext cx="6324600" cy="0"/>
          </a:xfrm>
          <a:prstGeom prst="line">
            <a:avLst/>
          </a:prstGeom>
          <a:ln w="28575" cap="flat" cmpd="sng">
            <a:solidFill>
              <a:srgbClr val="FF0000"/>
            </a:solidFill>
            <a:prstDash val="solid"/>
            <a:headEnd type="none" w="med" len="med"/>
            <a:tailEnd type="none" w="med" len="med"/>
          </a:ln>
        </p:spPr>
      </p:sp>
      <p:sp>
        <p:nvSpPr>
          <p:cNvPr id="14348" name="Line 12"/>
          <p:cNvSpPr/>
          <p:nvPr/>
        </p:nvSpPr>
        <p:spPr>
          <a:xfrm>
            <a:off x="1447800" y="3581400"/>
            <a:ext cx="2667000" cy="0"/>
          </a:xfrm>
          <a:prstGeom prst="line">
            <a:avLst/>
          </a:prstGeom>
          <a:ln w="28575" cap="flat" cmpd="sng">
            <a:solidFill>
              <a:srgbClr val="FF0000"/>
            </a:solidFill>
            <a:prstDash val="solid"/>
            <a:headEnd type="none" w="med" len="med"/>
            <a:tailEnd type="none" w="med" len="med"/>
          </a:ln>
        </p:spPr>
      </p:sp>
      <p:sp>
        <p:nvSpPr>
          <p:cNvPr id="14349" name="Line 13"/>
          <p:cNvSpPr/>
          <p:nvPr/>
        </p:nvSpPr>
        <p:spPr>
          <a:xfrm>
            <a:off x="1447800" y="3962400"/>
            <a:ext cx="7086600" cy="0"/>
          </a:xfrm>
          <a:prstGeom prst="line">
            <a:avLst/>
          </a:prstGeom>
          <a:ln w="28575" cap="flat" cmpd="sng">
            <a:solidFill>
              <a:srgbClr val="FF0000"/>
            </a:solidFill>
            <a:prstDash val="solid"/>
            <a:headEnd type="none" w="med" len="med"/>
            <a:tailEnd type="none" w="med" len="med"/>
          </a:ln>
        </p:spPr>
      </p:sp>
      <p:sp>
        <p:nvSpPr>
          <p:cNvPr id="14350" name="Line 14"/>
          <p:cNvSpPr/>
          <p:nvPr/>
        </p:nvSpPr>
        <p:spPr>
          <a:xfrm>
            <a:off x="381000" y="4419600"/>
            <a:ext cx="8153400" cy="0"/>
          </a:xfrm>
          <a:prstGeom prst="line">
            <a:avLst/>
          </a:prstGeom>
          <a:ln w="28575" cap="flat" cmpd="sng">
            <a:solidFill>
              <a:srgbClr val="FF0000"/>
            </a:solidFill>
            <a:prstDash val="solid"/>
            <a:headEnd type="none" w="med" len="med"/>
            <a:tailEnd type="none" w="med" len="med"/>
          </a:ln>
        </p:spPr>
      </p:sp>
      <p:sp>
        <p:nvSpPr>
          <p:cNvPr id="14351" name="Line 15"/>
          <p:cNvSpPr/>
          <p:nvPr/>
        </p:nvSpPr>
        <p:spPr>
          <a:xfrm>
            <a:off x="381000" y="4800600"/>
            <a:ext cx="8153400" cy="0"/>
          </a:xfrm>
          <a:prstGeom prst="line">
            <a:avLst/>
          </a:prstGeom>
          <a:ln w="28575" cap="flat" cmpd="sng">
            <a:solidFill>
              <a:srgbClr val="FF0000"/>
            </a:solidFill>
            <a:prstDash val="solid"/>
            <a:headEnd type="none" w="med" len="med"/>
            <a:tailEnd type="none" w="med" len="med"/>
          </a:ln>
        </p:spPr>
      </p:sp>
      <p:sp>
        <p:nvSpPr>
          <p:cNvPr id="2060" name="Rectangle 16"/>
          <p:cNvSpPr>
            <a:spLocks noGrp="1"/>
          </p:cNvSpPr>
          <p:nvPr>
            <p:ph type="ctrTitle"/>
          </p:nvPr>
        </p:nvSpPr>
        <p:spPr>
          <a:xfrm>
            <a:off x="304800" y="304800"/>
            <a:ext cx="1600200" cy="533400"/>
          </a:xfrm>
          <a:noFill/>
          <a:ln>
            <a:noFill/>
          </a:ln>
        </p:spPr>
        <p:txBody>
          <a:bodyPr/>
          <a:p>
            <a:pPr algn="l" eaLnBrk="1" hangingPunct="1">
              <a:buClrTx/>
              <a:buSzTx/>
              <a:buFontTx/>
            </a:pPr>
            <a:r>
              <a:rPr lang="zh-CN" altLang="en-US" sz="2800" b="1" dirty="0">
                <a:solidFill>
                  <a:srgbClr val="0000FF"/>
                </a:solidFill>
                <a:ea typeface="楷体_GB2312" pitchFamily="49" charset="-122"/>
              </a:rPr>
              <a:t>例二、</a:t>
            </a:r>
            <a:endParaRPr lang="zh-CN" altLang="en-US" sz="2800" b="1" dirty="0">
              <a:solidFill>
                <a:srgbClr val="0000FF"/>
              </a:solidFill>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1"/>
                                        </p:tgtEl>
                                        <p:attrNameLst>
                                          <p:attrName>style.visibility</p:attrName>
                                        </p:attrNameLst>
                                      </p:cBhvr>
                                      <p:to>
                                        <p:strVal val="visible"/>
                                      </p:to>
                                    </p:set>
                                    <p:animEffect transition="in" filter="blinds(horizontal)">
                                      <p:cBhvr>
                                        <p:cTn id="7" dur="500"/>
                                        <p:tgtEl>
                                          <p:spTgt spid="14341"/>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4342"/>
                                        </p:tgtEl>
                                        <p:attrNameLst>
                                          <p:attrName>style.visibility</p:attrName>
                                        </p:attrNameLst>
                                      </p:cBhvr>
                                      <p:to>
                                        <p:strVal val="visible"/>
                                      </p:to>
                                    </p:set>
                                    <p:animEffect transition="in" filter="dissolve">
                                      <p:cBhvr>
                                        <p:cTn id="11" dur="500"/>
                                        <p:tgtEl>
                                          <p:spTgt spid="14342"/>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14343"/>
                                        </p:tgtEl>
                                        <p:attrNameLst>
                                          <p:attrName>style.visibility</p:attrName>
                                        </p:attrNameLst>
                                      </p:cBhvr>
                                      <p:to>
                                        <p:strVal val="visible"/>
                                      </p:to>
                                    </p:set>
                                    <p:animEffect transition="in" filter="dissolve">
                                      <p:cBhvr>
                                        <p:cTn id="15" dur="500"/>
                                        <p:tgtEl>
                                          <p:spTgt spid="14343"/>
                                        </p:tgtEl>
                                      </p:cBhvr>
                                    </p:animEffect>
                                  </p:childTnLst>
                                </p:cTn>
                              </p:par>
                            </p:childTnLst>
                          </p:cTn>
                        </p:par>
                        <p:par>
                          <p:cTn id="16" fill="hold">
                            <p:stCondLst>
                              <p:cond delay="1500"/>
                            </p:stCondLst>
                            <p:childTnLst>
                              <p:par>
                                <p:cTn id="17" presetID="17" presetClass="entr" presetSubtype="8" fill="hold" nodeType="afterEffect">
                                  <p:stCondLst>
                                    <p:cond delay="0"/>
                                  </p:stCondLst>
                                  <p:childTnLst>
                                    <p:set>
                                      <p:cBhvr>
                                        <p:cTn id="18" dur="1" fill="hold">
                                          <p:stCondLst>
                                            <p:cond delay="0"/>
                                          </p:stCondLst>
                                        </p:cTn>
                                        <p:tgtEl>
                                          <p:spTgt spid="14344"/>
                                        </p:tgtEl>
                                        <p:attrNameLst>
                                          <p:attrName>style.visibility</p:attrName>
                                        </p:attrNameLst>
                                      </p:cBhvr>
                                      <p:to>
                                        <p:strVal val="visible"/>
                                      </p:to>
                                    </p:set>
                                    <p:anim calcmode="lin" valueType="num">
                                      <p:cBhvr>
                                        <p:cTn id="19" dur="500" fill="hold"/>
                                        <p:tgtEl>
                                          <p:spTgt spid="14344"/>
                                        </p:tgtEl>
                                        <p:attrNameLst>
                                          <p:attrName>ppt_x</p:attrName>
                                        </p:attrNameLst>
                                      </p:cBhvr>
                                      <p:tavLst>
                                        <p:tav tm="0">
                                          <p:val>
                                            <p:strVal val="#ppt_x-#ppt_w/2"/>
                                          </p:val>
                                        </p:tav>
                                        <p:tav tm="100000">
                                          <p:val>
                                            <p:strVal val="#ppt_x"/>
                                          </p:val>
                                        </p:tav>
                                      </p:tavLst>
                                    </p:anim>
                                    <p:anim calcmode="lin" valueType="num">
                                      <p:cBhvr>
                                        <p:cTn id="20" dur="500" fill="hold"/>
                                        <p:tgtEl>
                                          <p:spTgt spid="14344"/>
                                        </p:tgtEl>
                                        <p:attrNameLst>
                                          <p:attrName>ppt_y</p:attrName>
                                        </p:attrNameLst>
                                      </p:cBhvr>
                                      <p:tavLst>
                                        <p:tav tm="0">
                                          <p:val>
                                            <p:strVal val="#ppt_y"/>
                                          </p:val>
                                        </p:tav>
                                        <p:tav tm="100000">
                                          <p:val>
                                            <p:strVal val="#ppt_y"/>
                                          </p:val>
                                        </p:tav>
                                      </p:tavLst>
                                    </p:anim>
                                    <p:anim calcmode="lin" valueType="num">
                                      <p:cBhvr>
                                        <p:cTn id="21" dur="500" fill="hold"/>
                                        <p:tgtEl>
                                          <p:spTgt spid="14344"/>
                                        </p:tgtEl>
                                        <p:attrNameLst>
                                          <p:attrName>ppt_w</p:attrName>
                                        </p:attrNameLst>
                                      </p:cBhvr>
                                      <p:tavLst>
                                        <p:tav tm="0">
                                          <p:val>
                                            <p:fltVal val="0.000000"/>
                                          </p:val>
                                        </p:tav>
                                        <p:tav tm="100000">
                                          <p:val>
                                            <p:strVal val="#ppt_w"/>
                                          </p:val>
                                        </p:tav>
                                      </p:tavLst>
                                    </p:anim>
                                    <p:anim calcmode="lin" valueType="num">
                                      <p:cBhvr>
                                        <p:cTn id="22" dur="500" fill="hold"/>
                                        <p:tgtEl>
                                          <p:spTgt spid="14344"/>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nodeType="clickEffect">
                                  <p:stCondLst>
                                    <p:cond delay="0"/>
                                  </p:stCondLst>
                                  <p:childTnLst>
                                    <p:set>
                                      <p:cBhvr>
                                        <p:cTn id="26" dur="1" fill="hold">
                                          <p:stCondLst>
                                            <p:cond delay="0"/>
                                          </p:stCondLst>
                                        </p:cTn>
                                        <p:tgtEl>
                                          <p:spTgt spid="14347"/>
                                        </p:tgtEl>
                                        <p:attrNameLst>
                                          <p:attrName>style.visibility</p:attrName>
                                        </p:attrNameLst>
                                      </p:cBhvr>
                                      <p:to>
                                        <p:strVal val="visible"/>
                                      </p:to>
                                    </p:set>
                                    <p:anim calcmode="lin" valueType="num">
                                      <p:cBhvr>
                                        <p:cTn id="27" dur="500" fill="hold"/>
                                        <p:tgtEl>
                                          <p:spTgt spid="14347"/>
                                        </p:tgtEl>
                                        <p:attrNameLst>
                                          <p:attrName>ppt_x</p:attrName>
                                        </p:attrNameLst>
                                      </p:cBhvr>
                                      <p:tavLst>
                                        <p:tav tm="0">
                                          <p:val>
                                            <p:strVal val="#ppt_x-#ppt_w/2"/>
                                          </p:val>
                                        </p:tav>
                                        <p:tav tm="100000">
                                          <p:val>
                                            <p:strVal val="#ppt_x"/>
                                          </p:val>
                                        </p:tav>
                                      </p:tavLst>
                                    </p:anim>
                                    <p:anim calcmode="lin" valueType="num">
                                      <p:cBhvr>
                                        <p:cTn id="28" dur="500" fill="hold"/>
                                        <p:tgtEl>
                                          <p:spTgt spid="14347"/>
                                        </p:tgtEl>
                                        <p:attrNameLst>
                                          <p:attrName>ppt_y</p:attrName>
                                        </p:attrNameLst>
                                      </p:cBhvr>
                                      <p:tavLst>
                                        <p:tav tm="0">
                                          <p:val>
                                            <p:strVal val="#ppt_y"/>
                                          </p:val>
                                        </p:tav>
                                        <p:tav tm="100000">
                                          <p:val>
                                            <p:strVal val="#ppt_y"/>
                                          </p:val>
                                        </p:tav>
                                      </p:tavLst>
                                    </p:anim>
                                    <p:anim calcmode="lin" valueType="num">
                                      <p:cBhvr>
                                        <p:cTn id="29" dur="500" fill="hold"/>
                                        <p:tgtEl>
                                          <p:spTgt spid="14347"/>
                                        </p:tgtEl>
                                        <p:attrNameLst>
                                          <p:attrName>ppt_w</p:attrName>
                                        </p:attrNameLst>
                                      </p:cBhvr>
                                      <p:tavLst>
                                        <p:tav tm="0">
                                          <p:val>
                                            <p:fltVal val="0.000000"/>
                                          </p:val>
                                        </p:tav>
                                        <p:tav tm="100000">
                                          <p:val>
                                            <p:strVal val="#ppt_w"/>
                                          </p:val>
                                        </p:tav>
                                      </p:tavLst>
                                    </p:anim>
                                    <p:anim calcmode="lin" valueType="num">
                                      <p:cBhvr>
                                        <p:cTn id="30" dur="500" fill="hold"/>
                                        <p:tgtEl>
                                          <p:spTgt spid="14347"/>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4348"/>
                                        </p:tgtEl>
                                        <p:attrNameLst>
                                          <p:attrName>style.visibility</p:attrName>
                                        </p:attrNameLst>
                                      </p:cBhvr>
                                      <p:to>
                                        <p:strVal val="visible"/>
                                      </p:to>
                                    </p:set>
                                    <p:animEffect transition="in" filter="dissolve">
                                      <p:cBhvr>
                                        <p:cTn id="35" dur="500"/>
                                        <p:tgtEl>
                                          <p:spTgt spid="14348"/>
                                        </p:tgtEl>
                                      </p:cBhvr>
                                    </p:animEffect>
                                  </p:childTnLst>
                                </p:cTn>
                              </p:par>
                            </p:childTnLst>
                          </p:cTn>
                        </p:par>
                      </p:childTnLst>
                    </p:cTn>
                  </p:par>
                  <p:par>
                    <p:cTn id="36" fill="hold">
                      <p:stCondLst>
                        <p:cond delay="indefinite"/>
                      </p:stCondLst>
                      <p:childTnLst>
                        <p:par>
                          <p:cTn id="37" fill="hold">
                            <p:stCondLst>
                              <p:cond delay="0"/>
                            </p:stCondLst>
                            <p:childTnLst>
                              <p:par>
                                <p:cTn id="38" presetID="17" presetClass="entr" presetSubtype="8" fill="hold" nodeType="clickEffect">
                                  <p:stCondLst>
                                    <p:cond delay="0"/>
                                  </p:stCondLst>
                                  <p:childTnLst>
                                    <p:set>
                                      <p:cBhvr>
                                        <p:cTn id="39" dur="1" fill="hold">
                                          <p:stCondLst>
                                            <p:cond delay="0"/>
                                          </p:stCondLst>
                                        </p:cTn>
                                        <p:tgtEl>
                                          <p:spTgt spid="14349"/>
                                        </p:tgtEl>
                                        <p:attrNameLst>
                                          <p:attrName>style.visibility</p:attrName>
                                        </p:attrNameLst>
                                      </p:cBhvr>
                                      <p:to>
                                        <p:strVal val="visible"/>
                                      </p:to>
                                    </p:set>
                                    <p:anim calcmode="lin" valueType="num">
                                      <p:cBhvr>
                                        <p:cTn id="40" dur="500" fill="hold"/>
                                        <p:tgtEl>
                                          <p:spTgt spid="14349"/>
                                        </p:tgtEl>
                                        <p:attrNameLst>
                                          <p:attrName>ppt_x</p:attrName>
                                        </p:attrNameLst>
                                      </p:cBhvr>
                                      <p:tavLst>
                                        <p:tav tm="0">
                                          <p:val>
                                            <p:strVal val="#ppt_x-#ppt_w/2"/>
                                          </p:val>
                                        </p:tav>
                                        <p:tav tm="100000">
                                          <p:val>
                                            <p:strVal val="#ppt_x"/>
                                          </p:val>
                                        </p:tav>
                                      </p:tavLst>
                                    </p:anim>
                                    <p:anim calcmode="lin" valueType="num">
                                      <p:cBhvr>
                                        <p:cTn id="41" dur="500" fill="hold"/>
                                        <p:tgtEl>
                                          <p:spTgt spid="14349"/>
                                        </p:tgtEl>
                                        <p:attrNameLst>
                                          <p:attrName>ppt_y</p:attrName>
                                        </p:attrNameLst>
                                      </p:cBhvr>
                                      <p:tavLst>
                                        <p:tav tm="0">
                                          <p:val>
                                            <p:strVal val="#ppt_y"/>
                                          </p:val>
                                        </p:tav>
                                        <p:tav tm="100000">
                                          <p:val>
                                            <p:strVal val="#ppt_y"/>
                                          </p:val>
                                        </p:tav>
                                      </p:tavLst>
                                    </p:anim>
                                    <p:anim calcmode="lin" valueType="num">
                                      <p:cBhvr>
                                        <p:cTn id="42" dur="500" fill="hold"/>
                                        <p:tgtEl>
                                          <p:spTgt spid="14349"/>
                                        </p:tgtEl>
                                        <p:attrNameLst>
                                          <p:attrName>ppt_w</p:attrName>
                                        </p:attrNameLst>
                                      </p:cBhvr>
                                      <p:tavLst>
                                        <p:tav tm="0">
                                          <p:val>
                                            <p:fltVal val="0.000000"/>
                                          </p:val>
                                        </p:tav>
                                        <p:tav tm="100000">
                                          <p:val>
                                            <p:strVal val="#ppt_w"/>
                                          </p:val>
                                        </p:tav>
                                      </p:tavLst>
                                    </p:anim>
                                    <p:anim calcmode="lin" valueType="num">
                                      <p:cBhvr>
                                        <p:cTn id="43" dur="500" fill="hold"/>
                                        <p:tgtEl>
                                          <p:spTgt spid="14349"/>
                                        </p:tgtEl>
                                        <p:attrNameLst>
                                          <p:attrName>ppt_h</p:attrName>
                                        </p:attrNameLst>
                                      </p:cBhvr>
                                      <p:tavLst>
                                        <p:tav tm="0">
                                          <p:val>
                                            <p:strVal val="#ppt_h"/>
                                          </p:val>
                                        </p:tav>
                                        <p:tav tm="100000">
                                          <p:val>
                                            <p:strVal val="#ppt_h"/>
                                          </p:val>
                                        </p:tav>
                                      </p:tavLst>
                                    </p:anim>
                                  </p:childTnLst>
                                </p:cTn>
                              </p:par>
                            </p:childTnLst>
                          </p:cTn>
                        </p:par>
                        <p:par>
                          <p:cTn id="44" fill="hold">
                            <p:stCondLst>
                              <p:cond delay="500"/>
                            </p:stCondLst>
                            <p:childTnLst>
                              <p:par>
                                <p:cTn id="45" presetID="17" presetClass="entr" presetSubtype="8" fill="hold" nodeType="afterEffect">
                                  <p:stCondLst>
                                    <p:cond delay="0"/>
                                  </p:stCondLst>
                                  <p:childTnLst>
                                    <p:set>
                                      <p:cBhvr>
                                        <p:cTn id="46" dur="1" fill="hold">
                                          <p:stCondLst>
                                            <p:cond delay="0"/>
                                          </p:stCondLst>
                                        </p:cTn>
                                        <p:tgtEl>
                                          <p:spTgt spid="14350"/>
                                        </p:tgtEl>
                                        <p:attrNameLst>
                                          <p:attrName>style.visibility</p:attrName>
                                        </p:attrNameLst>
                                      </p:cBhvr>
                                      <p:to>
                                        <p:strVal val="visible"/>
                                      </p:to>
                                    </p:set>
                                    <p:anim calcmode="lin" valueType="num">
                                      <p:cBhvr>
                                        <p:cTn id="47" dur="500" fill="hold"/>
                                        <p:tgtEl>
                                          <p:spTgt spid="14350"/>
                                        </p:tgtEl>
                                        <p:attrNameLst>
                                          <p:attrName>ppt_x</p:attrName>
                                        </p:attrNameLst>
                                      </p:cBhvr>
                                      <p:tavLst>
                                        <p:tav tm="0">
                                          <p:val>
                                            <p:strVal val="#ppt_x-#ppt_w/2"/>
                                          </p:val>
                                        </p:tav>
                                        <p:tav tm="100000">
                                          <p:val>
                                            <p:strVal val="#ppt_x"/>
                                          </p:val>
                                        </p:tav>
                                      </p:tavLst>
                                    </p:anim>
                                    <p:anim calcmode="lin" valueType="num">
                                      <p:cBhvr>
                                        <p:cTn id="48" dur="500" fill="hold"/>
                                        <p:tgtEl>
                                          <p:spTgt spid="14350"/>
                                        </p:tgtEl>
                                        <p:attrNameLst>
                                          <p:attrName>ppt_y</p:attrName>
                                        </p:attrNameLst>
                                      </p:cBhvr>
                                      <p:tavLst>
                                        <p:tav tm="0">
                                          <p:val>
                                            <p:strVal val="#ppt_y"/>
                                          </p:val>
                                        </p:tav>
                                        <p:tav tm="100000">
                                          <p:val>
                                            <p:strVal val="#ppt_y"/>
                                          </p:val>
                                        </p:tav>
                                      </p:tavLst>
                                    </p:anim>
                                    <p:anim calcmode="lin" valueType="num">
                                      <p:cBhvr>
                                        <p:cTn id="49" dur="500" fill="hold"/>
                                        <p:tgtEl>
                                          <p:spTgt spid="14350"/>
                                        </p:tgtEl>
                                        <p:attrNameLst>
                                          <p:attrName>ppt_w</p:attrName>
                                        </p:attrNameLst>
                                      </p:cBhvr>
                                      <p:tavLst>
                                        <p:tav tm="0">
                                          <p:val>
                                            <p:fltVal val="0.000000"/>
                                          </p:val>
                                        </p:tav>
                                        <p:tav tm="100000">
                                          <p:val>
                                            <p:strVal val="#ppt_w"/>
                                          </p:val>
                                        </p:tav>
                                      </p:tavLst>
                                    </p:anim>
                                    <p:anim calcmode="lin" valueType="num">
                                      <p:cBhvr>
                                        <p:cTn id="50" dur="500" fill="hold"/>
                                        <p:tgtEl>
                                          <p:spTgt spid="14350"/>
                                        </p:tgtEl>
                                        <p:attrNameLst>
                                          <p:attrName>ppt_h</p:attrName>
                                        </p:attrNameLst>
                                      </p:cBhvr>
                                      <p:tavLst>
                                        <p:tav tm="0">
                                          <p:val>
                                            <p:strVal val="#ppt_h"/>
                                          </p:val>
                                        </p:tav>
                                        <p:tav tm="100000">
                                          <p:val>
                                            <p:strVal val="#ppt_h"/>
                                          </p:val>
                                        </p:tav>
                                      </p:tavLst>
                                    </p:anim>
                                  </p:childTnLst>
                                </p:cTn>
                              </p:par>
                            </p:childTnLst>
                          </p:cTn>
                        </p:par>
                        <p:par>
                          <p:cTn id="51" fill="hold">
                            <p:stCondLst>
                              <p:cond delay="1000"/>
                            </p:stCondLst>
                            <p:childTnLst>
                              <p:par>
                                <p:cTn id="52" presetID="17" presetClass="entr" presetSubtype="8" fill="hold" nodeType="afterEffect">
                                  <p:stCondLst>
                                    <p:cond delay="0"/>
                                  </p:stCondLst>
                                  <p:childTnLst>
                                    <p:set>
                                      <p:cBhvr>
                                        <p:cTn id="53" dur="1" fill="hold">
                                          <p:stCondLst>
                                            <p:cond delay="0"/>
                                          </p:stCondLst>
                                        </p:cTn>
                                        <p:tgtEl>
                                          <p:spTgt spid="14351"/>
                                        </p:tgtEl>
                                        <p:attrNameLst>
                                          <p:attrName>style.visibility</p:attrName>
                                        </p:attrNameLst>
                                      </p:cBhvr>
                                      <p:to>
                                        <p:strVal val="visible"/>
                                      </p:to>
                                    </p:set>
                                    <p:anim calcmode="lin" valueType="num">
                                      <p:cBhvr>
                                        <p:cTn id="54" dur="500" fill="hold"/>
                                        <p:tgtEl>
                                          <p:spTgt spid="14351"/>
                                        </p:tgtEl>
                                        <p:attrNameLst>
                                          <p:attrName>ppt_x</p:attrName>
                                        </p:attrNameLst>
                                      </p:cBhvr>
                                      <p:tavLst>
                                        <p:tav tm="0">
                                          <p:val>
                                            <p:strVal val="#ppt_x-#ppt_w/2"/>
                                          </p:val>
                                        </p:tav>
                                        <p:tav tm="100000">
                                          <p:val>
                                            <p:strVal val="#ppt_x"/>
                                          </p:val>
                                        </p:tav>
                                      </p:tavLst>
                                    </p:anim>
                                    <p:anim calcmode="lin" valueType="num">
                                      <p:cBhvr>
                                        <p:cTn id="55" dur="500" fill="hold"/>
                                        <p:tgtEl>
                                          <p:spTgt spid="14351"/>
                                        </p:tgtEl>
                                        <p:attrNameLst>
                                          <p:attrName>ppt_y</p:attrName>
                                        </p:attrNameLst>
                                      </p:cBhvr>
                                      <p:tavLst>
                                        <p:tav tm="0">
                                          <p:val>
                                            <p:strVal val="#ppt_y"/>
                                          </p:val>
                                        </p:tav>
                                        <p:tav tm="100000">
                                          <p:val>
                                            <p:strVal val="#ppt_y"/>
                                          </p:val>
                                        </p:tav>
                                      </p:tavLst>
                                    </p:anim>
                                    <p:anim calcmode="lin" valueType="num">
                                      <p:cBhvr>
                                        <p:cTn id="56" dur="500" fill="hold"/>
                                        <p:tgtEl>
                                          <p:spTgt spid="14351"/>
                                        </p:tgtEl>
                                        <p:attrNameLst>
                                          <p:attrName>ppt_w</p:attrName>
                                        </p:attrNameLst>
                                      </p:cBhvr>
                                      <p:tavLst>
                                        <p:tav tm="0">
                                          <p:val>
                                            <p:fltVal val="0.000000"/>
                                          </p:val>
                                        </p:tav>
                                        <p:tav tm="100000">
                                          <p:val>
                                            <p:strVal val="#ppt_w"/>
                                          </p:val>
                                        </p:tav>
                                      </p:tavLst>
                                    </p:anim>
                                    <p:anim calcmode="lin" valueType="num">
                                      <p:cBhvr>
                                        <p:cTn id="57" dur="500" fill="hold"/>
                                        <p:tgtEl>
                                          <p:spTgt spid="1435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Text Box 3"/>
          <p:cNvSpPr txBox="1"/>
          <p:nvPr/>
        </p:nvSpPr>
        <p:spPr>
          <a:xfrm>
            <a:off x="685800" y="457200"/>
            <a:ext cx="2606675" cy="519113"/>
          </a:xfrm>
          <a:prstGeom prst="rect">
            <a:avLst/>
          </a:prstGeom>
          <a:noFill/>
          <a:ln w="9525">
            <a:noFill/>
          </a:ln>
        </p:spPr>
        <p:txBody>
          <a:bodyPr>
            <a:spAutoFit/>
          </a:bodyPr>
          <a:p>
            <a:r>
              <a:rPr lang="zh-CN" altLang="en-US" sz="2800" b="1" dirty="0">
                <a:solidFill>
                  <a:srgbClr val="0000FF"/>
                </a:solidFill>
                <a:latin typeface="Times New Roman" panose="02020603050405020304" pitchFamily="18" charset="0"/>
              </a:rPr>
              <a:t>第三目标：</a:t>
            </a:r>
            <a:endParaRPr lang="zh-CN" altLang="en-US" sz="2800" b="1" dirty="0">
              <a:solidFill>
                <a:srgbClr val="0000FF"/>
              </a:solidFill>
              <a:latin typeface="Times New Roman" panose="02020603050405020304" pitchFamily="18" charset="0"/>
            </a:endParaRPr>
          </a:p>
        </p:txBody>
      </p:sp>
      <p:graphicFrame>
        <p:nvGraphicFramePr>
          <p:cNvPr id="15364" name="Object 4"/>
          <p:cNvGraphicFramePr/>
          <p:nvPr/>
        </p:nvGraphicFramePr>
        <p:xfrm>
          <a:off x="3276600" y="457200"/>
          <a:ext cx="2514600" cy="609600"/>
        </p:xfrm>
        <a:graphic>
          <a:graphicData uri="http://schemas.openxmlformats.org/presentationml/2006/ole">
            <mc:AlternateContent xmlns:mc="http://schemas.openxmlformats.org/markup-compatibility/2006">
              <mc:Choice xmlns:v="urn:schemas-microsoft-com:vml" Requires="v">
                <p:oleObj spid="_x0000_s3080" name="" r:id="rId1" imgW="761365" imgH="241300" progId="Equation.3">
                  <p:embed/>
                </p:oleObj>
              </mc:Choice>
              <mc:Fallback>
                <p:oleObj name="" r:id="rId1" imgW="761365" imgH="241300" progId="Equation.3">
                  <p:embed/>
                  <p:pic>
                    <p:nvPicPr>
                      <p:cNvPr id="0" name="图片 3079"/>
                      <p:cNvPicPr/>
                      <p:nvPr/>
                    </p:nvPicPr>
                    <p:blipFill>
                      <a:blip r:embed="rId2"/>
                      <a:stretch>
                        <a:fillRect/>
                      </a:stretch>
                    </p:blipFill>
                    <p:spPr>
                      <a:xfrm>
                        <a:off x="3276600" y="457200"/>
                        <a:ext cx="2514600" cy="609600"/>
                      </a:xfrm>
                      <a:prstGeom prst="rect">
                        <a:avLst/>
                      </a:prstGeom>
                      <a:noFill/>
                      <a:ln w="38100">
                        <a:noFill/>
                        <a:miter/>
                      </a:ln>
                    </p:spPr>
                  </p:pic>
                </p:oleObj>
              </mc:Fallback>
            </mc:AlternateContent>
          </a:graphicData>
        </a:graphic>
      </p:graphicFrame>
      <p:graphicFrame>
        <p:nvGraphicFramePr>
          <p:cNvPr id="15365" name="Object 5"/>
          <p:cNvGraphicFramePr/>
          <p:nvPr/>
        </p:nvGraphicFramePr>
        <p:xfrm>
          <a:off x="903288" y="1771650"/>
          <a:ext cx="7097712" cy="4943475"/>
        </p:xfrm>
        <a:graphic>
          <a:graphicData uri="http://schemas.openxmlformats.org/presentationml/2006/ole">
            <mc:AlternateContent xmlns:mc="http://schemas.openxmlformats.org/markup-compatibility/2006">
              <mc:Choice xmlns:v="urn:schemas-microsoft-com:vml" Requires="v">
                <p:oleObj spid="_x0000_s3078" name="" r:id="rId3" imgW="2730500" imgH="2032000" progId="Equation.DSMT4">
                  <p:embed/>
                </p:oleObj>
              </mc:Choice>
              <mc:Fallback>
                <p:oleObj name="" r:id="rId3" imgW="2730500" imgH="2032000" progId="Equation.DSMT4">
                  <p:embed/>
                  <p:pic>
                    <p:nvPicPr>
                      <p:cNvPr id="0" name="图片 3077"/>
                      <p:cNvPicPr/>
                      <p:nvPr/>
                    </p:nvPicPr>
                    <p:blipFill>
                      <a:blip r:embed="rId4"/>
                      <a:stretch>
                        <a:fillRect/>
                      </a:stretch>
                    </p:blipFill>
                    <p:spPr>
                      <a:xfrm>
                        <a:off x="903288" y="1771650"/>
                        <a:ext cx="7097712" cy="4943475"/>
                      </a:xfrm>
                      <a:prstGeom prst="rect">
                        <a:avLst/>
                      </a:prstGeom>
                      <a:noFill/>
                      <a:ln w="38100">
                        <a:noFill/>
                        <a:miter/>
                      </a:ln>
                    </p:spPr>
                  </p:pic>
                </p:oleObj>
              </mc:Fallback>
            </mc:AlternateContent>
          </a:graphicData>
        </a:graphic>
      </p:graphicFrame>
      <p:sp>
        <p:nvSpPr>
          <p:cNvPr id="15366" name="Text Box 6"/>
          <p:cNvSpPr txBox="1"/>
          <p:nvPr/>
        </p:nvSpPr>
        <p:spPr>
          <a:xfrm>
            <a:off x="457200" y="1239838"/>
            <a:ext cx="4724400" cy="519112"/>
          </a:xfrm>
          <a:prstGeom prst="rect">
            <a:avLst/>
          </a:prstGeom>
          <a:noFill/>
          <a:ln w="9525">
            <a:noFill/>
          </a:ln>
        </p:spPr>
        <p:txBody>
          <a:bodyPr>
            <a:spAutoFit/>
          </a:bodyPr>
          <a:p>
            <a:r>
              <a:rPr lang="zh-CN" altLang="en-US" sz="2800" b="1" dirty="0">
                <a:solidFill>
                  <a:srgbClr val="0000FF"/>
                </a:solidFill>
                <a:latin typeface="Times New Roman" panose="02020603050405020304" pitchFamily="18" charset="0"/>
              </a:rPr>
              <a:t>目标规划模型为：</a:t>
            </a:r>
            <a:endParaRPr lang="zh-CN" altLang="en-US" sz="2800" b="1" dirty="0">
              <a:solidFill>
                <a:srgbClr val="0000FF"/>
              </a:solidFill>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363"/>
                                        </p:tgtEl>
                                        <p:attrNameLst>
                                          <p:attrName>style.visibility</p:attrName>
                                        </p:attrNameLst>
                                      </p:cBhvr>
                                      <p:to>
                                        <p:strVal val="visible"/>
                                      </p:to>
                                    </p:set>
                                  </p:childTnLst>
                                </p:cTn>
                              </p:par>
                            </p:childTnLst>
                          </p:cTn>
                        </p:par>
                        <p:par>
                          <p:cTn id="7" fill="hold">
                            <p:stCondLst>
                              <p:cond delay="500"/>
                            </p:stCondLst>
                            <p:childTnLst>
                              <p:par>
                                <p:cTn id="8" presetID="9" presetClass="entr" presetSubtype="0" fill="hold" nodeType="afterEffect">
                                  <p:stCondLst>
                                    <p:cond delay="0"/>
                                  </p:stCondLst>
                                  <p:childTnLst>
                                    <p:set>
                                      <p:cBhvr>
                                        <p:cTn id="9" dur="1" fill="hold">
                                          <p:stCondLst>
                                            <p:cond delay="0"/>
                                          </p:stCondLst>
                                        </p:cTn>
                                        <p:tgtEl>
                                          <p:spTgt spid="15364"/>
                                        </p:tgtEl>
                                        <p:attrNameLst>
                                          <p:attrName>style.visibility</p:attrName>
                                        </p:attrNameLst>
                                      </p:cBhvr>
                                      <p:to>
                                        <p:strVal val="visible"/>
                                      </p:to>
                                    </p:set>
                                    <p:animEffect transition="in" filter="dissolve">
                                      <p:cBhvr>
                                        <p:cTn id="10" dur="500"/>
                                        <p:tgtEl>
                                          <p:spTgt spid="1536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366"/>
                                        </p:tgtEl>
                                        <p:attrNameLst>
                                          <p:attrName>style.visibility</p:attrName>
                                        </p:attrNameLst>
                                      </p:cBhvr>
                                      <p:to>
                                        <p:strVal val="visible"/>
                                      </p:to>
                                    </p:set>
                                  </p:childTnLst>
                                </p:cTn>
                              </p:par>
                            </p:childTnLst>
                          </p:cTn>
                        </p:par>
                        <p:par>
                          <p:cTn id="15" fill="hold">
                            <p:stCondLst>
                              <p:cond delay="500"/>
                            </p:stCondLst>
                            <p:childTnLst>
                              <p:par>
                                <p:cTn id="16" presetID="17" presetClass="entr" presetSubtype="4" fill="hold" nodeType="afterEffect">
                                  <p:stCondLst>
                                    <p:cond delay="0"/>
                                  </p:stCondLst>
                                  <p:childTnLst>
                                    <p:set>
                                      <p:cBhvr>
                                        <p:cTn id="17" dur="1" fill="hold">
                                          <p:stCondLst>
                                            <p:cond delay="0"/>
                                          </p:stCondLst>
                                        </p:cTn>
                                        <p:tgtEl>
                                          <p:spTgt spid="15365"/>
                                        </p:tgtEl>
                                        <p:attrNameLst>
                                          <p:attrName>style.visibility</p:attrName>
                                        </p:attrNameLst>
                                      </p:cBhvr>
                                      <p:to>
                                        <p:strVal val="visible"/>
                                      </p:to>
                                    </p:set>
                                    <p:anim calcmode="lin" valueType="num">
                                      <p:cBhvr>
                                        <p:cTn id="18" dur="500" fill="hold"/>
                                        <p:tgtEl>
                                          <p:spTgt spid="15365"/>
                                        </p:tgtEl>
                                        <p:attrNameLst>
                                          <p:attrName>ppt_x</p:attrName>
                                        </p:attrNameLst>
                                      </p:cBhvr>
                                      <p:tavLst>
                                        <p:tav tm="0">
                                          <p:val>
                                            <p:strVal val="#ppt_x"/>
                                          </p:val>
                                        </p:tav>
                                        <p:tav tm="100000">
                                          <p:val>
                                            <p:strVal val="#ppt_x"/>
                                          </p:val>
                                        </p:tav>
                                      </p:tavLst>
                                    </p:anim>
                                    <p:anim calcmode="lin" valueType="num">
                                      <p:cBhvr>
                                        <p:cTn id="19" dur="500" fill="hold"/>
                                        <p:tgtEl>
                                          <p:spTgt spid="15365"/>
                                        </p:tgtEl>
                                        <p:attrNameLst>
                                          <p:attrName>ppt_y</p:attrName>
                                        </p:attrNameLst>
                                      </p:cBhvr>
                                      <p:tavLst>
                                        <p:tav tm="0">
                                          <p:val>
                                            <p:strVal val="#ppt_y+#ppt_h/2"/>
                                          </p:val>
                                        </p:tav>
                                        <p:tav tm="100000">
                                          <p:val>
                                            <p:strVal val="#ppt_y"/>
                                          </p:val>
                                        </p:tav>
                                      </p:tavLst>
                                    </p:anim>
                                    <p:anim calcmode="lin" valueType="num">
                                      <p:cBhvr>
                                        <p:cTn id="20" dur="500" fill="hold"/>
                                        <p:tgtEl>
                                          <p:spTgt spid="15365"/>
                                        </p:tgtEl>
                                        <p:attrNameLst>
                                          <p:attrName>ppt_w</p:attrName>
                                        </p:attrNameLst>
                                      </p:cBhvr>
                                      <p:tavLst>
                                        <p:tav tm="0">
                                          <p:val>
                                            <p:strVal val="#ppt_w"/>
                                          </p:val>
                                        </p:tav>
                                        <p:tav tm="100000">
                                          <p:val>
                                            <p:strVal val="#ppt_w"/>
                                          </p:val>
                                        </p:tav>
                                      </p:tavLst>
                                    </p:anim>
                                    <p:anim calcmode="lin" valueType="num">
                                      <p:cBhvr>
                                        <p:cTn id="21" dur="500" fill="hold"/>
                                        <p:tgtEl>
                                          <p:spTgt spid="15365"/>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P spid="1536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0" name="Text Box 5"/>
          <p:cNvSpPr txBox="1"/>
          <p:nvPr/>
        </p:nvSpPr>
        <p:spPr>
          <a:xfrm>
            <a:off x="304800" y="533400"/>
            <a:ext cx="3962400" cy="1800225"/>
          </a:xfrm>
          <a:prstGeom prst="rect">
            <a:avLst/>
          </a:prstGeom>
          <a:noFill/>
          <a:ln w="9525">
            <a:noFill/>
          </a:ln>
        </p:spPr>
        <p:txBody>
          <a:bodyPr>
            <a:spAutoFit/>
          </a:bodyPr>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某厂生产</a:t>
            </a:r>
            <a:r>
              <a:rPr lang="en-US" altLang="zh-CN" sz="2800" b="1" dirty="0">
                <a:solidFill>
                  <a:srgbClr val="0000FF"/>
                </a:solidFill>
                <a:latin typeface="Times New Roman" panose="02020603050405020304" pitchFamily="18" charset="0"/>
              </a:rPr>
              <a:t>Ⅰ</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Ⅱ</a:t>
            </a:r>
            <a:r>
              <a:rPr lang="zh-CN" altLang="en-US" sz="2800" b="1" dirty="0">
                <a:solidFill>
                  <a:srgbClr val="0000FF"/>
                </a:solidFill>
                <a:latin typeface="Times New Roman" panose="02020603050405020304" pitchFamily="18" charset="0"/>
              </a:rPr>
              <a:t>两种产品，有关数据如表所示。试求获利最大的生产方案？</a:t>
            </a:r>
            <a:endParaRPr lang="zh-CN" altLang="en-US" sz="2800" b="1" dirty="0">
              <a:solidFill>
                <a:srgbClr val="0000FF"/>
              </a:solidFill>
              <a:latin typeface="Times New Roman" panose="02020603050405020304" pitchFamily="18" charset="0"/>
            </a:endParaRPr>
          </a:p>
        </p:txBody>
      </p:sp>
      <p:graphicFrame>
        <p:nvGraphicFramePr>
          <p:cNvPr id="4101" name="表格 4100"/>
          <p:cNvGraphicFramePr/>
          <p:nvPr/>
        </p:nvGraphicFramePr>
        <p:xfrm>
          <a:off x="4343400" y="838200"/>
          <a:ext cx="4572000" cy="1828800"/>
        </p:xfrm>
        <a:graphic>
          <a:graphicData uri="http://schemas.openxmlformats.org/drawingml/2006/table">
            <a:tbl>
              <a:tblPr/>
              <a:tblGrid>
                <a:gridCol w="1752600"/>
                <a:gridCol w="838200"/>
                <a:gridCol w="838200"/>
                <a:gridCol w="1143000"/>
              </a:tblGrid>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Ⅰ</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Ⅱ</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b="1" dirty="0">
                          <a:latin typeface="Times New Roman" panose="02020603050405020304" pitchFamily="18" charset="0"/>
                        </a:rPr>
                        <a:t>拥有量</a:t>
                      </a:r>
                      <a:endParaRPr lang="zh-CN" altLang="en-US" b="1"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b="1" dirty="0">
                          <a:latin typeface="Times New Roman" panose="02020603050405020304" pitchFamily="18" charset="0"/>
                        </a:rPr>
                        <a:t>原材料</a:t>
                      </a:r>
                      <a:endParaRPr lang="zh-CN" altLang="en-US" b="1"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2</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1</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11</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b="1" dirty="0">
                          <a:latin typeface="Times New Roman" panose="02020603050405020304" pitchFamily="18" charset="0"/>
                        </a:rPr>
                        <a:t>设备</a:t>
                      </a:r>
                      <a:r>
                        <a:rPr lang="en-US" altLang="zh-CN" b="1" dirty="0">
                          <a:latin typeface="Times New Roman" panose="02020603050405020304" pitchFamily="18" charset="0"/>
                        </a:rPr>
                        <a:t>(</a:t>
                      </a:r>
                      <a:r>
                        <a:rPr lang="zh-CN" altLang="en-US" b="1" dirty="0">
                          <a:latin typeface="Times New Roman" panose="02020603050405020304" pitchFamily="18" charset="0"/>
                        </a:rPr>
                        <a:t>台时</a:t>
                      </a:r>
                      <a:r>
                        <a:rPr lang="en-US" altLang="zh-CN" b="1" dirty="0">
                          <a:latin typeface="Times New Roman" panose="02020603050405020304" pitchFamily="18" charset="0"/>
                        </a:rPr>
                        <a:t>)</a:t>
                      </a:r>
                      <a:endParaRPr lang="en-US" altLang="zh-CN" b="1"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1</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2</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10</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b="1" dirty="0">
                          <a:latin typeface="Times New Roman" panose="02020603050405020304" pitchFamily="18" charset="0"/>
                        </a:rPr>
                        <a:t>单件利润</a:t>
                      </a:r>
                      <a:endParaRPr lang="zh-CN" altLang="en-US" b="1"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8</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10</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hlink"/>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folHlink"/>
                    </a:solidFill>
                  </a:tcPr>
                </a:tc>
              </a:tr>
            </a:tbl>
          </a:graphicData>
        </a:graphic>
      </p:graphicFrame>
      <p:sp>
        <p:nvSpPr>
          <p:cNvPr id="4128" name="Rectangle 45"/>
          <p:cNvSpPr/>
          <p:nvPr/>
        </p:nvSpPr>
        <p:spPr>
          <a:xfrm>
            <a:off x="228600" y="2590800"/>
            <a:ext cx="8686800" cy="1800225"/>
          </a:xfrm>
          <a:prstGeom prst="rect">
            <a:avLst/>
          </a:prstGeom>
          <a:noFill/>
          <a:ln w="9525">
            <a:noFill/>
          </a:ln>
        </p:spPr>
        <p:txBody>
          <a:bodyPr>
            <a:spAutoFit/>
          </a:bodyPr>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在此基础上考虑：</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1</a:t>
            </a:r>
            <a:r>
              <a:rPr lang="zh-CN" altLang="en-US" sz="2800" b="1" dirty="0">
                <a:solidFill>
                  <a:srgbClr val="0000FF"/>
                </a:solidFill>
                <a:latin typeface="Times New Roman" panose="02020603050405020304" pitchFamily="18" charset="0"/>
              </a:rPr>
              <a:t>、产品</a:t>
            </a:r>
            <a:r>
              <a:rPr lang="en-US" altLang="zh-CN" sz="2800" b="1" dirty="0">
                <a:solidFill>
                  <a:srgbClr val="0000FF"/>
                </a:solidFill>
                <a:latin typeface="Times New Roman" panose="02020603050405020304" pitchFamily="18" charset="0"/>
              </a:rPr>
              <a:t>Ⅱ</a:t>
            </a:r>
            <a:r>
              <a:rPr lang="zh-CN" altLang="en-US" sz="2800" b="1" dirty="0">
                <a:solidFill>
                  <a:srgbClr val="0000FF"/>
                </a:solidFill>
                <a:latin typeface="Times New Roman" panose="02020603050405020304" pitchFamily="18" charset="0"/>
              </a:rPr>
              <a:t>的产量不低于产品</a:t>
            </a:r>
            <a:r>
              <a:rPr lang="en-US" altLang="zh-CN" sz="2800" b="1" dirty="0">
                <a:solidFill>
                  <a:srgbClr val="0000FF"/>
                </a:solidFill>
                <a:latin typeface="Times New Roman" panose="02020603050405020304" pitchFamily="18" charset="0"/>
              </a:rPr>
              <a:t>Ⅰ</a:t>
            </a:r>
            <a:r>
              <a:rPr lang="zh-CN" altLang="en-US" sz="2800" b="1" dirty="0">
                <a:solidFill>
                  <a:srgbClr val="0000FF"/>
                </a:solidFill>
                <a:latin typeface="Times New Roman" panose="02020603050405020304" pitchFamily="18" charset="0"/>
              </a:rPr>
              <a:t>的产量；</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2</a:t>
            </a:r>
            <a:r>
              <a:rPr lang="zh-CN" altLang="en-US" sz="2800" b="1" dirty="0">
                <a:solidFill>
                  <a:srgbClr val="0000FF"/>
                </a:solidFill>
                <a:latin typeface="Times New Roman" panose="02020603050405020304" pitchFamily="18" charset="0"/>
              </a:rPr>
              <a:t>、充分利用设备有效台时，不加班；</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3</a:t>
            </a:r>
            <a:r>
              <a:rPr lang="zh-CN" altLang="en-US" sz="2800" b="1" dirty="0">
                <a:solidFill>
                  <a:srgbClr val="0000FF"/>
                </a:solidFill>
                <a:latin typeface="Times New Roman" panose="02020603050405020304" pitchFamily="18" charset="0"/>
              </a:rPr>
              <a:t>、利润不小于 </a:t>
            </a:r>
            <a:r>
              <a:rPr lang="en-US" altLang="zh-CN" sz="2800" b="1" dirty="0">
                <a:solidFill>
                  <a:srgbClr val="0000FF"/>
                </a:solidFill>
                <a:latin typeface="Times New Roman" panose="02020603050405020304" pitchFamily="18" charset="0"/>
              </a:rPr>
              <a:t>56 </a:t>
            </a:r>
            <a:r>
              <a:rPr lang="zh-CN" altLang="en-US" sz="2800" b="1" dirty="0">
                <a:solidFill>
                  <a:srgbClr val="0000FF"/>
                </a:solidFill>
                <a:latin typeface="Times New Roman" panose="02020603050405020304" pitchFamily="18" charset="0"/>
              </a:rPr>
              <a:t>元。</a:t>
            </a:r>
            <a:endParaRPr lang="zh-CN" altLang="en-US" sz="2800" b="1" dirty="0">
              <a:solidFill>
                <a:srgbClr val="0000FF"/>
              </a:solidFill>
              <a:latin typeface="Times New Roman" panose="02020603050405020304" pitchFamily="18" charset="0"/>
            </a:endParaRPr>
          </a:p>
        </p:txBody>
      </p:sp>
      <p:sp>
        <p:nvSpPr>
          <p:cNvPr id="16430" name="Text Box 46"/>
          <p:cNvSpPr txBox="1"/>
          <p:nvPr/>
        </p:nvSpPr>
        <p:spPr>
          <a:xfrm>
            <a:off x="365125" y="4668838"/>
            <a:ext cx="8550275" cy="946150"/>
          </a:xfrm>
          <a:prstGeom prst="rect">
            <a:avLst/>
          </a:prstGeom>
          <a:noFill/>
          <a:ln w="9525">
            <a:noFill/>
          </a:ln>
        </p:spPr>
        <p:txBody>
          <a:bodyPr>
            <a:spAutoFit/>
          </a:bodyPr>
          <a:p>
            <a:r>
              <a:rPr lang="zh-CN" altLang="en-US" sz="2800" b="1" dirty="0">
                <a:solidFill>
                  <a:srgbClr val="0000FF"/>
                </a:solidFill>
                <a:latin typeface="楷体_GB2312" pitchFamily="49" charset="-122"/>
              </a:rPr>
              <a:t>解</a:t>
            </a:r>
            <a:r>
              <a:rPr lang="en-US" altLang="zh-CN" sz="2800" b="1" dirty="0">
                <a:solidFill>
                  <a:srgbClr val="0000FF"/>
                </a:solidFill>
                <a:latin typeface="楷体_GB2312" pitchFamily="49" charset="-122"/>
              </a:rPr>
              <a:t>:  </a:t>
            </a:r>
            <a:r>
              <a:rPr lang="zh-CN" altLang="en-US" sz="2800" b="1" dirty="0">
                <a:solidFill>
                  <a:srgbClr val="0000FF"/>
                </a:solidFill>
                <a:latin typeface="楷体_GB2312" pitchFamily="49" charset="-122"/>
              </a:rPr>
              <a:t>分析  第一目标：</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即产品</a:t>
            </a:r>
            <a:r>
              <a:rPr lang="en-US" altLang="zh-CN" sz="2800" b="1" dirty="0">
                <a:solidFill>
                  <a:srgbClr val="0000FF"/>
                </a:solidFill>
                <a:latin typeface="Times New Roman" panose="02020603050405020304" pitchFamily="18" charset="0"/>
              </a:rPr>
              <a:t>Ⅰ</a:t>
            </a:r>
            <a:r>
              <a:rPr lang="zh-CN" altLang="en-US" sz="2800" b="1" dirty="0">
                <a:solidFill>
                  <a:srgbClr val="0000FF"/>
                </a:solidFill>
                <a:latin typeface="楷体_GB2312" pitchFamily="49" charset="-122"/>
              </a:rPr>
              <a:t>的产量不大于</a:t>
            </a:r>
            <a:r>
              <a:rPr lang="en-US" altLang="zh-CN" sz="2800" b="1" dirty="0">
                <a:solidFill>
                  <a:srgbClr val="0000FF"/>
                </a:solidFill>
                <a:latin typeface="Times New Roman" panose="02020603050405020304" pitchFamily="18" charset="0"/>
              </a:rPr>
              <a:t>Ⅱ</a:t>
            </a:r>
            <a:r>
              <a:rPr lang="zh-CN" altLang="en-US" sz="2800" b="1" dirty="0">
                <a:solidFill>
                  <a:srgbClr val="0000FF"/>
                </a:solidFill>
                <a:latin typeface="楷体_GB2312" pitchFamily="49" charset="-122"/>
              </a:rPr>
              <a:t>的产量。           </a:t>
            </a:r>
            <a:endParaRPr lang="zh-CN" altLang="en-US" sz="2800" b="1" dirty="0">
              <a:solidFill>
                <a:srgbClr val="0000FF"/>
              </a:solidFill>
              <a:latin typeface="楷体_GB2312" pitchFamily="49" charset="-122"/>
            </a:endParaRPr>
          </a:p>
        </p:txBody>
      </p:sp>
      <p:sp>
        <p:nvSpPr>
          <p:cNvPr id="16431" name="Rectangle 47"/>
          <p:cNvSpPr/>
          <p:nvPr/>
        </p:nvSpPr>
        <p:spPr>
          <a:xfrm>
            <a:off x="2362200" y="5715000"/>
            <a:ext cx="1978025" cy="519113"/>
          </a:xfrm>
          <a:prstGeom prst="rect">
            <a:avLst/>
          </a:prstGeom>
          <a:noFill/>
          <a:ln w="9525">
            <a:noFill/>
          </a:ln>
        </p:spPr>
        <p:txBody>
          <a:bodyPr wrap="none">
            <a:spAutoFit/>
          </a:bodyPr>
          <a:p>
            <a:r>
              <a:rPr lang="zh-CN" altLang="en-US" sz="2800" b="1" dirty="0">
                <a:solidFill>
                  <a:srgbClr val="0000FF"/>
                </a:solidFill>
                <a:latin typeface="楷体_GB2312" pitchFamily="49" charset="-122"/>
              </a:rPr>
              <a:t>第二目标：</a:t>
            </a:r>
            <a:endParaRPr lang="zh-CN" altLang="en-US" sz="2800" b="1" dirty="0">
              <a:solidFill>
                <a:srgbClr val="0000FF"/>
              </a:solidFill>
              <a:latin typeface="楷体_GB2312" pitchFamily="49" charset="-122"/>
            </a:endParaRPr>
          </a:p>
        </p:txBody>
      </p:sp>
      <p:graphicFrame>
        <p:nvGraphicFramePr>
          <p:cNvPr id="16432" name="Object 48"/>
          <p:cNvGraphicFramePr/>
          <p:nvPr/>
        </p:nvGraphicFramePr>
        <p:xfrm>
          <a:off x="4114800" y="4648200"/>
          <a:ext cx="990600" cy="603250"/>
        </p:xfrm>
        <a:graphic>
          <a:graphicData uri="http://schemas.openxmlformats.org/presentationml/2006/ole">
            <mc:AlternateContent xmlns:mc="http://schemas.openxmlformats.org/markup-compatibility/2006">
              <mc:Choice xmlns:v="urn:schemas-microsoft-com:vml" Requires="v">
                <p:oleObj spid="_x0000_s3084" name="" r:id="rId1" imgW="317500" imgH="228600" progId="Equation.3">
                  <p:embed/>
                </p:oleObj>
              </mc:Choice>
              <mc:Fallback>
                <p:oleObj name="" r:id="rId1" imgW="317500" imgH="228600" progId="Equation.3">
                  <p:embed/>
                  <p:pic>
                    <p:nvPicPr>
                      <p:cNvPr id="0" name="图片 3083"/>
                      <p:cNvPicPr/>
                      <p:nvPr/>
                    </p:nvPicPr>
                    <p:blipFill>
                      <a:blip r:embed="rId2"/>
                      <a:stretch>
                        <a:fillRect/>
                      </a:stretch>
                    </p:blipFill>
                    <p:spPr>
                      <a:xfrm>
                        <a:off x="4114800" y="4648200"/>
                        <a:ext cx="990600" cy="603250"/>
                      </a:xfrm>
                      <a:prstGeom prst="rect">
                        <a:avLst/>
                      </a:prstGeom>
                      <a:noFill/>
                      <a:ln w="38100">
                        <a:noFill/>
                        <a:miter/>
                      </a:ln>
                    </p:spPr>
                  </p:pic>
                </p:oleObj>
              </mc:Fallback>
            </mc:AlternateContent>
          </a:graphicData>
        </a:graphic>
      </p:graphicFrame>
      <p:graphicFrame>
        <p:nvGraphicFramePr>
          <p:cNvPr id="16433" name="Object 49"/>
          <p:cNvGraphicFramePr/>
          <p:nvPr/>
        </p:nvGraphicFramePr>
        <p:xfrm>
          <a:off x="4114800" y="5638800"/>
          <a:ext cx="1981200" cy="609600"/>
        </p:xfrm>
        <a:graphic>
          <a:graphicData uri="http://schemas.openxmlformats.org/presentationml/2006/ole">
            <mc:AlternateContent xmlns:mc="http://schemas.openxmlformats.org/markup-compatibility/2006">
              <mc:Choice xmlns:v="urn:schemas-microsoft-com:vml" Requires="v">
                <p:oleObj spid="_x0000_s3083" name="" r:id="rId3" imgW="761365" imgH="228600" progId="Equation.3">
                  <p:embed/>
                </p:oleObj>
              </mc:Choice>
              <mc:Fallback>
                <p:oleObj name="" r:id="rId3" imgW="761365" imgH="228600" progId="Equation.3">
                  <p:embed/>
                  <p:pic>
                    <p:nvPicPr>
                      <p:cNvPr id="0" name="图片 3082"/>
                      <p:cNvPicPr/>
                      <p:nvPr/>
                    </p:nvPicPr>
                    <p:blipFill>
                      <a:blip r:embed="rId4"/>
                      <a:stretch>
                        <a:fillRect/>
                      </a:stretch>
                    </p:blipFill>
                    <p:spPr>
                      <a:xfrm>
                        <a:off x="4114800" y="5638800"/>
                        <a:ext cx="1981200" cy="609600"/>
                      </a:xfrm>
                      <a:prstGeom prst="rect">
                        <a:avLst/>
                      </a:prstGeom>
                      <a:noFill/>
                      <a:ln w="38100">
                        <a:noFill/>
                        <a:miter/>
                      </a:ln>
                    </p:spPr>
                  </p:pic>
                </p:oleObj>
              </mc:Fallback>
            </mc:AlternateContent>
          </a:graphicData>
        </a:graphic>
      </p:graphicFrame>
      <p:sp>
        <p:nvSpPr>
          <p:cNvPr id="4131" name="Rectangle 56"/>
          <p:cNvSpPr>
            <a:spLocks noGrp="1"/>
          </p:cNvSpPr>
          <p:nvPr>
            <p:ph type="ctrTitle"/>
          </p:nvPr>
        </p:nvSpPr>
        <p:spPr>
          <a:xfrm>
            <a:off x="152400" y="533400"/>
            <a:ext cx="1676400" cy="533400"/>
          </a:xfrm>
          <a:noFill/>
          <a:ln>
            <a:noFill/>
          </a:ln>
        </p:spPr>
        <p:txBody>
          <a:bodyPr/>
          <a:p>
            <a:pPr algn="l" eaLnBrk="1" hangingPunct="1">
              <a:buClrTx/>
              <a:buSzTx/>
              <a:buFontTx/>
            </a:pPr>
            <a:r>
              <a:rPr lang="zh-CN" altLang="en-US" sz="2800" b="1" dirty="0">
                <a:solidFill>
                  <a:srgbClr val="0000FF"/>
                </a:solidFill>
                <a:ea typeface="楷体_GB2312" pitchFamily="49" charset="-122"/>
              </a:rPr>
              <a:t>例三：</a:t>
            </a:r>
            <a:endParaRPr lang="zh-CN" altLang="en-US" sz="2800" b="1" dirty="0">
              <a:solidFill>
                <a:srgbClr val="0000FF"/>
              </a:solidFill>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30"/>
                                        </p:tgtEl>
                                        <p:attrNameLst>
                                          <p:attrName>style.visibility</p:attrName>
                                        </p:attrNameLst>
                                      </p:cBhvr>
                                      <p:to>
                                        <p:strVal val="visible"/>
                                      </p:to>
                                    </p:set>
                                    <p:animEffect transition="in" filter="blinds(horizontal)">
                                      <p:cBhvr>
                                        <p:cTn id="7" dur="500"/>
                                        <p:tgtEl>
                                          <p:spTgt spid="164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432"/>
                                        </p:tgtEl>
                                        <p:attrNameLst>
                                          <p:attrName>style.visibility</p:attrName>
                                        </p:attrNameLst>
                                      </p:cBhvr>
                                      <p:to>
                                        <p:strVal val="visible"/>
                                      </p:to>
                                    </p:set>
                                    <p:animEffect transition="in" filter="dissolve">
                                      <p:cBhvr>
                                        <p:cTn id="12" dur="500"/>
                                        <p:tgtEl>
                                          <p:spTgt spid="1643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64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7" presetClass="entr" presetSubtype="10" fill="hold" nodeType="clickEffect">
                                  <p:stCondLst>
                                    <p:cond delay="0"/>
                                  </p:stCondLst>
                                  <p:childTnLst>
                                    <p:set>
                                      <p:cBhvr>
                                        <p:cTn id="20" dur="1" fill="hold">
                                          <p:stCondLst>
                                            <p:cond delay="0"/>
                                          </p:stCondLst>
                                        </p:cTn>
                                        <p:tgtEl>
                                          <p:spTgt spid="16433"/>
                                        </p:tgtEl>
                                        <p:attrNameLst>
                                          <p:attrName>style.visibility</p:attrName>
                                        </p:attrNameLst>
                                      </p:cBhvr>
                                      <p:to>
                                        <p:strVal val="visible"/>
                                      </p:to>
                                    </p:set>
                                    <p:anim calcmode="lin" valueType="num">
                                      <p:cBhvr>
                                        <p:cTn id="21" dur="500" fill="hold"/>
                                        <p:tgtEl>
                                          <p:spTgt spid="16433"/>
                                        </p:tgtEl>
                                        <p:attrNameLst>
                                          <p:attrName>ppt_w</p:attrName>
                                        </p:attrNameLst>
                                      </p:cBhvr>
                                      <p:tavLst>
                                        <p:tav tm="0">
                                          <p:val>
                                            <p:fltVal val="0.000000"/>
                                          </p:val>
                                        </p:tav>
                                        <p:tav tm="100000">
                                          <p:val>
                                            <p:strVal val="#ppt_w"/>
                                          </p:val>
                                        </p:tav>
                                      </p:tavLst>
                                    </p:anim>
                                    <p:anim calcmode="lin" valueType="num">
                                      <p:cBhvr>
                                        <p:cTn id="22" dur="500" fill="hold"/>
                                        <p:tgtEl>
                                          <p:spTgt spid="1643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30" grpId="0"/>
      <p:bldP spid="164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2"/>
          <p:cNvSpPr txBox="1"/>
          <p:nvPr/>
        </p:nvSpPr>
        <p:spPr>
          <a:xfrm>
            <a:off x="914400" y="457200"/>
            <a:ext cx="2209800" cy="519113"/>
          </a:xfrm>
          <a:prstGeom prst="rect">
            <a:avLst/>
          </a:prstGeom>
          <a:noFill/>
          <a:ln w="9525">
            <a:noFill/>
          </a:ln>
        </p:spPr>
        <p:txBody>
          <a:bodyPr>
            <a:spAutoFit/>
          </a:bodyPr>
          <a:p>
            <a:r>
              <a:rPr lang="zh-CN" altLang="en-US" sz="2800" b="1" dirty="0">
                <a:solidFill>
                  <a:srgbClr val="0000FF"/>
                </a:solidFill>
                <a:latin typeface="Times New Roman" panose="02020603050405020304" pitchFamily="18" charset="0"/>
              </a:rPr>
              <a:t>第三目标：</a:t>
            </a:r>
            <a:endParaRPr lang="zh-CN" altLang="en-US" sz="2800" b="1" dirty="0">
              <a:solidFill>
                <a:srgbClr val="0000FF"/>
              </a:solidFill>
              <a:latin typeface="Times New Roman" panose="02020603050405020304" pitchFamily="18" charset="0"/>
            </a:endParaRPr>
          </a:p>
        </p:txBody>
      </p:sp>
      <p:graphicFrame>
        <p:nvGraphicFramePr>
          <p:cNvPr id="10243" name="Object 3"/>
          <p:cNvGraphicFramePr/>
          <p:nvPr/>
        </p:nvGraphicFramePr>
        <p:xfrm>
          <a:off x="3048000" y="457200"/>
          <a:ext cx="1149350" cy="609600"/>
        </p:xfrm>
        <a:graphic>
          <a:graphicData uri="http://schemas.openxmlformats.org/presentationml/2006/ole">
            <mc:AlternateContent xmlns:mc="http://schemas.openxmlformats.org/markup-compatibility/2006">
              <mc:Choice xmlns:v="urn:schemas-microsoft-com:vml" Requires="v">
                <p:oleObj spid="_x0000_s3082" name="" r:id="rId1" imgW="317500" imgH="241300" progId="Equation.3">
                  <p:embed/>
                </p:oleObj>
              </mc:Choice>
              <mc:Fallback>
                <p:oleObj name="" r:id="rId1" imgW="317500" imgH="241300" progId="Equation.3">
                  <p:embed/>
                  <p:pic>
                    <p:nvPicPr>
                      <p:cNvPr id="0" name="图片 3081"/>
                      <p:cNvPicPr/>
                      <p:nvPr/>
                    </p:nvPicPr>
                    <p:blipFill>
                      <a:blip r:embed="rId2"/>
                      <a:stretch>
                        <a:fillRect/>
                      </a:stretch>
                    </p:blipFill>
                    <p:spPr>
                      <a:xfrm>
                        <a:off x="3048000" y="457200"/>
                        <a:ext cx="1149350" cy="609600"/>
                      </a:xfrm>
                      <a:prstGeom prst="rect">
                        <a:avLst/>
                      </a:prstGeom>
                      <a:noFill/>
                      <a:ln w="38100">
                        <a:noFill/>
                        <a:miter/>
                      </a:ln>
                    </p:spPr>
                  </p:pic>
                </p:oleObj>
              </mc:Fallback>
            </mc:AlternateContent>
          </a:graphicData>
        </a:graphic>
      </p:graphicFrame>
      <p:sp>
        <p:nvSpPr>
          <p:cNvPr id="10244" name="Text Box 4"/>
          <p:cNvSpPr txBox="1"/>
          <p:nvPr/>
        </p:nvSpPr>
        <p:spPr>
          <a:xfrm>
            <a:off x="914400" y="1066800"/>
            <a:ext cx="2111375" cy="519113"/>
          </a:xfrm>
          <a:prstGeom prst="rect">
            <a:avLst/>
          </a:prstGeom>
          <a:noFill/>
          <a:ln w="9525">
            <a:noFill/>
          </a:ln>
        </p:spPr>
        <p:txBody>
          <a:bodyPr>
            <a:spAutoFit/>
          </a:bodyPr>
          <a:p>
            <a:pPr>
              <a:spcBef>
                <a:spcPct val="50000"/>
              </a:spcBef>
            </a:pPr>
            <a:r>
              <a:rPr lang="zh-CN" altLang="en-US" sz="2800" b="1" dirty="0">
                <a:solidFill>
                  <a:srgbClr val="0000FF"/>
                </a:solidFill>
                <a:latin typeface="Times New Roman" panose="02020603050405020304" pitchFamily="18" charset="0"/>
              </a:rPr>
              <a:t>规划模型：</a:t>
            </a:r>
            <a:endParaRPr lang="zh-CN" altLang="en-US" sz="2800" b="1" dirty="0">
              <a:solidFill>
                <a:srgbClr val="0000FF"/>
              </a:solidFill>
              <a:latin typeface="Times New Roman" panose="02020603050405020304" pitchFamily="18" charset="0"/>
            </a:endParaRPr>
          </a:p>
        </p:txBody>
      </p:sp>
      <p:graphicFrame>
        <p:nvGraphicFramePr>
          <p:cNvPr id="10245" name="Object 5"/>
          <p:cNvGraphicFramePr/>
          <p:nvPr/>
        </p:nvGraphicFramePr>
        <p:xfrm>
          <a:off x="954088" y="1473200"/>
          <a:ext cx="6399212" cy="4443413"/>
        </p:xfrm>
        <a:graphic>
          <a:graphicData uri="http://schemas.openxmlformats.org/presentationml/2006/ole">
            <mc:AlternateContent xmlns:mc="http://schemas.openxmlformats.org/markup-compatibility/2006">
              <mc:Choice xmlns:v="urn:schemas-microsoft-com:vml" Requires="v">
                <p:oleObj spid="_x0000_s3085" name="" r:id="rId3" imgW="2082800" imgH="1536700" progId="Equation.DSMT4">
                  <p:embed/>
                </p:oleObj>
              </mc:Choice>
              <mc:Fallback>
                <p:oleObj name="" r:id="rId3" imgW="2082800" imgH="1536700" progId="Equation.DSMT4">
                  <p:embed/>
                  <p:pic>
                    <p:nvPicPr>
                      <p:cNvPr id="0" name="图片 3084"/>
                      <p:cNvPicPr/>
                      <p:nvPr/>
                    </p:nvPicPr>
                    <p:blipFill>
                      <a:blip r:embed="rId4"/>
                      <a:stretch>
                        <a:fillRect/>
                      </a:stretch>
                    </p:blipFill>
                    <p:spPr>
                      <a:xfrm>
                        <a:off x="954088" y="1473200"/>
                        <a:ext cx="6399212" cy="4443413"/>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dissolve">
                                      <p:cBhvr>
                                        <p:cTn id="7" dur="5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243"/>
                                        </p:tgtEl>
                                        <p:attrNameLst>
                                          <p:attrName>style.visibility</p:attrName>
                                        </p:attrNameLst>
                                      </p:cBhvr>
                                      <p:to>
                                        <p:strVal val="visible"/>
                                      </p:to>
                                    </p:set>
                                    <p:animEffect transition="in" filter="dissolve">
                                      <p:cBhvr>
                                        <p:cTn id="12" dur="500"/>
                                        <p:tgtEl>
                                          <p:spTgt spid="1024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02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5" fill="hold" nodeType="clickEffect">
                                  <p:stCondLst>
                                    <p:cond delay="0"/>
                                  </p:stCondLst>
                                  <p:childTnLst>
                                    <p:set>
                                      <p:cBhvr>
                                        <p:cTn id="20" dur="1" fill="hold">
                                          <p:stCondLst>
                                            <p:cond delay="0"/>
                                          </p:stCondLst>
                                        </p:cTn>
                                        <p:tgtEl>
                                          <p:spTgt spid="10245"/>
                                        </p:tgtEl>
                                        <p:attrNameLst>
                                          <p:attrName>style.visibility</p:attrName>
                                        </p:attrNameLst>
                                      </p:cBhvr>
                                      <p:to>
                                        <p:strVal val="visible"/>
                                      </p:to>
                                    </p:set>
                                    <p:animEffect transition="in" filter="blinds(vertical)">
                                      <p:cBhvr>
                                        <p:cTn id="21" dur="500"/>
                                        <p:tgtEl>
                                          <p:spTgt spid="10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P spid="1024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Text Box 3"/>
          <p:cNvSpPr txBox="1"/>
          <p:nvPr/>
        </p:nvSpPr>
        <p:spPr>
          <a:xfrm>
            <a:off x="990600" y="1219200"/>
            <a:ext cx="5181600" cy="579438"/>
          </a:xfrm>
          <a:prstGeom prst="rect">
            <a:avLst/>
          </a:prstGeom>
          <a:noFill/>
          <a:ln w="9525">
            <a:noFill/>
          </a:ln>
        </p:spPr>
        <p:txBody>
          <a:bodyPr>
            <a:spAutoFit/>
          </a:bodyPr>
          <a:p>
            <a:r>
              <a:rPr lang="zh-CN" altLang="en-US" sz="3200" b="1" dirty="0">
                <a:solidFill>
                  <a:srgbClr val="800080"/>
                </a:solidFill>
                <a:latin typeface="Times New Roman" panose="02020603050405020304" pitchFamily="18" charset="0"/>
              </a:rPr>
              <a:t>（一）、模型的一般形式</a:t>
            </a:r>
            <a:endParaRPr lang="zh-CN" altLang="en-US" sz="3200" b="1" dirty="0">
              <a:solidFill>
                <a:srgbClr val="800080"/>
              </a:solidFill>
              <a:latin typeface="Times New Roman" panose="02020603050405020304" pitchFamily="18" charset="0"/>
            </a:endParaRPr>
          </a:p>
        </p:txBody>
      </p:sp>
      <p:graphicFrame>
        <p:nvGraphicFramePr>
          <p:cNvPr id="11268" name="Object 4"/>
          <p:cNvGraphicFramePr/>
          <p:nvPr/>
        </p:nvGraphicFramePr>
        <p:xfrm>
          <a:off x="1236663" y="1773238"/>
          <a:ext cx="6335712" cy="4584700"/>
        </p:xfrm>
        <a:graphic>
          <a:graphicData uri="http://schemas.openxmlformats.org/presentationml/2006/ole">
            <mc:AlternateContent xmlns:mc="http://schemas.openxmlformats.org/markup-compatibility/2006">
              <mc:Choice xmlns:v="urn:schemas-microsoft-com:vml" Requires="v">
                <p:oleObj spid="_x0000_s3081" name="" r:id="rId1" imgW="2260600" imgH="1879600" progId="Equation.DSMT4">
                  <p:embed/>
                </p:oleObj>
              </mc:Choice>
              <mc:Fallback>
                <p:oleObj name="" r:id="rId1" imgW="2260600" imgH="1879600" progId="Equation.DSMT4">
                  <p:embed/>
                  <p:pic>
                    <p:nvPicPr>
                      <p:cNvPr id="0" name="图片 3080"/>
                      <p:cNvPicPr/>
                      <p:nvPr/>
                    </p:nvPicPr>
                    <p:blipFill>
                      <a:blip r:embed="rId2"/>
                      <a:stretch>
                        <a:fillRect/>
                      </a:stretch>
                    </p:blipFill>
                    <p:spPr>
                      <a:xfrm>
                        <a:off x="1236663" y="1773238"/>
                        <a:ext cx="6335712" cy="4584700"/>
                      </a:xfrm>
                      <a:prstGeom prst="rect">
                        <a:avLst/>
                      </a:prstGeom>
                      <a:noFill/>
                      <a:ln w="38100">
                        <a:noFill/>
                        <a:miter/>
                      </a:ln>
                    </p:spPr>
                  </p:pic>
                </p:oleObj>
              </mc:Fallback>
            </mc:AlternateContent>
          </a:graphicData>
        </a:graphic>
      </p:graphicFrame>
      <p:sp>
        <p:nvSpPr>
          <p:cNvPr id="6148" name="Rectangle 5"/>
          <p:cNvSpPr>
            <a:spLocks noGrp="1"/>
          </p:cNvSpPr>
          <p:nvPr>
            <p:ph type="ctrTitle"/>
          </p:nvPr>
        </p:nvSpPr>
        <p:spPr>
          <a:xfrm>
            <a:off x="685800" y="533400"/>
            <a:ext cx="7772400" cy="1143000"/>
          </a:xfrm>
          <a:noFill/>
          <a:ln>
            <a:noFill/>
          </a:ln>
        </p:spPr>
        <p:txBody>
          <a:bodyPr/>
          <a:p>
            <a:pPr algn="l" eaLnBrk="1" hangingPunct="1">
              <a:buClrTx/>
              <a:buSzTx/>
              <a:buFontTx/>
            </a:pPr>
            <a:r>
              <a:rPr lang="zh-CN" altLang="en-US" sz="3600" b="1" dirty="0">
                <a:solidFill>
                  <a:srgbClr val="800080"/>
                </a:solidFill>
                <a:ea typeface="楷体_GB2312" pitchFamily="49" charset="-122"/>
              </a:rPr>
              <a:t>二、目标规划的数学模型</a:t>
            </a:r>
            <a:endParaRPr lang="zh-CN" altLang="en-US" sz="3600" b="1" dirty="0">
              <a:solidFill>
                <a:srgbClr val="800080"/>
              </a:solidFill>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7"/>
                                        </p:tgtEl>
                                        <p:attrNameLst>
                                          <p:attrName>style.visibility</p:attrName>
                                        </p:attrNameLst>
                                      </p:cBhvr>
                                      <p:to>
                                        <p:strVal val="visible"/>
                                      </p:to>
                                    </p:set>
                                  </p:childTnLst>
                                </p:cTn>
                              </p:par>
                            </p:childTnLst>
                          </p:cTn>
                        </p:par>
                        <p:par>
                          <p:cTn id="7" fill="hold">
                            <p:stCondLst>
                              <p:cond delay="500"/>
                            </p:stCondLst>
                            <p:childTnLst>
                              <p:par>
                                <p:cTn id="8" presetID="3" presetClass="entr" presetSubtype="10" fill="hold" nodeType="afterEffect">
                                  <p:stCondLst>
                                    <p:cond delay="0"/>
                                  </p:stCondLst>
                                  <p:childTnLst>
                                    <p:set>
                                      <p:cBhvr>
                                        <p:cTn id="9" dur="1" fill="hold">
                                          <p:stCondLst>
                                            <p:cond delay="0"/>
                                          </p:stCondLst>
                                        </p:cTn>
                                        <p:tgtEl>
                                          <p:spTgt spid="11268"/>
                                        </p:tgtEl>
                                        <p:attrNameLst>
                                          <p:attrName>style.visibility</p:attrName>
                                        </p:attrNameLst>
                                      </p:cBhvr>
                                      <p:to>
                                        <p:strVal val="visible"/>
                                      </p:to>
                                    </p:set>
                                    <p:animEffect transition="in" filter="blinds(horizontal)">
                                      <p:cBhvr>
                                        <p:cTn id="10"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ext Box 2"/>
          <p:cNvSpPr txBox="1"/>
          <p:nvPr/>
        </p:nvSpPr>
        <p:spPr>
          <a:xfrm>
            <a:off x="974725" y="449263"/>
            <a:ext cx="4511675" cy="579437"/>
          </a:xfrm>
          <a:prstGeom prst="rect">
            <a:avLst/>
          </a:prstGeom>
          <a:noFill/>
          <a:ln w="9525">
            <a:noFill/>
          </a:ln>
        </p:spPr>
        <p:txBody>
          <a:bodyPr>
            <a:spAutoFit/>
          </a:bodyPr>
          <a:p>
            <a:r>
              <a:rPr lang="zh-CN" altLang="en-US" sz="3200" b="1" dirty="0">
                <a:solidFill>
                  <a:srgbClr val="800080"/>
                </a:solidFill>
                <a:latin typeface="Times New Roman" panose="02020603050405020304" pitchFamily="18" charset="0"/>
              </a:rPr>
              <a:t>（二）、建模的步骤</a:t>
            </a:r>
            <a:endParaRPr lang="zh-CN" altLang="en-US" sz="3200" b="1" dirty="0">
              <a:solidFill>
                <a:srgbClr val="800080"/>
              </a:solidFill>
              <a:latin typeface="Times New Roman" panose="02020603050405020304" pitchFamily="18" charset="0"/>
            </a:endParaRPr>
          </a:p>
        </p:txBody>
      </p:sp>
      <p:sp>
        <p:nvSpPr>
          <p:cNvPr id="17411" name="Text Box 3"/>
          <p:cNvSpPr txBox="1"/>
          <p:nvPr/>
        </p:nvSpPr>
        <p:spPr>
          <a:xfrm>
            <a:off x="228600" y="1219200"/>
            <a:ext cx="8915400" cy="946150"/>
          </a:xfrm>
          <a:prstGeom prst="rect">
            <a:avLst/>
          </a:prstGeom>
          <a:noFill/>
          <a:ln w="9525">
            <a:noFill/>
          </a:ln>
        </p:spPr>
        <p:txBody>
          <a:bodyPr>
            <a:spAutoFit/>
          </a:bodyPr>
          <a:p>
            <a:r>
              <a:rPr lang="en-US" altLang="zh-CN" sz="2800" b="1" dirty="0">
                <a:solidFill>
                  <a:srgbClr val="0000FF"/>
                </a:solidFill>
                <a:latin typeface="楷体_GB2312" pitchFamily="49" charset="-122"/>
              </a:rPr>
              <a:t>   1</a:t>
            </a:r>
            <a:r>
              <a:rPr lang="zh-CN" altLang="en-US" sz="2800" b="1" dirty="0">
                <a:solidFill>
                  <a:srgbClr val="0000FF"/>
                </a:solidFill>
                <a:latin typeface="楷体_GB2312" pitchFamily="49" charset="-122"/>
              </a:rPr>
              <a:t>、根据要研究的问题所提出的各目标与条件，确定目标值，列出目标约束与绝对约束；   </a:t>
            </a:r>
            <a:endParaRPr lang="zh-CN" altLang="en-US" sz="2800" b="1" dirty="0">
              <a:solidFill>
                <a:srgbClr val="0000FF"/>
              </a:solidFill>
              <a:latin typeface="楷体_GB2312" pitchFamily="49" charset="-122"/>
            </a:endParaRPr>
          </a:p>
        </p:txBody>
      </p:sp>
      <p:graphicFrame>
        <p:nvGraphicFramePr>
          <p:cNvPr id="17412" name="Object 4"/>
          <p:cNvGraphicFramePr/>
          <p:nvPr/>
        </p:nvGraphicFramePr>
        <p:xfrm>
          <a:off x="6172200" y="4800600"/>
          <a:ext cx="2025650" cy="609600"/>
        </p:xfrm>
        <a:graphic>
          <a:graphicData uri="http://schemas.openxmlformats.org/presentationml/2006/ole">
            <mc:AlternateContent xmlns:mc="http://schemas.openxmlformats.org/markup-compatibility/2006">
              <mc:Choice xmlns:v="urn:schemas-microsoft-com:vml" Requires="v">
                <p:oleObj spid="_x0000_s3088" name="" r:id="rId1" imgW="571500" imgH="241300" progId="Equation.3">
                  <p:embed/>
                </p:oleObj>
              </mc:Choice>
              <mc:Fallback>
                <p:oleObj name="" r:id="rId1" imgW="571500" imgH="241300" progId="Equation.3">
                  <p:embed/>
                  <p:pic>
                    <p:nvPicPr>
                      <p:cNvPr id="0" name="图片 3087"/>
                      <p:cNvPicPr/>
                      <p:nvPr/>
                    </p:nvPicPr>
                    <p:blipFill>
                      <a:blip r:embed="rId2"/>
                      <a:stretch>
                        <a:fillRect/>
                      </a:stretch>
                    </p:blipFill>
                    <p:spPr>
                      <a:xfrm>
                        <a:off x="6172200" y="4800600"/>
                        <a:ext cx="2025650" cy="609600"/>
                      </a:xfrm>
                      <a:prstGeom prst="rect">
                        <a:avLst/>
                      </a:prstGeom>
                      <a:noFill/>
                      <a:ln w="38100">
                        <a:noFill/>
                        <a:miter/>
                      </a:ln>
                    </p:spPr>
                  </p:pic>
                </p:oleObj>
              </mc:Fallback>
            </mc:AlternateContent>
          </a:graphicData>
        </a:graphic>
      </p:graphicFrame>
      <p:sp>
        <p:nvSpPr>
          <p:cNvPr id="17414" name="Rectangle 6"/>
          <p:cNvSpPr/>
          <p:nvPr/>
        </p:nvSpPr>
        <p:spPr>
          <a:xfrm>
            <a:off x="228600" y="4419600"/>
            <a:ext cx="8610600" cy="946150"/>
          </a:xfrm>
          <a:prstGeom prst="rect">
            <a:avLst/>
          </a:prstGeom>
          <a:noFill/>
          <a:ln w="9525">
            <a:noFill/>
          </a:ln>
        </p:spPr>
        <p:txBody>
          <a:bodyPr>
            <a:spAutoFit/>
          </a:bodyPr>
          <a:p>
            <a:r>
              <a:rPr lang="en-US" altLang="zh-CN" sz="2800" b="1" dirty="0">
                <a:solidFill>
                  <a:srgbClr val="0000FF"/>
                </a:solidFill>
                <a:latin typeface="楷体_GB2312" pitchFamily="49" charset="-122"/>
              </a:rPr>
              <a:t>  4</a:t>
            </a:r>
            <a:r>
              <a:rPr lang="zh-CN" altLang="en-US" sz="2800" b="1" dirty="0">
                <a:solidFill>
                  <a:srgbClr val="0000FF"/>
                </a:solidFill>
                <a:latin typeface="楷体_GB2312" pitchFamily="49" charset="-122"/>
              </a:rPr>
              <a:t>、对同一优先等级中的各偏差变量，若需要可按其重要程度的不同，赋予相应的权系数            。</a:t>
            </a:r>
            <a:endParaRPr lang="zh-CN" altLang="en-US" sz="2800" b="1" dirty="0">
              <a:solidFill>
                <a:srgbClr val="0000FF"/>
              </a:solidFill>
              <a:latin typeface="楷体_GB2312" pitchFamily="49" charset="-122"/>
            </a:endParaRPr>
          </a:p>
        </p:txBody>
      </p:sp>
      <p:sp>
        <p:nvSpPr>
          <p:cNvPr id="17415" name="Rectangle 7"/>
          <p:cNvSpPr/>
          <p:nvPr/>
        </p:nvSpPr>
        <p:spPr>
          <a:xfrm>
            <a:off x="381000" y="3733800"/>
            <a:ext cx="8751888" cy="519113"/>
          </a:xfrm>
          <a:prstGeom prst="rect">
            <a:avLst/>
          </a:prstGeom>
          <a:noFill/>
          <a:ln w="9525">
            <a:noFill/>
          </a:ln>
        </p:spPr>
        <p:txBody>
          <a:bodyPr wrap="none">
            <a:spAutoFit/>
          </a:bodyPr>
          <a:p>
            <a:r>
              <a:rPr lang="en-US" altLang="zh-CN" sz="2800" b="1" dirty="0">
                <a:solidFill>
                  <a:srgbClr val="0000FF"/>
                </a:solidFill>
                <a:latin typeface="楷体_GB2312" pitchFamily="49" charset="-122"/>
              </a:rPr>
              <a:t>  3</a:t>
            </a:r>
            <a:r>
              <a:rPr lang="zh-CN" altLang="en-US" sz="2800" b="1" dirty="0">
                <a:solidFill>
                  <a:srgbClr val="0000FF"/>
                </a:solidFill>
                <a:latin typeface="楷体_GB2312" pitchFamily="49" charset="-122"/>
              </a:rPr>
              <a:t>、给各目标赋予相应的优先因子 </a:t>
            </a:r>
            <a:r>
              <a:rPr lang="en-US" altLang="zh-CN" sz="2800" b="1" dirty="0">
                <a:solidFill>
                  <a:srgbClr val="0000FF"/>
                </a:solidFill>
                <a:latin typeface="楷体_GB2312" pitchFamily="49" charset="-122"/>
              </a:rPr>
              <a:t>P</a:t>
            </a:r>
            <a:r>
              <a:rPr lang="en-US" altLang="zh-CN" sz="2800" b="1" baseline="-30000" dirty="0">
                <a:solidFill>
                  <a:srgbClr val="0000FF"/>
                </a:solidFill>
                <a:latin typeface="楷体_GB2312" pitchFamily="49" charset="-122"/>
              </a:rPr>
              <a:t>k</a:t>
            </a:r>
            <a:r>
              <a:rPr lang="zh-CN" altLang="en-US" sz="2800" b="1" dirty="0">
                <a:solidFill>
                  <a:srgbClr val="0000FF"/>
                </a:solidFill>
                <a:latin typeface="楷体_GB2312" pitchFamily="49" charset="-122"/>
              </a:rPr>
              <a:t>（</a:t>
            </a:r>
            <a:r>
              <a:rPr lang="en-US" altLang="zh-CN" sz="2800" b="1" dirty="0">
                <a:solidFill>
                  <a:srgbClr val="0000FF"/>
                </a:solidFill>
                <a:latin typeface="楷体_GB2312" pitchFamily="49" charset="-122"/>
              </a:rPr>
              <a:t>k=1.2</a:t>
            </a:r>
            <a:r>
              <a:rPr lang="en-US" altLang="zh-CN" sz="2800" b="1" dirty="0">
                <a:solidFill>
                  <a:srgbClr val="0000FF"/>
                </a:solidFill>
                <a:latin typeface="Times New Roman" panose="02020603050405020304" pitchFamily="18" charset="0"/>
              </a:rPr>
              <a:t>…</a:t>
            </a:r>
            <a:r>
              <a:rPr lang="en-US" altLang="zh-CN" sz="2800" b="1" dirty="0">
                <a:solidFill>
                  <a:srgbClr val="0000FF"/>
                </a:solidFill>
                <a:latin typeface="楷体_GB2312" pitchFamily="49" charset="-122"/>
              </a:rPr>
              <a:t>K</a:t>
            </a:r>
            <a:r>
              <a:rPr lang="zh-CN" altLang="en-US" sz="2800" b="1" dirty="0">
                <a:solidFill>
                  <a:srgbClr val="0000FF"/>
                </a:solidFill>
                <a:latin typeface="楷体_GB2312" pitchFamily="49" charset="-122"/>
              </a:rPr>
              <a:t>）。</a:t>
            </a:r>
            <a:endParaRPr lang="zh-CN" altLang="en-US" sz="2800" b="1" dirty="0">
              <a:solidFill>
                <a:srgbClr val="0000FF"/>
              </a:solidFill>
              <a:latin typeface="楷体_GB2312" pitchFamily="49" charset="-122"/>
            </a:endParaRPr>
          </a:p>
        </p:txBody>
      </p:sp>
      <p:sp>
        <p:nvSpPr>
          <p:cNvPr id="17416" name="Rectangle 8"/>
          <p:cNvSpPr/>
          <p:nvPr/>
        </p:nvSpPr>
        <p:spPr>
          <a:xfrm>
            <a:off x="304800" y="2286000"/>
            <a:ext cx="8534400" cy="1373188"/>
          </a:xfrm>
          <a:prstGeom prst="rect">
            <a:avLst/>
          </a:prstGeom>
          <a:noFill/>
          <a:ln w="9525">
            <a:noFill/>
          </a:ln>
        </p:spPr>
        <p:txBody>
          <a:bodyPr>
            <a:spAutoFit/>
          </a:bodyPr>
          <a:p>
            <a:r>
              <a:rPr lang="en-US" altLang="zh-CN" sz="2800" b="1" dirty="0">
                <a:solidFill>
                  <a:srgbClr val="0000FF"/>
                </a:solidFill>
                <a:latin typeface="楷体_GB2312" pitchFamily="49" charset="-122"/>
              </a:rPr>
              <a:t>   2</a:t>
            </a:r>
            <a:r>
              <a:rPr lang="zh-CN" altLang="en-US" sz="2800" b="1" dirty="0">
                <a:solidFill>
                  <a:srgbClr val="0000FF"/>
                </a:solidFill>
                <a:latin typeface="楷体_GB2312" pitchFamily="49" charset="-122"/>
              </a:rPr>
              <a:t>、可根据决策者的需要，将某些或全部绝对约束转化为目标约束。这时只需要给绝对约束加上负偏差变量和减去正偏差变量即可。</a:t>
            </a:r>
            <a:endParaRPr lang="zh-CN" altLang="en-US" sz="2800" b="1" dirty="0">
              <a:solidFill>
                <a:srgbClr val="0000FF"/>
              </a:solidFill>
              <a:latin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slide(fromRight)">
                                      <p:cBhvr>
                                        <p:cTn id="7" dur="500"/>
                                        <p:tgtEl>
                                          <p:spTgt spid="1741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411"/>
                                        </p:tgtEl>
                                        <p:attrNameLst>
                                          <p:attrName>style.visibility</p:attrName>
                                        </p:attrNameLst>
                                      </p:cBhvr>
                                      <p:to>
                                        <p:strVal val="visible"/>
                                      </p:to>
                                    </p:set>
                                    <p:animEffect transition="in" filter="checkerboard(across)">
                                      <p:cBhvr>
                                        <p:cTn id="12" dur="500"/>
                                        <p:tgtEl>
                                          <p:spTgt spid="174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7416"/>
                                        </p:tgtEl>
                                        <p:attrNameLst>
                                          <p:attrName>style.visibility</p:attrName>
                                        </p:attrNameLst>
                                      </p:cBhvr>
                                      <p:to>
                                        <p:strVal val="visible"/>
                                      </p:to>
                                    </p:set>
                                    <p:animEffect transition="in" filter="barn(outHorizontal)">
                                      <p:cBhvr>
                                        <p:cTn id="17" dur="500"/>
                                        <p:tgtEl>
                                          <p:spTgt spid="1741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7415"/>
                                        </p:tgtEl>
                                        <p:attrNameLst>
                                          <p:attrName>style.visibility</p:attrName>
                                        </p:attrNameLst>
                                      </p:cBhvr>
                                      <p:to>
                                        <p:strVal val="visible"/>
                                      </p:to>
                                    </p:set>
                                    <p:anim calcmode="lin" valueType="num">
                                      <p:cBhvr additive="base">
                                        <p:cTn id="22" dur="500" fill="hold"/>
                                        <p:tgtEl>
                                          <p:spTgt spid="17415"/>
                                        </p:tgtEl>
                                        <p:attrNameLst>
                                          <p:attrName>ppt_x</p:attrName>
                                        </p:attrNameLst>
                                      </p:cBhvr>
                                      <p:tavLst>
                                        <p:tav tm="0">
                                          <p:val>
                                            <p:strVal val="0-#ppt_w/2"/>
                                          </p:val>
                                        </p:tav>
                                        <p:tav tm="100000">
                                          <p:val>
                                            <p:strVal val="#ppt_x"/>
                                          </p:val>
                                        </p:tav>
                                      </p:tavLst>
                                    </p:anim>
                                    <p:anim calcmode="lin" valueType="num">
                                      <p:cBhvr additive="base">
                                        <p:cTn id="23" dur="500" fill="hold"/>
                                        <p:tgtEl>
                                          <p:spTgt spid="17415"/>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7414"/>
                                        </p:tgtEl>
                                        <p:attrNameLst>
                                          <p:attrName>style.visibility</p:attrName>
                                        </p:attrNameLst>
                                      </p:cBhvr>
                                      <p:to>
                                        <p:strVal val="visible"/>
                                      </p:to>
                                    </p:set>
                                    <p:animEffect transition="in" filter="dissolve">
                                      <p:cBhvr>
                                        <p:cTn id="28" dur="500"/>
                                        <p:tgtEl>
                                          <p:spTgt spid="17414"/>
                                        </p:tgtEl>
                                      </p:cBhvr>
                                    </p:animEffect>
                                  </p:childTnLst>
                                </p:cTn>
                              </p:par>
                            </p:childTnLst>
                          </p:cTn>
                        </p:par>
                        <p:par>
                          <p:cTn id="29" fill="hold">
                            <p:stCondLst>
                              <p:cond delay="500"/>
                            </p:stCondLst>
                            <p:childTnLst>
                              <p:par>
                                <p:cTn id="30" presetID="9" presetClass="entr" presetSubtype="0" fill="hold" nodeType="afterEffect">
                                  <p:stCondLst>
                                    <p:cond delay="0"/>
                                  </p:stCondLst>
                                  <p:childTnLst>
                                    <p:set>
                                      <p:cBhvr>
                                        <p:cTn id="31" dur="1" fill="hold">
                                          <p:stCondLst>
                                            <p:cond delay="0"/>
                                          </p:stCondLst>
                                        </p:cTn>
                                        <p:tgtEl>
                                          <p:spTgt spid="17412"/>
                                        </p:tgtEl>
                                        <p:attrNameLst>
                                          <p:attrName>style.visibility</p:attrName>
                                        </p:attrNameLst>
                                      </p:cBhvr>
                                      <p:to>
                                        <p:strVal val="visible"/>
                                      </p:to>
                                    </p:set>
                                    <p:animEffect transition="in" filter="dissolve">
                                      <p:cBhvr>
                                        <p:cTn id="32" dur="500"/>
                                        <p:tgtEl>
                                          <p:spTgt spid="17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17411" grpId="0"/>
      <p:bldP spid="17414" grpId="0"/>
      <p:bldP spid="17415" grpId="0"/>
      <p:bldP spid="174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5" name="Text Box 3"/>
          <p:cNvSpPr txBox="1"/>
          <p:nvPr/>
        </p:nvSpPr>
        <p:spPr>
          <a:xfrm>
            <a:off x="228600" y="577850"/>
            <a:ext cx="8686800" cy="4789488"/>
          </a:xfrm>
          <a:prstGeom prst="rect">
            <a:avLst/>
          </a:prstGeom>
          <a:noFill/>
          <a:ln w="9525">
            <a:noFill/>
          </a:ln>
        </p:spPr>
        <p:txBody>
          <a:bodyPr>
            <a:spAutoFit/>
          </a:bodyPr>
          <a:p>
            <a:r>
              <a:rPr lang="en-US" altLang="zh-CN" sz="2800" b="1" dirty="0">
                <a:solidFill>
                  <a:srgbClr val="0000FF"/>
                </a:solidFill>
                <a:latin typeface="楷体_GB2312" pitchFamily="49" charset="-122"/>
              </a:rPr>
              <a:t>  5</a:t>
            </a:r>
            <a:r>
              <a:rPr lang="zh-CN" altLang="en-US" sz="2800" b="1" dirty="0">
                <a:solidFill>
                  <a:srgbClr val="0000FF"/>
                </a:solidFill>
                <a:latin typeface="楷体_GB2312" pitchFamily="49" charset="-122"/>
              </a:rPr>
              <a:t>、根据决策者的要求，按下列情况之一构造一个由</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a:t>
            </a:r>
            <a:endParaRPr lang="zh-CN" altLang="en-US" sz="2800" b="1" dirty="0">
              <a:solidFill>
                <a:srgbClr val="0000FF"/>
              </a:solidFill>
              <a:latin typeface="楷体_GB2312" pitchFamily="49" charset="-122"/>
            </a:endParaRPr>
          </a:p>
          <a:p>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优先因子和权系数相对应的偏差变量组成的，要求实</a:t>
            </a:r>
            <a:endParaRPr lang="zh-CN" altLang="en-US" sz="2800" b="1" dirty="0">
              <a:solidFill>
                <a:srgbClr val="0000FF"/>
              </a:solidFill>
              <a:latin typeface="楷体_GB2312" pitchFamily="49" charset="-122"/>
            </a:endParaRPr>
          </a:p>
          <a:p>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现极小化的目标函数，即达成函数。</a:t>
            </a:r>
            <a:endParaRPr lang="zh-CN" altLang="en-US" sz="2800" b="1" dirty="0">
              <a:solidFill>
                <a:srgbClr val="0000FF"/>
              </a:solidFill>
              <a:latin typeface="楷体_GB2312" pitchFamily="49" charset="-122"/>
            </a:endParaRPr>
          </a:p>
        </p:txBody>
      </p:sp>
      <p:graphicFrame>
        <p:nvGraphicFramePr>
          <p:cNvPr id="18436" name="Object 4"/>
          <p:cNvGraphicFramePr/>
          <p:nvPr/>
        </p:nvGraphicFramePr>
        <p:xfrm>
          <a:off x="5257800" y="1447800"/>
          <a:ext cx="1511300" cy="609600"/>
        </p:xfrm>
        <a:graphic>
          <a:graphicData uri="http://schemas.openxmlformats.org/presentationml/2006/ole">
            <mc:AlternateContent xmlns:mc="http://schemas.openxmlformats.org/markup-compatibility/2006">
              <mc:Choice xmlns:v="urn:schemas-microsoft-com:vml" Requires="v">
                <p:oleObj spid="_x0000_s3089" name="" r:id="rId1" imgW="495300" imgH="241300" progId="Equation.3">
                  <p:embed/>
                </p:oleObj>
              </mc:Choice>
              <mc:Fallback>
                <p:oleObj name="" r:id="rId1" imgW="495300" imgH="241300" progId="Equation.3">
                  <p:embed/>
                  <p:pic>
                    <p:nvPicPr>
                      <p:cNvPr id="0" name="图片 3088"/>
                      <p:cNvPicPr/>
                      <p:nvPr/>
                    </p:nvPicPr>
                    <p:blipFill>
                      <a:blip r:embed="rId2"/>
                      <a:stretch>
                        <a:fillRect/>
                      </a:stretch>
                    </p:blipFill>
                    <p:spPr>
                      <a:xfrm>
                        <a:off x="5257800" y="1447800"/>
                        <a:ext cx="1511300" cy="609600"/>
                      </a:xfrm>
                      <a:prstGeom prst="rect">
                        <a:avLst/>
                      </a:prstGeom>
                      <a:noFill/>
                      <a:ln w="38100">
                        <a:noFill/>
                        <a:miter/>
                      </a:ln>
                    </p:spPr>
                  </p:pic>
                </p:oleObj>
              </mc:Fallback>
            </mc:AlternateContent>
          </a:graphicData>
        </a:graphic>
      </p:graphicFrame>
      <p:graphicFrame>
        <p:nvGraphicFramePr>
          <p:cNvPr id="18437" name="Object 5"/>
          <p:cNvGraphicFramePr/>
          <p:nvPr/>
        </p:nvGraphicFramePr>
        <p:xfrm>
          <a:off x="5715000" y="2286000"/>
          <a:ext cx="576263" cy="609600"/>
        </p:xfrm>
        <a:graphic>
          <a:graphicData uri="http://schemas.openxmlformats.org/presentationml/2006/ole">
            <mc:AlternateContent xmlns:mc="http://schemas.openxmlformats.org/markup-compatibility/2006">
              <mc:Choice xmlns:v="urn:schemas-microsoft-com:vml" Requires="v">
                <p:oleObj spid="_x0000_s3086" name="" r:id="rId3" imgW="190500" imgH="241300" progId="Equation.3">
                  <p:embed/>
                </p:oleObj>
              </mc:Choice>
              <mc:Fallback>
                <p:oleObj name="" r:id="rId3" imgW="190500" imgH="241300" progId="Equation.3">
                  <p:embed/>
                  <p:pic>
                    <p:nvPicPr>
                      <p:cNvPr id="0" name="图片 3085"/>
                      <p:cNvPicPr/>
                      <p:nvPr/>
                    </p:nvPicPr>
                    <p:blipFill>
                      <a:blip r:embed="rId4"/>
                      <a:stretch>
                        <a:fillRect/>
                      </a:stretch>
                    </p:blipFill>
                    <p:spPr>
                      <a:xfrm>
                        <a:off x="5715000" y="2286000"/>
                        <a:ext cx="576263" cy="609600"/>
                      </a:xfrm>
                      <a:prstGeom prst="rect">
                        <a:avLst/>
                      </a:prstGeom>
                      <a:noFill/>
                      <a:ln w="38100">
                        <a:noFill/>
                        <a:miter/>
                      </a:ln>
                    </p:spPr>
                  </p:pic>
                </p:oleObj>
              </mc:Fallback>
            </mc:AlternateContent>
          </a:graphicData>
        </a:graphic>
      </p:graphicFrame>
      <p:graphicFrame>
        <p:nvGraphicFramePr>
          <p:cNvPr id="18438" name="Object 6"/>
          <p:cNvGraphicFramePr/>
          <p:nvPr/>
        </p:nvGraphicFramePr>
        <p:xfrm>
          <a:off x="5638800" y="3200400"/>
          <a:ext cx="742950" cy="730250"/>
        </p:xfrm>
        <a:graphic>
          <a:graphicData uri="http://schemas.openxmlformats.org/presentationml/2006/ole">
            <mc:AlternateContent xmlns:mc="http://schemas.openxmlformats.org/markup-compatibility/2006">
              <mc:Choice xmlns:v="urn:schemas-microsoft-com:vml" Requires="v">
                <p:oleObj spid="_x0000_s3087" name="" r:id="rId5" imgW="203200" imgH="241300" progId="Equation.3">
                  <p:embed/>
                </p:oleObj>
              </mc:Choice>
              <mc:Fallback>
                <p:oleObj name="" r:id="rId5" imgW="203200" imgH="241300" progId="Equation.3">
                  <p:embed/>
                  <p:pic>
                    <p:nvPicPr>
                      <p:cNvPr id="0" name="图片 3086"/>
                      <p:cNvPicPr/>
                      <p:nvPr/>
                    </p:nvPicPr>
                    <p:blipFill>
                      <a:blip r:embed="rId6"/>
                      <a:stretch>
                        <a:fillRect/>
                      </a:stretch>
                    </p:blipFill>
                    <p:spPr>
                      <a:xfrm>
                        <a:off x="5638800" y="3200400"/>
                        <a:ext cx="742950" cy="730250"/>
                      </a:xfrm>
                      <a:prstGeom prst="rect">
                        <a:avLst/>
                      </a:prstGeom>
                      <a:noFill/>
                      <a:ln w="38100">
                        <a:noFill/>
                        <a:miter/>
                      </a:ln>
                    </p:spPr>
                  </p:pic>
                </p:oleObj>
              </mc:Fallback>
            </mc:AlternateContent>
          </a:graphicData>
        </a:graphic>
      </p:graphicFrame>
      <p:sp>
        <p:nvSpPr>
          <p:cNvPr id="18443" name="Rectangle 11"/>
          <p:cNvSpPr/>
          <p:nvPr/>
        </p:nvSpPr>
        <p:spPr>
          <a:xfrm>
            <a:off x="1371600" y="1447800"/>
            <a:ext cx="5759450" cy="519113"/>
          </a:xfrm>
          <a:prstGeom prst="rect">
            <a:avLst/>
          </a:prstGeom>
          <a:noFill/>
          <a:ln w="9525">
            <a:noFill/>
          </a:ln>
        </p:spPr>
        <p:txBody>
          <a:bodyPr wrap="none">
            <a:spAutoFit/>
          </a:bodyPr>
          <a:p>
            <a:r>
              <a:rPr lang="en-US" altLang="zh-CN" sz="2800" b="1" dirty="0">
                <a:solidFill>
                  <a:srgbClr val="0000FF"/>
                </a:solidFill>
                <a:latin typeface="楷体_GB2312" pitchFamily="49" charset="-122"/>
              </a:rPr>
              <a:t>⑴.</a:t>
            </a:r>
            <a:r>
              <a:rPr lang="zh-CN" altLang="en-US" sz="2800" b="1" dirty="0">
                <a:solidFill>
                  <a:srgbClr val="0000FF"/>
                </a:solidFill>
                <a:latin typeface="楷体_GB2312" pitchFamily="49" charset="-122"/>
              </a:rPr>
              <a:t>恰好达到目标值，取        。</a:t>
            </a:r>
            <a:endParaRPr lang="zh-CN" altLang="en-US" sz="2800" b="1" dirty="0">
              <a:solidFill>
                <a:srgbClr val="0000FF"/>
              </a:solidFill>
              <a:latin typeface="楷体_GB2312" pitchFamily="49" charset="-122"/>
            </a:endParaRPr>
          </a:p>
        </p:txBody>
      </p:sp>
      <p:sp>
        <p:nvSpPr>
          <p:cNvPr id="18444" name="Rectangle 12"/>
          <p:cNvSpPr/>
          <p:nvPr/>
        </p:nvSpPr>
        <p:spPr>
          <a:xfrm>
            <a:off x="1395413" y="2333625"/>
            <a:ext cx="5600700" cy="523875"/>
          </a:xfrm>
          <a:prstGeom prst="rect">
            <a:avLst/>
          </a:prstGeom>
          <a:noFill/>
          <a:ln w="9525">
            <a:noFill/>
          </a:ln>
        </p:spPr>
        <p:txBody>
          <a:bodyPr wrap="none">
            <a:spAutoFit/>
          </a:bodyPr>
          <a:p>
            <a:r>
              <a:rPr lang="en-US" altLang="zh-CN" sz="2800" b="1" dirty="0">
                <a:solidFill>
                  <a:srgbClr val="0000FF"/>
                </a:solidFill>
                <a:latin typeface="楷体_GB2312" pitchFamily="49" charset="-122"/>
              </a:rPr>
              <a:t>⑵.</a:t>
            </a:r>
            <a:r>
              <a:rPr lang="zh-CN" altLang="en-US" sz="2800" b="1" dirty="0">
                <a:solidFill>
                  <a:srgbClr val="0000FF"/>
                </a:solidFill>
                <a:latin typeface="楷体_GB2312" pitchFamily="49" charset="-122"/>
              </a:rPr>
              <a:t>不允许低于目标值，取    。</a:t>
            </a:r>
            <a:endParaRPr lang="zh-CN" altLang="en-US" sz="2800" b="1" dirty="0">
              <a:solidFill>
                <a:srgbClr val="0000FF"/>
              </a:solidFill>
              <a:latin typeface="楷体_GB2312" pitchFamily="49" charset="-122"/>
            </a:endParaRPr>
          </a:p>
        </p:txBody>
      </p:sp>
      <p:sp>
        <p:nvSpPr>
          <p:cNvPr id="18445" name="Rectangle 13"/>
          <p:cNvSpPr/>
          <p:nvPr/>
        </p:nvSpPr>
        <p:spPr>
          <a:xfrm>
            <a:off x="1371600" y="3276600"/>
            <a:ext cx="5394325" cy="519113"/>
          </a:xfrm>
          <a:prstGeom prst="rect">
            <a:avLst/>
          </a:prstGeom>
          <a:noFill/>
          <a:ln w="9525">
            <a:noFill/>
          </a:ln>
        </p:spPr>
        <p:txBody>
          <a:bodyPr wrap="none">
            <a:spAutoFit/>
          </a:bodyPr>
          <a:p>
            <a:r>
              <a:rPr lang="en-US" altLang="zh-CN" sz="2800" b="1" dirty="0">
                <a:solidFill>
                  <a:srgbClr val="0000FF"/>
                </a:solidFill>
                <a:latin typeface="楷体_GB2312" pitchFamily="49" charset="-122"/>
              </a:rPr>
              <a:t>⑶.</a:t>
            </a:r>
            <a:r>
              <a:rPr lang="zh-CN" altLang="en-US" sz="2800" b="1" dirty="0">
                <a:solidFill>
                  <a:srgbClr val="0000FF"/>
                </a:solidFill>
                <a:latin typeface="楷体_GB2312" pitchFamily="49" charset="-122"/>
              </a:rPr>
              <a:t>不允许超过目标值，取    。</a:t>
            </a:r>
            <a:endParaRPr lang="zh-CN" altLang="en-US" sz="2800" b="1" dirty="0">
              <a:solidFill>
                <a:srgbClr val="0000FF"/>
              </a:solidFill>
              <a:latin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additive="base">
                                        <p:cTn id="7" dur="500" fill="hold"/>
                                        <p:tgtEl>
                                          <p:spTgt spid="18435"/>
                                        </p:tgtEl>
                                        <p:attrNameLst>
                                          <p:attrName>ppt_x</p:attrName>
                                        </p:attrNameLst>
                                      </p:cBhvr>
                                      <p:tavLst>
                                        <p:tav tm="0">
                                          <p:val>
                                            <p:strVal val="0-#ppt_w/2"/>
                                          </p:val>
                                        </p:tav>
                                        <p:tav tm="100000">
                                          <p:val>
                                            <p:strVal val="#ppt_x"/>
                                          </p:val>
                                        </p:tav>
                                      </p:tavLst>
                                    </p:anim>
                                    <p:anim calcmode="lin" valueType="num">
                                      <p:cBhvr additive="base">
                                        <p:cTn id="8" dur="500" fill="hold"/>
                                        <p:tgtEl>
                                          <p:spTgt spid="1843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18443"/>
                                        </p:tgtEl>
                                        <p:attrNameLst>
                                          <p:attrName>style.visibility</p:attrName>
                                        </p:attrNameLst>
                                      </p:cBhvr>
                                      <p:to>
                                        <p:strVal val="visible"/>
                                      </p:to>
                                    </p:set>
                                    <p:animEffect transition="in" filter="checkerboard(across)">
                                      <p:cBhvr>
                                        <p:cTn id="13" dur="500"/>
                                        <p:tgtEl>
                                          <p:spTgt spid="18443"/>
                                        </p:tgtEl>
                                      </p:cBhvr>
                                    </p:animEffect>
                                  </p:childTnLst>
                                  <p:subTnLst>
                                    <p:animClr clrSpc="rgb" dir="cw">
                                      <p:cBhvr override="childStyle">
                                        <p:cTn dur="1" fill="hold" display="0" masterRel="nextClick" afterEffect="1"/>
                                        <p:tgtEl>
                                          <p:spTgt spid="18443"/>
                                        </p:tgtEl>
                                        <p:attrNameLst>
                                          <p:attrName>ppt_c</p:attrName>
                                        </p:attrNameLst>
                                      </p:cBhvr>
                                      <p:to>
                                        <a:schemeClr val="tx2"/>
                                      </p:to>
                                    </p:animClr>
                                  </p:subTnLst>
                                </p:cTn>
                              </p:par>
                            </p:childTnLst>
                          </p:cTn>
                        </p:par>
                        <p:par>
                          <p:cTn id="14" fill="hold">
                            <p:stCondLst>
                              <p:cond delay="500"/>
                            </p:stCondLst>
                            <p:childTnLst>
                              <p:par>
                                <p:cTn id="15" presetID="9" presetClass="entr" presetSubtype="0" fill="hold" nodeType="afterEffect">
                                  <p:stCondLst>
                                    <p:cond delay="0"/>
                                  </p:stCondLst>
                                  <p:childTnLst>
                                    <p:set>
                                      <p:cBhvr>
                                        <p:cTn id="16" dur="1" fill="hold">
                                          <p:stCondLst>
                                            <p:cond delay="0"/>
                                          </p:stCondLst>
                                        </p:cTn>
                                        <p:tgtEl>
                                          <p:spTgt spid="18436"/>
                                        </p:tgtEl>
                                        <p:attrNameLst>
                                          <p:attrName>style.visibility</p:attrName>
                                        </p:attrNameLst>
                                      </p:cBhvr>
                                      <p:to>
                                        <p:strVal val="visible"/>
                                      </p:to>
                                    </p:set>
                                    <p:animEffect transition="in" filter="dissolve">
                                      <p:cBhvr>
                                        <p:cTn id="17" dur="500"/>
                                        <p:tgtEl>
                                          <p:spTgt spid="18436"/>
                                        </p:tgtEl>
                                      </p:cBhvr>
                                    </p:animEffect>
                                  </p:childTnLst>
                                  <p:subTnLst>
                                    <p:animClr clrSpc="rgb" dir="cw">
                                      <p:cBhvr override="childStyle">
                                        <p:cTn dur="1" fill="hold" display="0" masterRel="nextClick" afterEffect="1"/>
                                        <p:tgtEl>
                                          <p:spTgt spid="18436"/>
                                        </p:tgtEl>
                                        <p:attrNameLst>
                                          <p:attrName>ppt_c</p:attrName>
                                        </p:attrNameLst>
                                      </p:cBhvr>
                                      <p:to>
                                        <a:schemeClr val="tx2"/>
                                      </p:to>
                                    </p:animClr>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8444"/>
                                        </p:tgtEl>
                                        <p:attrNameLst>
                                          <p:attrName>style.visibility</p:attrName>
                                        </p:attrNameLst>
                                      </p:cBhvr>
                                      <p:to>
                                        <p:strVal val="visible"/>
                                      </p:to>
                                    </p:set>
                                    <p:animEffect transition="in" filter="box(in)">
                                      <p:cBhvr>
                                        <p:cTn id="22" dur="500"/>
                                        <p:tgtEl>
                                          <p:spTgt spid="18444"/>
                                        </p:tgtEl>
                                      </p:cBhvr>
                                    </p:animEffect>
                                  </p:childTnLst>
                                  <p:subTnLst>
                                    <p:animClr clrSpc="rgb" dir="cw">
                                      <p:cBhvr override="childStyle">
                                        <p:cTn dur="1" fill="hold" display="0" masterRel="nextClick" afterEffect="1"/>
                                        <p:tgtEl>
                                          <p:spTgt spid="18444"/>
                                        </p:tgtEl>
                                        <p:attrNameLst>
                                          <p:attrName>ppt_c</p:attrName>
                                        </p:attrNameLst>
                                      </p:cBhvr>
                                      <p:to>
                                        <a:schemeClr val="tx2"/>
                                      </p:to>
                                    </p:animClr>
                                  </p:sub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18437"/>
                                        </p:tgtEl>
                                        <p:attrNameLst>
                                          <p:attrName>style.visibility</p:attrName>
                                        </p:attrNameLst>
                                      </p:cBhvr>
                                      <p:to>
                                        <p:strVal val="visible"/>
                                      </p:to>
                                    </p:set>
                                    <p:animEffect transition="in" filter="dissolve">
                                      <p:cBhvr>
                                        <p:cTn id="26" dur="500"/>
                                        <p:tgtEl>
                                          <p:spTgt spid="18437"/>
                                        </p:tgtEl>
                                      </p:cBhvr>
                                    </p:animEffect>
                                  </p:childTnLst>
                                  <p:subTnLst>
                                    <p:animClr clrSpc="rgb" dir="cw">
                                      <p:cBhvr override="childStyle">
                                        <p:cTn dur="1" fill="hold" display="0" masterRel="nextClick" afterEffect="1"/>
                                        <p:tgtEl>
                                          <p:spTgt spid="18437"/>
                                        </p:tgtEl>
                                        <p:attrNameLst>
                                          <p:attrName>ppt_c</p:attrName>
                                        </p:attrNameLst>
                                      </p:cBhvr>
                                      <p:to>
                                        <a:schemeClr val="tx2"/>
                                      </p:to>
                                    </p:animClr>
                                  </p:subTnLst>
                                </p:cTn>
                              </p:par>
                            </p:childTnLst>
                          </p:cTn>
                        </p:par>
                      </p:childTnLst>
                    </p:cTn>
                  </p:par>
                  <p:par>
                    <p:cTn id="27" fill="hold">
                      <p:stCondLst>
                        <p:cond delay="indefinite"/>
                      </p:stCondLst>
                      <p:childTnLst>
                        <p:par>
                          <p:cTn id="28" fill="hold">
                            <p:stCondLst>
                              <p:cond delay="0"/>
                            </p:stCondLst>
                            <p:childTnLst>
                              <p:par>
                                <p:cTn id="29" presetID="3" presetClass="entr" presetSubtype="5" fill="hold" grpId="0" nodeType="clickEffect">
                                  <p:stCondLst>
                                    <p:cond delay="0"/>
                                  </p:stCondLst>
                                  <p:childTnLst>
                                    <p:set>
                                      <p:cBhvr>
                                        <p:cTn id="30" dur="1" fill="hold">
                                          <p:stCondLst>
                                            <p:cond delay="0"/>
                                          </p:stCondLst>
                                        </p:cTn>
                                        <p:tgtEl>
                                          <p:spTgt spid="18445"/>
                                        </p:tgtEl>
                                        <p:attrNameLst>
                                          <p:attrName>style.visibility</p:attrName>
                                        </p:attrNameLst>
                                      </p:cBhvr>
                                      <p:to>
                                        <p:strVal val="visible"/>
                                      </p:to>
                                    </p:set>
                                    <p:animEffect transition="in" filter="blinds(vertical)">
                                      <p:cBhvr>
                                        <p:cTn id="31" dur="500"/>
                                        <p:tgtEl>
                                          <p:spTgt spid="18445"/>
                                        </p:tgtEl>
                                      </p:cBhvr>
                                    </p:animEffect>
                                  </p:childTnLst>
                                  <p:subTnLst>
                                    <p:animClr clrSpc="rgb" dir="cw">
                                      <p:cBhvr override="childStyle">
                                        <p:cTn dur="1" fill="hold" display="0" masterRel="nextClick" afterEffect="1"/>
                                        <p:tgtEl>
                                          <p:spTgt spid="18445"/>
                                        </p:tgtEl>
                                        <p:attrNameLst>
                                          <p:attrName>ppt_c</p:attrName>
                                        </p:attrNameLst>
                                      </p:cBhvr>
                                      <p:to>
                                        <a:schemeClr val="tx2"/>
                                      </p:to>
                                    </p:animClr>
                                  </p:sub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18438"/>
                                        </p:tgtEl>
                                        <p:attrNameLst>
                                          <p:attrName>style.visibility</p:attrName>
                                        </p:attrNameLst>
                                      </p:cBhvr>
                                      <p:to>
                                        <p:strVal val="visible"/>
                                      </p:to>
                                    </p:set>
                                    <p:animEffect transition="in" filter="dissolve">
                                      <p:cBhvr>
                                        <p:cTn id="35" dur="500"/>
                                        <p:tgtEl>
                                          <p:spTgt spid="18438"/>
                                        </p:tgtEl>
                                      </p:cBhvr>
                                    </p:animEffect>
                                  </p:childTnLst>
                                  <p:subTnLst>
                                    <p:animClr clrSpc="rgb" dir="cw">
                                      <p:cBhvr override="childStyle">
                                        <p:cTn dur="1" fill="hold" display="0" masterRel="nextClick" afterEffect="1"/>
                                        <p:tgtEl>
                                          <p:spTgt spid="18438"/>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p:bldP spid="18443" grpId="0"/>
      <p:bldP spid="18444" grpId="0"/>
      <p:bldP spid="1844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ext Box 2"/>
          <p:cNvSpPr txBox="1"/>
          <p:nvPr/>
        </p:nvSpPr>
        <p:spPr>
          <a:xfrm>
            <a:off x="838200" y="609600"/>
            <a:ext cx="3124200" cy="579438"/>
          </a:xfrm>
          <a:prstGeom prst="rect">
            <a:avLst/>
          </a:prstGeom>
          <a:noFill/>
          <a:ln w="9525">
            <a:noFill/>
          </a:ln>
        </p:spPr>
        <p:txBody>
          <a:bodyPr>
            <a:spAutoFit/>
          </a:bodyPr>
          <a:p>
            <a:pPr>
              <a:spcBef>
                <a:spcPct val="50000"/>
              </a:spcBef>
            </a:pPr>
            <a:r>
              <a:rPr lang="zh-CN" altLang="en-US" sz="3200" b="1" dirty="0">
                <a:solidFill>
                  <a:srgbClr val="800080"/>
                </a:solidFill>
                <a:latin typeface="Times New Roman" panose="02020603050405020304" pitchFamily="18" charset="0"/>
              </a:rPr>
              <a:t>（三）、小结</a:t>
            </a:r>
            <a:endParaRPr lang="zh-CN" altLang="en-US" sz="3200" b="1" dirty="0">
              <a:solidFill>
                <a:srgbClr val="800080"/>
              </a:solidFill>
              <a:latin typeface="Times New Roman" panose="02020603050405020304" pitchFamily="18" charset="0"/>
            </a:endParaRPr>
          </a:p>
        </p:txBody>
      </p:sp>
      <p:graphicFrame>
        <p:nvGraphicFramePr>
          <p:cNvPr id="19593" name="Group 137"/>
          <p:cNvGraphicFramePr>
            <a:graphicFrameLocks noGrp="1"/>
          </p:cNvGraphicFramePr>
          <p:nvPr/>
        </p:nvGraphicFramePr>
        <p:xfrm>
          <a:off x="228600" y="1676400"/>
          <a:ext cx="8686800" cy="3614738"/>
        </p:xfrm>
        <a:graphic>
          <a:graphicData uri="http://schemas.openxmlformats.org/drawingml/2006/table">
            <a:tbl>
              <a:tblPr/>
              <a:tblGrid>
                <a:gridCol w="1981200"/>
                <a:gridCol w="3200400"/>
                <a:gridCol w="3505200"/>
              </a:tblGrid>
              <a:tr h="371475">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800" b="1" i="0" u="none" strike="noStrike" cap="none" normalizeH="0" baseline="0" dirty="0" smtClean="0">
                        <a:ln>
                          <a:noFill/>
                        </a:ln>
                        <a:solidFill>
                          <a:schemeClr val="accent2"/>
                        </a:solidFill>
                        <a:effectLst/>
                        <a:latin typeface="楷体_GB2312" pitchFamily="49" charset="-122"/>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线性规划</a:t>
                      </a:r>
                      <a:r>
                        <a:rPr kumimoji="1" lang="en-US" altLang="zh-CN" sz="2800" b="1" i="0" u="none" strike="noStrike" cap="none" normalizeH="0" baseline="0" smtClean="0">
                          <a:ln>
                            <a:noFill/>
                          </a:ln>
                          <a:solidFill>
                            <a:schemeClr val="accent2"/>
                          </a:solidFill>
                          <a:effectLst/>
                          <a:latin typeface="楷体_GB2312" pitchFamily="49" charset="-122"/>
                          <a:ea typeface="楷体_GB2312" pitchFamily="49" charset="-122"/>
                        </a:rPr>
                        <a:t>LP</a:t>
                      </a:r>
                      <a:endParaRPr kumimoji="1" lang="en-US" altLang="zh-CN" sz="2800" b="1" i="0" u="none" strike="noStrike" cap="none" normalizeH="0" baseline="0" smtClean="0">
                        <a:ln>
                          <a:noFill/>
                        </a:ln>
                        <a:solidFill>
                          <a:schemeClr val="accent2"/>
                        </a:solidFill>
                        <a:effectLst/>
                        <a:latin typeface="楷体_GB2312" pitchFamily="49" charset="-122"/>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目标规划</a:t>
                      </a:r>
                      <a:r>
                        <a:rPr kumimoji="1" lang="en-US" altLang="zh-CN" sz="2800" b="1" i="0" u="none" strike="noStrike" cap="none" normalizeH="0" baseline="0" smtClean="0">
                          <a:ln>
                            <a:noFill/>
                          </a:ln>
                          <a:solidFill>
                            <a:schemeClr val="accent2"/>
                          </a:solidFill>
                          <a:effectLst/>
                          <a:latin typeface="楷体_GB2312" pitchFamily="49" charset="-122"/>
                          <a:ea typeface="楷体_GB2312" pitchFamily="49" charset="-122"/>
                        </a:rPr>
                        <a:t>GP</a:t>
                      </a:r>
                      <a:endParaRPr kumimoji="1" lang="en-US" altLang="zh-CN" sz="2800" b="1" i="0" u="none" strike="noStrike" cap="none" normalizeH="0" baseline="0" smtClean="0">
                        <a:ln>
                          <a:noFill/>
                        </a:ln>
                        <a:solidFill>
                          <a:schemeClr val="accent2"/>
                        </a:solidFill>
                        <a:effectLst/>
                        <a:latin typeface="楷体_GB2312" pitchFamily="49" charset="-122"/>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r>
              <a:tr h="3444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目标函数</a:t>
                      </a:r>
                      <a:endPar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min  ,   max</a:t>
                      </a:r>
                      <a:endParaRPr kumimoji="1" lang="en-US" altLang="zh-CN" sz="2800" b="1" i="0" u="none" strike="noStrike" cap="none" normalizeH="0" baseline="0" smtClean="0">
                        <a:ln>
                          <a:noFill/>
                        </a:ln>
                        <a:solidFill>
                          <a:schemeClr val="accent2"/>
                        </a:solidFill>
                        <a:effectLst/>
                        <a:latin typeface="Times New Roman" panose="02020603050405020304" pitchFamily="18"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系数可正负</a:t>
                      </a:r>
                      <a:endPar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chemeClr val="accent2"/>
                          </a:solidFill>
                          <a:effectLst/>
                          <a:latin typeface="Times New Roman" panose="02020603050405020304" pitchFamily="18" charset="0"/>
                          <a:ea typeface="楷体_GB2312" pitchFamily="49" charset="-122"/>
                        </a:rPr>
                        <a:t>min  , </a:t>
                      </a: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偏差变量</a:t>
                      </a:r>
                      <a:endPar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系数≥</a:t>
                      </a:r>
                      <a:r>
                        <a:rPr kumimoji="1" lang="en-US" altLang="zh-CN" sz="2800" b="1" i="0" u="none" strike="noStrike" cap="none" normalizeH="0" baseline="0" smtClean="0">
                          <a:ln>
                            <a:noFill/>
                          </a:ln>
                          <a:solidFill>
                            <a:schemeClr val="accent2"/>
                          </a:solidFill>
                          <a:effectLst/>
                          <a:latin typeface="楷体_GB2312" pitchFamily="49" charset="-122"/>
                          <a:ea typeface="楷体_GB2312" pitchFamily="49" charset="-122"/>
                        </a:rPr>
                        <a:t>0</a:t>
                      </a:r>
                      <a:endParaRPr kumimoji="1" lang="en-US" altLang="zh-CN" sz="2800" b="1" i="0" u="none" strike="noStrike" cap="none" normalizeH="0" baseline="0" smtClean="0">
                        <a:ln>
                          <a:noFill/>
                        </a:ln>
                        <a:solidFill>
                          <a:schemeClr val="accent2"/>
                        </a:solidFill>
                        <a:effectLst/>
                        <a:latin typeface="楷体_GB2312" pitchFamily="49" charset="-122"/>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r>
              <a:tr h="3460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变量</a:t>
                      </a:r>
                      <a:endPar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dirty="0" smtClean="0">
                          <a:ln>
                            <a:noFill/>
                          </a:ln>
                          <a:solidFill>
                            <a:schemeClr val="accent2"/>
                          </a:solidFill>
                          <a:effectLst/>
                          <a:latin typeface="楷体_GB2312" pitchFamily="49" charset="-122"/>
                          <a:ea typeface="楷体_GB2312" pitchFamily="49" charset="-122"/>
                        </a:rPr>
                        <a:t>x  </a:t>
                      </a:r>
                      <a:endParaRPr kumimoji="1" lang="en-US" altLang="zh-CN" sz="2800" b="1" i="0" u="none" strike="noStrike" cap="none" normalizeH="0" baseline="0" dirty="0" smtClean="0">
                        <a:ln>
                          <a:noFill/>
                        </a:ln>
                        <a:solidFill>
                          <a:schemeClr val="accent2"/>
                        </a:solidFill>
                        <a:effectLst/>
                        <a:latin typeface="楷体_GB2312" pitchFamily="49" charset="-122"/>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dirty="0" smtClean="0">
                          <a:ln>
                            <a:noFill/>
                          </a:ln>
                          <a:solidFill>
                            <a:schemeClr val="accent2"/>
                          </a:solidFill>
                          <a:effectLst/>
                          <a:latin typeface="楷体_GB2312" pitchFamily="49" charset="-122"/>
                          <a:ea typeface="楷体_GB2312" pitchFamily="49" charset="-122"/>
                        </a:rPr>
                        <a:t>x,</a:t>
                      </a:r>
                      <a:r>
                        <a:rPr kumimoji="1" lang="en-US" altLang="zh-CN" sz="2800" b="1" i="0" u="none" strike="noStrike" cap="none" normalizeH="0" baseline="-30000" dirty="0" smtClean="0">
                          <a:ln>
                            <a:noFill/>
                          </a:ln>
                          <a:solidFill>
                            <a:schemeClr val="accent2"/>
                          </a:solidFill>
                          <a:effectLst/>
                          <a:latin typeface="楷体_GB2312" pitchFamily="49" charset="-122"/>
                          <a:ea typeface="楷体_GB2312" pitchFamily="49" charset="-122"/>
                        </a:rPr>
                        <a:t> </a:t>
                      </a:r>
                      <a:r>
                        <a:rPr kumimoji="1" lang="en-US" altLang="zh-CN" sz="2800" b="1" i="0" u="none" strike="noStrike" cap="none" normalizeH="0" baseline="0" dirty="0" smtClean="0">
                          <a:ln>
                            <a:noFill/>
                          </a:ln>
                          <a:solidFill>
                            <a:schemeClr val="accent2"/>
                          </a:solidFill>
                          <a:effectLst/>
                          <a:latin typeface="楷体_GB2312" pitchFamily="49" charset="-122"/>
                          <a:ea typeface="楷体_GB2312" pitchFamily="49" charset="-122"/>
                        </a:rPr>
                        <a:t>d</a:t>
                      </a:r>
                      <a:endParaRPr kumimoji="1" lang="en-US" altLang="zh-CN" sz="2800" b="1" i="0" u="none" strike="noStrike" cap="none" normalizeH="0" baseline="0" dirty="0" smtClean="0">
                        <a:ln>
                          <a:noFill/>
                        </a:ln>
                        <a:solidFill>
                          <a:schemeClr val="accent2"/>
                        </a:solidFill>
                        <a:effectLst/>
                        <a:latin typeface="楷体_GB2312" pitchFamily="49" charset="-122"/>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r>
              <a:tr h="3444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约束条件</a:t>
                      </a:r>
                      <a:endPar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系统约束</a:t>
                      </a:r>
                      <a:endPar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（绝对约束）</a:t>
                      </a:r>
                      <a:endPar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目标约束</a:t>
                      </a:r>
                      <a:endPar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系统约束</a:t>
                      </a:r>
                      <a:endPar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r>
              <a:tr h="3460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解</a:t>
                      </a:r>
                      <a:endPar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最优</a:t>
                      </a:r>
                      <a:endPar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rPr>
                        <a:t>最满意</a:t>
                      </a:r>
                      <a:endParaRPr kumimoji="1" lang="zh-CN" altLang="en-US" sz="2800" b="1" i="0" u="none" strike="noStrike" cap="none" normalizeH="0" baseline="0" smtClean="0">
                        <a:ln>
                          <a:noFill/>
                        </a:ln>
                        <a:solidFill>
                          <a:schemeClr val="accent2"/>
                        </a:solidFill>
                        <a:effectLst/>
                        <a:latin typeface="楷体_GB2312" pitchFamily="49" charset="-122"/>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r>
            </a:tbl>
          </a:graphicData>
        </a:graphic>
      </p:graphicFrame>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ext Box 4"/>
          <p:cNvSpPr txBox="1"/>
          <p:nvPr/>
        </p:nvSpPr>
        <p:spPr>
          <a:xfrm>
            <a:off x="228600" y="1295400"/>
            <a:ext cx="8686800" cy="1373188"/>
          </a:xfrm>
          <a:prstGeom prst="rect">
            <a:avLst/>
          </a:prstGeom>
          <a:noFill/>
          <a:ln w="9525">
            <a:noFill/>
          </a:ln>
        </p:spPr>
        <p:txBody>
          <a:bodyPr>
            <a:spAutoFit/>
          </a:bodyPr>
          <a:p>
            <a:pPr>
              <a:spcBef>
                <a:spcPct val="50000"/>
              </a:spcBef>
            </a:pPr>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图解法同样适用两个变量的目标规划问题，但其操作简单，原理一目了然。同时，也有助于理解一般目标规划的求解原理和过程。</a:t>
            </a:r>
            <a:endParaRPr lang="zh-CN" altLang="en-US" sz="2800" b="1" dirty="0">
              <a:solidFill>
                <a:srgbClr val="0000FF"/>
              </a:solidFill>
              <a:latin typeface="Times New Roman" panose="02020603050405020304" pitchFamily="18" charset="0"/>
            </a:endParaRPr>
          </a:p>
        </p:txBody>
      </p:sp>
      <p:sp>
        <p:nvSpPr>
          <p:cNvPr id="20485" name="Text Box 5"/>
          <p:cNvSpPr txBox="1"/>
          <p:nvPr/>
        </p:nvSpPr>
        <p:spPr>
          <a:xfrm>
            <a:off x="228600" y="2895600"/>
            <a:ext cx="8686800" cy="2654300"/>
          </a:xfrm>
          <a:prstGeom prst="rect">
            <a:avLst/>
          </a:prstGeom>
          <a:noFill/>
          <a:ln w="9525">
            <a:noFill/>
          </a:ln>
        </p:spPr>
        <p:txBody>
          <a:bodyPr>
            <a:spAutoFit/>
          </a:bodyPr>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图解法解题步骤如下：</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1</a:t>
            </a:r>
            <a:r>
              <a:rPr lang="zh-CN" altLang="en-US" sz="2800" b="1" dirty="0">
                <a:solidFill>
                  <a:srgbClr val="0000FF"/>
                </a:solidFill>
                <a:latin typeface="Times New Roman" panose="02020603050405020304" pitchFamily="18" charset="0"/>
              </a:rPr>
              <a:t>、确定各约束条件的可行域，即将所有约束条件（包括目标约束和绝对约束，暂不考虑正负偏差变量）在坐标平面上表示出来；</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2</a:t>
            </a:r>
            <a:r>
              <a:rPr lang="zh-CN" altLang="en-US" sz="2800" b="1" dirty="0">
                <a:solidFill>
                  <a:srgbClr val="0000FF"/>
                </a:solidFill>
                <a:latin typeface="Times New Roman" panose="02020603050405020304" pitchFamily="18" charset="0"/>
              </a:rPr>
              <a:t>、在目标约束所代表的边界线上，用箭头标出正、负偏差变量值增大的方向；</a:t>
            </a:r>
            <a:endParaRPr lang="zh-CN" altLang="en-US" sz="2800" b="1" dirty="0">
              <a:solidFill>
                <a:srgbClr val="0000FF"/>
              </a:solidFill>
              <a:latin typeface="Times New Roman" panose="02020603050405020304" pitchFamily="18" charset="0"/>
            </a:endParaRPr>
          </a:p>
        </p:txBody>
      </p:sp>
      <p:sp>
        <p:nvSpPr>
          <p:cNvPr id="45060" name="Rectangle 6"/>
          <p:cNvSpPr>
            <a:spLocks noGrp="1"/>
          </p:cNvSpPr>
          <p:nvPr>
            <p:ph type="ctrTitle"/>
          </p:nvPr>
        </p:nvSpPr>
        <p:spPr>
          <a:xfrm>
            <a:off x="685800" y="533400"/>
            <a:ext cx="7772400" cy="762000"/>
          </a:xfrm>
          <a:noFill/>
          <a:ln>
            <a:noFill/>
          </a:ln>
        </p:spPr>
        <p:txBody>
          <a:bodyPr/>
          <a:p>
            <a:pPr algn="l" eaLnBrk="1" hangingPunct="1">
              <a:buClrTx/>
              <a:buSzTx/>
              <a:buFontTx/>
            </a:pPr>
            <a:r>
              <a:rPr lang="zh-CN" altLang="en-US" sz="3600" b="1" dirty="0">
                <a:solidFill>
                  <a:srgbClr val="800080"/>
                </a:solidFill>
                <a:ea typeface="楷体_GB2312" pitchFamily="49" charset="-122"/>
              </a:rPr>
              <a:t>三、目标规划的图解法</a:t>
            </a:r>
            <a:endParaRPr lang="zh-CN" altLang="en-US" sz="3600" b="1" dirty="0">
              <a:solidFill>
                <a:srgbClr val="800080"/>
              </a:solidFill>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iterate type="lt">
                                    <p:tmPct val="100000"/>
                                  </p:iterate>
                                  <p:childTnLst>
                                    <p:set>
                                      <p:cBhvr>
                                        <p:cTn id="6" dur="1" fill="hold">
                                          <p:stCondLst>
                                            <p:cond delay="0"/>
                                          </p:stCondLst>
                                        </p:cTn>
                                        <p:tgtEl>
                                          <p:spTgt spid="20485"/>
                                        </p:tgtEl>
                                        <p:attrNameLst>
                                          <p:attrName>style.visibility</p:attrName>
                                        </p:attrNameLst>
                                      </p:cBhvr>
                                      <p:to>
                                        <p:strVal val="visible"/>
                                      </p:to>
                                    </p:set>
                                    <p:anim calcmode="lin" valueType="num">
                                      <p:cBhvr additive="base">
                                        <p:cTn id="7" dur="75" fill="hold"/>
                                        <p:tgtEl>
                                          <p:spTgt spid="20485"/>
                                        </p:tgtEl>
                                        <p:attrNameLst>
                                          <p:attrName>ppt_x</p:attrName>
                                        </p:attrNameLst>
                                      </p:cBhvr>
                                      <p:tavLst>
                                        <p:tav tm="0">
                                          <p:val>
                                            <p:strVal val="1+#ppt_w/2"/>
                                          </p:val>
                                        </p:tav>
                                        <p:tav tm="100000">
                                          <p:val>
                                            <p:strVal val="#ppt_x"/>
                                          </p:val>
                                        </p:tav>
                                      </p:tavLst>
                                    </p:anim>
                                    <p:anim calcmode="lin" valueType="num">
                                      <p:cBhvr additive="base">
                                        <p:cTn id="8" dur="75" fill="hold"/>
                                        <p:tgtEl>
                                          <p:spTgt spid="204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ext Box 2"/>
          <p:cNvSpPr txBox="1"/>
          <p:nvPr/>
        </p:nvSpPr>
        <p:spPr>
          <a:xfrm>
            <a:off x="304800" y="381000"/>
            <a:ext cx="8839200" cy="2654300"/>
          </a:xfrm>
          <a:prstGeom prst="rect">
            <a:avLst/>
          </a:prstGeom>
          <a:noFill/>
          <a:ln w="9525">
            <a:noFill/>
          </a:ln>
        </p:spPr>
        <p:txBody>
          <a:bodyPr>
            <a:spAutoFit/>
          </a:bodyPr>
          <a:p>
            <a:r>
              <a:rPr lang="en-US" altLang="zh-CN" sz="2800" b="1" dirty="0">
                <a:solidFill>
                  <a:srgbClr val="0000FF"/>
                </a:solidFill>
                <a:latin typeface="Times New Roman" panose="02020603050405020304" pitchFamily="18" charset="0"/>
              </a:rPr>
              <a:t>     3</a:t>
            </a:r>
            <a:r>
              <a:rPr lang="zh-CN" altLang="en-US" sz="2800" b="1" dirty="0">
                <a:solidFill>
                  <a:srgbClr val="0000FF"/>
                </a:solidFill>
                <a:latin typeface="Times New Roman" panose="02020603050405020304" pitchFamily="18" charset="0"/>
              </a:rPr>
              <a:t>、求满足最高优先等级目标的解；</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4</a:t>
            </a:r>
            <a:r>
              <a:rPr lang="zh-CN" altLang="en-US" sz="2800" b="1" dirty="0">
                <a:solidFill>
                  <a:srgbClr val="0000FF"/>
                </a:solidFill>
                <a:latin typeface="Times New Roman" panose="02020603050405020304" pitchFamily="18" charset="0"/>
              </a:rPr>
              <a:t>、转到下一个优先等级的目标，再不破坏所有较高优先等级目标的前提下，求出该优先等级目标的解；</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5</a:t>
            </a:r>
            <a:r>
              <a:rPr lang="zh-CN" altLang="en-US" sz="2800" b="1" dirty="0">
                <a:solidFill>
                  <a:srgbClr val="0000FF"/>
                </a:solidFill>
                <a:latin typeface="Times New Roman" panose="02020603050405020304" pitchFamily="18" charset="0"/>
              </a:rPr>
              <a:t>、重复</a:t>
            </a:r>
            <a:r>
              <a:rPr lang="en-US" altLang="zh-CN" sz="2800" b="1" dirty="0">
                <a:solidFill>
                  <a:srgbClr val="0000FF"/>
                </a:solidFill>
                <a:latin typeface="Times New Roman" panose="02020603050405020304" pitchFamily="18" charset="0"/>
              </a:rPr>
              <a:t>4</a:t>
            </a:r>
            <a:r>
              <a:rPr lang="zh-CN" altLang="en-US" sz="2800" b="1" dirty="0">
                <a:solidFill>
                  <a:srgbClr val="0000FF"/>
                </a:solidFill>
                <a:latin typeface="Times New Roman" panose="02020603050405020304" pitchFamily="18" charset="0"/>
              </a:rPr>
              <a:t>，直到所有优先等级的目标都已审查完毕为止；</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6</a:t>
            </a:r>
            <a:r>
              <a:rPr lang="zh-CN" altLang="en-US" sz="2800" b="1" dirty="0">
                <a:solidFill>
                  <a:srgbClr val="0000FF"/>
                </a:solidFill>
                <a:latin typeface="Times New Roman" panose="02020603050405020304" pitchFamily="18" charset="0"/>
              </a:rPr>
              <a:t>、确定最优解和满意解。</a:t>
            </a:r>
            <a:endParaRPr lang="zh-CN" altLang="en-US" sz="2800" b="1" dirty="0">
              <a:solidFill>
                <a:srgbClr val="0000FF"/>
              </a:solidFill>
              <a:latin typeface="Times New Roman" panose="02020603050405020304" pitchFamily="18" charset="0"/>
            </a:endParaRPr>
          </a:p>
        </p:txBody>
      </p:sp>
      <p:sp>
        <p:nvSpPr>
          <p:cNvPr id="21507" name="Text Box 3"/>
          <p:cNvSpPr txBox="1"/>
          <p:nvPr/>
        </p:nvSpPr>
        <p:spPr>
          <a:xfrm>
            <a:off x="228600" y="3048000"/>
            <a:ext cx="6096000" cy="519113"/>
          </a:xfrm>
          <a:prstGeom prst="rect">
            <a:avLst/>
          </a:prstGeom>
          <a:noFill/>
          <a:ln w="9525">
            <a:noFill/>
          </a:ln>
        </p:spPr>
        <p:txBody>
          <a:bodyPr>
            <a:spAutoFit/>
          </a:bodyPr>
          <a:p>
            <a:r>
              <a:rPr lang="zh-CN" altLang="en-US" sz="2800" b="1" dirty="0">
                <a:solidFill>
                  <a:srgbClr val="0000FF"/>
                </a:solidFill>
                <a:latin typeface="Times New Roman" panose="02020603050405020304" pitchFamily="18" charset="0"/>
              </a:rPr>
              <a:t>例一、用图解法求解目标规划问题</a:t>
            </a:r>
            <a:endParaRPr lang="zh-CN" altLang="en-US" sz="2800" b="1" dirty="0">
              <a:solidFill>
                <a:srgbClr val="0000FF"/>
              </a:solidFill>
              <a:latin typeface="Times New Roman" panose="02020603050405020304" pitchFamily="18" charset="0"/>
            </a:endParaRPr>
          </a:p>
        </p:txBody>
      </p:sp>
      <p:graphicFrame>
        <p:nvGraphicFramePr>
          <p:cNvPr id="21508" name="Object 4"/>
          <p:cNvGraphicFramePr/>
          <p:nvPr/>
        </p:nvGraphicFramePr>
        <p:xfrm>
          <a:off x="1617663" y="3411538"/>
          <a:ext cx="4841875" cy="3341687"/>
        </p:xfrm>
        <a:graphic>
          <a:graphicData uri="http://schemas.openxmlformats.org/presentationml/2006/ole">
            <mc:AlternateContent xmlns:mc="http://schemas.openxmlformats.org/markup-compatibility/2006">
              <mc:Choice xmlns:v="urn:schemas-microsoft-com:vml" Requires="v">
                <p:oleObj spid="_x0000_s3090" name="" r:id="rId1" imgW="1803400" imgH="1244600" progId="Equation.DSMT4">
                  <p:embed/>
                </p:oleObj>
              </mc:Choice>
              <mc:Fallback>
                <p:oleObj name="" r:id="rId1" imgW="1803400" imgH="1244600" progId="Equation.DSMT4">
                  <p:embed/>
                  <p:pic>
                    <p:nvPicPr>
                      <p:cNvPr id="0" name="图片 3089"/>
                      <p:cNvPicPr/>
                      <p:nvPr/>
                    </p:nvPicPr>
                    <p:blipFill>
                      <a:blip r:embed="rId2"/>
                      <a:stretch>
                        <a:fillRect/>
                      </a:stretch>
                    </p:blipFill>
                    <p:spPr>
                      <a:xfrm>
                        <a:off x="1617663" y="3411538"/>
                        <a:ext cx="4841875" cy="3341687"/>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iterate type="lt">
                                    <p:tmPct val="100000"/>
                                  </p:iterate>
                                  <p:childTnLst>
                                    <p:set>
                                      <p:cBhvr>
                                        <p:cTn id="6" dur="1" fill="hold">
                                          <p:stCondLst>
                                            <p:cond delay="0"/>
                                          </p:stCondLst>
                                        </p:cTn>
                                        <p:tgtEl>
                                          <p:spTgt spid="21506"/>
                                        </p:tgtEl>
                                        <p:attrNameLst>
                                          <p:attrName>style.visibility</p:attrName>
                                        </p:attrNameLst>
                                      </p:cBhvr>
                                      <p:to>
                                        <p:strVal val="visible"/>
                                      </p:to>
                                    </p:set>
                                    <p:anim calcmode="lin" valueType="num">
                                      <p:cBhvr additive="base">
                                        <p:cTn id="7" dur="75" fill="hold"/>
                                        <p:tgtEl>
                                          <p:spTgt spid="21506"/>
                                        </p:tgtEl>
                                        <p:attrNameLst>
                                          <p:attrName>ppt_x</p:attrName>
                                        </p:attrNameLst>
                                      </p:cBhvr>
                                      <p:tavLst>
                                        <p:tav tm="0">
                                          <p:val>
                                            <p:strVal val="#ppt_x"/>
                                          </p:val>
                                        </p:tav>
                                        <p:tav tm="100000">
                                          <p:val>
                                            <p:strVal val="#ppt_x"/>
                                          </p:val>
                                        </p:tav>
                                      </p:tavLst>
                                    </p:anim>
                                    <p:anim calcmode="lin" valueType="num">
                                      <p:cBhvr additive="base">
                                        <p:cTn id="8" dur="75" fill="hold"/>
                                        <p:tgtEl>
                                          <p:spTgt spid="2150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21507"/>
                                        </p:tgtEl>
                                        <p:attrNameLst>
                                          <p:attrName>style.visibility</p:attrName>
                                        </p:attrNameLst>
                                      </p:cBhvr>
                                      <p:to>
                                        <p:strVal val="visible"/>
                                      </p:to>
                                    </p:set>
                                    <p:animEffect transition="in" filter="dissolve">
                                      <p:cBhvr>
                                        <p:cTn id="13" dur="500"/>
                                        <p:tgtEl>
                                          <p:spTgt spid="21507"/>
                                        </p:tgtEl>
                                      </p:cBhvr>
                                    </p:animEffect>
                                  </p:childTnLst>
                                </p:cTn>
                              </p:par>
                            </p:childTnLst>
                          </p:cTn>
                        </p:par>
                        <p:par>
                          <p:cTn id="14" fill="hold">
                            <p:stCondLst>
                              <p:cond delay="500"/>
                            </p:stCondLst>
                            <p:childTnLst>
                              <p:par>
                                <p:cTn id="15" presetID="16" presetClass="entr" presetSubtype="42" fill="hold" nodeType="afterEffect">
                                  <p:stCondLst>
                                    <p:cond delay="0"/>
                                  </p:stCondLst>
                                  <p:childTnLst>
                                    <p:set>
                                      <p:cBhvr>
                                        <p:cTn id="16" dur="1" fill="hold">
                                          <p:stCondLst>
                                            <p:cond delay="0"/>
                                          </p:stCondLst>
                                        </p:cTn>
                                        <p:tgtEl>
                                          <p:spTgt spid="21508"/>
                                        </p:tgtEl>
                                        <p:attrNameLst>
                                          <p:attrName>style.visibility</p:attrName>
                                        </p:attrNameLst>
                                      </p:cBhvr>
                                      <p:to>
                                        <p:strVal val="visible"/>
                                      </p:to>
                                    </p:set>
                                    <p:animEffect transition="in" filter="barn(outHorizontal)">
                                      <p:cBhvr>
                                        <p:cTn id="17" dur="500"/>
                                        <p:tgtEl>
                                          <p:spTgt spid="21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p:bldP spid="2150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6" name="Line 2"/>
          <p:cNvSpPr/>
          <p:nvPr/>
        </p:nvSpPr>
        <p:spPr>
          <a:xfrm flipV="1">
            <a:off x="2667000" y="762000"/>
            <a:ext cx="0" cy="4419600"/>
          </a:xfrm>
          <a:prstGeom prst="line">
            <a:avLst/>
          </a:prstGeom>
          <a:ln w="9525" cap="flat" cmpd="sng">
            <a:solidFill>
              <a:schemeClr val="tx1"/>
            </a:solidFill>
            <a:prstDash val="solid"/>
            <a:headEnd type="none" w="med" len="med"/>
            <a:tailEnd type="triangle" w="med" len="med"/>
          </a:ln>
        </p:spPr>
      </p:sp>
      <p:sp>
        <p:nvSpPr>
          <p:cNvPr id="10247" name="Line 3"/>
          <p:cNvSpPr/>
          <p:nvPr/>
        </p:nvSpPr>
        <p:spPr>
          <a:xfrm>
            <a:off x="2133600" y="4267200"/>
            <a:ext cx="5105400" cy="0"/>
          </a:xfrm>
          <a:prstGeom prst="line">
            <a:avLst/>
          </a:prstGeom>
          <a:ln w="38100" cap="flat" cmpd="sng">
            <a:solidFill>
              <a:schemeClr val="tx1"/>
            </a:solidFill>
            <a:prstDash val="solid"/>
            <a:headEnd type="none" w="med" len="med"/>
            <a:tailEnd type="triangle" w="med" len="med"/>
          </a:ln>
        </p:spPr>
      </p:sp>
      <p:sp>
        <p:nvSpPr>
          <p:cNvPr id="10248" name="Line 4"/>
          <p:cNvSpPr/>
          <p:nvPr/>
        </p:nvSpPr>
        <p:spPr>
          <a:xfrm>
            <a:off x="2667000" y="3886200"/>
            <a:ext cx="76200" cy="0"/>
          </a:xfrm>
          <a:prstGeom prst="line">
            <a:avLst/>
          </a:prstGeom>
          <a:ln w="9525" cap="flat" cmpd="sng">
            <a:solidFill>
              <a:schemeClr val="tx1"/>
            </a:solidFill>
            <a:prstDash val="solid"/>
            <a:headEnd type="none" w="med" len="med"/>
            <a:tailEnd type="none" w="med" len="med"/>
          </a:ln>
        </p:spPr>
      </p:sp>
      <p:sp>
        <p:nvSpPr>
          <p:cNvPr id="10249" name="Line 5"/>
          <p:cNvSpPr/>
          <p:nvPr/>
        </p:nvSpPr>
        <p:spPr>
          <a:xfrm flipH="1">
            <a:off x="2667000" y="3581400"/>
            <a:ext cx="0" cy="0"/>
          </a:xfrm>
          <a:prstGeom prst="line">
            <a:avLst/>
          </a:prstGeom>
          <a:ln w="9525" cap="flat" cmpd="sng">
            <a:solidFill>
              <a:schemeClr val="tx1"/>
            </a:solidFill>
            <a:prstDash val="solid"/>
            <a:headEnd type="none" w="med" len="med"/>
            <a:tailEnd type="none" w="med" len="med"/>
          </a:ln>
        </p:spPr>
      </p:sp>
      <p:sp>
        <p:nvSpPr>
          <p:cNvPr id="10250" name="Line 6"/>
          <p:cNvSpPr/>
          <p:nvPr/>
        </p:nvSpPr>
        <p:spPr>
          <a:xfrm>
            <a:off x="2667000" y="3124200"/>
            <a:ext cx="76200" cy="0"/>
          </a:xfrm>
          <a:prstGeom prst="line">
            <a:avLst/>
          </a:prstGeom>
          <a:ln w="9525" cap="flat" cmpd="sng">
            <a:solidFill>
              <a:schemeClr val="tx1"/>
            </a:solidFill>
            <a:prstDash val="solid"/>
            <a:headEnd type="none" w="med" len="med"/>
            <a:tailEnd type="none" w="med" len="med"/>
          </a:ln>
        </p:spPr>
      </p:sp>
      <p:sp>
        <p:nvSpPr>
          <p:cNvPr id="10251" name="Line 7"/>
          <p:cNvSpPr/>
          <p:nvPr/>
        </p:nvSpPr>
        <p:spPr>
          <a:xfrm>
            <a:off x="2667000" y="2743200"/>
            <a:ext cx="76200" cy="0"/>
          </a:xfrm>
          <a:prstGeom prst="line">
            <a:avLst/>
          </a:prstGeom>
          <a:ln w="9525" cap="flat" cmpd="sng">
            <a:solidFill>
              <a:schemeClr val="tx1"/>
            </a:solidFill>
            <a:prstDash val="solid"/>
            <a:headEnd type="none" w="med" len="med"/>
            <a:tailEnd type="none" w="med" len="med"/>
          </a:ln>
        </p:spPr>
      </p:sp>
      <p:sp>
        <p:nvSpPr>
          <p:cNvPr id="10252" name="Line 8"/>
          <p:cNvSpPr/>
          <p:nvPr/>
        </p:nvSpPr>
        <p:spPr>
          <a:xfrm>
            <a:off x="2667000" y="2362200"/>
            <a:ext cx="76200" cy="0"/>
          </a:xfrm>
          <a:prstGeom prst="line">
            <a:avLst/>
          </a:prstGeom>
          <a:ln w="9525" cap="flat" cmpd="sng">
            <a:solidFill>
              <a:schemeClr val="tx1"/>
            </a:solidFill>
            <a:prstDash val="solid"/>
            <a:headEnd type="none" w="med" len="med"/>
            <a:tailEnd type="none" w="med" len="med"/>
          </a:ln>
        </p:spPr>
      </p:sp>
      <p:sp>
        <p:nvSpPr>
          <p:cNvPr id="10253" name="Line 9"/>
          <p:cNvSpPr/>
          <p:nvPr/>
        </p:nvSpPr>
        <p:spPr>
          <a:xfrm>
            <a:off x="2667000" y="1981200"/>
            <a:ext cx="76200" cy="0"/>
          </a:xfrm>
          <a:prstGeom prst="line">
            <a:avLst/>
          </a:prstGeom>
          <a:ln w="9525" cap="flat" cmpd="sng">
            <a:solidFill>
              <a:schemeClr val="tx1"/>
            </a:solidFill>
            <a:prstDash val="solid"/>
            <a:headEnd type="none" w="med" len="med"/>
            <a:tailEnd type="none" w="med" len="med"/>
          </a:ln>
        </p:spPr>
      </p:sp>
      <p:sp>
        <p:nvSpPr>
          <p:cNvPr id="10254" name="Line 10"/>
          <p:cNvSpPr/>
          <p:nvPr/>
        </p:nvSpPr>
        <p:spPr>
          <a:xfrm>
            <a:off x="2667000" y="3505200"/>
            <a:ext cx="76200" cy="0"/>
          </a:xfrm>
          <a:prstGeom prst="line">
            <a:avLst/>
          </a:prstGeom>
          <a:ln w="9525" cap="flat" cmpd="sng">
            <a:solidFill>
              <a:schemeClr val="tx1"/>
            </a:solidFill>
            <a:prstDash val="solid"/>
            <a:headEnd type="none" w="med" len="med"/>
            <a:tailEnd type="none" w="med" len="med"/>
          </a:ln>
        </p:spPr>
      </p:sp>
      <p:sp>
        <p:nvSpPr>
          <p:cNvPr id="10255" name="Line 11"/>
          <p:cNvSpPr/>
          <p:nvPr/>
        </p:nvSpPr>
        <p:spPr>
          <a:xfrm rot="-5400000">
            <a:off x="3009900" y="4229100"/>
            <a:ext cx="76200" cy="0"/>
          </a:xfrm>
          <a:prstGeom prst="line">
            <a:avLst/>
          </a:prstGeom>
          <a:ln w="9525" cap="flat" cmpd="sng">
            <a:solidFill>
              <a:schemeClr val="tx1"/>
            </a:solidFill>
            <a:prstDash val="solid"/>
            <a:headEnd type="none" w="med" len="med"/>
            <a:tailEnd type="none" w="med" len="med"/>
          </a:ln>
        </p:spPr>
      </p:sp>
      <p:sp>
        <p:nvSpPr>
          <p:cNvPr id="10256" name="Line 12"/>
          <p:cNvSpPr/>
          <p:nvPr/>
        </p:nvSpPr>
        <p:spPr>
          <a:xfrm rot="-5400000">
            <a:off x="3390900" y="4229100"/>
            <a:ext cx="76200" cy="0"/>
          </a:xfrm>
          <a:prstGeom prst="line">
            <a:avLst/>
          </a:prstGeom>
          <a:ln w="9525" cap="flat" cmpd="sng">
            <a:solidFill>
              <a:schemeClr val="tx1"/>
            </a:solidFill>
            <a:prstDash val="solid"/>
            <a:headEnd type="none" w="med" len="med"/>
            <a:tailEnd type="none" w="med" len="med"/>
          </a:ln>
        </p:spPr>
      </p:sp>
      <p:sp>
        <p:nvSpPr>
          <p:cNvPr id="10257" name="Line 13"/>
          <p:cNvSpPr/>
          <p:nvPr/>
        </p:nvSpPr>
        <p:spPr>
          <a:xfrm rot="-5400000">
            <a:off x="3771900" y="4229100"/>
            <a:ext cx="76200" cy="0"/>
          </a:xfrm>
          <a:prstGeom prst="line">
            <a:avLst/>
          </a:prstGeom>
          <a:ln w="9525" cap="flat" cmpd="sng">
            <a:solidFill>
              <a:schemeClr val="tx1"/>
            </a:solidFill>
            <a:prstDash val="solid"/>
            <a:headEnd type="none" w="med" len="med"/>
            <a:tailEnd type="none" w="med" len="med"/>
          </a:ln>
        </p:spPr>
      </p:sp>
      <p:sp>
        <p:nvSpPr>
          <p:cNvPr id="10258" name="Line 14"/>
          <p:cNvSpPr/>
          <p:nvPr/>
        </p:nvSpPr>
        <p:spPr>
          <a:xfrm rot="-5400000">
            <a:off x="4152900" y="4229100"/>
            <a:ext cx="76200" cy="0"/>
          </a:xfrm>
          <a:prstGeom prst="line">
            <a:avLst/>
          </a:prstGeom>
          <a:ln w="9525" cap="flat" cmpd="sng">
            <a:solidFill>
              <a:schemeClr val="tx1"/>
            </a:solidFill>
            <a:prstDash val="solid"/>
            <a:headEnd type="none" w="med" len="med"/>
            <a:tailEnd type="none" w="med" len="med"/>
          </a:ln>
        </p:spPr>
      </p:sp>
      <p:sp>
        <p:nvSpPr>
          <p:cNvPr id="10259" name="Line 16"/>
          <p:cNvSpPr/>
          <p:nvPr/>
        </p:nvSpPr>
        <p:spPr>
          <a:xfrm rot="-5400000">
            <a:off x="4533900" y="4229100"/>
            <a:ext cx="76200" cy="0"/>
          </a:xfrm>
          <a:prstGeom prst="line">
            <a:avLst/>
          </a:prstGeom>
          <a:ln w="9525" cap="flat" cmpd="sng">
            <a:solidFill>
              <a:schemeClr val="tx1"/>
            </a:solidFill>
            <a:prstDash val="solid"/>
            <a:headEnd type="none" w="med" len="med"/>
            <a:tailEnd type="none" w="med" len="med"/>
          </a:ln>
        </p:spPr>
      </p:sp>
      <p:sp>
        <p:nvSpPr>
          <p:cNvPr id="10260" name="Line 17"/>
          <p:cNvSpPr/>
          <p:nvPr/>
        </p:nvSpPr>
        <p:spPr>
          <a:xfrm rot="-5400000">
            <a:off x="4914900" y="4229100"/>
            <a:ext cx="76200" cy="0"/>
          </a:xfrm>
          <a:prstGeom prst="line">
            <a:avLst/>
          </a:prstGeom>
          <a:ln w="9525" cap="flat" cmpd="sng">
            <a:solidFill>
              <a:schemeClr val="tx1"/>
            </a:solidFill>
            <a:prstDash val="solid"/>
            <a:headEnd type="none" w="med" len="med"/>
            <a:tailEnd type="none" w="med" len="med"/>
          </a:ln>
        </p:spPr>
      </p:sp>
      <p:sp>
        <p:nvSpPr>
          <p:cNvPr id="10261" name="Line 18"/>
          <p:cNvSpPr/>
          <p:nvPr/>
        </p:nvSpPr>
        <p:spPr>
          <a:xfrm rot="-5400000">
            <a:off x="5295900" y="4229100"/>
            <a:ext cx="76200" cy="0"/>
          </a:xfrm>
          <a:prstGeom prst="line">
            <a:avLst/>
          </a:prstGeom>
          <a:ln w="9525" cap="flat" cmpd="sng">
            <a:solidFill>
              <a:schemeClr val="tx1"/>
            </a:solidFill>
            <a:prstDash val="solid"/>
            <a:headEnd type="none" w="med" len="med"/>
            <a:tailEnd type="none" w="med" len="med"/>
          </a:ln>
        </p:spPr>
      </p:sp>
      <p:sp>
        <p:nvSpPr>
          <p:cNvPr id="10262" name="Line 19"/>
          <p:cNvSpPr/>
          <p:nvPr/>
        </p:nvSpPr>
        <p:spPr>
          <a:xfrm rot="-5400000">
            <a:off x="5676900" y="4229100"/>
            <a:ext cx="76200" cy="0"/>
          </a:xfrm>
          <a:prstGeom prst="line">
            <a:avLst/>
          </a:prstGeom>
          <a:ln w="9525" cap="flat" cmpd="sng">
            <a:solidFill>
              <a:schemeClr val="tx1"/>
            </a:solidFill>
            <a:prstDash val="solid"/>
            <a:headEnd type="none" w="med" len="med"/>
            <a:tailEnd type="none" w="med" len="med"/>
          </a:ln>
        </p:spPr>
      </p:sp>
      <p:sp>
        <p:nvSpPr>
          <p:cNvPr id="10263" name="Text Box 20"/>
          <p:cNvSpPr txBox="1"/>
          <p:nvPr/>
        </p:nvSpPr>
        <p:spPr>
          <a:xfrm>
            <a:off x="2438400" y="4343400"/>
            <a:ext cx="260350" cy="274638"/>
          </a:xfrm>
          <a:prstGeom prst="rect">
            <a:avLst/>
          </a:prstGeom>
          <a:noFill/>
          <a:ln w="9525">
            <a:noFill/>
          </a:ln>
        </p:spPr>
        <p:txBody>
          <a:bodyPr wrap="none">
            <a:spAutoFit/>
          </a:bodyPr>
          <a:p>
            <a:r>
              <a:rPr lang="en-US" altLang="zh-CN" sz="1200" dirty="0">
                <a:latin typeface="Times New Roman" panose="02020603050405020304" pitchFamily="18" charset="0"/>
                <a:ea typeface="宋体" panose="02010600030101010101" pitchFamily="2" charset="-122"/>
              </a:rPr>
              <a:t>0</a:t>
            </a:r>
            <a:endParaRPr lang="en-US" altLang="zh-CN" sz="1200" dirty="0">
              <a:latin typeface="Times New Roman" panose="02020603050405020304" pitchFamily="18" charset="0"/>
              <a:ea typeface="宋体" panose="02010600030101010101" pitchFamily="2" charset="-122"/>
            </a:endParaRPr>
          </a:p>
        </p:txBody>
      </p:sp>
      <p:sp>
        <p:nvSpPr>
          <p:cNvPr id="10264" name="Text Box 21"/>
          <p:cNvSpPr txBox="1"/>
          <p:nvPr/>
        </p:nvSpPr>
        <p:spPr>
          <a:xfrm>
            <a:off x="2895600" y="4343400"/>
            <a:ext cx="3155950" cy="274638"/>
          </a:xfrm>
          <a:prstGeom prst="rect">
            <a:avLst/>
          </a:prstGeom>
          <a:noFill/>
          <a:ln w="9525">
            <a:noFill/>
          </a:ln>
        </p:spPr>
        <p:txBody>
          <a:bodyPr wrap="none">
            <a:spAutoFit/>
          </a:bodyPr>
          <a:p>
            <a:r>
              <a:rPr lang="en-US" altLang="zh-CN" sz="1200" dirty="0">
                <a:latin typeface="Times New Roman" panose="02020603050405020304" pitchFamily="18" charset="0"/>
                <a:ea typeface="宋体" panose="02010600030101010101" pitchFamily="2" charset="-122"/>
              </a:rPr>
              <a:t>1         2        3        4         5        6        7        8    </a:t>
            </a:r>
            <a:endParaRPr lang="en-US" altLang="zh-CN" sz="1200" dirty="0">
              <a:latin typeface="Times New Roman" panose="02020603050405020304" pitchFamily="18" charset="0"/>
              <a:ea typeface="宋体" panose="02010600030101010101" pitchFamily="2" charset="-122"/>
            </a:endParaRPr>
          </a:p>
        </p:txBody>
      </p:sp>
      <p:sp>
        <p:nvSpPr>
          <p:cNvPr id="10265" name="Text Box 22"/>
          <p:cNvSpPr txBox="1"/>
          <p:nvPr/>
        </p:nvSpPr>
        <p:spPr>
          <a:xfrm rot="5400000" flipV="1">
            <a:off x="1073150" y="2659063"/>
            <a:ext cx="2546350" cy="274637"/>
          </a:xfrm>
          <a:prstGeom prst="rect">
            <a:avLst/>
          </a:prstGeom>
          <a:noFill/>
          <a:ln w="9525">
            <a:noFill/>
          </a:ln>
        </p:spPr>
        <p:txBody>
          <a:bodyPr wrap="none">
            <a:spAutoFit/>
          </a:bodyPr>
          <a:p>
            <a:r>
              <a:rPr lang="en-US" altLang="zh-CN" sz="1200" dirty="0">
                <a:latin typeface="Times New Roman" panose="02020603050405020304" pitchFamily="18" charset="0"/>
                <a:ea typeface="宋体" panose="02010600030101010101" pitchFamily="2" charset="-122"/>
              </a:rPr>
              <a:t>1         2        3        4         5        6        </a:t>
            </a:r>
            <a:endParaRPr lang="en-US" altLang="zh-CN" sz="1200" dirty="0">
              <a:latin typeface="Times New Roman" panose="02020603050405020304" pitchFamily="18" charset="0"/>
              <a:ea typeface="宋体" panose="02010600030101010101" pitchFamily="2" charset="-122"/>
            </a:endParaRPr>
          </a:p>
        </p:txBody>
      </p:sp>
      <p:sp>
        <p:nvSpPr>
          <p:cNvPr id="22551" name="Line 23"/>
          <p:cNvSpPr/>
          <p:nvPr/>
        </p:nvSpPr>
        <p:spPr>
          <a:xfrm>
            <a:off x="2514600" y="1066800"/>
            <a:ext cx="2133600" cy="4038600"/>
          </a:xfrm>
          <a:prstGeom prst="line">
            <a:avLst/>
          </a:prstGeom>
          <a:ln w="38100" cap="flat" cmpd="sng">
            <a:solidFill>
              <a:schemeClr val="tx1"/>
            </a:solidFill>
            <a:prstDash val="solid"/>
            <a:headEnd type="none" w="med" len="med"/>
            <a:tailEnd type="none" w="med" len="med"/>
          </a:ln>
        </p:spPr>
      </p:sp>
      <p:sp>
        <p:nvSpPr>
          <p:cNvPr id="22552" name="Text Box 24"/>
          <p:cNvSpPr txBox="1"/>
          <p:nvPr/>
        </p:nvSpPr>
        <p:spPr>
          <a:xfrm>
            <a:off x="5410200" y="4800600"/>
            <a:ext cx="387350"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⑴</a:t>
            </a:r>
            <a:endParaRPr lang="en-US" altLang="zh-CN" sz="1600" dirty="0">
              <a:latin typeface="Times New Roman" panose="02020603050405020304" pitchFamily="18" charset="0"/>
              <a:ea typeface="宋体" panose="02010600030101010101" pitchFamily="2" charset="-122"/>
            </a:endParaRPr>
          </a:p>
        </p:txBody>
      </p:sp>
      <p:sp>
        <p:nvSpPr>
          <p:cNvPr id="22553" name="Text Box 25"/>
          <p:cNvSpPr txBox="1"/>
          <p:nvPr/>
        </p:nvSpPr>
        <p:spPr>
          <a:xfrm>
            <a:off x="6400800" y="4419600"/>
            <a:ext cx="387350"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⑵</a:t>
            </a:r>
            <a:endParaRPr lang="en-US" altLang="zh-CN" sz="1600" dirty="0">
              <a:latin typeface="Times New Roman" panose="02020603050405020304" pitchFamily="18" charset="0"/>
              <a:ea typeface="宋体" panose="02010600030101010101" pitchFamily="2" charset="-122"/>
            </a:endParaRPr>
          </a:p>
        </p:txBody>
      </p:sp>
      <p:sp>
        <p:nvSpPr>
          <p:cNvPr id="22554" name="Text Box 26"/>
          <p:cNvSpPr txBox="1"/>
          <p:nvPr/>
        </p:nvSpPr>
        <p:spPr>
          <a:xfrm>
            <a:off x="4191000" y="4724400"/>
            <a:ext cx="387350"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⑶</a:t>
            </a:r>
            <a:endParaRPr lang="en-US" altLang="zh-CN" sz="1600" dirty="0">
              <a:latin typeface="Times New Roman" panose="02020603050405020304" pitchFamily="18" charset="0"/>
              <a:ea typeface="宋体" panose="02010600030101010101" pitchFamily="2" charset="-122"/>
            </a:endParaRPr>
          </a:p>
        </p:txBody>
      </p:sp>
      <p:sp>
        <p:nvSpPr>
          <p:cNvPr id="22555" name="Line 27"/>
          <p:cNvSpPr/>
          <p:nvPr/>
        </p:nvSpPr>
        <p:spPr>
          <a:xfrm>
            <a:off x="2438400" y="2057400"/>
            <a:ext cx="3276600" cy="2743200"/>
          </a:xfrm>
          <a:prstGeom prst="line">
            <a:avLst/>
          </a:prstGeom>
          <a:ln w="38100" cap="flat" cmpd="sng">
            <a:solidFill>
              <a:schemeClr val="tx1"/>
            </a:solidFill>
            <a:prstDash val="solid"/>
            <a:headEnd type="none" w="med" len="med"/>
            <a:tailEnd type="none" w="med" len="med"/>
          </a:ln>
        </p:spPr>
      </p:sp>
      <p:sp>
        <p:nvSpPr>
          <p:cNvPr id="22556" name="Text Box 28"/>
          <p:cNvSpPr txBox="1"/>
          <p:nvPr/>
        </p:nvSpPr>
        <p:spPr>
          <a:xfrm>
            <a:off x="4038600" y="2209800"/>
            <a:ext cx="330200"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sp>
        <p:nvSpPr>
          <p:cNvPr id="10272" name="Line 31"/>
          <p:cNvSpPr/>
          <p:nvPr/>
        </p:nvSpPr>
        <p:spPr>
          <a:xfrm rot="-5400000">
            <a:off x="6057900" y="4229100"/>
            <a:ext cx="76200" cy="0"/>
          </a:xfrm>
          <a:prstGeom prst="line">
            <a:avLst/>
          </a:prstGeom>
          <a:ln w="9525" cap="flat" cmpd="sng">
            <a:solidFill>
              <a:schemeClr val="tx1"/>
            </a:solidFill>
            <a:prstDash val="solid"/>
            <a:headEnd type="none" w="med" len="med"/>
            <a:tailEnd type="none" w="med" len="med"/>
          </a:ln>
        </p:spPr>
      </p:sp>
      <p:sp>
        <p:nvSpPr>
          <p:cNvPr id="22562" name="Line 34"/>
          <p:cNvSpPr/>
          <p:nvPr/>
        </p:nvSpPr>
        <p:spPr>
          <a:xfrm>
            <a:off x="2667000" y="2209800"/>
            <a:ext cx="838200" cy="762000"/>
          </a:xfrm>
          <a:prstGeom prst="line">
            <a:avLst/>
          </a:prstGeom>
          <a:ln w="28575" cap="flat" cmpd="sng">
            <a:solidFill>
              <a:srgbClr val="0000FF"/>
            </a:solidFill>
            <a:prstDash val="solid"/>
            <a:headEnd type="none" w="med" len="med"/>
            <a:tailEnd type="none" w="med" len="med"/>
          </a:ln>
        </p:spPr>
      </p:sp>
      <p:sp>
        <p:nvSpPr>
          <p:cNvPr id="22566" name="Line 38"/>
          <p:cNvSpPr/>
          <p:nvPr/>
        </p:nvSpPr>
        <p:spPr>
          <a:xfrm flipH="1">
            <a:off x="2667000" y="2743200"/>
            <a:ext cx="609600" cy="609600"/>
          </a:xfrm>
          <a:prstGeom prst="line">
            <a:avLst/>
          </a:prstGeom>
          <a:ln w="9525" cap="flat" cmpd="sng">
            <a:solidFill>
              <a:schemeClr val="tx1"/>
            </a:solidFill>
            <a:prstDash val="solid"/>
            <a:headEnd type="none" w="med" len="med"/>
            <a:tailEnd type="none" w="med" len="med"/>
          </a:ln>
        </p:spPr>
      </p:sp>
      <p:sp>
        <p:nvSpPr>
          <p:cNvPr id="22567" name="Line 39"/>
          <p:cNvSpPr/>
          <p:nvPr/>
        </p:nvSpPr>
        <p:spPr>
          <a:xfrm flipH="1">
            <a:off x="2667000" y="2895600"/>
            <a:ext cx="762000" cy="762000"/>
          </a:xfrm>
          <a:prstGeom prst="line">
            <a:avLst/>
          </a:prstGeom>
          <a:ln w="9525" cap="flat" cmpd="sng">
            <a:solidFill>
              <a:schemeClr val="tx1"/>
            </a:solidFill>
            <a:prstDash val="solid"/>
            <a:headEnd type="none" w="med" len="med"/>
            <a:tailEnd type="none" w="med" len="med"/>
          </a:ln>
        </p:spPr>
      </p:sp>
      <p:sp>
        <p:nvSpPr>
          <p:cNvPr id="22568" name="Line 40"/>
          <p:cNvSpPr/>
          <p:nvPr/>
        </p:nvSpPr>
        <p:spPr>
          <a:xfrm flipH="1">
            <a:off x="2667000" y="3048000"/>
            <a:ext cx="914400" cy="914400"/>
          </a:xfrm>
          <a:prstGeom prst="line">
            <a:avLst/>
          </a:prstGeom>
          <a:ln w="9525" cap="flat" cmpd="sng">
            <a:solidFill>
              <a:schemeClr val="tx1"/>
            </a:solidFill>
            <a:prstDash val="solid"/>
            <a:headEnd type="none" w="med" len="med"/>
            <a:tailEnd type="none" w="med" len="med"/>
          </a:ln>
        </p:spPr>
      </p:sp>
      <p:sp>
        <p:nvSpPr>
          <p:cNvPr id="22569" name="Line 41"/>
          <p:cNvSpPr/>
          <p:nvPr/>
        </p:nvSpPr>
        <p:spPr>
          <a:xfrm flipH="1">
            <a:off x="2667000" y="3276600"/>
            <a:ext cx="990600" cy="990600"/>
          </a:xfrm>
          <a:prstGeom prst="line">
            <a:avLst/>
          </a:prstGeom>
          <a:ln w="9525" cap="flat" cmpd="sng">
            <a:solidFill>
              <a:schemeClr val="tx1"/>
            </a:solidFill>
            <a:prstDash val="solid"/>
            <a:headEnd type="none" w="med" len="med"/>
            <a:tailEnd type="none" w="med" len="med"/>
          </a:ln>
        </p:spPr>
      </p:sp>
      <p:sp>
        <p:nvSpPr>
          <p:cNvPr id="22570" name="Line 42"/>
          <p:cNvSpPr/>
          <p:nvPr/>
        </p:nvSpPr>
        <p:spPr>
          <a:xfrm flipH="1">
            <a:off x="2971800" y="3505200"/>
            <a:ext cx="762000" cy="762000"/>
          </a:xfrm>
          <a:prstGeom prst="line">
            <a:avLst/>
          </a:prstGeom>
          <a:ln w="9525" cap="flat" cmpd="sng">
            <a:solidFill>
              <a:schemeClr val="tx1"/>
            </a:solidFill>
            <a:prstDash val="solid"/>
            <a:headEnd type="none" w="med" len="med"/>
            <a:tailEnd type="none" w="med" len="med"/>
          </a:ln>
        </p:spPr>
      </p:sp>
      <p:sp>
        <p:nvSpPr>
          <p:cNvPr id="22571" name="Line 43"/>
          <p:cNvSpPr/>
          <p:nvPr/>
        </p:nvSpPr>
        <p:spPr>
          <a:xfrm flipH="1">
            <a:off x="3276600" y="3657600"/>
            <a:ext cx="609600" cy="609600"/>
          </a:xfrm>
          <a:prstGeom prst="line">
            <a:avLst/>
          </a:prstGeom>
          <a:ln w="9525" cap="flat" cmpd="sng">
            <a:solidFill>
              <a:schemeClr val="tx1"/>
            </a:solidFill>
            <a:prstDash val="solid"/>
            <a:headEnd type="none" w="med" len="med"/>
            <a:tailEnd type="none" w="med" len="med"/>
          </a:ln>
        </p:spPr>
      </p:sp>
      <p:sp>
        <p:nvSpPr>
          <p:cNvPr id="22572" name="Line 44"/>
          <p:cNvSpPr/>
          <p:nvPr/>
        </p:nvSpPr>
        <p:spPr>
          <a:xfrm flipH="1">
            <a:off x="3581400" y="3886200"/>
            <a:ext cx="381000" cy="381000"/>
          </a:xfrm>
          <a:prstGeom prst="line">
            <a:avLst/>
          </a:prstGeom>
          <a:ln w="9525" cap="flat" cmpd="sng">
            <a:solidFill>
              <a:schemeClr val="tx1"/>
            </a:solidFill>
            <a:prstDash val="solid"/>
            <a:headEnd type="none" w="med" len="med"/>
            <a:tailEnd type="none" w="med" len="med"/>
          </a:ln>
        </p:spPr>
      </p:sp>
      <p:sp>
        <p:nvSpPr>
          <p:cNvPr id="22573" name="Line 45"/>
          <p:cNvSpPr/>
          <p:nvPr/>
        </p:nvSpPr>
        <p:spPr>
          <a:xfrm flipH="1">
            <a:off x="3886200" y="4038600"/>
            <a:ext cx="228600" cy="228600"/>
          </a:xfrm>
          <a:prstGeom prst="line">
            <a:avLst/>
          </a:prstGeom>
          <a:ln w="9525" cap="flat" cmpd="sng">
            <a:solidFill>
              <a:schemeClr val="tx1"/>
            </a:solidFill>
            <a:prstDash val="solid"/>
            <a:headEnd type="none" w="med" len="med"/>
            <a:tailEnd type="none" w="med" len="med"/>
          </a:ln>
        </p:spPr>
      </p:sp>
      <p:sp>
        <p:nvSpPr>
          <p:cNvPr id="10282" name="Rectangle 46"/>
          <p:cNvSpPr/>
          <p:nvPr/>
        </p:nvSpPr>
        <p:spPr>
          <a:xfrm>
            <a:off x="2362200" y="762000"/>
            <a:ext cx="381000" cy="304800"/>
          </a:xfrm>
          <a:prstGeom prst="rect">
            <a:avLst/>
          </a:prstGeom>
          <a:noFill/>
          <a:ln w="9525">
            <a:noFill/>
          </a:ln>
        </p:spPr>
        <p:txBody>
          <a:bodyPr>
            <a:spAutoFit/>
          </a:bodyPr>
          <a:p>
            <a:r>
              <a:rPr lang="en-US" altLang="zh-CN" sz="1400" dirty="0">
                <a:latin typeface="Times New Roman" panose="02020603050405020304" pitchFamily="18" charset="0"/>
                <a:ea typeface="宋体" panose="02010600030101010101" pitchFamily="2" charset="-122"/>
              </a:rPr>
              <a:t>x</a:t>
            </a:r>
            <a:r>
              <a:rPr lang="en-US" altLang="zh-CN" sz="1400" baseline="-30000" dirty="0">
                <a:latin typeface="Times New Roman" panose="02020603050405020304" pitchFamily="18" charset="0"/>
                <a:ea typeface="宋体" panose="02010600030101010101" pitchFamily="2" charset="-122"/>
              </a:rPr>
              <a:t>2</a:t>
            </a:r>
            <a:r>
              <a:rPr lang="en-US" altLang="zh-CN" sz="1400"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0283" name="Rectangle 47"/>
          <p:cNvSpPr/>
          <p:nvPr/>
        </p:nvSpPr>
        <p:spPr>
          <a:xfrm>
            <a:off x="6934200" y="4191000"/>
            <a:ext cx="381000" cy="304800"/>
          </a:xfrm>
          <a:prstGeom prst="rect">
            <a:avLst/>
          </a:prstGeom>
          <a:noFill/>
          <a:ln w="9525">
            <a:noFill/>
          </a:ln>
        </p:spPr>
        <p:txBody>
          <a:bodyPr>
            <a:spAutoFit/>
          </a:bodyPr>
          <a:p>
            <a:pPr algn="just"/>
            <a:r>
              <a:rPr lang="en-US" altLang="zh-CN" sz="1400" dirty="0">
                <a:latin typeface="Times New Roman" panose="02020603050405020304" pitchFamily="18" charset="0"/>
                <a:ea typeface="宋体" panose="02010600030101010101" pitchFamily="2" charset="-122"/>
              </a:rPr>
              <a:t>x</a:t>
            </a:r>
            <a:r>
              <a:rPr lang="en-US" altLang="zh-CN" sz="1400" baseline="-30000" dirty="0">
                <a:latin typeface="Times New Roman" panose="02020603050405020304" pitchFamily="18" charset="0"/>
                <a:ea typeface="宋体" panose="02010600030101010101" pitchFamily="2" charset="-122"/>
              </a:rPr>
              <a:t>1</a:t>
            </a:r>
            <a:endParaRPr lang="en-US" altLang="zh-CN" dirty="0">
              <a:latin typeface="Times New Roman" panose="02020603050405020304" pitchFamily="18" charset="0"/>
              <a:ea typeface="宋体" panose="02010600030101010101" pitchFamily="2" charset="-122"/>
            </a:endParaRPr>
          </a:p>
        </p:txBody>
      </p:sp>
      <p:sp>
        <p:nvSpPr>
          <p:cNvPr id="10284" name="Line 49"/>
          <p:cNvSpPr/>
          <p:nvPr/>
        </p:nvSpPr>
        <p:spPr>
          <a:xfrm rot="-5400000">
            <a:off x="6362700" y="4229100"/>
            <a:ext cx="76200" cy="0"/>
          </a:xfrm>
          <a:prstGeom prst="line">
            <a:avLst/>
          </a:prstGeom>
          <a:ln w="9525" cap="flat" cmpd="sng">
            <a:solidFill>
              <a:schemeClr val="tx1"/>
            </a:solidFill>
            <a:prstDash val="solid"/>
            <a:headEnd type="none" w="med" len="med"/>
            <a:tailEnd type="none" w="med" len="med"/>
          </a:ln>
        </p:spPr>
      </p:sp>
      <p:sp>
        <p:nvSpPr>
          <p:cNvPr id="10285" name="Line 50"/>
          <p:cNvSpPr/>
          <p:nvPr/>
        </p:nvSpPr>
        <p:spPr>
          <a:xfrm>
            <a:off x="2667000" y="1676400"/>
            <a:ext cx="76200" cy="0"/>
          </a:xfrm>
          <a:prstGeom prst="line">
            <a:avLst/>
          </a:prstGeom>
          <a:ln w="9525" cap="flat" cmpd="sng">
            <a:solidFill>
              <a:schemeClr val="tx1"/>
            </a:solidFill>
            <a:prstDash val="solid"/>
            <a:headEnd type="none" w="med" len="med"/>
            <a:tailEnd type="none" w="med" len="med"/>
          </a:ln>
        </p:spPr>
      </p:sp>
      <p:sp>
        <p:nvSpPr>
          <p:cNvPr id="10286" name="Line 51"/>
          <p:cNvSpPr/>
          <p:nvPr/>
        </p:nvSpPr>
        <p:spPr>
          <a:xfrm flipV="1">
            <a:off x="2667000" y="762000"/>
            <a:ext cx="0" cy="4419600"/>
          </a:xfrm>
          <a:prstGeom prst="line">
            <a:avLst/>
          </a:prstGeom>
          <a:ln w="38100" cap="flat" cmpd="sng">
            <a:solidFill>
              <a:schemeClr val="tx1"/>
            </a:solidFill>
            <a:prstDash val="solid"/>
            <a:headEnd type="none" w="med" len="med"/>
            <a:tailEnd type="triangle" w="med" len="med"/>
          </a:ln>
        </p:spPr>
      </p:sp>
      <p:sp>
        <p:nvSpPr>
          <p:cNvPr id="10287" name="Line 53"/>
          <p:cNvSpPr/>
          <p:nvPr/>
        </p:nvSpPr>
        <p:spPr>
          <a:xfrm>
            <a:off x="2667000" y="1371600"/>
            <a:ext cx="76200" cy="0"/>
          </a:xfrm>
          <a:prstGeom prst="line">
            <a:avLst/>
          </a:prstGeom>
          <a:ln w="9525" cap="flat" cmpd="sng">
            <a:solidFill>
              <a:schemeClr val="tx1"/>
            </a:solidFill>
            <a:prstDash val="solid"/>
            <a:headEnd type="none" w="med" len="med"/>
            <a:tailEnd type="none" w="med" len="med"/>
          </a:ln>
        </p:spPr>
      </p:sp>
      <p:sp>
        <p:nvSpPr>
          <p:cNvPr id="22582" name="Line 54"/>
          <p:cNvSpPr/>
          <p:nvPr/>
        </p:nvSpPr>
        <p:spPr>
          <a:xfrm flipH="1" flipV="1">
            <a:off x="2209800" y="2133600"/>
            <a:ext cx="4495800" cy="2286000"/>
          </a:xfrm>
          <a:prstGeom prst="line">
            <a:avLst/>
          </a:prstGeom>
          <a:ln w="38100" cap="flat" cmpd="sng">
            <a:solidFill>
              <a:schemeClr val="tx1"/>
            </a:solidFill>
            <a:prstDash val="solid"/>
            <a:headEnd type="none" w="med" len="med"/>
            <a:tailEnd type="none" w="med" len="med"/>
          </a:ln>
        </p:spPr>
      </p:sp>
      <p:sp>
        <p:nvSpPr>
          <p:cNvPr id="22583" name="Line 55"/>
          <p:cNvSpPr/>
          <p:nvPr/>
        </p:nvSpPr>
        <p:spPr>
          <a:xfrm flipV="1">
            <a:off x="2667000" y="2590800"/>
            <a:ext cx="457200" cy="457200"/>
          </a:xfrm>
          <a:prstGeom prst="line">
            <a:avLst/>
          </a:prstGeom>
          <a:ln w="9525" cap="flat" cmpd="sng">
            <a:solidFill>
              <a:schemeClr val="tx1"/>
            </a:solidFill>
            <a:prstDash val="solid"/>
            <a:headEnd type="none" w="med" len="med"/>
            <a:tailEnd type="none" w="med" len="med"/>
          </a:ln>
        </p:spPr>
      </p:sp>
      <p:sp>
        <p:nvSpPr>
          <p:cNvPr id="22584" name="Line 56"/>
          <p:cNvSpPr/>
          <p:nvPr/>
        </p:nvSpPr>
        <p:spPr>
          <a:xfrm flipV="1">
            <a:off x="2667000" y="2514600"/>
            <a:ext cx="304800" cy="304800"/>
          </a:xfrm>
          <a:prstGeom prst="line">
            <a:avLst/>
          </a:prstGeom>
          <a:ln w="9525" cap="flat" cmpd="sng">
            <a:solidFill>
              <a:schemeClr val="tx1"/>
            </a:solidFill>
            <a:prstDash val="solid"/>
            <a:headEnd type="none" w="med" len="med"/>
            <a:tailEnd type="none" w="med" len="med"/>
          </a:ln>
        </p:spPr>
      </p:sp>
      <p:sp>
        <p:nvSpPr>
          <p:cNvPr id="22585" name="Line 57"/>
          <p:cNvSpPr/>
          <p:nvPr/>
        </p:nvSpPr>
        <p:spPr>
          <a:xfrm flipV="1">
            <a:off x="2667000" y="2438400"/>
            <a:ext cx="152400" cy="152400"/>
          </a:xfrm>
          <a:prstGeom prst="line">
            <a:avLst/>
          </a:prstGeom>
          <a:ln w="9525" cap="flat" cmpd="sng">
            <a:solidFill>
              <a:schemeClr val="tx1"/>
            </a:solidFill>
            <a:prstDash val="solid"/>
            <a:headEnd type="none" w="med" len="med"/>
            <a:tailEnd type="none" w="med" len="med"/>
          </a:ln>
        </p:spPr>
      </p:sp>
      <p:sp>
        <p:nvSpPr>
          <p:cNvPr id="22586" name="Text Box 58"/>
          <p:cNvSpPr txBox="1"/>
          <p:nvPr/>
        </p:nvSpPr>
        <p:spPr>
          <a:xfrm>
            <a:off x="3581400" y="1828800"/>
            <a:ext cx="319088"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B</a:t>
            </a:r>
            <a:endParaRPr lang="en-US" altLang="zh-CN" sz="1600" dirty="0">
              <a:latin typeface="Times New Roman" panose="02020603050405020304" pitchFamily="18" charset="0"/>
              <a:ea typeface="宋体" panose="02010600030101010101" pitchFamily="2" charset="-122"/>
            </a:endParaRPr>
          </a:p>
        </p:txBody>
      </p:sp>
      <p:sp>
        <p:nvSpPr>
          <p:cNvPr id="22587" name="Line 59"/>
          <p:cNvSpPr/>
          <p:nvPr/>
        </p:nvSpPr>
        <p:spPr>
          <a:xfrm flipV="1">
            <a:off x="5791200" y="3657600"/>
            <a:ext cx="228600" cy="304800"/>
          </a:xfrm>
          <a:prstGeom prst="line">
            <a:avLst/>
          </a:prstGeom>
          <a:ln w="9525" cap="flat" cmpd="sng">
            <a:solidFill>
              <a:schemeClr val="tx1"/>
            </a:solidFill>
            <a:prstDash val="solid"/>
            <a:headEnd type="none" w="med" len="med"/>
            <a:tailEnd type="triangle" w="med" len="med"/>
          </a:ln>
        </p:spPr>
      </p:sp>
      <p:sp>
        <p:nvSpPr>
          <p:cNvPr id="22589" name="Line 61"/>
          <p:cNvSpPr/>
          <p:nvPr/>
        </p:nvSpPr>
        <p:spPr>
          <a:xfrm flipH="1">
            <a:off x="4419600" y="3657600"/>
            <a:ext cx="381000" cy="457200"/>
          </a:xfrm>
          <a:prstGeom prst="line">
            <a:avLst/>
          </a:prstGeom>
          <a:ln w="9525" cap="flat" cmpd="sng">
            <a:solidFill>
              <a:schemeClr val="tx1"/>
            </a:solidFill>
            <a:prstDash val="solid"/>
            <a:headEnd type="triangle" w="med" len="med"/>
            <a:tailEnd type="triangle" w="med" len="med"/>
          </a:ln>
        </p:spPr>
      </p:sp>
      <p:sp>
        <p:nvSpPr>
          <p:cNvPr id="22590" name="Line 62"/>
          <p:cNvSpPr/>
          <p:nvPr/>
        </p:nvSpPr>
        <p:spPr>
          <a:xfrm flipH="1">
            <a:off x="5638800" y="3962400"/>
            <a:ext cx="152400" cy="228600"/>
          </a:xfrm>
          <a:prstGeom prst="line">
            <a:avLst/>
          </a:prstGeom>
          <a:ln w="9525" cap="flat" cmpd="sng">
            <a:solidFill>
              <a:schemeClr val="tx1"/>
            </a:solidFill>
            <a:prstDash val="solid"/>
            <a:headEnd type="none" w="med" len="med"/>
            <a:tailEnd type="triangle" w="med" len="med"/>
          </a:ln>
        </p:spPr>
      </p:sp>
      <p:graphicFrame>
        <p:nvGraphicFramePr>
          <p:cNvPr id="22591" name="Object 63"/>
          <p:cNvGraphicFramePr/>
          <p:nvPr/>
        </p:nvGraphicFramePr>
        <p:xfrm>
          <a:off x="4191000" y="3733800"/>
          <a:ext cx="334963" cy="381000"/>
        </p:xfrm>
        <a:graphic>
          <a:graphicData uri="http://schemas.openxmlformats.org/presentationml/2006/ole">
            <mc:AlternateContent xmlns:mc="http://schemas.openxmlformats.org/markup-compatibility/2006">
              <mc:Choice xmlns:v="urn:schemas-microsoft-com:vml" Requires="v">
                <p:oleObj spid="_x0000_s3111" name="" r:id="rId1" imgW="203200" imgH="228600" progId="Equation.3">
                  <p:embed/>
                </p:oleObj>
              </mc:Choice>
              <mc:Fallback>
                <p:oleObj name="" r:id="rId1" imgW="203200" imgH="228600" progId="Equation.3">
                  <p:embed/>
                  <p:pic>
                    <p:nvPicPr>
                      <p:cNvPr id="0" name="图片 3110"/>
                      <p:cNvPicPr/>
                      <p:nvPr/>
                    </p:nvPicPr>
                    <p:blipFill>
                      <a:blip r:embed="rId2"/>
                      <a:stretch>
                        <a:fillRect/>
                      </a:stretch>
                    </p:blipFill>
                    <p:spPr>
                      <a:xfrm>
                        <a:off x="4191000" y="3733800"/>
                        <a:ext cx="334963" cy="381000"/>
                      </a:xfrm>
                      <a:prstGeom prst="rect">
                        <a:avLst/>
                      </a:prstGeom>
                      <a:noFill/>
                      <a:ln w="38100">
                        <a:noFill/>
                        <a:miter/>
                      </a:ln>
                    </p:spPr>
                  </p:pic>
                </p:oleObj>
              </mc:Fallback>
            </mc:AlternateContent>
          </a:graphicData>
        </a:graphic>
      </p:graphicFrame>
      <p:graphicFrame>
        <p:nvGraphicFramePr>
          <p:cNvPr id="22593" name="Object 65"/>
          <p:cNvGraphicFramePr/>
          <p:nvPr/>
        </p:nvGraphicFramePr>
        <p:xfrm>
          <a:off x="4419600" y="3352800"/>
          <a:ext cx="334963" cy="381000"/>
        </p:xfrm>
        <a:graphic>
          <a:graphicData uri="http://schemas.openxmlformats.org/presentationml/2006/ole">
            <mc:AlternateContent xmlns:mc="http://schemas.openxmlformats.org/markup-compatibility/2006">
              <mc:Choice xmlns:v="urn:schemas-microsoft-com:vml" Requires="v">
                <p:oleObj spid="_x0000_s3114" name="" r:id="rId3" imgW="203200" imgH="228600" progId="Equation.3">
                  <p:embed/>
                </p:oleObj>
              </mc:Choice>
              <mc:Fallback>
                <p:oleObj name="" r:id="rId3" imgW="203200" imgH="228600" progId="Equation.3">
                  <p:embed/>
                  <p:pic>
                    <p:nvPicPr>
                      <p:cNvPr id="0" name="图片 3113"/>
                      <p:cNvPicPr/>
                      <p:nvPr/>
                    </p:nvPicPr>
                    <p:blipFill>
                      <a:blip r:embed="rId4"/>
                      <a:stretch>
                        <a:fillRect/>
                      </a:stretch>
                    </p:blipFill>
                    <p:spPr>
                      <a:xfrm>
                        <a:off x="4419600" y="3352800"/>
                        <a:ext cx="334963" cy="381000"/>
                      </a:xfrm>
                      <a:prstGeom prst="rect">
                        <a:avLst/>
                      </a:prstGeom>
                      <a:noFill/>
                      <a:ln w="38100">
                        <a:noFill/>
                        <a:miter/>
                      </a:ln>
                    </p:spPr>
                  </p:pic>
                </p:oleObj>
              </mc:Fallback>
            </mc:AlternateContent>
          </a:graphicData>
        </a:graphic>
      </p:graphicFrame>
      <p:graphicFrame>
        <p:nvGraphicFramePr>
          <p:cNvPr id="22595" name="Object 67"/>
          <p:cNvGraphicFramePr/>
          <p:nvPr/>
        </p:nvGraphicFramePr>
        <p:xfrm>
          <a:off x="5638800" y="3352800"/>
          <a:ext cx="352425" cy="400050"/>
        </p:xfrm>
        <a:graphic>
          <a:graphicData uri="http://schemas.openxmlformats.org/presentationml/2006/ole">
            <mc:AlternateContent xmlns:mc="http://schemas.openxmlformats.org/markup-compatibility/2006">
              <mc:Choice xmlns:v="urn:schemas-microsoft-com:vml" Requires="v">
                <p:oleObj spid="_x0000_s3110" name="" r:id="rId5" imgW="203200" imgH="228600" progId="Equation.3">
                  <p:embed/>
                </p:oleObj>
              </mc:Choice>
              <mc:Fallback>
                <p:oleObj name="" r:id="rId5" imgW="203200" imgH="228600" progId="Equation.3">
                  <p:embed/>
                  <p:pic>
                    <p:nvPicPr>
                      <p:cNvPr id="0" name="图片 3109"/>
                      <p:cNvPicPr/>
                      <p:nvPr/>
                    </p:nvPicPr>
                    <p:blipFill>
                      <a:blip r:embed="rId6"/>
                      <a:stretch>
                        <a:fillRect/>
                      </a:stretch>
                    </p:blipFill>
                    <p:spPr>
                      <a:xfrm>
                        <a:off x="5638800" y="3352800"/>
                        <a:ext cx="352425" cy="400050"/>
                      </a:xfrm>
                      <a:prstGeom prst="rect">
                        <a:avLst/>
                      </a:prstGeom>
                      <a:noFill/>
                      <a:ln w="38100">
                        <a:noFill/>
                        <a:miter/>
                      </a:ln>
                    </p:spPr>
                  </p:pic>
                </p:oleObj>
              </mc:Fallback>
            </mc:AlternateContent>
          </a:graphicData>
        </a:graphic>
      </p:graphicFrame>
      <p:graphicFrame>
        <p:nvGraphicFramePr>
          <p:cNvPr id="22597" name="Object 69"/>
          <p:cNvGraphicFramePr/>
          <p:nvPr/>
        </p:nvGraphicFramePr>
        <p:xfrm>
          <a:off x="5334000" y="3810000"/>
          <a:ext cx="352425" cy="400050"/>
        </p:xfrm>
        <a:graphic>
          <a:graphicData uri="http://schemas.openxmlformats.org/presentationml/2006/ole">
            <mc:AlternateContent xmlns:mc="http://schemas.openxmlformats.org/markup-compatibility/2006">
              <mc:Choice xmlns:v="urn:schemas-microsoft-com:vml" Requires="v">
                <p:oleObj spid="_x0000_s3115" name="" r:id="rId7" imgW="203200" imgH="228600" progId="Equation.3">
                  <p:embed/>
                </p:oleObj>
              </mc:Choice>
              <mc:Fallback>
                <p:oleObj name="" r:id="rId7" imgW="203200" imgH="228600" progId="Equation.3">
                  <p:embed/>
                  <p:pic>
                    <p:nvPicPr>
                      <p:cNvPr id="0" name="图片 3114"/>
                      <p:cNvPicPr/>
                      <p:nvPr/>
                    </p:nvPicPr>
                    <p:blipFill>
                      <a:blip r:embed="rId8"/>
                      <a:stretch>
                        <a:fillRect/>
                      </a:stretch>
                    </p:blipFill>
                    <p:spPr>
                      <a:xfrm>
                        <a:off x="5334000" y="3810000"/>
                        <a:ext cx="352425" cy="400050"/>
                      </a:xfrm>
                      <a:prstGeom prst="rect">
                        <a:avLst/>
                      </a:prstGeom>
                      <a:noFill/>
                      <a:ln w="38100">
                        <a:noFill/>
                        <a:miter/>
                      </a:ln>
                    </p:spPr>
                  </p:pic>
                </p:oleObj>
              </mc:Fallback>
            </mc:AlternateContent>
          </a:graphicData>
        </a:graphic>
      </p:graphicFrame>
      <p:sp>
        <p:nvSpPr>
          <p:cNvPr id="22599" name="Line 71"/>
          <p:cNvSpPr/>
          <p:nvPr/>
        </p:nvSpPr>
        <p:spPr>
          <a:xfrm flipV="1">
            <a:off x="3505200" y="2438400"/>
            <a:ext cx="533400" cy="533400"/>
          </a:xfrm>
          <a:prstGeom prst="line">
            <a:avLst/>
          </a:prstGeom>
          <a:ln w="9525" cap="flat" cmpd="sng">
            <a:solidFill>
              <a:schemeClr val="tx1"/>
            </a:solidFill>
            <a:prstDash val="solid"/>
            <a:headEnd type="none" w="med" len="med"/>
            <a:tailEnd type="none" w="med" len="med"/>
          </a:ln>
        </p:spPr>
      </p:sp>
      <p:sp>
        <p:nvSpPr>
          <p:cNvPr id="22600" name="Line 72"/>
          <p:cNvSpPr/>
          <p:nvPr/>
        </p:nvSpPr>
        <p:spPr>
          <a:xfrm flipV="1">
            <a:off x="3124200" y="2057400"/>
            <a:ext cx="533400" cy="533400"/>
          </a:xfrm>
          <a:prstGeom prst="line">
            <a:avLst/>
          </a:prstGeom>
          <a:ln w="9525" cap="flat" cmpd="sng">
            <a:solidFill>
              <a:schemeClr val="tx1"/>
            </a:solidFill>
            <a:prstDash val="solid"/>
            <a:headEnd type="none" w="med" len="med"/>
            <a:tailEnd type="none" w="med" len="med"/>
          </a:ln>
        </p:spPr>
      </p:sp>
      <p:sp>
        <p:nvSpPr>
          <p:cNvPr id="22601" name="Text Box 73"/>
          <p:cNvSpPr txBox="1"/>
          <p:nvPr/>
        </p:nvSpPr>
        <p:spPr>
          <a:xfrm>
            <a:off x="3200400" y="1371600"/>
            <a:ext cx="319088"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C</a:t>
            </a:r>
            <a:endParaRPr lang="en-US" altLang="zh-CN" sz="1600" dirty="0">
              <a:latin typeface="Times New Roman" panose="02020603050405020304" pitchFamily="18" charset="0"/>
              <a:ea typeface="宋体" panose="02010600030101010101" pitchFamily="2" charset="-122"/>
            </a:endParaRPr>
          </a:p>
        </p:txBody>
      </p:sp>
      <p:sp>
        <p:nvSpPr>
          <p:cNvPr id="22602" name="Line 74"/>
          <p:cNvSpPr/>
          <p:nvPr/>
        </p:nvSpPr>
        <p:spPr>
          <a:xfrm flipV="1">
            <a:off x="2667000" y="1600200"/>
            <a:ext cx="609600" cy="609600"/>
          </a:xfrm>
          <a:prstGeom prst="line">
            <a:avLst/>
          </a:prstGeom>
          <a:ln w="9525" cap="flat" cmpd="sng">
            <a:solidFill>
              <a:schemeClr val="tx1"/>
            </a:solidFill>
            <a:prstDash val="solid"/>
            <a:headEnd type="none" w="med" len="med"/>
            <a:tailEnd type="none" w="med" len="med"/>
          </a:ln>
        </p:spPr>
      </p:sp>
      <p:sp>
        <p:nvSpPr>
          <p:cNvPr id="22603" name="Line 75"/>
          <p:cNvSpPr/>
          <p:nvPr/>
        </p:nvSpPr>
        <p:spPr>
          <a:xfrm flipH="1" flipV="1">
            <a:off x="2667000" y="2209800"/>
            <a:ext cx="457200" cy="381000"/>
          </a:xfrm>
          <a:prstGeom prst="line">
            <a:avLst/>
          </a:prstGeom>
          <a:ln w="57150" cap="flat" cmpd="sng">
            <a:solidFill>
              <a:srgbClr val="FF0000"/>
            </a:solidFill>
            <a:prstDash val="solid"/>
            <a:headEnd type="none" w="med" len="med"/>
            <a:tailEnd type="none" w="med" len="med"/>
          </a:ln>
        </p:spPr>
      </p:sp>
      <p:sp>
        <p:nvSpPr>
          <p:cNvPr id="22604" name="Text Box 76"/>
          <p:cNvSpPr txBox="1"/>
          <p:nvPr/>
        </p:nvSpPr>
        <p:spPr>
          <a:xfrm>
            <a:off x="228600" y="5378450"/>
            <a:ext cx="8686800" cy="946150"/>
          </a:xfrm>
          <a:prstGeom prst="rect">
            <a:avLst/>
          </a:prstGeom>
          <a:noFill/>
          <a:ln w="9525">
            <a:noFill/>
          </a:ln>
        </p:spPr>
        <p:txBody>
          <a:bodyPr>
            <a:spAutoFit/>
          </a:bodyPr>
          <a:p>
            <a:r>
              <a:rPr lang="en-US" altLang="zh-CN" sz="2800" b="1" dirty="0">
                <a:solidFill>
                  <a:srgbClr val="0000FF"/>
                </a:solidFill>
                <a:latin typeface="楷体_GB2312" pitchFamily="49" charset="-122"/>
              </a:rPr>
              <a:t>    </a:t>
            </a:r>
            <a:r>
              <a:rPr lang="en-US" altLang="zh-CN" sz="2800" dirty="0">
                <a:solidFill>
                  <a:srgbClr val="0000FF"/>
                </a:solidFill>
                <a:latin typeface="Times New Roman" panose="02020603050405020304" pitchFamily="18" charset="0"/>
              </a:rPr>
              <a:t>B (0.6250 , 4.6875) C (0 , 5.2083) </a:t>
            </a:r>
            <a:r>
              <a:rPr lang="zh-CN" altLang="en-US" sz="2800" dirty="0">
                <a:solidFill>
                  <a:srgbClr val="0000FF"/>
                </a:solidFill>
                <a:latin typeface="Times New Roman" panose="02020603050405020304" pitchFamily="18" charset="0"/>
              </a:rPr>
              <a:t>， </a:t>
            </a:r>
            <a:r>
              <a:rPr lang="en-US" altLang="zh-CN" sz="2800" dirty="0">
                <a:solidFill>
                  <a:srgbClr val="0000FF"/>
                </a:solidFill>
                <a:latin typeface="Times New Roman" panose="02020603050405020304" pitchFamily="18" charset="0"/>
              </a:rPr>
              <a:t>B</a:t>
            </a:r>
            <a:r>
              <a:rPr lang="zh-CN" altLang="en-US" sz="2800" dirty="0">
                <a:solidFill>
                  <a:srgbClr val="0000FF"/>
                </a:solidFill>
                <a:latin typeface="Times New Roman" panose="02020603050405020304" pitchFamily="18" charset="0"/>
              </a:rPr>
              <a:t>、</a:t>
            </a:r>
            <a:r>
              <a:rPr lang="en-US" altLang="zh-CN" sz="2800" dirty="0">
                <a:solidFill>
                  <a:srgbClr val="0000FF"/>
                </a:solidFill>
                <a:latin typeface="Times New Roman" panose="02020603050405020304" pitchFamily="18" charset="0"/>
              </a:rPr>
              <a:t>C</a:t>
            </a:r>
            <a:r>
              <a:rPr lang="en-US" altLang="zh-CN" sz="2800" b="1" dirty="0">
                <a:solidFill>
                  <a:srgbClr val="0000FF"/>
                </a:solidFill>
                <a:latin typeface="楷体_GB2312" pitchFamily="49" charset="-122"/>
              </a:rPr>
              <a:t> </a:t>
            </a:r>
            <a:r>
              <a:rPr lang="zh-CN" altLang="en-US" sz="2800" b="1" dirty="0">
                <a:solidFill>
                  <a:srgbClr val="0000FF"/>
                </a:solidFill>
                <a:latin typeface="楷体_GB2312" pitchFamily="49" charset="-122"/>
              </a:rPr>
              <a:t>线段上的所有点均是该问题的解（无穷多最优解）。</a:t>
            </a:r>
            <a:endParaRPr lang="zh-CN" altLang="en-US" sz="2800" b="1" dirty="0">
              <a:solidFill>
                <a:srgbClr val="0000FF"/>
              </a:solidFill>
              <a:latin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22551"/>
                                        </p:tgtEl>
                                        <p:attrNameLst>
                                          <p:attrName>style.visibility</p:attrName>
                                        </p:attrNameLst>
                                      </p:cBhvr>
                                      <p:to>
                                        <p:strVal val="visible"/>
                                      </p:to>
                                    </p:set>
                                    <p:animEffect transition="in" filter="barn(outVertical)">
                                      <p:cBhvr>
                                        <p:cTn id="7" dur="500"/>
                                        <p:tgtEl>
                                          <p:spTgt spid="22551"/>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2554"/>
                                        </p:tgtEl>
                                        <p:attrNameLst>
                                          <p:attrName>style.visibility</p:attrName>
                                        </p:attrNameLst>
                                      </p:cBhvr>
                                      <p:to>
                                        <p:strVal val="visible"/>
                                      </p:to>
                                    </p:set>
                                    <p:animEffect transition="in" filter="dissolve">
                                      <p:cBhvr>
                                        <p:cTn id="11" dur="500"/>
                                        <p:tgtEl>
                                          <p:spTgt spid="22554"/>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37" fill="hold" nodeType="clickEffect">
                                  <p:stCondLst>
                                    <p:cond delay="0"/>
                                  </p:stCondLst>
                                  <p:childTnLst>
                                    <p:set>
                                      <p:cBhvr>
                                        <p:cTn id="15" dur="1" fill="hold">
                                          <p:stCondLst>
                                            <p:cond delay="0"/>
                                          </p:stCondLst>
                                        </p:cTn>
                                        <p:tgtEl>
                                          <p:spTgt spid="22555"/>
                                        </p:tgtEl>
                                        <p:attrNameLst>
                                          <p:attrName>style.visibility</p:attrName>
                                        </p:attrNameLst>
                                      </p:cBhvr>
                                      <p:to>
                                        <p:strVal val="visible"/>
                                      </p:to>
                                    </p:set>
                                    <p:animEffect transition="in" filter="barn(outVertical)">
                                      <p:cBhvr>
                                        <p:cTn id="16" dur="500"/>
                                        <p:tgtEl>
                                          <p:spTgt spid="22555"/>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22552"/>
                                        </p:tgtEl>
                                        <p:attrNameLst>
                                          <p:attrName>style.visibility</p:attrName>
                                        </p:attrNameLst>
                                      </p:cBhvr>
                                      <p:to>
                                        <p:strVal val="visible"/>
                                      </p:to>
                                    </p:set>
                                    <p:animEffect transition="in" filter="dissolve">
                                      <p:cBhvr>
                                        <p:cTn id="20" dur="500"/>
                                        <p:tgtEl>
                                          <p:spTgt spid="22552"/>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22589"/>
                                        </p:tgtEl>
                                        <p:attrNameLst>
                                          <p:attrName>style.visibility</p:attrName>
                                        </p:attrNameLst>
                                      </p:cBhvr>
                                      <p:to>
                                        <p:strVal val="visible"/>
                                      </p:to>
                                    </p:set>
                                    <p:animEffect transition="in" filter="dissolve">
                                      <p:cBhvr>
                                        <p:cTn id="25" dur="500"/>
                                        <p:tgtEl>
                                          <p:spTgt spid="22589"/>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22591"/>
                                        </p:tgtEl>
                                        <p:attrNameLst>
                                          <p:attrName>style.visibility</p:attrName>
                                        </p:attrNameLst>
                                      </p:cBhvr>
                                      <p:to>
                                        <p:strVal val="visible"/>
                                      </p:to>
                                    </p:set>
                                    <p:animEffect transition="in" filter="dissolve">
                                      <p:cBhvr>
                                        <p:cTn id="29" dur="500"/>
                                        <p:tgtEl>
                                          <p:spTgt spid="22591"/>
                                        </p:tgtEl>
                                      </p:cBhvr>
                                    </p:animEffect>
                                  </p:childTnLst>
                                </p:cTn>
                              </p:par>
                            </p:childTnLst>
                          </p:cTn>
                        </p:par>
                        <p:par>
                          <p:cTn id="30" fill="hold">
                            <p:stCondLst>
                              <p:cond delay="1000"/>
                            </p:stCondLst>
                            <p:childTnLst>
                              <p:par>
                                <p:cTn id="31" presetID="9" presetClass="entr" presetSubtype="0" fill="hold" nodeType="afterEffect">
                                  <p:stCondLst>
                                    <p:cond delay="0"/>
                                  </p:stCondLst>
                                  <p:childTnLst>
                                    <p:set>
                                      <p:cBhvr>
                                        <p:cTn id="32" dur="1" fill="hold">
                                          <p:stCondLst>
                                            <p:cond delay="0"/>
                                          </p:stCondLst>
                                        </p:cTn>
                                        <p:tgtEl>
                                          <p:spTgt spid="22593"/>
                                        </p:tgtEl>
                                        <p:attrNameLst>
                                          <p:attrName>style.visibility</p:attrName>
                                        </p:attrNameLst>
                                      </p:cBhvr>
                                      <p:to>
                                        <p:strVal val="visible"/>
                                      </p:to>
                                    </p:set>
                                    <p:animEffect transition="in" filter="dissolve">
                                      <p:cBhvr>
                                        <p:cTn id="33" dur="500"/>
                                        <p:tgtEl>
                                          <p:spTgt spid="22593"/>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42" fill="hold" nodeType="clickEffect">
                                  <p:stCondLst>
                                    <p:cond delay="0"/>
                                  </p:stCondLst>
                                  <p:childTnLst>
                                    <p:set>
                                      <p:cBhvr>
                                        <p:cTn id="37" dur="1" fill="hold">
                                          <p:stCondLst>
                                            <p:cond delay="0"/>
                                          </p:stCondLst>
                                        </p:cTn>
                                        <p:tgtEl>
                                          <p:spTgt spid="22562"/>
                                        </p:tgtEl>
                                        <p:attrNameLst>
                                          <p:attrName>style.visibility</p:attrName>
                                        </p:attrNameLst>
                                      </p:cBhvr>
                                      <p:to>
                                        <p:strVal val="visible"/>
                                      </p:to>
                                    </p:set>
                                    <p:animEffect transition="in" filter="barn(outHorizontal)">
                                      <p:cBhvr>
                                        <p:cTn id="38" dur="500"/>
                                        <p:tgtEl>
                                          <p:spTgt spid="22562"/>
                                        </p:tgtEl>
                                      </p:cBhvr>
                                    </p:animEffect>
                                  </p:childTnLst>
                                </p:cTn>
                              </p:par>
                            </p:childTnLst>
                          </p:cTn>
                        </p:par>
                        <p:par>
                          <p:cTn id="39" fill="hold">
                            <p:stCondLst>
                              <p:cond delay="500"/>
                            </p:stCondLst>
                            <p:childTnLst>
                              <p:par>
                                <p:cTn id="40" presetID="9" presetClass="entr" presetSubtype="0" fill="hold" nodeType="afterEffect">
                                  <p:stCondLst>
                                    <p:cond delay="0"/>
                                  </p:stCondLst>
                                  <p:childTnLst>
                                    <p:set>
                                      <p:cBhvr>
                                        <p:cTn id="41" dur="1" fill="hold">
                                          <p:stCondLst>
                                            <p:cond delay="0"/>
                                          </p:stCondLst>
                                        </p:cTn>
                                        <p:tgtEl>
                                          <p:spTgt spid="22599"/>
                                        </p:tgtEl>
                                        <p:attrNameLst>
                                          <p:attrName>style.visibility</p:attrName>
                                        </p:attrNameLst>
                                      </p:cBhvr>
                                      <p:to>
                                        <p:strVal val="visible"/>
                                      </p:to>
                                    </p:set>
                                    <p:animEffect transition="in" filter="dissolve">
                                      <p:cBhvr>
                                        <p:cTn id="42" dur="500"/>
                                        <p:tgtEl>
                                          <p:spTgt spid="22599"/>
                                        </p:tgtEl>
                                      </p:cBhvr>
                                    </p:animEffect>
                                  </p:childTnLst>
                                </p:cTn>
                              </p:par>
                            </p:childTnLst>
                          </p:cTn>
                        </p:par>
                        <p:par>
                          <p:cTn id="43" fill="hold">
                            <p:stCondLst>
                              <p:cond delay="1000"/>
                            </p:stCondLst>
                            <p:childTnLst>
                              <p:par>
                                <p:cTn id="44" presetID="9" presetClass="entr" presetSubtype="0" fill="hold" grpId="0" nodeType="afterEffect">
                                  <p:stCondLst>
                                    <p:cond delay="0"/>
                                  </p:stCondLst>
                                  <p:childTnLst>
                                    <p:set>
                                      <p:cBhvr>
                                        <p:cTn id="45" dur="1" fill="hold">
                                          <p:stCondLst>
                                            <p:cond delay="0"/>
                                          </p:stCondLst>
                                        </p:cTn>
                                        <p:tgtEl>
                                          <p:spTgt spid="22556"/>
                                        </p:tgtEl>
                                        <p:attrNameLst>
                                          <p:attrName>style.visibility</p:attrName>
                                        </p:attrNameLst>
                                      </p:cBhvr>
                                      <p:to>
                                        <p:strVal val="visible"/>
                                      </p:to>
                                    </p:set>
                                    <p:animEffect transition="in" filter="dissolve">
                                      <p:cBhvr>
                                        <p:cTn id="46" dur="500"/>
                                        <p:tgtEl>
                                          <p:spTgt spid="22556"/>
                                        </p:tgtEl>
                                      </p:cBhvr>
                                    </p:animEffect>
                                  </p:childTnLst>
                                </p:cTn>
                              </p:par>
                            </p:childTnLst>
                          </p:cTn>
                        </p:par>
                        <p:par>
                          <p:cTn id="47" fill="hold">
                            <p:stCondLst>
                              <p:cond delay="1500"/>
                            </p:stCondLst>
                            <p:childTnLst>
                              <p:par>
                                <p:cTn id="48" presetID="9" presetClass="entr" presetSubtype="0" fill="hold" nodeType="afterEffect">
                                  <p:stCondLst>
                                    <p:cond delay="0"/>
                                  </p:stCondLst>
                                  <p:childTnLst>
                                    <p:set>
                                      <p:cBhvr>
                                        <p:cTn id="49" dur="1" fill="hold">
                                          <p:stCondLst>
                                            <p:cond delay="0"/>
                                          </p:stCondLst>
                                        </p:cTn>
                                        <p:tgtEl>
                                          <p:spTgt spid="22602"/>
                                        </p:tgtEl>
                                        <p:attrNameLst>
                                          <p:attrName>style.visibility</p:attrName>
                                        </p:attrNameLst>
                                      </p:cBhvr>
                                      <p:to>
                                        <p:strVal val="visible"/>
                                      </p:to>
                                    </p:set>
                                    <p:animEffect transition="in" filter="dissolve">
                                      <p:cBhvr>
                                        <p:cTn id="50" dur="500"/>
                                        <p:tgtEl>
                                          <p:spTgt spid="22602"/>
                                        </p:tgtEl>
                                      </p:cBhvr>
                                    </p:animEffect>
                                  </p:childTnLst>
                                </p:cTn>
                              </p:par>
                            </p:childTnLst>
                          </p:cTn>
                        </p:par>
                        <p:par>
                          <p:cTn id="51" fill="hold">
                            <p:stCondLst>
                              <p:cond delay="2000"/>
                            </p:stCondLst>
                            <p:childTnLst>
                              <p:par>
                                <p:cTn id="52" presetID="9" presetClass="entr" presetSubtype="0" fill="hold" grpId="0" nodeType="afterEffect">
                                  <p:stCondLst>
                                    <p:cond delay="0"/>
                                  </p:stCondLst>
                                  <p:childTnLst>
                                    <p:set>
                                      <p:cBhvr>
                                        <p:cTn id="53" dur="1" fill="hold">
                                          <p:stCondLst>
                                            <p:cond delay="0"/>
                                          </p:stCondLst>
                                        </p:cTn>
                                        <p:tgtEl>
                                          <p:spTgt spid="22601"/>
                                        </p:tgtEl>
                                        <p:attrNameLst>
                                          <p:attrName>style.visibility</p:attrName>
                                        </p:attrNameLst>
                                      </p:cBhvr>
                                      <p:to>
                                        <p:strVal val="visible"/>
                                      </p:to>
                                    </p:set>
                                    <p:animEffect transition="in" filter="dissolve">
                                      <p:cBhvr>
                                        <p:cTn id="54" dur="500"/>
                                        <p:tgtEl>
                                          <p:spTgt spid="22601"/>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42" fill="hold" nodeType="clickEffect">
                                  <p:stCondLst>
                                    <p:cond delay="0"/>
                                  </p:stCondLst>
                                  <p:childTnLst>
                                    <p:set>
                                      <p:cBhvr>
                                        <p:cTn id="58" dur="1" fill="hold">
                                          <p:stCondLst>
                                            <p:cond delay="0"/>
                                          </p:stCondLst>
                                        </p:cTn>
                                        <p:tgtEl>
                                          <p:spTgt spid="22582"/>
                                        </p:tgtEl>
                                        <p:attrNameLst>
                                          <p:attrName>style.visibility</p:attrName>
                                        </p:attrNameLst>
                                      </p:cBhvr>
                                      <p:to>
                                        <p:strVal val="visible"/>
                                      </p:to>
                                    </p:set>
                                    <p:animEffect transition="in" filter="barn(outHorizontal)">
                                      <p:cBhvr>
                                        <p:cTn id="59" dur="500"/>
                                        <p:tgtEl>
                                          <p:spTgt spid="22582"/>
                                        </p:tgtEl>
                                      </p:cBhvr>
                                    </p:animEffect>
                                  </p:childTnLst>
                                </p:cTn>
                              </p:par>
                            </p:childTnLst>
                          </p:cTn>
                        </p:par>
                        <p:par>
                          <p:cTn id="60" fill="hold">
                            <p:stCondLst>
                              <p:cond delay="500"/>
                            </p:stCondLst>
                            <p:childTnLst>
                              <p:par>
                                <p:cTn id="61" presetID="9" presetClass="entr" presetSubtype="0" fill="hold" grpId="0" nodeType="afterEffect">
                                  <p:stCondLst>
                                    <p:cond delay="0"/>
                                  </p:stCondLst>
                                  <p:childTnLst>
                                    <p:set>
                                      <p:cBhvr>
                                        <p:cTn id="62" dur="1" fill="hold">
                                          <p:stCondLst>
                                            <p:cond delay="0"/>
                                          </p:stCondLst>
                                        </p:cTn>
                                        <p:tgtEl>
                                          <p:spTgt spid="22553"/>
                                        </p:tgtEl>
                                        <p:attrNameLst>
                                          <p:attrName>style.visibility</p:attrName>
                                        </p:attrNameLst>
                                      </p:cBhvr>
                                      <p:to>
                                        <p:strVal val="visible"/>
                                      </p:to>
                                    </p:set>
                                    <p:animEffect transition="in" filter="dissolve">
                                      <p:cBhvr>
                                        <p:cTn id="63" dur="500"/>
                                        <p:tgtEl>
                                          <p:spTgt spid="22553"/>
                                        </p:tgtEl>
                                      </p:cBhvr>
                                    </p:animEffect>
                                  </p:childTnLst>
                                </p:cTn>
                              </p:par>
                            </p:childTnLst>
                          </p:cTn>
                        </p:par>
                        <p:par>
                          <p:cTn id="64" fill="hold">
                            <p:stCondLst>
                              <p:cond delay="1000"/>
                            </p:stCondLst>
                            <p:childTnLst>
                              <p:par>
                                <p:cTn id="65" presetID="9" presetClass="entr" presetSubtype="0" fill="hold" nodeType="afterEffect">
                                  <p:stCondLst>
                                    <p:cond delay="0"/>
                                  </p:stCondLst>
                                  <p:childTnLst>
                                    <p:set>
                                      <p:cBhvr>
                                        <p:cTn id="66" dur="1" fill="hold">
                                          <p:stCondLst>
                                            <p:cond delay="0"/>
                                          </p:stCondLst>
                                        </p:cTn>
                                        <p:tgtEl>
                                          <p:spTgt spid="22590"/>
                                        </p:tgtEl>
                                        <p:attrNameLst>
                                          <p:attrName>style.visibility</p:attrName>
                                        </p:attrNameLst>
                                      </p:cBhvr>
                                      <p:to>
                                        <p:strVal val="visible"/>
                                      </p:to>
                                    </p:set>
                                    <p:animEffect transition="in" filter="dissolve">
                                      <p:cBhvr>
                                        <p:cTn id="67" dur="500"/>
                                        <p:tgtEl>
                                          <p:spTgt spid="22590"/>
                                        </p:tgtEl>
                                      </p:cBhvr>
                                    </p:animEffect>
                                  </p:childTnLst>
                                </p:cTn>
                              </p:par>
                            </p:childTnLst>
                          </p:cTn>
                        </p:par>
                        <p:par>
                          <p:cTn id="68" fill="hold">
                            <p:stCondLst>
                              <p:cond delay="1500"/>
                            </p:stCondLst>
                            <p:childTnLst>
                              <p:par>
                                <p:cTn id="69" presetID="9" presetClass="entr" presetSubtype="0" fill="hold" nodeType="afterEffect">
                                  <p:stCondLst>
                                    <p:cond delay="0"/>
                                  </p:stCondLst>
                                  <p:childTnLst>
                                    <p:set>
                                      <p:cBhvr>
                                        <p:cTn id="70" dur="1" fill="hold">
                                          <p:stCondLst>
                                            <p:cond delay="0"/>
                                          </p:stCondLst>
                                        </p:cTn>
                                        <p:tgtEl>
                                          <p:spTgt spid="22597"/>
                                        </p:tgtEl>
                                        <p:attrNameLst>
                                          <p:attrName>style.visibility</p:attrName>
                                        </p:attrNameLst>
                                      </p:cBhvr>
                                      <p:to>
                                        <p:strVal val="visible"/>
                                      </p:to>
                                    </p:set>
                                    <p:animEffect transition="in" filter="dissolve">
                                      <p:cBhvr>
                                        <p:cTn id="71" dur="500"/>
                                        <p:tgtEl>
                                          <p:spTgt spid="22597"/>
                                        </p:tgtEl>
                                      </p:cBhvr>
                                    </p:animEffect>
                                  </p:childTnLst>
                                </p:cTn>
                              </p:par>
                            </p:childTnLst>
                          </p:cTn>
                        </p:par>
                        <p:par>
                          <p:cTn id="72" fill="hold">
                            <p:stCondLst>
                              <p:cond delay="2000"/>
                            </p:stCondLst>
                            <p:childTnLst>
                              <p:par>
                                <p:cTn id="73" presetID="9" presetClass="entr" presetSubtype="0" fill="hold" nodeType="afterEffect">
                                  <p:stCondLst>
                                    <p:cond delay="0"/>
                                  </p:stCondLst>
                                  <p:childTnLst>
                                    <p:set>
                                      <p:cBhvr>
                                        <p:cTn id="74" dur="1" fill="hold">
                                          <p:stCondLst>
                                            <p:cond delay="0"/>
                                          </p:stCondLst>
                                        </p:cTn>
                                        <p:tgtEl>
                                          <p:spTgt spid="22587"/>
                                        </p:tgtEl>
                                        <p:attrNameLst>
                                          <p:attrName>style.visibility</p:attrName>
                                        </p:attrNameLst>
                                      </p:cBhvr>
                                      <p:to>
                                        <p:strVal val="visible"/>
                                      </p:to>
                                    </p:set>
                                    <p:animEffect transition="in" filter="dissolve">
                                      <p:cBhvr>
                                        <p:cTn id="75" dur="500"/>
                                        <p:tgtEl>
                                          <p:spTgt spid="22587"/>
                                        </p:tgtEl>
                                      </p:cBhvr>
                                    </p:animEffect>
                                  </p:childTnLst>
                                </p:cTn>
                              </p:par>
                            </p:childTnLst>
                          </p:cTn>
                        </p:par>
                        <p:par>
                          <p:cTn id="76" fill="hold">
                            <p:stCondLst>
                              <p:cond delay="2500"/>
                            </p:stCondLst>
                            <p:childTnLst>
                              <p:par>
                                <p:cTn id="77" presetID="9" presetClass="entr" presetSubtype="0" fill="hold" nodeType="afterEffect">
                                  <p:stCondLst>
                                    <p:cond delay="0"/>
                                  </p:stCondLst>
                                  <p:childTnLst>
                                    <p:set>
                                      <p:cBhvr>
                                        <p:cTn id="78" dur="1" fill="hold">
                                          <p:stCondLst>
                                            <p:cond delay="0"/>
                                          </p:stCondLst>
                                        </p:cTn>
                                        <p:tgtEl>
                                          <p:spTgt spid="22595"/>
                                        </p:tgtEl>
                                        <p:attrNameLst>
                                          <p:attrName>style.visibility</p:attrName>
                                        </p:attrNameLst>
                                      </p:cBhvr>
                                      <p:to>
                                        <p:strVal val="visible"/>
                                      </p:to>
                                    </p:set>
                                    <p:animEffect transition="in" filter="dissolve">
                                      <p:cBhvr>
                                        <p:cTn id="79" dur="500"/>
                                        <p:tgtEl>
                                          <p:spTgt spid="22595"/>
                                        </p:tgtEl>
                                      </p:cBhvr>
                                    </p:animEffect>
                                  </p:childTnLst>
                                </p:cTn>
                              </p:par>
                            </p:childTnLst>
                          </p:cTn>
                        </p:par>
                        <p:par>
                          <p:cTn id="80" fill="hold">
                            <p:stCondLst>
                              <p:cond delay="3000"/>
                            </p:stCondLst>
                            <p:childTnLst>
                              <p:par>
                                <p:cTn id="81" presetID="9" presetClass="entr" presetSubtype="0" fill="hold" nodeType="afterEffect">
                                  <p:stCondLst>
                                    <p:cond delay="0"/>
                                  </p:stCondLst>
                                  <p:childTnLst>
                                    <p:set>
                                      <p:cBhvr>
                                        <p:cTn id="82" dur="1" fill="hold">
                                          <p:stCondLst>
                                            <p:cond delay="0"/>
                                          </p:stCondLst>
                                        </p:cTn>
                                        <p:tgtEl>
                                          <p:spTgt spid="22585"/>
                                        </p:tgtEl>
                                        <p:attrNameLst>
                                          <p:attrName>style.visibility</p:attrName>
                                        </p:attrNameLst>
                                      </p:cBhvr>
                                      <p:to>
                                        <p:strVal val="visible"/>
                                      </p:to>
                                    </p:set>
                                    <p:animEffect transition="in" filter="dissolve">
                                      <p:cBhvr>
                                        <p:cTn id="83" dur="500"/>
                                        <p:tgtEl>
                                          <p:spTgt spid="22585"/>
                                        </p:tgtEl>
                                      </p:cBhvr>
                                    </p:animEffect>
                                  </p:childTnLst>
                                </p:cTn>
                              </p:par>
                            </p:childTnLst>
                          </p:cTn>
                        </p:par>
                        <p:par>
                          <p:cTn id="84" fill="hold">
                            <p:stCondLst>
                              <p:cond delay="3500"/>
                            </p:stCondLst>
                            <p:childTnLst>
                              <p:par>
                                <p:cTn id="85" presetID="9" presetClass="entr" presetSubtype="0" fill="hold" nodeType="afterEffect">
                                  <p:stCondLst>
                                    <p:cond delay="0"/>
                                  </p:stCondLst>
                                  <p:childTnLst>
                                    <p:set>
                                      <p:cBhvr>
                                        <p:cTn id="86" dur="1" fill="hold">
                                          <p:stCondLst>
                                            <p:cond delay="0"/>
                                          </p:stCondLst>
                                        </p:cTn>
                                        <p:tgtEl>
                                          <p:spTgt spid="22584"/>
                                        </p:tgtEl>
                                        <p:attrNameLst>
                                          <p:attrName>style.visibility</p:attrName>
                                        </p:attrNameLst>
                                      </p:cBhvr>
                                      <p:to>
                                        <p:strVal val="visible"/>
                                      </p:to>
                                    </p:set>
                                    <p:animEffect transition="in" filter="dissolve">
                                      <p:cBhvr>
                                        <p:cTn id="87" dur="500"/>
                                        <p:tgtEl>
                                          <p:spTgt spid="22584"/>
                                        </p:tgtEl>
                                      </p:cBhvr>
                                    </p:animEffect>
                                  </p:childTnLst>
                                </p:cTn>
                              </p:par>
                            </p:childTnLst>
                          </p:cTn>
                        </p:par>
                        <p:par>
                          <p:cTn id="88" fill="hold">
                            <p:stCondLst>
                              <p:cond delay="4000"/>
                            </p:stCondLst>
                            <p:childTnLst>
                              <p:par>
                                <p:cTn id="89" presetID="9" presetClass="entr" presetSubtype="0" fill="hold" nodeType="afterEffect">
                                  <p:stCondLst>
                                    <p:cond delay="0"/>
                                  </p:stCondLst>
                                  <p:childTnLst>
                                    <p:set>
                                      <p:cBhvr>
                                        <p:cTn id="90" dur="1" fill="hold">
                                          <p:stCondLst>
                                            <p:cond delay="0"/>
                                          </p:stCondLst>
                                        </p:cTn>
                                        <p:tgtEl>
                                          <p:spTgt spid="22583"/>
                                        </p:tgtEl>
                                        <p:attrNameLst>
                                          <p:attrName>style.visibility</p:attrName>
                                        </p:attrNameLst>
                                      </p:cBhvr>
                                      <p:to>
                                        <p:strVal val="visible"/>
                                      </p:to>
                                    </p:set>
                                    <p:animEffect transition="in" filter="dissolve">
                                      <p:cBhvr>
                                        <p:cTn id="91" dur="500"/>
                                        <p:tgtEl>
                                          <p:spTgt spid="22583"/>
                                        </p:tgtEl>
                                      </p:cBhvr>
                                    </p:animEffect>
                                  </p:childTnLst>
                                </p:cTn>
                              </p:par>
                            </p:childTnLst>
                          </p:cTn>
                        </p:par>
                        <p:par>
                          <p:cTn id="92" fill="hold">
                            <p:stCondLst>
                              <p:cond delay="4500"/>
                            </p:stCondLst>
                            <p:childTnLst>
                              <p:par>
                                <p:cTn id="93" presetID="9" presetClass="entr" presetSubtype="0" fill="hold" nodeType="afterEffect">
                                  <p:stCondLst>
                                    <p:cond delay="0"/>
                                  </p:stCondLst>
                                  <p:childTnLst>
                                    <p:set>
                                      <p:cBhvr>
                                        <p:cTn id="94" dur="1" fill="hold">
                                          <p:stCondLst>
                                            <p:cond delay="0"/>
                                          </p:stCondLst>
                                        </p:cTn>
                                        <p:tgtEl>
                                          <p:spTgt spid="22566"/>
                                        </p:tgtEl>
                                        <p:attrNameLst>
                                          <p:attrName>style.visibility</p:attrName>
                                        </p:attrNameLst>
                                      </p:cBhvr>
                                      <p:to>
                                        <p:strVal val="visible"/>
                                      </p:to>
                                    </p:set>
                                    <p:animEffect transition="in" filter="dissolve">
                                      <p:cBhvr>
                                        <p:cTn id="95" dur="500"/>
                                        <p:tgtEl>
                                          <p:spTgt spid="22566"/>
                                        </p:tgtEl>
                                      </p:cBhvr>
                                    </p:animEffect>
                                  </p:childTnLst>
                                </p:cTn>
                              </p:par>
                            </p:childTnLst>
                          </p:cTn>
                        </p:par>
                        <p:par>
                          <p:cTn id="96" fill="hold">
                            <p:stCondLst>
                              <p:cond delay="5000"/>
                            </p:stCondLst>
                            <p:childTnLst>
                              <p:par>
                                <p:cTn id="97" presetID="9" presetClass="entr" presetSubtype="0" fill="hold" nodeType="afterEffect">
                                  <p:stCondLst>
                                    <p:cond delay="0"/>
                                  </p:stCondLst>
                                  <p:childTnLst>
                                    <p:set>
                                      <p:cBhvr>
                                        <p:cTn id="98" dur="1" fill="hold">
                                          <p:stCondLst>
                                            <p:cond delay="0"/>
                                          </p:stCondLst>
                                        </p:cTn>
                                        <p:tgtEl>
                                          <p:spTgt spid="22567"/>
                                        </p:tgtEl>
                                        <p:attrNameLst>
                                          <p:attrName>style.visibility</p:attrName>
                                        </p:attrNameLst>
                                      </p:cBhvr>
                                      <p:to>
                                        <p:strVal val="visible"/>
                                      </p:to>
                                    </p:set>
                                    <p:animEffect transition="in" filter="dissolve">
                                      <p:cBhvr>
                                        <p:cTn id="99" dur="500"/>
                                        <p:tgtEl>
                                          <p:spTgt spid="22567"/>
                                        </p:tgtEl>
                                      </p:cBhvr>
                                    </p:animEffect>
                                  </p:childTnLst>
                                </p:cTn>
                              </p:par>
                            </p:childTnLst>
                          </p:cTn>
                        </p:par>
                        <p:par>
                          <p:cTn id="100" fill="hold">
                            <p:stCondLst>
                              <p:cond delay="5500"/>
                            </p:stCondLst>
                            <p:childTnLst>
                              <p:par>
                                <p:cTn id="101" presetID="9" presetClass="entr" presetSubtype="0" fill="hold" nodeType="afterEffect">
                                  <p:stCondLst>
                                    <p:cond delay="0"/>
                                  </p:stCondLst>
                                  <p:childTnLst>
                                    <p:set>
                                      <p:cBhvr>
                                        <p:cTn id="102" dur="1" fill="hold">
                                          <p:stCondLst>
                                            <p:cond delay="0"/>
                                          </p:stCondLst>
                                        </p:cTn>
                                        <p:tgtEl>
                                          <p:spTgt spid="22568"/>
                                        </p:tgtEl>
                                        <p:attrNameLst>
                                          <p:attrName>style.visibility</p:attrName>
                                        </p:attrNameLst>
                                      </p:cBhvr>
                                      <p:to>
                                        <p:strVal val="visible"/>
                                      </p:to>
                                    </p:set>
                                    <p:animEffect transition="in" filter="dissolve">
                                      <p:cBhvr>
                                        <p:cTn id="103" dur="500"/>
                                        <p:tgtEl>
                                          <p:spTgt spid="22568"/>
                                        </p:tgtEl>
                                      </p:cBhvr>
                                    </p:animEffect>
                                  </p:childTnLst>
                                </p:cTn>
                              </p:par>
                            </p:childTnLst>
                          </p:cTn>
                        </p:par>
                        <p:par>
                          <p:cTn id="104" fill="hold">
                            <p:stCondLst>
                              <p:cond delay="6000"/>
                            </p:stCondLst>
                            <p:childTnLst>
                              <p:par>
                                <p:cTn id="105" presetID="9" presetClass="entr" presetSubtype="0" fill="hold" nodeType="afterEffect">
                                  <p:stCondLst>
                                    <p:cond delay="0"/>
                                  </p:stCondLst>
                                  <p:childTnLst>
                                    <p:set>
                                      <p:cBhvr>
                                        <p:cTn id="106" dur="1" fill="hold">
                                          <p:stCondLst>
                                            <p:cond delay="0"/>
                                          </p:stCondLst>
                                        </p:cTn>
                                        <p:tgtEl>
                                          <p:spTgt spid="22569"/>
                                        </p:tgtEl>
                                        <p:attrNameLst>
                                          <p:attrName>style.visibility</p:attrName>
                                        </p:attrNameLst>
                                      </p:cBhvr>
                                      <p:to>
                                        <p:strVal val="visible"/>
                                      </p:to>
                                    </p:set>
                                    <p:animEffect transition="in" filter="dissolve">
                                      <p:cBhvr>
                                        <p:cTn id="107" dur="500"/>
                                        <p:tgtEl>
                                          <p:spTgt spid="22569"/>
                                        </p:tgtEl>
                                      </p:cBhvr>
                                    </p:animEffect>
                                  </p:childTnLst>
                                </p:cTn>
                              </p:par>
                            </p:childTnLst>
                          </p:cTn>
                        </p:par>
                        <p:par>
                          <p:cTn id="108" fill="hold">
                            <p:stCondLst>
                              <p:cond delay="6500"/>
                            </p:stCondLst>
                            <p:childTnLst>
                              <p:par>
                                <p:cTn id="109" presetID="9" presetClass="entr" presetSubtype="0" fill="hold" nodeType="afterEffect">
                                  <p:stCondLst>
                                    <p:cond delay="0"/>
                                  </p:stCondLst>
                                  <p:childTnLst>
                                    <p:set>
                                      <p:cBhvr>
                                        <p:cTn id="110" dur="1" fill="hold">
                                          <p:stCondLst>
                                            <p:cond delay="0"/>
                                          </p:stCondLst>
                                        </p:cTn>
                                        <p:tgtEl>
                                          <p:spTgt spid="22570"/>
                                        </p:tgtEl>
                                        <p:attrNameLst>
                                          <p:attrName>style.visibility</p:attrName>
                                        </p:attrNameLst>
                                      </p:cBhvr>
                                      <p:to>
                                        <p:strVal val="visible"/>
                                      </p:to>
                                    </p:set>
                                    <p:animEffect transition="in" filter="dissolve">
                                      <p:cBhvr>
                                        <p:cTn id="111" dur="500"/>
                                        <p:tgtEl>
                                          <p:spTgt spid="22570"/>
                                        </p:tgtEl>
                                      </p:cBhvr>
                                    </p:animEffect>
                                  </p:childTnLst>
                                </p:cTn>
                              </p:par>
                            </p:childTnLst>
                          </p:cTn>
                        </p:par>
                        <p:par>
                          <p:cTn id="112" fill="hold">
                            <p:stCondLst>
                              <p:cond delay="7000"/>
                            </p:stCondLst>
                            <p:childTnLst>
                              <p:par>
                                <p:cTn id="113" presetID="9" presetClass="entr" presetSubtype="0" fill="hold" nodeType="afterEffect">
                                  <p:stCondLst>
                                    <p:cond delay="0"/>
                                  </p:stCondLst>
                                  <p:childTnLst>
                                    <p:set>
                                      <p:cBhvr>
                                        <p:cTn id="114" dur="1" fill="hold">
                                          <p:stCondLst>
                                            <p:cond delay="0"/>
                                          </p:stCondLst>
                                        </p:cTn>
                                        <p:tgtEl>
                                          <p:spTgt spid="22571"/>
                                        </p:tgtEl>
                                        <p:attrNameLst>
                                          <p:attrName>style.visibility</p:attrName>
                                        </p:attrNameLst>
                                      </p:cBhvr>
                                      <p:to>
                                        <p:strVal val="visible"/>
                                      </p:to>
                                    </p:set>
                                    <p:animEffect transition="in" filter="dissolve">
                                      <p:cBhvr>
                                        <p:cTn id="115" dur="500"/>
                                        <p:tgtEl>
                                          <p:spTgt spid="22571"/>
                                        </p:tgtEl>
                                      </p:cBhvr>
                                    </p:animEffect>
                                  </p:childTnLst>
                                </p:cTn>
                              </p:par>
                            </p:childTnLst>
                          </p:cTn>
                        </p:par>
                        <p:par>
                          <p:cTn id="116" fill="hold">
                            <p:stCondLst>
                              <p:cond delay="7500"/>
                            </p:stCondLst>
                            <p:childTnLst>
                              <p:par>
                                <p:cTn id="117" presetID="9" presetClass="entr" presetSubtype="0" fill="hold" nodeType="afterEffect">
                                  <p:stCondLst>
                                    <p:cond delay="0"/>
                                  </p:stCondLst>
                                  <p:childTnLst>
                                    <p:set>
                                      <p:cBhvr>
                                        <p:cTn id="118" dur="1" fill="hold">
                                          <p:stCondLst>
                                            <p:cond delay="0"/>
                                          </p:stCondLst>
                                        </p:cTn>
                                        <p:tgtEl>
                                          <p:spTgt spid="22572"/>
                                        </p:tgtEl>
                                        <p:attrNameLst>
                                          <p:attrName>style.visibility</p:attrName>
                                        </p:attrNameLst>
                                      </p:cBhvr>
                                      <p:to>
                                        <p:strVal val="visible"/>
                                      </p:to>
                                    </p:set>
                                    <p:animEffect transition="in" filter="dissolve">
                                      <p:cBhvr>
                                        <p:cTn id="119" dur="500"/>
                                        <p:tgtEl>
                                          <p:spTgt spid="22572"/>
                                        </p:tgtEl>
                                      </p:cBhvr>
                                    </p:animEffect>
                                  </p:childTnLst>
                                </p:cTn>
                              </p:par>
                            </p:childTnLst>
                          </p:cTn>
                        </p:par>
                        <p:par>
                          <p:cTn id="120" fill="hold">
                            <p:stCondLst>
                              <p:cond delay="8000"/>
                            </p:stCondLst>
                            <p:childTnLst>
                              <p:par>
                                <p:cTn id="121" presetID="9" presetClass="entr" presetSubtype="0" fill="hold" nodeType="afterEffect">
                                  <p:stCondLst>
                                    <p:cond delay="0"/>
                                  </p:stCondLst>
                                  <p:childTnLst>
                                    <p:set>
                                      <p:cBhvr>
                                        <p:cTn id="122" dur="1" fill="hold">
                                          <p:stCondLst>
                                            <p:cond delay="0"/>
                                          </p:stCondLst>
                                        </p:cTn>
                                        <p:tgtEl>
                                          <p:spTgt spid="22573"/>
                                        </p:tgtEl>
                                        <p:attrNameLst>
                                          <p:attrName>style.visibility</p:attrName>
                                        </p:attrNameLst>
                                      </p:cBhvr>
                                      <p:to>
                                        <p:strVal val="visible"/>
                                      </p:to>
                                    </p:set>
                                    <p:animEffect transition="in" filter="dissolve">
                                      <p:cBhvr>
                                        <p:cTn id="123" dur="500"/>
                                        <p:tgtEl>
                                          <p:spTgt spid="22573"/>
                                        </p:tgtEl>
                                      </p:cBhvr>
                                    </p:animEffect>
                                  </p:childTnLst>
                                </p:cTn>
                              </p:par>
                            </p:childTnLst>
                          </p:cTn>
                        </p:par>
                        <p:par>
                          <p:cTn id="124" fill="hold">
                            <p:stCondLst>
                              <p:cond delay="8500"/>
                            </p:stCondLst>
                            <p:childTnLst>
                              <p:par>
                                <p:cTn id="125" presetID="9" presetClass="entr" presetSubtype="0" fill="hold" nodeType="afterEffect">
                                  <p:stCondLst>
                                    <p:cond delay="0"/>
                                  </p:stCondLst>
                                  <p:childTnLst>
                                    <p:set>
                                      <p:cBhvr>
                                        <p:cTn id="126" dur="1" fill="hold">
                                          <p:stCondLst>
                                            <p:cond delay="0"/>
                                          </p:stCondLst>
                                        </p:cTn>
                                        <p:tgtEl>
                                          <p:spTgt spid="22600"/>
                                        </p:tgtEl>
                                        <p:attrNameLst>
                                          <p:attrName>style.visibility</p:attrName>
                                        </p:attrNameLst>
                                      </p:cBhvr>
                                      <p:to>
                                        <p:strVal val="visible"/>
                                      </p:to>
                                    </p:set>
                                    <p:animEffect transition="in" filter="dissolve">
                                      <p:cBhvr>
                                        <p:cTn id="127" dur="500"/>
                                        <p:tgtEl>
                                          <p:spTgt spid="22600"/>
                                        </p:tgtEl>
                                      </p:cBhvr>
                                    </p:animEffect>
                                  </p:childTnLst>
                                </p:cTn>
                              </p:par>
                            </p:childTnLst>
                          </p:cTn>
                        </p:par>
                        <p:par>
                          <p:cTn id="128" fill="hold">
                            <p:stCondLst>
                              <p:cond delay="9000"/>
                            </p:stCondLst>
                            <p:childTnLst>
                              <p:par>
                                <p:cTn id="129" presetID="9" presetClass="entr" presetSubtype="0" fill="hold" grpId="0" nodeType="afterEffect">
                                  <p:stCondLst>
                                    <p:cond delay="0"/>
                                  </p:stCondLst>
                                  <p:childTnLst>
                                    <p:set>
                                      <p:cBhvr>
                                        <p:cTn id="130" dur="1" fill="hold">
                                          <p:stCondLst>
                                            <p:cond delay="0"/>
                                          </p:stCondLst>
                                        </p:cTn>
                                        <p:tgtEl>
                                          <p:spTgt spid="22586"/>
                                        </p:tgtEl>
                                        <p:attrNameLst>
                                          <p:attrName>style.visibility</p:attrName>
                                        </p:attrNameLst>
                                      </p:cBhvr>
                                      <p:to>
                                        <p:strVal val="visible"/>
                                      </p:to>
                                    </p:set>
                                    <p:animEffect transition="in" filter="dissolve">
                                      <p:cBhvr>
                                        <p:cTn id="131" dur="500"/>
                                        <p:tgtEl>
                                          <p:spTgt spid="22586"/>
                                        </p:tgtEl>
                                      </p:cBhvr>
                                    </p:animEffect>
                                  </p:childTnLst>
                                </p:cTn>
                              </p:par>
                            </p:childTnLst>
                          </p:cTn>
                        </p:par>
                      </p:childTnLst>
                    </p:cTn>
                  </p:par>
                  <p:par>
                    <p:cTn id="132" fill="hold">
                      <p:stCondLst>
                        <p:cond delay="indefinite"/>
                      </p:stCondLst>
                      <p:childTnLst>
                        <p:par>
                          <p:cTn id="133" fill="hold">
                            <p:stCondLst>
                              <p:cond delay="0"/>
                            </p:stCondLst>
                            <p:childTnLst>
                              <p:par>
                                <p:cTn id="134" presetID="9" presetClass="entr" presetSubtype="0" fill="hold" nodeType="clickEffect">
                                  <p:stCondLst>
                                    <p:cond delay="0"/>
                                  </p:stCondLst>
                                  <p:childTnLst>
                                    <p:set>
                                      <p:cBhvr>
                                        <p:cTn id="135" dur="1" fill="hold">
                                          <p:stCondLst>
                                            <p:cond delay="0"/>
                                          </p:stCondLst>
                                        </p:cTn>
                                        <p:tgtEl>
                                          <p:spTgt spid="22603"/>
                                        </p:tgtEl>
                                        <p:attrNameLst>
                                          <p:attrName>style.visibility</p:attrName>
                                        </p:attrNameLst>
                                      </p:cBhvr>
                                      <p:to>
                                        <p:strVal val="visible"/>
                                      </p:to>
                                    </p:set>
                                    <p:animEffect transition="in" filter="dissolve">
                                      <p:cBhvr>
                                        <p:cTn id="136" dur="500"/>
                                        <p:tgtEl>
                                          <p:spTgt spid="22603"/>
                                        </p:tgtEl>
                                      </p:cBhvr>
                                    </p:animEffect>
                                  </p:childTnLst>
                                </p:cTn>
                              </p:par>
                            </p:childTnLst>
                          </p:cTn>
                        </p:par>
                      </p:childTnLst>
                    </p:cTn>
                  </p:par>
                  <p:par>
                    <p:cTn id="137" fill="hold">
                      <p:stCondLst>
                        <p:cond delay="indefinite"/>
                      </p:stCondLst>
                      <p:childTnLst>
                        <p:par>
                          <p:cTn id="138" fill="hold">
                            <p:stCondLst>
                              <p:cond delay="0"/>
                            </p:stCondLst>
                            <p:childTnLst>
                              <p:par>
                                <p:cTn id="139" presetID="3" presetClass="entr" presetSubtype="10" fill="hold" grpId="0" nodeType="clickEffect">
                                  <p:stCondLst>
                                    <p:cond delay="0"/>
                                  </p:stCondLst>
                                  <p:childTnLst>
                                    <p:set>
                                      <p:cBhvr>
                                        <p:cTn id="140" dur="1" fill="hold">
                                          <p:stCondLst>
                                            <p:cond delay="0"/>
                                          </p:stCondLst>
                                        </p:cTn>
                                        <p:tgtEl>
                                          <p:spTgt spid="22604"/>
                                        </p:tgtEl>
                                        <p:attrNameLst>
                                          <p:attrName>style.visibility</p:attrName>
                                        </p:attrNameLst>
                                      </p:cBhvr>
                                      <p:to>
                                        <p:strVal val="visible"/>
                                      </p:to>
                                    </p:set>
                                    <p:animEffect transition="in" filter="blinds(horizontal)">
                                      <p:cBhvr>
                                        <p:cTn id="141" dur="500"/>
                                        <p:tgtEl>
                                          <p:spTgt spid="22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2" grpId="0"/>
      <p:bldP spid="22553" grpId="0"/>
      <p:bldP spid="22554" grpId="0"/>
      <p:bldP spid="22556" grpId="0"/>
      <p:bldP spid="22586" grpId="0"/>
      <p:bldP spid="22601" grpId="0"/>
      <p:bldP spid="2260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Text Box 2"/>
          <p:cNvSpPr txBox="1"/>
          <p:nvPr/>
        </p:nvSpPr>
        <p:spPr>
          <a:xfrm>
            <a:off x="533400" y="403225"/>
            <a:ext cx="7696200" cy="519113"/>
          </a:xfrm>
          <a:prstGeom prst="rect">
            <a:avLst/>
          </a:prstGeom>
          <a:noFill/>
          <a:ln w="9525">
            <a:noFill/>
          </a:ln>
        </p:spPr>
        <p:txBody>
          <a:bodyPr>
            <a:spAutoFit/>
          </a:bodyPr>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例二、已知一个生产计划的线性规划模型为</a:t>
            </a:r>
            <a:endParaRPr lang="zh-CN" altLang="en-US" sz="2800" b="1" dirty="0">
              <a:solidFill>
                <a:srgbClr val="0000FF"/>
              </a:solidFill>
              <a:latin typeface="Times New Roman" panose="02020603050405020304" pitchFamily="18" charset="0"/>
            </a:endParaRPr>
          </a:p>
        </p:txBody>
      </p:sp>
      <p:graphicFrame>
        <p:nvGraphicFramePr>
          <p:cNvPr id="11266" name="Object 3"/>
          <p:cNvGraphicFramePr/>
          <p:nvPr/>
        </p:nvGraphicFramePr>
        <p:xfrm>
          <a:off x="1811338" y="769938"/>
          <a:ext cx="4837112" cy="2735262"/>
        </p:xfrm>
        <a:graphic>
          <a:graphicData uri="http://schemas.openxmlformats.org/presentationml/2006/ole">
            <mc:AlternateContent xmlns:mc="http://schemas.openxmlformats.org/markup-compatibility/2006">
              <mc:Choice xmlns:v="urn:schemas-microsoft-com:vml" Requires="v">
                <p:oleObj spid="_x0000_s3112" name="" r:id="rId1" imgW="1625600" imgH="1193800" progId="Equation.3">
                  <p:embed/>
                </p:oleObj>
              </mc:Choice>
              <mc:Fallback>
                <p:oleObj name="" r:id="rId1" imgW="1625600" imgH="1193800" progId="Equation.3">
                  <p:embed/>
                  <p:pic>
                    <p:nvPicPr>
                      <p:cNvPr id="0" name="图片 3111"/>
                      <p:cNvPicPr/>
                      <p:nvPr/>
                    </p:nvPicPr>
                    <p:blipFill>
                      <a:blip r:embed="rId2"/>
                      <a:stretch>
                        <a:fillRect/>
                      </a:stretch>
                    </p:blipFill>
                    <p:spPr>
                      <a:xfrm>
                        <a:off x="1811338" y="769938"/>
                        <a:ext cx="4837112" cy="2735262"/>
                      </a:xfrm>
                      <a:prstGeom prst="rect">
                        <a:avLst/>
                      </a:prstGeom>
                      <a:noFill/>
                      <a:ln w="38100">
                        <a:noFill/>
                        <a:miter/>
                      </a:ln>
                    </p:spPr>
                  </p:pic>
                </p:oleObj>
              </mc:Fallback>
            </mc:AlternateContent>
          </a:graphicData>
        </a:graphic>
      </p:graphicFrame>
      <p:sp>
        <p:nvSpPr>
          <p:cNvPr id="11268" name="Text Box 4"/>
          <p:cNvSpPr txBox="1"/>
          <p:nvPr/>
        </p:nvSpPr>
        <p:spPr>
          <a:xfrm>
            <a:off x="228600" y="3397250"/>
            <a:ext cx="8915400" cy="3081338"/>
          </a:xfrm>
          <a:prstGeom prst="rect">
            <a:avLst/>
          </a:prstGeom>
          <a:noFill/>
          <a:ln w="9525">
            <a:noFill/>
          </a:ln>
        </p:spPr>
        <p:txBody>
          <a:bodyPr>
            <a:spAutoFit/>
          </a:bodyPr>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其中目标函数为总利润，</a:t>
            </a:r>
            <a:r>
              <a:rPr lang="en-US" altLang="zh-CN" sz="2800" b="1" dirty="0">
                <a:solidFill>
                  <a:srgbClr val="0000FF"/>
                </a:solidFill>
                <a:latin typeface="Times New Roman" panose="02020603050405020304" pitchFamily="18" charset="0"/>
              </a:rPr>
              <a:t>x</a:t>
            </a:r>
            <a:r>
              <a:rPr lang="en-US" altLang="zh-CN" sz="2800" b="1" baseline="-30000" dirty="0">
                <a:solidFill>
                  <a:srgbClr val="0000FF"/>
                </a:solidFill>
                <a:latin typeface="Times New Roman" panose="02020603050405020304" pitchFamily="18" charset="0"/>
              </a:rPr>
              <a:t>1</a:t>
            </a:r>
            <a:r>
              <a:rPr lang="en-US" altLang="zh-CN" sz="2800" b="1" dirty="0">
                <a:solidFill>
                  <a:srgbClr val="0000FF"/>
                </a:solidFill>
                <a:latin typeface="Times New Roman" panose="02020603050405020304" pitchFamily="18" charset="0"/>
              </a:rPr>
              <a:t>,x</a:t>
            </a:r>
            <a:r>
              <a:rPr lang="en-US" altLang="zh-CN" sz="2800" b="1" baseline="-30000" dirty="0">
                <a:solidFill>
                  <a:srgbClr val="0000FF"/>
                </a:solidFill>
                <a:latin typeface="Times New Roman" panose="02020603050405020304" pitchFamily="18" charset="0"/>
              </a:rPr>
              <a:t>2</a:t>
            </a:r>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为产品</a:t>
            </a:r>
            <a:r>
              <a:rPr lang="en-US" altLang="zh-CN" sz="2800" dirty="0">
                <a:solidFill>
                  <a:srgbClr val="0000FF"/>
                </a:solidFill>
                <a:latin typeface="Times New Roman" panose="02020603050405020304" pitchFamily="18" charset="0"/>
              </a:rPr>
              <a:t>A</a:t>
            </a:r>
            <a:r>
              <a:rPr lang="zh-CN" altLang="en-US" sz="2800" dirty="0">
                <a:solidFill>
                  <a:srgbClr val="0000FF"/>
                </a:solidFill>
                <a:latin typeface="Times New Roman" panose="02020603050405020304" pitchFamily="18" charset="0"/>
              </a:rPr>
              <a:t>、</a:t>
            </a:r>
            <a:r>
              <a:rPr lang="en-US" altLang="zh-CN" sz="2800" dirty="0">
                <a:solidFill>
                  <a:srgbClr val="0000FF"/>
                </a:solidFill>
                <a:latin typeface="Times New Roman" panose="02020603050405020304" pitchFamily="18" charset="0"/>
              </a:rPr>
              <a:t>B</a:t>
            </a:r>
            <a:r>
              <a:rPr lang="zh-CN" altLang="en-US" sz="2800" b="1" dirty="0">
                <a:solidFill>
                  <a:srgbClr val="0000FF"/>
                </a:solidFill>
                <a:latin typeface="Times New Roman" panose="02020603050405020304" pitchFamily="18" charset="0"/>
              </a:rPr>
              <a:t>产量。现有下列目标：</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1</a:t>
            </a:r>
            <a:r>
              <a:rPr lang="zh-CN" altLang="en-US" sz="2800" b="1" dirty="0">
                <a:solidFill>
                  <a:srgbClr val="0000FF"/>
                </a:solidFill>
                <a:latin typeface="Times New Roman" panose="02020603050405020304" pitchFamily="18" charset="0"/>
              </a:rPr>
              <a:t>、要求总利润必须超过 </a:t>
            </a:r>
            <a:r>
              <a:rPr lang="en-US" altLang="zh-CN" sz="2800" b="1" dirty="0">
                <a:solidFill>
                  <a:srgbClr val="0000FF"/>
                </a:solidFill>
                <a:latin typeface="Times New Roman" panose="02020603050405020304" pitchFamily="18" charset="0"/>
              </a:rPr>
              <a:t>2500 </a:t>
            </a:r>
            <a:r>
              <a:rPr lang="zh-CN" altLang="en-US" sz="2800" b="1" dirty="0">
                <a:solidFill>
                  <a:srgbClr val="0000FF"/>
                </a:solidFill>
                <a:latin typeface="Times New Roman" panose="02020603050405020304" pitchFamily="18" charset="0"/>
              </a:rPr>
              <a:t>元；</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2</a:t>
            </a:r>
            <a:r>
              <a:rPr lang="zh-CN" altLang="en-US" sz="2800" b="1" dirty="0">
                <a:solidFill>
                  <a:srgbClr val="0000FF"/>
                </a:solidFill>
                <a:latin typeface="Times New Roman" panose="02020603050405020304" pitchFamily="18" charset="0"/>
              </a:rPr>
              <a:t>、考虑产品受市场影响，为避免积压，</a:t>
            </a:r>
            <a:r>
              <a:rPr lang="en-US" altLang="zh-CN" sz="2800" dirty="0">
                <a:solidFill>
                  <a:srgbClr val="0000FF"/>
                </a:solidFill>
                <a:latin typeface="Times New Roman" panose="02020603050405020304" pitchFamily="18" charset="0"/>
              </a:rPr>
              <a:t>A</a:t>
            </a:r>
            <a:r>
              <a:rPr lang="zh-CN" altLang="en-US" sz="2800" dirty="0">
                <a:solidFill>
                  <a:srgbClr val="0000FF"/>
                </a:solidFill>
                <a:latin typeface="Times New Roman" panose="02020603050405020304" pitchFamily="18" charset="0"/>
              </a:rPr>
              <a:t>、</a:t>
            </a:r>
            <a:r>
              <a:rPr lang="en-US" altLang="zh-CN" sz="2800" dirty="0">
                <a:solidFill>
                  <a:srgbClr val="0000FF"/>
                </a:solidFill>
                <a:latin typeface="Times New Roman" panose="02020603050405020304" pitchFamily="18" charset="0"/>
              </a:rPr>
              <a:t>B</a:t>
            </a:r>
            <a:r>
              <a:rPr lang="zh-CN" altLang="en-US" sz="2800" dirty="0">
                <a:solidFill>
                  <a:srgbClr val="0000FF"/>
                </a:solidFill>
                <a:latin typeface="Times New Roman" panose="02020603050405020304" pitchFamily="18" charset="0"/>
              </a:rPr>
              <a:t>的</a:t>
            </a:r>
            <a:r>
              <a:rPr lang="zh-CN" altLang="en-US" sz="2800" b="1" dirty="0">
                <a:solidFill>
                  <a:srgbClr val="0000FF"/>
                </a:solidFill>
                <a:latin typeface="Times New Roman" panose="02020603050405020304" pitchFamily="18" charset="0"/>
              </a:rPr>
              <a:t>生产量不超过 </a:t>
            </a:r>
            <a:r>
              <a:rPr lang="en-US" altLang="zh-CN" sz="2800" b="1" dirty="0">
                <a:solidFill>
                  <a:srgbClr val="0000FF"/>
                </a:solidFill>
                <a:latin typeface="Times New Roman" panose="02020603050405020304" pitchFamily="18" charset="0"/>
              </a:rPr>
              <a:t>60 </a:t>
            </a:r>
            <a:r>
              <a:rPr lang="zh-CN" altLang="en-US" sz="2800" b="1" dirty="0">
                <a:solidFill>
                  <a:srgbClr val="0000FF"/>
                </a:solidFill>
                <a:latin typeface="Times New Roman" panose="02020603050405020304" pitchFamily="18" charset="0"/>
              </a:rPr>
              <a:t>件和 </a:t>
            </a:r>
            <a:r>
              <a:rPr lang="en-US" altLang="zh-CN" sz="2800" b="1" dirty="0">
                <a:solidFill>
                  <a:srgbClr val="0000FF"/>
                </a:solidFill>
                <a:latin typeface="Times New Roman" panose="02020603050405020304" pitchFamily="18" charset="0"/>
              </a:rPr>
              <a:t>100 </a:t>
            </a:r>
            <a:r>
              <a:rPr lang="zh-CN" altLang="en-US" sz="2800" b="1" dirty="0">
                <a:solidFill>
                  <a:srgbClr val="0000FF"/>
                </a:solidFill>
                <a:latin typeface="Times New Roman" panose="02020603050405020304" pitchFamily="18" charset="0"/>
              </a:rPr>
              <a:t>件；</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3</a:t>
            </a:r>
            <a:r>
              <a:rPr lang="zh-CN" altLang="en-US" sz="2800" b="1" dirty="0">
                <a:solidFill>
                  <a:srgbClr val="0000FF"/>
                </a:solidFill>
                <a:latin typeface="Times New Roman" panose="02020603050405020304" pitchFamily="18" charset="0"/>
              </a:rPr>
              <a:t>、由于甲资源供应比较紧张，不要超过现有量</a:t>
            </a:r>
            <a:r>
              <a:rPr lang="en-US" altLang="zh-CN" sz="2800" b="1" dirty="0">
                <a:solidFill>
                  <a:srgbClr val="0000FF"/>
                </a:solidFill>
                <a:latin typeface="Times New Roman" panose="02020603050405020304" pitchFamily="18" charset="0"/>
              </a:rPr>
              <a:t>140</a:t>
            </a:r>
            <a:r>
              <a:rPr lang="zh-CN" altLang="en-US" sz="2800" b="1" dirty="0">
                <a:solidFill>
                  <a:srgbClr val="0000FF"/>
                </a:solidFill>
                <a:latin typeface="Times New Roman" panose="02020603050405020304" pitchFamily="18" charset="0"/>
              </a:rPr>
              <a:t>。</a:t>
            </a:r>
            <a:endParaRPr lang="zh-CN" altLang="en-US" sz="2800" b="1" dirty="0">
              <a:solidFill>
                <a:srgbClr val="0000FF"/>
              </a:solidFill>
              <a:latin typeface="Times New Roman" panose="02020603050405020304" pitchFamily="18" charset="0"/>
            </a:endParaRPr>
          </a:p>
          <a:p>
            <a:r>
              <a:rPr lang="zh-CN" altLang="en-US" sz="2800" b="1" dirty="0">
                <a:solidFill>
                  <a:srgbClr val="0000FF"/>
                </a:solidFill>
                <a:latin typeface="Times New Roman" panose="02020603050405020304" pitchFamily="18" charset="0"/>
              </a:rPr>
              <a:t>试建立目标规划模型，并用图解法求解。</a:t>
            </a:r>
            <a:endParaRPr lang="zh-CN" altLang="en-US" sz="2800" b="1" dirty="0">
              <a:solidFill>
                <a:srgbClr val="0000FF"/>
              </a:solidFill>
              <a:latin typeface="Times New Roman" panose="02020603050405020304" pitchFamily="18" charset="0"/>
            </a:endParaRPr>
          </a:p>
        </p:txBody>
      </p:sp>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Text Box 2"/>
          <p:cNvSpPr txBox="1"/>
          <p:nvPr/>
        </p:nvSpPr>
        <p:spPr>
          <a:xfrm>
            <a:off x="228600" y="685800"/>
            <a:ext cx="8686800" cy="946150"/>
          </a:xfrm>
          <a:prstGeom prst="rect">
            <a:avLst/>
          </a:prstGeom>
          <a:noFill/>
          <a:ln w="9525">
            <a:noFill/>
          </a:ln>
        </p:spPr>
        <p:txBody>
          <a:bodyPr>
            <a:spAutoFit/>
          </a:bodyPr>
          <a:p>
            <a:pPr>
              <a:spcBef>
                <a:spcPct val="50000"/>
              </a:spcBef>
            </a:pPr>
            <a:r>
              <a:rPr lang="en-US" altLang="zh-CN" sz="2800" b="1" dirty="0">
                <a:solidFill>
                  <a:srgbClr val="0000FF"/>
                </a:solidFill>
                <a:latin typeface="楷体_GB2312" pitchFamily="49" charset="-122"/>
              </a:rPr>
              <a:t>  </a:t>
            </a:r>
            <a:r>
              <a:rPr lang="zh-CN" altLang="en-US" sz="2800" b="1" dirty="0">
                <a:solidFill>
                  <a:srgbClr val="0000FF"/>
                </a:solidFill>
                <a:latin typeface="楷体_GB2312" pitchFamily="49" charset="-122"/>
              </a:rPr>
              <a:t>解：以产品 </a:t>
            </a:r>
            <a:r>
              <a:rPr lang="en-US" altLang="zh-CN" sz="2800" b="1" dirty="0">
                <a:solidFill>
                  <a:srgbClr val="0000FF"/>
                </a:solidFill>
                <a:latin typeface="楷体_GB2312" pitchFamily="49" charset="-122"/>
              </a:rPr>
              <a:t>A</a:t>
            </a:r>
            <a:r>
              <a:rPr lang="zh-CN" altLang="en-US" sz="2800" b="1" dirty="0">
                <a:solidFill>
                  <a:srgbClr val="0000FF"/>
                </a:solidFill>
                <a:latin typeface="楷体_GB2312" pitchFamily="49" charset="-122"/>
              </a:rPr>
              <a:t>、</a:t>
            </a:r>
            <a:r>
              <a:rPr lang="en-US" altLang="zh-CN" sz="2800" b="1" dirty="0">
                <a:solidFill>
                  <a:srgbClr val="0000FF"/>
                </a:solidFill>
                <a:latin typeface="楷体_GB2312" pitchFamily="49" charset="-122"/>
              </a:rPr>
              <a:t>B </a:t>
            </a:r>
            <a:r>
              <a:rPr lang="zh-CN" altLang="en-US" sz="2800" b="1" dirty="0">
                <a:solidFill>
                  <a:srgbClr val="0000FF"/>
                </a:solidFill>
                <a:latin typeface="楷体_GB2312" pitchFamily="49" charset="-122"/>
              </a:rPr>
              <a:t>的单件利润比 </a:t>
            </a:r>
            <a:r>
              <a:rPr lang="en-US" altLang="zh-CN" sz="2800" b="1" dirty="0">
                <a:solidFill>
                  <a:srgbClr val="0000FF"/>
                </a:solidFill>
                <a:latin typeface="楷体_GB2312" pitchFamily="49" charset="-122"/>
              </a:rPr>
              <a:t>2.5 </a:t>
            </a:r>
            <a:r>
              <a:rPr lang="zh-CN" altLang="en-US" sz="2800" b="1" dirty="0">
                <a:solidFill>
                  <a:srgbClr val="0000FF"/>
                </a:solidFill>
                <a:latin typeface="楷体_GB2312" pitchFamily="49" charset="-122"/>
              </a:rPr>
              <a:t>：</a:t>
            </a:r>
            <a:r>
              <a:rPr lang="en-US" altLang="zh-CN" sz="2800" b="1" dirty="0">
                <a:solidFill>
                  <a:srgbClr val="0000FF"/>
                </a:solidFill>
                <a:latin typeface="楷体_GB2312" pitchFamily="49" charset="-122"/>
              </a:rPr>
              <a:t>1 </a:t>
            </a:r>
            <a:r>
              <a:rPr lang="zh-CN" altLang="en-US" sz="2800" b="1" dirty="0">
                <a:solidFill>
                  <a:srgbClr val="0000FF"/>
                </a:solidFill>
                <a:latin typeface="楷体_GB2312" pitchFamily="49" charset="-122"/>
              </a:rPr>
              <a:t>为权系数，模型如下：</a:t>
            </a:r>
            <a:endParaRPr lang="zh-CN" altLang="en-US" sz="2800" b="1" dirty="0">
              <a:solidFill>
                <a:srgbClr val="0000FF"/>
              </a:solidFill>
              <a:latin typeface="楷体_GB2312" pitchFamily="49" charset="-122"/>
            </a:endParaRPr>
          </a:p>
        </p:txBody>
      </p:sp>
      <p:graphicFrame>
        <p:nvGraphicFramePr>
          <p:cNvPr id="12290" name="Object 3"/>
          <p:cNvGraphicFramePr/>
          <p:nvPr/>
        </p:nvGraphicFramePr>
        <p:xfrm>
          <a:off x="1092200" y="1544638"/>
          <a:ext cx="6884988" cy="4225925"/>
        </p:xfrm>
        <a:graphic>
          <a:graphicData uri="http://schemas.openxmlformats.org/presentationml/2006/ole">
            <mc:AlternateContent xmlns:mc="http://schemas.openxmlformats.org/markup-compatibility/2006">
              <mc:Choice xmlns:v="urn:schemas-microsoft-com:vml" Requires="v">
                <p:oleObj spid="_x0000_s3113" name="" r:id="rId1" imgW="2387600" imgH="1549400" progId="Equation.3">
                  <p:embed/>
                </p:oleObj>
              </mc:Choice>
              <mc:Fallback>
                <p:oleObj name="" r:id="rId1" imgW="2387600" imgH="1549400" progId="Equation.3">
                  <p:embed/>
                  <p:pic>
                    <p:nvPicPr>
                      <p:cNvPr id="0" name="图片 3112"/>
                      <p:cNvPicPr/>
                      <p:nvPr/>
                    </p:nvPicPr>
                    <p:blipFill>
                      <a:blip r:embed="rId2"/>
                      <a:stretch>
                        <a:fillRect/>
                      </a:stretch>
                    </p:blipFill>
                    <p:spPr>
                      <a:xfrm>
                        <a:off x="1092200" y="1544638"/>
                        <a:ext cx="6884988" cy="4225925"/>
                      </a:xfrm>
                      <a:prstGeom prst="rect">
                        <a:avLst/>
                      </a:prstGeom>
                      <a:noFill/>
                      <a:ln w="38100">
                        <a:noFill/>
                        <a:miter/>
                      </a:ln>
                    </p:spPr>
                  </p:pic>
                </p:oleObj>
              </mc:Fallback>
            </mc:AlternateContent>
          </a:graphicData>
        </a:graphic>
      </p:graphicFrame>
      <p:sp>
        <p:nvSpPr>
          <p:cNvPr id="12292" name="AutoShape 4"/>
          <p:cNvSpPr/>
          <p:nvPr/>
        </p:nvSpPr>
        <p:spPr>
          <a:xfrm>
            <a:off x="4038600" y="5638800"/>
            <a:ext cx="228600" cy="762000"/>
          </a:xfrm>
          <a:prstGeom prst="downArrow">
            <a:avLst>
              <a:gd name="adj1" fmla="val 50000"/>
              <a:gd name="adj2" fmla="val 83333"/>
            </a:avLst>
          </a:prstGeom>
          <a:solidFill>
            <a:srgbClr val="FF9900"/>
          </a:solidFill>
          <a:ln w="9525">
            <a:noFill/>
          </a:ln>
        </p:spPr>
        <p:txBody>
          <a:bodyPr vert="eaVert" wrap="none" anchor="ctr" anchorCtr="0"/>
          <a:p>
            <a:endParaRPr lang="zh-CN" altLang="en-US" dirty="0">
              <a:latin typeface="Times New Roman" panose="02020603050405020304" pitchFamily="18" charset="0"/>
            </a:endParaRPr>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23" name="Line 4"/>
          <p:cNvSpPr/>
          <p:nvPr/>
        </p:nvSpPr>
        <p:spPr>
          <a:xfrm>
            <a:off x="1981200" y="3886200"/>
            <a:ext cx="76200" cy="0"/>
          </a:xfrm>
          <a:prstGeom prst="line">
            <a:avLst/>
          </a:prstGeom>
          <a:ln w="9525" cap="flat" cmpd="sng">
            <a:solidFill>
              <a:schemeClr val="tx1"/>
            </a:solidFill>
            <a:prstDash val="solid"/>
            <a:headEnd type="none" w="med" len="med"/>
            <a:tailEnd type="none" w="med" len="med"/>
          </a:ln>
        </p:spPr>
      </p:sp>
      <p:sp>
        <p:nvSpPr>
          <p:cNvPr id="13324" name="Line 5"/>
          <p:cNvSpPr/>
          <p:nvPr/>
        </p:nvSpPr>
        <p:spPr>
          <a:xfrm flipH="1">
            <a:off x="1981200" y="3581400"/>
            <a:ext cx="0" cy="0"/>
          </a:xfrm>
          <a:prstGeom prst="line">
            <a:avLst/>
          </a:prstGeom>
          <a:ln w="9525" cap="flat" cmpd="sng">
            <a:solidFill>
              <a:schemeClr val="tx1"/>
            </a:solidFill>
            <a:prstDash val="solid"/>
            <a:headEnd type="none" w="med" len="med"/>
            <a:tailEnd type="none" w="med" len="med"/>
          </a:ln>
        </p:spPr>
      </p:sp>
      <p:sp>
        <p:nvSpPr>
          <p:cNvPr id="13325" name="Line 6"/>
          <p:cNvSpPr/>
          <p:nvPr/>
        </p:nvSpPr>
        <p:spPr>
          <a:xfrm>
            <a:off x="1981200" y="3124200"/>
            <a:ext cx="76200" cy="0"/>
          </a:xfrm>
          <a:prstGeom prst="line">
            <a:avLst/>
          </a:prstGeom>
          <a:ln w="9525" cap="flat" cmpd="sng">
            <a:solidFill>
              <a:schemeClr val="tx1"/>
            </a:solidFill>
            <a:prstDash val="solid"/>
            <a:headEnd type="none" w="med" len="med"/>
            <a:tailEnd type="none" w="med" len="med"/>
          </a:ln>
        </p:spPr>
      </p:sp>
      <p:sp>
        <p:nvSpPr>
          <p:cNvPr id="13326" name="Line 7"/>
          <p:cNvSpPr/>
          <p:nvPr/>
        </p:nvSpPr>
        <p:spPr>
          <a:xfrm>
            <a:off x="1981200" y="2743200"/>
            <a:ext cx="76200" cy="0"/>
          </a:xfrm>
          <a:prstGeom prst="line">
            <a:avLst/>
          </a:prstGeom>
          <a:ln w="9525" cap="flat" cmpd="sng">
            <a:solidFill>
              <a:schemeClr val="tx1"/>
            </a:solidFill>
            <a:prstDash val="solid"/>
            <a:headEnd type="none" w="med" len="med"/>
            <a:tailEnd type="none" w="med" len="med"/>
          </a:ln>
        </p:spPr>
      </p:sp>
      <p:sp>
        <p:nvSpPr>
          <p:cNvPr id="13327" name="Line 8"/>
          <p:cNvSpPr/>
          <p:nvPr/>
        </p:nvSpPr>
        <p:spPr>
          <a:xfrm>
            <a:off x="1981200" y="2362200"/>
            <a:ext cx="76200" cy="0"/>
          </a:xfrm>
          <a:prstGeom prst="line">
            <a:avLst/>
          </a:prstGeom>
          <a:ln w="9525" cap="flat" cmpd="sng">
            <a:solidFill>
              <a:schemeClr val="tx1"/>
            </a:solidFill>
            <a:prstDash val="solid"/>
            <a:headEnd type="none" w="med" len="med"/>
            <a:tailEnd type="none" w="med" len="med"/>
          </a:ln>
        </p:spPr>
      </p:sp>
      <p:sp>
        <p:nvSpPr>
          <p:cNvPr id="13328" name="Line 9"/>
          <p:cNvSpPr/>
          <p:nvPr/>
        </p:nvSpPr>
        <p:spPr>
          <a:xfrm>
            <a:off x="1981200" y="1981200"/>
            <a:ext cx="76200" cy="0"/>
          </a:xfrm>
          <a:prstGeom prst="line">
            <a:avLst/>
          </a:prstGeom>
          <a:ln w="9525" cap="flat" cmpd="sng">
            <a:solidFill>
              <a:schemeClr val="tx1"/>
            </a:solidFill>
            <a:prstDash val="solid"/>
            <a:headEnd type="none" w="med" len="med"/>
            <a:tailEnd type="none" w="med" len="med"/>
          </a:ln>
        </p:spPr>
      </p:sp>
      <p:sp>
        <p:nvSpPr>
          <p:cNvPr id="13329" name="Line 10"/>
          <p:cNvSpPr/>
          <p:nvPr/>
        </p:nvSpPr>
        <p:spPr>
          <a:xfrm>
            <a:off x="1981200" y="3505200"/>
            <a:ext cx="76200" cy="0"/>
          </a:xfrm>
          <a:prstGeom prst="line">
            <a:avLst/>
          </a:prstGeom>
          <a:ln w="9525" cap="flat" cmpd="sng">
            <a:solidFill>
              <a:schemeClr val="tx1"/>
            </a:solidFill>
            <a:prstDash val="solid"/>
            <a:headEnd type="none" w="med" len="med"/>
            <a:tailEnd type="none" w="med" len="med"/>
          </a:ln>
        </p:spPr>
      </p:sp>
      <p:sp>
        <p:nvSpPr>
          <p:cNvPr id="13330" name="Text Box 11"/>
          <p:cNvSpPr txBox="1"/>
          <p:nvPr/>
        </p:nvSpPr>
        <p:spPr>
          <a:xfrm>
            <a:off x="1752600" y="4343400"/>
            <a:ext cx="260350" cy="274638"/>
          </a:xfrm>
          <a:prstGeom prst="rect">
            <a:avLst/>
          </a:prstGeom>
          <a:noFill/>
          <a:ln w="9525">
            <a:noFill/>
          </a:ln>
        </p:spPr>
        <p:txBody>
          <a:bodyPr wrap="none">
            <a:spAutoFit/>
          </a:bodyPr>
          <a:p>
            <a:r>
              <a:rPr lang="en-US" altLang="zh-CN" sz="1200" dirty="0">
                <a:latin typeface="Times New Roman" panose="02020603050405020304" pitchFamily="18" charset="0"/>
                <a:ea typeface="宋体" panose="02010600030101010101" pitchFamily="2" charset="-122"/>
              </a:rPr>
              <a:t>0</a:t>
            </a:r>
            <a:endParaRPr lang="en-US" altLang="zh-CN" sz="1200" dirty="0">
              <a:latin typeface="Times New Roman" panose="02020603050405020304" pitchFamily="18" charset="0"/>
              <a:ea typeface="宋体" panose="02010600030101010101" pitchFamily="2" charset="-122"/>
            </a:endParaRPr>
          </a:p>
        </p:txBody>
      </p:sp>
      <p:sp>
        <p:nvSpPr>
          <p:cNvPr id="13331" name="Rectangle 13"/>
          <p:cNvSpPr/>
          <p:nvPr/>
        </p:nvSpPr>
        <p:spPr>
          <a:xfrm>
            <a:off x="1676400" y="762000"/>
            <a:ext cx="381000" cy="304800"/>
          </a:xfrm>
          <a:prstGeom prst="rect">
            <a:avLst/>
          </a:prstGeom>
          <a:noFill/>
          <a:ln w="9525">
            <a:noFill/>
          </a:ln>
        </p:spPr>
        <p:txBody>
          <a:bodyPr>
            <a:spAutoFit/>
          </a:bodyPr>
          <a:p>
            <a:r>
              <a:rPr lang="en-US" altLang="zh-CN" sz="1400" dirty="0">
                <a:latin typeface="Times New Roman" panose="02020603050405020304" pitchFamily="18" charset="0"/>
                <a:ea typeface="宋体" panose="02010600030101010101" pitchFamily="2" charset="-122"/>
              </a:rPr>
              <a:t>x</a:t>
            </a:r>
            <a:r>
              <a:rPr lang="en-US" altLang="zh-CN" sz="1400" baseline="-30000" dirty="0">
                <a:latin typeface="Times New Roman" panose="02020603050405020304" pitchFamily="18" charset="0"/>
                <a:ea typeface="宋体" panose="02010600030101010101" pitchFamily="2" charset="-122"/>
              </a:rPr>
              <a:t>2</a:t>
            </a:r>
            <a:r>
              <a:rPr lang="en-US" altLang="zh-CN" sz="1400"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3332" name="Line 14"/>
          <p:cNvSpPr/>
          <p:nvPr/>
        </p:nvSpPr>
        <p:spPr>
          <a:xfrm>
            <a:off x="1981200" y="1676400"/>
            <a:ext cx="76200" cy="0"/>
          </a:xfrm>
          <a:prstGeom prst="line">
            <a:avLst/>
          </a:prstGeom>
          <a:ln w="9525" cap="flat" cmpd="sng">
            <a:solidFill>
              <a:schemeClr val="tx1"/>
            </a:solidFill>
            <a:prstDash val="solid"/>
            <a:headEnd type="none" w="med" len="med"/>
            <a:tailEnd type="none" w="med" len="med"/>
          </a:ln>
        </p:spPr>
      </p:sp>
      <p:sp>
        <p:nvSpPr>
          <p:cNvPr id="13333" name="Line 15"/>
          <p:cNvSpPr/>
          <p:nvPr/>
        </p:nvSpPr>
        <p:spPr>
          <a:xfrm flipV="1">
            <a:off x="1981200" y="304800"/>
            <a:ext cx="0" cy="4876800"/>
          </a:xfrm>
          <a:prstGeom prst="line">
            <a:avLst/>
          </a:prstGeom>
          <a:ln w="28575" cap="flat" cmpd="sng">
            <a:solidFill>
              <a:schemeClr val="tx1"/>
            </a:solidFill>
            <a:prstDash val="solid"/>
            <a:headEnd type="none" w="med" len="med"/>
            <a:tailEnd type="triangle" w="med" len="med"/>
          </a:ln>
        </p:spPr>
      </p:sp>
      <p:sp>
        <p:nvSpPr>
          <p:cNvPr id="13334" name="Line 16"/>
          <p:cNvSpPr/>
          <p:nvPr/>
        </p:nvSpPr>
        <p:spPr>
          <a:xfrm>
            <a:off x="1981200" y="1371600"/>
            <a:ext cx="76200" cy="0"/>
          </a:xfrm>
          <a:prstGeom prst="line">
            <a:avLst/>
          </a:prstGeom>
          <a:ln w="9525" cap="flat" cmpd="sng">
            <a:solidFill>
              <a:schemeClr val="tx1"/>
            </a:solidFill>
            <a:prstDash val="solid"/>
            <a:headEnd type="none" w="med" len="med"/>
            <a:tailEnd type="none" w="med" len="med"/>
          </a:ln>
        </p:spPr>
      </p:sp>
      <p:sp>
        <p:nvSpPr>
          <p:cNvPr id="13335" name="Line 30"/>
          <p:cNvSpPr/>
          <p:nvPr/>
        </p:nvSpPr>
        <p:spPr>
          <a:xfrm>
            <a:off x="1447800" y="4267200"/>
            <a:ext cx="5105400" cy="0"/>
          </a:xfrm>
          <a:prstGeom prst="line">
            <a:avLst/>
          </a:prstGeom>
          <a:ln w="28575" cap="flat" cmpd="sng">
            <a:solidFill>
              <a:schemeClr val="tx1"/>
            </a:solidFill>
            <a:prstDash val="solid"/>
            <a:headEnd type="none" w="med" len="med"/>
            <a:tailEnd type="triangle" w="med" len="med"/>
          </a:ln>
        </p:spPr>
      </p:sp>
      <p:sp>
        <p:nvSpPr>
          <p:cNvPr id="13336" name="Line 31"/>
          <p:cNvSpPr/>
          <p:nvPr/>
        </p:nvSpPr>
        <p:spPr>
          <a:xfrm rot="-5400000">
            <a:off x="2324100" y="4229100"/>
            <a:ext cx="76200" cy="0"/>
          </a:xfrm>
          <a:prstGeom prst="line">
            <a:avLst/>
          </a:prstGeom>
          <a:ln w="9525" cap="flat" cmpd="sng">
            <a:solidFill>
              <a:schemeClr val="tx1"/>
            </a:solidFill>
            <a:prstDash val="solid"/>
            <a:headEnd type="none" w="med" len="med"/>
            <a:tailEnd type="none" w="med" len="med"/>
          </a:ln>
        </p:spPr>
      </p:sp>
      <p:sp>
        <p:nvSpPr>
          <p:cNvPr id="13337" name="Line 32"/>
          <p:cNvSpPr/>
          <p:nvPr/>
        </p:nvSpPr>
        <p:spPr>
          <a:xfrm rot="-5400000">
            <a:off x="2705100" y="4229100"/>
            <a:ext cx="76200" cy="0"/>
          </a:xfrm>
          <a:prstGeom prst="line">
            <a:avLst/>
          </a:prstGeom>
          <a:ln w="9525" cap="flat" cmpd="sng">
            <a:solidFill>
              <a:schemeClr val="tx1"/>
            </a:solidFill>
            <a:prstDash val="solid"/>
            <a:headEnd type="none" w="med" len="med"/>
            <a:tailEnd type="none" w="med" len="med"/>
          </a:ln>
        </p:spPr>
      </p:sp>
      <p:sp>
        <p:nvSpPr>
          <p:cNvPr id="13338" name="Line 33"/>
          <p:cNvSpPr/>
          <p:nvPr/>
        </p:nvSpPr>
        <p:spPr>
          <a:xfrm rot="-5400000">
            <a:off x="3086100" y="4229100"/>
            <a:ext cx="76200" cy="0"/>
          </a:xfrm>
          <a:prstGeom prst="line">
            <a:avLst/>
          </a:prstGeom>
          <a:ln w="9525" cap="flat" cmpd="sng">
            <a:solidFill>
              <a:schemeClr val="tx1"/>
            </a:solidFill>
            <a:prstDash val="solid"/>
            <a:headEnd type="none" w="med" len="med"/>
            <a:tailEnd type="none" w="med" len="med"/>
          </a:ln>
        </p:spPr>
      </p:sp>
      <p:sp>
        <p:nvSpPr>
          <p:cNvPr id="13339" name="Line 34"/>
          <p:cNvSpPr/>
          <p:nvPr/>
        </p:nvSpPr>
        <p:spPr>
          <a:xfrm rot="-5400000">
            <a:off x="3467100" y="4229100"/>
            <a:ext cx="76200" cy="0"/>
          </a:xfrm>
          <a:prstGeom prst="line">
            <a:avLst/>
          </a:prstGeom>
          <a:ln w="9525" cap="flat" cmpd="sng">
            <a:solidFill>
              <a:schemeClr val="tx1"/>
            </a:solidFill>
            <a:prstDash val="solid"/>
            <a:headEnd type="none" w="med" len="med"/>
            <a:tailEnd type="none" w="med" len="med"/>
          </a:ln>
        </p:spPr>
      </p:sp>
      <p:sp>
        <p:nvSpPr>
          <p:cNvPr id="13340" name="Line 35"/>
          <p:cNvSpPr/>
          <p:nvPr/>
        </p:nvSpPr>
        <p:spPr>
          <a:xfrm rot="-5400000">
            <a:off x="3848100" y="4229100"/>
            <a:ext cx="76200" cy="0"/>
          </a:xfrm>
          <a:prstGeom prst="line">
            <a:avLst/>
          </a:prstGeom>
          <a:ln w="9525" cap="flat" cmpd="sng">
            <a:solidFill>
              <a:schemeClr val="tx1"/>
            </a:solidFill>
            <a:prstDash val="solid"/>
            <a:headEnd type="none" w="med" len="med"/>
            <a:tailEnd type="none" w="med" len="med"/>
          </a:ln>
        </p:spPr>
      </p:sp>
      <p:sp>
        <p:nvSpPr>
          <p:cNvPr id="13341" name="Line 36"/>
          <p:cNvSpPr/>
          <p:nvPr/>
        </p:nvSpPr>
        <p:spPr>
          <a:xfrm rot="-5400000">
            <a:off x="4229100" y="4229100"/>
            <a:ext cx="76200" cy="0"/>
          </a:xfrm>
          <a:prstGeom prst="line">
            <a:avLst/>
          </a:prstGeom>
          <a:ln w="9525" cap="flat" cmpd="sng">
            <a:solidFill>
              <a:schemeClr val="tx1"/>
            </a:solidFill>
            <a:prstDash val="solid"/>
            <a:headEnd type="none" w="med" len="med"/>
            <a:tailEnd type="none" w="med" len="med"/>
          </a:ln>
        </p:spPr>
      </p:sp>
      <p:sp>
        <p:nvSpPr>
          <p:cNvPr id="13342" name="Line 37"/>
          <p:cNvSpPr/>
          <p:nvPr/>
        </p:nvSpPr>
        <p:spPr>
          <a:xfrm rot="-5400000">
            <a:off x="4610100" y="4229100"/>
            <a:ext cx="76200" cy="0"/>
          </a:xfrm>
          <a:prstGeom prst="line">
            <a:avLst/>
          </a:prstGeom>
          <a:ln w="9525" cap="flat" cmpd="sng">
            <a:solidFill>
              <a:schemeClr val="tx1"/>
            </a:solidFill>
            <a:prstDash val="solid"/>
            <a:headEnd type="none" w="med" len="med"/>
            <a:tailEnd type="none" w="med" len="med"/>
          </a:ln>
        </p:spPr>
      </p:sp>
      <p:sp>
        <p:nvSpPr>
          <p:cNvPr id="13343" name="Line 38"/>
          <p:cNvSpPr/>
          <p:nvPr/>
        </p:nvSpPr>
        <p:spPr>
          <a:xfrm rot="-5400000">
            <a:off x="4991100" y="4229100"/>
            <a:ext cx="76200" cy="0"/>
          </a:xfrm>
          <a:prstGeom prst="line">
            <a:avLst/>
          </a:prstGeom>
          <a:ln w="9525" cap="flat" cmpd="sng">
            <a:solidFill>
              <a:schemeClr val="tx1"/>
            </a:solidFill>
            <a:prstDash val="solid"/>
            <a:headEnd type="none" w="med" len="med"/>
            <a:tailEnd type="none" w="med" len="med"/>
          </a:ln>
        </p:spPr>
      </p:sp>
      <p:sp>
        <p:nvSpPr>
          <p:cNvPr id="13344" name="Text Box 39"/>
          <p:cNvSpPr txBox="1"/>
          <p:nvPr/>
        </p:nvSpPr>
        <p:spPr>
          <a:xfrm>
            <a:off x="1752600" y="4343400"/>
            <a:ext cx="260350" cy="274638"/>
          </a:xfrm>
          <a:prstGeom prst="rect">
            <a:avLst/>
          </a:prstGeom>
          <a:noFill/>
          <a:ln w="9525">
            <a:noFill/>
          </a:ln>
        </p:spPr>
        <p:txBody>
          <a:bodyPr wrap="none">
            <a:spAutoFit/>
          </a:bodyPr>
          <a:p>
            <a:r>
              <a:rPr lang="en-US" altLang="zh-CN" sz="1200" dirty="0">
                <a:latin typeface="Times New Roman" panose="02020603050405020304" pitchFamily="18" charset="0"/>
                <a:ea typeface="宋体" panose="02010600030101010101" pitchFamily="2" charset="-122"/>
              </a:rPr>
              <a:t>0</a:t>
            </a:r>
            <a:endParaRPr lang="en-US" altLang="zh-CN" sz="1200" dirty="0">
              <a:latin typeface="Times New Roman" panose="02020603050405020304" pitchFamily="18" charset="0"/>
              <a:ea typeface="宋体" panose="02010600030101010101" pitchFamily="2" charset="-122"/>
            </a:endParaRPr>
          </a:p>
        </p:txBody>
      </p:sp>
      <p:sp>
        <p:nvSpPr>
          <p:cNvPr id="24617" name="Text Box 41"/>
          <p:cNvSpPr txBox="1"/>
          <p:nvPr/>
        </p:nvSpPr>
        <p:spPr>
          <a:xfrm>
            <a:off x="3886200" y="4648200"/>
            <a:ext cx="387350"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⑴</a:t>
            </a:r>
            <a:endParaRPr lang="en-US" altLang="zh-CN" sz="1600" dirty="0">
              <a:latin typeface="Times New Roman" panose="02020603050405020304" pitchFamily="18" charset="0"/>
              <a:ea typeface="宋体" panose="02010600030101010101" pitchFamily="2" charset="-122"/>
            </a:endParaRPr>
          </a:p>
        </p:txBody>
      </p:sp>
      <p:sp>
        <p:nvSpPr>
          <p:cNvPr id="13346" name="Line 42"/>
          <p:cNvSpPr/>
          <p:nvPr/>
        </p:nvSpPr>
        <p:spPr>
          <a:xfrm rot="-5400000">
            <a:off x="5372100" y="4229100"/>
            <a:ext cx="76200" cy="0"/>
          </a:xfrm>
          <a:prstGeom prst="line">
            <a:avLst/>
          </a:prstGeom>
          <a:ln w="9525" cap="flat" cmpd="sng">
            <a:solidFill>
              <a:schemeClr val="tx1"/>
            </a:solidFill>
            <a:prstDash val="solid"/>
            <a:headEnd type="none" w="med" len="med"/>
            <a:tailEnd type="none" w="med" len="med"/>
          </a:ln>
        </p:spPr>
      </p:sp>
      <p:sp>
        <p:nvSpPr>
          <p:cNvPr id="13347" name="Rectangle 43"/>
          <p:cNvSpPr/>
          <p:nvPr/>
        </p:nvSpPr>
        <p:spPr>
          <a:xfrm>
            <a:off x="6248400" y="4191000"/>
            <a:ext cx="381000" cy="304800"/>
          </a:xfrm>
          <a:prstGeom prst="rect">
            <a:avLst/>
          </a:prstGeom>
          <a:noFill/>
          <a:ln w="9525">
            <a:noFill/>
          </a:ln>
        </p:spPr>
        <p:txBody>
          <a:bodyPr>
            <a:spAutoFit/>
          </a:bodyPr>
          <a:p>
            <a:pPr algn="just"/>
            <a:r>
              <a:rPr lang="en-US" altLang="zh-CN" sz="1400" dirty="0">
                <a:latin typeface="Times New Roman" panose="02020603050405020304" pitchFamily="18" charset="0"/>
                <a:ea typeface="宋体" panose="02010600030101010101" pitchFamily="2" charset="-122"/>
              </a:rPr>
              <a:t>x</a:t>
            </a:r>
            <a:r>
              <a:rPr lang="en-US" altLang="zh-CN" sz="1400" baseline="-30000" dirty="0">
                <a:latin typeface="Times New Roman" panose="02020603050405020304" pitchFamily="18" charset="0"/>
                <a:ea typeface="宋体" panose="02010600030101010101" pitchFamily="2" charset="-122"/>
              </a:rPr>
              <a:t>1</a:t>
            </a:r>
            <a:endParaRPr lang="en-US" altLang="zh-CN" dirty="0">
              <a:latin typeface="Times New Roman" panose="02020603050405020304" pitchFamily="18" charset="0"/>
              <a:ea typeface="宋体" panose="02010600030101010101" pitchFamily="2" charset="-122"/>
            </a:endParaRPr>
          </a:p>
        </p:txBody>
      </p:sp>
      <p:sp>
        <p:nvSpPr>
          <p:cNvPr id="13348" name="Line 44"/>
          <p:cNvSpPr/>
          <p:nvPr/>
        </p:nvSpPr>
        <p:spPr>
          <a:xfrm rot="-5400000">
            <a:off x="5676900" y="4229100"/>
            <a:ext cx="76200" cy="0"/>
          </a:xfrm>
          <a:prstGeom prst="line">
            <a:avLst/>
          </a:prstGeom>
          <a:ln w="9525" cap="flat" cmpd="sng">
            <a:solidFill>
              <a:schemeClr val="tx1"/>
            </a:solidFill>
            <a:prstDash val="solid"/>
            <a:headEnd type="none" w="med" len="med"/>
            <a:tailEnd type="none" w="med" len="med"/>
          </a:ln>
        </p:spPr>
      </p:sp>
      <p:sp>
        <p:nvSpPr>
          <p:cNvPr id="13349" name="Text Box 46"/>
          <p:cNvSpPr txBox="1"/>
          <p:nvPr/>
        </p:nvSpPr>
        <p:spPr>
          <a:xfrm>
            <a:off x="1371600" y="1524000"/>
            <a:ext cx="450850" cy="2589213"/>
          </a:xfrm>
          <a:prstGeom prst="rect">
            <a:avLst/>
          </a:prstGeom>
          <a:noFill/>
          <a:ln w="9525">
            <a:noFill/>
          </a:ln>
        </p:spPr>
        <p:txBody>
          <a:bodyPr wrap="none">
            <a:spAutoFit/>
          </a:bodyPr>
          <a:p>
            <a:pPr>
              <a:lnSpc>
                <a:spcPct val="90000"/>
              </a:lnSpc>
            </a:pPr>
            <a:r>
              <a:rPr lang="en-US" altLang="zh-CN" sz="1400" dirty="0">
                <a:latin typeface="Times New Roman" panose="02020603050405020304" pitchFamily="18" charset="0"/>
                <a:ea typeface="宋体" panose="02010600030101010101" pitchFamily="2" charset="-122"/>
              </a:rPr>
              <a:t>140</a:t>
            </a:r>
            <a:endParaRPr lang="en-US" altLang="zh-CN" sz="1400" dirty="0">
              <a:latin typeface="Times New Roman" panose="02020603050405020304" pitchFamily="18" charset="0"/>
              <a:ea typeface="宋体" panose="02010600030101010101" pitchFamily="2" charset="-122"/>
            </a:endParaRPr>
          </a:p>
          <a:p>
            <a:pPr>
              <a:lnSpc>
                <a:spcPct val="90000"/>
              </a:lnSpc>
            </a:pPr>
            <a:endParaRPr lang="en-US" altLang="zh-CN" sz="1400" dirty="0">
              <a:latin typeface="Times New Roman" panose="02020603050405020304" pitchFamily="18" charset="0"/>
              <a:ea typeface="宋体" panose="02010600030101010101" pitchFamily="2" charset="-122"/>
            </a:endParaRPr>
          </a:p>
          <a:p>
            <a:pPr>
              <a:lnSpc>
                <a:spcPct val="90000"/>
              </a:lnSpc>
            </a:pPr>
            <a:r>
              <a:rPr lang="en-US" altLang="zh-CN" sz="1400" dirty="0">
                <a:latin typeface="Times New Roman" panose="02020603050405020304" pitchFamily="18" charset="0"/>
                <a:ea typeface="宋体" panose="02010600030101010101" pitchFamily="2" charset="-122"/>
              </a:rPr>
              <a:t>120</a:t>
            </a:r>
            <a:endParaRPr lang="en-US" altLang="zh-CN" sz="1400" dirty="0">
              <a:latin typeface="Times New Roman" panose="02020603050405020304" pitchFamily="18" charset="0"/>
              <a:ea typeface="宋体" panose="02010600030101010101" pitchFamily="2" charset="-122"/>
            </a:endParaRPr>
          </a:p>
          <a:p>
            <a:pPr>
              <a:lnSpc>
                <a:spcPct val="90000"/>
              </a:lnSpc>
            </a:pPr>
            <a:endParaRPr lang="en-US" altLang="zh-CN" sz="1400" dirty="0">
              <a:latin typeface="Times New Roman" panose="02020603050405020304" pitchFamily="18" charset="0"/>
              <a:ea typeface="宋体" panose="02010600030101010101" pitchFamily="2" charset="-122"/>
            </a:endParaRPr>
          </a:p>
          <a:p>
            <a:pPr>
              <a:lnSpc>
                <a:spcPct val="90000"/>
              </a:lnSpc>
            </a:pPr>
            <a:r>
              <a:rPr lang="en-US" altLang="zh-CN" sz="1400" dirty="0">
                <a:latin typeface="Times New Roman" panose="02020603050405020304" pitchFamily="18" charset="0"/>
                <a:ea typeface="宋体" panose="02010600030101010101" pitchFamily="2" charset="-122"/>
              </a:rPr>
              <a:t>100</a:t>
            </a:r>
            <a:endParaRPr lang="en-US" altLang="zh-CN" sz="1400" dirty="0">
              <a:latin typeface="Times New Roman" panose="02020603050405020304" pitchFamily="18" charset="0"/>
              <a:ea typeface="宋体" panose="02010600030101010101" pitchFamily="2" charset="-122"/>
            </a:endParaRPr>
          </a:p>
          <a:p>
            <a:pPr>
              <a:lnSpc>
                <a:spcPct val="90000"/>
              </a:lnSpc>
            </a:pPr>
            <a:endParaRPr lang="en-US" altLang="zh-CN" sz="1400" dirty="0">
              <a:latin typeface="Times New Roman" panose="02020603050405020304" pitchFamily="18" charset="0"/>
              <a:ea typeface="宋体" panose="02010600030101010101" pitchFamily="2" charset="-122"/>
            </a:endParaRPr>
          </a:p>
          <a:p>
            <a:pPr>
              <a:lnSpc>
                <a:spcPct val="90000"/>
              </a:lnSpc>
            </a:pPr>
            <a:r>
              <a:rPr lang="en-US" altLang="zh-CN" sz="1400" dirty="0">
                <a:latin typeface="Times New Roman" panose="02020603050405020304" pitchFamily="18" charset="0"/>
                <a:ea typeface="宋体" panose="02010600030101010101" pitchFamily="2" charset="-122"/>
              </a:rPr>
              <a:t>80</a:t>
            </a:r>
            <a:endParaRPr lang="en-US" altLang="zh-CN" sz="1400" dirty="0">
              <a:latin typeface="Times New Roman" panose="02020603050405020304" pitchFamily="18" charset="0"/>
              <a:ea typeface="宋体" panose="02010600030101010101" pitchFamily="2" charset="-122"/>
            </a:endParaRPr>
          </a:p>
          <a:p>
            <a:pPr>
              <a:lnSpc>
                <a:spcPct val="90000"/>
              </a:lnSpc>
            </a:pPr>
            <a:endParaRPr lang="en-US" altLang="zh-CN" sz="1400" dirty="0">
              <a:latin typeface="Times New Roman" panose="02020603050405020304" pitchFamily="18" charset="0"/>
              <a:ea typeface="宋体" panose="02010600030101010101" pitchFamily="2" charset="-122"/>
            </a:endParaRPr>
          </a:p>
          <a:p>
            <a:pPr>
              <a:lnSpc>
                <a:spcPct val="90000"/>
              </a:lnSpc>
            </a:pPr>
            <a:r>
              <a:rPr lang="en-US" altLang="zh-CN" sz="1400" dirty="0">
                <a:latin typeface="Times New Roman" panose="02020603050405020304" pitchFamily="18" charset="0"/>
                <a:ea typeface="宋体" panose="02010600030101010101" pitchFamily="2" charset="-122"/>
              </a:rPr>
              <a:t>60</a:t>
            </a:r>
            <a:endParaRPr lang="en-US" altLang="zh-CN" sz="1400" dirty="0">
              <a:latin typeface="Times New Roman" panose="02020603050405020304" pitchFamily="18" charset="0"/>
              <a:ea typeface="宋体" panose="02010600030101010101" pitchFamily="2" charset="-122"/>
            </a:endParaRPr>
          </a:p>
          <a:p>
            <a:pPr>
              <a:lnSpc>
                <a:spcPct val="90000"/>
              </a:lnSpc>
            </a:pPr>
            <a:endParaRPr lang="en-US" altLang="zh-CN" sz="1400" dirty="0">
              <a:latin typeface="Times New Roman" panose="02020603050405020304" pitchFamily="18" charset="0"/>
              <a:ea typeface="宋体" panose="02010600030101010101" pitchFamily="2" charset="-122"/>
            </a:endParaRPr>
          </a:p>
          <a:p>
            <a:pPr>
              <a:lnSpc>
                <a:spcPct val="90000"/>
              </a:lnSpc>
            </a:pPr>
            <a:r>
              <a:rPr lang="en-US" altLang="zh-CN" sz="1400" dirty="0">
                <a:latin typeface="Times New Roman" panose="02020603050405020304" pitchFamily="18" charset="0"/>
                <a:ea typeface="宋体" panose="02010600030101010101" pitchFamily="2" charset="-122"/>
              </a:rPr>
              <a:t>40</a:t>
            </a:r>
            <a:endParaRPr lang="en-US" altLang="zh-CN" sz="1400" dirty="0">
              <a:latin typeface="Times New Roman" panose="02020603050405020304" pitchFamily="18" charset="0"/>
              <a:ea typeface="宋体" panose="02010600030101010101" pitchFamily="2" charset="-122"/>
            </a:endParaRPr>
          </a:p>
          <a:p>
            <a:pPr>
              <a:lnSpc>
                <a:spcPct val="90000"/>
              </a:lnSpc>
            </a:pPr>
            <a:endParaRPr lang="en-US" altLang="zh-CN" sz="1400" dirty="0">
              <a:latin typeface="Times New Roman" panose="02020603050405020304" pitchFamily="18" charset="0"/>
              <a:ea typeface="宋体" panose="02010600030101010101" pitchFamily="2" charset="-122"/>
            </a:endParaRPr>
          </a:p>
          <a:p>
            <a:pPr>
              <a:lnSpc>
                <a:spcPct val="90000"/>
              </a:lnSpc>
            </a:pPr>
            <a:r>
              <a:rPr lang="en-US" altLang="zh-CN" sz="1400" dirty="0">
                <a:latin typeface="Times New Roman" panose="02020603050405020304" pitchFamily="18" charset="0"/>
                <a:ea typeface="宋体" panose="02010600030101010101" pitchFamily="2" charset="-122"/>
              </a:rPr>
              <a:t>20</a:t>
            </a:r>
            <a:endParaRPr lang="en-US" altLang="zh-CN" sz="1400" dirty="0">
              <a:latin typeface="Times New Roman" panose="02020603050405020304" pitchFamily="18" charset="0"/>
              <a:ea typeface="宋体" panose="02010600030101010101" pitchFamily="2" charset="-122"/>
            </a:endParaRPr>
          </a:p>
        </p:txBody>
      </p:sp>
      <p:sp>
        <p:nvSpPr>
          <p:cNvPr id="13350" name="Text Box 47"/>
          <p:cNvSpPr txBox="1"/>
          <p:nvPr/>
        </p:nvSpPr>
        <p:spPr>
          <a:xfrm>
            <a:off x="2133600" y="4343400"/>
            <a:ext cx="2051050" cy="304800"/>
          </a:xfrm>
          <a:prstGeom prst="rect">
            <a:avLst/>
          </a:prstGeom>
          <a:noFill/>
          <a:ln w="9525">
            <a:noFill/>
          </a:ln>
        </p:spPr>
        <p:txBody>
          <a:bodyPr wrap="none">
            <a:spAutoFit/>
          </a:bodyPr>
          <a:p>
            <a:r>
              <a:rPr lang="en-US" altLang="zh-CN" sz="1400" dirty="0">
                <a:latin typeface="Times New Roman" panose="02020603050405020304" pitchFamily="18" charset="0"/>
                <a:ea typeface="宋体" panose="02010600030101010101" pitchFamily="2" charset="-122"/>
              </a:rPr>
              <a:t>20     40     60     80     100</a:t>
            </a:r>
            <a:endParaRPr lang="en-US" altLang="zh-CN" sz="1400" dirty="0">
              <a:latin typeface="Times New Roman" panose="02020603050405020304" pitchFamily="18" charset="0"/>
              <a:ea typeface="宋体" panose="02010600030101010101" pitchFamily="2" charset="-122"/>
            </a:endParaRPr>
          </a:p>
        </p:txBody>
      </p:sp>
      <p:sp>
        <p:nvSpPr>
          <p:cNvPr id="24624" name="Line 48"/>
          <p:cNvSpPr/>
          <p:nvPr/>
        </p:nvSpPr>
        <p:spPr>
          <a:xfrm>
            <a:off x="1981200" y="2362200"/>
            <a:ext cx="2514600" cy="0"/>
          </a:xfrm>
          <a:prstGeom prst="line">
            <a:avLst/>
          </a:prstGeom>
          <a:ln w="28575" cap="flat" cmpd="sng">
            <a:solidFill>
              <a:schemeClr val="tx1"/>
            </a:solidFill>
            <a:prstDash val="solid"/>
            <a:headEnd type="none" w="med" len="med"/>
            <a:tailEnd type="none" w="med" len="med"/>
          </a:ln>
        </p:spPr>
      </p:sp>
      <p:sp>
        <p:nvSpPr>
          <p:cNvPr id="24625" name="Line 49"/>
          <p:cNvSpPr/>
          <p:nvPr/>
        </p:nvSpPr>
        <p:spPr>
          <a:xfrm flipV="1">
            <a:off x="3124200" y="1066800"/>
            <a:ext cx="0" cy="3200400"/>
          </a:xfrm>
          <a:prstGeom prst="line">
            <a:avLst/>
          </a:prstGeom>
          <a:ln w="28575" cap="flat" cmpd="sng">
            <a:solidFill>
              <a:schemeClr val="tx1"/>
            </a:solidFill>
            <a:prstDash val="solid"/>
            <a:headEnd type="none" w="med" len="med"/>
            <a:tailEnd type="none" w="med" len="med"/>
          </a:ln>
        </p:spPr>
      </p:sp>
      <p:sp>
        <p:nvSpPr>
          <p:cNvPr id="24626" name="Line 50"/>
          <p:cNvSpPr/>
          <p:nvPr/>
        </p:nvSpPr>
        <p:spPr>
          <a:xfrm flipH="1" flipV="1">
            <a:off x="1828800" y="304800"/>
            <a:ext cx="1981200" cy="4419600"/>
          </a:xfrm>
          <a:prstGeom prst="line">
            <a:avLst/>
          </a:prstGeom>
          <a:ln w="38100" cap="flat" cmpd="sng">
            <a:solidFill>
              <a:schemeClr val="tx1"/>
            </a:solidFill>
            <a:prstDash val="solid"/>
            <a:headEnd type="none" w="med" len="med"/>
            <a:tailEnd type="none" w="med" len="med"/>
          </a:ln>
        </p:spPr>
      </p:sp>
      <p:sp>
        <p:nvSpPr>
          <p:cNvPr id="24627" name="Line 51"/>
          <p:cNvSpPr/>
          <p:nvPr/>
        </p:nvSpPr>
        <p:spPr>
          <a:xfrm>
            <a:off x="1828800" y="1371600"/>
            <a:ext cx="1905000" cy="3657600"/>
          </a:xfrm>
          <a:prstGeom prst="line">
            <a:avLst/>
          </a:prstGeom>
          <a:ln w="38100" cap="flat" cmpd="sng">
            <a:solidFill>
              <a:schemeClr val="tx1"/>
            </a:solidFill>
            <a:prstDash val="solid"/>
            <a:headEnd type="none" w="med" len="med"/>
            <a:tailEnd type="none" w="med" len="med"/>
          </a:ln>
        </p:spPr>
      </p:sp>
      <p:sp>
        <p:nvSpPr>
          <p:cNvPr id="24643" name="Text Box 67"/>
          <p:cNvSpPr txBox="1"/>
          <p:nvPr/>
        </p:nvSpPr>
        <p:spPr>
          <a:xfrm>
            <a:off x="3352800" y="4876800"/>
            <a:ext cx="387350"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⑵</a:t>
            </a:r>
            <a:endParaRPr lang="en-US" altLang="zh-CN" sz="1600" dirty="0">
              <a:latin typeface="Times New Roman" panose="02020603050405020304" pitchFamily="18" charset="0"/>
              <a:ea typeface="宋体" panose="02010600030101010101" pitchFamily="2" charset="-122"/>
            </a:endParaRPr>
          </a:p>
        </p:txBody>
      </p:sp>
      <p:sp>
        <p:nvSpPr>
          <p:cNvPr id="24644" name="Rectangle 68"/>
          <p:cNvSpPr/>
          <p:nvPr/>
        </p:nvSpPr>
        <p:spPr>
          <a:xfrm>
            <a:off x="2971800" y="762000"/>
            <a:ext cx="387350"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⑶</a:t>
            </a:r>
            <a:endParaRPr lang="en-US" altLang="zh-CN" sz="1600" dirty="0">
              <a:latin typeface="Times New Roman" panose="02020603050405020304" pitchFamily="18" charset="0"/>
              <a:ea typeface="宋体" panose="02010600030101010101" pitchFamily="2" charset="-122"/>
            </a:endParaRPr>
          </a:p>
        </p:txBody>
      </p:sp>
      <p:sp>
        <p:nvSpPr>
          <p:cNvPr id="24645" name="Rectangle 69"/>
          <p:cNvSpPr/>
          <p:nvPr/>
        </p:nvSpPr>
        <p:spPr>
          <a:xfrm>
            <a:off x="4495800" y="2209800"/>
            <a:ext cx="387350"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⑷</a:t>
            </a:r>
            <a:endParaRPr lang="en-US" altLang="zh-CN" sz="1600" dirty="0">
              <a:latin typeface="Times New Roman" panose="02020603050405020304" pitchFamily="18" charset="0"/>
              <a:ea typeface="宋体" panose="02010600030101010101" pitchFamily="2" charset="-122"/>
            </a:endParaRPr>
          </a:p>
        </p:txBody>
      </p:sp>
      <p:sp>
        <p:nvSpPr>
          <p:cNvPr id="24646" name="Line 70"/>
          <p:cNvSpPr/>
          <p:nvPr/>
        </p:nvSpPr>
        <p:spPr>
          <a:xfrm flipV="1">
            <a:off x="2362200" y="1905000"/>
            <a:ext cx="533400" cy="228600"/>
          </a:xfrm>
          <a:prstGeom prst="line">
            <a:avLst/>
          </a:prstGeom>
          <a:ln w="9525" cap="flat" cmpd="sng">
            <a:solidFill>
              <a:schemeClr val="tx1"/>
            </a:solidFill>
            <a:prstDash val="solid"/>
            <a:headEnd type="triangle" w="med" len="med"/>
            <a:tailEnd type="triangle" w="med" len="med"/>
          </a:ln>
        </p:spPr>
      </p:sp>
      <p:sp>
        <p:nvSpPr>
          <p:cNvPr id="24647" name="Line 71"/>
          <p:cNvSpPr/>
          <p:nvPr/>
        </p:nvSpPr>
        <p:spPr>
          <a:xfrm>
            <a:off x="4038600" y="2057400"/>
            <a:ext cx="0" cy="609600"/>
          </a:xfrm>
          <a:prstGeom prst="line">
            <a:avLst/>
          </a:prstGeom>
          <a:ln w="9525" cap="flat" cmpd="sng">
            <a:solidFill>
              <a:schemeClr val="tx1"/>
            </a:solidFill>
            <a:prstDash val="solid"/>
            <a:headEnd type="triangle" w="med" len="med"/>
            <a:tailEnd type="triangle" w="med" len="med"/>
          </a:ln>
        </p:spPr>
      </p:sp>
      <p:sp>
        <p:nvSpPr>
          <p:cNvPr id="24648" name="Line 72"/>
          <p:cNvSpPr/>
          <p:nvPr/>
        </p:nvSpPr>
        <p:spPr>
          <a:xfrm>
            <a:off x="2819400" y="1447800"/>
            <a:ext cx="609600" cy="0"/>
          </a:xfrm>
          <a:prstGeom prst="line">
            <a:avLst/>
          </a:prstGeom>
          <a:ln w="9525" cap="flat" cmpd="sng">
            <a:solidFill>
              <a:schemeClr val="tx1"/>
            </a:solidFill>
            <a:prstDash val="solid"/>
            <a:headEnd type="triangle" w="med" len="med"/>
            <a:tailEnd type="triangle" w="med" len="med"/>
          </a:ln>
        </p:spPr>
      </p:sp>
      <p:sp>
        <p:nvSpPr>
          <p:cNvPr id="24649" name="Line 73"/>
          <p:cNvSpPr/>
          <p:nvPr/>
        </p:nvSpPr>
        <p:spPr>
          <a:xfrm flipV="1">
            <a:off x="2514600" y="3048000"/>
            <a:ext cx="457200" cy="228600"/>
          </a:xfrm>
          <a:prstGeom prst="line">
            <a:avLst/>
          </a:prstGeom>
          <a:ln w="9525" cap="flat" cmpd="sng">
            <a:solidFill>
              <a:schemeClr val="tx1"/>
            </a:solidFill>
            <a:prstDash val="solid"/>
            <a:headEnd type="triangle" w="med" len="med"/>
            <a:tailEnd type="triangle" w="med" len="med"/>
          </a:ln>
        </p:spPr>
      </p:sp>
      <p:graphicFrame>
        <p:nvGraphicFramePr>
          <p:cNvPr id="24650" name="Object 74"/>
          <p:cNvGraphicFramePr/>
          <p:nvPr/>
        </p:nvGraphicFramePr>
        <p:xfrm>
          <a:off x="2286000" y="2895600"/>
          <a:ext cx="352425" cy="400050"/>
        </p:xfrm>
        <a:graphic>
          <a:graphicData uri="http://schemas.openxmlformats.org/presentationml/2006/ole">
            <mc:AlternateContent xmlns:mc="http://schemas.openxmlformats.org/markup-compatibility/2006">
              <mc:Choice xmlns:v="urn:schemas-microsoft-com:vml" Requires="v">
                <p:oleObj spid="_x0000_s3091" name="" r:id="rId1" imgW="203200" imgH="228600" progId="Equation.3">
                  <p:embed/>
                </p:oleObj>
              </mc:Choice>
              <mc:Fallback>
                <p:oleObj name="" r:id="rId1" imgW="203200" imgH="228600" progId="Equation.3">
                  <p:embed/>
                  <p:pic>
                    <p:nvPicPr>
                      <p:cNvPr id="0" name="图片 3090"/>
                      <p:cNvPicPr/>
                      <p:nvPr/>
                    </p:nvPicPr>
                    <p:blipFill>
                      <a:blip r:embed="rId2"/>
                      <a:stretch>
                        <a:fillRect/>
                      </a:stretch>
                    </p:blipFill>
                    <p:spPr>
                      <a:xfrm>
                        <a:off x="2286000" y="2895600"/>
                        <a:ext cx="352425" cy="400050"/>
                      </a:xfrm>
                      <a:prstGeom prst="rect">
                        <a:avLst/>
                      </a:prstGeom>
                      <a:noFill/>
                      <a:ln w="38100">
                        <a:noFill/>
                        <a:miter/>
                      </a:ln>
                    </p:spPr>
                  </p:pic>
                </p:oleObj>
              </mc:Fallback>
            </mc:AlternateContent>
          </a:graphicData>
        </a:graphic>
      </p:graphicFrame>
      <p:graphicFrame>
        <p:nvGraphicFramePr>
          <p:cNvPr id="24652" name="Object 76"/>
          <p:cNvGraphicFramePr/>
          <p:nvPr/>
        </p:nvGraphicFramePr>
        <p:xfrm>
          <a:off x="2667000" y="2667000"/>
          <a:ext cx="352425" cy="400050"/>
        </p:xfrm>
        <a:graphic>
          <a:graphicData uri="http://schemas.openxmlformats.org/presentationml/2006/ole">
            <mc:AlternateContent xmlns:mc="http://schemas.openxmlformats.org/markup-compatibility/2006">
              <mc:Choice xmlns:v="urn:schemas-microsoft-com:vml" Requires="v">
                <p:oleObj spid="_x0000_s3092" name="" r:id="rId3" imgW="203200" imgH="228600" progId="Equation.3">
                  <p:embed/>
                </p:oleObj>
              </mc:Choice>
              <mc:Fallback>
                <p:oleObj name="" r:id="rId3" imgW="203200" imgH="228600" progId="Equation.3">
                  <p:embed/>
                  <p:pic>
                    <p:nvPicPr>
                      <p:cNvPr id="0" name="图片 3091"/>
                      <p:cNvPicPr/>
                      <p:nvPr/>
                    </p:nvPicPr>
                    <p:blipFill>
                      <a:blip r:embed="rId4"/>
                      <a:stretch>
                        <a:fillRect/>
                      </a:stretch>
                    </p:blipFill>
                    <p:spPr>
                      <a:xfrm>
                        <a:off x="2667000" y="2667000"/>
                        <a:ext cx="352425" cy="400050"/>
                      </a:xfrm>
                      <a:prstGeom prst="rect">
                        <a:avLst/>
                      </a:prstGeom>
                      <a:noFill/>
                      <a:ln w="38100">
                        <a:noFill/>
                        <a:miter/>
                      </a:ln>
                    </p:spPr>
                  </p:pic>
                </p:oleObj>
              </mc:Fallback>
            </mc:AlternateContent>
          </a:graphicData>
        </a:graphic>
      </p:graphicFrame>
      <p:graphicFrame>
        <p:nvGraphicFramePr>
          <p:cNvPr id="24654" name="Object 78"/>
          <p:cNvGraphicFramePr/>
          <p:nvPr/>
        </p:nvGraphicFramePr>
        <p:xfrm>
          <a:off x="2209800" y="1676400"/>
          <a:ext cx="352425" cy="409575"/>
        </p:xfrm>
        <a:graphic>
          <a:graphicData uri="http://schemas.openxmlformats.org/presentationml/2006/ole">
            <mc:AlternateContent xmlns:mc="http://schemas.openxmlformats.org/markup-compatibility/2006">
              <mc:Choice xmlns:v="urn:schemas-microsoft-com:vml" Requires="v">
                <p:oleObj spid="_x0000_s3094" name="" r:id="rId5" imgW="203200" imgH="228600" progId="Equation.3">
                  <p:embed/>
                </p:oleObj>
              </mc:Choice>
              <mc:Fallback>
                <p:oleObj name="" r:id="rId5" imgW="203200" imgH="228600" progId="Equation.3">
                  <p:embed/>
                  <p:pic>
                    <p:nvPicPr>
                      <p:cNvPr id="0" name="图片 3093"/>
                      <p:cNvPicPr/>
                      <p:nvPr/>
                    </p:nvPicPr>
                    <p:blipFill>
                      <a:blip r:embed="rId6"/>
                      <a:stretch>
                        <a:fillRect/>
                      </a:stretch>
                    </p:blipFill>
                    <p:spPr>
                      <a:xfrm>
                        <a:off x="2209800" y="1676400"/>
                        <a:ext cx="352425" cy="409575"/>
                      </a:xfrm>
                      <a:prstGeom prst="rect">
                        <a:avLst/>
                      </a:prstGeom>
                      <a:noFill/>
                      <a:ln w="38100">
                        <a:noFill/>
                        <a:miter/>
                      </a:ln>
                    </p:spPr>
                  </p:pic>
                </p:oleObj>
              </mc:Fallback>
            </mc:AlternateContent>
          </a:graphicData>
        </a:graphic>
      </p:graphicFrame>
      <p:graphicFrame>
        <p:nvGraphicFramePr>
          <p:cNvPr id="24656" name="Object 80"/>
          <p:cNvGraphicFramePr/>
          <p:nvPr/>
        </p:nvGraphicFramePr>
        <p:xfrm>
          <a:off x="2590800" y="1524000"/>
          <a:ext cx="352425" cy="409575"/>
        </p:xfrm>
        <a:graphic>
          <a:graphicData uri="http://schemas.openxmlformats.org/presentationml/2006/ole">
            <mc:AlternateContent xmlns:mc="http://schemas.openxmlformats.org/markup-compatibility/2006">
              <mc:Choice xmlns:v="urn:schemas-microsoft-com:vml" Requires="v">
                <p:oleObj spid="_x0000_s3097" name="" r:id="rId7" imgW="203200" imgH="228600" progId="Equation.3">
                  <p:embed/>
                </p:oleObj>
              </mc:Choice>
              <mc:Fallback>
                <p:oleObj name="" r:id="rId7" imgW="203200" imgH="228600" progId="Equation.3">
                  <p:embed/>
                  <p:pic>
                    <p:nvPicPr>
                      <p:cNvPr id="0" name="图片 3096"/>
                      <p:cNvPicPr/>
                      <p:nvPr/>
                    </p:nvPicPr>
                    <p:blipFill>
                      <a:blip r:embed="rId8"/>
                      <a:stretch>
                        <a:fillRect/>
                      </a:stretch>
                    </p:blipFill>
                    <p:spPr>
                      <a:xfrm>
                        <a:off x="2590800" y="1524000"/>
                        <a:ext cx="352425" cy="409575"/>
                      </a:xfrm>
                      <a:prstGeom prst="rect">
                        <a:avLst/>
                      </a:prstGeom>
                      <a:noFill/>
                      <a:ln w="38100">
                        <a:noFill/>
                        <a:miter/>
                      </a:ln>
                    </p:spPr>
                  </p:pic>
                </p:oleObj>
              </mc:Fallback>
            </mc:AlternateContent>
          </a:graphicData>
        </a:graphic>
      </p:graphicFrame>
      <p:graphicFrame>
        <p:nvGraphicFramePr>
          <p:cNvPr id="24658" name="Object 82"/>
          <p:cNvGraphicFramePr/>
          <p:nvPr/>
        </p:nvGraphicFramePr>
        <p:xfrm>
          <a:off x="2743200" y="1066800"/>
          <a:ext cx="352425" cy="419100"/>
        </p:xfrm>
        <a:graphic>
          <a:graphicData uri="http://schemas.openxmlformats.org/presentationml/2006/ole">
            <mc:AlternateContent xmlns:mc="http://schemas.openxmlformats.org/markup-compatibility/2006">
              <mc:Choice xmlns:v="urn:schemas-microsoft-com:vml" Requires="v">
                <p:oleObj spid="_x0000_s3095" name="" r:id="rId9" imgW="203200" imgH="241300" progId="Equation.3">
                  <p:embed/>
                </p:oleObj>
              </mc:Choice>
              <mc:Fallback>
                <p:oleObj name="" r:id="rId9" imgW="203200" imgH="241300" progId="Equation.3">
                  <p:embed/>
                  <p:pic>
                    <p:nvPicPr>
                      <p:cNvPr id="0" name="图片 3094"/>
                      <p:cNvPicPr/>
                      <p:nvPr/>
                    </p:nvPicPr>
                    <p:blipFill>
                      <a:blip r:embed="rId10"/>
                      <a:stretch>
                        <a:fillRect/>
                      </a:stretch>
                    </p:blipFill>
                    <p:spPr>
                      <a:xfrm>
                        <a:off x="2743200" y="1066800"/>
                        <a:ext cx="352425" cy="419100"/>
                      </a:xfrm>
                      <a:prstGeom prst="rect">
                        <a:avLst/>
                      </a:prstGeom>
                      <a:noFill/>
                      <a:ln w="38100">
                        <a:noFill/>
                        <a:miter/>
                      </a:ln>
                    </p:spPr>
                  </p:pic>
                </p:oleObj>
              </mc:Fallback>
            </mc:AlternateContent>
          </a:graphicData>
        </a:graphic>
      </p:graphicFrame>
      <p:graphicFrame>
        <p:nvGraphicFramePr>
          <p:cNvPr id="24660" name="Object 84"/>
          <p:cNvGraphicFramePr/>
          <p:nvPr/>
        </p:nvGraphicFramePr>
        <p:xfrm>
          <a:off x="3200400" y="1066800"/>
          <a:ext cx="352425" cy="419100"/>
        </p:xfrm>
        <a:graphic>
          <a:graphicData uri="http://schemas.openxmlformats.org/presentationml/2006/ole">
            <mc:AlternateContent xmlns:mc="http://schemas.openxmlformats.org/markup-compatibility/2006">
              <mc:Choice xmlns:v="urn:schemas-microsoft-com:vml" Requires="v">
                <p:oleObj spid="_x0000_s3093" name="" r:id="rId11" imgW="203200" imgH="241300" progId="Equation.3">
                  <p:embed/>
                </p:oleObj>
              </mc:Choice>
              <mc:Fallback>
                <p:oleObj name="" r:id="rId11" imgW="203200" imgH="241300" progId="Equation.3">
                  <p:embed/>
                  <p:pic>
                    <p:nvPicPr>
                      <p:cNvPr id="0" name="图片 3092"/>
                      <p:cNvPicPr/>
                      <p:nvPr/>
                    </p:nvPicPr>
                    <p:blipFill>
                      <a:blip r:embed="rId12"/>
                      <a:stretch>
                        <a:fillRect/>
                      </a:stretch>
                    </p:blipFill>
                    <p:spPr>
                      <a:xfrm>
                        <a:off x="3200400" y="1066800"/>
                        <a:ext cx="352425" cy="419100"/>
                      </a:xfrm>
                      <a:prstGeom prst="rect">
                        <a:avLst/>
                      </a:prstGeom>
                      <a:noFill/>
                      <a:ln w="38100">
                        <a:noFill/>
                        <a:miter/>
                      </a:ln>
                    </p:spPr>
                  </p:pic>
                </p:oleObj>
              </mc:Fallback>
            </mc:AlternateContent>
          </a:graphicData>
        </a:graphic>
      </p:graphicFrame>
      <p:graphicFrame>
        <p:nvGraphicFramePr>
          <p:cNvPr id="24662" name="Object 86"/>
          <p:cNvGraphicFramePr/>
          <p:nvPr/>
        </p:nvGraphicFramePr>
        <p:xfrm>
          <a:off x="4114800" y="2362200"/>
          <a:ext cx="361950" cy="409575"/>
        </p:xfrm>
        <a:graphic>
          <a:graphicData uri="http://schemas.openxmlformats.org/presentationml/2006/ole">
            <mc:AlternateContent xmlns:mc="http://schemas.openxmlformats.org/markup-compatibility/2006">
              <mc:Choice xmlns:v="urn:schemas-microsoft-com:vml" Requires="v">
                <p:oleObj spid="_x0000_s3096" name="" r:id="rId13" imgW="203200" imgH="228600" progId="Equation.3">
                  <p:embed/>
                </p:oleObj>
              </mc:Choice>
              <mc:Fallback>
                <p:oleObj name="" r:id="rId13" imgW="203200" imgH="228600" progId="Equation.3">
                  <p:embed/>
                  <p:pic>
                    <p:nvPicPr>
                      <p:cNvPr id="0" name="图片 3095"/>
                      <p:cNvPicPr/>
                      <p:nvPr/>
                    </p:nvPicPr>
                    <p:blipFill>
                      <a:blip r:embed="rId14"/>
                      <a:stretch>
                        <a:fillRect/>
                      </a:stretch>
                    </p:blipFill>
                    <p:spPr>
                      <a:xfrm>
                        <a:off x="4114800" y="2362200"/>
                        <a:ext cx="361950" cy="409575"/>
                      </a:xfrm>
                      <a:prstGeom prst="rect">
                        <a:avLst/>
                      </a:prstGeom>
                      <a:noFill/>
                      <a:ln w="38100">
                        <a:noFill/>
                        <a:miter/>
                      </a:ln>
                    </p:spPr>
                  </p:pic>
                </p:oleObj>
              </mc:Fallback>
            </mc:AlternateContent>
          </a:graphicData>
        </a:graphic>
      </p:graphicFrame>
      <p:graphicFrame>
        <p:nvGraphicFramePr>
          <p:cNvPr id="24664" name="Object 88"/>
          <p:cNvGraphicFramePr/>
          <p:nvPr/>
        </p:nvGraphicFramePr>
        <p:xfrm>
          <a:off x="4114800" y="1981200"/>
          <a:ext cx="361950" cy="409575"/>
        </p:xfrm>
        <a:graphic>
          <a:graphicData uri="http://schemas.openxmlformats.org/presentationml/2006/ole">
            <mc:AlternateContent xmlns:mc="http://schemas.openxmlformats.org/markup-compatibility/2006">
              <mc:Choice xmlns:v="urn:schemas-microsoft-com:vml" Requires="v">
                <p:oleObj spid="_x0000_s3098" name="" r:id="rId15" imgW="203200" imgH="228600" progId="Equation.3">
                  <p:embed/>
                </p:oleObj>
              </mc:Choice>
              <mc:Fallback>
                <p:oleObj name="" r:id="rId15" imgW="203200" imgH="228600" progId="Equation.3">
                  <p:embed/>
                  <p:pic>
                    <p:nvPicPr>
                      <p:cNvPr id="0" name="图片 3097"/>
                      <p:cNvPicPr/>
                      <p:nvPr/>
                    </p:nvPicPr>
                    <p:blipFill>
                      <a:blip r:embed="rId16"/>
                      <a:stretch>
                        <a:fillRect/>
                      </a:stretch>
                    </p:blipFill>
                    <p:spPr>
                      <a:xfrm>
                        <a:off x="4114800" y="1981200"/>
                        <a:ext cx="361950" cy="409575"/>
                      </a:xfrm>
                      <a:prstGeom prst="rect">
                        <a:avLst/>
                      </a:prstGeom>
                      <a:noFill/>
                      <a:ln w="38100">
                        <a:noFill/>
                        <a:miter/>
                      </a:ln>
                    </p:spPr>
                  </p:pic>
                </p:oleObj>
              </mc:Fallback>
            </mc:AlternateContent>
          </a:graphicData>
        </a:graphic>
      </p:graphicFrame>
      <p:sp>
        <p:nvSpPr>
          <p:cNvPr id="24666" name="Rectangle 90"/>
          <p:cNvSpPr/>
          <p:nvPr/>
        </p:nvSpPr>
        <p:spPr>
          <a:xfrm>
            <a:off x="3124200" y="2057400"/>
            <a:ext cx="330200"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sp>
        <p:nvSpPr>
          <p:cNvPr id="24667" name="Rectangle 91"/>
          <p:cNvSpPr/>
          <p:nvPr/>
        </p:nvSpPr>
        <p:spPr>
          <a:xfrm>
            <a:off x="2743200" y="2057400"/>
            <a:ext cx="319088"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B</a:t>
            </a:r>
            <a:endParaRPr lang="en-US" altLang="zh-CN" sz="1600" dirty="0">
              <a:latin typeface="Times New Roman" panose="02020603050405020304" pitchFamily="18" charset="0"/>
              <a:ea typeface="宋体" panose="02010600030101010101" pitchFamily="2" charset="-122"/>
            </a:endParaRPr>
          </a:p>
        </p:txBody>
      </p:sp>
      <p:sp>
        <p:nvSpPr>
          <p:cNvPr id="24668" name="Rectangle 92"/>
          <p:cNvSpPr/>
          <p:nvPr/>
        </p:nvSpPr>
        <p:spPr>
          <a:xfrm>
            <a:off x="3124200" y="2819400"/>
            <a:ext cx="319088"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C</a:t>
            </a:r>
            <a:endParaRPr lang="en-US" altLang="zh-CN" sz="1600" dirty="0">
              <a:latin typeface="Times New Roman" panose="02020603050405020304" pitchFamily="18" charset="0"/>
              <a:ea typeface="宋体" panose="02010600030101010101" pitchFamily="2" charset="-122"/>
            </a:endParaRPr>
          </a:p>
        </p:txBody>
      </p:sp>
      <p:sp>
        <p:nvSpPr>
          <p:cNvPr id="24669" name="Rectangle 93"/>
          <p:cNvSpPr/>
          <p:nvPr/>
        </p:nvSpPr>
        <p:spPr>
          <a:xfrm>
            <a:off x="2819400" y="3733800"/>
            <a:ext cx="330200" cy="336550"/>
          </a:xfrm>
          <a:prstGeom prst="rect">
            <a:avLst/>
          </a:prstGeom>
          <a:noFill/>
          <a:ln w="9525">
            <a:noFill/>
          </a:ln>
        </p:spPr>
        <p:txBody>
          <a:bodyPr wrap="none">
            <a:spAutoFit/>
          </a:bodyPr>
          <a:p>
            <a:r>
              <a:rPr lang="en-US" altLang="zh-CN" sz="1600" dirty="0">
                <a:latin typeface="Times New Roman" panose="02020603050405020304" pitchFamily="18" charset="0"/>
                <a:ea typeface="宋体" panose="02010600030101010101" pitchFamily="2" charset="-122"/>
              </a:rPr>
              <a:t>D</a:t>
            </a:r>
            <a:endParaRPr lang="en-US" altLang="zh-CN" sz="1600" dirty="0">
              <a:latin typeface="Times New Roman" panose="02020603050405020304" pitchFamily="18" charset="0"/>
              <a:ea typeface="宋体" panose="02010600030101010101" pitchFamily="2" charset="-122"/>
            </a:endParaRPr>
          </a:p>
        </p:txBody>
      </p:sp>
      <p:sp>
        <p:nvSpPr>
          <p:cNvPr id="24674" name="Text Box 98"/>
          <p:cNvSpPr txBox="1"/>
          <p:nvPr/>
        </p:nvSpPr>
        <p:spPr>
          <a:xfrm>
            <a:off x="0" y="5257800"/>
            <a:ext cx="8686800" cy="519113"/>
          </a:xfrm>
          <a:prstGeom prst="rect">
            <a:avLst/>
          </a:prstGeom>
          <a:noFill/>
          <a:ln w="9525">
            <a:noFill/>
          </a:ln>
        </p:spPr>
        <p:txBody>
          <a:bodyPr>
            <a:spAutoFit/>
          </a:bodyPr>
          <a:p>
            <a:pPr>
              <a:spcBef>
                <a:spcPct val="50000"/>
              </a:spcBef>
            </a:pPr>
            <a:r>
              <a:rPr lang="en-US" altLang="zh-CN" sz="2800" b="1" dirty="0">
                <a:solidFill>
                  <a:srgbClr val="0000FF"/>
                </a:solidFill>
                <a:latin typeface="楷体_GB2312" pitchFamily="49" charset="-122"/>
              </a:rPr>
              <a:t>  </a:t>
            </a:r>
            <a:r>
              <a:rPr lang="zh-CN" altLang="en-US" sz="2800" b="1" dirty="0">
                <a:solidFill>
                  <a:srgbClr val="0000FF"/>
                </a:solidFill>
                <a:latin typeface="楷体_GB2312" pitchFamily="49" charset="-122"/>
              </a:rPr>
              <a:t>结论：</a:t>
            </a:r>
            <a:r>
              <a:rPr lang="en-US" altLang="zh-CN" sz="2800" b="1" dirty="0">
                <a:solidFill>
                  <a:srgbClr val="0000FF"/>
                </a:solidFill>
                <a:latin typeface="楷体_GB2312" pitchFamily="49" charset="-122"/>
              </a:rPr>
              <a:t>C(60 ,58.3)</a:t>
            </a:r>
            <a:r>
              <a:rPr lang="zh-CN" altLang="en-US" sz="2800" b="1" dirty="0">
                <a:solidFill>
                  <a:srgbClr val="0000FF"/>
                </a:solidFill>
                <a:latin typeface="楷体_GB2312" pitchFamily="49" charset="-122"/>
              </a:rPr>
              <a:t>为所求的满意解。</a:t>
            </a:r>
            <a:endParaRPr lang="zh-CN" altLang="en-US" sz="2800" b="1" dirty="0">
              <a:solidFill>
                <a:srgbClr val="0000FF"/>
              </a:solidFill>
              <a:latin typeface="楷体_GB2312" pitchFamily="49" charset="-122"/>
            </a:endParaRPr>
          </a:p>
        </p:txBody>
      </p:sp>
      <p:sp>
        <p:nvSpPr>
          <p:cNvPr id="13367" name="Text Box 99"/>
          <p:cNvSpPr txBox="1"/>
          <p:nvPr/>
        </p:nvSpPr>
        <p:spPr>
          <a:xfrm>
            <a:off x="152400" y="381000"/>
            <a:ext cx="1524000" cy="519113"/>
          </a:xfrm>
          <a:prstGeom prst="rect">
            <a:avLst/>
          </a:prstGeom>
          <a:noFill/>
          <a:ln w="9525">
            <a:noFill/>
          </a:ln>
        </p:spPr>
        <p:txBody>
          <a:bodyPr>
            <a:spAutoFit/>
          </a:bodyPr>
          <a:p>
            <a:r>
              <a:rPr lang="zh-CN" altLang="en-US" sz="2800" b="1" dirty="0">
                <a:solidFill>
                  <a:srgbClr val="0000FF"/>
                </a:solidFill>
                <a:latin typeface="Times New Roman" panose="02020603050405020304" pitchFamily="18" charset="0"/>
              </a:rPr>
              <a:t>作图：</a:t>
            </a:r>
            <a:endParaRPr lang="zh-CN" altLang="en-US" sz="2800" b="1" dirty="0">
              <a:solidFill>
                <a:srgbClr val="0000FF"/>
              </a:solidFill>
              <a:latin typeface="Times New Roman" panose="02020603050405020304" pitchFamily="18" charset="0"/>
            </a:endParaRPr>
          </a:p>
        </p:txBody>
      </p:sp>
      <p:sp>
        <p:nvSpPr>
          <p:cNvPr id="24676" name="AutoShape 100"/>
          <p:cNvSpPr/>
          <p:nvPr/>
        </p:nvSpPr>
        <p:spPr>
          <a:xfrm>
            <a:off x="4038600" y="5943600"/>
            <a:ext cx="228600" cy="609600"/>
          </a:xfrm>
          <a:prstGeom prst="downArrow">
            <a:avLst>
              <a:gd name="adj1" fmla="val 50000"/>
              <a:gd name="adj2" fmla="val 66666"/>
            </a:avLst>
          </a:prstGeom>
          <a:solidFill>
            <a:srgbClr val="FF9900"/>
          </a:solidFill>
          <a:ln w="9525">
            <a:noFill/>
          </a:ln>
        </p:spPr>
        <p:txBody>
          <a:bodyPr vert="eaVert" wrap="none" anchor="ctr" anchorCtr="0"/>
          <a:p>
            <a:endParaRPr lang="zh-CN" altLang="en-US" dirty="0">
              <a:latin typeface="Times New Roman" panose="02020603050405020304" pitchFamily="18" charset="0"/>
            </a:endParaRPr>
          </a:p>
        </p:txBody>
      </p:sp>
      <p:graphicFrame>
        <p:nvGraphicFramePr>
          <p:cNvPr id="13322" name="Object 101"/>
          <p:cNvGraphicFramePr/>
          <p:nvPr/>
        </p:nvGraphicFramePr>
        <p:xfrm>
          <a:off x="5181600" y="322263"/>
          <a:ext cx="3810000" cy="2338387"/>
        </p:xfrm>
        <a:graphic>
          <a:graphicData uri="http://schemas.openxmlformats.org/presentationml/2006/ole">
            <mc:AlternateContent xmlns:mc="http://schemas.openxmlformats.org/markup-compatibility/2006">
              <mc:Choice xmlns:v="urn:schemas-microsoft-com:vml" Requires="v">
                <p:oleObj spid="_x0000_s3100" name="" r:id="rId17" imgW="2387600" imgH="1549400" progId="Equation.3">
                  <p:embed/>
                </p:oleObj>
              </mc:Choice>
              <mc:Fallback>
                <p:oleObj name="" r:id="rId17" imgW="2387600" imgH="1549400" progId="Equation.3">
                  <p:embed/>
                  <p:pic>
                    <p:nvPicPr>
                      <p:cNvPr id="0" name="图片 3099"/>
                      <p:cNvPicPr/>
                      <p:nvPr/>
                    </p:nvPicPr>
                    <p:blipFill>
                      <a:blip r:embed="rId18"/>
                      <a:stretch>
                        <a:fillRect/>
                      </a:stretch>
                    </p:blipFill>
                    <p:spPr>
                      <a:xfrm>
                        <a:off x="5181600" y="322263"/>
                        <a:ext cx="3810000" cy="2338387"/>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4626"/>
                                        </p:tgtEl>
                                        <p:attrNameLst>
                                          <p:attrName>style.visibility</p:attrName>
                                        </p:attrNameLst>
                                      </p:cBhvr>
                                      <p:to>
                                        <p:strVal val="visible"/>
                                      </p:to>
                                    </p:set>
                                    <p:anim calcmode="lin" valueType="num">
                                      <p:cBhvr additive="base">
                                        <p:cTn id="7" dur="500" fill="hold"/>
                                        <p:tgtEl>
                                          <p:spTgt spid="24626"/>
                                        </p:tgtEl>
                                        <p:attrNameLst>
                                          <p:attrName>ppt_x</p:attrName>
                                        </p:attrNameLst>
                                      </p:cBhvr>
                                      <p:tavLst>
                                        <p:tav tm="0">
                                          <p:val>
                                            <p:strVal val="0-#ppt_w/2"/>
                                          </p:val>
                                        </p:tav>
                                        <p:tav tm="100000">
                                          <p:val>
                                            <p:strVal val="#ppt_x"/>
                                          </p:val>
                                        </p:tav>
                                      </p:tavLst>
                                    </p:anim>
                                    <p:anim calcmode="lin" valueType="num">
                                      <p:cBhvr additive="base">
                                        <p:cTn id="8" dur="500" fill="hold"/>
                                        <p:tgtEl>
                                          <p:spTgt spid="246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617"/>
                                        </p:tgtEl>
                                        <p:attrNameLst>
                                          <p:attrName>style.visibility</p:attrName>
                                        </p:attrNameLst>
                                      </p:cBhvr>
                                      <p:to>
                                        <p:strVal val="visible"/>
                                      </p:to>
                                    </p:set>
                                    <p:anim calcmode="lin" valueType="num">
                                      <p:cBhvr additive="base">
                                        <p:cTn id="13" dur="500" fill="hold"/>
                                        <p:tgtEl>
                                          <p:spTgt spid="24617"/>
                                        </p:tgtEl>
                                        <p:attrNameLst>
                                          <p:attrName>ppt_x</p:attrName>
                                        </p:attrNameLst>
                                      </p:cBhvr>
                                      <p:tavLst>
                                        <p:tav tm="0">
                                          <p:val>
                                            <p:strVal val="0-#ppt_w/2"/>
                                          </p:val>
                                        </p:tav>
                                        <p:tav tm="100000">
                                          <p:val>
                                            <p:strVal val="#ppt_x"/>
                                          </p:val>
                                        </p:tav>
                                      </p:tavLst>
                                    </p:anim>
                                    <p:anim calcmode="lin" valueType="num">
                                      <p:cBhvr additive="base">
                                        <p:cTn id="14" dur="500" fill="hold"/>
                                        <p:tgtEl>
                                          <p:spTgt spid="246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4646"/>
                                        </p:tgtEl>
                                        <p:attrNameLst>
                                          <p:attrName>style.visibility</p:attrName>
                                        </p:attrNameLst>
                                      </p:cBhvr>
                                      <p:to>
                                        <p:strVal val="visible"/>
                                      </p:to>
                                    </p:set>
                                    <p:anim calcmode="lin" valueType="num">
                                      <p:cBhvr additive="base">
                                        <p:cTn id="19" dur="500" fill="hold"/>
                                        <p:tgtEl>
                                          <p:spTgt spid="24646"/>
                                        </p:tgtEl>
                                        <p:attrNameLst>
                                          <p:attrName>ppt_x</p:attrName>
                                        </p:attrNameLst>
                                      </p:cBhvr>
                                      <p:tavLst>
                                        <p:tav tm="0">
                                          <p:val>
                                            <p:strVal val="0-#ppt_w/2"/>
                                          </p:val>
                                        </p:tav>
                                        <p:tav tm="100000">
                                          <p:val>
                                            <p:strVal val="#ppt_x"/>
                                          </p:val>
                                        </p:tav>
                                      </p:tavLst>
                                    </p:anim>
                                    <p:anim calcmode="lin" valueType="num">
                                      <p:cBhvr additive="base">
                                        <p:cTn id="20" dur="500" fill="hold"/>
                                        <p:tgtEl>
                                          <p:spTgt spid="2464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4654"/>
                                        </p:tgtEl>
                                        <p:attrNameLst>
                                          <p:attrName>style.visibility</p:attrName>
                                        </p:attrNameLst>
                                      </p:cBhvr>
                                      <p:to>
                                        <p:strVal val="visible"/>
                                      </p:to>
                                    </p:set>
                                    <p:anim calcmode="lin" valueType="num">
                                      <p:cBhvr additive="base">
                                        <p:cTn id="25" dur="500" fill="hold"/>
                                        <p:tgtEl>
                                          <p:spTgt spid="24654"/>
                                        </p:tgtEl>
                                        <p:attrNameLst>
                                          <p:attrName>ppt_x</p:attrName>
                                        </p:attrNameLst>
                                      </p:cBhvr>
                                      <p:tavLst>
                                        <p:tav tm="0">
                                          <p:val>
                                            <p:strVal val="0-#ppt_w/2"/>
                                          </p:val>
                                        </p:tav>
                                        <p:tav tm="100000">
                                          <p:val>
                                            <p:strVal val="#ppt_x"/>
                                          </p:val>
                                        </p:tav>
                                      </p:tavLst>
                                    </p:anim>
                                    <p:anim calcmode="lin" valueType="num">
                                      <p:cBhvr additive="base">
                                        <p:cTn id="26" dur="500" fill="hold"/>
                                        <p:tgtEl>
                                          <p:spTgt spid="2465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4656"/>
                                        </p:tgtEl>
                                        <p:attrNameLst>
                                          <p:attrName>style.visibility</p:attrName>
                                        </p:attrNameLst>
                                      </p:cBhvr>
                                      <p:to>
                                        <p:strVal val="visible"/>
                                      </p:to>
                                    </p:set>
                                    <p:anim calcmode="lin" valueType="num">
                                      <p:cBhvr additive="base">
                                        <p:cTn id="31" dur="500" fill="hold"/>
                                        <p:tgtEl>
                                          <p:spTgt spid="24656"/>
                                        </p:tgtEl>
                                        <p:attrNameLst>
                                          <p:attrName>ppt_x</p:attrName>
                                        </p:attrNameLst>
                                      </p:cBhvr>
                                      <p:tavLst>
                                        <p:tav tm="0">
                                          <p:val>
                                            <p:strVal val="0-#ppt_w/2"/>
                                          </p:val>
                                        </p:tav>
                                        <p:tav tm="100000">
                                          <p:val>
                                            <p:strVal val="#ppt_x"/>
                                          </p:val>
                                        </p:tav>
                                      </p:tavLst>
                                    </p:anim>
                                    <p:anim calcmode="lin" valueType="num">
                                      <p:cBhvr additive="base">
                                        <p:cTn id="32" dur="500" fill="hold"/>
                                        <p:tgtEl>
                                          <p:spTgt spid="2465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4625"/>
                                        </p:tgtEl>
                                        <p:attrNameLst>
                                          <p:attrName>style.visibility</p:attrName>
                                        </p:attrNameLst>
                                      </p:cBhvr>
                                      <p:to>
                                        <p:strVal val="visible"/>
                                      </p:to>
                                    </p:set>
                                    <p:anim calcmode="lin" valueType="num">
                                      <p:cBhvr additive="base">
                                        <p:cTn id="37" dur="500" fill="hold"/>
                                        <p:tgtEl>
                                          <p:spTgt spid="24625"/>
                                        </p:tgtEl>
                                        <p:attrNameLst>
                                          <p:attrName>ppt_x</p:attrName>
                                        </p:attrNameLst>
                                      </p:cBhvr>
                                      <p:tavLst>
                                        <p:tav tm="0">
                                          <p:val>
                                            <p:strVal val="0-#ppt_w/2"/>
                                          </p:val>
                                        </p:tav>
                                        <p:tav tm="100000">
                                          <p:val>
                                            <p:strVal val="#ppt_x"/>
                                          </p:val>
                                        </p:tav>
                                      </p:tavLst>
                                    </p:anim>
                                    <p:anim calcmode="lin" valueType="num">
                                      <p:cBhvr additive="base">
                                        <p:cTn id="38" dur="500" fill="hold"/>
                                        <p:tgtEl>
                                          <p:spTgt spid="2462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644"/>
                                        </p:tgtEl>
                                        <p:attrNameLst>
                                          <p:attrName>style.visibility</p:attrName>
                                        </p:attrNameLst>
                                      </p:cBhvr>
                                      <p:to>
                                        <p:strVal val="visible"/>
                                      </p:to>
                                    </p:set>
                                    <p:anim calcmode="lin" valueType="num">
                                      <p:cBhvr additive="base">
                                        <p:cTn id="43" dur="500" fill="hold"/>
                                        <p:tgtEl>
                                          <p:spTgt spid="24644"/>
                                        </p:tgtEl>
                                        <p:attrNameLst>
                                          <p:attrName>ppt_x</p:attrName>
                                        </p:attrNameLst>
                                      </p:cBhvr>
                                      <p:tavLst>
                                        <p:tav tm="0">
                                          <p:val>
                                            <p:strVal val="0-#ppt_w/2"/>
                                          </p:val>
                                        </p:tav>
                                        <p:tav tm="100000">
                                          <p:val>
                                            <p:strVal val="#ppt_x"/>
                                          </p:val>
                                        </p:tav>
                                      </p:tavLst>
                                    </p:anim>
                                    <p:anim calcmode="lin" valueType="num">
                                      <p:cBhvr additive="base">
                                        <p:cTn id="44" dur="500" fill="hold"/>
                                        <p:tgtEl>
                                          <p:spTgt spid="2464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24648"/>
                                        </p:tgtEl>
                                        <p:attrNameLst>
                                          <p:attrName>style.visibility</p:attrName>
                                        </p:attrNameLst>
                                      </p:cBhvr>
                                      <p:to>
                                        <p:strVal val="visible"/>
                                      </p:to>
                                    </p:set>
                                    <p:anim calcmode="lin" valueType="num">
                                      <p:cBhvr additive="base">
                                        <p:cTn id="49" dur="500" fill="hold"/>
                                        <p:tgtEl>
                                          <p:spTgt spid="24648"/>
                                        </p:tgtEl>
                                        <p:attrNameLst>
                                          <p:attrName>ppt_x</p:attrName>
                                        </p:attrNameLst>
                                      </p:cBhvr>
                                      <p:tavLst>
                                        <p:tav tm="0">
                                          <p:val>
                                            <p:strVal val="0-#ppt_w/2"/>
                                          </p:val>
                                        </p:tav>
                                        <p:tav tm="100000">
                                          <p:val>
                                            <p:strVal val="#ppt_x"/>
                                          </p:val>
                                        </p:tav>
                                      </p:tavLst>
                                    </p:anim>
                                    <p:anim calcmode="lin" valueType="num">
                                      <p:cBhvr additive="base">
                                        <p:cTn id="50" dur="500" fill="hold"/>
                                        <p:tgtEl>
                                          <p:spTgt spid="24648"/>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24660"/>
                                        </p:tgtEl>
                                        <p:attrNameLst>
                                          <p:attrName>style.visibility</p:attrName>
                                        </p:attrNameLst>
                                      </p:cBhvr>
                                      <p:to>
                                        <p:strVal val="visible"/>
                                      </p:to>
                                    </p:set>
                                    <p:anim calcmode="lin" valueType="num">
                                      <p:cBhvr additive="base">
                                        <p:cTn id="55" dur="500" fill="hold"/>
                                        <p:tgtEl>
                                          <p:spTgt spid="24660"/>
                                        </p:tgtEl>
                                        <p:attrNameLst>
                                          <p:attrName>ppt_x</p:attrName>
                                        </p:attrNameLst>
                                      </p:cBhvr>
                                      <p:tavLst>
                                        <p:tav tm="0">
                                          <p:val>
                                            <p:strVal val="0-#ppt_w/2"/>
                                          </p:val>
                                        </p:tav>
                                        <p:tav tm="100000">
                                          <p:val>
                                            <p:strVal val="#ppt_x"/>
                                          </p:val>
                                        </p:tav>
                                      </p:tavLst>
                                    </p:anim>
                                    <p:anim calcmode="lin" valueType="num">
                                      <p:cBhvr additive="base">
                                        <p:cTn id="56" dur="500" fill="hold"/>
                                        <p:tgtEl>
                                          <p:spTgt spid="24660"/>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24658"/>
                                        </p:tgtEl>
                                        <p:attrNameLst>
                                          <p:attrName>style.visibility</p:attrName>
                                        </p:attrNameLst>
                                      </p:cBhvr>
                                      <p:to>
                                        <p:strVal val="visible"/>
                                      </p:to>
                                    </p:set>
                                    <p:anim calcmode="lin" valueType="num">
                                      <p:cBhvr additive="base">
                                        <p:cTn id="61" dur="500" fill="hold"/>
                                        <p:tgtEl>
                                          <p:spTgt spid="24658"/>
                                        </p:tgtEl>
                                        <p:attrNameLst>
                                          <p:attrName>ppt_x</p:attrName>
                                        </p:attrNameLst>
                                      </p:cBhvr>
                                      <p:tavLst>
                                        <p:tav tm="0">
                                          <p:val>
                                            <p:strVal val="0-#ppt_w/2"/>
                                          </p:val>
                                        </p:tav>
                                        <p:tav tm="100000">
                                          <p:val>
                                            <p:strVal val="#ppt_x"/>
                                          </p:val>
                                        </p:tav>
                                      </p:tavLst>
                                    </p:anim>
                                    <p:anim calcmode="lin" valueType="num">
                                      <p:cBhvr additive="base">
                                        <p:cTn id="62" dur="500" fill="hold"/>
                                        <p:tgtEl>
                                          <p:spTgt spid="24658"/>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24624"/>
                                        </p:tgtEl>
                                        <p:attrNameLst>
                                          <p:attrName>style.visibility</p:attrName>
                                        </p:attrNameLst>
                                      </p:cBhvr>
                                      <p:to>
                                        <p:strVal val="visible"/>
                                      </p:to>
                                    </p:set>
                                    <p:anim calcmode="lin" valueType="num">
                                      <p:cBhvr additive="base">
                                        <p:cTn id="67" dur="500" fill="hold"/>
                                        <p:tgtEl>
                                          <p:spTgt spid="24624"/>
                                        </p:tgtEl>
                                        <p:attrNameLst>
                                          <p:attrName>ppt_x</p:attrName>
                                        </p:attrNameLst>
                                      </p:cBhvr>
                                      <p:tavLst>
                                        <p:tav tm="0">
                                          <p:val>
                                            <p:strVal val="0-#ppt_w/2"/>
                                          </p:val>
                                        </p:tav>
                                        <p:tav tm="100000">
                                          <p:val>
                                            <p:strVal val="#ppt_x"/>
                                          </p:val>
                                        </p:tav>
                                      </p:tavLst>
                                    </p:anim>
                                    <p:anim calcmode="lin" valueType="num">
                                      <p:cBhvr additive="base">
                                        <p:cTn id="68" dur="500" fill="hold"/>
                                        <p:tgtEl>
                                          <p:spTgt spid="2462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4645"/>
                                        </p:tgtEl>
                                        <p:attrNameLst>
                                          <p:attrName>style.visibility</p:attrName>
                                        </p:attrNameLst>
                                      </p:cBhvr>
                                      <p:to>
                                        <p:strVal val="visible"/>
                                      </p:to>
                                    </p:set>
                                    <p:anim calcmode="lin" valueType="num">
                                      <p:cBhvr additive="base">
                                        <p:cTn id="73" dur="500" fill="hold"/>
                                        <p:tgtEl>
                                          <p:spTgt spid="24645"/>
                                        </p:tgtEl>
                                        <p:attrNameLst>
                                          <p:attrName>ppt_x</p:attrName>
                                        </p:attrNameLst>
                                      </p:cBhvr>
                                      <p:tavLst>
                                        <p:tav tm="0">
                                          <p:val>
                                            <p:strVal val="0-#ppt_w/2"/>
                                          </p:val>
                                        </p:tav>
                                        <p:tav tm="100000">
                                          <p:val>
                                            <p:strVal val="#ppt_x"/>
                                          </p:val>
                                        </p:tav>
                                      </p:tavLst>
                                    </p:anim>
                                    <p:anim calcmode="lin" valueType="num">
                                      <p:cBhvr additive="base">
                                        <p:cTn id="74" dur="500" fill="hold"/>
                                        <p:tgtEl>
                                          <p:spTgt spid="24645"/>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nodeType="clickEffect">
                                  <p:stCondLst>
                                    <p:cond delay="0"/>
                                  </p:stCondLst>
                                  <p:childTnLst>
                                    <p:set>
                                      <p:cBhvr>
                                        <p:cTn id="78" dur="1" fill="hold">
                                          <p:stCondLst>
                                            <p:cond delay="0"/>
                                          </p:stCondLst>
                                        </p:cTn>
                                        <p:tgtEl>
                                          <p:spTgt spid="24647"/>
                                        </p:tgtEl>
                                        <p:attrNameLst>
                                          <p:attrName>style.visibility</p:attrName>
                                        </p:attrNameLst>
                                      </p:cBhvr>
                                      <p:to>
                                        <p:strVal val="visible"/>
                                      </p:to>
                                    </p:set>
                                    <p:anim calcmode="lin" valueType="num">
                                      <p:cBhvr additive="base">
                                        <p:cTn id="79" dur="500" fill="hold"/>
                                        <p:tgtEl>
                                          <p:spTgt spid="24647"/>
                                        </p:tgtEl>
                                        <p:attrNameLst>
                                          <p:attrName>ppt_x</p:attrName>
                                        </p:attrNameLst>
                                      </p:cBhvr>
                                      <p:tavLst>
                                        <p:tav tm="0">
                                          <p:val>
                                            <p:strVal val="0-#ppt_w/2"/>
                                          </p:val>
                                        </p:tav>
                                        <p:tav tm="100000">
                                          <p:val>
                                            <p:strVal val="#ppt_x"/>
                                          </p:val>
                                        </p:tav>
                                      </p:tavLst>
                                    </p:anim>
                                    <p:anim calcmode="lin" valueType="num">
                                      <p:cBhvr additive="base">
                                        <p:cTn id="80" dur="500" fill="hold"/>
                                        <p:tgtEl>
                                          <p:spTgt spid="24647"/>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nodeType="clickEffect">
                                  <p:stCondLst>
                                    <p:cond delay="0"/>
                                  </p:stCondLst>
                                  <p:childTnLst>
                                    <p:set>
                                      <p:cBhvr>
                                        <p:cTn id="84" dur="1" fill="hold">
                                          <p:stCondLst>
                                            <p:cond delay="0"/>
                                          </p:stCondLst>
                                        </p:cTn>
                                        <p:tgtEl>
                                          <p:spTgt spid="24662"/>
                                        </p:tgtEl>
                                        <p:attrNameLst>
                                          <p:attrName>style.visibility</p:attrName>
                                        </p:attrNameLst>
                                      </p:cBhvr>
                                      <p:to>
                                        <p:strVal val="visible"/>
                                      </p:to>
                                    </p:set>
                                    <p:anim calcmode="lin" valueType="num">
                                      <p:cBhvr additive="base">
                                        <p:cTn id="85" dur="500" fill="hold"/>
                                        <p:tgtEl>
                                          <p:spTgt spid="24662"/>
                                        </p:tgtEl>
                                        <p:attrNameLst>
                                          <p:attrName>ppt_x</p:attrName>
                                        </p:attrNameLst>
                                      </p:cBhvr>
                                      <p:tavLst>
                                        <p:tav tm="0">
                                          <p:val>
                                            <p:strVal val="0-#ppt_w/2"/>
                                          </p:val>
                                        </p:tav>
                                        <p:tav tm="100000">
                                          <p:val>
                                            <p:strVal val="#ppt_x"/>
                                          </p:val>
                                        </p:tav>
                                      </p:tavLst>
                                    </p:anim>
                                    <p:anim calcmode="lin" valueType="num">
                                      <p:cBhvr additive="base">
                                        <p:cTn id="86" dur="500" fill="hold"/>
                                        <p:tgtEl>
                                          <p:spTgt spid="24662"/>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nodeType="clickEffect">
                                  <p:stCondLst>
                                    <p:cond delay="0"/>
                                  </p:stCondLst>
                                  <p:childTnLst>
                                    <p:set>
                                      <p:cBhvr>
                                        <p:cTn id="90" dur="1" fill="hold">
                                          <p:stCondLst>
                                            <p:cond delay="0"/>
                                          </p:stCondLst>
                                        </p:cTn>
                                        <p:tgtEl>
                                          <p:spTgt spid="24664"/>
                                        </p:tgtEl>
                                        <p:attrNameLst>
                                          <p:attrName>style.visibility</p:attrName>
                                        </p:attrNameLst>
                                      </p:cBhvr>
                                      <p:to>
                                        <p:strVal val="visible"/>
                                      </p:to>
                                    </p:set>
                                    <p:anim calcmode="lin" valueType="num">
                                      <p:cBhvr additive="base">
                                        <p:cTn id="91" dur="500" fill="hold"/>
                                        <p:tgtEl>
                                          <p:spTgt spid="24664"/>
                                        </p:tgtEl>
                                        <p:attrNameLst>
                                          <p:attrName>ppt_x</p:attrName>
                                        </p:attrNameLst>
                                      </p:cBhvr>
                                      <p:tavLst>
                                        <p:tav tm="0">
                                          <p:val>
                                            <p:strVal val="0-#ppt_w/2"/>
                                          </p:val>
                                        </p:tav>
                                        <p:tav tm="100000">
                                          <p:val>
                                            <p:strVal val="#ppt_x"/>
                                          </p:val>
                                        </p:tav>
                                      </p:tavLst>
                                    </p:anim>
                                    <p:anim calcmode="lin" valueType="num">
                                      <p:cBhvr additive="base">
                                        <p:cTn id="92" dur="500" fill="hold"/>
                                        <p:tgtEl>
                                          <p:spTgt spid="24664"/>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24666"/>
                                        </p:tgtEl>
                                        <p:attrNameLst>
                                          <p:attrName>style.visibility</p:attrName>
                                        </p:attrNameLst>
                                      </p:cBhvr>
                                      <p:to>
                                        <p:strVal val="visible"/>
                                      </p:to>
                                    </p:set>
                                    <p:anim calcmode="lin" valueType="num">
                                      <p:cBhvr additive="base">
                                        <p:cTn id="97" dur="500" fill="hold"/>
                                        <p:tgtEl>
                                          <p:spTgt spid="24666"/>
                                        </p:tgtEl>
                                        <p:attrNameLst>
                                          <p:attrName>ppt_x</p:attrName>
                                        </p:attrNameLst>
                                      </p:cBhvr>
                                      <p:tavLst>
                                        <p:tav tm="0">
                                          <p:val>
                                            <p:strVal val="0-#ppt_w/2"/>
                                          </p:val>
                                        </p:tav>
                                        <p:tav tm="100000">
                                          <p:val>
                                            <p:strVal val="#ppt_x"/>
                                          </p:val>
                                        </p:tav>
                                      </p:tavLst>
                                    </p:anim>
                                    <p:anim calcmode="lin" valueType="num">
                                      <p:cBhvr additive="base">
                                        <p:cTn id="98" dur="500" fill="hold"/>
                                        <p:tgtEl>
                                          <p:spTgt spid="24666"/>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24667"/>
                                        </p:tgtEl>
                                        <p:attrNameLst>
                                          <p:attrName>style.visibility</p:attrName>
                                        </p:attrNameLst>
                                      </p:cBhvr>
                                      <p:to>
                                        <p:strVal val="visible"/>
                                      </p:to>
                                    </p:set>
                                    <p:anim calcmode="lin" valueType="num">
                                      <p:cBhvr additive="base">
                                        <p:cTn id="103" dur="500" fill="hold"/>
                                        <p:tgtEl>
                                          <p:spTgt spid="24667"/>
                                        </p:tgtEl>
                                        <p:attrNameLst>
                                          <p:attrName>ppt_x</p:attrName>
                                        </p:attrNameLst>
                                      </p:cBhvr>
                                      <p:tavLst>
                                        <p:tav tm="0">
                                          <p:val>
                                            <p:strVal val="0-#ppt_w/2"/>
                                          </p:val>
                                        </p:tav>
                                        <p:tav tm="100000">
                                          <p:val>
                                            <p:strVal val="#ppt_x"/>
                                          </p:val>
                                        </p:tav>
                                      </p:tavLst>
                                    </p:anim>
                                    <p:anim calcmode="lin" valueType="num">
                                      <p:cBhvr additive="base">
                                        <p:cTn id="104" dur="500" fill="hold"/>
                                        <p:tgtEl>
                                          <p:spTgt spid="24667"/>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24668"/>
                                        </p:tgtEl>
                                        <p:attrNameLst>
                                          <p:attrName>style.visibility</p:attrName>
                                        </p:attrNameLst>
                                      </p:cBhvr>
                                      <p:to>
                                        <p:strVal val="visible"/>
                                      </p:to>
                                    </p:set>
                                    <p:anim calcmode="lin" valueType="num">
                                      <p:cBhvr additive="base">
                                        <p:cTn id="109" dur="500" fill="hold"/>
                                        <p:tgtEl>
                                          <p:spTgt spid="24668"/>
                                        </p:tgtEl>
                                        <p:attrNameLst>
                                          <p:attrName>ppt_x</p:attrName>
                                        </p:attrNameLst>
                                      </p:cBhvr>
                                      <p:tavLst>
                                        <p:tav tm="0">
                                          <p:val>
                                            <p:strVal val="0-#ppt_w/2"/>
                                          </p:val>
                                        </p:tav>
                                        <p:tav tm="100000">
                                          <p:val>
                                            <p:strVal val="#ppt_x"/>
                                          </p:val>
                                        </p:tav>
                                      </p:tavLst>
                                    </p:anim>
                                    <p:anim calcmode="lin" valueType="num">
                                      <p:cBhvr additive="base">
                                        <p:cTn id="110" dur="500" fill="hold"/>
                                        <p:tgtEl>
                                          <p:spTgt spid="24668"/>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8" fill="hold" nodeType="clickEffect">
                                  <p:stCondLst>
                                    <p:cond delay="0"/>
                                  </p:stCondLst>
                                  <p:childTnLst>
                                    <p:set>
                                      <p:cBhvr>
                                        <p:cTn id="114" dur="1" fill="hold">
                                          <p:stCondLst>
                                            <p:cond delay="0"/>
                                          </p:stCondLst>
                                        </p:cTn>
                                        <p:tgtEl>
                                          <p:spTgt spid="24627"/>
                                        </p:tgtEl>
                                        <p:attrNameLst>
                                          <p:attrName>style.visibility</p:attrName>
                                        </p:attrNameLst>
                                      </p:cBhvr>
                                      <p:to>
                                        <p:strVal val="visible"/>
                                      </p:to>
                                    </p:set>
                                    <p:anim calcmode="lin" valueType="num">
                                      <p:cBhvr additive="base">
                                        <p:cTn id="115" dur="500" fill="hold"/>
                                        <p:tgtEl>
                                          <p:spTgt spid="24627"/>
                                        </p:tgtEl>
                                        <p:attrNameLst>
                                          <p:attrName>ppt_x</p:attrName>
                                        </p:attrNameLst>
                                      </p:cBhvr>
                                      <p:tavLst>
                                        <p:tav tm="0">
                                          <p:val>
                                            <p:strVal val="0-#ppt_w/2"/>
                                          </p:val>
                                        </p:tav>
                                        <p:tav tm="100000">
                                          <p:val>
                                            <p:strVal val="#ppt_x"/>
                                          </p:val>
                                        </p:tav>
                                      </p:tavLst>
                                    </p:anim>
                                    <p:anim calcmode="lin" valueType="num">
                                      <p:cBhvr additive="base">
                                        <p:cTn id="116" dur="500" fill="hold"/>
                                        <p:tgtEl>
                                          <p:spTgt spid="24627"/>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8" fill="hold" grpId="0" nodeType="clickEffect">
                                  <p:stCondLst>
                                    <p:cond delay="0"/>
                                  </p:stCondLst>
                                  <p:childTnLst>
                                    <p:set>
                                      <p:cBhvr>
                                        <p:cTn id="120" dur="1" fill="hold">
                                          <p:stCondLst>
                                            <p:cond delay="0"/>
                                          </p:stCondLst>
                                        </p:cTn>
                                        <p:tgtEl>
                                          <p:spTgt spid="24643"/>
                                        </p:tgtEl>
                                        <p:attrNameLst>
                                          <p:attrName>style.visibility</p:attrName>
                                        </p:attrNameLst>
                                      </p:cBhvr>
                                      <p:to>
                                        <p:strVal val="visible"/>
                                      </p:to>
                                    </p:set>
                                    <p:anim calcmode="lin" valueType="num">
                                      <p:cBhvr additive="base">
                                        <p:cTn id="121" dur="500" fill="hold"/>
                                        <p:tgtEl>
                                          <p:spTgt spid="24643"/>
                                        </p:tgtEl>
                                        <p:attrNameLst>
                                          <p:attrName>ppt_x</p:attrName>
                                        </p:attrNameLst>
                                      </p:cBhvr>
                                      <p:tavLst>
                                        <p:tav tm="0">
                                          <p:val>
                                            <p:strVal val="0-#ppt_w/2"/>
                                          </p:val>
                                        </p:tav>
                                        <p:tav tm="100000">
                                          <p:val>
                                            <p:strVal val="#ppt_x"/>
                                          </p:val>
                                        </p:tav>
                                      </p:tavLst>
                                    </p:anim>
                                    <p:anim calcmode="lin" valueType="num">
                                      <p:cBhvr additive="base">
                                        <p:cTn id="122" dur="500" fill="hold"/>
                                        <p:tgtEl>
                                          <p:spTgt spid="24643"/>
                                        </p:tgtEl>
                                        <p:attrNameLst>
                                          <p:attrName>ppt_y</p:attrName>
                                        </p:attrNameLst>
                                      </p:cBhvr>
                                      <p:tavLst>
                                        <p:tav tm="0">
                                          <p:val>
                                            <p:strVal val="#ppt_y"/>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nodeType="clickEffect">
                                  <p:stCondLst>
                                    <p:cond delay="0"/>
                                  </p:stCondLst>
                                  <p:childTnLst>
                                    <p:set>
                                      <p:cBhvr>
                                        <p:cTn id="126" dur="1" fill="hold">
                                          <p:stCondLst>
                                            <p:cond delay="0"/>
                                          </p:stCondLst>
                                        </p:cTn>
                                        <p:tgtEl>
                                          <p:spTgt spid="24649"/>
                                        </p:tgtEl>
                                        <p:attrNameLst>
                                          <p:attrName>style.visibility</p:attrName>
                                        </p:attrNameLst>
                                      </p:cBhvr>
                                      <p:to>
                                        <p:strVal val="visible"/>
                                      </p:to>
                                    </p:set>
                                    <p:anim calcmode="lin" valueType="num">
                                      <p:cBhvr additive="base">
                                        <p:cTn id="127" dur="500" fill="hold"/>
                                        <p:tgtEl>
                                          <p:spTgt spid="24649"/>
                                        </p:tgtEl>
                                        <p:attrNameLst>
                                          <p:attrName>ppt_x</p:attrName>
                                        </p:attrNameLst>
                                      </p:cBhvr>
                                      <p:tavLst>
                                        <p:tav tm="0">
                                          <p:val>
                                            <p:strVal val="0-#ppt_w/2"/>
                                          </p:val>
                                        </p:tav>
                                        <p:tav tm="100000">
                                          <p:val>
                                            <p:strVal val="#ppt_x"/>
                                          </p:val>
                                        </p:tav>
                                      </p:tavLst>
                                    </p:anim>
                                    <p:anim calcmode="lin" valueType="num">
                                      <p:cBhvr additive="base">
                                        <p:cTn id="128" dur="500" fill="hold"/>
                                        <p:tgtEl>
                                          <p:spTgt spid="24649"/>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8" fill="hold" nodeType="clickEffect">
                                  <p:stCondLst>
                                    <p:cond delay="0"/>
                                  </p:stCondLst>
                                  <p:childTnLst>
                                    <p:set>
                                      <p:cBhvr>
                                        <p:cTn id="132" dur="1" fill="hold">
                                          <p:stCondLst>
                                            <p:cond delay="0"/>
                                          </p:stCondLst>
                                        </p:cTn>
                                        <p:tgtEl>
                                          <p:spTgt spid="24652"/>
                                        </p:tgtEl>
                                        <p:attrNameLst>
                                          <p:attrName>style.visibility</p:attrName>
                                        </p:attrNameLst>
                                      </p:cBhvr>
                                      <p:to>
                                        <p:strVal val="visible"/>
                                      </p:to>
                                    </p:set>
                                    <p:anim calcmode="lin" valueType="num">
                                      <p:cBhvr additive="base">
                                        <p:cTn id="133" dur="500" fill="hold"/>
                                        <p:tgtEl>
                                          <p:spTgt spid="24652"/>
                                        </p:tgtEl>
                                        <p:attrNameLst>
                                          <p:attrName>ppt_x</p:attrName>
                                        </p:attrNameLst>
                                      </p:cBhvr>
                                      <p:tavLst>
                                        <p:tav tm="0">
                                          <p:val>
                                            <p:strVal val="0-#ppt_w/2"/>
                                          </p:val>
                                        </p:tav>
                                        <p:tav tm="100000">
                                          <p:val>
                                            <p:strVal val="#ppt_x"/>
                                          </p:val>
                                        </p:tav>
                                      </p:tavLst>
                                    </p:anim>
                                    <p:anim calcmode="lin" valueType="num">
                                      <p:cBhvr additive="base">
                                        <p:cTn id="134" dur="500" fill="hold"/>
                                        <p:tgtEl>
                                          <p:spTgt spid="24652"/>
                                        </p:tgtEl>
                                        <p:attrNameLst>
                                          <p:attrName>ppt_y</p:attrName>
                                        </p:attrNameLst>
                                      </p:cBhvr>
                                      <p:tavLst>
                                        <p:tav tm="0">
                                          <p:val>
                                            <p:strVal val="#ppt_y"/>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8" fill="hold" nodeType="clickEffect">
                                  <p:stCondLst>
                                    <p:cond delay="0"/>
                                  </p:stCondLst>
                                  <p:childTnLst>
                                    <p:set>
                                      <p:cBhvr>
                                        <p:cTn id="138" dur="1" fill="hold">
                                          <p:stCondLst>
                                            <p:cond delay="0"/>
                                          </p:stCondLst>
                                        </p:cTn>
                                        <p:tgtEl>
                                          <p:spTgt spid="24650"/>
                                        </p:tgtEl>
                                        <p:attrNameLst>
                                          <p:attrName>style.visibility</p:attrName>
                                        </p:attrNameLst>
                                      </p:cBhvr>
                                      <p:to>
                                        <p:strVal val="visible"/>
                                      </p:to>
                                    </p:set>
                                    <p:anim calcmode="lin" valueType="num">
                                      <p:cBhvr additive="base">
                                        <p:cTn id="139" dur="500" fill="hold"/>
                                        <p:tgtEl>
                                          <p:spTgt spid="24650"/>
                                        </p:tgtEl>
                                        <p:attrNameLst>
                                          <p:attrName>ppt_x</p:attrName>
                                        </p:attrNameLst>
                                      </p:cBhvr>
                                      <p:tavLst>
                                        <p:tav tm="0">
                                          <p:val>
                                            <p:strVal val="0-#ppt_w/2"/>
                                          </p:val>
                                        </p:tav>
                                        <p:tav tm="100000">
                                          <p:val>
                                            <p:strVal val="#ppt_x"/>
                                          </p:val>
                                        </p:tav>
                                      </p:tavLst>
                                    </p:anim>
                                    <p:anim calcmode="lin" valueType="num">
                                      <p:cBhvr additive="base">
                                        <p:cTn id="140" dur="500" fill="hold"/>
                                        <p:tgtEl>
                                          <p:spTgt spid="24650"/>
                                        </p:tgtEl>
                                        <p:attrNameLst>
                                          <p:attrName>ppt_y</p:attrName>
                                        </p:attrNameLst>
                                      </p:cBhvr>
                                      <p:tavLst>
                                        <p:tav tm="0">
                                          <p:val>
                                            <p:strVal val="#ppt_y"/>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8" fill="hold" grpId="0" nodeType="clickEffect">
                                  <p:stCondLst>
                                    <p:cond delay="0"/>
                                  </p:stCondLst>
                                  <p:childTnLst>
                                    <p:set>
                                      <p:cBhvr>
                                        <p:cTn id="144" dur="1" fill="hold">
                                          <p:stCondLst>
                                            <p:cond delay="0"/>
                                          </p:stCondLst>
                                        </p:cTn>
                                        <p:tgtEl>
                                          <p:spTgt spid="24669"/>
                                        </p:tgtEl>
                                        <p:attrNameLst>
                                          <p:attrName>style.visibility</p:attrName>
                                        </p:attrNameLst>
                                      </p:cBhvr>
                                      <p:to>
                                        <p:strVal val="visible"/>
                                      </p:to>
                                    </p:set>
                                    <p:anim calcmode="lin" valueType="num">
                                      <p:cBhvr additive="base">
                                        <p:cTn id="145" dur="500" fill="hold"/>
                                        <p:tgtEl>
                                          <p:spTgt spid="24669"/>
                                        </p:tgtEl>
                                        <p:attrNameLst>
                                          <p:attrName>ppt_x</p:attrName>
                                        </p:attrNameLst>
                                      </p:cBhvr>
                                      <p:tavLst>
                                        <p:tav tm="0">
                                          <p:val>
                                            <p:strVal val="0-#ppt_w/2"/>
                                          </p:val>
                                        </p:tav>
                                        <p:tav tm="100000">
                                          <p:val>
                                            <p:strVal val="#ppt_x"/>
                                          </p:val>
                                        </p:tav>
                                      </p:tavLst>
                                    </p:anim>
                                    <p:anim calcmode="lin" valueType="num">
                                      <p:cBhvr additive="base">
                                        <p:cTn id="146" dur="500" fill="hold"/>
                                        <p:tgtEl>
                                          <p:spTgt spid="24669"/>
                                        </p:tgtEl>
                                        <p:attrNameLst>
                                          <p:attrName>ppt_y</p:attrName>
                                        </p:attrNameLst>
                                      </p:cBhvr>
                                      <p:tavLst>
                                        <p:tav tm="0">
                                          <p:val>
                                            <p:strVal val="#ppt_y"/>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8" fill="hold" grpId="0" nodeType="clickEffect">
                                  <p:stCondLst>
                                    <p:cond delay="0"/>
                                  </p:stCondLst>
                                  <p:childTnLst>
                                    <p:set>
                                      <p:cBhvr>
                                        <p:cTn id="150" dur="1" fill="hold">
                                          <p:stCondLst>
                                            <p:cond delay="0"/>
                                          </p:stCondLst>
                                        </p:cTn>
                                        <p:tgtEl>
                                          <p:spTgt spid="24674"/>
                                        </p:tgtEl>
                                        <p:attrNameLst>
                                          <p:attrName>style.visibility</p:attrName>
                                        </p:attrNameLst>
                                      </p:cBhvr>
                                      <p:to>
                                        <p:strVal val="visible"/>
                                      </p:to>
                                    </p:set>
                                    <p:anim calcmode="lin" valueType="num">
                                      <p:cBhvr additive="base">
                                        <p:cTn id="151" dur="500" fill="hold"/>
                                        <p:tgtEl>
                                          <p:spTgt spid="24674"/>
                                        </p:tgtEl>
                                        <p:attrNameLst>
                                          <p:attrName>ppt_x</p:attrName>
                                        </p:attrNameLst>
                                      </p:cBhvr>
                                      <p:tavLst>
                                        <p:tav tm="0">
                                          <p:val>
                                            <p:strVal val="0-#ppt_w/2"/>
                                          </p:val>
                                        </p:tav>
                                        <p:tav tm="100000">
                                          <p:val>
                                            <p:strVal val="#ppt_x"/>
                                          </p:val>
                                        </p:tav>
                                      </p:tavLst>
                                    </p:anim>
                                    <p:anim calcmode="lin" valueType="num">
                                      <p:cBhvr additive="base">
                                        <p:cTn id="152" dur="500" fill="hold"/>
                                        <p:tgtEl>
                                          <p:spTgt spid="24674"/>
                                        </p:tgtEl>
                                        <p:attrNameLst>
                                          <p:attrName>ppt_y</p:attrName>
                                        </p:attrNameLst>
                                      </p:cBhvr>
                                      <p:tavLst>
                                        <p:tav tm="0">
                                          <p:val>
                                            <p:strVal val="#ppt_y"/>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8" fill="hold" grpId="0" nodeType="clickEffect">
                                  <p:stCondLst>
                                    <p:cond delay="0"/>
                                  </p:stCondLst>
                                  <p:childTnLst>
                                    <p:set>
                                      <p:cBhvr>
                                        <p:cTn id="156" dur="1" fill="hold">
                                          <p:stCondLst>
                                            <p:cond delay="0"/>
                                          </p:stCondLst>
                                        </p:cTn>
                                        <p:tgtEl>
                                          <p:spTgt spid="24676"/>
                                        </p:tgtEl>
                                        <p:attrNameLst>
                                          <p:attrName>style.visibility</p:attrName>
                                        </p:attrNameLst>
                                      </p:cBhvr>
                                      <p:to>
                                        <p:strVal val="visible"/>
                                      </p:to>
                                    </p:set>
                                    <p:anim calcmode="lin" valueType="num">
                                      <p:cBhvr additive="base">
                                        <p:cTn id="157" dur="500" fill="hold"/>
                                        <p:tgtEl>
                                          <p:spTgt spid="24676"/>
                                        </p:tgtEl>
                                        <p:attrNameLst>
                                          <p:attrName>ppt_x</p:attrName>
                                        </p:attrNameLst>
                                      </p:cBhvr>
                                      <p:tavLst>
                                        <p:tav tm="0">
                                          <p:val>
                                            <p:strVal val="0-#ppt_w/2"/>
                                          </p:val>
                                        </p:tav>
                                        <p:tav tm="100000">
                                          <p:val>
                                            <p:strVal val="#ppt_x"/>
                                          </p:val>
                                        </p:tav>
                                      </p:tavLst>
                                    </p:anim>
                                    <p:anim calcmode="lin" valueType="num">
                                      <p:cBhvr additive="base">
                                        <p:cTn id="158" dur="500" fill="hold"/>
                                        <p:tgtEl>
                                          <p:spTgt spid="246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17" grpId="0"/>
      <p:bldP spid="24643" grpId="0"/>
      <p:bldP spid="24644" grpId="0"/>
      <p:bldP spid="24645" grpId="0"/>
      <p:bldP spid="24666" grpId="0"/>
      <p:bldP spid="24667" grpId="0"/>
      <p:bldP spid="24668" grpId="0"/>
      <p:bldP spid="24669" grpId="0"/>
      <p:bldP spid="24674" grpId="0"/>
      <p:bldP spid="2467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47" name="Text Box 2"/>
          <p:cNvSpPr txBox="1"/>
          <p:nvPr/>
        </p:nvSpPr>
        <p:spPr>
          <a:xfrm>
            <a:off x="228600" y="304800"/>
            <a:ext cx="8915400" cy="1373188"/>
          </a:xfrm>
          <a:prstGeom prst="rect">
            <a:avLst/>
          </a:prstGeom>
          <a:noFill/>
          <a:ln w="9525">
            <a:noFill/>
          </a:ln>
        </p:spPr>
        <p:txBody>
          <a:bodyPr>
            <a:spAutoFit/>
          </a:bodyPr>
          <a:p>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检验：将上述结果带入模型，因      </a:t>
            </a:r>
            <a:r>
              <a:rPr lang="zh-CN" altLang="en-US" sz="2800" b="1" dirty="0">
                <a:latin typeface="Times New Roman" panose="02020603050405020304" pitchFamily="18" charset="0"/>
              </a:rPr>
              <a:t>＝    ＝</a:t>
            </a:r>
            <a:r>
              <a:rPr lang="en-US" altLang="zh-CN" sz="2800" dirty="0">
                <a:latin typeface="Times New Roman" panose="02020603050405020304" pitchFamily="18" charset="0"/>
              </a:rPr>
              <a:t>0</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a:p>
            <a:r>
              <a:rPr lang="zh-CN" altLang="en-US" sz="2800" b="1" dirty="0">
                <a:solidFill>
                  <a:srgbClr val="0000FF"/>
                </a:solidFill>
                <a:latin typeface="Times New Roman" panose="02020603050405020304" pitchFamily="18" charset="0"/>
              </a:rPr>
              <a:t>      </a:t>
            </a:r>
            <a:r>
              <a:rPr lang="zh-CN" altLang="en-US" sz="2800" b="1" dirty="0">
                <a:latin typeface="Times New Roman" panose="02020603050405020304" pitchFamily="18" charset="0"/>
              </a:rPr>
              <a:t>＝    ＝</a:t>
            </a:r>
            <a:r>
              <a:rPr lang="en-US" altLang="zh-CN" sz="2800" dirty="0">
                <a:latin typeface="Times New Roman" panose="02020603050405020304" pitchFamily="18" charset="0"/>
              </a:rPr>
              <a:t>0</a:t>
            </a:r>
            <a:r>
              <a:rPr lang="zh-CN" altLang="en-US" sz="2800" b="1" dirty="0">
                <a:latin typeface="Times New Roman" panose="02020603050405020304" pitchFamily="18" charset="0"/>
              </a:rPr>
              <a:t>；</a:t>
            </a:r>
            <a:r>
              <a:rPr lang="zh-CN" altLang="en-US" sz="2800" b="1" dirty="0">
                <a:solidFill>
                  <a:srgbClr val="0000FF"/>
                </a:solidFill>
                <a:latin typeface="Times New Roman" panose="02020603050405020304" pitchFamily="18" charset="0"/>
              </a:rPr>
              <a:t>     </a:t>
            </a:r>
            <a:r>
              <a:rPr lang="zh-CN" altLang="en-US" sz="2800" b="1" dirty="0">
                <a:latin typeface="Times New Roman" panose="02020603050405020304" pitchFamily="18" charset="0"/>
              </a:rPr>
              <a:t>＝</a:t>
            </a:r>
            <a:r>
              <a:rPr lang="en-US" altLang="zh-CN" sz="2800" dirty="0">
                <a:latin typeface="Times New Roman" panose="02020603050405020304" pitchFamily="18" charset="0"/>
              </a:rPr>
              <a:t>0</a:t>
            </a:r>
            <a:r>
              <a:rPr lang="zh-CN" altLang="en-US" sz="2800" b="1" dirty="0">
                <a:latin typeface="Times New Roman" panose="02020603050405020304" pitchFamily="18" charset="0"/>
              </a:rPr>
              <a:t>，</a:t>
            </a:r>
            <a:r>
              <a:rPr lang="zh-CN" altLang="en-US" sz="2800" b="1" dirty="0">
                <a:solidFill>
                  <a:srgbClr val="0000FF"/>
                </a:solidFill>
                <a:latin typeface="Times New Roman" panose="02020603050405020304" pitchFamily="18" charset="0"/>
              </a:rPr>
              <a:t>    存在；     </a:t>
            </a:r>
            <a:r>
              <a:rPr lang="zh-CN" altLang="en-US" sz="2800" b="1" dirty="0">
                <a:latin typeface="Times New Roman" panose="02020603050405020304" pitchFamily="18" charset="0"/>
              </a:rPr>
              <a:t>＝</a:t>
            </a:r>
            <a:r>
              <a:rPr lang="en-US" altLang="zh-CN" sz="2800" dirty="0">
                <a:latin typeface="Times New Roman" panose="02020603050405020304" pitchFamily="18" charset="0"/>
              </a:rPr>
              <a:t>0</a:t>
            </a:r>
            <a:r>
              <a:rPr lang="zh-CN" altLang="en-US" sz="2800" b="1" dirty="0">
                <a:latin typeface="Times New Roman" panose="02020603050405020304" pitchFamily="18" charset="0"/>
              </a:rPr>
              <a:t>，</a:t>
            </a:r>
            <a:r>
              <a:rPr lang="zh-CN" altLang="en-US" sz="2800" b="1" dirty="0">
                <a:solidFill>
                  <a:srgbClr val="0000FF"/>
                </a:solidFill>
                <a:latin typeface="Times New Roman" panose="02020603050405020304" pitchFamily="18" charset="0"/>
              </a:rPr>
              <a:t>    存在。所以，有下式：    </a:t>
            </a:r>
            <a:r>
              <a:rPr lang="en-US" altLang="zh-CN" sz="2800" dirty="0">
                <a:latin typeface="Times New Roman" panose="02020603050405020304" pitchFamily="18" charset="0"/>
              </a:rPr>
              <a:t>minZ=</a:t>
            </a:r>
            <a:r>
              <a:rPr lang="en-US" altLang="zh-CN" sz="2800" i="1" dirty="0">
                <a:latin typeface="Times New Roman" panose="02020603050405020304" pitchFamily="18" charset="0"/>
              </a:rPr>
              <a:t>P</a:t>
            </a:r>
            <a:r>
              <a:rPr lang="en-US" altLang="zh-CN" sz="2800" i="1" baseline="-30000" dirty="0">
                <a:latin typeface="Times New Roman" panose="02020603050405020304" pitchFamily="18" charset="0"/>
              </a:rPr>
              <a:t>3</a:t>
            </a:r>
            <a:r>
              <a:rPr lang="en-US" altLang="zh-CN" sz="2800" b="1" dirty="0">
                <a:solidFill>
                  <a:srgbClr val="0000FF"/>
                </a:solidFill>
                <a:latin typeface="Times New Roman" panose="02020603050405020304" pitchFamily="18" charset="0"/>
              </a:rPr>
              <a:t> </a:t>
            </a:r>
            <a:endParaRPr lang="en-US" altLang="zh-CN" sz="2800" b="1" dirty="0">
              <a:solidFill>
                <a:srgbClr val="0000FF"/>
              </a:solidFill>
              <a:latin typeface="Times New Roman" panose="02020603050405020304" pitchFamily="18" charset="0"/>
            </a:endParaRPr>
          </a:p>
        </p:txBody>
      </p:sp>
      <p:graphicFrame>
        <p:nvGraphicFramePr>
          <p:cNvPr id="14338" name="Object 8"/>
          <p:cNvGraphicFramePr/>
          <p:nvPr/>
        </p:nvGraphicFramePr>
        <p:xfrm>
          <a:off x="2590800" y="762000"/>
          <a:ext cx="352425" cy="400050"/>
        </p:xfrm>
        <a:graphic>
          <a:graphicData uri="http://schemas.openxmlformats.org/presentationml/2006/ole">
            <mc:AlternateContent xmlns:mc="http://schemas.openxmlformats.org/markup-compatibility/2006">
              <mc:Choice xmlns:v="urn:schemas-microsoft-com:vml" Requires="v">
                <p:oleObj spid="_x0000_s3102" name="" r:id="rId1" imgW="203200" imgH="228600" progId="Equation.3">
                  <p:embed/>
                </p:oleObj>
              </mc:Choice>
              <mc:Fallback>
                <p:oleObj name="" r:id="rId1" imgW="203200" imgH="228600" progId="Equation.3">
                  <p:embed/>
                  <p:pic>
                    <p:nvPicPr>
                      <p:cNvPr id="0" name="图片 3101"/>
                      <p:cNvPicPr/>
                      <p:nvPr/>
                    </p:nvPicPr>
                    <p:blipFill>
                      <a:blip r:embed="rId2"/>
                      <a:stretch>
                        <a:fillRect/>
                      </a:stretch>
                    </p:blipFill>
                    <p:spPr>
                      <a:xfrm>
                        <a:off x="2590800" y="762000"/>
                        <a:ext cx="352425" cy="400050"/>
                      </a:xfrm>
                      <a:prstGeom prst="rect">
                        <a:avLst/>
                      </a:prstGeom>
                      <a:noFill/>
                      <a:ln w="38100">
                        <a:noFill/>
                        <a:miter/>
                      </a:ln>
                    </p:spPr>
                  </p:pic>
                </p:oleObj>
              </mc:Fallback>
            </mc:AlternateContent>
          </a:graphicData>
        </a:graphic>
      </p:graphicFrame>
      <p:graphicFrame>
        <p:nvGraphicFramePr>
          <p:cNvPr id="14339" name="Object 9"/>
          <p:cNvGraphicFramePr/>
          <p:nvPr/>
        </p:nvGraphicFramePr>
        <p:xfrm>
          <a:off x="3733800" y="762000"/>
          <a:ext cx="352425" cy="400050"/>
        </p:xfrm>
        <a:graphic>
          <a:graphicData uri="http://schemas.openxmlformats.org/presentationml/2006/ole">
            <mc:AlternateContent xmlns:mc="http://schemas.openxmlformats.org/markup-compatibility/2006">
              <mc:Choice xmlns:v="urn:schemas-microsoft-com:vml" Requires="v">
                <p:oleObj spid="_x0000_s3103" name="" r:id="rId3" imgW="203200" imgH="228600" progId="Equation.3">
                  <p:embed/>
                </p:oleObj>
              </mc:Choice>
              <mc:Fallback>
                <p:oleObj name="" r:id="rId3" imgW="203200" imgH="228600" progId="Equation.3">
                  <p:embed/>
                  <p:pic>
                    <p:nvPicPr>
                      <p:cNvPr id="0" name="图片 3102"/>
                      <p:cNvPicPr/>
                      <p:nvPr/>
                    </p:nvPicPr>
                    <p:blipFill>
                      <a:blip r:embed="rId4"/>
                      <a:stretch>
                        <a:fillRect/>
                      </a:stretch>
                    </p:blipFill>
                    <p:spPr>
                      <a:xfrm>
                        <a:off x="3733800" y="762000"/>
                        <a:ext cx="352425" cy="400050"/>
                      </a:xfrm>
                      <a:prstGeom prst="rect">
                        <a:avLst/>
                      </a:prstGeom>
                      <a:noFill/>
                      <a:ln w="38100">
                        <a:noFill/>
                        <a:miter/>
                      </a:ln>
                    </p:spPr>
                  </p:pic>
                </p:oleObj>
              </mc:Fallback>
            </mc:AlternateContent>
          </a:graphicData>
        </a:graphic>
      </p:graphicFrame>
      <p:graphicFrame>
        <p:nvGraphicFramePr>
          <p:cNvPr id="14340" name="Object 10"/>
          <p:cNvGraphicFramePr/>
          <p:nvPr/>
        </p:nvGraphicFramePr>
        <p:xfrm>
          <a:off x="6629400" y="381000"/>
          <a:ext cx="352425" cy="409575"/>
        </p:xfrm>
        <a:graphic>
          <a:graphicData uri="http://schemas.openxmlformats.org/presentationml/2006/ole">
            <mc:AlternateContent xmlns:mc="http://schemas.openxmlformats.org/markup-compatibility/2006">
              <mc:Choice xmlns:v="urn:schemas-microsoft-com:vml" Requires="v">
                <p:oleObj spid="_x0000_s3104" name="" r:id="rId5" imgW="203200" imgH="228600" progId="Equation.3">
                  <p:embed/>
                </p:oleObj>
              </mc:Choice>
              <mc:Fallback>
                <p:oleObj name="" r:id="rId5" imgW="203200" imgH="228600" progId="Equation.3">
                  <p:embed/>
                  <p:pic>
                    <p:nvPicPr>
                      <p:cNvPr id="0" name="图片 3103"/>
                      <p:cNvPicPr/>
                      <p:nvPr/>
                    </p:nvPicPr>
                    <p:blipFill>
                      <a:blip r:embed="rId6"/>
                      <a:stretch>
                        <a:fillRect/>
                      </a:stretch>
                    </p:blipFill>
                    <p:spPr>
                      <a:xfrm>
                        <a:off x="6629400" y="381000"/>
                        <a:ext cx="352425" cy="409575"/>
                      </a:xfrm>
                      <a:prstGeom prst="rect">
                        <a:avLst/>
                      </a:prstGeom>
                      <a:noFill/>
                      <a:ln w="38100">
                        <a:noFill/>
                        <a:miter/>
                      </a:ln>
                    </p:spPr>
                  </p:pic>
                </p:oleObj>
              </mc:Fallback>
            </mc:AlternateContent>
          </a:graphicData>
        </a:graphic>
      </p:graphicFrame>
      <p:graphicFrame>
        <p:nvGraphicFramePr>
          <p:cNvPr id="14341" name="Object 11"/>
          <p:cNvGraphicFramePr/>
          <p:nvPr/>
        </p:nvGraphicFramePr>
        <p:xfrm>
          <a:off x="5791200" y="381000"/>
          <a:ext cx="352425" cy="409575"/>
        </p:xfrm>
        <a:graphic>
          <a:graphicData uri="http://schemas.openxmlformats.org/presentationml/2006/ole">
            <mc:AlternateContent xmlns:mc="http://schemas.openxmlformats.org/markup-compatibility/2006">
              <mc:Choice xmlns:v="urn:schemas-microsoft-com:vml" Requires="v">
                <p:oleObj spid="_x0000_s3099" name="" r:id="rId7" imgW="203200" imgH="228600" progId="Equation.3">
                  <p:embed/>
                </p:oleObj>
              </mc:Choice>
              <mc:Fallback>
                <p:oleObj name="" r:id="rId7" imgW="203200" imgH="228600" progId="Equation.3">
                  <p:embed/>
                  <p:pic>
                    <p:nvPicPr>
                      <p:cNvPr id="0" name="图片 3098"/>
                      <p:cNvPicPr/>
                      <p:nvPr/>
                    </p:nvPicPr>
                    <p:blipFill>
                      <a:blip r:embed="rId8"/>
                      <a:stretch>
                        <a:fillRect/>
                      </a:stretch>
                    </p:blipFill>
                    <p:spPr>
                      <a:xfrm>
                        <a:off x="5791200" y="381000"/>
                        <a:ext cx="352425" cy="409575"/>
                      </a:xfrm>
                      <a:prstGeom prst="rect">
                        <a:avLst/>
                      </a:prstGeom>
                      <a:noFill/>
                      <a:ln w="38100">
                        <a:noFill/>
                        <a:miter/>
                      </a:ln>
                    </p:spPr>
                  </p:pic>
                </p:oleObj>
              </mc:Fallback>
            </mc:AlternateContent>
          </a:graphicData>
        </a:graphic>
      </p:graphicFrame>
      <p:graphicFrame>
        <p:nvGraphicFramePr>
          <p:cNvPr id="14342" name="Object 12"/>
          <p:cNvGraphicFramePr/>
          <p:nvPr/>
        </p:nvGraphicFramePr>
        <p:xfrm>
          <a:off x="1219200" y="762000"/>
          <a:ext cx="352425" cy="419100"/>
        </p:xfrm>
        <a:graphic>
          <a:graphicData uri="http://schemas.openxmlformats.org/presentationml/2006/ole">
            <mc:AlternateContent xmlns:mc="http://schemas.openxmlformats.org/markup-compatibility/2006">
              <mc:Choice xmlns:v="urn:schemas-microsoft-com:vml" Requires="v">
                <p:oleObj spid="_x0000_s3107" name="" r:id="rId9" imgW="203200" imgH="241300" progId="Equation.3">
                  <p:embed/>
                </p:oleObj>
              </mc:Choice>
              <mc:Fallback>
                <p:oleObj name="" r:id="rId9" imgW="203200" imgH="241300" progId="Equation.3">
                  <p:embed/>
                  <p:pic>
                    <p:nvPicPr>
                      <p:cNvPr id="0" name="图片 3106"/>
                      <p:cNvPicPr/>
                      <p:nvPr/>
                    </p:nvPicPr>
                    <p:blipFill>
                      <a:blip r:embed="rId10"/>
                      <a:stretch>
                        <a:fillRect/>
                      </a:stretch>
                    </p:blipFill>
                    <p:spPr>
                      <a:xfrm>
                        <a:off x="1219200" y="762000"/>
                        <a:ext cx="352425" cy="419100"/>
                      </a:xfrm>
                      <a:prstGeom prst="rect">
                        <a:avLst/>
                      </a:prstGeom>
                      <a:noFill/>
                      <a:ln w="38100">
                        <a:noFill/>
                        <a:miter/>
                      </a:ln>
                    </p:spPr>
                  </p:pic>
                </p:oleObj>
              </mc:Fallback>
            </mc:AlternateContent>
          </a:graphicData>
        </a:graphic>
      </p:graphicFrame>
      <p:graphicFrame>
        <p:nvGraphicFramePr>
          <p:cNvPr id="14343" name="Object 13"/>
          <p:cNvGraphicFramePr/>
          <p:nvPr/>
        </p:nvGraphicFramePr>
        <p:xfrm>
          <a:off x="457200" y="762000"/>
          <a:ext cx="352425" cy="419100"/>
        </p:xfrm>
        <a:graphic>
          <a:graphicData uri="http://schemas.openxmlformats.org/presentationml/2006/ole">
            <mc:AlternateContent xmlns:mc="http://schemas.openxmlformats.org/markup-compatibility/2006">
              <mc:Choice xmlns:v="urn:schemas-microsoft-com:vml" Requires="v">
                <p:oleObj spid="_x0000_s3101" name="" r:id="rId11" imgW="203200" imgH="241300" progId="Equation.3">
                  <p:embed/>
                </p:oleObj>
              </mc:Choice>
              <mc:Fallback>
                <p:oleObj name="" r:id="rId11" imgW="203200" imgH="241300" progId="Equation.3">
                  <p:embed/>
                  <p:pic>
                    <p:nvPicPr>
                      <p:cNvPr id="0" name="图片 3100"/>
                      <p:cNvPicPr/>
                      <p:nvPr/>
                    </p:nvPicPr>
                    <p:blipFill>
                      <a:blip r:embed="rId12"/>
                      <a:stretch>
                        <a:fillRect/>
                      </a:stretch>
                    </p:blipFill>
                    <p:spPr>
                      <a:xfrm>
                        <a:off x="457200" y="762000"/>
                        <a:ext cx="352425" cy="419100"/>
                      </a:xfrm>
                      <a:prstGeom prst="rect">
                        <a:avLst/>
                      </a:prstGeom>
                      <a:noFill/>
                      <a:ln w="38100">
                        <a:noFill/>
                        <a:miter/>
                      </a:ln>
                    </p:spPr>
                  </p:pic>
                </p:oleObj>
              </mc:Fallback>
            </mc:AlternateContent>
          </a:graphicData>
        </a:graphic>
      </p:graphicFrame>
      <p:graphicFrame>
        <p:nvGraphicFramePr>
          <p:cNvPr id="14344" name="Object 14"/>
          <p:cNvGraphicFramePr/>
          <p:nvPr/>
        </p:nvGraphicFramePr>
        <p:xfrm>
          <a:off x="6477000" y="762000"/>
          <a:ext cx="361950" cy="409575"/>
        </p:xfrm>
        <a:graphic>
          <a:graphicData uri="http://schemas.openxmlformats.org/presentationml/2006/ole">
            <mc:AlternateContent xmlns:mc="http://schemas.openxmlformats.org/markup-compatibility/2006">
              <mc:Choice xmlns:v="urn:schemas-microsoft-com:vml" Requires="v">
                <p:oleObj spid="_x0000_s3106" name="" r:id="rId13" imgW="203200" imgH="228600" progId="Equation.3">
                  <p:embed/>
                </p:oleObj>
              </mc:Choice>
              <mc:Fallback>
                <p:oleObj name="" r:id="rId13" imgW="203200" imgH="228600" progId="Equation.3">
                  <p:embed/>
                  <p:pic>
                    <p:nvPicPr>
                      <p:cNvPr id="0" name="图片 3105"/>
                      <p:cNvPicPr/>
                      <p:nvPr/>
                    </p:nvPicPr>
                    <p:blipFill>
                      <a:blip r:embed="rId14"/>
                      <a:stretch>
                        <a:fillRect/>
                      </a:stretch>
                    </p:blipFill>
                    <p:spPr>
                      <a:xfrm>
                        <a:off x="6477000" y="762000"/>
                        <a:ext cx="361950" cy="409575"/>
                      </a:xfrm>
                      <a:prstGeom prst="rect">
                        <a:avLst/>
                      </a:prstGeom>
                      <a:noFill/>
                      <a:ln w="38100">
                        <a:noFill/>
                        <a:miter/>
                      </a:ln>
                    </p:spPr>
                  </p:pic>
                </p:oleObj>
              </mc:Fallback>
            </mc:AlternateContent>
          </a:graphicData>
        </a:graphic>
      </p:graphicFrame>
      <p:graphicFrame>
        <p:nvGraphicFramePr>
          <p:cNvPr id="14345" name="Object 15"/>
          <p:cNvGraphicFramePr/>
          <p:nvPr/>
        </p:nvGraphicFramePr>
        <p:xfrm>
          <a:off x="5334000" y="762000"/>
          <a:ext cx="361950" cy="409575"/>
        </p:xfrm>
        <a:graphic>
          <a:graphicData uri="http://schemas.openxmlformats.org/presentationml/2006/ole">
            <mc:AlternateContent xmlns:mc="http://schemas.openxmlformats.org/markup-compatibility/2006">
              <mc:Choice xmlns:v="urn:schemas-microsoft-com:vml" Requires="v">
                <p:oleObj spid="_x0000_s3108" name="" r:id="rId15" imgW="203200" imgH="228600" progId="Equation.3">
                  <p:embed/>
                </p:oleObj>
              </mc:Choice>
              <mc:Fallback>
                <p:oleObj name="" r:id="rId15" imgW="203200" imgH="228600" progId="Equation.3">
                  <p:embed/>
                  <p:pic>
                    <p:nvPicPr>
                      <p:cNvPr id="0" name="图片 3107"/>
                      <p:cNvPicPr/>
                      <p:nvPr/>
                    </p:nvPicPr>
                    <p:blipFill>
                      <a:blip r:embed="rId16"/>
                      <a:stretch>
                        <a:fillRect/>
                      </a:stretch>
                    </p:blipFill>
                    <p:spPr>
                      <a:xfrm>
                        <a:off x="5334000" y="762000"/>
                        <a:ext cx="361950" cy="409575"/>
                      </a:xfrm>
                      <a:prstGeom prst="rect">
                        <a:avLst/>
                      </a:prstGeom>
                      <a:noFill/>
                      <a:ln w="38100">
                        <a:noFill/>
                        <a:miter/>
                      </a:ln>
                    </p:spPr>
                  </p:pic>
                </p:oleObj>
              </mc:Fallback>
            </mc:AlternateContent>
          </a:graphicData>
        </a:graphic>
      </p:graphicFrame>
      <p:graphicFrame>
        <p:nvGraphicFramePr>
          <p:cNvPr id="14346" name="Object 19"/>
          <p:cNvGraphicFramePr/>
          <p:nvPr/>
        </p:nvGraphicFramePr>
        <p:xfrm>
          <a:off x="3429000" y="1143000"/>
          <a:ext cx="469900" cy="533400"/>
        </p:xfrm>
        <a:graphic>
          <a:graphicData uri="http://schemas.openxmlformats.org/presentationml/2006/ole">
            <mc:AlternateContent xmlns:mc="http://schemas.openxmlformats.org/markup-compatibility/2006">
              <mc:Choice xmlns:v="urn:schemas-microsoft-com:vml" Requires="v">
                <p:oleObj spid="_x0000_s3109" name="" r:id="rId17" imgW="203200" imgH="228600" progId="Equation.3">
                  <p:embed/>
                </p:oleObj>
              </mc:Choice>
              <mc:Fallback>
                <p:oleObj name="" r:id="rId17" imgW="203200" imgH="228600" progId="Equation.3">
                  <p:embed/>
                  <p:pic>
                    <p:nvPicPr>
                      <p:cNvPr id="0" name="图片 3108"/>
                      <p:cNvPicPr/>
                      <p:nvPr/>
                    </p:nvPicPr>
                    <p:blipFill>
                      <a:blip r:embed="rId4"/>
                      <a:stretch>
                        <a:fillRect/>
                      </a:stretch>
                    </p:blipFill>
                    <p:spPr>
                      <a:xfrm>
                        <a:off x="3429000" y="1143000"/>
                        <a:ext cx="469900" cy="533400"/>
                      </a:xfrm>
                      <a:prstGeom prst="rect">
                        <a:avLst/>
                      </a:prstGeom>
                      <a:noFill/>
                      <a:ln w="38100">
                        <a:noFill/>
                        <a:miter/>
                      </a:ln>
                    </p:spPr>
                  </p:pic>
                </p:oleObj>
              </mc:Fallback>
            </mc:AlternateContent>
          </a:graphicData>
        </a:graphic>
      </p:graphicFrame>
      <p:sp>
        <p:nvSpPr>
          <p:cNvPr id="26645" name="Text Box 21"/>
          <p:cNvSpPr txBox="1"/>
          <p:nvPr/>
        </p:nvSpPr>
        <p:spPr>
          <a:xfrm>
            <a:off x="228600" y="1752600"/>
            <a:ext cx="8686800" cy="519113"/>
          </a:xfrm>
          <a:prstGeom prst="rect">
            <a:avLst/>
          </a:prstGeom>
          <a:noFill/>
          <a:ln w="9525">
            <a:noFill/>
          </a:ln>
        </p:spPr>
        <p:txBody>
          <a:bodyPr>
            <a:spAutoFit/>
          </a:bodyPr>
          <a:p>
            <a:pPr>
              <a:spcBef>
                <a:spcPct val="50000"/>
              </a:spcBef>
            </a:pPr>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将 </a:t>
            </a:r>
            <a:r>
              <a:rPr lang="en-US" altLang="zh-CN" sz="2800" i="1" dirty="0">
                <a:latin typeface="Times New Roman" panose="02020603050405020304" pitchFamily="18" charset="0"/>
                <a:ea typeface="宋体" panose="02010600030101010101" pitchFamily="2" charset="-122"/>
              </a:rPr>
              <a:t>x</a:t>
            </a:r>
            <a:r>
              <a:rPr lang="en-US" altLang="zh-CN" sz="2800" i="1" baseline="-30000" dirty="0">
                <a:latin typeface="Times New Roman" panose="02020603050405020304" pitchFamily="18" charset="0"/>
                <a:ea typeface="宋体" panose="02010600030101010101" pitchFamily="2" charset="-122"/>
              </a:rPr>
              <a:t>1</a:t>
            </a:r>
            <a:r>
              <a:rPr lang="zh-CN" altLang="en-US" sz="2800" dirty="0">
                <a:latin typeface="Times New Roman" panose="02020603050405020304" pitchFamily="18" charset="0"/>
              </a:rPr>
              <a:t>＝</a:t>
            </a:r>
            <a:r>
              <a:rPr lang="en-US" altLang="zh-CN" sz="2800" dirty="0">
                <a:latin typeface="Times New Roman" panose="02020603050405020304" pitchFamily="18" charset="0"/>
              </a:rPr>
              <a:t>60</a:t>
            </a:r>
            <a:r>
              <a:rPr lang="zh-CN" altLang="en-US" sz="2800" dirty="0">
                <a:latin typeface="Times New Roman" panose="02020603050405020304" pitchFamily="18" charset="0"/>
              </a:rPr>
              <a:t>， </a:t>
            </a:r>
            <a:r>
              <a:rPr lang="en-US" altLang="zh-CN" sz="2800" i="1" dirty="0">
                <a:latin typeface="Times New Roman" panose="02020603050405020304" pitchFamily="18" charset="0"/>
                <a:ea typeface="宋体" panose="02010600030101010101" pitchFamily="2" charset="-122"/>
              </a:rPr>
              <a:t>x</a:t>
            </a:r>
            <a:r>
              <a:rPr lang="en-US" altLang="zh-CN" sz="2800" i="1" baseline="-30000" dirty="0">
                <a:latin typeface="Times New Roman" panose="02020603050405020304" pitchFamily="18" charset="0"/>
                <a:ea typeface="宋体" panose="02010600030101010101" pitchFamily="2" charset="-122"/>
              </a:rPr>
              <a:t>2</a:t>
            </a: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rPr>
              <a:t>＝</a:t>
            </a:r>
            <a:r>
              <a:rPr lang="en-US" altLang="zh-CN" sz="2800" dirty="0">
                <a:latin typeface="Times New Roman" panose="02020603050405020304" pitchFamily="18" charset="0"/>
              </a:rPr>
              <a:t>58.3 </a:t>
            </a:r>
            <a:r>
              <a:rPr lang="zh-CN" altLang="en-US" sz="2800" b="1" dirty="0">
                <a:solidFill>
                  <a:srgbClr val="0000FF"/>
                </a:solidFill>
                <a:latin typeface="Times New Roman" panose="02020603050405020304" pitchFamily="18" charset="0"/>
              </a:rPr>
              <a:t>带入约束条件，得</a:t>
            </a:r>
            <a:endParaRPr lang="zh-CN" altLang="en-US" sz="2800" b="1" dirty="0">
              <a:solidFill>
                <a:srgbClr val="0000FF"/>
              </a:solidFill>
              <a:latin typeface="Times New Roman" panose="02020603050405020304" pitchFamily="18" charset="0"/>
            </a:endParaRPr>
          </a:p>
        </p:txBody>
      </p:sp>
      <p:sp>
        <p:nvSpPr>
          <p:cNvPr id="26648" name="Text Box 24"/>
          <p:cNvSpPr txBox="1"/>
          <p:nvPr/>
        </p:nvSpPr>
        <p:spPr>
          <a:xfrm>
            <a:off x="1676400" y="2286000"/>
            <a:ext cx="6351588" cy="1800225"/>
          </a:xfrm>
          <a:prstGeom prst="rect">
            <a:avLst/>
          </a:prstGeom>
          <a:noFill/>
          <a:ln w="9525">
            <a:noFill/>
          </a:ln>
        </p:spPr>
        <p:txBody>
          <a:bodyPr>
            <a:spAutoFit/>
          </a:bodyPr>
          <a:p>
            <a:r>
              <a:rPr lang="en-US" altLang="zh-CN" sz="2800" dirty="0">
                <a:latin typeface="Times New Roman" panose="02020603050405020304" pitchFamily="18" charset="0"/>
                <a:ea typeface="宋体" panose="02010600030101010101" pitchFamily="2" charset="-122"/>
              </a:rPr>
              <a:t>30×60</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12×58.3</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2499.6≈2500</a:t>
            </a:r>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2×60+58.3=178.3 &gt; 140</a:t>
            </a:r>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1×60</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60</a:t>
            </a:r>
            <a:endParaRPr lang="en-US" altLang="zh-CN"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1×58.3</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58.3 &lt; 100</a:t>
            </a:r>
            <a:endParaRPr lang="en-US" altLang="zh-CN" sz="2800" dirty="0">
              <a:latin typeface="Times New Roman" panose="02020603050405020304" pitchFamily="18" charset="0"/>
              <a:ea typeface="宋体" panose="02010600030101010101" pitchFamily="2" charset="-122"/>
            </a:endParaRPr>
          </a:p>
        </p:txBody>
      </p:sp>
      <p:sp>
        <p:nvSpPr>
          <p:cNvPr id="26649" name="AutoShape 25"/>
          <p:cNvSpPr/>
          <p:nvPr/>
        </p:nvSpPr>
        <p:spPr>
          <a:xfrm>
            <a:off x="1600200" y="2514600"/>
            <a:ext cx="152400" cy="1371600"/>
          </a:xfrm>
          <a:prstGeom prst="leftBrace">
            <a:avLst>
              <a:gd name="adj1" fmla="val 75000"/>
              <a:gd name="adj2" fmla="val 50000"/>
            </a:avLst>
          </a:prstGeom>
          <a:noFill/>
          <a:ln w="28575" cap="flat" cmpd="sng">
            <a:solidFill>
              <a:schemeClr val="tx1"/>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6650" name="Text Box 26"/>
          <p:cNvSpPr txBox="1"/>
          <p:nvPr/>
        </p:nvSpPr>
        <p:spPr>
          <a:xfrm>
            <a:off x="228600" y="3962400"/>
            <a:ext cx="8686800" cy="2654300"/>
          </a:xfrm>
          <a:prstGeom prst="rect">
            <a:avLst/>
          </a:prstGeom>
          <a:noFill/>
          <a:ln w="9525">
            <a:noFill/>
          </a:ln>
        </p:spPr>
        <p:txBody>
          <a:bodyPr>
            <a:spAutoFit/>
          </a:bodyPr>
          <a:p>
            <a:r>
              <a:rPr lang="en-US" altLang="zh-CN" sz="2800" b="1" dirty="0">
                <a:solidFill>
                  <a:srgbClr val="0000FF"/>
                </a:solidFill>
                <a:latin typeface="楷体_GB2312" pitchFamily="49" charset="-122"/>
              </a:rPr>
              <a:t>  </a:t>
            </a:r>
            <a:r>
              <a:rPr lang="zh-CN" altLang="en-US" sz="2800" b="1" dirty="0">
                <a:solidFill>
                  <a:srgbClr val="0000FF"/>
                </a:solidFill>
                <a:latin typeface="楷体_GB2312" pitchFamily="49" charset="-122"/>
              </a:rPr>
              <a:t>由上可知：若</a:t>
            </a:r>
            <a:r>
              <a:rPr lang="en-US" altLang="zh-CN" sz="2800" b="1" dirty="0">
                <a:solidFill>
                  <a:srgbClr val="0000FF"/>
                </a:solidFill>
                <a:latin typeface="楷体_GB2312" pitchFamily="49" charset="-122"/>
              </a:rPr>
              <a:t>A</a:t>
            </a:r>
            <a:r>
              <a:rPr lang="zh-CN" altLang="en-US" sz="2800" b="1" dirty="0">
                <a:solidFill>
                  <a:srgbClr val="0000FF"/>
                </a:solidFill>
                <a:latin typeface="楷体_GB2312" pitchFamily="49" charset="-122"/>
              </a:rPr>
              <a:t>、</a:t>
            </a:r>
            <a:r>
              <a:rPr lang="en-US" altLang="zh-CN" sz="2800" b="1" dirty="0">
                <a:solidFill>
                  <a:srgbClr val="0000FF"/>
                </a:solidFill>
                <a:latin typeface="楷体_GB2312" pitchFamily="49" charset="-122"/>
              </a:rPr>
              <a:t>B</a:t>
            </a:r>
            <a:r>
              <a:rPr lang="zh-CN" altLang="en-US" sz="2800" b="1" dirty="0">
                <a:solidFill>
                  <a:srgbClr val="0000FF"/>
                </a:solidFill>
                <a:latin typeface="楷体_GB2312" pitchFamily="49" charset="-122"/>
              </a:rPr>
              <a:t>的计划产量为</a:t>
            </a:r>
            <a:r>
              <a:rPr lang="en-US" altLang="zh-CN" sz="2800" b="1" dirty="0">
                <a:solidFill>
                  <a:srgbClr val="0000FF"/>
                </a:solidFill>
                <a:latin typeface="楷体_GB2312" pitchFamily="49" charset="-122"/>
              </a:rPr>
              <a:t>60</a:t>
            </a:r>
            <a:r>
              <a:rPr lang="zh-CN" altLang="en-US" sz="2800" b="1" dirty="0">
                <a:solidFill>
                  <a:srgbClr val="0000FF"/>
                </a:solidFill>
                <a:latin typeface="楷体_GB2312" pitchFamily="49" charset="-122"/>
              </a:rPr>
              <a:t>件和</a:t>
            </a:r>
            <a:r>
              <a:rPr lang="en-US" altLang="zh-CN" sz="2800" b="1" dirty="0">
                <a:solidFill>
                  <a:srgbClr val="0000FF"/>
                </a:solidFill>
                <a:latin typeface="楷体_GB2312" pitchFamily="49" charset="-122"/>
              </a:rPr>
              <a:t>58.3</a:t>
            </a:r>
            <a:r>
              <a:rPr lang="zh-CN" altLang="en-US" sz="2800" b="1" dirty="0">
                <a:solidFill>
                  <a:srgbClr val="0000FF"/>
                </a:solidFill>
                <a:latin typeface="楷体_GB2312" pitchFamily="49" charset="-122"/>
              </a:rPr>
              <a:t>件时，所需甲资源数量将超过现有库存。在现有条件下，此解为非可行解。为此，企业必须采取措施降低</a:t>
            </a:r>
            <a:r>
              <a:rPr lang="en-US" altLang="zh-CN" sz="2800" b="1" dirty="0">
                <a:solidFill>
                  <a:srgbClr val="0000FF"/>
                </a:solidFill>
                <a:latin typeface="楷体_GB2312" pitchFamily="49" charset="-122"/>
              </a:rPr>
              <a:t>A</a:t>
            </a:r>
            <a:r>
              <a:rPr lang="zh-CN" altLang="en-US" sz="2800" b="1" dirty="0">
                <a:solidFill>
                  <a:srgbClr val="0000FF"/>
                </a:solidFill>
                <a:latin typeface="楷体_GB2312" pitchFamily="49" charset="-122"/>
              </a:rPr>
              <a:t>、</a:t>
            </a:r>
            <a:r>
              <a:rPr lang="en-US" altLang="zh-CN" sz="2800" b="1" dirty="0">
                <a:solidFill>
                  <a:srgbClr val="0000FF"/>
                </a:solidFill>
                <a:latin typeface="楷体_GB2312" pitchFamily="49" charset="-122"/>
              </a:rPr>
              <a:t>B</a:t>
            </a:r>
            <a:r>
              <a:rPr lang="zh-CN" altLang="en-US" sz="2800" b="1" dirty="0">
                <a:solidFill>
                  <a:srgbClr val="0000FF"/>
                </a:solidFill>
                <a:latin typeface="楷体_GB2312" pitchFamily="49" charset="-122"/>
              </a:rPr>
              <a:t>产品对甲资源的消耗量，由原来的</a:t>
            </a:r>
            <a:r>
              <a:rPr lang="en-US" altLang="zh-CN" sz="2800" b="1" dirty="0">
                <a:solidFill>
                  <a:srgbClr val="0000FF"/>
                </a:solidFill>
                <a:latin typeface="楷体_GB2312" pitchFamily="49" charset="-122"/>
              </a:rPr>
              <a:t>100</a:t>
            </a:r>
            <a:r>
              <a:rPr lang="zh-CN" altLang="en-US" sz="2800" b="1" dirty="0">
                <a:solidFill>
                  <a:srgbClr val="0000FF"/>
                </a:solidFill>
                <a:latin typeface="楷体_GB2312" pitchFamily="49" charset="-122"/>
              </a:rPr>
              <a:t>％降至</a:t>
            </a:r>
            <a:r>
              <a:rPr lang="en-US" altLang="zh-CN" sz="2800" b="1" dirty="0">
                <a:solidFill>
                  <a:srgbClr val="0000FF"/>
                </a:solidFill>
                <a:latin typeface="楷体_GB2312" pitchFamily="49" charset="-122"/>
              </a:rPr>
              <a:t>78.5</a:t>
            </a:r>
            <a:r>
              <a:rPr lang="zh-CN" altLang="en-US" sz="2800" b="1" dirty="0">
                <a:solidFill>
                  <a:srgbClr val="0000FF"/>
                </a:solidFill>
                <a:latin typeface="楷体_GB2312" pitchFamily="49" charset="-122"/>
              </a:rPr>
              <a:t>％（</a:t>
            </a:r>
            <a:r>
              <a:rPr lang="en-US" altLang="zh-CN" sz="2800" b="1" dirty="0">
                <a:solidFill>
                  <a:srgbClr val="0000FF"/>
                </a:solidFill>
                <a:latin typeface="楷体_GB2312" pitchFamily="49" charset="-122"/>
              </a:rPr>
              <a:t>140÷178.3</a:t>
            </a:r>
            <a:r>
              <a:rPr lang="zh-CN" altLang="en-US" sz="2800" b="1" dirty="0">
                <a:solidFill>
                  <a:srgbClr val="0000FF"/>
                </a:solidFill>
                <a:latin typeface="楷体_GB2312" pitchFamily="49" charset="-122"/>
              </a:rPr>
              <a:t>＝</a:t>
            </a:r>
            <a:r>
              <a:rPr lang="en-US" altLang="zh-CN" sz="2800" b="1" dirty="0">
                <a:solidFill>
                  <a:srgbClr val="0000FF"/>
                </a:solidFill>
                <a:latin typeface="楷体_GB2312" pitchFamily="49" charset="-122"/>
              </a:rPr>
              <a:t>0.785</a:t>
            </a:r>
            <a:r>
              <a:rPr lang="zh-CN" altLang="en-US" sz="2800" b="1" dirty="0">
                <a:solidFill>
                  <a:srgbClr val="0000FF"/>
                </a:solidFill>
                <a:latin typeface="楷体_GB2312" pitchFamily="49" charset="-122"/>
              </a:rPr>
              <a:t>），才能使生产方案（</a:t>
            </a:r>
            <a:r>
              <a:rPr lang="en-US" altLang="zh-CN" sz="2800" b="1" dirty="0">
                <a:solidFill>
                  <a:srgbClr val="0000FF"/>
                </a:solidFill>
                <a:latin typeface="楷体_GB2312" pitchFamily="49" charset="-122"/>
              </a:rPr>
              <a:t>60</a:t>
            </a:r>
            <a:r>
              <a:rPr lang="zh-CN" altLang="en-US" sz="2800" b="1" dirty="0">
                <a:solidFill>
                  <a:srgbClr val="0000FF"/>
                </a:solidFill>
                <a:latin typeface="楷体_GB2312" pitchFamily="49" charset="-122"/>
              </a:rPr>
              <a:t>，</a:t>
            </a:r>
            <a:r>
              <a:rPr lang="en-US" altLang="zh-CN" sz="2800" b="1" dirty="0">
                <a:solidFill>
                  <a:srgbClr val="0000FF"/>
                </a:solidFill>
                <a:latin typeface="楷体_GB2312" pitchFamily="49" charset="-122"/>
              </a:rPr>
              <a:t>58.3</a:t>
            </a:r>
            <a:r>
              <a:rPr lang="zh-CN" altLang="en-US" sz="2800" b="1" dirty="0">
                <a:solidFill>
                  <a:srgbClr val="0000FF"/>
                </a:solidFill>
                <a:latin typeface="楷体_GB2312" pitchFamily="49" charset="-122"/>
              </a:rPr>
              <a:t>）成为可行方案。</a:t>
            </a:r>
            <a:endParaRPr lang="zh-CN" altLang="en-US" sz="2800" b="1" dirty="0">
              <a:solidFill>
                <a:srgbClr val="0000FF"/>
              </a:solidFill>
              <a:latin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6645"/>
                                        </p:tgtEl>
                                        <p:attrNameLst>
                                          <p:attrName>style.visibility</p:attrName>
                                        </p:attrNameLst>
                                      </p:cBhvr>
                                      <p:to>
                                        <p:strVal val="visible"/>
                                      </p:to>
                                    </p:set>
                                    <p:animEffect transition="in" filter="checkerboard(across)">
                                      <p:cBhvr>
                                        <p:cTn id="7" dur="500"/>
                                        <p:tgtEl>
                                          <p:spTgt spid="26645"/>
                                        </p:tgtEl>
                                      </p:cBhvr>
                                    </p:animEffect>
                                  </p:childTnLst>
                                </p:cTn>
                              </p:par>
                            </p:childTnLst>
                          </p:cTn>
                        </p:par>
                        <p:par>
                          <p:cTn id="8" fill="hold">
                            <p:stCondLst>
                              <p:cond delay="500"/>
                            </p:stCondLst>
                            <p:childTnLst>
                              <p:par>
                                <p:cTn id="9" presetID="16" presetClass="entr" presetSubtype="42" fill="hold" grpId="0" nodeType="afterEffect">
                                  <p:stCondLst>
                                    <p:cond delay="0"/>
                                  </p:stCondLst>
                                  <p:childTnLst>
                                    <p:set>
                                      <p:cBhvr>
                                        <p:cTn id="10" dur="1" fill="hold">
                                          <p:stCondLst>
                                            <p:cond delay="0"/>
                                          </p:stCondLst>
                                        </p:cTn>
                                        <p:tgtEl>
                                          <p:spTgt spid="26649"/>
                                        </p:tgtEl>
                                        <p:attrNameLst>
                                          <p:attrName>style.visibility</p:attrName>
                                        </p:attrNameLst>
                                      </p:cBhvr>
                                      <p:to>
                                        <p:strVal val="visible"/>
                                      </p:to>
                                    </p:set>
                                    <p:animEffect transition="in" filter="barn(outHorizontal)">
                                      <p:cBhvr>
                                        <p:cTn id="11" dur="500"/>
                                        <p:tgtEl>
                                          <p:spTgt spid="26649"/>
                                        </p:tgtEl>
                                      </p:cBhvr>
                                    </p:animEffect>
                                  </p:childTnLst>
                                </p:cTn>
                              </p:par>
                            </p:childTnLst>
                          </p:cTn>
                        </p:par>
                        <p:par>
                          <p:cTn id="12" fill="hold">
                            <p:stCondLst>
                              <p:cond delay="1000"/>
                            </p:stCondLst>
                            <p:childTnLst>
                              <p:par>
                                <p:cTn id="13" presetID="16" presetClass="entr" presetSubtype="42" fill="hold" grpId="0" nodeType="afterEffect">
                                  <p:stCondLst>
                                    <p:cond delay="0"/>
                                  </p:stCondLst>
                                  <p:childTnLst>
                                    <p:set>
                                      <p:cBhvr>
                                        <p:cTn id="14" dur="1" fill="hold">
                                          <p:stCondLst>
                                            <p:cond delay="0"/>
                                          </p:stCondLst>
                                        </p:cTn>
                                        <p:tgtEl>
                                          <p:spTgt spid="26648"/>
                                        </p:tgtEl>
                                        <p:attrNameLst>
                                          <p:attrName>style.visibility</p:attrName>
                                        </p:attrNameLst>
                                      </p:cBhvr>
                                      <p:to>
                                        <p:strVal val="visible"/>
                                      </p:to>
                                    </p:set>
                                    <p:animEffect transition="in" filter="barn(outHorizontal)">
                                      <p:cBhvr>
                                        <p:cTn id="15" dur="500"/>
                                        <p:tgtEl>
                                          <p:spTgt spid="2664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iterate type="wd">
                                    <p:tmPct val="100000"/>
                                  </p:iterate>
                                  <p:childTnLst>
                                    <p:set>
                                      <p:cBhvr>
                                        <p:cTn id="19" dur="1" fill="hold">
                                          <p:stCondLst>
                                            <p:cond delay="0"/>
                                          </p:stCondLst>
                                        </p:cTn>
                                        <p:tgtEl>
                                          <p:spTgt spid="26650"/>
                                        </p:tgtEl>
                                        <p:attrNameLst>
                                          <p:attrName>style.visibility</p:attrName>
                                        </p:attrNameLst>
                                      </p:cBhvr>
                                      <p:to>
                                        <p:strVal val="visible"/>
                                      </p:to>
                                    </p:set>
                                    <p:animEffect transition="in" filter="blinds(horizontal)">
                                      <p:cBhvr>
                                        <p:cTn id="20" dur="300"/>
                                        <p:tgtEl>
                                          <p:spTgt spid="26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45" grpId="0"/>
      <p:bldP spid="26648" grpId="0"/>
      <p:bldP spid="26649" grpId="0" animBg="1"/>
      <p:bldP spid="2665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3010" name="Object 2"/>
          <p:cNvGraphicFramePr/>
          <p:nvPr/>
        </p:nvGraphicFramePr>
        <p:xfrm>
          <a:off x="1166813" y="1617663"/>
          <a:ext cx="6397625" cy="4443412"/>
        </p:xfrm>
        <a:graphic>
          <a:graphicData uri="http://schemas.openxmlformats.org/presentationml/2006/ole">
            <mc:AlternateContent xmlns:mc="http://schemas.openxmlformats.org/markup-compatibility/2006">
              <mc:Choice xmlns:v="urn:schemas-microsoft-com:vml" Requires="v">
                <p:oleObj spid="_x0000_s3105" name="" r:id="rId1" imgW="2082800" imgH="1536700" progId="Equation.DSMT4">
                  <p:embed/>
                </p:oleObj>
              </mc:Choice>
              <mc:Fallback>
                <p:oleObj name="" r:id="rId1" imgW="2082800" imgH="1536700" progId="Equation.DSMT4">
                  <p:embed/>
                  <p:pic>
                    <p:nvPicPr>
                      <p:cNvPr id="0" name="图片 3104"/>
                      <p:cNvPicPr/>
                      <p:nvPr/>
                    </p:nvPicPr>
                    <p:blipFill>
                      <a:blip r:embed="rId2"/>
                      <a:stretch>
                        <a:fillRect/>
                      </a:stretch>
                    </p:blipFill>
                    <p:spPr>
                      <a:xfrm>
                        <a:off x="1166813" y="1617663"/>
                        <a:ext cx="6397625" cy="4443412"/>
                      </a:xfrm>
                      <a:prstGeom prst="rect">
                        <a:avLst/>
                      </a:prstGeom>
                      <a:noFill/>
                      <a:ln w="38100">
                        <a:noFill/>
                        <a:miter/>
                      </a:ln>
                    </p:spPr>
                  </p:pic>
                </p:oleObj>
              </mc:Fallback>
            </mc:AlternateContent>
          </a:graphicData>
        </a:graphic>
      </p:graphicFrame>
      <p:sp>
        <p:nvSpPr>
          <p:cNvPr id="15363" name="Rectangle 4"/>
          <p:cNvSpPr>
            <a:spLocks noGrp="1"/>
          </p:cNvSpPr>
          <p:nvPr>
            <p:ph type="ctrTitle"/>
          </p:nvPr>
        </p:nvSpPr>
        <p:spPr>
          <a:xfrm>
            <a:off x="685800" y="838200"/>
            <a:ext cx="7772400" cy="685800"/>
          </a:xfrm>
          <a:noFill/>
          <a:ln>
            <a:noFill/>
          </a:ln>
        </p:spPr>
        <p:txBody>
          <a:bodyPr/>
          <a:p>
            <a:pPr algn="l" eaLnBrk="1" hangingPunct="1">
              <a:buClrTx/>
              <a:buSzTx/>
              <a:buFontTx/>
            </a:pPr>
            <a:r>
              <a:rPr lang="zh-CN" altLang="en-US" sz="3200" b="1" dirty="0">
                <a:solidFill>
                  <a:srgbClr val="0000FF"/>
                </a:solidFill>
                <a:ea typeface="楷体_GB2312" pitchFamily="49" charset="-122"/>
              </a:rPr>
              <a:t>练习：用图解法求解下列目标规划问题</a:t>
            </a:r>
            <a:endParaRPr lang="zh-CN" altLang="en-US" sz="3200" b="1" dirty="0">
              <a:solidFill>
                <a:srgbClr val="0000FF"/>
              </a:solidFill>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blinds(vertical)">
                                      <p:cBhvr>
                                        <p:cTn id="7" dur="500"/>
                                        <p:tgtEl>
                                          <p:spTgt spid="43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93" name="Line 2"/>
          <p:cNvSpPr/>
          <p:nvPr/>
        </p:nvSpPr>
        <p:spPr>
          <a:xfrm flipV="1">
            <a:off x="1143000" y="457200"/>
            <a:ext cx="0" cy="3962400"/>
          </a:xfrm>
          <a:prstGeom prst="line">
            <a:avLst/>
          </a:prstGeom>
          <a:ln w="28575" cap="flat" cmpd="sng">
            <a:solidFill>
              <a:schemeClr val="tx1"/>
            </a:solidFill>
            <a:prstDash val="solid"/>
            <a:headEnd type="none" w="med" len="med"/>
            <a:tailEnd type="triangle" w="med" len="med"/>
          </a:ln>
        </p:spPr>
      </p:sp>
      <p:sp>
        <p:nvSpPr>
          <p:cNvPr id="16394" name="Line 3"/>
          <p:cNvSpPr/>
          <p:nvPr/>
        </p:nvSpPr>
        <p:spPr>
          <a:xfrm>
            <a:off x="762000" y="4191000"/>
            <a:ext cx="4953000" cy="0"/>
          </a:xfrm>
          <a:prstGeom prst="line">
            <a:avLst/>
          </a:prstGeom>
          <a:ln w="28575" cap="flat" cmpd="sng">
            <a:solidFill>
              <a:schemeClr val="tx1"/>
            </a:solidFill>
            <a:prstDash val="solid"/>
            <a:headEnd type="none" w="med" len="med"/>
            <a:tailEnd type="triangle" w="med" len="med"/>
          </a:ln>
        </p:spPr>
      </p:sp>
      <p:sp>
        <p:nvSpPr>
          <p:cNvPr id="16395" name="Line 4"/>
          <p:cNvSpPr/>
          <p:nvPr/>
        </p:nvSpPr>
        <p:spPr>
          <a:xfrm flipV="1">
            <a:off x="1143000" y="1600200"/>
            <a:ext cx="3124200" cy="2590800"/>
          </a:xfrm>
          <a:prstGeom prst="line">
            <a:avLst/>
          </a:prstGeom>
          <a:ln w="38100" cap="flat" cmpd="sng">
            <a:solidFill>
              <a:schemeClr val="tx1"/>
            </a:solidFill>
            <a:prstDash val="solid"/>
            <a:headEnd type="none" w="med" len="med"/>
            <a:tailEnd type="none" w="med" len="med"/>
          </a:ln>
        </p:spPr>
      </p:sp>
      <p:sp>
        <p:nvSpPr>
          <p:cNvPr id="16396" name="Line 5"/>
          <p:cNvSpPr/>
          <p:nvPr/>
        </p:nvSpPr>
        <p:spPr>
          <a:xfrm flipH="1" flipV="1">
            <a:off x="1066800" y="685800"/>
            <a:ext cx="2286000" cy="4038600"/>
          </a:xfrm>
          <a:prstGeom prst="line">
            <a:avLst/>
          </a:prstGeom>
          <a:ln w="38100" cap="flat" cmpd="sng">
            <a:solidFill>
              <a:schemeClr val="tx1"/>
            </a:solidFill>
            <a:prstDash val="solid"/>
            <a:headEnd type="none" w="med" len="med"/>
            <a:tailEnd type="none" w="med" len="med"/>
          </a:ln>
        </p:spPr>
      </p:sp>
      <p:sp>
        <p:nvSpPr>
          <p:cNvPr id="16397" name="Line 6"/>
          <p:cNvSpPr/>
          <p:nvPr/>
        </p:nvSpPr>
        <p:spPr>
          <a:xfrm>
            <a:off x="838200" y="2438400"/>
            <a:ext cx="4343400" cy="2133600"/>
          </a:xfrm>
          <a:prstGeom prst="line">
            <a:avLst/>
          </a:prstGeom>
          <a:ln w="38100" cap="flat" cmpd="sng">
            <a:solidFill>
              <a:schemeClr val="tx1"/>
            </a:solidFill>
            <a:prstDash val="solid"/>
            <a:headEnd type="none" w="med" len="med"/>
            <a:tailEnd type="none" w="med" len="med"/>
          </a:ln>
        </p:spPr>
      </p:sp>
      <p:sp>
        <p:nvSpPr>
          <p:cNvPr id="16398" name="Line 7"/>
          <p:cNvSpPr/>
          <p:nvPr/>
        </p:nvSpPr>
        <p:spPr>
          <a:xfrm>
            <a:off x="914400" y="2209800"/>
            <a:ext cx="3124200" cy="2514600"/>
          </a:xfrm>
          <a:prstGeom prst="line">
            <a:avLst/>
          </a:prstGeom>
          <a:ln w="38100" cap="flat" cmpd="sng">
            <a:solidFill>
              <a:schemeClr val="tx1"/>
            </a:solidFill>
            <a:prstDash val="solid"/>
            <a:headEnd type="none" w="med" len="med"/>
            <a:tailEnd type="none" w="med" len="med"/>
          </a:ln>
        </p:spPr>
      </p:sp>
      <p:sp>
        <p:nvSpPr>
          <p:cNvPr id="16399" name="Line 8"/>
          <p:cNvSpPr/>
          <p:nvPr/>
        </p:nvSpPr>
        <p:spPr>
          <a:xfrm>
            <a:off x="1752600" y="2895600"/>
            <a:ext cx="609600" cy="304800"/>
          </a:xfrm>
          <a:prstGeom prst="line">
            <a:avLst/>
          </a:prstGeom>
          <a:ln w="38100" cap="flat" cmpd="sng">
            <a:solidFill>
              <a:srgbClr val="FF3300"/>
            </a:solidFill>
            <a:prstDash val="solid"/>
            <a:headEnd type="none" w="med" len="med"/>
            <a:tailEnd type="none" w="med" len="med"/>
          </a:ln>
        </p:spPr>
      </p:sp>
      <p:sp>
        <p:nvSpPr>
          <p:cNvPr id="16400" name="Rectangle 9"/>
          <p:cNvSpPr/>
          <p:nvPr/>
        </p:nvSpPr>
        <p:spPr>
          <a:xfrm>
            <a:off x="4114800" y="1295400"/>
            <a:ext cx="488950" cy="457200"/>
          </a:xfrm>
          <a:prstGeom prst="rect">
            <a:avLst/>
          </a:prstGeom>
          <a:noFill/>
          <a:ln w="9525">
            <a:noFill/>
          </a:ln>
        </p:spPr>
        <p:txBody>
          <a:bodyPr wrap="none">
            <a:spAutoFit/>
          </a:bodyPr>
          <a:p>
            <a:r>
              <a:rPr lang="en-US" altLang="zh-CN" dirty="0">
                <a:latin typeface="Times New Roman" panose="02020603050405020304" pitchFamily="18" charset="0"/>
                <a:ea typeface="宋体" panose="02010600030101010101" pitchFamily="2" charset="-122"/>
              </a:rPr>
              <a:t>⑴</a:t>
            </a:r>
            <a:endParaRPr lang="en-US" altLang="zh-CN" dirty="0">
              <a:latin typeface="Times New Roman" panose="02020603050405020304" pitchFamily="18" charset="0"/>
              <a:ea typeface="宋体" panose="02010600030101010101" pitchFamily="2" charset="-122"/>
            </a:endParaRPr>
          </a:p>
        </p:txBody>
      </p:sp>
      <p:sp>
        <p:nvSpPr>
          <p:cNvPr id="16401" name="Rectangle 10"/>
          <p:cNvSpPr/>
          <p:nvPr/>
        </p:nvSpPr>
        <p:spPr>
          <a:xfrm>
            <a:off x="5257800" y="4495800"/>
            <a:ext cx="488950" cy="457200"/>
          </a:xfrm>
          <a:prstGeom prst="rect">
            <a:avLst/>
          </a:prstGeom>
          <a:noFill/>
          <a:ln w="9525">
            <a:noFill/>
          </a:ln>
        </p:spPr>
        <p:txBody>
          <a:bodyPr wrap="none">
            <a:spAutoFit/>
          </a:bodyPr>
          <a:p>
            <a:r>
              <a:rPr lang="en-US" altLang="zh-CN" dirty="0">
                <a:latin typeface="Times New Roman" panose="02020603050405020304" pitchFamily="18" charset="0"/>
                <a:ea typeface="宋体" panose="02010600030101010101" pitchFamily="2" charset="-122"/>
              </a:rPr>
              <a:t>⑵</a:t>
            </a:r>
            <a:endParaRPr lang="en-US" altLang="zh-CN" dirty="0">
              <a:latin typeface="Times New Roman" panose="02020603050405020304" pitchFamily="18" charset="0"/>
              <a:ea typeface="宋体" panose="02010600030101010101" pitchFamily="2" charset="-122"/>
            </a:endParaRPr>
          </a:p>
        </p:txBody>
      </p:sp>
      <p:sp>
        <p:nvSpPr>
          <p:cNvPr id="16402" name="Rectangle 11"/>
          <p:cNvSpPr/>
          <p:nvPr/>
        </p:nvSpPr>
        <p:spPr>
          <a:xfrm>
            <a:off x="4038600" y="4648200"/>
            <a:ext cx="488950" cy="457200"/>
          </a:xfrm>
          <a:prstGeom prst="rect">
            <a:avLst/>
          </a:prstGeom>
          <a:noFill/>
          <a:ln w="9525">
            <a:noFill/>
          </a:ln>
        </p:spPr>
        <p:txBody>
          <a:bodyPr wrap="none">
            <a:spAutoFit/>
          </a:bodyPr>
          <a:p>
            <a:r>
              <a:rPr lang="en-US" altLang="zh-CN" dirty="0">
                <a:latin typeface="Times New Roman" panose="02020603050405020304" pitchFamily="18" charset="0"/>
                <a:ea typeface="宋体" panose="02010600030101010101" pitchFamily="2" charset="-122"/>
              </a:rPr>
              <a:t>⑶</a:t>
            </a:r>
            <a:endParaRPr lang="en-US" altLang="zh-CN" dirty="0">
              <a:latin typeface="Times New Roman" panose="02020603050405020304" pitchFamily="18" charset="0"/>
              <a:ea typeface="宋体" panose="02010600030101010101" pitchFamily="2" charset="-122"/>
            </a:endParaRPr>
          </a:p>
        </p:txBody>
      </p:sp>
      <p:sp>
        <p:nvSpPr>
          <p:cNvPr id="16403" name="Rectangle 12"/>
          <p:cNvSpPr/>
          <p:nvPr/>
        </p:nvSpPr>
        <p:spPr>
          <a:xfrm>
            <a:off x="2743200" y="4572000"/>
            <a:ext cx="488950" cy="457200"/>
          </a:xfrm>
          <a:prstGeom prst="rect">
            <a:avLst/>
          </a:prstGeom>
          <a:noFill/>
          <a:ln w="9525">
            <a:noFill/>
          </a:ln>
        </p:spPr>
        <p:txBody>
          <a:bodyPr wrap="none">
            <a:spAutoFit/>
          </a:bodyPr>
          <a:p>
            <a:r>
              <a:rPr lang="en-US" altLang="zh-CN" dirty="0">
                <a:latin typeface="Times New Roman" panose="02020603050405020304" pitchFamily="18" charset="0"/>
                <a:ea typeface="宋体" panose="02010600030101010101" pitchFamily="2" charset="-122"/>
              </a:rPr>
              <a:t>⑷</a:t>
            </a:r>
            <a:endParaRPr lang="en-US" altLang="zh-CN" dirty="0">
              <a:latin typeface="Times New Roman" panose="02020603050405020304" pitchFamily="18" charset="0"/>
              <a:ea typeface="宋体" panose="02010600030101010101" pitchFamily="2" charset="-122"/>
            </a:endParaRPr>
          </a:p>
        </p:txBody>
      </p:sp>
      <p:sp>
        <p:nvSpPr>
          <p:cNvPr id="16404" name="Line 13"/>
          <p:cNvSpPr/>
          <p:nvPr/>
        </p:nvSpPr>
        <p:spPr>
          <a:xfrm>
            <a:off x="3505200" y="1905000"/>
            <a:ext cx="381000" cy="381000"/>
          </a:xfrm>
          <a:prstGeom prst="line">
            <a:avLst/>
          </a:prstGeom>
          <a:ln w="9525" cap="flat" cmpd="sng">
            <a:solidFill>
              <a:schemeClr val="tx1"/>
            </a:solidFill>
            <a:prstDash val="solid"/>
            <a:headEnd type="triangle" w="med" len="med"/>
            <a:tailEnd type="triangle" w="med" len="med"/>
          </a:ln>
        </p:spPr>
      </p:sp>
      <p:sp>
        <p:nvSpPr>
          <p:cNvPr id="16405" name="Line 14"/>
          <p:cNvSpPr/>
          <p:nvPr/>
        </p:nvSpPr>
        <p:spPr>
          <a:xfrm flipV="1">
            <a:off x="3581400" y="3581400"/>
            <a:ext cx="381000" cy="533400"/>
          </a:xfrm>
          <a:prstGeom prst="line">
            <a:avLst/>
          </a:prstGeom>
          <a:ln w="9525" cap="flat" cmpd="sng">
            <a:solidFill>
              <a:schemeClr val="tx1"/>
            </a:solidFill>
            <a:prstDash val="solid"/>
            <a:headEnd type="triangle" w="med" len="med"/>
            <a:tailEnd type="triangle" w="med" len="med"/>
          </a:ln>
        </p:spPr>
      </p:sp>
      <p:sp>
        <p:nvSpPr>
          <p:cNvPr id="16406" name="Line 15"/>
          <p:cNvSpPr/>
          <p:nvPr/>
        </p:nvSpPr>
        <p:spPr>
          <a:xfrm flipV="1">
            <a:off x="3657600" y="4343400"/>
            <a:ext cx="304800" cy="457200"/>
          </a:xfrm>
          <a:prstGeom prst="line">
            <a:avLst/>
          </a:prstGeom>
          <a:ln w="9525" cap="flat" cmpd="sng">
            <a:solidFill>
              <a:schemeClr val="tx1"/>
            </a:solidFill>
            <a:prstDash val="solid"/>
            <a:headEnd type="triangle" w="med" len="med"/>
            <a:tailEnd type="triangle" w="med" len="med"/>
          </a:ln>
        </p:spPr>
      </p:sp>
      <p:sp>
        <p:nvSpPr>
          <p:cNvPr id="16407" name="Line 16"/>
          <p:cNvSpPr/>
          <p:nvPr/>
        </p:nvSpPr>
        <p:spPr>
          <a:xfrm flipH="1">
            <a:off x="2895600" y="4419600"/>
            <a:ext cx="304800" cy="152400"/>
          </a:xfrm>
          <a:prstGeom prst="line">
            <a:avLst/>
          </a:prstGeom>
          <a:ln w="9525" cap="flat" cmpd="sng">
            <a:solidFill>
              <a:schemeClr val="tx1"/>
            </a:solidFill>
            <a:prstDash val="solid"/>
            <a:headEnd type="none" w="med" len="med"/>
            <a:tailEnd type="triangle" w="med" len="med"/>
          </a:ln>
        </p:spPr>
      </p:sp>
      <p:sp>
        <p:nvSpPr>
          <p:cNvPr id="16408" name="Text Box 17"/>
          <p:cNvSpPr txBox="1"/>
          <p:nvPr/>
        </p:nvSpPr>
        <p:spPr>
          <a:xfrm>
            <a:off x="1676400" y="2514600"/>
            <a:ext cx="354013" cy="396875"/>
          </a:xfrm>
          <a:prstGeom prst="rect">
            <a:avLst/>
          </a:prstGeom>
          <a:noFill/>
          <a:ln w="9525">
            <a:noFill/>
          </a:ln>
        </p:spPr>
        <p:txBody>
          <a:bodyPr wrap="none">
            <a:spAutoFit/>
          </a:bodyPr>
          <a:p>
            <a:r>
              <a:rPr lang="en-US" altLang="zh-CN" sz="2000" dirty="0">
                <a:latin typeface="Times New Roman" panose="02020603050405020304" pitchFamily="18" charset="0"/>
                <a:ea typeface="宋体" panose="02010600030101010101" pitchFamily="2" charset="-122"/>
              </a:rPr>
              <a:t>C</a:t>
            </a:r>
            <a:endParaRPr lang="en-US" altLang="zh-CN" sz="2000" dirty="0">
              <a:latin typeface="Times New Roman" panose="02020603050405020304" pitchFamily="18" charset="0"/>
              <a:ea typeface="宋体" panose="02010600030101010101" pitchFamily="2" charset="-122"/>
            </a:endParaRPr>
          </a:p>
        </p:txBody>
      </p:sp>
      <p:sp>
        <p:nvSpPr>
          <p:cNvPr id="16409" name="Text Box 18"/>
          <p:cNvSpPr txBox="1"/>
          <p:nvPr/>
        </p:nvSpPr>
        <p:spPr>
          <a:xfrm>
            <a:off x="2133600" y="3581400"/>
            <a:ext cx="368300" cy="396875"/>
          </a:xfrm>
          <a:prstGeom prst="rect">
            <a:avLst/>
          </a:prstGeom>
          <a:noFill/>
          <a:ln w="9525">
            <a:noFill/>
          </a:ln>
        </p:spPr>
        <p:txBody>
          <a:bodyPr wrap="none">
            <a:spAutoFit/>
          </a:bodyPr>
          <a:p>
            <a:r>
              <a:rPr lang="en-US" altLang="zh-CN" sz="2000" dirty="0">
                <a:latin typeface="Times New Roman" panose="02020603050405020304" pitchFamily="18" charset="0"/>
                <a:ea typeface="宋体" panose="02010600030101010101" pitchFamily="2" charset="-122"/>
              </a:rPr>
              <a:t>D</a:t>
            </a:r>
            <a:endParaRPr lang="en-US" altLang="zh-CN" sz="2000" dirty="0">
              <a:latin typeface="Times New Roman" panose="02020603050405020304" pitchFamily="18" charset="0"/>
              <a:ea typeface="宋体" panose="02010600030101010101" pitchFamily="2" charset="-122"/>
            </a:endParaRPr>
          </a:p>
        </p:txBody>
      </p:sp>
      <p:sp>
        <p:nvSpPr>
          <p:cNvPr id="16410" name="Line 19"/>
          <p:cNvSpPr/>
          <p:nvPr/>
        </p:nvSpPr>
        <p:spPr>
          <a:xfrm flipH="1">
            <a:off x="2286000" y="3200400"/>
            <a:ext cx="76200" cy="457200"/>
          </a:xfrm>
          <a:prstGeom prst="line">
            <a:avLst/>
          </a:prstGeom>
          <a:ln w="9525" cap="flat" cmpd="sng">
            <a:solidFill>
              <a:schemeClr val="tx1"/>
            </a:solidFill>
            <a:prstDash val="solid"/>
            <a:headEnd type="none" w="med" len="med"/>
            <a:tailEnd type="none" w="med" len="med"/>
          </a:ln>
        </p:spPr>
      </p:sp>
      <p:graphicFrame>
        <p:nvGraphicFramePr>
          <p:cNvPr id="16386" name="Object 25"/>
          <p:cNvGraphicFramePr/>
          <p:nvPr/>
        </p:nvGraphicFramePr>
        <p:xfrm>
          <a:off x="3352800" y="3733800"/>
          <a:ext cx="352425" cy="400050"/>
        </p:xfrm>
        <a:graphic>
          <a:graphicData uri="http://schemas.openxmlformats.org/presentationml/2006/ole">
            <mc:AlternateContent xmlns:mc="http://schemas.openxmlformats.org/markup-compatibility/2006">
              <mc:Choice xmlns:v="urn:schemas-microsoft-com:vml" Requires="v">
                <p:oleObj spid="_x0000_s3136" name="" r:id="rId1" imgW="203200" imgH="228600" progId="Equation.3">
                  <p:embed/>
                </p:oleObj>
              </mc:Choice>
              <mc:Fallback>
                <p:oleObj name="" r:id="rId1" imgW="203200" imgH="228600" progId="Equation.3">
                  <p:embed/>
                  <p:pic>
                    <p:nvPicPr>
                      <p:cNvPr id="0" name="图片 3135"/>
                      <p:cNvPicPr/>
                      <p:nvPr/>
                    </p:nvPicPr>
                    <p:blipFill>
                      <a:blip r:embed="rId2"/>
                      <a:stretch>
                        <a:fillRect/>
                      </a:stretch>
                    </p:blipFill>
                    <p:spPr>
                      <a:xfrm>
                        <a:off x="3352800" y="3733800"/>
                        <a:ext cx="352425" cy="400050"/>
                      </a:xfrm>
                      <a:prstGeom prst="rect">
                        <a:avLst/>
                      </a:prstGeom>
                      <a:noFill/>
                      <a:ln w="38100">
                        <a:noFill/>
                        <a:miter/>
                      </a:ln>
                    </p:spPr>
                  </p:pic>
                </p:oleObj>
              </mc:Fallback>
            </mc:AlternateContent>
          </a:graphicData>
        </a:graphic>
      </p:graphicFrame>
      <p:graphicFrame>
        <p:nvGraphicFramePr>
          <p:cNvPr id="16387" name="Object 26"/>
          <p:cNvGraphicFramePr/>
          <p:nvPr/>
        </p:nvGraphicFramePr>
        <p:xfrm>
          <a:off x="3581400" y="3352800"/>
          <a:ext cx="352425" cy="400050"/>
        </p:xfrm>
        <a:graphic>
          <a:graphicData uri="http://schemas.openxmlformats.org/presentationml/2006/ole">
            <mc:AlternateContent xmlns:mc="http://schemas.openxmlformats.org/markup-compatibility/2006">
              <mc:Choice xmlns:v="urn:schemas-microsoft-com:vml" Requires="v">
                <p:oleObj spid="_x0000_s3141" name="" r:id="rId3" imgW="203200" imgH="228600" progId="Equation.3">
                  <p:embed/>
                </p:oleObj>
              </mc:Choice>
              <mc:Fallback>
                <p:oleObj name="" r:id="rId3" imgW="203200" imgH="228600" progId="Equation.3">
                  <p:embed/>
                  <p:pic>
                    <p:nvPicPr>
                      <p:cNvPr id="0" name="图片 3140"/>
                      <p:cNvPicPr/>
                      <p:nvPr/>
                    </p:nvPicPr>
                    <p:blipFill>
                      <a:blip r:embed="rId4"/>
                      <a:stretch>
                        <a:fillRect/>
                      </a:stretch>
                    </p:blipFill>
                    <p:spPr>
                      <a:xfrm>
                        <a:off x="3581400" y="3352800"/>
                        <a:ext cx="352425" cy="400050"/>
                      </a:xfrm>
                      <a:prstGeom prst="rect">
                        <a:avLst/>
                      </a:prstGeom>
                      <a:noFill/>
                      <a:ln w="38100">
                        <a:noFill/>
                        <a:miter/>
                      </a:ln>
                    </p:spPr>
                  </p:pic>
                </p:oleObj>
              </mc:Fallback>
            </mc:AlternateContent>
          </a:graphicData>
        </a:graphic>
      </p:graphicFrame>
      <p:graphicFrame>
        <p:nvGraphicFramePr>
          <p:cNvPr id="16388" name="Object 27"/>
          <p:cNvGraphicFramePr/>
          <p:nvPr/>
        </p:nvGraphicFramePr>
        <p:xfrm>
          <a:off x="3429000" y="1600200"/>
          <a:ext cx="352425" cy="409575"/>
        </p:xfrm>
        <a:graphic>
          <a:graphicData uri="http://schemas.openxmlformats.org/presentationml/2006/ole">
            <mc:AlternateContent xmlns:mc="http://schemas.openxmlformats.org/markup-compatibility/2006">
              <mc:Choice xmlns:v="urn:schemas-microsoft-com:vml" Requires="v">
                <p:oleObj spid="_x0000_s3140" name="" r:id="rId5" imgW="203200" imgH="228600" progId="Equation.3">
                  <p:embed/>
                </p:oleObj>
              </mc:Choice>
              <mc:Fallback>
                <p:oleObj name="" r:id="rId5" imgW="203200" imgH="228600" progId="Equation.3">
                  <p:embed/>
                  <p:pic>
                    <p:nvPicPr>
                      <p:cNvPr id="0" name="图片 3139"/>
                      <p:cNvPicPr/>
                      <p:nvPr/>
                    </p:nvPicPr>
                    <p:blipFill>
                      <a:blip r:embed="rId6"/>
                      <a:stretch>
                        <a:fillRect/>
                      </a:stretch>
                    </p:blipFill>
                    <p:spPr>
                      <a:xfrm>
                        <a:off x="3429000" y="1600200"/>
                        <a:ext cx="352425" cy="409575"/>
                      </a:xfrm>
                      <a:prstGeom prst="rect">
                        <a:avLst/>
                      </a:prstGeom>
                      <a:noFill/>
                      <a:ln w="38100">
                        <a:noFill/>
                        <a:miter/>
                      </a:ln>
                    </p:spPr>
                  </p:pic>
                </p:oleObj>
              </mc:Fallback>
            </mc:AlternateContent>
          </a:graphicData>
        </a:graphic>
      </p:graphicFrame>
      <p:graphicFrame>
        <p:nvGraphicFramePr>
          <p:cNvPr id="16389" name="Object 28"/>
          <p:cNvGraphicFramePr/>
          <p:nvPr/>
        </p:nvGraphicFramePr>
        <p:xfrm>
          <a:off x="3886200" y="1981200"/>
          <a:ext cx="352425" cy="409575"/>
        </p:xfrm>
        <a:graphic>
          <a:graphicData uri="http://schemas.openxmlformats.org/presentationml/2006/ole">
            <mc:AlternateContent xmlns:mc="http://schemas.openxmlformats.org/markup-compatibility/2006">
              <mc:Choice xmlns:v="urn:schemas-microsoft-com:vml" Requires="v">
                <p:oleObj spid="_x0000_s3137" name="" r:id="rId7" imgW="203200" imgH="228600" progId="Equation.3">
                  <p:embed/>
                </p:oleObj>
              </mc:Choice>
              <mc:Fallback>
                <p:oleObj name="" r:id="rId7" imgW="203200" imgH="228600" progId="Equation.3">
                  <p:embed/>
                  <p:pic>
                    <p:nvPicPr>
                      <p:cNvPr id="0" name="图片 3136"/>
                      <p:cNvPicPr/>
                      <p:nvPr/>
                    </p:nvPicPr>
                    <p:blipFill>
                      <a:blip r:embed="rId8"/>
                      <a:stretch>
                        <a:fillRect/>
                      </a:stretch>
                    </p:blipFill>
                    <p:spPr>
                      <a:xfrm>
                        <a:off x="3886200" y="1981200"/>
                        <a:ext cx="352425" cy="409575"/>
                      </a:xfrm>
                      <a:prstGeom prst="rect">
                        <a:avLst/>
                      </a:prstGeom>
                      <a:noFill/>
                      <a:ln w="38100">
                        <a:noFill/>
                        <a:miter/>
                      </a:ln>
                    </p:spPr>
                  </p:pic>
                </p:oleObj>
              </mc:Fallback>
            </mc:AlternateContent>
          </a:graphicData>
        </a:graphic>
      </p:graphicFrame>
      <p:graphicFrame>
        <p:nvGraphicFramePr>
          <p:cNvPr id="16390" name="Object 29"/>
          <p:cNvGraphicFramePr/>
          <p:nvPr/>
        </p:nvGraphicFramePr>
        <p:xfrm>
          <a:off x="3352800" y="4419600"/>
          <a:ext cx="352425" cy="419100"/>
        </p:xfrm>
        <a:graphic>
          <a:graphicData uri="http://schemas.openxmlformats.org/presentationml/2006/ole">
            <mc:AlternateContent xmlns:mc="http://schemas.openxmlformats.org/markup-compatibility/2006">
              <mc:Choice xmlns:v="urn:schemas-microsoft-com:vml" Requires="v">
                <p:oleObj spid="_x0000_s3138" name="" r:id="rId9" imgW="203200" imgH="241300" progId="Equation.3">
                  <p:embed/>
                </p:oleObj>
              </mc:Choice>
              <mc:Fallback>
                <p:oleObj name="" r:id="rId9" imgW="203200" imgH="241300" progId="Equation.3">
                  <p:embed/>
                  <p:pic>
                    <p:nvPicPr>
                      <p:cNvPr id="0" name="图片 3137"/>
                      <p:cNvPicPr/>
                      <p:nvPr/>
                    </p:nvPicPr>
                    <p:blipFill>
                      <a:blip r:embed="rId10"/>
                      <a:stretch>
                        <a:fillRect/>
                      </a:stretch>
                    </p:blipFill>
                    <p:spPr>
                      <a:xfrm>
                        <a:off x="3352800" y="4419600"/>
                        <a:ext cx="352425" cy="419100"/>
                      </a:xfrm>
                      <a:prstGeom prst="rect">
                        <a:avLst/>
                      </a:prstGeom>
                      <a:noFill/>
                      <a:ln w="38100">
                        <a:noFill/>
                        <a:miter/>
                      </a:ln>
                    </p:spPr>
                  </p:pic>
                </p:oleObj>
              </mc:Fallback>
            </mc:AlternateContent>
          </a:graphicData>
        </a:graphic>
      </p:graphicFrame>
      <p:graphicFrame>
        <p:nvGraphicFramePr>
          <p:cNvPr id="16391" name="Object 30"/>
          <p:cNvGraphicFramePr/>
          <p:nvPr/>
        </p:nvGraphicFramePr>
        <p:xfrm>
          <a:off x="3581400" y="4114800"/>
          <a:ext cx="352425" cy="419100"/>
        </p:xfrm>
        <a:graphic>
          <a:graphicData uri="http://schemas.openxmlformats.org/presentationml/2006/ole">
            <mc:AlternateContent xmlns:mc="http://schemas.openxmlformats.org/markup-compatibility/2006">
              <mc:Choice xmlns:v="urn:schemas-microsoft-com:vml" Requires="v">
                <p:oleObj spid="_x0000_s3139" name="" r:id="rId11" imgW="203200" imgH="241300" progId="Equation.3">
                  <p:embed/>
                </p:oleObj>
              </mc:Choice>
              <mc:Fallback>
                <p:oleObj name="" r:id="rId11" imgW="203200" imgH="241300" progId="Equation.3">
                  <p:embed/>
                  <p:pic>
                    <p:nvPicPr>
                      <p:cNvPr id="0" name="图片 3138"/>
                      <p:cNvPicPr/>
                      <p:nvPr/>
                    </p:nvPicPr>
                    <p:blipFill>
                      <a:blip r:embed="rId12"/>
                      <a:stretch>
                        <a:fillRect/>
                      </a:stretch>
                    </p:blipFill>
                    <p:spPr>
                      <a:xfrm>
                        <a:off x="3581400" y="4114800"/>
                        <a:ext cx="352425" cy="419100"/>
                      </a:xfrm>
                      <a:prstGeom prst="rect">
                        <a:avLst/>
                      </a:prstGeom>
                      <a:noFill/>
                      <a:ln w="38100">
                        <a:noFill/>
                        <a:miter/>
                      </a:ln>
                    </p:spPr>
                  </p:pic>
                </p:oleObj>
              </mc:Fallback>
            </mc:AlternateContent>
          </a:graphicData>
        </a:graphic>
      </p:graphicFrame>
      <p:sp>
        <p:nvSpPr>
          <p:cNvPr id="16411" name="Text Box 36"/>
          <p:cNvSpPr txBox="1"/>
          <p:nvPr/>
        </p:nvSpPr>
        <p:spPr>
          <a:xfrm>
            <a:off x="228600" y="5226050"/>
            <a:ext cx="8686800" cy="519113"/>
          </a:xfrm>
          <a:prstGeom prst="rect">
            <a:avLst/>
          </a:prstGeom>
          <a:noFill/>
          <a:ln w="9525">
            <a:noFill/>
          </a:ln>
        </p:spPr>
        <p:txBody>
          <a:bodyPr>
            <a:spAutoFit/>
          </a:bodyPr>
          <a:p>
            <a:r>
              <a:rPr lang="zh-CN" altLang="en-US" sz="2800" b="1" dirty="0">
                <a:solidFill>
                  <a:srgbClr val="0000FF"/>
                </a:solidFill>
                <a:latin typeface="Times New Roman" panose="02020603050405020304" pitchFamily="18" charset="0"/>
              </a:rPr>
              <a:t>结论：有无穷多最优解。</a:t>
            </a:r>
            <a:r>
              <a:rPr lang="en-US" altLang="zh-CN" sz="2800" b="1" dirty="0">
                <a:solidFill>
                  <a:srgbClr val="0000FF"/>
                </a:solidFill>
                <a:latin typeface="Times New Roman" panose="02020603050405020304" pitchFamily="18" charset="0"/>
              </a:rPr>
              <a:t>C</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2</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4</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D</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10/3</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10/3</a:t>
            </a:r>
            <a:r>
              <a:rPr lang="zh-CN" altLang="en-US" sz="2800" b="1" dirty="0">
                <a:solidFill>
                  <a:srgbClr val="0000FF"/>
                </a:solidFill>
                <a:latin typeface="Times New Roman" panose="02020603050405020304" pitchFamily="18" charset="0"/>
              </a:rPr>
              <a:t>）</a:t>
            </a:r>
            <a:endParaRPr lang="zh-CN" altLang="en-US" sz="2800" b="1" dirty="0">
              <a:solidFill>
                <a:srgbClr val="0000FF"/>
              </a:solidFill>
              <a:latin typeface="Times New Roman" panose="02020603050405020304" pitchFamily="18" charset="0"/>
            </a:endParaRPr>
          </a:p>
        </p:txBody>
      </p:sp>
      <p:graphicFrame>
        <p:nvGraphicFramePr>
          <p:cNvPr id="44069" name="Object 37"/>
          <p:cNvGraphicFramePr/>
          <p:nvPr/>
        </p:nvGraphicFramePr>
        <p:xfrm>
          <a:off x="4572000" y="304800"/>
          <a:ext cx="4419600" cy="2933700"/>
        </p:xfrm>
        <a:graphic>
          <a:graphicData uri="http://schemas.openxmlformats.org/presentationml/2006/ole">
            <mc:AlternateContent xmlns:mc="http://schemas.openxmlformats.org/markup-compatibility/2006">
              <mc:Choice xmlns:v="urn:schemas-microsoft-com:vml" Requires="v">
                <p:oleObj spid="_x0000_s3117" name="" r:id="rId13" imgW="2197100" imgH="1549400" progId="Equation.3">
                  <p:embed/>
                </p:oleObj>
              </mc:Choice>
              <mc:Fallback>
                <p:oleObj name="" r:id="rId13" imgW="2197100" imgH="1549400" progId="Equation.3">
                  <p:embed/>
                  <p:pic>
                    <p:nvPicPr>
                      <p:cNvPr id="0" name="图片 3116"/>
                      <p:cNvPicPr/>
                      <p:nvPr/>
                    </p:nvPicPr>
                    <p:blipFill>
                      <a:blip r:embed="rId14"/>
                      <a:stretch>
                        <a:fillRect/>
                      </a:stretch>
                    </p:blipFill>
                    <p:spPr>
                      <a:xfrm>
                        <a:off x="4572000" y="304800"/>
                        <a:ext cx="4419600" cy="2933700"/>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44069"/>
                                        </p:tgtEl>
                                        <p:attrNameLst>
                                          <p:attrName>style.visibility</p:attrName>
                                        </p:attrNameLst>
                                      </p:cBhvr>
                                      <p:to>
                                        <p:strVal val="visible"/>
                                      </p:to>
                                    </p:set>
                                    <p:animEffect transition="in" filter="blinds(vertical)">
                                      <p:cBhvr>
                                        <p:cTn id="7" dur="500"/>
                                        <p:tgtEl>
                                          <p:spTgt spid="44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429" name="表格 17428"/>
          <p:cNvGraphicFramePr/>
          <p:nvPr/>
        </p:nvGraphicFramePr>
        <p:xfrm>
          <a:off x="228600" y="1828800"/>
          <a:ext cx="8686800" cy="4572000"/>
        </p:xfrm>
        <a:graphic>
          <a:graphicData uri="http://schemas.openxmlformats.org/drawingml/2006/table">
            <a:tbl>
              <a:tblPr/>
              <a:tblGrid>
                <a:gridCol w="1241425"/>
                <a:gridCol w="1239838"/>
                <a:gridCol w="1243012"/>
                <a:gridCol w="1239838"/>
                <a:gridCol w="1241425"/>
                <a:gridCol w="1239837"/>
                <a:gridCol w="1241425"/>
              </a:tblGrid>
              <a:tr h="457200">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j</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c</a:t>
                      </a:r>
                      <a:r>
                        <a:rPr lang="en-US" altLang="zh-CN" b="1" i="1" baseline="-30000" dirty="0">
                          <a:latin typeface="Times New Roman" panose="02020603050405020304" pitchFamily="18" charset="0"/>
                        </a:rPr>
                        <a:t>1</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c</a:t>
                      </a:r>
                      <a:r>
                        <a:rPr lang="en-US" altLang="zh-CN" b="1" i="1" baseline="-30000" dirty="0">
                          <a:latin typeface="Times New Roman" panose="02020603050405020304" pitchFamily="18" charset="0"/>
                        </a:rPr>
                        <a:t>2</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c</a:t>
                      </a:r>
                      <a:r>
                        <a:rPr lang="en-US" altLang="zh-CN" b="1" i="1" baseline="-30000" dirty="0">
                          <a:latin typeface="Times New Roman" panose="02020603050405020304" pitchFamily="18" charset="0"/>
                        </a:rPr>
                        <a:t>n+2m</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X</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b</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 </a:t>
                      </a: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1</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2</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 x</a:t>
                      </a:r>
                      <a:r>
                        <a:rPr lang="en-US" altLang="zh-CN" b="1" i="1" baseline="-30000" dirty="0">
                          <a:latin typeface="Times New Roman" panose="02020603050405020304" pitchFamily="18" charset="0"/>
                        </a:rPr>
                        <a:t>n+2m</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c</a:t>
                      </a:r>
                      <a:r>
                        <a:rPr lang="en-US" altLang="zh-CN" b="1" i="1" baseline="-30000" dirty="0">
                          <a:latin typeface="Times New Roman" panose="02020603050405020304" pitchFamily="18" charset="0"/>
                        </a:rPr>
                        <a:t>j1</a:t>
                      </a:r>
                      <a:endParaRPr lang="en-US" altLang="zh-CN" b="1" i="1"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j1</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 b</a:t>
                      </a:r>
                      <a:r>
                        <a:rPr lang="en-US" altLang="zh-CN" b="1" i="1" baseline="-30000" dirty="0">
                          <a:latin typeface="Times New Roman" panose="02020603050405020304" pitchFamily="18" charset="0"/>
                        </a:rPr>
                        <a:t>o1</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e</a:t>
                      </a:r>
                      <a:r>
                        <a:rPr lang="en-US" altLang="zh-CN" b="1" i="1" baseline="-30000" dirty="0">
                          <a:latin typeface="Times New Roman" panose="02020603050405020304" pitchFamily="18" charset="0"/>
                        </a:rPr>
                        <a:t>11</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e</a:t>
                      </a:r>
                      <a:r>
                        <a:rPr lang="en-US" altLang="zh-CN" b="1" i="1" baseline="-30000" dirty="0">
                          <a:latin typeface="Times New Roman" panose="02020603050405020304" pitchFamily="18" charset="0"/>
                        </a:rPr>
                        <a:t>12</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e</a:t>
                      </a:r>
                      <a:r>
                        <a:rPr lang="en-US" altLang="zh-CN" b="1" i="1" baseline="-30000" dirty="0">
                          <a:latin typeface="Times New Roman" panose="02020603050405020304" pitchFamily="18" charset="0"/>
                        </a:rPr>
                        <a:t>1n+2m</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c</a:t>
                      </a:r>
                      <a:r>
                        <a:rPr lang="en-US" altLang="zh-CN" b="1" i="1" baseline="-30000" dirty="0">
                          <a:latin typeface="Times New Roman" panose="02020603050405020304" pitchFamily="18" charset="0"/>
                        </a:rPr>
                        <a:t>j2</a:t>
                      </a:r>
                      <a:endParaRPr lang="en-US" altLang="zh-CN" b="1" i="1" baseline="-300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j2</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b</a:t>
                      </a:r>
                      <a:r>
                        <a:rPr lang="en-US" altLang="zh-CN" b="1" i="1" baseline="-30000" dirty="0">
                          <a:latin typeface="Times New Roman" panose="02020603050405020304" pitchFamily="18" charset="0"/>
                        </a:rPr>
                        <a:t>o2</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e</a:t>
                      </a:r>
                      <a:r>
                        <a:rPr lang="en-US" altLang="zh-CN" b="1" i="1" baseline="-30000" dirty="0">
                          <a:latin typeface="Times New Roman" panose="02020603050405020304" pitchFamily="18" charset="0"/>
                        </a:rPr>
                        <a:t>21</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e</a:t>
                      </a:r>
                      <a:r>
                        <a:rPr lang="en-US" altLang="zh-CN" b="1" i="1" baseline="-30000" dirty="0">
                          <a:latin typeface="Times New Roman" panose="02020603050405020304" pitchFamily="18" charset="0"/>
                        </a:rPr>
                        <a:t>22</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e</a:t>
                      </a:r>
                      <a:r>
                        <a:rPr lang="en-US" altLang="zh-CN" b="1" i="1" baseline="-30000" dirty="0">
                          <a:latin typeface="Times New Roman" panose="02020603050405020304" pitchFamily="18" charset="0"/>
                        </a:rPr>
                        <a:t>2n+2m</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 c</a:t>
                      </a:r>
                      <a:r>
                        <a:rPr lang="en-US" altLang="zh-CN" b="1" i="1" baseline="-30000" dirty="0">
                          <a:latin typeface="Times New Roman" panose="02020603050405020304" pitchFamily="18" charset="0"/>
                        </a:rPr>
                        <a:t>jm</a:t>
                      </a:r>
                      <a:endParaRPr lang="en-US" altLang="zh-CN" b="1" i="1" baseline="-300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jm</a:t>
                      </a:r>
                      <a:r>
                        <a:rPr lang="en-US" altLang="zh-CN" b="1" i="1" dirty="0">
                          <a:latin typeface="Times New Roman" panose="02020603050405020304" pitchFamily="18" charset="0"/>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b</a:t>
                      </a:r>
                      <a:r>
                        <a:rPr lang="en-US" altLang="zh-CN" b="1" i="1" baseline="-30000" dirty="0">
                          <a:latin typeface="Times New Roman" panose="02020603050405020304" pitchFamily="18" charset="0"/>
                        </a:rPr>
                        <a:t>om</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e</a:t>
                      </a:r>
                      <a:r>
                        <a:rPr lang="en-US" altLang="zh-CN" b="1" i="1" baseline="-30000" dirty="0">
                          <a:latin typeface="Times New Roman" panose="02020603050405020304" pitchFamily="18" charset="0"/>
                        </a:rPr>
                        <a:t>m1</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e</a:t>
                      </a:r>
                      <a:r>
                        <a:rPr lang="en-US" altLang="zh-CN" b="1" i="1" baseline="-30000" dirty="0">
                          <a:latin typeface="Times New Roman" panose="02020603050405020304" pitchFamily="18" charset="0"/>
                        </a:rPr>
                        <a:t>m2</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e</a:t>
                      </a:r>
                      <a:r>
                        <a:rPr lang="en-US" altLang="zh-CN" b="1" i="1" baseline="-30000" dirty="0">
                          <a:latin typeface="Times New Roman" panose="02020603050405020304" pitchFamily="18" charset="0"/>
                        </a:rPr>
                        <a:t>mn+2m</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rowSpan="4">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just" eaLnBrk="1" hangingPunct="1">
                        <a:spcBef>
                          <a:spcPct val="20000"/>
                        </a:spcBef>
                        <a:buNone/>
                      </a:pPr>
                      <a:endParaRPr lang="en-US" altLang="zh-CN" b="1" i="1" dirty="0">
                        <a:latin typeface="Times New Roman" panose="02020603050405020304" pitchFamily="18" charset="0"/>
                      </a:endParaRPr>
                    </a:p>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kj</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1</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α</a:t>
                      </a:r>
                      <a:r>
                        <a:rPr lang="en-US" altLang="zh-CN" b="1" baseline="-30000" dirty="0">
                          <a:latin typeface="Times New Roman" panose="02020603050405020304" pitchFamily="18" charset="0"/>
                        </a:rPr>
                        <a:t>1</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11</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12</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1n+2m</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2</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α</a:t>
                      </a:r>
                      <a:r>
                        <a:rPr lang="en-US" altLang="zh-CN" b="1" baseline="-30000" dirty="0">
                          <a:latin typeface="Times New Roman" panose="02020603050405020304" pitchFamily="18" charset="0"/>
                        </a:rPr>
                        <a:t>2</a:t>
                      </a:r>
                      <a:endParaRPr lang="en-US" altLang="zh-CN"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21</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22</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2n+2m</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K</a:t>
                      </a:r>
                      <a:r>
                        <a:rPr lang="en-US" altLang="zh-CN" b="1" dirty="0">
                          <a:latin typeface="Times New Roman" panose="02020603050405020304" pitchFamily="18" charset="0"/>
                        </a:rPr>
                        <a:t> </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α</a:t>
                      </a:r>
                      <a:r>
                        <a:rPr lang="en-US" altLang="zh-CN" b="1" baseline="-30000" dirty="0">
                          <a:latin typeface="Times New Roman" panose="02020603050405020304" pitchFamily="18" charset="0"/>
                        </a:rPr>
                        <a:t>K</a:t>
                      </a:r>
                      <a:r>
                        <a:rPr lang="en-US" altLang="zh-CN" b="1" dirty="0">
                          <a:latin typeface="Times New Roman" panose="02020603050405020304" pitchFamily="18" charset="0"/>
                        </a:rPr>
                        <a:t> </a:t>
                      </a:r>
                      <a:endParaRPr lang="en-US" altLang="zh-CN"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 σ</a:t>
                      </a:r>
                      <a:r>
                        <a:rPr lang="en-US" altLang="zh-CN" b="1" i="1" baseline="-30000" dirty="0">
                          <a:latin typeface="Times New Roman" panose="02020603050405020304" pitchFamily="18" charset="0"/>
                        </a:rPr>
                        <a:t>m1</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m2</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mn+2m</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r>
            </a:tbl>
          </a:graphicData>
        </a:graphic>
      </p:graphicFrame>
      <p:graphicFrame>
        <p:nvGraphicFramePr>
          <p:cNvPr id="17410" name="Object 176"/>
          <p:cNvGraphicFramePr/>
          <p:nvPr/>
        </p:nvGraphicFramePr>
        <p:xfrm>
          <a:off x="6705600" y="1981200"/>
          <a:ext cx="609600" cy="266700"/>
        </p:xfrm>
        <a:graphic>
          <a:graphicData uri="http://schemas.openxmlformats.org/presentationml/2006/ole">
            <mc:AlternateContent xmlns:mc="http://schemas.openxmlformats.org/markup-compatibility/2006">
              <mc:Choice xmlns:v="urn:schemas-microsoft-com:vml" Requires="v">
                <p:oleObj spid="_x0000_s3116" name="" r:id="rId1" imgW="177165" imgH="76200" progId="Equation.3">
                  <p:embed/>
                </p:oleObj>
              </mc:Choice>
              <mc:Fallback>
                <p:oleObj name="" r:id="rId1" imgW="177165" imgH="76200" progId="Equation.3">
                  <p:embed/>
                  <p:pic>
                    <p:nvPicPr>
                      <p:cNvPr id="0" name="图片 3115"/>
                      <p:cNvPicPr/>
                      <p:nvPr/>
                    </p:nvPicPr>
                    <p:blipFill>
                      <a:blip r:embed="rId2"/>
                      <a:stretch>
                        <a:fillRect/>
                      </a:stretch>
                    </p:blipFill>
                    <p:spPr>
                      <a:xfrm>
                        <a:off x="6705600" y="1981200"/>
                        <a:ext cx="609600" cy="266700"/>
                      </a:xfrm>
                      <a:prstGeom prst="rect">
                        <a:avLst/>
                      </a:prstGeom>
                      <a:noFill/>
                      <a:ln w="38100">
                        <a:noFill/>
                        <a:miter/>
                      </a:ln>
                    </p:spPr>
                  </p:pic>
                </p:oleObj>
              </mc:Fallback>
            </mc:AlternateContent>
          </a:graphicData>
        </a:graphic>
      </p:graphicFrame>
      <p:graphicFrame>
        <p:nvGraphicFramePr>
          <p:cNvPr id="17411" name="Object 177"/>
          <p:cNvGraphicFramePr/>
          <p:nvPr/>
        </p:nvGraphicFramePr>
        <p:xfrm>
          <a:off x="762000" y="3657600"/>
          <a:ext cx="182563" cy="457200"/>
        </p:xfrm>
        <a:graphic>
          <a:graphicData uri="http://schemas.openxmlformats.org/presentationml/2006/ole">
            <mc:AlternateContent xmlns:mc="http://schemas.openxmlformats.org/markup-compatibility/2006">
              <mc:Choice xmlns:v="urn:schemas-microsoft-com:vml" Requires="v">
                <p:oleObj spid="_x0000_s3133" name="" r:id="rId3" imgW="76200" imgH="189865" progId="Equation.3">
                  <p:embed/>
                </p:oleObj>
              </mc:Choice>
              <mc:Fallback>
                <p:oleObj name="" r:id="rId3" imgW="76200" imgH="189865" progId="Equation.3">
                  <p:embed/>
                  <p:pic>
                    <p:nvPicPr>
                      <p:cNvPr id="0" name="图片 3132"/>
                      <p:cNvPicPr/>
                      <p:nvPr/>
                    </p:nvPicPr>
                    <p:blipFill>
                      <a:blip r:embed="rId4"/>
                      <a:stretch>
                        <a:fillRect/>
                      </a:stretch>
                    </p:blipFill>
                    <p:spPr>
                      <a:xfrm>
                        <a:off x="762000" y="3657600"/>
                        <a:ext cx="182563" cy="457200"/>
                      </a:xfrm>
                      <a:prstGeom prst="rect">
                        <a:avLst/>
                      </a:prstGeom>
                      <a:noFill/>
                      <a:ln w="38100">
                        <a:noFill/>
                        <a:miter/>
                      </a:ln>
                    </p:spPr>
                  </p:pic>
                </p:oleObj>
              </mc:Fallback>
            </mc:AlternateContent>
          </a:graphicData>
        </a:graphic>
      </p:graphicFrame>
      <p:graphicFrame>
        <p:nvGraphicFramePr>
          <p:cNvPr id="17412" name="Object 178"/>
          <p:cNvGraphicFramePr/>
          <p:nvPr/>
        </p:nvGraphicFramePr>
        <p:xfrm>
          <a:off x="6705600" y="2438400"/>
          <a:ext cx="609600" cy="266700"/>
        </p:xfrm>
        <a:graphic>
          <a:graphicData uri="http://schemas.openxmlformats.org/presentationml/2006/ole">
            <mc:AlternateContent xmlns:mc="http://schemas.openxmlformats.org/markup-compatibility/2006">
              <mc:Choice xmlns:v="urn:schemas-microsoft-com:vml" Requires="v">
                <p:oleObj spid="_x0000_s3131" name="" r:id="rId5" imgW="177165" imgH="76200" progId="Equation.3">
                  <p:embed/>
                </p:oleObj>
              </mc:Choice>
              <mc:Fallback>
                <p:oleObj name="" r:id="rId5" imgW="177165" imgH="76200" progId="Equation.3">
                  <p:embed/>
                  <p:pic>
                    <p:nvPicPr>
                      <p:cNvPr id="0" name="图片 3130"/>
                      <p:cNvPicPr/>
                      <p:nvPr/>
                    </p:nvPicPr>
                    <p:blipFill>
                      <a:blip r:embed="rId2"/>
                      <a:stretch>
                        <a:fillRect/>
                      </a:stretch>
                    </p:blipFill>
                    <p:spPr>
                      <a:xfrm>
                        <a:off x="6705600" y="2438400"/>
                        <a:ext cx="609600" cy="266700"/>
                      </a:xfrm>
                      <a:prstGeom prst="rect">
                        <a:avLst/>
                      </a:prstGeom>
                      <a:noFill/>
                      <a:ln w="38100">
                        <a:noFill/>
                        <a:miter/>
                      </a:ln>
                    </p:spPr>
                  </p:pic>
                </p:oleObj>
              </mc:Fallback>
            </mc:AlternateContent>
          </a:graphicData>
        </a:graphic>
      </p:graphicFrame>
      <p:graphicFrame>
        <p:nvGraphicFramePr>
          <p:cNvPr id="17413" name="Object 179"/>
          <p:cNvGraphicFramePr/>
          <p:nvPr/>
        </p:nvGraphicFramePr>
        <p:xfrm>
          <a:off x="6705600" y="2895600"/>
          <a:ext cx="609600" cy="266700"/>
        </p:xfrm>
        <a:graphic>
          <a:graphicData uri="http://schemas.openxmlformats.org/presentationml/2006/ole">
            <mc:AlternateContent xmlns:mc="http://schemas.openxmlformats.org/markup-compatibility/2006">
              <mc:Choice xmlns:v="urn:schemas-microsoft-com:vml" Requires="v">
                <p:oleObj spid="_x0000_s3134" name="" r:id="rId6" imgW="177165" imgH="76200" progId="Equation.3">
                  <p:embed/>
                </p:oleObj>
              </mc:Choice>
              <mc:Fallback>
                <p:oleObj name="" r:id="rId6" imgW="177165" imgH="76200" progId="Equation.3">
                  <p:embed/>
                  <p:pic>
                    <p:nvPicPr>
                      <p:cNvPr id="0" name="图片 3133"/>
                      <p:cNvPicPr/>
                      <p:nvPr/>
                    </p:nvPicPr>
                    <p:blipFill>
                      <a:blip r:embed="rId2"/>
                      <a:stretch>
                        <a:fillRect/>
                      </a:stretch>
                    </p:blipFill>
                    <p:spPr>
                      <a:xfrm>
                        <a:off x="6705600" y="2895600"/>
                        <a:ext cx="609600" cy="266700"/>
                      </a:xfrm>
                      <a:prstGeom prst="rect">
                        <a:avLst/>
                      </a:prstGeom>
                      <a:noFill/>
                      <a:ln w="38100">
                        <a:noFill/>
                        <a:miter/>
                      </a:ln>
                    </p:spPr>
                  </p:pic>
                </p:oleObj>
              </mc:Fallback>
            </mc:AlternateContent>
          </a:graphicData>
        </a:graphic>
      </p:graphicFrame>
      <p:graphicFrame>
        <p:nvGraphicFramePr>
          <p:cNvPr id="17414" name="Object 180"/>
          <p:cNvGraphicFramePr/>
          <p:nvPr/>
        </p:nvGraphicFramePr>
        <p:xfrm>
          <a:off x="6705600" y="3352800"/>
          <a:ext cx="609600" cy="266700"/>
        </p:xfrm>
        <a:graphic>
          <a:graphicData uri="http://schemas.openxmlformats.org/presentationml/2006/ole">
            <mc:AlternateContent xmlns:mc="http://schemas.openxmlformats.org/markup-compatibility/2006">
              <mc:Choice xmlns:v="urn:schemas-microsoft-com:vml" Requires="v">
                <p:oleObj spid="_x0000_s3118" name="" r:id="rId7" imgW="177165" imgH="76200" progId="Equation.3">
                  <p:embed/>
                </p:oleObj>
              </mc:Choice>
              <mc:Fallback>
                <p:oleObj name="" r:id="rId7" imgW="177165" imgH="76200" progId="Equation.3">
                  <p:embed/>
                  <p:pic>
                    <p:nvPicPr>
                      <p:cNvPr id="0" name="图片 3117"/>
                      <p:cNvPicPr/>
                      <p:nvPr/>
                    </p:nvPicPr>
                    <p:blipFill>
                      <a:blip r:embed="rId2"/>
                      <a:stretch>
                        <a:fillRect/>
                      </a:stretch>
                    </p:blipFill>
                    <p:spPr>
                      <a:xfrm>
                        <a:off x="6705600" y="3352800"/>
                        <a:ext cx="609600" cy="266700"/>
                      </a:xfrm>
                      <a:prstGeom prst="rect">
                        <a:avLst/>
                      </a:prstGeom>
                      <a:noFill/>
                      <a:ln w="38100">
                        <a:noFill/>
                        <a:miter/>
                      </a:ln>
                    </p:spPr>
                  </p:pic>
                </p:oleObj>
              </mc:Fallback>
            </mc:AlternateContent>
          </a:graphicData>
        </a:graphic>
      </p:graphicFrame>
      <p:graphicFrame>
        <p:nvGraphicFramePr>
          <p:cNvPr id="17415" name="Object 181"/>
          <p:cNvGraphicFramePr/>
          <p:nvPr/>
        </p:nvGraphicFramePr>
        <p:xfrm>
          <a:off x="6705600" y="4267200"/>
          <a:ext cx="609600" cy="266700"/>
        </p:xfrm>
        <a:graphic>
          <a:graphicData uri="http://schemas.openxmlformats.org/presentationml/2006/ole">
            <mc:AlternateContent xmlns:mc="http://schemas.openxmlformats.org/markup-compatibility/2006">
              <mc:Choice xmlns:v="urn:schemas-microsoft-com:vml" Requires="v">
                <p:oleObj spid="_x0000_s3135" name="" r:id="rId8" imgW="177165" imgH="76200" progId="Equation.3">
                  <p:embed/>
                </p:oleObj>
              </mc:Choice>
              <mc:Fallback>
                <p:oleObj name="" r:id="rId8" imgW="177165" imgH="76200" progId="Equation.3">
                  <p:embed/>
                  <p:pic>
                    <p:nvPicPr>
                      <p:cNvPr id="0" name="图片 3134"/>
                      <p:cNvPicPr/>
                      <p:nvPr/>
                    </p:nvPicPr>
                    <p:blipFill>
                      <a:blip r:embed="rId2"/>
                      <a:stretch>
                        <a:fillRect/>
                      </a:stretch>
                    </p:blipFill>
                    <p:spPr>
                      <a:xfrm>
                        <a:off x="6705600" y="4267200"/>
                        <a:ext cx="609600" cy="266700"/>
                      </a:xfrm>
                      <a:prstGeom prst="rect">
                        <a:avLst/>
                      </a:prstGeom>
                      <a:noFill/>
                      <a:ln w="38100">
                        <a:noFill/>
                        <a:miter/>
                      </a:ln>
                    </p:spPr>
                  </p:pic>
                </p:oleObj>
              </mc:Fallback>
            </mc:AlternateContent>
          </a:graphicData>
        </a:graphic>
      </p:graphicFrame>
      <p:graphicFrame>
        <p:nvGraphicFramePr>
          <p:cNvPr id="17416" name="Object 182"/>
          <p:cNvGraphicFramePr/>
          <p:nvPr/>
        </p:nvGraphicFramePr>
        <p:xfrm>
          <a:off x="6705600" y="4724400"/>
          <a:ext cx="609600" cy="266700"/>
        </p:xfrm>
        <a:graphic>
          <a:graphicData uri="http://schemas.openxmlformats.org/presentationml/2006/ole">
            <mc:AlternateContent xmlns:mc="http://schemas.openxmlformats.org/markup-compatibility/2006">
              <mc:Choice xmlns:v="urn:schemas-microsoft-com:vml" Requires="v">
                <p:oleObj spid="_x0000_s3123" name="" r:id="rId9" imgW="177165" imgH="76200" progId="Equation.3">
                  <p:embed/>
                </p:oleObj>
              </mc:Choice>
              <mc:Fallback>
                <p:oleObj name="" r:id="rId9" imgW="177165" imgH="76200" progId="Equation.3">
                  <p:embed/>
                  <p:pic>
                    <p:nvPicPr>
                      <p:cNvPr id="0" name="图片 3122"/>
                      <p:cNvPicPr/>
                      <p:nvPr/>
                    </p:nvPicPr>
                    <p:blipFill>
                      <a:blip r:embed="rId2"/>
                      <a:stretch>
                        <a:fillRect/>
                      </a:stretch>
                    </p:blipFill>
                    <p:spPr>
                      <a:xfrm>
                        <a:off x="6705600" y="4724400"/>
                        <a:ext cx="609600" cy="266700"/>
                      </a:xfrm>
                      <a:prstGeom prst="rect">
                        <a:avLst/>
                      </a:prstGeom>
                      <a:noFill/>
                      <a:ln w="38100">
                        <a:noFill/>
                        <a:miter/>
                      </a:ln>
                    </p:spPr>
                  </p:pic>
                </p:oleObj>
              </mc:Fallback>
            </mc:AlternateContent>
          </a:graphicData>
        </a:graphic>
      </p:graphicFrame>
      <p:graphicFrame>
        <p:nvGraphicFramePr>
          <p:cNvPr id="17417" name="Object 183"/>
          <p:cNvGraphicFramePr/>
          <p:nvPr/>
        </p:nvGraphicFramePr>
        <p:xfrm>
          <a:off x="6705600" y="5181600"/>
          <a:ext cx="609600" cy="266700"/>
        </p:xfrm>
        <a:graphic>
          <a:graphicData uri="http://schemas.openxmlformats.org/presentationml/2006/ole">
            <mc:AlternateContent xmlns:mc="http://schemas.openxmlformats.org/markup-compatibility/2006">
              <mc:Choice xmlns:v="urn:schemas-microsoft-com:vml" Requires="v">
                <p:oleObj spid="_x0000_s3125" name="" r:id="rId10" imgW="177165" imgH="76200" progId="Equation.3">
                  <p:embed/>
                </p:oleObj>
              </mc:Choice>
              <mc:Fallback>
                <p:oleObj name="" r:id="rId10" imgW="177165" imgH="76200" progId="Equation.3">
                  <p:embed/>
                  <p:pic>
                    <p:nvPicPr>
                      <p:cNvPr id="0" name="图片 3124"/>
                      <p:cNvPicPr/>
                      <p:nvPr/>
                    </p:nvPicPr>
                    <p:blipFill>
                      <a:blip r:embed="rId2"/>
                      <a:stretch>
                        <a:fillRect/>
                      </a:stretch>
                    </p:blipFill>
                    <p:spPr>
                      <a:xfrm>
                        <a:off x="6705600" y="5181600"/>
                        <a:ext cx="609600" cy="266700"/>
                      </a:xfrm>
                      <a:prstGeom prst="rect">
                        <a:avLst/>
                      </a:prstGeom>
                      <a:noFill/>
                      <a:ln w="38100">
                        <a:noFill/>
                        <a:miter/>
                      </a:ln>
                    </p:spPr>
                  </p:pic>
                </p:oleObj>
              </mc:Fallback>
            </mc:AlternateContent>
          </a:graphicData>
        </a:graphic>
      </p:graphicFrame>
      <p:graphicFrame>
        <p:nvGraphicFramePr>
          <p:cNvPr id="17418" name="Object 184"/>
          <p:cNvGraphicFramePr/>
          <p:nvPr/>
        </p:nvGraphicFramePr>
        <p:xfrm>
          <a:off x="6705600" y="6019800"/>
          <a:ext cx="609600" cy="266700"/>
        </p:xfrm>
        <a:graphic>
          <a:graphicData uri="http://schemas.openxmlformats.org/presentationml/2006/ole">
            <mc:AlternateContent xmlns:mc="http://schemas.openxmlformats.org/markup-compatibility/2006">
              <mc:Choice xmlns:v="urn:schemas-microsoft-com:vml" Requires="v">
                <p:oleObj spid="_x0000_s3119" name="" r:id="rId11" imgW="177165" imgH="76200" progId="Equation.3">
                  <p:embed/>
                </p:oleObj>
              </mc:Choice>
              <mc:Fallback>
                <p:oleObj name="" r:id="rId11" imgW="177165" imgH="76200" progId="Equation.3">
                  <p:embed/>
                  <p:pic>
                    <p:nvPicPr>
                      <p:cNvPr id="0" name="图片 3118"/>
                      <p:cNvPicPr/>
                      <p:nvPr/>
                    </p:nvPicPr>
                    <p:blipFill>
                      <a:blip r:embed="rId2"/>
                      <a:stretch>
                        <a:fillRect/>
                      </a:stretch>
                    </p:blipFill>
                    <p:spPr>
                      <a:xfrm>
                        <a:off x="6705600" y="6019800"/>
                        <a:ext cx="609600" cy="266700"/>
                      </a:xfrm>
                      <a:prstGeom prst="rect">
                        <a:avLst/>
                      </a:prstGeom>
                      <a:noFill/>
                      <a:ln w="38100">
                        <a:noFill/>
                        <a:miter/>
                      </a:ln>
                    </p:spPr>
                  </p:pic>
                </p:oleObj>
              </mc:Fallback>
            </mc:AlternateContent>
          </a:graphicData>
        </a:graphic>
      </p:graphicFrame>
      <p:graphicFrame>
        <p:nvGraphicFramePr>
          <p:cNvPr id="17419" name="Object 185"/>
          <p:cNvGraphicFramePr/>
          <p:nvPr/>
        </p:nvGraphicFramePr>
        <p:xfrm>
          <a:off x="1981200" y="3657600"/>
          <a:ext cx="182563" cy="457200"/>
        </p:xfrm>
        <a:graphic>
          <a:graphicData uri="http://schemas.openxmlformats.org/presentationml/2006/ole">
            <mc:AlternateContent xmlns:mc="http://schemas.openxmlformats.org/markup-compatibility/2006">
              <mc:Choice xmlns:v="urn:schemas-microsoft-com:vml" Requires="v">
                <p:oleObj spid="_x0000_s3120" name="" r:id="rId12" imgW="76200" imgH="189865" progId="Equation.3">
                  <p:embed/>
                </p:oleObj>
              </mc:Choice>
              <mc:Fallback>
                <p:oleObj name="" r:id="rId12" imgW="76200" imgH="189865" progId="Equation.3">
                  <p:embed/>
                  <p:pic>
                    <p:nvPicPr>
                      <p:cNvPr id="0" name="图片 3119"/>
                      <p:cNvPicPr/>
                      <p:nvPr/>
                    </p:nvPicPr>
                    <p:blipFill>
                      <a:blip r:embed="rId4"/>
                      <a:stretch>
                        <a:fillRect/>
                      </a:stretch>
                    </p:blipFill>
                    <p:spPr>
                      <a:xfrm>
                        <a:off x="1981200" y="3657600"/>
                        <a:ext cx="182563" cy="457200"/>
                      </a:xfrm>
                      <a:prstGeom prst="rect">
                        <a:avLst/>
                      </a:prstGeom>
                      <a:noFill/>
                      <a:ln w="38100">
                        <a:noFill/>
                        <a:miter/>
                      </a:ln>
                    </p:spPr>
                  </p:pic>
                </p:oleObj>
              </mc:Fallback>
            </mc:AlternateContent>
          </a:graphicData>
        </a:graphic>
      </p:graphicFrame>
      <p:graphicFrame>
        <p:nvGraphicFramePr>
          <p:cNvPr id="17420" name="Object 186"/>
          <p:cNvGraphicFramePr/>
          <p:nvPr/>
        </p:nvGraphicFramePr>
        <p:xfrm>
          <a:off x="3200400" y="3657600"/>
          <a:ext cx="182563" cy="457200"/>
        </p:xfrm>
        <a:graphic>
          <a:graphicData uri="http://schemas.openxmlformats.org/presentationml/2006/ole">
            <mc:AlternateContent xmlns:mc="http://schemas.openxmlformats.org/markup-compatibility/2006">
              <mc:Choice xmlns:v="urn:schemas-microsoft-com:vml" Requires="v">
                <p:oleObj spid="_x0000_s3124" name="" r:id="rId13" imgW="76200" imgH="189865" progId="Equation.3">
                  <p:embed/>
                </p:oleObj>
              </mc:Choice>
              <mc:Fallback>
                <p:oleObj name="" r:id="rId13" imgW="76200" imgH="189865" progId="Equation.3">
                  <p:embed/>
                  <p:pic>
                    <p:nvPicPr>
                      <p:cNvPr id="0" name="图片 3123"/>
                      <p:cNvPicPr/>
                      <p:nvPr/>
                    </p:nvPicPr>
                    <p:blipFill>
                      <a:blip r:embed="rId4"/>
                      <a:stretch>
                        <a:fillRect/>
                      </a:stretch>
                    </p:blipFill>
                    <p:spPr>
                      <a:xfrm>
                        <a:off x="3200400" y="3657600"/>
                        <a:ext cx="182563" cy="457200"/>
                      </a:xfrm>
                      <a:prstGeom prst="rect">
                        <a:avLst/>
                      </a:prstGeom>
                      <a:noFill/>
                      <a:ln w="38100">
                        <a:noFill/>
                        <a:miter/>
                      </a:ln>
                    </p:spPr>
                  </p:pic>
                </p:oleObj>
              </mc:Fallback>
            </mc:AlternateContent>
          </a:graphicData>
        </a:graphic>
      </p:graphicFrame>
      <p:graphicFrame>
        <p:nvGraphicFramePr>
          <p:cNvPr id="17421" name="Object 187"/>
          <p:cNvGraphicFramePr/>
          <p:nvPr/>
        </p:nvGraphicFramePr>
        <p:xfrm>
          <a:off x="4419600" y="3657600"/>
          <a:ext cx="182563" cy="457200"/>
        </p:xfrm>
        <a:graphic>
          <a:graphicData uri="http://schemas.openxmlformats.org/presentationml/2006/ole">
            <mc:AlternateContent xmlns:mc="http://schemas.openxmlformats.org/markup-compatibility/2006">
              <mc:Choice xmlns:v="urn:schemas-microsoft-com:vml" Requires="v">
                <p:oleObj spid="_x0000_s3127" name="" r:id="rId14" imgW="76200" imgH="189865" progId="Equation.3">
                  <p:embed/>
                </p:oleObj>
              </mc:Choice>
              <mc:Fallback>
                <p:oleObj name="" r:id="rId14" imgW="76200" imgH="189865" progId="Equation.3">
                  <p:embed/>
                  <p:pic>
                    <p:nvPicPr>
                      <p:cNvPr id="0" name="图片 3126"/>
                      <p:cNvPicPr/>
                      <p:nvPr/>
                    </p:nvPicPr>
                    <p:blipFill>
                      <a:blip r:embed="rId4"/>
                      <a:stretch>
                        <a:fillRect/>
                      </a:stretch>
                    </p:blipFill>
                    <p:spPr>
                      <a:xfrm>
                        <a:off x="4419600" y="3657600"/>
                        <a:ext cx="182563" cy="457200"/>
                      </a:xfrm>
                      <a:prstGeom prst="rect">
                        <a:avLst/>
                      </a:prstGeom>
                      <a:noFill/>
                      <a:ln w="38100">
                        <a:noFill/>
                        <a:miter/>
                      </a:ln>
                    </p:spPr>
                  </p:pic>
                </p:oleObj>
              </mc:Fallback>
            </mc:AlternateContent>
          </a:graphicData>
        </a:graphic>
      </p:graphicFrame>
      <p:graphicFrame>
        <p:nvGraphicFramePr>
          <p:cNvPr id="17422" name="Object 188"/>
          <p:cNvGraphicFramePr/>
          <p:nvPr/>
        </p:nvGraphicFramePr>
        <p:xfrm>
          <a:off x="5715000" y="3657600"/>
          <a:ext cx="182563" cy="457200"/>
        </p:xfrm>
        <a:graphic>
          <a:graphicData uri="http://schemas.openxmlformats.org/presentationml/2006/ole">
            <mc:AlternateContent xmlns:mc="http://schemas.openxmlformats.org/markup-compatibility/2006">
              <mc:Choice xmlns:v="urn:schemas-microsoft-com:vml" Requires="v">
                <p:oleObj spid="_x0000_s3121" name="" r:id="rId15" imgW="76200" imgH="189865" progId="Equation.3">
                  <p:embed/>
                </p:oleObj>
              </mc:Choice>
              <mc:Fallback>
                <p:oleObj name="" r:id="rId15" imgW="76200" imgH="189865" progId="Equation.3">
                  <p:embed/>
                  <p:pic>
                    <p:nvPicPr>
                      <p:cNvPr id="0" name="图片 3120"/>
                      <p:cNvPicPr/>
                      <p:nvPr/>
                    </p:nvPicPr>
                    <p:blipFill>
                      <a:blip r:embed="rId4"/>
                      <a:stretch>
                        <a:fillRect/>
                      </a:stretch>
                    </p:blipFill>
                    <p:spPr>
                      <a:xfrm>
                        <a:off x="5715000" y="3657600"/>
                        <a:ext cx="182563" cy="457200"/>
                      </a:xfrm>
                      <a:prstGeom prst="rect">
                        <a:avLst/>
                      </a:prstGeom>
                      <a:noFill/>
                      <a:ln w="38100">
                        <a:noFill/>
                        <a:miter/>
                      </a:ln>
                    </p:spPr>
                  </p:pic>
                </p:oleObj>
              </mc:Fallback>
            </mc:AlternateContent>
          </a:graphicData>
        </a:graphic>
      </p:graphicFrame>
      <p:graphicFrame>
        <p:nvGraphicFramePr>
          <p:cNvPr id="17423" name="Object 189"/>
          <p:cNvGraphicFramePr/>
          <p:nvPr/>
        </p:nvGraphicFramePr>
        <p:xfrm>
          <a:off x="8153400" y="3657600"/>
          <a:ext cx="182563" cy="457200"/>
        </p:xfrm>
        <a:graphic>
          <a:graphicData uri="http://schemas.openxmlformats.org/presentationml/2006/ole">
            <mc:AlternateContent xmlns:mc="http://schemas.openxmlformats.org/markup-compatibility/2006">
              <mc:Choice xmlns:v="urn:schemas-microsoft-com:vml" Requires="v">
                <p:oleObj spid="_x0000_s3126" name="" r:id="rId16" imgW="76200" imgH="189865" progId="Equation.3">
                  <p:embed/>
                </p:oleObj>
              </mc:Choice>
              <mc:Fallback>
                <p:oleObj name="" r:id="rId16" imgW="76200" imgH="189865" progId="Equation.3">
                  <p:embed/>
                  <p:pic>
                    <p:nvPicPr>
                      <p:cNvPr id="0" name="图片 3125"/>
                      <p:cNvPicPr/>
                      <p:nvPr/>
                    </p:nvPicPr>
                    <p:blipFill>
                      <a:blip r:embed="rId4"/>
                      <a:stretch>
                        <a:fillRect/>
                      </a:stretch>
                    </p:blipFill>
                    <p:spPr>
                      <a:xfrm>
                        <a:off x="8153400" y="3657600"/>
                        <a:ext cx="182563" cy="457200"/>
                      </a:xfrm>
                      <a:prstGeom prst="rect">
                        <a:avLst/>
                      </a:prstGeom>
                      <a:noFill/>
                      <a:ln w="38100">
                        <a:noFill/>
                        <a:miter/>
                      </a:ln>
                    </p:spPr>
                  </p:pic>
                </p:oleObj>
              </mc:Fallback>
            </mc:AlternateContent>
          </a:graphicData>
        </a:graphic>
      </p:graphicFrame>
      <p:graphicFrame>
        <p:nvGraphicFramePr>
          <p:cNvPr id="17424" name="Object 190"/>
          <p:cNvGraphicFramePr/>
          <p:nvPr/>
        </p:nvGraphicFramePr>
        <p:xfrm>
          <a:off x="1981200" y="5486400"/>
          <a:ext cx="182563" cy="457200"/>
        </p:xfrm>
        <a:graphic>
          <a:graphicData uri="http://schemas.openxmlformats.org/presentationml/2006/ole">
            <mc:AlternateContent xmlns:mc="http://schemas.openxmlformats.org/markup-compatibility/2006">
              <mc:Choice xmlns:v="urn:schemas-microsoft-com:vml" Requires="v">
                <p:oleObj spid="_x0000_s3128" name="" r:id="rId17" imgW="76200" imgH="189865" progId="Equation.3">
                  <p:embed/>
                </p:oleObj>
              </mc:Choice>
              <mc:Fallback>
                <p:oleObj name="" r:id="rId17" imgW="76200" imgH="189865" progId="Equation.3">
                  <p:embed/>
                  <p:pic>
                    <p:nvPicPr>
                      <p:cNvPr id="0" name="图片 3127"/>
                      <p:cNvPicPr/>
                      <p:nvPr/>
                    </p:nvPicPr>
                    <p:blipFill>
                      <a:blip r:embed="rId4"/>
                      <a:stretch>
                        <a:fillRect/>
                      </a:stretch>
                    </p:blipFill>
                    <p:spPr>
                      <a:xfrm>
                        <a:off x="1981200" y="5486400"/>
                        <a:ext cx="182563" cy="457200"/>
                      </a:xfrm>
                      <a:prstGeom prst="rect">
                        <a:avLst/>
                      </a:prstGeom>
                      <a:noFill/>
                      <a:ln w="38100">
                        <a:noFill/>
                        <a:miter/>
                      </a:ln>
                    </p:spPr>
                  </p:pic>
                </p:oleObj>
              </mc:Fallback>
            </mc:AlternateContent>
          </a:graphicData>
        </a:graphic>
      </p:graphicFrame>
      <p:graphicFrame>
        <p:nvGraphicFramePr>
          <p:cNvPr id="17425" name="Object 191"/>
          <p:cNvGraphicFramePr/>
          <p:nvPr/>
        </p:nvGraphicFramePr>
        <p:xfrm>
          <a:off x="3276600" y="5486400"/>
          <a:ext cx="182563" cy="457200"/>
        </p:xfrm>
        <a:graphic>
          <a:graphicData uri="http://schemas.openxmlformats.org/presentationml/2006/ole">
            <mc:AlternateContent xmlns:mc="http://schemas.openxmlformats.org/markup-compatibility/2006">
              <mc:Choice xmlns:v="urn:schemas-microsoft-com:vml" Requires="v">
                <p:oleObj spid="_x0000_s3122" name="" r:id="rId18" imgW="76200" imgH="189865" progId="Equation.3">
                  <p:embed/>
                </p:oleObj>
              </mc:Choice>
              <mc:Fallback>
                <p:oleObj name="" r:id="rId18" imgW="76200" imgH="189865" progId="Equation.3">
                  <p:embed/>
                  <p:pic>
                    <p:nvPicPr>
                      <p:cNvPr id="0" name="图片 3121"/>
                      <p:cNvPicPr/>
                      <p:nvPr/>
                    </p:nvPicPr>
                    <p:blipFill>
                      <a:blip r:embed="rId4"/>
                      <a:stretch>
                        <a:fillRect/>
                      </a:stretch>
                    </p:blipFill>
                    <p:spPr>
                      <a:xfrm>
                        <a:off x="3276600" y="5486400"/>
                        <a:ext cx="182563" cy="457200"/>
                      </a:xfrm>
                      <a:prstGeom prst="rect">
                        <a:avLst/>
                      </a:prstGeom>
                      <a:noFill/>
                      <a:ln w="38100">
                        <a:noFill/>
                        <a:miter/>
                      </a:ln>
                    </p:spPr>
                  </p:pic>
                </p:oleObj>
              </mc:Fallback>
            </mc:AlternateContent>
          </a:graphicData>
        </a:graphic>
      </p:graphicFrame>
      <p:graphicFrame>
        <p:nvGraphicFramePr>
          <p:cNvPr id="17426" name="Object 192"/>
          <p:cNvGraphicFramePr/>
          <p:nvPr/>
        </p:nvGraphicFramePr>
        <p:xfrm>
          <a:off x="4495800" y="5486400"/>
          <a:ext cx="182563" cy="457200"/>
        </p:xfrm>
        <a:graphic>
          <a:graphicData uri="http://schemas.openxmlformats.org/presentationml/2006/ole">
            <mc:AlternateContent xmlns:mc="http://schemas.openxmlformats.org/markup-compatibility/2006">
              <mc:Choice xmlns:v="urn:schemas-microsoft-com:vml" Requires="v">
                <p:oleObj spid="_x0000_s3132" name="" r:id="rId19" imgW="76200" imgH="189865" progId="Equation.3">
                  <p:embed/>
                </p:oleObj>
              </mc:Choice>
              <mc:Fallback>
                <p:oleObj name="" r:id="rId19" imgW="76200" imgH="189865" progId="Equation.3">
                  <p:embed/>
                  <p:pic>
                    <p:nvPicPr>
                      <p:cNvPr id="0" name="图片 3131"/>
                      <p:cNvPicPr/>
                      <p:nvPr/>
                    </p:nvPicPr>
                    <p:blipFill>
                      <a:blip r:embed="rId4"/>
                      <a:stretch>
                        <a:fillRect/>
                      </a:stretch>
                    </p:blipFill>
                    <p:spPr>
                      <a:xfrm>
                        <a:off x="4495800" y="5486400"/>
                        <a:ext cx="182563" cy="457200"/>
                      </a:xfrm>
                      <a:prstGeom prst="rect">
                        <a:avLst/>
                      </a:prstGeom>
                      <a:noFill/>
                      <a:ln w="38100">
                        <a:noFill/>
                        <a:miter/>
                      </a:ln>
                    </p:spPr>
                  </p:pic>
                </p:oleObj>
              </mc:Fallback>
            </mc:AlternateContent>
          </a:graphicData>
        </a:graphic>
      </p:graphicFrame>
      <p:graphicFrame>
        <p:nvGraphicFramePr>
          <p:cNvPr id="17427" name="Object 193"/>
          <p:cNvGraphicFramePr/>
          <p:nvPr/>
        </p:nvGraphicFramePr>
        <p:xfrm>
          <a:off x="5715000" y="5486400"/>
          <a:ext cx="182563" cy="457200"/>
        </p:xfrm>
        <a:graphic>
          <a:graphicData uri="http://schemas.openxmlformats.org/presentationml/2006/ole">
            <mc:AlternateContent xmlns:mc="http://schemas.openxmlformats.org/markup-compatibility/2006">
              <mc:Choice xmlns:v="urn:schemas-microsoft-com:vml" Requires="v">
                <p:oleObj spid="_x0000_s3129" name="" r:id="rId20" imgW="76200" imgH="189865" progId="Equation.3">
                  <p:embed/>
                </p:oleObj>
              </mc:Choice>
              <mc:Fallback>
                <p:oleObj name="" r:id="rId20" imgW="76200" imgH="189865" progId="Equation.3">
                  <p:embed/>
                  <p:pic>
                    <p:nvPicPr>
                      <p:cNvPr id="0" name="图片 3128"/>
                      <p:cNvPicPr/>
                      <p:nvPr/>
                    </p:nvPicPr>
                    <p:blipFill>
                      <a:blip r:embed="rId4"/>
                      <a:stretch>
                        <a:fillRect/>
                      </a:stretch>
                    </p:blipFill>
                    <p:spPr>
                      <a:xfrm>
                        <a:off x="5715000" y="5486400"/>
                        <a:ext cx="182563" cy="457200"/>
                      </a:xfrm>
                      <a:prstGeom prst="rect">
                        <a:avLst/>
                      </a:prstGeom>
                      <a:noFill/>
                      <a:ln w="38100">
                        <a:noFill/>
                        <a:miter/>
                      </a:ln>
                    </p:spPr>
                  </p:pic>
                </p:oleObj>
              </mc:Fallback>
            </mc:AlternateContent>
          </a:graphicData>
        </a:graphic>
      </p:graphicFrame>
      <p:graphicFrame>
        <p:nvGraphicFramePr>
          <p:cNvPr id="17428" name="Object 194"/>
          <p:cNvGraphicFramePr/>
          <p:nvPr/>
        </p:nvGraphicFramePr>
        <p:xfrm>
          <a:off x="8229600" y="5486400"/>
          <a:ext cx="182563" cy="457200"/>
        </p:xfrm>
        <a:graphic>
          <a:graphicData uri="http://schemas.openxmlformats.org/presentationml/2006/ole">
            <mc:AlternateContent xmlns:mc="http://schemas.openxmlformats.org/markup-compatibility/2006">
              <mc:Choice xmlns:v="urn:schemas-microsoft-com:vml" Requires="v">
                <p:oleObj spid="_x0000_s3130" name="" r:id="rId21" imgW="76200" imgH="189865" progId="Equation.3">
                  <p:embed/>
                </p:oleObj>
              </mc:Choice>
              <mc:Fallback>
                <p:oleObj name="" r:id="rId21" imgW="76200" imgH="189865" progId="Equation.3">
                  <p:embed/>
                  <p:pic>
                    <p:nvPicPr>
                      <p:cNvPr id="0" name="图片 3129"/>
                      <p:cNvPicPr/>
                      <p:nvPr/>
                    </p:nvPicPr>
                    <p:blipFill>
                      <a:blip r:embed="rId4"/>
                      <a:stretch>
                        <a:fillRect/>
                      </a:stretch>
                    </p:blipFill>
                    <p:spPr>
                      <a:xfrm>
                        <a:off x="8229600" y="5486400"/>
                        <a:ext cx="182563" cy="457200"/>
                      </a:xfrm>
                      <a:prstGeom prst="rect">
                        <a:avLst/>
                      </a:prstGeom>
                      <a:noFill/>
                      <a:ln w="38100">
                        <a:noFill/>
                        <a:miter/>
                      </a:ln>
                    </p:spPr>
                  </p:pic>
                </p:oleObj>
              </mc:Fallback>
            </mc:AlternateContent>
          </a:graphicData>
        </a:graphic>
      </p:graphicFrame>
      <p:sp>
        <p:nvSpPr>
          <p:cNvPr id="17514" name="Rectangle 202"/>
          <p:cNvSpPr>
            <a:spLocks noGrp="1"/>
          </p:cNvSpPr>
          <p:nvPr>
            <p:ph type="ctrTitle"/>
          </p:nvPr>
        </p:nvSpPr>
        <p:spPr>
          <a:xfrm>
            <a:off x="685800" y="381000"/>
            <a:ext cx="7772400" cy="685800"/>
          </a:xfrm>
          <a:noFill/>
          <a:ln>
            <a:noFill/>
          </a:ln>
        </p:spPr>
        <p:txBody>
          <a:bodyPr/>
          <a:p>
            <a:pPr algn="l" eaLnBrk="1" hangingPunct="1">
              <a:buClrTx/>
              <a:buSzTx/>
              <a:buFontTx/>
            </a:pPr>
            <a:r>
              <a:rPr lang="zh-CN" altLang="en-US" sz="3600" b="1" dirty="0">
                <a:solidFill>
                  <a:srgbClr val="800080"/>
                </a:solidFill>
                <a:ea typeface="楷体_GB2312" pitchFamily="49" charset="-122"/>
              </a:rPr>
              <a:t>四、目标规划的单纯形法</a:t>
            </a:r>
            <a:endParaRPr lang="zh-CN" altLang="en-US" sz="3600" b="1" dirty="0">
              <a:solidFill>
                <a:srgbClr val="800080"/>
              </a:solidFill>
              <a:ea typeface="楷体_GB2312" pitchFamily="49" charset="-122"/>
            </a:endParaRPr>
          </a:p>
        </p:txBody>
      </p:sp>
      <p:sp>
        <p:nvSpPr>
          <p:cNvPr id="17515" name="Rectangle 203"/>
          <p:cNvSpPr>
            <a:spLocks noGrp="1"/>
          </p:cNvSpPr>
          <p:nvPr>
            <p:ph type="subTitle" idx="1"/>
          </p:nvPr>
        </p:nvSpPr>
        <p:spPr>
          <a:xfrm>
            <a:off x="609600" y="1066800"/>
            <a:ext cx="6400800" cy="762000"/>
          </a:xfrm>
          <a:noFill/>
          <a:ln>
            <a:noFill/>
          </a:ln>
        </p:spPr>
        <p:txBody>
          <a:bodyPr/>
          <a:p>
            <a:pPr algn="l" eaLnBrk="1" hangingPunct="1">
              <a:buClrTx/>
              <a:buSzTx/>
              <a:buFontTx/>
            </a:pPr>
            <a:r>
              <a:rPr kumimoji="1" lang="zh-CN" altLang="en-US" b="1" dirty="0">
                <a:solidFill>
                  <a:srgbClr val="0000FF"/>
                </a:solidFill>
                <a:latin typeface="楷体_GB2312" pitchFamily="49" charset="-122"/>
                <a:ea typeface="楷体_GB2312" pitchFamily="49" charset="-122"/>
                <a:cs typeface="+mn-cs"/>
              </a:rPr>
              <a:t>（一）、一般形式：</a:t>
            </a:r>
            <a:endParaRPr kumimoji="1" lang="zh-CN" altLang="en-US" b="1" dirty="0">
              <a:solidFill>
                <a:srgbClr val="0000FF"/>
              </a:solidFill>
              <a:latin typeface="楷体_GB2312" pitchFamily="49" charset="-122"/>
              <a:ea typeface="楷体_GB2312" pitchFamily="49" charset="-122"/>
              <a:cs typeface="+mn-cs"/>
            </a:endParaRPr>
          </a:p>
        </p:txBody>
      </p:sp>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6" name="Text Box 4"/>
          <p:cNvSpPr txBox="1"/>
          <p:nvPr/>
        </p:nvSpPr>
        <p:spPr>
          <a:xfrm>
            <a:off x="228600" y="1295400"/>
            <a:ext cx="8686800" cy="2014538"/>
          </a:xfrm>
          <a:prstGeom prst="rect">
            <a:avLst/>
          </a:prstGeom>
          <a:noFill/>
          <a:ln w="9525">
            <a:noFill/>
          </a:ln>
        </p:spPr>
        <p:txBody>
          <a:bodyPr>
            <a:spAutoFit/>
          </a:bodyPr>
          <a:p>
            <a:pPr>
              <a:spcBef>
                <a:spcPct val="50000"/>
              </a:spcBef>
            </a:pPr>
            <a:r>
              <a:rPr lang="en-US" altLang="zh-CN" sz="2800" b="1" dirty="0">
                <a:solidFill>
                  <a:srgbClr val="0000FF"/>
                </a:solidFill>
                <a:latin typeface="楷体_GB2312" pitchFamily="49" charset="-122"/>
              </a:rPr>
              <a:t>   1</a:t>
            </a:r>
            <a:r>
              <a:rPr lang="zh-CN" altLang="en-US" sz="2800" b="1" dirty="0">
                <a:solidFill>
                  <a:srgbClr val="0000FF"/>
                </a:solidFill>
                <a:latin typeface="楷体_GB2312" pitchFamily="49" charset="-122"/>
              </a:rPr>
              <a:t>、建立初始单纯形表。 </a:t>
            </a:r>
            <a:endParaRPr lang="zh-CN" altLang="en-US" sz="2800" b="1" dirty="0">
              <a:solidFill>
                <a:srgbClr val="0000FF"/>
              </a:solidFill>
              <a:latin typeface="楷体_GB2312" pitchFamily="49" charset="-122"/>
            </a:endParaRPr>
          </a:p>
          <a:p>
            <a:pPr>
              <a:spcBef>
                <a:spcPct val="50000"/>
              </a:spcBef>
            </a:pPr>
            <a:r>
              <a:rPr lang="zh-CN" altLang="en-US" sz="2800" b="1" dirty="0">
                <a:solidFill>
                  <a:srgbClr val="0000FF"/>
                </a:solidFill>
                <a:latin typeface="楷体_GB2312" pitchFamily="49" charset="-122"/>
              </a:rPr>
              <a:t>   一般假定初始解在原点，即以约束条件中的所有负偏差变量或松弛变量为初始基变量，按目标优先等级从左至右分别计算出各列的检验数，填入表的下半部 。</a:t>
            </a:r>
            <a:endParaRPr lang="zh-CN" altLang="en-US" sz="2800" b="1" dirty="0">
              <a:solidFill>
                <a:srgbClr val="0000FF"/>
              </a:solidFill>
              <a:latin typeface="楷体_GB2312" pitchFamily="49" charset="-122"/>
            </a:endParaRPr>
          </a:p>
        </p:txBody>
      </p:sp>
      <p:sp>
        <p:nvSpPr>
          <p:cNvPr id="28677" name="Text Box 5"/>
          <p:cNvSpPr txBox="1"/>
          <p:nvPr/>
        </p:nvSpPr>
        <p:spPr>
          <a:xfrm>
            <a:off x="228600" y="3581400"/>
            <a:ext cx="8686800" cy="2227263"/>
          </a:xfrm>
          <a:prstGeom prst="rect">
            <a:avLst/>
          </a:prstGeom>
          <a:noFill/>
          <a:ln w="9525">
            <a:noFill/>
          </a:ln>
        </p:spPr>
        <p:txBody>
          <a:bodyPr>
            <a:spAutoFit/>
          </a:bodyPr>
          <a:p>
            <a:r>
              <a:rPr lang="en-US" altLang="zh-CN" sz="2800" b="1" dirty="0">
                <a:solidFill>
                  <a:srgbClr val="0000FF"/>
                </a:solidFill>
                <a:latin typeface="楷体_GB2312" pitchFamily="49" charset="-122"/>
              </a:rPr>
              <a:t>   2</a:t>
            </a:r>
            <a:r>
              <a:rPr lang="zh-CN" altLang="en-US" sz="2800" b="1" dirty="0">
                <a:solidFill>
                  <a:srgbClr val="0000FF"/>
                </a:solidFill>
                <a:latin typeface="楷体_GB2312" pitchFamily="49" charset="-122"/>
              </a:rPr>
              <a:t>、检验是否为满意解。判别准则如下：</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⑴</a:t>
            </a:r>
            <a:r>
              <a:rPr lang="en-US" altLang="zh-CN" sz="2800" b="1" dirty="0">
                <a:solidFill>
                  <a:srgbClr val="0000FF"/>
                </a:solidFill>
                <a:latin typeface="楷体_GB2312" pitchFamily="49" charset="-122"/>
              </a:rPr>
              <a:t>.</a:t>
            </a:r>
            <a:r>
              <a:rPr lang="zh-CN" altLang="en-US" sz="2800" b="1" dirty="0">
                <a:solidFill>
                  <a:srgbClr val="0000FF"/>
                </a:solidFill>
                <a:latin typeface="楷体_GB2312" pitchFamily="49" charset="-122"/>
              </a:rPr>
              <a:t>首先检查</a:t>
            </a:r>
            <a:r>
              <a:rPr lang="en-US" altLang="zh-CN" sz="2800" b="1" i="1" dirty="0">
                <a:solidFill>
                  <a:srgbClr val="0000FF"/>
                </a:solidFill>
                <a:latin typeface="Times New Roman" panose="02020603050405020304" pitchFamily="18" charset="0"/>
              </a:rPr>
              <a:t>α</a:t>
            </a:r>
            <a:r>
              <a:rPr lang="en-US" altLang="zh-CN" sz="2800" b="1" i="1" baseline="-30000" dirty="0">
                <a:solidFill>
                  <a:srgbClr val="0000FF"/>
                </a:solidFill>
                <a:latin typeface="Times New Roman" panose="02020603050405020304" pitchFamily="18" charset="0"/>
              </a:rPr>
              <a:t>k</a:t>
            </a:r>
            <a:r>
              <a:rPr lang="en-US" altLang="zh-CN" sz="2800" b="1" baseline="-30000"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a:t>
            </a:r>
            <a:r>
              <a:rPr lang="en-US" altLang="zh-CN" sz="2800" b="1" i="1" dirty="0">
                <a:solidFill>
                  <a:srgbClr val="0000FF"/>
                </a:solidFill>
                <a:latin typeface="Times New Roman" panose="02020603050405020304" pitchFamily="18" charset="0"/>
              </a:rPr>
              <a:t>k</a:t>
            </a:r>
            <a:r>
              <a:rPr lang="en-US" altLang="zh-CN" sz="2800" b="1" dirty="0">
                <a:solidFill>
                  <a:srgbClr val="0000FF"/>
                </a:solidFill>
                <a:latin typeface="Times New Roman" panose="02020603050405020304" pitchFamily="18" charset="0"/>
              </a:rPr>
              <a:t>=1.2…</a:t>
            </a:r>
            <a:r>
              <a:rPr lang="en-US" altLang="zh-CN" sz="2800" b="1" i="1" dirty="0">
                <a:solidFill>
                  <a:srgbClr val="0000FF"/>
                </a:solidFill>
                <a:latin typeface="Times New Roman" panose="02020603050405020304" pitchFamily="18" charset="0"/>
              </a:rPr>
              <a:t>K</a:t>
            </a:r>
            <a:r>
              <a:rPr lang="en-US" altLang="zh-CN" sz="2800" b="1" dirty="0">
                <a:solidFill>
                  <a:srgbClr val="0000FF"/>
                </a:solidFill>
                <a:latin typeface="Times New Roman" panose="02020603050405020304" pitchFamily="18" charset="0"/>
              </a:rPr>
              <a:t>)</a:t>
            </a:r>
            <a:r>
              <a:rPr lang="zh-CN" altLang="en-US" sz="2800" b="1" dirty="0">
                <a:solidFill>
                  <a:srgbClr val="0000FF"/>
                </a:solidFill>
                <a:latin typeface="楷体_GB2312" pitchFamily="49" charset="-122"/>
              </a:rPr>
              <a:t>是否全部为零？如果全部为零，则表示目标均已全部达到，获得满意解，停止计算转到第</a:t>
            </a:r>
            <a:r>
              <a:rPr lang="en-US" altLang="zh-CN" sz="2800" b="1" dirty="0">
                <a:solidFill>
                  <a:srgbClr val="0000FF"/>
                </a:solidFill>
                <a:latin typeface="楷体_GB2312" pitchFamily="49" charset="-122"/>
              </a:rPr>
              <a:t>6</a:t>
            </a:r>
            <a:r>
              <a:rPr lang="zh-CN" altLang="en-US" sz="2800" b="1" dirty="0">
                <a:solidFill>
                  <a:srgbClr val="0000FF"/>
                </a:solidFill>
                <a:latin typeface="楷体_GB2312" pitchFamily="49" charset="-122"/>
              </a:rPr>
              <a:t>步；否则转入⑵。</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a:t>
            </a:r>
            <a:endParaRPr lang="zh-CN" altLang="en-US" sz="2800" b="1" dirty="0">
              <a:solidFill>
                <a:srgbClr val="0000FF"/>
              </a:solidFill>
              <a:latin typeface="楷体_GB2312" pitchFamily="49" charset="-122"/>
            </a:endParaRPr>
          </a:p>
        </p:txBody>
      </p:sp>
      <p:sp>
        <p:nvSpPr>
          <p:cNvPr id="46084" name="Rectangle 6"/>
          <p:cNvSpPr>
            <a:spLocks noGrp="1"/>
          </p:cNvSpPr>
          <p:nvPr>
            <p:ph type="ctrTitle"/>
          </p:nvPr>
        </p:nvSpPr>
        <p:spPr>
          <a:xfrm>
            <a:off x="685800" y="533400"/>
            <a:ext cx="7772400" cy="685800"/>
          </a:xfrm>
          <a:noFill/>
          <a:ln>
            <a:noFill/>
          </a:ln>
        </p:spPr>
        <p:txBody>
          <a:bodyPr/>
          <a:p>
            <a:pPr algn="l" eaLnBrk="1" hangingPunct="1">
              <a:buClrTx/>
              <a:buSzTx/>
              <a:buFontTx/>
            </a:pPr>
            <a:r>
              <a:rPr lang="zh-CN" altLang="en-US" sz="3200" b="1" dirty="0">
                <a:solidFill>
                  <a:srgbClr val="0000FF"/>
                </a:solidFill>
                <a:latin typeface="楷体_GB2312" pitchFamily="49" charset="-122"/>
                <a:ea typeface="楷体_GB2312" pitchFamily="49" charset="-122"/>
              </a:rPr>
              <a:t>（二）、单纯形法的计算步骤</a:t>
            </a:r>
            <a:endParaRPr lang="zh-CN" altLang="en-US" sz="3200" b="1" dirty="0">
              <a:solidFill>
                <a:srgbClr val="0000FF"/>
              </a:solidFill>
              <a:latin typeface="楷体_GB2312" pitchFamily="49" charset="-122"/>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blinds(horizontal)">
                                      <p:cBhvr>
                                        <p:cTn id="7" dur="500"/>
                                        <p:tgtEl>
                                          <p:spTgt spid="2867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28677"/>
                                        </p:tgtEl>
                                        <p:attrNameLst>
                                          <p:attrName>style.visibility</p:attrName>
                                        </p:attrNameLst>
                                      </p:cBhvr>
                                      <p:to>
                                        <p:strVal val="visible"/>
                                      </p:to>
                                    </p:set>
                                    <p:animEffect transition="in" filter="randombar(vertical)">
                                      <p:cBhvr>
                                        <p:cTn id="12"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P spid="2867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9" name="Rectangle 3"/>
          <p:cNvSpPr/>
          <p:nvPr/>
        </p:nvSpPr>
        <p:spPr>
          <a:xfrm>
            <a:off x="228600" y="287338"/>
            <a:ext cx="8686800" cy="3081337"/>
          </a:xfrm>
          <a:prstGeom prst="rect">
            <a:avLst/>
          </a:prstGeom>
          <a:noFill/>
          <a:ln w="9525">
            <a:noFill/>
          </a:ln>
        </p:spPr>
        <p:txBody>
          <a:bodyPr>
            <a:spAutoFit/>
          </a:bodyPr>
          <a:p>
            <a:pPr>
              <a:spcBef>
                <a:spcPct val="50000"/>
              </a:spcBef>
            </a:pPr>
            <a:r>
              <a:rPr lang="en-US" altLang="zh-CN" sz="2800" b="1" dirty="0">
                <a:solidFill>
                  <a:srgbClr val="0000FF"/>
                </a:solidFill>
                <a:latin typeface="楷体_GB2312" pitchFamily="49" charset="-122"/>
              </a:rPr>
              <a:t>   ⑵.</a:t>
            </a:r>
            <a:r>
              <a:rPr lang="zh-CN" altLang="en-US" sz="2800" b="1" dirty="0">
                <a:solidFill>
                  <a:srgbClr val="0000FF"/>
                </a:solidFill>
                <a:latin typeface="楷体_GB2312" pitchFamily="49" charset="-122"/>
              </a:rPr>
              <a:t>如果某一个</a:t>
            </a:r>
            <a:r>
              <a:rPr lang="en-US" altLang="zh-CN" sz="2800" b="1" i="1" dirty="0">
                <a:solidFill>
                  <a:srgbClr val="0000FF"/>
                </a:solidFill>
                <a:latin typeface="Times New Roman" panose="02020603050405020304" pitchFamily="18" charset="0"/>
              </a:rPr>
              <a:t>α</a:t>
            </a:r>
            <a:r>
              <a:rPr lang="en-US" altLang="zh-CN" sz="2800" b="1" i="1" baseline="-30000" dirty="0">
                <a:solidFill>
                  <a:srgbClr val="0000FF"/>
                </a:solidFill>
                <a:latin typeface="Times New Roman" panose="02020603050405020304" pitchFamily="18" charset="0"/>
              </a:rPr>
              <a:t>k</a:t>
            </a:r>
            <a:r>
              <a:rPr lang="en-US" altLang="zh-CN" sz="2800" b="1" baseline="-30000" dirty="0">
                <a:solidFill>
                  <a:srgbClr val="0000FF"/>
                </a:solidFill>
                <a:latin typeface="Times New Roman" panose="02020603050405020304" pitchFamily="18" charset="0"/>
              </a:rPr>
              <a:t> </a:t>
            </a:r>
            <a:r>
              <a:rPr lang="en-US" altLang="zh-CN" sz="2800" b="1" dirty="0">
                <a:solidFill>
                  <a:srgbClr val="0000FF"/>
                </a:solidFill>
                <a:latin typeface="Times New Roman" panose="02020603050405020304" pitchFamily="18" charset="0"/>
              </a:rPr>
              <a:t>&gt;0</a:t>
            </a:r>
            <a:r>
              <a:rPr lang="zh-CN" altLang="en-US" sz="2800" b="1" dirty="0">
                <a:solidFill>
                  <a:srgbClr val="0000FF"/>
                </a:solidFill>
                <a:latin typeface="楷体_GB2312" pitchFamily="49" charset="-122"/>
              </a:rPr>
              <a:t>。说明第</a:t>
            </a:r>
            <a:r>
              <a:rPr lang="en-US" altLang="zh-CN" sz="2800" b="1" dirty="0">
                <a:solidFill>
                  <a:srgbClr val="0000FF"/>
                </a:solidFill>
                <a:latin typeface="楷体_GB2312" pitchFamily="49" charset="-122"/>
              </a:rPr>
              <a:t>k</a:t>
            </a:r>
            <a:r>
              <a:rPr lang="zh-CN" altLang="en-US" sz="2800" b="1" dirty="0">
                <a:solidFill>
                  <a:srgbClr val="0000FF"/>
                </a:solidFill>
                <a:latin typeface="楷体_GB2312" pitchFamily="49" charset="-122"/>
              </a:rPr>
              <a:t>个优先等级的目标尚未达到</a:t>
            </a:r>
            <a:r>
              <a:rPr lang="en-US" altLang="zh-CN" sz="2800" b="1" dirty="0">
                <a:solidFill>
                  <a:srgbClr val="0000FF"/>
                </a:solidFill>
                <a:latin typeface="楷体_GB2312" pitchFamily="49" charset="-122"/>
              </a:rPr>
              <a:t>,</a:t>
            </a:r>
            <a:r>
              <a:rPr lang="zh-CN" altLang="en-US" sz="2800" b="1" dirty="0">
                <a:solidFill>
                  <a:srgbClr val="0000FF"/>
                </a:solidFill>
                <a:latin typeface="楷体_GB2312" pitchFamily="49" charset="-122"/>
              </a:rPr>
              <a:t>必须检查</a:t>
            </a:r>
            <a:r>
              <a:rPr lang="en-US" altLang="zh-CN" sz="2800" b="1" i="1" dirty="0">
                <a:solidFill>
                  <a:srgbClr val="0000FF"/>
                </a:solidFill>
                <a:latin typeface="Times New Roman" panose="02020603050405020304" pitchFamily="18" charset="0"/>
              </a:rPr>
              <a:t>P</a:t>
            </a:r>
            <a:r>
              <a:rPr lang="en-US" altLang="zh-CN" sz="2800" b="1" i="1" baseline="-30000" dirty="0">
                <a:solidFill>
                  <a:srgbClr val="0000FF"/>
                </a:solidFill>
                <a:latin typeface="Times New Roman" panose="02020603050405020304" pitchFamily="18" charset="0"/>
              </a:rPr>
              <a:t>k</a:t>
            </a:r>
            <a:r>
              <a:rPr lang="zh-CN" altLang="en-US" sz="2800" b="1" dirty="0">
                <a:solidFill>
                  <a:srgbClr val="0000FF"/>
                </a:solidFill>
                <a:latin typeface="楷体_GB2312" pitchFamily="49" charset="-122"/>
              </a:rPr>
              <a:t>这一的检验数</a:t>
            </a:r>
            <a:r>
              <a:rPr lang="en-US" altLang="zh-CN" sz="2800" b="1" i="1" dirty="0">
                <a:solidFill>
                  <a:srgbClr val="0000FF"/>
                </a:solidFill>
                <a:latin typeface="Times New Roman" panose="02020603050405020304" pitchFamily="18" charset="0"/>
              </a:rPr>
              <a:t>σ</a:t>
            </a:r>
            <a:r>
              <a:rPr lang="en-US" altLang="zh-CN" sz="2800" b="1" i="1" baseline="-30000" dirty="0">
                <a:solidFill>
                  <a:srgbClr val="0000FF"/>
                </a:solidFill>
                <a:latin typeface="Times New Roman" panose="02020603050405020304" pitchFamily="18" charset="0"/>
              </a:rPr>
              <a:t>kj</a:t>
            </a:r>
            <a:r>
              <a:rPr lang="en-US" altLang="zh-CN" sz="2800" b="1" dirty="0">
                <a:solidFill>
                  <a:srgbClr val="0000FF"/>
                </a:solidFill>
                <a:latin typeface="楷体_GB2312" pitchFamily="49" charset="-122"/>
              </a:rPr>
              <a:t>(j=1.2</a:t>
            </a:r>
            <a:r>
              <a:rPr lang="en-US" altLang="zh-CN" sz="2800" b="1" dirty="0">
                <a:solidFill>
                  <a:srgbClr val="0000FF"/>
                </a:solidFill>
                <a:latin typeface="Times New Roman" panose="02020603050405020304" pitchFamily="18" charset="0"/>
              </a:rPr>
              <a:t>…</a:t>
            </a:r>
            <a:r>
              <a:rPr lang="en-US" altLang="zh-CN" sz="2800" b="1" dirty="0">
                <a:solidFill>
                  <a:srgbClr val="0000FF"/>
                </a:solidFill>
                <a:latin typeface="楷体_GB2312" pitchFamily="49" charset="-122"/>
              </a:rPr>
              <a:t>n+2m).</a:t>
            </a:r>
            <a:r>
              <a:rPr lang="zh-CN" altLang="en-US" sz="2800" b="1" dirty="0">
                <a:solidFill>
                  <a:srgbClr val="0000FF"/>
                </a:solidFill>
                <a:latin typeface="楷体_GB2312" pitchFamily="49" charset="-122"/>
              </a:rPr>
              <a:t>若</a:t>
            </a:r>
            <a:r>
              <a:rPr lang="en-US" altLang="zh-CN" sz="2800" b="1" dirty="0">
                <a:solidFill>
                  <a:srgbClr val="0000FF"/>
                </a:solidFill>
                <a:latin typeface="Times New Roman" panose="02020603050405020304" pitchFamily="18" charset="0"/>
              </a:rPr>
              <a:t>P</a:t>
            </a:r>
            <a:r>
              <a:rPr lang="en-US" altLang="zh-CN" sz="2800" b="1" baseline="-30000" dirty="0">
                <a:solidFill>
                  <a:srgbClr val="0000FF"/>
                </a:solidFill>
                <a:latin typeface="Times New Roman" panose="02020603050405020304" pitchFamily="18" charset="0"/>
              </a:rPr>
              <a:t>k</a:t>
            </a:r>
            <a:r>
              <a:rPr lang="zh-CN" altLang="en-US" sz="2800" b="1" dirty="0">
                <a:solidFill>
                  <a:srgbClr val="0000FF"/>
                </a:solidFill>
                <a:latin typeface="楷体_GB2312" pitchFamily="49" charset="-122"/>
              </a:rPr>
              <a:t>这一行某些负检验数的同列上面（较高优先等级）没有正检验数，说明未得到满意解，应继续改进，转到第</a:t>
            </a:r>
            <a:r>
              <a:rPr lang="en-US" altLang="zh-CN" sz="2800" b="1" dirty="0">
                <a:solidFill>
                  <a:srgbClr val="0000FF"/>
                </a:solidFill>
                <a:latin typeface="楷体_GB2312" pitchFamily="49" charset="-122"/>
              </a:rPr>
              <a:t>3</a:t>
            </a:r>
            <a:r>
              <a:rPr lang="zh-CN" altLang="en-US" sz="2800" b="1" dirty="0">
                <a:solidFill>
                  <a:srgbClr val="0000FF"/>
                </a:solidFill>
                <a:latin typeface="楷体_GB2312" pitchFamily="49" charset="-122"/>
              </a:rPr>
              <a:t>步；若</a:t>
            </a:r>
            <a:r>
              <a:rPr lang="en-US" altLang="zh-CN" sz="2800" b="1" i="1" dirty="0">
                <a:solidFill>
                  <a:srgbClr val="0000FF"/>
                </a:solidFill>
                <a:latin typeface="Times New Roman" panose="02020603050405020304" pitchFamily="18" charset="0"/>
              </a:rPr>
              <a:t>P</a:t>
            </a:r>
            <a:r>
              <a:rPr lang="en-US" altLang="zh-CN" sz="2800" b="1" i="1" baseline="-30000" dirty="0">
                <a:solidFill>
                  <a:srgbClr val="0000FF"/>
                </a:solidFill>
                <a:latin typeface="Times New Roman" panose="02020603050405020304" pitchFamily="18" charset="0"/>
              </a:rPr>
              <a:t>k</a:t>
            </a:r>
            <a:r>
              <a:rPr lang="zh-CN" altLang="en-US" sz="2800" b="1" dirty="0">
                <a:solidFill>
                  <a:srgbClr val="0000FF"/>
                </a:solidFill>
                <a:latin typeface="楷体_GB2312" pitchFamily="49" charset="-122"/>
              </a:rPr>
              <a:t>这一行全部负检验数的同列上面（较高优先等级）都有正检验数，说明目标虽没达到，但已不能改进，故得满意解，转到第</a:t>
            </a:r>
            <a:r>
              <a:rPr lang="en-US" altLang="zh-CN" sz="2800" b="1" dirty="0">
                <a:solidFill>
                  <a:srgbClr val="0000FF"/>
                </a:solidFill>
                <a:latin typeface="楷体_GB2312" pitchFamily="49" charset="-122"/>
              </a:rPr>
              <a:t>6</a:t>
            </a:r>
            <a:r>
              <a:rPr lang="zh-CN" altLang="en-US" sz="2800" b="1" dirty="0">
                <a:solidFill>
                  <a:srgbClr val="0000FF"/>
                </a:solidFill>
                <a:latin typeface="楷体_GB2312" pitchFamily="49" charset="-122"/>
              </a:rPr>
              <a:t>步。</a:t>
            </a:r>
            <a:endParaRPr lang="zh-CN" altLang="en-US" sz="2800" b="1" dirty="0">
              <a:solidFill>
                <a:srgbClr val="0000FF"/>
              </a:solidFill>
              <a:latin typeface="楷体_GB2312" pitchFamily="49" charset="-122"/>
            </a:endParaRPr>
          </a:p>
        </p:txBody>
      </p:sp>
      <p:sp>
        <p:nvSpPr>
          <p:cNvPr id="29701" name="Text Box 5"/>
          <p:cNvSpPr txBox="1"/>
          <p:nvPr/>
        </p:nvSpPr>
        <p:spPr>
          <a:xfrm>
            <a:off x="228600" y="3429000"/>
            <a:ext cx="8686800" cy="3295650"/>
          </a:xfrm>
          <a:prstGeom prst="rect">
            <a:avLst/>
          </a:prstGeom>
          <a:noFill/>
          <a:ln w="9525">
            <a:noFill/>
          </a:ln>
        </p:spPr>
        <p:txBody>
          <a:bodyPr>
            <a:spAutoFit/>
          </a:bodyPr>
          <a:p>
            <a:pPr>
              <a:spcBef>
                <a:spcPct val="50000"/>
              </a:spcBef>
            </a:pPr>
            <a:r>
              <a:rPr lang="en-US" altLang="zh-CN" sz="2800" b="1" dirty="0">
                <a:solidFill>
                  <a:srgbClr val="0000FF"/>
                </a:solidFill>
                <a:latin typeface="楷体_GB2312" pitchFamily="49" charset="-122"/>
              </a:rPr>
              <a:t>   3</a:t>
            </a:r>
            <a:r>
              <a:rPr lang="zh-CN" altLang="en-US" sz="2800" b="1" dirty="0">
                <a:solidFill>
                  <a:srgbClr val="0000FF"/>
                </a:solidFill>
                <a:latin typeface="楷体_GB2312" pitchFamily="49" charset="-122"/>
              </a:rPr>
              <a:t>、确定进基变量。</a:t>
            </a:r>
            <a:endParaRPr lang="zh-CN" altLang="en-US" sz="2800" b="1" dirty="0">
              <a:solidFill>
                <a:srgbClr val="0000FF"/>
              </a:solidFill>
              <a:latin typeface="楷体_GB2312" pitchFamily="49" charset="-122"/>
            </a:endParaRPr>
          </a:p>
          <a:p>
            <a:pPr>
              <a:spcBef>
                <a:spcPct val="50000"/>
              </a:spcBef>
            </a:pPr>
            <a:r>
              <a:rPr lang="zh-CN" altLang="en-US" sz="2800" b="1" dirty="0">
                <a:solidFill>
                  <a:srgbClr val="0000FF"/>
                </a:solidFill>
                <a:latin typeface="楷体_GB2312" pitchFamily="49" charset="-122"/>
              </a:rPr>
              <a:t>   在</a:t>
            </a:r>
            <a:r>
              <a:rPr lang="en-US" altLang="zh-CN" sz="2800" b="1" i="1" dirty="0">
                <a:solidFill>
                  <a:srgbClr val="0000FF"/>
                </a:solidFill>
                <a:latin typeface="Times New Roman" panose="02020603050405020304" pitchFamily="18" charset="0"/>
              </a:rPr>
              <a:t>P</a:t>
            </a:r>
            <a:r>
              <a:rPr lang="en-US" altLang="zh-CN" sz="2800" b="1" i="1" baseline="-30000" dirty="0">
                <a:solidFill>
                  <a:srgbClr val="0000FF"/>
                </a:solidFill>
                <a:latin typeface="Times New Roman" panose="02020603050405020304" pitchFamily="18" charset="0"/>
              </a:rPr>
              <a:t>k</a:t>
            </a:r>
            <a:r>
              <a:rPr lang="zh-CN" altLang="en-US" sz="2800" b="1" dirty="0">
                <a:solidFill>
                  <a:srgbClr val="0000FF"/>
                </a:solidFill>
                <a:latin typeface="楷体_GB2312" pitchFamily="49" charset="-122"/>
              </a:rPr>
              <a:t>行，从那些上面没有正检验数的负检验数中，选绝对值最大者，对应的变量</a:t>
            </a:r>
            <a:r>
              <a:rPr lang="en-US" altLang="zh-CN" sz="2800" b="1" i="1" dirty="0">
                <a:solidFill>
                  <a:srgbClr val="0000FF"/>
                </a:solidFill>
                <a:latin typeface="Times New Roman" panose="02020603050405020304" pitchFamily="18" charset="0"/>
              </a:rPr>
              <a:t>x</a:t>
            </a:r>
            <a:r>
              <a:rPr lang="en-US" altLang="zh-CN" sz="2800" b="1" i="1" baseline="-30000" dirty="0">
                <a:solidFill>
                  <a:srgbClr val="0000FF"/>
                </a:solidFill>
                <a:latin typeface="Times New Roman" panose="02020603050405020304" pitchFamily="18" charset="0"/>
              </a:rPr>
              <a:t>s</a:t>
            </a:r>
            <a:r>
              <a:rPr lang="zh-CN" altLang="en-US" sz="2800" b="1" dirty="0">
                <a:solidFill>
                  <a:srgbClr val="0000FF"/>
                </a:solidFill>
                <a:latin typeface="楷体_GB2312" pitchFamily="49" charset="-122"/>
              </a:rPr>
              <a:t>就是进基变量。若</a:t>
            </a:r>
            <a:r>
              <a:rPr lang="en-US" altLang="zh-CN" sz="2800" b="1" i="1" dirty="0">
                <a:solidFill>
                  <a:srgbClr val="0000FF"/>
                </a:solidFill>
                <a:latin typeface="Times New Roman" panose="02020603050405020304" pitchFamily="18" charset="0"/>
              </a:rPr>
              <a:t>P</a:t>
            </a:r>
            <a:r>
              <a:rPr lang="en-US" altLang="zh-CN" sz="2800" b="1" i="1" baseline="-30000" dirty="0">
                <a:solidFill>
                  <a:srgbClr val="0000FF"/>
                </a:solidFill>
                <a:latin typeface="Times New Roman" panose="02020603050405020304" pitchFamily="18" charset="0"/>
              </a:rPr>
              <a:t>k</a:t>
            </a:r>
            <a:r>
              <a:rPr lang="zh-CN" altLang="en-US" sz="2800" b="1" dirty="0">
                <a:solidFill>
                  <a:srgbClr val="0000FF"/>
                </a:solidFill>
                <a:latin typeface="楷体_GB2312" pitchFamily="49" charset="-122"/>
              </a:rPr>
              <a:t>行中有几个相同的绝对值最大者，则依次比较它们各列下部的检验数，取其绝对值最大的负检验数的所在列的</a:t>
            </a:r>
            <a:r>
              <a:rPr lang="en-US" altLang="zh-CN" sz="2800" b="1" i="1" dirty="0">
                <a:solidFill>
                  <a:srgbClr val="0000FF"/>
                </a:solidFill>
                <a:latin typeface="Times New Roman" panose="02020603050405020304" pitchFamily="18" charset="0"/>
              </a:rPr>
              <a:t>x</a:t>
            </a:r>
            <a:r>
              <a:rPr lang="en-US" altLang="zh-CN" sz="2800" b="1" i="1" baseline="-30000" dirty="0">
                <a:solidFill>
                  <a:srgbClr val="0000FF"/>
                </a:solidFill>
                <a:latin typeface="Times New Roman" panose="02020603050405020304" pitchFamily="18" charset="0"/>
              </a:rPr>
              <a:t>s</a:t>
            </a:r>
            <a:r>
              <a:rPr lang="zh-CN" altLang="en-US" sz="2800" b="1" dirty="0">
                <a:solidFill>
                  <a:srgbClr val="0000FF"/>
                </a:solidFill>
                <a:latin typeface="楷体_GB2312" pitchFamily="49" charset="-122"/>
              </a:rPr>
              <a:t>为进基变量。假如仍无法确定，则选最左边的变量（变量下标小者）为进基变量。</a:t>
            </a:r>
            <a:endParaRPr lang="zh-CN" altLang="en-US" sz="2800" b="1" dirty="0">
              <a:solidFill>
                <a:srgbClr val="0000FF"/>
              </a:solidFill>
              <a:latin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barn(outHorizontal)">
                                      <p:cBhvr>
                                        <p:cTn id="7" dur="500"/>
                                        <p:tgtEl>
                                          <p:spTgt spid="2969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9701"/>
                                        </p:tgtEl>
                                        <p:attrNameLst>
                                          <p:attrName>style.visibility</p:attrName>
                                        </p:attrNameLst>
                                      </p:cBhvr>
                                      <p:to>
                                        <p:strVal val="visible"/>
                                      </p:to>
                                    </p:set>
                                    <p:animEffect transition="in" filter="blinds(vertical)">
                                      <p:cBhvr>
                                        <p:cTn id="12" dur="500"/>
                                        <p:tgtEl>
                                          <p:spTgt spid="29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2970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ext Box 2"/>
          <p:cNvSpPr txBox="1"/>
          <p:nvPr/>
        </p:nvSpPr>
        <p:spPr>
          <a:xfrm>
            <a:off x="228600" y="349250"/>
            <a:ext cx="8686800" cy="3081338"/>
          </a:xfrm>
          <a:prstGeom prst="rect">
            <a:avLst/>
          </a:prstGeom>
          <a:noFill/>
          <a:ln w="9525">
            <a:noFill/>
          </a:ln>
        </p:spPr>
        <p:txBody>
          <a:bodyPr>
            <a:spAutoFit/>
          </a:bodyPr>
          <a:p>
            <a:r>
              <a:rPr lang="en-US" altLang="zh-CN" sz="2800" b="1" dirty="0">
                <a:solidFill>
                  <a:srgbClr val="0000FF"/>
                </a:solidFill>
                <a:latin typeface="楷体_GB2312" pitchFamily="49" charset="-122"/>
              </a:rPr>
              <a:t>    4</a:t>
            </a:r>
            <a:r>
              <a:rPr lang="zh-CN" altLang="en-US" sz="2800" b="1" dirty="0">
                <a:solidFill>
                  <a:srgbClr val="0000FF"/>
                </a:solidFill>
                <a:latin typeface="楷体_GB2312" pitchFamily="49" charset="-122"/>
              </a:rPr>
              <a:t>、确定出基变量</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其方法同线性规划，即依据最小比值法则</a:t>
            </a:r>
            <a:endParaRPr lang="zh-CN" altLang="en-US" sz="2800" b="1" dirty="0">
              <a:solidFill>
                <a:srgbClr val="0000FF"/>
              </a:solidFill>
              <a:latin typeface="楷体_GB2312" pitchFamily="49" charset="-122"/>
            </a:endParaRPr>
          </a:p>
          <a:p>
            <a:endParaRPr lang="zh-CN" altLang="en-US" sz="2800" b="1" dirty="0">
              <a:solidFill>
                <a:srgbClr val="0000FF"/>
              </a:solidFill>
              <a:latin typeface="楷体_GB2312" pitchFamily="49" charset="-122"/>
            </a:endParaRPr>
          </a:p>
          <a:p>
            <a:endParaRPr lang="zh-CN" altLang="en-US" sz="2800" b="1" dirty="0">
              <a:solidFill>
                <a:srgbClr val="0000FF"/>
              </a:solidFill>
              <a:latin typeface="楷体_GB2312" pitchFamily="49" charset="-122"/>
            </a:endParaRPr>
          </a:p>
          <a:p>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故确定</a:t>
            </a:r>
            <a:r>
              <a:rPr lang="en-US" altLang="zh-CN" sz="2800" b="1" i="1" dirty="0">
                <a:solidFill>
                  <a:srgbClr val="0000FF"/>
                </a:solidFill>
                <a:latin typeface="Times New Roman" panose="02020603050405020304" pitchFamily="18" charset="0"/>
              </a:rPr>
              <a:t>x</a:t>
            </a:r>
            <a:r>
              <a:rPr lang="en-US" altLang="zh-CN" sz="2800" b="1" i="1" baseline="-30000" dirty="0">
                <a:solidFill>
                  <a:srgbClr val="0000FF"/>
                </a:solidFill>
                <a:latin typeface="Times New Roman" panose="02020603050405020304" pitchFamily="18" charset="0"/>
              </a:rPr>
              <a:t>r</a:t>
            </a:r>
            <a:r>
              <a:rPr lang="zh-CN" altLang="en-US" sz="2800" b="1" dirty="0">
                <a:solidFill>
                  <a:srgbClr val="0000FF"/>
                </a:solidFill>
                <a:latin typeface="楷体_GB2312" pitchFamily="49" charset="-122"/>
              </a:rPr>
              <a:t>为出基变量，</a:t>
            </a:r>
            <a:r>
              <a:rPr lang="en-US" altLang="zh-CN" sz="2800" b="1" i="1" dirty="0">
                <a:solidFill>
                  <a:srgbClr val="0000FF"/>
                </a:solidFill>
                <a:latin typeface="楷体_GB2312" pitchFamily="49" charset="-122"/>
              </a:rPr>
              <a:t>e</a:t>
            </a:r>
            <a:r>
              <a:rPr lang="en-US" altLang="zh-CN" sz="2800" b="1" i="1" baseline="-30000" dirty="0">
                <a:solidFill>
                  <a:srgbClr val="0000FF"/>
                </a:solidFill>
                <a:latin typeface="楷体_GB2312" pitchFamily="49" charset="-122"/>
              </a:rPr>
              <a:t>rs</a:t>
            </a:r>
            <a:r>
              <a:rPr lang="zh-CN" altLang="en-US" sz="2800" b="1" dirty="0">
                <a:solidFill>
                  <a:srgbClr val="0000FF"/>
                </a:solidFill>
                <a:latin typeface="楷体_GB2312" pitchFamily="49" charset="-122"/>
              </a:rPr>
              <a:t>为主元素。若有几个相同的行可供选择时，选最上面那一行所对应得变量为</a:t>
            </a:r>
            <a:r>
              <a:rPr lang="en-US" altLang="zh-CN" sz="2800" b="1" i="1" dirty="0">
                <a:solidFill>
                  <a:srgbClr val="0000FF"/>
                </a:solidFill>
                <a:latin typeface="Times New Roman" panose="02020603050405020304" pitchFamily="18" charset="0"/>
              </a:rPr>
              <a:t>x</a:t>
            </a:r>
            <a:r>
              <a:rPr lang="en-US" altLang="zh-CN" sz="2800" b="1" i="1" baseline="-30000" dirty="0">
                <a:solidFill>
                  <a:srgbClr val="0000FF"/>
                </a:solidFill>
                <a:latin typeface="Times New Roman" panose="02020603050405020304" pitchFamily="18" charset="0"/>
              </a:rPr>
              <a:t>r</a:t>
            </a:r>
            <a:r>
              <a:rPr lang="en-US" altLang="zh-CN" sz="2800" b="1" dirty="0">
                <a:solidFill>
                  <a:srgbClr val="0000FF"/>
                </a:solidFill>
                <a:latin typeface="楷体_GB2312" pitchFamily="49" charset="-122"/>
              </a:rPr>
              <a:t> </a:t>
            </a:r>
            <a:r>
              <a:rPr lang="zh-CN" altLang="en-US" sz="2800" b="1" dirty="0">
                <a:solidFill>
                  <a:srgbClr val="0000FF"/>
                </a:solidFill>
                <a:latin typeface="楷体_GB2312" pitchFamily="49" charset="-122"/>
              </a:rPr>
              <a:t>。</a:t>
            </a:r>
            <a:endParaRPr lang="zh-CN" altLang="en-US" sz="2800" b="1" dirty="0">
              <a:solidFill>
                <a:srgbClr val="0000FF"/>
              </a:solidFill>
              <a:latin typeface="楷体_GB2312" pitchFamily="49" charset="-122"/>
            </a:endParaRPr>
          </a:p>
        </p:txBody>
      </p:sp>
      <p:graphicFrame>
        <p:nvGraphicFramePr>
          <p:cNvPr id="30723" name="Object 3"/>
          <p:cNvGraphicFramePr/>
          <p:nvPr/>
        </p:nvGraphicFramePr>
        <p:xfrm>
          <a:off x="1447800" y="1295400"/>
          <a:ext cx="4495800" cy="1219200"/>
        </p:xfrm>
        <a:graphic>
          <a:graphicData uri="http://schemas.openxmlformats.org/presentationml/2006/ole">
            <mc:AlternateContent xmlns:mc="http://schemas.openxmlformats.org/markup-compatibility/2006">
              <mc:Choice xmlns:v="urn:schemas-microsoft-com:vml" Requires="v">
                <p:oleObj spid="_x0000_s3143" name="" r:id="rId1" imgW="1663065" imgH="482600" progId="Equation.3">
                  <p:embed/>
                </p:oleObj>
              </mc:Choice>
              <mc:Fallback>
                <p:oleObj name="" r:id="rId1" imgW="1663065" imgH="482600" progId="Equation.3">
                  <p:embed/>
                  <p:pic>
                    <p:nvPicPr>
                      <p:cNvPr id="0" name="图片 3142"/>
                      <p:cNvPicPr/>
                      <p:nvPr/>
                    </p:nvPicPr>
                    <p:blipFill>
                      <a:blip r:embed="rId2"/>
                      <a:stretch>
                        <a:fillRect/>
                      </a:stretch>
                    </p:blipFill>
                    <p:spPr>
                      <a:xfrm>
                        <a:off x="1447800" y="1295400"/>
                        <a:ext cx="4495800" cy="1219200"/>
                      </a:xfrm>
                      <a:prstGeom prst="rect">
                        <a:avLst/>
                      </a:prstGeom>
                      <a:noFill/>
                      <a:ln w="38100">
                        <a:noFill/>
                        <a:miter/>
                      </a:ln>
                    </p:spPr>
                  </p:pic>
                </p:oleObj>
              </mc:Fallback>
            </mc:AlternateContent>
          </a:graphicData>
        </a:graphic>
      </p:graphicFrame>
      <p:sp>
        <p:nvSpPr>
          <p:cNvPr id="30724" name="Text Box 4"/>
          <p:cNvSpPr txBox="1"/>
          <p:nvPr/>
        </p:nvSpPr>
        <p:spPr>
          <a:xfrm>
            <a:off x="228600" y="3505200"/>
            <a:ext cx="8686800" cy="1373188"/>
          </a:xfrm>
          <a:prstGeom prst="rect">
            <a:avLst/>
          </a:prstGeom>
          <a:noFill/>
          <a:ln w="9525">
            <a:noFill/>
          </a:ln>
        </p:spPr>
        <p:txBody>
          <a:bodyPr>
            <a:spAutoFit/>
          </a:bodyPr>
          <a:p>
            <a:pPr>
              <a:spcBef>
                <a:spcPct val="50000"/>
              </a:spcBef>
            </a:pPr>
            <a:r>
              <a:rPr lang="en-US" altLang="zh-CN" sz="2800" b="1" dirty="0">
                <a:solidFill>
                  <a:srgbClr val="0000FF"/>
                </a:solidFill>
                <a:latin typeface="楷体_GB2312" pitchFamily="49" charset="-122"/>
              </a:rPr>
              <a:t>    5</a:t>
            </a:r>
            <a:r>
              <a:rPr lang="zh-CN" altLang="en-US" sz="2800" b="1" dirty="0">
                <a:solidFill>
                  <a:srgbClr val="0000FF"/>
                </a:solidFill>
                <a:latin typeface="楷体_GB2312" pitchFamily="49" charset="-122"/>
              </a:rPr>
              <a:t>、旋转变换（变量迭代）。                                  以为主元素进行变换，得到新的单纯形表，获得一组新解，返回到第</a:t>
            </a:r>
            <a:r>
              <a:rPr lang="en-US" altLang="zh-CN" sz="2800" b="1" dirty="0">
                <a:solidFill>
                  <a:srgbClr val="0000FF"/>
                </a:solidFill>
                <a:latin typeface="楷体_GB2312" pitchFamily="49" charset="-122"/>
              </a:rPr>
              <a:t>2</a:t>
            </a:r>
            <a:r>
              <a:rPr lang="zh-CN" altLang="en-US" sz="2800" b="1" dirty="0">
                <a:solidFill>
                  <a:srgbClr val="0000FF"/>
                </a:solidFill>
                <a:latin typeface="楷体_GB2312" pitchFamily="49" charset="-122"/>
              </a:rPr>
              <a:t>步。</a:t>
            </a:r>
            <a:endParaRPr lang="zh-CN" altLang="en-US" sz="2800" b="1" dirty="0">
              <a:solidFill>
                <a:srgbClr val="0000FF"/>
              </a:solidFill>
              <a:latin typeface="楷体_GB2312" pitchFamily="49" charset="-122"/>
            </a:endParaRPr>
          </a:p>
        </p:txBody>
      </p:sp>
      <p:sp>
        <p:nvSpPr>
          <p:cNvPr id="30725" name="Text Box 5"/>
          <p:cNvSpPr txBox="1"/>
          <p:nvPr/>
        </p:nvSpPr>
        <p:spPr>
          <a:xfrm>
            <a:off x="228600" y="4800600"/>
            <a:ext cx="8686800" cy="1800225"/>
          </a:xfrm>
          <a:prstGeom prst="rect">
            <a:avLst/>
          </a:prstGeom>
          <a:noFill/>
          <a:ln w="9525">
            <a:noFill/>
          </a:ln>
        </p:spPr>
        <p:txBody>
          <a:bodyPr>
            <a:spAutoFit/>
          </a:bodyPr>
          <a:p>
            <a:r>
              <a:rPr lang="en-US" altLang="zh-CN" sz="2800" b="1" dirty="0">
                <a:solidFill>
                  <a:srgbClr val="0000FF"/>
                </a:solidFill>
                <a:latin typeface="楷体_GB2312" pitchFamily="49" charset="-122"/>
              </a:rPr>
              <a:t>    6</a:t>
            </a:r>
            <a:r>
              <a:rPr lang="zh-CN" altLang="en-US" sz="2800" b="1" dirty="0">
                <a:solidFill>
                  <a:srgbClr val="0000FF"/>
                </a:solidFill>
                <a:latin typeface="楷体_GB2312" pitchFamily="49" charset="-122"/>
              </a:rPr>
              <a:t>、对求得的解进行分析</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若计算结果满意，停止运算；若不满意，需修改模型，即调整目标优先等级和权系数，或者改变目标值，重新进行第</a:t>
            </a:r>
            <a:r>
              <a:rPr lang="en-US" altLang="zh-CN" sz="2800" b="1" dirty="0">
                <a:solidFill>
                  <a:srgbClr val="0000FF"/>
                </a:solidFill>
                <a:latin typeface="楷体_GB2312" pitchFamily="49" charset="-122"/>
              </a:rPr>
              <a:t>1</a:t>
            </a:r>
            <a:r>
              <a:rPr lang="zh-CN" altLang="en-US" sz="2800" b="1" dirty="0">
                <a:solidFill>
                  <a:srgbClr val="0000FF"/>
                </a:solidFill>
                <a:latin typeface="楷体_GB2312" pitchFamily="49" charset="-122"/>
              </a:rPr>
              <a:t>步。</a:t>
            </a:r>
            <a:endParaRPr lang="zh-CN" altLang="en-US" sz="2800" b="1" dirty="0">
              <a:solidFill>
                <a:srgbClr val="0000FF"/>
              </a:solidFill>
              <a:latin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dissolve">
                                      <p:cBhvr>
                                        <p:cTn id="7" dur="500"/>
                                        <p:tgtEl>
                                          <p:spTgt spid="3072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0723"/>
                                        </p:tgtEl>
                                        <p:attrNameLst>
                                          <p:attrName>style.visibility</p:attrName>
                                        </p:attrNameLst>
                                      </p:cBhvr>
                                      <p:to>
                                        <p:strVal val="visible"/>
                                      </p:to>
                                    </p:set>
                                    <p:animEffect transition="in" filter="dissolve">
                                      <p:cBhvr>
                                        <p:cTn id="11" dur="500"/>
                                        <p:tgtEl>
                                          <p:spTgt spid="30723"/>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30724"/>
                                        </p:tgtEl>
                                        <p:attrNameLst>
                                          <p:attrName>style.visibility</p:attrName>
                                        </p:attrNameLst>
                                      </p:cBhvr>
                                      <p:to>
                                        <p:strVal val="visible"/>
                                      </p:to>
                                    </p:set>
                                    <p:animEffect transition="in" filter="blinds(horizontal)">
                                      <p:cBhvr>
                                        <p:cTn id="15" dur="500"/>
                                        <p:tgtEl>
                                          <p:spTgt spid="30724"/>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30725"/>
                                        </p:tgtEl>
                                        <p:attrNameLst>
                                          <p:attrName>style.visibility</p:attrName>
                                        </p:attrNameLst>
                                      </p:cBhvr>
                                      <p:to>
                                        <p:strVal val="visible"/>
                                      </p:to>
                                    </p:set>
                                    <p:animEffect transition="in" filter="wipe(down)">
                                      <p:cBhvr>
                                        <p:cTn id="19" dur="500"/>
                                        <p:tgtEl>
                                          <p:spTgt spid="30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4" grpId="0"/>
      <p:bldP spid="3072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9458" name="Object 3"/>
          <p:cNvGraphicFramePr/>
          <p:nvPr/>
        </p:nvGraphicFramePr>
        <p:xfrm>
          <a:off x="1049338" y="1676400"/>
          <a:ext cx="6665912" cy="3810000"/>
        </p:xfrm>
        <a:graphic>
          <a:graphicData uri="http://schemas.openxmlformats.org/presentationml/2006/ole">
            <mc:AlternateContent xmlns:mc="http://schemas.openxmlformats.org/markup-compatibility/2006">
              <mc:Choice xmlns:v="urn:schemas-microsoft-com:vml" Requires="v">
                <p:oleObj spid="_x0000_s3142" name="" r:id="rId1" imgW="2311400" imgH="1397000" progId="Equation.3">
                  <p:embed/>
                </p:oleObj>
              </mc:Choice>
              <mc:Fallback>
                <p:oleObj name="" r:id="rId1" imgW="2311400" imgH="1397000" progId="Equation.3">
                  <p:embed/>
                  <p:pic>
                    <p:nvPicPr>
                      <p:cNvPr id="0" name="图片 3141"/>
                      <p:cNvPicPr/>
                      <p:nvPr/>
                    </p:nvPicPr>
                    <p:blipFill>
                      <a:blip r:embed="rId2"/>
                      <a:stretch>
                        <a:fillRect/>
                      </a:stretch>
                    </p:blipFill>
                    <p:spPr>
                      <a:xfrm>
                        <a:off x="1049338" y="1676400"/>
                        <a:ext cx="6665912" cy="3810000"/>
                      </a:xfrm>
                      <a:prstGeom prst="rect">
                        <a:avLst/>
                      </a:prstGeom>
                      <a:noFill/>
                      <a:ln w="38100">
                        <a:noFill/>
                        <a:miter/>
                      </a:ln>
                    </p:spPr>
                  </p:pic>
                </p:oleObj>
              </mc:Fallback>
            </mc:AlternateContent>
          </a:graphicData>
        </a:graphic>
      </p:graphicFrame>
      <p:sp>
        <p:nvSpPr>
          <p:cNvPr id="19459" name="Rectangle 4"/>
          <p:cNvSpPr>
            <a:spLocks noGrp="1"/>
          </p:cNvSpPr>
          <p:nvPr>
            <p:ph type="ctrTitle"/>
          </p:nvPr>
        </p:nvSpPr>
        <p:spPr>
          <a:xfrm>
            <a:off x="533400" y="762000"/>
            <a:ext cx="7772400" cy="762000"/>
          </a:xfrm>
          <a:noFill/>
          <a:ln>
            <a:noFill/>
          </a:ln>
        </p:spPr>
        <p:txBody>
          <a:bodyPr/>
          <a:p>
            <a:pPr eaLnBrk="1" hangingPunct="1">
              <a:buClrTx/>
              <a:buSzTx/>
              <a:buFontTx/>
            </a:pPr>
            <a:r>
              <a:rPr lang="zh-CN" altLang="en-US" sz="2800" b="1" dirty="0">
                <a:solidFill>
                  <a:srgbClr val="0000FF"/>
                </a:solidFill>
                <a:ea typeface="楷体_GB2312" pitchFamily="49" charset="-122"/>
              </a:rPr>
              <a:t>例一、用单纯形法求解下列目标规划问题</a:t>
            </a:r>
            <a:br>
              <a:rPr lang="zh-CN" altLang="en-US" sz="2800" b="1" dirty="0">
                <a:solidFill>
                  <a:srgbClr val="0000FF"/>
                </a:solidFill>
                <a:ea typeface="楷体_GB2312" pitchFamily="49" charset="-122"/>
              </a:rPr>
            </a:br>
            <a:endParaRPr lang="zh-CN" altLang="en-US" sz="2800" b="1" dirty="0">
              <a:solidFill>
                <a:srgbClr val="0000FF"/>
              </a:solidFill>
              <a:ea typeface="楷体_GB2312" pitchFamily="49" charset="-122"/>
            </a:endParaRPr>
          </a:p>
        </p:txBody>
      </p:sp>
    </p:spTree>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80" name="Rectangle 212"/>
          <p:cNvSpPr/>
          <p:nvPr/>
        </p:nvSpPr>
        <p:spPr>
          <a:xfrm>
            <a:off x="2438400" y="3505200"/>
            <a:ext cx="533400" cy="381000"/>
          </a:xfrm>
          <a:prstGeom prst="rect">
            <a:avLst/>
          </a:prstGeom>
          <a:solidFill>
            <a:schemeClr val="hlink"/>
          </a:solidFill>
          <a:ln w="9525">
            <a:noFill/>
          </a:ln>
        </p:spPr>
        <p:txBody>
          <a:bodyPr wrap="none" anchor="ctr" anchorCtr="0"/>
          <a:p>
            <a:endParaRPr lang="zh-CN" altLang="en-US" dirty="0">
              <a:latin typeface="Times New Roman" panose="02020603050405020304" pitchFamily="18" charset="0"/>
            </a:endParaRPr>
          </a:p>
        </p:txBody>
      </p:sp>
      <p:graphicFrame>
        <p:nvGraphicFramePr>
          <p:cNvPr id="20496" name="表格 20495"/>
          <p:cNvGraphicFramePr/>
          <p:nvPr/>
        </p:nvGraphicFramePr>
        <p:xfrm>
          <a:off x="228600" y="838200"/>
          <a:ext cx="8686800" cy="4937125"/>
        </p:xfrm>
        <a:graphic>
          <a:graphicData uri="http://schemas.openxmlformats.org/drawingml/2006/table">
            <a:tbl>
              <a:tblPr/>
              <a:tblGrid>
                <a:gridCol w="666750"/>
                <a:gridCol w="669925"/>
                <a:gridCol w="796925"/>
                <a:gridCol w="685800"/>
                <a:gridCol w="685800"/>
                <a:gridCol w="609600"/>
                <a:gridCol w="563563"/>
                <a:gridCol w="666750"/>
                <a:gridCol w="668337"/>
                <a:gridCol w="668338"/>
                <a:gridCol w="709612"/>
                <a:gridCol w="628650"/>
                <a:gridCol w="666750"/>
              </a:tblGrid>
              <a:tr h="406400">
                <a:tc rowSpan="3"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en-US" altLang="zh-CN" b="1" dirty="0">
                        <a:latin typeface="Times New Roman" panose="02020603050405020304" pitchFamily="18" charset="0"/>
                      </a:endParaRPr>
                    </a:p>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j</a:t>
                      </a:r>
                      <a:endParaRPr lang="en-US" altLang="zh-CN" b="1" baseline="-300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rowSpan="3" hMerge="1">
                  <a:tcPr>
                    <a:lnT w="28575" cap="flat" cmpd="sng">
                      <a:solidFill>
                        <a:schemeClr val="tx1"/>
                      </a:solidFill>
                      <a:prstDash val="solid"/>
                      <a:headEnd type="none" w="med" len="med"/>
                      <a:tailEnd type="none" w="med" len="med"/>
                    </a:lnT>
                  </a:tcPr>
                </a:tc>
                <a:tc rowSpan="3" hMerge="1">
                  <a:tcPr>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1</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6400">
                <a:tc vMerge="1" gridSpan="3">
                  <a:tcPr>
                    <a:lnL w="28575" cap="flat" cmpd="sng">
                      <a:solidFill>
                        <a:schemeClr val="tx1"/>
                      </a:solidFill>
                      <a:prstDash val="solid"/>
                      <a:headEnd type="none" w="med" len="med"/>
                      <a:tailEnd type="none" w="med" len="med"/>
                    </a:lnL>
                  </a:tcPr>
                </a:tc>
                <a:tc vMerge="1" hMerge="1">
                  <a:tcPr/>
                </a:tc>
                <a:tc vMerge="1" hMerge="1">
                  <a:tcPr>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rPr>
                        <a:t>2.5P</a:t>
                      </a:r>
                      <a:r>
                        <a:rPr lang="en-US" altLang="zh-CN" sz="1800" b="1" baseline="-30000" dirty="0">
                          <a:latin typeface="Times New Roman" panose="02020603050405020304" pitchFamily="18" charset="0"/>
                        </a:rPr>
                        <a:t>2</a:t>
                      </a:r>
                      <a:endParaRPr lang="en-US" altLang="zh-CN" sz="18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6400">
                <a:tc vMerge="1" gridSpan="3">
                  <a:tcPr>
                    <a:lnL w="28575" cap="flat" cmpd="sng">
                      <a:solidFill>
                        <a:schemeClr val="tx1"/>
                      </a:solidFill>
                      <a:prstDash val="solid"/>
                      <a:headEnd type="none" w="med" len="med"/>
                      <a:tailEnd type="none" w="med" len="med"/>
                    </a:lnL>
                    <a:lnB w="12700" cap="flat" cmpd="sng">
                      <a:solidFill>
                        <a:schemeClr val="tx1"/>
                      </a:solidFill>
                      <a:prstDash val="solid"/>
                      <a:headEnd type="none" w="med" len="med"/>
                      <a:tailEnd type="none" w="med" len="med"/>
                    </a:lnB>
                  </a:tcPr>
                </a:tc>
                <a:tc vMerge="1" hMerge="1">
                  <a:tcPr>
                    <a:lnB w="12700" cap="flat" cmpd="sng">
                      <a:solidFill>
                        <a:schemeClr val="tx1"/>
                      </a:solidFill>
                      <a:prstDash val="solid"/>
                      <a:headEnd type="none" w="med" len="med"/>
                      <a:tailEnd type="none" w="med" len="med"/>
                    </a:lnB>
                  </a:tcPr>
                </a:tc>
                <a:tc vMerge="1" hMerge="1">
                  <a:tcPr>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3</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X</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b</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endParaRPr lang="en-US" altLang="zh-CN" sz="2800"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endParaRPr lang="en-US" altLang="zh-CN" sz="2800"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1</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2500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30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140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60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100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row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en-US" altLang="zh-CN" b="1" i="1" dirty="0">
                        <a:latin typeface="Times New Roman" panose="02020603050405020304" pitchFamily="18" charset="0"/>
                      </a:endParaRPr>
                    </a:p>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kj</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1</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2500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30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2</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2.5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3</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0482" name="Object 140"/>
          <p:cNvGraphicFramePr/>
          <p:nvPr/>
        </p:nvGraphicFramePr>
        <p:xfrm>
          <a:off x="4419600" y="2133600"/>
          <a:ext cx="381000" cy="409575"/>
        </p:xfrm>
        <a:graphic>
          <a:graphicData uri="http://schemas.openxmlformats.org/presentationml/2006/ole">
            <mc:AlternateContent xmlns:mc="http://schemas.openxmlformats.org/markup-compatibility/2006">
              <mc:Choice xmlns:v="urn:schemas-microsoft-com:vml" Requires="v">
                <p:oleObj spid="_x0000_s3151" name="" r:id="rId1" imgW="203200" imgH="228600" progId="Equation.3">
                  <p:embed/>
                </p:oleObj>
              </mc:Choice>
              <mc:Fallback>
                <p:oleObj name="" r:id="rId1" imgW="203200" imgH="228600" progId="Equation.3">
                  <p:embed/>
                  <p:pic>
                    <p:nvPicPr>
                      <p:cNvPr id="0" name="图片 3150"/>
                      <p:cNvPicPr/>
                      <p:nvPr/>
                    </p:nvPicPr>
                    <p:blipFill>
                      <a:blip r:embed="rId2"/>
                      <a:stretch>
                        <a:fillRect/>
                      </a:stretch>
                    </p:blipFill>
                    <p:spPr>
                      <a:xfrm>
                        <a:off x="4419600" y="2133600"/>
                        <a:ext cx="381000" cy="409575"/>
                      </a:xfrm>
                      <a:prstGeom prst="rect">
                        <a:avLst/>
                      </a:prstGeom>
                      <a:noFill/>
                      <a:ln w="38100">
                        <a:noFill/>
                        <a:miter/>
                      </a:ln>
                    </p:spPr>
                  </p:pic>
                </p:oleObj>
              </mc:Fallback>
            </mc:AlternateContent>
          </a:graphicData>
        </a:graphic>
      </p:graphicFrame>
      <p:graphicFrame>
        <p:nvGraphicFramePr>
          <p:cNvPr id="20483" name="Object 141"/>
          <p:cNvGraphicFramePr/>
          <p:nvPr/>
        </p:nvGraphicFramePr>
        <p:xfrm>
          <a:off x="3886200" y="2133600"/>
          <a:ext cx="352425" cy="409575"/>
        </p:xfrm>
        <a:graphic>
          <a:graphicData uri="http://schemas.openxmlformats.org/presentationml/2006/ole">
            <mc:AlternateContent xmlns:mc="http://schemas.openxmlformats.org/markup-compatibility/2006">
              <mc:Choice xmlns:v="urn:schemas-microsoft-com:vml" Requires="v">
                <p:oleObj spid="_x0000_s3152" name="" r:id="rId3" imgW="203200" imgH="228600" progId="Equation.3">
                  <p:embed/>
                </p:oleObj>
              </mc:Choice>
              <mc:Fallback>
                <p:oleObj name="" r:id="rId3" imgW="203200" imgH="228600" progId="Equation.3">
                  <p:embed/>
                  <p:pic>
                    <p:nvPicPr>
                      <p:cNvPr id="0" name="图片 3151"/>
                      <p:cNvPicPr/>
                      <p:nvPr/>
                    </p:nvPicPr>
                    <p:blipFill>
                      <a:blip r:embed="rId4"/>
                      <a:stretch>
                        <a:fillRect/>
                      </a:stretch>
                    </p:blipFill>
                    <p:spPr>
                      <a:xfrm>
                        <a:off x="3886200" y="2133600"/>
                        <a:ext cx="352425" cy="409575"/>
                      </a:xfrm>
                      <a:prstGeom prst="rect">
                        <a:avLst/>
                      </a:prstGeom>
                      <a:noFill/>
                      <a:ln w="38100">
                        <a:noFill/>
                        <a:miter/>
                      </a:ln>
                    </p:spPr>
                  </p:pic>
                </p:oleObj>
              </mc:Fallback>
            </mc:AlternateContent>
          </a:graphicData>
        </a:graphic>
      </p:graphicFrame>
      <p:graphicFrame>
        <p:nvGraphicFramePr>
          <p:cNvPr id="20484" name="Object 142"/>
          <p:cNvGraphicFramePr/>
          <p:nvPr/>
        </p:nvGraphicFramePr>
        <p:xfrm>
          <a:off x="5029200" y="2133600"/>
          <a:ext cx="352425" cy="409575"/>
        </p:xfrm>
        <a:graphic>
          <a:graphicData uri="http://schemas.openxmlformats.org/presentationml/2006/ole">
            <mc:AlternateContent xmlns:mc="http://schemas.openxmlformats.org/markup-compatibility/2006">
              <mc:Choice xmlns:v="urn:schemas-microsoft-com:vml" Requires="v">
                <p:oleObj spid="_x0000_s3153" name="" r:id="rId5" imgW="203200" imgH="228600" progId="Equation.3">
                  <p:embed/>
                </p:oleObj>
              </mc:Choice>
              <mc:Fallback>
                <p:oleObj name="" r:id="rId5" imgW="203200" imgH="228600" progId="Equation.3">
                  <p:embed/>
                  <p:pic>
                    <p:nvPicPr>
                      <p:cNvPr id="0" name="图片 3152"/>
                      <p:cNvPicPr/>
                      <p:nvPr/>
                    </p:nvPicPr>
                    <p:blipFill>
                      <a:blip r:embed="rId6"/>
                      <a:stretch>
                        <a:fillRect/>
                      </a:stretch>
                    </p:blipFill>
                    <p:spPr>
                      <a:xfrm>
                        <a:off x="5029200" y="2133600"/>
                        <a:ext cx="352425" cy="409575"/>
                      </a:xfrm>
                      <a:prstGeom prst="rect">
                        <a:avLst/>
                      </a:prstGeom>
                      <a:noFill/>
                      <a:ln w="38100">
                        <a:noFill/>
                        <a:miter/>
                      </a:ln>
                    </p:spPr>
                  </p:pic>
                </p:oleObj>
              </mc:Fallback>
            </mc:AlternateContent>
          </a:graphicData>
        </a:graphic>
      </p:graphicFrame>
      <p:graphicFrame>
        <p:nvGraphicFramePr>
          <p:cNvPr id="20485" name="Object 143"/>
          <p:cNvGraphicFramePr/>
          <p:nvPr/>
        </p:nvGraphicFramePr>
        <p:xfrm>
          <a:off x="5715000" y="2133600"/>
          <a:ext cx="352425" cy="409575"/>
        </p:xfrm>
        <a:graphic>
          <a:graphicData uri="http://schemas.openxmlformats.org/presentationml/2006/ole">
            <mc:AlternateContent xmlns:mc="http://schemas.openxmlformats.org/markup-compatibility/2006">
              <mc:Choice xmlns:v="urn:schemas-microsoft-com:vml" Requires="v">
                <p:oleObj spid="_x0000_s3154" name="" r:id="rId7" imgW="203200" imgH="228600" progId="Equation.3">
                  <p:embed/>
                </p:oleObj>
              </mc:Choice>
              <mc:Fallback>
                <p:oleObj name="" r:id="rId7" imgW="203200" imgH="228600" progId="Equation.3">
                  <p:embed/>
                  <p:pic>
                    <p:nvPicPr>
                      <p:cNvPr id="0" name="图片 3153"/>
                      <p:cNvPicPr/>
                      <p:nvPr/>
                    </p:nvPicPr>
                    <p:blipFill>
                      <a:blip r:embed="rId8"/>
                      <a:stretch>
                        <a:fillRect/>
                      </a:stretch>
                    </p:blipFill>
                    <p:spPr>
                      <a:xfrm>
                        <a:off x="5715000" y="2133600"/>
                        <a:ext cx="352425" cy="409575"/>
                      </a:xfrm>
                      <a:prstGeom prst="rect">
                        <a:avLst/>
                      </a:prstGeom>
                      <a:noFill/>
                      <a:ln w="38100">
                        <a:noFill/>
                        <a:miter/>
                      </a:ln>
                    </p:spPr>
                  </p:pic>
                </p:oleObj>
              </mc:Fallback>
            </mc:AlternateContent>
          </a:graphicData>
        </a:graphic>
      </p:graphicFrame>
      <p:graphicFrame>
        <p:nvGraphicFramePr>
          <p:cNvPr id="20486" name="Object 144"/>
          <p:cNvGraphicFramePr/>
          <p:nvPr/>
        </p:nvGraphicFramePr>
        <p:xfrm>
          <a:off x="6400800" y="2122488"/>
          <a:ext cx="352425" cy="433387"/>
        </p:xfrm>
        <a:graphic>
          <a:graphicData uri="http://schemas.openxmlformats.org/presentationml/2006/ole">
            <mc:AlternateContent xmlns:mc="http://schemas.openxmlformats.org/markup-compatibility/2006">
              <mc:Choice xmlns:v="urn:schemas-microsoft-com:vml" Requires="v">
                <p:oleObj spid="_x0000_s3148" name="" r:id="rId9" imgW="203200" imgH="241300" progId="Equation.3">
                  <p:embed/>
                </p:oleObj>
              </mc:Choice>
              <mc:Fallback>
                <p:oleObj name="" r:id="rId9" imgW="203200" imgH="241300" progId="Equation.3">
                  <p:embed/>
                  <p:pic>
                    <p:nvPicPr>
                      <p:cNvPr id="0" name="图片 3147"/>
                      <p:cNvPicPr/>
                      <p:nvPr/>
                    </p:nvPicPr>
                    <p:blipFill>
                      <a:blip r:embed="rId10"/>
                      <a:stretch>
                        <a:fillRect/>
                      </a:stretch>
                    </p:blipFill>
                    <p:spPr>
                      <a:xfrm>
                        <a:off x="6400800" y="2122488"/>
                        <a:ext cx="352425" cy="433387"/>
                      </a:xfrm>
                      <a:prstGeom prst="rect">
                        <a:avLst/>
                      </a:prstGeom>
                      <a:noFill/>
                      <a:ln w="38100">
                        <a:noFill/>
                        <a:miter/>
                      </a:ln>
                    </p:spPr>
                  </p:pic>
                </p:oleObj>
              </mc:Fallback>
            </mc:AlternateContent>
          </a:graphicData>
        </a:graphic>
      </p:graphicFrame>
      <p:graphicFrame>
        <p:nvGraphicFramePr>
          <p:cNvPr id="20487" name="Object 145"/>
          <p:cNvGraphicFramePr/>
          <p:nvPr/>
        </p:nvGraphicFramePr>
        <p:xfrm>
          <a:off x="7086600" y="2122488"/>
          <a:ext cx="352425" cy="433387"/>
        </p:xfrm>
        <a:graphic>
          <a:graphicData uri="http://schemas.openxmlformats.org/presentationml/2006/ole">
            <mc:AlternateContent xmlns:mc="http://schemas.openxmlformats.org/markup-compatibility/2006">
              <mc:Choice xmlns:v="urn:schemas-microsoft-com:vml" Requires="v">
                <p:oleObj spid="_x0000_s3149" name="" r:id="rId11" imgW="203200" imgH="241300" progId="Equation.3">
                  <p:embed/>
                </p:oleObj>
              </mc:Choice>
              <mc:Fallback>
                <p:oleObj name="" r:id="rId11" imgW="203200" imgH="241300" progId="Equation.3">
                  <p:embed/>
                  <p:pic>
                    <p:nvPicPr>
                      <p:cNvPr id="0" name="图片 3148"/>
                      <p:cNvPicPr/>
                      <p:nvPr/>
                    </p:nvPicPr>
                    <p:blipFill>
                      <a:blip r:embed="rId12"/>
                      <a:stretch>
                        <a:fillRect/>
                      </a:stretch>
                    </p:blipFill>
                    <p:spPr>
                      <a:xfrm>
                        <a:off x="7086600" y="2122488"/>
                        <a:ext cx="352425" cy="433387"/>
                      </a:xfrm>
                      <a:prstGeom prst="rect">
                        <a:avLst/>
                      </a:prstGeom>
                      <a:noFill/>
                      <a:ln w="38100">
                        <a:noFill/>
                        <a:miter/>
                      </a:ln>
                    </p:spPr>
                  </p:pic>
                </p:oleObj>
              </mc:Fallback>
            </mc:AlternateContent>
          </a:graphicData>
        </a:graphic>
      </p:graphicFrame>
      <p:graphicFrame>
        <p:nvGraphicFramePr>
          <p:cNvPr id="20488" name="Object 146"/>
          <p:cNvGraphicFramePr/>
          <p:nvPr/>
        </p:nvGraphicFramePr>
        <p:xfrm>
          <a:off x="7772400" y="2133600"/>
          <a:ext cx="352425" cy="409575"/>
        </p:xfrm>
        <a:graphic>
          <a:graphicData uri="http://schemas.openxmlformats.org/presentationml/2006/ole">
            <mc:AlternateContent xmlns:mc="http://schemas.openxmlformats.org/markup-compatibility/2006">
              <mc:Choice xmlns:v="urn:schemas-microsoft-com:vml" Requires="v">
                <p:oleObj spid="_x0000_s3146" name="" r:id="rId13" imgW="203200" imgH="228600" progId="Equation.3">
                  <p:embed/>
                </p:oleObj>
              </mc:Choice>
              <mc:Fallback>
                <p:oleObj name="" r:id="rId13" imgW="203200" imgH="228600" progId="Equation.3">
                  <p:embed/>
                  <p:pic>
                    <p:nvPicPr>
                      <p:cNvPr id="0" name="图片 3145"/>
                      <p:cNvPicPr/>
                      <p:nvPr/>
                    </p:nvPicPr>
                    <p:blipFill>
                      <a:blip r:embed="rId14"/>
                      <a:stretch>
                        <a:fillRect/>
                      </a:stretch>
                    </p:blipFill>
                    <p:spPr>
                      <a:xfrm>
                        <a:off x="7772400" y="2133600"/>
                        <a:ext cx="352425" cy="409575"/>
                      </a:xfrm>
                      <a:prstGeom prst="rect">
                        <a:avLst/>
                      </a:prstGeom>
                      <a:noFill/>
                      <a:ln w="38100">
                        <a:noFill/>
                        <a:miter/>
                      </a:ln>
                    </p:spPr>
                  </p:pic>
                </p:oleObj>
              </mc:Fallback>
            </mc:AlternateContent>
          </a:graphicData>
        </a:graphic>
      </p:graphicFrame>
      <p:graphicFrame>
        <p:nvGraphicFramePr>
          <p:cNvPr id="20489" name="Object 147"/>
          <p:cNvGraphicFramePr/>
          <p:nvPr/>
        </p:nvGraphicFramePr>
        <p:xfrm>
          <a:off x="8382000" y="2133600"/>
          <a:ext cx="352425" cy="409575"/>
        </p:xfrm>
        <a:graphic>
          <a:graphicData uri="http://schemas.openxmlformats.org/presentationml/2006/ole">
            <mc:AlternateContent xmlns:mc="http://schemas.openxmlformats.org/markup-compatibility/2006">
              <mc:Choice xmlns:v="urn:schemas-microsoft-com:vml" Requires="v">
                <p:oleObj spid="_x0000_s3147" name="" r:id="rId15" imgW="203200" imgH="228600" progId="Equation.3">
                  <p:embed/>
                </p:oleObj>
              </mc:Choice>
              <mc:Fallback>
                <p:oleObj name="" r:id="rId15" imgW="203200" imgH="228600" progId="Equation.3">
                  <p:embed/>
                  <p:pic>
                    <p:nvPicPr>
                      <p:cNvPr id="0" name="图片 3146"/>
                      <p:cNvPicPr/>
                      <p:nvPr/>
                    </p:nvPicPr>
                    <p:blipFill>
                      <a:blip r:embed="rId16"/>
                      <a:stretch>
                        <a:fillRect/>
                      </a:stretch>
                    </p:blipFill>
                    <p:spPr>
                      <a:xfrm>
                        <a:off x="8382000" y="2133600"/>
                        <a:ext cx="352425" cy="409575"/>
                      </a:xfrm>
                      <a:prstGeom prst="rect">
                        <a:avLst/>
                      </a:prstGeom>
                      <a:noFill/>
                      <a:ln w="38100">
                        <a:noFill/>
                        <a:miter/>
                      </a:ln>
                    </p:spPr>
                  </p:pic>
                </p:oleObj>
              </mc:Fallback>
            </mc:AlternateContent>
          </a:graphicData>
        </a:graphic>
      </p:graphicFrame>
      <p:graphicFrame>
        <p:nvGraphicFramePr>
          <p:cNvPr id="20490" name="Object 148"/>
          <p:cNvGraphicFramePr/>
          <p:nvPr/>
        </p:nvGraphicFramePr>
        <p:xfrm>
          <a:off x="1066800" y="2667000"/>
          <a:ext cx="352425" cy="409575"/>
        </p:xfrm>
        <a:graphic>
          <a:graphicData uri="http://schemas.openxmlformats.org/presentationml/2006/ole">
            <mc:AlternateContent xmlns:mc="http://schemas.openxmlformats.org/markup-compatibility/2006">
              <mc:Choice xmlns:v="urn:schemas-microsoft-com:vml" Requires="v">
                <p:oleObj spid="_x0000_s3150" name="" r:id="rId17" imgW="203200" imgH="228600" progId="Equation.3">
                  <p:embed/>
                </p:oleObj>
              </mc:Choice>
              <mc:Fallback>
                <p:oleObj name="" r:id="rId17" imgW="203200" imgH="228600" progId="Equation.3">
                  <p:embed/>
                  <p:pic>
                    <p:nvPicPr>
                      <p:cNvPr id="0" name="图片 3149"/>
                      <p:cNvPicPr/>
                      <p:nvPr/>
                    </p:nvPicPr>
                    <p:blipFill>
                      <a:blip r:embed="rId18"/>
                      <a:stretch>
                        <a:fillRect/>
                      </a:stretch>
                    </p:blipFill>
                    <p:spPr>
                      <a:xfrm>
                        <a:off x="1066800" y="2667000"/>
                        <a:ext cx="352425" cy="409575"/>
                      </a:xfrm>
                      <a:prstGeom prst="rect">
                        <a:avLst/>
                      </a:prstGeom>
                      <a:noFill/>
                      <a:ln w="38100">
                        <a:noFill/>
                        <a:miter/>
                      </a:ln>
                    </p:spPr>
                  </p:pic>
                </p:oleObj>
              </mc:Fallback>
            </mc:AlternateContent>
          </a:graphicData>
        </a:graphic>
      </p:graphicFrame>
      <p:graphicFrame>
        <p:nvGraphicFramePr>
          <p:cNvPr id="20491" name="Object 149"/>
          <p:cNvGraphicFramePr/>
          <p:nvPr/>
        </p:nvGraphicFramePr>
        <p:xfrm>
          <a:off x="1066800" y="3124200"/>
          <a:ext cx="352425" cy="409575"/>
        </p:xfrm>
        <a:graphic>
          <a:graphicData uri="http://schemas.openxmlformats.org/presentationml/2006/ole">
            <mc:AlternateContent xmlns:mc="http://schemas.openxmlformats.org/markup-compatibility/2006">
              <mc:Choice xmlns:v="urn:schemas-microsoft-com:vml" Requires="v">
                <p:oleObj spid="_x0000_s3144" name="" r:id="rId19" imgW="203200" imgH="228600" progId="Equation.3">
                  <p:embed/>
                </p:oleObj>
              </mc:Choice>
              <mc:Fallback>
                <p:oleObj name="" r:id="rId19" imgW="203200" imgH="228600" progId="Equation.3">
                  <p:embed/>
                  <p:pic>
                    <p:nvPicPr>
                      <p:cNvPr id="0" name="图片 3143"/>
                      <p:cNvPicPr/>
                      <p:nvPr/>
                    </p:nvPicPr>
                    <p:blipFill>
                      <a:blip r:embed="rId20"/>
                      <a:stretch>
                        <a:fillRect/>
                      </a:stretch>
                    </p:blipFill>
                    <p:spPr>
                      <a:xfrm>
                        <a:off x="1066800" y="3124200"/>
                        <a:ext cx="352425" cy="409575"/>
                      </a:xfrm>
                      <a:prstGeom prst="rect">
                        <a:avLst/>
                      </a:prstGeom>
                      <a:noFill/>
                      <a:ln w="38100">
                        <a:noFill/>
                        <a:miter/>
                      </a:ln>
                    </p:spPr>
                  </p:pic>
                </p:oleObj>
              </mc:Fallback>
            </mc:AlternateContent>
          </a:graphicData>
        </a:graphic>
      </p:graphicFrame>
      <p:graphicFrame>
        <p:nvGraphicFramePr>
          <p:cNvPr id="20492" name="Object 150"/>
          <p:cNvGraphicFramePr/>
          <p:nvPr/>
        </p:nvGraphicFramePr>
        <p:xfrm>
          <a:off x="1066800" y="3581400"/>
          <a:ext cx="352425" cy="433388"/>
        </p:xfrm>
        <a:graphic>
          <a:graphicData uri="http://schemas.openxmlformats.org/presentationml/2006/ole">
            <mc:AlternateContent xmlns:mc="http://schemas.openxmlformats.org/markup-compatibility/2006">
              <mc:Choice xmlns:v="urn:schemas-microsoft-com:vml" Requires="v">
                <p:oleObj spid="_x0000_s3156" name="" r:id="rId21" imgW="203200" imgH="241300" progId="Equation.3">
                  <p:embed/>
                </p:oleObj>
              </mc:Choice>
              <mc:Fallback>
                <p:oleObj name="" r:id="rId21" imgW="203200" imgH="241300" progId="Equation.3">
                  <p:embed/>
                  <p:pic>
                    <p:nvPicPr>
                      <p:cNvPr id="0" name="图片 3155"/>
                      <p:cNvPicPr/>
                      <p:nvPr/>
                    </p:nvPicPr>
                    <p:blipFill>
                      <a:blip r:embed="rId22"/>
                      <a:stretch>
                        <a:fillRect/>
                      </a:stretch>
                    </p:blipFill>
                    <p:spPr>
                      <a:xfrm>
                        <a:off x="1066800" y="3581400"/>
                        <a:ext cx="352425" cy="433388"/>
                      </a:xfrm>
                      <a:prstGeom prst="rect">
                        <a:avLst/>
                      </a:prstGeom>
                      <a:noFill/>
                      <a:ln w="38100">
                        <a:noFill/>
                        <a:miter/>
                      </a:ln>
                    </p:spPr>
                  </p:pic>
                </p:oleObj>
              </mc:Fallback>
            </mc:AlternateContent>
          </a:graphicData>
        </a:graphic>
      </p:graphicFrame>
      <p:graphicFrame>
        <p:nvGraphicFramePr>
          <p:cNvPr id="20493" name="Object 151"/>
          <p:cNvGraphicFramePr/>
          <p:nvPr/>
        </p:nvGraphicFramePr>
        <p:xfrm>
          <a:off x="1066800" y="4038600"/>
          <a:ext cx="352425" cy="409575"/>
        </p:xfrm>
        <a:graphic>
          <a:graphicData uri="http://schemas.openxmlformats.org/presentationml/2006/ole">
            <mc:AlternateContent xmlns:mc="http://schemas.openxmlformats.org/markup-compatibility/2006">
              <mc:Choice xmlns:v="urn:schemas-microsoft-com:vml" Requires="v">
                <p:oleObj spid="_x0000_s3155" name="" r:id="rId23" imgW="203200" imgH="228600" progId="Equation.3">
                  <p:embed/>
                </p:oleObj>
              </mc:Choice>
              <mc:Fallback>
                <p:oleObj name="" r:id="rId23" imgW="203200" imgH="228600" progId="Equation.3">
                  <p:embed/>
                  <p:pic>
                    <p:nvPicPr>
                      <p:cNvPr id="0" name="图片 3154"/>
                      <p:cNvPicPr/>
                      <p:nvPr/>
                    </p:nvPicPr>
                    <p:blipFill>
                      <a:blip r:embed="rId24"/>
                      <a:stretch>
                        <a:fillRect/>
                      </a:stretch>
                    </p:blipFill>
                    <p:spPr>
                      <a:xfrm>
                        <a:off x="1066800" y="4038600"/>
                        <a:ext cx="352425" cy="409575"/>
                      </a:xfrm>
                      <a:prstGeom prst="rect">
                        <a:avLst/>
                      </a:prstGeom>
                      <a:noFill/>
                      <a:ln w="38100">
                        <a:noFill/>
                        <a:miter/>
                      </a:ln>
                    </p:spPr>
                  </p:pic>
                </p:oleObj>
              </mc:Fallback>
            </mc:AlternateContent>
          </a:graphicData>
        </a:graphic>
      </p:graphicFrame>
      <p:sp>
        <p:nvSpPr>
          <p:cNvPr id="32977" name="Text Box 209"/>
          <p:cNvSpPr txBox="1"/>
          <p:nvPr/>
        </p:nvSpPr>
        <p:spPr>
          <a:xfrm>
            <a:off x="381000" y="6019800"/>
            <a:ext cx="8763000" cy="519113"/>
          </a:xfrm>
          <a:prstGeom prst="rect">
            <a:avLst/>
          </a:prstGeom>
          <a:noFill/>
          <a:ln w="9525">
            <a:noFill/>
          </a:ln>
        </p:spPr>
        <p:txBody>
          <a:bodyPr>
            <a:spAutoFit/>
          </a:bodyPr>
          <a:p>
            <a:pPr>
              <a:spcBef>
                <a:spcPct val="50000"/>
              </a:spcBef>
            </a:pPr>
            <a:r>
              <a:rPr lang="en-US" altLang="zh-CN" sz="2800" i="1" dirty="0">
                <a:latin typeface="Times New Roman" panose="02020603050405020304" pitchFamily="18" charset="0"/>
              </a:rPr>
              <a:t>θ= </a:t>
            </a:r>
            <a:r>
              <a:rPr lang="en-US" altLang="zh-CN" sz="2800" dirty="0">
                <a:latin typeface="Times New Roman" panose="02020603050405020304" pitchFamily="18" charset="0"/>
              </a:rPr>
              <a:t>min</a:t>
            </a:r>
            <a:r>
              <a:rPr lang="zh-CN" altLang="en-US" sz="2800" dirty="0">
                <a:latin typeface="Times New Roman" panose="02020603050405020304" pitchFamily="18" charset="0"/>
              </a:rPr>
              <a:t>｛</a:t>
            </a:r>
            <a:r>
              <a:rPr lang="en-US" altLang="zh-CN" sz="2800" dirty="0">
                <a:latin typeface="Times New Roman" panose="02020603050405020304" pitchFamily="18" charset="0"/>
              </a:rPr>
              <a:t>2500/30,140/2,60/1</a:t>
            </a:r>
            <a:r>
              <a:rPr lang="zh-CN" altLang="en-US" sz="2800" dirty="0">
                <a:latin typeface="Times New Roman" panose="02020603050405020304" pitchFamily="18" charset="0"/>
              </a:rPr>
              <a:t>｝</a:t>
            </a:r>
            <a:r>
              <a:rPr lang="en-US" altLang="zh-CN" sz="2800" dirty="0">
                <a:latin typeface="Times New Roman" panose="02020603050405020304" pitchFamily="18" charset="0"/>
              </a:rPr>
              <a:t>=60</a:t>
            </a:r>
            <a:r>
              <a:rPr lang="en-US" altLang="zh-CN" sz="2800" dirty="0">
                <a:latin typeface="Times New Roman" panose="02020603050405020304" pitchFamily="18" charset="0"/>
                <a:ea typeface="宋体" panose="02010600030101010101" pitchFamily="2" charset="-122"/>
              </a:rPr>
              <a:t> ,</a:t>
            </a:r>
            <a:r>
              <a:rPr lang="zh-CN" altLang="en-US" sz="2800" b="1" dirty="0">
                <a:latin typeface="楷体_GB2312" pitchFamily="49" charset="-122"/>
              </a:rPr>
              <a:t>故   为换出变量。</a:t>
            </a:r>
            <a:endParaRPr lang="zh-CN" altLang="en-US" sz="2800" b="1" dirty="0">
              <a:latin typeface="楷体_GB2312" pitchFamily="49" charset="-122"/>
            </a:endParaRPr>
          </a:p>
        </p:txBody>
      </p:sp>
      <p:graphicFrame>
        <p:nvGraphicFramePr>
          <p:cNvPr id="32978" name="Object 210"/>
          <p:cNvGraphicFramePr/>
          <p:nvPr/>
        </p:nvGraphicFramePr>
        <p:xfrm>
          <a:off x="6143625" y="5943600"/>
          <a:ext cx="495300" cy="609600"/>
        </p:xfrm>
        <a:graphic>
          <a:graphicData uri="http://schemas.openxmlformats.org/presentationml/2006/ole">
            <mc:AlternateContent xmlns:mc="http://schemas.openxmlformats.org/markup-compatibility/2006">
              <mc:Choice xmlns:v="urn:schemas-microsoft-com:vml" Requires="v">
                <p:oleObj spid="_x0000_s3145" name="" r:id="rId25" imgW="203200" imgH="241300" progId="Equation.3">
                  <p:embed/>
                </p:oleObj>
              </mc:Choice>
              <mc:Fallback>
                <p:oleObj name="" r:id="rId25" imgW="203200" imgH="241300" progId="Equation.3">
                  <p:embed/>
                  <p:pic>
                    <p:nvPicPr>
                      <p:cNvPr id="0" name="图片 3144"/>
                      <p:cNvPicPr/>
                      <p:nvPr/>
                    </p:nvPicPr>
                    <p:blipFill>
                      <a:blip r:embed="rId22"/>
                      <a:stretch>
                        <a:fillRect/>
                      </a:stretch>
                    </p:blipFill>
                    <p:spPr>
                      <a:xfrm>
                        <a:off x="6143625" y="5943600"/>
                        <a:ext cx="495300" cy="609600"/>
                      </a:xfrm>
                      <a:prstGeom prst="rect">
                        <a:avLst/>
                      </a:prstGeom>
                      <a:noFill/>
                      <a:ln w="38100">
                        <a:noFill/>
                        <a:miter/>
                      </a:ln>
                    </p:spPr>
                  </p:pic>
                </p:oleObj>
              </mc:Fallback>
            </mc:AlternateContent>
          </a:graphicData>
        </a:graphic>
      </p:graphicFrame>
      <p:sp>
        <p:nvSpPr>
          <p:cNvPr id="32979" name="Line 211"/>
          <p:cNvSpPr/>
          <p:nvPr/>
        </p:nvSpPr>
        <p:spPr>
          <a:xfrm flipV="1">
            <a:off x="2971800" y="4419600"/>
            <a:ext cx="0" cy="304800"/>
          </a:xfrm>
          <a:prstGeom prst="line">
            <a:avLst/>
          </a:prstGeom>
          <a:ln w="9525" cap="flat" cmpd="sng">
            <a:solidFill>
              <a:schemeClr val="tx1"/>
            </a:solidFill>
            <a:prstDash val="solid"/>
            <a:headEnd type="none" w="med" len="med"/>
            <a:tailEnd type="triangle" w="med" len="med"/>
          </a:ln>
        </p:spPr>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32979"/>
                                        </p:tgtEl>
                                        <p:attrNameLst>
                                          <p:attrName>style.visibility</p:attrName>
                                        </p:attrNameLst>
                                      </p:cBhvr>
                                      <p:to>
                                        <p:strVal val="visible"/>
                                      </p:to>
                                    </p:set>
                                    <p:anim calcmode="lin" valueType="num">
                                      <p:cBhvr>
                                        <p:cTn id="7" dur="500" fill="hold"/>
                                        <p:tgtEl>
                                          <p:spTgt spid="32979"/>
                                        </p:tgtEl>
                                        <p:attrNameLst>
                                          <p:attrName>ppt_x</p:attrName>
                                        </p:attrNameLst>
                                      </p:cBhvr>
                                      <p:tavLst>
                                        <p:tav tm="0">
                                          <p:val>
                                            <p:strVal val="#ppt_x"/>
                                          </p:val>
                                        </p:tav>
                                        <p:tav tm="100000">
                                          <p:val>
                                            <p:strVal val="#ppt_x"/>
                                          </p:val>
                                        </p:tav>
                                      </p:tavLst>
                                    </p:anim>
                                    <p:anim calcmode="lin" valueType="num">
                                      <p:cBhvr>
                                        <p:cTn id="8" dur="500" fill="hold"/>
                                        <p:tgtEl>
                                          <p:spTgt spid="32979"/>
                                        </p:tgtEl>
                                        <p:attrNameLst>
                                          <p:attrName>ppt_y</p:attrName>
                                        </p:attrNameLst>
                                      </p:cBhvr>
                                      <p:tavLst>
                                        <p:tav tm="0">
                                          <p:val>
                                            <p:strVal val="#ppt_y+#ppt_h/2"/>
                                          </p:val>
                                        </p:tav>
                                        <p:tav tm="100000">
                                          <p:val>
                                            <p:strVal val="#ppt_y"/>
                                          </p:val>
                                        </p:tav>
                                      </p:tavLst>
                                    </p:anim>
                                    <p:anim calcmode="lin" valueType="num">
                                      <p:cBhvr>
                                        <p:cTn id="9" dur="500" fill="hold"/>
                                        <p:tgtEl>
                                          <p:spTgt spid="32979"/>
                                        </p:tgtEl>
                                        <p:attrNameLst>
                                          <p:attrName>ppt_w</p:attrName>
                                        </p:attrNameLst>
                                      </p:cBhvr>
                                      <p:tavLst>
                                        <p:tav tm="0">
                                          <p:val>
                                            <p:strVal val="#ppt_w"/>
                                          </p:val>
                                        </p:tav>
                                        <p:tav tm="100000">
                                          <p:val>
                                            <p:strVal val="#ppt_w"/>
                                          </p:val>
                                        </p:tav>
                                      </p:tavLst>
                                    </p:anim>
                                    <p:anim calcmode="lin" valueType="num">
                                      <p:cBhvr>
                                        <p:cTn id="10" dur="500" fill="hold"/>
                                        <p:tgtEl>
                                          <p:spTgt spid="32979"/>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2977"/>
                                        </p:tgtEl>
                                        <p:attrNameLst>
                                          <p:attrName>style.visibility</p:attrName>
                                        </p:attrNameLst>
                                      </p:cBhvr>
                                      <p:to>
                                        <p:strVal val="visible"/>
                                      </p:to>
                                    </p:set>
                                    <p:animEffect transition="in" filter="blinds(horizontal)">
                                      <p:cBhvr>
                                        <p:cTn id="15" dur="500"/>
                                        <p:tgtEl>
                                          <p:spTgt spid="32977"/>
                                        </p:tgtEl>
                                      </p:cBhvr>
                                    </p:animEffect>
                                  </p:childTnLst>
                                </p:cTn>
                              </p:par>
                            </p:childTnLst>
                          </p:cTn>
                        </p:par>
                        <p:par>
                          <p:cTn id="16" fill="hold">
                            <p:stCondLst>
                              <p:cond delay="500"/>
                            </p:stCondLst>
                            <p:childTnLst>
                              <p:par>
                                <p:cTn id="17" presetID="3" presetClass="entr" presetSubtype="10" fill="hold" nodeType="afterEffect">
                                  <p:stCondLst>
                                    <p:cond delay="0"/>
                                  </p:stCondLst>
                                  <p:childTnLst>
                                    <p:set>
                                      <p:cBhvr>
                                        <p:cTn id="18" dur="1" fill="hold">
                                          <p:stCondLst>
                                            <p:cond delay="0"/>
                                          </p:stCondLst>
                                        </p:cTn>
                                        <p:tgtEl>
                                          <p:spTgt spid="32978"/>
                                        </p:tgtEl>
                                        <p:attrNameLst>
                                          <p:attrName>style.visibility</p:attrName>
                                        </p:attrNameLst>
                                      </p:cBhvr>
                                      <p:to>
                                        <p:strVal val="visible"/>
                                      </p:to>
                                    </p:set>
                                    <p:animEffect transition="in" filter="blinds(horizontal)">
                                      <p:cBhvr>
                                        <p:cTn id="19" dur="500"/>
                                        <p:tgtEl>
                                          <p:spTgt spid="32978"/>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2980"/>
                                        </p:tgtEl>
                                        <p:attrNameLst>
                                          <p:attrName>style.visibility</p:attrName>
                                        </p:attrNameLst>
                                      </p:cBhvr>
                                      <p:to>
                                        <p:strVal val="visible"/>
                                      </p:to>
                                    </p:set>
                                    <p:animEffect transition="in" filter="dissolve">
                                      <p:cBhvr>
                                        <p:cTn id="24" dur="500"/>
                                        <p:tgtEl>
                                          <p:spTgt spid="32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80" grpId="0" animBg="1"/>
      <p:bldP spid="3297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271" name="Rectangle 407"/>
          <p:cNvSpPr/>
          <p:nvPr/>
        </p:nvSpPr>
        <p:spPr>
          <a:xfrm>
            <a:off x="7010400" y="2286000"/>
            <a:ext cx="533400" cy="381000"/>
          </a:xfrm>
          <a:prstGeom prst="rect">
            <a:avLst/>
          </a:prstGeom>
          <a:solidFill>
            <a:schemeClr val="hlink"/>
          </a:solidFill>
          <a:ln w="9525">
            <a:noFill/>
          </a:ln>
        </p:spPr>
        <p:txBody>
          <a:bodyPr wrap="none" anchor="ctr" anchorCtr="0"/>
          <a:p>
            <a:endParaRPr lang="zh-CN" altLang="en-US" dirty="0">
              <a:latin typeface="Times New Roman" panose="02020603050405020304" pitchFamily="18" charset="0"/>
            </a:endParaRPr>
          </a:p>
        </p:txBody>
      </p:sp>
      <p:graphicFrame>
        <p:nvGraphicFramePr>
          <p:cNvPr id="21519" name="表格 21518"/>
          <p:cNvGraphicFramePr/>
          <p:nvPr/>
        </p:nvGraphicFramePr>
        <p:xfrm>
          <a:off x="228600" y="838200"/>
          <a:ext cx="8686800" cy="4237038"/>
        </p:xfrm>
        <a:graphic>
          <a:graphicData uri="http://schemas.openxmlformats.org/drawingml/2006/table">
            <a:tbl>
              <a:tblPr/>
              <a:tblGrid>
                <a:gridCol w="666750"/>
                <a:gridCol w="669925"/>
                <a:gridCol w="796925"/>
                <a:gridCol w="685800"/>
                <a:gridCol w="685800"/>
                <a:gridCol w="609600"/>
                <a:gridCol w="563563"/>
                <a:gridCol w="666750"/>
                <a:gridCol w="668337"/>
                <a:gridCol w="668338"/>
                <a:gridCol w="709612"/>
                <a:gridCol w="628650"/>
                <a:gridCol w="666750"/>
              </a:tblGrid>
              <a:tr h="457200">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j</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1</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3</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rPr>
                        <a:t>2.5P</a:t>
                      </a:r>
                      <a:r>
                        <a:rPr lang="en-US" altLang="zh-CN" sz="1800" b="1" baseline="-30000" dirty="0">
                          <a:latin typeface="Times New Roman" panose="02020603050405020304" pitchFamily="18" charset="0"/>
                        </a:rPr>
                        <a:t>2</a:t>
                      </a:r>
                      <a:endParaRPr lang="en-US" altLang="zh-CN" sz="18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X</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b</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endParaRPr lang="en-US" altLang="zh-CN" sz="2800"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endParaRPr lang="en-US" altLang="zh-CN" sz="2800"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1</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700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30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30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20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911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endParaRPr lang="en-US" altLang="zh-CN" sz="2800"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60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100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row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en-US" altLang="zh-CN" b="1" i="1" dirty="0">
                        <a:latin typeface="Times New Roman" panose="02020603050405020304" pitchFamily="18" charset="0"/>
                      </a:endParaRPr>
                    </a:p>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kj</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1</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700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30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30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2</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2.5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3</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1506" name="Object 1024"/>
          <p:cNvGraphicFramePr/>
          <p:nvPr/>
        </p:nvGraphicFramePr>
        <p:xfrm>
          <a:off x="4419600" y="1371600"/>
          <a:ext cx="381000" cy="409575"/>
        </p:xfrm>
        <a:graphic>
          <a:graphicData uri="http://schemas.openxmlformats.org/presentationml/2006/ole">
            <mc:AlternateContent xmlns:mc="http://schemas.openxmlformats.org/markup-compatibility/2006">
              <mc:Choice xmlns:v="urn:schemas-microsoft-com:vml" Requires="v">
                <p:oleObj spid="_x0000_s3163" name="" r:id="rId1" imgW="203200" imgH="228600" progId="Equation.3">
                  <p:embed/>
                </p:oleObj>
              </mc:Choice>
              <mc:Fallback>
                <p:oleObj name="" r:id="rId1" imgW="203200" imgH="228600" progId="Equation.3">
                  <p:embed/>
                  <p:pic>
                    <p:nvPicPr>
                      <p:cNvPr id="0" name="图片 3162"/>
                      <p:cNvPicPr/>
                      <p:nvPr/>
                    </p:nvPicPr>
                    <p:blipFill>
                      <a:blip r:embed="rId2"/>
                      <a:stretch>
                        <a:fillRect/>
                      </a:stretch>
                    </p:blipFill>
                    <p:spPr>
                      <a:xfrm>
                        <a:off x="4419600" y="1371600"/>
                        <a:ext cx="381000" cy="409575"/>
                      </a:xfrm>
                      <a:prstGeom prst="rect">
                        <a:avLst/>
                      </a:prstGeom>
                      <a:noFill/>
                      <a:ln w="38100">
                        <a:noFill/>
                        <a:miter/>
                      </a:ln>
                    </p:spPr>
                  </p:pic>
                </p:oleObj>
              </mc:Fallback>
            </mc:AlternateContent>
          </a:graphicData>
        </a:graphic>
      </p:graphicFrame>
      <p:graphicFrame>
        <p:nvGraphicFramePr>
          <p:cNvPr id="21507" name="Object 1025"/>
          <p:cNvGraphicFramePr/>
          <p:nvPr/>
        </p:nvGraphicFramePr>
        <p:xfrm>
          <a:off x="3886200" y="1371600"/>
          <a:ext cx="352425" cy="409575"/>
        </p:xfrm>
        <a:graphic>
          <a:graphicData uri="http://schemas.openxmlformats.org/presentationml/2006/ole">
            <mc:AlternateContent xmlns:mc="http://schemas.openxmlformats.org/markup-compatibility/2006">
              <mc:Choice xmlns:v="urn:schemas-microsoft-com:vml" Requires="v">
                <p:oleObj spid="_x0000_s3157" name="" r:id="rId3" imgW="203200" imgH="228600" progId="Equation.3">
                  <p:embed/>
                </p:oleObj>
              </mc:Choice>
              <mc:Fallback>
                <p:oleObj name="" r:id="rId3" imgW="203200" imgH="228600" progId="Equation.3">
                  <p:embed/>
                  <p:pic>
                    <p:nvPicPr>
                      <p:cNvPr id="0" name="图片 3156"/>
                      <p:cNvPicPr/>
                      <p:nvPr/>
                    </p:nvPicPr>
                    <p:blipFill>
                      <a:blip r:embed="rId4"/>
                      <a:stretch>
                        <a:fillRect/>
                      </a:stretch>
                    </p:blipFill>
                    <p:spPr>
                      <a:xfrm>
                        <a:off x="3886200" y="1371600"/>
                        <a:ext cx="352425" cy="409575"/>
                      </a:xfrm>
                      <a:prstGeom prst="rect">
                        <a:avLst/>
                      </a:prstGeom>
                      <a:noFill/>
                      <a:ln w="38100">
                        <a:noFill/>
                        <a:miter/>
                      </a:ln>
                    </p:spPr>
                  </p:pic>
                </p:oleObj>
              </mc:Fallback>
            </mc:AlternateContent>
          </a:graphicData>
        </a:graphic>
      </p:graphicFrame>
      <p:graphicFrame>
        <p:nvGraphicFramePr>
          <p:cNvPr id="21508" name="Object 1026"/>
          <p:cNvGraphicFramePr/>
          <p:nvPr/>
        </p:nvGraphicFramePr>
        <p:xfrm>
          <a:off x="5029200" y="1371600"/>
          <a:ext cx="352425" cy="409575"/>
        </p:xfrm>
        <a:graphic>
          <a:graphicData uri="http://schemas.openxmlformats.org/presentationml/2006/ole">
            <mc:AlternateContent xmlns:mc="http://schemas.openxmlformats.org/markup-compatibility/2006">
              <mc:Choice xmlns:v="urn:schemas-microsoft-com:vml" Requires="v">
                <p:oleObj spid="_x0000_s3162" name="" r:id="rId5" imgW="203200" imgH="228600" progId="Equation.3">
                  <p:embed/>
                </p:oleObj>
              </mc:Choice>
              <mc:Fallback>
                <p:oleObj name="" r:id="rId5" imgW="203200" imgH="228600" progId="Equation.3">
                  <p:embed/>
                  <p:pic>
                    <p:nvPicPr>
                      <p:cNvPr id="0" name="图片 3161"/>
                      <p:cNvPicPr/>
                      <p:nvPr/>
                    </p:nvPicPr>
                    <p:blipFill>
                      <a:blip r:embed="rId6"/>
                      <a:stretch>
                        <a:fillRect/>
                      </a:stretch>
                    </p:blipFill>
                    <p:spPr>
                      <a:xfrm>
                        <a:off x="5029200" y="1371600"/>
                        <a:ext cx="352425" cy="409575"/>
                      </a:xfrm>
                      <a:prstGeom prst="rect">
                        <a:avLst/>
                      </a:prstGeom>
                      <a:noFill/>
                      <a:ln w="38100">
                        <a:noFill/>
                        <a:miter/>
                      </a:ln>
                    </p:spPr>
                  </p:pic>
                </p:oleObj>
              </mc:Fallback>
            </mc:AlternateContent>
          </a:graphicData>
        </a:graphic>
      </p:graphicFrame>
      <p:graphicFrame>
        <p:nvGraphicFramePr>
          <p:cNvPr id="21509" name="Object 1027"/>
          <p:cNvGraphicFramePr/>
          <p:nvPr/>
        </p:nvGraphicFramePr>
        <p:xfrm>
          <a:off x="5715000" y="1371600"/>
          <a:ext cx="352425" cy="409575"/>
        </p:xfrm>
        <a:graphic>
          <a:graphicData uri="http://schemas.openxmlformats.org/presentationml/2006/ole">
            <mc:AlternateContent xmlns:mc="http://schemas.openxmlformats.org/markup-compatibility/2006">
              <mc:Choice xmlns:v="urn:schemas-microsoft-com:vml" Requires="v">
                <p:oleObj spid="_x0000_s3167" name="" r:id="rId7" imgW="203200" imgH="228600" progId="Equation.3">
                  <p:embed/>
                </p:oleObj>
              </mc:Choice>
              <mc:Fallback>
                <p:oleObj name="" r:id="rId7" imgW="203200" imgH="228600" progId="Equation.3">
                  <p:embed/>
                  <p:pic>
                    <p:nvPicPr>
                      <p:cNvPr id="0" name="图片 3166"/>
                      <p:cNvPicPr/>
                      <p:nvPr/>
                    </p:nvPicPr>
                    <p:blipFill>
                      <a:blip r:embed="rId8"/>
                      <a:stretch>
                        <a:fillRect/>
                      </a:stretch>
                    </p:blipFill>
                    <p:spPr>
                      <a:xfrm>
                        <a:off x="5715000" y="1371600"/>
                        <a:ext cx="352425" cy="409575"/>
                      </a:xfrm>
                      <a:prstGeom prst="rect">
                        <a:avLst/>
                      </a:prstGeom>
                      <a:noFill/>
                      <a:ln w="38100">
                        <a:noFill/>
                        <a:miter/>
                      </a:ln>
                    </p:spPr>
                  </p:pic>
                </p:oleObj>
              </mc:Fallback>
            </mc:AlternateContent>
          </a:graphicData>
        </a:graphic>
      </p:graphicFrame>
      <p:graphicFrame>
        <p:nvGraphicFramePr>
          <p:cNvPr id="21510" name="Object 1028"/>
          <p:cNvGraphicFramePr/>
          <p:nvPr/>
        </p:nvGraphicFramePr>
        <p:xfrm>
          <a:off x="6400800" y="1360488"/>
          <a:ext cx="352425" cy="433387"/>
        </p:xfrm>
        <a:graphic>
          <a:graphicData uri="http://schemas.openxmlformats.org/presentationml/2006/ole">
            <mc:AlternateContent xmlns:mc="http://schemas.openxmlformats.org/markup-compatibility/2006">
              <mc:Choice xmlns:v="urn:schemas-microsoft-com:vml" Requires="v">
                <p:oleObj spid="_x0000_s3168" name="" r:id="rId9" imgW="203200" imgH="241300" progId="Equation.3">
                  <p:embed/>
                </p:oleObj>
              </mc:Choice>
              <mc:Fallback>
                <p:oleObj name="" r:id="rId9" imgW="203200" imgH="241300" progId="Equation.3">
                  <p:embed/>
                  <p:pic>
                    <p:nvPicPr>
                      <p:cNvPr id="0" name="图片 3167"/>
                      <p:cNvPicPr/>
                      <p:nvPr/>
                    </p:nvPicPr>
                    <p:blipFill>
                      <a:blip r:embed="rId10"/>
                      <a:stretch>
                        <a:fillRect/>
                      </a:stretch>
                    </p:blipFill>
                    <p:spPr>
                      <a:xfrm>
                        <a:off x="6400800" y="1360488"/>
                        <a:ext cx="352425" cy="433387"/>
                      </a:xfrm>
                      <a:prstGeom prst="rect">
                        <a:avLst/>
                      </a:prstGeom>
                      <a:noFill/>
                      <a:ln w="38100">
                        <a:noFill/>
                        <a:miter/>
                      </a:ln>
                    </p:spPr>
                  </p:pic>
                </p:oleObj>
              </mc:Fallback>
            </mc:AlternateContent>
          </a:graphicData>
        </a:graphic>
      </p:graphicFrame>
      <p:graphicFrame>
        <p:nvGraphicFramePr>
          <p:cNvPr id="21511" name="Object 1029"/>
          <p:cNvGraphicFramePr/>
          <p:nvPr/>
        </p:nvGraphicFramePr>
        <p:xfrm>
          <a:off x="7086600" y="1360488"/>
          <a:ext cx="352425" cy="433387"/>
        </p:xfrm>
        <a:graphic>
          <a:graphicData uri="http://schemas.openxmlformats.org/presentationml/2006/ole">
            <mc:AlternateContent xmlns:mc="http://schemas.openxmlformats.org/markup-compatibility/2006">
              <mc:Choice xmlns:v="urn:schemas-microsoft-com:vml" Requires="v">
                <p:oleObj spid="_x0000_s3165" name="" r:id="rId11" imgW="203200" imgH="241300" progId="Equation.3">
                  <p:embed/>
                </p:oleObj>
              </mc:Choice>
              <mc:Fallback>
                <p:oleObj name="" r:id="rId11" imgW="203200" imgH="241300" progId="Equation.3">
                  <p:embed/>
                  <p:pic>
                    <p:nvPicPr>
                      <p:cNvPr id="0" name="图片 3164"/>
                      <p:cNvPicPr/>
                      <p:nvPr/>
                    </p:nvPicPr>
                    <p:blipFill>
                      <a:blip r:embed="rId12"/>
                      <a:stretch>
                        <a:fillRect/>
                      </a:stretch>
                    </p:blipFill>
                    <p:spPr>
                      <a:xfrm>
                        <a:off x="7086600" y="1360488"/>
                        <a:ext cx="352425" cy="433387"/>
                      </a:xfrm>
                      <a:prstGeom prst="rect">
                        <a:avLst/>
                      </a:prstGeom>
                      <a:noFill/>
                      <a:ln w="38100">
                        <a:noFill/>
                        <a:miter/>
                      </a:ln>
                    </p:spPr>
                  </p:pic>
                </p:oleObj>
              </mc:Fallback>
            </mc:AlternateContent>
          </a:graphicData>
        </a:graphic>
      </p:graphicFrame>
      <p:graphicFrame>
        <p:nvGraphicFramePr>
          <p:cNvPr id="21512" name="Object 1030"/>
          <p:cNvGraphicFramePr/>
          <p:nvPr/>
        </p:nvGraphicFramePr>
        <p:xfrm>
          <a:off x="7772400" y="1371600"/>
          <a:ext cx="352425" cy="409575"/>
        </p:xfrm>
        <a:graphic>
          <a:graphicData uri="http://schemas.openxmlformats.org/presentationml/2006/ole">
            <mc:AlternateContent xmlns:mc="http://schemas.openxmlformats.org/markup-compatibility/2006">
              <mc:Choice xmlns:v="urn:schemas-microsoft-com:vml" Requires="v">
                <p:oleObj spid="_x0000_s3164" name="" r:id="rId13" imgW="203200" imgH="228600" progId="Equation.3">
                  <p:embed/>
                </p:oleObj>
              </mc:Choice>
              <mc:Fallback>
                <p:oleObj name="" r:id="rId13" imgW="203200" imgH="228600" progId="Equation.3">
                  <p:embed/>
                  <p:pic>
                    <p:nvPicPr>
                      <p:cNvPr id="0" name="图片 3163"/>
                      <p:cNvPicPr/>
                      <p:nvPr/>
                    </p:nvPicPr>
                    <p:blipFill>
                      <a:blip r:embed="rId14"/>
                      <a:stretch>
                        <a:fillRect/>
                      </a:stretch>
                    </p:blipFill>
                    <p:spPr>
                      <a:xfrm>
                        <a:off x="7772400" y="1371600"/>
                        <a:ext cx="352425" cy="409575"/>
                      </a:xfrm>
                      <a:prstGeom prst="rect">
                        <a:avLst/>
                      </a:prstGeom>
                      <a:noFill/>
                      <a:ln w="38100">
                        <a:noFill/>
                        <a:miter/>
                      </a:ln>
                    </p:spPr>
                  </p:pic>
                </p:oleObj>
              </mc:Fallback>
            </mc:AlternateContent>
          </a:graphicData>
        </a:graphic>
      </p:graphicFrame>
      <p:graphicFrame>
        <p:nvGraphicFramePr>
          <p:cNvPr id="21513" name="Object 1031"/>
          <p:cNvGraphicFramePr/>
          <p:nvPr/>
        </p:nvGraphicFramePr>
        <p:xfrm>
          <a:off x="8382000" y="1371600"/>
          <a:ext cx="352425" cy="409575"/>
        </p:xfrm>
        <a:graphic>
          <a:graphicData uri="http://schemas.openxmlformats.org/presentationml/2006/ole">
            <mc:AlternateContent xmlns:mc="http://schemas.openxmlformats.org/markup-compatibility/2006">
              <mc:Choice xmlns:v="urn:schemas-microsoft-com:vml" Requires="v">
                <p:oleObj spid="_x0000_s3166" name="" r:id="rId15" imgW="203200" imgH="228600" progId="Equation.3">
                  <p:embed/>
                </p:oleObj>
              </mc:Choice>
              <mc:Fallback>
                <p:oleObj name="" r:id="rId15" imgW="203200" imgH="228600" progId="Equation.3">
                  <p:embed/>
                  <p:pic>
                    <p:nvPicPr>
                      <p:cNvPr id="0" name="图片 3165"/>
                      <p:cNvPicPr/>
                      <p:nvPr/>
                    </p:nvPicPr>
                    <p:blipFill>
                      <a:blip r:embed="rId16"/>
                      <a:stretch>
                        <a:fillRect/>
                      </a:stretch>
                    </p:blipFill>
                    <p:spPr>
                      <a:xfrm>
                        <a:off x="8382000" y="1371600"/>
                        <a:ext cx="352425" cy="409575"/>
                      </a:xfrm>
                      <a:prstGeom prst="rect">
                        <a:avLst/>
                      </a:prstGeom>
                      <a:noFill/>
                      <a:ln w="38100">
                        <a:noFill/>
                        <a:miter/>
                      </a:ln>
                    </p:spPr>
                  </p:pic>
                </p:oleObj>
              </mc:Fallback>
            </mc:AlternateContent>
          </a:graphicData>
        </a:graphic>
      </p:graphicFrame>
      <p:graphicFrame>
        <p:nvGraphicFramePr>
          <p:cNvPr id="21514" name="Object 1032"/>
          <p:cNvGraphicFramePr/>
          <p:nvPr/>
        </p:nvGraphicFramePr>
        <p:xfrm>
          <a:off x="1066800" y="1828800"/>
          <a:ext cx="352425" cy="409575"/>
        </p:xfrm>
        <a:graphic>
          <a:graphicData uri="http://schemas.openxmlformats.org/presentationml/2006/ole">
            <mc:AlternateContent xmlns:mc="http://schemas.openxmlformats.org/markup-compatibility/2006">
              <mc:Choice xmlns:v="urn:schemas-microsoft-com:vml" Requires="v">
                <p:oleObj spid="_x0000_s3160" name="" r:id="rId17" imgW="203200" imgH="228600" progId="Equation.3">
                  <p:embed/>
                </p:oleObj>
              </mc:Choice>
              <mc:Fallback>
                <p:oleObj name="" r:id="rId17" imgW="203200" imgH="228600" progId="Equation.3">
                  <p:embed/>
                  <p:pic>
                    <p:nvPicPr>
                      <p:cNvPr id="0" name="图片 3159"/>
                      <p:cNvPicPr/>
                      <p:nvPr/>
                    </p:nvPicPr>
                    <p:blipFill>
                      <a:blip r:embed="rId18"/>
                      <a:stretch>
                        <a:fillRect/>
                      </a:stretch>
                    </p:blipFill>
                    <p:spPr>
                      <a:xfrm>
                        <a:off x="1066800" y="1828800"/>
                        <a:ext cx="352425" cy="409575"/>
                      </a:xfrm>
                      <a:prstGeom prst="rect">
                        <a:avLst/>
                      </a:prstGeom>
                      <a:noFill/>
                      <a:ln w="38100">
                        <a:noFill/>
                        <a:miter/>
                      </a:ln>
                    </p:spPr>
                  </p:pic>
                </p:oleObj>
              </mc:Fallback>
            </mc:AlternateContent>
          </a:graphicData>
        </a:graphic>
      </p:graphicFrame>
      <p:graphicFrame>
        <p:nvGraphicFramePr>
          <p:cNvPr id="21515" name="Object 1033"/>
          <p:cNvGraphicFramePr/>
          <p:nvPr/>
        </p:nvGraphicFramePr>
        <p:xfrm>
          <a:off x="1066800" y="2286000"/>
          <a:ext cx="352425" cy="409575"/>
        </p:xfrm>
        <a:graphic>
          <a:graphicData uri="http://schemas.openxmlformats.org/presentationml/2006/ole">
            <mc:AlternateContent xmlns:mc="http://schemas.openxmlformats.org/markup-compatibility/2006">
              <mc:Choice xmlns:v="urn:schemas-microsoft-com:vml" Requires="v">
                <p:oleObj spid="_x0000_s3161" name="" r:id="rId19" imgW="203200" imgH="228600" progId="Equation.3">
                  <p:embed/>
                </p:oleObj>
              </mc:Choice>
              <mc:Fallback>
                <p:oleObj name="" r:id="rId19" imgW="203200" imgH="228600" progId="Equation.3">
                  <p:embed/>
                  <p:pic>
                    <p:nvPicPr>
                      <p:cNvPr id="0" name="图片 3160"/>
                      <p:cNvPicPr/>
                      <p:nvPr/>
                    </p:nvPicPr>
                    <p:blipFill>
                      <a:blip r:embed="rId20"/>
                      <a:stretch>
                        <a:fillRect/>
                      </a:stretch>
                    </p:blipFill>
                    <p:spPr>
                      <a:xfrm>
                        <a:off x="1066800" y="2286000"/>
                        <a:ext cx="352425" cy="409575"/>
                      </a:xfrm>
                      <a:prstGeom prst="rect">
                        <a:avLst/>
                      </a:prstGeom>
                      <a:noFill/>
                      <a:ln w="38100">
                        <a:noFill/>
                        <a:miter/>
                      </a:ln>
                    </p:spPr>
                  </p:pic>
                </p:oleObj>
              </mc:Fallback>
            </mc:AlternateContent>
          </a:graphicData>
        </a:graphic>
      </p:graphicFrame>
      <p:graphicFrame>
        <p:nvGraphicFramePr>
          <p:cNvPr id="21516" name="Object 1034"/>
          <p:cNvGraphicFramePr/>
          <p:nvPr/>
        </p:nvGraphicFramePr>
        <p:xfrm>
          <a:off x="1066800" y="3200400"/>
          <a:ext cx="352425" cy="409575"/>
        </p:xfrm>
        <a:graphic>
          <a:graphicData uri="http://schemas.openxmlformats.org/presentationml/2006/ole">
            <mc:AlternateContent xmlns:mc="http://schemas.openxmlformats.org/markup-compatibility/2006">
              <mc:Choice xmlns:v="urn:schemas-microsoft-com:vml" Requires="v">
                <p:oleObj spid="_x0000_s3159" name="" r:id="rId21" imgW="203200" imgH="228600" progId="Equation.3">
                  <p:embed/>
                </p:oleObj>
              </mc:Choice>
              <mc:Fallback>
                <p:oleObj name="" r:id="rId21" imgW="203200" imgH="228600" progId="Equation.3">
                  <p:embed/>
                  <p:pic>
                    <p:nvPicPr>
                      <p:cNvPr id="0" name="图片 3158"/>
                      <p:cNvPicPr/>
                      <p:nvPr/>
                    </p:nvPicPr>
                    <p:blipFill>
                      <a:blip r:embed="rId22"/>
                      <a:stretch>
                        <a:fillRect/>
                      </a:stretch>
                    </p:blipFill>
                    <p:spPr>
                      <a:xfrm>
                        <a:off x="1066800" y="3200400"/>
                        <a:ext cx="352425" cy="409575"/>
                      </a:xfrm>
                      <a:prstGeom prst="rect">
                        <a:avLst/>
                      </a:prstGeom>
                      <a:noFill/>
                      <a:ln w="38100">
                        <a:noFill/>
                        <a:miter/>
                      </a:ln>
                    </p:spPr>
                  </p:pic>
                </p:oleObj>
              </mc:Fallback>
            </mc:AlternateContent>
          </a:graphicData>
        </a:graphic>
      </p:graphicFrame>
      <p:sp>
        <p:nvSpPr>
          <p:cNvPr id="37269" name="Line 405"/>
          <p:cNvSpPr/>
          <p:nvPr/>
        </p:nvSpPr>
        <p:spPr>
          <a:xfrm flipV="1">
            <a:off x="7543800" y="3733800"/>
            <a:ext cx="0" cy="304800"/>
          </a:xfrm>
          <a:prstGeom prst="line">
            <a:avLst/>
          </a:prstGeom>
          <a:ln w="9525" cap="flat" cmpd="sng">
            <a:solidFill>
              <a:schemeClr val="tx1"/>
            </a:solidFill>
            <a:prstDash val="solid"/>
            <a:headEnd type="none" w="med" len="med"/>
            <a:tailEnd type="triangle" w="med" len="med"/>
          </a:ln>
        </p:spPr>
      </p:sp>
      <p:sp>
        <p:nvSpPr>
          <p:cNvPr id="37270" name="Text Box 406"/>
          <p:cNvSpPr txBox="1"/>
          <p:nvPr/>
        </p:nvSpPr>
        <p:spPr>
          <a:xfrm>
            <a:off x="381000" y="5638800"/>
            <a:ext cx="8763000" cy="519113"/>
          </a:xfrm>
          <a:prstGeom prst="rect">
            <a:avLst/>
          </a:prstGeom>
          <a:noFill/>
          <a:ln w="9525">
            <a:noFill/>
          </a:ln>
        </p:spPr>
        <p:txBody>
          <a:bodyPr>
            <a:spAutoFit/>
          </a:bodyPr>
          <a:p>
            <a:pPr>
              <a:spcBef>
                <a:spcPct val="50000"/>
              </a:spcBef>
            </a:pPr>
            <a:r>
              <a:rPr lang="en-US" altLang="zh-CN" sz="2800" i="1" dirty="0">
                <a:latin typeface="Times New Roman" panose="02020603050405020304" pitchFamily="18" charset="0"/>
              </a:rPr>
              <a:t>θ= </a:t>
            </a:r>
            <a:r>
              <a:rPr lang="en-US" altLang="zh-CN" sz="2800" dirty="0">
                <a:latin typeface="Times New Roman" panose="02020603050405020304" pitchFamily="18" charset="0"/>
              </a:rPr>
              <a:t>min</a:t>
            </a:r>
            <a:r>
              <a:rPr lang="zh-CN" altLang="en-US" sz="2800" dirty="0">
                <a:latin typeface="Times New Roman" panose="02020603050405020304" pitchFamily="18" charset="0"/>
              </a:rPr>
              <a:t>｛</a:t>
            </a:r>
            <a:r>
              <a:rPr lang="en-US" altLang="zh-CN" sz="2800" dirty="0">
                <a:latin typeface="Times New Roman" panose="02020603050405020304" pitchFamily="18" charset="0"/>
              </a:rPr>
              <a:t>700/30,20/2,</a:t>
            </a:r>
            <a:r>
              <a:rPr lang="zh-CN" altLang="en-US" sz="2800" dirty="0">
                <a:latin typeface="Times New Roman" panose="02020603050405020304" pitchFamily="18" charset="0"/>
              </a:rPr>
              <a:t>－</a:t>
            </a:r>
            <a:r>
              <a:rPr lang="en-US" altLang="zh-CN" sz="2800" dirty="0">
                <a:latin typeface="Times New Roman" panose="02020603050405020304" pitchFamily="18" charset="0"/>
              </a:rPr>
              <a:t>, </a:t>
            </a:r>
            <a:r>
              <a:rPr lang="zh-CN" altLang="en-US" sz="2800" dirty="0">
                <a:latin typeface="Times New Roman" panose="02020603050405020304" pitchFamily="18" charset="0"/>
              </a:rPr>
              <a:t>－｝</a:t>
            </a:r>
            <a:r>
              <a:rPr lang="en-US" altLang="zh-CN" sz="2800" dirty="0">
                <a:latin typeface="Times New Roman" panose="02020603050405020304" pitchFamily="18" charset="0"/>
              </a:rPr>
              <a:t>=10</a:t>
            </a:r>
            <a:r>
              <a:rPr lang="en-US" altLang="zh-CN" sz="2800" dirty="0">
                <a:latin typeface="Times New Roman" panose="02020603050405020304" pitchFamily="18" charset="0"/>
                <a:ea typeface="宋体" panose="02010600030101010101" pitchFamily="2" charset="-122"/>
              </a:rPr>
              <a:t> ,</a:t>
            </a:r>
            <a:r>
              <a:rPr lang="zh-CN" altLang="en-US" sz="2800" b="1" dirty="0">
                <a:latin typeface="楷体_GB2312" pitchFamily="49" charset="-122"/>
              </a:rPr>
              <a:t>故   为换出变量。</a:t>
            </a:r>
            <a:endParaRPr lang="zh-CN" altLang="en-US" sz="2800" b="1" dirty="0">
              <a:latin typeface="楷体_GB2312" pitchFamily="49" charset="-122"/>
            </a:endParaRPr>
          </a:p>
        </p:txBody>
      </p:sp>
      <p:graphicFrame>
        <p:nvGraphicFramePr>
          <p:cNvPr id="78859" name="Object 1035"/>
          <p:cNvGraphicFramePr/>
          <p:nvPr/>
        </p:nvGraphicFramePr>
        <p:xfrm>
          <a:off x="6072188" y="5562600"/>
          <a:ext cx="523875" cy="609600"/>
        </p:xfrm>
        <a:graphic>
          <a:graphicData uri="http://schemas.openxmlformats.org/presentationml/2006/ole">
            <mc:AlternateContent xmlns:mc="http://schemas.openxmlformats.org/markup-compatibility/2006">
              <mc:Choice xmlns:v="urn:schemas-microsoft-com:vml" Requires="v">
                <p:oleObj spid="_x0000_s3158" name="" r:id="rId23" imgW="203200" imgH="228600" progId="Equation.3">
                  <p:embed/>
                </p:oleObj>
              </mc:Choice>
              <mc:Fallback>
                <p:oleObj name="" r:id="rId23" imgW="203200" imgH="228600" progId="Equation.3">
                  <p:embed/>
                  <p:pic>
                    <p:nvPicPr>
                      <p:cNvPr id="0" name="图片 3157"/>
                      <p:cNvPicPr/>
                      <p:nvPr/>
                    </p:nvPicPr>
                    <p:blipFill>
                      <a:blip r:embed="rId20"/>
                      <a:stretch>
                        <a:fillRect/>
                      </a:stretch>
                    </p:blipFill>
                    <p:spPr>
                      <a:xfrm>
                        <a:off x="6072188" y="5562600"/>
                        <a:ext cx="523875" cy="609600"/>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7269"/>
                                        </p:tgtEl>
                                        <p:attrNameLst>
                                          <p:attrName>style.visibility</p:attrName>
                                        </p:attrNameLst>
                                      </p:cBhvr>
                                      <p:to>
                                        <p:strVal val="visible"/>
                                      </p:to>
                                    </p:set>
                                    <p:animEffect transition="in" filter="dissolve">
                                      <p:cBhvr>
                                        <p:cTn id="7" dur="500"/>
                                        <p:tgtEl>
                                          <p:spTgt spid="3726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270"/>
                                        </p:tgtEl>
                                        <p:attrNameLst>
                                          <p:attrName>style.visibility</p:attrName>
                                        </p:attrNameLst>
                                      </p:cBhvr>
                                      <p:to>
                                        <p:strVal val="visible"/>
                                      </p:to>
                                    </p:set>
                                    <p:animEffect transition="in" filter="blinds(horizontal)">
                                      <p:cBhvr>
                                        <p:cTn id="12" dur="500"/>
                                        <p:tgtEl>
                                          <p:spTgt spid="37270"/>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78859"/>
                                        </p:tgtEl>
                                        <p:attrNameLst>
                                          <p:attrName>style.visibility</p:attrName>
                                        </p:attrNameLst>
                                      </p:cBhvr>
                                      <p:to>
                                        <p:strVal val="visible"/>
                                      </p:to>
                                    </p:set>
                                    <p:animEffect transition="in" filter="dissolve">
                                      <p:cBhvr>
                                        <p:cTn id="16" dur="500"/>
                                        <p:tgtEl>
                                          <p:spTgt spid="7885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7271"/>
                                        </p:tgtEl>
                                        <p:attrNameLst>
                                          <p:attrName>style.visibility</p:attrName>
                                        </p:attrNameLst>
                                      </p:cBhvr>
                                      <p:to>
                                        <p:strVal val="visible"/>
                                      </p:to>
                                    </p:set>
                                    <p:animEffect transition="in" filter="dissolve">
                                      <p:cBhvr>
                                        <p:cTn id="21" dur="500"/>
                                        <p:tgtEl>
                                          <p:spTgt spid="37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1" grpId="0" animBg="1"/>
      <p:bldP spid="3727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944" name="Rectangle 152"/>
          <p:cNvSpPr/>
          <p:nvPr/>
        </p:nvSpPr>
        <p:spPr>
          <a:xfrm>
            <a:off x="5715000" y="1905000"/>
            <a:ext cx="533400" cy="381000"/>
          </a:xfrm>
          <a:prstGeom prst="rect">
            <a:avLst/>
          </a:prstGeom>
          <a:solidFill>
            <a:schemeClr val="hlink"/>
          </a:solidFill>
          <a:ln w="9525">
            <a:noFill/>
          </a:ln>
        </p:spPr>
        <p:txBody>
          <a:bodyPr wrap="none" anchor="ctr" anchorCtr="0"/>
          <a:p>
            <a:endParaRPr lang="zh-CN" altLang="en-US" dirty="0">
              <a:latin typeface="Times New Roman" panose="02020603050405020304" pitchFamily="18" charset="0"/>
            </a:endParaRPr>
          </a:p>
        </p:txBody>
      </p:sp>
      <p:graphicFrame>
        <p:nvGraphicFramePr>
          <p:cNvPr id="22543" name="表格 22542"/>
          <p:cNvGraphicFramePr/>
          <p:nvPr/>
        </p:nvGraphicFramePr>
        <p:xfrm>
          <a:off x="228600" y="914400"/>
          <a:ext cx="8686800" cy="4237038"/>
        </p:xfrm>
        <a:graphic>
          <a:graphicData uri="http://schemas.openxmlformats.org/drawingml/2006/table">
            <a:tbl>
              <a:tblPr/>
              <a:tblGrid>
                <a:gridCol w="762000"/>
                <a:gridCol w="574675"/>
                <a:gridCol w="796925"/>
                <a:gridCol w="609600"/>
                <a:gridCol w="685800"/>
                <a:gridCol w="609600"/>
                <a:gridCol w="685800"/>
                <a:gridCol w="620713"/>
                <a:gridCol w="750887"/>
                <a:gridCol w="585788"/>
                <a:gridCol w="709612"/>
                <a:gridCol w="628650"/>
                <a:gridCol w="666750"/>
              </a:tblGrid>
              <a:tr h="457200">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j</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1</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3</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rPr>
                        <a:t>2.5P</a:t>
                      </a:r>
                      <a:r>
                        <a:rPr lang="en-US" altLang="zh-CN" sz="1800" b="1" baseline="-30000" dirty="0">
                          <a:latin typeface="Times New Roman" panose="02020603050405020304" pitchFamily="18" charset="0"/>
                        </a:rPr>
                        <a:t>2</a:t>
                      </a:r>
                      <a:endParaRPr lang="en-US" altLang="zh-CN" sz="18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X</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b</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endParaRPr lang="en-US" altLang="zh-CN" sz="2800"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endParaRPr lang="en-US" altLang="zh-CN" sz="2800"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1</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400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-3</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rPr>
                        <a:t>2.5P</a:t>
                      </a:r>
                      <a:r>
                        <a:rPr lang="en-US" altLang="zh-CN" sz="1800" b="1" baseline="-30000" dirty="0">
                          <a:latin typeface="Times New Roman" panose="02020603050405020304" pitchFamily="18" charset="0"/>
                        </a:rPr>
                        <a:t>2</a:t>
                      </a:r>
                      <a:endParaRPr lang="en-US" altLang="zh-CN" sz="1800" b="1" baseline="-300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911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endParaRPr lang="en-US" altLang="zh-CN" sz="2800"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70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100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row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en-US" altLang="zh-CN" b="1" i="1" dirty="0">
                        <a:latin typeface="Times New Roman" panose="02020603050405020304" pitchFamily="18" charset="0"/>
                      </a:endParaRPr>
                    </a:p>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kj</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1</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400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3</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2</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25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-5/4</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-5/4</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5/4</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5/2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3</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2530" name="Object 140"/>
          <p:cNvGraphicFramePr/>
          <p:nvPr/>
        </p:nvGraphicFramePr>
        <p:xfrm>
          <a:off x="4419600" y="1447800"/>
          <a:ext cx="381000" cy="409575"/>
        </p:xfrm>
        <a:graphic>
          <a:graphicData uri="http://schemas.openxmlformats.org/presentationml/2006/ole">
            <mc:AlternateContent xmlns:mc="http://schemas.openxmlformats.org/markup-compatibility/2006">
              <mc:Choice xmlns:v="urn:schemas-microsoft-com:vml" Requires="v">
                <p:oleObj spid="_x0000_s3185" name="" r:id="rId1" imgW="203200" imgH="228600" progId="Equation.3">
                  <p:embed/>
                </p:oleObj>
              </mc:Choice>
              <mc:Fallback>
                <p:oleObj name="" r:id="rId1" imgW="203200" imgH="228600" progId="Equation.3">
                  <p:embed/>
                  <p:pic>
                    <p:nvPicPr>
                      <p:cNvPr id="0" name="图片 3184"/>
                      <p:cNvPicPr/>
                      <p:nvPr/>
                    </p:nvPicPr>
                    <p:blipFill>
                      <a:blip r:embed="rId2"/>
                      <a:stretch>
                        <a:fillRect/>
                      </a:stretch>
                    </p:blipFill>
                    <p:spPr>
                      <a:xfrm>
                        <a:off x="4419600" y="1447800"/>
                        <a:ext cx="381000" cy="409575"/>
                      </a:xfrm>
                      <a:prstGeom prst="rect">
                        <a:avLst/>
                      </a:prstGeom>
                      <a:noFill/>
                      <a:ln w="38100">
                        <a:noFill/>
                        <a:miter/>
                      </a:ln>
                    </p:spPr>
                  </p:pic>
                </p:oleObj>
              </mc:Fallback>
            </mc:AlternateContent>
          </a:graphicData>
        </a:graphic>
      </p:graphicFrame>
      <p:graphicFrame>
        <p:nvGraphicFramePr>
          <p:cNvPr id="22531" name="Object 141"/>
          <p:cNvGraphicFramePr/>
          <p:nvPr/>
        </p:nvGraphicFramePr>
        <p:xfrm>
          <a:off x="3886200" y="1447800"/>
          <a:ext cx="352425" cy="409575"/>
        </p:xfrm>
        <a:graphic>
          <a:graphicData uri="http://schemas.openxmlformats.org/presentationml/2006/ole">
            <mc:AlternateContent xmlns:mc="http://schemas.openxmlformats.org/markup-compatibility/2006">
              <mc:Choice xmlns:v="urn:schemas-microsoft-com:vml" Requires="v">
                <p:oleObj spid="_x0000_s3187" name="" r:id="rId3" imgW="203200" imgH="228600" progId="Equation.3">
                  <p:embed/>
                </p:oleObj>
              </mc:Choice>
              <mc:Fallback>
                <p:oleObj name="" r:id="rId3" imgW="203200" imgH="228600" progId="Equation.3">
                  <p:embed/>
                  <p:pic>
                    <p:nvPicPr>
                      <p:cNvPr id="0" name="图片 3186"/>
                      <p:cNvPicPr/>
                      <p:nvPr/>
                    </p:nvPicPr>
                    <p:blipFill>
                      <a:blip r:embed="rId4"/>
                      <a:stretch>
                        <a:fillRect/>
                      </a:stretch>
                    </p:blipFill>
                    <p:spPr>
                      <a:xfrm>
                        <a:off x="3886200" y="1447800"/>
                        <a:ext cx="352425" cy="409575"/>
                      </a:xfrm>
                      <a:prstGeom prst="rect">
                        <a:avLst/>
                      </a:prstGeom>
                      <a:noFill/>
                      <a:ln w="38100">
                        <a:noFill/>
                        <a:miter/>
                      </a:ln>
                    </p:spPr>
                  </p:pic>
                </p:oleObj>
              </mc:Fallback>
            </mc:AlternateContent>
          </a:graphicData>
        </a:graphic>
      </p:graphicFrame>
      <p:graphicFrame>
        <p:nvGraphicFramePr>
          <p:cNvPr id="22532" name="Object 142"/>
          <p:cNvGraphicFramePr/>
          <p:nvPr/>
        </p:nvGraphicFramePr>
        <p:xfrm>
          <a:off x="5029200" y="1447800"/>
          <a:ext cx="352425" cy="409575"/>
        </p:xfrm>
        <a:graphic>
          <a:graphicData uri="http://schemas.openxmlformats.org/presentationml/2006/ole">
            <mc:AlternateContent xmlns:mc="http://schemas.openxmlformats.org/markup-compatibility/2006">
              <mc:Choice xmlns:v="urn:schemas-microsoft-com:vml" Requires="v">
                <p:oleObj spid="_x0000_s3184" name="" r:id="rId5" imgW="203200" imgH="228600" progId="Equation.3">
                  <p:embed/>
                </p:oleObj>
              </mc:Choice>
              <mc:Fallback>
                <p:oleObj name="" r:id="rId5" imgW="203200" imgH="228600" progId="Equation.3">
                  <p:embed/>
                  <p:pic>
                    <p:nvPicPr>
                      <p:cNvPr id="0" name="图片 3183"/>
                      <p:cNvPicPr/>
                      <p:nvPr/>
                    </p:nvPicPr>
                    <p:blipFill>
                      <a:blip r:embed="rId6"/>
                      <a:stretch>
                        <a:fillRect/>
                      </a:stretch>
                    </p:blipFill>
                    <p:spPr>
                      <a:xfrm>
                        <a:off x="5029200" y="1447800"/>
                        <a:ext cx="352425" cy="409575"/>
                      </a:xfrm>
                      <a:prstGeom prst="rect">
                        <a:avLst/>
                      </a:prstGeom>
                      <a:noFill/>
                      <a:ln w="38100">
                        <a:noFill/>
                        <a:miter/>
                      </a:ln>
                    </p:spPr>
                  </p:pic>
                </p:oleObj>
              </mc:Fallback>
            </mc:AlternateContent>
          </a:graphicData>
        </a:graphic>
      </p:graphicFrame>
      <p:graphicFrame>
        <p:nvGraphicFramePr>
          <p:cNvPr id="22533" name="Object 143"/>
          <p:cNvGraphicFramePr/>
          <p:nvPr/>
        </p:nvGraphicFramePr>
        <p:xfrm>
          <a:off x="5715000" y="1447800"/>
          <a:ext cx="352425" cy="409575"/>
        </p:xfrm>
        <a:graphic>
          <a:graphicData uri="http://schemas.openxmlformats.org/presentationml/2006/ole">
            <mc:AlternateContent xmlns:mc="http://schemas.openxmlformats.org/markup-compatibility/2006">
              <mc:Choice xmlns:v="urn:schemas-microsoft-com:vml" Requires="v">
                <p:oleObj spid="_x0000_s3192" name="" r:id="rId7" imgW="203200" imgH="228600" progId="Equation.3">
                  <p:embed/>
                </p:oleObj>
              </mc:Choice>
              <mc:Fallback>
                <p:oleObj name="" r:id="rId7" imgW="203200" imgH="228600" progId="Equation.3">
                  <p:embed/>
                  <p:pic>
                    <p:nvPicPr>
                      <p:cNvPr id="0" name="图片 3191"/>
                      <p:cNvPicPr/>
                      <p:nvPr/>
                    </p:nvPicPr>
                    <p:blipFill>
                      <a:blip r:embed="rId8"/>
                      <a:stretch>
                        <a:fillRect/>
                      </a:stretch>
                    </p:blipFill>
                    <p:spPr>
                      <a:xfrm>
                        <a:off x="5715000" y="1447800"/>
                        <a:ext cx="352425" cy="409575"/>
                      </a:xfrm>
                      <a:prstGeom prst="rect">
                        <a:avLst/>
                      </a:prstGeom>
                      <a:noFill/>
                      <a:ln w="38100">
                        <a:noFill/>
                        <a:miter/>
                      </a:ln>
                    </p:spPr>
                  </p:pic>
                </p:oleObj>
              </mc:Fallback>
            </mc:AlternateContent>
          </a:graphicData>
        </a:graphic>
      </p:graphicFrame>
      <p:graphicFrame>
        <p:nvGraphicFramePr>
          <p:cNvPr id="22534" name="Object 144"/>
          <p:cNvGraphicFramePr/>
          <p:nvPr/>
        </p:nvGraphicFramePr>
        <p:xfrm>
          <a:off x="6400800" y="1436688"/>
          <a:ext cx="352425" cy="433387"/>
        </p:xfrm>
        <a:graphic>
          <a:graphicData uri="http://schemas.openxmlformats.org/presentationml/2006/ole">
            <mc:AlternateContent xmlns:mc="http://schemas.openxmlformats.org/markup-compatibility/2006">
              <mc:Choice xmlns:v="urn:schemas-microsoft-com:vml" Requires="v">
                <p:oleObj spid="_x0000_s3181" name="" r:id="rId9" imgW="203200" imgH="241300" progId="Equation.3">
                  <p:embed/>
                </p:oleObj>
              </mc:Choice>
              <mc:Fallback>
                <p:oleObj name="" r:id="rId9" imgW="203200" imgH="241300" progId="Equation.3">
                  <p:embed/>
                  <p:pic>
                    <p:nvPicPr>
                      <p:cNvPr id="0" name="图片 3180"/>
                      <p:cNvPicPr/>
                      <p:nvPr/>
                    </p:nvPicPr>
                    <p:blipFill>
                      <a:blip r:embed="rId10"/>
                      <a:stretch>
                        <a:fillRect/>
                      </a:stretch>
                    </p:blipFill>
                    <p:spPr>
                      <a:xfrm>
                        <a:off x="6400800" y="1436688"/>
                        <a:ext cx="352425" cy="433387"/>
                      </a:xfrm>
                      <a:prstGeom prst="rect">
                        <a:avLst/>
                      </a:prstGeom>
                      <a:noFill/>
                      <a:ln w="38100">
                        <a:noFill/>
                        <a:miter/>
                      </a:ln>
                    </p:spPr>
                  </p:pic>
                </p:oleObj>
              </mc:Fallback>
            </mc:AlternateContent>
          </a:graphicData>
        </a:graphic>
      </p:graphicFrame>
      <p:graphicFrame>
        <p:nvGraphicFramePr>
          <p:cNvPr id="22535" name="Object 145"/>
          <p:cNvGraphicFramePr/>
          <p:nvPr/>
        </p:nvGraphicFramePr>
        <p:xfrm>
          <a:off x="7086600" y="1436688"/>
          <a:ext cx="352425" cy="433387"/>
        </p:xfrm>
        <a:graphic>
          <a:graphicData uri="http://schemas.openxmlformats.org/presentationml/2006/ole">
            <mc:AlternateContent xmlns:mc="http://schemas.openxmlformats.org/markup-compatibility/2006">
              <mc:Choice xmlns:v="urn:schemas-microsoft-com:vml" Requires="v">
                <p:oleObj spid="_x0000_s3190" name="" r:id="rId11" imgW="203200" imgH="241300" progId="Equation.3">
                  <p:embed/>
                </p:oleObj>
              </mc:Choice>
              <mc:Fallback>
                <p:oleObj name="" r:id="rId11" imgW="203200" imgH="241300" progId="Equation.3">
                  <p:embed/>
                  <p:pic>
                    <p:nvPicPr>
                      <p:cNvPr id="0" name="图片 3189"/>
                      <p:cNvPicPr/>
                      <p:nvPr/>
                    </p:nvPicPr>
                    <p:blipFill>
                      <a:blip r:embed="rId12"/>
                      <a:stretch>
                        <a:fillRect/>
                      </a:stretch>
                    </p:blipFill>
                    <p:spPr>
                      <a:xfrm>
                        <a:off x="7086600" y="1436688"/>
                        <a:ext cx="352425" cy="433387"/>
                      </a:xfrm>
                      <a:prstGeom prst="rect">
                        <a:avLst/>
                      </a:prstGeom>
                      <a:noFill/>
                      <a:ln w="38100">
                        <a:noFill/>
                        <a:miter/>
                      </a:ln>
                    </p:spPr>
                  </p:pic>
                </p:oleObj>
              </mc:Fallback>
            </mc:AlternateContent>
          </a:graphicData>
        </a:graphic>
      </p:graphicFrame>
      <p:graphicFrame>
        <p:nvGraphicFramePr>
          <p:cNvPr id="22536" name="Object 146"/>
          <p:cNvGraphicFramePr/>
          <p:nvPr/>
        </p:nvGraphicFramePr>
        <p:xfrm>
          <a:off x="7772400" y="1447800"/>
          <a:ext cx="352425" cy="409575"/>
        </p:xfrm>
        <a:graphic>
          <a:graphicData uri="http://schemas.openxmlformats.org/presentationml/2006/ole">
            <mc:AlternateContent xmlns:mc="http://schemas.openxmlformats.org/markup-compatibility/2006">
              <mc:Choice xmlns:v="urn:schemas-microsoft-com:vml" Requires="v">
                <p:oleObj spid="_x0000_s3189" name="" r:id="rId13" imgW="203200" imgH="228600" progId="Equation.3">
                  <p:embed/>
                </p:oleObj>
              </mc:Choice>
              <mc:Fallback>
                <p:oleObj name="" r:id="rId13" imgW="203200" imgH="228600" progId="Equation.3">
                  <p:embed/>
                  <p:pic>
                    <p:nvPicPr>
                      <p:cNvPr id="0" name="图片 3188"/>
                      <p:cNvPicPr/>
                      <p:nvPr/>
                    </p:nvPicPr>
                    <p:blipFill>
                      <a:blip r:embed="rId14"/>
                      <a:stretch>
                        <a:fillRect/>
                      </a:stretch>
                    </p:blipFill>
                    <p:spPr>
                      <a:xfrm>
                        <a:off x="7772400" y="1447800"/>
                        <a:ext cx="352425" cy="409575"/>
                      </a:xfrm>
                      <a:prstGeom prst="rect">
                        <a:avLst/>
                      </a:prstGeom>
                      <a:noFill/>
                      <a:ln w="38100">
                        <a:noFill/>
                        <a:miter/>
                      </a:ln>
                    </p:spPr>
                  </p:pic>
                </p:oleObj>
              </mc:Fallback>
            </mc:AlternateContent>
          </a:graphicData>
        </a:graphic>
      </p:graphicFrame>
      <p:graphicFrame>
        <p:nvGraphicFramePr>
          <p:cNvPr id="22537" name="Object 147"/>
          <p:cNvGraphicFramePr/>
          <p:nvPr/>
        </p:nvGraphicFramePr>
        <p:xfrm>
          <a:off x="8382000" y="1447800"/>
          <a:ext cx="352425" cy="409575"/>
        </p:xfrm>
        <a:graphic>
          <a:graphicData uri="http://schemas.openxmlformats.org/presentationml/2006/ole">
            <mc:AlternateContent xmlns:mc="http://schemas.openxmlformats.org/markup-compatibility/2006">
              <mc:Choice xmlns:v="urn:schemas-microsoft-com:vml" Requires="v">
                <p:oleObj spid="_x0000_s3182" name="" r:id="rId15" imgW="203200" imgH="228600" progId="Equation.3">
                  <p:embed/>
                </p:oleObj>
              </mc:Choice>
              <mc:Fallback>
                <p:oleObj name="" r:id="rId15" imgW="203200" imgH="228600" progId="Equation.3">
                  <p:embed/>
                  <p:pic>
                    <p:nvPicPr>
                      <p:cNvPr id="0" name="图片 3181"/>
                      <p:cNvPicPr/>
                      <p:nvPr/>
                    </p:nvPicPr>
                    <p:blipFill>
                      <a:blip r:embed="rId16"/>
                      <a:stretch>
                        <a:fillRect/>
                      </a:stretch>
                    </p:blipFill>
                    <p:spPr>
                      <a:xfrm>
                        <a:off x="8382000" y="1447800"/>
                        <a:ext cx="352425" cy="409575"/>
                      </a:xfrm>
                      <a:prstGeom prst="rect">
                        <a:avLst/>
                      </a:prstGeom>
                      <a:noFill/>
                      <a:ln w="38100">
                        <a:noFill/>
                        <a:miter/>
                      </a:ln>
                    </p:spPr>
                  </p:pic>
                </p:oleObj>
              </mc:Fallback>
            </mc:AlternateContent>
          </a:graphicData>
        </a:graphic>
      </p:graphicFrame>
      <p:graphicFrame>
        <p:nvGraphicFramePr>
          <p:cNvPr id="22538" name="Object 148"/>
          <p:cNvGraphicFramePr/>
          <p:nvPr/>
        </p:nvGraphicFramePr>
        <p:xfrm>
          <a:off x="1066800" y="1905000"/>
          <a:ext cx="352425" cy="409575"/>
        </p:xfrm>
        <a:graphic>
          <a:graphicData uri="http://schemas.openxmlformats.org/presentationml/2006/ole">
            <mc:AlternateContent xmlns:mc="http://schemas.openxmlformats.org/markup-compatibility/2006">
              <mc:Choice xmlns:v="urn:schemas-microsoft-com:vml" Requires="v">
                <p:oleObj spid="_x0000_s3188" name="" r:id="rId17" imgW="203200" imgH="228600" progId="Equation.3">
                  <p:embed/>
                </p:oleObj>
              </mc:Choice>
              <mc:Fallback>
                <p:oleObj name="" r:id="rId17" imgW="203200" imgH="228600" progId="Equation.3">
                  <p:embed/>
                  <p:pic>
                    <p:nvPicPr>
                      <p:cNvPr id="0" name="图片 3187"/>
                      <p:cNvPicPr/>
                      <p:nvPr/>
                    </p:nvPicPr>
                    <p:blipFill>
                      <a:blip r:embed="rId18"/>
                      <a:stretch>
                        <a:fillRect/>
                      </a:stretch>
                    </p:blipFill>
                    <p:spPr>
                      <a:xfrm>
                        <a:off x="1066800" y="1905000"/>
                        <a:ext cx="352425" cy="409575"/>
                      </a:xfrm>
                      <a:prstGeom prst="rect">
                        <a:avLst/>
                      </a:prstGeom>
                      <a:noFill/>
                      <a:ln w="38100">
                        <a:noFill/>
                        <a:miter/>
                      </a:ln>
                    </p:spPr>
                  </p:pic>
                </p:oleObj>
              </mc:Fallback>
            </mc:AlternateContent>
          </a:graphicData>
        </a:graphic>
      </p:graphicFrame>
      <p:graphicFrame>
        <p:nvGraphicFramePr>
          <p:cNvPr id="22539" name="Object 151"/>
          <p:cNvGraphicFramePr/>
          <p:nvPr/>
        </p:nvGraphicFramePr>
        <p:xfrm>
          <a:off x="1066800" y="3276600"/>
          <a:ext cx="352425" cy="409575"/>
        </p:xfrm>
        <a:graphic>
          <a:graphicData uri="http://schemas.openxmlformats.org/presentationml/2006/ole">
            <mc:AlternateContent xmlns:mc="http://schemas.openxmlformats.org/markup-compatibility/2006">
              <mc:Choice xmlns:v="urn:schemas-microsoft-com:vml" Requires="v">
                <p:oleObj spid="_x0000_s3183" name="" r:id="rId19" imgW="203200" imgH="228600" progId="Equation.3">
                  <p:embed/>
                </p:oleObj>
              </mc:Choice>
              <mc:Fallback>
                <p:oleObj name="" r:id="rId19" imgW="203200" imgH="228600" progId="Equation.3">
                  <p:embed/>
                  <p:pic>
                    <p:nvPicPr>
                      <p:cNvPr id="0" name="图片 3182"/>
                      <p:cNvPicPr/>
                      <p:nvPr/>
                    </p:nvPicPr>
                    <p:blipFill>
                      <a:blip r:embed="rId20"/>
                      <a:stretch>
                        <a:fillRect/>
                      </a:stretch>
                    </p:blipFill>
                    <p:spPr>
                      <a:xfrm>
                        <a:off x="1066800" y="3276600"/>
                        <a:ext cx="352425" cy="409575"/>
                      </a:xfrm>
                      <a:prstGeom prst="rect">
                        <a:avLst/>
                      </a:prstGeom>
                      <a:noFill/>
                      <a:ln w="38100">
                        <a:noFill/>
                        <a:miter/>
                      </a:ln>
                    </p:spPr>
                  </p:pic>
                </p:oleObj>
              </mc:Fallback>
            </mc:AlternateContent>
          </a:graphicData>
        </a:graphic>
      </p:graphicFrame>
      <p:sp>
        <p:nvSpPr>
          <p:cNvPr id="33945" name="Text Box 153"/>
          <p:cNvSpPr txBox="1"/>
          <p:nvPr/>
        </p:nvSpPr>
        <p:spPr>
          <a:xfrm>
            <a:off x="304800" y="5486400"/>
            <a:ext cx="8534400" cy="519113"/>
          </a:xfrm>
          <a:prstGeom prst="rect">
            <a:avLst/>
          </a:prstGeom>
          <a:noFill/>
          <a:ln w="9525">
            <a:noFill/>
          </a:ln>
        </p:spPr>
        <p:txBody>
          <a:bodyPr>
            <a:spAutoFit/>
          </a:bodyPr>
          <a:p>
            <a:pPr>
              <a:spcBef>
                <a:spcPct val="50000"/>
              </a:spcBef>
            </a:pPr>
            <a:r>
              <a:rPr lang="en-US" altLang="zh-CN" sz="2800" i="1" dirty="0">
                <a:latin typeface="Times New Roman" panose="02020603050405020304" pitchFamily="18" charset="0"/>
              </a:rPr>
              <a:t>θ= </a:t>
            </a:r>
            <a:r>
              <a:rPr lang="en-US" altLang="zh-CN" sz="2800" dirty="0">
                <a:latin typeface="Times New Roman" panose="02020603050405020304" pitchFamily="18" charset="0"/>
              </a:rPr>
              <a:t>min</a:t>
            </a:r>
            <a:r>
              <a:rPr lang="zh-CN" altLang="en-US" sz="2800" dirty="0">
                <a:latin typeface="Times New Roman" panose="02020603050405020304" pitchFamily="18" charset="0"/>
              </a:rPr>
              <a:t>｛</a:t>
            </a:r>
            <a:r>
              <a:rPr lang="en-US" altLang="zh-CN" sz="2800" dirty="0">
                <a:latin typeface="Times New Roman" panose="02020603050405020304" pitchFamily="18" charset="0"/>
              </a:rPr>
              <a:t>400/15,</a:t>
            </a:r>
            <a:r>
              <a:rPr lang="zh-CN" altLang="en-US" sz="2800" dirty="0">
                <a:latin typeface="Times New Roman" panose="02020603050405020304" pitchFamily="18" charset="0"/>
              </a:rPr>
              <a:t>－</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r>
              <a:rPr lang="en-US" altLang="zh-CN" sz="2800" dirty="0">
                <a:latin typeface="Times New Roman" panose="02020603050405020304" pitchFamily="18" charset="0"/>
              </a:rPr>
              <a:t>, </a:t>
            </a:r>
            <a:r>
              <a:rPr lang="zh-CN" altLang="en-US" sz="2800" dirty="0">
                <a:latin typeface="Times New Roman" panose="02020603050405020304" pitchFamily="18" charset="0"/>
              </a:rPr>
              <a:t>－｝</a:t>
            </a:r>
            <a:r>
              <a:rPr lang="en-US" altLang="zh-CN" sz="2800" dirty="0">
                <a:latin typeface="Times New Roman" panose="02020603050405020304" pitchFamily="18" charset="0"/>
              </a:rPr>
              <a:t>=10</a:t>
            </a:r>
            <a:r>
              <a:rPr lang="en-US" altLang="zh-CN" sz="2800" dirty="0">
                <a:latin typeface="Times New Roman" panose="02020603050405020304" pitchFamily="18" charset="0"/>
                <a:ea typeface="宋体" panose="02010600030101010101" pitchFamily="2" charset="-122"/>
              </a:rPr>
              <a:t> ,</a:t>
            </a:r>
            <a:r>
              <a:rPr lang="zh-CN" altLang="en-US" sz="2800" b="1" dirty="0">
                <a:latin typeface="楷体_GB2312" pitchFamily="49" charset="-122"/>
              </a:rPr>
              <a:t>故   为换出变量。</a:t>
            </a:r>
            <a:endParaRPr lang="zh-CN" altLang="en-US" sz="2800" b="1" dirty="0">
              <a:latin typeface="楷体_GB2312" pitchFamily="49" charset="-122"/>
            </a:endParaRPr>
          </a:p>
        </p:txBody>
      </p:sp>
      <p:graphicFrame>
        <p:nvGraphicFramePr>
          <p:cNvPr id="22540" name="Object 154"/>
          <p:cNvGraphicFramePr/>
          <p:nvPr/>
        </p:nvGraphicFramePr>
        <p:xfrm>
          <a:off x="1066800" y="2362200"/>
          <a:ext cx="352425" cy="433388"/>
        </p:xfrm>
        <a:graphic>
          <a:graphicData uri="http://schemas.openxmlformats.org/presentationml/2006/ole">
            <mc:AlternateContent xmlns:mc="http://schemas.openxmlformats.org/markup-compatibility/2006">
              <mc:Choice xmlns:v="urn:schemas-microsoft-com:vml" Requires="v">
                <p:oleObj spid="_x0000_s3186" name="" r:id="rId21" imgW="203200" imgH="241300" progId="Equation.3">
                  <p:embed/>
                </p:oleObj>
              </mc:Choice>
              <mc:Fallback>
                <p:oleObj name="" r:id="rId21" imgW="203200" imgH="241300" progId="Equation.3">
                  <p:embed/>
                  <p:pic>
                    <p:nvPicPr>
                      <p:cNvPr id="0" name="图片 3185"/>
                      <p:cNvPicPr/>
                      <p:nvPr/>
                    </p:nvPicPr>
                    <p:blipFill>
                      <a:blip r:embed="rId12"/>
                      <a:stretch>
                        <a:fillRect/>
                      </a:stretch>
                    </p:blipFill>
                    <p:spPr>
                      <a:xfrm>
                        <a:off x="1066800" y="2362200"/>
                        <a:ext cx="352425" cy="433388"/>
                      </a:xfrm>
                      <a:prstGeom prst="rect">
                        <a:avLst/>
                      </a:prstGeom>
                      <a:noFill/>
                      <a:ln w="38100">
                        <a:noFill/>
                        <a:miter/>
                      </a:ln>
                    </p:spPr>
                  </p:pic>
                </p:oleObj>
              </mc:Fallback>
            </mc:AlternateContent>
          </a:graphicData>
        </a:graphic>
      </p:graphicFrame>
      <p:sp>
        <p:nvSpPr>
          <p:cNvPr id="33960" name="Line 168"/>
          <p:cNvSpPr/>
          <p:nvPr/>
        </p:nvSpPr>
        <p:spPr>
          <a:xfrm flipV="1">
            <a:off x="6172200" y="3810000"/>
            <a:ext cx="0" cy="304800"/>
          </a:xfrm>
          <a:prstGeom prst="line">
            <a:avLst/>
          </a:prstGeom>
          <a:ln w="9525" cap="flat" cmpd="sng">
            <a:solidFill>
              <a:schemeClr val="tx1"/>
            </a:solidFill>
            <a:prstDash val="solid"/>
            <a:headEnd type="none" w="med" len="med"/>
            <a:tailEnd type="triangle" w="med" len="med"/>
          </a:ln>
        </p:spPr>
      </p:sp>
      <p:graphicFrame>
        <p:nvGraphicFramePr>
          <p:cNvPr id="33961" name="Object 169"/>
          <p:cNvGraphicFramePr/>
          <p:nvPr/>
        </p:nvGraphicFramePr>
        <p:xfrm>
          <a:off x="5721350" y="5429250"/>
          <a:ext cx="565150" cy="581025"/>
        </p:xfrm>
        <a:graphic>
          <a:graphicData uri="http://schemas.openxmlformats.org/presentationml/2006/ole">
            <mc:AlternateContent xmlns:mc="http://schemas.openxmlformats.org/markup-compatibility/2006">
              <mc:Choice xmlns:v="urn:schemas-microsoft-com:vml" Requires="v">
                <p:oleObj spid="_x0000_s3191" name="" r:id="rId22" imgW="203200" imgH="228600" progId="Equation.3">
                  <p:embed/>
                </p:oleObj>
              </mc:Choice>
              <mc:Fallback>
                <p:oleObj name="" r:id="rId22" imgW="203200" imgH="228600" progId="Equation.3">
                  <p:embed/>
                  <p:pic>
                    <p:nvPicPr>
                      <p:cNvPr id="0" name="图片 3190"/>
                      <p:cNvPicPr/>
                      <p:nvPr/>
                    </p:nvPicPr>
                    <p:blipFill>
                      <a:blip r:embed="rId18"/>
                      <a:stretch>
                        <a:fillRect/>
                      </a:stretch>
                    </p:blipFill>
                    <p:spPr>
                      <a:xfrm>
                        <a:off x="5721350" y="5429250"/>
                        <a:ext cx="565150" cy="581025"/>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33960"/>
                                        </p:tgtEl>
                                        <p:attrNameLst>
                                          <p:attrName>style.visibility</p:attrName>
                                        </p:attrNameLst>
                                      </p:cBhvr>
                                      <p:to>
                                        <p:strVal val="visible"/>
                                      </p:to>
                                    </p:set>
                                    <p:anim calcmode="lin" valueType="num">
                                      <p:cBhvr>
                                        <p:cTn id="7" dur="500" fill="hold"/>
                                        <p:tgtEl>
                                          <p:spTgt spid="33960"/>
                                        </p:tgtEl>
                                        <p:attrNameLst>
                                          <p:attrName>ppt_x</p:attrName>
                                        </p:attrNameLst>
                                      </p:cBhvr>
                                      <p:tavLst>
                                        <p:tav tm="0">
                                          <p:val>
                                            <p:strVal val="#ppt_x"/>
                                          </p:val>
                                        </p:tav>
                                        <p:tav tm="100000">
                                          <p:val>
                                            <p:strVal val="#ppt_x"/>
                                          </p:val>
                                        </p:tav>
                                      </p:tavLst>
                                    </p:anim>
                                    <p:anim calcmode="lin" valueType="num">
                                      <p:cBhvr>
                                        <p:cTn id="8" dur="500" fill="hold"/>
                                        <p:tgtEl>
                                          <p:spTgt spid="33960"/>
                                        </p:tgtEl>
                                        <p:attrNameLst>
                                          <p:attrName>ppt_y</p:attrName>
                                        </p:attrNameLst>
                                      </p:cBhvr>
                                      <p:tavLst>
                                        <p:tav tm="0">
                                          <p:val>
                                            <p:strVal val="#ppt_y+#ppt_h/2"/>
                                          </p:val>
                                        </p:tav>
                                        <p:tav tm="100000">
                                          <p:val>
                                            <p:strVal val="#ppt_y"/>
                                          </p:val>
                                        </p:tav>
                                      </p:tavLst>
                                    </p:anim>
                                    <p:anim calcmode="lin" valueType="num">
                                      <p:cBhvr>
                                        <p:cTn id="9" dur="500" fill="hold"/>
                                        <p:tgtEl>
                                          <p:spTgt spid="33960"/>
                                        </p:tgtEl>
                                        <p:attrNameLst>
                                          <p:attrName>ppt_w</p:attrName>
                                        </p:attrNameLst>
                                      </p:cBhvr>
                                      <p:tavLst>
                                        <p:tav tm="0">
                                          <p:val>
                                            <p:strVal val="#ppt_w"/>
                                          </p:val>
                                        </p:tav>
                                        <p:tav tm="100000">
                                          <p:val>
                                            <p:strVal val="#ppt_w"/>
                                          </p:val>
                                        </p:tav>
                                      </p:tavLst>
                                    </p:anim>
                                    <p:anim calcmode="lin" valueType="num">
                                      <p:cBhvr>
                                        <p:cTn id="10" dur="500" fill="hold"/>
                                        <p:tgtEl>
                                          <p:spTgt spid="33960"/>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3945"/>
                                        </p:tgtEl>
                                        <p:attrNameLst>
                                          <p:attrName>style.visibility</p:attrName>
                                        </p:attrNameLst>
                                      </p:cBhvr>
                                      <p:to>
                                        <p:strVal val="visible"/>
                                      </p:to>
                                    </p:set>
                                    <p:animEffect transition="in" filter="blinds(horizontal)">
                                      <p:cBhvr>
                                        <p:cTn id="15" dur="500"/>
                                        <p:tgtEl>
                                          <p:spTgt spid="33945"/>
                                        </p:tgtEl>
                                      </p:cBhvr>
                                    </p:animEffect>
                                  </p:childTnLst>
                                </p:cTn>
                              </p:par>
                            </p:childTnLst>
                          </p:cTn>
                        </p:par>
                        <p:par>
                          <p:cTn id="16" fill="hold">
                            <p:stCondLst>
                              <p:cond delay="500"/>
                            </p:stCondLst>
                            <p:childTnLst>
                              <p:par>
                                <p:cTn id="17" presetID="9" presetClass="entr" presetSubtype="0" fill="hold" nodeType="afterEffect">
                                  <p:stCondLst>
                                    <p:cond delay="0"/>
                                  </p:stCondLst>
                                  <p:childTnLst>
                                    <p:set>
                                      <p:cBhvr>
                                        <p:cTn id="18" dur="1" fill="hold">
                                          <p:stCondLst>
                                            <p:cond delay="0"/>
                                          </p:stCondLst>
                                        </p:cTn>
                                        <p:tgtEl>
                                          <p:spTgt spid="33961"/>
                                        </p:tgtEl>
                                        <p:attrNameLst>
                                          <p:attrName>style.visibility</p:attrName>
                                        </p:attrNameLst>
                                      </p:cBhvr>
                                      <p:to>
                                        <p:strVal val="visible"/>
                                      </p:to>
                                    </p:set>
                                    <p:animEffect transition="in" filter="dissolve">
                                      <p:cBhvr>
                                        <p:cTn id="19" dur="500"/>
                                        <p:tgtEl>
                                          <p:spTgt spid="33961"/>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3944"/>
                                        </p:tgtEl>
                                        <p:attrNameLst>
                                          <p:attrName>style.visibility</p:attrName>
                                        </p:attrNameLst>
                                      </p:cBhvr>
                                      <p:to>
                                        <p:strVal val="visible"/>
                                      </p:to>
                                    </p:set>
                                    <p:animEffect transition="in" filter="dissolve">
                                      <p:cBhvr>
                                        <p:cTn id="24" dur="500"/>
                                        <p:tgtEl>
                                          <p:spTgt spid="33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44" grpId="0" animBg="1"/>
      <p:bldP spid="3394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968" name="Rectangle 152"/>
          <p:cNvSpPr/>
          <p:nvPr/>
        </p:nvSpPr>
        <p:spPr>
          <a:xfrm>
            <a:off x="3048000" y="2362200"/>
            <a:ext cx="609600" cy="381000"/>
          </a:xfrm>
          <a:prstGeom prst="rect">
            <a:avLst/>
          </a:prstGeom>
          <a:solidFill>
            <a:schemeClr val="hlink"/>
          </a:solidFill>
          <a:ln w="9525">
            <a:noFill/>
          </a:ln>
        </p:spPr>
        <p:txBody>
          <a:bodyPr wrap="none" anchor="ctr" anchorCtr="0"/>
          <a:p>
            <a:endParaRPr lang="zh-CN" altLang="en-US" dirty="0">
              <a:latin typeface="Times New Roman" panose="02020603050405020304" pitchFamily="18" charset="0"/>
            </a:endParaRPr>
          </a:p>
        </p:txBody>
      </p:sp>
      <p:graphicFrame>
        <p:nvGraphicFramePr>
          <p:cNvPr id="23567" name="表格 23566"/>
          <p:cNvGraphicFramePr/>
          <p:nvPr/>
        </p:nvGraphicFramePr>
        <p:xfrm>
          <a:off x="228600" y="914400"/>
          <a:ext cx="8686800" cy="4237038"/>
        </p:xfrm>
        <a:graphic>
          <a:graphicData uri="http://schemas.openxmlformats.org/drawingml/2006/table">
            <a:tbl>
              <a:tblPr/>
              <a:tblGrid>
                <a:gridCol w="762000"/>
                <a:gridCol w="574675"/>
                <a:gridCol w="796925"/>
                <a:gridCol w="685800"/>
                <a:gridCol w="609600"/>
                <a:gridCol w="685800"/>
                <a:gridCol w="685800"/>
                <a:gridCol w="544513"/>
                <a:gridCol w="668337"/>
                <a:gridCol w="668338"/>
                <a:gridCol w="709612"/>
                <a:gridCol w="628650"/>
                <a:gridCol w="666750"/>
              </a:tblGrid>
              <a:tr h="457200">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j</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1</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3</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rPr>
                        <a:t>2.5P</a:t>
                      </a:r>
                      <a:r>
                        <a:rPr lang="en-US" altLang="zh-CN" sz="1800" b="1" baseline="-30000" dirty="0">
                          <a:latin typeface="Times New Roman" panose="02020603050405020304" pitchFamily="18" charset="0"/>
                        </a:rPr>
                        <a:t>2</a:t>
                      </a:r>
                      <a:endParaRPr lang="en-US" altLang="zh-CN" sz="18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X</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b</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endParaRPr lang="en-US" altLang="zh-CN" sz="2800"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endParaRPr lang="en-US" altLang="zh-CN" sz="2800"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3</a:t>
                      </a:r>
                      <a:endParaRPr lang="en-US" altLang="zh-CN" sz="2000" b="1" baseline="-300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80/3</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rPr>
                        <a:t>2.5P</a:t>
                      </a:r>
                      <a:r>
                        <a:rPr lang="en-US" altLang="zh-CN" sz="1800" b="1" baseline="-30000" dirty="0">
                          <a:latin typeface="Times New Roman" panose="02020603050405020304" pitchFamily="18" charset="0"/>
                        </a:rPr>
                        <a:t>2</a:t>
                      </a:r>
                      <a:endParaRPr lang="en-US" altLang="zh-CN" sz="1800" b="1" baseline="-300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70/3</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2/5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1/30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-1/30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911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endParaRPr lang="en-US" altLang="zh-CN" sz="2800"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250/3</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2/5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1/30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-1/30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100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row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en-US" altLang="zh-CN" b="1" i="1" dirty="0">
                        <a:latin typeface="Times New Roman" panose="02020603050405020304" pitchFamily="18" charset="0"/>
                      </a:endParaRPr>
                    </a:p>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kj</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1</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2</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-175/3</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2/5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3</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-80/3</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1/15</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3554" name="Object 140"/>
          <p:cNvGraphicFramePr/>
          <p:nvPr/>
        </p:nvGraphicFramePr>
        <p:xfrm>
          <a:off x="4419600" y="1447800"/>
          <a:ext cx="381000" cy="409575"/>
        </p:xfrm>
        <a:graphic>
          <a:graphicData uri="http://schemas.openxmlformats.org/presentationml/2006/ole">
            <mc:AlternateContent xmlns:mc="http://schemas.openxmlformats.org/markup-compatibility/2006">
              <mc:Choice xmlns:v="urn:schemas-microsoft-com:vml" Requires="v">
                <p:oleObj spid="_x0000_s3199" name="" r:id="rId1" imgW="203200" imgH="228600" progId="Equation.3">
                  <p:embed/>
                </p:oleObj>
              </mc:Choice>
              <mc:Fallback>
                <p:oleObj name="" r:id="rId1" imgW="203200" imgH="228600" progId="Equation.3">
                  <p:embed/>
                  <p:pic>
                    <p:nvPicPr>
                      <p:cNvPr id="0" name="图片 3198"/>
                      <p:cNvPicPr/>
                      <p:nvPr/>
                    </p:nvPicPr>
                    <p:blipFill>
                      <a:blip r:embed="rId2"/>
                      <a:stretch>
                        <a:fillRect/>
                      </a:stretch>
                    </p:blipFill>
                    <p:spPr>
                      <a:xfrm>
                        <a:off x="4419600" y="1447800"/>
                        <a:ext cx="381000" cy="409575"/>
                      </a:xfrm>
                      <a:prstGeom prst="rect">
                        <a:avLst/>
                      </a:prstGeom>
                      <a:noFill/>
                      <a:ln w="38100">
                        <a:noFill/>
                        <a:miter/>
                      </a:ln>
                    </p:spPr>
                  </p:pic>
                </p:oleObj>
              </mc:Fallback>
            </mc:AlternateContent>
          </a:graphicData>
        </a:graphic>
      </p:graphicFrame>
      <p:graphicFrame>
        <p:nvGraphicFramePr>
          <p:cNvPr id="23555" name="Object 141"/>
          <p:cNvGraphicFramePr/>
          <p:nvPr/>
        </p:nvGraphicFramePr>
        <p:xfrm>
          <a:off x="3886200" y="1447800"/>
          <a:ext cx="352425" cy="409575"/>
        </p:xfrm>
        <a:graphic>
          <a:graphicData uri="http://schemas.openxmlformats.org/presentationml/2006/ole">
            <mc:AlternateContent xmlns:mc="http://schemas.openxmlformats.org/markup-compatibility/2006">
              <mc:Choice xmlns:v="urn:schemas-microsoft-com:vml" Requires="v">
                <p:oleObj spid="_x0000_s3194" name="" r:id="rId3" imgW="203200" imgH="228600" progId="Equation.3">
                  <p:embed/>
                </p:oleObj>
              </mc:Choice>
              <mc:Fallback>
                <p:oleObj name="" r:id="rId3" imgW="203200" imgH="228600" progId="Equation.3">
                  <p:embed/>
                  <p:pic>
                    <p:nvPicPr>
                      <p:cNvPr id="0" name="图片 3193"/>
                      <p:cNvPicPr/>
                      <p:nvPr/>
                    </p:nvPicPr>
                    <p:blipFill>
                      <a:blip r:embed="rId4"/>
                      <a:stretch>
                        <a:fillRect/>
                      </a:stretch>
                    </p:blipFill>
                    <p:spPr>
                      <a:xfrm>
                        <a:off x="3886200" y="1447800"/>
                        <a:ext cx="352425" cy="409575"/>
                      </a:xfrm>
                      <a:prstGeom prst="rect">
                        <a:avLst/>
                      </a:prstGeom>
                      <a:noFill/>
                      <a:ln w="38100">
                        <a:noFill/>
                        <a:miter/>
                      </a:ln>
                    </p:spPr>
                  </p:pic>
                </p:oleObj>
              </mc:Fallback>
            </mc:AlternateContent>
          </a:graphicData>
        </a:graphic>
      </p:graphicFrame>
      <p:graphicFrame>
        <p:nvGraphicFramePr>
          <p:cNvPr id="23556" name="Object 142"/>
          <p:cNvGraphicFramePr/>
          <p:nvPr/>
        </p:nvGraphicFramePr>
        <p:xfrm>
          <a:off x="5029200" y="1447800"/>
          <a:ext cx="352425" cy="409575"/>
        </p:xfrm>
        <a:graphic>
          <a:graphicData uri="http://schemas.openxmlformats.org/presentationml/2006/ole">
            <mc:AlternateContent xmlns:mc="http://schemas.openxmlformats.org/markup-compatibility/2006">
              <mc:Choice xmlns:v="urn:schemas-microsoft-com:vml" Requires="v">
                <p:oleObj spid="_x0000_s3195" name="" r:id="rId5" imgW="203200" imgH="228600" progId="Equation.3">
                  <p:embed/>
                </p:oleObj>
              </mc:Choice>
              <mc:Fallback>
                <p:oleObj name="" r:id="rId5" imgW="203200" imgH="228600" progId="Equation.3">
                  <p:embed/>
                  <p:pic>
                    <p:nvPicPr>
                      <p:cNvPr id="0" name="图片 3194"/>
                      <p:cNvPicPr/>
                      <p:nvPr/>
                    </p:nvPicPr>
                    <p:blipFill>
                      <a:blip r:embed="rId6"/>
                      <a:stretch>
                        <a:fillRect/>
                      </a:stretch>
                    </p:blipFill>
                    <p:spPr>
                      <a:xfrm>
                        <a:off x="5029200" y="1447800"/>
                        <a:ext cx="352425" cy="409575"/>
                      </a:xfrm>
                      <a:prstGeom prst="rect">
                        <a:avLst/>
                      </a:prstGeom>
                      <a:noFill/>
                      <a:ln w="38100">
                        <a:noFill/>
                        <a:miter/>
                      </a:ln>
                    </p:spPr>
                  </p:pic>
                </p:oleObj>
              </mc:Fallback>
            </mc:AlternateContent>
          </a:graphicData>
        </a:graphic>
      </p:graphicFrame>
      <p:graphicFrame>
        <p:nvGraphicFramePr>
          <p:cNvPr id="23557" name="Object 143"/>
          <p:cNvGraphicFramePr/>
          <p:nvPr/>
        </p:nvGraphicFramePr>
        <p:xfrm>
          <a:off x="5715000" y="1447800"/>
          <a:ext cx="352425" cy="409575"/>
        </p:xfrm>
        <a:graphic>
          <a:graphicData uri="http://schemas.openxmlformats.org/presentationml/2006/ole">
            <mc:AlternateContent xmlns:mc="http://schemas.openxmlformats.org/markup-compatibility/2006">
              <mc:Choice xmlns:v="urn:schemas-microsoft-com:vml" Requires="v">
                <p:oleObj spid="_x0000_s3201" name="" r:id="rId7" imgW="203200" imgH="228600" progId="Equation.3">
                  <p:embed/>
                </p:oleObj>
              </mc:Choice>
              <mc:Fallback>
                <p:oleObj name="" r:id="rId7" imgW="203200" imgH="228600" progId="Equation.3">
                  <p:embed/>
                  <p:pic>
                    <p:nvPicPr>
                      <p:cNvPr id="0" name="图片 3200"/>
                      <p:cNvPicPr/>
                      <p:nvPr/>
                    </p:nvPicPr>
                    <p:blipFill>
                      <a:blip r:embed="rId8"/>
                      <a:stretch>
                        <a:fillRect/>
                      </a:stretch>
                    </p:blipFill>
                    <p:spPr>
                      <a:xfrm>
                        <a:off x="5715000" y="1447800"/>
                        <a:ext cx="352425" cy="409575"/>
                      </a:xfrm>
                      <a:prstGeom prst="rect">
                        <a:avLst/>
                      </a:prstGeom>
                      <a:noFill/>
                      <a:ln w="38100">
                        <a:noFill/>
                        <a:miter/>
                      </a:ln>
                    </p:spPr>
                  </p:pic>
                </p:oleObj>
              </mc:Fallback>
            </mc:AlternateContent>
          </a:graphicData>
        </a:graphic>
      </p:graphicFrame>
      <p:graphicFrame>
        <p:nvGraphicFramePr>
          <p:cNvPr id="23558" name="Object 144"/>
          <p:cNvGraphicFramePr/>
          <p:nvPr/>
        </p:nvGraphicFramePr>
        <p:xfrm>
          <a:off x="6400800" y="1436688"/>
          <a:ext cx="352425" cy="433387"/>
        </p:xfrm>
        <a:graphic>
          <a:graphicData uri="http://schemas.openxmlformats.org/presentationml/2006/ole">
            <mc:AlternateContent xmlns:mc="http://schemas.openxmlformats.org/markup-compatibility/2006">
              <mc:Choice xmlns:v="urn:schemas-microsoft-com:vml" Requires="v">
                <p:oleObj spid="_x0000_s3196" name="" r:id="rId9" imgW="203200" imgH="241300" progId="Equation.3">
                  <p:embed/>
                </p:oleObj>
              </mc:Choice>
              <mc:Fallback>
                <p:oleObj name="" r:id="rId9" imgW="203200" imgH="241300" progId="Equation.3">
                  <p:embed/>
                  <p:pic>
                    <p:nvPicPr>
                      <p:cNvPr id="0" name="图片 3195"/>
                      <p:cNvPicPr/>
                      <p:nvPr/>
                    </p:nvPicPr>
                    <p:blipFill>
                      <a:blip r:embed="rId10"/>
                      <a:stretch>
                        <a:fillRect/>
                      </a:stretch>
                    </p:blipFill>
                    <p:spPr>
                      <a:xfrm>
                        <a:off x="6400800" y="1436688"/>
                        <a:ext cx="352425" cy="433387"/>
                      </a:xfrm>
                      <a:prstGeom prst="rect">
                        <a:avLst/>
                      </a:prstGeom>
                      <a:noFill/>
                      <a:ln w="38100">
                        <a:noFill/>
                        <a:miter/>
                      </a:ln>
                    </p:spPr>
                  </p:pic>
                </p:oleObj>
              </mc:Fallback>
            </mc:AlternateContent>
          </a:graphicData>
        </a:graphic>
      </p:graphicFrame>
      <p:graphicFrame>
        <p:nvGraphicFramePr>
          <p:cNvPr id="23559" name="Object 145"/>
          <p:cNvGraphicFramePr/>
          <p:nvPr/>
        </p:nvGraphicFramePr>
        <p:xfrm>
          <a:off x="7086600" y="1436688"/>
          <a:ext cx="352425" cy="433387"/>
        </p:xfrm>
        <a:graphic>
          <a:graphicData uri="http://schemas.openxmlformats.org/presentationml/2006/ole">
            <mc:AlternateContent xmlns:mc="http://schemas.openxmlformats.org/markup-compatibility/2006">
              <mc:Choice xmlns:v="urn:schemas-microsoft-com:vml" Requires="v">
                <p:oleObj spid="_x0000_s3200" name="" r:id="rId11" imgW="203200" imgH="241300" progId="Equation.3">
                  <p:embed/>
                </p:oleObj>
              </mc:Choice>
              <mc:Fallback>
                <p:oleObj name="" r:id="rId11" imgW="203200" imgH="241300" progId="Equation.3">
                  <p:embed/>
                  <p:pic>
                    <p:nvPicPr>
                      <p:cNvPr id="0" name="图片 3199"/>
                      <p:cNvPicPr/>
                      <p:nvPr/>
                    </p:nvPicPr>
                    <p:blipFill>
                      <a:blip r:embed="rId12"/>
                      <a:stretch>
                        <a:fillRect/>
                      </a:stretch>
                    </p:blipFill>
                    <p:spPr>
                      <a:xfrm>
                        <a:off x="7086600" y="1436688"/>
                        <a:ext cx="352425" cy="433387"/>
                      </a:xfrm>
                      <a:prstGeom prst="rect">
                        <a:avLst/>
                      </a:prstGeom>
                      <a:noFill/>
                      <a:ln w="38100">
                        <a:noFill/>
                        <a:miter/>
                      </a:ln>
                    </p:spPr>
                  </p:pic>
                </p:oleObj>
              </mc:Fallback>
            </mc:AlternateContent>
          </a:graphicData>
        </a:graphic>
      </p:graphicFrame>
      <p:graphicFrame>
        <p:nvGraphicFramePr>
          <p:cNvPr id="23560" name="Object 146"/>
          <p:cNvGraphicFramePr/>
          <p:nvPr/>
        </p:nvGraphicFramePr>
        <p:xfrm>
          <a:off x="7772400" y="1447800"/>
          <a:ext cx="352425" cy="409575"/>
        </p:xfrm>
        <a:graphic>
          <a:graphicData uri="http://schemas.openxmlformats.org/presentationml/2006/ole">
            <mc:AlternateContent xmlns:mc="http://schemas.openxmlformats.org/markup-compatibility/2006">
              <mc:Choice xmlns:v="urn:schemas-microsoft-com:vml" Requires="v">
                <p:oleObj spid="_x0000_s3197" name="" r:id="rId13" imgW="203200" imgH="228600" progId="Equation.3">
                  <p:embed/>
                </p:oleObj>
              </mc:Choice>
              <mc:Fallback>
                <p:oleObj name="" r:id="rId13" imgW="203200" imgH="228600" progId="Equation.3">
                  <p:embed/>
                  <p:pic>
                    <p:nvPicPr>
                      <p:cNvPr id="0" name="图片 3196"/>
                      <p:cNvPicPr/>
                      <p:nvPr/>
                    </p:nvPicPr>
                    <p:blipFill>
                      <a:blip r:embed="rId14"/>
                      <a:stretch>
                        <a:fillRect/>
                      </a:stretch>
                    </p:blipFill>
                    <p:spPr>
                      <a:xfrm>
                        <a:off x="7772400" y="1447800"/>
                        <a:ext cx="352425" cy="409575"/>
                      </a:xfrm>
                      <a:prstGeom prst="rect">
                        <a:avLst/>
                      </a:prstGeom>
                      <a:noFill/>
                      <a:ln w="38100">
                        <a:noFill/>
                        <a:miter/>
                      </a:ln>
                    </p:spPr>
                  </p:pic>
                </p:oleObj>
              </mc:Fallback>
            </mc:AlternateContent>
          </a:graphicData>
        </a:graphic>
      </p:graphicFrame>
      <p:graphicFrame>
        <p:nvGraphicFramePr>
          <p:cNvPr id="23561" name="Object 147"/>
          <p:cNvGraphicFramePr/>
          <p:nvPr/>
        </p:nvGraphicFramePr>
        <p:xfrm>
          <a:off x="8382000" y="1447800"/>
          <a:ext cx="352425" cy="409575"/>
        </p:xfrm>
        <a:graphic>
          <a:graphicData uri="http://schemas.openxmlformats.org/presentationml/2006/ole">
            <mc:AlternateContent xmlns:mc="http://schemas.openxmlformats.org/markup-compatibility/2006">
              <mc:Choice xmlns:v="urn:schemas-microsoft-com:vml" Requires="v">
                <p:oleObj spid="_x0000_s3203" name="" r:id="rId15" imgW="203200" imgH="228600" progId="Equation.3">
                  <p:embed/>
                </p:oleObj>
              </mc:Choice>
              <mc:Fallback>
                <p:oleObj name="" r:id="rId15" imgW="203200" imgH="228600" progId="Equation.3">
                  <p:embed/>
                  <p:pic>
                    <p:nvPicPr>
                      <p:cNvPr id="0" name="图片 3202"/>
                      <p:cNvPicPr/>
                      <p:nvPr/>
                    </p:nvPicPr>
                    <p:blipFill>
                      <a:blip r:embed="rId16"/>
                      <a:stretch>
                        <a:fillRect/>
                      </a:stretch>
                    </p:blipFill>
                    <p:spPr>
                      <a:xfrm>
                        <a:off x="8382000" y="1447800"/>
                        <a:ext cx="352425" cy="409575"/>
                      </a:xfrm>
                      <a:prstGeom prst="rect">
                        <a:avLst/>
                      </a:prstGeom>
                      <a:noFill/>
                      <a:ln w="38100">
                        <a:noFill/>
                        <a:miter/>
                      </a:ln>
                    </p:spPr>
                  </p:pic>
                </p:oleObj>
              </mc:Fallback>
            </mc:AlternateContent>
          </a:graphicData>
        </a:graphic>
      </p:graphicFrame>
      <p:graphicFrame>
        <p:nvGraphicFramePr>
          <p:cNvPr id="23562" name="Object 151"/>
          <p:cNvGraphicFramePr/>
          <p:nvPr/>
        </p:nvGraphicFramePr>
        <p:xfrm>
          <a:off x="1066800" y="3276600"/>
          <a:ext cx="352425" cy="409575"/>
        </p:xfrm>
        <a:graphic>
          <a:graphicData uri="http://schemas.openxmlformats.org/presentationml/2006/ole">
            <mc:AlternateContent xmlns:mc="http://schemas.openxmlformats.org/markup-compatibility/2006">
              <mc:Choice xmlns:v="urn:schemas-microsoft-com:vml" Requires="v">
                <p:oleObj spid="_x0000_s3202" name="" r:id="rId17" imgW="203200" imgH="228600" progId="Equation.3">
                  <p:embed/>
                </p:oleObj>
              </mc:Choice>
              <mc:Fallback>
                <p:oleObj name="" r:id="rId17" imgW="203200" imgH="228600" progId="Equation.3">
                  <p:embed/>
                  <p:pic>
                    <p:nvPicPr>
                      <p:cNvPr id="0" name="图片 3201"/>
                      <p:cNvPicPr/>
                      <p:nvPr/>
                    </p:nvPicPr>
                    <p:blipFill>
                      <a:blip r:embed="rId18"/>
                      <a:stretch>
                        <a:fillRect/>
                      </a:stretch>
                    </p:blipFill>
                    <p:spPr>
                      <a:xfrm>
                        <a:off x="1066800" y="3276600"/>
                        <a:ext cx="352425" cy="409575"/>
                      </a:xfrm>
                      <a:prstGeom prst="rect">
                        <a:avLst/>
                      </a:prstGeom>
                      <a:noFill/>
                      <a:ln w="38100">
                        <a:noFill/>
                        <a:miter/>
                      </a:ln>
                    </p:spPr>
                  </p:pic>
                </p:oleObj>
              </mc:Fallback>
            </mc:AlternateContent>
          </a:graphicData>
        </a:graphic>
      </p:graphicFrame>
      <p:sp>
        <p:nvSpPr>
          <p:cNvPr id="34969" name="Text Box 153"/>
          <p:cNvSpPr txBox="1"/>
          <p:nvPr/>
        </p:nvSpPr>
        <p:spPr>
          <a:xfrm>
            <a:off x="0" y="5334000"/>
            <a:ext cx="9144000" cy="519113"/>
          </a:xfrm>
          <a:prstGeom prst="rect">
            <a:avLst/>
          </a:prstGeom>
          <a:noFill/>
          <a:ln w="9525">
            <a:noFill/>
          </a:ln>
        </p:spPr>
        <p:txBody>
          <a:bodyPr>
            <a:spAutoFit/>
          </a:bodyPr>
          <a:p>
            <a:pPr>
              <a:spcBef>
                <a:spcPct val="50000"/>
              </a:spcBef>
            </a:pPr>
            <a:r>
              <a:rPr lang="en-US" altLang="zh-CN" sz="2800" i="1" dirty="0">
                <a:latin typeface="Times New Roman" panose="02020603050405020304" pitchFamily="18" charset="0"/>
              </a:rPr>
              <a:t>θ= </a:t>
            </a:r>
            <a:r>
              <a:rPr lang="en-US" altLang="zh-CN" sz="2800" dirty="0">
                <a:latin typeface="Times New Roman" panose="02020603050405020304" pitchFamily="18" charset="0"/>
              </a:rPr>
              <a:t>min</a:t>
            </a:r>
            <a:r>
              <a:rPr lang="zh-CN" altLang="en-US" sz="2800" dirty="0">
                <a:latin typeface="Times New Roman" panose="02020603050405020304" pitchFamily="18" charset="0"/>
              </a:rPr>
              <a:t>｛－</a:t>
            </a:r>
            <a:r>
              <a:rPr lang="en-US" altLang="zh-CN" sz="2800" dirty="0">
                <a:latin typeface="Times New Roman" panose="02020603050405020304" pitchFamily="18" charset="0"/>
              </a:rPr>
              <a:t>,350/6,1250/6,100/1</a:t>
            </a:r>
            <a:r>
              <a:rPr lang="zh-CN" altLang="en-US" sz="2800" dirty="0">
                <a:latin typeface="Times New Roman" panose="02020603050405020304" pitchFamily="18" charset="0"/>
              </a:rPr>
              <a:t>｝</a:t>
            </a:r>
            <a:r>
              <a:rPr lang="en-US" altLang="zh-CN" sz="2800" dirty="0">
                <a:latin typeface="Times New Roman" panose="02020603050405020304" pitchFamily="18" charset="0"/>
              </a:rPr>
              <a:t>=75</a:t>
            </a:r>
            <a:r>
              <a:rPr lang="en-US" altLang="zh-CN" sz="2800" dirty="0">
                <a:latin typeface="Times New Roman" panose="02020603050405020304" pitchFamily="18" charset="0"/>
                <a:ea typeface="宋体" panose="02010600030101010101" pitchFamily="2" charset="-122"/>
              </a:rPr>
              <a:t> ,</a:t>
            </a:r>
            <a:r>
              <a:rPr lang="zh-CN" altLang="en-US" sz="2800" b="1" dirty="0">
                <a:latin typeface="楷体_GB2312" pitchFamily="49" charset="-122"/>
              </a:rPr>
              <a:t>故   为换出变量。</a:t>
            </a:r>
            <a:endParaRPr lang="zh-CN" altLang="en-US" sz="2800" b="1" dirty="0">
              <a:latin typeface="楷体_GB2312" pitchFamily="49" charset="-122"/>
            </a:endParaRPr>
          </a:p>
        </p:txBody>
      </p:sp>
      <p:graphicFrame>
        <p:nvGraphicFramePr>
          <p:cNvPr id="23563" name="Object 154"/>
          <p:cNvGraphicFramePr/>
          <p:nvPr/>
        </p:nvGraphicFramePr>
        <p:xfrm>
          <a:off x="1066800" y="1905000"/>
          <a:ext cx="352425" cy="409575"/>
        </p:xfrm>
        <a:graphic>
          <a:graphicData uri="http://schemas.openxmlformats.org/presentationml/2006/ole">
            <mc:AlternateContent xmlns:mc="http://schemas.openxmlformats.org/markup-compatibility/2006">
              <mc:Choice xmlns:v="urn:schemas-microsoft-com:vml" Requires="v">
                <p:oleObj spid="_x0000_s3204" name="" r:id="rId19" imgW="203200" imgH="228600" progId="Equation.3">
                  <p:embed/>
                </p:oleObj>
              </mc:Choice>
              <mc:Fallback>
                <p:oleObj name="" r:id="rId19" imgW="203200" imgH="228600" progId="Equation.3">
                  <p:embed/>
                  <p:pic>
                    <p:nvPicPr>
                      <p:cNvPr id="0" name="图片 3203"/>
                      <p:cNvPicPr/>
                      <p:nvPr/>
                    </p:nvPicPr>
                    <p:blipFill>
                      <a:blip r:embed="rId8"/>
                      <a:stretch>
                        <a:fillRect/>
                      </a:stretch>
                    </p:blipFill>
                    <p:spPr>
                      <a:xfrm>
                        <a:off x="1066800" y="1905000"/>
                        <a:ext cx="352425" cy="409575"/>
                      </a:xfrm>
                      <a:prstGeom prst="rect">
                        <a:avLst/>
                      </a:prstGeom>
                      <a:noFill/>
                      <a:ln w="38100">
                        <a:noFill/>
                        <a:miter/>
                      </a:ln>
                    </p:spPr>
                  </p:pic>
                </p:oleObj>
              </mc:Fallback>
            </mc:AlternateContent>
          </a:graphicData>
        </a:graphic>
      </p:graphicFrame>
      <p:graphicFrame>
        <p:nvGraphicFramePr>
          <p:cNvPr id="23564" name="Object 155"/>
          <p:cNvGraphicFramePr/>
          <p:nvPr/>
        </p:nvGraphicFramePr>
        <p:xfrm>
          <a:off x="1066800" y="2362200"/>
          <a:ext cx="352425" cy="433388"/>
        </p:xfrm>
        <a:graphic>
          <a:graphicData uri="http://schemas.openxmlformats.org/presentationml/2006/ole">
            <mc:AlternateContent xmlns:mc="http://schemas.openxmlformats.org/markup-compatibility/2006">
              <mc:Choice xmlns:v="urn:schemas-microsoft-com:vml" Requires="v">
                <p:oleObj spid="_x0000_s3198" name="" r:id="rId20" imgW="203200" imgH="241300" progId="Equation.3">
                  <p:embed/>
                </p:oleObj>
              </mc:Choice>
              <mc:Fallback>
                <p:oleObj name="" r:id="rId20" imgW="203200" imgH="241300" progId="Equation.3">
                  <p:embed/>
                  <p:pic>
                    <p:nvPicPr>
                      <p:cNvPr id="0" name="图片 3197"/>
                      <p:cNvPicPr/>
                      <p:nvPr/>
                    </p:nvPicPr>
                    <p:blipFill>
                      <a:blip r:embed="rId12"/>
                      <a:stretch>
                        <a:fillRect/>
                      </a:stretch>
                    </p:blipFill>
                    <p:spPr>
                      <a:xfrm>
                        <a:off x="1066800" y="2362200"/>
                        <a:ext cx="352425" cy="433388"/>
                      </a:xfrm>
                      <a:prstGeom prst="rect">
                        <a:avLst/>
                      </a:prstGeom>
                      <a:noFill/>
                      <a:ln w="38100">
                        <a:noFill/>
                        <a:miter/>
                      </a:ln>
                    </p:spPr>
                  </p:pic>
                </p:oleObj>
              </mc:Fallback>
            </mc:AlternateContent>
          </a:graphicData>
        </a:graphic>
      </p:graphicFrame>
      <p:sp>
        <p:nvSpPr>
          <p:cNvPr id="34981" name="Line 165"/>
          <p:cNvSpPr/>
          <p:nvPr/>
        </p:nvSpPr>
        <p:spPr>
          <a:xfrm flipV="1">
            <a:off x="3505200" y="4267200"/>
            <a:ext cx="0" cy="304800"/>
          </a:xfrm>
          <a:prstGeom prst="line">
            <a:avLst/>
          </a:prstGeom>
          <a:ln w="9525" cap="flat" cmpd="sng">
            <a:solidFill>
              <a:schemeClr val="tx1"/>
            </a:solidFill>
            <a:prstDash val="solid"/>
            <a:headEnd type="none" w="med" len="med"/>
            <a:tailEnd type="triangle" w="med" len="med"/>
          </a:ln>
        </p:spPr>
      </p:sp>
      <p:graphicFrame>
        <p:nvGraphicFramePr>
          <p:cNvPr id="34982" name="Object 166"/>
          <p:cNvGraphicFramePr/>
          <p:nvPr/>
        </p:nvGraphicFramePr>
        <p:xfrm>
          <a:off x="6215063" y="5294313"/>
          <a:ext cx="514350" cy="635000"/>
        </p:xfrm>
        <a:graphic>
          <a:graphicData uri="http://schemas.openxmlformats.org/presentationml/2006/ole">
            <mc:AlternateContent xmlns:mc="http://schemas.openxmlformats.org/markup-compatibility/2006">
              <mc:Choice xmlns:v="urn:schemas-microsoft-com:vml" Requires="v">
                <p:oleObj spid="_x0000_s3169" name="" r:id="rId21" imgW="203200" imgH="241300" progId="Equation.3">
                  <p:embed/>
                </p:oleObj>
              </mc:Choice>
              <mc:Fallback>
                <p:oleObj name="" r:id="rId21" imgW="203200" imgH="241300" progId="Equation.3">
                  <p:embed/>
                  <p:pic>
                    <p:nvPicPr>
                      <p:cNvPr id="0" name="图片 3168"/>
                      <p:cNvPicPr/>
                      <p:nvPr/>
                    </p:nvPicPr>
                    <p:blipFill>
                      <a:blip r:embed="rId12"/>
                      <a:stretch>
                        <a:fillRect/>
                      </a:stretch>
                    </p:blipFill>
                    <p:spPr>
                      <a:xfrm>
                        <a:off x="6215063" y="5294313"/>
                        <a:ext cx="514350" cy="635000"/>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34981"/>
                                        </p:tgtEl>
                                        <p:attrNameLst>
                                          <p:attrName>style.visibility</p:attrName>
                                        </p:attrNameLst>
                                      </p:cBhvr>
                                      <p:to>
                                        <p:strVal val="visible"/>
                                      </p:to>
                                    </p:set>
                                    <p:anim calcmode="lin" valueType="num">
                                      <p:cBhvr>
                                        <p:cTn id="7" dur="500" fill="hold"/>
                                        <p:tgtEl>
                                          <p:spTgt spid="34981"/>
                                        </p:tgtEl>
                                        <p:attrNameLst>
                                          <p:attrName>ppt_x</p:attrName>
                                        </p:attrNameLst>
                                      </p:cBhvr>
                                      <p:tavLst>
                                        <p:tav tm="0">
                                          <p:val>
                                            <p:strVal val="#ppt_x"/>
                                          </p:val>
                                        </p:tav>
                                        <p:tav tm="100000">
                                          <p:val>
                                            <p:strVal val="#ppt_x"/>
                                          </p:val>
                                        </p:tav>
                                      </p:tavLst>
                                    </p:anim>
                                    <p:anim calcmode="lin" valueType="num">
                                      <p:cBhvr>
                                        <p:cTn id="8" dur="500" fill="hold"/>
                                        <p:tgtEl>
                                          <p:spTgt spid="34981"/>
                                        </p:tgtEl>
                                        <p:attrNameLst>
                                          <p:attrName>ppt_y</p:attrName>
                                        </p:attrNameLst>
                                      </p:cBhvr>
                                      <p:tavLst>
                                        <p:tav tm="0">
                                          <p:val>
                                            <p:strVal val="#ppt_y+#ppt_h/2"/>
                                          </p:val>
                                        </p:tav>
                                        <p:tav tm="100000">
                                          <p:val>
                                            <p:strVal val="#ppt_y"/>
                                          </p:val>
                                        </p:tav>
                                      </p:tavLst>
                                    </p:anim>
                                    <p:anim calcmode="lin" valueType="num">
                                      <p:cBhvr>
                                        <p:cTn id="9" dur="500" fill="hold"/>
                                        <p:tgtEl>
                                          <p:spTgt spid="34981"/>
                                        </p:tgtEl>
                                        <p:attrNameLst>
                                          <p:attrName>ppt_w</p:attrName>
                                        </p:attrNameLst>
                                      </p:cBhvr>
                                      <p:tavLst>
                                        <p:tav tm="0">
                                          <p:val>
                                            <p:strVal val="#ppt_w"/>
                                          </p:val>
                                        </p:tav>
                                        <p:tav tm="100000">
                                          <p:val>
                                            <p:strVal val="#ppt_w"/>
                                          </p:val>
                                        </p:tav>
                                      </p:tavLst>
                                    </p:anim>
                                    <p:anim calcmode="lin" valueType="num">
                                      <p:cBhvr>
                                        <p:cTn id="10" dur="500" fill="hold"/>
                                        <p:tgtEl>
                                          <p:spTgt spid="34981"/>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4969"/>
                                        </p:tgtEl>
                                        <p:attrNameLst>
                                          <p:attrName>style.visibility</p:attrName>
                                        </p:attrNameLst>
                                      </p:cBhvr>
                                      <p:to>
                                        <p:strVal val="visible"/>
                                      </p:to>
                                    </p:set>
                                    <p:animEffect transition="in" filter="blinds(horizontal)">
                                      <p:cBhvr>
                                        <p:cTn id="15" dur="500"/>
                                        <p:tgtEl>
                                          <p:spTgt spid="34969"/>
                                        </p:tgtEl>
                                      </p:cBhvr>
                                    </p:animEffect>
                                  </p:childTnLst>
                                </p:cTn>
                              </p:par>
                            </p:childTnLst>
                          </p:cTn>
                        </p:par>
                        <p:par>
                          <p:cTn id="16" fill="hold">
                            <p:stCondLst>
                              <p:cond delay="500"/>
                            </p:stCondLst>
                            <p:childTnLst>
                              <p:par>
                                <p:cTn id="17" presetID="9" presetClass="entr" presetSubtype="0" fill="hold" nodeType="afterEffect">
                                  <p:stCondLst>
                                    <p:cond delay="0"/>
                                  </p:stCondLst>
                                  <p:childTnLst>
                                    <p:set>
                                      <p:cBhvr>
                                        <p:cTn id="18" dur="1" fill="hold">
                                          <p:stCondLst>
                                            <p:cond delay="0"/>
                                          </p:stCondLst>
                                        </p:cTn>
                                        <p:tgtEl>
                                          <p:spTgt spid="34982"/>
                                        </p:tgtEl>
                                        <p:attrNameLst>
                                          <p:attrName>style.visibility</p:attrName>
                                        </p:attrNameLst>
                                      </p:cBhvr>
                                      <p:to>
                                        <p:strVal val="visible"/>
                                      </p:to>
                                    </p:set>
                                    <p:animEffect transition="in" filter="dissolve">
                                      <p:cBhvr>
                                        <p:cTn id="19" dur="500"/>
                                        <p:tgtEl>
                                          <p:spTgt spid="34982"/>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4968"/>
                                        </p:tgtEl>
                                        <p:attrNameLst>
                                          <p:attrName>style.visibility</p:attrName>
                                        </p:attrNameLst>
                                      </p:cBhvr>
                                      <p:to>
                                        <p:strVal val="visible"/>
                                      </p:to>
                                    </p:set>
                                    <p:animEffect transition="in" filter="dissolve">
                                      <p:cBhvr>
                                        <p:cTn id="24" dur="500"/>
                                        <p:tgtEl>
                                          <p:spTgt spid="34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68" grpId="0" animBg="1"/>
      <p:bldP spid="3496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4590" name="表格 24589"/>
          <p:cNvGraphicFramePr/>
          <p:nvPr/>
        </p:nvGraphicFramePr>
        <p:xfrm>
          <a:off x="228600" y="914400"/>
          <a:ext cx="8686800" cy="4297363"/>
        </p:xfrm>
        <a:graphic>
          <a:graphicData uri="http://schemas.openxmlformats.org/drawingml/2006/table">
            <a:tbl>
              <a:tblPr/>
              <a:tblGrid>
                <a:gridCol w="762000"/>
                <a:gridCol w="574675"/>
                <a:gridCol w="796925"/>
                <a:gridCol w="685800"/>
                <a:gridCol w="609600"/>
                <a:gridCol w="685800"/>
                <a:gridCol w="685800"/>
                <a:gridCol w="544513"/>
                <a:gridCol w="668337"/>
                <a:gridCol w="668338"/>
                <a:gridCol w="709612"/>
                <a:gridCol w="628650"/>
                <a:gridCol w="666750"/>
              </a:tblGrid>
              <a:tr h="457200">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j</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1</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3</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rPr>
                        <a:t>2.5P</a:t>
                      </a:r>
                      <a:r>
                        <a:rPr lang="en-US" altLang="zh-CN" sz="1800" b="1" baseline="-30000" dirty="0">
                          <a:latin typeface="Times New Roman" panose="02020603050405020304" pitchFamily="18" charset="0"/>
                        </a:rPr>
                        <a:t>2</a:t>
                      </a:r>
                      <a:endParaRPr lang="en-US" altLang="zh-CN" sz="18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X</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b</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endParaRPr lang="en-US" altLang="zh-CN" sz="2800"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endParaRPr lang="en-US" altLang="zh-CN" sz="2800"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3</a:t>
                      </a:r>
                      <a:endParaRPr lang="en-US" altLang="zh-CN" sz="2000" b="1" baseline="-300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115/3</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911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rPr>
                        <a:t>0</a:t>
                      </a:r>
                      <a:endParaRPr lang="en-US" altLang="zh-CN" sz="1800" b="1" baseline="-30000"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175/3</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-5/2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5/2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1</a:t>
                      </a:r>
                      <a:endParaRPr lang="en-US" altLang="zh-CN" sz="2800"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60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125/3</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5/2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-5/2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row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en-US" altLang="zh-CN" b="1" i="1" dirty="0">
                        <a:latin typeface="Times New Roman" panose="02020603050405020304" pitchFamily="18" charset="0"/>
                      </a:endParaRPr>
                    </a:p>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kj</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1</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2</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5/2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3</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115/3</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-1/2</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4578" name="Object 292"/>
          <p:cNvGraphicFramePr/>
          <p:nvPr/>
        </p:nvGraphicFramePr>
        <p:xfrm>
          <a:off x="4419600" y="1447800"/>
          <a:ext cx="381000" cy="409575"/>
        </p:xfrm>
        <a:graphic>
          <a:graphicData uri="http://schemas.openxmlformats.org/presentationml/2006/ole">
            <mc:AlternateContent xmlns:mc="http://schemas.openxmlformats.org/markup-compatibility/2006">
              <mc:Choice xmlns:v="urn:schemas-microsoft-com:vml" Requires="v">
                <p:oleObj spid="_x0000_s3178" name="" r:id="rId1" imgW="203200" imgH="228600" progId="Equation.3">
                  <p:embed/>
                </p:oleObj>
              </mc:Choice>
              <mc:Fallback>
                <p:oleObj name="" r:id="rId1" imgW="203200" imgH="228600" progId="Equation.3">
                  <p:embed/>
                  <p:pic>
                    <p:nvPicPr>
                      <p:cNvPr id="0" name="图片 3177"/>
                      <p:cNvPicPr/>
                      <p:nvPr/>
                    </p:nvPicPr>
                    <p:blipFill>
                      <a:blip r:embed="rId2"/>
                      <a:stretch>
                        <a:fillRect/>
                      </a:stretch>
                    </p:blipFill>
                    <p:spPr>
                      <a:xfrm>
                        <a:off x="4419600" y="1447800"/>
                        <a:ext cx="381000" cy="409575"/>
                      </a:xfrm>
                      <a:prstGeom prst="rect">
                        <a:avLst/>
                      </a:prstGeom>
                      <a:noFill/>
                      <a:ln w="38100">
                        <a:noFill/>
                        <a:miter/>
                      </a:ln>
                    </p:spPr>
                  </p:pic>
                </p:oleObj>
              </mc:Fallback>
            </mc:AlternateContent>
          </a:graphicData>
        </a:graphic>
      </p:graphicFrame>
      <p:graphicFrame>
        <p:nvGraphicFramePr>
          <p:cNvPr id="24579" name="Object 293"/>
          <p:cNvGraphicFramePr/>
          <p:nvPr/>
        </p:nvGraphicFramePr>
        <p:xfrm>
          <a:off x="3886200" y="1447800"/>
          <a:ext cx="352425" cy="409575"/>
        </p:xfrm>
        <a:graphic>
          <a:graphicData uri="http://schemas.openxmlformats.org/presentationml/2006/ole">
            <mc:AlternateContent xmlns:mc="http://schemas.openxmlformats.org/markup-compatibility/2006">
              <mc:Choice xmlns:v="urn:schemas-microsoft-com:vml" Requires="v">
                <p:oleObj spid="_x0000_s3179" name="" r:id="rId3" imgW="203200" imgH="228600" progId="Equation.3">
                  <p:embed/>
                </p:oleObj>
              </mc:Choice>
              <mc:Fallback>
                <p:oleObj name="" r:id="rId3" imgW="203200" imgH="228600" progId="Equation.3">
                  <p:embed/>
                  <p:pic>
                    <p:nvPicPr>
                      <p:cNvPr id="0" name="图片 3178"/>
                      <p:cNvPicPr/>
                      <p:nvPr/>
                    </p:nvPicPr>
                    <p:blipFill>
                      <a:blip r:embed="rId4"/>
                      <a:stretch>
                        <a:fillRect/>
                      </a:stretch>
                    </p:blipFill>
                    <p:spPr>
                      <a:xfrm>
                        <a:off x="3886200" y="1447800"/>
                        <a:ext cx="352425" cy="409575"/>
                      </a:xfrm>
                      <a:prstGeom prst="rect">
                        <a:avLst/>
                      </a:prstGeom>
                      <a:noFill/>
                      <a:ln w="38100">
                        <a:noFill/>
                        <a:miter/>
                      </a:ln>
                    </p:spPr>
                  </p:pic>
                </p:oleObj>
              </mc:Fallback>
            </mc:AlternateContent>
          </a:graphicData>
        </a:graphic>
      </p:graphicFrame>
      <p:graphicFrame>
        <p:nvGraphicFramePr>
          <p:cNvPr id="24580" name="Object 294"/>
          <p:cNvGraphicFramePr/>
          <p:nvPr/>
        </p:nvGraphicFramePr>
        <p:xfrm>
          <a:off x="5029200" y="1447800"/>
          <a:ext cx="352425" cy="409575"/>
        </p:xfrm>
        <a:graphic>
          <a:graphicData uri="http://schemas.openxmlformats.org/presentationml/2006/ole">
            <mc:AlternateContent xmlns:mc="http://schemas.openxmlformats.org/markup-compatibility/2006">
              <mc:Choice xmlns:v="urn:schemas-microsoft-com:vml" Requires="v">
                <p:oleObj spid="_x0000_s3180" name="" r:id="rId5" imgW="203200" imgH="228600" progId="Equation.3">
                  <p:embed/>
                </p:oleObj>
              </mc:Choice>
              <mc:Fallback>
                <p:oleObj name="" r:id="rId5" imgW="203200" imgH="228600" progId="Equation.3">
                  <p:embed/>
                  <p:pic>
                    <p:nvPicPr>
                      <p:cNvPr id="0" name="图片 3179"/>
                      <p:cNvPicPr/>
                      <p:nvPr/>
                    </p:nvPicPr>
                    <p:blipFill>
                      <a:blip r:embed="rId6"/>
                      <a:stretch>
                        <a:fillRect/>
                      </a:stretch>
                    </p:blipFill>
                    <p:spPr>
                      <a:xfrm>
                        <a:off x="5029200" y="1447800"/>
                        <a:ext cx="352425" cy="409575"/>
                      </a:xfrm>
                      <a:prstGeom prst="rect">
                        <a:avLst/>
                      </a:prstGeom>
                      <a:noFill/>
                      <a:ln w="38100">
                        <a:noFill/>
                        <a:miter/>
                      </a:ln>
                    </p:spPr>
                  </p:pic>
                </p:oleObj>
              </mc:Fallback>
            </mc:AlternateContent>
          </a:graphicData>
        </a:graphic>
      </p:graphicFrame>
      <p:graphicFrame>
        <p:nvGraphicFramePr>
          <p:cNvPr id="24581" name="Object 295"/>
          <p:cNvGraphicFramePr/>
          <p:nvPr/>
        </p:nvGraphicFramePr>
        <p:xfrm>
          <a:off x="5715000" y="1447800"/>
          <a:ext cx="352425" cy="409575"/>
        </p:xfrm>
        <a:graphic>
          <a:graphicData uri="http://schemas.openxmlformats.org/presentationml/2006/ole">
            <mc:AlternateContent xmlns:mc="http://schemas.openxmlformats.org/markup-compatibility/2006">
              <mc:Choice xmlns:v="urn:schemas-microsoft-com:vml" Requires="v">
                <p:oleObj spid="_x0000_s3176" name="" r:id="rId7" imgW="203200" imgH="228600" progId="Equation.3">
                  <p:embed/>
                </p:oleObj>
              </mc:Choice>
              <mc:Fallback>
                <p:oleObj name="" r:id="rId7" imgW="203200" imgH="228600" progId="Equation.3">
                  <p:embed/>
                  <p:pic>
                    <p:nvPicPr>
                      <p:cNvPr id="0" name="图片 3175"/>
                      <p:cNvPicPr/>
                      <p:nvPr/>
                    </p:nvPicPr>
                    <p:blipFill>
                      <a:blip r:embed="rId8"/>
                      <a:stretch>
                        <a:fillRect/>
                      </a:stretch>
                    </p:blipFill>
                    <p:spPr>
                      <a:xfrm>
                        <a:off x="5715000" y="1447800"/>
                        <a:ext cx="352425" cy="409575"/>
                      </a:xfrm>
                      <a:prstGeom prst="rect">
                        <a:avLst/>
                      </a:prstGeom>
                      <a:noFill/>
                      <a:ln w="38100">
                        <a:noFill/>
                        <a:miter/>
                      </a:ln>
                    </p:spPr>
                  </p:pic>
                </p:oleObj>
              </mc:Fallback>
            </mc:AlternateContent>
          </a:graphicData>
        </a:graphic>
      </p:graphicFrame>
      <p:graphicFrame>
        <p:nvGraphicFramePr>
          <p:cNvPr id="24582" name="Object 296"/>
          <p:cNvGraphicFramePr/>
          <p:nvPr/>
        </p:nvGraphicFramePr>
        <p:xfrm>
          <a:off x="6400800" y="1436688"/>
          <a:ext cx="352425" cy="433387"/>
        </p:xfrm>
        <a:graphic>
          <a:graphicData uri="http://schemas.openxmlformats.org/presentationml/2006/ole">
            <mc:AlternateContent xmlns:mc="http://schemas.openxmlformats.org/markup-compatibility/2006">
              <mc:Choice xmlns:v="urn:schemas-microsoft-com:vml" Requires="v">
                <p:oleObj spid="_x0000_s3170" name="" r:id="rId9" imgW="203200" imgH="241300" progId="Equation.3">
                  <p:embed/>
                </p:oleObj>
              </mc:Choice>
              <mc:Fallback>
                <p:oleObj name="" r:id="rId9" imgW="203200" imgH="241300" progId="Equation.3">
                  <p:embed/>
                  <p:pic>
                    <p:nvPicPr>
                      <p:cNvPr id="0" name="图片 3169"/>
                      <p:cNvPicPr/>
                      <p:nvPr/>
                    </p:nvPicPr>
                    <p:blipFill>
                      <a:blip r:embed="rId10"/>
                      <a:stretch>
                        <a:fillRect/>
                      </a:stretch>
                    </p:blipFill>
                    <p:spPr>
                      <a:xfrm>
                        <a:off x="6400800" y="1436688"/>
                        <a:ext cx="352425" cy="433387"/>
                      </a:xfrm>
                      <a:prstGeom prst="rect">
                        <a:avLst/>
                      </a:prstGeom>
                      <a:noFill/>
                      <a:ln w="38100">
                        <a:noFill/>
                        <a:miter/>
                      </a:ln>
                    </p:spPr>
                  </p:pic>
                </p:oleObj>
              </mc:Fallback>
            </mc:AlternateContent>
          </a:graphicData>
        </a:graphic>
      </p:graphicFrame>
      <p:graphicFrame>
        <p:nvGraphicFramePr>
          <p:cNvPr id="24583" name="Object 297"/>
          <p:cNvGraphicFramePr/>
          <p:nvPr/>
        </p:nvGraphicFramePr>
        <p:xfrm>
          <a:off x="7086600" y="1436688"/>
          <a:ext cx="352425" cy="433387"/>
        </p:xfrm>
        <a:graphic>
          <a:graphicData uri="http://schemas.openxmlformats.org/presentationml/2006/ole">
            <mc:AlternateContent xmlns:mc="http://schemas.openxmlformats.org/markup-compatibility/2006">
              <mc:Choice xmlns:v="urn:schemas-microsoft-com:vml" Requires="v">
                <p:oleObj spid="_x0000_s3172" name="" r:id="rId11" imgW="203200" imgH="241300" progId="Equation.3">
                  <p:embed/>
                </p:oleObj>
              </mc:Choice>
              <mc:Fallback>
                <p:oleObj name="" r:id="rId11" imgW="203200" imgH="241300" progId="Equation.3">
                  <p:embed/>
                  <p:pic>
                    <p:nvPicPr>
                      <p:cNvPr id="0" name="图片 3171"/>
                      <p:cNvPicPr/>
                      <p:nvPr/>
                    </p:nvPicPr>
                    <p:blipFill>
                      <a:blip r:embed="rId12"/>
                      <a:stretch>
                        <a:fillRect/>
                      </a:stretch>
                    </p:blipFill>
                    <p:spPr>
                      <a:xfrm>
                        <a:off x="7086600" y="1436688"/>
                        <a:ext cx="352425" cy="433387"/>
                      </a:xfrm>
                      <a:prstGeom prst="rect">
                        <a:avLst/>
                      </a:prstGeom>
                      <a:noFill/>
                      <a:ln w="38100">
                        <a:noFill/>
                        <a:miter/>
                      </a:ln>
                    </p:spPr>
                  </p:pic>
                </p:oleObj>
              </mc:Fallback>
            </mc:AlternateContent>
          </a:graphicData>
        </a:graphic>
      </p:graphicFrame>
      <p:graphicFrame>
        <p:nvGraphicFramePr>
          <p:cNvPr id="24584" name="Object 298"/>
          <p:cNvGraphicFramePr/>
          <p:nvPr/>
        </p:nvGraphicFramePr>
        <p:xfrm>
          <a:off x="7772400" y="1447800"/>
          <a:ext cx="352425" cy="409575"/>
        </p:xfrm>
        <a:graphic>
          <a:graphicData uri="http://schemas.openxmlformats.org/presentationml/2006/ole">
            <mc:AlternateContent xmlns:mc="http://schemas.openxmlformats.org/markup-compatibility/2006">
              <mc:Choice xmlns:v="urn:schemas-microsoft-com:vml" Requires="v">
                <p:oleObj spid="_x0000_s3171" name="" r:id="rId13" imgW="203200" imgH="228600" progId="Equation.3">
                  <p:embed/>
                </p:oleObj>
              </mc:Choice>
              <mc:Fallback>
                <p:oleObj name="" r:id="rId13" imgW="203200" imgH="228600" progId="Equation.3">
                  <p:embed/>
                  <p:pic>
                    <p:nvPicPr>
                      <p:cNvPr id="0" name="图片 3170"/>
                      <p:cNvPicPr/>
                      <p:nvPr/>
                    </p:nvPicPr>
                    <p:blipFill>
                      <a:blip r:embed="rId14"/>
                      <a:stretch>
                        <a:fillRect/>
                      </a:stretch>
                    </p:blipFill>
                    <p:spPr>
                      <a:xfrm>
                        <a:off x="7772400" y="1447800"/>
                        <a:ext cx="352425" cy="409575"/>
                      </a:xfrm>
                      <a:prstGeom prst="rect">
                        <a:avLst/>
                      </a:prstGeom>
                      <a:noFill/>
                      <a:ln w="38100">
                        <a:noFill/>
                        <a:miter/>
                      </a:ln>
                    </p:spPr>
                  </p:pic>
                </p:oleObj>
              </mc:Fallback>
            </mc:AlternateContent>
          </a:graphicData>
        </a:graphic>
      </p:graphicFrame>
      <p:graphicFrame>
        <p:nvGraphicFramePr>
          <p:cNvPr id="24585" name="Object 299"/>
          <p:cNvGraphicFramePr/>
          <p:nvPr/>
        </p:nvGraphicFramePr>
        <p:xfrm>
          <a:off x="8382000" y="1447800"/>
          <a:ext cx="352425" cy="409575"/>
        </p:xfrm>
        <a:graphic>
          <a:graphicData uri="http://schemas.openxmlformats.org/presentationml/2006/ole">
            <mc:AlternateContent xmlns:mc="http://schemas.openxmlformats.org/markup-compatibility/2006">
              <mc:Choice xmlns:v="urn:schemas-microsoft-com:vml" Requires="v">
                <p:oleObj spid="_x0000_s3173" name="" r:id="rId15" imgW="203200" imgH="228600" progId="Equation.3">
                  <p:embed/>
                </p:oleObj>
              </mc:Choice>
              <mc:Fallback>
                <p:oleObj name="" r:id="rId15" imgW="203200" imgH="228600" progId="Equation.3">
                  <p:embed/>
                  <p:pic>
                    <p:nvPicPr>
                      <p:cNvPr id="0" name="图片 3172"/>
                      <p:cNvPicPr/>
                      <p:nvPr/>
                    </p:nvPicPr>
                    <p:blipFill>
                      <a:blip r:embed="rId16"/>
                      <a:stretch>
                        <a:fillRect/>
                      </a:stretch>
                    </p:blipFill>
                    <p:spPr>
                      <a:xfrm>
                        <a:off x="8382000" y="1447800"/>
                        <a:ext cx="352425" cy="409575"/>
                      </a:xfrm>
                      <a:prstGeom prst="rect">
                        <a:avLst/>
                      </a:prstGeom>
                      <a:noFill/>
                      <a:ln w="38100">
                        <a:noFill/>
                        <a:miter/>
                      </a:ln>
                    </p:spPr>
                  </p:pic>
                </p:oleObj>
              </mc:Fallback>
            </mc:AlternateContent>
          </a:graphicData>
        </a:graphic>
      </p:graphicFrame>
      <p:graphicFrame>
        <p:nvGraphicFramePr>
          <p:cNvPr id="24586" name="Object 300"/>
          <p:cNvGraphicFramePr/>
          <p:nvPr/>
        </p:nvGraphicFramePr>
        <p:xfrm>
          <a:off x="1066800" y="3352800"/>
          <a:ext cx="352425" cy="409575"/>
        </p:xfrm>
        <a:graphic>
          <a:graphicData uri="http://schemas.openxmlformats.org/presentationml/2006/ole">
            <mc:AlternateContent xmlns:mc="http://schemas.openxmlformats.org/markup-compatibility/2006">
              <mc:Choice xmlns:v="urn:schemas-microsoft-com:vml" Requires="v">
                <p:oleObj spid="_x0000_s3174" name="" r:id="rId17" imgW="203200" imgH="228600" progId="Equation.3">
                  <p:embed/>
                </p:oleObj>
              </mc:Choice>
              <mc:Fallback>
                <p:oleObj name="" r:id="rId17" imgW="203200" imgH="228600" progId="Equation.3">
                  <p:embed/>
                  <p:pic>
                    <p:nvPicPr>
                      <p:cNvPr id="0" name="图片 3173"/>
                      <p:cNvPicPr/>
                      <p:nvPr/>
                    </p:nvPicPr>
                    <p:blipFill>
                      <a:blip r:embed="rId18"/>
                      <a:stretch>
                        <a:fillRect/>
                      </a:stretch>
                    </p:blipFill>
                    <p:spPr>
                      <a:xfrm>
                        <a:off x="1066800" y="3352800"/>
                        <a:ext cx="352425" cy="409575"/>
                      </a:xfrm>
                      <a:prstGeom prst="rect">
                        <a:avLst/>
                      </a:prstGeom>
                      <a:noFill/>
                      <a:ln w="38100">
                        <a:noFill/>
                        <a:miter/>
                      </a:ln>
                    </p:spPr>
                  </p:pic>
                </p:oleObj>
              </mc:Fallback>
            </mc:AlternateContent>
          </a:graphicData>
        </a:graphic>
      </p:graphicFrame>
      <p:graphicFrame>
        <p:nvGraphicFramePr>
          <p:cNvPr id="24587" name="Object 301"/>
          <p:cNvGraphicFramePr/>
          <p:nvPr/>
        </p:nvGraphicFramePr>
        <p:xfrm>
          <a:off x="1066800" y="1905000"/>
          <a:ext cx="352425" cy="409575"/>
        </p:xfrm>
        <a:graphic>
          <a:graphicData uri="http://schemas.openxmlformats.org/presentationml/2006/ole">
            <mc:AlternateContent xmlns:mc="http://schemas.openxmlformats.org/markup-compatibility/2006">
              <mc:Choice xmlns:v="urn:schemas-microsoft-com:vml" Requires="v">
                <p:oleObj spid="_x0000_s3177" name="" r:id="rId19" imgW="203200" imgH="228600" progId="Equation.3">
                  <p:embed/>
                </p:oleObj>
              </mc:Choice>
              <mc:Fallback>
                <p:oleObj name="" r:id="rId19" imgW="203200" imgH="228600" progId="Equation.3">
                  <p:embed/>
                  <p:pic>
                    <p:nvPicPr>
                      <p:cNvPr id="0" name="图片 3176"/>
                      <p:cNvPicPr/>
                      <p:nvPr/>
                    </p:nvPicPr>
                    <p:blipFill>
                      <a:blip r:embed="rId8"/>
                      <a:stretch>
                        <a:fillRect/>
                      </a:stretch>
                    </p:blipFill>
                    <p:spPr>
                      <a:xfrm>
                        <a:off x="1066800" y="1905000"/>
                        <a:ext cx="352425" cy="409575"/>
                      </a:xfrm>
                      <a:prstGeom prst="rect">
                        <a:avLst/>
                      </a:prstGeom>
                      <a:noFill/>
                      <a:ln w="38100">
                        <a:noFill/>
                        <a:miter/>
                      </a:ln>
                    </p:spPr>
                  </p:pic>
                </p:oleObj>
              </mc:Fallback>
            </mc:AlternateContent>
          </a:graphicData>
        </a:graphic>
      </p:graphicFrame>
      <p:sp>
        <p:nvSpPr>
          <p:cNvPr id="36149" name="Text Box 309"/>
          <p:cNvSpPr txBox="1"/>
          <p:nvPr/>
        </p:nvSpPr>
        <p:spPr>
          <a:xfrm>
            <a:off x="228600" y="5451475"/>
            <a:ext cx="8915400" cy="884238"/>
          </a:xfrm>
          <a:prstGeom prst="rect">
            <a:avLst/>
          </a:prstGeom>
          <a:noFill/>
          <a:ln w="9525">
            <a:noFill/>
          </a:ln>
        </p:spPr>
        <p:txBody>
          <a:bodyPr>
            <a:spAutoFit/>
          </a:bodyPr>
          <a:p>
            <a:r>
              <a:rPr lang="zh-CN" altLang="en-US" b="1" dirty="0">
                <a:latin typeface="楷体_GB2312" pitchFamily="49" charset="-122"/>
              </a:rPr>
              <a:t>表中</a:t>
            </a:r>
            <a:r>
              <a:rPr lang="en-US" altLang="zh-CN" dirty="0">
                <a:latin typeface="Times New Roman" panose="02020603050405020304" pitchFamily="18" charset="0"/>
              </a:rPr>
              <a:t>α</a:t>
            </a:r>
            <a:r>
              <a:rPr lang="en-US" altLang="zh-CN" baseline="-30000" dirty="0">
                <a:latin typeface="Times New Roman" panose="02020603050405020304" pitchFamily="18" charset="0"/>
              </a:rPr>
              <a:t>3</a:t>
            </a:r>
            <a:r>
              <a:rPr lang="zh-CN" altLang="en-US" dirty="0">
                <a:latin typeface="Times New Roman" panose="02020603050405020304" pitchFamily="18" charset="0"/>
              </a:rPr>
              <a:t>＝</a:t>
            </a:r>
            <a:r>
              <a:rPr lang="en-US" altLang="zh-CN" dirty="0">
                <a:latin typeface="Times New Roman" panose="02020603050405020304" pitchFamily="18" charset="0"/>
              </a:rPr>
              <a:t>115/3≠0</a:t>
            </a:r>
            <a:r>
              <a:rPr lang="zh-CN" altLang="en-US" dirty="0">
                <a:latin typeface="Times New Roman" panose="02020603050405020304" pitchFamily="18" charset="0"/>
              </a:rPr>
              <a:t>，</a:t>
            </a:r>
            <a:r>
              <a:rPr lang="zh-CN" altLang="en-US" b="1" dirty="0">
                <a:latin typeface="楷体_GB2312" pitchFamily="49" charset="-122"/>
              </a:rPr>
              <a:t>说明</a:t>
            </a:r>
            <a:r>
              <a:rPr lang="en-US" altLang="zh-CN" dirty="0">
                <a:latin typeface="Times New Roman" panose="02020603050405020304" pitchFamily="18" charset="0"/>
              </a:rPr>
              <a:t>P</a:t>
            </a:r>
            <a:r>
              <a:rPr lang="en-US" altLang="zh-CN" baseline="-30000" dirty="0">
                <a:latin typeface="Times New Roman" panose="02020603050405020304" pitchFamily="18" charset="0"/>
              </a:rPr>
              <a:t>3 </a:t>
            </a:r>
            <a:r>
              <a:rPr lang="zh-CN" altLang="en-US" b="1" dirty="0">
                <a:latin typeface="楷体_GB2312" pitchFamily="49" charset="-122"/>
              </a:rPr>
              <a:t>优先等级目标没有实现，但已无法改进，得到满意解</a:t>
            </a:r>
            <a:r>
              <a:rPr lang="zh-CN" altLang="en-US" dirty="0">
                <a:latin typeface="Times New Roman" panose="02020603050405020304" pitchFamily="18" charset="0"/>
                <a:ea typeface="宋体" panose="02010600030101010101" pitchFamily="2" charset="-122"/>
              </a:rPr>
              <a:t> </a:t>
            </a:r>
            <a:r>
              <a:rPr lang="en-US" altLang="zh-CN" sz="2800" i="1" dirty="0">
                <a:latin typeface="Times New Roman" panose="02020603050405020304" pitchFamily="18" charset="0"/>
              </a:rPr>
              <a:t>x</a:t>
            </a:r>
            <a:r>
              <a:rPr lang="en-US" altLang="zh-CN" sz="2800" i="1" baseline="-30000" dirty="0">
                <a:latin typeface="Times New Roman" panose="02020603050405020304" pitchFamily="18" charset="0"/>
              </a:rPr>
              <a:t>1</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60</a:t>
            </a:r>
            <a:r>
              <a:rPr lang="zh-CN" altLang="en-US" dirty="0">
                <a:latin typeface="Times New Roman" panose="02020603050405020304" pitchFamily="18" charset="0"/>
                <a:ea typeface="宋体" panose="02010600030101010101" pitchFamily="2" charset="-122"/>
              </a:rPr>
              <a:t>， </a:t>
            </a:r>
            <a:r>
              <a:rPr lang="en-US" altLang="zh-CN" sz="2800" i="1" dirty="0">
                <a:latin typeface="Times New Roman" panose="02020603050405020304" pitchFamily="18" charset="0"/>
              </a:rPr>
              <a:t>x</a:t>
            </a:r>
            <a:r>
              <a:rPr lang="en-US" altLang="zh-CN" sz="2800" i="1" baseline="-30000" dirty="0">
                <a:latin typeface="Times New Roman" panose="02020603050405020304" pitchFamily="18" charset="0"/>
              </a:rPr>
              <a:t>2</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175/3</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115/3</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125/3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aphicFrame>
        <p:nvGraphicFramePr>
          <p:cNvPr id="36150" name="Object 310"/>
          <p:cNvGraphicFramePr/>
          <p:nvPr/>
        </p:nvGraphicFramePr>
        <p:xfrm>
          <a:off x="6362700" y="5867400"/>
          <a:ext cx="352425" cy="409575"/>
        </p:xfrm>
        <a:graphic>
          <a:graphicData uri="http://schemas.openxmlformats.org/presentationml/2006/ole">
            <mc:AlternateContent xmlns:mc="http://schemas.openxmlformats.org/markup-compatibility/2006">
              <mc:Choice xmlns:v="urn:schemas-microsoft-com:vml" Requires="v">
                <p:oleObj spid="_x0000_s3193" name="" r:id="rId20" imgW="203200" imgH="228600" progId="Equation.3">
                  <p:embed/>
                </p:oleObj>
              </mc:Choice>
              <mc:Fallback>
                <p:oleObj name="" r:id="rId20" imgW="203200" imgH="228600" progId="Equation.3">
                  <p:embed/>
                  <p:pic>
                    <p:nvPicPr>
                      <p:cNvPr id="0" name="图片 3192"/>
                      <p:cNvPicPr/>
                      <p:nvPr/>
                    </p:nvPicPr>
                    <p:blipFill>
                      <a:blip r:embed="rId18"/>
                      <a:stretch>
                        <a:fillRect/>
                      </a:stretch>
                    </p:blipFill>
                    <p:spPr>
                      <a:xfrm>
                        <a:off x="6362700" y="5867400"/>
                        <a:ext cx="352425" cy="409575"/>
                      </a:xfrm>
                      <a:prstGeom prst="rect">
                        <a:avLst/>
                      </a:prstGeom>
                      <a:noFill/>
                      <a:ln w="38100">
                        <a:noFill/>
                        <a:miter/>
                      </a:ln>
                    </p:spPr>
                  </p:pic>
                </p:oleObj>
              </mc:Fallback>
            </mc:AlternateContent>
          </a:graphicData>
        </a:graphic>
      </p:graphicFrame>
      <p:graphicFrame>
        <p:nvGraphicFramePr>
          <p:cNvPr id="36151" name="Object 311"/>
          <p:cNvGraphicFramePr/>
          <p:nvPr/>
        </p:nvGraphicFramePr>
        <p:xfrm>
          <a:off x="4786313" y="5867400"/>
          <a:ext cx="352425" cy="409575"/>
        </p:xfrm>
        <a:graphic>
          <a:graphicData uri="http://schemas.openxmlformats.org/presentationml/2006/ole">
            <mc:AlternateContent xmlns:mc="http://schemas.openxmlformats.org/markup-compatibility/2006">
              <mc:Choice xmlns:v="urn:schemas-microsoft-com:vml" Requires="v">
                <p:oleObj spid="_x0000_s3175" name="" r:id="rId21" imgW="203200" imgH="228600" progId="Equation.3">
                  <p:embed/>
                </p:oleObj>
              </mc:Choice>
              <mc:Fallback>
                <p:oleObj name="" r:id="rId21" imgW="203200" imgH="228600" progId="Equation.3">
                  <p:embed/>
                  <p:pic>
                    <p:nvPicPr>
                      <p:cNvPr id="0" name="图片 3174"/>
                      <p:cNvPicPr/>
                      <p:nvPr/>
                    </p:nvPicPr>
                    <p:blipFill>
                      <a:blip r:embed="rId8"/>
                      <a:stretch>
                        <a:fillRect/>
                      </a:stretch>
                    </p:blipFill>
                    <p:spPr>
                      <a:xfrm>
                        <a:off x="4786313" y="5867400"/>
                        <a:ext cx="352425" cy="409575"/>
                      </a:xfrm>
                      <a:prstGeom prst="rect">
                        <a:avLst/>
                      </a:prstGeom>
                      <a:noFill/>
                      <a:ln w="38100">
                        <a:noFill/>
                        <a:miter/>
                      </a:ln>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149"/>
                                        </p:tgtEl>
                                        <p:attrNameLst>
                                          <p:attrName>style.visibility</p:attrName>
                                        </p:attrNameLst>
                                      </p:cBhvr>
                                      <p:to>
                                        <p:strVal val="visible"/>
                                      </p:to>
                                    </p:set>
                                    <p:animEffect transition="in" filter="blinds(horizontal)">
                                      <p:cBhvr>
                                        <p:cTn id="7" dur="500"/>
                                        <p:tgtEl>
                                          <p:spTgt spid="36149"/>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6151"/>
                                        </p:tgtEl>
                                        <p:attrNameLst>
                                          <p:attrName>style.visibility</p:attrName>
                                        </p:attrNameLst>
                                      </p:cBhvr>
                                      <p:to>
                                        <p:strVal val="visible"/>
                                      </p:to>
                                    </p:set>
                                    <p:animEffect transition="in" filter="dissolve">
                                      <p:cBhvr>
                                        <p:cTn id="11" dur="500"/>
                                        <p:tgtEl>
                                          <p:spTgt spid="36151"/>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36150"/>
                                        </p:tgtEl>
                                        <p:attrNameLst>
                                          <p:attrName>style.visibility</p:attrName>
                                        </p:attrNameLst>
                                      </p:cBhvr>
                                      <p:to>
                                        <p:strVal val="visible"/>
                                      </p:to>
                                    </p:set>
                                    <p:animEffect transition="in" filter="dissolve">
                                      <p:cBhvr>
                                        <p:cTn id="15" dur="500"/>
                                        <p:tgtEl>
                                          <p:spTgt spid="36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4" name="Text Box 2"/>
          <p:cNvSpPr txBox="1"/>
          <p:nvPr/>
        </p:nvSpPr>
        <p:spPr>
          <a:xfrm>
            <a:off x="228600" y="381000"/>
            <a:ext cx="8686800" cy="6070600"/>
          </a:xfrm>
          <a:prstGeom prst="rect">
            <a:avLst/>
          </a:prstGeom>
          <a:noFill/>
          <a:ln w="9525">
            <a:noFill/>
          </a:ln>
        </p:spPr>
        <p:txBody>
          <a:bodyPr>
            <a:spAutoFit/>
          </a:bodyPr>
          <a:p>
            <a:r>
              <a:rPr lang="en-US" altLang="zh-CN" dirty="0">
                <a:latin typeface="Times New Roman" panose="02020603050405020304" pitchFamily="18" charset="0"/>
                <a:ea typeface="宋体" panose="02010600030101010101" pitchFamily="2" charset="-122"/>
              </a:rPr>
              <a:t>       </a:t>
            </a:r>
            <a:r>
              <a:rPr lang="zh-CN" altLang="en-US" sz="2800" b="1" dirty="0">
                <a:solidFill>
                  <a:srgbClr val="0000FF"/>
                </a:solidFill>
                <a:latin typeface="楷体_GB2312" pitchFamily="49" charset="-122"/>
              </a:rPr>
              <a:t>结果分析：计算结果表明，工厂应生产</a:t>
            </a:r>
            <a:r>
              <a:rPr lang="en-US" altLang="zh-CN" sz="2800" b="1" dirty="0">
                <a:solidFill>
                  <a:srgbClr val="0000FF"/>
                </a:solidFill>
                <a:latin typeface="Times New Roman" panose="02020603050405020304" pitchFamily="18" charset="0"/>
              </a:rPr>
              <a:t>A</a:t>
            </a:r>
            <a:r>
              <a:rPr lang="zh-CN" altLang="en-US" sz="2800" b="1" dirty="0">
                <a:solidFill>
                  <a:srgbClr val="0000FF"/>
                </a:solidFill>
                <a:latin typeface="楷体_GB2312" pitchFamily="49" charset="-122"/>
              </a:rPr>
              <a:t>产品</a:t>
            </a:r>
            <a:r>
              <a:rPr lang="en-US" altLang="zh-CN" sz="2800" b="1" dirty="0">
                <a:solidFill>
                  <a:srgbClr val="0000FF"/>
                </a:solidFill>
                <a:latin typeface="Times New Roman" panose="02020603050405020304" pitchFamily="18" charset="0"/>
              </a:rPr>
              <a:t>60</a:t>
            </a:r>
            <a:r>
              <a:rPr lang="zh-CN" altLang="en-US" sz="2800" b="1" dirty="0">
                <a:solidFill>
                  <a:srgbClr val="0000FF"/>
                </a:solidFill>
                <a:latin typeface="楷体_GB2312" pitchFamily="49" charset="-122"/>
              </a:rPr>
              <a:t>件，</a:t>
            </a:r>
            <a:r>
              <a:rPr lang="en-US" altLang="zh-CN" sz="2800" b="1" dirty="0">
                <a:solidFill>
                  <a:srgbClr val="0000FF"/>
                </a:solidFill>
                <a:latin typeface="Times New Roman" panose="02020603050405020304" pitchFamily="18" charset="0"/>
              </a:rPr>
              <a:t>B</a:t>
            </a:r>
            <a:r>
              <a:rPr lang="zh-CN" altLang="en-US" sz="2800" b="1" dirty="0">
                <a:solidFill>
                  <a:srgbClr val="0000FF"/>
                </a:solidFill>
                <a:latin typeface="楷体_GB2312" pitchFamily="49" charset="-122"/>
              </a:rPr>
              <a:t>产品</a:t>
            </a:r>
            <a:r>
              <a:rPr lang="en-US" altLang="zh-CN" sz="2800" b="1" dirty="0">
                <a:solidFill>
                  <a:srgbClr val="0000FF"/>
                </a:solidFill>
                <a:latin typeface="Times New Roman" panose="02020603050405020304" pitchFamily="18" charset="0"/>
              </a:rPr>
              <a:t>175/3</a:t>
            </a:r>
            <a:r>
              <a:rPr lang="zh-CN" altLang="en-US" sz="2800" b="1" dirty="0">
                <a:solidFill>
                  <a:srgbClr val="0000FF"/>
                </a:solidFill>
                <a:latin typeface="楷体_GB2312" pitchFamily="49" charset="-122"/>
              </a:rPr>
              <a:t>件，</a:t>
            </a:r>
            <a:r>
              <a:rPr lang="en-US" altLang="zh-CN" sz="2800" b="1" dirty="0">
                <a:solidFill>
                  <a:srgbClr val="0000FF"/>
                </a:solidFill>
                <a:latin typeface="Times New Roman" panose="02020603050405020304" pitchFamily="18" charset="0"/>
              </a:rPr>
              <a:t>2500</a:t>
            </a:r>
            <a:r>
              <a:rPr lang="zh-CN" altLang="en-US" sz="2800" b="1" dirty="0">
                <a:solidFill>
                  <a:srgbClr val="0000FF"/>
                </a:solidFill>
                <a:latin typeface="楷体_GB2312" pitchFamily="49" charset="-122"/>
              </a:rPr>
              <a:t>元的利润目标刚好达到。    ＝</a:t>
            </a:r>
            <a:r>
              <a:rPr lang="en-US" altLang="zh-CN" sz="2800" b="1" dirty="0">
                <a:solidFill>
                  <a:srgbClr val="0000FF"/>
                </a:solidFill>
                <a:latin typeface="Times New Roman" panose="02020603050405020304" pitchFamily="18" charset="0"/>
              </a:rPr>
              <a:t>125/3</a:t>
            </a:r>
            <a:r>
              <a:rPr lang="zh-CN" altLang="en-US" sz="2800" b="1" dirty="0">
                <a:solidFill>
                  <a:srgbClr val="0000FF"/>
                </a:solidFill>
                <a:latin typeface="楷体_GB2312" pitchFamily="49" charset="-122"/>
              </a:rPr>
              <a:t>，表明产品比最高限额少</a:t>
            </a:r>
            <a:r>
              <a:rPr lang="en-US" altLang="zh-CN" sz="2800" b="1" dirty="0">
                <a:solidFill>
                  <a:srgbClr val="0000FF"/>
                </a:solidFill>
                <a:latin typeface="Times New Roman" panose="02020603050405020304" pitchFamily="18" charset="0"/>
              </a:rPr>
              <a:t>125/3</a:t>
            </a:r>
            <a:r>
              <a:rPr lang="zh-CN" altLang="en-US" sz="2800" b="1" dirty="0">
                <a:solidFill>
                  <a:srgbClr val="0000FF"/>
                </a:solidFill>
                <a:latin typeface="楷体_GB2312" pitchFamily="49" charset="-122"/>
              </a:rPr>
              <a:t>件，满足要求。   ＝</a:t>
            </a:r>
            <a:r>
              <a:rPr lang="en-US" altLang="zh-CN" sz="2800" b="1" dirty="0">
                <a:solidFill>
                  <a:srgbClr val="0000FF"/>
                </a:solidFill>
                <a:latin typeface="Times New Roman" panose="02020603050405020304" pitchFamily="18" charset="0"/>
              </a:rPr>
              <a:t>115/3 </a:t>
            </a:r>
            <a:r>
              <a:rPr lang="zh-CN" altLang="en-US" sz="2800" b="1" dirty="0">
                <a:solidFill>
                  <a:srgbClr val="0000FF"/>
                </a:solidFill>
                <a:latin typeface="楷体_GB2312" pitchFamily="49" charset="-122"/>
              </a:rPr>
              <a:t>表明甲资源超过库存</a:t>
            </a:r>
            <a:r>
              <a:rPr lang="en-US" altLang="zh-CN" sz="2800" b="1" dirty="0">
                <a:solidFill>
                  <a:srgbClr val="0000FF"/>
                </a:solidFill>
                <a:latin typeface="Times New Roman" panose="02020603050405020304" pitchFamily="18" charset="0"/>
              </a:rPr>
              <a:t>115/3</a:t>
            </a:r>
            <a:r>
              <a:rPr lang="zh-CN" altLang="en-US" sz="2800" b="1" dirty="0">
                <a:solidFill>
                  <a:srgbClr val="0000FF"/>
                </a:solidFill>
                <a:latin typeface="楷体_GB2312" pitchFamily="49" charset="-122"/>
              </a:rPr>
              <a:t>公斤，该目标没有达到。</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从表中还可以看到，</a:t>
            </a:r>
            <a:r>
              <a:rPr lang="en-US" altLang="zh-CN" dirty="0">
                <a:solidFill>
                  <a:srgbClr val="0000FF"/>
                </a:solidFill>
                <a:latin typeface="Times New Roman" panose="02020603050405020304" pitchFamily="18" charset="0"/>
              </a:rPr>
              <a:t>P</a:t>
            </a:r>
            <a:r>
              <a:rPr lang="en-US" altLang="zh-CN" baseline="-30000" dirty="0">
                <a:solidFill>
                  <a:srgbClr val="0000FF"/>
                </a:solidFill>
                <a:latin typeface="Times New Roman" panose="02020603050405020304" pitchFamily="18" charset="0"/>
              </a:rPr>
              <a:t>3 </a:t>
            </a:r>
            <a:r>
              <a:rPr lang="zh-CN" altLang="en-US" sz="2800" b="1" dirty="0">
                <a:solidFill>
                  <a:srgbClr val="0000FF"/>
                </a:solidFill>
                <a:latin typeface="楷体_GB2312" pitchFamily="49" charset="-122"/>
              </a:rPr>
              <a:t>的检验数还有负数，但其高等级的检验数却是正数，要保证 </a:t>
            </a:r>
            <a:r>
              <a:rPr lang="en-US" altLang="zh-CN" dirty="0">
                <a:solidFill>
                  <a:srgbClr val="0000FF"/>
                </a:solidFill>
                <a:latin typeface="Times New Roman" panose="02020603050405020304" pitchFamily="18" charset="0"/>
              </a:rPr>
              <a:t>P</a:t>
            </a:r>
            <a:r>
              <a:rPr lang="en-US" altLang="zh-CN" baseline="-30000" dirty="0">
                <a:solidFill>
                  <a:srgbClr val="0000FF"/>
                </a:solidFill>
                <a:latin typeface="Times New Roman" panose="02020603050405020304" pitchFamily="18" charset="0"/>
              </a:rPr>
              <a:t>1</a:t>
            </a:r>
            <a:r>
              <a:rPr lang="zh-CN" altLang="en-US" sz="2800" b="1" dirty="0">
                <a:solidFill>
                  <a:srgbClr val="0000FF"/>
                </a:solidFill>
                <a:latin typeface="楷体_GB2312" pitchFamily="49" charset="-122"/>
              </a:rPr>
              <a:t>目标实现，</a:t>
            </a:r>
            <a:r>
              <a:rPr lang="en-US" altLang="zh-CN" dirty="0">
                <a:solidFill>
                  <a:srgbClr val="0000FF"/>
                </a:solidFill>
                <a:latin typeface="Times New Roman" panose="02020603050405020304" pitchFamily="18" charset="0"/>
              </a:rPr>
              <a:t>P</a:t>
            </a:r>
            <a:r>
              <a:rPr lang="en-US" altLang="zh-CN" baseline="-30000" dirty="0">
                <a:solidFill>
                  <a:srgbClr val="0000FF"/>
                </a:solidFill>
                <a:latin typeface="Times New Roman" panose="02020603050405020304" pitchFamily="18" charset="0"/>
              </a:rPr>
              <a:t>3</a:t>
            </a:r>
            <a:r>
              <a:rPr lang="zh-CN" altLang="en-US" sz="2800" b="1" dirty="0">
                <a:solidFill>
                  <a:srgbClr val="0000FF"/>
                </a:solidFill>
                <a:latin typeface="楷体_GB2312" pitchFamily="49" charset="-122"/>
              </a:rPr>
              <a:t>等级目标则无法实现。所以，按现有消耗水平和资源库存量，无法实现</a:t>
            </a:r>
            <a:r>
              <a:rPr lang="en-US" altLang="zh-CN" sz="2800" b="1" dirty="0">
                <a:solidFill>
                  <a:srgbClr val="0000FF"/>
                </a:solidFill>
                <a:latin typeface="楷体_GB2312" pitchFamily="49" charset="-122"/>
              </a:rPr>
              <a:t>2500</a:t>
            </a:r>
            <a:r>
              <a:rPr lang="zh-CN" altLang="en-US" sz="2800" b="1" dirty="0">
                <a:solidFill>
                  <a:srgbClr val="0000FF"/>
                </a:solidFill>
                <a:latin typeface="楷体_GB2312" pitchFamily="49" charset="-122"/>
              </a:rPr>
              <a:t>元的利润目标。</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可考虑如下措施：降低</a:t>
            </a:r>
            <a:r>
              <a:rPr lang="en-US" altLang="zh-CN" sz="2800" b="1" dirty="0">
                <a:solidFill>
                  <a:srgbClr val="0000FF"/>
                </a:solidFill>
                <a:latin typeface="Times New Roman" panose="02020603050405020304" pitchFamily="18" charset="0"/>
              </a:rPr>
              <a:t>A</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B</a:t>
            </a:r>
            <a:r>
              <a:rPr lang="zh-CN" altLang="en-US" sz="2800" b="1" dirty="0">
                <a:solidFill>
                  <a:srgbClr val="0000FF"/>
                </a:solidFill>
                <a:latin typeface="楷体_GB2312" pitchFamily="49" charset="-122"/>
              </a:rPr>
              <a:t>产品对甲资源的消耗量，以满足现有甲资源库存量的目标；或改变</a:t>
            </a:r>
            <a:r>
              <a:rPr lang="en-US" altLang="zh-CN" dirty="0">
                <a:solidFill>
                  <a:srgbClr val="0000FF"/>
                </a:solidFill>
                <a:latin typeface="Times New Roman" panose="02020603050405020304" pitchFamily="18" charset="0"/>
              </a:rPr>
              <a:t>P</a:t>
            </a:r>
            <a:r>
              <a:rPr lang="en-US" altLang="zh-CN" baseline="-30000" dirty="0">
                <a:solidFill>
                  <a:srgbClr val="0000FF"/>
                </a:solidFill>
                <a:latin typeface="Times New Roman" panose="02020603050405020304" pitchFamily="18" charset="0"/>
              </a:rPr>
              <a:t>3</a:t>
            </a:r>
            <a:r>
              <a:rPr lang="zh-CN" altLang="en-US" sz="2800" b="1" dirty="0">
                <a:solidFill>
                  <a:srgbClr val="0000FF"/>
                </a:solidFill>
                <a:latin typeface="楷体_GB2312" pitchFamily="49" charset="-122"/>
              </a:rPr>
              <a:t>等级目标的指标值，增加甲资源</a:t>
            </a:r>
            <a:r>
              <a:rPr lang="en-US" altLang="zh-CN" sz="2800" b="1" dirty="0">
                <a:solidFill>
                  <a:srgbClr val="0000FF"/>
                </a:solidFill>
                <a:latin typeface="楷体_GB2312" pitchFamily="49" charset="-122"/>
              </a:rPr>
              <a:t>115/3</a:t>
            </a:r>
            <a:r>
              <a:rPr lang="zh-CN" altLang="en-US" sz="2800" b="1" dirty="0">
                <a:solidFill>
                  <a:srgbClr val="0000FF"/>
                </a:solidFill>
                <a:latin typeface="楷体_GB2312" pitchFamily="49" charset="-122"/>
              </a:rPr>
              <a:t>公斤。</a:t>
            </a:r>
            <a:endParaRPr lang="zh-CN" altLang="en-US" sz="2800" b="1" dirty="0">
              <a:solidFill>
                <a:srgbClr val="0000FF"/>
              </a:solidFill>
              <a:latin typeface="楷体_GB2312" pitchFamily="49" charset="-122"/>
            </a:endParaRPr>
          </a:p>
          <a:p>
            <a:r>
              <a:rPr lang="zh-CN" altLang="en-US" sz="2800" b="1" dirty="0">
                <a:solidFill>
                  <a:srgbClr val="0000FF"/>
                </a:solidFill>
                <a:latin typeface="楷体_GB2312" pitchFamily="49" charset="-122"/>
              </a:rPr>
              <a:t>   若很难实现上述措施，则需改变现有目标的优先等级，以取得可行的满意解果。</a:t>
            </a:r>
            <a:endParaRPr lang="zh-CN" altLang="en-US" sz="2800" b="1" dirty="0">
              <a:solidFill>
                <a:srgbClr val="0000FF"/>
              </a:solidFill>
              <a:latin typeface="楷体_GB2312" pitchFamily="49" charset="-122"/>
            </a:endParaRPr>
          </a:p>
        </p:txBody>
      </p:sp>
      <p:graphicFrame>
        <p:nvGraphicFramePr>
          <p:cNvPr id="25602" name="Object 3"/>
          <p:cNvGraphicFramePr/>
          <p:nvPr/>
        </p:nvGraphicFramePr>
        <p:xfrm>
          <a:off x="7696200" y="762000"/>
          <a:ext cx="523875" cy="533400"/>
        </p:xfrm>
        <a:graphic>
          <a:graphicData uri="http://schemas.openxmlformats.org/presentationml/2006/ole">
            <mc:AlternateContent xmlns:mc="http://schemas.openxmlformats.org/markup-compatibility/2006">
              <mc:Choice xmlns:v="urn:schemas-microsoft-com:vml" Requires="v">
                <p:oleObj spid="_x0000_s3215" name="" r:id="rId1" imgW="203200" imgH="228600" progId="Equation.3">
                  <p:embed/>
                </p:oleObj>
              </mc:Choice>
              <mc:Fallback>
                <p:oleObj name="" r:id="rId1" imgW="203200" imgH="228600" progId="Equation.3">
                  <p:embed/>
                  <p:pic>
                    <p:nvPicPr>
                      <p:cNvPr id="0" name="图片 3214"/>
                      <p:cNvPicPr/>
                      <p:nvPr/>
                    </p:nvPicPr>
                    <p:blipFill>
                      <a:blip r:embed="rId2"/>
                      <a:stretch>
                        <a:fillRect/>
                      </a:stretch>
                    </p:blipFill>
                    <p:spPr>
                      <a:xfrm>
                        <a:off x="7696200" y="762000"/>
                        <a:ext cx="523875" cy="533400"/>
                      </a:xfrm>
                      <a:prstGeom prst="rect">
                        <a:avLst/>
                      </a:prstGeom>
                      <a:noFill/>
                      <a:ln w="38100">
                        <a:noFill/>
                        <a:miter/>
                      </a:ln>
                    </p:spPr>
                  </p:pic>
                </p:oleObj>
              </mc:Fallback>
            </mc:AlternateContent>
          </a:graphicData>
        </a:graphic>
      </p:graphicFrame>
      <p:graphicFrame>
        <p:nvGraphicFramePr>
          <p:cNvPr id="25603" name="Object 4"/>
          <p:cNvGraphicFramePr/>
          <p:nvPr/>
        </p:nvGraphicFramePr>
        <p:xfrm>
          <a:off x="8229600" y="1143000"/>
          <a:ext cx="458788" cy="533400"/>
        </p:xfrm>
        <a:graphic>
          <a:graphicData uri="http://schemas.openxmlformats.org/presentationml/2006/ole">
            <mc:AlternateContent xmlns:mc="http://schemas.openxmlformats.org/markup-compatibility/2006">
              <mc:Choice xmlns:v="urn:schemas-microsoft-com:vml" Requires="v">
                <p:oleObj spid="_x0000_s3216" name="" r:id="rId3" imgW="203200" imgH="228600" progId="Equation.3">
                  <p:embed/>
                </p:oleObj>
              </mc:Choice>
              <mc:Fallback>
                <p:oleObj name="" r:id="rId3" imgW="203200" imgH="228600" progId="Equation.3">
                  <p:embed/>
                  <p:pic>
                    <p:nvPicPr>
                      <p:cNvPr id="0" name="图片 3215"/>
                      <p:cNvPicPr/>
                      <p:nvPr/>
                    </p:nvPicPr>
                    <p:blipFill>
                      <a:blip r:embed="rId4"/>
                      <a:stretch>
                        <a:fillRect/>
                      </a:stretch>
                    </p:blipFill>
                    <p:spPr>
                      <a:xfrm>
                        <a:off x="8229600" y="1143000"/>
                        <a:ext cx="458788" cy="533400"/>
                      </a:xfrm>
                      <a:prstGeom prst="rect">
                        <a:avLst/>
                      </a:prstGeom>
                      <a:noFill/>
                      <a:ln w="38100">
                        <a:noFill/>
                        <a:miter/>
                      </a:ln>
                    </p:spPr>
                  </p:pic>
                </p:oleObj>
              </mc:Fallback>
            </mc:AlternateContent>
          </a:graphicData>
        </a:graphic>
      </p:graphicFrame>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0962" name="Object 2"/>
          <p:cNvGraphicFramePr/>
          <p:nvPr/>
        </p:nvGraphicFramePr>
        <p:xfrm>
          <a:off x="914400" y="1676400"/>
          <a:ext cx="6477000" cy="4038600"/>
        </p:xfrm>
        <a:graphic>
          <a:graphicData uri="http://schemas.openxmlformats.org/presentationml/2006/ole">
            <mc:AlternateContent xmlns:mc="http://schemas.openxmlformats.org/markup-compatibility/2006">
              <mc:Choice xmlns:v="urn:schemas-microsoft-com:vml" Requires="v">
                <p:oleObj spid="_x0000_s3217" name="" r:id="rId1" imgW="2108200" imgH="1397000" progId="Equation.3">
                  <p:embed/>
                </p:oleObj>
              </mc:Choice>
              <mc:Fallback>
                <p:oleObj name="" r:id="rId1" imgW="2108200" imgH="1397000" progId="Equation.3">
                  <p:embed/>
                  <p:pic>
                    <p:nvPicPr>
                      <p:cNvPr id="0" name="图片 3216"/>
                      <p:cNvPicPr/>
                      <p:nvPr/>
                    </p:nvPicPr>
                    <p:blipFill>
                      <a:blip r:embed="rId2"/>
                      <a:stretch>
                        <a:fillRect/>
                      </a:stretch>
                    </p:blipFill>
                    <p:spPr>
                      <a:xfrm>
                        <a:off x="914400" y="1676400"/>
                        <a:ext cx="6477000" cy="4038600"/>
                      </a:xfrm>
                      <a:prstGeom prst="rect">
                        <a:avLst/>
                      </a:prstGeom>
                      <a:noFill/>
                      <a:ln w="38100">
                        <a:noFill/>
                        <a:miter/>
                      </a:ln>
                    </p:spPr>
                  </p:pic>
                </p:oleObj>
              </mc:Fallback>
            </mc:AlternateContent>
          </a:graphicData>
        </a:graphic>
      </p:graphicFrame>
      <p:sp>
        <p:nvSpPr>
          <p:cNvPr id="26627" name="Rectangle 4"/>
          <p:cNvSpPr>
            <a:spLocks noGrp="1"/>
          </p:cNvSpPr>
          <p:nvPr>
            <p:ph type="ctrTitle"/>
          </p:nvPr>
        </p:nvSpPr>
        <p:spPr>
          <a:xfrm>
            <a:off x="457200" y="609600"/>
            <a:ext cx="7772400" cy="685800"/>
          </a:xfrm>
          <a:noFill/>
          <a:ln>
            <a:noFill/>
          </a:ln>
        </p:spPr>
        <p:txBody>
          <a:bodyPr/>
          <a:p>
            <a:pPr eaLnBrk="1" hangingPunct="1">
              <a:buClrTx/>
              <a:buSzTx/>
              <a:buFontTx/>
            </a:pPr>
            <a:r>
              <a:rPr lang="zh-CN" altLang="en-US" sz="3200" b="1" dirty="0">
                <a:solidFill>
                  <a:srgbClr val="0000FF"/>
                </a:solidFill>
                <a:ea typeface="楷体_GB2312" pitchFamily="49" charset="-122"/>
              </a:rPr>
              <a:t>练习：</a:t>
            </a:r>
            <a:r>
              <a:rPr lang="zh-CN" altLang="en-US" sz="2800" b="1" dirty="0">
                <a:solidFill>
                  <a:srgbClr val="0000FF"/>
                </a:solidFill>
                <a:ea typeface="楷体_GB2312" pitchFamily="49" charset="-122"/>
              </a:rPr>
              <a:t>用单纯形法求解下列目标规划问题</a:t>
            </a:r>
            <a:endParaRPr lang="zh-CN" altLang="en-US" sz="2800" b="1" dirty="0">
              <a:solidFill>
                <a:srgbClr val="0000FF"/>
              </a:solidFill>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blinds(vertical)">
                                      <p:cBhvr>
                                        <p:cTn id="7" dur="500"/>
                                        <p:tgtEl>
                                          <p:spTgt spid="40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171" name="Rectangle 187"/>
          <p:cNvSpPr/>
          <p:nvPr/>
        </p:nvSpPr>
        <p:spPr>
          <a:xfrm>
            <a:off x="3352800" y="2286000"/>
            <a:ext cx="609600" cy="381000"/>
          </a:xfrm>
          <a:prstGeom prst="rect">
            <a:avLst/>
          </a:prstGeom>
          <a:solidFill>
            <a:schemeClr val="hlink"/>
          </a:solidFill>
          <a:ln w="9525">
            <a:noFill/>
          </a:ln>
        </p:spPr>
        <p:txBody>
          <a:bodyPr wrap="none" anchor="ctr" anchorCtr="0"/>
          <a:p>
            <a:endParaRPr lang="zh-CN" altLang="en-US" dirty="0">
              <a:latin typeface="Times New Roman" panose="02020603050405020304" pitchFamily="18" charset="0"/>
            </a:endParaRPr>
          </a:p>
        </p:txBody>
      </p:sp>
      <p:graphicFrame>
        <p:nvGraphicFramePr>
          <p:cNvPr id="27661" name="表格 27660"/>
          <p:cNvGraphicFramePr/>
          <p:nvPr/>
        </p:nvGraphicFramePr>
        <p:xfrm>
          <a:off x="228600" y="914400"/>
          <a:ext cx="8686800" cy="4084638"/>
        </p:xfrm>
        <a:graphic>
          <a:graphicData uri="http://schemas.openxmlformats.org/drawingml/2006/table">
            <a:tbl>
              <a:tblPr/>
              <a:tblGrid>
                <a:gridCol w="825500"/>
                <a:gridCol w="622300"/>
                <a:gridCol w="863600"/>
                <a:gridCol w="742950"/>
                <a:gridCol w="831850"/>
                <a:gridCol w="609600"/>
                <a:gridCol w="685800"/>
                <a:gridCol w="685800"/>
                <a:gridCol w="685800"/>
                <a:gridCol w="762000"/>
                <a:gridCol w="690563"/>
                <a:gridCol w="681037"/>
              </a:tblGrid>
              <a:tr h="457200">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j</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1</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baseline="-30000" dirty="0">
                          <a:latin typeface="Times New Roman" panose="02020603050405020304" pitchFamily="18" charset="0"/>
                        </a:rPr>
                        <a:t> </a:t>
                      </a: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3</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X</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b</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1</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2</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 </a:t>
                      </a: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3</a:t>
                      </a:r>
                      <a:r>
                        <a:rPr lang="en-US" altLang="zh-CN" b="1" i="1" dirty="0">
                          <a:latin typeface="Times New Roman" panose="02020603050405020304" pitchFamily="18" charset="0"/>
                        </a:rPr>
                        <a:t> </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703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3</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sz="2800"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56</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8</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 </a:t>
                      </a: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3</a:t>
                      </a:r>
                      <a:r>
                        <a:rPr lang="en-US" altLang="zh-CN" b="1" i="1" dirty="0">
                          <a:latin typeface="Times New Roman" panose="02020603050405020304" pitchFamily="18" charset="0"/>
                        </a:rPr>
                        <a:t> </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row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en-US" altLang="zh-CN" b="1" i="1" dirty="0">
                        <a:latin typeface="Times New Roman" panose="02020603050405020304" pitchFamily="18" charset="0"/>
                      </a:endParaRPr>
                    </a:p>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kj</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1</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2</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10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3</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56</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8</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10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7650" name="Object 140"/>
          <p:cNvGraphicFramePr/>
          <p:nvPr/>
        </p:nvGraphicFramePr>
        <p:xfrm>
          <a:off x="4876800" y="1447800"/>
          <a:ext cx="381000" cy="409575"/>
        </p:xfrm>
        <a:graphic>
          <a:graphicData uri="http://schemas.openxmlformats.org/presentationml/2006/ole">
            <mc:AlternateContent xmlns:mc="http://schemas.openxmlformats.org/markup-compatibility/2006">
              <mc:Choice xmlns:v="urn:schemas-microsoft-com:vml" Requires="v">
                <p:oleObj spid="_x0000_s3227" name="" r:id="rId1" imgW="203200" imgH="228600" progId="Equation.3">
                  <p:embed/>
                </p:oleObj>
              </mc:Choice>
              <mc:Fallback>
                <p:oleObj name="" r:id="rId1" imgW="203200" imgH="228600" progId="Equation.3">
                  <p:embed/>
                  <p:pic>
                    <p:nvPicPr>
                      <p:cNvPr id="0" name="图片 3226"/>
                      <p:cNvPicPr/>
                      <p:nvPr/>
                    </p:nvPicPr>
                    <p:blipFill>
                      <a:blip r:embed="rId2"/>
                      <a:stretch>
                        <a:fillRect/>
                      </a:stretch>
                    </p:blipFill>
                    <p:spPr>
                      <a:xfrm>
                        <a:off x="4876800" y="1447800"/>
                        <a:ext cx="381000" cy="409575"/>
                      </a:xfrm>
                      <a:prstGeom prst="rect">
                        <a:avLst/>
                      </a:prstGeom>
                      <a:noFill/>
                      <a:ln w="38100">
                        <a:noFill/>
                        <a:miter/>
                      </a:ln>
                    </p:spPr>
                  </p:pic>
                </p:oleObj>
              </mc:Fallback>
            </mc:AlternateContent>
          </a:graphicData>
        </a:graphic>
      </p:graphicFrame>
      <p:graphicFrame>
        <p:nvGraphicFramePr>
          <p:cNvPr id="27651" name="Object 141"/>
          <p:cNvGraphicFramePr/>
          <p:nvPr/>
        </p:nvGraphicFramePr>
        <p:xfrm>
          <a:off x="4191000" y="1447800"/>
          <a:ext cx="352425" cy="409575"/>
        </p:xfrm>
        <a:graphic>
          <a:graphicData uri="http://schemas.openxmlformats.org/presentationml/2006/ole">
            <mc:AlternateContent xmlns:mc="http://schemas.openxmlformats.org/markup-compatibility/2006">
              <mc:Choice xmlns:v="urn:schemas-microsoft-com:vml" Requires="v">
                <p:oleObj spid="_x0000_s3219" name="" r:id="rId3" imgW="203200" imgH="228600" progId="Equation.3">
                  <p:embed/>
                </p:oleObj>
              </mc:Choice>
              <mc:Fallback>
                <p:oleObj name="" r:id="rId3" imgW="203200" imgH="228600" progId="Equation.3">
                  <p:embed/>
                  <p:pic>
                    <p:nvPicPr>
                      <p:cNvPr id="0" name="图片 3218"/>
                      <p:cNvPicPr/>
                      <p:nvPr/>
                    </p:nvPicPr>
                    <p:blipFill>
                      <a:blip r:embed="rId4"/>
                      <a:stretch>
                        <a:fillRect/>
                      </a:stretch>
                    </p:blipFill>
                    <p:spPr>
                      <a:xfrm>
                        <a:off x="4191000" y="1447800"/>
                        <a:ext cx="352425" cy="409575"/>
                      </a:xfrm>
                      <a:prstGeom prst="rect">
                        <a:avLst/>
                      </a:prstGeom>
                      <a:noFill/>
                      <a:ln w="38100">
                        <a:noFill/>
                        <a:miter/>
                      </a:ln>
                    </p:spPr>
                  </p:pic>
                </p:oleObj>
              </mc:Fallback>
            </mc:AlternateContent>
          </a:graphicData>
        </a:graphic>
      </p:graphicFrame>
      <p:graphicFrame>
        <p:nvGraphicFramePr>
          <p:cNvPr id="27652" name="Object 142"/>
          <p:cNvGraphicFramePr/>
          <p:nvPr/>
        </p:nvGraphicFramePr>
        <p:xfrm>
          <a:off x="5562600" y="1447800"/>
          <a:ext cx="352425" cy="409575"/>
        </p:xfrm>
        <a:graphic>
          <a:graphicData uri="http://schemas.openxmlformats.org/presentationml/2006/ole">
            <mc:AlternateContent xmlns:mc="http://schemas.openxmlformats.org/markup-compatibility/2006">
              <mc:Choice xmlns:v="urn:schemas-microsoft-com:vml" Requires="v">
                <p:oleObj spid="_x0000_s3225" name="" r:id="rId5" imgW="203200" imgH="228600" progId="Equation.3">
                  <p:embed/>
                </p:oleObj>
              </mc:Choice>
              <mc:Fallback>
                <p:oleObj name="" r:id="rId5" imgW="203200" imgH="228600" progId="Equation.3">
                  <p:embed/>
                  <p:pic>
                    <p:nvPicPr>
                      <p:cNvPr id="0" name="图片 3224"/>
                      <p:cNvPicPr/>
                      <p:nvPr/>
                    </p:nvPicPr>
                    <p:blipFill>
                      <a:blip r:embed="rId6"/>
                      <a:stretch>
                        <a:fillRect/>
                      </a:stretch>
                    </p:blipFill>
                    <p:spPr>
                      <a:xfrm>
                        <a:off x="5562600" y="1447800"/>
                        <a:ext cx="352425" cy="409575"/>
                      </a:xfrm>
                      <a:prstGeom prst="rect">
                        <a:avLst/>
                      </a:prstGeom>
                      <a:noFill/>
                      <a:ln w="38100">
                        <a:noFill/>
                        <a:miter/>
                      </a:ln>
                    </p:spPr>
                  </p:pic>
                </p:oleObj>
              </mc:Fallback>
            </mc:AlternateContent>
          </a:graphicData>
        </a:graphic>
      </p:graphicFrame>
      <p:graphicFrame>
        <p:nvGraphicFramePr>
          <p:cNvPr id="27653" name="Object 143"/>
          <p:cNvGraphicFramePr/>
          <p:nvPr/>
        </p:nvGraphicFramePr>
        <p:xfrm>
          <a:off x="6172200" y="1447800"/>
          <a:ext cx="352425" cy="409575"/>
        </p:xfrm>
        <a:graphic>
          <a:graphicData uri="http://schemas.openxmlformats.org/presentationml/2006/ole">
            <mc:AlternateContent xmlns:mc="http://schemas.openxmlformats.org/markup-compatibility/2006">
              <mc:Choice xmlns:v="urn:schemas-microsoft-com:vml" Requires="v">
                <p:oleObj spid="_x0000_s3218" name="" r:id="rId7" imgW="203200" imgH="228600" progId="Equation.3">
                  <p:embed/>
                </p:oleObj>
              </mc:Choice>
              <mc:Fallback>
                <p:oleObj name="" r:id="rId7" imgW="203200" imgH="228600" progId="Equation.3">
                  <p:embed/>
                  <p:pic>
                    <p:nvPicPr>
                      <p:cNvPr id="0" name="图片 3217"/>
                      <p:cNvPicPr/>
                      <p:nvPr/>
                    </p:nvPicPr>
                    <p:blipFill>
                      <a:blip r:embed="rId8"/>
                      <a:stretch>
                        <a:fillRect/>
                      </a:stretch>
                    </p:blipFill>
                    <p:spPr>
                      <a:xfrm>
                        <a:off x="6172200" y="1447800"/>
                        <a:ext cx="352425" cy="409575"/>
                      </a:xfrm>
                      <a:prstGeom prst="rect">
                        <a:avLst/>
                      </a:prstGeom>
                      <a:noFill/>
                      <a:ln w="38100">
                        <a:noFill/>
                        <a:miter/>
                      </a:ln>
                    </p:spPr>
                  </p:pic>
                </p:oleObj>
              </mc:Fallback>
            </mc:AlternateContent>
          </a:graphicData>
        </a:graphic>
      </p:graphicFrame>
      <p:graphicFrame>
        <p:nvGraphicFramePr>
          <p:cNvPr id="27654" name="Object 144"/>
          <p:cNvGraphicFramePr/>
          <p:nvPr/>
        </p:nvGraphicFramePr>
        <p:xfrm>
          <a:off x="6934200" y="1436688"/>
          <a:ext cx="352425" cy="433387"/>
        </p:xfrm>
        <a:graphic>
          <a:graphicData uri="http://schemas.openxmlformats.org/presentationml/2006/ole">
            <mc:AlternateContent xmlns:mc="http://schemas.openxmlformats.org/markup-compatibility/2006">
              <mc:Choice xmlns:v="urn:schemas-microsoft-com:vml" Requires="v">
                <p:oleObj spid="_x0000_s3220" name="" r:id="rId9" imgW="203200" imgH="241300" progId="Equation.3">
                  <p:embed/>
                </p:oleObj>
              </mc:Choice>
              <mc:Fallback>
                <p:oleObj name="" r:id="rId9" imgW="203200" imgH="241300" progId="Equation.3">
                  <p:embed/>
                  <p:pic>
                    <p:nvPicPr>
                      <p:cNvPr id="0" name="图片 3219"/>
                      <p:cNvPicPr/>
                      <p:nvPr/>
                    </p:nvPicPr>
                    <p:blipFill>
                      <a:blip r:embed="rId10"/>
                      <a:stretch>
                        <a:fillRect/>
                      </a:stretch>
                    </p:blipFill>
                    <p:spPr>
                      <a:xfrm>
                        <a:off x="6934200" y="1436688"/>
                        <a:ext cx="352425" cy="433387"/>
                      </a:xfrm>
                      <a:prstGeom prst="rect">
                        <a:avLst/>
                      </a:prstGeom>
                      <a:noFill/>
                      <a:ln w="38100">
                        <a:noFill/>
                        <a:miter/>
                      </a:ln>
                    </p:spPr>
                  </p:pic>
                </p:oleObj>
              </mc:Fallback>
            </mc:AlternateContent>
          </a:graphicData>
        </a:graphic>
      </p:graphicFrame>
      <p:graphicFrame>
        <p:nvGraphicFramePr>
          <p:cNvPr id="27655" name="Object 145"/>
          <p:cNvGraphicFramePr/>
          <p:nvPr/>
        </p:nvGraphicFramePr>
        <p:xfrm>
          <a:off x="7620000" y="1436688"/>
          <a:ext cx="352425" cy="433387"/>
        </p:xfrm>
        <a:graphic>
          <a:graphicData uri="http://schemas.openxmlformats.org/presentationml/2006/ole">
            <mc:AlternateContent xmlns:mc="http://schemas.openxmlformats.org/markup-compatibility/2006">
              <mc:Choice xmlns:v="urn:schemas-microsoft-com:vml" Requires="v">
                <p:oleObj spid="_x0000_s3221" name="" r:id="rId11" imgW="203200" imgH="241300" progId="Equation.3">
                  <p:embed/>
                </p:oleObj>
              </mc:Choice>
              <mc:Fallback>
                <p:oleObj name="" r:id="rId11" imgW="203200" imgH="241300" progId="Equation.3">
                  <p:embed/>
                  <p:pic>
                    <p:nvPicPr>
                      <p:cNvPr id="0" name="图片 3220"/>
                      <p:cNvPicPr/>
                      <p:nvPr/>
                    </p:nvPicPr>
                    <p:blipFill>
                      <a:blip r:embed="rId12"/>
                      <a:stretch>
                        <a:fillRect/>
                      </a:stretch>
                    </p:blipFill>
                    <p:spPr>
                      <a:xfrm>
                        <a:off x="7620000" y="1436688"/>
                        <a:ext cx="352425" cy="433387"/>
                      </a:xfrm>
                      <a:prstGeom prst="rect">
                        <a:avLst/>
                      </a:prstGeom>
                      <a:noFill/>
                      <a:ln w="38100">
                        <a:noFill/>
                        <a:miter/>
                      </a:ln>
                    </p:spPr>
                  </p:pic>
                </p:oleObj>
              </mc:Fallback>
            </mc:AlternateContent>
          </a:graphicData>
        </a:graphic>
      </p:graphicFrame>
      <p:graphicFrame>
        <p:nvGraphicFramePr>
          <p:cNvPr id="27656" name="Object 151"/>
          <p:cNvGraphicFramePr/>
          <p:nvPr/>
        </p:nvGraphicFramePr>
        <p:xfrm>
          <a:off x="1143000" y="1905000"/>
          <a:ext cx="352425" cy="409575"/>
        </p:xfrm>
        <a:graphic>
          <a:graphicData uri="http://schemas.openxmlformats.org/presentationml/2006/ole">
            <mc:AlternateContent xmlns:mc="http://schemas.openxmlformats.org/markup-compatibility/2006">
              <mc:Choice xmlns:v="urn:schemas-microsoft-com:vml" Requires="v">
                <p:oleObj spid="_x0000_s3222" name="" r:id="rId13" imgW="203200" imgH="228600" progId="Equation.3">
                  <p:embed/>
                </p:oleObj>
              </mc:Choice>
              <mc:Fallback>
                <p:oleObj name="" r:id="rId13" imgW="203200" imgH="228600" progId="Equation.3">
                  <p:embed/>
                  <p:pic>
                    <p:nvPicPr>
                      <p:cNvPr id="0" name="图片 3221"/>
                      <p:cNvPicPr/>
                      <p:nvPr/>
                    </p:nvPicPr>
                    <p:blipFill>
                      <a:blip r:embed="rId4"/>
                      <a:stretch>
                        <a:fillRect/>
                      </a:stretch>
                    </p:blipFill>
                    <p:spPr>
                      <a:xfrm>
                        <a:off x="1143000" y="1905000"/>
                        <a:ext cx="352425" cy="409575"/>
                      </a:xfrm>
                      <a:prstGeom prst="rect">
                        <a:avLst/>
                      </a:prstGeom>
                      <a:noFill/>
                      <a:ln w="38100">
                        <a:noFill/>
                        <a:miter/>
                      </a:ln>
                    </p:spPr>
                  </p:pic>
                </p:oleObj>
              </mc:Fallback>
            </mc:AlternateContent>
          </a:graphicData>
        </a:graphic>
      </p:graphicFrame>
      <p:graphicFrame>
        <p:nvGraphicFramePr>
          <p:cNvPr id="27657" name="Object 152"/>
          <p:cNvGraphicFramePr/>
          <p:nvPr/>
        </p:nvGraphicFramePr>
        <p:xfrm>
          <a:off x="1143000" y="2362200"/>
          <a:ext cx="352425" cy="409575"/>
        </p:xfrm>
        <a:graphic>
          <a:graphicData uri="http://schemas.openxmlformats.org/presentationml/2006/ole">
            <mc:AlternateContent xmlns:mc="http://schemas.openxmlformats.org/markup-compatibility/2006">
              <mc:Choice xmlns:v="urn:schemas-microsoft-com:vml" Requires="v">
                <p:oleObj spid="_x0000_s3223" name="" r:id="rId14" imgW="203200" imgH="228600" progId="Equation.3">
                  <p:embed/>
                </p:oleObj>
              </mc:Choice>
              <mc:Fallback>
                <p:oleObj name="" r:id="rId14" imgW="203200" imgH="228600" progId="Equation.3">
                  <p:embed/>
                  <p:pic>
                    <p:nvPicPr>
                      <p:cNvPr id="0" name="图片 3222"/>
                      <p:cNvPicPr/>
                      <p:nvPr/>
                    </p:nvPicPr>
                    <p:blipFill>
                      <a:blip r:embed="rId6"/>
                      <a:stretch>
                        <a:fillRect/>
                      </a:stretch>
                    </p:blipFill>
                    <p:spPr>
                      <a:xfrm>
                        <a:off x="1143000" y="2362200"/>
                        <a:ext cx="352425" cy="409575"/>
                      </a:xfrm>
                      <a:prstGeom prst="rect">
                        <a:avLst/>
                      </a:prstGeom>
                      <a:noFill/>
                      <a:ln w="38100">
                        <a:noFill/>
                        <a:miter/>
                      </a:ln>
                    </p:spPr>
                  </p:pic>
                </p:oleObj>
              </mc:Fallback>
            </mc:AlternateContent>
          </a:graphicData>
        </a:graphic>
      </p:graphicFrame>
      <p:graphicFrame>
        <p:nvGraphicFramePr>
          <p:cNvPr id="27658" name="Object 153"/>
          <p:cNvGraphicFramePr/>
          <p:nvPr/>
        </p:nvGraphicFramePr>
        <p:xfrm>
          <a:off x="1143000" y="2743200"/>
          <a:ext cx="352425" cy="433388"/>
        </p:xfrm>
        <a:graphic>
          <a:graphicData uri="http://schemas.openxmlformats.org/presentationml/2006/ole">
            <mc:AlternateContent xmlns:mc="http://schemas.openxmlformats.org/markup-compatibility/2006">
              <mc:Choice xmlns:v="urn:schemas-microsoft-com:vml" Requires="v">
                <p:oleObj spid="_x0000_s3224" name="" r:id="rId15" imgW="203200" imgH="241300" progId="Equation.3">
                  <p:embed/>
                </p:oleObj>
              </mc:Choice>
              <mc:Fallback>
                <p:oleObj name="" r:id="rId15" imgW="203200" imgH="241300" progId="Equation.3">
                  <p:embed/>
                  <p:pic>
                    <p:nvPicPr>
                      <p:cNvPr id="0" name="图片 3223"/>
                      <p:cNvPicPr/>
                      <p:nvPr/>
                    </p:nvPicPr>
                    <p:blipFill>
                      <a:blip r:embed="rId10"/>
                      <a:stretch>
                        <a:fillRect/>
                      </a:stretch>
                    </p:blipFill>
                    <p:spPr>
                      <a:xfrm>
                        <a:off x="1143000" y="2743200"/>
                        <a:ext cx="352425" cy="433388"/>
                      </a:xfrm>
                      <a:prstGeom prst="rect">
                        <a:avLst/>
                      </a:prstGeom>
                      <a:noFill/>
                      <a:ln w="38100">
                        <a:noFill/>
                        <a:miter/>
                      </a:ln>
                    </p:spPr>
                  </p:pic>
                </p:oleObj>
              </mc:Fallback>
            </mc:AlternateContent>
          </a:graphicData>
        </a:graphic>
      </p:graphicFrame>
      <p:sp>
        <p:nvSpPr>
          <p:cNvPr id="42167" name="Line 183"/>
          <p:cNvSpPr/>
          <p:nvPr/>
        </p:nvSpPr>
        <p:spPr>
          <a:xfrm flipV="1">
            <a:off x="3962400" y="4191000"/>
            <a:ext cx="0" cy="304800"/>
          </a:xfrm>
          <a:prstGeom prst="line">
            <a:avLst/>
          </a:prstGeom>
          <a:ln w="9525" cap="flat" cmpd="sng">
            <a:solidFill>
              <a:schemeClr val="tx1"/>
            </a:solidFill>
            <a:prstDash val="solid"/>
            <a:headEnd type="none" w="med" len="med"/>
            <a:tailEnd type="triangle" w="med" len="med"/>
          </a:ln>
        </p:spPr>
      </p:sp>
      <p:grpSp>
        <p:nvGrpSpPr>
          <p:cNvPr id="2" name="Group 190"/>
          <p:cNvGrpSpPr/>
          <p:nvPr/>
        </p:nvGrpSpPr>
        <p:grpSpPr>
          <a:xfrm>
            <a:off x="304800" y="5334000"/>
            <a:ext cx="8534400" cy="533400"/>
            <a:chOff x="192" y="3360"/>
            <a:chExt cx="5376" cy="336"/>
          </a:xfrm>
        </p:grpSpPr>
        <p:sp>
          <p:nvSpPr>
            <p:cNvPr id="27791" name="Text Box 185"/>
            <p:cNvSpPr txBox="1"/>
            <p:nvPr/>
          </p:nvSpPr>
          <p:spPr>
            <a:xfrm>
              <a:off x="192" y="3360"/>
              <a:ext cx="5376" cy="327"/>
            </a:xfrm>
            <a:prstGeom prst="rect">
              <a:avLst/>
            </a:prstGeom>
            <a:noFill/>
            <a:ln w="9525">
              <a:noFill/>
            </a:ln>
          </p:spPr>
          <p:txBody>
            <a:bodyPr>
              <a:spAutoFit/>
            </a:bodyPr>
            <a:p>
              <a:pPr>
                <a:spcBef>
                  <a:spcPct val="50000"/>
                </a:spcBef>
              </a:pPr>
              <a:r>
                <a:rPr lang="en-US" altLang="zh-CN" sz="2800" i="1" dirty="0">
                  <a:latin typeface="Times New Roman" panose="02020603050405020304" pitchFamily="18" charset="0"/>
                </a:rPr>
                <a:t>θ= </a:t>
              </a:r>
              <a:r>
                <a:rPr lang="en-US" altLang="zh-CN" sz="2800" dirty="0">
                  <a:latin typeface="Times New Roman" panose="02020603050405020304" pitchFamily="18" charset="0"/>
                </a:rPr>
                <a:t>min</a:t>
              </a:r>
              <a:r>
                <a:rPr lang="zh-CN" altLang="en-US" sz="2800" dirty="0">
                  <a:latin typeface="Times New Roman" panose="02020603050405020304" pitchFamily="18" charset="0"/>
                </a:rPr>
                <a:t>｛－</a:t>
              </a:r>
              <a:r>
                <a:rPr lang="en-US" altLang="zh-CN" sz="2800" dirty="0">
                  <a:latin typeface="Times New Roman" panose="02020603050405020304" pitchFamily="18" charset="0"/>
                </a:rPr>
                <a:t>,10/2,56/10,11/1</a:t>
              </a:r>
              <a:r>
                <a:rPr lang="zh-CN" altLang="en-US" sz="2800" dirty="0">
                  <a:latin typeface="Times New Roman" panose="02020603050405020304" pitchFamily="18" charset="0"/>
                </a:rPr>
                <a:t>｝</a:t>
              </a:r>
              <a:r>
                <a:rPr lang="en-US" altLang="zh-CN" sz="2800" dirty="0">
                  <a:latin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rPr>
                <a:t> 5,</a:t>
              </a:r>
              <a:r>
                <a:rPr lang="zh-CN" altLang="en-US" sz="2800" b="1" dirty="0">
                  <a:latin typeface="楷体_GB2312" pitchFamily="49" charset="-122"/>
                </a:rPr>
                <a:t>故   为换出变量。</a:t>
              </a:r>
              <a:endParaRPr lang="zh-CN" altLang="en-US" sz="2800" b="1" dirty="0">
                <a:latin typeface="楷体_GB2312" pitchFamily="49" charset="-122"/>
              </a:endParaRPr>
            </a:p>
          </p:txBody>
        </p:sp>
        <p:graphicFrame>
          <p:nvGraphicFramePr>
            <p:cNvPr id="27659" name="Object 188"/>
            <p:cNvGraphicFramePr/>
            <p:nvPr/>
          </p:nvGraphicFramePr>
          <p:xfrm>
            <a:off x="3690" y="3360"/>
            <a:ext cx="289" cy="336"/>
          </p:xfrm>
          <a:graphic>
            <a:graphicData uri="http://schemas.openxmlformats.org/presentationml/2006/ole">
              <mc:AlternateContent xmlns:mc="http://schemas.openxmlformats.org/markup-compatibility/2006">
                <mc:Choice xmlns:v="urn:schemas-microsoft-com:vml" Requires="v">
                  <p:oleObj spid="_x0000_s3226" name="" r:id="rId16" imgW="203200" imgH="228600" progId="Equation.3">
                    <p:embed/>
                  </p:oleObj>
                </mc:Choice>
                <mc:Fallback>
                  <p:oleObj name="" r:id="rId16" imgW="203200" imgH="228600" progId="Equation.3">
                    <p:embed/>
                    <p:pic>
                      <p:nvPicPr>
                        <p:cNvPr id="0" name="图片 3225"/>
                        <p:cNvPicPr/>
                        <p:nvPr/>
                      </p:nvPicPr>
                      <p:blipFill>
                        <a:blip r:embed="rId6"/>
                        <a:stretch>
                          <a:fillRect/>
                        </a:stretch>
                      </p:blipFill>
                      <p:spPr>
                        <a:xfrm>
                          <a:off x="3690" y="3360"/>
                          <a:ext cx="289" cy="336"/>
                        </a:xfrm>
                        <a:prstGeom prst="rect">
                          <a:avLst/>
                        </a:prstGeom>
                        <a:noFill/>
                        <a:ln w="38100">
                          <a:noFill/>
                          <a:miter/>
                        </a:ln>
                      </p:spPr>
                    </p:pic>
                  </p:oleObj>
                </mc:Fallback>
              </mc:AlternateContent>
            </a:graphicData>
          </a:graphic>
        </p:graphicFrame>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2167"/>
                                        </p:tgtEl>
                                        <p:attrNameLst>
                                          <p:attrName>style.visibility</p:attrName>
                                        </p:attrNameLst>
                                      </p:cBhvr>
                                      <p:to>
                                        <p:strVal val="visible"/>
                                      </p:to>
                                    </p:set>
                                    <p:animEffect transition="in" filter="dissolve">
                                      <p:cBhvr>
                                        <p:cTn id="7" dur="500"/>
                                        <p:tgtEl>
                                          <p:spTgt spid="4216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2171"/>
                                        </p:tgtEl>
                                        <p:attrNameLst>
                                          <p:attrName>style.visibility</p:attrName>
                                        </p:attrNameLst>
                                      </p:cBhvr>
                                      <p:to>
                                        <p:strVal val="visible"/>
                                      </p:to>
                                    </p:set>
                                    <p:animEffect transition="in" filter="dissolve">
                                      <p:cBhvr>
                                        <p:cTn id="12" dur="500"/>
                                        <p:tgtEl>
                                          <p:spTgt spid="4217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0-#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7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83" name="Rectangle 144"/>
          <p:cNvSpPr/>
          <p:nvPr/>
        </p:nvSpPr>
        <p:spPr>
          <a:xfrm>
            <a:off x="2590800" y="2819400"/>
            <a:ext cx="609600" cy="381000"/>
          </a:xfrm>
          <a:prstGeom prst="rect">
            <a:avLst/>
          </a:prstGeom>
          <a:solidFill>
            <a:schemeClr val="hlink"/>
          </a:solidFill>
          <a:ln w="9525">
            <a:noFill/>
          </a:ln>
        </p:spPr>
        <p:txBody>
          <a:bodyPr wrap="none" anchor="ctr" anchorCtr="0"/>
          <a:p>
            <a:endParaRPr lang="zh-CN" altLang="en-US" dirty="0">
              <a:latin typeface="Times New Roman" panose="02020603050405020304" pitchFamily="18" charset="0"/>
            </a:endParaRPr>
          </a:p>
        </p:txBody>
      </p:sp>
      <p:graphicFrame>
        <p:nvGraphicFramePr>
          <p:cNvPr id="28684" name="表格 28683"/>
          <p:cNvGraphicFramePr/>
          <p:nvPr/>
        </p:nvGraphicFramePr>
        <p:xfrm>
          <a:off x="228600" y="914400"/>
          <a:ext cx="8686800" cy="4144963"/>
        </p:xfrm>
        <a:graphic>
          <a:graphicData uri="http://schemas.openxmlformats.org/drawingml/2006/table">
            <a:tbl>
              <a:tblPr/>
              <a:tblGrid>
                <a:gridCol w="825500"/>
                <a:gridCol w="622300"/>
                <a:gridCol w="863600"/>
                <a:gridCol w="742950"/>
                <a:gridCol w="742950"/>
                <a:gridCol w="698500"/>
                <a:gridCol w="685800"/>
                <a:gridCol w="685800"/>
                <a:gridCol w="685800"/>
                <a:gridCol w="762000"/>
                <a:gridCol w="690563"/>
                <a:gridCol w="681037"/>
              </a:tblGrid>
              <a:tr h="457200">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j</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1</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baseline="-30000" dirty="0">
                          <a:latin typeface="Times New Roman" panose="02020603050405020304" pitchFamily="18" charset="0"/>
                        </a:rPr>
                        <a:t> </a:t>
                      </a: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3</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X</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b</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1</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2</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dirty="0">
                          <a:latin typeface="Times New Roman" panose="02020603050405020304" pitchFamily="18" charset="0"/>
                        </a:rPr>
                        <a:t> </a:t>
                      </a: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3</a:t>
                      </a:r>
                      <a:r>
                        <a:rPr lang="en-US" altLang="zh-CN" sz="2800" b="1" i="1" dirty="0">
                          <a:latin typeface="Times New Roman" panose="02020603050405020304" pitchFamily="18" charset="0"/>
                        </a:rPr>
                        <a:t> </a:t>
                      </a:r>
                      <a:endParaRPr lang="en-US" altLang="zh-CN" sz="2800"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3/2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2</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5</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703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3</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sz="2800"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6</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-5</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5</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 </a:t>
                      </a: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3</a:t>
                      </a:r>
                      <a:r>
                        <a:rPr lang="en-US" altLang="zh-CN" b="1" i="1" dirty="0">
                          <a:latin typeface="Times New Roman" panose="02020603050405020304" pitchFamily="18" charset="0"/>
                        </a:rPr>
                        <a:t> </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6</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3/2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row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en-US" altLang="zh-CN" b="1" i="1" dirty="0">
                        <a:latin typeface="Times New Roman" panose="02020603050405020304" pitchFamily="18" charset="0"/>
                      </a:endParaRPr>
                    </a:p>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kj</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1</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2</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3</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6</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5</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-5</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8674" name="Object 131"/>
          <p:cNvGraphicFramePr/>
          <p:nvPr/>
        </p:nvGraphicFramePr>
        <p:xfrm>
          <a:off x="4876800" y="1447800"/>
          <a:ext cx="381000" cy="409575"/>
        </p:xfrm>
        <a:graphic>
          <a:graphicData uri="http://schemas.openxmlformats.org/presentationml/2006/ole">
            <mc:AlternateContent xmlns:mc="http://schemas.openxmlformats.org/markup-compatibility/2006">
              <mc:Choice xmlns:v="urn:schemas-microsoft-com:vml" Requires="v">
                <p:oleObj spid="_x0000_s3208" name="" r:id="rId1" imgW="203200" imgH="228600" progId="Equation.3">
                  <p:embed/>
                </p:oleObj>
              </mc:Choice>
              <mc:Fallback>
                <p:oleObj name="" r:id="rId1" imgW="203200" imgH="228600" progId="Equation.3">
                  <p:embed/>
                  <p:pic>
                    <p:nvPicPr>
                      <p:cNvPr id="0" name="图片 3207"/>
                      <p:cNvPicPr/>
                      <p:nvPr/>
                    </p:nvPicPr>
                    <p:blipFill>
                      <a:blip r:embed="rId2"/>
                      <a:stretch>
                        <a:fillRect/>
                      </a:stretch>
                    </p:blipFill>
                    <p:spPr>
                      <a:xfrm>
                        <a:off x="4876800" y="1447800"/>
                        <a:ext cx="381000" cy="409575"/>
                      </a:xfrm>
                      <a:prstGeom prst="rect">
                        <a:avLst/>
                      </a:prstGeom>
                      <a:noFill/>
                      <a:ln w="38100">
                        <a:noFill/>
                        <a:miter/>
                      </a:ln>
                    </p:spPr>
                  </p:pic>
                </p:oleObj>
              </mc:Fallback>
            </mc:AlternateContent>
          </a:graphicData>
        </a:graphic>
      </p:graphicFrame>
      <p:graphicFrame>
        <p:nvGraphicFramePr>
          <p:cNvPr id="28675" name="Object 132"/>
          <p:cNvGraphicFramePr/>
          <p:nvPr/>
        </p:nvGraphicFramePr>
        <p:xfrm>
          <a:off x="4191000" y="1447800"/>
          <a:ext cx="352425" cy="409575"/>
        </p:xfrm>
        <a:graphic>
          <a:graphicData uri="http://schemas.openxmlformats.org/presentationml/2006/ole">
            <mc:AlternateContent xmlns:mc="http://schemas.openxmlformats.org/markup-compatibility/2006">
              <mc:Choice xmlns:v="urn:schemas-microsoft-com:vml" Requires="v">
                <p:oleObj spid="_x0000_s3209" name="" r:id="rId3" imgW="203200" imgH="228600" progId="Equation.3">
                  <p:embed/>
                </p:oleObj>
              </mc:Choice>
              <mc:Fallback>
                <p:oleObj name="" r:id="rId3" imgW="203200" imgH="228600" progId="Equation.3">
                  <p:embed/>
                  <p:pic>
                    <p:nvPicPr>
                      <p:cNvPr id="0" name="图片 3208"/>
                      <p:cNvPicPr/>
                      <p:nvPr/>
                    </p:nvPicPr>
                    <p:blipFill>
                      <a:blip r:embed="rId4"/>
                      <a:stretch>
                        <a:fillRect/>
                      </a:stretch>
                    </p:blipFill>
                    <p:spPr>
                      <a:xfrm>
                        <a:off x="4191000" y="1447800"/>
                        <a:ext cx="352425" cy="409575"/>
                      </a:xfrm>
                      <a:prstGeom prst="rect">
                        <a:avLst/>
                      </a:prstGeom>
                      <a:noFill/>
                      <a:ln w="38100">
                        <a:noFill/>
                        <a:miter/>
                      </a:ln>
                    </p:spPr>
                  </p:pic>
                </p:oleObj>
              </mc:Fallback>
            </mc:AlternateContent>
          </a:graphicData>
        </a:graphic>
      </p:graphicFrame>
      <p:graphicFrame>
        <p:nvGraphicFramePr>
          <p:cNvPr id="28676" name="Object 133"/>
          <p:cNvGraphicFramePr/>
          <p:nvPr/>
        </p:nvGraphicFramePr>
        <p:xfrm>
          <a:off x="5562600" y="1447800"/>
          <a:ext cx="352425" cy="409575"/>
        </p:xfrm>
        <a:graphic>
          <a:graphicData uri="http://schemas.openxmlformats.org/presentationml/2006/ole">
            <mc:AlternateContent xmlns:mc="http://schemas.openxmlformats.org/markup-compatibility/2006">
              <mc:Choice xmlns:v="urn:schemas-microsoft-com:vml" Requires="v">
                <p:oleObj spid="_x0000_s3212" name="" r:id="rId5" imgW="203200" imgH="228600" progId="Equation.3">
                  <p:embed/>
                </p:oleObj>
              </mc:Choice>
              <mc:Fallback>
                <p:oleObj name="" r:id="rId5" imgW="203200" imgH="228600" progId="Equation.3">
                  <p:embed/>
                  <p:pic>
                    <p:nvPicPr>
                      <p:cNvPr id="0" name="图片 3211"/>
                      <p:cNvPicPr/>
                      <p:nvPr/>
                    </p:nvPicPr>
                    <p:blipFill>
                      <a:blip r:embed="rId6"/>
                      <a:stretch>
                        <a:fillRect/>
                      </a:stretch>
                    </p:blipFill>
                    <p:spPr>
                      <a:xfrm>
                        <a:off x="5562600" y="1447800"/>
                        <a:ext cx="352425" cy="409575"/>
                      </a:xfrm>
                      <a:prstGeom prst="rect">
                        <a:avLst/>
                      </a:prstGeom>
                      <a:noFill/>
                      <a:ln w="38100">
                        <a:noFill/>
                        <a:miter/>
                      </a:ln>
                    </p:spPr>
                  </p:pic>
                </p:oleObj>
              </mc:Fallback>
            </mc:AlternateContent>
          </a:graphicData>
        </a:graphic>
      </p:graphicFrame>
      <p:graphicFrame>
        <p:nvGraphicFramePr>
          <p:cNvPr id="28677" name="Object 134"/>
          <p:cNvGraphicFramePr/>
          <p:nvPr/>
        </p:nvGraphicFramePr>
        <p:xfrm>
          <a:off x="6172200" y="1447800"/>
          <a:ext cx="352425" cy="409575"/>
        </p:xfrm>
        <a:graphic>
          <a:graphicData uri="http://schemas.openxmlformats.org/presentationml/2006/ole">
            <mc:AlternateContent xmlns:mc="http://schemas.openxmlformats.org/markup-compatibility/2006">
              <mc:Choice xmlns:v="urn:schemas-microsoft-com:vml" Requires="v">
                <p:oleObj spid="_x0000_s3207" name="" r:id="rId7" imgW="203200" imgH="228600" progId="Equation.3">
                  <p:embed/>
                </p:oleObj>
              </mc:Choice>
              <mc:Fallback>
                <p:oleObj name="" r:id="rId7" imgW="203200" imgH="228600" progId="Equation.3">
                  <p:embed/>
                  <p:pic>
                    <p:nvPicPr>
                      <p:cNvPr id="0" name="图片 3206"/>
                      <p:cNvPicPr/>
                      <p:nvPr/>
                    </p:nvPicPr>
                    <p:blipFill>
                      <a:blip r:embed="rId8"/>
                      <a:stretch>
                        <a:fillRect/>
                      </a:stretch>
                    </p:blipFill>
                    <p:spPr>
                      <a:xfrm>
                        <a:off x="6172200" y="1447800"/>
                        <a:ext cx="352425" cy="409575"/>
                      </a:xfrm>
                      <a:prstGeom prst="rect">
                        <a:avLst/>
                      </a:prstGeom>
                      <a:noFill/>
                      <a:ln w="38100">
                        <a:noFill/>
                        <a:miter/>
                      </a:ln>
                    </p:spPr>
                  </p:pic>
                </p:oleObj>
              </mc:Fallback>
            </mc:AlternateContent>
          </a:graphicData>
        </a:graphic>
      </p:graphicFrame>
      <p:graphicFrame>
        <p:nvGraphicFramePr>
          <p:cNvPr id="28678" name="Object 135"/>
          <p:cNvGraphicFramePr/>
          <p:nvPr/>
        </p:nvGraphicFramePr>
        <p:xfrm>
          <a:off x="6934200" y="1436688"/>
          <a:ext cx="352425" cy="433387"/>
        </p:xfrm>
        <a:graphic>
          <a:graphicData uri="http://schemas.openxmlformats.org/presentationml/2006/ole">
            <mc:AlternateContent xmlns:mc="http://schemas.openxmlformats.org/markup-compatibility/2006">
              <mc:Choice xmlns:v="urn:schemas-microsoft-com:vml" Requires="v">
                <p:oleObj spid="_x0000_s3210" name="" r:id="rId9" imgW="203200" imgH="241300" progId="Equation.3">
                  <p:embed/>
                </p:oleObj>
              </mc:Choice>
              <mc:Fallback>
                <p:oleObj name="" r:id="rId9" imgW="203200" imgH="241300" progId="Equation.3">
                  <p:embed/>
                  <p:pic>
                    <p:nvPicPr>
                      <p:cNvPr id="0" name="图片 3209"/>
                      <p:cNvPicPr/>
                      <p:nvPr/>
                    </p:nvPicPr>
                    <p:blipFill>
                      <a:blip r:embed="rId10"/>
                      <a:stretch>
                        <a:fillRect/>
                      </a:stretch>
                    </p:blipFill>
                    <p:spPr>
                      <a:xfrm>
                        <a:off x="6934200" y="1436688"/>
                        <a:ext cx="352425" cy="433387"/>
                      </a:xfrm>
                      <a:prstGeom prst="rect">
                        <a:avLst/>
                      </a:prstGeom>
                      <a:noFill/>
                      <a:ln w="38100">
                        <a:noFill/>
                        <a:miter/>
                      </a:ln>
                    </p:spPr>
                  </p:pic>
                </p:oleObj>
              </mc:Fallback>
            </mc:AlternateContent>
          </a:graphicData>
        </a:graphic>
      </p:graphicFrame>
      <p:graphicFrame>
        <p:nvGraphicFramePr>
          <p:cNvPr id="28679" name="Object 136"/>
          <p:cNvGraphicFramePr/>
          <p:nvPr/>
        </p:nvGraphicFramePr>
        <p:xfrm>
          <a:off x="7620000" y="1436688"/>
          <a:ext cx="352425" cy="433387"/>
        </p:xfrm>
        <a:graphic>
          <a:graphicData uri="http://schemas.openxmlformats.org/presentationml/2006/ole">
            <mc:AlternateContent xmlns:mc="http://schemas.openxmlformats.org/markup-compatibility/2006">
              <mc:Choice xmlns:v="urn:schemas-microsoft-com:vml" Requires="v">
                <p:oleObj spid="_x0000_s3205" name="" r:id="rId11" imgW="203200" imgH="241300" progId="Equation.3">
                  <p:embed/>
                </p:oleObj>
              </mc:Choice>
              <mc:Fallback>
                <p:oleObj name="" r:id="rId11" imgW="203200" imgH="241300" progId="Equation.3">
                  <p:embed/>
                  <p:pic>
                    <p:nvPicPr>
                      <p:cNvPr id="0" name="图片 3204"/>
                      <p:cNvPicPr/>
                      <p:nvPr/>
                    </p:nvPicPr>
                    <p:blipFill>
                      <a:blip r:embed="rId12"/>
                      <a:stretch>
                        <a:fillRect/>
                      </a:stretch>
                    </p:blipFill>
                    <p:spPr>
                      <a:xfrm>
                        <a:off x="7620000" y="1436688"/>
                        <a:ext cx="352425" cy="433387"/>
                      </a:xfrm>
                      <a:prstGeom prst="rect">
                        <a:avLst/>
                      </a:prstGeom>
                      <a:noFill/>
                      <a:ln w="38100">
                        <a:noFill/>
                        <a:miter/>
                      </a:ln>
                    </p:spPr>
                  </p:pic>
                </p:oleObj>
              </mc:Fallback>
            </mc:AlternateContent>
          </a:graphicData>
        </a:graphic>
      </p:graphicFrame>
      <p:graphicFrame>
        <p:nvGraphicFramePr>
          <p:cNvPr id="28680" name="Object 137"/>
          <p:cNvGraphicFramePr/>
          <p:nvPr/>
        </p:nvGraphicFramePr>
        <p:xfrm>
          <a:off x="1143000" y="1905000"/>
          <a:ext cx="352425" cy="409575"/>
        </p:xfrm>
        <a:graphic>
          <a:graphicData uri="http://schemas.openxmlformats.org/presentationml/2006/ole">
            <mc:AlternateContent xmlns:mc="http://schemas.openxmlformats.org/markup-compatibility/2006">
              <mc:Choice xmlns:v="urn:schemas-microsoft-com:vml" Requires="v">
                <p:oleObj spid="_x0000_s3206" name="" r:id="rId13" imgW="203200" imgH="228600" progId="Equation.3">
                  <p:embed/>
                </p:oleObj>
              </mc:Choice>
              <mc:Fallback>
                <p:oleObj name="" r:id="rId13" imgW="203200" imgH="228600" progId="Equation.3">
                  <p:embed/>
                  <p:pic>
                    <p:nvPicPr>
                      <p:cNvPr id="0" name="图片 3205"/>
                      <p:cNvPicPr/>
                      <p:nvPr/>
                    </p:nvPicPr>
                    <p:blipFill>
                      <a:blip r:embed="rId4"/>
                      <a:stretch>
                        <a:fillRect/>
                      </a:stretch>
                    </p:blipFill>
                    <p:spPr>
                      <a:xfrm>
                        <a:off x="1143000" y="1905000"/>
                        <a:ext cx="352425" cy="409575"/>
                      </a:xfrm>
                      <a:prstGeom prst="rect">
                        <a:avLst/>
                      </a:prstGeom>
                      <a:noFill/>
                      <a:ln w="38100">
                        <a:noFill/>
                        <a:miter/>
                      </a:ln>
                    </p:spPr>
                  </p:pic>
                </p:oleObj>
              </mc:Fallback>
            </mc:AlternateContent>
          </a:graphicData>
        </a:graphic>
      </p:graphicFrame>
      <p:graphicFrame>
        <p:nvGraphicFramePr>
          <p:cNvPr id="28681" name="Object 139"/>
          <p:cNvGraphicFramePr/>
          <p:nvPr/>
        </p:nvGraphicFramePr>
        <p:xfrm>
          <a:off x="1143000" y="2743200"/>
          <a:ext cx="352425" cy="433388"/>
        </p:xfrm>
        <a:graphic>
          <a:graphicData uri="http://schemas.openxmlformats.org/presentationml/2006/ole">
            <mc:AlternateContent xmlns:mc="http://schemas.openxmlformats.org/markup-compatibility/2006">
              <mc:Choice xmlns:v="urn:schemas-microsoft-com:vml" Requires="v">
                <p:oleObj spid="_x0000_s3213" name="" r:id="rId14" imgW="203200" imgH="241300" progId="Equation.3">
                  <p:embed/>
                </p:oleObj>
              </mc:Choice>
              <mc:Fallback>
                <p:oleObj name="" r:id="rId14" imgW="203200" imgH="241300" progId="Equation.3">
                  <p:embed/>
                  <p:pic>
                    <p:nvPicPr>
                      <p:cNvPr id="0" name="图片 3212"/>
                      <p:cNvPicPr/>
                      <p:nvPr/>
                    </p:nvPicPr>
                    <p:blipFill>
                      <a:blip r:embed="rId10"/>
                      <a:stretch>
                        <a:fillRect/>
                      </a:stretch>
                    </p:blipFill>
                    <p:spPr>
                      <a:xfrm>
                        <a:off x="1143000" y="2743200"/>
                        <a:ext cx="352425" cy="433388"/>
                      </a:xfrm>
                      <a:prstGeom prst="rect">
                        <a:avLst/>
                      </a:prstGeom>
                      <a:noFill/>
                      <a:ln w="38100">
                        <a:noFill/>
                        <a:miter/>
                      </a:ln>
                    </p:spPr>
                  </p:pic>
                </p:oleObj>
              </mc:Fallback>
            </mc:AlternateContent>
          </a:graphicData>
        </a:graphic>
      </p:graphicFrame>
      <p:sp>
        <p:nvSpPr>
          <p:cNvPr id="28812" name="Line 140"/>
          <p:cNvSpPr/>
          <p:nvPr/>
        </p:nvSpPr>
        <p:spPr>
          <a:xfrm flipV="1">
            <a:off x="3200400" y="4648200"/>
            <a:ext cx="0" cy="304800"/>
          </a:xfrm>
          <a:prstGeom prst="line">
            <a:avLst/>
          </a:prstGeom>
          <a:ln w="9525" cap="flat" cmpd="sng">
            <a:solidFill>
              <a:schemeClr val="tx1"/>
            </a:solidFill>
            <a:prstDash val="solid"/>
            <a:headEnd type="none" w="med" len="med"/>
            <a:tailEnd type="triangle" w="med" len="med"/>
          </a:ln>
        </p:spPr>
      </p:sp>
      <p:grpSp>
        <p:nvGrpSpPr>
          <p:cNvPr id="2" name="Group 148"/>
          <p:cNvGrpSpPr/>
          <p:nvPr/>
        </p:nvGrpSpPr>
        <p:grpSpPr>
          <a:xfrm>
            <a:off x="304800" y="5334000"/>
            <a:ext cx="8534400" cy="558800"/>
            <a:chOff x="192" y="3360"/>
            <a:chExt cx="5376" cy="352"/>
          </a:xfrm>
        </p:grpSpPr>
        <p:sp>
          <p:nvSpPr>
            <p:cNvPr id="28814" name="Text Box 141"/>
            <p:cNvSpPr txBox="1"/>
            <p:nvPr/>
          </p:nvSpPr>
          <p:spPr>
            <a:xfrm>
              <a:off x="192" y="3360"/>
              <a:ext cx="5376" cy="327"/>
            </a:xfrm>
            <a:prstGeom prst="rect">
              <a:avLst/>
            </a:prstGeom>
            <a:noFill/>
            <a:ln w="9525">
              <a:noFill/>
            </a:ln>
          </p:spPr>
          <p:txBody>
            <a:bodyPr>
              <a:spAutoFit/>
            </a:bodyPr>
            <a:p>
              <a:pPr>
                <a:spcBef>
                  <a:spcPct val="50000"/>
                </a:spcBef>
              </a:pPr>
              <a:r>
                <a:rPr lang="en-US" altLang="zh-CN" sz="2800" i="1" dirty="0">
                  <a:latin typeface="Times New Roman" panose="02020603050405020304" pitchFamily="18" charset="0"/>
                </a:rPr>
                <a:t>θ= </a:t>
              </a:r>
              <a:r>
                <a:rPr lang="en-US" altLang="zh-CN" sz="2800" dirty="0">
                  <a:latin typeface="Times New Roman" panose="02020603050405020304" pitchFamily="18" charset="0"/>
                </a:rPr>
                <a:t>min</a:t>
              </a:r>
              <a:r>
                <a:rPr lang="zh-CN" altLang="en-US" sz="2800" dirty="0">
                  <a:latin typeface="Times New Roman" panose="02020603050405020304" pitchFamily="18" charset="0"/>
                </a:rPr>
                <a:t>｛</a:t>
              </a:r>
              <a:r>
                <a:rPr lang="en-US" altLang="zh-CN" sz="2800" dirty="0">
                  <a:latin typeface="Times New Roman" panose="02020603050405020304" pitchFamily="18" charset="0"/>
                </a:rPr>
                <a:t>10/3,10,6/3,12/3</a:t>
              </a:r>
              <a:r>
                <a:rPr lang="zh-CN" altLang="en-US" sz="2800" dirty="0">
                  <a:latin typeface="Times New Roman" panose="02020603050405020304" pitchFamily="18" charset="0"/>
                </a:rPr>
                <a:t>｝</a:t>
              </a:r>
              <a:r>
                <a:rPr lang="en-US" altLang="zh-CN" sz="2800" dirty="0">
                  <a:latin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rPr>
                <a:t> 2,</a:t>
              </a:r>
              <a:r>
                <a:rPr lang="zh-CN" altLang="en-US" sz="2800" b="1" dirty="0">
                  <a:latin typeface="楷体_GB2312" pitchFamily="49" charset="-122"/>
                </a:rPr>
                <a:t>故   为换出变量。</a:t>
              </a:r>
              <a:endParaRPr lang="zh-CN" altLang="en-US" sz="2800" b="1" dirty="0">
                <a:latin typeface="楷体_GB2312" pitchFamily="49" charset="-122"/>
              </a:endParaRPr>
            </a:p>
          </p:txBody>
        </p:sp>
        <p:graphicFrame>
          <p:nvGraphicFramePr>
            <p:cNvPr id="28682" name="Object 147"/>
            <p:cNvGraphicFramePr/>
            <p:nvPr/>
          </p:nvGraphicFramePr>
          <p:xfrm>
            <a:off x="3465" y="3360"/>
            <a:ext cx="330" cy="352"/>
          </p:xfrm>
          <a:graphic>
            <a:graphicData uri="http://schemas.openxmlformats.org/presentationml/2006/ole">
              <mc:AlternateContent xmlns:mc="http://schemas.openxmlformats.org/markup-compatibility/2006">
                <mc:Choice xmlns:v="urn:schemas-microsoft-com:vml" Requires="v">
                  <p:oleObj spid="_x0000_s3211" name="" r:id="rId15" imgW="203200" imgH="241300" progId="Equation.3">
                    <p:embed/>
                  </p:oleObj>
                </mc:Choice>
                <mc:Fallback>
                  <p:oleObj name="" r:id="rId15" imgW="203200" imgH="241300" progId="Equation.3">
                    <p:embed/>
                    <p:pic>
                      <p:nvPicPr>
                        <p:cNvPr id="0" name="图片 3210"/>
                        <p:cNvPicPr/>
                        <p:nvPr/>
                      </p:nvPicPr>
                      <p:blipFill>
                        <a:blip r:embed="rId10"/>
                        <a:stretch>
                          <a:fillRect/>
                        </a:stretch>
                      </p:blipFill>
                      <p:spPr>
                        <a:xfrm>
                          <a:off x="3465" y="3360"/>
                          <a:ext cx="330" cy="352"/>
                        </a:xfrm>
                        <a:prstGeom prst="rect">
                          <a:avLst/>
                        </a:prstGeom>
                        <a:noFill/>
                        <a:ln w="38100">
                          <a:noFill/>
                          <a:miter/>
                        </a:ln>
                      </p:spPr>
                    </p:pic>
                  </p:oleObj>
                </mc:Fallback>
              </mc:AlternateContent>
            </a:graphicData>
          </a:graphic>
        </p:graphicFrame>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221" name="Rectangle 141"/>
          <p:cNvSpPr/>
          <p:nvPr/>
        </p:nvSpPr>
        <p:spPr>
          <a:xfrm>
            <a:off x="7620000" y="1905000"/>
            <a:ext cx="533400" cy="381000"/>
          </a:xfrm>
          <a:prstGeom prst="rect">
            <a:avLst/>
          </a:prstGeom>
          <a:solidFill>
            <a:schemeClr val="hlink"/>
          </a:solidFill>
          <a:ln w="9525">
            <a:noFill/>
          </a:ln>
        </p:spPr>
        <p:txBody>
          <a:bodyPr wrap="none" anchor="ctr" anchorCtr="0"/>
          <a:p>
            <a:endParaRPr lang="zh-CN" altLang="en-US" dirty="0">
              <a:latin typeface="Times New Roman" panose="02020603050405020304" pitchFamily="18" charset="0"/>
            </a:endParaRPr>
          </a:p>
        </p:txBody>
      </p:sp>
      <p:graphicFrame>
        <p:nvGraphicFramePr>
          <p:cNvPr id="29708" name="表格 29707"/>
          <p:cNvGraphicFramePr/>
          <p:nvPr/>
        </p:nvGraphicFramePr>
        <p:xfrm>
          <a:off x="228600" y="914400"/>
          <a:ext cx="8686800" cy="4175125"/>
        </p:xfrm>
        <a:graphic>
          <a:graphicData uri="http://schemas.openxmlformats.org/drawingml/2006/table">
            <a:tbl>
              <a:tblPr/>
              <a:tblGrid>
                <a:gridCol w="825500"/>
                <a:gridCol w="622300"/>
                <a:gridCol w="863600"/>
                <a:gridCol w="742950"/>
                <a:gridCol w="742950"/>
                <a:gridCol w="698500"/>
                <a:gridCol w="685800"/>
                <a:gridCol w="685800"/>
                <a:gridCol w="685800"/>
                <a:gridCol w="762000"/>
                <a:gridCol w="690563"/>
                <a:gridCol w="681037"/>
              </a:tblGrid>
              <a:tr h="457200">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j</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1</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baseline="-30000" dirty="0">
                          <a:latin typeface="Times New Roman" panose="02020603050405020304" pitchFamily="18" charset="0"/>
                        </a:rPr>
                        <a:t> </a:t>
                      </a: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3</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X</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b</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1</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2</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dirty="0">
                          <a:latin typeface="Times New Roman" panose="02020603050405020304" pitchFamily="18" charset="0"/>
                        </a:rPr>
                        <a:t> </a:t>
                      </a: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3</a:t>
                      </a:r>
                      <a:r>
                        <a:rPr lang="en-US" altLang="zh-CN" sz="2800" b="1" i="1" dirty="0">
                          <a:latin typeface="Times New Roman" panose="02020603050405020304" pitchFamily="18" charset="0"/>
                        </a:rPr>
                        <a:t> </a:t>
                      </a:r>
                      <a:endParaRPr lang="en-US" altLang="zh-CN" sz="2800"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2</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4</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4/3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-4/3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-1/6</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1/6</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 </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1</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-5/3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5/3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 </a:t>
                      </a: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3</a:t>
                      </a:r>
                      <a:r>
                        <a:rPr lang="en-US" altLang="zh-CN" b="1" i="1" dirty="0">
                          <a:latin typeface="Times New Roman" panose="02020603050405020304" pitchFamily="18" charset="0"/>
                        </a:rPr>
                        <a:t> </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row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en-US" altLang="zh-CN" b="1" i="1" dirty="0">
                        <a:latin typeface="Times New Roman" panose="02020603050405020304" pitchFamily="18" charset="0"/>
                      </a:endParaRPr>
                    </a:p>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kj</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1</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2</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3</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9698" name="Object 131"/>
          <p:cNvGraphicFramePr/>
          <p:nvPr/>
        </p:nvGraphicFramePr>
        <p:xfrm>
          <a:off x="4876800" y="1447800"/>
          <a:ext cx="381000" cy="409575"/>
        </p:xfrm>
        <a:graphic>
          <a:graphicData uri="http://schemas.openxmlformats.org/presentationml/2006/ole">
            <mc:AlternateContent xmlns:mc="http://schemas.openxmlformats.org/markup-compatibility/2006">
              <mc:Choice xmlns:v="urn:schemas-microsoft-com:vml" Requires="v">
                <p:oleObj spid="_x0000_s3228" name="" r:id="rId1" imgW="203200" imgH="228600" progId="Equation.3">
                  <p:embed/>
                </p:oleObj>
              </mc:Choice>
              <mc:Fallback>
                <p:oleObj name="" r:id="rId1" imgW="203200" imgH="228600" progId="Equation.3">
                  <p:embed/>
                  <p:pic>
                    <p:nvPicPr>
                      <p:cNvPr id="0" name="图片 3227"/>
                      <p:cNvPicPr/>
                      <p:nvPr/>
                    </p:nvPicPr>
                    <p:blipFill>
                      <a:blip r:embed="rId2"/>
                      <a:stretch>
                        <a:fillRect/>
                      </a:stretch>
                    </p:blipFill>
                    <p:spPr>
                      <a:xfrm>
                        <a:off x="4876800" y="1447800"/>
                        <a:ext cx="381000" cy="409575"/>
                      </a:xfrm>
                      <a:prstGeom prst="rect">
                        <a:avLst/>
                      </a:prstGeom>
                      <a:noFill/>
                      <a:ln w="38100">
                        <a:noFill/>
                        <a:miter/>
                      </a:ln>
                    </p:spPr>
                  </p:pic>
                </p:oleObj>
              </mc:Fallback>
            </mc:AlternateContent>
          </a:graphicData>
        </a:graphic>
      </p:graphicFrame>
      <p:graphicFrame>
        <p:nvGraphicFramePr>
          <p:cNvPr id="29699" name="Object 132"/>
          <p:cNvGraphicFramePr/>
          <p:nvPr/>
        </p:nvGraphicFramePr>
        <p:xfrm>
          <a:off x="4191000" y="1447800"/>
          <a:ext cx="352425" cy="409575"/>
        </p:xfrm>
        <a:graphic>
          <a:graphicData uri="http://schemas.openxmlformats.org/presentationml/2006/ole">
            <mc:AlternateContent xmlns:mc="http://schemas.openxmlformats.org/markup-compatibility/2006">
              <mc:Choice xmlns:v="urn:schemas-microsoft-com:vml" Requires="v">
                <p:oleObj spid="_x0000_s3214" name="" r:id="rId3" imgW="203200" imgH="228600" progId="Equation.3">
                  <p:embed/>
                </p:oleObj>
              </mc:Choice>
              <mc:Fallback>
                <p:oleObj name="" r:id="rId3" imgW="203200" imgH="228600" progId="Equation.3">
                  <p:embed/>
                  <p:pic>
                    <p:nvPicPr>
                      <p:cNvPr id="0" name="图片 3213"/>
                      <p:cNvPicPr/>
                      <p:nvPr/>
                    </p:nvPicPr>
                    <p:blipFill>
                      <a:blip r:embed="rId4"/>
                      <a:stretch>
                        <a:fillRect/>
                      </a:stretch>
                    </p:blipFill>
                    <p:spPr>
                      <a:xfrm>
                        <a:off x="4191000" y="1447800"/>
                        <a:ext cx="352425" cy="409575"/>
                      </a:xfrm>
                      <a:prstGeom prst="rect">
                        <a:avLst/>
                      </a:prstGeom>
                      <a:noFill/>
                      <a:ln w="38100">
                        <a:noFill/>
                        <a:miter/>
                      </a:ln>
                    </p:spPr>
                  </p:pic>
                </p:oleObj>
              </mc:Fallback>
            </mc:AlternateContent>
          </a:graphicData>
        </a:graphic>
      </p:graphicFrame>
      <p:graphicFrame>
        <p:nvGraphicFramePr>
          <p:cNvPr id="29700" name="Object 133"/>
          <p:cNvGraphicFramePr/>
          <p:nvPr/>
        </p:nvGraphicFramePr>
        <p:xfrm>
          <a:off x="5562600" y="1447800"/>
          <a:ext cx="352425" cy="409575"/>
        </p:xfrm>
        <a:graphic>
          <a:graphicData uri="http://schemas.openxmlformats.org/presentationml/2006/ole">
            <mc:AlternateContent xmlns:mc="http://schemas.openxmlformats.org/markup-compatibility/2006">
              <mc:Choice xmlns:v="urn:schemas-microsoft-com:vml" Requires="v">
                <p:oleObj spid="_x0000_s3231" name="" r:id="rId5" imgW="203200" imgH="228600" progId="Equation.3">
                  <p:embed/>
                </p:oleObj>
              </mc:Choice>
              <mc:Fallback>
                <p:oleObj name="" r:id="rId5" imgW="203200" imgH="228600" progId="Equation.3">
                  <p:embed/>
                  <p:pic>
                    <p:nvPicPr>
                      <p:cNvPr id="0" name="图片 3230"/>
                      <p:cNvPicPr/>
                      <p:nvPr/>
                    </p:nvPicPr>
                    <p:blipFill>
                      <a:blip r:embed="rId6"/>
                      <a:stretch>
                        <a:fillRect/>
                      </a:stretch>
                    </p:blipFill>
                    <p:spPr>
                      <a:xfrm>
                        <a:off x="5562600" y="1447800"/>
                        <a:ext cx="352425" cy="409575"/>
                      </a:xfrm>
                      <a:prstGeom prst="rect">
                        <a:avLst/>
                      </a:prstGeom>
                      <a:noFill/>
                      <a:ln w="38100">
                        <a:noFill/>
                        <a:miter/>
                      </a:ln>
                    </p:spPr>
                  </p:pic>
                </p:oleObj>
              </mc:Fallback>
            </mc:AlternateContent>
          </a:graphicData>
        </a:graphic>
      </p:graphicFrame>
      <p:graphicFrame>
        <p:nvGraphicFramePr>
          <p:cNvPr id="29701" name="Object 134"/>
          <p:cNvGraphicFramePr/>
          <p:nvPr/>
        </p:nvGraphicFramePr>
        <p:xfrm>
          <a:off x="6172200" y="1447800"/>
          <a:ext cx="352425" cy="409575"/>
        </p:xfrm>
        <a:graphic>
          <a:graphicData uri="http://schemas.openxmlformats.org/presentationml/2006/ole">
            <mc:AlternateContent xmlns:mc="http://schemas.openxmlformats.org/markup-compatibility/2006">
              <mc:Choice xmlns:v="urn:schemas-microsoft-com:vml" Requires="v">
                <p:oleObj spid="_x0000_s3234" name="" r:id="rId7" imgW="203200" imgH="228600" progId="Equation.3">
                  <p:embed/>
                </p:oleObj>
              </mc:Choice>
              <mc:Fallback>
                <p:oleObj name="" r:id="rId7" imgW="203200" imgH="228600" progId="Equation.3">
                  <p:embed/>
                  <p:pic>
                    <p:nvPicPr>
                      <p:cNvPr id="0" name="图片 3233"/>
                      <p:cNvPicPr/>
                      <p:nvPr/>
                    </p:nvPicPr>
                    <p:blipFill>
                      <a:blip r:embed="rId8"/>
                      <a:stretch>
                        <a:fillRect/>
                      </a:stretch>
                    </p:blipFill>
                    <p:spPr>
                      <a:xfrm>
                        <a:off x="6172200" y="1447800"/>
                        <a:ext cx="352425" cy="409575"/>
                      </a:xfrm>
                      <a:prstGeom prst="rect">
                        <a:avLst/>
                      </a:prstGeom>
                      <a:noFill/>
                      <a:ln w="38100">
                        <a:noFill/>
                        <a:miter/>
                      </a:ln>
                    </p:spPr>
                  </p:pic>
                </p:oleObj>
              </mc:Fallback>
            </mc:AlternateContent>
          </a:graphicData>
        </a:graphic>
      </p:graphicFrame>
      <p:graphicFrame>
        <p:nvGraphicFramePr>
          <p:cNvPr id="29702" name="Object 135"/>
          <p:cNvGraphicFramePr/>
          <p:nvPr/>
        </p:nvGraphicFramePr>
        <p:xfrm>
          <a:off x="6934200" y="1436688"/>
          <a:ext cx="352425" cy="433387"/>
        </p:xfrm>
        <a:graphic>
          <a:graphicData uri="http://schemas.openxmlformats.org/presentationml/2006/ole">
            <mc:AlternateContent xmlns:mc="http://schemas.openxmlformats.org/markup-compatibility/2006">
              <mc:Choice xmlns:v="urn:schemas-microsoft-com:vml" Requires="v">
                <p:oleObj spid="_x0000_s3230" name="" r:id="rId9" imgW="203200" imgH="241300" progId="Equation.3">
                  <p:embed/>
                </p:oleObj>
              </mc:Choice>
              <mc:Fallback>
                <p:oleObj name="" r:id="rId9" imgW="203200" imgH="241300" progId="Equation.3">
                  <p:embed/>
                  <p:pic>
                    <p:nvPicPr>
                      <p:cNvPr id="0" name="图片 3229"/>
                      <p:cNvPicPr/>
                      <p:nvPr/>
                    </p:nvPicPr>
                    <p:blipFill>
                      <a:blip r:embed="rId10"/>
                      <a:stretch>
                        <a:fillRect/>
                      </a:stretch>
                    </p:blipFill>
                    <p:spPr>
                      <a:xfrm>
                        <a:off x="6934200" y="1436688"/>
                        <a:ext cx="352425" cy="433387"/>
                      </a:xfrm>
                      <a:prstGeom prst="rect">
                        <a:avLst/>
                      </a:prstGeom>
                      <a:noFill/>
                      <a:ln w="38100">
                        <a:noFill/>
                        <a:miter/>
                      </a:ln>
                    </p:spPr>
                  </p:pic>
                </p:oleObj>
              </mc:Fallback>
            </mc:AlternateContent>
          </a:graphicData>
        </a:graphic>
      </p:graphicFrame>
      <p:graphicFrame>
        <p:nvGraphicFramePr>
          <p:cNvPr id="29703" name="Object 136"/>
          <p:cNvGraphicFramePr/>
          <p:nvPr/>
        </p:nvGraphicFramePr>
        <p:xfrm>
          <a:off x="7620000" y="1436688"/>
          <a:ext cx="352425" cy="433387"/>
        </p:xfrm>
        <a:graphic>
          <a:graphicData uri="http://schemas.openxmlformats.org/presentationml/2006/ole">
            <mc:AlternateContent xmlns:mc="http://schemas.openxmlformats.org/markup-compatibility/2006">
              <mc:Choice xmlns:v="urn:schemas-microsoft-com:vml" Requires="v">
                <p:oleObj spid="_x0000_s3235" name="" r:id="rId11" imgW="203200" imgH="241300" progId="Equation.3">
                  <p:embed/>
                </p:oleObj>
              </mc:Choice>
              <mc:Fallback>
                <p:oleObj name="" r:id="rId11" imgW="203200" imgH="241300" progId="Equation.3">
                  <p:embed/>
                  <p:pic>
                    <p:nvPicPr>
                      <p:cNvPr id="0" name="图片 3234"/>
                      <p:cNvPicPr/>
                      <p:nvPr/>
                    </p:nvPicPr>
                    <p:blipFill>
                      <a:blip r:embed="rId12"/>
                      <a:stretch>
                        <a:fillRect/>
                      </a:stretch>
                    </p:blipFill>
                    <p:spPr>
                      <a:xfrm>
                        <a:off x="7620000" y="1436688"/>
                        <a:ext cx="352425" cy="433387"/>
                      </a:xfrm>
                      <a:prstGeom prst="rect">
                        <a:avLst/>
                      </a:prstGeom>
                      <a:noFill/>
                      <a:ln w="38100">
                        <a:noFill/>
                        <a:miter/>
                      </a:ln>
                    </p:spPr>
                  </p:pic>
                </p:oleObj>
              </mc:Fallback>
            </mc:AlternateContent>
          </a:graphicData>
        </a:graphic>
      </p:graphicFrame>
      <p:graphicFrame>
        <p:nvGraphicFramePr>
          <p:cNvPr id="29704" name="Object 137"/>
          <p:cNvGraphicFramePr/>
          <p:nvPr/>
        </p:nvGraphicFramePr>
        <p:xfrm>
          <a:off x="1143000" y="1905000"/>
          <a:ext cx="352425" cy="409575"/>
        </p:xfrm>
        <a:graphic>
          <a:graphicData uri="http://schemas.openxmlformats.org/presentationml/2006/ole">
            <mc:AlternateContent xmlns:mc="http://schemas.openxmlformats.org/markup-compatibility/2006">
              <mc:Choice xmlns:v="urn:schemas-microsoft-com:vml" Requires="v">
                <p:oleObj spid="_x0000_s3232" name="" r:id="rId13" imgW="203200" imgH="228600" progId="Equation.3">
                  <p:embed/>
                </p:oleObj>
              </mc:Choice>
              <mc:Fallback>
                <p:oleObj name="" r:id="rId13" imgW="203200" imgH="228600" progId="Equation.3">
                  <p:embed/>
                  <p:pic>
                    <p:nvPicPr>
                      <p:cNvPr id="0" name="图片 3231"/>
                      <p:cNvPicPr/>
                      <p:nvPr/>
                    </p:nvPicPr>
                    <p:blipFill>
                      <a:blip r:embed="rId4"/>
                      <a:stretch>
                        <a:fillRect/>
                      </a:stretch>
                    </p:blipFill>
                    <p:spPr>
                      <a:xfrm>
                        <a:off x="1143000" y="1905000"/>
                        <a:ext cx="352425" cy="409575"/>
                      </a:xfrm>
                      <a:prstGeom prst="rect">
                        <a:avLst/>
                      </a:prstGeom>
                      <a:noFill/>
                      <a:ln w="38100">
                        <a:noFill/>
                        <a:miter/>
                      </a:ln>
                    </p:spPr>
                  </p:pic>
                </p:oleObj>
              </mc:Fallback>
            </mc:AlternateContent>
          </a:graphicData>
        </a:graphic>
      </p:graphicFrame>
      <p:sp>
        <p:nvSpPr>
          <p:cNvPr id="46219" name="Line 139"/>
          <p:cNvSpPr/>
          <p:nvPr/>
        </p:nvSpPr>
        <p:spPr>
          <a:xfrm flipV="1">
            <a:off x="8077200" y="4724400"/>
            <a:ext cx="0" cy="304800"/>
          </a:xfrm>
          <a:prstGeom prst="line">
            <a:avLst/>
          </a:prstGeom>
          <a:ln w="9525" cap="flat" cmpd="sng">
            <a:solidFill>
              <a:srgbClr val="CC0066"/>
            </a:solidFill>
            <a:prstDash val="solid"/>
            <a:headEnd type="none" w="med" len="med"/>
            <a:tailEnd type="triangle" w="med" len="med"/>
          </a:ln>
        </p:spPr>
      </p:sp>
      <p:grpSp>
        <p:nvGrpSpPr>
          <p:cNvPr id="2" name="Group 152"/>
          <p:cNvGrpSpPr/>
          <p:nvPr/>
        </p:nvGrpSpPr>
        <p:grpSpPr>
          <a:xfrm>
            <a:off x="228600" y="5105400"/>
            <a:ext cx="8686800" cy="1535113"/>
            <a:chOff x="144" y="3216"/>
            <a:chExt cx="5472" cy="967"/>
          </a:xfrm>
        </p:grpSpPr>
        <p:sp>
          <p:nvSpPr>
            <p:cNvPr id="29838" name="Text Box 140"/>
            <p:cNvSpPr txBox="1"/>
            <p:nvPr/>
          </p:nvSpPr>
          <p:spPr>
            <a:xfrm>
              <a:off x="144" y="3264"/>
              <a:ext cx="5472" cy="919"/>
            </a:xfrm>
            <a:prstGeom prst="rect">
              <a:avLst/>
            </a:prstGeom>
            <a:noFill/>
            <a:ln w="9525">
              <a:noFill/>
            </a:ln>
          </p:spPr>
          <p:txBody>
            <a:bodyPr>
              <a:spAutoFit/>
            </a:bodyPr>
            <a:p>
              <a:pPr>
                <a:lnSpc>
                  <a:spcPct val="90000"/>
                </a:lnSpc>
                <a:spcBef>
                  <a:spcPct val="50000"/>
                </a:spcBef>
              </a:pPr>
              <a:r>
                <a:rPr lang="en-US" altLang="zh-CN" sz="2800" b="1" dirty="0">
                  <a:latin typeface="楷体_GB2312" pitchFamily="49" charset="-122"/>
                </a:rPr>
                <a:t>  </a:t>
              </a:r>
              <a:r>
                <a:rPr lang="zh-CN" altLang="en-US" sz="2800" b="1" dirty="0">
                  <a:latin typeface="楷体_GB2312" pitchFamily="49" charset="-122"/>
                </a:rPr>
                <a:t>最优解为</a:t>
              </a:r>
              <a:r>
                <a:rPr lang="en-US" altLang="zh-CN" sz="2800" i="1" dirty="0">
                  <a:latin typeface="Times New Roman" panose="02020603050405020304" pitchFamily="18" charset="0"/>
                </a:rPr>
                <a:t>x</a:t>
              </a:r>
              <a:r>
                <a:rPr lang="en-US" altLang="zh-CN" sz="2800" i="1" baseline="-30000" dirty="0">
                  <a:latin typeface="Times New Roman" panose="02020603050405020304" pitchFamily="18" charset="0"/>
                </a:rPr>
                <a:t>1</a:t>
              </a:r>
              <a:r>
                <a:rPr lang="zh-CN" altLang="en-US" sz="2800" b="1" dirty="0">
                  <a:latin typeface="楷体_GB2312" pitchFamily="49" charset="-122"/>
                </a:rPr>
                <a:t>＝</a:t>
              </a:r>
              <a:r>
                <a:rPr lang="en-US" altLang="zh-CN" sz="2800" b="1" dirty="0">
                  <a:latin typeface="楷体_GB2312" pitchFamily="49" charset="-122"/>
                </a:rPr>
                <a:t>2</a:t>
              </a:r>
              <a:r>
                <a:rPr lang="zh-CN" altLang="en-US" sz="2800" b="1" dirty="0">
                  <a:latin typeface="楷体_GB2312" pitchFamily="49" charset="-122"/>
                </a:rPr>
                <a:t>， </a:t>
              </a:r>
              <a:r>
                <a:rPr lang="en-US" altLang="zh-CN" sz="2800" i="1" dirty="0">
                  <a:latin typeface="Times New Roman" panose="02020603050405020304" pitchFamily="18" charset="0"/>
                </a:rPr>
                <a:t>x</a:t>
              </a:r>
              <a:r>
                <a:rPr lang="en-US" altLang="zh-CN" sz="2800" i="1" baseline="-30000" dirty="0">
                  <a:latin typeface="Times New Roman" panose="02020603050405020304" pitchFamily="18" charset="0"/>
                </a:rPr>
                <a:t>2 </a:t>
              </a:r>
              <a:r>
                <a:rPr lang="zh-CN" altLang="en-US" sz="2800" b="1" dirty="0">
                  <a:latin typeface="楷体_GB2312" pitchFamily="49" charset="-122"/>
                </a:rPr>
                <a:t>＝</a:t>
              </a:r>
              <a:r>
                <a:rPr lang="en-US" altLang="zh-CN" sz="2800" b="1" dirty="0">
                  <a:latin typeface="楷体_GB2312" pitchFamily="49" charset="-122"/>
                </a:rPr>
                <a:t>4</a:t>
              </a:r>
              <a:r>
                <a:rPr lang="zh-CN" altLang="en-US" sz="2800" b="1" dirty="0">
                  <a:latin typeface="楷体_GB2312" pitchFamily="49" charset="-122"/>
                </a:rPr>
                <a:t>。   但非基变量    的检验数为零，故此题有无穷多最优解。</a:t>
              </a:r>
              <a:endParaRPr lang="zh-CN" altLang="en-US" sz="2800" b="1" dirty="0">
                <a:latin typeface="楷体_GB2312" pitchFamily="49" charset="-122"/>
              </a:endParaRPr>
            </a:p>
            <a:p>
              <a:pPr>
                <a:lnSpc>
                  <a:spcPct val="90000"/>
                </a:lnSpc>
                <a:spcBef>
                  <a:spcPct val="50000"/>
                </a:spcBef>
              </a:pPr>
              <a:r>
                <a:rPr lang="en-US" altLang="zh-CN" sz="2800" i="1" dirty="0">
                  <a:latin typeface="Times New Roman" panose="02020603050405020304" pitchFamily="18" charset="0"/>
                </a:rPr>
                <a:t>θ= </a:t>
              </a:r>
              <a:r>
                <a:rPr lang="en-US" altLang="zh-CN" sz="2800" dirty="0">
                  <a:latin typeface="Times New Roman" panose="02020603050405020304" pitchFamily="18" charset="0"/>
                </a:rPr>
                <a:t>min</a:t>
              </a:r>
              <a:r>
                <a:rPr lang="zh-CN" altLang="en-US" sz="2800" dirty="0">
                  <a:latin typeface="Times New Roman" panose="02020603050405020304" pitchFamily="18" charset="0"/>
                </a:rPr>
                <a:t>｛</a:t>
              </a:r>
              <a:r>
                <a:rPr lang="en-US" altLang="zh-CN" sz="2800" dirty="0">
                  <a:latin typeface="Times New Roman" panose="02020603050405020304" pitchFamily="18" charset="0"/>
                </a:rPr>
                <a:t>4 , 24 ,</a:t>
              </a:r>
              <a:r>
                <a:rPr lang="zh-CN" altLang="en-US" sz="2800" dirty="0">
                  <a:latin typeface="Times New Roman" panose="02020603050405020304" pitchFamily="18" charset="0"/>
                </a:rPr>
                <a:t>－</a:t>
              </a:r>
              <a:r>
                <a:rPr lang="en-US" altLang="zh-CN" sz="2800" dirty="0">
                  <a:latin typeface="Times New Roman" panose="02020603050405020304" pitchFamily="18" charset="0"/>
                </a:rPr>
                <a:t>, 6</a:t>
              </a:r>
              <a:r>
                <a:rPr lang="zh-CN" altLang="en-US" sz="2800" dirty="0">
                  <a:latin typeface="Times New Roman" panose="02020603050405020304" pitchFamily="18" charset="0"/>
                </a:rPr>
                <a:t>｝</a:t>
              </a:r>
              <a:r>
                <a:rPr lang="en-US" altLang="zh-CN" sz="2800" dirty="0">
                  <a:latin typeface="Times New Roman" panose="02020603050405020304" pitchFamily="18" charset="0"/>
                </a:rPr>
                <a:t>= 4</a:t>
              </a:r>
              <a:r>
                <a:rPr lang="en-US" altLang="zh-CN" sz="2800" dirty="0">
                  <a:latin typeface="Times New Roman" panose="02020603050405020304" pitchFamily="18" charset="0"/>
                  <a:ea typeface="宋体" panose="02010600030101010101" pitchFamily="2" charset="-122"/>
                </a:rPr>
                <a:t>,</a:t>
              </a:r>
              <a:r>
                <a:rPr lang="zh-CN" altLang="en-US" sz="2800" b="1" dirty="0">
                  <a:latin typeface="楷体_GB2312" pitchFamily="49" charset="-122"/>
                </a:rPr>
                <a:t>故   为换出变量。</a:t>
              </a:r>
              <a:endParaRPr lang="zh-CN" altLang="en-US" sz="2800" b="1" dirty="0">
                <a:latin typeface="楷体_GB2312" pitchFamily="49" charset="-122"/>
              </a:endParaRPr>
            </a:p>
          </p:txBody>
        </p:sp>
        <p:graphicFrame>
          <p:nvGraphicFramePr>
            <p:cNvPr id="29705" name="Object 146"/>
            <p:cNvGraphicFramePr/>
            <p:nvPr/>
          </p:nvGraphicFramePr>
          <p:xfrm>
            <a:off x="2970" y="3840"/>
            <a:ext cx="289" cy="336"/>
          </p:xfrm>
          <a:graphic>
            <a:graphicData uri="http://schemas.openxmlformats.org/presentationml/2006/ole">
              <mc:AlternateContent xmlns:mc="http://schemas.openxmlformats.org/markup-compatibility/2006">
                <mc:Choice xmlns:v="urn:schemas-microsoft-com:vml" Requires="v">
                  <p:oleObj spid="_x0000_s3233" name="" r:id="rId14" imgW="203200" imgH="228600" progId="Equation.3">
                    <p:embed/>
                  </p:oleObj>
                </mc:Choice>
                <mc:Fallback>
                  <p:oleObj name="" r:id="rId14" imgW="203200" imgH="228600" progId="Equation.3">
                    <p:embed/>
                    <p:pic>
                      <p:nvPicPr>
                        <p:cNvPr id="0" name="图片 3232"/>
                        <p:cNvPicPr/>
                        <p:nvPr/>
                      </p:nvPicPr>
                      <p:blipFill>
                        <a:blip r:embed="rId4"/>
                        <a:stretch>
                          <a:fillRect/>
                        </a:stretch>
                      </p:blipFill>
                      <p:spPr>
                        <a:xfrm>
                          <a:off x="2970" y="3840"/>
                          <a:ext cx="289" cy="336"/>
                        </a:xfrm>
                        <a:prstGeom prst="rect">
                          <a:avLst/>
                        </a:prstGeom>
                        <a:noFill/>
                        <a:ln w="38100">
                          <a:noFill/>
                          <a:miter/>
                        </a:ln>
                      </p:spPr>
                    </p:pic>
                  </p:oleObj>
                </mc:Fallback>
              </mc:AlternateContent>
            </a:graphicData>
          </a:graphic>
        </p:graphicFrame>
        <p:graphicFrame>
          <p:nvGraphicFramePr>
            <p:cNvPr id="29706" name="Object 147"/>
            <p:cNvGraphicFramePr/>
            <p:nvPr/>
          </p:nvGraphicFramePr>
          <p:xfrm>
            <a:off x="4512" y="3216"/>
            <a:ext cx="324" cy="400"/>
          </p:xfrm>
          <a:graphic>
            <a:graphicData uri="http://schemas.openxmlformats.org/presentationml/2006/ole">
              <mc:AlternateContent xmlns:mc="http://schemas.openxmlformats.org/markup-compatibility/2006">
                <mc:Choice xmlns:v="urn:schemas-microsoft-com:vml" Requires="v">
                  <p:oleObj spid="_x0000_s3229" name="" r:id="rId15" imgW="203200" imgH="241300" progId="Equation.3">
                    <p:embed/>
                  </p:oleObj>
                </mc:Choice>
                <mc:Fallback>
                  <p:oleObj name="" r:id="rId15" imgW="203200" imgH="241300" progId="Equation.3">
                    <p:embed/>
                    <p:pic>
                      <p:nvPicPr>
                        <p:cNvPr id="0" name="图片 3228"/>
                        <p:cNvPicPr/>
                        <p:nvPr/>
                      </p:nvPicPr>
                      <p:blipFill>
                        <a:blip r:embed="rId12"/>
                        <a:stretch>
                          <a:fillRect/>
                        </a:stretch>
                      </p:blipFill>
                      <p:spPr>
                        <a:xfrm>
                          <a:off x="4512" y="3216"/>
                          <a:ext cx="324" cy="400"/>
                        </a:xfrm>
                        <a:prstGeom prst="rect">
                          <a:avLst/>
                        </a:prstGeom>
                        <a:noFill/>
                        <a:ln w="38100">
                          <a:noFill/>
                          <a:miter/>
                        </a:ln>
                      </p:spPr>
                    </p:pic>
                  </p:oleObj>
                </mc:Fallback>
              </mc:AlternateContent>
            </a:graphicData>
          </a:graphic>
        </p:graphicFrame>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219"/>
                                        </p:tgtEl>
                                        <p:attrNameLst>
                                          <p:attrName>style.visibility</p:attrName>
                                        </p:attrNameLst>
                                      </p:cBhvr>
                                      <p:to>
                                        <p:strVal val="visible"/>
                                      </p:to>
                                    </p:set>
                                    <p:animEffect transition="in" filter="dissolve">
                                      <p:cBhvr>
                                        <p:cTn id="7" dur="500"/>
                                        <p:tgtEl>
                                          <p:spTgt spid="4621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221"/>
                                        </p:tgtEl>
                                        <p:attrNameLst>
                                          <p:attrName>style.visibility</p:attrName>
                                        </p:attrNameLst>
                                      </p:cBhvr>
                                      <p:to>
                                        <p:strVal val="visible"/>
                                      </p:to>
                                    </p:set>
                                    <p:animEffect transition="in" filter="dissolve">
                                      <p:cBhvr>
                                        <p:cTn id="12" dur="500"/>
                                        <p:tgtEl>
                                          <p:spTgt spid="4622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0-#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2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0729" name="表格 30728"/>
          <p:cNvGraphicFramePr/>
          <p:nvPr/>
        </p:nvGraphicFramePr>
        <p:xfrm>
          <a:off x="228600" y="914400"/>
          <a:ext cx="8686800" cy="4175125"/>
        </p:xfrm>
        <a:graphic>
          <a:graphicData uri="http://schemas.openxmlformats.org/drawingml/2006/table">
            <a:tbl>
              <a:tblPr/>
              <a:tblGrid>
                <a:gridCol w="825500"/>
                <a:gridCol w="622300"/>
                <a:gridCol w="863600"/>
                <a:gridCol w="742950"/>
                <a:gridCol w="742950"/>
                <a:gridCol w="698500"/>
                <a:gridCol w="685800"/>
                <a:gridCol w="685800"/>
                <a:gridCol w="685800"/>
                <a:gridCol w="762000"/>
                <a:gridCol w="690563"/>
                <a:gridCol w="681037"/>
              </a:tblGrid>
              <a:tr h="457200">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j</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1</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baseline="-30000" dirty="0">
                          <a:latin typeface="Times New Roman" panose="02020603050405020304" pitchFamily="18" charset="0"/>
                        </a:rPr>
                        <a:t> </a:t>
                      </a: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2</a:t>
                      </a:r>
                      <a:endParaRPr lang="en-US" altLang="zh-CN" sz="2000" b="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P</a:t>
                      </a:r>
                      <a:r>
                        <a:rPr lang="en-US" altLang="zh-CN" sz="2000" b="1" baseline="-30000" dirty="0">
                          <a:latin typeface="Times New Roman" panose="02020603050405020304" pitchFamily="18" charset="0"/>
                        </a:rPr>
                        <a:t>3</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1800" b="1" dirty="0">
                          <a:latin typeface="Times New Roman" panose="02020603050405020304" pitchFamily="18" charset="0"/>
                          <a:ea typeface="宋体" panose="02010600030101010101" pitchFamily="2" charset="-122"/>
                        </a:rPr>
                        <a:t>0</a:t>
                      </a:r>
                      <a:endParaRPr lang="en-US" altLang="zh-CN" sz="18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C</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X</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b</a:t>
                      </a:r>
                      <a:endParaRPr lang="en-US" altLang="zh-CN" b="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1</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2</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800" b="1" dirty="0">
                          <a:latin typeface="Times New Roman" panose="02020603050405020304" pitchFamily="18" charset="0"/>
                        </a:rPr>
                        <a:t> </a:t>
                      </a: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3</a:t>
                      </a:r>
                      <a:r>
                        <a:rPr lang="en-US" altLang="zh-CN" sz="2800" b="1" i="1" dirty="0">
                          <a:latin typeface="Times New Roman" panose="02020603050405020304" pitchFamily="18" charset="0"/>
                        </a:rPr>
                        <a:t> </a:t>
                      </a:r>
                      <a:endParaRPr lang="en-US" altLang="zh-CN" sz="2800"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zh-CN"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4</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-2</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6</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-6</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2</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10/3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 </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1</a:t>
                      </a:r>
                      <a:endParaRPr lang="en-US" altLang="zh-CN" b="1" i="1" baseline="-30000"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10/3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2/3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-2/3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-1/3</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000" b="1" dirty="0">
                          <a:latin typeface="Times New Roman" panose="02020603050405020304" pitchFamily="18" charset="0"/>
                          <a:ea typeface="宋体" panose="02010600030101010101" pitchFamily="2" charset="-122"/>
                        </a:rPr>
                        <a:t>0</a:t>
                      </a:r>
                      <a:endParaRPr lang="en-US" altLang="zh-CN" sz="2000"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 </a:t>
                      </a:r>
                      <a:r>
                        <a:rPr lang="en-US" altLang="zh-CN" b="1" i="1" dirty="0">
                          <a:latin typeface="Times New Roman" panose="02020603050405020304" pitchFamily="18" charset="0"/>
                        </a:rPr>
                        <a:t>x</a:t>
                      </a:r>
                      <a:r>
                        <a:rPr lang="en-US" altLang="zh-CN" b="1" i="1" baseline="-30000" dirty="0">
                          <a:latin typeface="Times New Roman" panose="02020603050405020304" pitchFamily="18" charset="0"/>
                        </a:rPr>
                        <a:t>3</a:t>
                      </a:r>
                      <a:r>
                        <a:rPr lang="en-US" altLang="zh-CN" b="1" i="1" dirty="0">
                          <a:latin typeface="Times New Roman" panose="02020603050405020304" pitchFamily="18" charset="0"/>
                        </a:rPr>
                        <a:t> </a:t>
                      </a:r>
                      <a:endParaRPr lang="en-US" altLang="zh-CN" b="1" i="1" dirty="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row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endParaRPr lang="en-US" altLang="zh-CN" b="1" i="1" dirty="0">
                        <a:latin typeface="Times New Roman" panose="02020603050405020304" pitchFamily="18" charset="0"/>
                      </a:endParaRPr>
                    </a:p>
                    <a:p>
                      <a:pPr lvl="0" algn="ctr" eaLnBrk="1" hangingPunct="1">
                        <a:spcBef>
                          <a:spcPct val="20000"/>
                        </a:spcBef>
                        <a:buNone/>
                      </a:pPr>
                      <a:r>
                        <a:rPr lang="en-US" altLang="zh-CN" b="1" i="1" dirty="0">
                          <a:latin typeface="Times New Roman" panose="02020603050405020304" pitchFamily="18" charset="0"/>
                        </a:rPr>
                        <a:t>σ</a:t>
                      </a:r>
                      <a:r>
                        <a:rPr lang="en-US" altLang="zh-CN" b="1" i="1" baseline="-30000" dirty="0">
                          <a:latin typeface="Times New Roman" panose="02020603050405020304" pitchFamily="18" charset="0"/>
                        </a:rPr>
                        <a:t>kj</a:t>
                      </a:r>
                      <a:endParaRPr lang="en-US" altLang="zh-CN" b="1" dirty="0">
                        <a:latin typeface="Times New Roman" panose="02020603050405020304" pitchFamily="18"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1</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2</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720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b="1" dirty="0">
                          <a:latin typeface="Times New Roman" panose="02020603050405020304" pitchFamily="18" charset="0"/>
                        </a:rPr>
                        <a:t>P</a:t>
                      </a:r>
                      <a:r>
                        <a:rPr lang="en-US" altLang="zh-CN" b="1" baseline="-30000" dirty="0">
                          <a:latin typeface="Times New Roman" panose="02020603050405020304" pitchFamily="18" charset="0"/>
                        </a:rPr>
                        <a:t>3</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1</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ctr" eaLnBrk="1" hangingPunct="1">
                        <a:spcBef>
                          <a:spcPct val="20000"/>
                        </a:spcBef>
                        <a:buNone/>
                      </a:pP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30722" name="Object 131"/>
          <p:cNvGraphicFramePr/>
          <p:nvPr/>
        </p:nvGraphicFramePr>
        <p:xfrm>
          <a:off x="4876800" y="1447800"/>
          <a:ext cx="381000" cy="409575"/>
        </p:xfrm>
        <a:graphic>
          <a:graphicData uri="http://schemas.openxmlformats.org/presentationml/2006/ole">
            <mc:AlternateContent xmlns:mc="http://schemas.openxmlformats.org/markup-compatibility/2006">
              <mc:Choice xmlns:v="urn:schemas-microsoft-com:vml" Requires="v">
                <p:oleObj spid="_x0000_s3238" name="" r:id="rId1" imgW="203200" imgH="228600" progId="Equation.3">
                  <p:embed/>
                </p:oleObj>
              </mc:Choice>
              <mc:Fallback>
                <p:oleObj name="" r:id="rId1" imgW="203200" imgH="228600" progId="Equation.3">
                  <p:embed/>
                  <p:pic>
                    <p:nvPicPr>
                      <p:cNvPr id="0" name="图片 3237"/>
                      <p:cNvPicPr/>
                      <p:nvPr/>
                    </p:nvPicPr>
                    <p:blipFill>
                      <a:blip r:embed="rId2"/>
                      <a:stretch>
                        <a:fillRect/>
                      </a:stretch>
                    </p:blipFill>
                    <p:spPr>
                      <a:xfrm>
                        <a:off x="4876800" y="1447800"/>
                        <a:ext cx="381000" cy="409575"/>
                      </a:xfrm>
                      <a:prstGeom prst="rect">
                        <a:avLst/>
                      </a:prstGeom>
                      <a:noFill/>
                      <a:ln w="38100">
                        <a:noFill/>
                        <a:miter/>
                      </a:ln>
                    </p:spPr>
                  </p:pic>
                </p:oleObj>
              </mc:Fallback>
            </mc:AlternateContent>
          </a:graphicData>
        </a:graphic>
      </p:graphicFrame>
      <p:graphicFrame>
        <p:nvGraphicFramePr>
          <p:cNvPr id="30723" name="Object 132"/>
          <p:cNvGraphicFramePr/>
          <p:nvPr/>
        </p:nvGraphicFramePr>
        <p:xfrm>
          <a:off x="4191000" y="1447800"/>
          <a:ext cx="352425" cy="409575"/>
        </p:xfrm>
        <a:graphic>
          <a:graphicData uri="http://schemas.openxmlformats.org/presentationml/2006/ole">
            <mc:AlternateContent xmlns:mc="http://schemas.openxmlformats.org/markup-compatibility/2006">
              <mc:Choice xmlns:v="urn:schemas-microsoft-com:vml" Requires="v">
                <p:oleObj spid="_x0000_s3239" name="" r:id="rId3" imgW="203200" imgH="228600" progId="Equation.3">
                  <p:embed/>
                </p:oleObj>
              </mc:Choice>
              <mc:Fallback>
                <p:oleObj name="" r:id="rId3" imgW="203200" imgH="228600" progId="Equation.3">
                  <p:embed/>
                  <p:pic>
                    <p:nvPicPr>
                      <p:cNvPr id="0" name="图片 3238"/>
                      <p:cNvPicPr/>
                      <p:nvPr/>
                    </p:nvPicPr>
                    <p:blipFill>
                      <a:blip r:embed="rId4"/>
                      <a:stretch>
                        <a:fillRect/>
                      </a:stretch>
                    </p:blipFill>
                    <p:spPr>
                      <a:xfrm>
                        <a:off x="4191000" y="1447800"/>
                        <a:ext cx="352425" cy="409575"/>
                      </a:xfrm>
                      <a:prstGeom prst="rect">
                        <a:avLst/>
                      </a:prstGeom>
                      <a:noFill/>
                      <a:ln w="38100">
                        <a:noFill/>
                        <a:miter/>
                      </a:ln>
                    </p:spPr>
                  </p:pic>
                </p:oleObj>
              </mc:Fallback>
            </mc:AlternateContent>
          </a:graphicData>
        </a:graphic>
      </p:graphicFrame>
      <p:graphicFrame>
        <p:nvGraphicFramePr>
          <p:cNvPr id="30724" name="Object 133"/>
          <p:cNvGraphicFramePr/>
          <p:nvPr/>
        </p:nvGraphicFramePr>
        <p:xfrm>
          <a:off x="5562600" y="1447800"/>
          <a:ext cx="352425" cy="409575"/>
        </p:xfrm>
        <a:graphic>
          <a:graphicData uri="http://schemas.openxmlformats.org/presentationml/2006/ole">
            <mc:AlternateContent xmlns:mc="http://schemas.openxmlformats.org/markup-compatibility/2006">
              <mc:Choice xmlns:v="urn:schemas-microsoft-com:vml" Requires="v">
                <p:oleObj spid="_x0000_s3236" name="" r:id="rId5" imgW="203200" imgH="228600" progId="Equation.3">
                  <p:embed/>
                </p:oleObj>
              </mc:Choice>
              <mc:Fallback>
                <p:oleObj name="" r:id="rId5" imgW="203200" imgH="228600" progId="Equation.3">
                  <p:embed/>
                  <p:pic>
                    <p:nvPicPr>
                      <p:cNvPr id="0" name="图片 3235"/>
                      <p:cNvPicPr/>
                      <p:nvPr/>
                    </p:nvPicPr>
                    <p:blipFill>
                      <a:blip r:embed="rId6"/>
                      <a:stretch>
                        <a:fillRect/>
                      </a:stretch>
                    </p:blipFill>
                    <p:spPr>
                      <a:xfrm>
                        <a:off x="5562600" y="1447800"/>
                        <a:ext cx="352425" cy="409575"/>
                      </a:xfrm>
                      <a:prstGeom prst="rect">
                        <a:avLst/>
                      </a:prstGeom>
                      <a:noFill/>
                      <a:ln w="38100">
                        <a:noFill/>
                        <a:miter/>
                      </a:ln>
                    </p:spPr>
                  </p:pic>
                </p:oleObj>
              </mc:Fallback>
            </mc:AlternateContent>
          </a:graphicData>
        </a:graphic>
      </p:graphicFrame>
      <p:graphicFrame>
        <p:nvGraphicFramePr>
          <p:cNvPr id="30725" name="Object 134"/>
          <p:cNvGraphicFramePr/>
          <p:nvPr/>
        </p:nvGraphicFramePr>
        <p:xfrm>
          <a:off x="6172200" y="1447800"/>
          <a:ext cx="352425" cy="409575"/>
        </p:xfrm>
        <a:graphic>
          <a:graphicData uri="http://schemas.openxmlformats.org/presentationml/2006/ole">
            <mc:AlternateContent xmlns:mc="http://schemas.openxmlformats.org/markup-compatibility/2006">
              <mc:Choice xmlns:v="urn:schemas-microsoft-com:vml" Requires="v">
                <p:oleObj spid="_x0000_s3237" name="" r:id="rId7" imgW="203200" imgH="228600" progId="Equation.3">
                  <p:embed/>
                </p:oleObj>
              </mc:Choice>
              <mc:Fallback>
                <p:oleObj name="" r:id="rId7" imgW="203200" imgH="228600" progId="Equation.3">
                  <p:embed/>
                  <p:pic>
                    <p:nvPicPr>
                      <p:cNvPr id="0" name="图片 3236"/>
                      <p:cNvPicPr/>
                      <p:nvPr/>
                    </p:nvPicPr>
                    <p:blipFill>
                      <a:blip r:embed="rId8"/>
                      <a:stretch>
                        <a:fillRect/>
                      </a:stretch>
                    </p:blipFill>
                    <p:spPr>
                      <a:xfrm>
                        <a:off x="6172200" y="1447800"/>
                        <a:ext cx="352425" cy="409575"/>
                      </a:xfrm>
                      <a:prstGeom prst="rect">
                        <a:avLst/>
                      </a:prstGeom>
                      <a:noFill/>
                      <a:ln w="38100">
                        <a:noFill/>
                        <a:miter/>
                      </a:ln>
                    </p:spPr>
                  </p:pic>
                </p:oleObj>
              </mc:Fallback>
            </mc:AlternateContent>
          </a:graphicData>
        </a:graphic>
      </p:graphicFrame>
      <p:graphicFrame>
        <p:nvGraphicFramePr>
          <p:cNvPr id="30726" name="Object 135"/>
          <p:cNvGraphicFramePr/>
          <p:nvPr/>
        </p:nvGraphicFramePr>
        <p:xfrm>
          <a:off x="6934200" y="1436688"/>
          <a:ext cx="352425" cy="433387"/>
        </p:xfrm>
        <a:graphic>
          <a:graphicData uri="http://schemas.openxmlformats.org/presentationml/2006/ole">
            <mc:AlternateContent xmlns:mc="http://schemas.openxmlformats.org/markup-compatibility/2006">
              <mc:Choice xmlns:v="urn:schemas-microsoft-com:vml" Requires="v">
                <p:oleObj spid="_x0000_s3241" name="" r:id="rId9" imgW="203200" imgH="241300" progId="Equation.3">
                  <p:embed/>
                </p:oleObj>
              </mc:Choice>
              <mc:Fallback>
                <p:oleObj name="" r:id="rId9" imgW="203200" imgH="241300" progId="Equation.3">
                  <p:embed/>
                  <p:pic>
                    <p:nvPicPr>
                      <p:cNvPr id="0" name="图片 3240"/>
                      <p:cNvPicPr/>
                      <p:nvPr/>
                    </p:nvPicPr>
                    <p:blipFill>
                      <a:blip r:embed="rId10"/>
                      <a:stretch>
                        <a:fillRect/>
                      </a:stretch>
                    </p:blipFill>
                    <p:spPr>
                      <a:xfrm>
                        <a:off x="6934200" y="1436688"/>
                        <a:ext cx="352425" cy="433387"/>
                      </a:xfrm>
                      <a:prstGeom prst="rect">
                        <a:avLst/>
                      </a:prstGeom>
                      <a:noFill/>
                      <a:ln w="38100">
                        <a:noFill/>
                        <a:miter/>
                      </a:ln>
                    </p:spPr>
                  </p:pic>
                </p:oleObj>
              </mc:Fallback>
            </mc:AlternateContent>
          </a:graphicData>
        </a:graphic>
      </p:graphicFrame>
      <p:graphicFrame>
        <p:nvGraphicFramePr>
          <p:cNvPr id="30727" name="Object 136"/>
          <p:cNvGraphicFramePr/>
          <p:nvPr/>
        </p:nvGraphicFramePr>
        <p:xfrm>
          <a:off x="7620000" y="1436688"/>
          <a:ext cx="352425" cy="433387"/>
        </p:xfrm>
        <a:graphic>
          <a:graphicData uri="http://schemas.openxmlformats.org/presentationml/2006/ole">
            <mc:AlternateContent xmlns:mc="http://schemas.openxmlformats.org/markup-compatibility/2006">
              <mc:Choice xmlns:v="urn:schemas-microsoft-com:vml" Requires="v">
                <p:oleObj spid="_x0000_s3243" name="" r:id="rId11" imgW="203200" imgH="241300" progId="Equation.3">
                  <p:embed/>
                </p:oleObj>
              </mc:Choice>
              <mc:Fallback>
                <p:oleObj name="" r:id="rId11" imgW="203200" imgH="241300" progId="Equation.3">
                  <p:embed/>
                  <p:pic>
                    <p:nvPicPr>
                      <p:cNvPr id="0" name="图片 3242"/>
                      <p:cNvPicPr/>
                      <p:nvPr/>
                    </p:nvPicPr>
                    <p:blipFill>
                      <a:blip r:embed="rId12"/>
                      <a:stretch>
                        <a:fillRect/>
                      </a:stretch>
                    </p:blipFill>
                    <p:spPr>
                      <a:xfrm>
                        <a:off x="7620000" y="1436688"/>
                        <a:ext cx="352425" cy="433387"/>
                      </a:xfrm>
                      <a:prstGeom prst="rect">
                        <a:avLst/>
                      </a:prstGeom>
                      <a:noFill/>
                      <a:ln w="38100">
                        <a:noFill/>
                        <a:miter/>
                      </a:ln>
                    </p:spPr>
                  </p:pic>
                </p:oleObj>
              </mc:Fallback>
            </mc:AlternateContent>
          </a:graphicData>
        </a:graphic>
      </p:graphicFrame>
      <p:graphicFrame>
        <p:nvGraphicFramePr>
          <p:cNvPr id="30728" name="Object 139"/>
          <p:cNvGraphicFramePr/>
          <p:nvPr/>
        </p:nvGraphicFramePr>
        <p:xfrm>
          <a:off x="1143000" y="1905000"/>
          <a:ext cx="352425" cy="433388"/>
        </p:xfrm>
        <a:graphic>
          <a:graphicData uri="http://schemas.openxmlformats.org/presentationml/2006/ole">
            <mc:AlternateContent xmlns:mc="http://schemas.openxmlformats.org/markup-compatibility/2006">
              <mc:Choice xmlns:v="urn:schemas-microsoft-com:vml" Requires="v">
                <p:oleObj spid="_x0000_s3240" name="" r:id="rId13" imgW="203200" imgH="241300" progId="Equation.3">
                  <p:embed/>
                </p:oleObj>
              </mc:Choice>
              <mc:Fallback>
                <p:oleObj name="" r:id="rId13" imgW="203200" imgH="241300" progId="Equation.3">
                  <p:embed/>
                  <p:pic>
                    <p:nvPicPr>
                      <p:cNvPr id="0" name="图片 3239"/>
                      <p:cNvPicPr/>
                      <p:nvPr/>
                    </p:nvPicPr>
                    <p:blipFill>
                      <a:blip r:embed="rId12"/>
                      <a:stretch>
                        <a:fillRect/>
                      </a:stretch>
                    </p:blipFill>
                    <p:spPr>
                      <a:xfrm>
                        <a:off x="1143000" y="1905000"/>
                        <a:ext cx="352425" cy="433388"/>
                      </a:xfrm>
                      <a:prstGeom prst="rect">
                        <a:avLst/>
                      </a:prstGeom>
                      <a:noFill/>
                      <a:ln w="38100">
                        <a:noFill/>
                        <a:miter/>
                      </a:ln>
                    </p:spPr>
                  </p:pic>
                </p:oleObj>
              </mc:Fallback>
            </mc:AlternateContent>
          </a:graphicData>
        </a:graphic>
      </p:graphicFrame>
      <p:sp>
        <p:nvSpPr>
          <p:cNvPr id="30857" name="Text Box 140"/>
          <p:cNvSpPr txBox="1"/>
          <p:nvPr/>
        </p:nvSpPr>
        <p:spPr>
          <a:xfrm>
            <a:off x="304800" y="5410200"/>
            <a:ext cx="8610600" cy="519113"/>
          </a:xfrm>
          <a:prstGeom prst="rect">
            <a:avLst/>
          </a:prstGeom>
          <a:noFill/>
          <a:ln w="9525">
            <a:noFill/>
          </a:ln>
        </p:spPr>
        <p:txBody>
          <a:bodyPr>
            <a:spAutoFit/>
          </a:bodyPr>
          <a:p>
            <a:pPr>
              <a:spcBef>
                <a:spcPct val="50000"/>
              </a:spcBef>
            </a:pPr>
            <a:r>
              <a:rPr lang="en-US" altLang="zh-CN" sz="2800" b="1" dirty="0">
                <a:latin typeface="楷体_GB2312" pitchFamily="49" charset="-122"/>
              </a:rPr>
              <a:t>    </a:t>
            </a:r>
            <a:r>
              <a:rPr lang="zh-CN" altLang="en-US" sz="2800" b="1" dirty="0">
                <a:latin typeface="楷体_GB2312" pitchFamily="49" charset="-122"/>
              </a:rPr>
              <a:t>最优解为</a:t>
            </a:r>
            <a:r>
              <a:rPr lang="en-US" altLang="zh-CN" sz="2800" i="1" dirty="0">
                <a:latin typeface="Times New Roman" panose="02020603050405020304" pitchFamily="18" charset="0"/>
              </a:rPr>
              <a:t>x</a:t>
            </a:r>
            <a:r>
              <a:rPr lang="en-US" altLang="zh-CN" sz="2800" i="1" baseline="-30000" dirty="0">
                <a:latin typeface="Times New Roman" panose="02020603050405020304" pitchFamily="18" charset="0"/>
              </a:rPr>
              <a:t>1</a:t>
            </a:r>
            <a:r>
              <a:rPr lang="zh-CN" altLang="en-US" sz="2800" dirty="0">
                <a:latin typeface="Times New Roman" panose="02020603050405020304" pitchFamily="18" charset="0"/>
              </a:rPr>
              <a:t>＝</a:t>
            </a:r>
            <a:r>
              <a:rPr lang="en-US" altLang="zh-CN" sz="2800" dirty="0">
                <a:latin typeface="Times New Roman" panose="02020603050405020304" pitchFamily="18" charset="0"/>
              </a:rPr>
              <a:t>10/3,</a:t>
            </a:r>
            <a:r>
              <a:rPr lang="zh-CN" altLang="en-US" sz="2800" dirty="0">
                <a:latin typeface="Times New Roman" panose="02020603050405020304" pitchFamily="18" charset="0"/>
              </a:rPr>
              <a:t>，</a:t>
            </a:r>
            <a:r>
              <a:rPr lang="en-US" altLang="zh-CN" sz="2800" i="1" dirty="0">
                <a:latin typeface="Times New Roman" panose="02020603050405020304" pitchFamily="18" charset="0"/>
              </a:rPr>
              <a:t>x</a:t>
            </a:r>
            <a:r>
              <a:rPr lang="en-US" altLang="zh-CN" sz="2800" i="1" baseline="-30000" dirty="0">
                <a:latin typeface="Times New Roman" panose="02020603050405020304" pitchFamily="18" charset="0"/>
              </a:rPr>
              <a:t>2</a:t>
            </a:r>
            <a:r>
              <a:rPr lang="en-US" altLang="zh-CN" sz="2800" dirty="0">
                <a:latin typeface="Times New Roman" panose="02020603050405020304" pitchFamily="18" charset="0"/>
              </a:rPr>
              <a:t> =10/3</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p:txBody>
      </p:sp>
    </p:spTree>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9"/>
          <p:cNvSpPr/>
          <p:nvPr/>
        </p:nvSpPr>
        <p:spPr>
          <a:xfrm>
            <a:off x="684213" y="215900"/>
            <a:ext cx="4175125" cy="822325"/>
          </a:xfrm>
          <a:prstGeom prst="rect">
            <a:avLst/>
          </a:prstGeom>
          <a:noFill/>
          <a:ln w="9525">
            <a:noFill/>
          </a:ln>
        </p:spPr>
        <p:txBody>
          <a:bodyPr anchor="ctr" anchorCtr="0">
            <a:spAutoFit/>
          </a:bodyPr>
          <a:p>
            <a:r>
              <a:rPr lang="zh-CN" altLang="en-US" b="1" dirty="0">
                <a:latin typeface="Times New Roman" panose="02020603050405020304" pitchFamily="18" charset="0"/>
              </a:rPr>
              <a:t>习 题</a:t>
            </a:r>
            <a:endParaRPr lang="zh-CN" altLang="en-US" sz="1100" dirty="0">
              <a:latin typeface="Times New Roman" panose="02020603050405020304" pitchFamily="18" charset="0"/>
            </a:endParaRPr>
          </a:p>
          <a:p>
            <a:pPr eaLnBrk="0" hangingPunct="0"/>
            <a:r>
              <a:rPr lang="en-US" altLang="zh-CN" b="1" dirty="0">
                <a:latin typeface="Times New Roman" panose="02020603050405020304" pitchFamily="18" charset="0"/>
              </a:rPr>
              <a:t>1.</a:t>
            </a:r>
            <a:r>
              <a:rPr lang="zh-CN" altLang="en-US" b="1" dirty="0">
                <a:latin typeface="Times New Roman" panose="02020603050405020304" pitchFamily="18" charset="0"/>
              </a:rPr>
              <a:t>已知条件如表所示</a:t>
            </a:r>
            <a:endParaRPr lang="zh-CN" altLang="en-US" dirty="0">
              <a:latin typeface="Times New Roman" panose="02020603050405020304" pitchFamily="18" charset="0"/>
              <a:ea typeface="宋体" panose="02010600030101010101" pitchFamily="2" charset="-122"/>
            </a:endParaRPr>
          </a:p>
        </p:txBody>
      </p:sp>
      <p:graphicFrame>
        <p:nvGraphicFramePr>
          <p:cNvPr id="49250" name="Group 98"/>
          <p:cNvGraphicFramePr>
            <a:graphicFrameLocks noGrp="1"/>
          </p:cNvGraphicFramePr>
          <p:nvPr/>
        </p:nvGraphicFramePr>
        <p:xfrm>
          <a:off x="360363" y="1196975"/>
          <a:ext cx="8388350" cy="2735263"/>
        </p:xfrm>
        <a:graphic>
          <a:graphicData uri="http://schemas.openxmlformats.org/drawingml/2006/table">
            <a:tbl>
              <a:tblPr/>
              <a:tblGrid>
                <a:gridCol w="2097087"/>
                <a:gridCol w="2097088"/>
                <a:gridCol w="2097087"/>
                <a:gridCol w="2097088"/>
              </a:tblGrid>
              <a:tr h="479425">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工序</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型号</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每周最大</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加工能力</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93713">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A</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B</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9413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Ⅰ</a:t>
                      </a: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（小时</a:t>
                      </a: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a:t>
                      </a: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台）</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Ⅱ</a:t>
                      </a: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（小时</a:t>
                      </a: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a:t>
                      </a: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台）</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4</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3</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6</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2</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150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70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20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利润（元</a:t>
                      </a: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a:t>
                      </a: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台）</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300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楷体_GB2312" pitchFamily="49" charset="-122"/>
                        </a:rPr>
                        <a:t>450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8155" name="Rectangle 99"/>
          <p:cNvSpPr/>
          <p:nvPr/>
        </p:nvSpPr>
        <p:spPr>
          <a:xfrm>
            <a:off x="250825" y="3933825"/>
            <a:ext cx="8486775" cy="2647950"/>
          </a:xfrm>
          <a:prstGeom prst="rect">
            <a:avLst/>
          </a:prstGeom>
          <a:noFill/>
          <a:ln w="9525">
            <a:noFill/>
          </a:ln>
        </p:spPr>
        <p:txBody>
          <a:bodyPr anchor="ctr" anchorCtr="0">
            <a:spAutoFit/>
          </a:bodyPr>
          <a:p>
            <a:pPr indent="306705"/>
            <a:r>
              <a:rPr lang="zh-CN" altLang="en-US" b="1" dirty="0">
                <a:latin typeface="楷体_GB2312" pitchFamily="49" charset="-122"/>
              </a:rPr>
              <a:t>如果工厂经营目标的期望值和优先等级如下：</a:t>
            </a:r>
            <a:endParaRPr lang="zh-CN" altLang="en-US" sz="1100" dirty="0">
              <a:latin typeface="楷体_GB2312" pitchFamily="49" charset="-122"/>
            </a:endParaRPr>
          </a:p>
          <a:p>
            <a:pPr indent="306705" eaLnBrk="0" hangingPunct="0"/>
            <a:r>
              <a:rPr lang="en-US" altLang="zh-CN" b="1" dirty="0">
                <a:latin typeface="楷体_GB2312" pitchFamily="49" charset="-122"/>
              </a:rPr>
              <a:t>p</a:t>
            </a:r>
            <a:r>
              <a:rPr lang="en-US" altLang="zh-CN" b="1" baseline="-30000" dirty="0">
                <a:latin typeface="楷体_GB2312" pitchFamily="49" charset="-122"/>
              </a:rPr>
              <a:t>1</a:t>
            </a:r>
            <a:r>
              <a:rPr lang="en-US" altLang="zh-CN" b="1" dirty="0">
                <a:latin typeface="楷体_GB2312" pitchFamily="49" charset="-122"/>
              </a:rPr>
              <a:t>: </a:t>
            </a:r>
            <a:r>
              <a:rPr lang="zh-CN" altLang="en-US" b="1" dirty="0">
                <a:latin typeface="楷体_GB2312" pitchFamily="49" charset="-122"/>
              </a:rPr>
              <a:t>每周总利润不得低于</a:t>
            </a:r>
            <a:r>
              <a:rPr lang="en-US" altLang="zh-CN" b="1" dirty="0">
                <a:latin typeface="楷体_GB2312" pitchFamily="49" charset="-122"/>
              </a:rPr>
              <a:t>10000</a:t>
            </a:r>
            <a:r>
              <a:rPr lang="zh-CN" altLang="en-US" b="1" dirty="0">
                <a:latin typeface="楷体_GB2312" pitchFamily="49" charset="-122"/>
              </a:rPr>
              <a:t>元；</a:t>
            </a:r>
            <a:endParaRPr lang="zh-CN" altLang="en-US" sz="1100" dirty="0">
              <a:latin typeface="楷体_GB2312" pitchFamily="49" charset="-122"/>
            </a:endParaRPr>
          </a:p>
          <a:p>
            <a:pPr indent="306705" eaLnBrk="0" hangingPunct="0"/>
            <a:r>
              <a:rPr lang="en-US" altLang="zh-CN" b="1" dirty="0">
                <a:latin typeface="楷体_GB2312" pitchFamily="49" charset="-122"/>
              </a:rPr>
              <a:t>p</a:t>
            </a:r>
            <a:r>
              <a:rPr lang="en-US" altLang="zh-CN" b="1" baseline="-30000" dirty="0">
                <a:latin typeface="楷体_GB2312" pitchFamily="49" charset="-122"/>
              </a:rPr>
              <a:t>2</a:t>
            </a:r>
            <a:r>
              <a:rPr lang="en-US" altLang="zh-CN" b="1" dirty="0">
                <a:latin typeface="楷体_GB2312" pitchFamily="49" charset="-122"/>
              </a:rPr>
              <a:t>: </a:t>
            </a:r>
            <a:r>
              <a:rPr lang="zh-CN" altLang="en-US" b="1" dirty="0">
                <a:latin typeface="楷体_GB2312" pitchFamily="49" charset="-122"/>
              </a:rPr>
              <a:t>因合同要求，</a:t>
            </a:r>
            <a:r>
              <a:rPr lang="en-US" altLang="zh-CN" b="1" dirty="0">
                <a:latin typeface="楷体_GB2312" pitchFamily="49" charset="-122"/>
              </a:rPr>
              <a:t>A</a:t>
            </a:r>
            <a:r>
              <a:rPr lang="zh-CN" altLang="en-US" b="1" dirty="0">
                <a:latin typeface="楷体_GB2312" pitchFamily="49" charset="-122"/>
              </a:rPr>
              <a:t>型机每周至少生产</a:t>
            </a:r>
            <a:r>
              <a:rPr lang="en-US" altLang="zh-CN" b="1" dirty="0">
                <a:latin typeface="楷体_GB2312" pitchFamily="49" charset="-122"/>
              </a:rPr>
              <a:t>10</a:t>
            </a:r>
            <a:r>
              <a:rPr lang="zh-CN" altLang="en-US" b="1" dirty="0">
                <a:latin typeface="楷体_GB2312" pitchFamily="49" charset="-122"/>
              </a:rPr>
              <a:t>台，</a:t>
            </a:r>
            <a:r>
              <a:rPr lang="en-US" altLang="zh-CN" b="1" dirty="0">
                <a:latin typeface="楷体_GB2312" pitchFamily="49" charset="-122"/>
              </a:rPr>
              <a:t>B</a:t>
            </a:r>
            <a:r>
              <a:rPr lang="zh-CN" altLang="en-US" b="1" dirty="0">
                <a:latin typeface="楷体_GB2312" pitchFamily="49" charset="-122"/>
              </a:rPr>
              <a:t>型机每周至少   生产</a:t>
            </a:r>
            <a:r>
              <a:rPr lang="en-US" altLang="zh-CN" b="1" dirty="0">
                <a:latin typeface="楷体_GB2312" pitchFamily="49" charset="-122"/>
              </a:rPr>
              <a:t>15</a:t>
            </a:r>
            <a:r>
              <a:rPr lang="zh-CN" altLang="en-US" b="1" dirty="0">
                <a:latin typeface="楷体_GB2312" pitchFamily="49" charset="-122"/>
              </a:rPr>
              <a:t>台；</a:t>
            </a:r>
            <a:endParaRPr lang="zh-CN" altLang="en-US" sz="1100" dirty="0">
              <a:latin typeface="楷体_GB2312" pitchFamily="49" charset="-122"/>
            </a:endParaRPr>
          </a:p>
          <a:p>
            <a:pPr indent="306705" eaLnBrk="0" hangingPunct="0"/>
            <a:r>
              <a:rPr lang="en-US" altLang="zh-CN" b="1" dirty="0">
                <a:latin typeface="楷体_GB2312" pitchFamily="49" charset="-122"/>
              </a:rPr>
              <a:t>p</a:t>
            </a:r>
            <a:r>
              <a:rPr lang="en-US" altLang="zh-CN" b="1" baseline="-30000" dirty="0">
                <a:latin typeface="楷体_GB2312" pitchFamily="49" charset="-122"/>
              </a:rPr>
              <a:t>3</a:t>
            </a:r>
            <a:r>
              <a:rPr lang="en-US" altLang="zh-CN" b="1" dirty="0">
                <a:latin typeface="楷体_GB2312" pitchFamily="49" charset="-122"/>
              </a:rPr>
              <a:t>: </a:t>
            </a:r>
            <a:r>
              <a:rPr lang="zh-CN" altLang="en-US" b="1" dirty="0">
                <a:latin typeface="楷体_GB2312" pitchFamily="49" charset="-122"/>
              </a:rPr>
              <a:t>希望工序</a:t>
            </a:r>
            <a:r>
              <a:rPr lang="en-US" altLang="zh-CN" b="1" dirty="0">
                <a:latin typeface="楷体_GB2312" pitchFamily="49" charset="-122"/>
              </a:rPr>
              <a:t>Ⅰ</a:t>
            </a:r>
            <a:r>
              <a:rPr lang="zh-CN" altLang="en-US" b="1" dirty="0">
                <a:latin typeface="楷体_GB2312" pitchFamily="49" charset="-122"/>
              </a:rPr>
              <a:t>的每周生产时间正好为</a:t>
            </a:r>
            <a:r>
              <a:rPr lang="en-US" altLang="zh-CN" b="1" dirty="0">
                <a:latin typeface="楷体_GB2312" pitchFamily="49" charset="-122"/>
              </a:rPr>
              <a:t>150</a:t>
            </a:r>
            <a:r>
              <a:rPr lang="zh-CN" altLang="en-US" b="1" dirty="0">
                <a:latin typeface="楷体_GB2312" pitchFamily="49" charset="-122"/>
              </a:rPr>
              <a:t>小时，工序</a:t>
            </a:r>
            <a:r>
              <a:rPr lang="en-US" altLang="zh-CN" b="1" dirty="0">
                <a:latin typeface="楷体_GB2312" pitchFamily="49" charset="-122"/>
              </a:rPr>
              <a:t>Ⅱ</a:t>
            </a:r>
            <a:r>
              <a:rPr lang="zh-CN" altLang="en-US" b="1" dirty="0">
                <a:latin typeface="楷体_GB2312" pitchFamily="49" charset="-122"/>
              </a:rPr>
              <a:t>的生产时间最好用足，甚至可适当加班。</a:t>
            </a:r>
            <a:endParaRPr lang="zh-CN" altLang="en-US" b="1" dirty="0">
              <a:latin typeface="楷体_GB2312" pitchFamily="49" charset="-122"/>
              <a:cs typeface="Times New Roman" panose="02020603050405020304" pitchFamily="18" charset="0"/>
            </a:endParaRPr>
          </a:p>
          <a:p>
            <a:pPr indent="306705" eaLnBrk="0" hangingPunct="0"/>
            <a:r>
              <a:rPr lang="zh-CN" altLang="en-US" b="1" dirty="0">
                <a:latin typeface="楷体_GB2312" pitchFamily="49" charset="-122"/>
                <a:cs typeface="Times New Roman" panose="02020603050405020304" pitchFamily="18" charset="0"/>
              </a:rPr>
              <a:t>试建立这个问题的目标规划模型。</a:t>
            </a:r>
            <a:r>
              <a:rPr lang="zh-CN" altLang="en-US" sz="1100" dirty="0">
                <a:latin typeface="楷体_GB2312" pitchFamily="49" charset="-122"/>
              </a:rPr>
              <a:t> </a:t>
            </a:r>
            <a:endParaRPr lang="zh-CN" altLang="en-US" dirty="0">
              <a:latin typeface="楷体_GB2312" pitchFamily="49" charset="-122"/>
            </a:endParaRPr>
          </a:p>
        </p:txBody>
      </p:sp>
    </p:spTree>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1746" name="Object 4"/>
          <p:cNvGraphicFramePr/>
          <p:nvPr/>
        </p:nvGraphicFramePr>
        <p:xfrm>
          <a:off x="1116013" y="1196975"/>
          <a:ext cx="6985000" cy="4210050"/>
        </p:xfrm>
        <a:graphic>
          <a:graphicData uri="http://schemas.openxmlformats.org/presentationml/2006/ole">
            <mc:AlternateContent xmlns:mc="http://schemas.openxmlformats.org/markup-compatibility/2006">
              <mc:Choice xmlns:v="urn:schemas-microsoft-com:vml" Requires="v">
                <p:oleObj spid="_x0000_s3242" name="" r:id="rId1" imgW="3136900" imgH="1778000" progId="Equation.3">
                  <p:embed/>
                </p:oleObj>
              </mc:Choice>
              <mc:Fallback>
                <p:oleObj name="" r:id="rId1" imgW="3136900" imgH="1778000" progId="Equation.3">
                  <p:embed/>
                  <p:pic>
                    <p:nvPicPr>
                      <p:cNvPr id="0" name="图片 3241"/>
                      <p:cNvPicPr/>
                      <p:nvPr/>
                    </p:nvPicPr>
                    <p:blipFill>
                      <a:blip r:embed="rId2"/>
                      <a:stretch>
                        <a:fillRect/>
                      </a:stretch>
                    </p:blipFill>
                    <p:spPr>
                      <a:xfrm>
                        <a:off x="1116013" y="1196975"/>
                        <a:ext cx="6985000" cy="4210050"/>
                      </a:xfrm>
                      <a:prstGeom prst="rect">
                        <a:avLst/>
                      </a:prstGeom>
                      <a:noFill/>
                      <a:ln w="38100">
                        <a:noFill/>
                        <a:miter/>
                      </a:ln>
                    </p:spPr>
                  </p:pic>
                </p:oleObj>
              </mc:Fallback>
            </mc:AlternateContent>
          </a:graphicData>
        </a:graphic>
      </p:graphicFrame>
    </p:spTree>
  </p:cSld>
  <p:clrMapOvr>
    <a:masterClrMapping/>
  </p:clrMapOvr>
  <p:transition spd="med">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4"/>
          <p:cNvSpPr/>
          <p:nvPr/>
        </p:nvSpPr>
        <p:spPr>
          <a:xfrm>
            <a:off x="323850" y="731838"/>
            <a:ext cx="8496300" cy="5216525"/>
          </a:xfrm>
          <a:prstGeom prst="rect">
            <a:avLst/>
          </a:prstGeom>
          <a:noFill/>
          <a:ln w="9525">
            <a:noFill/>
          </a:ln>
        </p:spPr>
        <p:txBody>
          <a:bodyPr anchor="ctr" anchorCtr="0">
            <a:spAutoFit/>
          </a:bodyPr>
          <a:p>
            <a:r>
              <a:rPr lang="en-US" altLang="zh-CN" sz="2800" b="1" dirty="0">
                <a:latin typeface="楷体_GB2312" pitchFamily="49" charset="-122"/>
              </a:rPr>
              <a:t>    2.</a:t>
            </a:r>
            <a:r>
              <a:rPr lang="zh-CN" altLang="en-US" sz="2800" b="1" dirty="0">
                <a:latin typeface="楷体_GB2312" pitchFamily="49" charset="-122"/>
              </a:rPr>
              <a:t>某纺织厂生产两种布料，一种用来做服装，另一种用来做窗帘。该厂实行两班生产，每周生产时间定为</a:t>
            </a:r>
            <a:r>
              <a:rPr lang="en-US" altLang="zh-CN" sz="2800" b="1" dirty="0">
                <a:latin typeface="楷体_GB2312" pitchFamily="49" charset="-122"/>
              </a:rPr>
              <a:t>80</a:t>
            </a:r>
            <a:r>
              <a:rPr lang="zh-CN" altLang="en-US" sz="2800" b="1" dirty="0">
                <a:latin typeface="楷体_GB2312" pitchFamily="49" charset="-122"/>
              </a:rPr>
              <a:t>小时。这两种布料每小时都生产</a:t>
            </a:r>
            <a:r>
              <a:rPr lang="en-US" altLang="zh-CN" sz="2800" b="1" dirty="0">
                <a:latin typeface="楷体_GB2312" pitchFamily="49" charset="-122"/>
              </a:rPr>
              <a:t>1000</a:t>
            </a:r>
            <a:r>
              <a:rPr lang="zh-CN" altLang="en-US" sz="2800" b="1" dirty="0">
                <a:latin typeface="楷体_GB2312" pitchFamily="49" charset="-122"/>
              </a:rPr>
              <a:t>米。假定每周窗帘布可销售</a:t>
            </a:r>
            <a:r>
              <a:rPr lang="en-US" altLang="zh-CN" sz="2800" b="1" dirty="0">
                <a:latin typeface="楷体_GB2312" pitchFamily="49" charset="-122"/>
              </a:rPr>
              <a:t>70000</a:t>
            </a:r>
            <a:r>
              <a:rPr lang="zh-CN" altLang="en-US" sz="2800" b="1" dirty="0">
                <a:latin typeface="楷体_GB2312" pitchFamily="49" charset="-122"/>
              </a:rPr>
              <a:t>米，每米的利润为</a:t>
            </a:r>
            <a:r>
              <a:rPr lang="en-US" altLang="zh-CN" sz="2800" b="1" dirty="0">
                <a:latin typeface="楷体_GB2312" pitchFamily="49" charset="-122"/>
              </a:rPr>
              <a:t>2.5</a:t>
            </a:r>
            <a:r>
              <a:rPr lang="zh-CN" altLang="en-US" sz="2800" b="1" dirty="0">
                <a:latin typeface="楷体_GB2312" pitchFamily="49" charset="-122"/>
              </a:rPr>
              <a:t>元；衣料布可销售</a:t>
            </a:r>
            <a:r>
              <a:rPr lang="en-US" altLang="zh-CN" sz="2800" b="1" dirty="0">
                <a:latin typeface="楷体_GB2312" pitchFamily="49" charset="-122"/>
              </a:rPr>
              <a:t>45000</a:t>
            </a:r>
            <a:r>
              <a:rPr lang="zh-CN" altLang="en-US" sz="2800" b="1" dirty="0">
                <a:latin typeface="楷体_GB2312" pitchFamily="49" charset="-122"/>
              </a:rPr>
              <a:t>米，每米的利润为</a:t>
            </a:r>
            <a:r>
              <a:rPr lang="en-US" altLang="zh-CN" sz="2800" b="1" dirty="0">
                <a:latin typeface="楷体_GB2312" pitchFamily="49" charset="-122"/>
              </a:rPr>
              <a:t>1.5</a:t>
            </a:r>
            <a:r>
              <a:rPr lang="zh-CN" altLang="en-US" sz="2800" b="1" dirty="0">
                <a:latin typeface="楷体_GB2312" pitchFamily="49" charset="-122"/>
              </a:rPr>
              <a:t>元。</a:t>
            </a:r>
            <a:endParaRPr lang="zh-CN" altLang="en-US" sz="2800" b="1" dirty="0">
              <a:latin typeface="楷体_GB2312" pitchFamily="49" charset="-122"/>
            </a:endParaRPr>
          </a:p>
          <a:p>
            <a:r>
              <a:rPr lang="zh-CN" altLang="en-US" sz="2800" b="1" dirty="0">
                <a:latin typeface="楷体_GB2312" pitchFamily="49" charset="-122"/>
              </a:rPr>
              <a:t>  该厂在制定生产计划时有以下各级目标：</a:t>
            </a:r>
            <a:endParaRPr lang="zh-CN" altLang="en-US" sz="2800" dirty="0">
              <a:latin typeface="楷体_GB2312" pitchFamily="49" charset="-122"/>
            </a:endParaRPr>
          </a:p>
          <a:p>
            <a:r>
              <a:rPr lang="zh-CN" altLang="en-US" sz="2800" b="1" dirty="0">
                <a:latin typeface="楷体_GB2312" pitchFamily="49" charset="-122"/>
              </a:rPr>
              <a:t>  </a:t>
            </a:r>
            <a:r>
              <a:rPr lang="en-US" altLang="zh-CN" sz="2800" b="1" dirty="0">
                <a:latin typeface="楷体_GB2312" pitchFamily="49" charset="-122"/>
              </a:rPr>
              <a:t>p1</a:t>
            </a:r>
            <a:r>
              <a:rPr lang="zh-CN" altLang="en-US" sz="2800" b="1" dirty="0">
                <a:latin typeface="楷体_GB2312" pitchFamily="49" charset="-122"/>
              </a:rPr>
              <a:t>：每周必须用足</a:t>
            </a:r>
            <a:r>
              <a:rPr lang="en-US" altLang="zh-CN" sz="2800" b="1" dirty="0">
                <a:latin typeface="楷体_GB2312" pitchFamily="49" charset="-122"/>
              </a:rPr>
              <a:t>80</a:t>
            </a:r>
            <a:r>
              <a:rPr lang="zh-CN" altLang="en-US" sz="2800" b="1" dirty="0">
                <a:latin typeface="楷体_GB2312" pitchFamily="49" charset="-122"/>
              </a:rPr>
              <a:t>小时的生产时间；</a:t>
            </a:r>
            <a:endParaRPr lang="zh-CN" altLang="en-US" sz="2800" dirty="0">
              <a:latin typeface="楷体_GB2312" pitchFamily="49" charset="-122"/>
            </a:endParaRPr>
          </a:p>
          <a:p>
            <a:r>
              <a:rPr lang="zh-CN" altLang="en-US" sz="2800" b="1" dirty="0">
                <a:latin typeface="楷体_GB2312" pitchFamily="49" charset="-122"/>
              </a:rPr>
              <a:t>  </a:t>
            </a:r>
            <a:r>
              <a:rPr lang="en-US" altLang="zh-CN" sz="2800" b="1" dirty="0">
                <a:latin typeface="楷体_GB2312" pitchFamily="49" charset="-122"/>
              </a:rPr>
              <a:t>p2</a:t>
            </a:r>
            <a:r>
              <a:rPr lang="zh-CN" altLang="en-US" sz="2800" b="1" dirty="0">
                <a:latin typeface="楷体_GB2312" pitchFamily="49" charset="-122"/>
              </a:rPr>
              <a:t>：每周加班时数不超过</a:t>
            </a:r>
            <a:r>
              <a:rPr lang="en-US" altLang="zh-CN" sz="2800" b="1" dirty="0">
                <a:latin typeface="楷体_GB2312" pitchFamily="49" charset="-122"/>
              </a:rPr>
              <a:t>10</a:t>
            </a:r>
            <a:r>
              <a:rPr lang="zh-CN" altLang="en-US" sz="2800" b="1" dirty="0">
                <a:latin typeface="楷体_GB2312" pitchFamily="49" charset="-122"/>
              </a:rPr>
              <a:t>小时；</a:t>
            </a:r>
            <a:endParaRPr lang="zh-CN" altLang="en-US" sz="2800" dirty="0">
              <a:latin typeface="楷体_GB2312" pitchFamily="49" charset="-122"/>
            </a:endParaRPr>
          </a:p>
          <a:p>
            <a:r>
              <a:rPr lang="zh-CN" altLang="en-US" sz="2800" b="1" dirty="0">
                <a:latin typeface="楷体_GB2312" pitchFamily="49" charset="-122"/>
              </a:rPr>
              <a:t>  </a:t>
            </a:r>
            <a:r>
              <a:rPr lang="en-US" altLang="zh-CN" sz="2800" b="1" dirty="0">
                <a:latin typeface="楷体_GB2312" pitchFamily="49" charset="-122"/>
              </a:rPr>
              <a:t>p3</a:t>
            </a:r>
            <a:r>
              <a:rPr lang="zh-CN" altLang="en-US" sz="2800" b="1" dirty="0">
                <a:latin typeface="楷体_GB2312" pitchFamily="49" charset="-122"/>
              </a:rPr>
              <a:t>：每周销售窗帘布</a:t>
            </a:r>
            <a:r>
              <a:rPr lang="en-US" altLang="zh-CN" sz="2800" b="1" dirty="0">
                <a:latin typeface="楷体_GB2312" pitchFamily="49" charset="-122"/>
              </a:rPr>
              <a:t>70000</a:t>
            </a:r>
            <a:r>
              <a:rPr lang="zh-CN" altLang="en-US" sz="2800" b="1" dirty="0">
                <a:latin typeface="楷体_GB2312" pitchFamily="49" charset="-122"/>
              </a:rPr>
              <a:t>米，衣料布</a:t>
            </a:r>
            <a:r>
              <a:rPr lang="en-US" altLang="zh-CN" sz="2800" b="1" dirty="0">
                <a:latin typeface="楷体_GB2312" pitchFamily="49" charset="-122"/>
              </a:rPr>
              <a:t>45000</a:t>
            </a:r>
            <a:r>
              <a:rPr lang="zh-CN" altLang="en-US" sz="2800" b="1" dirty="0">
                <a:latin typeface="楷体_GB2312" pitchFamily="49" charset="-122"/>
              </a:rPr>
              <a:t>米；</a:t>
            </a:r>
            <a:endParaRPr lang="zh-CN" altLang="en-US" sz="2800" dirty="0">
              <a:latin typeface="楷体_GB2312" pitchFamily="49" charset="-122"/>
            </a:endParaRPr>
          </a:p>
          <a:p>
            <a:r>
              <a:rPr lang="zh-CN" altLang="en-US" sz="2800" b="1" dirty="0">
                <a:latin typeface="楷体_GB2312" pitchFamily="49" charset="-122"/>
              </a:rPr>
              <a:t>  </a:t>
            </a:r>
            <a:r>
              <a:rPr lang="en-US" altLang="zh-CN" sz="2800" b="1" dirty="0">
                <a:latin typeface="楷体_GB2312" pitchFamily="49" charset="-122"/>
              </a:rPr>
              <a:t>p4</a:t>
            </a:r>
            <a:r>
              <a:rPr lang="zh-CN" altLang="en-US" sz="2800" b="1" dirty="0">
                <a:latin typeface="楷体_GB2312" pitchFamily="49" charset="-122"/>
              </a:rPr>
              <a:t>：加班时间尽可能减少。</a:t>
            </a:r>
            <a:endParaRPr lang="zh-CN" altLang="en-US" sz="2800" dirty="0">
              <a:latin typeface="楷体_GB2312" pitchFamily="49" charset="-122"/>
            </a:endParaRPr>
          </a:p>
          <a:p>
            <a:endParaRPr lang="zh-CN" altLang="en-US" sz="2800" b="1" dirty="0">
              <a:latin typeface="楷体_GB2312" pitchFamily="49" charset="-122"/>
            </a:endParaRPr>
          </a:p>
          <a:p>
            <a:r>
              <a:rPr lang="zh-CN" altLang="en-US" sz="2800" b="1" dirty="0">
                <a:latin typeface="楷体_GB2312" pitchFamily="49" charset="-122"/>
              </a:rPr>
              <a:t>试建立这个问题的目标规划模型。</a:t>
            </a:r>
            <a:endParaRPr lang="zh-CN" altLang="en-US" sz="2800" b="1" dirty="0">
              <a:latin typeface="楷体_GB2312" pitchFamily="49" charset="-122"/>
            </a:endParaRPr>
          </a:p>
        </p:txBody>
      </p:sp>
    </p:spTree>
  </p:cSld>
  <p:clrMapOvr>
    <a:masterClrMapping/>
  </p:clrMapOvr>
  <p:transition spd="med">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1" name="Rectangle 5"/>
          <p:cNvSpPr/>
          <p:nvPr/>
        </p:nvSpPr>
        <p:spPr>
          <a:xfrm>
            <a:off x="250825" y="384175"/>
            <a:ext cx="8424863" cy="1373188"/>
          </a:xfrm>
          <a:prstGeom prst="rect">
            <a:avLst/>
          </a:prstGeom>
          <a:noFill/>
          <a:ln w="9525">
            <a:noFill/>
          </a:ln>
        </p:spPr>
        <p:txBody>
          <a:bodyPr anchor="ctr" anchorCtr="0">
            <a:spAutoFit/>
          </a:bodyPr>
          <a:p>
            <a:pPr indent="1224280"/>
            <a:r>
              <a:rPr lang="zh-CN" altLang="en-US" sz="2800" b="1" dirty="0">
                <a:latin typeface="Times New Roman" panose="02020603050405020304" pitchFamily="18" charset="0"/>
              </a:rPr>
              <a:t>设</a:t>
            </a:r>
            <a:r>
              <a:rPr lang="en-US" altLang="zh-CN" sz="2800" b="1" dirty="0">
                <a:latin typeface="Times New Roman" panose="02020603050405020304" pitchFamily="18" charset="0"/>
              </a:rPr>
              <a:t>x</a:t>
            </a:r>
            <a:r>
              <a:rPr lang="en-US" altLang="zh-CN" sz="2800" b="1" baseline="-30000" dirty="0">
                <a:latin typeface="Times New Roman" panose="02020603050405020304" pitchFamily="18" charset="0"/>
              </a:rPr>
              <a:t>1</a:t>
            </a:r>
            <a:r>
              <a:rPr lang="en-US" altLang="zh-CN" sz="2800" b="1" dirty="0">
                <a:latin typeface="Times New Roman" panose="02020603050405020304" pitchFamily="18" charset="0"/>
              </a:rPr>
              <a:t>, x</a:t>
            </a:r>
            <a:r>
              <a:rPr lang="en-US" altLang="zh-CN" sz="2800" b="1" baseline="-30000" dirty="0">
                <a:latin typeface="Times New Roman" panose="02020603050405020304" pitchFamily="18" charset="0"/>
              </a:rPr>
              <a:t>2</a:t>
            </a:r>
            <a:r>
              <a:rPr lang="zh-CN" altLang="en-US" sz="2800" b="1" dirty="0">
                <a:latin typeface="Times New Roman" panose="02020603050405020304" pitchFamily="18" charset="0"/>
              </a:rPr>
              <a:t>分别为每周生产窗帘布和</a:t>
            </a:r>
            <a:r>
              <a:rPr lang="zh-CN" altLang="en-US" sz="2800" b="1" dirty="0">
                <a:latin typeface="楷体_GB2312" pitchFamily="49" charset="-122"/>
              </a:rPr>
              <a:t>衣料布</a:t>
            </a:r>
            <a:r>
              <a:rPr lang="zh-CN" altLang="en-US" sz="2800" b="1" dirty="0">
                <a:latin typeface="Times New Roman" panose="02020603050405020304" pitchFamily="18" charset="0"/>
              </a:rPr>
              <a:t>的小时数，目标规划数学模型为：</a:t>
            </a:r>
            <a:endParaRPr lang="zh-CN" altLang="en-US" sz="2800" dirty="0">
              <a:latin typeface="Times New Roman" panose="02020603050405020304" pitchFamily="18" charset="0"/>
            </a:endParaRPr>
          </a:p>
          <a:p>
            <a:pPr indent="1224280" eaLnBrk="0" hangingPunct="0"/>
            <a:endParaRPr lang="en-US" altLang="zh-CN" sz="2800" dirty="0">
              <a:latin typeface="Times New Roman" panose="02020603050405020304" pitchFamily="18" charset="0"/>
              <a:ea typeface="宋体" panose="02010600030101010101" pitchFamily="2" charset="-122"/>
            </a:endParaRPr>
          </a:p>
        </p:txBody>
      </p:sp>
      <p:graphicFrame>
        <p:nvGraphicFramePr>
          <p:cNvPr id="32770" name="Object 4"/>
          <p:cNvGraphicFramePr/>
          <p:nvPr/>
        </p:nvGraphicFramePr>
        <p:xfrm>
          <a:off x="849313" y="2257425"/>
          <a:ext cx="7016750" cy="3309938"/>
        </p:xfrm>
        <a:graphic>
          <a:graphicData uri="http://schemas.openxmlformats.org/presentationml/2006/ole">
            <mc:AlternateContent xmlns:mc="http://schemas.openxmlformats.org/markup-compatibility/2006">
              <mc:Choice xmlns:v="urn:schemas-microsoft-com:vml" Requires="v">
                <p:oleObj spid="_x0000_s3244" name="" r:id="rId1" imgW="3225800" imgH="1333500" progId="Equation.DSMT4">
                  <p:embed/>
                </p:oleObj>
              </mc:Choice>
              <mc:Fallback>
                <p:oleObj name="" r:id="rId1" imgW="3225800" imgH="1333500" progId="Equation.DSMT4">
                  <p:embed/>
                  <p:pic>
                    <p:nvPicPr>
                      <p:cNvPr id="0" name="图片 3243"/>
                      <p:cNvPicPr/>
                      <p:nvPr/>
                    </p:nvPicPr>
                    <p:blipFill>
                      <a:blip r:embed="rId2"/>
                      <a:stretch>
                        <a:fillRect/>
                      </a:stretch>
                    </p:blipFill>
                    <p:spPr>
                      <a:xfrm>
                        <a:off x="849313" y="2257425"/>
                        <a:ext cx="7016750" cy="3309938"/>
                      </a:xfrm>
                      <a:prstGeom prst="rect">
                        <a:avLst/>
                      </a:prstGeom>
                      <a:noFill/>
                      <a:ln w="38100">
                        <a:noFill/>
                        <a:miter/>
                      </a:ln>
                    </p:spPr>
                  </p:pic>
                </p:oleObj>
              </mc:Fallback>
            </mc:AlternateContent>
          </a:graphicData>
        </a:graphic>
      </p:graphicFrame>
    </p:spTree>
  </p:cSld>
  <p:clrMapOvr>
    <a:masterClrMapping/>
  </p:clrMapOvr>
  <p:transition spd="med">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ext Box 2"/>
          <p:cNvSpPr txBox="1"/>
          <p:nvPr/>
        </p:nvSpPr>
        <p:spPr>
          <a:xfrm>
            <a:off x="228600" y="228600"/>
            <a:ext cx="8686800" cy="1463675"/>
          </a:xfrm>
          <a:prstGeom prst="rect">
            <a:avLst/>
          </a:prstGeom>
          <a:noFill/>
          <a:ln w="9525">
            <a:noFill/>
          </a:ln>
        </p:spPr>
        <p:txBody>
          <a:bodyPr>
            <a:spAutoFit/>
          </a:bodyPr>
          <a:p>
            <a:pPr algn="ctr"/>
            <a:r>
              <a:rPr lang="zh-CN" altLang="en-US" sz="5400" b="1" dirty="0">
                <a:solidFill>
                  <a:schemeClr val="accent2"/>
                </a:solidFill>
                <a:latin typeface="Times New Roman" panose="02020603050405020304" pitchFamily="18" charset="0"/>
                <a:ea typeface="黑体" panose="02010609060101010101" pitchFamily="49" charset="-122"/>
              </a:rPr>
              <a:t>目  标  规  划</a:t>
            </a:r>
            <a:endParaRPr lang="zh-CN" altLang="en-US" sz="5400" b="1" dirty="0">
              <a:solidFill>
                <a:schemeClr val="accent2"/>
              </a:solidFill>
              <a:latin typeface="Times New Roman" panose="02020603050405020304" pitchFamily="18" charset="0"/>
              <a:ea typeface="黑体" panose="02010609060101010101" pitchFamily="49" charset="-122"/>
            </a:endParaRPr>
          </a:p>
          <a:p>
            <a:pPr algn="ctr"/>
            <a:r>
              <a:rPr lang="en-US" altLang="zh-CN" sz="3600" b="1" dirty="0">
                <a:solidFill>
                  <a:schemeClr val="accent2"/>
                </a:solidFill>
                <a:latin typeface="Times New Roman" panose="02020603050405020304" pitchFamily="18" charset="0"/>
                <a:ea typeface="黑体" panose="02010609060101010101" pitchFamily="49" charset="-122"/>
              </a:rPr>
              <a:t>(Goal  programming)</a:t>
            </a:r>
            <a:endParaRPr lang="en-US" altLang="zh-CN" sz="3600" b="1" dirty="0">
              <a:solidFill>
                <a:schemeClr val="accent2"/>
              </a:solidFill>
              <a:latin typeface="Times New Roman" panose="02020603050405020304" pitchFamily="18" charset="0"/>
              <a:ea typeface="黑体" panose="02010609060101010101" pitchFamily="49" charset="-122"/>
            </a:endParaRPr>
          </a:p>
        </p:txBody>
      </p:sp>
      <p:sp>
        <p:nvSpPr>
          <p:cNvPr id="50179" name="Line 3"/>
          <p:cNvSpPr/>
          <p:nvPr/>
        </p:nvSpPr>
        <p:spPr>
          <a:xfrm>
            <a:off x="0" y="1752600"/>
            <a:ext cx="9144000" cy="0"/>
          </a:xfrm>
          <a:prstGeom prst="line">
            <a:avLst/>
          </a:prstGeom>
          <a:ln w="57150" cap="flat" cmpd="sng">
            <a:solidFill>
              <a:srgbClr val="FF0000"/>
            </a:solidFill>
            <a:prstDash val="solid"/>
            <a:headEnd type="none" w="med" len="med"/>
            <a:tailEnd type="none" w="med" len="med"/>
          </a:ln>
        </p:spPr>
      </p:sp>
      <p:sp>
        <p:nvSpPr>
          <p:cNvPr id="6148" name="Text Box 4"/>
          <p:cNvSpPr txBox="1"/>
          <p:nvPr/>
        </p:nvSpPr>
        <p:spPr>
          <a:xfrm>
            <a:off x="242888" y="3000375"/>
            <a:ext cx="8686800" cy="1570038"/>
          </a:xfrm>
          <a:prstGeom prst="rect">
            <a:avLst/>
          </a:prstGeom>
          <a:noFill/>
          <a:ln w="9525">
            <a:noFill/>
          </a:ln>
        </p:spPr>
        <p:txBody>
          <a:bodyPr>
            <a:spAutoFit/>
          </a:bodyPr>
          <a:p>
            <a:pPr algn="ctr"/>
            <a:r>
              <a:rPr lang="zh-CN" altLang="en-US" sz="9600" b="1" dirty="0">
                <a:latin typeface="Times New Roman" panose="02020603050405020304" pitchFamily="18" charset="0"/>
                <a:ea typeface="黑体" panose="02010609060101010101" pitchFamily="49" charset="-122"/>
              </a:rPr>
              <a:t>谢  谢</a:t>
            </a:r>
            <a:endParaRPr lang="zh-CN" altLang="en-US" sz="9600" b="1" dirty="0">
              <a:latin typeface="Times New Roman" panose="02020603050405020304" pitchFamily="18" charset="0"/>
              <a:ea typeface="黑体" panose="02010609060101010101" pitchFamily="49" charset="-122"/>
            </a:endParaRPr>
          </a:p>
        </p:txBody>
      </p:sp>
      <p:sp>
        <p:nvSpPr>
          <p:cNvPr id="6153" name="Rectangle 9"/>
          <p:cNvSpPr/>
          <p:nvPr/>
        </p:nvSpPr>
        <p:spPr>
          <a:xfrm>
            <a:off x="2209800" y="6019800"/>
            <a:ext cx="914400" cy="533400"/>
          </a:xfrm>
          <a:prstGeom prst="rect">
            <a:avLst/>
          </a:prstGeom>
          <a:noFill/>
          <a:ln w="9525">
            <a:noFill/>
          </a:ln>
        </p:spPr>
        <p:txBody>
          <a:bodyPr wrap="none" anchor="ctr" anchorCtr="0"/>
          <a:p>
            <a:endParaRPr lang="zh-CN" altLang="en-US" dirty="0">
              <a:latin typeface="Times New Roman" panose="02020603050405020304"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148"/>
                                        </p:tgtEl>
                                        <p:attrNameLst>
                                          <p:attrName>style.visibility</p:attrName>
                                        </p:attrNameLst>
                                      </p:cBhvr>
                                      <p:to>
                                        <p:strVal val="visible"/>
                                      </p:to>
                                    </p:set>
                                    <p:anim calcmode="lin" valueType="num">
                                      <p:cBhvr additive="base">
                                        <p:cTn id="7" dur="500" fill="hold"/>
                                        <p:tgtEl>
                                          <p:spTgt spid="6148"/>
                                        </p:tgtEl>
                                        <p:attrNameLst>
                                          <p:attrName>ppt_x</p:attrName>
                                        </p:attrNameLst>
                                      </p:cBhvr>
                                      <p:tavLst>
                                        <p:tav tm="0">
                                          <p:val>
                                            <p:strVal val="1+#ppt_w/2"/>
                                          </p:val>
                                        </p:tav>
                                        <p:tav tm="100000">
                                          <p:val>
                                            <p:strVal val="#ppt_x"/>
                                          </p:val>
                                        </p:tav>
                                      </p:tavLst>
                                    </p:anim>
                                    <p:anim calcmode="lin" valueType="num">
                                      <p:cBhvr additive="base">
                                        <p:cTn id="8" dur="500" fill="hold"/>
                                        <p:tgtEl>
                                          <p:spTgt spid="6148"/>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6148"/>
                                        </p:tgtEl>
                                        <p:attrNameLst>
                                          <p:attrName>ppt_c</p:attrName>
                                        </p:attrNameLst>
                                      </p:cBhvr>
                                      <p:to>
                                        <a:srgbClr val="FF9900"/>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nodePh="1">
                                  <p:stCondLst>
                                    <p:cond delay="0"/>
                                  </p:stCondLst>
                                  <p:endCondLst>
                                    <p:cond evt="begin" delay="0">
                                      <p:tn val="11"/>
                                    </p:cond>
                                  </p:endCondLst>
                                  <p:childTnLst>
                                    <p:set>
                                      <p:cBhvr>
                                        <p:cTn id="12" dur="1" fill="hold">
                                          <p:stCondLst>
                                            <p:cond delay="0"/>
                                          </p:stCondLst>
                                        </p:cTn>
                                        <p:tgtEl>
                                          <p:spTgt spid="6153"/>
                                        </p:tgtEl>
                                        <p:attrNameLst>
                                          <p:attrName>style.visibility</p:attrName>
                                        </p:attrNameLst>
                                      </p:cBhvr>
                                      <p:to>
                                        <p:strVal val="visible"/>
                                      </p:to>
                                    </p:set>
                                    <p:anim calcmode="lin" valueType="num">
                                      <p:cBhvr additive="base">
                                        <p:cTn id="13" dur="500" fill="hold"/>
                                        <p:tgtEl>
                                          <p:spTgt spid="6153"/>
                                        </p:tgtEl>
                                        <p:attrNameLst>
                                          <p:attrName>ppt_x</p:attrName>
                                        </p:attrNameLst>
                                      </p:cBhvr>
                                      <p:tavLst>
                                        <p:tav tm="0">
                                          <p:val>
                                            <p:strVal val="0-#ppt_w/2"/>
                                          </p:val>
                                        </p:tav>
                                        <p:tav tm="100000">
                                          <p:val>
                                            <p:strVal val="#ppt_x"/>
                                          </p:val>
                                        </p:tav>
                                      </p:tavLst>
                                    </p:anim>
                                    <p:anim calcmode="lin" valueType="num">
                                      <p:cBhvr additive="base">
                                        <p:cTn id="14" dur="500" fill="hold"/>
                                        <p:tgtEl>
                                          <p:spTgt spid="61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53" grpId="0" animBg="1"/>
    </p:bldLst>
  </p:timing>
</p:sld>
</file>

<file path=ppt/tags/tag1.xml><?xml version="1.0" encoding="utf-8"?>
<p:tagLst xmlns:p="http://schemas.openxmlformats.org/presentationml/2006/main">
  <p:tag name="KSO_WPP_MARK_KEY" val="e200b0d3-657c-43e3-996f-db22f430f839"/>
</p:tagLst>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8177</Words>
  <Application>WPS 演示</Application>
  <PresentationFormat>全屏显示(4:3)</PresentationFormat>
  <Paragraphs>2527</Paragraphs>
  <Slides>48</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174</vt:i4>
      </vt:variant>
      <vt:variant>
        <vt:lpstr>幻灯片标题</vt:lpstr>
      </vt:variant>
      <vt:variant>
        <vt:i4>48</vt:i4>
      </vt:variant>
    </vt:vector>
  </HeadingPairs>
  <TitlesOfParts>
    <vt:vector size="233" baseType="lpstr">
      <vt:lpstr>Arial</vt:lpstr>
      <vt:lpstr>宋体</vt:lpstr>
      <vt:lpstr>Wingdings</vt:lpstr>
      <vt:lpstr>Times New Roman</vt:lpstr>
      <vt:lpstr>楷体_GB2312</vt:lpstr>
      <vt:lpstr>新宋体</vt:lpstr>
      <vt:lpstr>Calibri</vt:lpstr>
      <vt:lpstr>黑体</vt:lpstr>
      <vt:lpstr>微软雅黑</vt:lpstr>
      <vt:lpstr>Arial Unicode MS</vt:lpstr>
      <vt:lpstr>默认设计模板</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kjdx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Albert Yang</cp:lastModifiedBy>
  <cp:revision>81</cp:revision>
  <dcterms:created xsi:type="dcterms:W3CDTF">2003-07-21T02:47:01Z</dcterms:created>
  <dcterms:modified xsi:type="dcterms:W3CDTF">2022-12-11T09:09:05Z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E0842B0A096B4BF6A1314ED49D2DB78B</vt:lpwstr>
  </property>
  <property fmtid="{D5CDD505-2E9C-101B-9397-08002B2CF9AE}" pid="3" name="KSOProductBuildVer">
    <vt:lpwstr>2052-11.1.0.12980</vt:lpwstr>
  </property>
</Properties>
</file>