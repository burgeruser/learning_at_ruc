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65" r:id="rId3"/>
    <p:sldId id="256" r:id="rId4"/>
    <p:sldId id="298" r:id="rId5"/>
    <p:sldId id="299" r:id="rId6"/>
    <p:sldId id="300" r:id="rId7"/>
    <p:sldId id="301" r:id="rId8"/>
    <p:sldId id="323" r:id="rId9"/>
    <p:sldId id="302" r:id="rId11"/>
    <p:sldId id="257" r:id="rId12"/>
    <p:sldId id="324" r:id="rId13"/>
    <p:sldId id="303" r:id="rId14"/>
    <p:sldId id="325" r:id="rId15"/>
    <p:sldId id="326" r:id="rId16"/>
    <p:sldId id="304" r:id="rId17"/>
    <p:sldId id="305" r:id="rId18"/>
    <p:sldId id="258" r:id="rId19"/>
    <p:sldId id="329" r:id="rId20"/>
    <p:sldId id="307" r:id="rId21"/>
    <p:sldId id="327" r:id="rId22"/>
    <p:sldId id="308" r:id="rId23"/>
    <p:sldId id="259" r:id="rId24"/>
    <p:sldId id="260" r:id="rId25"/>
    <p:sldId id="263" r:id="rId26"/>
    <p:sldId id="264" r:id="rId27"/>
    <p:sldId id="295" r:id="rId28"/>
    <p:sldId id="266" r:id="rId29"/>
    <p:sldId id="296" r:id="rId30"/>
    <p:sldId id="294" r:id="rId31"/>
    <p:sldId id="267" r:id="rId32"/>
    <p:sldId id="309" r:id="rId33"/>
    <p:sldId id="310" r:id="rId34"/>
    <p:sldId id="311" r:id="rId35"/>
    <p:sldId id="29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328" r:id="rId51"/>
  </p:sldIdLst>
  <p:sldSz cx="9144000" cy="6858000" type="screen4x3"/>
  <p:notesSz cx="6858000" cy="9144000"/>
  <p:custDataLst>
    <p:tags r:id="rId55"/>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4D4D"/>
    <a:srgbClr val="FFFFFF"/>
    <a:srgbClr val="DDDDDD"/>
    <a:srgbClr val="996633"/>
    <a:srgbClr val="FF0000"/>
    <a:srgbClr val="009900"/>
    <a:srgbClr val="000066"/>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46"/>
    <p:restoredTop sz="93569"/>
  </p:normalViewPr>
  <p:slideViewPr>
    <p:cSldViewPr showGuides="1">
      <p:cViewPr varScale="1">
        <p:scale>
          <a:sx n="72" d="100"/>
          <a:sy n="72" d="100"/>
        </p:scale>
        <p:origin x="-132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2796BEB-740C-4EC1-B83E-3A937D744EE8}"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52227" name="Rectangle 2"/>
          <p:cNvSpPr>
            <a:spLocks noRot="1" noTextEdit="1"/>
          </p:cNvSpPr>
          <p:nvPr>
            <p:ph type="sldImg"/>
          </p:nvPr>
        </p:nvSpPr>
        <p:spPr>
          <a:ln>
            <a:solidFill>
              <a:srgbClr val="000000">
                <a:alpha val="100000"/>
              </a:srgbClr>
            </a:solidFill>
            <a:miter lim="800000"/>
          </a:ln>
        </p:spPr>
      </p:sp>
      <p:sp>
        <p:nvSpPr>
          <p:cNvPr id="52228" name="Rectangle 3"/>
          <p:cNvSpPr>
            <a:spLocks noGrp="1"/>
          </p:cNvSpPr>
          <p:nvPr>
            <p:ph type="body" idx="1"/>
          </p:nvPr>
        </p:nvSpPr>
        <p:spPr>
          <a:noFill/>
          <a:ln>
            <a:noFill/>
          </a:ln>
        </p:spPr>
        <p:txBody>
          <a:bodyPr wrap="square" lIns="91440" tIns="45720" rIns="91440" bIns="45720" anchor="t" anchorCtr="0"/>
          <a:p>
            <a:pPr lvl="0" eaLnBrk="1" hangingPunct="1">
              <a:lnSpc>
                <a:spcPct val="10000"/>
              </a:lnSpc>
              <a:spcBef>
                <a:spcPts val="3500"/>
              </a:spcBef>
              <a:buClr>
                <a:srgbClr val="191919"/>
              </a:buClr>
              <a:buFont typeface="Helvetica"/>
              <a:buChar char="•"/>
            </a:pPr>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gradFill rotWithShape="0">
          <a:gsLst>
            <a:gs pos="0">
              <a:srgbClr val="AD69A2"/>
            </a:gs>
            <a:gs pos="100000">
              <a:srgbClr val="FFCCFF"/>
            </a:gs>
          </a:gsLst>
          <a:path path="rect">
            <a:fillToRect t="100000" r="100000"/>
          </a:path>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14400" y="1600200"/>
            <a:ext cx="3810000" cy="453072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876800" y="1600200"/>
            <a:ext cx="3810000" cy="21891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876800" y="3941763"/>
            <a:ext cx="3810000" cy="2189162"/>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2"/>
          </p:nvPr>
        </p:nvSpPr>
        <p:spPr>
          <a:xfrm>
            <a:off x="914400" y="6251575"/>
            <a:ext cx="19812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7" name="页脚占位符 6"/>
          <p:cNvSpPr>
            <a:spLocks noGrp="1"/>
          </p:cNvSpPr>
          <p:nvPr>
            <p:ph type="ftr" sz="quarter" idx="13"/>
          </p:nvPr>
        </p:nvSpPr>
        <p:spPr>
          <a:xfrm>
            <a:off x="3352800" y="6248400"/>
            <a:ext cx="29718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8" name="灯片编号占位符 7"/>
          <p:cNvSpPr>
            <a:spLocks noGrp="1"/>
          </p:cNvSpPr>
          <p:nvPr>
            <p:ph type="sldNum" sz="quarter" idx="4"/>
          </p:nvPr>
        </p:nvSpPr>
        <p:spPr>
          <a:xfrm>
            <a:off x="6781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AD69A2"/>
            </a:gs>
            <a:gs pos="100000">
              <a:srgbClr val="FFCCFF"/>
            </a:gs>
          </a:gsLst>
          <a:path path="rect">
            <a:fillToRect t="100000" r="100000"/>
          </a:path>
          <a:tileRect/>
        </a:gra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random/>
  </p:transition>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2.wav"/><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4.wav"/><Relationship Id="rId3" Type="http://schemas.openxmlformats.org/officeDocument/2006/relationships/audio" Target="../media/audio3.wav"/><Relationship Id="rId2" Type="http://schemas.openxmlformats.org/officeDocument/2006/relationships/image" Target="../media/image2.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audio" Target="../media/audio3.wav"/><Relationship Id="rId3" Type="http://schemas.openxmlformats.org/officeDocument/2006/relationships/audio" Target="../media/audio1.wav"/><Relationship Id="rId2" Type="http://schemas.openxmlformats.org/officeDocument/2006/relationships/image" Target="../media/image3.w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5.wmf"/><Relationship Id="rId3" Type="http://schemas.openxmlformats.org/officeDocument/2006/relationships/oleObject" Target="../embeddings/oleObject5.bin"/><Relationship Id="rId2" Type="http://schemas.openxmlformats.org/officeDocument/2006/relationships/image" Target="../media/image4.w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7.xml"/><Relationship Id="rId7" Type="http://schemas.openxmlformats.org/officeDocument/2006/relationships/audio" Target="../media/audio3.wav"/><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9.wmf"/><Relationship Id="rId3" Type="http://schemas.openxmlformats.org/officeDocument/2006/relationships/oleObject" Target="../embeddings/oleObject9.bin"/><Relationship Id="rId2" Type="http://schemas.openxmlformats.org/officeDocument/2006/relationships/image" Target="../media/image8.wmf"/><Relationship Id="rId1"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4.wmf"/><Relationship Id="rId7" Type="http://schemas.openxmlformats.org/officeDocument/2006/relationships/oleObject" Target="../embeddings/oleObject14.bin"/><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 Id="rId3" Type="http://schemas.openxmlformats.org/officeDocument/2006/relationships/oleObject" Target="../embeddings/oleObject12.bin"/><Relationship Id="rId2" Type="http://schemas.openxmlformats.org/officeDocument/2006/relationships/image" Target="../media/image11.wmf"/><Relationship Id="rId14" Type="http://schemas.openxmlformats.org/officeDocument/2006/relationships/vmlDrawing" Target="../drawings/vmlDrawing7.vml"/><Relationship Id="rId13" Type="http://schemas.openxmlformats.org/officeDocument/2006/relationships/slideLayout" Target="../slideLayouts/slideLayout7.xml"/><Relationship Id="rId12" Type="http://schemas.openxmlformats.org/officeDocument/2006/relationships/audio" Target="../media/audio5.wav"/><Relationship Id="rId11" Type="http://schemas.openxmlformats.org/officeDocument/2006/relationships/audio" Target="../media/audio2.wav"/><Relationship Id="rId10" Type="http://schemas.openxmlformats.org/officeDocument/2006/relationships/image" Target="../media/image15.wmf"/><Relationship Id="rId1" Type="http://schemas.openxmlformats.org/officeDocument/2006/relationships/oleObject" Target="../embeddings/oleObject11.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xml"/><Relationship Id="rId2" Type="http://schemas.openxmlformats.org/officeDocument/2006/relationships/image" Target="../media/image16.wmf"/><Relationship Id="rId1" Type="http://schemas.openxmlformats.org/officeDocument/2006/relationships/oleObject" Target="../embeddings/oleObject1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18.wmf"/><Relationship Id="rId3" Type="http://schemas.openxmlformats.org/officeDocument/2006/relationships/oleObject" Target="../embeddings/oleObject18.bin"/><Relationship Id="rId2" Type="http://schemas.openxmlformats.org/officeDocument/2006/relationships/image" Target="../media/image17.wmf"/><Relationship Id="rId1" Type="http://schemas.openxmlformats.org/officeDocument/2006/relationships/oleObject" Target="../embeddings/oleObject1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9.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20.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21.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23.wmf"/><Relationship Id="rId3" Type="http://schemas.openxmlformats.org/officeDocument/2006/relationships/oleObject" Target="../embeddings/oleObject23.bin"/><Relationship Id="rId2" Type="http://schemas.openxmlformats.org/officeDocument/2006/relationships/image" Target="../media/image22.wmf"/><Relationship Id="rId1" Type="http://schemas.openxmlformats.org/officeDocument/2006/relationships/oleObject" Target="../embeddings/oleObject22.bin"/></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25.wmf"/><Relationship Id="rId3" Type="http://schemas.openxmlformats.org/officeDocument/2006/relationships/oleObject" Target="../embeddings/oleObject25.bin"/><Relationship Id="rId2" Type="http://schemas.openxmlformats.org/officeDocument/2006/relationships/image" Target="../media/image24.wmf"/><Relationship Id="rId1" Type="http://schemas.openxmlformats.org/officeDocument/2006/relationships/oleObject" Target="../embeddings/oleObject24.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6.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27.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8.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29.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482" name="Text Box 1026"/>
          <p:cNvSpPr txBox="1"/>
          <p:nvPr/>
        </p:nvSpPr>
        <p:spPr>
          <a:xfrm>
            <a:off x="457200" y="533400"/>
            <a:ext cx="8686800" cy="1025525"/>
          </a:xfrm>
          <a:prstGeom prst="rect">
            <a:avLst/>
          </a:prstGeom>
          <a:noFill/>
          <a:ln w="9525">
            <a:noFill/>
          </a:ln>
        </p:spPr>
        <p:txBody>
          <a:bodyPr>
            <a:spAutoFit/>
          </a:bodyPr>
          <a:p>
            <a:pPr algn="ctr">
              <a:lnSpc>
                <a:spcPct val="60000"/>
              </a:lnSpc>
              <a:spcBef>
                <a:spcPct val="50000"/>
              </a:spcBef>
            </a:pPr>
            <a:r>
              <a:rPr lang="zh-CN" altLang="en-US" sz="5400" dirty="0">
                <a:solidFill>
                  <a:schemeClr val="accent2"/>
                </a:solidFill>
                <a:latin typeface="Times New Roman" panose="02020603050405020304" pitchFamily="18" charset="0"/>
                <a:ea typeface="黑体" panose="02010609060101010101" pitchFamily="2" charset="-122"/>
              </a:rPr>
              <a:t>动   态   规   划</a:t>
            </a:r>
            <a:endParaRPr lang="zh-CN" altLang="en-US" sz="5400" dirty="0">
              <a:solidFill>
                <a:schemeClr val="accent2"/>
              </a:solidFill>
              <a:latin typeface="Times New Roman" panose="02020603050405020304" pitchFamily="18" charset="0"/>
              <a:ea typeface="黑体" panose="02010609060101010101" pitchFamily="2" charset="-122"/>
            </a:endParaRPr>
          </a:p>
          <a:p>
            <a:pPr algn="ctr">
              <a:lnSpc>
                <a:spcPct val="30000"/>
              </a:lnSpc>
              <a:spcBef>
                <a:spcPct val="50000"/>
              </a:spcBef>
            </a:pPr>
            <a:r>
              <a:rPr lang="zh-CN" altLang="en-US" sz="3600" dirty="0">
                <a:solidFill>
                  <a:schemeClr val="accent2"/>
                </a:solidFill>
                <a:latin typeface="Times New Roman" panose="02020603050405020304" pitchFamily="18" charset="0"/>
                <a:ea typeface="黑体" panose="02010609060101010101" pitchFamily="2" charset="-122"/>
              </a:rPr>
              <a:t> </a:t>
            </a:r>
            <a:r>
              <a:rPr lang="en-US" altLang="zh-CN" sz="3600" dirty="0">
                <a:solidFill>
                  <a:schemeClr val="accent2"/>
                </a:solidFill>
                <a:latin typeface="Times New Roman" panose="02020603050405020304" pitchFamily="18" charset="0"/>
                <a:ea typeface="黑体" panose="02010609060101010101" pitchFamily="2" charset="-122"/>
              </a:rPr>
              <a:t>(Dynamic  programming)</a:t>
            </a:r>
            <a:endParaRPr lang="en-US" altLang="zh-CN" sz="3600" dirty="0">
              <a:solidFill>
                <a:schemeClr val="accent2"/>
              </a:solidFill>
              <a:latin typeface="Times New Roman" panose="02020603050405020304" pitchFamily="18" charset="0"/>
              <a:ea typeface="黑体" panose="02010609060101010101" pitchFamily="2" charset="-122"/>
            </a:endParaRPr>
          </a:p>
        </p:txBody>
      </p:sp>
      <p:sp>
        <p:nvSpPr>
          <p:cNvPr id="20483" name="Line 1027"/>
          <p:cNvSpPr/>
          <p:nvPr/>
        </p:nvSpPr>
        <p:spPr>
          <a:xfrm>
            <a:off x="0" y="1676400"/>
            <a:ext cx="9144000" cy="0"/>
          </a:xfrm>
          <a:prstGeom prst="line">
            <a:avLst/>
          </a:prstGeom>
          <a:ln w="57150" cap="flat" cmpd="sng">
            <a:solidFill>
              <a:srgbClr val="FF0000"/>
            </a:solidFill>
            <a:prstDash val="solid"/>
            <a:headEnd type="none" w="med" len="med"/>
            <a:tailEnd type="none" w="med" len="med"/>
          </a:ln>
        </p:spPr>
      </p:sp>
      <p:sp>
        <p:nvSpPr>
          <p:cNvPr id="11268" name="Text Box 1028"/>
          <p:cNvSpPr txBox="1"/>
          <p:nvPr/>
        </p:nvSpPr>
        <p:spPr>
          <a:xfrm>
            <a:off x="228600" y="2133600"/>
            <a:ext cx="8686800" cy="762000"/>
          </a:xfrm>
          <a:prstGeom prst="rect">
            <a:avLst/>
          </a:prstGeom>
          <a:noFill/>
          <a:ln w="9525">
            <a:noFill/>
          </a:ln>
        </p:spPr>
        <p:txBody>
          <a:bodyPr>
            <a:spAutoFit/>
          </a:bodyPr>
          <a:p>
            <a:pPr algn="ctr">
              <a:spcBef>
                <a:spcPct val="50000"/>
              </a:spcBef>
            </a:pPr>
            <a:r>
              <a:rPr lang="zh-CN" altLang="en-US" sz="4400" dirty="0">
                <a:solidFill>
                  <a:srgbClr val="663300"/>
                </a:solidFill>
                <a:latin typeface="Times New Roman" panose="02020603050405020304" pitchFamily="18" charset="0"/>
              </a:rPr>
              <a:t>动态规划的基本思想</a:t>
            </a:r>
            <a:endParaRPr lang="zh-CN" altLang="en-US" sz="4400" dirty="0">
              <a:solidFill>
                <a:srgbClr val="663300"/>
              </a:solidFill>
              <a:latin typeface="Times New Roman" panose="02020603050405020304" pitchFamily="18" charset="0"/>
            </a:endParaRPr>
          </a:p>
        </p:txBody>
      </p:sp>
      <p:sp>
        <p:nvSpPr>
          <p:cNvPr id="11269" name="Rectangle 1029"/>
          <p:cNvSpPr/>
          <p:nvPr/>
        </p:nvSpPr>
        <p:spPr>
          <a:xfrm>
            <a:off x="2798763" y="3048000"/>
            <a:ext cx="5049837" cy="762000"/>
          </a:xfrm>
          <a:prstGeom prst="rect">
            <a:avLst/>
          </a:prstGeom>
          <a:noFill/>
          <a:ln w="9525">
            <a:noFill/>
          </a:ln>
        </p:spPr>
        <p:txBody>
          <a:bodyPr>
            <a:spAutoFit/>
          </a:bodyPr>
          <a:p>
            <a:r>
              <a:rPr lang="zh-CN" altLang="en-US" sz="4400" dirty="0">
                <a:solidFill>
                  <a:srgbClr val="663300"/>
                </a:solidFill>
                <a:latin typeface="Times New Roman" panose="02020603050405020304" pitchFamily="18" charset="0"/>
              </a:rPr>
              <a:t>最短路径问题</a:t>
            </a:r>
            <a:endParaRPr lang="zh-CN" altLang="en-US" sz="4400" dirty="0">
              <a:solidFill>
                <a:srgbClr val="663300"/>
              </a:solidFill>
              <a:latin typeface="Times New Roman" panose="02020603050405020304" pitchFamily="18" charset="0"/>
            </a:endParaRPr>
          </a:p>
        </p:txBody>
      </p:sp>
      <p:sp>
        <p:nvSpPr>
          <p:cNvPr id="11270" name="Rectangle 1030"/>
          <p:cNvSpPr/>
          <p:nvPr/>
        </p:nvSpPr>
        <p:spPr>
          <a:xfrm>
            <a:off x="2667000" y="3962400"/>
            <a:ext cx="5029200" cy="762000"/>
          </a:xfrm>
          <a:prstGeom prst="rect">
            <a:avLst/>
          </a:prstGeom>
          <a:noFill/>
          <a:ln w="9525">
            <a:noFill/>
          </a:ln>
        </p:spPr>
        <p:txBody>
          <a:bodyPr>
            <a:spAutoFit/>
          </a:bodyPr>
          <a:p>
            <a:r>
              <a:rPr lang="zh-CN" altLang="en-US" sz="4400" dirty="0">
                <a:solidFill>
                  <a:srgbClr val="663300"/>
                </a:solidFill>
                <a:latin typeface="Times New Roman" panose="02020603050405020304" pitchFamily="18" charset="0"/>
              </a:rPr>
              <a:t>投资分配问题</a:t>
            </a:r>
            <a:endParaRPr lang="zh-CN" altLang="en-US" sz="4400" dirty="0">
              <a:solidFill>
                <a:srgbClr val="663300"/>
              </a:solidFill>
              <a:latin typeface="Times New Roman" panose="02020603050405020304" pitchFamily="18" charset="0"/>
            </a:endParaRPr>
          </a:p>
        </p:txBody>
      </p:sp>
      <p:sp>
        <p:nvSpPr>
          <p:cNvPr id="11271" name="Rectangle 1031"/>
          <p:cNvSpPr/>
          <p:nvPr/>
        </p:nvSpPr>
        <p:spPr>
          <a:xfrm>
            <a:off x="3276600" y="4953000"/>
            <a:ext cx="3581400" cy="762000"/>
          </a:xfrm>
          <a:prstGeom prst="rect">
            <a:avLst/>
          </a:prstGeom>
          <a:noFill/>
          <a:ln w="9525">
            <a:noFill/>
          </a:ln>
        </p:spPr>
        <p:txBody>
          <a:bodyPr>
            <a:spAutoFit/>
          </a:bodyPr>
          <a:p>
            <a:r>
              <a:rPr lang="zh-CN" altLang="en-US" sz="4400" dirty="0">
                <a:solidFill>
                  <a:srgbClr val="663300"/>
                </a:solidFill>
                <a:latin typeface="Times New Roman" panose="02020603050405020304" pitchFamily="18" charset="0"/>
              </a:rPr>
              <a:t>背包问题</a:t>
            </a:r>
            <a:endParaRPr lang="zh-CN" altLang="en-US" sz="4400" dirty="0">
              <a:solidFill>
                <a:srgbClr val="663300"/>
              </a:solidFill>
              <a:latin typeface="Times New Roman" panose="02020603050405020304" pitchFamily="18" charset="0"/>
            </a:endParaRPr>
          </a:p>
        </p:txBody>
      </p:sp>
      <p:sp>
        <p:nvSpPr>
          <p:cNvPr id="11272" name="Rectangle 1032"/>
          <p:cNvSpPr/>
          <p:nvPr/>
        </p:nvSpPr>
        <p:spPr>
          <a:xfrm>
            <a:off x="2057400" y="5715000"/>
            <a:ext cx="914400" cy="685800"/>
          </a:xfrm>
          <a:prstGeom prst="rect">
            <a:avLst/>
          </a:prstGeom>
          <a:noFill/>
          <a:ln w="9525">
            <a:noFill/>
          </a:ln>
        </p:spPr>
        <p:txBody>
          <a:bodyPr wrap="none" anchor="ctr" anchorCtr="0"/>
          <a:p>
            <a:endParaRPr lang="zh-CN" altLang="en-US" dirty="0">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1268"/>
                                        </p:tgtEl>
                                        <p:attrNameLst>
                                          <p:attrName>ppt_c</p:attrName>
                                        </p:attrNameLst>
                                      </p:cBhvr>
                                      <p:to>
                                        <a:schemeClr val="accent1"/>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 calcmode="lin" valueType="num">
                                      <p:cBhvr additive="base">
                                        <p:cTn id="13" dur="500" fill="hold"/>
                                        <p:tgtEl>
                                          <p:spTgt spid="11269"/>
                                        </p:tgtEl>
                                        <p:attrNameLst>
                                          <p:attrName>ppt_x</p:attrName>
                                        </p:attrNameLst>
                                      </p:cBhvr>
                                      <p:tavLst>
                                        <p:tav tm="0">
                                          <p:val>
                                            <p:strVal val="1+#ppt_w/2"/>
                                          </p:val>
                                        </p:tav>
                                        <p:tav tm="100000">
                                          <p:val>
                                            <p:strVal val="#ppt_x"/>
                                          </p:val>
                                        </p:tav>
                                      </p:tavLst>
                                    </p:anim>
                                    <p:anim calcmode="lin" valueType="num">
                                      <p:cBhvr additive="base">
                                        <p:cTn id="14" dur="500" fill="hold"/>
                                        <p:tgtEl>
                                          <p:spTgt spid="11269"/>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1269"/>
                                        </p:tgtEl>
                                        <p:attrNameLst>
                                          <p:attrName>ppt_c</p:attrName>
                                        </p:attrNameLst>
                                      </p:cBhvr>
                                      <p:to>
                                        <a:srgbClr val="CC9900"/>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1270"/>
                                        </p:tgtEl>
                                        <p:attrNameLst>
                                          <p:attrName>style.visibility</p:attrName>
                                        </p:attrNameLst>
                                      </p:cBhvr>
                                      <p:to>
                                        <p:strVal val="visible"/>
                                      </p:to>
                                    </p:set>
                                    <p:anim calcmode="lin" valueType="num">
                                      <p:cBhvr additive="base">
                                        <p:cTn id="19" dur="500" fill="hold"/>
                                        <p:tgtEl>
                                          <p:spTgt spid="11270"/>
                                        </p:tgtEl>
                                        <p:attrNameLst>
                                          <p:attrName>ppt_x</p:attrName>
                                        </p:attrNameLst>
                                      </p:cBhvr>
                                      <p:tavLst>
                                        <p:tav tm="0">
                                          <p:val>
                                            <p:strVal val="0-#ppt_w/2"/>
                                          </p:val>
                                        </p:tav>
                                        <p:tav tm="100000">
                                          <p:val>
                                            <p:strVal val="#ppt_x"/>
                                          </p:val>
                                        </p:tav>
                                      </p:tavLst>
                                    </p:anim>
                                    <p:anim calcmode="lin" valueType="num">
                                      <p:cBhvr additive="base">
                                        <p:cTn id="20" dur="500" fill="hold"/>
                                        <p:tgtEl>
                                          <p:spTgt spid="11270"/>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70"/>
                                        </p:tgtEl>
                                        <p:attrNameLst>
                                          <p:attrName>ppt_c</p:attrName>
                                        </p:attrNameLst>
                                      </p:cBhvr>
                                      <p:to>
                                        <a:srgbClr val="CC3300"/>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3" fill="hold" grpId="0" nodeType="clickEffect">
                                  <p:stCondLst>
                                    <p:cond delay="0"/>
                                  </p:stCondLst>
                                  <p:childTnLst>
                                    <p:set>
                                      <p:cBhvr>
                                        <p:cTn id="24" dur="1" fill="hold">
                                          <p:stCondLst>
                                            <p:cond delay="0"/>
                                          </p:stCondLst>
                                        </p:cTn>
                                        <p:tgtEl>
                                          <p:spTgt spid="11271"/>
                                        </p:tgtEl>
                                        <p:attrNameLst>
                                          <p:attrName>style.visibility</p:attrName>
                                        </p:attrNameLst>
                                      </p:cBhvr>
                                      <p:to>
                                        <p:strVal val="visible"/>
                                      </p:to>
                                    </p:set>
                                    <p:anim calcmode="lin" valueType="num">
                                      <p:cBhvr additive="base">
                                        <p:cTn id="25" dur="500" fill="hold"/>
                                        <p:tgtEl>
                                          <p:spTgt spid="11271"/>
                                        </p:tgtEl>
                                        <p:attrNameLst>
                                          <p:attrName>ppt_x</p:attrName>
                                        </p:attrNameLst>
                                      </p:cBhvr>
                                      <p:tavLst>
                                        <p:tav tm="0">
                                          <p:val>
                                            <p:strVal val="1+#ppt_w/2"/>
                                          </p:val>
                                        </p:tav>
                                        <p:tav tm="100000">
                                          <p:val>
                                            <p:strVal val="#ppt_x"/>
                                          </p:val>
                                        </p:tav>
                                      </p:tavLst>
                                    </p:anim>
                                    <p:anim calcmode="lin" valueType="num">
                                      <p:cBhvr additive="base">
                                        <p:cTn id="26" dur="500" fill="hold"/>
                                        <p:tgtEl>
                                          <p:spTgt spid="11271"/>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1271"/>
                                        </p:tgtEl>
                                        <p:attrNameLst>
                                          <p:attrName>ppt_c</p:attrName>
                                        </p:attrNameLst>
                                      </p:cBhvr>
                                      <p:to>
                                        <a:srgbClr val="000000"/>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nodePh="1">
                                  <p:stCondLst>
                                    <p:cond delay="0"/>
                                  </p:stCondLst>
                                  <p:endCondLst>
                                    <p:cond evt="begin" delay="0">
                                      <p:tn val="29"/>
                                    </p:cond>
                                  </p:endCondLst>
                                  <p:childTnLst>
                                    <p:set>
                                      <p:cBhvr>
                                        <p:cTn id="30" dur="1" fill="hold">
                                          <p:stCondLst>
                                            <p:cond delay="0"/>
                                          </p:stCondLst>
                                        </p:cTn>
                                        <p:tgtEl>
                                          <p:spTgt spid="11272"/>
                                        </p:tgtEl>
                                        <p:attrNameLst>
                                          <p:attrName>style.visibility</p:attrName>
                                        </p:attrNameLst>
                                      </p:cBhvr>
                                      <p:to>
                                        <p:strVal val="visible"/>
                                      </p:to>
                                    </p:set>
                                    <p:anim calcmode="lin" valueType="num">
                                      <p:cBhvr additive="base">
                                        <p:cTn id="31" dur="500" fill="hold"/>
                                        <p:tgtEl>
                                          <p:spTgt spid="11272"/>
                                        </p:tgtEl>
                                        <p:attrNameLst>
                                          <p:attrName>ppt_x</p:attrName>
                                        </p:attrNameLst>
                                      </p:cBhvr>
                                      <p:tavLst>
                                        <p:tav tm="0">
                                          <p:val>
                                            <p:strVal val="0-#ppt_w/2"/>
                                          </p:val>
                                        </p:tav>
                                        <p:tav tm="100000">
                                          <p:val>
                                            <p:strVal val="#ppt_x"/>
                                          </p:val>
                                        </p:tav>
                                      </p:tavLst>
                                    </p:anim>
                                    <p:anim calcmode="lin" valueType="num">
                                      <p:cBhvr additive="base">
                                        <p:cTn id="32" dur="500" fill="hold"/>
                                        <p:tgtEl>
                                          <p:spTgt spid="112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9" grpId="0"/>
      <p:bldP spid="11270" grpId="0"/>
      <p:bldP spid="11271" grpId="0"/>
      <p:bldP spid="1127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Text Box 2"/>
          <p:cNvSpPr txBox="1"/>
          <p:nvPr/>
        </p:nvSpPr>
        <p:spPr>
          <a:xfrm>
            <a:off x="228600" y="990600"/>
            <a:ext cx="8686800" cy="4722813"/>
          </a:xfrm>
          <a:prstGeom prst="rect">
            <a:avLst/>
          </a:prstGeom>
          <a:noFill/>
          <a:ln w="9525">
            <a:noFill/>
          </a:ln>
        </p:spPr>
        <p:txBody>
          <a:bodyPr>
            <a:spAutoFit/>
          </a:bodyPr>
          <a:p>
            <a:pPr>
              <a:spcBef>
                <a:spcPct val="50000"/>
              </a:spcBef>
            </a:pPr>
            <a:r>
              <a:rPr lang="en-US" altLang="zh-CN" sz="3200" dirty="0">
                <a:solidFill>
                  <a:srgbClr val="006666"/>
                </a:solidFill>
                <a:latin typeface="Times New Roman" panose="02020603050405020304" pitchFamily="18" charset="0"/>
              </a:rPr>
              <a:t>        </a:t>
            </a:r>
            <a:r>
              <a:rPr lang="zh-CN" altLang="en-US" sz="3200" dirty="0">
                <a:solidFill>
                  <a:srgbClr val="000066"/>
                </a:solidFill>
                <a:latin typeface="Times New Roman" panose="02020603050405020304" pitchFamily="18" charset="0"/>
              </a:rPr>
              <a:t>动态规划是用来解决多阶段决策过程最优化的一种数量方法。其特点在于，它可以把一个</a:t>
            </a:r>
            <a:r>
              <a:rPr lang="en-US" altLang="zh-CN" sz="3200" dirty="0">
                <a:solidFill>
                  <a:srgbClr val="000066"/>
                </a:solidFill>
                <a:latin typeface="Times New Roman" panose="02020603050405020304" pitchFamily="18" charset="0"/>
              </a:rPr>
              <a:t>n </a:t>
            </a:r>
            <a:r>
              <a:rPr lang="zh-CN" altLang="en-US" sz="3200" dirty="0">
                <a:solidFill>
                  <a:srgbClr val="000066"/>
                </a:solidFill>
                <a:latin typeface="Times New Roman" panose="02020603050405020304" pitchFamily="18" charset="0"/>
              </a:rPr>
              <a:t>维决策问题变换为几个一维最优化问题，从而一个一个地去解决。</a:t>
            </a:r>
            <a:endParaRPr lang="zh-CN" altLang="en-US" sz="3200" dirty="0">
              <a:solidFill>
                <a:srgbClr val="000066"/>
              </a:solidFill>
              <a:latin typeface="Times New Roman" panose="02020603050405020304" pitchFamily="18" charset="0"/>
            </a:endParaRPr>
          </a:p>
          <a:p>
            <a:pPr>
              <a:spcBef>
                <a:spcPct val="50000"/>
              </a:spcBef>
            </a:pPr>
            <a:r>
              <a:rPr lang="zh-CN" altLang="en-US" sz="3200" dirty="0">
                <a:solidFill>
                  <a:srgbClr val="006666"/>
                </a:solidFill>
                <a:latin typeface="Times New Roman" panose="02020603050405020304" pitchFamily="18" charset="0"/>
              </a:rPr>
              <a:t>        </a:t>
            </a:r>
            <a:r>
              <a:rPr lang="zh-CN" altLang="en-US" sz="3200" dirty="0">
                <a:solidFill>
                  <a:srgbClr val="000066"/>
                </a:solidFill>
                <a:latin typeface="Times New Roman" panose="02020603050405020304" pitchFamily="18" charset="0"/>
              </a:rPr>
              <a:t>需指出：动态规划是求解某类问题的一种方法，是考察问题的一种途径，而不是一种算法。必须对具体问题进行具体分析，运用动态规划的原理和方法，建立相应的模型，然后再用动态规划方法去求解。</a:t>
            </a:r>
            <a:endParaRPr lang="zh-CN" altLang="en-US" sz="3200"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iterate type="lt">
                                    <p:tmPct val="100000"/>
                                  </p:iterate>
                                  <p:childTnLst>
                                    <p:set>
                                      <p:cBhvr>
                                        <p:cTn id="6" dur="1" fill="hold">
                                          <p:stCondLst>
                                            <p:cond delay="0"/>
                                          </p:stCondLst>
                                        </p:cTn>
                                        <p:tgtEl>
                                          <p:spTgt spid="2050"/>
                                        </p:tgtEl>
                                        <p:attrNameLst>
                                          <p:attrName>style.visibility</p:attrName>
                                        </p:attrNameLst>
                                      </p:cBhvr>
                                      <p:to>
                                        <p:strVal val="visible"/>
                                      </p:to>
                                    </p:set>
                                    <p:animEffect transition="in" filter="slide(fromBottom)">
                                      <p:cBhvr>
                                        <p:cTn id="7" dur="75"/>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6082" name="Rectangle 2"/>
          <p:cNvSpPr/>
          <p:nvPr/>
        </p:nvSpPr>
        <p:spPr>
          <a:xfrm>
            <a:off x="304800" y="3168650"/>
            <a:ext cx="1828800" cy="457200"/>
          </a:xfrm>
          <a:prstGeom prst="rect">
            <a:avLst/>
          </a:prstGeom>
          <a:solidFill>
            <a:srgbClr val="CCFFFF"/>
          </a:solidFill>
          <a:ln w="9525">
            <a:noFill/>
          </a:ln>
        </p:spPr>
        <p:txBody>
          <a:bodyPr wrap="none" anchor="ctr" anchorCtr="0"/>
          <a:p>
            <a:endParaRPr lang="zh-CN" altLang="en-US" dirty="0">
              <a:latin typeface="Times New Roman" panose="02020603050405020304" pitchFamily="18" charset="0"/>
            </a:endParaRPr>
          </a:p>
        </p:txBody>
      </p:sp>
      <p:sp>
        <p:nvSpPr>
          <p:cNvPr id="46083" name="Text Box 3"/>
          <p:cNvSpPr txBox="1"/>
          <p:nvPr/>
        </p:nvSpPr>
        <p:spPr>
          <a:xfrm>
            <a:off x="1066800" y="1416050"/>
            <a:ext cx="7620000" cy="946150"/>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即在系统发展的不同时刻（或阶段）根据系统所处的状态，不断地做出决策；</a:t>
            </a:r>
            <a:endParaRPr lang="zh-CN" altLang="en-US" dirty="0">
              <a:solidFill>
                <a:srgbClr val="000066"/>
              </a:solidFill>
              <a:latin typeface="楷体_GB2312" pitchFamily="49" charset="-122"/>
            </a:endParaRPr>
          </a:p>
        </p:txBody>
      </p:sp>
      <p:sp>
        <p:nvSpPr>
          <p:cNvPr id="46084" name="Text Box 4"/>
          <p:cNvSpPr txBox="1"/>
          <p:nvPr/>
        </p:nvSpPr>
        <p:spPr>
          <a:xfrm>
            <a:off x="762000" y="5226050"/>
            <a:ext cx="8001000" cy="946150"/>
          </a:xfrm>
          <a:prstGeom prst="rect">
            <a:avLst/>
          </a:prstGeom>
          <a:noFill/>
          <a:ln w="9525">
            <a:noFill/>
          </a:ln>
        </p:spPr>
        <p:txBody>
          <a:bodyPr>
            <a:spAutoFit/>
          </a:bodyPr>
          <a:p>
            <a:pPr>
              <a:spcBef>
                <a:spcPct val="50000"/>
              </a:spcBef>
            </a:pPr>
            <a:r>
              <a:rPr lang="zh-CN" altLang="en-US" dirty="0">
                <a:solidFill>
                  <a:srgbClr val="FF0000"/>
                </a:solidFill>
                <a:latin typeface="楷体_GB2312" pitchFamily="49" charset="-122"/>
              </a:rPr>
              <a:t>每个阶段都要进行</a:t>
            </a:r>
            <a:r>
              <a:rPr lang="zh-CN" altLang="en-US" dirty="0">
                <a:solidFill>
                  <a:srgbClr val="009900"/>
                </a:solidFill>
                <a:latin typeface="楷体_GB2312" pitchFamily="49" charset="-122"/>
              </a:rPr>
              <a:t>决策</a:t>
            </a:r>
            <a:r>
              <a:rPr lang="en-US" altLang="zh-CN" dirty="0">
                <a:solidFill>
                  <a:srgbClr val="000066"/>
                </a:solidFill>
                <a:latin typeface="楷体_GB2312" pitchFamily="49" charset="-122"/>
              </a:rPr>
              <a:t>,</a:t>
            </a:r>
            <a:r>
              <a:rPr lang="zh-CN" altLang="en-US" dirty="0">
                <a:solidFill>
                  <a:srgbClr val="000066"/>
                </a:solidFill>
                <a:latin typeface="楷体_GB2312" pitchFamily="49" charset="-122"/>
              </a:rPr>
              <a:t>目的是使整个过程的决策                        达到最优效果。</a:t>
            </a:r>
            <a:endParaRPr lang="zh-CN" altLang="en-US" dirty="0">
              <a:solidFill>
                <a:srgbClr val="000066"/>
              </a:solidFill>
              <a:latin typeface="楷体_GB2312" pitchFamily="49" charset="-122"/>
            </a:endParaRPr>
          </a:p>
        </p:txBody>
      </p:sp>
      <p:sp>
        <p:nvSpPr>
          <p:cNvPr id="22533" name="Text Box 5"/>
          <p:cNvSpPr txBox="1"/>
          <p:nvPr/>
        </p:nvSpPr>
        <p:spPr>
          <a:xfrm>
            <a:off x="381000" y="501650"/>
            <a:ext cx="44958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动态决策问题的特点：</a:t>
            </a:r>
            <a:endParaRPr lang="zh-CN" altLang="en-US" dirty="0">
              <a:solidFill>
                <a:srgbClr val="000066"/>
              </a:solidFill>
              <a:latin typeface="楷体_GB2312" pitchFamily="49" charset="-122"/>
            </a:endParaRPr>
          </a:p>
        </p:txBody>
      </p:sp>
      <p:sp>
        <p:nvSpPr>
          <p:cNvPr id="46086" name="Text Box 6"/>
          <p:cNvSpPr txBox="1"/>
          <p:nvPr/>
        </p:nvSpPr>
        <p:spPr>
          <a:xfrm>
            <a:off x="1066800" y="958850"/>
            <a:ext cx="76962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系统所处的状态和时刻是进行决策的重要因素；</a:t>
            </a:r>
            <a:endParaRPr lang="zh-CN" altLang="en-US" dirty="0">
              <a:solidFill>
                <a:srgbClr val="000066"/>
              </a:solidFill>
              <a:latin typeface="楷体_GB2312" pitchFamily="49" charset="-122"/>
            </a:endParaRPr>
          </a:p>
        </p:txBody>
      </p:sp>
      <p:sp>
        <p:nvSpPr>
          <p:cNvPr id="46087" name="Text Box 7"/>
          <p:cNvSpPr txBox="1"/>
          <p:nvPr/>
        </p:nvSpPr>
        <p:spPr>
          <a:xfrm>
            <a:off x="990600" y="2330450"/>
            <a:ext cx="81534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找到不同时刻的最优决策以及整个过程的最优策略。</a:t>
            </a:r>
            <a:endParaRPr lang="zh-CN" altLang="en-US" dirty="0">
              <a:solidFill>
                <a:srgbClr val="000066"/>
              </a:solidFill>
              <a:latin typeface="楷体_GB2312" pitchFamily="49" charset="-122"/>
            </a:endParaRPr>
          </a:p>
        </p:txBody>
      </p:sp>
      <p:sp>
        <p:nvSpPr>
          <p:cNvPr id="46088" name="Text Box 8"/>
          <p:cNvSpPr txBox="1"/>
          <p:nvPr/>
        </p:nvSpPr>
        <p:spPr>
          <a:xfrm>
            <a:off x="228600" y="3092450"/>
            <a:ext cx="36576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多阶段决策问题：</a:t>
            </a:r>
            <a:endParaRPr lang="zh-CN" altLang="en-US" dirty="0">
              <a:solidFill>
                <a:srgbClr val="000066"/>
              </a:solidFill>
              <a:latin typeface="楷体_GB2312" pitchFamily="49" charset="-122"/>
            </a:endParaRPr>
          </a:p>
        </p:txBody>
      </p:sp>
      <p:sp>
        <p:nvSpPr>
          <p:cNvPr id="46089" name="Text Box 9"/>
          <p:cNvSpPr txBox="1"/>
          <p:nvPr/>
        </p:nvSpPr>
        <p:spPr>
          <a:xfrm>
            <a:off x="914400" y="3625850"/>
            <a:ext cx="62484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是动态决策问题的一种特殊形式；</a:t>
            </a:r>
            <a:endParaRPr lang="zh-CN" altLang="en-US" dirty="0">
              <a:solidFill>
                <a:srgbClr val="000066"/>
              </a:solidFill>
              <a:latin typeface="楷体_GB2312" pitchFamily="49" charset="-122"/>
            </a:endParaRPr>
          </a:p>
        </p:txBody>
      </p:sp>
      <p:sp>
        <p:nvSpPr>
          <p:cNvPr id="46090" name="Text Box 10"/>
          <p:cNvSpPr txBox="1"/>
          <p:nvPr/>
        </p:nvSpPr>
        <p:spPr>
          <a:xfrm>
            <a:off x="914400" y="4159250"/>
            <a:ext cx="8229600" cy="946150"/>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在多阶段决策过程中</a:t>
            </a:r>
            <a:r>
              <a:rPr lang="en-US" altLang="zh-CN" dirty="0">
                <a:solidFill>
                  <a:srgbClr val="000066"/>
                </a:solidFill>
                <a:latin typeface="楷体_GB2312" pitchFamily="49" charset="-122"/>
              </a:rPr>
              <a:t>,</a:t>
            </a:r>
            <a:r>
              <a:rPr lang="zh-CN" altLang="en-US" dirty="0">
                <a:solidFill>
                  <a:srgbClr val="000066"/>
                </a:solidFill>
                <a:latin typeface="楷体_GB2312" pitchFamily="49" charset="-122"/>
              </a:rPr>
              <a:t>系统的动态过程可以按照时间进程分为</a:t>
            </a:r>
            <a:r>
              <a:rPr lang="zh-CN" altLang="en-US" dirty="0">
                <a:solidFill>
                  <a:srgbClr val="009900"/>
                </a:solidFill>
                <a:latin typeface="楷体_GB2312" pitchFamily="49" charset="-122"/>
              </a:rPr>
              <a:t>状态</a:t>
            </a:r>
            <a:r>
              <a:rPr lang="zh-CN" altLang="en-US" dirty="0">
                <a:solidFill>
                  <a:srgbClr val="000066"/>
                </a:solidFill>
                <a:latin typeface="楷体_GB2312" pitchFamily="49" charset="-122"/>
              </a:rPr>
              <a:t>相互</a:t>
            </a:r>
            <a:r>
              <a:rPr lang="zh-CN" altLang="en-US" dirty="0">
                <a:solidFill>
                  <a:srgbClr val="FF0000"/>
                </a:solidFill>
                <a:latin typeface="楷体_GB2312" pitchFamily="49" charset="-122"/>
              </a:rPr>
              <a:t>联系</a:t>
            </a:r>
            <a:r>
              <a:rPr lang="zh-CN" altLang="en-US" dirty="0">
                <a:solidFill>
                  <a:srgbClr val="000066"/>
                </a:solidFill>
                <a:latin typeface="楷体_GB2312" pitchFamily="49" charset="-122"/>
              </a:rPr>
              <a:t>而又相互</a:t>
            </a:r>
            <a:r>
              <a:rPr lang="zh-CN" altLang="en-US" dirty="0">
                <a:solidFill>
                  <a:srgbClr val="FF0000"/>
                </a:solidFill>
                <a:latin typeface="楷体_GB2312" pitchFamily="49" charset="-122"/>
              </a:rPr>
              <a:t>区别</a:t>
            </a:r>
            <a:r>
              <a:rPr lang="zh-CN" altLang="en-US" dirty="0">
                <a:solidFill>
                  <a:srgbClr val="000066"/>
                </a:solidFill>
                <a:latin typeface="楷体_GB2312" pitchFamily="49" charset="-122"/>
              </a:rPr>
              <a:t>的各个</a:t>
            </a:r>
            <a:r>
              <a:rPr lang="zh-CN" altLang="en-US" dirty="0">
                <a:solidFill>
                  <a:srgbClr val="FF0000"/>
                </a:solidFill>
                <a:latin typeface="楷体_GB2312" pitchFamily="49" charset="-122"/>
              </a:rPr>
              <a:t>阶段</a:t>
            </a:r>
            <a:r>
              <a:rPr lang="zh-CN" altLang="en-US" dirty="0">
                <a:latin typeface="楷体_GB2312" pitchFamily="49" charset="-122"/>
              </a:rPr>
              <a:t>；</a:t>
            </a:r>
            <a:endParaRPr lang="zh-CN" altLang="en-US" dirty="0">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0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0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6082"/>
                                        </p:tgtEl>
                                        <p:attrNameLst>
                                          <p:attrName>style.visibility</p:attrName>
                                        </p:attrNameLst>
                                      </p:cBhvr>
                                      <p:to>
                                        <p:strVal val="visible"/>
                                      </p:to>
                                    </p:set>
                                  </p:childTnLst>
                                  <p:subTnLst>
                                    <p:set>
                                      <p:cBhvr override="childStyle">
                                        <p:cTn dur="1" fill="hold" display="0" masterRel="nextClick" afterEffect="1"/>
                                        <p:tgtEl>
                                          <p:spTgt spid="46082"/>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608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60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6084"/>
                                        </p:tgtEl>
                                        <p:attrNameLst>
                                          <p:attrName>style.visibility</p:attrName>
                                        </p:attrNameLst>
                                      </p:cBhvr>
                                      <p:to>
                                        <p:strVal val="visible"/>
                                      </p:to>
                                    </p:set>
                                    <p:anim calcmode="lin" valueType="num">
                                      <p:cBhvr additive="base">
                                        <p:cTn id="35" dur="500" fill="hold"/>
                                        <p:tgtEl>
                                          <p:spTgt spid="46084"/>
                                        </p:tgtEl>
                                        <p:attrNameLst>
                                          <p:attrName>ppt_x</p:attrName>
                                        </p:attrNameLst>
                                      </p:cBhvr>
                                      <p:tavLst>
                                        <p:tav tm="0">
                                          <p:val>
                                            <p:strVal val="#ppt_x"/>
                                          </p:val>
                                        </p:tav>
                                        <p:tav tm="100000">
                                          <p:val>
                                            <p:strVal val="#ppt_x"/>
                                          </p:val>
                                        </p:tav>
                                      </p:tavLst>
                                    </p:anim>
                                    <p:anim calcmode="lin" valueType="num">
                                      <p:cBhvr additive="base">
                                        <p:cTn id="36" dur="500" fill="hold"/>
                                        <p:tgtEl>
                                          <p:spTgt spid="46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p:bldP spid="46083" grpId="0"/>
      <p:bldP spid="46084" grpId="0"/>
      <p:bldP spid="46086" grpId="0"/>
      <p:bldP spid="46087" grpId="0"/>
      <p:bldP spid="46088" grpId="0"/>
      <p:bldP spid="46089" grpId="0"/>
      <p:bldP spid="4609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7106" name="Text Box 2"/>
          <p:cNvSpPr txBox="1"/>
          <p:nvPr/>
        </p:nvSpPr>
        <p:spPr>
          <a:xfrm>
            <a:off x="685800" y="1749425"/>
            <a:ext cx="8229600" cy="2501900"/>
          </a:xfrm>
          <a:prstGeom prst="rect">
            <a:avLst/>
          </a:prstGeom>
          <a:noFill/>
          <a:ln w="9525">
            <a:noFill/>
          </a:ln>
        </p:spPr>
        <p:txBody>
          <a:bodyPr>
            <a:spAutoFit/>
          </a:bodyPr>
          <a:p>
            <a:pPr>
              <a:spcBef>
                <a:spcPct val="50000"/>
              </a:spcBef>
            </a:pPr>
            <a:r>
              <a:rPr lang="zh-CN" altLang="en-US" sz="3200" dirty="0">
                <a:solidFill>
                  <a:srgbClr val="000066"/>
                </a:solidFill>
                <a:latin typeface="楷体_GB2312" pitchFamily="49" charset="-122"/>
              </a:rPr>
              <a:t>多阶段决策问题的典型例子：</a:t>
            </a:r>
            <a:endParaRPr lang="zh-CN" altLang="en-US" sz="3200" dirty="0">
              <a:solidFill>
                <a:srgbClr val="000066"/>
              </a:solidFill>
              <a:latin typeface="楷体_GB2312" pitchFamily="49" charset="-122"/>
            </a:endParaRPr>
          </a:p>
          <a:p>
            <a:pPr>
              <a:spcBef>
                <a:spcPct val="50000"/>
              </a:spcBef>
            </a:pPr>
            <a:r>
              <a:rPr lang="en-US" altLang="zh-CN" dirty="0">
                <a:latin typeface="楷体_GB2312" pitchFamily="49" charset="-122"/>
              </a:rPr>
              <a:t>1 . </a:t>
            </a:r>
            <a:r>
              <a:rPr lang="zh-CN" altLang="en-US" dirty="0">
                <a:solidFill>
                  <a:srgbClr val="FF6600"/>
                </a:solidFill>
                <a:latin typeface="楷体_GB2312" pitchFamily="49" charset="-122"/>
              </a:rPr>
              <a:t>生产决策问题</a:t>
            </a:r>
            <a:r>
              <a:rPr lang="zh-CN" altLang="en-US" dirty="0">
                <a:latin typeface="楷体_GB2312" pitchFamily="49" charset="-122"/>
              </a:rPr>
              <a:t>：企业在生产过程中，由于需求是随时间变化的，因此企业为了获得全年的最佳生产效益，就要在整个生产过程中逐月或逐季度地</a:t>
            </a:r>
            <a:r>
              <a:rPr lang="zh-CN" altLang="en-US" dirty="0">
                <a:solidFill>
                  <a:schemeClr val="accent2"/>
                </a:solidFill>
                <a:latin typeface="楷体_GB2312" pitchFamily="49" charset="-122"/>
              </a:rPr>
              <a:t>根据库存和需求决定生产计划。</a:t>
            </a:r>
            <a:endParaRPr lang="zh-CN" altLang="en-US" dirty="0">
              <a:solidFill>
                <a:schemeClr val="accent2"/>
              </a:solidFill>
              <a:latin typeface="楷体_GB2312" pitchFamily="49" charset="-122"/>
            </a:endParaRPr>
          </a:p>
        </p:txBody>
      </p:sp>
      <p:sp>
        <p:nvSpPr>
          <p:cNvPr id="47107" name="Text Box 3"/>
          <p:cNvSpPr txBox="1"/>
          <p:nvPr/>
        </p:nvSpPr>
        <p:spPr>
          <a:xfrm>
            <a:off x="685800" y="4343400"/>
            <a:ext cx="8077200" cy="1816100"/>
          </a:xfrm>
          <a:prstGeom prst="rect">
            <a:avLst/>
          </a:prstGeom>
          <a:noFill/>
          <a:ln w="9525">
            <a:noFill/>
          </a:ln>
        </p:spPr>
        <p:txBody>
          <a:bodyPr>
            <a:spAutoFit/>
          </a:bodyPr>
          <a:p>
            <a:pPr algn="just"/>
            <a:r>
              <a:rPr lang="en-US" altLang="zh-CN" dirty="0">
                <a:latin typeface="楷体_GB2312" pitchFamily="49" charset="-122"/>
              </a:rPr>
              <a:t>2. </a:t>
            </a:r>
            <a:r>
              <a:rPr lang="zh-CN" altLang="en-US" dirty="0">
                <a:solidFill>
                  <a:srgbClr val="FF6600"/>
                </a:solidFill>
                <a:latin typeface="楷体_GB2312" pitchFamily="49" charset="-122"/>
              </a:rPr>
              <a:t>机器负荷分配问题</a:t>
            </a:r>
            <a:r>
              <a:rPr lang="zh-CN" altLang="en-US" dirty="0">
                <a:latin typeface="楷体_GB2312" pitchFamily="49" charset="-122"/>
              </a:rPr>
              <a:t>：某种机器可以在高低两种不同的负荷下进行生产。在高负荷下进行生产时，产品的年产量</a:t>
            </a:r>
            <a:r>
              <a:rPr lang="en-US" altLang="zh-CN" i="1" dirty="0">
                <a:latin typeface="Times New Roman" panose="02020603050405020304" pitchFamily="18" charset="0"/>
              </a:rPr>
              <a:t>g</a:t>
            </a:r>
            <a:r>
              <a:rPr lang="zh-CN" altLang="en-US" dirty="0">
                <a:latin typeface="楷体_GB2312" pitchFamily="49" charset="-122"/>
              </a:rPr>
              <a:t>和投入生产的机器数量</a:t>
            </a:r>
            <a:r>
              <a:rPr lang="en-US" altLang="zh-CN" i="1" dirty="0">
                <a:latin typeface="Times New Roman" panose="02020603050405020304" pitchFamily="18" charset="0"/>
              </a:rPr>
              <a:t>u</a:t>
            </a:r>
            <a:r>
              <a:rPr lang="en-US" altLang="zh-CN" baseline="-25000" dirty="0">
                <a:latin typeface="Times New Roman" panose="02020603050405020304" pitchFamily="18" charset="0"/>
              </a:rPr>
              <a:t>1</a:t>
            </a:r>
            <a:r>
              <a:rPr lang="zh-CN" altLang="en-US" dirty="0">
                <a:latin typeface="楷体_GB2312" pitchFamily="49" charset="-122"/>
              </a:rPr>
              <a:t>的关系为</a:t>
            </a:r>
            <a:endParaRPr lang="zh-CN" altLang="en-US" i="1" dirty="0">
              <a:solidFill>
                <a:srgbClr val="000066"/>
              </a:solidFill>
              <a:latin typeface="Times New Roman" panose="02020603050405020304" pitchFamily="18" charset="0"/>
            </a:endParaRPr>
          </a:p>
          <a:p>
            <a:pPr algn="ctr"/>
            <a:r>
              <a:rPr lang="en-US" altLang="zh-CN" i="1" dirty="0">
                <a:solidFill>
                  <a:srgbClr val="000066"/>
                </a:solidFill>
                <a:latin typeface="Times New Roman" panose="02020603050405020304" pitchFamily="18" charset="0"/>
              </a:rPr>
              <a:t>g</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g</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u</a:t>
            </a:r>
            <a:r>
              <a:rPr lang="en-US" altLang="zh-CN"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endParaRPr lang="en-US" altLang="zh-CN" dirty="0">
              <a:solidFill>
                <a:srgbClr val="000066"/>
              </a:solidFill>
              <a:latin typeface="Times New Roman" panose="02020603050405020304" pitchFamily="18" charset="0"/>
            </a:endParaRPr>
          </a:p>
        </p:txBody>
      </p:sp>
      <p:sp>
        <p:nvSpPr>
          <p:cNvPr id="23556" name="Rectangle 5"/>
          <p:cNvSpPr/>
          <p:nvPr/>
        </p:nvSpPr>
        <p:spPr>
          <a:xfrm>
            <a:off x="2514600" y="1143000"/>
            <a:ext cx="685800" cy="381000"/>
          </a:xfrm>
          <a:prstGeom prst="rect">
            <a:avLst/>
          </a:prstGeom>
          <a:solidFill>
            <a:srgbClr val="CCFFCC"/>
          </a:solidFill>
          <a:ln w="9525">
            <a:noFill/>
          </a:ln>
        </p:spPr>
        <p:txBody>
          <a:bodyPr wrap="none" anchor="ctr" anchorCtr="0"/>
          <a:p>
            <a:pPr algn="ct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3557" name="Rectangle 6"/>
          <p:cNvSpPr/>
          <p:nvPr/>
        </p:nvSpPr>
        <p:spPr>
          <a:xfrm>
            <a:off x="3962400" y="1143000"/>
            <a:ext cx="685800" cy="381000"/>
          </a:xfrm>
          <a:prstGeom prst="rect">
            <a:avLst/>
          </a:prstGeom>
          <a:solidFill>
            <a:srgbClr val="CCFFCC"/>
          </a:solidFill>
          <a:ln w="9525">
            <a:noFill/>
          </a:ln>
        </p:spPr>
        <p:txBody>
          <a:bodyPr wrap="none" anchor="ctr" anchorCtr="0"/>
          <a:p>
            <a:pPr algn="ctr"/>
            <a:r>
              <a:rPr lang="en-US" altLang="zh-CN" sz="24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23558" name="Rectangle 7"/>
          <p:cNvSpPr/>
          <p:nvPr/>
        </p:nvSpPr>
        <p:spPr>
          <a:xfrm>
            <a:off x="6400800" y="1143000"/>
            <a:ext cx="685800" cy="381000"/>
          </a:xfrm>
          <a:prstGeom prst="rect">
            <a:avLst/>
          </a:prstGeom>
          <a:solidFill>
            <a:srgbClr val="CCFFCC"/>
          </a:solidFill>
          <a:ln w="9525">
            <a:noFill/>
          </a:ln>
        </p:spPr>
        <p:txBody>
          <a:bodyPr wrap="none" anchor="ctr" anchorCtr="0"/>
          <a:p>
            <a:pPr algn="ct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23559" name="AutoShape 8"/>
          <p:cNvSpPr/>
          <p:nvPr/>
        </p:nvSpPr>
        <p:spPr>
          <a:xfrm>
            <a:off x="1981200" y="1219200"/>
            <a:ext cx="533400" cy="152400"/>
          </a:xfrm>
          <a:prstGeom prst="rightArrow">
            <a:avLst>
              <a:gd name="adj1" fmla="val 50000"/>
              <a:gd name="adj2" fmla="val 87500"/>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23560" name="AutoShape 9"/>
          <p:cNvSpPr/>
          <p:nvPr/>
        </p:nvSpPr>
        <p:spPr>
          <a:xfrm>
            <a:off x="3200400" y="1219200"/>
            <a:ext cx="762000" cy="152400"/>
          </a:xfrm>
          <a:prstGeom prst="rightArrow">
            <a:avLst>
              <a:gd name="adj1" fmla="val 50000"/>
              <a:gd name="adj2" fmla="val 125000"/>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23561" name="AutoShape 10"/>
          <p:cNvSpPr/>
          <p:nvPr/>
        </p:nvSpPr>
        <p:spPr>
          <a:xfrm>
            <a:off x="4648200" y="1219200"/>
            <a:ext cx="533400" cy="152400"/>
          </a:xfrm>
          <a:prstGeom prst="rightArrow">
            <a:avLst>
              <a:gd name="adj1" fmla="val 50000"/>
              <a:gd name="adj2" fmla="val 87500"/>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23562" name="AutoShape 11"/>
          <p:cNvSpPr/>
          <p:nvPr/>
        </p:nvSpPr>
        <p:spPr>
          <a:xfrm>
            <a:off x="5943600" y="1219200"/>
            <a:ext cx="457200" cy="152400"/>
          </a:xfrm>
          <a:prstGeom prst="rightArrow">
            <a:avLst>
              <a:gd name="adj1" fmla="val 50000"/>
              <a:gd name="adj2" fmla="val 75000"/>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23563" name="AutoShape 12"/>
          <p:cNvSpPr/>
          <p:nvPr/>
        </p:nvSpPr>
        <p:spPr>
          <a:xfrm>
            <a:off x="7086600" y="1219200"/>
            <a:ext cx="457200" cy="152400"/>
          </a:xfrm>
          <a:prstGeom prst="rightArrow">
            <a:avLst>
              <a:gd name="adj1" fmla="val 50000"/>
              <a:gd name="adj2" fmla="val 75000"/>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23564" name="Text Box 13"/>
          <p:cNvSpPr txBox="1"/>
          <p:nvPr/>
        </p:nvSpPr>
        <p:spPr>
          <a:xfrm>
            <a:off x="5257800" y="990600"/>
            <a:ext cx="609600" cy="457200"/>
          </a:xfrm>
          <a:prstGeom prst="rect">
            <a:avLst/>
          </a:prstGeom>
          <a:noFill/>
          <a:ln w="9525">
            <a:noFill/>
          </a:ln>
        </p:spPr>
        <p:txBody>
          <a:bodyPr>
            <a:spAutoFit/>
          </a:bodyPr>
          <a:p>
            <a:pPr>
              <a:spcBef>
                <a:spcPct val="50000"/>
              </a:spcBef>
            </a:pPr>
            <a:r>
              <a:rPr lang="en-US" altLang="zh-CN" sz="2400" b="0" dirty="0">
                <a:latin typeface="楷体_GB2312" pitchFamily="49" charset="-122"/>
                <a:sym typeface="Symbol" panose="05050102010706020507" pitchFamily="18" charset="2"/>
              </a:rPr>
              <a:t></a:t>
            </a:r>
            <a:endParaRPr lang="en-US" altLang="zh-CN" sz="2400" b="0" dirty="0">
              <a:latin typeface="楷体_GB2312" pitchFamily="49" charset="-122"/>
            </a:endParaRPr>
          </a:p>
        </p:txBody>
      </p:sp>
      <p:sp>
        <p:nvSpPr>
          <p:cNvPr id="23565" name="AutoShape 14"/>
          <p:cNvSpPr/>
          <p:nvPr/>
        </p:nvSpPr>
        <p:spPr>
          <a:xfrm>
            <a:off x="4038600" y="762000"/>
            <a:ext cx="152400" cy="381000"/>
          </a:xfrm>
          <a:prstGeom prst="downArrow">
            <a:avLst>
              <a:gd name="adj1" fmla="val 50000"/>
              <a:gd name="adj2" fmla="val 62500"/>
            </a:avLst>
          </a:prstGeom>
          <a:solidFill>
            <a:srgbClr val="FF9900"/>
          </a:solidFill>
          <a:ln w="9525">
            <a:noFill/>
          </a:ln>
        </p:spPr>
        <p:txBody>
          <a:bodyPr vert="eaVert" wrap="none" anchor="ctr" anchorCtr="0"/>
          <a:p>
            <a:endParaRPr lang="zh-CN" altLang="en-US" dirty="0">
              <a:latin typeface="Times New Roman" panose="02020603050405020304" pitchFamily="18" charset="0"/>
            </a:endParaRPr>
          </a:p>
        </p:txBody>
      </p:sp>
      <p:sp>
        <p:nvSpPr>
          <p:cNvPr id="23566" name="AutoShape 15"/>
          <p:cNvSpPr/>
          <p:nvPr/>
        </p:nvSpPr>
        <p:spPr>
          <a:xfrm>
            <a:off x="2590800" y="762000"/>
            <a:ext cx="152400" cy="381000"/>
          </a:xfrm>
          <a:prstGeom prst="downArrow">
            <a:avLst>
              <a:gd name="adj1" fmla="val 50000"/>
              <a:gd name="adj2" fmla="val 62500"/>
            </a:avLst>
          </a:prstGeom>
          <a:solidFill>
            <a:srgbClr val="FF9900"/>
          </a:solidFill>
          <a:ln w="9525">
            <a:noFill/>
          </a:ln>
        </p:spPr>
        <p:txBody>
          <a:bodyPr vert="eaVert" wrap="none" anchor="ctr" anchorCtr="0"/>
          <a:p>
            <a:endParaRPr lang="zh-CN" altLang="en-US" dirty="0">
              <a:latin typeface="Times New Roman" panose="02020603050405020304" pitchFamily="18" charset="0"/>
            </a:endParaRPr>
          </a:p>
        </p:txBody>
      </p:sp>
      <p:sp>
        <p:nvSpPr>
          <p:cNvPr id="23567" name="AutoShape 16"/>
          <p:cNvSpPr/>
          <p:nvPr/>
        </p:nvSpPr>
        <p:spPr>
          <a:xfrm>
            <a:off x="6629400" y="762000"/>
            <a:ext cx="152400" cy="381000"/>
          </a:xfrm>
          <a:prstGeom prst="downArrow">
            <a:avLst>
              <a:gd name="adj1" fmla="val 50000"/>
              <a:gd name="adj2" fmla="val 62500"/>
            </a:avLst>
          </a:prstGeom>
          <a:solidFill>
            <a:srgbClr val="FF9900"/>
          </a:solidFill>
          <a:ln w="9525">
            <a:noFill/>
          </a:ln>
        </p:spPr>
        <p:txBody>
          <a:bodyPr vert="eaVert" wrap="none" anchor="ctr" anchorCtr="0"/>
          <a:p>
            <a:endParaRPr lang="zh-CN" altLang="en-US" dirty="0">
              <a:latin typeface="Times New Roman" panose="02020603050405020304" pitchFamily="18" charset="0"/>
            </a:endParaRPr>
          </a:p>
        </p:txBody>
      </p:sp>
      <p:sp>
        <p:nvSpPr>
          <p:cNvPr id="23568" name="Text Box 17"/>
          <p:cNvSpPr txBox="1"/>
          <p:nvPr/>
        </p:nvSpPr>
        <p:spPr>
          <a:xfrm>
            <a:off x="1828800" y="838200"/>
            <a:ext cx="838200" cy="457200"/>
          </a:xfrm>
          <a:prstGeom prst="rect">
            <a:avLst/>
          </a:prstGeom>
          <a:noFill/>
          <a:ln w="9525">
            <a:noFill/>
          </a:ln>
        </p:spPr>
        <p:txBody>
          <a:bodyPr>
            <a:spAutoFit/>
          </a:bodyPr>
          <a:p>
            <a:pPr>
              <a:spcBef>
                <a:spcPct val="50000"/>
              </a:spcBef>
            </a:pPr>
            <a:r>
              <a:rPr lang="zh-CN" altLang="en-US" sz="2400" dirty="0">
                <a:latin typeface="楷体_GB2312" pitchFamily="49" charset="-122"/>
              </a:rPr>
              <a:t>状态</a:t>
            </a:r>
            <a:endParaRPr lang="zh-CN" altLang="en-US" sz="2400" dirty="0">
              <a:latin typeface="楷体_GB2312" pitchFamily="49" charset="-122"/>
            </a:endParaRPr>
          </a:p>
        </p:txBody>
      </p:sp>
      <p:sp>
        <p:nvSpPr>
          <p:cNvPr id="23569" name="Text Box 18"/>
          <p:cNvSpPr txBox="1"/>
          <p:nvPr/>
        </p:nvSpPr>
        <p:spPr>
          <a:xfrm>
            <a:off x="2667000" y="533400"/>
            <a:ext cx="914400" cy="457200"/>
          </a:xfrm>
          <a:prstGeom prst="rect">
            <a:avLst/>
          </a:prstGeom>
          <a:noFill/>
          <a:ln w="9525">
            <a:noFill/>
          </a:ln>
        </p:spPr>
        <p:txBody>
          <a:bodyPr>
            <a:spAutoFit/>
          </a:bodyPr>
          <a:p>
            <a:pPr>
              <a:spcBef>
                <a:spcPct val="50000"/>
              </a:spcBef>
            </a:pPr>
            <a:r>
              <a:rPr lang="zh-CN" altLang="en-US" sz="2400" dirty="0">
                <a:latin typeface="楷体_GB2312" pitchFamily="49" charset="-122"/>
              </a:rPr>
              <a:t>决策</a:t>
            </a:r>
            <a:endParaRPr lang="zh-CN" altLang="en-US" sz="2400" dirty="0">
              <a:latin typeface="楷体_GB2312" pitchFamily="49" charset="-122"/>
            </a:endParaRPr>
          </a:p>
        </p:txBody>
      </p:sp>
      <p:sp>
        <p:nvSpPr>
          <p:cNvPr id="23570" name="Text Box 19"/>
          <p:cNvSpPr txBox="1"/>
          <p:nvPr/>
        </p:nvSpPr>
        <p:spPr>
          <a:xfrm>
            <a:off x="3200400" y="838200"/>
            <a:ext cx="838200" cy="457200"/>
          </a:xfrm>
          <a:prstGeom prst="rect">
            <a:avLst/>
          </a:prstGeom>
          <a:noFill/>
          <a:ln w="9525">
            <a:noFill/>
          </a:ln>
        </p:spPr>
        <p:txBody>
          <a:bodyPr>
            <a:spAutoFit/>
          </a:bodyPr>
          <a:p>
            <a:pPr>
              <a:spcBef>
                <a:spcPct val="50000"/>
              </a:spcBef>
            </a:pPr>
            <a:r>
              <a:rPr lang="zh-CN" altLang="en-US" sz="2400" dirty="0">
                <a:latin typeface="楷体_GB2312" pitchFamily="49" charset="-122"/>
              </a:rPr>
              <a:t>状态</a:t>
            </a:r>
            <a:endParaRPr lang="zh-CN" altLang="en-US" sz="2400" dirty="0">
              <a:latin typeface="楷体_GB2312" pitchFamily="49" charset="-122"/>
            </a:endParaRPr>
          </a:p>
        </p:txBody>
      </p:sp>
      <p:sp>
        <p:nvSpPr>
          <p:cNvPr id="23571" name="Text Box 20"/>
          <p:cNvSpPr txBox="1"/>
          <p:nvPr/>
        </p:nvSpPr>
        <p:spPr>
          <a:xfrm>
            <a:off x="4191000" y="533400"/>
            <a:ext cx="914400" cy="457200"/>
          </a:xfrm>
          <a:prstGeom prst="rect">
            <a:avLst/>
          </a:prstGeom>
          <a:noFill/>
          <a:ln w="9525">
            <a:noFill/>
          </a:ln>
        </p:spPr>
        <p:txBody>
          <a:bodyPr>
            <a:spAutoFit/>
          </a:bodyPr>
          <a:p>
            <a:pPr>
              <a:spcBef>
                <a:spcPct val="50000"/>
              </a:spcBef>
            </a:pPr>
            <a:r>
              <a:rPr lang="zh-CN" altLang="en-US" sz="2400" dirty="0">
                <a:latin typeface="楷体_GB2312" pitchFamily="49" charset="-122"/>
              </a:rPr>
              <a:t>决策</a:t>
            </a:r>
            <a:endParaRPr lang="zh-CN" altLang="en-US" sz="2400" dirty="0">
              <a:latin typeface="楷体_GB2312" pitchFamily="49" charset="-122"/>
            </a:endParaRPr>
          </a:p>
        </p:txBody>
      </p:sp>
      <p:sp>
        <p:nvSpPr>
          <p:cNvPr id="23572" name="Text Box 21"/>
          <p:cNvSpPr txBox="1"/>
          <p:nvPr/>
        </p:nvSpPr>
        <p:spPr>
          <a:xfrm>
            <a:off x="4572000" y="838200"/>
            <a:ext cx="838200" cy="457200"/>
          </a:xfrm>
          <a:prstGeom prst="rect">
            <a:avLst/>
          </a:prstGeom>
          <a:noFill/>
          <a:ln w="9525">
            <a:noFill/>
          </a:ln>
        </p:spPr>
        <p:txBody>
          <a:bodyPr>
            <a:spAutoFit/>
          </a:bodyPr>
          <a:p>
            <a:pPr>
              <a:spcBef>
                <a:spcPct val="50000"/>
              </a:spcBef>
            </a:pPr>
            <a:r>
              <a:rPr lang="zh-CN" altLang="en-US" sz="2400" dirty="0">
                <a:latin typeface="楷体_GB2312" pitchFamily="49" charset="-122"/>
              </a:rPr>
              <a:t>状态</a:t>
            </a:r>
            <a:endParaRPr lang="zh-CN" altLang="en-US" sz="2400" dirty="0">
              <a:latin typeface="楷体_GB2312" pitchFamily="49" charset="-122"/>
            </a:endParaRPr>
          </a:p>
        </p:txBody>
      </p:sp>
      <p:sp>
        <p:nvSpPr>
          <p:cNvPr id="23573" name="Text Box 22"/>
          <p:cNvSpPr txBox="1"/>
          <p:nvPr/>
        </p:nvSpPr>
        <p:spPr>
          <a:xfrm>
            <a:off x="5715000" y="838200"/>
            <a:ext cx="838200" cy="457200"/>
          </a:xfrm>
          <a:prstGeom prst="rect">
            <a:avLst/>
          </a:prstGeom>
          <a:noFill/>
          <a:ln w="9525">
            <a:noFill/>
          </a:ln>
        </p:spPr>
        <p:txBody>
          <a:bodyPr>
            <a:spAutoFit/>
          </a:bodyPr>
          <a:p>
            <a:pPr>
              <a:spcBef>
                <a:spcPct val="50000"/>
              </a:spcBef>
            </a:pPr>
            <a:r>
              <a:rPr lang="zh-CN" altLang="en-US" sz="2400" dirty="0">
                <a:latin typeface="楷体_GB2312" pitchFamily="49" charset="-122"/>
              </a:rPr>
              <a:t>状态</a:t>
            </a:r>
            <a:endParaRPr lang="zh-CN" altLang="en-US" sz="2400" dirty="0">
              <a:latin typeface="楷体_GB2312" pitchFamily="49" charset="-122"/>
            </a:endParaRPr>
          </a:p>
        </p:txBody>
      </p:sp>
      <p:sp>
        <p:nvSpPr>
          <p:cNvPr id="23574" name="Text Box 23"/>
          <p:cNvSpPr txBox="1"/>
          <p:nvPr/>
        </p:nvSpPr>
        <p:spPr>
          <a:xfrm>
            <a:off x="6781800" y="609600"/>
            <a:ext cx="914400" cy="457200"/>
          </a:xfrm>
          <a:prstGeom prst="rect">
            <a:avLst/>
          </a:prstGeom>
          <a:noFill/>
          <a:ln w="9525">
            <a:noFill/>
          </a:ln>
        </p:spPr>
        <p:txBody>
          <a:bodyPr>
            <a:spAutoFit/>
          </a:bodyPr>
          <a:p>
            <a:pPr>
              <a:spcBef>
                <a:spcPct val="50000"/>
              </a:spcBef>
            </a:pPr>
            <a:r>
              <a:rPr lang="zh-CN" altLang="en-US" sz="2400" dirty="0">
                <a:latin typeface="楷体_GB2312" pitchFamily="49" charset="-122"/>
              </a:rPr>
              <a:t>决策</a:t>
            </a:r>
            <a:endParaRPr lang="zh-CN" altLang="en-US" sz="2400" dirty="0">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blinds(horizontal)">
                                      <p:cBhvr>
                                        <p:cTn id="7" dur="500"/>
                                        <p:tgtEl>
                                          <p:spTgt spid="47106"/>
                                        </p:tgtEl>
                                      </p:cBhvr>
                                    </p:animEffect>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blinds(horizontal)">
                                      <p:cBhvr>
                                        <p:cTn id="12" dur="500"/>
                                        <p:tgtEl>
                                          <p:spTgt spid="471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0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4578" name="Text Box 2"/>
          <p:cNvSpPr txBox="1"/>
          <p:nvPr/>
        </p:nvSpPr>
        <p:spPr>
          <a:xfrm>
            <a:off x="457200" y="714375"/>
            <a:ext cx="8229600" cy="946150"/>
          </a:xfrm>
          <a:prstGeom prst="rect">
            <a:avLst/>
          </a:prstGeom>
          <a:noFill/>
          <a:ln w="9525">
            <a:noFill/>
          </a:ln>
        </p:spPr>
        <p:txBody>
          <a:bodyPr>
            <a:spAutoFit/>
          </a:bodyPr>
          <a:p>
            <a:r>
              <a:rPr lang="en-US" altLang="zh-CN" b="0" dirty="0">
                <a:latin typeface="楷体_GB2312" pitchFamily="49" charset="-122"/>
              </a:rPr>
              <a:t>   </a:t>
            </a:r>
            <a:r>
              <a:rPr lang="zh-CN" altLang="en-US" dirty="0">
                <a:latin typeface="楷体_GB2312" pitchFamily="49" charset="-122"/>
              </a:rPr>
              <a:t>这时，机器的年完好率为</a:t>
            </a:r>
            <a:r>
              <a:rPr lang="en-US" altLang="zh-CN" i="1" dirty="0">
                <a:latin typeface="Times New Roman" panose="02020603050405020304" pitchFamily="18" charset="0"/>
              </a:rPr>
              <a:t>a</a:t>
            </a:r>
            <a:r>
              <a:rPr lang="zh-CN" altLang="en-US" dirty="0">
                <a:latin typeface="楷体_GB2312" pitchFamily="49" charset="-122"/>
              </a:rPr>
              <a:t>，即如果年初完好机器的数量为</a:t>
            </a:r>
            <a:r>
              <a:rPr lang="en-US" altLang="zh-CN" i="1" dirty="0">
                <a:latin typeface="Times New Roman" panose="02020603050405020304" pitchFamily="18" charset="0"/>
              </a:rPr>
              <a:t>u</a:t>
            </a:r>
            <a:r>
              <a:rPr lang="zh-CN" altLang="en-US" dirty="0">
                <a:latin typeface="楷体_GB2312" pitchFamily="49" charset="-122"/>
              </a:rPr>
              <a:t>，到年终完好的机器就为</a:t>
            </a:r>
            <a:r>
              <a:rPr lang="en-US" altLang="zh-CN" i="1" dirty="0">
                <a:latin typeface="Times New Roman" panose="02020603050405020304" pitchFamily="18" charset="0"/>
              </a:rPr>
              <a:t>au</a:t>
            </a:r>
            <a:r>
              <a:rPr lang="en-US" altLang="zh-CN" dirty="0">
                <a:latin typeface="Times New Roman" panose="02020603050405020304" pitchFamily="18" charset="0"/>
              </a:rPr>
              <a:t>, 0&lt;</a:t>
            </a:r>
            <a:r>
              <a:rPr lang="en-US" altLang="zh-CN" i="1" dirty="0">
                <a:latin typeface="Times New Roman" panose="02020603050405020304" pitchFamily="18" charset="0"/>
              </a:rPr>
              <a:t>a</a:t>
            </a:r>
            <a:r>
              <a:rPr lang="en-US" altLang="zh-CN" dirty="0">
                <a:latin typeface="Times New Roman" panose="02020603050405020304" pitchFamily="18" charset="0"/>
              </a:rPr>
              <a:t>&lt;1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48131" name="Text Box 3"/>
          <p:cNvSpPr txBox="1"/>
          <p:nvPr/>
        </p:nvSpPr>
        <p:spPr>
          <a:xfrm>
            <a:off x="457200" y="1704975"/>
            <a:ext cx="8077200" cy="1373188"/>
          </a:xfrm>
          <a:prstGeom prst="rect">
            <a:avLst/>
          </a:prstGeom>
          <a:noFill/>
          <a:ln w="9525">
            <a:noFill/>
          </a:ln>
        </p:spPr>
        <p:txBody>
          <a:bodyPr>
            <a:spAutoFit/>
          </a:bodyPr>
          <a:p>
            <a:r>
              <a:rPr lang="en-US" altLang="zh-CN" b="0" dirty="0">
                <a:latin typeface="楷体_GB2312" pitchFamily="49" charset="-122"/>
              </a:rPr>
              <a:t>   </a:t>
            </a:r>
            <a:r>
              <a:rPr lang="zh-CN" altLang="en-US" dirty="0">
                <a:latin typeface="楷体_GB2312" pitchFamily="49" charset="-122"/>
              </a:rPr>
              <a:t>在低负荷下生产时，产品的年产量</a:t>
            </a:r>
            <a:r>
              <a:rPr lang="en-US" altLang="zh-CN" i="1" dirty="0">
                <a:latin typeface="Times New Roman" panose="02020603050405020304" pitchFamily="18" charset="0"/>
              </a:rPr>
              <a:t>h</a:t>
            </a:r>
            <a:r>
              <a:rPr lang="zh-CN" altLang="en-US" dirty="0">
                <a:latin typeface="楷体_GB2312" pitchFamily="49" charset="-122"/>
              </a:rPr>
              <a:t>和投入生产的机器数量</a:t>
            </a:r>
            <a:r>
              <a:rPr lang="en-US" altLang="zh-CN" i="1" dirty="0">
                <a:latin typeface="Times New Roman" panose="02020603050405020304" pitchFamily="18" charset="0"/>
              </a:rPr>
              <a:t>u</a:t>
            </a:r>
            <a:r>
              <a:rPr lang="en-US" altLang="zh-CN" baseline="-25000" dirty="0">
                <a:latin typeface="Times New Roman" panose="02020603050405020304" pitchFamily="18" charset="0"/>
              </a:rPr>
              <a:t>2</a:t>
            </a:r>
            <a:r>
              <a:rPr lang="zh-CN" altLang="en-US" dirty="0">
                <a:latin typeface="楷体_GB2312" pitchFamily="49" charset="-122"/>
              </a:rPr>
              <a:t>的关系为</a:t>
            </a:r>
            <a:endParaRPr lang="zh-CN" altLang="en-US" dirty="0">
              <a:latin typeface="楷体_GB2312" pitchFamily="49" charset="-122"/>
            </a:endParaRPr>
          </a:p>
          <a:p>
            <a:r>
              <a:rPr lang="zh-CN" altLang="en-US" dirty="0">
                <a:latin typeface="楷体_GB2312" pitchFamily="49" charset="-122"/>
              </a:rPr>
              <a:t>                  </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sp>
        <p:nvSpPr>
          <p:cNvPr id="48132" name="Text Box 4"/>
          <p:cNvSpPr txBox="1"/>
          <p:nvPr/>
        </p:nvSpPr>
        <p:spPr>
          <a:xfrm>
            <a:off x="533400" y="4143375"/>
            <a:ext cx="7924800" cy="1800225"/>
          </a:xfrm>
          <a:prstGeom prst="rect">
            <a:avLst/>
          </a:prstGeom>
          <a:noFill/>
          <a:ln w="9525">
            <a:noFill/>
          </a:ln>
        </p:spPr>
        <p:txBody>
          <a:bodyPr>
            <a:spAutoFit/>
          </a:bodyPr>
          <a:p>
            <a:r>
              <a:rPr lang="en-US" altLang="zh-CN" b="0" dirty="0">
                <a:latin typeface="楷体_GB2312" pitchFamily="49" charset="-122"/>
              </a:rPr>
              <a:t>   </a:t>
            </a:r>
            <a:r>
              <a:rPr lang="zh-CN" altLang="en-US" dirty="0">
                <a:latin typeface="楷体_GB2312" pitchFamily="49" charset="-122"/>
              </a:rPr>
              <a:t>假定开始生产时完好的机器数量为</a:t>
            </a:r>
            <a:r>
              <a:rPr lang="en-US" altLang="zh-CN" i="1" dirty="0">
                <a:latin typeface="楷体_GB2312" pitchFamily="49" charset="-122"/>
              </a:rPr>
              <a:t>s</a:t>
            </a:r>
            <a:r>
              <a:rPr lang="en-US" altLang="zh-CN" baseline="-25000" dirty="0">
                <a:latin typeface="楷体_GB2312" pitchFamily="49" charset="-122"/>
              </a:rPr>
              <a:t>1</a:t>
            </a:r>
            <a:r>
              <a:rPr lang="zh-CN" altLang="en-US" dirty="0">
                <a:latin typeface="楷体_GB2312" pitchFamily="49" charset="-122"/>
              </a:rPr>
              <a:t>。要求制定一个五年计划，在</a:t>
            </a:r>
            <a:r>
              <a:rPr lang="zh-CN" altLang="en-US" dirty="0">
                <a:solidFill>
                  <a:schemeClr val="accent2"/>
                </a:solidFill>
                <a:latin typeface="楷体_GB2312" pitchFamily="49" charset="-122"/>
              </a:rPr>
              <a:t>每年开始时，决定如何重新分配</a:t>
            </a:r>
            <a:r>
              <a:rPr lang="zh-CN" altLang="en-US" dirty="0">
                <a:latin typeface="楷体_GB2312" pitchFamily="49" charset="-122"/>
              </a:rPr>
              <a:t>完好的</a:t>
            </a:r>
            <a:r>
              <a:rPr lang="zh-CN" altLang="en-US" dirty="0">
                <a:solidFill>
                  <a:schemeClr val="accent2"/>
                </a:solidFill>
                <a:latin typeface="楷体_GB2312" pitchFamily="49" charset="-122"/>
              </a:rPr>
              <a:t>机器在两种不同的负荷下生产的数量</a:t>
            </a:r>
            <a:r>
              <a:rPr lang="zh-CN" altLang="en-US" dirty="0">
                <a:latin typeface="楷体_GB2312" pitchFamily="49" charset="-122"/>
              </a:rPr>
              <a:t>，使在五年内产品的总产量达到最高。</a:t>
            </a:r>
            <a:endParaRPr lang="zh-CN" altLang="en-US" dirty="0">
              <a:latin typeface="楷体_GB2312" pitchFamily="49" charset="-122"/>
            </a:endParaRPr>
          </a:p>
        </p:txBody>
      </p:sp>
      <p:sp>
        <p:nvSpPr>
          <p:cNvPr id="48133" name="Text Box 5"/>
          <p:cNvSpPr txBox="1"/>
          <p:nvPr/>
        </p:nvSpPr>
        <p:spPr>
          <a:xfrm>
            <a:off x="457200" y="3305175"/>
            <a:ext cx="8077200" cy="519113"/>
          </a:xfrm>
          <a:prstGeom prst="rect">
            <a:avLst/>
          </a:prstGeom>
          <a:noFill/>
          <a:ln w="9525">
            <a:noFill/>
          </a:ln>
        </p:spPr>
        <p:txBody>
          <a:bodyPr>
            <a:spAutoFit/>
          </a:bodyPr>
          <a:p>
            <a:r>
              <a:rPr lang="zh-CN" altLang="en-US" dirty="0">
                <a:latin typeface="楷体_GB2312" pitchFamily="49" charset="-122"/>
              </a:rPr>
              <a:t>相应的机器年完好率</a:t>
            </a:r>
            <a:r>
              <a:rPr lang="en-US" altLang="zh-CN" i="1" dirty="0">
                <a:latin typeface="楷体_GB2312" pitchFamily="49" charset="-122"/>
              </a:rPr>
              <a:t>b</a:t>
            </a:r>
            <a:r>
              <a:rPr lang="en-US" altLang="zh-CN" dirty="0">
                <a:latin typeface="楷体_GB2312" pitchFamily="49" charset="-122"/>
              </a:rPr>
              <a:t>, 0&lt; </a:t>
            </a:r>
            <a:r>
              <a:rPr lang="en-US" altLang="zh-CN" i="1" dirty="0">
                <a:latin typeface="楷体_GB2312" pitchFamily="49" charset="-122"/>
              </a:rPr>
              <a:t>b</a:t>
            </a:r>
            <a:r>
              <a:rPr lang="en-US" altLang="zh-CN" dirty="0">
                <a:latin typeface="楷体_GB2312" pitchFamily="49" charset="-122"/>
              </a:rPr>
              <a:t>&lt;1</a:t>
            </a:r>
            <a:r>
              <a:rPr lang="zh-CN" altLang="en-US" dirty="0">
                <a:latin typeface="楷体_GB2312" pitchFamily="49" charset="-122"/>
              </a:rPr>
              <a:t>。</a:t>
            </a:r>
            <a:r>
              <a:rPr lang="zh-CN" altLang="en-US" b="0" dirty="0">
                <a:latin typeface="楷体_GB2312" pitchFamily="49" charset="-122"/>
              </a:rPr>
              <a:t> </a:t>
            </a:r>
            <a:endParaRPr lang="zh-CN" altLang="en-US" b="0" dirty="0">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P spid="4813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9154" name="Text Box 2"/>
          <p:cNvSpPr txBox="1"/>
          <p:nvPr/>
        </p:nvSpPr>
        <p:spPr>
          <a:xfrm>
            <a:off x="457200" y="608013"/>
            <a:ext cx="8077200" cy="2227262"/>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3.  </a:t>
            </a:r>
            <a:r>
              <a:rPr lang="zh-CN" altLang="en-US" dirty="0">
                <a:solidFill>
                  <a:srgbClr val="000066"/>
                </a:solidFill>
                <a:latin typeface="楷体_GB2312" pitchFamily="49" charset="-122"/>
              </a:rPr>
              <a:t>航天飞机飞行控制问题：由于航天飞机的运动的环境是不断变化的，因此就要根据航天飞机飞行在不同环境中的情况，不断地决定航天飞机的飞行方向和速度（状态），使之能最省燃料和实现目的（如软着落问题）。</a:t>
            </a:r>
            <a:endParaRPr lang="zh-CN" altLang="en-US" dirty="0">
              <a:solidFill>
                <a:srgbClr val="000066"/>
              </a:solidFill>
              <a:latin typeface="楷体_GB2312" pitchFamily="49" charset="-122"/>
            </a:endParaRPr>
          </a:p>
        </p:txBody>
      </p:sp>
      <p:sp>
        <p:nvSpPr>
          <p:cNvPr id="49155" name="Text Box 3"/>
          <p:cNvSpPr txBox="1"/>
          <p:nvPr/>
        </p:nvSpPr>
        <p:spPr>
          <a:xfrm>
            <a:off x="533400" y="2894013"/>
            <a:ext cx="8077200" cy="1373187"/>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4. </a:t>
            </a:r>
            <a:r>
              <a:rPr lang="zh-CN" altLang="en-US" dirty="0">
                <a:solidFill>
                  <a:srgbClr val="000066"/>
                </a:solidFill>
                <a:latin typeface="楷体_GB2312" pitchFamily="49" charset="-122"/>
              </a:rPr>
              <a:t>不包含时间因素的静态决策问题（本质上是一次决策问题）也可以适当地引入阶段的概念，作为多阶段的决策问题用动态规划方法来解决。</a:t>
            </a:r>
            <a:endParaRPr lang="zh-CN" altLang="en-US" dirty="0">
              <a:solidFill>
                <a:srgbClr val="000066"/>
              </a:solidFill>
              <a:latin typeface="楷体_GB2312" pitchFamily="49" charset="-122"/>
            </a:endParaRPr>
          </a:p>
        </p:txBody>
      </p:sp>
      <p:sp>
        <p:nvSpPr>
          <p:cNvPr id="49156" name="Text Box 4"/>
          <p:cNvSpPr txBox="1"/>
          <p:nvPr/>
        </p:nvSpPr>
        <p:spPr>
          <a:xfrm>
            <a:off x="533400" y="4341813"/>
            <a:ext cx="8305800" cy="1373187"/>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5</a:t>
            </a:r>
            <a:r>
              <a:rPr lang="en-US" altLang="zh-CN" b="0" dirty="0">
                <a:solidFill>
                  <a:srgbClr val="000066"/>
                </a:solidFill>
                <a:latin typeface="楷体_GB2312" pitchFamily="49" charset="-122"/>
              </a:rPr>
              <a:t> . </a:t>
            </a:r>
            <a:r>
              <a:rPr lang="zh-CN" altLang="en-US" dirty="0">
                <a:solidFill>
                  <a:srgbClr val="000066"/>
                </a:solidFill>
                <a:latin typeface="楷体_GB2312" pitchFamily="49" charset="-122"/>
              </a:rPr>
              <a:t>线性规划、非线性规划等静态的规划问题也可以通过适当地引入阶段的概念，应用动态规划方法加以解决。</a:t>
            </a:r>
            <a:endParaRPr lang="zh-CN" altLang="en-US" dirty="0">
              <a:solidFill>
                <a:srgbClr val="000066"/>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slide(fromBottom)">
                                      <p:cBhvr>
                                        <p:cTn id="7" dur="500"/>
                                        <p:tgtEl>
                                          <p:spTgt spid="49154"/>
                                        </p:tgtEl>
                                      </p:cBhvr>
                                    </p:animEffect>
                                  </p:childTnLst>
                                  <p:subTnLst>
                                    <p:audio>
                                      <p:cMediaNode>
                                        <p:cTn display="0" masterRel="sameClick">
                                          <p:stCondLst>
                                            <p:cond evt="begin" delay="0">
                                              <p:tn val="5"/>
                                            </p:cond>
                                          </p:stCondLst>
                                          <p:endCondLst>
                                            <p:cond evt="onStopAudio" delay="0">
                                              <p:tgtEl>
                                                <p:sldTgt/>
                                              </p:tgtEl>
                                            </p:cond>
                                          </p:endCondLst>
                                        </p:cTn>
                                        <p:tgtEl>
                                          <p:sndTgt r:embed="rId1" name="CARBRAKE.WAV"/>
                                        </p:tgtEl>
                                      </p:cMediaNode>
                                    </p:audio>
                                  </p:sub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49155">
                                            <p:txEl>
                                              <p:charRg st="0" end="65"/>
                                            </p:txEl>
                                          </p:spTgt>
                                        </p:tgtEl>
                                        <p:attrNameLst>
                                          <p:attrName>style.visibility</p:attrName>
                                        </p:attrNameLst>
                                      </p:cBhvr>
                                      <p:to>
                                        <p:strVal val="visible"/>
                                      </p:to>
                                    </p:set>
                                    <p:animEffect transition="in" filter="barn(outVertical)">
                                      <p:cBhvr>
                                        <p:cTn id="12" dur="500"/>
                                        <p:tgtEl>
                                          <p:spTgt spid="49155">
                                            <p:txEl>
                                              <p:charRg st="0" end="6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build="p"/>
      <p:bldP spid="4915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8" name="灯片编号占位符 7"/>
          <p:cNvSpPr txBox="1">
            <a:spLocks noGrp="1"/>
          </p:cNvSpPr>
          <p:nvPr>
            <p:ph type="sldNum" sz="quarter" idx="4"/>
          </p:nvPr>
        </p:nvSpPr>
        <p:spPr>
          <a:noFill/>
          <a:ln>
            <a:noFill/>
          </a:ln>
        </p:spPr>
        <p:txBody>
          <a:bodyPr/>
          <a:p>
            <a:fld id="{9A0DB2DC-4C9A-4742-B13C-FB6460FD3503}" type="slidenum">
              <a:rPr lang="en-US" altLang="zh-CN" dirty="0"/>
            </a:fld>
            <a:endParaRPr lang="en-US" altLang="zh-CN" dirty="0"/>
          </a:p>
        </p:txBody>
      </p:sp>
      <p:sp>
        <p:nvSpPr>
          <p:cNvPr id="1029" name="Rectangle 3"/>
          <p:cNvSpPr>
            <a:spLocks noGrp="1"/>
          </p:cNvSpPr>
          <p:nvPr>
            <p:ph type="body" sz="half" idx="1"/>
          </p:nvPr>
        </p:nvSpPr>
        <p:spPr>
          <a:xfrm>
            <a:off x="571500" y="857250"/>
            <a:ext cx="8143875" cy="2428875"/>
          </a:xfrm>
          <a:noFill/>
          <a:ln>
            <a:noFill/>
          </a:ln>
        </p:spPr>
        <p:txBody>
          <a:bodyPr/>
          <a:p>
            <a:pPr marL="0" indent="0">
              <a:buClrTx/>
              <a:buSzTx/>
              <a:buFontTx/>
              <a:buNone/>
            </a:pPr>
            <a:r>
              <a:rPr lang="en-US" altLang="zh-CN" sz="2800" b="1" dirty="0">
                <a:latin typeface="楷体_GB2312" pitchFamily="49" charset="-122"/>
                <a:ea typeface="楷体_GB2312" pitchFamily="49" charset="-122"/>
              </a:rPr>
              <a:t>6. </a:t>
            </a:r>
            <a:r>
              <a:rPr lang="zh-CN" altLang="en-US" sz="2800" b="1" dirty="0">
                <a:latin typeface="楷体_GB2312" pitchFamily="49" charset="-122"/>
                <a:ea typeface="楷体_GB2312" pitchFamily="49" charset="-122"/>
              </a:rPr>
              <a:t>能力规划问题（</a:t>
            </a:r>
            <a:r>
              <a:rPr lang="de-DE" altLang="zh-CN" sz="2800" b="1" dirty="0">
                <a:latin typeface="楷体_GB2312" pitchFamily="49" charset="-122"/>
                <a:ea typeface="楷体_GB2312" pitchFamily="49" charset="-122"/>
              </a:rPr>
              <a:t>MPCP</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M</a:t>
            </a:r>
            <a:r>
              <a:rPr lang="de-DE" altLang="zh-CN" sz="2800" b="1" dirty="0">
                <a:latin typeface="楷体_GB2312" pitchFamily="49" charset="-122"/>
                <a:ea typeface="楷体_GB2312" pitchFamily="49" charset="-122"/>
              </a:rPr>
              <a:t>ulti-period capacity planning</a:t>
            </a:r>
            <a:r>
              <a:rPr lang="zh-CN" altLang="de-DE"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的</a:t>
            </a:r>
            <a:r>
              <a:rPr lang="zh-CN" altLang="de-DE" sz="2800" b="1" dirty="0">
                <a:latin typeface="楷体_GB2312" pitchFamily="49" charset="-122"/>
                <a:ea typeface="楷体_GB2312" pitchFamily="49" charset="-122"/>
              </a:rPr>
              <a:t>典型形式可以描述为一个时间依赖的多约束背包问题，设</a:t>
            </a:r>
            <a:r>
              <a:rPr lang="de-DE" altLang="zh-CN" sz="2800" b="1" dirty="0">
                <a:latin typeface="楷体_GB2312" pitchFamily="49" charset="-122"/>
                <a:ea typeface="楷体_GB2312" pitchFamily="49" charset="-122"/>
              </a:rPr>
              <a:t>T</a:t>
            </a:r>
            <a:r>
              <a:rPr lang="zh-CN" altLang="de-DE" sz="2800" b="1" dirty="0">
                <a:latin typeface="楷体_GB2312" pitchFamily="49" charset="-122"/>
                <a:ea typeface="楷体_GB2312" pitchFamily="49" charset="-122"/>
              </a:rPr>
              <a:t>个计划期</a:t>
            </a:r>
            <a:r>
              <a:rPr lang="de-DE" altLang="zh-CN" sz="2800" b="1" dirty="0">
                <a:latin typeface="楷体_GB2312" pitchFamily="49" charset="-122"/>
                <a:ea typeface="楷体_GB2312" pitchFamily="49" charset="-122"/>
              </a:rPr>
              <a:t>N</a:t>
            </a:r>
            <a:r>
              <a:rPr lang="zh-CN" altLang="de-DE" sz="2800" b="1" dirty="0">
                <a:latin typeface="楷体_GB2312" pitchFamily="49" charset="-122"/>
                <a:ea typeface="楷体_GB2312" pitchFamily="49" charset="-122"/>
              </a:rPr>
              <a:t>种设备具备能力</a:t>
            </a:r>
            <a:r>
              <a:rPr lang="de-DE" altLang="zh-CN" sz="2800" b="1" i="1" dirty="0">
                <a:latin typeface="楷体_GB2312" pitchFamily="49" charset="-122"/>
                <a:ea typeface="楷体_GB2312" pitchFamily="49" charset="-122"/>
              </a:rPr>
              <a:t>c</a:t>
            </a:r>
            <a:r>
              <a:rPr lang="de-DE" altLang="zh-CN" sz="2800" b="1" i="1" baseline="-25000" dirty="0">
                <a:latin typeface="楷体_GB2312" pitchFamily="49" charset="-122"/>
                <a:ea typeface="楷体_GB2312" pitchFamily="49" charset="-122"/>
              </a:rPr>
              <a:t>j</a:t>
            </a:r>
            <a:r>
              <a:rPr lang="zh-CN" altLang="de-DE" sz="2800" b="1" dirty="0">
                <a:latin typeface="楷体_GB2312" pitchFamily="49" charset="-122"/>
                <a:ea typeface="楷体_GB2312" pitchFamily="49" charset="-122"/>
              </a:rPr>
              <a:t>和采购价格</a:t>
            </a:r>
            <a:r>
              <a:rPr lang="de-DE" altLang="zh-CN" sz="2800" b="1" i="1" dirty="0">
                <a:latin typeface="楷体_GB2312" pitchFamily="49" charset="-122"/>
                <a:ea typeface="楷体_GB2312" pitchFamily="49" charset="-122"/>
              </a:rPr>
              <a:t>p</a:t>
            </a:r>
            <a:r>
              <a:rPr lang="de-DE" altLang="zh-CN" sz="2800" b="1" i="1" baseline="-25000" dirty="0">
                <a:latin typeface="楷体_GB2312" pitchFamily="49" charset="-122"/>
                <a:ea typeface="楷体_GB2312" pitchFamily="49" charset="-122"/>
              </a:rPr>
              <a:t>j</a:t>
            </a:r>
            <a:r>
              <a:rPr lang="zh-CN" altLang="de-DE" sz="2800" b="1" dirty="0">
                <a:latin typeface="楷体_GB2312" pitchFamily="49" charset="-122"/>
                <a:ea typeface="楷体_GB2312" pitchFamily="49" charset="-122"/>
              </a:rPr>
              <a:t>，贴现率</a:t>
            </a:r>
            <a:r>
              <a:rPr lang="zh-CN" altLang="zh-CN" sz="2800" b="1" dirty="0">
                <a:latin typeface="楷体_GB2312" pitchFamily="49" charset="-122"/>
                <a:ea typeface="楷体_GB2312" pitchFamily="49" charset="-122"/>
              </a:rPr>
              <a:t>γ</a:t>
            </a:r>
            <a:r>
              <a:rPr lang="zh-CN" altLang="de-DE" sz="2800" b="1" dirty="0">
                <a:latin typeface="楷体_GB2312" pitchFamily="49" charset="-122"/>
                <a:ea typeface="楷体_GB2312" pitchFamily="49" charset="-122"/>
              </a:rPr>
              <a:t>，需求</a:t>
            </a:r>
            <a:r>
              <a:rPr lang="de-DE" altLang="zh-CN" sz="2800" b="1" i="1" dirty="0">
                <a:latin typeface="楷体_GB2312" pitchFamily="49" charset="-122"/>
                <a:ea typeface="楷体_GB2312" pitchFamily="49" charset="-122"/>
              </a:rPr>
              <a:t>D</a:t>
            </a:r>
            <a:r>
              <a:rPr lang="de-DE" altLang="zh-CN" sz="2800" b="1" i="1" baseline="-25000" dirty="0">
                <a:latin typeface="楷体_GB2312" pitchFamily="49" charset="-122"/>
                <a:ea typeface="楷体_GB2312" pitchFamily="49" charset="-122"/>
              </a:rPr>
              <a:t>t</a:t>
            </a:r>
            <a:r>
              <a:rPr lang="zh-CN" altLang="de-DE" sz="2800" b="1" dirty="0">
                <a:latin typeface="楷体_GB2312" pitchFamily="49" charset="-122"/>
                <a:ea typeface="楷体_GB2312" pitchFamily="49" charset="-122"/>
              </a:rPr>
              <a:t>，目标函数为求期望总成本最小</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marL="0" indent="0">
              <a:spcBef>
                <a:spcPct val="0"/>
              </a:spcBef>
              <a:buClrTx/>
              <a:buSzTx/>
              <a:buFontTx/>
              <a:buNone/>
            </a:pPr>
            <a:endParaRPr lang="en-US" altLang="zh-CN" sz="2800" b="1" dirty="0">
              <a:solidFill>
                <a:srgbClr val="0033CC"/>
              </a:solidFill>
              <a:latin typeface="楷体_GB2312" pitchFamily="49" charset="-122"/>
              <a:ea typeface="楷体_GB2312" pitchFamily="49" charset="-122"/>
            </a:endParaRPr>
          </a:p>
        </p:txBody>
      </p:sp>
      <p:graphicFrame>
        <p:nvGraphicFramePr>
          <p:cNvPr id="1026" name="Object 2"/>
          <p:cNvGraphicFramePr/>
          <p:nvPr>
            <p:ph sz="quarter" idx="2"/>
          </p:nvPr>
        </p:nvGraphicFramePr>
        <p:xfrm>
          <a:off x="1963738" y="3260725"/>
          <a:ext cx="4608512" cy="3168650"/>
        </p:xfrm>
        <a:graphic>
          <a:graphicData uri="http://schemas.openxmlformats.org/presentationml/2006/ole">
            <mc:AlternateContent xmlns:mc="http://schemas.openxmlformats.org/markup-compatibility/2006">
              <mc:Choice xmlns:v="urn:schemas-microsoft-com:vml" Requires="v">
                <p:oleObj spid="_x0000_s3076" name="" r:id="rId1" imgW="2032000" imgH="1397000" progId="Equation.3">
                  <p:embed/>
                </p:oleObj>
              </mc:Choice>
              <mc:Fallback>
                <p:oleObj name="" r:id="rId1" imgW="2032000" imgH="1397000" progId="Equation.3">
                  <p:embed/>
                  <p:pic>
                    <p:nvPicPr>
                      <p:cNvPr id="0" name="图片 3075"/>
                      <p:cNvPicPr/>
                      <p:nvPr/>
                    </p:nvPicPr>
                    <p:blipFill>
                      <a:blip r:embed="rId2"/>
                      <a:stretch>
                        <a:fillRect/>
                      </a:stretch>
                    </p:blipFill>
                    <p:spPr>
                      <a:xfrm>
                        <a:off x="1963738" y="3260725"/>
                        <a:ext cx="4608512" cy="3168650"/>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Text Box 2"/>
          <p:cNvSpPr txBox="1"/>
          <p:nvPr/>
        </p:nvSpPr>
        <p:spPr>
          <a:xfrm>
            <a:off x="304800" y="533400"/>
            <a:ext cx="8458200" cy="1373188"/>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7</a:t>
            </a:r>
            <a:r>
              <a:rPr lang="en-US" altLang="zh-CN" b="0" dirty="0">
                <a:latin typeface="Times New Roman" panose="02020603050405020304" pitchFamily="18" charset="0"/>
              </a:rPr>
              <a:t> .</a:t>
            </a:r>
            <a:r>
              <a:rPr lang="en-US" altLang="zh-CN" b="0" dirty="0">
                <a:latin typeface="楷体_GB2312" pitchFamily="49" charset="-122"/>
              </a:rPr>
              <a:t> </a:t>
            </a:r>
            <a:r>
              <a:rPr lang="zh-CN" altLang="en-US" dirty="0">
                <a:solidFill>
                  <a:srgbClr val="FF6600"/>
                </a:solidFill>
                <a:latin typeface="楷体_GB2312" pitchFamily="49" charset="-122"/>
              </a:rPr>
              <a:t>最短路问题</a:t>
            </a:r>
            <a:r>
              <a:rPr lang="zh-CN" altLang="en-US" dirty="0">
                <a:latin typeface="楷体_GB2312" pitchFamily="49" charset="-122"/>
              </a:rPr>
              <a:t>：给定一个交通网络图如下，其中两点之间的数字表示距离（或花费），试求从</a:t>
            </a:r>
            <a:r>
              <a:rPr lang="en-US" altLang="zh-CN" dirty="0">
                <a:latin typeface="Times New Roman" panose="02020603050405020304" pitchFamily="18" charset="0"/>
              </a:rPr>
              <a:t>A</a:t>
            </a:r>
            <a:r>
              <a:rPr lang="zh-CN" altLang="en-US" dirty="0">
                <a:latin typeface="楷体_GB2312" pitchFamily="49" charset="-122"/>
              </a:rPr>
              <a:t>点到</a:t>
            </a:r>
            <a:r>
              <a:rPr lang="en-US" altLang="zh-CN" dirty="0">
                <a:latin typeface="Times New Roman" panose="02020603050405020304" pitchFamily="18" charset="0"/>
              </a:rPr>
              <a:t>G</a:t>
            </a:r>
            <a:r>
              <a:rPr lang="zh-CN" altLang="en-US" dirty="0">
                <a:latin typeface="楷体_GB2312" pitchFamily="49" charset="-122"/>
              </a:rPr>
              <a:t>点的最短距离（总费用最小）。</a:t>
            </a:r>
            <a:endParaRPr lang="zh-CN" altLang="en-US" dirty="0">
              <a:latin typeface="楷体_GB2312" pitchFamily="49" charset="-122"/>
            </a:endParaRPr>
          </a:p>
        </p:txBody>
      </p:sp>
      <p:sp>
        <p:nvSpPr>
          <p:cNvPr id="26627" name="Line 82"/>
          <p:cNvSpPr/>
          <p:nvPr/>
        </p:nvSpPr>
        <p:spPr>
          <a:xfrm>
            <a:off x="304800" y="6172200"/>
            <a:ext cx="8382000" cy="0"/>
          </a:xfrm>
          <a:prstGeom prst="line">
            <a:avLst/>
          </a:prstGeom>
          <a:ln w="28575" cap="flat" cmpd="sng">
            <a:solidFill>
              <a:schemeClr val="accent2"/>
            </a:solidFill>
            <a:prstDash val="solid"/>
            <a:headEnd type="none" w="med" len="med"/>
            <a:tailEnd type="none" w="med" len="med"/>
          </a:ln>
        </p:spPr>
      </p:sp>
      <p:sp>
        <p:nvSpPr>
          <p:cNvPr id="26628" name="Line 83"/>
          <p:cNvSpPr/>
          <p:nvPr/>
        </p:nvSpPr>
        <p:spPr>
          <a:xfrm>
            <a:off x="304800" y="5943600"/>
            <a:ext cx="0" cy="228600"/>
          </a:xfrm>
          <a:prstGeom prst="line">
            <a:avLst/>
          </a:prstGeom>
          <a:ln w="28575" cap="flat" cmpd="sng">
            <a:solidFill>
              <a:schemeClr val="accent2"/>
            </a:solidFill>
            <a:prstDash val="solid"/>
            <a:headEnd type="none" w="med" len="med"/>
            <a:tailEnd type="none" w="med" len="med"/>
          </a:ln>
        </p:spPr>
      </p:sp>
      <p:sp>
        <p:nvSpPr>
          <p:cNvPr id="26629" name="Line 84"/>
          <p:cNvSpPr/>
          <p:nvPr/>
        </p:nvSpPr>
        <p:spPr>
          <a:xfrm>
            <a:off x="8686800" y="5943600"/>
            <a:ext cx="0" cy="228600"/>
          </a:xfrm>
          <a:prstGeom prst="line">
            <a:avLst/>
          </a:prstGeom>
          <a:ln w="28575" cap="flat" cmpd="sng">
            <a:solidFill>
              <a:schemeClr val="accent2"/>
            </a:solidFill>
            <a:prstDash val="solid"/>
            <a:headEnd type="none" w="med" len="med"/>
            <a:tailEnd type="none" w="med" len="med"/>
          </a:ln>
        </p:spPr>
      </p:sp>
      <p:sp>
        <p:nvSpPr>
          <p:cNvPr id="26630" name="Line 85"/>
          <p:cNvSpPr/>
          <p:nvPr/>
        </p:nvSpPr>
        <p:spPr>
          <a:xfrm>
            <a:off x="1447800" y="5943600"/>
            <a:ext cx="0" cy="228600"/>
          </a:xfrm>
          <a:prstGeom prst="line">
            <a:avLst/>
          </a:prstGeom>
          <a:ln w="28575" cap="flat" cmpd="sng">
            <a:solidFill>
              <a:schemeClr val="accent2"/>
            </a:solidFill>
            <a:prstDash val="solid"/>
            <a:headEnd type="none" w="med" len="med"/>
            <a:tailEnd type="none" w="med" len="med"/>
          </a:ln>
        </p:spPr>
      </p:sp>
      <p:sp>
        <p:nvSpPr>
          <p:cNvPr id="26631" name="Line 86"/>
          <p:cNvSpPr/>
          <p:nvPr/>
        </p:nvSpPr>
        <p:spPr>
          <a:xfrm>
            <a:off x="3048000" y="5943600"/>
            <a:ext cx="0" cy="228600"/>
          </a:xfrm>
          <a:prstGeom prst="line">
            <a:avLst/>
          </a:prstGeom>
          <a:ln w="28575" cap="flat" cmpd="sng">
            <a:solidFill>
              <a:schemeClr val="accent2"/>
            </a:solidFill>
            <a:prstDash val="solid"/>
            <a:headEnd type="none" w="med" len="med"/>
            <a:tailEnd type="none" w="med" len="med"/>
          </a:ln>
        </p:spPr>
      </p:sp>
      <p:sp>
        <p:nvSpPr>
          <p:cNvPr id="26632" name="Line 87"/>
          <p:cNvSpPr/>
          <p:nvPr/>
        </p:nvSpPr>
        <p:spPr>
          <a:xfrm>
            <a:off x="4572000" y="5943600"/>
            <a:ext cx="0" cy="228600"/>
          </a:xfrm>
          <a:prstGeom prst="line">
            <a:avLst/>
          </a:prstGeom>
          <a:ln w="28575" cap="flat" cmpd="sng">
            <a:solidFill>
              <a:schemeClr val="accent2"/>
            </a:solidFill>
            <a:prstDash val="solid"/>
            <a:headEnd type="none" w="med" len="med"/>
            <a:tailEnd type="none" w="med" len="med"/>
          </a:ln>
        </p:spPr>
      </p:sp>
      <p:sp>
        <p:nvSpPr>
          <p:cNvPr id="26633" name="Line 88"/>
          <p:cNvSpPr/>
          <p:nvPr/>
        </p:nvSpPr>
        <p:spPr>
          <a:xfrm>
            <a:off x="6324600" y="5943600"/>
            <a:ext cx="0" cy="228600"/>
          </a:xfrm>
          <a:prstGeom prst="line">
            <a:avLst/>
          </a:prstGeom>
          <a:ln w="28575" cap="flat" cmpd="sng">
            <a:solidFill>
              <a:schemeClr val="accent2"/>
            </a:solidFill>
            <a:prstDash val="solid"/>
            <a:headEnd type="none" w="med" len="med"/>
            <a:tailEnd type="none" w="med" len="med"/>
          </a:ln>
        </p:spPr>
      </p:sp>
      <p:sp>
        <p:nvSpPr>
          <p:cNvPr id="26634" name="Line 89"/>
          <p:cNvSpPr/>
          <p:nvPr/>
        </p:nvSpPr>
        <p:spPr>
          <a:xfrm>
            <a:off x="7543800" y="5943600"/>
            <a:ext cx="0" cy="228600"/>
          </a:xfrm>
          <a:prstGeom prst="line">
            <a:avLst/>
          </a:prstGeom>
          <a:ln w="28575" cap="flat" cmpd="sng">
            <a:solidFill>
              <a:schemeClr val="accent2"/>
            </a:solidFill>
            <a:prstDash val="solid"/>
            <a:headEnd type="none" w="med" len="med"/>
            <a:tailEnd type="none" w="med" len="med"/>
          </a:ln>
        </p:spPr>
      </p:sp>
      <p:sp>
        <p:nvSpPr>
          <p:cNvPr id="26635" name="Text Box 90"/>
          <p:cNvSpPr txBox="1"/>
          <p:nvPr/>
        </p:nvSpPr>
        <p:spPr>
          <a:xfrm>
            <a:off x="685800" y="61722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1</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36" name="Text Box 91"/>
          <p:cNvSpPr txBox="1"/>
          <p:nvPr/>
        </p:nvSpPr>
        <p:spPr>
          <a:xfrm>
            <a:off x="2133600" y="6172200"/>
            <a:ext cx="4572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2</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37" name="Text Box 92"/>
          <p:cNvSpPr txBox="1"/>
          <p:nvPr/>
        </p:nvSpPr>
        <p:spPr>
          <a:xfrm>
            <a:off x="3733800" y="6172200"/>
            <a:ext cx="381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3</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38" name="Text Box 93"/>
          <p:cNvSpPr txBox="1"/>
          <p:nvPr/>
        </p:nvSpPr>
        <p:spPr>
          <a:xfrm>
            <a:off x="5257800" y="6172200"/>
            <a:ext cx="762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4</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39" name="Text Box 94"/>
          <p:cNvSpPr txBox="1"/>
          <p:nvPr/>
        </p:nvSpPr>
        <p:spPr>
          <a:xfrm>
            <a:off x="67056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5</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40" name="Text Box 95"/>
          <p:cNvSpPr txBox="1"/>
          <p:nvPr/>
        </p:nvSpPr>
        <p:spPr>
          <a:xfrm>
            <a:off x="80772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6</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6641" name="Oval 96"/>
          <p:cNvSpPr/>
          <p:nvPr/>
        </p:nvSpPr>
        <p:spPr>
          <a:xfrm>
            <a:off x="228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26642" name="Oval 97"/>
          <p:cNvSpPr/>
          <p:nvPr/>
        </p:nvSpPr>
        <p:spPr>
          <a:xfrm>
            <a:off x="12954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43" name="Oval 98"/>
          <p:cNvSpPr/>
          <p:nvPr/>
        </p:nvSpPr>
        <p:spPr>
          <a:xfrm>
            <a:off x="1371600" y="4267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644" name="Oval 99"/>
          <p:cNvSpPr/>
          <p:nvPr/>
        </p:nvSpPr>
        <p:spPr>
          <a:xfrm>
            <a:off x="2895600" y="1981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45" name="Oval 100"/>
          <p:cNvSpPr/>
          <p:nvPr/>
        </p:nvSpPr>
        <p:spPr>
          <a:xfrm>
            <a:off x="2819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26646" name="Oval 101"/>
          <p:cNvSpPr/>
          <p:nvPr/>
        </p:nvSpPr>
        <p:spPr>
          <a:xfrm>
            <a:off x="28194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47" name="Oval 102"/>
          <p:cNvSpPr/>
          <p:nvPr/>
        </p:nvSpPr>
        <p:spPr>
          <a:xfrm>
            <a:off x="2819400" y="5486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6648" name="Oval 103"/>
          <p:cNvSpPr/>
          <p:nvPr/>
        </p:nvSpPr>
        <p:spPr>
          <a:xfrm>
            <a:off x="44196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49" name="Oval 104"/>
          <p:cNvSpPr/>
          <p:nvPr/>
        </p:nvSpPr>
        <p:spPr>
          <a:xfrm>
            <a:off x="4419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650" name="Oval 105"/>
          <p:cNvSpPr/>
          <p:nvPr/>
        </p:nvSpPr>
        <p:spPr>
          <a:xfrm>
            <a:off x="4419600" y="487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51" name="Oval 106"/>
          <p:cNvSpPr/>
          <p:nvPr/>
        </p:nvSpPr>
        <p:spPr>
          <a:xfrm>
            <a:off x="60198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52" name="Oval 107"/>
          <p:cNvSpPr/>
          <p:nvPr/>
        </p:nvSpPr>
        <p:spPr>
          <a:xfrm>
            <a:off x="60198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653" name="Oval 108"/>
          <p:cNvSpPr/>
          <p:nvPr/>
        </p:nvSpPr>
        <p:spPr>
          <a:xfrm>
            <a:off x="60960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54" name="Oval 109"/>
          <p:cNvSpPr/>
          <p:nvPr/>
        </p:nvSpPr>
        <p:spPr>
          <a:xfrm>
            <a:off x="7391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55" name="Oval 110"/>
          <p:cNvSpPr/>
          <p:nvPr/>
        </p:nvSpPr>
        <p:spPr>
          <a:xfrm>
            <a:off x="7391400" y="4495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656" name="Oval 111"/>
          <p:cNvSpPr/>
          <p:nvPr/>
        </p:nvSpPr>
        <p:spPr>
          <a:xfrm>
            <a:off x="84582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26657" name="Line 112"/>
          <p:cNvSpPr/>
          <p:nvPr/>
        </p:nvSpPr>
        <p:spPr>
          <a:xfrm flipV="1">
            <a:off x="609600" y="3124200"/>
            <a:ext cx="762000" cy="609600"/>
          </a:xfrm>
          <a:prstGeom prst="line">
            <a:avLst/>
          </a:prstGeom>
          <a:ln w="28575" cap="flat" cmpd="sng">
            <a:solidFill>
              <a:schemeClr val="tx1"/>
            </a:solidFill>
            <a:prstDash val="solid"/>
            <a:headEnd type="none" w="med" len="med"/>
            <a:tailEnd type="triangle" w="med" len="med"/>
          </a:ln>
        </p:spPr>
      </p:sp>
      <p:sp>
        <p:nvSpPr>
          <p:cNvPr id="26658" name="Line 113"/>
          <p:cNvSpPr/>
          <p:nvPr/>
        </p:nvSpPr>
        <p:spPr>
          <a:xfrm>
            <a:off x="609600" y="4038600"/>
            <a:ext cx="762000" cy="304800"/>
          </a:xfrm>
          <a:prstGeom prst="line">
            <a:avLst/>
          </a:prstGeom>
          <a:ln w="28575" cap="flat" cmpd="sng">
            <a:solidFill>
              <a:schemeClr val="tx1"/>
            </a:solidFill>
            <a:prstDash val="solid"/>
            <a:headEnd type="none" w="med" len="med"/>
            <a:tailEnd type="triangle" w="med" len="med"/>
          </a:ln>
        </p:spPr>
      </p:sp>
      <p:sp>
        <p:nvSpPr>
          <p:cNvPr id="26659" name="Line 114"/>
          <p:cNvSpPr/>
          <p:nvPr/>
        </p:nvSpPr>
        <p:spPr>
          <a:xfrm flipV="1">
            <a:off x="1676400" y="2286000"/>
            <a:ext cx="1219200" cy="533400"/>
          </a:xfrm>
          <a:prstGeom prst="line">
            <a:avLst/>
          </a:prstGeom>
          <a:ln w="28575" cap="flat" cmpd="sng">
            <a:solidFill>
              <a:schemeClr val="tx1"/>
            </a:solidFill>
            <a:prstDash val="solid"/>
            <a:headEnd type="none" w="med" len="med"/>
            <a:tailEnd type="triangle" w="med" len="med"/>
          </a:ln>
        </p:spPr>
      </p:sp>
      <p:sp>
        <p:nvSpPr>
          <p:cNvPr id="26660" name="Line 115"/>
          <p:cNvSpPr/>
          <p:nvPr/>
        </p:nvSpPr>
        <p:spPr>
          <a:xfrm>
            <a:off x="1752600" y="2971800"/>
            <a:ext cx="1066800" cy="304800"/>
          </a:xfrm>
          <a:prstGeom prst="line">
            <a:avLst/>
          </a:prstGeom>
          <a:ln w="28575" cap="flat" cmpd="sng">
            <a:solidFill>
              <a:schemeClr val="tx1"/>
            </a:solidFill>
            <a:prstDash val="solid"/>
            <a:headEnd type="none" w="med" len="med"/>
            <a:tailEnd type="triangle" w="med" len="med"/>
          </a:ln>
        </p:spPr>
      </p:sp>
      <p:sp>
        <p:nvSpPr>
          <p:cNvPr id="26661" name="Line 116"/>
          <p:cNvSpPr/>
          <p:nvPr/>
        </p:nvSpPr>
        <p:spPr>
          <a:xfrm>
            <a:off x="1676400" y="3200400"/>
            <a:ext cx="1219200" cy="1219200"/>
          </a:xfrm>
          <a:prstGeom prst="line">
            <a:avLst/>
          </a:prstGeom>
          <a:ln w="28575" cap="flat" cmpd="sng">
            <a:solidFill>
              <a:schemeClr val="tx1"/>
            </a:solidFill>
            <a:prstDash val="solid"/>
            <a:headEnd type="none" w="med" len="med"/>
            <a:tailEnd type="triangle" w="med" len="med"/>
          </a:ln>
        </p:spPr>
      </p:sp>
      <p:sp>
        <p:nvSpPr>
          <p:cNvPr id="26662" name="Line 117"/>
          <p:cNvSpPr/>
          <p:nvPr/>
        </p:nvSpPr>
        <p:spPr>
          <a:xfrm flipV="1">
            <a:off x="1752600" y="3352800"/>
            <a:ext cx="1066800" cy="990600"/>
          </a:xfrm>
          <a:prstGeom prst="line">
            <a:avLst/>
          </a:prstGeom>
          <a:ln w="28575" cap="flat" cmpd="sng">
            <a:solidFill>
              <a:schemeClr val="tx1"/>
            </a:solidFill>
            <a:prstDash val="solid"/>
            <a:headEnd type="none" w="med" len="med"/>
            <a:tailEnd type="triangle" w="med" len="med"/>
          </a:ln>
        </p:spPr>
      </p:sp>
      <p:sp>
        <p:nvSpPr>
          <p:cNvPr id="26663" name="Line 118"/>
          <p:cNvSpPr/>
          <p:nvPr/>
        </p:nvSpPr>
        <p:spPr>
          <a:xfrm>
            <a:off x="1828800" y="4572000"/>
            <a:ext cx="990600" cy="0"/>
          </a:xfrm>
          <a:prstGeom prst="line">
            <a:avLst/>
          </a:prstGeom>
          <a:ln w="28575" cap="flat" cmpd="sng">
            <a:solidFill>
              <a:schemeClr val="tx1"/>
            </a:solidFill>
            <a:prstDash val="solid"/>
            <a:headEnd type="none" w="med" len="med"/>
            <a:tailEnd type="triangle" w="med" len="med"/>
          </a:ln>
        </p:spPr>
      </p:sp>
      <p:sp>
        <p:nvSpPr>
          <p:cNvPr id="26664" name="Line 119"/>
          <p:cNvSpPr/>
          <p:nvPr/>
        </p:nvSpPr>
        <p:spPr>
          <a:xfrm>
            <a:off x="1752600" y="4648200"/>
            <a:ext cx="1143000" cy="914400"/>
          </a:xfrm>
          <a:prstGeom prst="line">
            <a:avLst/>
          </a:prstGeom>
          <a:ln w="28575" cap="flat" cmpd="sng">
            <a:solidFill>
              <a:schemeClr val="tx1"/>
            </a:solidFill>
            <a:prstDash val="solid"/>
            <a:headEnd type="none" w="med" len="med"/>
            <a:tailEnd type="triangle" w="med" len="med"/>
          </a:ln>
        </p:spPr>
      </p:sp>
      <p:sp>
        <p:nvSpPr>
          <p:cNvPr id="26665" name="Line 120"/>
          <p:cNvSpPr/>
          <p:nvPr/>
        </p:nvSpPr>
        <p:spPr>
          <a:xfrm>
            <a:off x="3352800" y="2286000"/>
            <a:ext cx="1066800" cy="381000"/>
          </a:xfrm>
          <a:prstGeom prst="line">
            <a:avLst/>
          </a:prstGeom>
          <a:ln w="28575" cap="flat" cmpd="sng">
            <a:solidFill>
              <a:schemeClr val="tx1"/>
            </a:solidFill>
            <a:prstDash val="solid"/>
            <a:headEnd type="none" w="med" len="med"/>
            <a:tailEnd type="triangle" w="med" len="med"/>
          </a:ln>
        </p:spPr>
      </p:sp>
      <p:sp>
        <p:nvSpPr>
          <p:cNvPr id="26666" name="Line 121"/>
          <p:cNvSpPr/>
          <p:nvPr/>
        </p:nvSpPr>
        <p:spPr>
          <a:xfrm>
            <a:off x="3276600" y="2438400"/>
            <a:ext cx="1219200" cy="1295400"/>
          </a:xfrm>
          <a:prstGeom prst="line">
            <a:avLst/>
          </a:prstGeom>
          <a:ln w="28575" cap="flat" cmpd="sng">
            <a:solidFill>
              <a:schemeClr val="tx1"/>
            </a:solidFill>
            <a:prstDash val="solid"/>
            <a:headEnd type="none" w="med" len="med"/>
            <a:tailEnd type="triangle" w="med" len="med"/>
          </a:ln>
        </p:spPr>
      </p:sp>
      <p:sp>
        <p:nvSpPr>
          <p:cNvPr id="26667" name="Line 122"/>
          <p:cNvSpPr/>
          <p:nvPr/>
        </p:nvSpPr>
        <p:spPr>
          <a:xfrm flipV="1">
            <a:off x="3276600" y="2819400"/>
            <a:ext cx="1143000" cy="457200"/>
          </a:xfrm>
          <a:prstGeom prst="line">
            <a:avLst/>
          </a:prstGeom>
          <a:ln w="28575" cap="flat" cmpd="sng">
            <a:solidFill>
              <a:schemeClr val="tx1"/>
            </a:solidFill>
            <a:prstDash val="solid"/>
            <a:headEnd type="none" w="med" len="med"/>
            <a:tailEnd type="triangle" w="med" len="med"/>
          </a:ln>
        </p:spPr>
      </p:sp>
      <p:sp>
        <p:nvSpPr>
          <p:cNvPr id="26668" name="Line 123"/>
          <p:cNvSpPr/>
          <p:nvPr/>
        </p:nvSpPr>
        <p:spPr>
          <a:xfrm>
            <a:off x="3276600" y="3429000"/>
            <a:ext cx="1143000" cy="381000"/>
          </a:xfrm>
          <a:prstGeom prst="line">
            <a:avLst/>
          </a:prstGeom>
          <a:ln w="28575" cap="flat" cmpd="sng">
            <a:solidFill>
              <a:schemeClr val="tx1"/>
            </a:solidFill>
            <a:prstDash val="solid"/>
            <a:headEnd type="none" w="med" len="med"/>
            <a:tailEnd type="triangle" w="med" len="med"/>
          </a:ln>
        </p:spPr>
      </p:sp>
      <p:sp>
        <p:nvSpPr>
          <p:cNvPr id="26669" name="Line 124"/>
          <p:cNvSpPr/>
          <p:nvPr/>
        </p:nvSpPr>
        <p:spPr>
          <a:xfrm flipV="1">
            <a:off x="3276600" y="3962400"/>
            <a:ext cx="1143000" cy="609600"/>
          </a:xfrm>
          <a:prstGeom prst="line">
            <a:avLst/>
          </a:prstGeom>
          <a:ln w="28575" cap="flat" cmpd="sng">
            <a:solidFill>
              <a:schemeClr val="tx1"/>
            </a:solidFill>
            <a:prstDash val="solid"/>
            <a:headEnd type="none" w="med" len="med"/>
            <a:tailEnd type="triangle" w="med" len="med"/>
          </a:ln>
        </p:spPr>
      </p:sp>
      <p:sp>
        <p:nvSpPr>
          <p:cNvPr id="26670" name="Line 125"/>
          <p:cNvSpPr/>
          <p:nvPr/>
        </p:nvSpPr>
        <p:spPr>
          <a:xfrm>
            <a:off x="3276600" y="4724400"/>
            <a:ext cx="1143000" cy="304800"/>
          </a:xfrm>
          <a:prstGeom prst="line">
            <a:avLst/>
          </a:prstGeom>
          <a:ln w="28575" cap="flat" cmpd="sng">
            <a:solidFill>
              <a:schemeClr val="tx1"/>
            </a:solidFill>
            <a:prstDash val="solid"/>
            <a:headEnd type="none" w="med" len="med"/>
            <a:tailEnd type="triangle" w="med" len="med"/>
          </a:ln>
        </p:spPr>
      </p:sp>
      <p:sp>
        <p:nvSpPr>
          <p:cNvPr id="26671" name="Line 126"/>
          <p:cNvSpPr/>
          <p:nvPr/>
        </p:nvSpPr>
        <p:spPr>
          <a:xfrm flipV="1">
            <a:off x="3276600" y="5257800"/>
            <a:ext cx="1219200" cy="457200"/>
          </a:xfrm>
          <a:prstGeom prst="line">
            <a:avLst/>
          </a:prstGeom>
          <a:ln w="28575" cap="flat" cmpd="sng">
            <a:solidFill>
              <a:schemeClr val="tx1"/>
            </a:solidFill>
            <a:prstDash val="solid"/>
            <a:headEnd type="none" w="med" len="med"/>
            <a:tailEnd type="triangle" w="med" len="med"/>
          </a:ln>
        </p:spPr>
      </p:sp>
      <p:sp>
        <p:nvSpPr>
          <p:cNvPr id="26672" name="Line 127"/>
          <p:cNvSpPr/>
          <p:nvPr/>
        </p:nvSpPr>
        <p:spPr>
          <a:xfrm flipV="1">
            <a:off x="3276600" y="4038600"/>
            <a:ext cx="1295400" cy="1600200"/>
          </a:xfrm>
          <a:prstGeom prst="line">
            <a:avLst/>
          </a:prstGeom>
          <a:ln w="28575" cap="flat" cmpd="sng">
            <a:solidFill>
              <a:schemeClr val="tx1"/>
            </a:solidFill>
            <a:prstDash val="solid"/>
            <a:headEnd type="none" w="med" len="med"/>
            <a:tailEnd type="triangle" w="med" len="med"/>
          </a:ln>
        </p:spPr>
      </p:sp>
      <p:sp>
        <p:nvSpPr>
          <p:cNvPr id="26673" name="Line 128"/>
          <p:cNvSpPr/>
          <p:nvPr/>
        </p:nvSpPr>
        <p:spPr>
          <a:xfrm>
            <a:off x="4876800" y="2743200"/>
            <a:ext cx="1143000" cy="0"/>
          </a:xfrm>
          <a:prstGeom prst="line">
            <a:avLst/>
          </a:prstGeom>
          <a:ln w="28575" cap="flat" cmpd="sng">
            <a:solidFill>
              <a:schemeClr val="tx1"/>
            </a:solidFill>
            <a:prstDash val="solid"/>
            <a:headEnd type="none" w="med" len="med"/>
            <a:tailEnd type="triangle" w="med" len="med"/>
          </a:ln>
        </p:spPr>
      </p:sp>
      <p:sp>
        <p:nvSpPr>
          <p:cNvPr id="26674" name="Line 129"/>
          <p:cNvSpPr/>
          <p:nvPr/>
        </p:nvSpPr>
        <p:spPr>
          <a:xfrm>
            <a:off x="4876800" y="2895600"/>
            <a:ext cx="1219200" cy="914400"/>
          </a:xfrm>
          <a:prstGeom prst="line">
            <a:avLst/>
          </a:prstGeom>
          <a:ln w="28575" cap="flat" cmpd="sng">
            <a:solidFill>
              <a:schemeClr val="tx1"/>
            </a:solidFill>
            <a:prstDash val="solid"/>
            <a:headEnd type="none" w="med" len="med"/>
            <a:tailEnd type="triangle" w="med" len="med"/>
          </a:ln>
        </p:spPr>
      </p:sp>
      <p:sp>
        <p:nvSpPr>
          <p:cNvPr id="26675" name="Line 130"/>
          <p:cNvSpPr/>
          <p:nvPr/>
        </p:nvSpPr>
        <p:spPr>
          <a:xfrm>
            <a:off x="4876800" y="3962400"/>
            <a:ext cx="1143000" cy="0"/>
          </a:xfrm>
          <a:prstGeom prst="line">
            <a:avLst/>
          </a:prstGeom>
          <a:ln w="28575" cap="flat" cmpd="sng">
            <a:solidFill>
              <a:schemeClr val="tx1"/>
            </a:solidFill>
            <a:prstDash val="solid"/>
            <a:headEnd type="none" w="med" len="med"/>
            <a:tailEnd type="triangle" w="med" len="med"/>
          </a:ln>
        </p:spPr>
      </p:sp>
      <p:sp>
        <p:nvSpPr>
          <p:cNvPr id="26676" name="Line 131"/>
          <p:cNvSpPr/>
          <p:nvPr/>
        </p:nvSpPr>
        <p:spPr>
          <a:xfrm>
            <a:off x="4800600" y="4038600"/>
            <a:ext cx="1295400" cy="990600"/>
          </a:xfrm>
          <a:prstGeom prst="line">
            <a:avLst/>
          </a:prstGeom>
          <a:ln w="28575" cap="flat" cmpd="sng">
            <a:solidFill>
              <a:schemeClr val="tx1"/>
            </a:solidFill>
            <a:prstDash val="solid"/>
            <a:headEnd type="none" w="med" len="med"/>
            <a:tailEnd type="triangle" w="med" len="med"/>
          </a:ln>
        </p:spPr>
      </p:sp>
      <p:sp>
        <p:nvSpPr>
          <p:cNvPr id="26677" name="Line 132"/>
          <p:cNvSpPr/>
          <p:nvPr/>
        </p:nvSpPr>
        <p:spPr>
          <a:xfrm flipV="1">
            <a:off x="4876800" y="4038600"/>
            <a:ext cx="1219200" cy="990600"/>
          </a:xfrm>
          <a:prstGeom prst="line">
            <a:avLst/>
          </a:prstGeom>
          <a:ln w="28575" cap="flat" cmpd="sng">
            <a:solidFill>
              <a:schemeClr val="tx1"/>
            </a:solidFill>
            <a:prstDash val="solid"/>
            <a:headEnd type="none" w="med" len="med"/>
            <a:tailEnd type="triangle" w="med" len="med"/>
          </a:ln>
        </p:spPr>
      </p:sp>
      <p:sp>
        <p:nvSpPr>
          <p:cNvPr id="26678" name="Line 133"/>
          <p:cNvSpPr/>
          <p:nvPr/>
        </p:nvSpPr>
        <p:spPr>
          <a:xfrm>
            <a:off x="4876800" y="5181600"/>
            <a:ext cx="1219200" cy="0"/>
          </a:xfrm>
          <a:prstGeom prst="line">
            <a:avLst/>
          </a:prstGeom>
          <a:ln w="28575" cap="flat" cmpd="sng">
            <a:solidFill>
              <a:schemeClr val="tx1"/>
            </a:solidFill>
            <a:prstDash val="solid"/>
            <a:headEnd type="none" w="med" len="med"/>
            <a:tailEnd type="triangle" w="med" len="med"/>
          </a:ln>
        </p:spPr>
      </p:sp>
      <p:sp>
        <p:nvSpPr>
          <p:cNvPr id="26679" name="Line 134"/>
          <p:cNvSpPr/>
          <p:nvPr/>
        </p:nvSpPr>
        <p:spPr>
          <a:xfrm>
            <a:off x="6477000" y="2819400"/>
            <a:ext cx="990600" cy="304800"/>
          </a:xfrm>
          <a:prstGeom prst="line">
            <a:avLst/>
          </a:prstGeom>
          <a:ln w="28575" cap="flat" cmpd="sng">
            <a:solidFill>
              <a:schemeClr val="tx1"/>
            </a:solidFill>
            <a:prstDash val="solid"/>
            <a:headEnd type="none" w="med" len="med"/>
            <a:tailEnd type="triangle" w="med" len="med"/>
          </a:ln>
        </p:spPr>
      </p:sp>
      <p:sp>
        <p:nvSpPr>
          <p:cNvPr id="26680" name="Line 135"/>
          <p:cNvSpPr/>
          <p:nvPr/>
        </p:nvSpPr>
        <p:spPr>
          <a:xfrm flipV="1">
            <a:off x="6477000" y="3352800"/>
            <a:ext cx="914400" cy="533400"/>
          </a:xfrm>
          <a:prstGeom prst="line">
            <a:avLst/>
          </a:prstGeom>
          <a:ln w="28575" cap="flat" cmpd="sng">
            <a:solidFill>
              <a:schemeClr val="tx1"/>
            </a:solidFill>
            <a:prstDash val="solid"/>
            <a:headEnd type="none" w="med" len="med"/>
            <a:tailEnd type="triangle" w="med" len="med"/>
          </a:ln>
        </p:spPr>
      </p:sp>
      <p:sp>
        <p:nvSpPr>
          <p:cNvPr id="26681" name="Line 136"/>
          <p:cNvSpPr/>
          <p:nvPr/>
        </p:nvSpPr>
        <p:spPr>
          <a:xfrm>
            <a:off x="6477000" y="2895600"/>
            <a:ext cx="1066800" cy="1600200"/>
          </a:xfrm>
          <a:prstGeom prst="line">
            <a:avLst/>
          </a:prstGeom>
          <a:ln w="28575" cap="flat" cmpd="sng">
            <a:solidFill>
              <a:schemeClr val="tx1"/>
            </a:solidFill>
            <a:prstDash val="solid"/>
            <a:headEnd type="none" w="med" len="med"/>
            <a:tailEnd type="triangle" w="med" len="med"/>
          </a:ln>
        </p:spPr>
      </p:sp>
      <p:sp>
        <p:nvSpPr>
          <p:cNvPr id="26682" name="Line 137"/>
          <p:cNvSpPr/>
          <p:nvPr/>
        </p:nvSpPr>
        <p:spPr>
          <a:xfrm>
            <a:off x="6477000" y="3962400"/>
            <a:ext cx="990600" cy="609600"/>
          </a:xfrm>
          <a:prstGeom prst="line">
            <a:avLst/>
          </a:prstGeom>
          <a:ln w="28575" cap="flat" cmpd="sng">
            <a:solidFill>
              <a:schemeClr val="tx1"/>
            </a:solidFill>
            <a:prstDash val="solid"/>
            <a:headEnd type="none" w="med" len="med"/>
            <a:tailEnd type="triangle" w="med" len="med"/>
          </a:ln>
        </p:spPr>
      </p:sp>
      <p:sp>
        <p:nvSpPr>
          <p:cNvPr id="26683" name="Line 138"/>
          <p:cNvSpPr/>
          <p:nvPr/>
        </p:nvSpPr>
        <p:spPr>
          <a:xfrm flipV="1">
            <a:off x="6553200" y="3505200"/>
            <a:ext cx="990600" cy="1524000"/>
          </a:xfrm>
          <a:prstGeom prst="line">
            <a:avLst/>
          </a:prstGeom>
          <a:ln w="38100" cap="flat" cmpd="sng">
            <a:solidFill>
              <a:schemeClr val="tx1"/>
            </a:solidFill>
            <a:prstDash val="solid"/>
            <a:headEnd type="none" w="med" len="med"/>
            <a:tailEnd type="triangle" w="med" len="med"/>
          </a:ln>
        </p:spPr>
      </p:sp>
      <p:sp>
        <p:nvSpPr>
          <p:cNvPr id="26684" name="Line 139"/>
          <p:cNvSpPr/>
          <p:nvPr/>
        </p:nvSpPr>
        <p:spPr>
          <a:xfrm flipV="1">
            <a:off x="6553200" y="4876800"/>
            <a:ext cx="914400" cy="381000"/>
          </a:xfrm>
          <a:prstGeom prst="line">
            <a:avLst/>
          </a:prstGeom>
          <a:ln w="28575" cap="flat" cmpd="sng">
            <a:solidFill>
              <a:schemeClr val="tx1"/>
            </a:solidFill>
            <a:prstDash val="solid"/>
            <a:headEnd type="none" w="med" len="med"/>
            <a:tailEnd type="triangle" w="med" len="med"/>
          </a:ln>
        </p:spPr>
      </p:sp>
      <p:sp>
        <p:nvSpPr>
          <p:cNvPr id="26685" name="Line 140"/>
          <p:cNvSpPr/>
          <p:nvPr/>
        </p:nvSpPr>
        <p:spPr>
          <a:xfrm>
            <a:off x="7848600" y="3352800"/>
            <a:ext cx="685800" cy="381000"/>
          </a:xfrm>
          <a:prstGeom prst="line">
            <a:avLst/>
          </a:prstGeom>
          <a:ln w="28575" cap="flat" cmpd="sng">
            <a:solidFill>
              <a:schemeClr val="tx1"/>
            </a:solidFill>
            <a:prstDash val="solid"/>
            <a:headEnd type="none" w="med" len="med"/>
            <a:tailEnd type="triangle" w="med" len="med"/>
          </a:ln>
        </p:spPr>
      </p:sp>
      <p:sp>
        <p:nvSpPr>
          <p:cNvPr id="26686" name="Line 141"/>
          <p:cNvSpPr/>
          <p:nvPr/>
        </p:nvSpPr>
        <p:spPr>
          <a:xfrm flipV="1">
            <a:off x="7848600" y="4038600"/>
            <a:ext cx="685800" cy="609600"/>
          </a:xfrm>
          <a:prstGeom prst="line">
            <a:avLst/>
          </a:prstGeom>
          <a:ln w="28575" cap="flat" cmpd="sng">
            <a:solidFill>
              <a:schemeClr val="tx1"/>
            </a:solidFill>
            <a:prstDash val="solid"/>
            <a:headEnd type="none" w="med" len="med"/>
            <a:tailEnd type="triangle" w="med" len="med"/>
          </a:ln>
        </p:spPr>
      </p:sp>
      <p:sp>
        <p:nvSpPr>
          <p:cNvPr id="26687" name="Text Box 142"/>
          <p:cNvSpPr txBox="1"/>
          <p:nvPr/>
        </p:nvSpPr>
        <p:spPr>
          <a:xfrm>
            <a:off x="685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6688" name="Text Box 143"/>
          <p:cNvSpPr txBox="1"/>
          <p:nvPr/>
        </p:nvSpPr>
        <p:spPr>
          <a:xfrm>
            <a:off x="685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89" name="Text Box 144"/>
          <p:cNvSpPr txBox="1"/>
          <p:nvPr/>
        </p:nvSpPr>
        <p:spPr>
          <a:xfrm>
            <a:off x="1828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690" name="Text Box 145"/>
          <p:cNvSpPr txBox="1"/>
          <p:nvPr/>
        </p:nvSpPr>
        <p:spPr>
          <a:xfrm>
            <a:off x="2209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91" name="Text Box 146"/>
          <p:cNvSpPr txBox="1"/>
          <p:nvPr/>
        </p:nvSpPr>
        <p:spPr>
          <a:xfrm>
            <a:off x="19050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6692" name="Text Box 147"/>
          <p:cNvSpPr txBox="1"/>
          <p:nvPr/>
        </p:nvSpPr>
        <p:spPr>
          <a:xfrm>
            <a:off x="1752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6693" name="Text Box 148"/>
          <p:cNvSpPr txBox="1"/>
          <p:nvPr/>
        </p:nvSpPr>
        <p:spPr>
          <a:xfrm>
            <a:off x="19812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26694" name="Text Box 149"/>
          <p:cNvSpPr txBox="1"/>
          <p:nvPr/>
        </p:nvSpPr>
        <p:spPr>
          <a:xfrm>
            <a:off x="22098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6695" name="Text Box 150"/>
          <p:cNvSpPr txBox="1"/>
          <p:nvPr/>
        </p:nvSpPr>
        <p:spPr>
          <a:xfrm>
            <a:off x="3276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696" name="Text Box 151"/>
          <p:cNvSpPr txBox="1"/>
          <p:nvPr/>
        </p:nvSpPr>
        <p:spPr>
          <a:xfrm>
            <a:off x="3657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6697" name="Text Box 152"/>
          <p:cNvSpPr txBox="1"/>
          <p:nvPr/>
        </p:nvSpPr>
        <p:spPr>
          <a:xfrm>
            <a:off x="3581400" y="2514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6698" name="Text Box 153"/>
          <p:cNvSpPr txBox="1"/>
          <p:nvPr/>
        </p:nvSpPr>
        <p:spPr>
          <a:xfrm>
            <a:off x="35814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6699" name="Text Box 154"/>
          <p:cNvSpPr txBox="1"/>
          <p:nvPr/>
        </p:nvSpPr>
        <p:spPr>
          <a:xfrm>
            <a:off x="3352800" y="3886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700" name="Text Box 155"/>
          <p:cNvSpPr txBox="1"/>
          <p:nvPr/>
        </p:nvSpPr>
        <p:spPr>
          <a:xfrm>
            <a:off x="35052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701" name="Text Box 156"/>
          <p:cNvSpPr txBox="1"/>
          <p:nvPr/>
        </p:nvSpPr>
        <p:spPr>
          <a:xfrm>
            <a:off x="3276600" y="502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6702" name="Text Box 157"/>
          <p:cNvSpPr txBox="1"/>
          <p:nvPr/>
        </p:nvSpPr>
        <p:spPr>
          <a:xfrm>
            <a:off x="37338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6703" name="Text Box 158"/>
          <p:cNvSpPr txBox="1"/>
          <p:nvPr/>
        </p:nvSpPr>
        <p:spPr>
          <a:xfrm>
            <a:off x="5257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704" name="Text Box 159"/>
          <p:cNvSpPr txBox="1"/>
          <p:nvPr/>
        </p:nvSpPr>
        <p:spPr>
          <a:xfrm>
            <a:off x="54102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705" name="Text Box 160"/>
          <p:cNvSpPr txBox="1"/>
          <p:nvPr/>
        </p:nvSpPr>
        <p:spPr>
          <a:xfrm>
            <a:off x="51816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706" name="Text Box 161"/>
          <p:cNvSpPr txBox="1"/>
          <p:nvPr/>
        </p:nvSpPr>
        <p:spPr>
          <a:xfrm>
            <a:off x="50292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6707" name="Text Box 162"/>
          <p:cNvSpPr txBox="1"/>
          <p:nvPr/>
        </p:nvSpPr>
        <p:spPr>
          <a:xfrm>
            <a:off x="48768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708" name="Text Box 163"/>
          <p:cNvSpPr txBox="1"/>
          <p:nvPr/>
        </p:nvSpPr>
        <p:spPr>
          <a:xfrm>
            <a:off x="79248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709" name="Text Box 164"/>
          <p:cNvSpPr txBox="1"/>
          <p:nvPr/>
        </p:nvSpPr>
        <p:spPr>
          <a:xfrm>
            <a:off x="6858000" y="2590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6710" name="Text Box 165"/>
          <p:cNvSpPr txBox="1"/>
          <p:nvPr/>
        </p:nvSpPr>
        <p:spPr>
          <a:xfrm>
            <a:off x="6781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6711" name="Text Box 166"/>
          <p:cNvSpPr txBox="1"/>
          <p:nvPr/>
        </p:nvSpPr>
        <p:spPr>
          <a:xfrm>
            <a:off x="67056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6712" name="Text Box 167"/>
          <p:cNvSpPr txBox="1"/>
          <p:nvPr/>
        </p:nvSpPr>
        <p:spPr>
          <a:xfrm>
            <a:off x="6477000" y="3352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6713" name="Text Box 168"/>
          <p:cNvSpPr txBox="1"/>
          <p:nvPr/>
        </p:nvSpPr>
        <p:spPr>
          <a:xfrm>
            <a:off x="64770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6714" name="Text Box 169"/>
          <p:cNvSpPr txBox="1"/>
          <p:nvPr/>
        </p:nvSpPr>
        <p:spPr>
          <a:xfrm>
            <a:off x="6781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6715" name="Text Box 170"/>
          <p:cNvSpPr txBox="1"/>
          <p:nvPr/>
        </p:nvSpPr>
        <p:spPr>
          <a:xfrm>
            <a:off x="80772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6716" name="Line 177"/>
          <p:cNvSpPr/>
          <p:nvPr/>
        </p:nvSpPr>
        <p:spPr>
          <a:xfrm>
            <a:off x="609600" y="4038600"/>
            <a:ext cx="762000" cy="304800"/>
          </a:xfrm>
          <a:prstGeom prst="line">
            <a:avLst/>
          </a:prstGeom>
          <a:ln w="9525" cap="flat" cmpd="sng">
            <a:solidFill>
              <a:schemeClr val="tx1"/>
            </a:solidFill>
            <a:prstDash val="solid"/>
            <a:headEnd type="none" w="med" len="med"/>
            <a:tailEnd type="triangle" w="med" len="med"/>
          </a:ln>
        </p:spPr>
      </p:sp>
      <p:sp>
        <p:nvSpPr>
          <p:cNvPr id="26717" name="Text Box 178"/>
          <p:cNvSpPr txBox="1"/>
          <p:nvPr/>
        </p:nvSpPr>
        <p:spPr>
          <a:xfrm>
            <a:off x="51054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Text Box 3"/>
          <p:cNvSpPr txBox="1"/>
          <p:nvPr/>
        </p:nvSpPr>
        <p:spPr>
          <a:xfrm>
            <a:off x="228600" y="990600"/>
            <a:ext cx="8915400" cy="4076700"/>
          </a:xfrm>
          <a:prstGeom prst="rect">
            <a:avLst/>
          </a:prstGeom>
          <a:noFill/>
          <a:ln w="9525">
            <a:noFill/>
          </a:ln>
        </p:spPr>
        <p:txBody>
          <a:bodyPr>
            <a:spAutoFit/>
          </a:bodyPr>
          <a:p>
            <a:pPr>
              <a:lnSpc>
                <a:spcPct val="90000"/>
              </a:lnSpc>
              <a:spcBef>
                <a:spcPct val="50000"/>
              </a:spcBef>
            </a:pPr>
            <a:r>
              <a:rPr lang="en-US" altLang="zh-CN" dirty="0">
                <a:solidFill>
                  <a:srgbClr val="000066"/>
                </a:solidFill>
                <a:latin typeface="Times New Roman" panose="02020603050405020304" pitchFamily="18" charset="0"/>
              </a:rPr>
              <a:t> </a:t>
            </a:r>
            <a:r>
              <a:rPr lang="zh-CN" altLang="en-US" sz="3200" dirty="0">
                <a:solidFill>
                  <a:schemeClr val="accent2"/>
                </a:solidFill>
                <a:latin typeface="Times New Roman" panose="02020603050405020304" pitchFamily="18" charset="0"/>
              </a:rPr>
              <a:t>（一）、基本概念</a:t>
            </a:r>
            <a:endParaRPr lang="zh-CN" altLang="en-US" sz="3200" dirty="0">
              <a:solidFill>
                <a:schemeClr val="accent2"/>
              </a:solidFill>
              <a:latin typeface="Times New Roman" panose="02020603050405020304" pitchFamily="18" charset="0"/>
            </a:endParaRPr>
          </a:p>
          <a:p>
            <a:pPr>
              <a:lnSpc>
                <a:spcPct val="90000"/>
              </a:lnSpc>
              <a:spcBef>
                <a:spcPct val="50000"/>
              </a:spcBef>
            </a:pPr>
            <a:r>
              <a:rPr lang="zh-CN" altLang="en-US"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1</a:t>
            </a:r>
            <a:r>
              <a:rPr lang="zh-CN" altLang="en-US" dirty="0">
                <a:solidFill>
                  <a:srgbClr val="000066"/>
                </a:solidFill>
                <a:latin typeface="Times New Roman" panose="02020603050405020304" pitchFamily="18" charset="0"/>
              </a:rPr>
              <a:t>、阶段：</a:t>
            </a:r>
            <a:endParaRPr lang="zh-CN" altLang="en-US" dirty="0">
              <a:solidFill>
                <a:srgbClr val="000066"/>
              </a:solidFill>
              <a:latin typeface="Times New Roman" panose="02020603050405020304" pitchFamily="18" charset="0"/>
            </a:endParaRPr>
          </a:p>
          <a:p>
            <a:pPr>
              <a:lnSpc>
                <a:spcPct val="90000"/>
              </a:lnSpc>
              <a:spcBef>
                <a:spcPct val="50000"/>
              </a:spcBef>
            </a:pPr>
            <a:r>
              <a:rPr lang="zh-CN" altLang="en-US" dirty="0">
                <a:solidFill>
                  <a:srgbClr val="000066"/>
                </a:solidFill>
                <a:latin typeface="Times New Roman" panose="02020603050405020304" pitchFamily="18" charset="0"/>
              </a:rPr>
              <a:t>      把一个问题的过程，恰当地分为若干个相互联系的</a:t>
            </a:r>
            <a:r>
              <a:rPr lang="zh-CN" altLang="en-US" dirty="0">
                <a:solidFill>
                  <a:srgbClr val="FF0000"/>
                </a:solidFill>
                <a:latin typeface="Times New Roman" panose="02020603050405020304" pitchFamily="18" charset="0"/>
              </a:rPr>
              <a:t>阶段</a:t>
            </a:r>
            <a:r>
              <a:rPr lang="zh-CN" altLang="en-US" dirty="0">
                <a:solidFill>
                  <a:srgbClr val="000066"/>
                </a:solidFill>
                <a:latin typeface="Times New Roman" panose="02020603050405020304" pitchFamily="18" charset="0"/>
              </a:rPr>
              <a:t>，以便于按一定的次序去求解。</a:t>
            </a:r>
            <a:endParaRPr lang="zh-CN" altLang="en-US" dirty="0">
              <a:solidFill>
                <a:srgbClr val="000066"/>
              </a:solidFill>
              <a:latin typeface="Times New Roman" panose="02020603050405020304" pitchFamily="18" charset="0"/>
            </a:endParaRPr>
          </a:p>
          <a:p>
            <a:pPr>
              <a:lnSpc>
                <a:spcPct val="90000"/>
              </a:lnSpc>
              <a:spcBef>
                <a:spcPct val="50000"/>
              </a:spcBef>
            </a:pPr>
            <a:r>
              <a:rPr lang="zh-CN" altLang="en-US" dirty="0">
                <a:solidFill>
                  <a:srgbClr val="000066"/>
                </a:solidFill>
                <a:latin typeface="Times New Roman" panose="02020603050405020304" pitchFamily="18" charset="0"/>
              </a:rPr>
              <a:t>      描述阶段的变量称为</a:t>
            </a:r>
            <a:r>
              <a:rPr lang="zh-CN" altLang="en-US" dirty="0">
                <a:solidFill>
                  <a:srgbClr val="FF0000"/>
                </a:solidFill>
                <a:latin typeface="Times New Roman" panose="02020603050405020304" pitchFamily="18" charset="0"/>
              </a:rPr>
              <a:t>阶段变量</a:t>
            </a:r>
            <a:r>
              <a:rPr lang="zh-CN" altLang="en-US" dirty="0">
                <a:solidFill>
                  <a:srgbClr val="000066"/>
                </a:solidFill>
                <a:latin typeface="Times New Roman" panose="02020603050405020304" pitchFamily="18" charset="0"/>
              </a:rPr>
              <a:t>。阶段的划分，一般是根据时间和空间的自然特征来进行的，但要便于问题转化为多阶段决策。</a:t>
            </a:r>
            <a:endParaRPr lang="zh-CN" altLang="en-US" dirty="0">
              <a:solidFill>
                <a:srgbClr val="000066"/>
              </a:solidFill>
              <a:latin typeface="Times New Roman" panose="02020603050405020304" pitchFamily="18" charset="0"/>
            </a:endParaRPr>
          </a:p>
          <a:p>
            <a:pPr>
              <a:lnSpc>
                <a:spcPct val="90000"/>
              </a:lnSpc>
              <a:spcBef>
                <a:spcPct val="50000"/>
              </a:spcBef>
            </a:pPr>
            <a:endParaRPr lang="en-US" altLang="zh-CN" dirty="0">
              <a:solidFill>
                <a:srgbClr val="000066"/>
              </a:solidFill>
              <a:latin typeface="Times New Roman" panose="02020603050405020304" pitchFamily="18" charset="0"/>
            </a:endParaRPr>
          </a:p>
        </p:txBody>
      </p:sp>
      <p:sp>
        <p:nvSpPr>
          <p:cNvPr id="3078" name="Rectangle 6"/>
          <p:cNvSpPr/>
          <p:nvPr/>
        </p:nvSpPr>
        <p:spPr>
          <a:xfrm>
            <a:off x="381000" y="4572000"/>
            <a:ext cx="8534400" cy="1244600"/>
          </a:xfrm>
          <a:prstGeom prst="rect">
            <a:avLst/>
          </a:prstGeom>
          <a:noFill/>
          <a:ln w="9525">
            <a:noFill/>
          </a:ln>
        </p:spPr>
        <p:txBody>
          <a:bodyPr>
            <a:spAutoFit/>
          </a:bodyPr>
          <a:p>
            <a:pPr>
              <a:lnSpc>
                <a:spcPct val="90000"/>
              </a:lnSpc>
              <a:spcBef>
                <a:spcPct val="50000"/>
              </a:spcBef>
            </a:pPr>
            <a:r>
              <a:rPr lang="en-US" altLang="zh-CN" dirty="0">
                <a:solidFill>
                  <a:srgbClr val="000066"/>
                </a:solidFill>
                <a:latin typeface="Times New Roman" panose="02020603050405020304" pitchFamily="18" charset="0"/>
              </a:rPr>
              <a:t>2</a:t>
            </a:r>
            <a:r>
              <a:rPr lang="zh-CN" altLang="en-US" dirty="0">
                <a:solidFill>
                  <a:srgbClr val="000066"/>
                </a:solidFill>
                <a:latin typeface="Times New Roman" panose="02020603050405020304" pitchFamily="18" charset="0"/>
              </a:rPr>
              <a:t>、状态：表示每个阶段开始所处的</a:t>
            </a:r>
            <a:r>
              <a:rPr lang="zh-CN" altLang="en-US" dirty="0">
                <a:solidFill>
                  <a:srgbClr val="FF0000"/>
                </a:solidFill>
                <a:latin typeface="Times New Roman" panose="02020603050405020304" pitchFamily="18" charset="0"/>
              </a:rPr>
              <a:t>自然状况或客观条件</a:t>
            </a:r>
            <a:r>
              <a:rPr lang="zh-CN" altLang="en-US" dirty="0">
                <a:solidFill>
                  <a:srgbClr val="000066"/>
                </a:solidFill>
                <a:latin typeface="Times New Roman" panose="02020603050405020304" pitchFamily="18" charset="0"/>
              </a:rPr>
              <a:t>。通常一个阶段有若干个状态，描述过程状态的变量称为</a:t>
            </a:r>
            <a:r>
              <a:rPr lang="zh-CN" altLang="en-US" dirty="0">
                <a:solidFill>
                  <a:srgbClr val="FF0000"/>
                </a:solidFill>
                <a:latin typeface="Times New Roman" panose="02020603050405020304" pitchFamily="18" charset="0"/>
              </a:rPr>
              <a:t>状态变量</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grpSp>
        <p:nvGrpSpPr>
          <p:cNvPr id="2" name="Group 11"/>
          <p:cNvGrpSpPr/>
          <p:nvPr/>
        </p:nvGrpSpPr>
        <p:grpSpPr>
          <a:xfrm flipH="1">
            <a:off x="3657600" y="3810000"/>
            <a:ext cx="3276600" cy="1143000"/>
            <a:chOff x="1056" y="2400"/>
            <a:chExt cx="2064" cy="720"/>
          </a:xfrm>
        </p:grpSpPr>
        <p:sp>
          <p:nvSpPr>
            <p:cNvPr id="27655" name="AutoShape 9"/>
            <p:cNvSpPr/>
            <p:nvPr/>
          </p:nvSpPr>
          <p:spPr>
            <a:xfrm>
              <a:off x="1056" y="2400"/>
              <a:ext cx="1056" cy="720"/>
            </a:xfrm>
            <a:prstGeom prst="wedgeEllipseCallout">
              <a:avLst>
                <a:gd name="adj1" fmla="val 113069"/>
                <a:gd name="adj2" fmla="val -28333"/>
              </a:avLst>
            </a:prstGeom>
            <a:solidFill>
              <a:schemeClr val="accent1"/>
            </a:solidFill>
            <a:ln w="9525">
              <a:noFill/>
            </a:ln>
          </p:spPr>
          <p:txBody>
            <a:bodyPr/>
            <a:p>
              <a:pPr algn="ctr"/>
              <a:r>
                <a:rPr lang="zh-CN" altLang="en-US" sz="2400" dirty="0">
                  <a:solidFill>
                    <a:srgbClr val="FF6600"/>
                  </a:solidFill>
                  <a:latin typeface="Times New Roman" panose="02020603050405020304" pitchFamily="18" charset="0"/>
                  <a:ea typeface="宋体" panose="02010600030101010101" pitchFamily="2" charset="-122"/>
                </a:rPr>
                <a:t>年、月、路段</a:t>
              </a:r>
              <a:endParaRPr lang="zh-CN" altLang="en-US" sz="2400" dirty="0">
                <a:solidFill>
                  <a:srgbClr val="FF6600"/>
                </a:solidFill>
                <a:latin typeface="Times New Roman" panose="02020603050405020304" pitchFamily="18" charset="0"/>
                <a:ea typeface="宋体" panose="02010600030101010101" pitchFamily="2" charset="-122"/>
              </a:endParaRPr>
            </a:p>
          </p:txBody>
        </p:sp>
        <p:sp>
          <p:nvSpPr>
            <p:cNvPr id="27656" name="Line 10"/>
            <p:cNvSpPr/>
            <p:nvPr/>
          </p:nvSpPr>
          <p:spPr>
            <a:xfrm>
              <a:off x="2304" y="2544"/>
              <a:ext cx="816" cy="0"/>
            </a:xfrm>
            <a:prstGeom prst="line">
              <a:avLst/>
            </a:prstGeom>
            <a:ln w="53975" cap="flat" cmpd="sng">
              <a:solidFill>
                <a:schemeClr val="accent1"/>
              </a:solidFill>
              <a:prstDash val="solid"/>
              <a:headEnd type="none" w="med" len="med"/>
              <a:tailEnd type="none" w="med" len="med"/>
            </a:ln>
          </p:spPr>
        </p:sp>
      </p:grpSp>
      <p:sp>
        <p:nvSpPr>
          <p:cNvPr id="3088" name="Rectangle 16"/>
          <p:cNvSpPr/>
          <p:nvPr/>
        </p:nvSpPr>
        <p:spPr>
          <a:xfrm>
            <a:off x="138113" y="5835650"/>
            <a:ext cx="8777287" cy="946150"/>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状态变量的取值有一定的允许集合或范围，此集合称为</a:t>
            </a:r>
            <a:r>
              <a:rPr lang="zh-CN" altLang="en-US" dirty="0">
                <a:solidFill>
                  <a:srgbClr val="FF0000"/>
                </a:solidFill>
                <a:latin typeface="Times New Roman" panose="02020603050405020304" pitchFamily="18" charset="0"/>
              </a:rPr>
              <a:t>状态允许集合</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
        <p:nvSpPr>
          <p:cNvPr id="27654" name="Text Box 19"/>
          <p:cNvSpPr txBox="1">
            <a:spLocks noGrp="1"/>
          </p:cNvSpPr>
          <p:nvPr>
            <p:ph type="ctrTitle"/>
          </p:nvPr>
        </p:nvSpPr>
        <p:spPr>
          <a:xfrm>
            <a:off x="304800" y="152400"/>
            <a:ext cx="7772400" cy="1143000"/>
          </a:xfrm>
          <a:noFill/>
          <a:ln>
            <a:noFill/>
          </a:ln>
        </p:spPr>
        <p:txBody>
          <a:bodyPr/>
          <a:p>
            <a:pPr algn="l" eaLnBrk="1" hangingPunct="1">
              <a:spcBef>
                <a:spcPct val="50000"/>
              </a:spcBef>
              <a:buClrTx/>
              <a:buSzTx/>
              <a:buFontTx/>
            </a:pPr>
            <a:r>
              <a:rPr lang="zh-CN" altLang="en-US" sz="3600" b="1" dirty="0">
                <a:solidFill>
                  <a:srgbClr val="006666"/>
                </a:solidFill>
                <a:ea typeface="黑体" panose="02010609060101010101" pitchFamily="2" charset="-122"/>
              </a:rPr>
              <a:t>一、动态规划的基本思想</a:t>
            </a:r>
            <a:endParaRPr lang="zh-CN" altLang="en-US" sz="3600" b="1" dirty="0">
              <a:solidFill>
                <a:srgbClr val="006666"/>
              </a:solidFill>
              <a:ea typeface="黑体" panose="0201060906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blinds(horizontal)">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checkerboard(across)">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088"/>
                                        </p:tgtEl>
                                        <p:attrNameLst>
                                          <p:attrName>style.visibility</p:attrName>
                                        </p:attrNameLst>
                                      </p:cBhvr>
                                      <p:to>
                                        <p:strVal val="visible"/>
                                      </p:to>
                                    </p:set>
                                    <p:anim calcmode="lin" valueType="num">
                                      <p:cBhvr additive="base">
                                        <p:cTn id="22" dur="500" fill="hold"/>
                                        <p:tgtEl>
                                          <p:spTgt spid="3088"/>
                                        </p:tgtEl>
                                        <p:attrNameLst>
                                          <p:attrName>ppt_x</p:attrName>
                                        </p:attrNameLst>
                                      </p:cBhvr>
                                      <p:tavLst>
                                        <p:tav tm="0">
                                          <p:val>
                                            <p:strVal val="#ppt_x"/>
                                          </p:val>
                                        </p:tav>
                                        <p:tav tm="100000">
                                          <p:val>
                                            <p:strVal val="#ppt_x"/>
                                          </p:val>
                                        </p:tav>
                                      </p:tavLst>
                                    </p:anim>
                                    <p:anim calcmode="lin" valueType="num">
                                      <p:cBhvr additive="base">
                                        <p:cTn id="23" dur="500" fill="hold"/>
                                        <p:tgtEl>
                                          <p:spTgt spid="30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8" grpId="0"/>
      <p:bldP spid="308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674" name="Text Box 2"/>
          <p:cNvSpPr txBox="1"/>
          <p:nvPr/>
        </p:nvSpPr>
        <p:spPr>
          <a:xfrm>
            <a:off x="304800" y="533400"/>
            <a:ext cx="8458200" cy="1373188"/>
          </a:xfrm>
          <a:prstGeom prst="rect">
            <a:avLst/>
          </a:prstGeom>
          <a:noFill/>
          <a:ln w="9525">
            <a:noFill/>
          </a:ln>
        </p:spPr>
        <p:txBody>
          <a:bodyPr>
            <a:spAutoFit/>
          </a:bodyPr>
          <a:p>
            <a:pPr>
              <a:spcBef>
                <a:spcPct val="50000"/>
              </a:spcBef>
            </a:pPr>
            <a:r>
              <a:rPr lang="zh-CN" altLang="en-US" dirty="0">
                <a:solidFill>
                  <a:srgbClr val="FF6600"/>
                </a:solidFill>
                <a:latin typeface="楷体_GB2312" pitchFamily="49" charset="-122"/>
              </a:rPr>
              <a:t>最短路问题</a:t>
            </a:r>
            <a:r>
              <a:rPr lang="zh-CN" altLang="en-US" dirty="0">
                <a:latin typeface="楷体_GB2312" pitchFamily="49" charset="-122"/>
              </a:rPr>
              <a:t>：给定一个交通网络图如下，其中两点之间的数字表示距离（或花费），试求从</a:t>
            </a:r>
            <a:r>
              <a:rPr lang="en-US" altLang="zh-CN" dirty="0">
                <a:latin typeface="Times New Roman" panose="02020603050405020304" pitchFamily="18" charset="0"/>
              </a:rPr>
              <a:t>A</a:t>
            </a:r>
            <a:r>
              <a:rPr lang="zh-CN" altLang="en-US" dirty="0">
                <a:latin typeface="楷体_GB2312" pitchFamily="49" charset="-122"/>
              </a:rPr>
              <a:t>点到</a:t>
            </a:r>
            <a:r>
              <a:rPr lang="en-US" altLang="zh-CN" dirty="0">
                <a:latin typeface="Times New Roman" panose="02020603050405020304" pitchFamily="18" charset="0"/>
              </a:rPr>
              <a:t>G</a:t>
            </a:r>
            <a:r>
              <a:rPr lang="zh-CN" altLang="en-US" dirty="0">
                <a:latin typeface="楷体_GB2312" pitchFamily="49" charset="-122"/>
              </a:rPr>
              <a:t>点的最短距离（总费用最小）。</a:t>
            </a:r>
            <a:endParaRPr lang="zh-CN" altLang="en-US" dirty="0">
              <a:latin typeface="楷体_GB2312" pitchFamily="49" charset="-122"/>
            </a:endParaRPr>
          </a:p>
        </p:txBody>
      </p:sp>
      <p:sp>
        <p:nvSpPr>
          <p:cNvPr id="28675" name="Line 82"/>
          <p:cNvSpPr/>
          <p:nvPr/>
        </p:nvSpPr>
        <p:spPr>
          <a:xfrm>
            <a:off x="304800" y="6172200"/>
            <a:ext cx="8382000" cy="0"/>
          </a:xfrm>
          <a:prstGeom prst="line">
            <a:avLst/>
          </a:prstGeom>
          <a:ln w="28575" cap="flat" cmpd="sng">
            <a:solidFill>
              <a:schemeClr val="accent2"/>
            </a:solidFill>
            <a:prstDash val="solid"/>
            <a:headEnd type="none" w="med" len="med"/>
            <a:tailEnd type="none" w="med" len="med"/>
          </a:ln>
        </p:spPr>
      </p:sp>
      <p:sp>
        <p:nvSpPr>
          <p:cNvPr id="28676" name="Line 83"/>
          <p:cNvSpPr/>
          <p:nvPr/>
        </p:nvSpPr>
        <p:spPr>
          <a:xfrm>
            <a:off x="304800" y="5943600"/>
            <a:ext cx="0" cy="228600"/>
          </a:xfrm>
          <a:prstGeom prst="line">
            <a:avLst/>
          </a:prstGeom>
          <a:ln w="28575" cap="flat" cmpd="sng">
            <a:solidFill>
              <a:schemeClr val="accent2"/>
            </a:solidFill>
            <a:prstDash val="solid"/>
            <a:headEnd type="none" w="med" len="med"/>
            <a:tailEnd type="none" w="med" len="med"/>
          </a:ln>
        </p:spPr>
      </p:sp>
      <p:sp>
        <p:nvSpPr>
          <p:cNvPr id="28677" name="Line 84"/>
          <p:cNvSpPr/>
          <p:nvPr/>
        </p:nvSpPr>
        <p:spPr>
          <a:xfrm>
            <a:off x="8686800" y="5943600"/>
            <a:ext cx="0" cy="228600"/>
          </a:xfrm>
          <a:prstGeom prst="line">
            <a:avLst/>
          </a:prstGeom>
          <a:ln w="28575" cap="flat" cmpd="sng">
            <a:solidFill>
              <a:schemeClr val="accent2"/>
            </a:solidFill>
            <a:prstDash val="solid"/>
            <a:headEnd type="none" w="med" len="med"/>
            <a:tailEnd type="none" w="med" len="med"/>
          </a:ln>
        </p:spPr>
      </p:sp>
      <p:sp>
        <p:nvSpPr>
          <p:cNvPr id="28678" name="Line 85"/>
          <p:cNvSpPr/>
          <p:nvPr/>
        </p:nvSpPr>
        <p:spPr>
          <a:xfrm>
            <a:off x="1447800" y="5943600"/>
            <a:ext cx="0" cy="228600"/>
          </a:xfrm>
          <a:prstGeom prst="line">
            <a:avLst/>
          </a:prstGeom>
          <a:ln w="28575" cap="flat" cmpd="sng">
            <a:solidFill>
              <a:schemeClr val="accent2"/>
            </a:solidFill>
            <a:prstDash val="solid"/>
            <a:headEnd type="none" w="med" len="med"/>
            <a:tailEnd type="none" w="med" len="med"/>
          </a:ln>
        </p:spPr>
      </p:sp>
      <p:sp>
        <p:nvSpPr>
          <p:cNvPr id="28679" name="Line 86"/>
          <p:cNvSpPr/>
          <p:nvPr/>
        </p:nvSpPr>
        <p:spPr>
          <a:xfrm>
            <a:off x="3048000" y="5943600"/>
            <a:ext cx="0" cy="228600"/>
          </a:xfrm>
          <a:prstGeom prst="line">
            <a:avLst/>
          </a:prstGeom>
          <a:ln w="28575" cap="flat" cmpd="sng">
            <a:solidFill>
              <a:schemeClr val="accent2"/>
            </a:solidFill>
            <a:prstDash val="solid"/>
            <a:headEnd type="none" w="med" len="med"/>
            <a:tailEnd type="none" w="med" len="med"/>
          </a:ln>
        </p:spPr>
      </p:sp>
      <p:sp>
        <p:nvSpPr>
          <p:cNvPr id="28680" name="Line 87"/>
          <p:cNvSpPr/>
          <p:nvPr/>
        </p:nvSpPr>
        <p:spPr>
          <a:xfrm>
            <a:off x="4572000" y="5943600"/>
            <a:ext cx="0" cy="228600"/>
          </a:xfrm>
          <a:prstGeom prst="line">
            <a:avLst/>
          </a:prstGeom>
          <a:ln w="28575" cap="flat" cmpd="sng">
            <a:solidFill>
              <a:schemeClr val="accent2"/>
            </a:solidFill>
            <a:prstDash val="solid"/>
            <a:headEnd type="none" w="med" len="med"/>
            <a:tailEnd type="none" w="med" len="med"/>
          </a:ln>
        </p:spPr>
      </p:sp>
      <p:sp>
        <p:nvSpPr>
          <p:cNvPr id="28681" name="Line 88"/>
          <p:cNvSpPr/>
          <p:nvPr/>
        </p:nvSpPr>
        <p:spPr>
          <a:xfrm>
            <a:off x="6324600" y="5943600"/>
            <a:ext cx="0" cy="228600"/>
          </a:xfrm>
          <a:prstGeom prst="line">
            <a:avLst/>
          </a:prstGeom>
          <a:ln w="28575" cap="flat" cmpd="sng">
            <a:solidFill>
              <a:schemeClr val="accent2"/>
            </a:solidFill>
            <a:prstDash val="solid"/>
            <a:headEnd type="none" w="med" len="med"/>
            <a:tailEnd type="none" w="med" len="med"/>
          </a:ln>
        </p:spPr>
      </p:sp>
      <p:sp>
        <p:nvSpPr>
          <p:cNvPr id="28682" name="Line 89"/>
          <p:cNvSpPr/>
          <p:nvPr/>
        </p:nvSpPr>
        <p:spPr>
          <a:xfrm>
            <a:off x="7543800" y="5943600"/>
            <a:ext cx="0" cy="228600"/>
          </a:xfrm>
          <a:prstGeom prst="line">
            <a:avLst/>
          </a:prstGeom>
          <a:ln w="28575" cap="flat" cmpd="sng">
            <a:solidFill>
              <a:schemeClr val="accent2"/>
            </a:solidFill>
            <a:prstDash val="solid"/>
            <a:headEnd type="none" w="med" len="med"/>
            <a:tailEnd type="none" w="med" len="med"/>
          </a:ln>
        </p:spPr>
      </p:sp>
      <p:sp>
        <p:nvSpPr>
          <p:cNvPr id="28683" name="Text Box 90"/>
          <p:cNvSpPr txBox="1"/>
          <p:nvPr/>
        </p:nvSpPr>
        <p:spPr>
          <a:xfrm>
            <a:off x="685800" y="61722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1</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4" name="Text Box 91"/>
          <p:cNvSpPr txBox="1"/>
          <p:nvPr/>
        </p:nvSpPr>
        <p:spPr>
          <a:xfrm>
            <a:off x="2133600" y="6172200"/>
            <a:ext cx="4572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2</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5" name="Text Box 92"/>
          <p:cNvSpPr txBox="1"/>
          <p:nvPr/>
        </p:nvSpPr>
        <p:spPr>
          <a:xfrm>
            <a:off x="3733800" y="6172200"/>
            <a:ext cx="381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3</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6" name="Text Box 93"/>
          <p:cNvSpPr txBox="1"/>
          <p:nvPr/>
        </p:nvSpPr>
        <p:spPr>
          <a:xfrm>
            <a:off x="5257800" y="6172200"/>
            <a:ext cx="762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4</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7" name="Text Box 94"/>
          <p:cNvSpPr txBox="1"/>
          <p:nvPr/>
        </p:nvSpPr>
        <p:spPr>
          <a:xfrm>
            <a:off x="67056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5</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8" name="Text Box 95"/>
          <p:cNvSpPr txBox="1"/>
          <p:nvPr/>
        </p:nvSpPr>
        <p:spPr>
          <a:xfrm>
            <a:off x="80772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6</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28689" name="Oval 96"/>
          <p:cNvSpPr/>
          <p:nvPr/>
        </p:nvSpPr>
        <p:spPr>
          <a:xfrm>
            <a:off x="228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28690" name="Oval 97"/>
          <p:cNvSpPr/>
          <p:nvPr/>
        </p:nvSpPr>
        <p:spPr>
          <a:xfrm>
            <a:off x="12954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691" name="Oval 98"/>
          <p:cNvSpPr/>
          <p:nvPr/>
        </p:nvSpPr>
        <p:spPr>
          <a:xfrm>
            <a:off x="1371600" y="4267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692" name="Oval 99"/>
          <p:cNvSpPr/>
          <p:nvPr/>
        </p:nvSpPr>
        <p:spPr>
          <a:xfrm>
            <a:off x="2895600" y="1981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693" name="Oval 100"/>
          <p:cNvSpPr/>
          <p:nvPr/>
        </p:nvSpPr>
        <p:spPr>
          <a:xfrm>
            <a:off x="2819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28694" name="Oval 101"/>
          <p:cNvSpPr/>
          <p:nvPr/>
        </p:nvSpPr>
        <p:spPr>
          <a:xfrm>
            <a:off x="28194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695" name="Oval 102"/>
          <p:cNvSpPr/>
          <p:nvPr/>
        </p:nvSpPr>
        <p:spPr>
          <a:xfrm>
            <a:off x="2819400" y="5486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8696" name="Oval 103"/>
          <p:cNvSpPr/>
          <p:nvPr/>
        </p:nvSpPr>
        <p:spPr>
          <a:xfrm>
            <a:off x="44196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697" name="Oval 104"/>
          <p:cNvSpPr/>
          <p:nvPr/>
        </p:nvSpPr>
        <p:spPr>
          <a:xfrm>
            <a:off x="4419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698" name="Oval 105"/>
          <p:cNvSpPr/>
          <p:nvPr/>
        </p:nvSpPr>
        <p:spPr>
          <a:xfrm>
            <a:off x="4419600" y="487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699" name="Oval 106"/>
          <p:cNvSpPr/>
          <p:nvPr/>
        </p:nvSpPr>
        <p:spPr>
          <a:xfrm>
            <a:off x="60198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700" name="Oval 107"/>
          <p:cNvSpPr/>
          <p:nvPr/>
        </p:nvSpPr>
        <p:spPr>
          <a:xfrm>
            <a:off x="60198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01" name="Oval 108"/>
          <p:cNvSpPr/>
          <p:nvPr/>
        </p:nvSpPr>
        <p:spPr>
          <a:xfrm>
            <a:off x="60960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02" name="Oval 109"/>
          <p:cNvSpPr/>
          <p:nvPr/>
        </p:nvSpPr>
        <p:spPr>
          <a:xfrm>
            <a:off x="7391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703" name="Oval 110"/>
          <p:cNvSpPr/>
          <p:nvPr/>
        </p:nvSpPr>
        <p:spPr>
          <a:xfrm>
            <a:off x="7391400" y="4495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04" name="Oval 111"/>
          <p:cNvSpPr/>
          <p:nvPr/>
        </p:nvSpPr>
        <p:spPr>
          <a:xfrm>
            <a:off x="84582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28705" name="Line 112"/>
          <p:cNvSpPr/>
          <p:nvPr/>
        </p:nvSpPr>
        <p:spPr>
          <a:xfrm flipV="1">
            <a:off x="609600" y="3124200"/>
            <a:ext cx="762000" cy="609600"/>
          </a:xfrm>
          <a:prstGeom prst="line">
            <a:avLst/>
          </a:prstGeom>
          <a:ln w="28575" cap="flat" cmpd="sng">
            <a:solidFill>
              <a:schemeClr val="tx1"/>
            </a:solidFill>
            <a:prstDash val="solid"/>
            <a:headEnd type="none" w="med" len="med"/>
            <a:tailEnd type="triangle" w="med" len="med"/>
          </a:ln>
        </p:spPr>
      </p:sp>
      <p:sp>
        <p:nvSpPr>
          <p:cNvPr id="28706" name="Line 113"/>
          <p:cNvSpPr/>
          <p:nvPr/>
        </p:nvSpPr>
        <p:spPr>
          <a:xfrm>
            <a:off x="609600" y="4038600"/>
            <a:ext cx="762000" cy="304800"/>
          </a:xfrm>
          <a:prstGeom prst="line">
            <a:avLst/>
          </a:prstGeom>
          <a:ln w="28575" cap="flat" cmpd="sng">
            <a:solidFill>
              <a:schemeClr val="tx1"/>
            </a:solidFill>
            <a:prstDash val="solid"/>
            <a:headEnd type="none" w="med" len="med"/>
            <a:tailEnd type="triangle" w="med" len="med"/>
          </a:ln>
        </p:spPr>
      </p:sp>
      <p:sp>
        <p:nvSpPr>
          <p:cNvPr id="28707" name="Line 114"/>
          <p:cNvSpPr/>
          <p:nvPr/>
        </p:nvSpPr>
        <p:spPr>
          <a:xfrm flipV="1">
            <a:off x="1676400" y="2286000"/>
            <a:ext cx="1219200" cy="533400"/>
          </a:xfrm>
          <a:prstGeom prst="line">
            <a:avLst/>
          </a:prstGeom>
          <a:ln w="28575" cap="flat" cmpd="sng">
            <a:solidFill>
              <a:schemeClr val="tx1"/>
            </a:solidFill>
            <a:prstDash val="solid"/>
            <a:headEnd type="none" w="med" len="med"/>
            <a:tailEnd type="triangle" w="med" len="med"/>
          </a:ln>
        </p:spPr>
      </p:sp>
      <p:sp>
        <p:nvSpPr>
          <p:cNvPr id="28708" name="Line 115"/>
          <p:cNvSpPr/>
          <p:nvPr/>
        </p:nvSpPr>
        <p:spPr>
          <a:xfrm>
            <a:off x="1752600" y="2971800"/>
            <a:ext cx="1066800" cy="304800"/>
          </a:xfrm>
          <a:prstGeom prst="line">
            <a:avLst/>
          </a:prstGeom>
          <a:ln w="28575" cap="flat" cmpd="sng">
            <a:solidFill>
              <a:schemeClr val="tx1"/>
            </a:solidFill>
            <a:prstDash val="solid"/>
            <a:headEnd type="none" w="med" len="med"/>
            <a:tailEnd type="triangle" w="med" len="med"/>
          </a:ln>
        </p:spPr>
      </p:sp>
      <p:sp>
        <p:nvSpPr>
          <p:cNvPr id="28709" name="Line 116"/>
          <p:cNvSpPr/>
          <p:nvPr/>
        </p:nvSpPr>
        <p:spPr>
          <a:xfrm>
            <a:off x="1676400" y="3200400"/>
            <a:ext cx="1219200" cy="1219200"/>
          </a:xfrm>
          <a:prstGeom prst="line">
            <a:avLst/>
          </a:prstGeom>
          <a:ln w="28575" cap="flat" cmpd="sng">
            <a:solidFill>
              <a:schemeClr val="tx1"/>
            </a:solidFill>
            <a:prstDash val="solid"/>
            <a:headEnd type="none" w="med" len="med"/>
            <a:tailEnd type="triangle" w="med" len="med"/>
          </a:ln>
        </p:spPr>
      </p:sp>
      <p:sp>
        <p:nvSpPr>
          <p:cNvPr id="28710" name="Line 117"/>
          <p:cNvSpPr/>
          <p:nvPr/>
        </p:nvSpPr>
        <p:spPr>
          <a:xfrm flipV="1">
            <a:off x="1752600" y="3352800"/>
            <a:ext cx="1066800" cy="990600"/>
          </a:xfrm>
          <a:prstGeom prst="line">
            <a:avLst/>
          </a:prstGeom>
          <a:ln w="28575" cap="flat" cmpd="sng">
            <a:solidFill>
              <a:schemeClr val="tx1"/>
            </a:solidFill>
            <a:prstDash val="solid"/>
            <a:headEnd type="none" w="med" len="med"/>
            <a:tailEnd type="triangle" w="med" len="med"/>
          </a:ln>
        </p:spPr>
      </p:sp>
      <p:sp>
        <p:nvSpPr>
          <p:cNvPr id="28711" name="Line 118"/>
          <p:cNvSpPr/>
          <p:nvPr/>
        </p:nvSpPr>
        <p:spPr>
          <a:xfrm>
            <a:off x="1828800" y="4572000"/>
            <a:ext cx="990600" cy="0"/>
          </a:xfrm>
          <a:prstGeom prst="line">
            <a:avLst/>
          </a:prstGeom>
          <a:ln w="28575" cap="flat" cmpd="sng">
            <a:solidFill>
              <a:schemeClr val="tx1"/>
            </a:solidFill>
            <a:prstDash val="solid"/>
            <a:headEnd type="none" w="med" len="med"/>
            <a:tailEnd type="triangle" w="med" len="med"/>
          </a:ln>
        </p:spPr>
      </p:sp>
      <p:sp>
        <p:nvSpPr>
          <p:cNvPr id="28712" name="Line 119"/>
          <p:cNvSpPr/>
          <p:nvPr/>
        </p:nvSpPr>
        <p:spPr>
          <a:xfrm>
            <a:off x="1752600" y="4648200"/>
            <a:ext cx="1143000" cy="914400"/>
          </a:xfrm>
          <a:prstGeom prst="line">
            <a:avLst/>
          </a:prstGeom>
          <a:ln w="28575" cap="flat" cmpd="sng">
            <a:solidFill>
              <a:schemeClr val="tx1"/>
            </a:solidFill>
            <a:prstDash val="solid"/>
            <a:headEnd type="none" w="med" len="med"/>
            <a:tailEnd type="triangle" w="med" len="med"/>
          </a:ln>
        </p:spPr>
      </p:sp>
      <p:sp>
        <p:nvSpPr>
          <p:cNvPr id="28713" name="Line 120"/>
          <p:cNvSpPr/>
          <p:nvPr/>
        </p:nvSpPr>
        <p:spPr>
          <a:xfrm>
            <a:off x="3352800" y="2286000"/>
            <a:ext cx="1066800" cy="381000"/>
          </a:xfrm>
          <a:prstGeom prst="line">
            <a:avLst/>
          </a:prstGeom>
          <a:ln w="28575" cap="flat" cmpd="sng">
            <a:solidFill>
              <a:schemeClr val="tx1"/>
            </a:solidFill>
            <a:prstDash val="solid"/>
            <a:headEnd type="none" w="med" len="med"/>
            <a:tailEnd type="triangle" w="med" len="med"/>
          </a:ln>
        </p:spPr>
      </p:sp>
      <p:sp>
        <p:nvSpPr>
          <p:cNvPr id="28714" name="Line 121"/>
          <p:cNvSpPr/>
          <p:nvPr/>
        </p:nvSpPr>
        <p:spPr>
          <a:xfrm>
            <a:off x="3276600" y="2438400"/>
            <a:ext cx="1219200" cy="1295400"/>
          </a:xfrm>
          <a:prstGeom prst="line">
            <a:avLst/>
          </a:prstGeom>
          <a:ln w="28575" cap="flat" cmpd="sng">
            <a:solidFill>
              <a:schemeClr val="tx1"/>
            </a:solidFill>
            <a:prstDash val="solid"/>
            <a:headEnd type="none" w="med" len="med"/>
            <a:tailEnd type="triangle" w="med" len="med"/>
          </a:ln>
        </p:spPr>
      </p:sp>
      <p:sp>
        <p:nvSpPr>
          <p:cNvPr id="28715" name="Line 122"/>
          <p:cNvSpPr/>
          <p:nvPr/>
        </p:nvSpPr>
        <p:spPr>
          <a:xfrm flipV="1">
            <a:off x="3276600" y="2819400"/>
            <a:ext cx="1143000" cy="457200"/>
          </a:xfrm>
          <a:prstGeom prst="line">
            <a:avLst/>
          </a:prstGeom>
          <a:ln w="28575" cap="flat" cmpd="sng">
            <a:solidFill>
              <a:schemeClr val="tx1"/>
            </a:solidFill>
            <a:prstDash val="solid"/>
            <a:headEnd type="none" w="med" len="med"/>
            <a:tailEnd type="triangle" w="med" len="med"/>
          </a:ln>
        </p:spPr>
      </p:sp>
      <p:sp>
        <p:nvSpPr>
          <p:cNvPr id="28716" name="Line 123"/>
          <p:cNvSpPr/>
          <p:nvPr/>
        </p:nvSpPr>
        <p:spPr>
          <a:xfrm>
            <a:off x="3276600" y="3429000"/>
            <a:ext cx="1143000" cy="381000"/>
          </a:xfrm>
          <a:prstGeom prst="line">
            <a:avLst/>
          </a:prstGeom>
          <a:ln w="28575" cap="flat" cmpd="sng">
            <a:solidFill>
              <a:schemeClr val="tx1"/>
            </a:solidFill>
            <a:prstDash val="solid"/>
            <a:headEnd type="none" w="med" len="med"/>
            <a:tailEnd type="triangle" w="med" len="med"/>
          </a:ln>
        </p:spPr>
      </p:sp>
      <p:sp>
        <p:nvSpPr>
          <p:cNvPr id="28717" name="Line 124"/>
          <p:cNvSpPr/>
          <p:nvPr/>
        </p:nvSpPr>
        <p:spPr>
          <a:xfrm flipV="1">
            <a:off x="3276600" y="3962400"/>
            <a:ext cx="1143000" cy="609600"/>
          </a:xfrm>
          <a:prstGeom prst="line">
            <a:avLst/>
          </a:prstGeom>
          <a:ln w="28575" cap="flat" cmpd="sng">
            <a:solidFill>
              <a:schemeClr val="tx1"/>
            </a:solidFill>
            <a:prstDash val="solid"/>
            <a:headEnd type="none" w="med" len="med"/>
            <a:tailEnd type="triangle" w="med" len="med"/>
          </a:ln>
        </p:spPr>
      </p:sp>
      <p:sp>
        <p:nvSpPr>
          <p:cNvPr id="28718" name="Line 125"/>
          <p:cNvSpPr/>
          <p:nvPr/>
        </p:nvSpPr>
        <p:spPr>
          <a:xfrm>
            <a:off x="3276600" y="4724400"/>
            <a:ext cx="1143000" cy="304800"/>
          </a:xfrm>
          <a:prstGeom prst="line">
            <a:avLst/>
          </a:prstGeom>
          <a:ln w="28575" cap="flat" cmpd="sng">
            <a:solidFill>
              <a:schemeClr val="tx1"/>
            </a:solidFill>
            <a:prstDash val="solid"/>
            <a:headEnd type="none" w="med" len="med"/>
            <a:tailEnd type="triangle" w="med" len="med"/>
          </a:ln>
        </p:spPr>
      </p:sp>
      <p:sp>
        <p:nvSpPr>
          <p:cNvPr id="28719" name="Line 126"/>
          <p:cNvSpPr/>
          <p:nvPr/>
        </p:nvSpPr>
        <p:spPr>
          <a:xfrm flipV="1">
            <a:off x="3276600" y="5257800"/>
            <a:ext cx="1219200" cy="457200"/>
          </a:xfrm>
          <a:prstGeom prst="line">
            <a:avLst/>
          </a:prstGeom>
          <a:ln w="28575" cap="flat" cmpd="sng">
            <a:solidFill>
              <a:schemeClr val="tx1"/>
            </a:solidFill>
            <a:prstDash val="solid"/>
            <a:headEnd type="none" w="med" len="med"/>
            <a:tailEnd type="triangle" w="med" len="med"/>
          </a:ln>
        </p:spPr>
      </p:sp>
      <p:sp>
        <p:nvSpPr>
          <p:cNvPr id="28720" name="Line 127"/>
          <p:cNvSpPr/>
          <p:nvPr/>
        </p:nvSpPr>
        <p:spPr>
          <a:xfrm flipV="1">
            <a:off x="3276600" y="4038600"/>
            <a:ext cx="1295400" cy="1600200"/>
          </a:xfrm>
          <a:prstGeom prst="line">
            <a:avLst/>
          </a:prstGeom>
          <a:ln w="28575" cap="flat" cmpd="sng">
            <a:solidFill>
              <a:schemeClr val="tx1"/>
            </a:solidFill>
            <a:prstDash val="solid"/>
            <a:headEnd type="none" w="med" len="med"/>
            <a:tailEnd type="triangle" w="med" len="med"/>
          </a:ln>
        </p:spPr>
      </p:sp>
      <p:sp>
        <p:nvSpPr>
          <p:cNvPr id="28721" name="Line 128"/>
          <p:cNvSpPr/>
          <p:nvPr/>
        </p:nvSpPr>
        <p:spPr>
          <a:xfrm>
            <a:off x="4876800" y="2743200"/>
            <a:ext cx="1143000" cy="0"/>
          </a:xfrm>
          <a:prstGeom prst="line">
            <a:avLst/>
          </a:prstGeom>
          <a:ln w="28575" cap="flat" cmpd="sng">
            <a:solidFill>
              <a:schemeClr val="tx1"/>
            </a:solidFill>
            <a:prstDash val="solid"/>
            <a:headEnd type="none" w="med" len="med"/>
            <a:tailEnd type="triangle" w="med" len="med"/>
          </a:ln>
        </p:spPr>
      </p:sp>
      <p:sp>
        <p:nvSpPr>
          <p:cNvPr id="28722" name="Line 129"/>
          <p:cNvSpPr/>
          <p:nvPr/>
        </p:nvSpPr>
        <p:spPr>
          <a:xfrm>
            <a:off x="4876800" y="2895600"/>
            <a:ext cx="1219200" cy="914400"/>
          </a:xfrm>
          <a:prstGeom prst="line">
            <a:avLst/>
          </a:prstGeom>
          <a:ln w="28575" cap="flat" cmpd="sng">
            <a:solidFill>
              <a:schemeClr val="tx1"/>
            </a:solidFill>
            <a:prstDash val="solid"/>
            <a:headEnd type="none" w="med" len="med"/>
            <a:tailEnd type="triangle" w="med" len="med"/>
          </a:ln>
        </p:spPr>
      </p:sp>
      <p:sp>
        <p:nvSpPr>
          <p:cNvPr id="28723" name="Line 130"/>
          <p:cNvSpPr/>
          <p:nvPr/>
        </p:nvSpPr>
        <p:spPr>
          <a:xfrm>
            <a:off x="4876800" y="3962400"/>
            <a:ext cx="1143000" cy="0"/>
          </a:xfrm>
          <a:prstGeom prst="line">
            <a:avLst/>
          </a:prstGeom>
          <a:ln w="28575" cap="flat" cmpd="sng">
            <a:solidFill>
              <a:schemeClr val="tx1"/>
            </a:solidFill>
            <a:prstDash val="solid"/>
            <a:headEnd type="none" w="med" len="med"/>
            <a:tailEnd type="triangle" w="med" len="med"/>
          </a:ln>
        </p:spPr>
      </p:sp>
      <p:sp>
        <p:nvSpPr>
          <p:cNvPr id="28724" name="Line 131"/>
          <p:cNvSpPr/>
          <p:nvPr/>
        </p:nvSpPr>
        <p:spPr>
          <a:xfrm>
            <a:off x="4800600" y="4038600"/>
            <a:ext cx="1295400" cy="990600"/>
          </a:xfrm>
          <a:prstGeom prst="line">
            <a:avLst/>
          </a:prstGeom>
          <a:ln w="28575" cap="flat" cmpd="sng">
            <a:solidFill>
              <a:schemeClr val="tx1"/>
            </a:solidFill>
            <a:prstDash val="solid"/>
            <a:headEnd type="none" w="med" len="med"/>
            <a:tailEnd type="triangle" w="med" len="med"/>
          </a:ln>
        </p:spPr>
      </p:sp>
      <p:sp>
        <p:nvSpPr>
          <p:cNvPr id="28725" name="Line 132"/>
          <p:cNvSpPr/>
          <p:nvPr/>
        </p:nvSpPr>
        <p:spPr>
          <a:xfrm flipV="1">
            <a:off x="4876800" y="4038600"/>
            <a:ext cx="1219200" cy="990600"/>
          </a:xfrm>
          <a:prstGeom prst="line">
            <a:avLst/>
          </a:prstGeom>
          <a:ln w="28575" cap="flat" cmpd="sng">
            <a:solidFill>
              <a:schemeClr val="tx1"/>
            </a:solidFill>
            <a:prstDash val="solid"/>
            <a:headEnd type="none" w="med" len="med"/>
            <a:tailEnd type="triangle" w="med" len="med"/>
          </a:ln>
        </p:spPr>
      </p:sp>
      <p:sp>
        <p:nvSpPr>
          <p:cNvPr id="28726" name="Line 133"/>
          <p:cNvSpPr/>
          <p:nvPr/>
        </p:nvSpPr>
        <p:spPr>
          <a:xfrm>
            <a:off x="4876800" y="5181600"/>
            <a:ext cx="1219200" cy="0"/>
          </a:xfrm>
          <a:prstGeom prst="line">
            <a:avLst/>
          </a:prstGeom>
          <a:ln w="28575" cap="flat" cmpd="sng">
            <a:solidFill>
              <a:schemeClr val="tx1"/>
            </a:solidFill>
            <a:prstDash val="solid"/>
            <a:headEnd type="none" w="med" len="med"/>
            <a:tailEnd type="triangle" w="med" len="med"/>
          </a:ln>
        </p:spPr>
      </p:sp>
      <p:sp>
        <p:nvSpPr>
          <p:cNvPr id="28727" name="Line 134"/>
          <p:cNvSpPr/>
          <p:nvPr/>
        </p:nvSpPr>
        <p:spPr>
          <a:xfrm>
            <a:off x="6477000" y="2819400"/>
            <a:ext cx="990600" cy="304800"/>
          </a:xfrm>
          <a:prstGeom prst="line">
            <a:avLst/>
          </a:prstGeom>
          <a:ln w="28575" cap="flat" cmpd="sng">
            <a:solidFill>
              <a:schemeClr val="tx1"/>
            </a:solidFill>
            <a:prstDash val="solid"/>
            <a:headEnd type="none" w="med" len="med"/>
            <a:tailEnd type="triangle" w="med" len="med"/>
          </a:ln>
        </p:spPr>
      </p:sp>
      <p:sp>
        <p:nvSpPr>
          <p:cNvPr id="28728" name="Line 135"/>
          <p:cNvSpPr/>
          <p:nvPr/>
        </p:nvSpPr>
        <p:spPr>
          <a:xfrm flipV="1">
            <a:off x="6477000" y="3352800"/>
            <a:ext cx="914400" cy="533400"/>
          </a:xfrm>
          <a:prstGeom prst="line">
            <a:avLst/>
          </a:prstGeom>
          <a:ln w="28575" cap="flat" cmpd="sng">
            <a:solidFill>
              <a:schemeClr val="tx1"/>
            </a:solidFill>
            <a:prstDash val="solid"/>
            <a:headEnd type="none" w="med" len="med"/>
            <a:tailEnd type="triangle" w="med" len="med"/>
          </a:ln>
        </p:spPr>
      </p:sp>
      <p:sp>
        <p:nvSpPr>
          <p:cNvPr id="28729" name="Line 136"/>
          <p:cNvSpPr/>
          <p:nvPr/>
        </p:nvSpPr>
        <p:spPr>
          <a:xfrm>
            <a:off x="6477000" y="2895600"/>
            <a:ext cx="1066800" cy="1600200"/>
          </a:xfrm>
          <a:prstGeom prst="line">
            <a:avLst/>
          </a:prstGeom>
          <a:ln w="28575" cap="flat" cmpd="sng">
            <a:solidFill>
              <a:schemeClr val="tx1"/>
            </a:solidFill>
            <a:prstDash val="solid"/>
            <a:headEnd type="none" w="med" len="med"/>
            <a:tailEnd type="triangle" w="med" len="med"/>
          </a:ln>
        </p:spPr>
      </p:sp>
      <p:sp>
        <p:nvSpPr>
          <p:cNvPr id="28730" name="Line 137"/>
          <p:cNvSpPr/>
          <p:nvPr/>
        </p:nvSpPr>
        <p:spPr>
          <a:xfrm>
            <a:off x="6477000" y="3962400"/>
            <a:ext cx="990600" cy="609600"/>
          </a:xfrm>
          <a:prstGeom prst="line">
            <a:avLst/>
          </a:prstGeom>
          <a:ln w="28575" cap="flat" cmpd="sng">
            <a:solidFill>
              <a:schemeClr val="tx1"/>
            </a:solidFill>
            <a:prstDash val="solid"/>
            <a:headEnd type="none" w="med" len="med"/>
            <a:tailEnd type="triangle" w="med" len="med"/>
          </a:ln>
        </p:spPr>
      </p:sp>
      <p:sp>
        <p:nvSpPr>
          <p:cNvPr id="28731" name="Line 138"/>
          <p:cNvSpPr/>
          <p:nvPr/>
        </p:nvSpPr>
        <p:spPr>
          <a:xfrm flipV="1">
            <a:off x="6553200" y="3505200"/>
            <a:ext cx="990600" cy="1524000"/>
          </a:xfrm>
          <a:prstGeom prst="line">
            <a:avLst/>
          </a:prstGeom>
          <a:ln w="38100" cap="flat" cmpd="sng">
            <a:solidFill>
              <a:schemeClr val="tx1"/>
            </a:solidFill>
            <a:prstDash val="solid"/>
            <a:headEnd type="none" w="med" len="med"/>
            <a:tailEnd type="triangle" w="med" len="med"/>
          </a:ln>
        </p:spPr>
      </p:sp>
      <p:sp>
        <p:nvSpPr>
          <p:cNvPr id="28732" name="Line 139"/>
          <p:cNvSpPr/>
          <p:nvPr/>
        </p:nvSpPr>
        <p:spPr>
          <a:xfrm flipV="1">
            <a:off x="6553200" y="4876800"/>
            <a:ext cx="914400" cy="381000"/>
          </a:xfrm>
          <a:prstGeom prst="line">
            <a:avLst/>
          </a:prstGeom>
          <a:ln w="28575" cap="flat" cmpd="sng">
            <a:solidFill>
              <a:schemeClr val="tx1"/>
            </a:solidFill>
            <a:prstDash val="solid"/>
            <a:headEnd type="none" w="med" len="med"/>
            <a:tailEnd type="triangle" w="med" len="med"/>
          </a:ln>
        </p:spPr>
      </p:sp>
      <p:sp>
        <p:nvSpPr>
          <p:cNvPr id="28733" name="Line 140"/>
          <p:cNvSpPr/>
          <p:nvPr/>
        </p:nvSpPr>
        <p:spPr>
          <a:xfrm>
            <a:off x="7848600" y="3352800"/>
            <a:ext cx="685800" cy="381000"/>
          </a:xfrm>
          <a:prstGeom prst="line">
            <a:avLst/>
          </a:prstGeom>
          <a:ln w="28575" cap="flat" cmpd="sng">
            <a:solidFill>
              <a:schemeClr val="tx1"/>
            </a:solidFill>
            <a:prstDash val="solid"/>
            <a:headEnd type="none" w="med" len="med"/>
            <a:tailEnd type="triangle" w="med" len="med"/>
          </a:ln>
        </p:spPr>
      </p:sp>
      <p:sp>
        <p:nvSpPr>
          <p:cNvPr id="28734" name="Line 141"/>
          <p:cNvSpPr/>
          <p:nvPr/>
        </p:nvSpPr>
        <p:spPr>
          <a:xfrm flipV="1">
            <a:off x="7848600" y="4038600"/>
            <a:ext cx="685800" cy="609600"/>
          </a:xfrm>
          <a:prstGeom prst="line">
            <a:avLst/>
          </a:prstGeom>
          <a:ln w="28575" cap="flat" cmpd="sng">
            <a:solidFill>
              <a:schemeClr val="tx1"/>
            </a:solidFill>
            <a:prstDash val="solid"/>
            <a:headEnd type="none" w="med" len="med"/>
            <a:tailEnd type="triangle" w="med" len="med"/>
          </a:ln>
        </p:spPr>
      </p:sp>
      <p:sp>
        <p:nvSpPr>
          <p:cNvPr id="28735" name="Text Box 142"/>
          <p:cNvSpPr txBox="1"/>
          <p:nvPr/>
        </p:nvSpPr>
        <p:spPr>
          <a:xfrm>
            <a:off x="685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8736" name="Text Box 143"/>
          <p:cNvSpPr txBox="1"/>
          <p:nvPr/>
        </p:nvSpPr>
        <p:spPr>
          <a:xfrm>
            <a:off x="685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37" name="Text Box 144"/>
          <p:cNvSpPr txBox="1"/>
          <p:nvPr/>
        </p:nvSpPr>
        <p:spPr>
          <a:xfrm>
            <a:off x="1828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738" name="Text Box 145"/>
          <p:cNvSpPr txBox="1"/>
          <p:nvPr/>
        </p:nvSpPr>
        <p:spPr>
          <a:xfrm>
            <a:off x="2209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39" name="Text Box 146"/>
          <p:cNvSpPr txBox="1"/>
          <p:nvPr/>
        </p:nvSpPr>
        <p:spPr>
          <a:xfrm>
            <a:off x="19050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8740" name="Text Box 147"/>
          <p:cNvSpPr txBox="1"/>
          <p:nvPr/>
        </p:nvSpPr>
        <p:spPr>
          <a:xfrm>
            <a:off x="1752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8741" name="Text Box 148"/>
          <p:cNvSpPr txBox="1"/>
          <p:nvPr/>
        </p:nvSpPr>
        <p:spPr>
          <a:xfrm>
            <a:off x="19812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28742" name="Text Box 149"/>
          <p:cNvSpPr txBox="1"/>
          <p:nvPr/>
        </p:nvSpPr>
        <p:spPr>
          <a:xfrm>
            <a:off x="22098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8743" name="Text Box 150"/>
          <p:cNvSpPr txBox="1"/>
          <p:nvPr/>
        </p:nvSpPr>
        <p:spPr>
          <a:xfrm>
            <a:off x="3276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44" name="Text Box 151"/>
          <p:cNvSpPr txBox="1"/>
          <p:nvPr/>
        </p:nvSpPr>
        <p:spPr>
          <a:xfrm>
            <a:off x="3657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8745" name="Text Box 152"/>
          <p:cNvSpPr txBox="1"/>
          <p:nvPr/>
        </p:nvSpPr>
        <p:spPr>
          <a:xfrm>
            <a:off x="3581400" y="2514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8746" name="Text Box 153"/>
          <p:cNvSpPr txBox="1"/>
          <p:nvPr/>
        </p:nvSpPr>
        <p:spPr>
          <a:xfrm>
            <a:off x="35814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8747" name="Text Box 154"/>
          <p:cNvSpPr txBox="1"/>
          <p:nvPr/>
        </p:nvSpPr>
        <p:spPr>
          <a:xfrm>
            <a:off x="3352800" y="3886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48" name="Text Box 155"/>
          <p:cNvSpPr txBox="1"/>
          <p:nvPr/>
        </p:nvSpPr>
        <p:spPr>
          <a:xfrm>
            <a:off x="35052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49" name="Text Box 156"/>
          <p:cNvSpPr txBox="1"/>
          <p:nvPr/>
        </p:nvSpPr>
        <p:spPr>
          <a:xfrm>
            <a:off x="3276600" y="502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28750" name="Text Box 157"/>
          <p:cNvSpPr txBox="1"/>
          <p:nvPr/>
        </p:nvSpPr>
        <p:spPr>
          <a:xfrm>
            <a:off x="37338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8751" name="Text Box 158"/>
          <p:cNvSpPr txBox="1"/>
          <p:nvPr/>
        </p:nvSpPr>
        <p:spPr>
          <a:xfrm>
            <a:off x="5257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52" name="Text Box 159"/>
          <p:cNvSpPr txBox="1"/>
          <p:nvPr/>
        </p:nvSpPr>
        <p:spPr>
          <a:xfrm>
            <a:off x="54102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53" name="Text Box 160"/>
          <p:cNvSpPr txBox="1"/>
          <p:nvPr/>
        </p:nvSpPr>
        <p:spPr>
          <a:xfrm>
            <a:off x="51816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54" name="Text Box 161"/>
          <p:cNvSpPr txBox="1"/>
          <p:nvPr/>
        </p:nvSpPr>
        <p:spPr>
          <a:xfrm>
            <a:off x="50292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28755" name="Text Box 162"/>
          <p:cNvSpPr txBox="1"/>
          <p:nvPr/>
        </p:nvSpPr>
        <p:spPr>
          <a:xfrm>
            <a:off x="48768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56" name="Text Box 163"/>
          <p:cNvSpPr txBox="1"/>
          <p:nvPr/>
        </p:nvSpPr>
        <p:spPr>
          <a:xfrm>
            <a:off x="79248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57" name="Text Box 164"/>
          <p:cNvSpPr txBox="1"/>
          <p:nvPr/>
        </p:nvSpPr>
        <p:spPr>
          <a:xfrm>
            <a:off x="6858000" y="2590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28758" name="Text Box 165"/>
          <p:cNvSpPr txBox="1"/>
          <p:nvPr/>
        </p:nvSpPr>
        <p:spPr>
          <a:xfrm>
            <a:off x="6781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8759" name="Text Box 166"/>
          <p:cNvSpPr txBox="1"/>
          <p:nvPr/>
        </p:nvSpPr>
        <p:spPr>
          <a:xfrm>
            <a:off x="67056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28760" name="Text Box 167"/>
          <p:cNvSpPr txBox="1"/>
          <p:nvPr/>
        </p:nvSpPr>
        <p:spPr>
          <a:xfrm>
            <a:off x="6477000" y="3352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28761" name="Text Box 168"/>
          <p:cNvSpPr txBox="1"/>
          <p:nvPr/>
        </p:nvSpPr>
        <p:spPr>
          <a:xfrm>
            <a:off x="64770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8762" name="Text Box 169"/>
          <p:cNvSpPr txBox="1"/>
          <p:nvPr/>
        </p:nvSpPr>
        <p:spPr>
          <a:xfrm>
            <a:off x="6781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28763" name="Text Box 170"/>
          <p:cNvSpPr txBox="1"/>
          <p:nvPr/>
        </p:nvSpPr>
        <p:spPr>
          <a:xfrm>
            <a:off x="80772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28764" name="Line 177"/>
          <p:cNvSpPr/>
          <p:nvPr/>
        </p:nvSpPr>
        <p:spPr>
          <a:xfrm>
            <a:off x="609600" y="4038600"/>
            <a:ext cx="762000" cy="304800"/>
          </a:xfrm>
          <a:prstGeom prst="line">
            <a:avLst/>
          </a:prstGeom>
          <a:ln w="9525" cap="flat" cmpd="sng">
            <a:solidFill>
              <a:schemeClr val="tx1"/>
            </a:solidFill>
            <a:prstDash val="solid"/>
            <a:headEnd type="none" w="med" len="med"/>
            <a:tailEnd type="triangle" w="med" len="med"/>
          </a:ln>
        </p:spPr>
      </p:sp>
      <p:sp>
        <p:nvSpPr>
          <p:cNvPr id="28765" name="Text Box 178"/>
          <p:cNvSpPr txBox="1"/>
          <p:nvPr/>
        </p:nvSpPr>
        <p:spPr>
          <a:xfrm>
            <a:off x="51054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9698" name="Rectangle 2"/>
          <p:cNvSpPr/>
          <p:nvPr/>
        </p:nvSpPr>
        <p:spPr>
          <a:xfrm>
            <a:off x="304800" y="857250"/>
            <a:ext cx="8534400" cy="1373188"/>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3</a:t>
            </a:r>
            <a:r>
              <a:rPr lang="zh-CN" altLang="en-US" dirty="0">
                <a:solidFill>
                  <a:srgbClr val="000066"/>
                </a:solidFill>
                <a:latin typeface="Times New Roman" panose="02020603050405020304" pitchFamily="18" charset="0"/>
              </a:rPr>
              <a:t>、决策：表示当过程处于某一阶段的某个状态时，可以作出不同的决定，从而确定下一阶段的状态</a:t>
            </a:r>
            <a:r>
              <a:rPr lang="zh-CN" altLang="en-US" dirty="0">
                <a:latin typeface="Times New Roman" panose="02020603050405020304" pitchFamily="18" charset="0"/>
                <a:ea typeface="宋体" panose="02010600030101010101" pitchFamily="2" charset="-122"/>
              </a:rPr>
              <a:t>，</a:t>
            </a:r>
            <a:r>
              <a:rPr lang="zh-CN" altLang="en-US" dirty="0">
                <a:solidFill>
                  <a:srgbClr val="000066"/>
                </a:solidFill>
                <a:latin typeface="Times New Roman" panose="02020603050405020304" pitchFamily="18" charset="0"/>
              </a:rPr>
              <a:t>这种决定称为</a:t>
            </a:r>
            <a:r>
              <a:rPr lang="zh-CN" altLang="en-US" dirty="0">
                <a:solidFill>
                  <a:srgbClr val="FF0000"/>
                </a:solidFill>
                <a:latin typeface="Times New Roman" panose="02020603050405020304" pitchFamily="18" charset="0"/>
              </a:rPr>
              <a:t>决策</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
        <p:nvSpPr>
          <p:cNvPr id="29699" name="Rectangle 5"/>
          <p:cNvSpPr/>
          <p:nvPr/>
        </p:nvSpPr>
        <p:spPr>
          <a:xfrm>
            <a:off x="228600" y="2457450"/>
            <a:ext cx="8610600" cy="1816100"/>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描述决策的变量，称为</a:t>
            </a:r>
            <a:r>
              <a:rPr lang="zh-CN" altLang="en-US" dirty="0">
                <a:solidFill>
                  <a:srgbClr val="FF0000"/>
                </a:solidFill>
                <a:latin typeface="Times New Roman" panose="02020603050405020304" pitchFamily="18" charset="0"/>
              </a:rPr>
              <a:t>决策变量</a:t>
            </a:r>
            <a:r>
              <a:rPr lang="zh-CN" altLang="en-US" dirty="0">
                <a:solidFill>
                  <a:srgbClr val="000066"/>
                </a:solidFill>
                <a:latin typeface="Times New Roman" panose="02020603050405020304" pitchFamily="18" charset="0"/>
              </a:rPr>
              <a:t>。决策变量是状态变量的函数。可用一个数或一组数来描述。</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在实际问题中决策变量的取值往往在某一范围之内，此范围称为</a:t>
            </a:r>
            <a:r>
              <a:rPr lang="zh-CN" altLang="en-US" dirty="0">
                <a:solidFill>
                  <a:srgbClr val="FF0000"/>
                </a:solidFill>
                <a:latin typeface="Times New Roman" panose="02020603050405020304" pitchFamily="18" charset="0"/>
              </a:rPr>
              <a:t>允许决策集合</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22" name="Text Box 2"/>
          <p:cNvSpPr txBox="1"/>
          <p:nvPr/>
        </p:nvSpPr>
        <p:spPr>
          <a:xfrm>
            <a:off x="304800" y="533400"/>
            <a:ext cx="8458200" cy="1373188"/>
          </a:xfrm>
          <a:prstGeom prst="rect">
            <a:avLst/>
          </a:prstGeom>
          <a:noFill/>
          <a:ln w="9525">
            <a:noFill/>
          </a:ln>
        </p:spPr>
        <p:txBody>
          <a:bodyPr>
            <a:spAutoFit/>
          </a:bodyPr>
          <a:p>
            <a:pPr>
              <a:spcBef>
                <a:spcPct val="50000"/>
              </a:spcBef>
            </a:pPr>
            <a:r>
              <a:rPr lang="zh-CN" altLang="en-US" dirty="0">
                <a:solidFill>
                  <a:srgbClr val="FF6600"/>
                </a:solidFill>
                <a:latin typeface="楷体_GB2312" pitchFamily="49" charset="-122"/>
              </a:rPr>
              <a:t>最短路问题</a:t>
            </a:r>
            <a:r>
              <a:rPr lang="zh-CN" altLang="en-US" dirty="0">
                <a:latin typeface="楷体_GB2312" pitchFamily="49" charset="-122"/>
              </a:rPr>
              <a:t>：给定一个交通网络图如下，其中两点之间的数字表示距离（或花费），试求从</a:t>
            </a:r>
            <a:r>
              <a:rPr lang="en-US" altLang="zh-CN" dirty="0">
                <a:latin typeface="Times New Roman" panose="02020603050405020304" pitchFamily="18" charset="0"/>
              </a:rPr>
              <a:t>A</a:t>
            </a:r>
            <a:r>
              <a:rPr lang="zh-CN" altLang="en-US" dirty="0">
                <a:latin typeface="楷体_GB2312" pitchFamily="49" charset="-122"/>
              </a:rPr>
              <a:t>点到</a:t>
            </a:r>
            <a:r>
              <a:rPr lang="en-US" altLang="zh-CN" dirty="0">
                <a:latin typeface="Times New Roman" panose="02020603050405020304" pitchFamily="18" charset="0"/>
              </a:rPr>
              <a:t>G</a:t>
            </a:r>
            <a:r>
              <a:rPr lang="zh-CN" altLang="en-US" dirty="0">
                <a:latin typeface="楷体_GB2312" pitchFamily="49" charset="-122"/>
              </a:rPr>
              <a:t>点的最短距离（总费用最小）。</a:t>
            </a:r>
            <a:endParaRPr lang="zh-CN" altLang="en-US" dirty="0">
              <a:latin typeface="楷体_GB2312" pitchFamily="49" charset="-122"/>
            </a:endParaRPr>
          </a:p>
        </p:txBody>
      </p:sp>
      <p:sp>
        <p:nvSpPr>
          <p:cNvPr id="30723" name="Line 82"/>
          <p:cNvSpPr/>
          <p:nvPr/>
        </p:nvSpPr>
        <p:spPr>
          <a:xfrm>
            <a:off x="304800" y="6172200"/>
            <a:ext cx="8382000" cy="0"/>
          </a:xfrm>
          <a:prstGeom prst="line">
            <a:avLst/>
          </a:prstGeom>
          <a:ln w="28575" cap="flat" cmpd="sng">
            <a:solidFill>
              <a:schemeClr val="accent2"/>
            </a:solidFill>
            <a:prstDash val="solid"/>
            <a:headEnd type="none" w="med" len="med"/>
            <a:tailEnd type="none" w="med" len="med"/>
          </a:ln>
        </p:spPr>
      </p:sp>
      <p:sp>
        <p:nvSpPr>
          <p:cNvPr id="30724" name="Line 83"/>
          <p:cNvSpPr/>
          <p:nvPr/>
        </p:nvSpPr>
        <p:spPr>
          <a:xfrm>
            <a:off x="304800" y="5943600"/>
            <a:ext cx="0" cy="228600"/>
          </a:xfrm>
          <a:prstGeom prst="line">
            <a:avLst/>
          </a:prstGeom>
          <a:ln w="28575" cap="flat" cmpd="sng">
            <a:solidFill>
              <a:schemeClr val="accent2"/>
            </a:solidFill>
            <a:prstDash val="solid"/>
            <a:headEnd type="none" w="med" len="med"/>
            <a:tailEnd type="none" w="med" len="med"/>
          </a:ln>
        </p:spPr>
      </p:sp>
      <p:sp>
        <p:nvSpPr>
          <p:cNvPr id="30725" name="Line 84"/>
          <p:cNvSpPr/>
          <p:nvPr/>
        </p:nvSpPr>
        <p:spPr>
          <a:xfrm>
            <a:off x="8686800" y="5943600"/>
            <a:ext cx="0" cy="228600"/>
          </a:xfrm>
          <a:prstGeom prst="line">
            <a:avLst/>
          </a:prstGeom>
          <a:ln w="28575" cap="flat" cmpd="sng">
            <a:solidFill>
              <a:schemeClr val="accent2"/>
            </a:solidFill>
            <a:prstDash val="solid"/>
            <a:headEnd type="none" w="med" len="med"/>
            <a:tailEnd type="none" w="med" len="med"/>
          </a:ln>
        </p:spPr>
      </p:sp>
      <p:sp>
        <p:nvSpPr>
          <p:cNvPr id="30726" name="Line 85"/>
          <p:cNvSpPr/>
          <p:nvPr/>
        </p:nvSpPr>
        <p:spPr>
          <a:xfrm>
            <a:off x="1447800" y="5943600"/>
            <a:ext cx="0" cy="228600"/>
          </a:xfrm>
          <a:prstGeom prst="line">
            <a:avLst/>
          </a:prstGeom>
          <a:ln w="28575" cap="flat" cmpd="sng">
            <a:solidFill>
              <a:schemeClr val="accent2"/>
            </a:solidFill>
            <a:prstDash val="solid"/>
            <a:headEnd type="none" w="med" len="med"/>
            <a:tailEnd type="none" w="med" len="med"/>
          </a:ln>
        </p:spPr>
      </p:sp>
      <p:sp>
        <p:nvSpPr>
          <p:cNvPr id="30727" name="Line 86"/>
          <p:cNvSpPr/>
          <p:nvPr/>
        </p:nvSpPr>
        <p:spPr>
          <a:xfrm>
            <a:off x="3048000" y="5943600"/>
            <a:ext cx="0" cy="228600"/>
          </a:xfrm>
          <a:prstGeom prst="line">
            <a:avLst/>
          </a:prstGeom>
          <a:ln w="28575" cap="flat" cmpd="sng">
            <a:solidFill>
              <a:schemeClr val="accent2"/>
            </a:solidFill>
            <a:prstDash val="solid"/>
            <a:headEnd type="none" w="med" len="med"/>
            <a:tailEnd type="none" w="med" len="med"/>
          </a:ln>
        </p:spPr>
      </p:sp>
      <p:sp>
        <p:nvSpPr>
          <p:cNvPr id="30728" name="Line 87"/>
          <p:cNvSpPr/>
          <p:nvPr/>
        </p:nvSpPr>
        <p:spPr>
          <a:xfrm>
            <a:off x="4572000" y="5943600"/>
            <a:ext cx="0" cy="228600"/>
          </a:xfrm>
          <a:prstGeom prst="line">
            <a:avLst/>
          </a:prstGeom>
          <a:ln w="28575" cap="flat" cmpd="sng">
            <a:solidFill>
              <a:schemeClr val="accent2"/>
            </a:solidFill>
            <a:prstDash val="solid"/>
            <a:headEnd type="none" w="med" len="med"/>
            <a:tailEnd type="none" w="med" len="med"/>
          </a:ln>
        </p:spPr>
      </p:sp>
      <p:sp>
        <p:nvSpPr>
          <p:cNvPr id="30729" name="Line 88"/>
          <p:cNvSpPr/>
          <p:nvPr/>
        </p:nvSpPr>
        <p:spPr>
          <a:xfrm>
            <a:off x="6324600" y="5943600"/>
            <a:ext cx="0" cy="228600"/>
          </a:xfrm>
          <a:prstGeom prst="line">
            <a:avLst/>
          </a:prstGeom>
          <a:ln w="28575" cap="flat" cmpd="sng">
            <a:solidFill>
              <a:schemeClr val="accent2"/>
            </a:solidFill>
            <a:prstDash val="solid"/>
            <a:headEnd type="none" w="med" len="med"/>
            <a:tailEnd type="none" w="med" len="med"/>
          </a:ln>
        </p:spPr>
      </p:sp>
      <p:sp>
        <p:nvSpPr>
          <p:cNvPr id="30730" name="Line 89"/>
          <p:cNvSpPr/>
          <p:nvPr/>
        </p:nvSpPr>
        <p:spPr>
          <a:xfrm>
            <a:off x="7543800" y="5943600"/>
            <a:ext cx="0" cy="228600"/>
          </a:xfrm>
          <a:prstGeom prst="line">
            <a:avLst/>
          </a:prstGeom>
          <a:ln w="28575" cap="flat" cmpd="sng">
            <a:solidFill>
              <a:schemeClr val="accent2"/>
            </a:solidFill>
            <a:prstDash val="solid"/>
            <a:headEnd type="none" w="med" len="med"/>
            <a:tailEnd type="none" w="med" len="med"/>
          </a:ln>
        </p:spPr>
      </p:sp>
      <p:sp>
        <p:nvSpPr>
          <p:cNvPr id="30731" name="Text Box 90"/>
          <p:cNvSpPr txBox="1"/>
          <p:nvPr/>
        </p:nvSpPr>
        <p:spPr>
          <a:xfrm>
            <a:off x="685800" y="61722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1</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2" name="Text Box 91"/>
          <p:cNvSpPr txBox="1"/>
          <p:nvPr/>
        </p:nvSpPr>
        <p:spPr>
          <a:xfrm>
            <a:off x="2133600" y="6172200"/>
            <a:ext cx="4572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2</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3" name="Text Box 92"/>
          <p:cNvSpPr txBox="1"/>
          <p:nvPr/>
        </p:nvSpPr>
        <p:spPr>
          <a:xfrm>
            <a:off x="3733800" y="6172200"/>
            <a:ext cx="381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3</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4" name="Text Box 93"/>
          <p:cNvSpPr txBox="1"/>
          <p:nvPr/>
        </p:nvSpPr>
        <p:spPr>
          <a:xfrm>
            <a:off x="5257800" y="6172200"/>
            <a:ext cx="762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4</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5" name="Text Box 94"/>
          <p:cNvSpPr txBox="1"/>
          <p:nvPr/>
        </p:nvSpPr>
        <p:spPr>
          <a:xfrm>
            <a:off x="67056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5</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6" name="Text Box 95"/>
          <p:cNvSpPr txBox="1"/>
          <p:nvPr/>
        </p:nvSpPr>
        <p:spPr>
          <a:xfrm>
            <a:off x="80772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6</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0737" name="Oval 96"/>
          <p:cNvSpPr/>
          <p:nvPr/>
        </p:nvSpPr>
        <p:spPr>
          <a:xfrm>
            <a:off x="228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0738" name="Oval 97"/>
          <p:cNvSpPr/>
          <p:nvPr/>
        </p:nvSpPr>
        <p:spPr>
          <a:xfrm>
            <a:off x="12954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39" name="Oval 98"/>
          <p:cNvSpPr/>
          <p:nvPr/>
        </p:nvSpPr>
        <p:spPr>
          <a:xfrm>
            <a:off x="1371600" y="4267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740" name="Oval 99"/>
          <p:cNvSpPr/>
          <p:nvPr/>
        </p:nvSpPr>
        <p:spPr>
          <a:xfrm>
            <a:off x="2895600" y="1981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41" name="Oval 100"/>
          <p:cNvSpPr/>
          <p:nvPr/>
        </p:nvSpPr>
        <p:spPr>
          <a:xfrm>
            <a:off x="2819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30742" name="Oval 101"/>
          <p:cNvSpPr/>
          <p:nvPr/>
        </p:nvSpPr>
        <p:spPr>
          <a:xfrm>
            <a:off x="28194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43" name="Oval 102"/>
          <p:cNvSpPr/>
          <p:nvPr/>
        </p:nvSpPr>
        <p:spPr>
          <a:xfrm>
            <a:off x="2819400" y="5486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0744" name="Oval 103"/>
          <p:cNvSpPr/>
          <p:nvPr/>
        </p:nvSpPr>
        <p:spPr>
          <a:xfrm>
            <a:off x="44196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45" name="Oval 104"/>
          <p:cNvSpPr/>
          <p:nvPr/>
        </p:nvSpPr>
        <p:spPr>
          <a:xfrm>
            <a:off x="4419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746" name="Oval 105"/>
          <p:cNvSpPr/>
          <p:nvPr/>
        </p:nvSpPr>
        <p:spPr>
          <a:xfrm>
            <a:off x="4419600" y="487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47" name="Oval 106"/>
          <p:cNvSpPr/>
          <p:nvPr/>
        </p:nvSpPr>
        <p:spPr>
          <a:xfrm>
            <a:off x="60198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48" name="Oval 107"/>
          <p:cNvSpPr/>
          <p:nvPr/>
        </p:nvSpPr>
        <p:spPr>
          <a:xfrm>
            <a:off x="60198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749" name="Oval 108"/>
          <p:cNvSpPr/>
          <p:nvPr/>
        </p:nvSpPr>
        <p:spPr>
          <a:xfrm>
            <a:off x="60960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50" name="Oval 109"/>
          <p:cNvSpPr/>
          <p:nvPr/>
        </p:nvSpPr>
        <p:spPr>
          <a:xfrm>
            <a:off x="7391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51" name="Oval 110"/>
          <p:cNvSpPr/>
          <p:nvPr/>
        </p:nvSpPr>
        <p:spPr>
          <a:xfrm>
            <a:off x="7391400" y="4495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752" name="Oval 111"/>
          <p:cNvSpPr/>
          <p:nvPr/>
        </p:nvSpPr>
        <p:spPr>
          <a:xfrm>
            <a:off x="84582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30753" name="Line 112"/>
          <p:cNvSpPr/>
          <p:nvPr/>
        </p:nvSpPr>
        <p:spPr>
          <a:xfrm flipV="1">
            <a:off x="609600" y="3124200"/>
            <a:ext cx="762000" cy="609600"/>
          </a:xfrm>
          <a:prstGeom prst="line">
            <a:avLst/>
          </a:prstGeom>
          <a:ln w="28575" cap="flat" cmpd="sng">
            <a:solidFill>
              <a:schemeClr val="tx1"/>
            </a:solidFill>
            <a:prstDash val="solid"/>
            <a:headEnd type="none" w="med" len="med"/>
            <a:tailEnd type="triangle" w="med" len="med"/>
          </a:ln>
        </p:spPr>
      </p:sp>
      <p:sp>
        <p:nvSpPr>
          <p:cNvPr id="30754" name="Line 113"/>
          <p:cNvSpPr/>
          <p:nvPr/>
        </p:nvSpPr>
        <p:spPr>
          <a:xfrm>
            <a:off x="609600" y="4038600"/>
            <a:ext cx="762000" cy="304800"/>
          </a:xfrm>
          <a:prstGeom prst="line">
            <a:avLst/>
          </a:prstGeom>
          <a:ln w="28575" cap="flat" cmpd="sng">
            <a:solidFill>
              <a:schemeClr val="tx1"/>
            </a:solidFill>
            <a:prstDash val="solid"/>
            <a:headEnd type="none" w="med" len="med"/>
            <a:tailEnd type="triangle" w="med" len="med"/>
          </a:ln>
        </p:spPr>
      </p:sp>
      <p:sp>
        <p:nvSpPr>
          <p:cNvPr id="30755" name="Line 114"/>
          <p:cNvSpPr/>
          <p:nvPr/>
        </p:nvSpPr>
        <p:spPr>
          <a:xfrm flipV="1">
            <a:off x="1676400" y="2286000"/>
            <a:ext cx="1219200" cy="533400"/>
          </a:xfrm>
          <a:prstGeom prst="line">
            <a:avLst/>
          </a:prstGeom>
          <a:ln w="28575" cap="flat" cmpd="sng">
            <a:solidFill>
              <a:schemeClr val="tx1"/>
            </a:solidFill>
            <a:prstDash val="solid"/>
            <a:headEnd type="none" w="med" len="med"/>
            <a:tailEnd type="triangle" w="med" len="med"/>
          </a:ln>
        </p:spPr>
      </p:sp>
      <p:sp>
        <p:nvSpPr>
          <p:cNvPr id="30756" name="Line 115"/>
          <p:cNvSpPr/>
          <p:nvPr/>
        </p:nvSpPr>
        <p:spPr>
          <a:xfrm>
            <a:off x="1752600" y="2971800"/>
            <a:ext cx="1066800" cy="304800"/>
          </a:xfrm>
          <a:prstGeom prst="line">
            <a:avLst/>
          </a:prstGeom>
          <a:ln w="28575" cap="flat" cmpd="sng">
            <a:solidFill>
              <a:schemeClr val="tx1"/>
            </a:solidFill>
            <a:prstDash val="solid"/>
            <a:headEnd type="none" w="med" len="med"/>
            <a:tailEnd type="triangle" w="med" len="med"/>
          </a:ln>
        </p:spPr>
      </p:sp>
      <p:sp>
        <p:nvSpPr>
          <p:cNvPr id="30757" name="Line 116"/>
          <p:cNvSpPr/>
          <p:nvPr/>
        </p:nvSpPr>
        <p:spPr>
          <a:xfrm>
            <a:off x="1676400" y="3200400"/>
            <a:ext cx="1219200" cy="1219200"/>
          </a:xfrm>
          <a:prstGeom prst="line">
            <a:avLst/>
          </a:prstGeom>
          <a:ln w="28575" cap="flat" cmpd="sng">
            <a:solidFill>
              <a:schemeClr val="tx1"/>
            </a:solidFill>
            <a:prstDash val="solid"/>
            <a:headEnd type="none" w="med" len="med"/>
            <a:tailEnd type="triangle" w="med" len="med"/>
          </a:ln>
        </p:spPr>
      </p:sp>
      <p:sp>
        <p:nvSpPr>
          <p:cNvPr id="30758" name="Line 117"/>
          <p:cNvSpPr/>
          <p:nvPr/>
        </p:nvSpPr>
        <p:spPr>
          <a:xfrm flipV="1">
            <a:off x="1752600" y="3352800"/>
            <a:ext cx="1066800" cy="990600"/>
          </a:xfrm>
          <a:prstGeom prst="line">
            <a:avLst/>
          </a:prstGeom>
          <a:ln w="28575" cap="flat" cmpd="sng">
            <a:solidFill>
              <a:schemeClr val="tx1"/>
            </a:solidFill>
            <a:prstDash val="solid"/>
            <a:headEnd type="none" w="med" len="med"/>
            <a:tailEnd type="triangle" w="med" len="med"/>
          </a:ln>
        </p:spPr>
      </p:sp>
      <p:sp>
        <p:nvSpPr>
          <p:cNvPr id="30759" name="Line 118"/>
          <p:cNvSpPr/>
          <p:nvPr/>
        </p:nvSpPr>
        <p:spPr>
          <a:xfrm>
            <a:off x="1828800" y="4572000"/>
            <a:ext cx="990600" cy="0"/>
          </a:xfrm>
          <a:prstGeom prst="line">
            <a:avLst/>
          </a:prstGeom>
          <a:ln w="28575" cap="flat" cmpd="sng">
            <a:solidFill>
              <a:schemeClr val="tx1"/>
            </a:solidFill>
            <a:prstDash val="solid"/>
            <a:headEnd type="none" w="med" len="med"/>
            <a:tailEnd type="triangle" w="med" len="med"/>
          </a:ln>
        </p:spPr>
      </p:sp>
      <p:sp>
        <p:nvSpPr>
          <p:cNvPr id="30760" name="Line 119"/>
          <p:cNvSpPr/>
          <p:nvPr/>
        </p:nvSpPr>
        <p:spPr>
          <a:xfrm>
            <a:off x="1752600" y="4648200"/>
            <a:ext cx="1143000" cy="914400"/>
          </a:xfrm>
          <a:prstGeom prst="line">
            <a:avLst/>
          </a:prstGeom>
          <a:ln w="28575" cap="flat" cmpd="sng">
            <a:solidFill>
              <a:schemeClr val="tx1"/>
            </a:solidFill>
            <a:prstDash val="solid"/>
            <a:headEnd type="none" w="med" len="med"/>
            <a:tailEnd type="triangle" w="med" len="med"/>
          </a:ln>
        </p:spPr>
      </p:sp>
      <p:sp>
        <p:nvSpPr>
          <p:cNvPr id="30761" name="Line 120"/>
          <p:cNvSpPr/>
          <p:nvPr/>
        </p:nvSpPr>
        <p:spPr>
          <a:xfrm>
            <a:off x="3352800" y="2286000"/>
            <a:ext cx="1066800" cy="381000"/>
          </a:xfrm>
          <a:prstGeom prst="line">
            <a:avLst/>
          </a:prstGeom>
          <a:ln w="28575" cap="flat" cmpd="sng">
            <a:solidFill>
              <a:schemeClr val="tx1"/>
            </a:solidFill>
            <a:prstDash val="solid"/>
            <a:headEnd type="none" w="med" len="med"/>
            <a:tailEnd type="triangle" w="med" len="med"/>
          </a:ln>
        </p:spPr>
      </p:sp>
      <p:sp>
        <p:nvSpPr>
          <p:cNvPr id="30762" name="Line 121"/>
          <p:cNvSpPr/>
          <p:nvPr/>
        </p:nvSpPr>
        <p:spPr>
          <a:xfrm>
            <a:off x="3276600" y="2438400"/>
            <a:ext cx="1219200" cy="1295400"/>
          </a:xfrm>
          <a:prstGeom prst="line">
            <a:avLst/>
          </a:prstGeom>
          <a:ln w="28575" cap="flat" cmpd="sng">
            <a:solidFill>
              <a:schemeClr val="tx1"/>
            </a:solidFill>
            <a:prstDash val="solid"/>
            <a:headEnd type="none" w="med" len="med"/>
            <a:tailEnd type="triangle" w="med" len="med"/>
          </a:ln>
        </p:spPr>
      </p:sp>
      <p:sp>
        <p:nvSpPr>
          <p:cNvPr id="30763" name="Line 122"/>
          <p:cNvSpPr/>
          <p:nvPr/>
        </p:nvSpPr>
        <p:spPr>
          <a:xfrm flipV="1">
            <a:off x="3276600" y="2819400"/>
            <a:ext cx="1143000" cy="457200"/>
          </a:xfrm>
          <a:prstGeom prst="line">
            <a:avLst/>
          </a:prstGeom>
          <a:ln w="28575" cap="flat" cmpd="sng">
            <a:solidFill>
              <a:schemeClr val="tx1"/>
            </a:solidFill>
            <a:prstDash val="solid"/>
            <a:headEnd type="none" w="med" len="med"/>
            <a:tailEnd type="triangle" w="med" len="med"/>
          </a:ln>
        </p:spPr>
      </p:sp>
      <p:sp>
        <p:nvSpPr>
          <p:cNvPr id="30764" name="Line 123"/>
          <p:cNvSpPr/>
          <p:nvPr/>
        </p:nvSpPr>
        <p:spPr>
          <a:xfrm>
            <a:off x="3276600" y="3429000"/>
            <a:ext cx="1143000" cy="381000"/>
          </a:xfrm>
          <a:prstGeom prst="line">
            <a:avLst/>
          </a:prstGeom>
          <a:ln w="28575" cap="flat" cmpd="sng">
            <a:solidFill>
              <a:schemeClr val="tx1"/>
            </a:solidFill>
            <a:prstDash val="solid"/>
            <a:headEnd type="none" w="med" len="med"/>
            <a:tailEnd type="triangle" w="med" len="med"/>
          </a:ln>
        </p:spPr>
      </p:sp>
      <p:sp>
        <p:nvSpPr>
          <p:cNvPr id="30765" name="Line 124"/>
          <p:cNvSpPr/>
          <p:nvPr/>
        </p:nvSpPr>
        <p:spPr>
          <a:xfrm flipV="1">
            <a:off x="3276600" y="3962400"/>
            <a:ext cx="1143000" cy="609600"/>
          </a:xfrm>
          <a:prstGeom prst="line">
            <a:avLst/>
          </a:prstGeom>
          <a:ln w="28575" cap="flat" cmpd="sng">
            <a:solidFill>
              <a:schemeClr val="tx1"/>
            </a:solidFill>
            <a:prstDash val="solid"/>
            <a:headEnd type="none" w="med" len="med"/>
            <a:tailEnd type="triangle" w="med" len="med"/>
          </a:ln>
        </p:spPr>
      </p:sp>
      <p:sp>
        <p:nvSpPr>
          <p:cNvPr id="30766" name="Line 125"/>
          <p:cNvSpPr/>
          <p:nvPr/>
        </p:nvSpPr>
        <p:spPr>
          <a:xfrm>
            <a:off x="3276600" y="4724400"/>
            <a:ext cx="1143000" cy="304800"/>
          </a:xfrm>
          <a:prstGeom prst="line">
            <a:avLst/>
          </a:prstGeom>
          <a:ln w="28575" cap="flat" cmpd="sng">
            <a:solidFill>
              <a:schemeClr val="tx1"/>
            </a:solidFill>
            <a:prstDash val="solid"/>
            <a:headEnd type="none" w="med" len="med"/>
            <a:tailEnd type="triangle" w="med" len="med"/>
          </a:ln>
        </p:spPr>
      </p:sp>
      <p:sp>
        <p:nvSpPr>
          <p:cNvPr id="30767" name="Line 126"/>
          <p:cNvSpPr/>
          <p:nvPr/>
        </p:nvSpPr>
        <p:spPr>
          <a:xfrm flipV="1">
            <a:off x="3276600" y="5257800"/>
            <a:ext cx="1219200" cy="457200"/>
          </a:xfrm>
          <a:prstGeom prst="line">
            <a:avLst/>
          </a:prstGeom>
          <a:ln w="28575" cap="flat" cmpd="sng">
            <a:solidFill>
              <a:schemeClr val="tx1"/>
            </a:solidFill>
            <a:prstDash val="solid"/>
            <a:headEnd type="none" w="med" len="med"/>
            <a:tailEnd type="triangle" w="med" len="med"/>
          </a:ln>
        </p:spPr>
      </p:sp>
      <p:sp>
        <p:nvSpPr>
          <p:cNvPr id="30768" name="Line 127"/>
          <p:cNvSpPr/>
          <p:nvPr/>
        </p:nvSpPr>
        <p:spPr>
          <a:xfrm flipV="1">
            <a:off x="3276600" y="4038600"/>
            <a:ext cx="1295400" cy="1600200"/>
          </a:xfrm>
          <a:prstGeom prst="line">
            <a:avLst/>
          </a:prstGeom>
          <a:ln w="28575" cap="flat" cmpd="sng">
            <a:solidFill>
              <a:schemeClr val="tx1"/>
            </a:solidFill>
            <a:prstDash val="solid"/>
            <a:headEnd type="none" w="med" len="med"/>
            <a:tailEnd type="triangle" w="med" len="med"/>
          </a:ln>
        </p:spPr>
      </p:sp>
      <p:sp>
        <p:nvSpPr>
          <p:cNvPr id="30769" name="Line 128"/>
          <p:cNvSpPr/>
          <p:nvPr/>
        </p:nvSpPr>
        <p:spPr>
          <a:xfrm>
            <a:off x="4876800" y="2743200"/>
            <a:ext cx="1143000" cy="0"/>
          </a:xfrm>
          <a:prstGeom prst="line">
            <a:avLst/>
          </a:prstGeom>
          <a:ln w="28575" cap="flat" cmpd="sng">
            <a:solidFill>
              <a:schemeClr val="tx1"/>
            </a:solidFill>
            <a:prstDash val="solid"/>
            <a:headEnd type="none" w="med" len="med"/>
            <a:tailEnd type="triangle" w="med" len="med"/>
          </a:ln>
        </p:spPr>
      </p:sp>
      <p:sp>
        <p:nvSpPr>
          <p:cNvPr id="30770" name="Line 129"/>
          <p:cNvSpPr/>
          <p:nvPr/>
        </p:nvSpPr>
        <p:spPr>
          <a:xfrm>
            <a:off x="4876800" y="2895600"/>
            <a:ext cx="1219200" cy="914400"/>
          </a:xfrm>
          <a:prstGeom prst="line">
            <a:avLst/>
          </a:prstGeom>
          <a:ln w="28575" cap="flat" cmpd="sng">
            <a:solidFill>
              <a:schemeClr val="tx1"/>
            </a:solidFill>
            <a:prstDash val="solid"/>
            <a:headEnd type="none" w="med" len="med"/>
            <a:tailEnd type="triangle" w="med" len="med"/>
          </a:ln>
        </p:spPr>
      </p:sp>
      <p:sp>
        <p:nvSpPr>
          <p:cNvPr id="30771" name="Line 130"/>
          <p:cNvSpPr/>
          <p:nvPr/>
        </p:nvSpPr>
        <p:spPr>
          <a:xfrm>
            <a:off x="4876800" y="3962400"/>
            <a:ext cx="1143000" cy="0"/>
          </a:xfrm>
          <a:prstGeom prst="line">
            <a:avLst/>
          </a:prstGeom>
          <a:ln w="28575" cap="flat" cmpd="sng">
            <a:solidFill>
              <a:schemeClr val="tx1"/>
            </a:solidFill>
            <a:prstDash val="solid"/>
            <a:headEnd type="none" w="med" len="med"/>
            <a:tailEnd type="triangle" w="med" len="med"/>
          </a:ln>
        </p:spPr>
      </p:sp>
      <p:sp>
        <p:nvSpPr>
          <p:cNvPr id="30772" name="Line 131"/>
          <p:cNvSpPr/>
          <p:nvPr/>
        </p:nvSpPr>
        <p:spPr>
          <a:xfrm>
            <a:off x="4800600" y="4038600"/>
            <a:ext cx="1295400" cy="990600"/>
          </a:xfrm>
          <a:prstGeom prst="line">
            <a:avLst/>
          </a:prstGeom>
          <a:ln w="28575" cap="flat" cmpd="sng">
            <a:solidFill>
              <a:schemeClr val="tx1"/>
            </a:solidFill>
            <a:prstDash val="solid"/>
            <a:headEnd type="none" w="med" len="med"/>
            <a:tailEnd type="triangle" w="med" len="med"/>
          </a:ln>
        </p:spPr>
      </p:sp>
      <p:sp>
        <p:nvSpPr>
          <p:cNvPr id="30773" name="Line 132"/>
          <p:cNvSpPr/>
          <p:nvPr/>
        </p:nvSpPr>
        <p:spPr>
          <a:xfrm flipV="1">
            <a:off x="4876800" y="4038600"/>
            <a:ext cx="1219200" cy="990600"/>
          </a:xfrm>
          <a:prstGeom prst="line">
            <a:avLst/>
          </a:prstGeom>
          <a:ln w="28575" cap="flat" cmpd="sng">
            <a:solidFill>
              <a:schemeClr val="tx1"/>
            </a:solidFill>
            <a:prstDash val="solid"/>
            <a:headEnd type="none" w="med" len="med"/>
            <a:tailEnd type="triangle" w="med" len="med"/>
          </a:ln>
        </p:spPr>
      </p:sp>
      <p:sp>
        <p:nvSpPr>
          <p:cNvPr id="30774" name="Line 133"/>
          <p:cNvSpPr/>
          <p:nvPr/>
        </p:nvSpPr>
        <p:spPr>
          <a:xfrm>
            <a:off x="4876800" y="5181600"/>
            <a:ext cx="1219200" cy="0"/>
          </a:xfrm>
          <a:prstGeom prst="line">
            <a:avLst/>
          </a:prstGeom>
          <a:ln w="28575" cap="flat" cmpd="sng">
            <a:solidFill>
              <a:schemeClr val="tx1"/>
            </a:solidFill>
            <a:prstDash val="solid"/>
            <a:headEnd type="none" w="med" len="med"/>
            <a:tailEnd type="triangle" w="med" len="med"/>
          </a:ln>
        </p:spPr>
      </p:sp>
      <p:sp>
        <p:nvSpPr>
          <p:cNvPr id="30775" name="Line 134"/>
          <p:cNvSpPr/>
          <p:nvPr/>
        </p:nvSpPr>
        <p:spPr>
          <a:xfrm>
            <a:off x="6477000" y="2819400"/>
            <a:ext cx="990600" cy="304800"/>
          </a:xfrm>
          <a:prstGeom prst="line">
            <a:avLst/>
          </a:prstGeom>
          <a:ln w="28575" cap="flat" cmpd="sng">
            <a:solidFill>
              <a:schemeClr val="tx1"/>
            </a:solidFill>
            <a:prstDash val="solid"/>
            <a:headEnd type="none" w="med" len="med"/>
            <a:tailEnd type="triangle" w="med" len="med"/>
          </a:ln>
        </p:spPr>
      </p:sp>
      <p:sp>
        <p:nvSpPr>
          <p:cNvPr id="30776" name="Line 135"/>
          <p:cNvSpPr/>
          <p:nvPr/>
        </p:nvSpPr>
        <p:spPr>
          <a:xfrm flipV="1">
            <a:off x="6477000" y="3352800"/>
            <a:ext cx="914400" cy="533400"/>
          </a:xfrm>
          <a:prstGeom prst="line">
            <a:avLst/>
          </a:prstGeom>
          <a:ln w="28575" cap="flat" cmpd="sng">
            <a:solidFill>
              <a:schemeClr val="tx1"/>
            </a:solidFill>
            <a:prstDash val="solid"/>
            <a:headEnd type="none" w="med" len="med"/>
            <a:tailEnd type="triangle" w="med" len="med"/>
          </a:ln>
        </p:spPr>
      </p:sp>
      <p:sp>
        <p:nvSpPr>
          <p:cNvPr id="30777" name="Line 136"/>
          <p:cNvSpPr/>
          <p:nvPr/>
        </p:nvSpPr>
        <p:spPr>
          <a:xfrm>
            <a:off x="6477000" y="2895600"/>
            <a:ext cx="1066800" cy="1600200"/>
          </a:xfrm>
          <a:prstGeom prst="line">
            <a:avLst/>
          </a:prstGeom>
          <a:ln w="28575" cap="flat" cmpd="sng">
            <a:solidFill>
              <a:schemeClr val="tx1"/>
            </a:solidFill>
            <a:prstDash val="solid"/>
            <a:headEnd type="none" w="med" len="med"/>
            <a:tailEnd type="triangle" w="med" len="med"/>
          </a:ln>
        </p:spPr>
      </p:sp>
      <p:sp>
        <p:nvSpPr>
          <p:cNvPr id="30778" name="Line 137"/>
          <p:cNvSpPr/>
          <p:nvPr/>
        </p:nvSpPr>
        <p:spPr>
          <a:xfrm>
            <a:off x="6477000" y="3962400"/>
            <a:ext cx="990600" cy="609600"/>
          </a:xfrm>
          <a:prstGeom prst="line">
            <a:avLst/>
          </a:prstGeom>
          <a:ln w="28575" cap="flat" cmpd="sng">
            <a:solidFill>
              <a:schemeClr val="tx1"/>
            </a:solidFill>
            <a:prstDash val="solid"/>
            <a:headEnd type="none" w="med" len="med"/>
            <a:tailEnd type="triangle" w="med" len="med"/>
          </a:ln>
        </p:spPr>
      </p:sp>
      <p:sp>
        <p:nvSpPr>
          <p:cNvPr id="30779" name="Line 138"/>
          <p:cNvSpPr/>
          <p:nvPr/>
        </p:nvSpPr>
        <p:spPr>
          <a:xfrm flipV="1">
            <a:off x="6553200" y="3505200"/>
            <a:ext cx="990600" cy="1524000"/>
          </a:xfrm>
          <a:prstGeom prst="line">
            <a:avLst/>
          </a:prstGeom>
          <a:ln w="38100" cap="flat" cmpd="sng">
            <a:solidFill>
              <a:schemeClr val="tx1"/>
            </a:solidFill>
            <a:prstDash val="solid"/>
            <a:headEnd type="none" w="med" len="med"/>
            <a:tailEnd type="triangle" w="med" len="med"/>
          </a:ln>
        </p:spPr>
      </p:sp>
      <p:sp>
        <p:nvSpPr>
          <p:cNvPr id="30780" name="Line 139"/>
          <p:cNvSpPr/>
          <p:nvPr/>
        </p:nvSpPr>
        <p:spPr>
          <a:xfrm flipV="1">
            <a:off x="6553200" y="4876800"/>
            <a:ext cx="914400" cy="381000"/>
          </a:xfrm>
          <a:prstGeom prst="line">
            <a:avLst/>
          </a:prstGeom>
          <a:ln w="28575" cap="flat" cmpd="sng">
            <a:solidFill>
              <a:schemeClr val="tx1"/>
            </a:solidFill>
            <a:prstDash val="solid"/>
            <a:headEnd type="none" w="med" len="med"/>
            <a:tailEnd type="triangle" w="med" len="med"/>
          </a:ln>
        </p:spPr>
      </p:sp>
      <p:sp>
        <p:nvSpPr>
          <p:cNvPr id="30781" name="Line 140"/>
          <p:cNvSpPr/>
          <p:nvPr/>
        </p:nvSpPr>
        <p:spPr>
          <a:xfrm>
            <a:off x="7848600" y="3352800"/>
            <a:ext cx="685800" cy="381000"/>
          </a:xfrm>
          <a:prstGeom prst="line">
            <a:avLst/>
          </a:prstGeom>
          <a:ln w="28575" cap="flat" cmpd="sng">
            <a:solidFill>
              <a:schemeClr val="tx1"/>
            </a:solidFill>
            <a:prstDash val="solid"/>
            <a:headEnd type="none" w="med" len="med"/>
            <a:tailEnd type="triangle" w="med" len="med"/>
          </a:ln>
        </p:spPr>
      </p:sp>
      <p:sp>
        <p:nvSpPr>
          <p:cNvPr id="30782" name="Line 141"/>
          <p:cNvSpPr/>
          <p:nvPr/>
        </p:nvSpPr>
        <p:spPr>
          <a:xfrm flipV="1">
            <a:off x="7848600" y="4038600"/>
            <a:ext cx="685800" cy="609600"/>
          </a:xfrm>
          <a:prstGeom prst="line">
            <a:avLst/>
          </a:prstGeom>
          <a:ln w="28575" cap="flat" cmpd="sng">
            <a:solidFill>
              <a:schemeClr val="tx1"/>
            </a:solidFill>
            <a:prstDash val="solid"/>
            <a:headEnd type="none" w="med" len="med"/>
            <a:tailEnd type="triangle" w="med" len="med"/>
          </a:ln>
        </p:spPr>
      </p:sp>
      <p:sp>
        <p:nvSpPr>
          <p:cNvPr id="30783" name="Text Box 142"/>
          <p:cNvSpPr txBox="1"/>
          <p:nvPr/>
        </p:nvSpPr>
        <p:spPr>
          <a:xfrm>
            <a:off x="685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0784" name="Text Box 143"/>
          <p:cNvSpPr txBox="1"/>
          <p:nvPr/>
        </p:nvSpPr>
        <p:spPr>
          <a:xfrm>
            <a:off x="685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85" name="Text Box 144"/>
          <p:cNvSpPr txBox="1"/>
          <p:nvPr/>
        </p:nvSpPr>
        <p:spPr>
          <a:xfrm>
            <a:off x="1828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786" name="Text Box 145"/>
          <p:cNvSpPr txBox="1"/>
          <p:nvPr/>
        </p:nvSpPr>
        <p:spPr>
          <a:xfrm>
            <a:off x="2209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87" name="Text Box 146"/>
          <p:cNvSpPr txBox="1"/>
          <p:nvPr/>
        </p:nvSpPr>
        <p:spPr>
          <a:xfrm>
            <a:off x="19050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0788" name="Text Box 147"/>
          <p:cNvSpPr txBox="1"/>
          <p:nvPr/>
        </p:nvSpPr>
        <p:spPr>
          <a:xfrm>
            <a:off x="1752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0789" name="Text Box 148"/>
          <p:cNvSpPr txBox="1"/>
          <p:nvPr/>
        </p:nvSpPr>
        <p:spPr>
          <a:xfrm>
            <a:off x="19812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30790" name="Text Box 149"/>
          <p:cNvSpPr txBox="1"/>
          <p:nvPr/>
        </p:nvSpPr>
        <p:spPr>
          <a:xfrm>
            <a:off x="22098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0791" name="Text Box 150"/>
          <p:cNvSpPr txBox="1"/>
          <p:nvPr/>
        </p:nvSpPr>
        <p:spPr>
          <a:xfrm>
            <a:off x="3276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92" name="Text Box 151"/>
          <p:cNvSpPr txBox="1"/>
          <p:nvPr/>
        </p:nvSpPr>
        <p:spPr>
          <a:xfrm>
            <a:off x="3657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0793" name="Text Box 152"/>
          <p:cNvSpPr txBox="1"/>
          <p:nvPr/>
        </p:nvSpPr>
        <p:spPr>
          <a:xfrm>
            <a:off x="3581400" y="2514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0794" name="Text Box 153"/>
          <p:cNvSpPr txBox="1"/>
          <p:nvPr/>
        </p:nvSpPr>
        <p:spPr>
          <a:xfrm>
            <a:off x="35814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0795" name="Text Box 154"/>
          <p:cNvSpPr txBox="1"/>
          <p:nvPr/>
        </p:nvSpPr>
        <p:spPr>
          <a:xfrm>
            <a:off x="3352800" y="3886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96" name="Text Box 155"/>
          <p:cNvSpPr txBox="1"/>
          <p:nvPr/>
        </p:nvSpPr>
        <p:spPr>
          <a:xfrm>
            <a:off x="35052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797" name="Text Box 156"/>
          <p:cNvSpPr txBox="1"/>
          <p:nvPr/>
        </p:nvSpPr>
        <p:spPr>
          <a:xfrm>
            <a:off x="3276600" y="502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0798" name="Text Box 157"/>
          <p:cNvSpPr txBox="1"/>
          <p:nvPr/>
        </p:nvSpPr>
        <p:spPr>
          <a:xfrm>
            <a:off x="37338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0799" name="Text Box 158"/>
          <p:cNvSpPr txBox="1"/>
          <p:nvPr/>
        </p:nvSpPr>
        <p:spPr>
          <a:xfrm>
            <a:off x="5257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800" name="Text Box 159"/>
          <p:cNvSpPr txBox="1"/>
          <p:nvPr/>
        </p:nvSpPr>
        <p:spPr>
          <a:xfrm>
            <a:off x="54102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801" name="Text Box 160"/>
          <p:cNvSpPr txBox="1"/>
          <p:nvPr/>
        </p:nvSpPr>
        <p:spPr>
          <a:xfrm>
            <a:off x="51816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802" name="Text Box 161"/>
          <p:cNvSpPr txBox="1"/>
          <p:nvPr/>
        </p:nvSpPr>
        <p:spPr>
          <a:xfrm>
            <a:off x="50292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0803" name="Text Box 162"/>
          <p:cNvSpPr txBox="1"/>
          <p:nvPr/>
        </p:nvSpPr>
        <p:spPr>
          <a:xfrm>
            <a:off x="48768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804" name="Text Box 163"/>
          <p:cNvSpPr txBox="1"/>
          <p:nvPr/>
        </p:nvSpPr>
        <p:spPr>
          <a:xfrm>
            <a:off x="79248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805" name="Text Box 164"/>
          <p:cNvSpPr txBox="1"/>
          <p:nvPr/>
        </p:nvSpPr>
        <p:spPr>
          <a:xfrm>
            <a:off x="6858000" y="2590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0806" name="Text Box 165"/>
          <p:cNvSpPr txBox="1"/>
          <p:nvPr/>
        </p:nvSpPr>
        <p:spPr>
          <a:xfrm>
            <a:off x="6781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0807" name="Text Box 166"/>
          <p:cNvSpPr txBox="1"/>
          <p:nvPr/>
        </p:nvSpPr>
        <p:spPr>
          <a:xfrm>
            <a:off x="67056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0808" name="Text Box 167"/>
          <p:cNvSpPr txBox="1"/>
          <p:nvPr/>
        </p:nvSpPr>
        <p:spPr>
          <a:xfrm>
            <a:off x="6477000" y="3352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0809" name="Text Box 168"/>
          <p:cNvSpPr txBox="1"/>
          <p:nvPr/>
        </p:nvSpPr>
        <p:spPr>
          <a:xfrm>
            <a:off x="64770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0810" name="Text Box 169"/>
          <p:cNvSpPr txBox="1"/>
          <p:nvPr/>
        </p:nvSpPr>
        <p:spPr>
          <a:xfrm>
            <a:off x="6781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0811" name="Text Box 170"/>
          <p:cNvSpPr txBox="1"/>
          <p:nvPr/>
        </p:nvSpPr>
        <p:spPr>
          <a:xfrm>
            <a:off x="80772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0812" name="Line 177"/>
          <p:cNvSpPr/>
          <p:nvPr/>
        </p:nvSpPr>
        <p:spPr>
          <a:xfrm>
            <a:off x="609600" y="4038600"/>
            <a:ext cx="762000" cy="304800"/>
          </a:xfrm>
          <a:prstGeom prst="line">
            <a:avLst/>
          </a:prstGeom>
          <a:ln w="9525" cap="flat" cmpd="sng">
            <a:solidFill>
              <a:schemeClr val="tx1"/>
            </a:solidFill>
            <a:prstDash val="solid"/>
            <a:headEnd type="none" w="med" len="med"/>
            <a:tailEnd type="triangle" w="med" len="med"/>
          </a:ln>
        </p:spPr>
      </p:sp>
      <p:sp>
        <p:nvSpPr>
          <p:cNvPr id="30813" name="Text Box 178"/>
          <p:cNvSpPr txBox="1"/>
          <p:nvPr/>
        </p:nvSpPr>
        <p:spPr>
          <a:xfrm>
            <a:off x="51054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1746" name="Text Box 7"/>
          <p:cNvSpPr txBox="1"/>
          <p:nvPr/>
        </p:nvSpPr>
        <p:spPr>
          <a:xfrm>
            <a:off x="228600" y="2714625"/>
            <a:ext cx="8610600" cy="1373188"/>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  </a:t>
            </a:r>
            <a:r>
              <a:rPr lang="zh-CN" altLang="en-US" dirty="0">
                <a:solidFill>
                  <a:srgbClr val="000066"/>
                </a:solidFill>
                <a:latin typeface="楷体_GB2312" pitchFamily="49" charset="-122"/>
              </a:rPr>
              <a:t>系统在某一阶段的状态转移不但与系统的当前的状态和决策有关，而且还与系统过去的历史状态和决策有关。</a:t>
            </a:r>
            <a:endParaRPr lang="zh-CN" altLang="en-US" dirty="0">
              <a:solidFill>
                <a:srgbClr val="000066"/>
              </a:solidFill>
              <a:latin typeface="楷体_GB2312" pitchFamily="49" charset="-122"/>
            </a:endParaRPr>
          </a:p>
        </p:txBody>
      </p:sp>
      <p:sp>
        <p:nvSpPr>
          <p:cNvPr id="31747" name="Text Box 8"/>
          <p:cNvSpPr txBox="1"/>
          <p:nvPr/>
        </p:nvSpPr>
        <p:spPr>
          <a:xfrm>
            <a:off x="352425" y="481013"/>
            <a:ext cx="3505200" cy="519112"/>
          </a:xfrm>
          <a:prstGeom prst="rect">
            <a:avLst/>
          </a:prstGeom>
          <a:noFill/>
          <a:ln w="9525">
            <a:noFill/>
          </a:ln>
        </p:spPr>
        <p:txBody>
          <a:bodyPr>
            <a:spAutoFit/>
          </a:bodyPr>
          <a:p>
            <a:pPr>
              <a:spcBef>
                <a:spcPct val="50000"/>
              </a:spcBef>
            </a:pPr>
            <a:r>
              <a:rPr lang="en-US" altLang="zh-CN" dirty="0">
                <a:solidFill>
                  <a:srgbClr val="000066"/>
                </a:solidFill>
                <a:latin typeface="Times New Roman" panose="02020603050405020304" pitchFamily="18" charset="0"/>
              </a:rPr>
              <a:t>   4</a:t>
            </a:r>
            <a:r>
              <a:rPr lang="zh-CN" altLang="en-US" dirty="0">
                <a:solidFill>
                  <a:srgbClr val="000066"/>
                </a:solidFill>
                <a:latin typeface="Times New Roman" panose="02020603050405020304" pitchFamily="18" charset="0"/>
              </a:rPr>
              <a:t>、</a:t>
            </a:r>
            <a:r>
              <a:rPr lang="zh-CN" altLang="en-US" dirty="0">
                <a:solidFill>
                  <a:srgbClr val="000066"/>
                </a:solidFill>
                <a:latin typeface="楷体_GB2312" pitchFamily="49" charset="-122"/>
              </a:rPr>
              <a:t>多阶段决策过程</a:t>
            </a:r>
            <a:endParaRPr lang="zh-CN" altLang="en-US" dirty="0">
              <a:solidFill>
                <a:srgbClr val="000066"/>
              </a:solidFill>
              <a:latin typeface="楷体_GB2312" pitchFamily="49" charset="-122"/>
            </a:endParaRPr>
          </a:p>
        </p:txBody>
      </p:sp>
      <p:sp>
        <p:nvSpPr>
          <p:cNvPr id="31748" name="Text Box 9"/>
          <p:cNvSpPr txBox="1"/>
          <p:nvPr/>
        </p:nvSpPr>
        <p:spPr>
          <a:xfrm>
            <a:off x="152400" y="1428750"/>
            <a:ext cx="8839200" cy="946150"/>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  </a:t>
            </a:r>
            <a:r>
              <a:rPr lang="zh-CN" altLang="en-US" dirty="0">
                <a:solidFill>
                  <a:srgbClr val="000066"/>
                </a:solidFill>
                <a:latin typeface="楷体_GB2312" pitchFamily="49" charset="-122"/>
              </a:rPr>
              <a:t>可以在各个阶段进行决策，去控制过程发展的多段过程；其发展是通过一系列的状态转移来实现的。</a:t>
            </a:r>
            <a:endParaRPr lang="zh-CN" altLang="en-US" dirty="0">
              <a:solidFill>
                <a:srgbClr val="000066"/>
              </a:solidFill>
              <a:latin typeface="楷体_GB2312" pitchFamily="49" charset="-122"/>
            </a:endParaRP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52226" name="Object 2"/>
          <p:cNvGraphicFramePr/>
          <p:nvPr/>
        </p:nvGraphicFramePr>
        <p:xfrm>
          <a:off x="533400" y="1181100"/>
          <a:ext cx="4724400" cy="1828800"/>
        </p:xfrm>
        <a:graphic>
          <a:graphicData uri="http://schemas.openxmlformats.org/presentationml/2006/ole">
            <mc:AlternateContent xmlns:mc="http://schemas.openxmlformats.org/markup-compatibility/2006">
              <mc:Choice xmlns:v="urn:schemas-microsoft-com:vml" Requires="v">
                <p:oleObj spid="_x0000_s3076" name="" r:id="rId1" imgW="1993265" imgH="635000" progId="Equation.3">
                  <p:embed/>
                </p:oleObj>
              </mc:Choice>
              <mc:Fallback>
                <p:oleObj name="" r:id="rId1" imgW="1993265" imgH="635000" progId="Equation.3">
                  <p:embed/>
                  <p:pic>
                    <p:nvPicPr>
                      <p:cNvPr id="0" name="图片 3075"/>
                      <p:cNvPicPr/>
                      <p:nvPr/>
                    </p:nvPicPr>
                    <p:blipFill>
                      <a:blip r:embed="rId2"/>
                      <a:stretch>
                        <a:fillRect/>
                      </a:stretch>
                    </p:blipFill>
                    <p:spPr>
                      <a:xfrm>
                        <a:off x="533400" y="1181100"/>
                        <a:ext cx="4724400" cy="1828800"/>
                      </a:xfrm>
                      <a:prstGeom prst="rect">
                        <a:avLst/>
                      </a:prstGeom>
                      <a:solidFill>
                        <a:srgbClr val="CCFFFF"/>
                      </a:solidFill>
                      <a:ln w="38100">
                        <a:noFill/>
                        <a:miter/>
                      </a:ln>
                    </p:spPr>
                  </p:pic>
                </p:oleObj>
              </mc:Fallback>
            </mc:AlternateContent>
          </a:graphicData>
        </a:graphic>
      </p:graphicFrame>
      <p:sp>
        <p:nvSpPr>
          <p:cNvPr id="52227" name="Text Box 3"/>
          <p:cNvSpPr txBox="1"/>
          <p:nvPr/>
        </p:nvSpPr>
        <p:spPr>
          <a:xfrm>
            <a:off x="685800" y="3443288"/>
            <a:ext cx="4114800" cy="519112"/>
          </a:xfrm>
          <a:prstGeom prst="rect">
            <a:avLst/>
          </a:prstGeom>
          <a:noFill/>
          <a:ln w="9525">
            <a:noFill/>
          </a:ln>
        </p:spPr>
        <p:txBody>
          <a:bodyPr>
            <a:spAutoFit/>
          </a:bodyPr>
          <a:p>
            <a:pPr>
              <a:spcBef>
                <a:spcPct val="50000"/>
              </a:spcBef>
            </a:pPr>
            <a:r>
              <a:rPr lang="zh-CN" altLang="en-US" dirty="0">
                <a:solidFill>
                  <a:srgbClr val="000066"/>
                </a:solidFill>
                <a:latin typeface="Times New Roman" panose="02020603050405020304" pitchFamily="18" charset="0"/>
              </a:rPr>
              <a:t>图示如下：</a:t>
            </a:r>
            <a:endParaRPr lang="zh-CN" altLang="en-US" dirty="0">
              <a:solidFill>
                <a:srgbClr val="000066"/>
              </a:solidFill>
              <a:latin typeface="Times New Roman" panose="02020603050405020304" pitchFamily="18" charset="0"/>
            </a:endParaRPr>
          </a:p>
        </p:txBody>
      </p:sp>
      <p:sp>
        <p:nvSpPr>
          <p:cNvPr id="52228" name="AutoShape 4"/>
          <p:cNvSpPr/>
          <p:nvPr/>
        </p:nvSpPr>
        <p:spPr>
          <a:xfrm>
            <a:off x="5562600" y="838200"/>
            <a:ext cx="3200400" cy="3057525"/>
          </a:xfrm>
          <a:prstGeom prst="borderCallout2">
            <a:avLst>
              <a:gd name="adj1" fmla="val 3782"/>
              <a:gd name="adj2" fmla="val -2380"/>
              <a:gd name="adj3" fmla="val 3782"/>
              <a:gd name="adj4" fmla="val -44495"/>
              <a:gd name="adj5" fmla="val -5935"/>
              <a:gd name="adj6" fmla="val -89486"/>
            </a:avLst>
          </a:prstGeom>
          <a:solidFill>
            <a:srgbClr val="99FF99">
              <a:alpha val="50195"/>
            </a:srgbClr>
          </a:solidFill>
          <a:ln w="44450" cap="flat" cmpd="sng">
            <a:solidFill>
              <a:schemeClr val="accent1"/>
            </a:solidFill>
            <a:prstDash val="solid"/>
            <a:miter/>
            <a:headEnd type="none" w="med" len="med"/>
            <a:tailEnd type="none" w="med" len="med"/>
          </a:ln>
        </p:spPr>
        <p:txBody>
          <a:bodyPr>
            <a:spAutoFit/>
          </a:bodyPr>
          <a:p>
            <a:r>
              <a:rPr lang="zh-CN" altLang="en-US" sz="2400" dirty="0">
                <a:solidFill>
                  <a:srgbClr val="000066"/>
                </a:solidFill>
                <a:latin typeface="楷体_GB2312" pitchFamily="49" charset="-122"/>
              </a:rPr>
              <a:t>状态转移方程是确定过程由一个状态到另一个状态的演变过程。如果第</a:t>
            </a:r>
            <a:r>
              <a:rPr lang="en-US" altLang="zh-CN" sz="2400" i="1" dirty="0">
                <a:solidFill>
                  <a:srgbClr val="000066"/>
                </a:solidFill>
                <a:latin typeface="Times New Roman" panose="02020603050405020304" pitchFamily="18" charset="0"/>
              </a:rPr>
              <a:t>k</a:t>
            </a:r>
            <a:r>
              <a:rPr lang="zh-CN" altLang="en-US" sz="2400" dirty="0">
                <a:solidFill>
                  <a:srgbClr val="000066"/>
                </a:solidFill>
                <a:latin typeface="楷体_GB2312" pitchFamily="49" charset="-122"/>
              </a:rPr>
              <a:t>阶段状态变量</a:t>
            </a:r>
            <a:r>
              <a:rPr lang="en-US" altLang="zh-CN" sz="2400" i="1" dirty="0">
                <a:solidFill>
                  <a:srgbClr val="000066"/>
                </a:solidFill>
                <a:latin typeface="Times New Roman" panose="02020603050405020304" pitchFamily="18" charset="0"/>
              </a:rPr>
              <a:t>s</a:t>
            </a:r>
            <a:r>
              <a:rPr lang="en-US" altLang="zh-CN" sz="2400" i="1" baseline="-25000" dirty="0">
                <a:solidFill>
                  <a:srgbClr val="000066"/>
                </a:solidFill>
                <a:latin typeface="Times New Roman" panose="02020603050405020304" pitchFamily="18" charset="0"/>
              </a:rPr>
              <a:t>k</a:t>
            </a:r>
            <a:r>
              <a:rPr lang="zh-CN" altLang="en-US" sz="2400" dirty="0">
                <a:solidFill>
                  <a:srgbClr val="000066"/>
                </a:solidFill>
                <a:latin typeface="楷体_GB2312" pitchFamily="49" charset="-122"/>
              </a:rPr>
              <a:t>的值、该阶段的决策变量一经确定，第</a:t>
            </a:r>
            <a:r>
              <a:rPr lang="en-US" altLang="zh-CN" sz="2400" i="1" dirty="0">
                <a:solidFill>
                  <a:srgbClr val="000066"/>
                </a:solidFill>
                <a:latin typeface="Times New Roman" panose="02020603050405020304" pitchFamily="18" charset="0"/>
              </a:rPr>
              <a:t>k</a:t>
            </a:r>
            <a:r>
              <a:rPr lang="en-US" altLang="zh-CN" sz="2400" dirty="0">
                <a:solidFill>
                  <a:srgbClr val="000066"/>
                </a:solidFill>
                <a:latin typeface="Times New Roman" panose="02020603050405020304" pitchFamily="18" charset="0"/>
              </a:rPr>
              <a:t>+1</a:t>
            </a:r>
            <a:r>
              <a:rPr lang="zh-CN" altLang="en-US" sz="2400" dirty="0">
                <a:solidFill>
                  <a:srgbClr val="000066"/>
                </a:solidFill>
                <a:latin typeface="楷体_GB2312" pitchFamily="49" charset="-122"/>
              </a:rPr>
              <a:t>阶段状态变量</a:t>
            </a:r>
            <a:r>
              <a:rPr lang="en-US" altLang="zh-CN" sz="2400" i="1" dirty="0">
                <a:solidFill>
                  <a:srgbClr val="000066"/>
                </a:solidFill>
                <a:latin typeface="Times New Roman" panose="02020603050405020304" pitchFamily="18" charset="0"/>
              </a:rPr>
              <a:t>s</a:t>
            </a:r>
            <a:r>
              <a:rPr lang="en-US" altLang="zh-CN" sz="2400" i="1" baseline="-25000" dirty="0">
                <a:solidFill>
                  <a:srgbClr val="000066"/>
                </a:solidFill>
                <a:latin typeface="Times New Roman" panose="02020603050405020304" pitchFamily="18" charset="0"/>
              </a:rPr>
              <a:t>k</a:t>
            </a:r>
            <a:r>
              <a:rPr lang="en-US" altLang="zh-CN" sz="2400" baseline="-25000" dirty="0">
                <a:solidFill>
                  <a:srgbClr val="000066"/>
                </a:solidFill>
                <a:latin typeface="Times New Roman" panose="02020603050405020304" pitchFamily="18" charset="0"/>
              </a:rPr>
              <a:t>+1</a:t>
            </a:r>
            <a:r>
              <a:rPr lang="zh-CN" altLang="en-US" sz="2400" dirty="0">
                <a:solidFill>
                  <a:srgbClr val="000066"/>
                </a:solidFill>
                <a:latin typeface="楷体_GB2312" pitchFamily="49" charset="-122"/>
              </a:rPr>
              <a:t>的值也就确定。</a:t>
            </a:r>
            <a:endParaRPr lang="zh-CN" altLang="en-US" sz="2400" dirty="0">
              <a:solidFill>
                <a:srgbClr val="000066"/>
              </a:solidFill>
              <a:latin typeface="楷体_GB2312" pitchFamily="49" charset="-122"/>
            </a:endParaRPr>
          </a:p>
        </p:txBody>
      </p:sp>
      <p:sp>
        <p:nvSpPr>
          <p:cNvPr id="2054" name="Rectangle 5"/>
          <p:cNvSpPr/>
          <p:nvPr/>
        </p:nvSpPr>
        <p:spPr>
          <a:xfrm>
            <a:off x="1371600" y="152400"/>
            <a:ext cx="55657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其状态转移方程如下（一般形式）</a:t>
            </a:r>
            <a:endParaRPr lang="zh-CN" altLang="en-US" dirty="0">
              <a:solidFill>
                <a:srgbClr val="000066"/>
              </a:solidFill>
              <a:latin typeface="Times New Roman" panose="02020603050405020304" pitchFamily="18" charset="0"/>
            </a:endParaRPr>
          </a:p>
        </p:txBody>
      </p:sp>
      <p:grpSp>
        <p:nvGrpSpPr>
          <p:cNvPr id="2" name="Group 27"/>
          <p:cNvGrpSpPr/>
          <p:nvPr/>
        </p:nvGrpSpPr>
        <p:grpSpPr>
          <a:xfrm>
            <a:off x="1066800" y="4114800"/>
            <a:ext cx="6477000" cy="990600"/>
            <a:chOff x="672" y="2976"/>
            <a:chExt cx="4080" cy="624"/>
          </a:xfrm>
        </p:grpSpPr>
        <p:sp>
          <p:nvSpPr>
            <p:cNvPr id="2057" name="Rectangle 7"/>
            <p:cNvSpPr/>
            <p:nvPr/>
          </p:nvSpPr>
          <p:spPr>
            <a:xfrm>
              <a:off x="1104" y="3360"/>
              <a:ext cx="432" cy="240"/>
            </a:xfrm>
            <a:prstGeom prst="rect">
              <a:avLst/>
            </a:prstGeom>
            <a:solidFill>
              <a:schemeClr val="accent1"/>
            </a:solidFill>
            <a:ln w="9525">
              <a:noFill/>
            </a:ln>
          </p:spPr>
          <p:txBody>
            <a:bodyPr wrap="none" anchor="ctr" anchorCtr="0"/>
            <a:p>
              <a:pPr algn="ct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2058" name="Rectangle 8"/>
            <p:cNvSpPr/>
            <p:nvPr/>
          </p:nvSpPr>
          <p:spPr>
            <a:xfrm>
              <a:off x="2016" y="3360"/>
              <a:ext cx="432" cy="240"/>
            </a:xfrm>
            <a:prstGeom prst="rect">
              <a:avLst/>
            </a:prstGeom>
            <a:solidFill>
              <a:schemeClr val="accent1"/>
            </a:solidFill>
            <a:ln w="9525">
              <a:noFill/>
            </a:ln>
          </p:spPr>
          <p:txBody>
            <a:bodyPr wrap="none" anchor="ctr" anchorCtr="0"/>
            <a:p>
              <a:pPr algn="ct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2059" name="Rectangle 9"/>
            <p:cNvSpPr/>
            <p:nvPr/>
          </p:nvSpPr>
          <p:spPr>
            <a:xfrm>
              <a:off x="3552" y="3312"/>
              <a:ext cx="432" cy="288"/>
            </a:xfrm>
            <a:prstGeom prst="rect">
              <a:avLst/>
            </a:prstGeom>
            <a:solidFill>
              <a:schemeClr val="accent1"/>
            </a:solidFill>
            <a:ln w="9525">
              <a:noFill/>
            </a:ln>
          </p:spPr>
          <p:txBody>
            <a:bodyPr wrap="none" anchor="ctr" anchorCtr="0"/>
            <a:p>
              <a:pPr algn="ctr"/>
              <a:r>
                <a:rPr lang="en-US" altLang="zh-CN" i="1" dirty="0">
                  <a:latin typeface="Times New Roman" panose="02020603050405020304" pitchFamily="18" charset="0"/>
                  <a:ea typeface="宋体" panose="02010600030101010101" pitchFamily="2" charset="-122"/>
                </a:rPr>
                <a:t>k</a:t>
              </a:r>
              <a:endParaRPr lang="en-US" altLang="zh-CN" i="1" dirty="0">
                <a:latin typeface="Times New Roman" panose="02020603050405020304" pitchFamily="18" charset="0"/>
                <a:ea typeface="宋体" panose="02010600030101010101" pitchFamily="2" charset="-122"/>
              </a:endParaRPr>
            </a:p>
          </p:txBody>
        </p:sp>
        <p:sp>
          <p:nvSpPr>
            <p:cNvPr id="2060" name="AutoShape 10"/>
            <p:cNvSpPr/>
            <p:nvPr/>
          </p:nvSpPr>
          <p:spPr>
            <a:xfrm>
              <a:off x="768" y="3408"/>
              <a:ext cx="336" cy="96"/>
            </a:xfrm>
            <a:prstGeom prst="rightArrow">
              <a:avLst>
                <a:gd name="adj1" fmla="val 50000"/>
                <a:gd name="adj2" fmla="val 87500"/>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061" name="AutoShape 11"/>
            <p:cNvSpPr/>
            <p:nvPr/>
          </p:nvSpPr>
          <p:spPr>
            <a:xfrm>
              <a:off x="1536" y="3408"/>
              <a:ext cx="480" cy="96"/>
            </a:xfrm>
            <a:prstGeom prst="rightArrow">
              <a:avLst>
                <a:gd name="adj1" fmla="val 50000"/>
                <a:gd name="adj2" fmla="val 125000"/>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062" name="AutoShape 12"/>
            <p:cNvSpPr/>
            <p:nvPr/>
          </p:nvSpPr>
          <p:spPr>
            <a:xfrm>
              <a:off x="2448" y="3408"/>
              <a:ext cx="336" cy="96"/>
            </a:xfrm>
            <a:prstGeom prst="rightArrow">
              <a:avLst>
                <a:gd name="adj1" fmla="val 50000"/>
                <a:gd name="adj2" fmla="val 87500"/>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063" name="AutoShape 13"/>
            <p:cNvSpPr/>
            <p:nvPr/>
          </p:nvSpPr>
          <p:spPr>
            <a:xfrm>
              <a:off x="3264" y="3408"/>
              <a:ext cx="288" cy="96"/>
            </a:xfrm>
            <a:prstGeom prst="rightArrow">
              <a:avLst>
                <a:gd name="adj1" fmla="val 50000"/>
                <a:gd name="adj2" fmla="val 75000"/>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064" name="AutoShape 14"/>
            <p:cNvSpPr/>
            <p:nvPr/>
          </p:nvSpPr>
          <p:spPr>
            <a:xfrm>
              <a:off x="3984" y="3408"/>
              <a:ext cx="288" cy="96"/>
            </a:xfrm>
            <a:prstGeom prst="rightArrow">
              <a:avLst>
                <a:gd name="adj1" fmla="val 50000"/>
                <a:gd name="adj2" fmla="val 75000"/>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065" name="Text Box 15"/>
            <p:cNvSpPr txBox="1"/>
            <p:nvPr/>
          </p:nvSpPr>
          <p:spPr>
            <a:xfrm>
              <a:off x="2832" y="3264"/>
              <a:ext cx="384" cy="327"/>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066" name="AutoShape 16"/>
            <p:cNvSpPr/>
            <p:nvPr/>
          </p:nvSpPr>
          <p:spPr>
            <a:xfrm>
              <a:off x="2064" y="3120"/>
              <a:ext cx="96" cy="240"/>
            </a:xfrm>
            <a:prstGeom prst="downArrow">
              <a:avLst>
                <a:gd name="adj1" fmla="val 50000"/>
                <a:gd name="adj2" fmla="val 62500"/>
              </a:avLst>
            </a:prstGeom>
            <a:solidFill>
              <a:schemeClr val="accent1"/>
            </a:solidFill>
            <a:ln w="9525">
              <a:noFill/>
            </a:ln>
          </p:spPr>
          <p:txBody>
            <a:bodyPr vert="eaVert" wrap="none" anchor="ctr" anchorCtr="0"/>
            <a:p>
              <a:endParaRPr lang="zh-CN" altLang="en-US" dirty="0">
                <a:latin typeface="Times New Roman" panose="02020603050405020304" pitchFamily="18" charset="0"/>
              </a:endParaRPr>
            </a:p>
          </p:txBody>
        </p:sp>
        <p:sp>
          <p:nvSpPr>
            <p:cNvPr id="2067" name="AutoShape 17"/>
            <p:cNvSpPr/>
            <p:nvPr/>
          </p:nvSpPr>
          <p:spPr>
            <a:xfrm>
              <a:off x="1152" y="3120"/>
              <a:ext cx="96" cy="240"/>
            </a:xfrm>
            <a:prstGeom prst="downArrow">
              <a:avLst>
                <a:gd name="adj1" fmla="val 50000"/>
                <a:gd name="adj2" fmla="val 62500"/>
              </a:avLst>
            </a:prstGeom>
            <a:solidFill>
              <a:schemeClr val="accent1"/>
            </a:solidFill>
            <a:ln w="9525">
              <a:noFill/>
            </a:ln>
          </p:spPr>
          <p:txBody>
            <a:bodyPr vert="eaVert" wrap="none" anchor="ctr" anchorCtr="0"/>
            <a:p>
              <a:endParaRPr lang="zh-CN" altLang="en-US" dirty="0">
                <a:latin typeface="Times New Roman" panose="02020603050405020304" pitchFamily="18" charset="0"/>
              </a:endParaRPr>
            </a:p>
          </p:txBody>
        </p:sp>
        <p:sp>
          <p:nvSpPr>
            <p:cNvPr id="2068" name="AutoShape 18"/>
            <p:cNvSpPr/>
            <p:nvPr/>
          </p:nvSpPr>
          <p:spPr>
            <a:xfrm>
              <a:off x="3600" y="3072"/>
              <a:ext cx="96" cy="240"/>
            </a:xfrm>
            <a:prstGeom prst="downArrow">
              <a:avLst>
                <a:gd name="adj1" fmla="val 50000"/>
                <a:gd name="adj2" fmla="val 62500"/>
              </a:avLst>
            </a:prstGeom>
            <a:solidFill>
              <a:schemeClr val="accent1"/>
            </a:solidFill>
            <a:ln w="9525">
              <a:noFill/>
            </a:ln>
          </p:spPr>
          <p:txBody>
            <a:bodyPr vert="eaVert" wrap="none" anchor="ctr" anchorCtr="0"/>
            <a:p>
              <a:endParaRPr lang="zh-CN" altLang="en-US" dirty="0">
                <a:latin typeface="Times New Roman" panose="02020603050405020304" pitchFamily="18" charset="0"/>
              </a:endParaRPr>
            </a:p>
          </p:txBody>
        </p:sp>
        <p:sp>
          <p:nvSpPr>
            <p:cNvPr id="2069" name="Text Box 19"/>
            <p:cNvSpPr txBox="1"/>
            <p:nvPr/>
          </p:nvSpPr>
          <p:spPr>
            <a:xfrm>
              <a:off x="672" y="3120"/>
              <a:ext cx="528"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2070" name="Text Box 20"/>
            <p:cNvSpPr txBox="1"/>
            <p:nvPr/>
          </p:nvSpPr>
          <p:spPr>
            <a:xfrm>
              <a:off x="1200" y="2976"/>
              <a:ext cx="576"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2071" name="Text Box 21"/>
            <p:cNvSpPr txBox="1"/>
            <p:nvPr/>
          </p:nvSpPr>
          <p:spPr>
            <a:xfrm>
              <a:off x="1536" y="3120"/>
              <a:ext cx="528"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2072" name="Text Box 22"/>
            <p:cNvSpPr txBox="1"/>
            <p:nvPr/>
          </p:nvSpPr>
          <p:spPr>
            <a:xfrm>
              <a:off x="2160" y="2976"/>
              <a:ext cx="576"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2073" name="Text Box 23"/>
            <p:cNvSpPr txBox="1"/>
            <p:nvPr/>
          </p:nvSpPr>
          <p:spPr>
            <a:xfrm>
              <a:off x="2400" y="3120"/>
              <a:ext cx="528"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p:txBody>
        </p:sp>
        <p:sp>
          <p:nvSpPr>
            <p:cNvPr id="2074" name="Text Box 24"/>
            <p:cNvSpPr txBox="1"/>
            <p:nvPr/>
          </p:nvSpPr>
          <p:spPr>
            <a:xfrm>
              <a:off x="3120" y="3120"/>
              <a:ext cx="528"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s</a:t>
              </a:r>
              <a:r>
                <a:rPr lang="en-US" altLang="zh-CN" i="1" baseline="-25000" dirty="0">
                  <a:latin typeface="Times New Roman" panose="02020603050405020304" pitchFamily="18" charset="0"/>
                  <a:ea typeface="宋体" panose="02010600030101010101" pitchFamily="2" charset="-122"/>
                </a:rPr>
                <a:t>k</a:t>
              </a:r>
              <a:endParaRPr lang="en-US" altLang="zh-CN" i="1" dirty="0">
                <a:latin typeface="Times New Roman" panose="02020603050405020304" pitchFamily="18" charset="0"/>
                <a:ea typeface="宋体" panose="02010600030101010101" pitchFamily="2" charset="-122"/>
              </a:endParaRPr>
            </a:p>
          </p:txBody>
        </p:sp>
        <p:sp>
          <p:nvSpPr>
            <p:cNvPr id="2075" name="Text Box 25"/>
            <p:cNvSpPr txBox="1"/>
            <p:nvPr/>
          </p:nvSpPr>
          <p:spPr>
            <a:xfrm>
              <a:off x="3696" y="2976"/>
              <a:ext cx="336"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i="1" baseline="-25000" dirty="0">
                  <a:latin typeface="Times New Roman" panose="02020603050405020304" pitchFamily="18" charset="0"/>
                  <a:ea typeface="宋体" panose="02010600030101010101" pitchFamily="2" charset="-122"/>
                </a:rPr>
                <a:t>k</a:t>
              </a:r>
              <a:endParaRPr lang="en-US" altLang="zh-CN" i="1" dirty="0">
                <a:latin typeface="Times New Roman" panose="02020603050405020304" pitchFamily="18" charset="0"/>
                <a:ea typeface="宋体" panose="02010600030101010101" pitchFamily="2" charset="-122"/>
              </a:endParaRPr>
            </a:p>
          </p:txBody>
        </p:sp>
        <p:sp>
          <p:nvSpPr>
            <p:cNvPr id="2076" name="Text Box 26"/>
            <p:cNvSpPr txBox="1"/>
            <p:nvPr/>
          </p:nvSpPr>
          <p:spPr>
            <a:xfrm>
              <a:off x="4128" y="3120"/>
              <a:ext cx="624" cy="327"/>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s</a:t>
              </a:r>
              <a:r>
                <a:rPr lang="en-US" altLang="zh-CN" i="1" baseline="-25000"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grpSp>
      <p:sp>
        <p:nvSpPr>
          <p:cNvPr id="52252" name="Text Box 28"/>
          <p:cNvSpPr txBox="1"/>
          <p:nvPr/>
        </p:nvSpPr>
        <p:spPr>
          <a:xfrm>
            <a:off x="533400" y="5332413"/>
            <a:ext cx="8229600" cy="1373187"/>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  </a:t>
            </a:r>
            <a:r>
              <a:rPr lang="zh-CN" altLang="en-US" dirty="0">
                <a:solidFill>
                  <a:srgbClr val="000066"/>
                </a:solidFill>
                <a:latin typeface="楷体_GB2312" pitchFamily="49" charset="-122"/>
              </a:rPr>
              <a:t>能用动态规划方法求解的多阶段决策过程是一类特殊的多阶段决策过程，即</a:t>
            </a:r>
            <a:r>
              <a:rPr lang="zh-CN" altLang="en-US" dirty="0">
                <a:solidFill>
                  <a:srgbClr val="FF6600"/>
                </a:solidFill>
                <a:latin typeface="楷体_GB2312" pitchFamily="49" charset="-122"/>
              </a:rPr>
              <a:t>具有无后效性</a:t>
            </a:r>
            <a:r>
              <a:rPr lang="zh-CN" altLang="en-US" dirty="0">
                <a:solidFill>
                  <a:srgbClr val="000066"/>
                </a:solidFill>
                <a:latin typeface="楷体_GB2312" pitchFamily="49" charset="-122"/>
              </a:rPr>
              <a:t>的多阶段决策过程。</a:t>
            </a:r>
            <a:endParaRPr lang="zh-CN" altLang="en-US" dirty="0">
              <a:solidFill>
                <a:srgbClr val="000066"/>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22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28"/>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4" name="chimes.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27"/>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5" name="CARBRAKE.WAV"/>
                                        </p:tgtEl>
                                      </p:cMediaNode>
                                    </p:audio>
                                  </p:sub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52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52228" grpId="0" animBg="1"/>
      <p:bldP spid="5225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3251" name="Text Box 3"/>
          <p:cNvSpPr txBox="1"/>
          <p:nvPr/>
        </p:nvSpPr>
        <p:spPr>
          <a:xfrm>
            <a:off x="304800" y="3214688"/>
            <a:ext cx="8458200" cy="946150"/>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    如果状态变量不能满足无后效性的要求，应适当地改变状态的定义或规定方法。</a:t>
            </a:r>
            <a:endParaRPr lang="zh-CN" altLang="en-US" dirty="0">
              <a:solidFill>
                <a:srgbClr val="000066"/>
              </a:solidFill>
              <a:latin typeface="楷体_GB2312" pitchFamily="49" charset="-122"/>
            </a:endParaRPr>
          </a:p>
        </p:txBody>
      </p:sp>
      <p:graphicFrame>
        <p:nvGraphicFramePr>
          <p:cNvPr id="53252" name="Object 4"/>
          <p:cNvGraphicFramePr/>
          <p:nvPr/>
        </p:nvGraphicFramePr>
        <p:xfrm>
          <a:off x="2276475" y="5148263"/>
          <a:ext cx="2752725" cy="1481137"/>
        </p:xfrm>
        <a:graphic>
          <a:graphicData uri="http://schemas.openxmlformats.org/presentationml/2006/ole">
            <mc:AlternateContent xmlns:mc="http://schemas.openxmlformats.org/markup-compatibility/2006">
              <mc:Choice xmlns:v="urn:schemas-microsoft-com:vml" Requires="v">
                <p:oleObj spid="_x0000_s3077" name="" r:id="rId1" imgW="1040765" imgH="635000" progId="Equation.3">
                  <p:embed/>
                </p:oleObj>
              </mc:Choice>
              <mc:Fallback>
                <p:oleObj name="" r:id="rId1" imgW="1040765" imgH="635000" progId="Equation.3">
                  <p:embed/>
                  <p:pic>
                    <p:nvPicPr>
                      <p:cNvPr id="0" name="图片 3076"/>
                      <p:cNvPicPr/>
                      <p:nvPr/>
                    </p:nvPicPr>
                    <p:blipFill>
                      <a:blip r:embed="rId2"/>
                      <a:stretch>
                        <a:fillRect/>
                      </a:stretch>
                    </p:blipFill>
                    <p:spPr>
                      <a:xfrm>
                        <a:off x="2276475" y="5148263"/>
                        <a:ext cx="2752725" cy="1481137"/>
                      </a:xfrm>
                      <a:prstGeom prst="rect">
                        <a:avLst/>
                      </a:prstGeom>
                      <a:noFill/>
                      <a:ln w="38100">
                        <a:noFill/>
                        <a:miter/>
                      </a:ln>
                    </p:spPr>
                  </p:pic>
                </p:oleObj>
              </mc:Fallback>
            </mc:AlternateContent>
          </a:graphicData>
        </a:graphic>
      </p:graphicFrame>
      <p:sp>
        <p:nvSpPr>
          <p:cNvPr id="53253" name="AutoShape 5"/>
          <p:cNvSpPr/>
          <p:nvPr/>
        </p:nvSpPr>
        <p:spPr>
          <a:xfrm>
            <a:off x="5867400" y="5029200"/>
            <a:ext cx="2819400" cy="1143000"/>
          </a:xfrm>
          <a:prstGeom prst="wedgeRoundRectCallout">
            <a:avLst>
              <a:gd name="adj1" fmla="val -81588"/>
              <a:gd name="adj2" fmla="val 54722"/>
              <a:gd name="adj3" fmla="val 16667"/>
            </a:avLst>
          </a:prstGeom>
          <a:solidFill>
            <a:srgbClr val="99FF99">
              <a:alpha val="50195"/>
            </a:srgbClr>
          </a:solidFill>
          <a:ln w="9525" cap="flat" cmpd="sng">
            <a:solidFill>
              <a:schemeClr val="accent1"/>
            </a:solidFill>
            <a:prstDash val="solid"/>
            <a:miter/>
            <a:headEnd type="none" w="med" len="med"/>
            <a:tailEnd type="none" w="med" len="med"/>
          </a:ln>
        </p:spPr>
        <p:txBody>
          <a:bodyPr wrap="none" anchor="ctr" anchorCtr="0"/>
          <a:p>
            <a:pPr algn="ctr"/>
            <a:r>
              <a:rPr lang="zh-CN" altLang="en-US" sz="2400" dirty="0">
                <a:solidFill>
                  <a:srgbClr val="000066"/>
                </a:solidFill>
                <a:latin typeface="楷体_GB2312" pitchFamily="49" charset="-122"/>
              </a:rPr>
              <a:t>动态规划中能</a:t>
            </a:r>
            <a:endParaRPr lang="zh-CN" altLang="en-US" sz="2400" dirty="0">
              <a:solidFill>
                <a:srgbClr val="000066"/>
              </a:solidFill>
              <a:latin typeface="楷体_GB2312" pitchFamily="49" charset="-122"/>
            </a:endParaRPr>
          </a:p>
          <a:p>
            <a:pPr algn="ctr"/>
            <a:r>
              <a:rPr lang="zh-CN" altLang="en-US" sz="2400" dirty="0">
                <a:solidFill>
                  <a:srgbClr val="000066"/>
                </a:solidFill>
                <a:latin typeface="楷体_GB2312" pitchFamily="49" charset="-122"/>
              </a:rPr>
              <a:t>处理的状态转移</a:t>
            </a:r>
            <a:endParaRPr lang="zh-CN" altLang="en-US" sz="2400" dirty="0">
              <a:solidFill>
                <a:srgbClr val="000066"/>
              </a:solidFill>
              <a:latin typeface="楷体_GB2312" pitchFamily="49" charset="-122"/>
            </a:endParaRPr>
          </a:p>
          <a:p>
            <a:pPr algn="ctr"/>
            <a:r>
              <a:rPr lang="zh-CN" altLang="en-US" sz="2400" dirty="0">
                <a:solidFill>
                  <a:srgbClr val="000066"/>
                </a:solidFill>
                <a:latin typeface="楷体_GB2312" pitchFamily="49" charset="-122"/>
              </a:rPr>
              <a:t>方程的形式</a:t>
            </a:r>
            <a:r>
              <a:rPr lang="zh-CN" altLang="en-US" sz="2400" b="0" dirty="0">
                <a:solidFill>
                  <a:srgbClr val="000066"/>
                </a:solidFill>
                <a:latin typeface="楷体_GB2312" pitchFamily="49" charset="-122"/>
              </a:rPr>
              <a:t>。</a:t>
            </a:r>
            <a:endParaRPr lang="zh-CN" altLang="en-US" sz="2400" b="0" dirty="0">
              <a:solidFill>
                <a:srgbClr val="000066"/>
              </a:solidFill>
              <a:latin typeface="楷体_GB2312" pitchFamily="49" charset="-122"/>
            </a:endParaRPr>
          </a:p>
        </p:txBody>
      </p:sp>
      <p:sp>
        <p:nvSpPr>
          <p:cNvPr id="53254" name="Text Box 6"/>
          <p:cNvSpPr txBox="1"/>
          <p:nvPr/>
        </p:nvSpPr>
        <p:spPr>
          <a:xfrm>
            <a:off x="304800" y="4214813"/>
            <a:ext cx="8077200" cy="946150"/>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    状态具有无后效性的多阶段决策过程的状态转移方程如下</a:t>
            </a:r>
            <a:endParaRPr lang="zh-CN" altLang="en-US" dirty="0">
              <a:solidFill>
                <a:srgbClr val="000066"/>
              </a:solidFill>
              <a:latin typeface="楷体_GB2312" pitchFamily="49" charset="-122"/>
            </a:endParaRPr>
          </a:p>
        </p:txBody>
      </p:sp>
      <p:sp>
        <p:nvSpPr>
          <p:cNvPr id="3079" name="Text Box 7"/>
          <p:cNvSpPr txBox="1"/>
          <p:nvPr/>
        </p:nvSpPr>
        <p:spPr>
          <a:xfrm>
            <a:off x="228600" y="304800"/>
            <a:ext cx="4648200" cy="519113"/>
          </a:xfrm>
          <a:prstGeom prst="rect">
            <a:avLst/>
          </a:prstGeom>
          <a:noFill/>
          <a:ln w="9525">
            <a:noFill/>
          </a:ln>
        </p:spPr>
        <p:txBody>
          <a:bodyPr>
            <a:spAutoFit/>
          </a:bodyPr>
          <a:p>
            <a:pPr>
              <a:spcBef>
                <a:spcPct val="50000"/>
              </a:spcBef>
            </a:pPr>
            <a:r>
              <a:rPr lang="zh-CN" altLang="en-US" dirty="0">
                <a:solidFill>
                  <a:srgbClr val="FF0000"/>
                </a:solidFill>
                <a:latin typeface="楷体_GB2312" pitchFamily="49" charset="-122"/>
              </a:rPr>
              <a:t>无后效性</a:t>
            </a:r>
            <a:r>
              <a:rPr lang="en-US" altLang="zh-CN" dirty="0">
                <a:solidFill>
                  <a:srgbClr val="FF0000"/>
                </a:solidFill>
                <a:latin typeface="楷体_GB2312" pitchFamily="49" charset="-122"/>
              </a:rPr>
              <a:t>(</a:t>
            </a:r>
            <a:r>
              <a:rPr lang="zh-CN" altLang="en-US" dirty="0">
                <a:solidFill>
                  <a:srgbClr val="FF0000"/>
                </a:solidFill>
                <a:latin typeface="楷体_GB2312" pitchFamily="49" charset="-122"/>
              </a:rPr>
              <a:t>马尔可夫性</a:t>
            </a:r>
            <a:r>
              <a:rPr lang="en-US" altLang="zh-CN" dirty="0">
                <a:solidFill>
                  <a:srgbClr val="FF0000"/>
                </a:solidFill>
                <a:latin typeface="楷体_GB2312" pitchFamily="49" charset="-122"/>
              </a:rPr>
              <a:t>)</a:t>
            </a:r>
            <a:endParaRPr lang="en-US" altLang="zh-CN" dirty="0">
              <a:solidFill>
                <a:srgbClr val="FF0000"/>
              </a:solidFill>
              <a:latin typeface="楷体_GB2312" pitchFamily="49" charset="-122"/>
            </a:endParaRPr>
          </a:p>
        </p:txBody>
      </p:sp>
      <p:sp>
        <p:nvSpPr>
          <p:cNvPr id="53256" name="Text Box 8"/>
          <p:cNvSpPr txBox="1"/>
          <p:nvPr/>
        </p:nvSpPr>
        <p:spPr>
          <a:xfrm>
            <a:off x="304800" y="839788"/>
            <a:ext cx="8458200" cy="946150"/>
          </a:xfrm>
          <a:prstGeom prst="rect">
            <a:avLst/>
          </a:prstGeom>
          <a:noFill/>
          <a:ln w="9525">
            <a:noFill/>
          </a:ln>
        </p:spPr>
        <p:txBody>
          <a:bodyPr>
            <a:spAutoFit/>
          </a:bodyPr>
          <a:p>
            <a:pPr>
              <a:spcBef>
                <a:spcPct val="50000"/>
              </a:spcBef>
            </a:pPr>
            <a:r>
              <a:rPr lang="en-US" altLang="zh-CN" dirty="0">
                <a:solidFill>
                  <a:srgbClr val="000066"/>
                </a:solidFill>
                <a:latin typeface="楷体_GB2312" pitchFamily="49" charset="-122"/>
              </a:rPr>
              <a:t>    </a:t>
            </a:r>
            <a:r>
              <a:rPr lang="zh-CN" altLang="en-US" dirty="0">
                <a:solidFill>
                  <a:srgbClr val="000066"/>
                </a:solidFill>
                <a:latin typeface="楷体_GB2312" pitchFamily="49" charset="-122"/>
              </a:rPr>
              <a:t>如果某阶段状态给定后，则在这个阶段以后过程的发展不受这个阶段以前各段状态的影响；</a:t>
            </a:r>
            <a:endParaRPr lang="zh-CN" altLang="en-US" dirty="0">
              <a:solidFill>
                <a:srgbClr val="000066"/>
              </a:solidFill>
              <a:latin typeface="楷体_GB2312" pitchFamily="49" charset="-122"/>
            </a:endParaRPr>
          </a:p>
        </p:txBody>
      </p:sp>
      <p:sp>
        <p:nvSpPr>
          <p:cNvPr id="53257" name="Text Box 9"/>
          <p:cNvSpPr txBox="1"/>
          <p:nvPr/>
        </p:nvSpPr>
        <p:spPr>
          <a:xfrm>
            <a:off x="304800" y="1830388"/>
            <a:ext cx="8458200" cy="1384300"/>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    过程的过去历史只能通过当前的状态去影响它未来的发展；构造动态规划模型时，要充分注意是否满足无后效性的要求；</a:t>
            </a:r>
            <a:r>
              <a:rPr lang="zh-CN" altLang="en-US" dirty="0">
                <a:solidFill>
                  <a:srgbClr val="FF6600"/>
                </a:solidFill>
                <a:latin typeface="楷体_GB2312" pitchFamily="49" charset="-122"/>
              </a:rPr>
              <a:t>状态变量要满足无后效性的要求</a:t>
            </a:r>
            <a:endParaRPr lang="zh-CN" altLang="en-US" dirty="0">
              <a:solidFill>
                <a:srgbClr val="000066"/>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251"/>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2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53252"/>
                                        </p:tgtEl>
                                        <p:attrNameLst>
                                          <p:attrName>style.visibility</p:attrName>
                                        </p:attrNameLst>
                                      </p:cBhvr>
                                      <p:to>
                                        <p:strVal val="visible"/>
                                      </p:to>
                                    </p:set>
                                    <p:animEffect transition="in" filter="box(out)">
                                      <p:cBhvr>
                                        <p:cTn id="23" dur="500"/>
                                        <p:tgtEl>
                                          <p:spTgt spid="53252"/>
                                        </p:tgtEl>
                                      </p:cBhvr>
                                    </p:animEffect>
                                  </p:childTnLst>
                                  <p:subTnLst>
                                    <p:audio>
                                      <p:cMediaNode>
                                        <p:cTn display="0" masterRel="sameClick">
                                          <p:stCondLst>
                                            <p:cond evt="begin" delay="0">
                                              <p:tn val="21"/>
                                            </p:cond>
                                          </p:stCondLst>
                                          <p:endCondLst>
                                            <p:cond evt="onStopAudio" delay="0">
                                              <p:tgtEl>
                                                <p:sldTgt/>
                                              </p:tgtEl>
                                            </p:cond>
                                          </p:endCondLst>
                                        </p:cTn>
                                        <p:tgtEl>
                                          <p:sndTgt r:embed="rId4"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53253"/>
                                        </p:tgtEl>
                                        <p:attrNameLst>
                                          <p:attrName>style.visibility</p:attrName>
                                        </p:attrNameLst>
                                      </p:cBhvr>
                                      <p:to>
                                        <p:strVal val="visible"/>
                                      </p:to>
                                    </p:set>
                                    <p:animEffect transition="in" filter="box(out)">
                                      <p:cBhvr>
                                        <p:cTn id="28" dur="500"/>
                                        <p:tgtEl>
                                          <p:spTgt spid="53253"/>
                                        </p:tgtEl>
                                      </p:cBhvr>
                                    </p:animEffect>
                                  </p:childTnLst>
                                  <p:subTnLst>
                                    <p:audio>
                                      <p:cMediaNode>
                                        <p:cTn display="0" masterRel="sameClick">
                                          <p:stCondLst>
                                            <p:cond evt="begin" delay="0">
                                              <p:tn val="26"/>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3" grpId="0" animBg="1"/>
      <p:bldP spid="53254" grpId="0"/>
      <p:bldP spid="53256" grpId="0"/>
      <p:bldP spid="5325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Text Box 2"/>
          <p:cNvSpPr txBox="1"/>
          <p:nvPr/>
        </p:nvSpPr>
        <p:spPr>
          <a:xfrm>
            <a:off x="0" y="857250"/>
            <a:ext cx="8686800" cy="2678113"/>
          </a:xfrm>
          <a:prstGeom prst="rect">
            <a:avLst/>
          </a:prstGeom>
          <a:noFill/>
          <a:ln w="9525">
            <a:noFill/>
          </a:ln>
        </p:spPr>
        <p:txBody>
          <a:bodyPr>
            <a:spAutoFit/>
          </a:bodyPr>
          <a:p>
            <a:r>
              <a:rPr lang="en-US" altLang="zh-CN" dirty="0">
                <a:solidFill>
                  <a:srgbClr val="000066"/>
                </a:solidFill>
                <a:latin typeface="楷体_GB2312" pitchFamily="49" charset="-122"/>
              </a:rPr>
              <a:t>  5</a:t>
            </a:r>
            <a:r>
              <a:rPr lang="zh-CN" altLang="en-US" dirty="0">
                <a:solidFill>
                  <a:srgbClr val="000066"/>
                </a:solidFill>
                <a:latin typeface="楷体_GB2312" pitchFamily="49" charset="-122"/>
              </a:rPr>
              <a:t>、策略：是一个按顺序排列的决策组成的集合。</a:t>
            </a:r>
            <a:endParaRPr lang="en-US" altLang="zh-CN" dirty="0">
              <a:solidFill>
                <a:srgbClr val="000066"/>
              </a:solidFill>
              <a:latin typeface="楷体_GB2312" pitchFamily="49" charset="-122"/>
            </a:endParaRPr>
          </a:p>
          <a:p>
            <a:endParaRPr lang="en-US" altLang="zh-CN" dirty="0">
              <a:solidFill>
                <a:srgbClr val="000066"/>
              </a:solidFill>
              <a:latin typeface="楷体_GB2312" pitchFamily="49" charset="-122"/>
            </a:endParaRPr>
          </a:p>
          <a:p>
            <a:endParaRPr lang="en-US" altLang="zh-CN" dirty="0">
              <a:solidFill>
                <a:srgbClr val="000066"/>
              </a:solidFill>
              <a:latin typeface="楷体_GB2312" pitchFamily="49" charset="-122"/>
            </a:endParaRPr>
          </a:p>
          <a:p>
            <a:r>
              <a:rPr lang="zh-CN" altLang="en-US" dirty="0">
                <a:solidFill>
                  <a:srgbClr val="000066"/>
                </a:solidFill>
                <a:latin typeface="楷体_GB2312" pitchFamily="49" charset="-122"/>
              </a:rPr>
              <a:t>在实际问题中，可供选择的策略有一定的范围，称为</a:t>
            </a:r>
            <a:r>
              <a:rPr lang="zh-CN" altLang="en-US" dirty="0">
                <a:solidFill>
                  <a:srgbClr val="FF0000"/>
                </a:solidFill>
                <a:latin typeface="楷体_GB2312" pitchFamily="49" charset="-122"/>
              </a:rPr>
              <a:t>允许策略集合</a:t>
            </a:r>
            <a:r>
              <a:rPr lang="zh-CN" altLang="en-US" dirty="0">
                <a:solidFill>
                  <a:srgbClr val="000066"/>
                </a:solidFill>
                <a:latin typeface="楷体_GB2312" pitchFamily="49" charset="-122"/>
              </a:rPr>
              <a:t>。从允许策略集合中找出达到最优效果的策略称为</a:t>
            </a:r>
            <a:r>
              <a:rPr lang="zh-CN" altLang="en-US" dirty="0">
                <a:solidFill>
                  <a:srgbClr val="FF0000"/>
                </a:solidFill>
                <a:latin typeface="楷体_GB2312" pitchFamily="49" charset="-122"/>
              </a:rPr>
              <a:t>最优策略</a:t>
            </a:r>
            <a:r>
              <a:rPr lang="zh-CN" altLang="en-US" dirty="0">
                <a:solidFill>
                  <a:srgbClr val="000066"/>
                </a:solidFill>
                <a:latin typeface="楷体_GB2312" pitchFamily="49" charset="-122"/>
              </a:rPr>
              <a:t>。      </a:t>
            </a:r>
            <a:endParaRPr lang="zh-CN" altLang="en-US" dirty="0">
              <a:solidFill>
                <a:srgbClr val="000066"/>
              </a:solidFill>
              <a:latin typeface="楷体_GB2312" pitchFamily="49" charset="-122"/>
            </a:endParaRPr>
          </a:p>
        </p:txBody>
      </p:sp>
      <p:sp>
        <p:nvSpPr>
          <p:cNvPr id="4100" name="Rectangle 4"/>
          <p:cNvSpPr/>
          <p:nvPr/>
        </p:nvSpPr>
        <p:spPr>
          <a:xfrm>
            <a:off x="214313" y="3786188"/>
            <a:ext cx="8382000" cy="946150"/>
          </a:xfrm>
          <a:prstGeom prst="rect">
            <a:avLst/>
          </a:prstGeom>
          <a:noFill/>
          <a:ln w="9525">
            <a:noFill/>
          </a:ln>
        </p:spPr>
        <p:txBody>
          <a:bodyPr>
            <a:spAutoFit/>
          </a:bodyPr>
          <a:p>
            <a:r>
              <a:rPr lang="en-US" altLang="zh-CN" dirty="0">
                <a:solidFill>
                  <a:srgbClr val="000066"/>
                </a:solidFill>
                <a:latin typeface="楷体_GB2312" pitchFamily="49" charset="-122"/>
              </a:rPr>
              <a:t> 6</a:t>
            </a:r>
            <a:r>
              <a:rPr lang="zh-CN" altLang="en-US" dirty="0">
                <a:solidFill>
                  <a:srgbClr val="000066"/>
                </a:solidFill>
                <a:latin typeface="楷体_GB2312" pitchFamily="49" charset="-122"/>
              </a:rPr>
              <a:t>、状态转移方程：是确定过程由一个状态到另一个状态的演变过程，描述了状态转移规律。</a:t>
            </a:r>
            <a:endParaRPr lang="zh-CN" altLang="en-US" dirty="0">
              <a:solidFill>
                <a:srgbClr val="000066"/>
              </a:solidFill>
              <a:latin typeface="楷体_GB2312" pitchFamily="49" charset="-122"/>
            </a:endParaRPr>
          </a:p>
        </p:txBody>
      </p:sp>
      <p:graphicFrame>
        <p:nvGraphicFramePr>
          <p:cNvPr id="2" name="Object 15"/>
          <p:cNvGraphicFramePr/>
          <p:nvPr/>
        </p:nvGraphicFramePr>
        <p:xfrm>
          <a:off x="2857500" y="1500188"/>
          <a:ext cx="2598738" cy="527050"/>
        </p:xfrm>
        <a:graphic>
          <a:graphicData uri="http://schemas.openxmlformats.org/presentationml/2006/ole">
            <mc:AlternateContent xmlns:mc="http://schemas.openxmlformats.org/markup-compatibility/2006">
              <mc:Choice xmlns:v="urn:schemas-microsoft-com:vml" Requires="v">
                <p:oleObj spid="_x0000_s3078" name="" r:id="rId1" imgW="1231265" imgH="241300" progId="Equation.DSMT4">
                  <p:embed/>
                </p:oleObj>
              </mc:Choice>
              <mc:Fallback>
                <p:oleObj name="" r:id="rId1" imgW="1231265" imgH="241300" progId="Equation.DSMT4">
                  <p:embed/>
                  <p:pic>
                    <p:nvPicPr>
                      <p:cNvPr id="0" name="图片 3077"/>
                      <p:cNvPicPr/>
                      <p:nvPr/>
                    </p:nvPicPr>
                    <p:blipFill>
                      <a:blip r:embed="rId2"/>
                      <a:stretch>
                        <a:fillRect/>
                      </a:stretch>
                    </p:blipFill>
                    <p:spPr>
                      <a:xfrm>
                        <a:off x="2857500" y="1500188"/>
                        <a:ext cx="2598738" cy="527050"/>
                      </a:xfrm>
                      <a:prstGeom prst="rect">
                        <a:avLst/>
                      </a:prstGeom>
                      <a:noFill/>
                      <a:ln w="38100">
                        <a:noFill/>
                        <a:miter/>
                      </a:ln>
                    </p:spPr>
                  </p:pic>
                </p:oleObj>
              </mc:Fallback>
            </mc:AlternateContent>
          </a:graphicData>
        </a:graphic>
      </p:graphicFrame>
      <p:graphicFrame>
        <p:nvGraphicFramePr>
          <p:cNvPr id="4099" name="Object 8"/>
          <p:cNvGraphicFramePr/>
          <p:nvPr/>
        </p:nvGraphicFramePr>
        <p:xfrm>
          <a:off x="2928938" y="5072063"/>
          <a:ext cx="2584450" cy="533400"/>
        </p:xfrm>
        <a:graphic>
          <a:graphicData uri="http://schemas.openxmlformats.org/presentationml/2006/ole">
            <mc:AlternateContent xmlns:mc="http://schemas.openxmlformats.org/markup-compatibility/2006">
              <mc:Choice xmlns:v="urn:schemas-microsoft-com:vml" Requires="v">
                <p:oleObj spid="_x0000_s3079" name="" r:id="rId3" imgW="977900" imgH="228600" progId="Equation.3">
                  <p:embed/>
                </p:oleObj>
              </mc:Choice>
              <mc:Fallback>
                <p:oleObj name="" r:id="rId3" imgW="977900" imgH="228600" progId="Equation.3">
                  <p:embed/>
                  <p:pic>
                    <p:nvPicPr>
                      <p:cNvPr id="0" name="图片 3078"/>
                      <p:cNvPicPr/>
                      <p:nvPr/>
                    </p:nvPicPr>
                    <p:blipFill>
                      <a:blip r:embed="rId4"/>
                      <a:stretch>
                        <a:fillRect/>
                      </a:stretch>
                    </p:blipFill>
                    <p:spPr>
                      <a:xfrm>
                        <a:off x="2928938" y="5072063"/>
                        <a:ext cx="2584450" cy="5334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out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barn(outVertical)">
                                      <p:cBhvr>
                                        <p:cTn id="12"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410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2770" name="Text Box 2"/>
          <p:cNvSpPr txBox="1"/>
          <p:nvPr/>
        </p:nvSpPr>
        <p:spPr>
          <a:xfrm>
            <a:off x="304800" y="533400"/>
            <a:ext cx="8458200" cy="1373188"/>
          </a:xfrm>
          <a:prstGeom prst="rect">
            <a:avLst/>
          </a:prstGeom>
          <a:noFill/>
          <a:ln w="9525">
            <a:noFill/>
          </a:ln>
        </p:spPr>
        <p:txBody>
          <a:bodyPr>
            <a:spAutoFit/>
          </a:bodyPr>
          <a:p>
            <a:pPr>
              <a:spcBef>
                <a:spcPct val="50000"/>
              </a:spcBef>
            </a:pPr>
            <a:r>
              <a:rPr lang="zh-CN" altLang="en-US" dirty="0">
                <a:solidFill>
                  <a:srgbClr val="FF6600"/>
                </a:solidFill>
                <a:latin typeface="楷体_GB2312" pitchFamily="49" charset="-122"/>
              </a:rPr>
              <a:t>最短路问题</a:t>
            </a:r>
            <a:r>
              <a:rPr lang="zh-CN" altLang="en-US" dirty="0">
                <a:latin typeface="楷体_GB2312" pitchFamily="49" charset="-122"/>
              </a:rPr>
              <a:t>：给定一个交通网络图如下，其中两点之间的数字表示距离（或花费），试求从</a:t>
            </a:r>
            <a:r>
              <a:rPr lang="en-US" altLang="zh-CN" dirty="0">
                <a:latin typeface="Times New Roman" panose="02020603050405020304" pitchFamily="18" charset="0"/>
              </a:rPr>
              <a:t>A</a:t>
            </a:r>
            <a:r>
              <a:rPr lang="zh-CN" altLang="en-US" dirty="0">
                <a:latin typeface="楷体_GB2312" pitchFamily="49" charset="-122"/>
              </a:rPr>
              <a:t>点到</a:t>
            </a:r>
            <a:r>
              <a:rPr lang="en-US" altLang="zh-CN" dirty="0">
                <a:latin typeface="Times New Roman" panose="02020603050405020304" pitchFamily="18" charset="0"/>
              </a:rPr>
              <a:t>G</a:t>
            </a:r>
            <a:r>
              <a:rPr lang="zh-CN" altLang="en-US" dirty="0">
                <a:latin typeface="楷体_GB2312" pitchFamily="49" charset="-122"/>
              </a:rPr>
              <a:t>点的最短距离（总费用最小）。</a:t>
            </a:r>
            <a:endParaRPr lang="zh-CN" altLang="en-US" dirty="0">
              <a:latin typeface="楷体_GB2312" pitchFamily="49" charset="-122"/>
            </a:endParaRPr>
          </a:p>
        </p:txBody>
      </p:sp>
      <p:sp>
        <p:nvSpPr>
          <p:cNvPr id="32771" name="Line 82"/>
          <p:cNvSpPr/>
          <p:nvPr/>
        </p:nvSpPr>
        <p:spPr>
          <a:xfrm>
            <a:off x="304800" y="6172200"/>
            <a:ext cx="8382000" cy="0"/>
          </a:xfrm>
          <a:prstGeom prst="line">
            <a:avLst/>
          </a:prstGeom>
          <a:ln w="28575" cap="flat" cmpd="sng">
            <a:solidFill>
              <a:schemeClr val="accent2"/>
            </a:solidFill>
            <a:prstDash val="solid"/>
            <a:headEnd type="none" w="med" len="med"/>
            <a:tailEnd type="none" w="med" len="med"/>
          </a:ln>
        </p:spPr>
      </p:sp>
      <p:sp>
        <p:nvSpPr>
          <p:cNvPr id="32772" name="Line 83"/>
          <p:cNvSpPr/>
          <p:nvPr/>
        </p:nvSpPr>
        <p:spPr>
          <a:xfrm>
            <a:off x="304800" y="5943600"/>
            <a:ext cx="0" cy="228600"/>
          </a:xfrm>
          <a:prstGeom prst="line">
            <a:avLst/>
          </a:prstGeom>
          <a:ln w="28575" cap="flat" cmpd="sng">
            <a:solidFill>
              <a:schemeClr val="accent2"/>
            </a:solidFill>
            <a:prstDash val="solid"/>
            <a:headEnd type="none" w="med" len="med"/>
            <a:tailEnd type="none" w="med" len="med"/>
          </a:ln>
        </p:spPr>
      </p:sp>
      <p:sp>
        <p:nvSpPr>
          <p:cNvPr id="32773" name="Line 84"/>
          <p:cNvSpPr/>
          <p:nvPr/>
        </p:nvSpPr>
        <p:spPr>
          <a:xfrm>
            <a:off x="8686800" y="5943600"/>
            <a:ext cx="0" cy="228600"/>
          </a:xfrm>
          <a:prstGeom prst="line">
            <a:avLst/>
          </a:prstGeom>
          <a:ln w="28575" cap="flat" cmpd="sng">
            <a:solidFill>
              <a:schemeClr val="accent2"/>
            </a:solidFill>
            <a:prstDash val="solid"/>
            <a:headEnd type="none" w="med" len="med"/>
            <a:tailEnd type="none" w="med" len="med"/>
          </a:ln>
        </p:spPr>
      </p:sp>
      <p:sp>
        <p:nvSpPr>
          <p:cNvPr id="32774" name="Line 85"/>
          <p:cNvSpPr/>
          <p:nvPr/>
        </p:nvSpPr>
        <p:spPr>
          <a:xfrm>
            <a:off x="1447800" y="5943600"/>
            <a:ext cx="0" cy="228600"/>
          </a:xfrm>
          <a:prstGeom prst="line">
            <a:avLst/>
          </a:prstGeom>
          <a:ln w="28575" cap="flat" cmpd="sng">
            <a:solidFill>
              <a:schemeClr val="accent2"/>
            </a:solidFill>
            <a:prstDash val="solid"/>
            <a:headEnd type="none" w="med" len="med"/>
            <a:tailEnd type="none" w="med" len="med"/>
          </a:ln>
        </p:spPr>
      </p:sp>
      <p:sp>
        <p:nvSpPr>
          <p:cNvPr id="32775" name="Line 86"/>
          <p:cNvSpPr/>
          <p:nvPr/>
        </p:nvSpPr>
        <p:spPr>
          <a:xfrm>
            <a:off x="3048000" y="5943600"/>
            <a:ext cx="0" cy="228600"/>
          </a:xfrm>
          <a:prstGeom prst="line">
            <a:avLst/>
          </a:prstGeom>
          <a:ln w="28575" cap="flat" cmpd="sng">
            <a:solidFill>
              <a:schemeClr val="accent2"/>
            </a:solidFill>
            <a:prstDash val="solid"/>
            <a:headEnd type="none" w="med" len="med"/>
            <a:tailEnd type="none" w="med" len="med"/>
          </a:ln>
        </p:spPr>
      </p:sp>
      <p:sp>
        <p:nvSpPr>
          <p:cNvPr id="32776" name="Line 87"/>
          <p:cNvSpPr/>
          <p:nvPr/>
        </p:nvSpPr>
        <p:spPr>
          <a:xfrm>
            <a:off x="4572000" y="5943600"/>
            <a:ext cx="0" cy="228600"/>
          </a:xfrm>
          <a:prstGeom prst="line">
            <a:avLst/>
          </a:prstGeom>
          <a:ln w="28575" cap="flat" cmpd="sng">
            <a:solidFill>
              <a:schemeClr val="accent2"/>
            </a:solidFill>
            <a:prstDash val="solid"/>
            <a:headEnd type="none" w="med" len="med"/>
            <a:tailEnd type="none" w="med" len="med"/>
          </a:ln>
        </p:spPr>
      </p:sp>
      <p:sp>
        <p:nvSpPr>
          <p:cNvPr id="32777" name="Line 88"/>
          <p:cNvSpPr/>
          <p:nvPr/>
        </p:nvSpPr>
        <p:spPr>
          <a:xfrm>
            <a:off x="6324600" y="5943600"/>
            <a:ext cx="0" cy="228600"/>
          </a:xfrm>
          <a:prstGeom prst="line">
            <a:avLst/>
          </a:prstGeom>
          <a:ln w="28575" cap="flat" cmpd="sng">
            <a:solidFill>
              <a:schemeClr val="accent2"/>
            </a:solidFill>
            <a:prstDash val="solid"/>
            <a:headEnd type="none" w="med" len="med"/>
            <a:tailEnd type="none" w="med" len="med"/>
          </a:ln>
        </p:spPr>
      </p:sp>
      <p:sp>
        <p:nvSpPr>
          <p:cNvPr id="32778" name="Line 89"/>
          <p:cNvSpPr/>
          <p:nvPr/>
        </p:nvSpPr>
        <p:spPr>
          <a:xfrm>
            <a:off x="7543800" y="5943600"/>
            <a:ext cx="0" cy="228600"/>
          </a:xfrm>
          <a:prstGeom prst="line">
            <a:avLst/>
          </a:prstGeom>
          <a:ln w="28575" cap="flat" cmpd="sng">
            <a:solidFill>
              <a:schemeClr val="accent2"/>
            </a:solidFill>
            <a:prstDash val="solid"/>
            <a:headEnd type="none" w="med" len="med"/>
            <a:tailEnd type="none" w="med" len="med"/>
          </a:ln>
        </p:spPr>
      </p:sp>
      <p:sp>
        <p:nvSpPr>
          <p:cNvPr id="32779" name="Text Box 90"/>
          <p:cNvSpPr txBox="1"/>
          <p:nvPr/>
        </p:nvSpPr>
        <p:spPr>
          <a:xfrm>
            <a:off x="685800" y="61722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1</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0" name="Text Box 91"/>
          <p:cNvSpPr txBox="1"/>
          <p:nvPr/>
        </p:nvSpPr>
        <p:spPr>
          <a:xfrm>
            <a:off x="2133600" y="6172200"/>
            <a:ext cx="4572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2</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1" name="Text Box 92"/>
          <p:cNvSpPr txBox="1"/>
          <p:nvPr/>
        </p:nvSpPr>
        <p:spPr>
          <a:xfrm>
            <a:off x="3733800" y="6172200"/>
            <a:ext cx="381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3</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2" name="Text Box 93"/>
          <p:cNvSpPr txBox="1"/>
          <p:nvPr/>
        </p:nvSpPr>
        <p:spPr>
          <a:xfrm>
            <a:off x="5257800" y="6172200"/>
            <a:ext cx="762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4</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3" name="Text Box 94"/>
          <p:cNvSpPr txBox="1"/>
          <p:nvPr/>
        </p:nvSpPr>
        <p:spPr>
          <a:xfrm>
            <a:off x="67056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5</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4" name="Text Box 95"/>
          <p:cNvSpPr txBox="1"/>
          <p:nvPr/>
        </p:nvSpPr>
        <p:spPr>
          <a:xfrm>
            <a:off x="80772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6</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2785" name="Oval 96"/>
          <p:cNvSpPr/>
          <p:nvPr/>
        </p:nvSpPr>
        <p:spPr>
          <a:xfrm>
            <a:off x="228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2786" name="Oval 97"/>
          <p:cNvSpPr/>
          <p:nvPr/>
        </p:nvSpPr>
        <p:spPr>
          <a:xfrm>
            <a:off x="12954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787" name="Oval 98"/>
          <p:cNvSpPr/>
          <p:nvPr/>
        </p:nvSpPr>
        <p:spPr>
          <a:xfrm>
            <a:off x="1371600" y="4267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788" name="Oval 99"/>
          <p:cNvSpPr/>
          <p:nvPr/>
        </p:nvSpPr>
        <p:spPr>
          <a:xfrm>
            <a:off x="2895600" y="1981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789" name="Oval 100"/>
          <p:cNvSpPr/>
          <p:nvPr/>
        </p:nvSpPr>
        <p:spPr>
          <a:xfrm>
            <a:off x="2819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32790" name="Oval 101"/>
          <p:cNvSpPr/>
          <p:nvPr/>
        </p:nvSpPr>
        <p:spPr>
          <a:xfrm>
            <a:off x="28194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791" name="Oval 102"/>
          <p:cNvSpPr/>
          <p:nvPr/>
        </p:nvSpPr>
        <p:spPr>
          <a:xfrm>
            <a:off x="2819400" y="5486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2792" name="Oval 103"/>
          <p:cNvSpPr/>
          <p:nvPr/>
        </p:nvSpPr>
        <p:spPr>
          <a:xfrm>
            <a:off x="44196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793" name="Oval 104"/>
          <p:cNvSpPr/>
          <p:nvPr/>
        </p:nvSpPr>
        <p:spPr>
          <a:xfrm>
            <a:off x="4419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794" name="Oval 105"/>
          <p:cNvSpPr/>
          <p:nvPr/>
        </p:nvSpPr>
        <p:spPr>
          <a:xfrm>
            <a:off x="4419600" y="487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795" name="Oval 106"/>
          <p:cNvSpPr/>
          <p:nvPr/>
        </p:nvSpPr>
        <p:spPr>
          <a:xfrm>
            <a:off x="60198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796" name="Oval 107"/>
          <p:cNvSpPr/>
          <p:nvPr/>
        </p:nvSpPr>
        <p:spPr>
          <a:xfrm>
            <a:off x="60198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797" name="Oval 108"/>
          <p:cNvSpPr/>
          <p:nvPr/>
        </p:nvSpPr>
        <p:spPr>
          <a:xfrm>
            <a:off x="60960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798" name="Oval 109"/>
          <p:cNvSpPr/>
          <p:nvPr/>
        </p:nvSpPr>
        <p:spPr>
          <a:xfrm>
            <a:off x="7391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799" name="Oval 110"/>
          <p:cNvSpPr/>
          <p:nvPr/>
        </p:nvSpPr>
        <p:spPr>
          <a:xfrm>
            <a:off x="7391400" y="4495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800" name="Oval 111"/>
          <p:cNvSpPr/>
          <p:nvPr/>
        </p:nvSpPr>
        <p:spPr>
          <a:xfrm>
            <a:off x="84582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32801" name="Line 112"/>
          <p:cNvSpPr/>
          <p:nvPr/>
        </p:nvSpPr>
        <p:spPr>
          <a:xfrm flipV="1">
            <a:off x="609600" y="3124200"/>
            <a:ext cx="762000" cy="609600"/>
          </a:xfrm>
          <a:prstGeom prst="line">
            <a:avLst/>
          </a:prstGeom>
          <a:ln w="28575" cap="flat" cmpd="sng">
            <a:solidFill>
              <a:schemeClr val="tx1"/>
            </a:solidFill>
            <a:prstDash val="solid"/>
            <a:headEnd type="none" w="med" len="med"/>
            <a:tailEnd type="triangle" w="med" len="med"/>
          </a:ln>
        </p:spPr>
      </p:sp>
      <p:sp>
        <p:nvSpPr>
          <p:cNvPr id="32802" name="Line 113"/>
          <p:cNvSpPr/>
          <p:nvPr/>
        </p:nvSpPr>
        <p:spPr>
          <a:xfrm>
            <a:off x="609600" y="4038600"/>
            <a:ext cx="762000" cy="304800"/>
          </a:xfrm>
          <a:prstGeom prst="line">
            <a:avLst/>
          </a:prstGeom>
          <a:ln w="28575" cap="flat" cmpd="sng">
            <a:solidFill>
              <a:schemeClr val="tx1"/>
            </a:solidFill>
            <a:prstDash val="solid"/>
            <a:headEnd type="none" w="med" len="med"/>
            <a:tailEnd type="triangle" w="med" len="med"/>
          </a:ln>
        </p:spPr>
      </p:sp>
      <p:sp>
        <p:nvSpPr>
          <p:cNvPr id="32803" name="Line 114"/>
          <p:cNvSpPr/>
          <p:nvPr/>
        </p:nvSpPr>
        <p:spPr>
          <a:xfrm flipV="1">
            <a:off x="1676400" y="2286000"/>
            <a:ext cx="1219200" cy="533400"/>
          </a:xfrm>
          <a:prstGeom prst="line">
            <a:avLst/>
          </a:prstGeom>
          <a:ln w="28575" cap="flat" cmpd="sng">
            <a:solidFill>
              <a:schemeClr val="tx1"/>
            </a:solidFill>
            <a:prstDash val="solid"/>
            <a:headEnd type="none" w="med" len="med"/>
            <a:tailEnd type="triangle" w="med" len="med"/>
          </a:ln>
        </p:spPr>
      </p:sp>
      <p:sp>
        <p:nvSpPr>
          <p:cNvPr id="32804" name="Line 115"/>
          <p:cNvSpPr/>
          <p:nvPr/>
        </p:nvSpPr>
        <p:spPr>
          <a:xfrm>
            <a:off x="1752600" y="2971800"/>
            <a:ext cx="1066800" cy="304800"/>
          </a:xfrm>
          <a:prstGeom prst="line">
            <a:avLst/>
          </a:prstGeom>
          <a:ln w="28575" cap="flat" cmpd="sng">
            <a:solidFill>
              <a:schemeClr val="tx1"/>
            </a:solidFill>
            <a:prstDash val="solid"/>
            <a:headEnd type="none" w="med" len="med"/>
            <a:tailEnd type="triangle" w="med" len="med"/>
          </a:ln>
        </p:spPr>
      </p:sp>
      <p:sp>
        <p:nvSpPr>
          <p:cNvPr id="32805" name="Line 116"/>
          <p:cNvSpPr/>
          <p:nvPr/>
        </p:nvSpPr>
        <p:spPr>
          <a:xfrm>
            <a:off x="1676400" y="3200400"/>
            <a:ext cx="1219200" cy="1219200"/>
          </a:xfrm>
          <a:prstGeom prst="line">
            <a:avLst/>
          </a:prstGeom>
          <a:ln w="28575" cap="flat" cmpd="sng">
            <a:solidFill>
              <a:schemeClr val="tx1"/>
            </a:solidFill>
            <a:prstDash val="solid"/>
            <a:headEnd type="none" w="med" len="med"/>
            <a:tailEnd type="triangle" w="med" len="med"/>
          </a:ln>
        </p:spPr>
      </p:sp>
      <p:sp>
        <p:nvSpPr>
          <p:cNvPr id="32806" name="Line 117"/>
          <p:cNvSpPr/>
          <p:nvPr/>
        </p:nvSpPr>
        <p:spPr>
          <a:xfrm flipV="1">
            <a:off x="1752600" y="3352800"/>
            <a:ext cx="1066800" cy="990600"/>
          </a:xfrm>
          <a:prstGeom prst="line">
            <a:avLst/>
          </a:prstGeom>
          <a:ln w="28575" cap="flat" cmpd="sng">
            <a:solidFill>
              <a:schemeClr val="tx1"/>
            </a:solidFill>
            <a:prstDash val="solid"/>
            <a:headEnd type="none" w="med" len="med"/>
            <a:tailEnd type="triangle" w="med" len="med"/>
          </a:ln>
        </p:spPr>
      </p:sp>
      <p:sp>
        <p:nvSpPr>
          <p:cNvPr id="32807" name="Line 118"/>
          <p:cNvSpPr/>
          <p:nvPr/>
        </p:nvSpPr>
        <p:spPr>
          <a:xfrm>
            <a:off x="1828800" y="4572000"/>
            <a:ext cx="990600" cy="0"/>
          </a:xfrm>
          <a:prstGeom prst="line">
            <a:avLst/>
          </a:prstGeom>
          <a:ln w="28575" cap="flat" cmpd="sng">
            <a:solidFill>
              <a:schemeClr val="tx1"/>
            </a:solidFill>
            <a:prstDash val="solid"/>
            <a:headEnd type="none" w="med" len="med"/>
            <a:tailEnd type="triangle" w="med" len="med"/>
          </a:ln>
        </p:spPr>
      </p:sp>
      <p:sp>
        <p:nvSpPr>
          <p:cNvPr id="32808" name="Line 119"/>
          <p:cNvSpPr/>
          <p:nvPr/>
        </p:nvSpPr>
        <p:spPr>
          <a:xfrm>
            <a:off x="1752600" y="4648200"/>
            <a:ext cx="1143000" cy="914400"/>
          </a:xfrm>
          <a:prstGeom prst="line">
            <a:avLst/>
          </a:prstGeom>
          <a:ln w="28575" cap="flat" cmpd="sng">
            <a:solidFill>
              <a:schemeClr val="tx1"/>
            </a:solidFill>
            <a:prstDash val="solid"/>
            <a:headEnd type="none" w="med" len="med"/>
            <a:tailEnd type="triangle" w="med" len="med"/>
          </a:ln>
        </p:spPr>
      </p:sp>
      <p:sp>
        <p:nvSpPr>
          <p:cNvPr id="32809" name="Line 120"/>
          <p:cNvSpPr/>
          <p:nvPr/>
        </p:nvSpPr>
        <p:spPr>
          <a:xfrm>
            <a:off x="3352800" y="2286000"/>
            <a:ext cx="1066800" cy="381000"/>
          </a:xfrm>
          <a:prstGeom prst="line">
            <a:avLst/>
          </a:prstGeom>
          <a:ln w="28575" cap="flat" cmpd="sng">
            <a:solidFill>
              <a:schemeClr val="tx1"/>
            </a:solidFill>
            <a:prstDash val="solid"/>
            <a:headEnd type="none" w="med" len="med"/>
            <a:tailEnd type="triangle" w="med" len="med"/>
          </a:ln>
        </p:spPr>
      </p:sp>
      <p:sp>
        <p:nvSpPr>
          <p:cNvPr id="32810" name="Line 121"/>
          <p:cNvSpPr/>
          <p:nvPr/>
        </p:nvSpPr>
        <p:spPr>
          <a:xfrm>
            <a:off x="3276600" y="2438400"/>
            <a:ext cx="1219200" cy="1295400"/>
          </a:xfrm>
          <a:prstGeom prst="line">
            <a:avLst/>
          </a:prstGeom>
          <a:ln w="28575" cap="flat" cmpd="sng">
            <a:solidFill>
              <a:schemeClr val="tx1"/>
            </a:solidFill>
            <a:prstDash val="solid"/>
            <a:headEnd type="none" w="med" len="med"/>
            <a:tailEnd type="triangle" w="med" len="med"/>
          </a:ln>
        </p:spPr>
      </p:sp>
      <p:sp>
        <p:nvSpPr>
          <p:cNvPr id="32811" name="Line 122"/>
          <p:cNvSpPr/>
          <p:nvPr/>
        </p:nvSpPr>
        <p:spPr>
          <a:xfrm flipV="1">
            <a:off x="3276600" y="2819400"/>
            <a:ext cx="1143000" cy="457200"/>
          </a:xfrm>
          <a:prstGeom prst="line">
            <a:avLst/>
          </a:prstGeom>
          <a:ln w="28575" cap="flat" cmpd="sng">
            <a:solidFill>
              <a:schemeClr val="tx1"/>
            </a:solidFill>
            <a:prstDash val="solid"/>
            <a:headEnd type="none" w="med" len="med"/>
            <a:tailEnd type="triangle" w="med" len="med"/>
          </a:ln>
        </p:spPr>
      </p:sp>
      <p:sp>
        <p:nvSpPr>
          <p:cNvPr id="32812" name="Line 123"/>
          <p:cNvSpPr/>
          <p:nvPr/>
        </p:nvSpPr>
        <p:spPr>
          <a:xfrm>
            <a:off x="3276600" y="3429000"/>
            <a:ext cx="1143000" cy="381000"/>
          </a:xfrm>
          <a:prstGeom prst="line">
            <a:avLst/>
          </a:prstGeom>
          <a:ln w="28575" cap="flat" cmpd="sng">
            <a:solidFill>
              <a:schemeClr val="tx1"/>
            </a:solidFill>
            <a:prstDash val="solid"/>
            <a:headEnd type="none" w="med" len="med"/>
            <a:tailEnd type="triangle" w="med" len="med"/>
          </a:ln>
        </p:spPr>
      </p:sp>
      <p:sp>
        <p:nvSpPr>
          <p:cNvPr id="32813" name="Line 124"/>
          <p:cNvSpPr/>
          <p:nvPr/>
        </p:nvSpPr>
        <p:spPr>
          <a:xfrm flipV="1">
            <a:off x="3276600" y="3962400"/>
            <a:ext cx="1143000" cy="609600"/>
          </a:xfrm>
          <a:prstGeom prst="line">
            <a:avLst/>
          </a:prstGeom>
          <a:ln w="28575" cap="flat" cmpd="sng">
            <a:solidFill>
              <a:schemeClr val="tx1"/>
            </a:solidFill>
            <a:prstDash val="solid"/>
            <a:headEnd type="none" w="med" len="med"/>
            <a:tailEnd type="triangle" w="med" len="med"/>
          </a:ln>
        </p:spPr>
      </p:sp>
      <p:sp>
        <p:nvSpPr>
          <p:cNvPr id="32814" name="Line 125"/>
          <p:cNvSpPr/>
          <p:nvPr/>
        </p:nvSpPr>
        <p:spPr>
          <a:xfrm>
            <a:off x="3276600" y="4724400"/>
            <a:ext cx="1143000" cy="304800"/>
          </a:xfrm>
          <a:prstGeom prst="line">
            <a:avLst/>
          </a:prstGeom>
          <a:ln w="28575" cap="flat" cmpd="sng">
            <a:solidFill>
              <a:schemeClr val="tx1"/>
            </a:solidFill>
            <a:prstDash val="solid"/>
            <a:headEnd type="none" w="med" len="med"/>
            <a:tailEnd type="triangle" w="med" len="med"/>
          </a:ln>
        </p:spPr>
      </p:sp>
      <p:sp>
        <p:nvSpPr>
          <p:cNvPr id="32815" name="Line 126"/>
          <p:cNvSpPr/>
          <p:nvPr/>
        </p:nvSpPr>
        <p:spPr>
          <a:xfrm flipV="1">
            <a:off x="3276600" y="5257800"/>
            <a:ext cx="1219200" cy="457200"/>
          </a:xfrm>
          <a:prstGeom prst="line">
            <a:avLst/>
          </a:prstGeom>
          <a:ln w="28575" cap="flat" cmpd="sng">
            <a:solidFill>
              <a:schemeClr val="tx1"/>
            </a:solidFill>
            <a:prstDash val="solid"/>
            <a:headEnd type="none" w="med" len="med"/>
            <a:tailEnd type="triangle" w="med" len="med"/>
          </a:ln>
        </p:spPr>
      </p:sp>
      <p:sp>
        <p:nvSpPr>
          <p:cNvPr id="32816" name="Line 127"/>
          <p:cNvSpPr/>
          <p:nvPr/>
        </p:nvSpPr>
        <p:spPr>
          <a:xfrm flipV="1">
            <a:off x="3276600" y="4038600"/>
            <a:ext cx="1295400" cy="1600200"/>
          </a:xfrm>
          <a:prstGeom prst="line">
            <a:avLst/>
          </a:prstGeom>
          <a:ln w="28575" cap="flat" cmpd="sng">
            <a:solidFill>
              <a:schemeClr val="tx1"/>
            </a:solidFill>
            <a:prstDash val="solid"/>
            <a:headEnd type="none" w="med" len="med"/>
            <a:tailEnd type="triangle" w="med" len="med"/>
          </a:ln>
        </p:spPr>
      </p:sp>
      <p:sp>
        <p:nvSpPr>
          <p:cNvPr id="32817" name="Line 128"/>
          <p:cNvSpPr/>
          <p:nvPr/>
        </p:nvSpPr>
        <p:spPr>
          <a:xfrm>
            <a:off x="4876800" y="2743200"/>
            <a:ext cx="1143000" cy="0"/>
          </a:xfrm>
          <a:prstGeom prst="line">
            <a:avLst/>
          </a:prstGeom>
          <a:ln w="28575" cap="flat" cmpd="sng">
            <a:solidFill>
              <a:schemeClr val="tx1"/>
            </a:solidFill>
            <a:prstDash val="solid"/>
            <a:headEnd type="none" w="med" len="med"/>
            <a:tailEnd type="triangle" w="med" len="med"/>
          </a:ln>
        </p:spPr>
      </p:sp>
      <p:sp>
        <p:nvSpPr>
          <p:cNvPr id="32818" name="Line 129"/>
          <p:cNvSpPr/>
          <p:nvPr/>
        </p:nvSpPr>
        <p:spPr>
          <a:xfrm>
            <a:off x="4876800" y="2895600"/>
            <a:ext cx="1219200" cy="914400"/>
          </a:xfrm>
          <a:prstGeom prst="line">
            <a:avLst/>
          </a:prstGeom>
          <a:ln w="28575" cap="flat" cmpd="sng">
            <a:solidFill>
              <a:schemeClr val="tx1"/>
            </a:solidFill>
            <a:prstDash val="solid"/>
            <a:headEnd type="none" w="med" len="med"/>
            <a:tailEnd type="triangle" w="med" len="med"/>
          </a:ln>
        </p:spPr>
      </p:sp>
      <p:sp>
        <p:nvSpPr>
          <p:cNvPr id="32819" name="Line 130"/>
          <p:cNvSpPr/>
          <p:nvPr/>
        </p:nvSpPr>
        <p:spPr>
          <a:xfrm>
            <a:off x="4876800" y="3962400"/>
            <a:ext cx="1143000" cy="0"/>
          </a:xfrm>
          <a:prstGeom prst="line">
            <a:avLst/>
          </a:prstGeom>
          <a:ln w="28575" cap="flat" cmpd="sng">
            <a:solidFill>
              <a:schemeClr val="tx1"/>
            </a:solidFill>
            <a:prstDash val="solid"/>
            <a:headEnd type="none" w="med" len="med"/>
            <a:tailEnd type="triangle" w="med" len="med"/>
          </a:ln>
        </p:spPr>
      </p:sp>
      <p:sp>
        <p:nvSpPr>
          <p:cNvPr id="32820" name="Line 131"/>
          <p:cNvSpPr/>
          <p:nvPr/>
        </p:nvSpPr>
        <p:spPr>
          <a:xfrm>
            <a:off x="4800600" y="4038600"/>
            <a:ext cx="1295400" cy="990600"/>
          </a:xfrm>
          <a:prstGeom prst="line">
            <a:avLst/>
          </a:prstGeom>
          <a:ln w="28575" cap="flat" cmpd="sng">
            <a:solidFill>
              <a:schemeClr val="tx1"/>
            </a:solidFill>
            <a:prstDash val="solid"/>
            <a:headEnd type="none" w="med" len="med"/>
            <a:tailEnd type="triangle" w="med" len="med"/>
          </a:ln>
        </p:spPr>
      </p:sp>
      <p:sp>
        <p:nvSpPr>
          <p:cNvPr id="32821" name="Line 132"/>
          <p:cNvSpPr/>
          <p:nvPr/>
        </p:nvSpPr>
        <p:spPr>
          <a:xfrm flipV="1">
            <a:off x="4876800" y="4038600"/>
            <a:ext cx="1219200" cy="990600"/>
          </a:xfrm>
          <a:prstGeom prst="line">
            <a:avLst/>
          </a:prstGeom>
          <a:ln w="28575" cap="flat" cmpd="sng">
            <a:solidFill>
              <a:schemeClr val="tx1"/>
            </a:solidFill>
            <a:prstDash val="solid"/>
            <a:headEnd type="none" w="med" len="med"/>
            <a:tailEnd type="triangle" w="med" len="med"/>
          </a:ln>
        </p:spPr>
      </p:sp>
      <p:sp>
        <p:nvSpPr>
          <p:cNvPr id="32822" name="Line 133"/>
          <p:cNvSpPr/>
          <p:nvPr/>
        </p:nvSpPr>
        <p:spPr>
          <a:xfrm>
            <a:off x="4876800" y="5181600"/>
            <a:ext cx="1219200" cy="0"/>
          </a:xfrm>
          <a:prstGeom prst="line">
            <a:avLst/>
          </a:prstGeom>
          <a:ln w="28575" cap="flat" cmpd="sng">
            <a:solidFill>
              <a:schemeClr val="tx1"/>
            </a:solidFill>
            <a:prstDash val="solid"/>
            <a:headEnd type="none" w="med" len="med"/>
            <a:tailEnd type="triangle" w="med" len="med"/>
          </a:ln>
        </p:spPr>
      </p:sp>
      <p:sp>
        <p:nvSpPr>
          <p:cNvPr id="32823" name="Line 134"/>
          <p:cNvSpPr/>
          <p:nvPr/>
        </p:nvSpPr>
        <p:spPr>
          <a:xfrm>
            <a:off x="6477000" y="2819400"/>
            <a:ext cx="990600" cy="304800"/>
          </a:xfrm>
          <a:prstGeom prst="line">
            <a:avLst/>
          </a:prstGeom>
          <a:ln w="28575" cap="flat" cmpd="sng">
            <a:solidFill>
              <a:schemeClr val="tx1"/>
            </a:solidFill>
            <a:prstDash val="solid"/>
            <a:headEnd type="none" w="med" len="med"/>
            <a:tailEnd type="triangle" w="med" len="med"/>
          </a:ln>
        </p:spPr>
      </p:sp>
      <p:sp>
        <p:nvSpPr>
          <p:cNvPr id="32824" name="Line 135"/>
          <p:cNvSpPr/>
          <p:nvPr/>
        </p:nvSpPr>
        <p:spPr>
          <a:xfrm flipV="1">
            <a:off x="6477000" y="3352800"/>
            <a:ext cx="914400" cy="533400"/>
          </a:xfrm>
          <a:prstGeom prst="line">
            <a:avLst/>
          </a:prstGeom>
          <a:ln w="28575" cap="flat" cmpd="sng">
            <a:solidFill>
              <a:schemeClr val="tx1"/>
            </a:solidFill>
            <a:prstDash val="solid"/>
            <a:headEnd type="none" w="med" len="med"/>
            <a:tailEnd type="triangle" w="med" len="med"/>
          </a:ln>
        </p:spPr>
      </p:sp>
      <p:sp>
        <p:nvSpPr>
          <p:cNvPr id="32825" name="Line 136"/>
          <p:cNvSpPr/>
          <p:nvPr/>
        </p:nvSpPr>
        <p:spPr>
          <a:xfrm>
            <a:off x="6477000" y="2895600"/>
            <a:ext cx="1066800" cy="1600200"/>
          </a:xfrm>
          <a:prstGeom prst="line">
            <a:avLst/>
          </a:prstGeom>
          <a:ln w="28575" cap="flat" cmpd="sng">
            <a:solidFill>
              <a:schemeClr val="tx1"/>
            </a:solidFill>
            <a:prstDash val="solid"/>
            <a:headEnd type="none" w="med" len="med"/>
            <a:tailEnd type="triangle" w="med" len="med"/>
          </a:ln>
        </p:spPr>
      </p:sp>
      <p:sp>
        <p:nvSpPr>
          <p:cNvPr id="32826" name="Line 137"/>
          <p:cNvSpPr/>
          <p:nvPr/>
        </p:nvSpPr>
        <p:spPr>
          <a:xfrm>
            <a:off x="6477000" y="3962400"/>
            <a:ext cx="990600" cy="609600"/>
          </a:xfrm>
          <a:prstGeom prst="line">
            <a:avLst/>
          </a:prstGeom>
          <a:ln w="28575" cap="flat" cmpd="sng">
            <a:solidFill>
              <a:schemeClr val="tx1"/>
            </a:solidFill>
            <a:prstDash val="solid"/>
            <a:headEnd type="none" w="med" len="med"/>
            <a:tailEnd type="triangle" w="med" len="med"/>
          </a:ln>
        </p:spPr>
      </p:sp>
      <p:sp>
        <p:nvSpPr>
          <p:cNvPr id="32827" name="Line 138"/>
          <p:cNvSpPr/>
          <p:nvPr/>
        </p:nvSpPr>
        <p:spPr>
          <a:xfrm flipV="1">
            <a:off x="6553200" y="3505200"/>
            <a:ext cx="990600" cy="1524000"/>
          </a:xfrm>
          <a:prstGeom prst="line">
            <a:avLst/>
          </a:prstGeom>
          <a:ln w="38100" cap="flat" cmpd="sng">
            <a:solidFill>
              <a:schemeClr val="tx1"/>
            </a:solidFill>
            <a:prstDash val="solid"/>
            <a:headEnd type="none" w="med" len="med"/>
            <a:tailEnd type="triangle" w="med" len="med"/>
          </a:ln>
        </p:spPr>
      </p:sp>
      <p:sp>
        <p:nvSpPr>
          <p:cNvPr id="32828" name="Line 139"/>
          <p:cNvSpPr/>
          <p:nvPr/>
        </p:nvSpPr>
        <p:spPr>
          <a:xfrm flipV="1">
            <a:off x="6553200" y="4876800"/>
            <a:ext cx="914400" cy="381000"/>
          </a:xfrm>
          <a:prstGeom prst="line">
            <a:avLst/>
          </a:prstGeom>
          <a:ln w="28575" cap="flat" cmpd="sng">
            <a:solidFill>
              <a:schemeClr val="tx1"/>
            </a:solidFill>
            <a:prstDash val="solid"/>
            <a:headEnd type="none" w="med" len="med"/>
            <a:tailEnd type="triangle" w="med" len="med"/>
          </a:ln>
        </p:spPr>
      </p:sp>
      <p:sp>
        <p:nvSpPr>
          <p:cNvPr id="32829" name="Line 140"/>
          <p:cNvSpPr/>
          <p:nvPr/>
        </p:nvSpPr>
        <p:spPr>
          <a:xfrm>
            <a:off x="7848600" y="3352800"/>
            <a:ext cx="685800" cy="381000"/>
          </a:xfrm>
          <a:prstGeom prst="line">
            <a:avLst/>
          </a:prstGeom>
          <a:ln w="28575" cap="flat" cmpd="sng">
            <a:solidFill>
              <a:schemeClr val="tx1"/>
            </a:solidFill>
            <a:prstDash val="solid"/>
            <a:headEnd type="none" w="med" len="med"/>
            <a:tailEnd type="triangle" w="med" len="med"/>
          </a:ln>
        </p:spPr>
      </p:sp>
      <p:sp>
        <p:nvSpPr>
          <p:cNvPr id="32830" name="Line 141"/>
          <p:cNvSpPr/>
          <p:nvPr/>
        </p:nvSpPr>
        <p:spPr>
          <a:xfrm flipV="1">
            <a:off x="7848600" y="4038600"/>
            <a:ext cx="685800" cy="609600"/>
          </a:xfrm>
          <a:prstGeom prst="line">
            <a:avLst/>
          </a:prstGeom>
          <a:ln w="28575" cap="flat" cmpd="sng">
            <a:solidFill>
              <a:schemeClr val="tx1"/>
            </a:solidFill>
            <a:prstDash val="solid"/>
            <a:headEnd type="none" w="med" len="med"/>
            <a:tailEnd type="triangle" w="med" len="med"/>
          </a:ln>
        </p:spPr>
      </p:sp>
      <p:sp>
        <p:nvSpPr>
          <p:cNvPr id="32831" name="Text Box 142"/>
          <p:cNvSpPr txBox="1"/>
          <p:nvPr/>
        </p:nvSpPr>
        <p:spPr>
          <a:xfrm>
            <a:off x="685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2832" name="Text Box 143"/>
          <p:cNvSpPr txBox="1"/>
          <p:nvPr/>
        </p:nvSpPr>
        <p:spPr>
          <a:xfrm>
            <a:off x="685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33" name="Text Box 144"/>
          <p:cNvSpPr txBox="1"/>
          <p:nvPr/>
        </p:nvSpPr>
        <p:spPr>
          <a:xfrm>
            <a:off x="1828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834" name="Text Box 145"/>
          <p:cNvSpPr txBox="1"/>
          <p:nvPr/>
        </p:nvSpPr>
        <p:spPr>
          <a:xfrm>
            <a:off x="2209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35" name="Text Box 146"/>
          <p:cNvSpPr txBox="1"/>
          <p:nvPr/>
        </p:nvSpPr>
        <p:spPr>
          <a:xfrm>
            <a:off x="19050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2836" name="Text Box 147"/>
          <p:cNvSpPr txBox="1"/>
          <p:nvPr/>
        </p:nvSpPr>
        <p:spPr>
          <a:xfrm>
            <a:off x="1752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2837" name="Text Box 148"/>
          <p:cNvSpPr txBox="1"/>
          <p:nvPr/>
        </p:nvSpPr>
        <p:spPr>
          <a:xfrm>
            <a:off x="19812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32838" name="Text Box 149"/>
          <p:cNvSpPr txBox="1"/>
          <p:nvPr/>
        </p:nvSpPr>
        <p:spPr>
          <a:xfrm>
            <a:off x="22098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2839" name="Text Box 150"/>
          <p:cNvSpPr txBox="1"/>
          <p:nvPr/>
        </p:nvSpPr>
        <p:spPr>
          <a:xfrm>
            <a:off x="3276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40" name="Text Box 151"/>
          <p:cNvSpPr txBox="1"/>
          <p:nvPr/>
        </p:nvSpPr>
        <p:spPr>
          <a:xfrm>
            <a:off x="3657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2841" name="Text Box 152"/>
          <p:cNvSpPr txBox="1"/>
          <p:nvPr/>
        </p:nvSpPr>
        <p:spPr>
          <a:xfrm>
            <a:off x="3581400" y="2514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2842" name="Text Box 153"/>
          <p:cNvSpPr txBox="1"/>
          <p:nvPr/>
        </p:nvSpPr>
        <p:spPr>
          <a:xfrm>
            <a:off x="35814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2843" name="Text Box 154"/>
          <p:cNvSpPr txBox="1"/>
          <p:nvPr/>
        </p:nvSpPr>
        <p:spPr>
          <a:xfrm>
            <a:off x="3352800" y="3886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44" name="Text Box 155"/>
          <p:cNvSpPr txBox="1"/>
          <p:nvPr/>
        </p:nvSpPr>
        <p:spPr>
          <a:xfrm>
            <a:off x="35052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45" name="Text Box 156"/>
          <p:cNvSpPr txBox="1"/>
          <p:nvPr/>
        </p:nvSpPr>
        <p:spPr>
          <a:xfrm>
            <a:off x="3276600" y="502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2846" name="Text Box 157"/>
          <p:cNvSpPr txBox="1"/>
          <p:nvPr/>
        </p:nvSpPr>
        <p:spPr>
          <a:xfrm>
            <a:off x="37338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2847" name="Text Box 158"/>
          <p:cNvSpPr txBox="1"/>
          <p:nvPr/>
        </p:nvSpPr>
        <p:spPr>
          <a:xfrm>
            <a:off x="5257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848" name="Text Box 159"/>
          <p:cNvSpPr txBox="1"/>
          <p:nvPr/>
        </p:nvSpPr>
        <p:spPr>
          <a:xfrm>
            <a:off x="54102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849" name="Text Box 160"/>
          <p:cNvSpPr txBox="1"/>
          <p:nvPr/>
        </p:nvSpPr>
        <p:spPr>
          <a:xfrm>
            <a:off x="51816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850" name="Text Box 161"/>
          <p:cNvSpPr txBox="1"/>
          <p:nvPr/>
        </p:nvSpPr>
        <p:spPr>
          <a:xfrm>
            <a:off x="50292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2851" name="Text Box 162"/>
          <p:cNvSpPr txBox="1"/>
          <p:nvPr/>
        </p:nvSpPr>
        <p:spPr>
          <a:xfrm>
            <a:off x="48768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52" name="Text Box 163"/>
          <p:cNvSpPr txBox="1"/>
          <p:nvPr/>
        </p:nvSpPr>
        <p:spPr>
          <a:xfrm>
            <a:off x="79248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53" name="Text Box 164"/>
          <p:cNvSpPr txBox="1"/>
          <p:nvPr/>
        </p:nvSpPr>
        <p:spPr>
          <a:xfrm>
            <a:off x="6858000" y="2590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2854" name="Text Box 165"/>
          <p:cNvSpPr txBox="1"/>
          <p:nvPr/>
        </p:nvSpPr>
        <p:spPr>
          <a:xfrm>
            <a:off x="6781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2855" name="Text Box 166"/>
          <p:cNvSpPr txBox="1"/>
          <p:nvPr/>
        </p:nvSpPr>
        <p:spPr>
          <a:xfrm>
            <a:off x="67056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2856" name="Text Box 167"/>
          <p:cNvSpPr txBox="1"/>
          <p:nvPr/>
        </p:nvSpPr>
        <p:spPr>
          <a:xfrm>
            <a:off x="6477000" y="3352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2857" name="Text Box 168"/>
          <p:cNvSpPr txBox="1"/>
          <p:nvPr/>
        </p:nvSpPr>
        <p:spPr>
          <a:xfrm>
            <a:off x="64770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2858" name="Text Box 169"/>
          <p:cNvSpPr txBox="1"/>
          <p:nvPr/>
        </p:nvSpPr>
        <p:spPr>
          <a:xfrm>
            <a:off x="6781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2859" name="Text Box 170"/>
          <p:cNvSpPr txBox="1"/>
          <p:nvPr/>
        </p:nvSpPr>
        <p:spPr>
          <a:xfrm>
            <a:off x="80772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2860" name="Line 177"/>
          <p:cNvSpPr/>
          <p:nvPr/>
        </p:nvSpPr>
        <p:spPr>
          <a:xfrm>
            <a:off x="609600" y="4038600"/>
            <a:ext cx="762000" cy="304800"/>
          </a:xfrm>
          <a:prstGeom prst="line">
            <a:avLst/>
          </a:prstGeom>
          <a:ln w="9525" cap="flat" cmpd="sng">
            <a:solidFill>
              <a:schemeClr val="tx1"/>
            </a:solidFill>
            <a:prstDash val="solid"/>
            <a:headEnd type="none" w="med" len="med"/>
            <a:tailEnd type="triangle" w="med" len="med"/>
          </a:ln>
        </p:spPr>
      </p:sp>
      <p:sp>
        <p:nvSpPr>
          <p:cNvPr id="32861" name="Text Box 178"/>
          <p:cNvSpPr txBox="1"/>
          <p:nvPr/>
        </p:nvSpPr>
        <p:spPr>
          <a:xfrm>
            <a:off x="51054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55299" name="Object 3"/>
          <p:cNvGraphicFramePr/>
          <p:nvPr/>
        </p:nvGraphicFramePr>
        <p:xfrm>
          <a:off x="1357313" y="4000500"/>
          <a:ext cx="5443537" cy="747713"/>
        </p:xfrm>
        <a:graphic>
          <a:graphicData uri="http://schemas.openxmlformats.org/presentationml/2006/ole">
            <mc:AlternateContent xmlns:mc="http://schemas.openxmlformats.org/markup-compatibility/2006">
              <mc:Choice xmlns:v="urn:schemas-microsoft-com:vml" Requires="v">
                <p:oleObj spid="_x0000_s3080" name="" r:id="rId1" imgW="2449195" imgH="355600" progId="Equation.DSMT4">
                  <p:embed/>
                </p:oleObj>
              </mc:Choice>
              <mc:Fallback>
                <p:oleObj name="" r:id="rId1" imgW="2449195" imgH="355600" progId="Equation.DSMT4">
                  <p:embed/>
                  <p:pic>
                    <p:nvPicPr>
                      <p:cNvPr id="0" name="图片 3079"/>
                      <p:cNvPicPr/>
                      <p:nvPr/>
                    </p:nvPicPr>
                    <p:blipFill>
                      <a:blip r:embed="rId2"/>
                      <a:stretch>
                        <a:fillRect/>
                      </a:stretch>
                    </p:blipFill>
                    <p:spPr>
                      <a:xfrm>
                        <a:off x="1357313" y="4000500"/>
                        <a:ext cx="5443537" cy="747713"/>
                      </a:xfrm>
                      <a:prstGeom prst="rect">
                        <a:avLst/>
                      </a:prstGeom>
                      <a:noFill/>
                      <a:ln w="38100">
                        <a:noFill/>
                        <a:miter/>
                      </a:ln>
                    </p:spPr>
                  </p:pic>
                </p:oleObj>
              </mc:Fallback>
            </mc:AlternateContent>
          </a:graphicData>
        </a:graphic>
      </p:graphicFrame>
      <p:sp>
        <p:nvSpPr>
          <p:cNvPr id="13" name="Rectangle 5"/>
          <p:cNvSpPr/>
          <p:nvPr/>
        </p:nvSpPr>
        <p:spPr>
          <a:xfrm>
            <a:off x="533400" y="714375"/>
            <a:ext cx="8610600" cy="2246313"/>
          </a:xfrm>
          <a:prstGeom prst="rect">
            <a:avLst/>
          </a:prstGeom>
          <a:noFill/>
          <a:ln w="9525">
            <a:noFill/>
          </a:ln>
        </p:spPr>
        <p:txBody>
          <a:bodyPr>
            <a:spAutoFit/>
          </a:bodyPr>
          <a:p>
            <a:r>
              <a:rPr lang="en-US" altLang="zh-CN" dirty="0">
                <a:solidFill>
                  <a:srgbClr val="000066"/>
                </a:solidFill>
                <a:latin typeface="楷体_GB2312" pitchFamily="49" charset="-122"/>
              </a:rPr>
              <a:t>  7</a:t>
            </a:r>
            <a:r>
              <a:rPr lang="zh-CN" altLang="en-US" dirty="0">
                <a:solidFill>
                  <a:srgbClr val="000066"/>
                </a:solidFill>
                <a:latin typeface="楷体_GB2312" pitchFamily="49" charset="-122"/>
              </a:rPr>
              <a:t>、指标函数和最优值函数：用来衡量所实现过程优劣的一种数量指标，为</a:t>
            </a:r>
            <a:r>
              <a:rPr lang="zh-CN" altLang="en-US" dirty="0">
                <a:solidFill>
                  <a:srgbClr val="FF0000"/>
                </a:solidFill>
                <a:latin typeface="楷体_GB2312" pitchFamily="49" charset="-122"/>
              </a:rPr>
              <a:t>指标函数</a:t>
            </a:r>
            <a:r>
              <a:rPr lang="zh-CN" altLang="en-US" dirty="0">
                <a:solidFill>
                  <a:srgbClr val="000066"/>
                </a:solidFill>
                <a:latin typeface="楷体_GB2312" pitchFamily="49" charset="-122"/>
              </a:rPr>
              <a:t>。指标函数的最优值，称为</a:t>
            </a:r>
            <a:r>
              <a:rPr lang="zh-CN" altLang="en-US" dirty="0">
                <a:solidFill>
                  <a:srgbClr val="FF0000"/>
                </a:solidFill>
                <a:latin typeface="楷体_GB2312" pitchFamily="49" charset="-122"/>
              </a:rPr>
              <a:t>最优值函数</a:t>
            </a:r>
            <a:r>
              <a:rPr lang="zh-CN" altLang="en-US" dirty="0">
                <a:solidFill>
                  <a:srgbClr val="000066"/>
                </a:solidFill>
                <a:latin typeface="楷体_GB2312" pitchFamily="49" charset="-122"/>
              </a:rPr>
              <a:t>。在不同的问题中，指标函数的含义是不同的，它可能是距离、利润、成本、产量或资源消耗等。</a:t>
            </a:r>
            <a:endParaRPr lang="zh-CN" altLang="en-US" dirty="0">
              <a:solidFill>
                <a:srgbClr val="000066"/>
              </a:solidFill>
              <a:latin typeface="楷体_GB2312" pitchFamily="49" charset="-122"/>
            </a:endParaRPr>
          </a:p>
        </p:txBody>
      </p:sp>
      <p:graphicFrame>
        <p:nvGraphicFramePr>
          <p:cNvPr id="5123" name="Object 15"/>
          <p:cNvGraphicFramePr/>
          <p:nvPr/>
        </p:nvGraphicFramePr>
        <p:xfrm>
          <a:off x="1428750" y="3143250"/>
          <a:ext cx="2513013" cy="471488"/>
        </p:xfrm>
        <a:graphic>
          <a:graphicData uri="http://schemas.openxmlformats.org/presentationml/2006/ole">
            <mc:AlternateContent xmlns:mc="http://schemas.openxmlformats.org/markup-compatibility/2006">
              <mc:Choice xmlns:v="urn:schemas-microsoft-com:vml" Requires="v">
                <p:oleObj spid="_x0000_s3081" name="" r:id="rId3" imgW="1229995" imgH="215900" progId="Equation.DSMT4">
                  <p:embed/>
                </p:oleObj>
              </mc:Choice>
              <mc:Fallback>
                <p:oleObj name="" r:id="rId3" imgW="1229995" imgH="215900" progId="Equation.DSMT4">
                  <p:embed/>
                  <p:pic>
                    <p:nvPicPr>
                      <p:cNvPr id="0" name="图片 3080"/>
                      <p:cNvPicPr/>
                      <p:nvPr/>
                    </p:nvPicPr>
                    <p:blipFill>
                      <a:blip r:embed="rId4"/>
                      <a:stretch>
                        <a:fillRect/>
                      </a:stretch>
                    </p:blipFill>
                    <p:spPr>
                      <a:xfrm>
                        <a:off x="1428750" y="3143250"/>
                        <a:ext cx="2513013" cy="471488"/>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wipe(left)">
                                      <p:cBhvr>
                                        <p:cTn id="7" dur="500"/>
                                        <p:tgtEl>
                                          <p:spTgt spid="55299"/>
                                        </p:tgtEl>
                                      </p:cBhvr>
                                    </p:animEffect>
                                  </p:childTnLst>
                                  <p:subTnLst>
                                    <p:audio>
                                      <p:cMediaNode>
                                        <p:cTn display="0" masterRel="sameClick">
                                          <p:stCondLst>
                                            <p:cond evt="begin" delay="0">
                                              <p:tn val="5"/>
                                            </p:cond>
                                          </p:stCondLst>
                                          <p:endCondLst>
                                            <p:cond evt="onStopAudio" delay="0">
                                              <p:tgtEl>
                                                <p:sldTgt/>
                                              </p:tgtEl>
                                            </p:cond>
                                          </p:endCondLst>
                                        </p:cTn>
                                        <p:tgtEl>
                                          <p:sndTgt r:embed="rId5" name="CAMERA.WAV"/>
                                        </p:tgtEl>
                                      </p:cMediaNode>
                                    </p:audio>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checkerboard(across)">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3794" name="Text Box 2"/>
          <p:cNvSpPr txBox="1"/>
          <p:nvPr/>
        </p:nvSpPr>
        <p:spPr>
          <a:xfrm>
            <a:off x="304800" y="533400"/>
            <a:ext cx="8458200" cy="1373188"/>
          </a:xfrm>
          <a:prstGeom prst="rect">
            <a:avLst/>
          </a:prstGeom>
          <a:noFill/>
          <a:ln w="9525">
            <a:noFill/>
          </a:ln>
        </p:spPr>
        <p:txBody>
          <a:bodyPr>
            <a:spAutoFit/>
          </a:bodyPr>
          <a:p>
            <a:pPr>
              <a:spcBef>
                <a:spcPct val="50000"/>
              </a:spcBef>
            </a:pPr>
            <a:r>
              <a:rPr lang="zh-CN" altLang="en-US" dirty="0">
                <a:solidFill>
                  <a:srgbClr val="FF6600"/>
                </a:solidFill>
                <a:latin typeface="楷体_GB2312" pitchFamily="49" charset="-122"/>
              </a:rPr>
              <a:t>最短路问题</a:t>
            </a:r>
            <a:r>
              <a:rPr lang="zh-CN" altLang="en-US" dirty="0">
                <a:latin typeface="楷体_GB2312" pitchFamily="49" charset="-122"/>
              </a:rPr>
              <a:t>：给定一个交通网络图如下，其中两点之间的数字表示距离（或花费），试求从</a:t>
            </a:r>
            <a:r>
              <a:rPr lang="en-US" altLang="zh-CN" dirty="0">
                <a:latin typeface="Times New Roman" panose="02020603050405020304" pitchFamily="18" charset="0"/>
              </a:rPr>
              <a:t>A</a:t>
            </a:r>
            <a:r>
              <a:rPr lang="zh-CN" altLang="en-US" dirty="0">
                <a:latin typeface="楷体_GB2312" pitchFamily="49" charset="-122"/>
              </a:rPr>
              <a:t>点到</a:t>
            </a:r>
            <a:r>
              <a:rPr lang="en-US" altLang="zh-CN" dirty="0">
                <a:latin typeface="Times New Roman" panose="02020603050405020304" pitchFamily="18" charset="0"/>
              </a:rPr>
              <a:t>G</a:t>
            </a:r>
            <a:r>
              <a:rPr lang="zh-CN" altLang="en-US" dirty="0">
                <a:latin typeface="楷体_GB2312" pitchFamily="49" charset="-122"/>
              </a:rPr>
              <a:t>点的最短距离（总费用最小）。</a:t>
            </a:r>
            <a:endParaRPr lang="zh-CN" altLang="en-US" dirty="0">
              <a:latin typeface="楷体_GB2312" pitchFamily="49" charset="-122"/>
            </a:endParaRPr>
          </a:p>
        </p:txBody>
      </p:sp>
      <p:sp>
        <p:nvSpPr>
          <p:cNvPr id="33795" name="Line 82"/>
          <p:cNvSpPr/>
          <p:nvPr/>
        </p:nvSpPr>
        <p:spPr>
          <a:xfrm>
            <a:off x="304800" y="6172200"/>
            <a:ext cx="8382000" cy="0"/>
          </a:xfrm>
          <a:prstGeom prst="line">
            <a:avLst/>
          </a:prstGeom>
          <a:ln w="28575" cap="flat" cmpd="sng">
            <a:solidFill>
              <a:schemeClr val="accent2"/>
            </a:solidFill>
            <a:prstDash val="solid"/>
            <a:headEnd type="none" w="med" len="med"/>
            <a:tailEnd type="none" w="med" len="med"/>
          </a:ln>
        </p:spPr>
      </p:sp>
      <p:sp>
        <p:nvSpPr>
          <p:cNvPr id="33796" name="Line 83"/>
          <p:cNvSpPr/>
          <p:nvPr/>
        </p:nvSpPr>
        <p:spPr>
          <a:xfrm>
            <a:off x="304800" y="5943600"/>
            <a:ext cx="0" cy="228600"/>
          </a:xfrm>
          <a:prstGeom prst="line">
            <a:avLst/>
          </a:prstGeom>
          <a:ln w="28575" cap="flat" cmpd="sng">
            <a:solidFill>
              <a:schemeClr val="accent2"/>
            </a:solidFill>
            <a:prstDash val="solid"/>
            <a:headEnd type="none" w="med" len="med"/>
            <a:tailEnd type="none" w="med" len="med"/>
          </a:ln>
        </p:spPr>
      </p:sp>
      <p:sp>
        <p:nvSpPr>
          <p:cNvPr id="33797" name="Line 84"/>
          <p:cNvSpPr/>
          <p:nvPr/>
        </p:nvSpPr>
        <p:spPr>
          <a:xfrm>
            <a:off x="8686800" y="5943600"/>
            <a:ext cx="0" cy="228600"/>
          </a:xfrm>
          <a:prstGeom prst="line">
            <a:avLst/>
          </a:prstGeom>
          <a:ln w="28575" cap="flat" cmpd="sng">
            <a:solidFill>
              <a:schemeClr val="accent2"/>
            </a:solidFill>
            <a:prstDash val="solid"/>
            <a:headEnd type="none" w="med" len="med"/>
            <a:tailEnd type="none" w="med" len="med"/>
          </a:ln>
        </p:spPr>
      </p:sp>
      <p:sp>
        <p:nvSpPr>
          <p:cNvPr id="33798" name="Line 85"/>
          <p:cNvSpPr/>
          <p:nvPr/>
        </p:nvSpPr>
        <p:spPr>
          <a:xfrm>
            <a:off x="1447800" y="5943600"/>
            <a:ext cx="0" cy="228600"/>
          </a:xfrm>
          <a:prstGeom prst="line">
            <a:avLst/>
          </a:prstGeom>
          <a:ln w="28575" cap="flat" cmpd="sng">
            <a:solidFill>
              <a:schemeClr val="accent2"/>
            </a:solidFill>
            <a:prstDash val="solid"/>
            <a:headEnd type="none" w="med" len="med"/>
            <a:tailEnd type="none" w="med" len="med"/>
          </a:ln>
        </p:spPr>
      </p:sp>
      <p:sp>
        <p:nvSpPr>
          <p:cNvPr id="33799" name="Line 86"/>
          <p:cNvSpPr/>
          <p:nvPr/>
        </p:nvSpPr>
        <p:spPr>
          <a:xfrm>
            <a:off x="3048000" y="5943600"/>
            <a:ext cx="0" cy="228600"/>
          </a:xfrm>
          <a:prstGeom prst="line">
            <a:avLst/>
          </a:prstGeom>
          <a:ln w="28575" cap="flat" cmpd="sng">
            <a:solidFill>
              <a:schemeClr val="accent2"/>
            </a:solidFill>
            <a:prstDash val="solid"/>
            <a:headEnd type="none" w="med" len="med"/>
            <a:tailEnd type="none" w="med" len="med"/>
          </a:ln>
        </p:spPr>
      </p:sp>
      <p:sp>
        <p:nvSpPr>
          <p:cNvPr id="33800" name="Line 87"/>
          <p:cNvSpPr/>
          <p:nvPr/>
        </p:nvSpPr>
        <p:spPr>
          <a:xfrm>
            <a:off x="4572000" y="5943600"/>
            <a:ext cx="0" cy="228600"/>
          </a:xfrm>
          <a:prstGeom prst="line">
            <a:avLst/>
          </a:prstGeom>
          <a:ln w="28575" cap="flat" cmpd="sng">
            <a:solidFill>
              <a:schemeClr val="accent2"/>
            </a:solidFill>
            <a:prstDash val="solid"/>
            <a:headEnd type="none" w="med" len="med"/>
            <a:tailEnd type="none" w="med" len="med"/>
          </a:ln>
        </p:spPr>
      </p:sp>
      <p:sp>
        <p:nvSpPr>
          <p:cNvPr id="33801" name="Line 88"/>
          <p:cNvSpPr/>
          <p:nvPr/>
        </p:nvSpPr>
        <p:spPr>
          <a:xfrm>
            <a:off x="6324600" y="5943600"/>
            <a:ext cx="0" cy="228600"/>
          </a:xfrm>
          <a:prstGeom prst="line">
            <a:avLst/>
          </a:prstGeom>
          <a:ln w="28575" cap="flat" cmpd="sng">
            <a:solidFill>
              <a:schemeClr val="accent2"/>
            </a:solidFill>
            <a:prstDash val="solid"/>
            <a:headEnd type="none" w="med" len="med"/>
            <a:tailEnd type="none" w="med" len="med"/>
          </a:ln>
        </p:spPr>
      </p:sp>
      <p:sp>
        <p:nvSpPr>
          <p:cNvPr id="33802" name="Line 89"/>
          <p:cNvSpPr/>
          <p:nvPr/>
        </p:nvSpPr>
        <p:spPr>
          <a:xfrm>
            <a:off x="7543800" y="5943600"/>
            <a:ext cx="0" cy="228600"/>
          </a:xfrm>
          <a:prstGeom prst="line">
            <a:avLst/>
          </a:prstGeom>
          <a:ln w="28575" cap="flat" cmpd="sng">
            <a:solidFill>
              <a:schemeClr val="accent2"/>
            </a:solidFill>
            <a:prstDash val="solid"/>
            <a:headEnd type="none" w="med" len="med"/>
            <a:tailEnd type="none" w="med" len="med"/>
          </a:ln>
        </p:spPr>
      </p:sp>
      <p:sp>
        <p:nvSpPr>
          <p:cNvPr id="33803" name="Text Box 90"/>
          <p:cNvSpPr txBox="1"/>
          <p:nvPr/>
        </p:nvSpPr>
        <p:spPr>
          <a:xfrm>
            <a:off x="685800" y="61722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1</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4" name="Text Box 91"/>
          <p:cNvSpPr txBox="1"/>
          <p:nvPr/>
        </p:nvSpPr>
        <p:spPr>
          <a:xfrm>
            <a:off x="2133600" y="6172200"/>
            <a:ext cx="4572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2</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5" name="Text Box 92"/>
          <p:cNvSpPr txBox="1"/>
          <p:nvPr/>
        </p:nvSpPr>
        <p:spPr>
          <a:xfrm>
            <a:off x="3733800" y="6172200"/>
            <a:ext cx="381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3</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6" name="Text Box 93"/>
          <p:cNvSpPr txBox="1"/>
          <p:nvPr/>
        </p:nvSpPr>
        <p:spPr>
          <a:xfrm>
            <a:off x="5257800" y="6172200"/>
            <a:ext cx="7620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4</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7" name="Text Box 94"/>
          <p:cNvSpPr txBox="1"/>
          <p:nvPr/>
        </p:nvSpPr>
        <p:spPr>
          <a:xfrm>
            <a:off x="67056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5</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8" name="Text Box 95"/>
          <p:cNvSpPr txBox="1"/>
          <p:nvPr/>
        </p:nvSpPr>
        <p:spPr>
          <a:xfrm>
            <a:off x="8077200" y="6248400"/>
            <a:ext cx="533400" cy="457200"/>
          </a:xfrm>
          <a:prstGeom prst="rect">
            <a:avLst/>
          </a:prstGeom>
          <a:noFill/>
          <a:ln w="9525">
            <a:noFill/>
          </a:ln>
        </p:spPr>
        <p:txBody>
          <a:bodyPr>
            <a:spAutoFit/>
          </a:bodyPr>
          <a:p>
            <a:pPr>
              <a:spcBef>
                <a:spcPct val="50000"/>
              </a:spcBef>
            </a:pPr>
            <a:r>
              <a:rPr lang="en-US" altLang="zh-CN" sz="2400" dirty="0">
                <a:solidFill>
                  <a:srgbClr val="000066"/>
                </a:solidFill>
                <a:latin typeface="Times New Roman" panose="02020603050405020304" pitchFamily="18" charset="0"/>
                <a:ea typeface="宋体" panose="02010600030101010101" pitchFamily="2" charset="-122"/>
              </a:rPr>
              <a:t>6</a:t>
            </a:r>
            <a:endParaRPr lang="en-US" altLang="zh-CN" sz="2400" dirty="0">
              <a:solidFill>
                <a:srgbClr val="000066"/>
              </a:solidFill>
              <a:latin typeface="Times New Roman" panose="02020603050405020304" pitchFamily="18" charset="0"/>
              <a:ea typeface="宋体" panose="02010600030101010101" pitchFamily="2" charset="-122"/>
            </a:endParaRPr>
          </a:p>
        </p:txBody>
      </p:sp>
      <p:sp>
        <p:nvSpPr>
          <p:cNvPr id="33809" name="Oval 96"/>
          <p:cNvSpPr/>
          <p:nvPr/>
        </p:nvSpPr>
        <p:spPr>
          <a:xfrm>
            <a:off x="228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3810" name="Oval 97"/>
          <p:cNvSpPr/>
          <p:nvPr/>
        </p:nvSpPr>
        <p:spPr>
          <a:xfrm>
            <a:off x="12954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11" name="Oval 98"/>
          <p:cNvSpPr/>
          <p:nvPr/>
        </p:nvSpPr>
        <p:spPr>
          <a:xfrm>
            <a:off x="1371600" y="4267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12" name="Oval 99"/>
          <p:cNvSpPr/>
          <p:nvPr/>
        </p:nvSpPr>
        <p:spPr>
          <a:xfrm>
            <a:off x="2895600" y="1981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13" name="Oval 100"/>
          <p:cNvSpPr/>
          <p:nvPr/>
        </p:nvSpPr>
        <p:spPr>
          <a:xfrm>
            <a:off x="2819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33814" name="Oval 101"/>
          <p:cNvSpPr/>
          <p:nvPr/>
        </p:nvSpPr>
        <p:spPr>
          <a:xfrm>
            <a:off x="28194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15" name="Oval 102"/>
          <p:cNvSpPr/>
          <p:nvPr/>
        </p:nvSpPr>
        <p:spPr>
          <a:xfrm>
            <a:off x="2819400" y="5486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3816" name="Oval 103"/>
          <p:cNvSpPr/>
          <p:nvPr/>
        </p:nvSpPr>
        <p:spPr>
          <a:xfrm>
            <a:off x="44196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17" name="Oval 104"/>
          <p:cNvSpPr/>
          <p:nvPr/>
        </p:nvSpPr>
        <p:spPr>
          <a:xfrm>
            <a:off x="44196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18" name="Oval 105"/>
          <p:cNvSpPr/>
          <p:nvPr/>
        </p:nvSpPr>
        <p:spPr>
          <a:xfrm>
            <a:off x="4419600" y="487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19" name="Oval 106"/>
          <p:cNvSpPr/>
          <p:nvPr/>
        </p:nvSpPr>
        <p:spPr>
          <a:xfrm>
            <a:off x="6019800" y="2514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20" name="Oval 107"/>
          <p:cNvSpPr/>
          <p:nvPr/>
        </p:nvSpPr>
        <p:spPr>
          <a:xfrm>
            <a:off x="60198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21" name="Oval 108"/>
          <p:cNvSpPr/>
          <p:nvPr/>
        </p:nvSpPr>
        <p:spPr>
          <a:xfrm>
            <a:off x="60960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22" name="Oval 109"/>
          <p:cNvSpPr/>
          <p:nvPr/>
        </p:nvSpPr>
        <p:spPr>
          <a:xfrm>
            <a:off x="7391400" y="3048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23" name="Oval 110"/>
          <p:cNvSpPr/>
          <p:nvPr/>
        </p:nvSpPr>
        <p:spPr>
          <a:xfrm>
            <a:off x="7391400" y="4495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24" name="Oval 111"/>
          <p:cNvSpPr/>
          <p:nvPr/>
        </p:nvSpPr>
        <p:spPr>
          <a:xfrm>
            <a:off x="8458200" y="3657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33825" name="Line 112"/>
          <p:cNvSpPr/>
          <p:nvPr/>
        </p:nvSpPr>
        <p:spPr>
          <a:xfrm flipV="1">
            <a:off x="609600" y="3124200"/>
            <a:ext cx="762000" cy="609600"/>
          </a:xfrm>
          <a:prstGeom prst="line">
            <a:avLst/>
          </a:prstGeom>
          <a:ln w="28575" cap="flat" cmpd="sng">
            <a:solidFill>
              <a:schemeClr val="tx1"/>
            </a:solidFill>
            <a:prstDash val="solid"/>
            <a:headEnd type="none" w="med" len="med"/>
            <a:tailEnd type="triangle" w="med" len="med"/>
          </a:ln>
        </p:spPr>
      </p:sp>
      <p:sp>
        <p:nvSpPr>
          <p:cNvPr id="33826" name="Line 113"/>
          <p:cNvSpPr/>
          <p:nvPr/>
        </p:nvSpPr>
        <p:spPr>
          <a:xfrm>
            <a:off x="609600" y="4038600"/>
            <a:ext cx="762000" cy="304800"/>
          </a:xfrm>
          <a:prstGeom prst="line">
            <a:avLst/>
          </a:prstGeom>
          <a:ln w="28575" cap="flat" cmpd="sng">
            <a:solidFill>
              <a:schemeClr val="tx1"/>
            </a:solidFill>
            <a:prstDash val="solid"/>
            <a:headEnd type="none" w="med" len="med"/>
            <a:tailEnd type="triangle" w="med" len="med"/>
          </a:ln>
        </p:spPr>
      </p:sp>
      <p:sp>
        <p:nvSpPr>
          <p:cNvPr id="33827" name="Line 114"/>
          <p:cNvSpPr/>
          <p:nvPr/>
        </p:nvSpPr>
        <p:spPr>
          <a:xfrm flipV="1">
            <a:off x="1676400" y="2286000"/>
            <a:ext cx="1219200" cy="533400"/>
          </a:xfrm>
          <a:prstGeom prst="line">
            <a:avLst/>
          </a:prstGeom>
          <a:ln w="28575" cap="flat" cmpd="sng">
            <a:solidFill>
              <a:schemeClr val="tx1"/>
            </a:solidFill>
            <a:prstDash val="solid"/>
            <a:headEnd type="none" w="med" len="med"/>
            <a:tailEnd type="triangle" w="med" len="med"/>
          </a:ln>
        </p:spPr>
      </p:sp>
      <p:sp>
        <p:nvSpPr>
          <p:cNvPr id="33828" name="Line 115"/>
          <p:cNvSpPr/>
          <p:nvPr/>
        </p:nvSpPr>
        <p:spPr>
          <a:xfrm>
            <a:off x="1752600" y="2971800"/>
            <a:ext cx="1066800" cy="304800"/>
          </a:xfrm>
          <a:prstGeom prst="line">
            <a:avLst/>
          </a:prstGeom>
          <a:ln w="28575" cap="flat" cmpd="sng">
            <a:solidFill>
              <a:schemeClr val="tx1"/>
            </a:solidFill>
            <a:prstDash val="solid"/>
            <a:headEnd type="none" w="med" len="med"/>
            <a:tailEnd type="triangle" w="med" len="med"/>
          </a:ln>
        </p:spPr>
      </p:sp>
      <p:sp>
        <p:nvSpPr>
          <p:cNvPr id="33829" name="Line 116"/>
          <p:cNvSpPr/>
          <p:nvPr/>
        </p:nvSpPr>
        <p:spPr>
          <a:xfrm>
            <a:off x="1676400" y="3200400"/>
            <a:ext cx="1219200" cy="1219200"/>
          </a:xfrm>
          <a:prstGeom prst="line">
            <a:avLst/>
          </a:prstGeom>
          <a:ln w="28575" cap="flat" cmpd="sng">
            <a:solidFill>
              <a:schemeClr val="tx1"/>
            </a:solidFill>
            <a:prstDash val="solid"/>
            <a:headEnd type="none" w="med" len="med"/>
            <a:tailEnd type="triangle" w="med" len="med"/>
          </a:ln>
        </p:spPr>
      </p:sp>
      <p:sp>
        <p:nvSpPr>
          <p:cNvPr id="33830" name="Line 117"/>
          <p:cNvSpPr/>
          <p:nvPr/>
        </p:nvSpPr>
        <p:spPr>
          <a:xfrm flipV="1">
            <a:off x="1752600" y="3352800"/>
            <a:ext cx="1066800" cy="990600"/>
          </a:xfrm>
          <a:prstGeom prst="line">
            <a:avLst/>
          </a:prstGeom>
          <a:ln w="28575" cap="flat" cmpd="sng">
            <a:solidFill>
              <a:schemeClr val="tx1"/>
            </a:solidFill>
            <a:prstDash val="solid"/>
            <a:headEnd type="none" w="med" len="med"/>
            <a:tailEnd type="triangle" w="med" len="med"/>
          </a:ln>
        </p:spPr>
      </p:sp>
      <p:sp>
        <p:nvSpPr>
          <p:cNvPr id="33831" name="Line 118"/>
          <p:cNvSpPr/>
          <p:nvPr/>
        </p:nvSpPr>
        <p:spPr>
          <a:xfrm>
            <a:off x="1828800" y="4572000"/>
            <a:ext cx="990600" cy="0"/>
          </a:xfrm>
          <a:prstGeom prst="line">
            <a:avLst/>
          </a:prstGeom>
          <a:ln w="28575" cap="flat" cmpd="sng">
            <a:solidFill>
              <a:schemeClr val="tx1"/>
            </a:solidFill>
            <a:prstDash val="solid"/>
            <a:headEnd type="none" w="med" len="med"/>
            <a:tailEnd type="triangle" w="med" len="med"/>
          </a:ln>
        </p:spPr>
      </p:sp>
      <p:sp>
        <p:nvSpPr>
          <p:cNvPr id="33832" name="Line 119"/>
          <p:cNvSpPr/>
          <p:nvPr/>
        </p:nvSpPr>
        <p:spPr>
          <a:xfrm>
            <a:off x="1752600" y="4648200"/>
            <a:ext cx="1143000" cy="914400"/>
          </a:xfrm>
          <a:prstGeom prst="line">
            <a:avLst/>
          </a:prstGeom>
          <a:ln w="28575" cap="flat" cmpd="sng">
            <a:solidFill>
              <a:schemeClr val="tx1"/>
            </a:solidFill>
            <a:prstDash val="solid"/>
            <a:headEnd type="none" w="med" len="med"/>
            <a:tailEnd type="triangle" w="med" len="med"/>
          </a:ln>
        </p:spPr>
      </p:sp>
      <p:sp>
        <p:nvSpPr>
          <p:cNvPr id="33833" name="Line 120"/>
          <p:cNvSpPr/>
          <p:nvPr/>
        </p:nvSpPr>
        <p:spPr>
          <a:xfrm>
            <a:off x="3352800" y="2286000"/>
            <a:ext cx="1066800" cy="381000"/>
          </a:xfrm>
          <a:prstGeom prst="line">
            <a:avLst/>
          </a:prstGeom>
          <a:ln w="28575" cap="flat" cmpd="sng">
            <a:solidFill>
              <a:schemeClr val="tx1"/>
            </a:solidFill>
            <a:prstDash val="solid"/>
            <a:headEnd type="none" w="med" len="med"/>
            <a:tailEnd type="triangle" w="med" len="med"/>
          </a:ln>
        </p:spPr>
      </p:sp>
      <p:sp>
        <p:nvSpPr>
          <p:cNvPr id="33834" name="Line 121"/>
          <p:cNvSpPr/>
          <p:nvPr/>
        </p:nvSpPr>
        <p:spPr>
          <a:xfrm>
            <a:off x="3276600" y="2438400"/>
            <a:ext cx="1219200" cy="1295400"/>
          </a:xfrm>
          <a:prstGeom prst="line">
            <a:avLst/>
          </a:prstGeom>
          <a:ln w="28575" cap="flat" cmpd="sng">
            <a:solidFill>
              <a:schemeClr val="tx1"/>
            </a:solidFill>
            <a:prstDash val="solid"/>
            <a:headEnd type="none" w="med" len="med"/>
            <a:tailEnd type="triangle" w="med" len="med"/>
          </a:ln>
        </p:spPr>
      </p:sp>
      <p:sp>
        <p:nvSpPr>
          <p:cNvPr id="33835" name="Line 122"/>
          <p:cNvSpPr/>
          <p:nvPr/>
        </p:nvSpPr>
        <p:spPr>
          <a:xfrm flipV="1">
            <a:off x="3276600" y="2819400"/>
            <a:ext cx="1143000" cy="457200"/>
          </a:xfrm>
          <a:prstGeom prst="line">
            <a:avLst/>
          </a:prstGeom>
          <a:ln w="28575" cap="flat" cmpd="sng">
            <a:solidFill>
              <a:schemeClr val="tx1"/>
            </a:solidFill>
            <a:prstDash val="solid"/>
            <a:headEnd type="none" w="med" len="med"/>
            <a:tailEnd type="triangle" w="med" len="med"/>
          </a:ln>
        </p:spPr>
      </p:sp>
      <p:sp>
        <p:nvSpPr>
          <p:cNvPr id="33836" name="Line 123"/>
          <p:cNvSpPr/>
          <p:nvPr/>
        </p:nvSpPr>
        <p:spPr>
          <a:xfrm>
            <a:off x="3276600" y="3429000"/>
            <a:ext cx="1143000" cy="381000"/>
          </a:xfrm>
          <a:prstGeom prst="line">
            <a:avLst/>
          </a:prstGeom>
          <a:ln w="28575" cap="flat" cmpd="sng">
            <a:solidFill>
              <a:schemeClr val="tx1"/>
            </a:solidFill>
            <a:prstDash val="solid"/>
            <a:headEnd type="none" w="med" len="med"/>
            <a:tailEnd type="triangle" w="med" len="med"/>
          </a:ln>
        </p:spPr>
      </p:sp>
      <p:sp>
        <p:nvSpPr>
          <p:cNvPr id="33837" name="Line 124"/>
          <p:cNvSpPr/>
          <p:nvPr/>
        </p:nvSpPr>
        <p:spPr>
          <a:xfrm flipV="1">
            <a:off x="3276600" y="3962400"/>
            <a:ext cx="1143000" cy="609600"/>
          </a:xfrm>
          <a:prstGeom prst="line">
            <a:avLst/>
          </a:prstGeom>
          <a:ln w="28575" cap="flat" cmpd="sng">
            <a:solidFill>
              <a:schemeClr val="tx1"/>
            </a:solidFill>
            <a:prstDash val="solid"/>
            <a:headEnd type="none" w="med" len="med"/>
            <a:tailEnd type="triangle" w="med" len="med"/>
          </a:ln>
        </p:spPr>
      </p:sp>
      <p:sp>
        <p:nvSpPr>
          <p:cNvPr id="33838" name="Line 125"/>
          <p:cNvSpPr/>
          <p:nvPr/>
        </p:nvSpPr>
        <p:spPr>
          <a:xfrm>
            <a:off x="3276600" y="4724400"/>
            <a:ext cx="1143000" cy="304800"/>
          </a:xfrm>
          <a:prstGeom prst="line">
            <a:avLst/>
          </a:prstGeom>
          <a:ln w="28575" cap="flat" cmpd="sng">
            <a:solidFill>
              <a:schemeClr val="tx1"/>
            </a:solidFill>
            <a:prstDash val="solid"/>
            <a:headEnd type="none" w="med" len="med"/>
            <a:tailEnd type="triangle" w="med" len="med"/>
          </a:ln>
        </p:spPr>
      </p:sp>
      <p:sp>
        <p:nvSpPr>
          <p:cNvPr id="33839" name="Line 126"/>
          <p:cNvSpPr/>
          <p:nvPr/>
        </p:nvSpPr>
        <p:spPr>
          <a:xfrm flipV="1">
            <a:off x="3276600" y="5257800"/>
            <a:ext cx="1219200" cy="457200"/>
          </a:xfrm>
          <a:prstGeom prst="line">
            <a:avLst/>
          </a:prstGeom>
          <a:ln w="28575" cap="flat" cmpd="sng">
            <a:solidFill>
              <a:schemeClr val="tx1"/>
            </a:solidFill>
            <a:prstDash val="solid"/>
            <a:headEnd type="none" w="med" len="med"/>
            <a:tailEnd type="triangle" w="med" len="med"/>
          </a:ln>
        </p:spPr>
      </p:sp>
      <p:sp>
        <p:nvSpPr>
          <p:cNvPr id="33840" name="Line 127"/>
          <p:cNvSpPr/>
          <p:nvPr/>
        </p:nvSpPr>
        <p:spPr>
          <a:xfrm flipV="1">
            <a:off x="3276600" y="4038600"/>
            <a:ext cx="1295400" cy="1600200"/>
          </a:xfrm>
          <a:prstGeom prst="line">
            <a:avLst/>
          </a:prstGeom>
          <a:ln w="28575" cap="flat" cmpd="sng">
            <a:solidFill>
              <a:schemeClr val="tx1"/>
            </a:solidFill>
            <a:prstDash val="solid"/>
            <a:headEnd type="none" w="med" len="med"/>
            <a:tailEnd type="triangle" w="med" len="med"/>
          </a:ln>
        </p:spPr>
      </p:sp>
      <p:sp>
        <p:nvSpPr>
          <p:cNvPr id="33841" name="Line 128"/>
          <p:cNvSpPr/>
          <p:nvPr/>
        </p:nvSpPr>
        <p:spPr>
          <a:xfrm>
            <a:off x="4876800" y="2743200"/>
            <a:ext cx="1143000" cy="0"/>
          </a:xfrm>
          <a:prstGeom prst="line">
            <a:avLst/>
          </a:prstGeom>
          <a:ln w="28575" cap="flat" cmpd="sng">
            <a:solidFill>
              <a:schemeClr val="tx1"/>
            </a:solidFill>
            <a:prstDash val="solid"/>
            <a:headEnd type="none" w="med" len="med"/>
            <a:tailEnd type="triangle" w="med" len="med"/>
          </a:ln>
        </p:spPr>
      </p:sp>
      <p:sp>
        <p:nvSpPr>
          <p:cNvPr id="33842" name="Line 129"/>
          <p:cNvSpPr/>
          <p:nvPr/>
        </p:nvSpPr>
        <p:spPr>
          <a:xfrm>
            <a:off x="4876800" y="2895600"/>
            <a:ext cx="1219200" cy="914400"/>
          </a:xfrm>
          <a:prstGeom prst="line">
            <a:avLst/>
          </a:prstGeom>
          <a:ln w="28575" cap="flat" cmpd="sng">
            <a:solidFill>
              <a:schemeClr val="tx1"/>
            </a:solidFill>
            <a:prstDash val="solid"/>
            <a:headEnd type="none" w="med" len="med"/>
            <a:tailEnd type="triangle" w="med" len="med"/>
          </a:ln>
        </p:spPr>
      </p:sp>
      <p:sp>
        <p:nvSpPr>
          <p:cNvPr id="33843" name="Line 130"/>
          <p:cNvSpPr/>
          <p:nvPr/>
        </p:nvSpPr>
        <p:spPr>
          <a:xfrm>
            <a:off x="4876800" y="3962400"/>
            <a:ext cx="1143000" cy="0"/>
          </a:xfrm>
          <a:prstGeom prst="line">
            <a:avLst/>
          </a:prstGeom>
          <a:ln w="28575" cap="flat" cmpd="sng">
            <a:solidFill>
              <a:schemeClr val="tx1"/>
            </a:solidFill>
            <a:prstDash val="solid"/>
            <a:headEnd type="none" w="med" len="med"/>
            <a:tailEnd type="triangle" w="med" len="med"/>
          </a:ln>
        </p:spPr>
      </p:sp>
      <p:sp>
        <p:nvSpPr>
          <p:cNvPr id="33844" name="Line 131"/>
          <p:cNvSpPr/>
          <p:nvPr/>
        </p:nvSpPr>
        <p:spPr>
          <a:xfrm>
            <a:off x="4800600" y="4038600"/>
            <a:ext cx="1295400" cy="990600"/>
          </a:xfrm>
          <a:prstGeom prst="line">
            <a:avLst/>
          </a:prstGeom>
          <a:ln w="28575" cap="flat" cmpd="sng">
            <a:solidFill>
              <a:schemeClr val="tx1"/>
            </a:solidFill>
            <a:prstDash val="solid"/>
            <a:headEnd type="none" w="med" len="med"/>
            <a:tailEnd type="triangle" w="med" len="med"/>
          </a:ln>
        </p:spPr>
      </p:sp>
      <p:sp>
        <p:nvSpPr>
          <p:cNvPr id="33845" name="Line 132"/>
          <p:cNvSpPr/>
          <p:nvPr/>
        </p:nvSpPr>
        <p:spPr>
          <a:xfrm flipV="1">
            <a:off x="4876800" y="4038600"/>
            <a:ext cx="1219200" cy="990600"/>
          </a:xfrm>
          <a:prstGeom prst="line">
            <a:avLst/>
          </a:prstGeom>
          <a:ln w="28575" cap="flat" cmpd="sng">
            <a:solidFill>
              <a:schemeClr val="tx1"/>
            </a:solidFill>
            <a:prstDash val="solid"/>
            <a:headEnd type="none" w="med" len="med"/>
            <a:tailEnd type="triangle" w="med" len="med"/>
          </a:ln>
        </p:spPr>
      </p:sp>
      <p:sp>
        <p:nvSpPr>
          <p:cNvPr id="33846" name="Line 133"/>
          <p:cNvSpPr/>
          <p:nvPr/>
        </p:nvSpPr>
        <p:spPr>
          <a:xfrm>
            <a:off x="4876800" y="5181600"/>
            <a:ext cx="1219200" cy="0"/>
          </a:xfrm>
          <a:prstGeom prst="line">
            <a:avLst/>
          </a:prstGeom>
          <a:ln w="28575" cap="flat" cmpd="sng">
            <a:solidFill>
              <a:schemeClr val="tx1"/>
            </a:solidFill>
            <a:prstDash val="solid"/>
            <a:headEnd type="none" w="med" len="med"/>
            <a:tailEnd type="triangle" w="med" len="med"/>
          </a:ln>
        </p:spPr>
      </p:sp>
      <p:sp>
        <p:nvSpPr>
          <p:cNvPr id="33847" name="Line 134"/>
          <p:cNvSpPr/>
          <p:nvPr/>
        </p:nvSpPr>
        <p:spPr>
          <a:xfrm>
            <a:off x="6477000" y="2819400"/>
            <a:ext cx="990600" cy="304800"/>
          </a:xfrm>
          <a:prstGeom prst="line">
            <a:avLst/>
          </a:prstGeom>
          <a:ln w="28575" cap="flat" cmpd="sng">
            <a:solidFill>
              <a:schemeClr val="tx1"/>
            </a:solidFill>
            <a:prstDash val="solid"/>
            <a:headEnd type="none" w="med" len="med"/>
            <a:tailEnd type="triangle" w="med" len="med"/>
          </a:ln>
        </p:spPr>
      </p:sp>
      <p:sp>
        <p:nvSpPr>
          <p:cNvPr id="33848" name="Line 135"/>
          <p:cNvSpPr/>
          <p:nvPr/>
        </p:nvSpPr>
        <p:spPr>
          <a:xfrm flipV="1">
            <a:off x="6477000" y="3352800"/>
            <a:ext cx="914400" cy="533400"/>
          </a:xfrm>
          <a:prstGeom prst="line">
            <a:avLst/>
          </a:prstGeom>
          <a:ln w="28575" cap="flat" cmpd="sng">
            <a:solidFill>
              <a:schemeClr val="tx1"/>
            </a:solidFill>
            <a:prstDash val="solid"/>
            <a:headEnd type="none" w="med" len="med"/>
            <a:tailEnd type="triangle" w="med" len="med"/>
          </a:ln>
        </p:spPr>
      </p:sp>
      <p:sp>
        <p:nvSpPr>
          <p:cNvPr id="33849" name="Line 136"/>
          <p:cNvSpPr/>
          <p:nvPr/>
        </p:nvSpPr>
        <p:spPr>
          <a:xfrm>
            <a:off x="6477000" y="2895600"/>
            <a:ext cx="1066800" cy="1600200"/>
          </a:xfrm>
          <a:prstGeom prst="line">
            <a:avLst/>
          </a:prstGeom>
          <a:ln w="28575" cap="flat" cmpd="sng">
            <a:solidFill>
              <a:schemeClr val="tx1"/>
            </a:solidFill>
            <a:prstDash val="solid"/>
            <a:headEnd type="none" w="med" len="med"/>
            <a:tailEnd type="triangle" w="med" len="med"/>
          </a:ln>
        </p:spPr>
      </p:sp>
      <p:sp>
        <p:nvSpPr>
          <p:cNvPr id="33850" name="Line 137"/>
          <p:cNvSpPr/>
          <p:nvPr/>
        </p:nvSpPr>
        <p:spPr>
          <a:xfrm>
            <a:off x="6477000" y="3962400"/>
            <a:ext cx="990600" cy="609600"/>
          </a:xfrm>
          <a:prstGeom prst="line">
            <a:avLst/>
          </a:prstGeom>
          <a:ln w="28575" cap="flat" cmpd="sng">
            <a:solidFill>
              <a:schemeClr val="tx1"/>
            </a:solidFill>
            <a:prstDash val="solid"/>
            <a:headEnd type="none" w="med" len="med"/>
            <a:tailEnd type="triangle" w="med" len="med"/>
          </a:ln>
        </p:spPr>
      </p:sp>
      <p:sp>
        <p:nvSpPr>
          <p:cNvPr id="33851" name="Line 138"/>
          <p:cNvSpPr/>
          <p:nvPr/>
        </p:nvSpPr>
        <p:spPr>
          <a:xfrm flipV="1">
            <a:off x="6553200" y="3505200"/>
            <a:ext cx="990600" cy="1524000"/>
          </a:xfrm>
          <a:prstGeom prst="line">
            <a:avLst/>
          </a:prstGeom>
          <a:ln w="38100" cap="flat" cmpd="sng">
            <a:solidFill>
              <a:schemeClr val="tx1"/>
            </a:solidFill>
            <a:prstDash val="solid"/>
            <a:headEnd type="none" w="med" len="med"/>
            <a:tailEnd type="triangle" w="med" len="med"/>
          </a:ln>
        </p:spPr>
      </p:sp>
      <p:sp>
        <p:nvSpPr>
          <p:cNvPr id="33852" name="Line 139"/>
          <p:cNvSpPr/>
          <p:nvPr/>
        </p:nvSpPr>
        <p:spPr>
          <a:xfrm flipV="1">
            <a:off x="6553200" y="4876800"/>
            <a:ext cx="914400" cy="381000"/>
          </a:xfrm>
          <a:prstGeom prst="line">
            <a:avLst/>
          </a:prstGeom>
          <a:ln w="28575" cap="flat" cmpd="sng">
            <a:solidFill>
              <a:schemeClr val="tx1"/>
            </a:solidFill>
            <a:prstDash val="solid"/>
            <a:headEnd type="none" w="med" len="med"/>
            <a:tailEnd type="triangle" w="med" len="med"/>
          </a:ln>
        </p:spPr>
      </p:sp>
      <p:sp>
        <p:nvSpPr>
          <p:cNvPr id="33853" name="Line 140"/>
          <p:cNvSpPr/>
          <p:nvPr/>
        </p:nvSpPr>
        <p:spPr>
          <a:xfrm>
            <a:off x="7848600" y="3352800"/>
            <a:ext cx="685800" cy="381000"/>
          </a:xfrm>
          <a:prstGeom prst="line">
            <a:avLst/>
          </a:prstGeom>
          <a:ln w="28575" cap="flat" cmpd="sng">
            <a:solidFill>
              <a:schemeClr val="tx1"/>
            </a:solidFill>
            <a:prstDash val="solid"/>
            <a:headEnd type="none" w="med" len="med"/>
            <a:tailEnd type="triangle" w="med" len="med"/>
          </a:ln>
        </p:spPr>
      </p:sp>
      <p:sp>
        <p:nvSpPr>
          <p:cNvPr id="33854" name="Line 141"/>
          <p:cNvSpPr/>
          <p:nvPr/>
        </p:nvSpPr>
        <p:spPr>
          <a:xfrm flipV="1">
            <a:off x="7848600" y="4038600"/>
            <a:ext cx="685800" cy="609600"/>
          </a:xfrm>
          <a:prstGeom prst="line">
            <a:avLst/>
          </a:prstGeom>
          <a:ln w="28575" cap="flat" cmpd="sng">
            <a:solidFill>
              <a:schemeClr val="tx1"/>
            </a:solidFill>
            <a:prstDash val="solid"/>
            <a:headEnd type="none" w="med" len="med"/>
            <a:tailEnd type="triangle" w="med" len="med"/>
          </a:ln>
        </p:spPr>
      </p:sp>
      <p:sp>
        <p:nvSpPr>
          <p:cNvPr id="33855" name="Text Box 142"/>
          <p:cNvSpPr txBox="1"/>
          <p:nvPr/>
        </p:nvSpPr>
        <p:spPr>
          <a:xfrm>
            <a:off x="685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3856" name="Text Box 143"/>
          <p:cNvSpPr txBox="1"/>
          <p:nvPr/>
        </p:nvSpPr>
        <p:spPr>
          <a:xfrm>
            <a:off x="685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57" name="Text Box 144"/>
          <p:cNvSpPr txBox="1"/>
          <p:nvPr/>
        </p:nvSpPr>
        <p:spPr>
          <a:xfrm>
            <a:off x="1828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58" name="Text Box 145"/>
          <p:cNvSpPr txBox="1"/>
          <p:nvPr/>
        </p:nvSpPr>
        <p:spPr>
          <a:xfrm>
            <a:off x="2209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59" name="Text Box 146"/>
          <p:cNvSpPr txBox="1"/>
          <p:nvPr/>
        </p:nvSpPr>
        <p:spPr>
          <a:xfrm>
            <a:off x="19050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3860" name="Text Box 147"/>
          <p:cNvSpPr txBox="1"/>
          <p:nvPr/>
        </p:nvSpPr>
        <p:spPr>
          <a:xfrm>
            <a:off x="1752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3861" name="Text Box 148"/>
          <p:cNvSpPr txBox="1"/>
          <p:nvPr/>
        </p:nvSpPr>
        <p:spPr>
          <a:xfrm>
            <a:off x="19812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33862" name="Text Box 149"/>
          <p:cNvSpPr txBox="1"/>
          <p:nvPr/>
        </p:nvSpPr>
        <p:spPr>
          <a:xfrm>
            <a:off x="22098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3863" name="Text Box 150"/>
          <p:cNvSpPr txBox="1"/>
          <p:nvPr/>
        </p:nvSpPr>
        <p:spPr>
          <a:xfrm>
            <a:off x="3276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64" name="Text Box 151"/>
          <p:cNvSpPr txBox="1"/>
          <p:nvPr/>
        </p:nvSpPr>
        <p:spPr>
          <a:xfrm>
            <a:off x="3657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3865" name="Text Box 152"/>
          <p:cNvSpPr txBox="1"/>
          <p:nvPr/>
        </p:nvSpPr>
        <p:spPr>
          <a:xfrm>
            <a:off x="3581400" y="2514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3866" name="Text Box 153"/>
          <p:cNvSpPr txBox="1"/>
          <p:nvPr/>
        </p:nvSpPr>
        <p:spPr>
          <a:xfrm>
            <a:off x="35814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3867" name="Text Box 154"/>
          <p:cNvSpPr txBox="1"/>
          <p:nvPr/>
        </p:nvSpPr>
        <p:spPr>
          <a:xfrm>
            <a:off x="3352800" y="3886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68" name="Text Box 155"/>
          <p:cNvSpPr txBox="1"/>
          <p:nvPr/>
        </p:nvSpPr>
        <p:spPr>
          <a:xfrm>
            <a:off x="35052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69" name="Text Box 156"/>
          <p:cNvSpPr txBox="1"/>
          <p:nvPr/>
        </p:nvSpPr>
        <p:spPr>
          <a:xfrm>
            <a:off x="3276600" y="502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33870" name="Text Box 157"/>
          <p:cNvSpPr txBox="1"/>
          <p:nvPr/>
        </p:nvSpPr>
        <p:spPr>
          <a:xfrm>
            <a:off x="37338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3871" name="Text Box 158"/>
          <p:cNvSpPr txBox="1"/>
          <p:nvPr/>
        </p:nvSpPr>
        <p:spPr>
          <a:xfrm>
            <a:off x="5257800" y="2286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72" name="Text Box 159"/>
          <p:cNvSpPr txBox="1"/>
          <p:nvPr/>
        </p:nvSpPr>
        <p:spPr>
          <a:xfrm>
            <a:off x="54102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73" name="Text Box 160"/>
          <p:cNvSpPr txBox="1"/>
          <p:nvPr/>
        </p:nvSpPr>
        <p:spPr>
          <a:xfrm>
            <a:off x="51816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74" name="Text Box 161"/>
          <p:cNvSpPr txBox="1"/>
          <p:nvPr/>
        </p:nvSpPr>
        <p:spPr>
          <a:xfrm>
            <a:off x="50292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3875" name="Text Box 162"/>
          <p:cNvSpPr txBox="1"/>
          <p:nvPr/>
        </p:nvSpPr>
        <p:spPr>
          <a:xfrm>
            <a:off x="48768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76" name="Text Box 163"/>
          <p:cNvSpPr txBox="1"/>
          <p:nvPr/>
        </p:nvSpPr>
        <p:spPr>
          <a:xfrm>
            <a:off x="79248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77" name="Text Box 164"/>
          <p:cNvSpPr txBox="1"/>
          <p:nvPr/>
        </p:nvSpPr>
        <p:spPr>
          <a:xfrm>
            <a:off x="6858000" y="2590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3878" name="Text Box 165"/>
          <p:cNvSpPr txBox="1"/>
          <p:nvPr/>
        </p:nvSpPr>
        <p:spPr>
          <a:xfrm>
            <a:off x="67818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3879" name="Text Box 166"/>
          <p:cNvSpPr txBox="1"/>
          <p:nvPr/>
        </p:nvSpPr>
        <p:spPr>
          <a:xfrm>
            <a:off x="67056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3880" name="Text Box 167"/>
          <p:cNvSpPr txBox="1"/>
          <p:nvPr/>
        </p:nvSpPr>
        <p:spPr>
          <a:xfrm>
            <a:off x="6477000" y="3352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33881" name="Text Box 168"/>
          <p:cNvSpPr txBox="1"/>
          <p:nvPr/>
        </p:nvSpPr>
        <p:spPr>
          <a:xfrm>
            <a:off x="64770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3882" name="Text Box 169"/>
          <p:cNvSpPr txBox="1"/>
          <p:nvPr/>
        </p:nvSpPr>
        <p:spPr>
          <a:xfrm>
            <a:off x="6781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33883" name="Text Box 170"/>
          <p:cNvSpPr txBox="1"/>
          <p:nvPr/>
        </p:nvSpPr>
        <p:spPr>
          <a:xfrm>
            <a:off x="80772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3884" name="Line 177"/>
          <p:cNvSpPr/>
          <p:nvPr/>
        </p:nvSpPr>
        <p:spPr>
          <a:xfrm>
            <a:off x="609600" y="4038600"/>
            <a:ext cx="762000" cy="304800"/>
          </a:xfrm>
          <a:prstGeom prst="line">
            <a:avLst/>
          </a:prstGeom>
          <a:ln w="9525" cap="flat" cmpd="sng">
            <a:solidFill>
              <a:schemeClr val="tx1"/>
            </a:solidFill>
            <a:prstDash val="solid"/>
            <a:headEnd type="none" w="med" len="med"/>
            <a:tailEnd type="triangle" w="med" len="med"/>
          </a:ln>
        </p:spPr>
      </p:sp>
      <p:sp>
        <p:nvSpPr>
          <p:cNvPr id="33885" name="Text Box 178"/>
          <p:cNvSpPr txBox="1"/>
          <p:nvPr/>
        </p:nvSpPr>
        <p:spPr>
          <a:xfrm>
            <a:off x="51054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56322" name="Object 2"/>
          <p:cNvGraphicFramePr/>
          <p:nvPr/>
        </p:nvGraphicFramePr>
        <p:xfrm>
          <a:off x="2867025" y="2063750"/>
          <a:ext cx="3636963" cy="695325"/>
        </p:xfrm>
        <a:graphic>
          <a:graphicData uri="http://schemas.openxmlformats.org/presentationml/2006/ole">
            <mc:AlternateContent xmlns:mc="http://schemas.openxmlformats.org/markup-compatibility/2006">
              <mc:Choice xmlns:v="urn:schemas-microsoft-com:vml" Requires="v">
                <p:oleObj spid="_x0000_s3082" name="" r:id="rId1" imgW="913765" imgH="241300" progId="Equation.3">
                  <p:embed/>
                </p:oleObj>
              </mc:Choice>
              <mc:Fallback>
                <p:oleObj name="" r:id="rId1" imgW="913765" imgH="241300" progId="Equation.3">
                  <p:embed/>
                  <p:pic>
                    <p:nvPicPr>
                      <p:cNvPr id="0" name="图片 3081"/>
                      <p:cNvPicPr/>
                      <p:nvPr/>
                    </p:nvPicPr>
                    <p:blipFill>
                      <a:blip r:embed="rId2"/>
                      <a:stretch>
                        <a:fillRect/>
                      </a:stretch>
                    </p:blipFill>
                    <p:spPr>
                      <a:xfrm>
                        <a:off x="2867025" y="2063750"/>
                        <a:ext cx="3636963" cy="695325"/>
                      </a:xfrm>
                      <a:prstGeom prst="rect">
                        <a:avLst/>
                      </a:prstGeom>
                      <a:noFill/>
                      <a:ln w="38100">
                        <a:noFill/>
                        <a:miter/>
                      </a:ln>
                    </p:spPr>
                  </p:pic>
                </p:oleObj>
              </mc:Fallback>
            </mc:AlternateContent>
          </a:graphicData>
        </a:graphic>
      </p:graphicFrame>
      <p:graphicFrame>
        <p:nvGraphicFramePr>
          <p:cNvPr id="56323" name="Object 3"/>
          <p:cNvGraphicFramePr/>
          <p:nvPr/>
        </p:nvGraphicFramePr>
        <p:xfrm>
          <a:off x="3003550" y="3502025"/>
          <a:ext cx="2990850" cy="604838"/>
        </p:xfrm>
        <a:graphic>
          <a:graphicData uri="http://schemas.openxmlformats.org/presentationml/2006/ole">
            <mc:AlternateContent xmlns:mc="http://schemas.openxmlformats.org/markup-compatibility/2006">
              <mc:Choice xmlns:v="urn:schemas-microsoft-com:vml" Requires="v">
                <p:oleObj spid="_x0000_s3083" name="" r:id="rId3" imgW="862965" imgH="241300" progId="Equation.3">
                  <p:embed/>
                </p:oleObj>
              </mc:Choice>
              <mc:Fallback>
                <p:oleObj name="" r:id="rId3" imgW="862965" imgH="241300" progId="Equation.3">
                  <p:embed/>
                  <p:pic>
                    <p:nvPicPr>
                      <p:cNvPr id="0" name="图片 3082"/>
                      <p:cNvPicPr/>
                      <p:nvPr/>
                    </p:nvPicPr>
                    <p:blipFill>
                      <a:blip r:embed="rId4"/>
                      <a:stretch>
                        <a:fillRect/>
                      </a:stretch>
                    </p:blipFill>
                    <p:spPr>
                      <a:xfrm>
                        <a:off x="3003550" y="3502025"/>
                        <a:ext cx="2990850" cy="604838"/>
                      </a:xfrm>
                      <a:prstGeom prst="rect">
                        <a:avLst/>
                      </a:prstGeom>
                      <a:noFill/>
                      <a:ln w="38100">
                        <a:noFill/>
                        <a:miter/>
                      </a:ln>
                    </p:spPr>
                  </p:pic>
                </p:oleObj>
              </mc:Fallback>
            </mc:AlternateContent>
          </a:graphicData>
        </a:graphic>
      </p:graphicFrame>
      <p:sp>
        <p:nvSpPr>
          <p:cNvPr id="6150" name="Text Box 4"/>
          <p:cNvSpPr txBox="1"/>
          <p:nvPr/>
        </p:nvSpPr>
        <p:spPr>
          <a:xfrm>
            <a:off x="609600" y="1000125"/>
            <a:ext cx="60960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解多阶段决策过程问题，求出</a:t>
            </a:r>
            <a:endParaRPr lang="zh-CN" altLang="en-US" dirty="0">
              <a:solidFill>
                <a:srgbClr val="000066"/>
              </a:solidFill>
              <a:latin typeface="楷体_GB2312" pitchFamily="49" charset="-122"/>
            </a:endParaRPr>
          </a:p>
        </p:txBody>
      </p:sp>
      <p:grpSp>
        <p:nvGrpSpPr>
          <p:cNvPr id="2" name="Group 5"/>
          <p:cNvGrpSpPr/>
          <p:nvPr/>
        </p:nvGrpSpPr>
        <p:grpSpPr>
          <a:xfrm>
            <a:off x="762000" y="1533525"/>
            <a:ext cx="7162800" cy="519113"/>
            <a:chOff x="480" y="576"/>
            <a:chExt cx="4512" cy="327"/>
          </a:xfrm>
        </p:grpSpPr>
        <p:sp>
          <p:nvSpPr>
            <p:cNvPr id="6161" name="Text Box 6"/>
            <p:cNvSpPr txBox="1"/>
            <p:nvPr/>
          </p:nvSpPr>
          <p:spPr>
            <a:xfrm>
              <a:off x="528" y="576"/>
              <a:ext cx="4464" cy="327"/>
            </a:xfrm>
            <a:prstGeom prst="rect">
              <a:avLst/>
            </a:prstGeom>
            <a:noFill/>
            <a:ln w="9525">
              <a:noFill/>
            </a:ln>
          </p:spPr>
          <p:txBody>
            <a:bodyPr>
              <a:spAutoFit/>
            </a:bodyPr>
            <a:p>
              <a:pPr>
                <a:spcBef>
                  <a:spcPct val="50000"/>
                </a:spcBef>
              </a:pPr>
              <a:r>
                <a:rPr lang="en-US" altLang="zh-CN" sz="2400" b="0" dirty="0">
                  <a:latin typeface="楷体_GB2312" pitchFamily="49" charset="-122"/>
                </a:rPr>
                <a:t>     </a:t>
              </a:r>
              <a:r>
                <a:rPr lang="zh-CN" altLang="en-US" dirty="0">
                  <a:solidFill>
                    <a:srgbClr val="FF0000"/>
                  </a:solidFill>
                  <a:latin typeface="楷体_GB2312" pitchFamily="49" charset="-122"/>
                </a:rPr>
                <a:t>最优策略</a:t>
              </a:r>
              <a:r>
                <a:rPr lang="zh-CN" altLang="en-US" dirty="0">
                  <a:solidFill>
                    <a:srgbClr val="000066"/>
                  </a:solidFill>
                  <a:latin typeface="楷体_GB2312" pitchFamily="49" charset="-122"/>
                </a:rPr>
                <a:t>，即最优</a:t>
              </a:r>
              <a:r>
                <a:rPr lang="zh-CN" altLang="en-US" dirty="0">
                  <a:solidFill>
                    <a:srgbClr val="009900"/>
                  </a:solidFill>
                  <a:latin typeface="楷体_GB2312" pitchFamily="49" charset="-122"/>
                </a:rPr>
                <a:t>决策序列</a:t>
              </a:r>
              <a:endParaRPr lang="zh-CN" altLang="en-US" dirty="0">
                <a:solidFill>
                  <a:srgbClr val="009900"/>
                </a:solidFill>
                <a:latin typeface="楷体_GB2312" pitchFamily="49" charset="-122"/>
              </a:endParaRPr>
            </a:p>
          </p:txBody>
        </p:sp>
        <p:sp>
          <p:nvSpPr>
            <p:cNvPr id="6162" name="Oval 7"/>
            <p:cNvSpPr/>
            <p:nvPr/>
          </p:nvSpPr>
          <p:spPr>
            <a:xfrm>
              <a:off x="480" y="768"/>
              <a:ext cx="192" cy="48"/>
            </a:xfrm>
            <a:prstGeom prst="ellipse">
              <a:avLst/>
            </a:prstGeom>
            <a:solidFill>
              <a:srgbClr val="00FF00"/>
            </a:solidFill>
            <a:ln w="9525" cap="flat" cmpd="sng">
              <a:prstDash val="soli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FF00"/>
              </a:extrusionClr>
            </a:sp3d>
          </p:spPr>
          <p:txBody>
            <a:bodyPr wrap="none" anchor="ctr" anchorCtr="0">
              <a:flatTx/>
            </a:bodyPr>
            <a:p>
              <a:endParaRPr lang="zh-CN" altLang="en-US" dirty="0">
                <a:latin typeface="Times New Roman" panose="02020603050405020304" pitchFamily="18" charset="0"/>
              </a:endParaRPr>
            </a:p>
          </p:txBody>
        </p:sp>
      </p:grpSp>
      <p:sp>
        <p:nvSpPr>
          <p:cNvPr id="6152" name="Text Box 8"/>
          <p:cNvSpPr txBox="1"/>
          <p:nvPr/>
        </p:nvSpPr>
        <p:spPr>
          <a:xfrm>
            <a:off x="1600200" y="4191000"/>
            <a:ext cx="3352800" cy="457200"/>
          </a:xfrm>
          <a:prstGeom prst="rect">
            <a:avLst/>
          </a:prstGeom>
          <a:noFill/>
          <a:ln w="9525">
            <a:noFill/>
          </a:ln>
        </p:spPr>
        <p:txBody>
          <a:bodyPr>
            <a:spAutoFit/>
          </a:bodyPr>
          <a:p>
            <a:pPr>
              <a:spcBef>
                <a:spcPct val="50000"/>
              </a:spcBef>
            </a:pPr>
            <a:endParaRPr lang="zh-CN" altLang="zh-CN" sz="2400" b="0" dirty="0">
              <a:latin typeface="楷体_GB2312" pitchFamily="49" charset="-122"/>
            </a:endParaRPr>
          </a:p>
        </p:txBody>
      </p:sp>
      <p:sp>
        <p:nvSpPr>
          <p:cNvPr id="6153" name="Text Box 11"/>
          <p:cNvSpPr txBox="1"/>
          <p:nvPr/>
        </p:nvSpPr>
        <p:spPr>
          <a:xfrm>
            <a:off x="6781800" y="3438525"/>
            <a:ext cx="1905000" cy="457200"/>
          </a:xfrm>
          <a:prstGeom prst="rect">
            <a:avLst/>
          </a:prstGeom>
          <a:noFill/>
          <a:ln w="9525">
            <a:noFill/>
          </a:ln>
        </p:spPr>
        <p:txBody>
          <a:bodyPr>
            <a:spAutoFit/>
          </a:bodyPr>
          <a:p>
            <a:pPr>
              <a:spcBef>
                <a:spcPct val="50000"/>
              </a:spcBef>
            </a:pPr>
            <a:endParaRPr lang="zh-CN" altLang="zh-CN" sz="2400" b="0" dirty="0">
              <a:latin typeface="楷体_GB2312" pitchFamily="49" charset="-122"/>
            </a:endParaRPr>
          </a:p>
        </p:txBody>
      </p:sp>
      <p:sp>
        <p:nvSpPr>
          <p:cNvPr id="6154" name="Text Box 13"/>
          <p:cNvSpPr txBox="1"/>
          <p:nvPr/>
        </p:nvSpPr>
        <p:spPr>
          <a:xfrm>
            <a:off x="0" y="4800600"/>
            <a:ext cx="1905000" cy="457200"/>
          </a:xfrm>
          <a:prstGeom prst="rect">
            <a:avLst/>
          </a:prstGeom>
          <a:noFill/>
          <a:ln w="9525">
            <a:noFill/>
          </a:ln>
        </p:spPr>
        <p:txBody>
          <a:bodyPr>
            <a:spAutoFit/>
          </a:bodyPr>
          <a:p>
            <a:pPr>
              <a:spcBef>
                <a:spcPct val="50000"/>
              </a:spcBef>
            </a:pPr>
            <a:endParaRPr lang="zh-CN" altLang="zh-CN" sz="2400" b="0" dirty="0">
              <a:latin typeface="楷体_GB2312" pitchFamily="49" charset="-122"/>
            </a:endParaRPr>
          </a:p>
        </p:txBody>
      </p:sp>
      <p:grpSp>
        <p:nvGrpSpPr>
          <p:cNvPr id="3" name="Group 14"/>
          <p:cNvGrpSpPr/>
          <p:nvPr/>
        </p:nvGrpSpPr>
        <p:grpSpPr>
          <a:xfrm>
            <a:off x="642938" y="2928938"/>
            <a:ext cx="8001000" cy="519112"/>
            <a:chOff x="384" y="1440"/>
            <a:chExt cx="4512" cy="327"/>
          </a:xfrm>
        </p:grpSpPr>
        <p:sp>
          <p:nvSpPr>
            <p:cNvPr id="6159" name="Text Box 15"/>
            <p:cNvSpPr txBox="1"/>
            <p:nvPr/>
          </p:nvSpPr>
          <p:spPr>
            <a:xfrm>
              <a:off x="384" y="1440"/>
              <a:ext cx="4512" cy="327"/>
            </a:xfrm>
            <a:prstGeom prst="rect">
              <a:avLst/>
            </a:prstGeom>
            <a:noFill/>
            <a:ln w="9525">
              <a:noFill/>
            </a:ln>
          </p:spPr>
          <p:txBody>
            <a:bodyPr>
              <a:spAutoFit/>
            </a:bodyPr>
            <a:p>
              <a:pPr>
                <a:spcBef>
                  <a:spcPct val="50000"/>
                </a:spcBef>
              </a:pPr>
              <a:r>
                <a:rPr lang="en-US" altLang="zh-CN" sz="2400" b="0" dirty="0">
                  <a:latin typeface="楷体_GB2312" pitchFamily="49" charset="-122"/>
                </a:rPr>
                <a:t>       </a:t>
              </a:r>
              <a:r>
                <a:rPr lang="zh-CN" altLang="en-US" dirty="0">
                  <a:solidFill>
                    <a:srgbClr val="FF0000"/>
                  </a:solidFill>
                  <a:latin typeface="楷体_GB2312" pitchFamily="49" charset="-122"/>
                </a:rPr>
                <a:t>最优轨线</a:t>
              </a:r>
              <a:r>
                <a:rPr lang="zh-CN" altLang="en-US" b="0" dirty="0">
                  <a:solidFill>
                    <a:srgbClr val="000066"/>
                  </a:solidFill>
                  <a:latin typeface="楷体_GB2312" pitchFamily="49" charset="-122"/>
                </a:rPr>
                <a:t>，</a:t>
              </a:r>
              <a:r>
                <a:rPr lang="zh-CN" altLang="en-US" dirty="0">
                  <a:solidFill>
                    <a:srgbClr val="000066"/>
                  </a:solidFill>
                  <a:latin typeface="楷体_GB2312" pitchFamily="49" charset="-122"/>
                </a:rPr>
                <a:t>即执行最优策略时的</a:t>
              </a:r>
              <a:r>
                <a:rPr lang="zh-CN" altLang="en-US" dirty="0">
                  <a:solidFill>
                    <a:srgbClr val="009900"/>
                  </a:solidFill>
                  <a:latin typeface="楷体_GB2312" pitchFamily="49" charset="-122"/>
                </a:rPr>
                <a:t>状态序列</a:t>
              </a:r>
              <a:endParaRPr lang="zh-CN" altLang="en-US" dirty="0">
                <a:solidFill>
                  <a:srgbClr val="009900"/>
                </a:solidFill>
                <a:latin typeface="楷体_GB2312" pitchFamily="49" charset="-122"/>
              </a:endParaRPr>
            </a:p>
          </p:txBody>
        </p:sp>
        <p:sp>
          <p:nvSpPr>
            <p:cNvPr id="6160" name="Oval 16"/>
            <p:cNvSpPr/>
            <p:nvPr/>
          </p:nvSpPr>
          <p:spPr>
            <a:xfrm>
              <a:off x="432" y="1584"/>
              <a:ext cx="192" cy="48"/>
            </a:xfrm>
            <a:prstGeom prst="ellipse">
              <a:avLst/>
            </a:prstGeom>
            <a:solidFill>
              <a:srgbClr val="00FF00"/>
            </a:solidFill>
            <a:ln w="9525" cap="flat" cmpd="sng">
              <a:prstDash val="soli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FF00"/>
              </a:extrusionClr>
            </a:sp3d>
          </p:spPr>
          <p:txBody>
            <a:bodyPr wrap="none" anchor="ctr" anchorCtr="0">
              <a:flatTx/>
            </a:bodyPr>
            <a:p>
              <a:endParaRPr lang="zh-CN" altLang="en-US" dirty="0">
                <a:latin typeface="Times New Roman" panose="02020603050405020304" pitchFamily="18" charset="0"/>
              </a:endParaRPr>
            </a:p>
          </p:txBody>
        </p:sp>
      </p:grpSp>
      <p:grpSp>
        <p:nvGrpSpPr>
          <p:cNvPr id="4" name="Group 14"/>
          <p:cNvGrpSpPr/>
          <p:nvPr/>
        </p:nvGrpSpPr>
        <p:grpSpPr>
          <a:xfrm>
            <a:off x="642938" y="4429125"/>
            <a:ext cx="8001000" cy="519113"/>
            <a:chOff x="384" y="1440"/>
            <a:chExt cx="4512" cy="327"/>
          </a:xfrm>
        </p:grpSpPr>
        <p:sp>
          <p:nvSpPr>
            <p:cNvPr id="6157" name="Text Box 15"/>
            <p:cNvSpPr txBox="1"/>
            <p:nvPr/>
          </p:nvSpPr>
          <p:spPr>
            <a:xfrm>
              <a:off x="384" y="1440"/>
              <a:ext cx="4512" cy="327"/>
            </a:xfrm>
            <a:prstGeom prst="rect">
              <a:avLst/>
            </a:prstGeom>
            <a:noFill/>
            <a:ln w="9525">
              <a:noFill/>
            </a:ln>
          </p:spPr>
          <p:txBody>
            <a:bodyPr>
              <a:spAutoFit/>
            </a:bodyPr>
            <a:p>
              <a:pPr>
                <a:spcBef>
                  <a:spcPct val="50000"/>
                </a:spcBef>
              </a:pPr>
              <a:r>
                <a:rPr lang="en-US" altLang="zh-CN" sz="2400" b="0" dirty="0">
                  <a:latin typeface="楷体_GB2312" pitchFamily="49" charset="-122"/>
                </a:rPr>
                <a:t>       </a:t>
              </a:r>
              <a:r>
                <a:rPr lang="zh-CN" altLang="en-US" dirty="0">
                  <a:solidFill>
                    <a:srgbClr val="FF0000"/>
                  </a:solidFill>
                  <a:latin typeface="楷体_GB2312" pitchFamily="49" charset="-122"/>
                </a:rPr>
                <a:t>最优函数值</a:t>
              </a:r>
              <a:endParaRPr lang="zh-CN" altLang="en-US" dirty="0">
                <a:solidFill>
                  <a:srgbClr val="009900"/>
                </a:solidFill>
                <a:latin typeface="楷体_GB2312" pitchFamily="49" charset="-122"/>
              </a:endParaRPr>
            </a:p>
          </p:txBody>
        </p:sp>
        <p:sp>
          <p:nvSpPr>
            <p:cNvPr id="6158" name="Oval 16"/>
            <p:cNvSpPr/>
            <p:nvPr/>
          </p:nvSpPr>
          <p:spPr>
            <a:xfrm>
              <a:off x="432" y="1584"/>
              <a:ext cx="192" cy="48"/>
            </a:xfrm>
            <a:prstGeom prst="ellipse">
              <a:avLst/>
            </a:prstGeom>
            <a:solidFill>
              <a:srgbClr val="00FF00"/>
            </a:solidFill>
            <a:ln w="9525" cap="flat" cmpd="sng">
              <a:prstDash val="soli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FF00"/>
              </a:extrusionClr>
            </a:sp3d>
          </p:spPr>
          <p:txBody>
            <a:bodyPr wrap="none" anchor="ctr" anchorCtr="0">
              <a:flatTx/>
            </a:bodyPr>
            <a:p>
              <a:endParaRPr lang="zh-CN" altLang="en-US" dirty="0">
                <a:latin typeface="Times New Roman" panose="02020603050405020304" pitchFamily="18" charset="0"/>
              </a:endParaRPr>
            </a:p>
          </p:txBody>
        </p:sp>
      </p:grpSp>
      <p:graphicFrame>
        <p:nvGraphicFramePr>
          <p:cNvPr id="55299" name="Object 23"/>
          <p:cNvGraphicFramePr/>
          <p:nvPr/>
        </p:nvGraphicFramePr>
        <p:xfrm>
          <a:off x="2297113" y="5286375"/>
          <a:ext cx="5133975" cy="747713"/>
        </p:xfrm>
        <a:graphic>
          <a:graphicData uri="http://schemas.openxmlformats.org/presentationml/2006/ole">
            <mc:AlternateContent xmlns:mc="http://schemas.openxmlformats.org/markup-compatibility/2006">
              <mc:Choice xmlns:v="urn:schemas-microsoft-com:vml" Requires="v">
                <p:oleObj spid="_x0000_s3084" name="" r:id="rId5" imgW="2309495" imgH="355600" progId="Equation.DSMT4">
                  <p:embed/>
                </p:oleObj>
              </mc:Choice>
              <mc:Fallback>
                <p:oleObj name="" r:id="rId5" imgW="2309495" imgH="355600" progId="Equation.DSMT4">
                  <p:embed/>
                  <p:pic>
                    <p:nvPicPr>
                      <p:cNvPr id="0" name="图片 3083"/>
                      <p:cNvPicPr/>
                      <p:nvPr/>
                    </p:nvPicPr>
                    <p:blipFill>
                      <a:blip r:embed="rId6"/>
                      <a:stretch>
                        <a:fillRect/>
                      </a:stretch>
                    </p:blipFill>
                    <p:spPr>
                      <a:xfrm>
                        <a:off x="2297113" y="5286375"/>
                        <a:ext cx="5133975" cy="747713"/>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56322"/>
                                        </p:tgtEl>
                                        <p:attrNameLst>
                                          <p:attrName>style.visibility</p:attrName>
                                        </p:attrNameLst>
                                      </p:cBhvr>
                                      <p:to>
                                        <p:strVal val="visible"/>
                                      </p:to>
                                    </p:set>
                                    <p:animEffect transition="in" filter="box(out)">
                                      <p:cBhvr>
                                        <p:cTn id="11" dur="500"/>
                                        <p:tgtEl>
                                          <p:spTgt spid="56322"/>
                                        </p:tgtEl>
                                      </p:cBhvr>
                                    </p:animEffect>
                                  </p:childTnLst>
                                  <p:subTnLst>
                                    <p:audio>
                                      <p:cMediaNode>
                                        <p:cTn display="0" masterRel="sameClick">
                                          <p:stCondLst>
                                            <p:cond evt="begin" delay="0">
                                              <p:tn val="9"/>
                                            </p:cond>
                                          </p:stCondLst>
                                          <p:endCondLst>
                                            <p:cond evt="onStopAudio" delay="0">
                                              <p:tgtEl>
                                                <p:sldTgt/>
                                              </p:tgtEl>
                                            </p:cond>
                                          </p:endCondLst>
                                        </p:cTn>
                                        <p:tgtEl>
                                          <p:sndTgt r:embed="rId7"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56323"/>
                                        </p:tgtEl>
                                        <p:attrNameLst>
                                          <p:attrName>style.visibility</p:attrName>
                                        </p:attrNameLst>
                                      </p:cBhvr>
                                      <p:to>
                                        <p:strVal val="visible"/>
                                      </p:to>
                                    </p:set>
                                    <p:animEffect transition="in" filter="box(out)">
                                      <p:cBhvr>
                                        <p:cTn id="20" dur="500"/>
                                        <p:tgtEl>
                                          <p:spTgt spid="56323"/>
                                        </p:tgtEl>
                                      </p:cBhvr>
                                    </p:animEffect>
                                  </p:childTnLst>
                                  <p:subTnLst>
                                    <p:audio>
                                      <p:cMediaNode>
                                        <p:cTn display="0" masterRel="sameClick">
                                          <p:stCondLst>
                                            <p:cond evt="begin" delay="0">
                                              <p:tn val="18"/>
                                            </p:cond>
                                          </p:stCondLst>
                                          <p:endCondLst>
                                            <p:cond evt="onStopAudio" delay="0">
                                              <p:tgtEl>
                                                <p:sldTgt/>
                                              </p:tgtEl>
                                            </p:cond>
                                          </p:endCondLst>
                                        </p:cTn>
                                        <p:tgtEl>
                                          <p:sndTgt r:embed="rId7"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5299"/>
                                        </p:tgtEl>
                                        <p:attrNameLst>
                                          <p:attrName>style.visibility</p:attrName>
                                        </p:attrNameLst>
                                      </p:cBhvr>
                                      <p:to>
                                        <p:strVal val="visible"/>
                                      </p:to>
                                    </p:set>
                                    <p:animEffect transition="in" filter="wipe(left)">
                                      <p:cBhvr>
                                        <p:cTn id="29" dur="500"/>
                                        <p:tgtEl>
                                          <p:spTgt spid="55299"/>
                                        </p:tgtEl>
                                      </p:cBhvr>
                                    </p:animEffect>
                                  </p:childTnLst>
                                  <p:subTnLst>
                                    <p:audio>
                                      <p:cMediaNode>
                                        <p:cTn display="0" masterRel="sameClick">
                                          <p:stCondLst>
                                            <p:cond evt="begin" delay="0">
                                              <p:tn val="27"/>
                                            </p:cond>
                                          </p:stCondLst>
                                          <p:endCondLst>
                                            <p:cond evt="onStopAudio" delay="0">
                                              <p:tgtEl>
                                                <p:sldTgt/>
                                              </p:tgtEl>
                                            </p:cond>
                                          </p:endCondLst>
                                        </p:cTn>
                                        <p:tgtEl>
                                          <p:sndTgt r:embed="rId7"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Text Box 2"/>
          <p:cNvSpPr txBox="1"/>
          <p:nvPr/>
        </p:nvSpPr>
        <p:spPr>
          <a:xfrm>
            <a:off x="304800" y="762000"/>
            <a:ext cx="8610600" cy="4637088"/>
          </a:xfrm>
          <a:prstGeom prst="rect">
            <a:avLst/>
          </a:prstGeom>
          <a:noFill/>
          <a:ln w="9525">
            <a:noFill/>
          </a:ln>
        </p:spPr>
        <p:txBody>
          <a:bodyPr>
            <a:spAutoFit/>
          </a:bodyPr>
          <a:p>
            <a:pPr>
              <a:spcBef>
                <a:spcPct val="50000"/>
              </a:spcBef>
            </a:pPr>
            <a:endParaRPr lang="en-US" altLang="zh-CN" sz="3200" dirty="0">
              <a:solidFill>
                <a:schemeClr val="accent2"/>
              </a:solidFill>
              <a:latin typeface="Times New Roman" panose="02020603050405020304" pitchFamily="18" charset="0"/>
            </a:endParaRPr>
          </a:p>
          <a:p>
            <a:pPr>
              <a:spcBef>
                <a:spcPct val="50000"/>
              </a:spcBef>
            </a:pPr>
            <a:r>
              <a:rPr lang="en-US" altLang="zh-CN" dirty="0">
                <a:solidFill>
                  <a:srgbClr val="000066"/>
                </a:solidFill>
                <a:latin typeface="Times New Roman" panose="02020603050405020304" pitchFamily="18" charset="0"/>
              </a:rPr>
              <a:t>    1</a:t>
            </a:r>
            <a:r>
              <a:rPr lang="zh-CN" altLang="en-US" dirty="0">
                <a:solidFill>
                  <a:srgbClr val="000066"/>
                </a:solidFill>
                <a:latin typeface="Times New Roman" panose="02020603050405020304" pitchFamily="18" charset="0"/>
              </a:rPr>
              <a:t>、动态规划方法的关键在于正确地写出基本的递推关系式和恰当的边界条件（简称基本方程）。要做到这一点，就必须将问题的过程分成几个相互联系的阶段，恰当的选取状态变量和决策变量及定义最优值函数，从而把一个大问题转化成一组同类型的子问题，然后逐个求解。即从边界条件开始，逐段递推寻优，在每一个子问题的求解中，均利用了它前面的子问题的最优化结果，依次进行，最后一个子问题所得的最优解，就是整个问题的最优解。</a:t>
            </a:r>
            <a:endParaRPr lang="zh-CN" altLang="en-US" dirty="0">
              <a:solidFill>
                <a:srgbClr val="000066"/>
              </a:solidFill>
              <a:latin typeface="Times New Roman" panose="02020603050405020304" pitchFamily="18" charset="0"/>
            </a:endParaRPr>
          </a:p>
        </p:txBody>
      </p:sp>
      <p:sp>
        <p:nvSpPr>
          <p:cNvPr id="34819" name="Rectangle 3"/>
          <p:cNvSpPr>
            <a:spLocks noGrp="1"/>
          </p:cNvSpPr>
          <p:nvPr>
            <p:ph type="ctrTitle"/>
          </p:nvPr>
        </p:nvSpPr>
        <p:spPr>
          <a:xfrm>
            <a:off x="76200" y="457200"/>
            <a:ext cx="7010400" cy="685800"/>
          </a:xfrm>
          <a:noFill/>
          <a:ln>
            <a:noFill/>
          </a:ln>
        </p:spPr>
        <p:txBody>
          <a:bodyPr/>
          <a:p>
            <a:pPr eaLnBrk="1" hangingPunct="1">
              <a:buClrTx/>
              <a:buSzTx/>
              <a:buFontTx/>
            </a:pPr>
            <a:r>
              <a:rPr lang="zh-CN" altLang="en-US" sz="3200" b="1" dirty="0">
                <a:solidFill>
                  <a:schemeClr val="accent2"/>
                </a:solidFill>
                <a:ea typeface="楷体_GB2312" pitchFamily="49" charset="-122"/>
              </a:rPr>
              <a:t>（二）、动态规划的基本思想</a:t>
            </a:r>
            <a:endParaRPr lang="zh-CN" altLang="en-US" sz="3200" b="1" dirty="0">
              <a:solidFill>
                <a:schemeClr val="accent2"/>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75" fill="hold"/>
                                        <p:tgtEl>
                                          <p:spTgt spid="5122"/>
                                        </p:tgtEl>
                                        <p:attrNameLst>
                                          <p:attrName>ppt_x</p:attrName>
                                        </p:attrNameLst>
                                      </p:cBhvr>
                                      <p:tavLst>
                                        <p:tav tm="0">
                                          <p:val>
                                            <p:strVal val="#ppt_x"/>
                                          </p:val>
                                        </p:tav>
                                        <p:tav tm="100000">
                                          <p:val>
                                            <p:strVal val="#ppt_x"/>
                                          </p:val>
                                        </p:tav>
                                      </p:tavLst>
                                    </p:anim>
                                    <p:anim calcmode="lin" valueType="num">
                                      <p:cBhvr additive="base">
                                        <p:cTn id="8" dur="75"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146" name="Text Box 2"/>
          <p:cNvSpPr txBox="1"/>
          <p:nvPr/>
        </p:nvSpPr>
        <p:spPr>
          <a:xfrm>
            <a:off x="214313" y="1071563"/>
            <a:ext cx="8686800" cy="2246312"/>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2</a:t>
            </a:r>
            <a:r>
              <a:rPr lang="zh-CN" altLang="en-US" dirty="0">
                <a:solidFill>
                  <a:srgbClr val="000066"/>
                </a:solidFill>
                <a:latin typeface="Times New Roman" panose="02020603050405020304" pitchFamily="18" charset="0"/>
              </a:rPr>
              <a:t>、在多阶段决策过程中，动态规划方法是既把当前一段和未来一段分开，又把当前效益和未来效益结合起来考虑的一种最优化方法。因此，每段决策的选取是从全局来考虑的，与该段的最优选择答案一般是不同的</a:t>
            </a:r>
            <a:r>
              <a:rPr lang="en-US" altLang="zh-CN" dirty="0">
                <a:solidFill>
                  <a:srgbClr val="000066"/>
                </a:solidFill>
                <a:latin typeface="Times New Roman" panose="02020603050405020304" pitchFamily="18" charset="0"/>
              </a:rPr>
              <a:t>.   </a:t>
            </a:r>
            <a:endParaRPr lang="en-US" altLang="zh-CN" dirty="0">
              <a:solidFill>
                <a:srgbClr val="000066"/>
              </a:solidFill>
              <a:latin typeface="Times New Roman" panose="02020603050405020304" pitchFamily="18" charset="0"/>
            </a:endParaRPr>
          </a:p>
        </p:txBody>
      </p:sp>
      <p:sp>
        <p:nvSpPr>
          <p:cNvPr id="6148" name="Rectangle 4"/>
          <p:cNvSpPr/>
          <p:nvPr/>
        </p:nvSpPr>
        <p:spPr>
          <a:xfrm>
            <a:off x="304800" y="3557588"/>
            <a:ext cx="8458200" cy="1800225"/>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3</a:t>
            </a:r>
            <a:r>
              <a:rPr lang="zh-CN" altLang="en-US" dirty="0">
                <a:solidFill>
                  <a:srgbClr val="000066"/>
                </a:solidFill>
                <a:latin typeface="Times New Roman" panose="02020603050405020304" pitchFamily="18" charset="0"/>
              </a:rPr>
              <a:t>、在求整个问题的最优策略时，由于初始状态是已知的，而每段的决策都是该段状态的函数，故最优策略所经过的各段状态便可逐段变换得到，从而确定了最优路线。</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slide(fromLeft)">
                                      <p:cBhvr>
                                        <p:cTn id="7" dur="500"/>
                                        <p:tgtEl>
                                          <p:spTgt spid="6146"/>
                                        </p:tgtEl>
                                      </p:cBhvr>
                                    </p:animEffect>
                                  </p:childTnLst>
                                  <p:subTnLst>
                                    <p:animClr clrSpc="rgb" dir="cw">
                                      <p:cBhvr override="childStyle">
                                        <p:cTn dur="1" fill="hold" display="0" masterRel="nextClick" afterEffect="1"/>
                                        <p:tgtEl>
                                          <p:spTgt spid="6146"/>
                                        </p:tgtEl>
                                        <p:attrNameLst>
                                          <p:attrName>ppt_c</p:attrName>
                                        </p:attrNameLst>
                                      </p:cBhvr>
                                      <p:to>
                                        <a:srgbClr val="0000FF"/>
                                      </p:to>
                                    </p:animClr>
                                  </p:sub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6148"/>
                                        </p:tgtEl>
                                        <p:attrNameLst>
                                          <p:attrName>style.visibility</p:attrName>
                                        </p:attrNameLst>
                                      </p:cBhvr>
                                      <p:to>
                                        <p:strVal val="visible"/>
                                      </p:to>
                                    </p:set>
                                    <p:anim calcmode="lin" valueType="num">
                                      <p:cBhvr>
                                        <p:cTn id="12" dur="500" fill="hold"/>
                                        <p:tgtEl>
                                          <p:spTgt spid="6148"/>
                                        </p:tgtEl>
                                        <p:attrNameLst>
                                          <p:attrName>ppt_w</p:attrName>
                                        </p:attrNameLst>
                                      </p:cBhvr>
                                      <p:tavLst>
                                        <p:tav tm="0">
                                          <p:val>
                                            <p:fltVal val="0.000000"/>
                                          </p:val>
                                        </p:tav>
                                        <p:tav tm="100000">
                                          <p:val>
                                            <p:strVal val="#ppt_w"/>
                                          </p:val>
                                        </p:tav>
                                      </p:tavLst>
                                    </p:anim>
                                    <p:anim calcmode="lin" valueType="num">
                                      <p:cBhvr>
                                        <p:cTn id="13" dur="500" fill="hold"/>
                                        <p:tgtEl>
                                          <p:spTgt spid="6148"/>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614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6866" name="Text Box 3"/>
          <p:cNvSpPr txBox="1"/>
          <p:nvPr/>
        </p:nvSpPr>
        <p:spPr>
          <a:xfrm>
            <a:off x="228600" y="1295400"/>
            <a:ext cx="8686800" cy="1373188"/>
          </a:xfrm>
          <a:prstGeom prst="rect">
            <a:avLst/>
          </a:prstGeom>
          <a:noFill/>
          <a:ln w="9525">
            <a:noFill/>
          </a:ln>
        </p:spPr>
        <p:txBody>
          <a:bodyPr>
            <a:spAutoFit/>
          </a:bodyPr>
          <a:p>
            <a:pPr>
              <a:spcBef>
                <a:spcPct val="50000"/>
              </a:spcBef>
            </a:pPr>
            <a:r>
              <a:rPr lang="zh-CN" altLang="en-US" dirty="0">
                <a:solidFill>
                  <a:srgbClr val="000066"/>
                </a:solidFill>
                <a:latin typeface="Times New Roman" panose="02020603050405020304" pitchFamily="18" charset="0"/>
              </a:rPr>
              <a:t>例一、从</a:t>
            </a:r>
            <a:r>
              <a:rPr lang="en-US" altLang="zh-CN" b="0" i="1" dirty="0">
                <a:solidFill>
                  <a:srgbClr val="000066"/>
                </a:solidFill>
                <a:latin typeface="Times New Roman" panose="02020603050405020304" pitchFamily="18" charset="0"/>
              </a:rPr>
              <a:t>A</a:t>
            </a:r>
            <a:r>
              <a:rPr lang="en-US" altLang="zh-CN" b="0"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地到</a:t>
            </a:r>
            <a:r>
              <a:rPr lang="en-US" altLang="zh-CN" b="0" i="1" dirty="0">
                <a:solidFill>
                  <a:srgbClr val="000066"/>
                </a:solidFill>
                <a:latin typeface="Times New Roman" panose="02020603050405020304" pitchFamily="18" charset="0"/>
              </a:rPr>
              <a:t>D</a:t>
            </a:r>
            <a:r>
              <a:rPr lang="en-US" altLang="zh-CN" b="0"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地要铺设一条煤气管道</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其中需经过两级中间站，两点之间的连线上的数字表示距离，如图所示。问应该选择什么路线，使总距离最短？ </a:t>
            </a:r>
            <a:endParaRPr lang="zh-CN" altLang="en-US" dirty="0">
              <a:solidFill>
                <a:srgbClr val="000066"/>
              </a:solidFill>
              <a:latin typeface="Times New Roman" panose="02020603050405020304" pitchFamily="18" charset="0"/>
            </a:endParaRPr>
          </a:p>
        </p:txBody>
      </p:sp>
      <p:sp>
        <p:nvSpPr>
          <p:cNvPr id="36867" name="Oval 4"/>
          <p:cNvSpPr/>
          <p:nvPr/>
        </p:nvSpPr>
        <p:spPr>
          <a:xfrm>
            <a:off x="1447800" y="42672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6868" name="Oval 5"/>
          <p:cNvSpPr/>
          <p:nvPr/>
        </p:nvSpPr>
        <p:spPr>
          <a:xfrm>
            <a:off x="2895600" y="35814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6869" name="Oval 6"/>
          <p:cNvSpPr/>
          <p:nvPr/>
        </p:nvSpPr>
        <p:spPr>
          <a:xfrm>
            <a:off x="2895600" y="47244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6870" name="Oval 7"/>
          <p:cNvSpPr/>
          <p:nvPr/>
        </p:nvSpPr>
        <p:spPr>
          <a:xfrm>
            <a:off x="4648200" y="32004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6871" name="Oval 8"/>
          <p:cNvSpPr/>
          <p:nvPr/>
        </p:nvSpPr>
        <p:spPr>
          <a:xfrm>
            <a:off x="4648200" y="42672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6872" name="Oval 9"/>
          <p:cNvSpPr/>
          <p:nvPr/>
        </p:nvSpPr>
        <p:spPr>
          <a:xfrm>
            <a:off x="4648200" y="52578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6873" name="Oval 10"/>
          <p:cNvSpPr/>
          <p:nvPr/>
        </p:nvSpPr>
        <p:spPr>
          <a:xfrm>
            <a:off x="7086600" y="42672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6874" name="Line 13"/>
          <p:cNvSpPr/>
          <p:nvPr/>
        </p:nvSpPr>
        <p:spPr>
          <a:xfrm flipV="1">
            <a:off x="1905000" y="3886200"/>
            <a:ext cx="990600" cy="457200"/>
          </a:xfrm>
          <a:prstGeom prst="line">
            <a:avLst/>
          </a:prstGeom>
          <a:ln w="28575" cap="flat" cmpd="sng">
            <a:solidFill>
              <a:schemeClr val="tx1"/>
            </a:solidFill>
            <a:prstDash val="solid"/>
            <a:headEnd type="none" w="med" len="med"/>
            <a:tailEnd type="triangle" w="med" len="med"/>
          </a:ln>
        </p:spPr>
      </p:sp>
      <p:sp>
        <p:nvSpPr>
          <p:cNvPr id="36875" name="Line 14"/>
          <p:cNvSpPr/>
          <p:nvPr/>
        </p:nvSpPr>
        <p:spPr>
          <a:xfrm>
            <a:off x="1905000" y="4648200"/>
            <a:ext cx="990600" cy="304800"/>
          </a:xfrm>
          <a:prstGeom prst="line">
            <a:avLst/>
          </a:prstGeom>
          <a:ln w="28575" cap="flat" cmpd="sng">
            <a:solidFill>
              <a:schemeClr val="tx1"/>
            </a:solidFill>
            <a:prstDash val="solid"/>
            <a:headEnd type="none" w="med" len="med"/>
            <a:tailEnd type="triangle" w="med" len="med"/>
          </a:ln>
        </p:spPr>
      </p:sp>
      <p:sp>
        <p:nvSpPr>
          <p:cNvPr id="36876" name="Line 15"/>
          <p:cNvSpPr/>
          <p:nvPr/>
        </p:nvSpPr>
        <p:spPr>
          <a:xfrm flipV="1">
            <a:off x="3352800" y="3429000"/>
            <a:ext cx="1295400" cy="304800"/>
          </a:xfrm>
          <a:prstGeom prst="line">
            <a:avLst/>
          </a:prstGeom>
          <a:ln w="28575" cap="flat" cmpd="sng">
            <a:solidFill>
              <a:schemeClr val="tx1"/>
            </a:solidFill>
            <a:prstDash val="solid"/>
            <a:headEnd type="none" w="med" len="med"/>
            <a:tailEnd type="triangle" w="med" len="med"/>
          </a:ln>
        </p:spPr>
      </p:sp>
      <p:sp>
        <p:nvSpPr>
          <p:cNvPr id="36877" name="Line 16"/>
          <p:cNvSpPr/>
          <p:nvPr/>
        </p:nvSpPr>
        <p:spPr>
          <a:xfrm>
            <a:off x="3352800" y="3810000"/>
            <a:ext cx="1295400" cy="609600"/>
          </a:xfrm>
          <a:prstGeom prst="line">
            <a:avLst/>
          </a:prstGeom>
          <a:ln w="28575" cap="flat" cmpd="sng">
            <a:solidFill>
              <a:schemeClr val="tx1"/>
            </a:solidFill>
            <a:prstDash val="solid"/>
            <a:headEnd type="none" w="med" len="med"/>
            <a:tailEnd type="triangle" w="med" len="med"/>
          </a:ln>
        </p:spPr>
      </p:sp>
      <p:sp>
        <p:nvSpPr>
          <p:cNvPr id="36878" name="Line 17"/>
          <p:cNvSpPr/>
          <p:nvPr/>
        </p:nvSpPr>
        <p:spPr>
          <a:xfrm>
            <a:off x="3352800" y="3962400"/>
            <a:ext cx="1295400" cy="1447800"/>
          </a:xfrm>
          <a:prstGeom prst="line">
            <a:avLst/>
          </a:prstGeom>
          <a:ln w="28575" cap="flat" cmpd="sng">
            <a:solidFill>
              <a:schemeClr val="tx1"/>
            </a:solidFill>
            <a:prstDash val="solid"/>
            <a:headEnd type="none" w="med" len="med"/>
            <a:tailEnd type="triangle" w="med" len="med"/>
          </a:ln>
        </p:spPr>
      </p:sp>
      <p:sp>
        <p:nvSpPr>
          <p:cNvPr id="36879" name="Line 18"/>
          <p:cNvSpPr/>
          <p:nvPr/>
        </p:nvSpPr>
        <p:spPr>
          <a:xfrm flipV="1">
            <a:off x="3352800" y="3581400"/>
            <a:ext cx="1371600" cy="1295400"/>
          </a:xfrm>
          <a:prstGeom prst="line">
            <a:avLst/>
          </a:prstGeom>
          <a:ln w="28575" cap="flat" cmpd="sng">
            <a:solidFill>
              <a:schemeClr val="tx1"/>
            </a:solidFill>
            <a:prstDash val="solid"/>
            <a:headEnd type="none" w="med" len="med"/>
            <a:tailEnd type="triangle" w="med" len="med"/>
          </a:ln>
        </p:spPr>
      </p:sp>
      <p:sp>
        <p:nvSpPr>
          <p:cNvPr id="36880" name="Line 19"/>
          <p:cNvSpPr/>
          <p:nvPr/>
        </p:nvSpPr>
        <p:spPr>
          <a:xfrm flipV="1">
            <a:off x="3352800" y="4572000"/>
            <a:ext cx="1295400" cy="381000"/>
          </a:xfrm>
          <a:prstGeom prst="line">
            <a:avLst/>
          </a:prstGeom>
          <a:ln w="28575" cap="flat" cmpd="sng">
            <a:solidFill>
              <a:schemeClr val="tx1"/>
            </a:solidFill>
            <a:prstDash val="solid"/>
            <a:headEnd type="none" w="med" len="med"/>
            <a:tailEnd type="triangle" w="med" len="med"/>
          </a:ln>
        </p:spPr>
      </p:sp>
      <p:sp>
        <p:nvSpPr>
          <p:cNvPr id="36881" name="Line 20"/>
          <p:cNvSpPr/>
          <p:nvPr/>
        </p:nvSpPr>
        <p:spPr>
          <a:xfrm>
            <a:off x="3352800" y="5105400"/>
            <a:ext cx="1295400" cy="381000"/>
          </a:xfrm>
          <a:prstGeom prst="line">
            <a:avLst/>
          </a:prstGeom>
          <a:ln w="28575" cap="flat" cmpd="sng">
            <a:solidFill>
              <a:schemeClr val="tx1"/>
            </a:solidFill>
            <a:prstDash val="solid"/>
            <a:headEnd type="none" w="med" len="med"/>
            <a:tailEnd type="triangle" w="med" len="med"/>
          </a:ln>
        </p:spPr>
      </p:sp>
      <p:sp>
        <p:nvSpPr>
          <p:cNvPr id="36882" name="Line 21"/>
          <p:cNvSpPr/>
          <p:nvPr/>
        </p:nvSpPr>
        <p:spPr>
          <a:xfrm>
            <a:off x="5105400" y="3429000"/>
            <a:ext cx="2057400" cy="914400"/>
          </a:xfrm>
          <a:prstGeom prst="line">
            <a:avLst/>
          </a:prstGeom>
          <a:ln w="28575" cap="flat" cmpd="sng">
            <a:solidFill>
              <a:schemeClr val="tx1"/>
            </a:solidFill>
            <a:prstDash val="solid"/>
            <a:headEnd type="none" w="med" len="med"/>
            <a:tailEnd type="triangle" w="med" len="med"/>
          </a:ln>
        </p:spPr>
      </p:sp>
      <p:sp>
        <p:nvSpPr>
          <p:cNvPr id="36883" name="Line 22"/>
          <p:cNvSpPr/>
          <p:nvPr/>
        </p:nvSpPr>
        <p:spPr>
          <a:xfrm>
            <a:off x="5105400" y="4495800"/>
            <a:ext cx="1981200" cy="0"/>
          </a:xfrm>
          <a:prstGeom prst="line">
            <a:avLst/>
          </a:prstGeom>
          <a:ln w="28575" cap="flat" cmpd="sng">
            <a:solidFill>
              <a:schemeClr val="tx1"/>
            </a:solidFill>
            <a:prstDash val="solid"/>
            <a:headEnd type="none" w="med" len="med"/>
            <a:tailEnd type="triangle" w="med" len="med"/>
          </a:ln>
        </p:spPr>
      </p:sp>
      <p:sp>
        <p:nvSpPr>
          <p:cNvPr id="36884" name="Line 23"/>
          <p:cNvSpPr/>
          <p:nvPr/>
        </p:nvSpPr>
        <p:spPr>
          <a:xfrm flipV="1">
            <a:off x="5105400" y="4648200"/>
            <a:ext cx="2057400" cy="838200"/>
          </a:xfrm>
          <a:prstGeom prst="line">
            <a:avLst/>
          </a:prstGeom>
          <a:ln w="28575" cap="flat" cmpd="sng">
            <a:solidFill>
              <a:schemeClr val="tx1"/>
            </a:solidFill>
            <a:prstDash val="solid"/>
            <a:headEnd type="none" w="med" len="med"/>
            <a:tailEnd type="triangle" w="med" len="med"/>
          </a:ln>
        </p:spPr>
      </p:sp>
      <p:sp>
        <p:nvSpPr>
          <p:cNvPr id="36885" name="Text Box 24"/>
          <p:cNvSpPr txBox="1"/>
          <p:nvPr/>
        </p:nvSpPr>
        <p:spPr>
          <a:xfrm>
            <a:off x="21336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6886" name="Text Box 25"/>
          <p:cNvSpPr txBox="1"/>
          <p:nvPr/>
        </p:nvSpPr>
        <p:spPr>
          <a:xfrm>
            <a:off x="21336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6887" name="Text Box 26"/>
          <p:cNvSpPr txBox="1"/>
          <p:nvPr/>
        </p:nvSpPr>
        <p:spPr>
          <a:xfrm>
            <a:off x="37338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6888" name="Text Box 27"/>
          <p:cNvSpPr txBox="1"/>
          <p:nvPr/>
        </p:nvSpPr>
        <p:spPr>
          <a:xfrm>
            <a:off x="3733800" y="3657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6889" name="Text Box 28"/>
          <p:cNvSpPr txBox="1"/>
          <p:nvPr/>
        </p:nvSpPr>
        <p:spPr>
          <a:xfrm>
            <a:off x="35814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6890" name="Text Box 29"/>
          <p:cNvSpPr txBox="1"/>
          <p:nvPr/>
        </p:nvSpPr>
        <p:spPr>
          <a:xfrm>
            <a:off x="5791200" y="4114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6891" name="Text Box 30"/>
          <p:cNvSpPr txBox="1"/>
          <p:nvPr/>
        </p:nvSpPr>
        <p:spPr>
          <a:xfrm>
            <a:off x="3276600" y="4267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6892" name="Text Box 31"/>
          <p:cNvSpPr txBox="1"/>
          <p:nvPr/>
        </p:nvSpPr>
        <p:spPr>
          <a:xfrm>
            <a:off x="3733800" y="4876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6893" name="Text Box 32"/>
          <p:cNvSpPr txBox="1"/>
          <p:nvPr/>
        </p:nvSpPr>
        <p:spPr>
          <a:xfrm>
            <a:off x="3581400" y="3962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6894" name="Text Box 33"/>
          <p:cNvSpPr txBox="1"/>
          <p:nvPr/>
        </p:nvSpPr>
        <p:spPr>
          <a:xfrm>
            <a:off x="5943600" y="3429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6895" name="Text Box 34"/>
          <p:cNvSpPr txBox="1"/>
          <p:nvPr/>
        </p:nvSpPr>
        <p:spPr>
          <a:xfrm>
            <a:off x="5638800" y="4800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9252" name="Line 36"/>
          <p:cNvSpPr/>
          <p:nvPr/>
        </p:nvSpPr>
        <p:spPr>
          <a:xfrm>
            <a:off x="381000" y="1752600"/>
            <a:ext cx="8229600" cy="0"/>
          </a:xfrm>
          <a:prstGeom prst="line">
            <a:avLst/>
          </a:prstGeom>
          <a:ln w="28575" cap="flat" cmpd="sng">
            <a:solidFill>
              <a:srgbClr val="FF0000"/>
            </a:solidFill>
            <a:prstDash val="solid"/>
            <a:headEnd type="none" w="med" len="med"/>
            <a:tailEnd type="none" w="med" len="med"/>
          </a:ln>
        </p:spPr>
      </p:sp>
      <p:sp>
        <p:nvSpPr>
          <p:cNvPr id="9253" name="Line 37"/>
          <p:cNvSpPr/>
          <p:nvPr/>
        </p:nvSpPr>
        <p:spPr>
          <a:xfrm>
            <a:off x="381000" y="2209800"/>
            <a:ext cx="8229600" cy="0"/>
          </a:xfrm>
          <a:prstGeom prst="line">
            <a:avLst/>
          </a:prstGeom>
          <a:ln w="28575" cap="flat" cmpd="sng">
            <a:solidFill>
              <a:srgbClr val="FF0000"/>
            </a:solidFill>
            <a:prstDash val="solid"/>
            <a:headEnd type="none" w="med" len="med"/>
            <a:tailEnd type="none" w="med" len="med"/>
          </a:ln>
        </p:spPr>
      </p:sp>
      <p:sp>
        <p:nvSpPr>
          <p:cNvPr id="9254" name="Line 38"/>
          <p:cNvSpPr/>
          <p:nvPr/>
        </p:nvSpPr>
        <p:spPr>
          <a:xfrm>
            <a:off x="304800" y="2590800"/>
            <a:ext cx="7467600" cy="0"/>
          </a:xfrm>
          <a:prstGeom prst="line">
            <a:avLst/>
          </a:prstGeom>
          <a:ln w="28575" cap="flat" cmpd="sng">
            <a:solidFill>
              <a:srgbClr val="FF0000"/>
            </a:solidFill>
            <a:prstDash val="solid"/>
            <a:headEnd type="none" w="med" len="med"/>
            <a:tailEnd type="none" w="med" len="med"/>
          </a:ln>
        </p:spPr>
      </p:sp>
      <p:sp>
        <p:nvSpPr>
          <p:cNvPr id="36899" name="Text Box 41"/>
          <p:cNvSpPr txBox="1">
            <a:spLocks noGrp="1"/>
          </p:cNvSpPr>
          <p:nvPr>
            <p:ph type="ctrTitle"/>
          </p:nvPr>
        </p:nvSpPr>
        <p:spPr>
          <a:xfrm>
            <a:off x="152400" y="381000"/>
            <a:ext cx="7772400" cy="1143000"/>
          </a:xfrm>
          <a:noFill/>
          <a:ln>
            <a:noFill/>
          </a:ln>
        </p:spPr>
        <p:txBody>
          <a:bodyPr/>
          <a:p>
            <a:pPr algn="l" eaLnBrk="1" hangingPunct="1">
              <a:spcBef>
                <a:spcPct val="50000"/>
              </a:spcBef>
              <a:buClrTx/>
              <a:buSzTx/>
              <a:buFontTx/>
            </a:pPr>
            <a:r>
              <a:rPr lang="zh-CN" altLang="en-US" sz="3600" b="1" dirty="0">
                <a:solidFill>
                  <a:srgbClr val="006666"/>
                </a:solidFill>
                <a:ea typeface="黑体" panose="02010609060101010101" pitchFamily="2" charset="-122"/>
              </a:rPr>
              <a:t>二、最短路径问题</a:t>
            </a:r>
            <a:endParaRPr lang="zh-CN" altLang="en-US" sz="3600" b="1" dirty="0">
              <a:solidFill>
                <a:srgbClr val="006666"/>
              </a:solidFill>
              <a:ea typeface="黑体" panose="0201060906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9252"/>
                                        </p:tgtEl>
                                        <p:attrNameLst>
                                          <p:attrName>style.visibility</p:attrName>
                                        </p:attrNameLst>
                                      </p:cBhvr>
                                      <p:to>
                                        <p:strVal val="visible"/>
                                      </p:to>
                                    </p:set>
                                    <p:anim calcmode="lin" valueType="num">
                                      <p:cBhvr>
                                        <p:cTn id="7" dur="500" fill="hold"/>
                                        <p:tgtEl>
                                          <p:spTgt spid="9252"/>
                                        </p:tgtEl>
                                        <p:attrNameLst>
                                          <p:attrName>ppt_x</p:attrName>
                                        </p:attrNameLst>
                                      </p:cBhvr>
                                      <p:tavLst>
                                        <p:tav tm="0">
                                          <p:val>
                                            <p:strVal val="#ppt_x-#ppt_w/2"/>
                                          </p:val>
                                        </p:tav>
                                        <p:tav tm="100000">
                                          <p:val>
                                            <p:strVal val="#ppt_x"/>
                                          </p:val>
                                        </p:tav>
                                      </p:tavLst>
                                    </p:anim>
                                    <p:anim calcmode="lin" valueType="num">
                                      <p:cBhvr>
                                        <p:cTn id="8" dur="500" fill="hold"/>
                                        <p:tgtEl>
                                          <p:spTgt spid="9252"/>
                                        </p:tgtEl>
                                        <p:attrNameLst>
                                          <p:attrName>ppt_y</p:attrName>
                                        </p:attrNameLst>
                                      </p:cBhvr>
                                      <p:tavLst>
                                        <p:tav tm="0">
                                          <p:val>
                                            <p:strVal val="#ppt_y"/>
                                          </p:val>
                                        </p:tav>
                                        <p:tav tm="100000">
                                          <p:val>
                                            <p:strVal val="#ppt_y"/>
                                          </p:val>
                                        </p:tav>
                                      </p:tavLst>
                                    </p:anim>
                                    <p:anim calcmode="lin" valueType="num">
                                      <p:cBhvr>
                                        <p:cTn id="9" dur="500" fill="hold"/>
                                        <p:tgtEl>
                                          <p:spTgt spid="9252"/>
                                        </p:tgtEl>
                                        <p:attrNameLst>
                                          <p:attrName>ppt_w</p:attrName>
                                        </p:attrNameLst>
                                      </p:cBhvr>
                                      <p:tavLst>
                                        <p:tav tm="0">
                                          <p:val>
                                            <p:fltVal val="0.000000"/>
                                          </p:val>
                                        </p:tav>
                                        <p:tav tm="100000">
                                          <p:val>
                                            <p:strVal val="#ppt_w"/>
                                          </p:val>
                                        </p:tav>
                                      </p:tavLst>
                                    </p:anim>
                                    <p:anim calcmode="lin" valueType="num">
                                      <p:cBhvr>
                                        <p:cTn id="10" dur="500" fill="hold"/>
                                        <p:tgtEl>
                                          <p:spTgt spid="9252"/>
                                        </p:tgtEl>
                                        <p:attrNameLst>
                                          <p:attrName>ppt_h</p:attrName>
                                        </p:attrNameLst>
                                      </p:cBhvr>
                                      <p:tavLst>
                                        <p:tav tm="0">
                                          <p:val>
                                            <p:strVal val="#ppt_h"/>
                                          </p:val>
                                        </p:tav>
                                        <p:tav tm="100000">
                                          <p:val>
                                            <p:strVal val="#ppt_h"/>
                                          </p:val>
                                        </p:tav>
                                      </p:tavLst>
                                    </p:anim>
                                  </p:childTnLst>
                                  <p:subTnLst>
                                    <p:set>
                                      <p:cBhvr override="childStyle">
                                        <p:cTn dur="1" fill="hold" display="0" masterRel="sameClick" afterEffect="1">
                                          <p:stCondLst>
                                            <p:cond evt="end" delay="0">
                                              <p:tn val="5"/>
                                            </p:cond>
                                          </p:stCondLst>
                                        </p:cTn>
                                        <p:tgtEl>
                                          <p:spTgt spid="9252"/>
                                        </p:tgtEl>
                                        <p:attrNameLst>
                                          <p:attrName>style.visibility</p:attrName>
                                        </p:attrNameLst>
                                      </p:cBhvr>
                                      <p:to>
                                        <p:strVal val="hidden"/>
                                      </p:to>
                                    </p:set>
                                  </p:sub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9253"/>
                                        </p:tgtEl>
                                        <p:attrNameLst>
                                          <p:attrName>style.visibility</p:attrName>
                                        </p:attrNameLst>
                                      </p:cBhvr>
                                      <p:to>
                                        <p:strVal val="visible"/>
                                      </p:to>
                                    </p:set>
                                    <p:anim calcmode="lin" valueType="num">
                                      <p:cBhvr>
                                        <p:cTn id="14" dur="500" fill="hold"/>
                                        <p:tgtEl>
                                          <p:spTgt spid="9253"/>
                                        </p:tgtEl>
                                        <p:attrNameLst>
                                          <p:attrName>ppt_x</p:attrName>
                                        </p:attrNameLst>
                                      </p:cBhvr>
                                      <p:tavLst>
                                        <p:tav tm="0">
                                          <p:val>
                                            <p:strVal val="#ppt_x-#ppt_w/2"/>
                                          </p:val>
                                        </p:tav>
                                        <p:tav tm="100000">
                                          <p:val>
                                            <p:strVal val="#ppt_x"/>
                                          </p:val>
                                        </p:tav>
                                      </p:tavLst>
                                    </p:anim>
                                    <p:anim calcmode="lin" valueType="num">
                                      <p:cBhvr>
                                        <p:cTn id="15" dur="500" fill="hold"/>
                                        <p:tgtEl>
                                          <p:spTgt spid="9253"/>
                                        </p:tgtEl>
                                        <p:attrNameLst>
                                          <p:attrName>ppt_y</p:attrName>
                                        </p:attrNameLst>
                                      </p:cBhvr>
                                      <p:tavLst>
                                        <p:tav tm="0">
                                          <p:val>
                                            <p:strVal val="#ppt_y"/>
                                          </p:val>
                                        </p:tav>
                                        <p:tav tm="100000">
                                          <p:val>
                                            <p:strVal val="#ppt_y"/>
                                          </p:val>
                                        </p:tav>
                                      </p:tavLst>
                                    </p:anim>
                                    <p:anim calcmode="lin" valueType="num">
                                      <p:cBhvr>
                                        <p:cTn id="16" dur="500" fill="hold"/>
                                        <p:tgtEl>
                                          <p:spTgt spid="9253"/>
                                        </p:tgtEl>
                                        <p:attrNameLst>
                                          <p:attrName>ppt_w</p:attrName>
                                        </p:attrNameLst>
                                      </p:cBhvr>
                                      <p:tavLst>
                                        <p:tav tm="0">
                                          <p:val>
                                            <p:fltVal val="0.000000"/>
                                          </p:val>
                                        </p:tav>
                                        <p:tav tm="100000">
                                          <p:val>
                                            <p:strVal val="#ppt_w"/>
                                          </p:val>
                                        </p:tav>
                                      </p:tavLst>
                                    </p:anim>
                                    <p:anim calcmode="lin" valueType="num">
                                      <p:cBhvr>
                                        <p:cTn id="17" dur="500" fill="hold"/>
                                        <p:tgtEl>
                                          <p:spTgt spid="9253"/>
                                        </p:tgtEl>
                                        <p:attrNameLst>
                                          <p:attrName>ppt_h</p:attrName>
                                        </p:attrNameLst>
                                      </p:cBhvr>
                                      <p:tavLst>
                                        <p:tav tm="0">
                                          <p:val>
                                            <p:strVal val="#ppt_h"/>
                                          </p:val>
                                        </p:tav>
                                        <p:tav tm="100000">
                                          <p:val>
                                            <p:strVal val="#ppt_h"/>
                                          </p:val>
                                        </p:tav>
                                      </p:tavLst>
                                    </p:anim>
                                  </p:childTnLst>
                                  <p:subTnLst>
                                    <p:set>
                                      <p:cBhvr override="childStyle">
                                        <p:cTn dur="1" fill="hold" display="0" masterRel="sameClick" afterEffect="1">
                                          <p:stCondLst>
                                            <p:cond evt="end" delay="0">
                                              <p:tn val="12"/>
                                            </p:cond>
                                          </p:stCondLst>
                                        </p:cTn>
                                        <p:tgtEl>
                                          <p:spTgt spid="9253"/>
                                        </p:tgtEl>
                                        <p:attrNameLst>
                                          <p:attrName>style.visibility</p:attrName>
                                        </p:attrNameLst>
                                      </p:cBhvr>
                                      <p:to>
                                        <p:strVal val="hidden"/>
                                      </p:to>
                                    </p:set>
                                  </p:subTnLst>
                                </p:cTn>
                              </p:par>
                            </p:childTnLst>
                          </p:cTn>
                        </p:par>
                        <p:par>
                          <p:cTn id="18" fill="hold">
                            <p:stCondLst>
                              <p:cond delay="1000"/>
                            </p:stCondLst>
                            <p:childTnLst>
                              <p:par>
                                <p:cTn id="19" presetID="17" presetClass="entr" presetSubtype="8" fill="hold" nodeType="afterEffect">
                                  <p:stCondLst>
                                    <p:cond delay="0"/>
                                  </p:stCondLst>
                                  <p:childTnLst>
                                    <p:set>
                                      <p:cBhvr>
                                        <p:cTn id="20" dur="1" fill="hold">
                                          <p:stCondLst>
                                            <p:cond delay="0"/>
                                          </p:stCondLst>
                                        </p:cTn>
                                        <p:tgtEl>
                                          <p:spTgt spid="9254"/>
                                        </p:tgtEl>
                                        <p:attrNameLst>
                                          <p:attrName>style.visibility</p:attrName>
                                        </p:attrNameLst>
                                      </p:cBhvr>
                                      <p:to>
                                        <p:strVal val="visible"/>
                                      </p:to>
                                    </p:set>
                                    <p:anim calcmode="lin" valueType="num">
                                      <p:cBhvr>
                                        <p:cTn id="21" dur="500" fill="hold"/>
                                        <p:tgtEl>
                                          <p:spTgt spid="9254"/>
                                        </p:tgtEl>
                                        <p:attrNameLst>
                                          <p:attrName>ppt_x</p:attrName>
                                        </p:attrNameLst>
                                      </p:cBhvr>
                                      <p:tavLst>
                                        <p:tav tm="0">
                                          <p:val>
                                            <p:strVal val="#ppt_x-#ppt_w/2"/>
                                          </p:val>
                                        </p:tav>
                                        <p:tav tm="100000">
                                          <p:val>
                                            <p:strVal val="#ppt_x"/>
                                          </p:val>
                                        </p:tav>
                                      </p:tavLst>
                                    </p:anim>
                                    <p:anim calcmode="lin" valueType="num">
                                      <p:cBhvr>
                                        <p:cTn id="22" dur="500" fill="hold"/>
                                        <p:tgtEl>
                                          <p:spTgt spid="9254"/>
                                        </p:tgtEl>
                                        <p:attrNameLst>
                                          <p:attrName>ppt_y</p:attrName>
                                        </p:attrNameLst>
                                      </p:cBhvr>
                                      <p:tavLst>
                                        <p:tav tm="0">
                                          <p:val>
                                            <p:strVal val="#ppt_y"/>
                                          </p:val>
                                        </p:tav>
                                        <p:tav tm="100000">
                                          <p:val>
                                            <p:strVal val="#ppt_y"/>
                                          </p:val>
                                        </p:tav>
                                      </p:tavLst>
                                    </p:anim>
                                    <p:anim calcmode="lin" valueType="num">
                                      <p:cBhvr>
                                        <p:cTn id="23" dur="500" fill="hold"/>
                                        <p:tgtEl>
                                          <p:spTgt spid="9254"/>
                                        </p:tgtEl>
                                        <p:attrNameLst>
                                          <p:attrName>ppt_w</p:attrName>
                                        </p:attrNameLst>
                                      </p:cBhvr>
                                      <p:tavLst>
                                        <p:tav tm="0">
                                          <p:val>
                                            <p:fltVal val="0.000000"/>
                                          </p:val>
                                        </p:tav>
                                        <p:tav tm="100000">
                                          <p:val>
                                            <p:strVal val="#ppt_w"/>
                                          </p:val>
                                        </p:tav>
                                      </p:tavLst>
                                    </p:anim>
                                    <p:anim calcmode="lin" valueType="num">
                                      <p:cBhvr>
                                        <p:cTn id="24" dur="500" fill="hold"/>
                                        <p:tgtEl>
                                          <p:spTgt spid="9254"/>
                                        </p:tgtEl>
                                        <p:attrNameLst>
                                          <p:attrName>ppt_h</p:attrName>
                                        </p:attrNameLst>
                                      </p:cBhvr>
                                      <p:tavLst>
                                        <p:tav tm="0">
                                          <p:val>
                                            <p:strVal val="#ppt_h"/>
                                          </p:val>
                                        </p:tav>
                                        <p:tav tm="100000">
                                          <p:val>
                                            <p:strVal val="#ppt_h"/>
                                          </p:val>
                                        </p:tav>
                                      </p:tavLst>
                                    </p:anim>
                                  </p:childTnLst>
                                  <p:subTnLst>
                                    <p:set>
                                      <p:cBhvr override="childStyle">
                                        <p:cTn dur="1" fill="hold" display="0" masterRel="sameClick" afterEffect="1">
                                          <p:stCondLst>
                                            <p:cond evt="end" delay="0">
                                              <p:tn val="19"/>
                                            </p:cond>
                                          </p:stCondLst>
                                        </p:cTn>
                                        <p:tgtEl>
                                          <p:spTgt spid="925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Text Box 2"/>
          <p:cNvSpPr txBox="1"/>
          <p:nvPr/>
        </p:nvSpPr>
        <p:spPr>
          <a:xfrm>
            <a:off x="457200" y="3505200"/>
            <a:ext cx="8686800" cy="519113"/>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解：整个计算过程分三个阶段，从最后一个阶段开始。</a:t>
            </a:r>
            <a:endParaRPr lang="zh-CN" altLang="en-US" dirty="0">
              <a:solidFill>
                <a:srgbClr val="000066"/>
              </a:solidFill>
              <a:latin typeface="Times New Roman" panose="02020603050405020304" pitchFamily="18" charset="0"/>
            </a:endParaRPr>
          </a:p>
        </p:txBody>
      </p:sp>
      <p:sp>
        <p:nvSpPr>
          <p:cNvPr id="10243" name="Text Box 3"/>
          <p:cNvSpPr txBox="1"/>
          <p:nvPr/>
        </p:nvSpPr>
        <p:spPr>
          <a:xfrm>
            <a:off x="228600" y="4343400"/>
            <a:ext cx="8915400" cy="946150"/>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第一阶段（</a:t>
            </a:r>
            <a:r>
              <a:rPr lang="en-US" altLang="zh-CN" i="1" dirty="0">
                <a:solidFill>
                  <a:srgbClr val="000066"/>
                </a:solidFill>
                <a:latin typeface="Times New Roman" panose="02020603050405020304" pitchFamily="18" charset="0"/>
              </a:rPr>
              <a:t>C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D</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C</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有三条路线到终点</a:t>
            </a:r>
            <a:r>
              <a:rPr lang="en-US" altLang="zh-CN" i="1" dirty="0">
                <a:solidFill>
                  <a:srgbClr val="000066"/>
                </a:solidFill>
                <a:latin typeface="Times New Roman" panose="02020603050405020304" pitchFamily="18" charset="0"/>
              </a:rPr>
              <a:t>D</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a:t>
            </a:r>
            <a:endParaRPr lang="zh-CN" altLang="en-US" b="0" dirty="0">
              <a:solidFill>
                <a:srgbClr val="000066"/>
              </a:solidFill>
              <a:latin typeface="Times New Roman" panose="02020603050405020304" pitchFamily="18" charset="0"/>
            </a:endParaRPr>
          </a:p>
        </p:txBody>
      </p:sp>
      <p:sp>
        <p:nvSpPr>
          <p:cNvPr id="37892" name="Oval 16"/>
          <p:cNvSpPr/>
          <p:nvPr/>
        </p:nvSpPr>
        <p:spPr>
          <a:xfrm>
            <a:off x="1447800" y="15240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7893" name="Oval 17"/>
          <p:cNvSpPr/>
          <p:nvPr/>
        </p:nvSpPr>
        <p:spPr>
          <a:xfrm>
            <a:off x="2895600" y="8382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7894" name="Oval 18"/>
          <p:cNvSpPr/>
          <p:nvPr/>
        </p:nvSpPr>
        <p:spPr>
          <a:xfrm>
            <a:off x="2895600" y="19812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7895" name="Oval 19"/>
          <p:cNvSpPr/>
          <p:nvPr/>
        </p:nvSpPr>
        <p:spPr>
          <a:xfrm>
            <a:off x="4648200" y="457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7896" name="Oval 20"/>
          <p:cNvSpPr/>
          <p:nvPr/>
        </p:nvSpPr>
        <p:spPr>
          <a:xfrm>
            <a:off x="46482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7897" name="Oval 21"/>
          <p:cNvSpPr/>
          <p:nvPr/>
        </p:nvSpPr>
        <p:spPr>
          <a:xfrm>
            <a:off x="4648200" y="25146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7898" name="Oval 22"/>
          <p:cNvSpPr/>
          <p:nvPr/>
        </p:nvSpPr>
        <p:spPr>
          <a:xfrm>
            <a:off x="70866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7899" name="Line 23"/>
          <p:cNvSpPr/>
          <p:nvPr/>
        </p:nvSpPr>
        <p:spPr>
          <a:xfrm flipV="1">
            <a:off x="1905000" y="1143000"/>
            <a:ext cx="990600" cy="457200"/>
          </a:xfrm>
          <a:prstGeom prst="line">
            <a:avLst/>
          </a:prstGeom>
          <a:ln w="28575" cap="flat" cmpd="sng">
            <a:solidFill>
              <a:schemeClr val="tx1"/>
            </a:solidFill>
            <a:prstDash val="solid"/>
            <a:headEnd type="none" w="med" len="med"/>
            <a:tailEnd type="triangle" w="med" len="med"/>
          </a:ln>
        </p:spPr>
      </p:sp>
      <p:sp>
        <p:nvSpPr>
          <p:cNvPr id="37900" name="Line 24"/>
          <p:cNvSpPr/>
          <p:nvPr/>
        </p:nvSpPr>
        <p:spPr>
          <a:xfrm>
            <a:off x="1905000" y="1905000"/>
            <a:ext cx="990600" cy="304800"/>
          </a:xfrm>
          <a:prstGeom prst="line">
            <a:avLst/>
          </a:prstGeom>
          <a:ln w="28575" cap="flat" cmpd="sng">
            <a:solidFill>
              <a:schemeClr val="tx1"/>
            </a:solidFill>
            <a:prstDash val="solid"/>
            <a:headEnd type="none" w="med" len="med"/>
            <a:tailEnd type="triangle" w="med" len="med"/>
          </a:ln>
        </p:spPr>
      </p:sp>
      <p:sp>
        <p:nvSpPr>
          <p:cNvPr id="37901" name="Line 25"/>
          <p:cNvSpPr/>
          <p:nvPr/>
        </p:nvSpPr>
        <p:spPr>
          <a:xfrm flipV="1">
            <a:off x="3352800" y="685800"/>
            <a:ext cx="1295400" cy="304800"/>
          </a:xfrm>
          <a:prstGeom prst="line">
            <a:avLst/>
          </a:prstGeom>
          <a:ln w="28575" cap="flat" cmpd="sng">
            <a:solidFill>
              <a:schemeClr val="tx1"/>
            </a:solidFill>
            <a:prstDash val="solid"/>
            <a:headEnd type="none" w="med" len="med"/>
            <a:tailEnd type="triangle" w="med" len="med"/>
          </a:ln>
        </p:spPr>
      </p:sp>
      <p:sp>
        <p:nvSpPr>
          <p:cNvPr id="37902" name="Line 26"/>
          <p:cNvSpPr/>
          <p:nvPr/>
        </p:nvSpPr>
        <p:spPr>
          <a:xfrm>
            <a:off x="3352800" y="1066800"/>
            <a:ext cx="1295400" cy="609600"/>
          </a:xfrm>
          <a:prstGeom prst="line">
            <a:avLst/>
          </a:prstGeom>
          <a:ln w="28575" cap="flat" cmpd="sng">
            <a:solidFill>
              <a:schemeClr val="tx1"/>
            </a:solidFill>
            <a:prstDash val="solid"/>
            <a:headEnd type="none" w="med" len="med"/>
            <a:tailEnd type="triangle" w="med" len="med"/>
          </a:ln>
        </p:spPr>
      </p:sp>
      <p:sp>
        <p:nvSpPr>
          <p:cNvPr id="37903" name="Line 27"/>
          <p:cNvSpPr/>
          <p:nvPr/>
        </p:nvSpPr>
        <p:spPr>
          <a:xfrm>
            <a:off x="3352800" y="1219200"/>
            <a:ext cx="1295400" cy="1447800"/>
          </a:xfrm>
          <a:prstGeom prst="line">
            <a:avLst/>
          </a:prstGeom>
          <a:ln w="28575" cap="flat" cmpd="sng">
            <a:solidFill>
              <a:schemeClr val="tx1"/>
            </a:solidFill>
            <a:prstDash val="solid"/>
            <a:headEnd type="none" w="med" len="med"/>
            <a:tailEnd type="triangle" w="med" len="med"/>
          </a:ln>
        </p:spPr>
      </p:sp>
      <p:sp>
        <p:nvSpPr>
          <p:cNvPr id="37904" name="Line 28"/>
          <p:cNvSpPr/>
          <p:nvPr/>
        </p:nvSpPr>
        <p:spPr>
          <a:xfrm flipV="1">
            <a:off x="3352800" y="838200"/>
            <a:ext cx="1371600" cy="1295400"/>
          </a:xfrm>
          <a:prstGeom prst="line">
            <a:avLst/>
          </a:prstGeom>
          <a:ln w="28575" cap="flat" cmpd="sng">
            <a:solidFill>
              <a:schemeClr val="tx1"/>
            </a:solidFill>
            <a:prstDash val="solid"/>
            <a:headEnd type="none" w="med" len="med"/>
            <a:tailEnd type="triangle" w="med" len="med"/>
          </a:ln>
        </p:spPr>
      </p:sp>
      <p:sp>
        <p:nvSpPr>
          <p:cNvPr id="37905" name="Line 29"/>
          <p:cNvSpPr/>
          <p:nvPr/>
        </p:nvSpPr>
        <p:spPr>
          <a:xfrm flipV="1">
            <a:off x="3352800" y="1828800"/>
            <a:ext cx="1295400" cy="381000"/>
          </a:xfrm>
          <a:prstGeom prst="line">
            <a:avLst/>
          </a:prstGeom>
          <a:ln w="28575" cap="flat" cmpd="sng">
            <a:solidFill>
              <a:schemeClr val="tx1"/>
            </a:solidFill>
            <a:prstDash val="solid"/>
            <a:headEnd type="none" w="med" len="med"/>
            <a:tailEnd type="triangle" w="med" len="med"/>
          </a:ln>
        </p:spPr>
      </p:sp>
      <p:sp>
        <p:nvSpPr>
          <p:cNvPr id="37906" name="Line 30"/>
          <p:cNvSpPr/>
          <p:nvPr/>
        </p:nvSpPr>
        <p:spPr>
          <a:xfrm>
            <a:off x="3352800" y="2362200"/>
            <a:ext cx="1295400" cy="381000"/>
          </a:xfrm>
          <a:prstGeom prst="line">
            <a:avLst/>
          </a:prstGeom>
          <a:ln w="28575" cap="flat" cmpd="sng">
            <a:solidFill>
              <a:schemeClr val="tx1"/>
            </a:solidFill>
            <a:prstDash val="solid"/>
            <a:headEnd type="none" w="med" len="med"/>
            <a:tailEnd type="triangle" w="med" len="med"/>
          </a:ln>
        </p:spPr>
      </p:sp>
      <p:sp>
        <p:nvSpPr>
          <p:cNvPr id="37907" name="Line 31"/>
          <p:cNvSpPr/>
          <p:nvPr/>
        </p:nvSpPr>
        <p:spPr>
          <a:xfrm>
            <a:off x="5105400" y="685800"/>
            <a:ext cx="2057400" cy="914400"/>
          </a:xfrm>
          <a:prstGeom prst="line">
            <a:avLst/>
          </a:prstGeom>
          <a:ln w="28575" cap="flat" cmpd="sng">
            <a:solidFill>
              <a:schemeClr val="tx1"/>
            </a:solidFill>
            <a:prstDash val="solid"/>
            <a:headEnd type="none" w="med" len="med"/>
            <a:tailEnd type="triangle" w="med" len="med"/>
          </a:ln>
        </p:spPr>
      </p:sp>
      <p:sp>
        <p:nvSpPr>
          <p:cNvPr id="37908" name="Line 32"/>
          <p:cNvSpPr/>
          <p:nvPr/>
        </p:nvSpPr>
        <p:spPr>
          <a:xfrm>
            <a:off x="5105400" y="1752600"/>
            <a:ext cx="1981200" cy="0"/>
          </a:xfrm>
          <a:prstGeom prst="line">
            <a:avLst/>
          </a:prstGeom>
          <a:ln w="28575" cap="flat" cmpd="sng">
            <a:solidFill>
              <a:schemeClr val="tx1"/>
            </a:solidFill>
            <a:prstDash val="solid"/>
            <a:headEnd type="none" w="med" len="med"/>
            <a:tailEnd type="triangle" w="med" len="med"/>
          </a:ln>
        </p:spPr>
      </p:sp>
      <p:sp>
        <p:nvSpPr>
          <p:cNvPr id="37909" name="Line 33"/>
          <p:cNvSpPr/>
          <p:nvPr/>
        </p:nvSpPr>
        <p:spPr>
          <a:xfrm flipV="1">
            <a:off x="5105400" y="1905000"/>
            <a:ext cx="2057400" cy="838200"/>
          </a:xfrm>
          <a:prstGeom prst="line">
            <a:avLst/>
          </a:prstGeom>
          <a:ln w="28575" cap="flat" cmpd="sng">
            <a:solidFill>
              <a:schemeClr val="tx1"/>
            </a:solidFill>
            <a:prstDash val="solid"/>
            <a:headEnd type="none" w="med" len="med"/>
            <a:tailEnd type="triangle" w="med" len="med"/>
          </a:ln>
        </p:spPr>
      </p:sp>
      <p:sp>
        <p:nvSpPr>
          <p:cNvPr id="37910" name="Text Box 34"/>
          <p:cNvSpPr txBox="1"/>
          <p:nvPr/>
        </p:nvSpPr>
        <p:spPr>
          <a:xfrm>
            <a:off x="2133600" y="990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7911" name="Text Box 35"/>
          <p:cNvSpPr txBox="1"/>
          <p:nvPr/>
        </p:nvSpPr>
        <p:spPr>
          <a:xfrm>
            <a:off x="2133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7912" name="Text Box 36"/>
          <p:cNvSpPr txBox="1"/>
          <p:nvPr/>
        </p:nvSpPr>
        <p:spPr>
          <a:xfrm>
            <a:off x="3733800" y="38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7913" name="Text Box 37"/>
          <p:cNvSpPr txBox="1"/>
          <p:nvPr/>
        </p:nvSpPr>
        <p:spPr>
          <a:xfrm>
            <a:off x="3733800" y="91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7914" name="Text Box 38"/>
          <p:cNvSpPr txBox="1"/>
          <p:nvPr/>
        </p:nvSpPr>
        <p:spPr>
          <a:xfrm>
            <a:off x="3581400" y="1752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7915" name="Text Box 39"/>
          <p:cNvSpPr txBox="1"/>
          <p:nvPr/>
        </p:nvSpPr>
        <p:spPr>
          <a:xfrm>
            <a:off x="57912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7916" name="Text Box 40"/>
          <p:cNvSpPr txBox="1"/>
          <p:nvPr/>
        </p:nvSpPr>
        <p:spPr>
          <a:xfrm>
            <a:off x="3276600" y="1524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7917" name="Text Box 41"/>
          <p:cNvSpPr txBox="1"/>
          <p:nvPr/>
        </p:nvSpPr>
        <p:spPr>
          <a:xfrm>
            <a:off x="3733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7918" name="Text Box 42"/>
          <p:cNvSpPr txBox="1"/>
          <p:nvPr/>
        </p:nvSpPr>
        <p:spPr>
          <a:xfrm>
            <a:off x="3581400" y="121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7919" name="Text Box 43"/>
          <p:cNvSpPr txBox="1"/>
          <p:nvPr/>
        </p:nvSpPr>
        <p:spPr>
          <a:xfrm>
            <a:off x="5943600" y="68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7920" name="Text Box 44"/>
          <p:cNvSpPr txBox="1"/>
          <p:nvPr/>
        </p:nvSpPr>
        <p:spPr>
          <a:xfrm>
            <a:off x="56388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10285" name="Line 45"/>
          <p:cNvSpPr/>
          <p:nvPr/>
        </p:nvSpPr>
        <p:spPr>
          <a:xfrm>
            <a:off x="5105400" y="685800"/>
            <a:ext cx="2057400" cy="914400"/>
          </a:xfrm>
          <a:prstGeom prst="line">
            <a:avLst/>
          </a:prstGeom>
          <a:ln w="28575" cap="flat" cmpd="sng">
            <a:solidFill>
              <a:srgbClr val="FF0000"/>
            </a:solidFill>
            <a:prstDash val="solid"/>
            <a:headEnd type="none" w="med" len="med"/>
            <a:tailEnd type="triangle" w="med" len="med"/>
          </a:ln>
        </p:spPr>
      </p:sp>
      <p:sp>
        <p:nvSpPr>
          <p:cNvPr id="10286" name="Line 46"/>
          <p:cNvSpPr/>
          <p:nvPr/>
        </p:nvSpPr>
        <p:spPr>
          <a:xfrm>
            <a:off x="5105400" y="1752600"/>
            <a:ext cx="1981200" cy="0"/>
          </a:xfrm>
          <a:prstGeom prst="line">
            <a:avLst/>
          </a:prstGeom>
          <a:ln w="28575" cap="flat" cmpd="sng">
            <a:solidFill>
              <a:srgbClr val="FF0000"/>
            </a:solidFill>
            <a:prstDash val="solid"/>
            <a:headEnd type="none" w="med" len="med"/>
            <a:tailEnd type="triangle" w="med" len="med"/>
          </a:ln>
        </p:spPr>
      </p:sp>
      <p:sp>
        <p:nvSpPr>
          <p:cNvPr id="10287" name="Line 47"/>
          <p:cNvSpPr/>
          <p:nvPr/>
        </p:nvSpPr>
        <p:spPr>
          <a:xfrm flipV="1">
            <a:off x="5105400" y="1905000"/>
            <a:ext cx="2057400" cy="838200"/>
          </a:xfrm>
          <a:prstGeom prst="line">
            <a:avLst/>
          </a:prstGeom>
          <a:ln w="28575" cap="flat" cmpd="sng">
            <a:solidFill>
              <a:srgbClr val="FF0000"/>
            </a:solidFill>
            <a:prstDash val="solid"/>
            <a:headEnd type="none" w="med" len="med"/>
            <a:tailEnd type="triangle" w="med" len="med"/>
          </a:ln>
        </p:spPr>
      </p:sp>
      <p:sp>
        <p:nvSpPr>
          <p:cNvPr id="10288" name="Oval 48"/>
          <p:cNvSpPr/>
          <p:nvPr/>
        </p:nvSpPr>
        <p:spPr>
          <a:xfrm>
            <a:off x="70866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10289" name="Oval 49"/>
          <p:cNvSpPr/>
          <p:nvPr/>
        </p:nvSpPr>
        <p:spPr>
          <a:xfrm>
            <a:off x="4648200" y="457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10290" name="Oval 50"/>
          <p:cNvSpPr/>
          <p:nvPr/>
        </p:nvSpPr>
        <p:spPr>
          <a:xfrm>
            <a:off x="46482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10291" name="Oval 51"/>
          <p:cNvSpPr/>
          <p:nvPr/>
        </p:nvSpPr>
        <p:spPr>
          <a:xfrm>
            <a:off x="4648200" y="25146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10292" name="Rectangle 52"/>
          <p:cNvSpPr/>
          <p:nvPr/>
        </p:nvSpPr>
        <p:spPr>
          <a:xfrm>
            <a:off x="838200" y="5257800"/>
            <a:ext cx="751522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显然有   </a:t>
            </a:r>
            <a:r>
              <a:rPr lang="en-US" altLang="zh-CN" i="1" dirty="0">
                <a:solidFill>
                  <a:srgbClr val="FF0000"/>
                </a:solidFill>
                <a:latin typeface="Times New Roman" panose="02020603050405020304" pitchFamily="18" charset="0"/>
              </a:rPr>
              <a:t>f</a:t>
            </a:r>
            <a:r>
              <a:rPr lang="en-US" altLang="zh-CN" i="1" baseline="-25000" dirty="0">
                <a:solidFill>
                  <a:srgbClr val="FF0000"/>
                </a:solidFill>
                <a:latin typeface="Times New Roman" panose="02020603050405020304" pitchFamily="18" charset="0"/>
              </a:rPr>
              <a:t>1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1 </a:t>
            </a:r>
            <a:r>
              <a:rPr lang="en-US" altLang="zh-CN" dirty="0">
                <a:solidFill>
                  <a:srgbClr val="FF0000"/>
                </a:solidFill>
                <a:latin typeface="Times New Roman" panose="02020603050405020304" pitchFamily="18" charset="0"/>
              </a:rPr>
              <a:t>)</a:t>
            </a:r>
            <a:r>
              <a:rPr lang="en-US" altLang="zh-CN" baseline="-25000"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 1  </a:t>
            </a:r>
            <a:r>
              <a:rPr lang="zh-CN" altLang="en-US" dirty="0">
                <a:solidFill>
                  <a:srgbClr val="FF0000"/>
                </a:solidFill>
                <a:latin typeface="Times New Roman" panose="02020603050405020304" pitchFamily="18" charset="0"/>
              </a:rPr>
              <a:t>；</a:t>
            </a:r>
            <a:r>
              <a:rPr lang="zh-CN" altLang="en-US" b="0"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f</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2 </a:t>
            </a:r>
            <a:r>
              <a:rPr lang="en-US" altLang="zh-CN" dirty="0">
                <a:solidFill>
                  <a:srgbClr val="FF0000"/>
                </a:solidFill>
                <a:latin typeface="Times New Roman" panose="02020603050405020304" pitchFamily="18" charset="0"/>
              </a:rPr>
              <a:t>)</a:t>
            </a:r>
            <a:r>
              <a:rPr lang="en-US" altLang="zh-CN" baseline="-25000"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 3  </a:t>
            </a:r>
            <a:r>
              <a:rPr lang="zh-CN" altLang="en-US" dirty="0">
                <a:solidFill>
                  <a:srgbClr val="FF0000"/>
                </a:solidFill>
                <a:latin typeface="Times New Roman" panose="02020603050405020304" pitchFamily="18" charset="0"/>
              </a:rPr>
              <a:t>；</a:t>
            </a:r>
            <a:r>
              <a:rPr lang="zh-CN" altLang="en-US" b="0"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f</a:t>
            </a:r>
            <a:r>
              <a:rPr lang="en-US" altLang="zh-CN" i="1" baseline="-25000" dirty="0">
                <a:solidFill>
                  <a:srgbClr val="FF0000"/>
                </a:solidFill>
                <a:latin typeface="Times New Roman" panose="02020603050405020304" pitchFamily="18" charset="0"/>
              </a:rPr>
              <a:t>1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3 </a:t>
            </a:r>
            <a:r>
              <a:rPr lang="en-US" altLang="zh-CN" dirty="0">
                <a:solidFill>
                  <a:srgbClr val="FF0000"/>
                </a:solidFill>
                <a:latin typeface="Times New Roman" panose="02020603050405020304" pitchFamily="18" charset="0"/>
              </a:rPr>
              <a:t>)</a:t>
            </a:r>
            <a:r>
              <a:rPr lang="en-US" altLang="zh-CN" baseline="-25000"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 4</a:t>
            </a:r>
            <a:r>
              <a:rPr lang="en-US" altLang="zh-CN" b="0" dirty="0">
                <a:solidFill>
                  <a:srgbClr val="000066"/>
                </a:solidFill>
                <a:latin typeface="Times New Roman" panose="02020603050405020304" pitchFamily="18" charset="0"/>
              </a:rPr>
              <a:t> </a:t>
            </a:r>
            <a:endParaRPr lang="en-US" altLang="zh-CN" b="0"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arn(outVertical)">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blinds(horizontal)">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88"/>
                                        </p:tgtEl>
                                        <p:attrNameLst>
                                          <p:attrName>style.visibility</p:attrName>
                                        </p:attrNameLst>
                                      </p:cBhvr>
                                      <p:to>
                                        <p:strVal val="visible"/>
                                      </p:to>
                                    </p:set>
                                    <p:animEffect transition="in" filter="dissolve">
                                      <p:cBhvr>
                                        <p:cTn id="17" dur="500"/>
                                        <p:tgtEl>
                                          <p:spTgt spid="10288"/>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0289"/>
                                        </p:tgtEl>
                                        <p:attrNameLst>
                                          <p:attrName>style.visibility</p:attrName>
                                        </p:attrNameLst>
                                      </p:cBhvr>
                                      <p:to>
                                        <p:strVal val="visible"/>
                                      </p:to>
                                    </p:set>
                                    <p:animEffect transition="in" filter="dissolve">
                                      <p:cBhvr>
                                        <p:cTn id="21" dur="500"/>
                                        <p:tgtEl>
                                          <p:spTgt spid="10289"/>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10290"/>
                                        </p:tgtEl>
                                        <p:attrNameLst>
                                          <p:attrName>style.visibility</p:attrName>
                                        </p:attrNameLst>
                                      </p:cBhvr>
                                      <p:to>
                                        <p:strVal val="visible"/>
                                      </p:to>
                                    </p:set>
                                    <p:animEffect transition="in" filter="dissolve">
                                      <p:cBhvr>
                                        <p:cTn id="25" dur="500"/>
                                        <p:tgtEl>
                                          <p:spTgt spid="10290"/>
                                        </p:tgtEl>
                                      </p:cBhvr>
                                    </p:animEffect>
                                  </p:childTnLst>
                                </p:cTn>
                              </p:par>
                            </p:childTnLst>
                          </p:cTn>
                        </p:par>
                        <p:par>
                          <p:cTn id="26" fill="hold">
                            <p:stCondLst>
                              <p:cond delay="1500"/>
                            </p:stCondLst>
                            <p:childTnLst>
                              <p:par>
                                <p:cTn id="27" presetID="9" presetClass="entr" presetSubtype="0" fill="hold" grpId="0" nodeType="afterEffect">
                                  <p:stCondLst>
                                    <p:cond delay="0"/>
                                  </p:stCondLst>
                                  <p:childTnLst>
                                    <p:set>
                                      <p:cBhvr>
                                        <p:cTn id="28" dur="1" fill="hold">
                                          <p:stCondLst>
                                            <p:cond delay="0"/>
                                          </p:stCondLst>
                                        </p:cTn>
                                        <p:tgtEl>
                                          <p:spTgt spid="10291"/>
                                        </p:tgtEl>
                                        <p:attrNameLst>
                                          <p:attrName>style.visibility</p:attrName>
                                        </p:attrNameLst>
                                      </p:cBhvr>
                                      <p:to>
                                        <p:strVal val="visible"/>
                                      </p:to>
                                    </p:set>
                                    <p:animEffect transition="in" filter="dissolve">
                                      <p:cBhvr>
                                        <p:cTn id="29" dur="500"/>
                                        <p:tgtEl>
                                          <p:spTgt spid="10291"/>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nodeType="clickEffect">
                                  <p:stCondLst>
                                    <p:cond delay="0"/>
                                  </p:stCondLst>
                                  <p:childTnLst>
                                    <p:set>
                                      <p:cBhvr>
                                        <p:cTn id="33" dur="1" fill="hold">
                                          <p:stCondLst>
                                            <p:cond delay="0"/>
                                          </p:stCondLst>
                                        </p:cTn>
                                        <p:tgtEl>
                                          <p:spTgt spid="10285"/>
                                        </p:tgtEl>
                                        <p:attrNameLst>
                                          <p:attrName>style.visibility</p:attrName>
                                        </p:attrNameLst>
                                      </p:cBhvr>
                                      <p:to>
                                        <p:strVal val="visible"/>
                                      </p:to>
                                    </p:set>
                                    <p:animEffect transition="in" filter="barn(outVertical)">
                                      <p:cBhvr>
                                        <p:cTn id="34" dur="500"/>
                                        <p:tgtEl>
                                          <p:spTgt spid="10285"/>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10286"/>
                                        </p:tgtEl>
                                        <p:attrNameLst>
                                          <p:attrName>style.visibility</p:attrName>
                                        </p:attrNameLst>
                                      </p:cBhvr>
                                      <p:to>
                                        <p:strVal val="visible"/>
                                      </p:to>
                                    </p:set>
                                    <p:animEffect transition="in" filter="barn(outVertical)">
                                      <p:cBhvr>
                                        <p:cTn id="39" dur="500"/>
                                        <p:tgtEl>
                                          <p:spTgt spid="10286"/>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10287"/>
                                        </p:tgtEl>
                                        <p:attrNameLst>
                                          <p:attrName>style.visibility</p:attrName>
                                        </p:attrNameLst>
                                      </p:cBhvr>
                                      <p:to>
                                        <p:strVal val="visible"/>
                                      </p:to>
                                    </p:set>
                                    <p:animEffect transition="in" filter="barn(outVertical)">
                                      <p:cBhvr>
                                        <p:cTn id="44" dur="500"/>
                                        <p:tgtEl>
                                          <p:spTgt spid="10287"/>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0292"/>
                                        </p:tgtEl>
                                        <p:attrNameLst>
                                          <p:attrName>style.visibility</p:attrName>
                                        </p:attrNameLst>
                                      </p:cBhvr>
                                      <p:to>
                                        <p:strVal val="visible"/>
                                      </p:to>
                                    </p:set>
                                    <p:animEffect transition="in" filter="checkerboard(across)">
                                      <p:cBhvr>
                                        <p:cTn id="49" dur="500"/>
                                        <p:tgtEl>
                                          <p:spTgt spid="10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p:bldP spid="10288" grpId="0" animBg="1"/>
      <p:bldP spid="10289" grpId="0" animBg="1"/>
      <p:bldP spid="10290" grpId="0" animBg="1"/>
      <p:bldP spid="10291" grpId="0" animBg="1"/>
      <p:bldP spid="1029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Text Box 1026"/>
          <p:cNvSpPr txBox="1"/>
          <p:nvPr/>
        </p:nvSpPr>
        <p:spPr>
          <a:xfrm>
            <a:off x="304800" y="3505200"/>
            <a:ext cx="8382000" cy="3081338"/>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endParaRPr lang="en-US" altLang="zh-CN" dirty="0">
              <a:solidFill>
                <a:srgbClr val="000066"/>
              </a:solidFill>
              <a:latin typeface="Times New Roman" panose="02020603050405020304" pitchFamily="18" charset="0"/>
            </a:endParaRPr>
          </a:p>
          <a:p>
            <a:r>
              <a:rPr lang="en-US" altLang="zh-CN" b="0" i="1"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 )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3+1</a:t>
            </a:r>
            <a:endParaRPr lang="en-US" altLang="zh-CN" i="1" dirty="0">
              <a:solidFill>
                <a:srgbClr val="000066"/>
              </a:solidFill>
              <a:latin typeface="Times New Roman" panose="02020603050405020304" pitchFamily="18" charset="0"/>
            </a:endParaRPr>
          </a:p>
          <a:p>
            <a:r>
              <a:rPr lang="en-US" altLang="zh-CN" i="1" dirty="0">
                <a:solidFill>
                  <a:srgbClr val="000066"/>
                </a:solidFill>
                <a:latin typeface="Times New Roman" panose="02020603050405020304" pitchFamily="18" charset="0"/>
              </a:rPr>
              <a:t>          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 = min   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2</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 min   3+3   </a:t>
            </a:r>
            <a:endParaRPr lang="en-US" altLang="zh-CN" dirty="0">
              <a:solidFill>
                <a:srgbClr val="000066"/>
              </a:solidFill>
              <a:latin typeface="Times New Roman" panose="02020603050405020304" pitchFamily="18" charset="0"/>
            </a:endParaRPr>
          </a:p>
          <a:p>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3</a:t>
            </a:r>
            <a:r>
              <a:rPr lang="en-US" altLang="zh-CN" dirty="0">
                <a:solidFill>
                  <a:srgbClr val="000066"/>
                </a:solidFill>
                <a:latin typeface="Times New Roman" panose="02020603050405020304" pitchFamily="18" charset="0"/>
              </a:rPr>
              <a:t> )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3 </a:t>
            </a:r>
            <a:r>
              <a:rPr lang="en-US" altLang="zh-CN" dirty="0">
                <a:solidFill>
                  <a:srgbClr val="000066"/>
                </a:solidFill>
                <a:latin typeface="Times New Roman" panose="02020603050405020304" pitchFamily="18" charset="0"/>
              </a:rPr>
              <a:t>)                 1+4</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                                    4</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                      = min    6     = 4 </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                                    5</a:t>
            </a:r>
            <a:endParaRPr lang="en-US" altLang="zh-CN" dirty="0">
              <a:solidFill>
                <a:srgbClr val="000066"/>
              </a:solidFill>
              <a:latin typeface="Times New Roman" panose="02020603050405020304" pitchFamily="18" charset="0"/>
            </a:endParaRPr>
          </a:p>
        </p:txBody>
      </p:sp>
      <p:sp>
        <p:nvSpPr>
          <p:cNvPr id="41987" name="AutoShape 1027"/>
          <p:cNvSpPr/>
          <p:nvPr/>
        </p:nvSpPr>
        <p:spPr>
          <a:xfrm>
            <a:off x="3352800" y="4038600"/>
            <a:ext cx="152400" cy="1219200"/>
          </a:xfrm>
          <a:prstGeom prst="lef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latin typeface="Times New Roman" panose="02020603050405020304" pitchFamily="18" charset="0"/>
              <a:ea typeface="宋体" panose="02010600030101010101" pitchFamily="2" charset="-122"/>
            </a:endParaRPr>
          </a:p>
        </p:txBody>
      </p:sp>
      <p:sp>
        <p:nvSpPr>
          <p:cNvPr id="41988" name="AutoShape 1028"/>
          <p:cNvSpPr/>
          <p:nvPr/>
        </p:nvSpPr>
        <p:spPr>
          <a:xfrm>
            <a:off x="6324600" y="4038600"/>
            <a:ext cx="152400" cy="1219200"/>
          </a:xfrm>
          <a:prstGeom prst="righ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41989" name="AutoShape 1029"/>
          <p:cNvSpPr/>
          <p:nvPr/>
        </p:nvSpPr>
        <p:spPr>
          <a:xfrm>
            <a:off x="3352800" y="5486400"/>
            <a:ext cx="76200" cy="914400"/>
          </a:xfrm>
          <a:prstGeom prst="leftBrace">
            <a:avLst>
              <a:gd name="adj1" fmla="val 100000"/>
              <a:gd name="adj2" fmla="val 50000"/>
            </a:avLst>
          </a:prstGeom>
          <a:noFill/>
          <a:ln w="28575" cap="flat" cmpd="sng">
            <a:solidFill>
              <a:srgbClr val="000066"/>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90" name="AutoShape 1030"/>
          <p:cNvSpPr/>
          <p:nvPr/>
        </p:nvSpPr>
        <p:spPr>
          <a:xfrm>
            <a:off x="3886200" y="5486400"/>
            <a:ext cx="152400" cy="914400"/>
          </a:xfrm>
          <a:prstGeom prst="rightBrace">
            <a:avLst>
              <a:gd name="adj1" fmla="val 50000"/>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41991" name="Rectangle 1031"/>
          <p:cNvSpPr/>
          <p:nvPr/>
        </p:nvSpPr>
        <p:spPr>
          <a:xfrm>
            <a:off x="228600" y="3200400"/>
            <a:ext cx="8610600"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第二阶段（</a:t>
            </a:r>
            <a:r>
              <a:rPr lang="en-US" altLang="zh-CN" i="1" dirty="0">
                <a:solidFill>
                  <a:srgbClr val="000066"/>
                </a:solidFill>
                <a:latin typeface="Times New Roman" panose="02020603050405020304" pitchFamily="18" charset="0"/>
              </a:rPr>
              <a:t>B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 </a:t>
            </a:r>
            <a:r>
              <a:rPr lang="zh-CN" altLang="en-US" dirty="0">
                <a:solidFill>
                  <a:srgbClr val="000066"/>
                </a:solidFill>
                <a:latin typeface="Times New Roman" panose="02020603050405020304" pitchFamily="18" charset="0"/>
              </a:rPr>
              <a:t>到</a:t>
            </a:r>
            <a:r>
              <a:rPr lang="en-US" altLang="zh-CN" i="1" dirty="0">
                <a:solidFill>
                  <a:srgbClr val="000066"/>
                </a:solidFill>
                <a:latin typeface="Times New Roman" panose="02020603050405020304" pitchFamily="18" charset="0"/>
              </a:rPr>
              <a:t>C</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有六条路线。</a:t>
            </a:r>
            <a:endParaRPr lang="zh-CN" altLang="en-US" dirty="0">
              <a:solidFill>
                <a:srgbClr val="000066"/>
              </a:solidFill>
              <a:latin typeface="Times New Roman" panose="02020603050405020304" pitchFamily="18" charset="0"/>
            </a:endParaRPr>
          </a:p>
        </p:txBody>
      </p:sp>
      <p:sp>
        <p:nvSpPr>
          <p:cNvPr id="41992" name="AutoShape 1032"/>
          <p:cNvSpPr/>
          <p:nvPr/>
        </p:nvSpPr>
        <p:spPr>
          <a:xfrm>
            <a:off x="7620000" y="4038600"/>
            <a:ext cx="152400" cy="1219200"/>
          </a:xfrm>
          <a:prstGeom prst="lef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latin typeface="Times New Roman" panose="02020603050405020304" pitchFamily="18" charset="0"/>
              <a:ea typeface="宋体" panose="02010600030101010101" pitchFamily="2" charset="-122"/>
            </a:endParaRPr>
          </a:p>
        </p:txBody>
      </p:sp>
      <p:sp>
        <p:nvSpPr>
          <p:cNvPr id="41993" name="AutoShape 1033"/>
          <p:cNvSpPr/>
          <p:nvPr/>
        </p:nvSpPr>
        <p:spPr>
          <a:xfrm>
            <a:off x="8458200" y="4038600"/>
            <a:ext cx="152400" cy="1219200"/>
          </a:xfrm>
          <a:prstGeom prst="righ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38922" name="Oval 1034"/>
          <p:cNvSpPr/>
          <p:nvPr/>
        </p:nvSpPr>
        <p:spPr>
          <a:xfrm>
            <a:off x="1447800" y="15240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8923" name="Oval 1035"/>
          <p:cNvSpPr/>
          <p:nvPr/>
        </p:nvSpPr>
        <p:spPr>
          <a:xfrm>
            <a:off x="2895600" y="838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24" name="Oval 1036"/>
          <p:cNvSpPr/>
          <p:nvPr/>
        </p:nvSpPr>
        <p:spPr>
          <a:xfrm>
            <a:off x="2895600" y="1981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8925" name="Oval 1037"/>
          <p:cNvSpPr/>
          <p:nvPr/>
        </p:nvSpPr>
        <p:spPr>
          <a:xfrm>
            <a:off x="4648200" y="457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26" name="Oval 1038"/>
          <p:cNvSpPr/>
          <p:nvPr/>
        </p:nvSpPr>
        <p:spPr>
          <a:xfrm>
            <a:off x="46482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8927" name="Oval 1039"/>
          <p:cNvSpPr/>
          <p:nvPr/>
        </p:nvSpPr>
        <p:spPr>
          <a:xfrm>
            <a:off x="4648200" y="25146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8928" name="Oval 1040"/>
          <p:cNvSpPr/>
          <p:nvPr/>
        </p:nvSpPr>
        <p:spPr>
          <a:xfrm>
            <a:off x="70866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8929" name="Line 1041"/>
          <p:cNvSpPr/>
          <p:nvPr/>
        </p:nvSpPr>
        <p:spPr>
          <a:xfrm flipV="1">
            <a:off x="1905000" y="1143000"/>
            <a:ext cx="990600" cy="457200"/>
          </a:xfrm>
          <a:prstGeom prst="line">
            <a:avLst/>
          </a:prstGeom>
          <a:ln w="28575" cap="flat" cmpd="sng">
            <a:solidFill>
              <a:schemeClr val="tx1"/>
            </a:solidFill>
            <a:prstDash val="solid"/>
            <a:headEnd type="none" w="med" len="med"/>
            <a:tailEnd type="triangle" w="med" len="med"/>
          </a:ln>
        </p:spPr>
      </p:sp>
      <p:sp>
        <p:nvSpPr>
          <p:cNvPr id="38930" name="Line 1042"/>
          <p:cNvSpPr/>
          <p:nvPr/>
        </p:nvSpPr>
        <p:spPr>
          <a:xfrm>
            <a:off x="1905000" y="1905000"/>
            <a:ext cx="990600" cy="304800"/>
          </a:xfrm>
          <a:prstGeom prst="line">
            <a:avLst/>
          </a:prstGeom>
          <a:ln w="28575" cap="flat" cmpd="sng">
            <a:solidFill>
              <a:schemeClr val="tx1"/>
            </a:solidFill>
            <a:prstDash val="solid"/>
            <a:headEnd type="none" w="med" len="med"/>
            <a:tailEnd type="triangle" w="med" len="med"/>
          </a:ln>
        </p:spPr>
      </p:sp>
      <p:sp>
        <p:nvSpPr>
          <p:cNvPr id="38931" name="Line 1043"/>
          <p:cNvSpPr/>
          <p:nvPr/>
        </p:nvSpPr>
        <p:spPr>
          <a:xfrm flipV="1">
            <a:off x="3352800" y="685800"/>
            <a:ext cx="1295400" cy="304800"/>
          </a:xfrm>
          <a:prstGeom prst="line">
            <a:avLst/>
          </a:prstGeom>
          <a:ln w="28575" cap="flat" cmpd="sng">
            <a:solidFill>
              <a:schemeClr val="tx1"/>
            </a:solidFill>
            <a:prstDash val="solid"/>
            <a:headEnd type="none" w="med" len="med"/>
            <a:tailEnd type="triangle" w="med" len="med"/>
          </a:ln>
        </p:spPr>
      </p:sp>
      <p:sp>
        <p:nvSpPr>
          <p:cNvPr id="38932" name="Line 1044"/>
          <p:cNvSpPr/>
          <p:nvPr/>
        </p:nvSpPr>
        <p:spPr>
          <a:xfrm>
            <a:off x="3352800" y="1066800"/>
            <a:ext cx="1295400" cy="609600"/>
          </a:xfrm>
          <a:prstGeom prst="line">
            <a:avLst/>
          </a:prstGeom>
          <a:ln w="28575" cap="flat" cmpd="sng">
            <a:solidFill>
              <a:schemeClr val="tx1"/>
            </a:solidFill>
            <a:prstDash val="solid"/>
            <a:headEnd type="none" w="med" len="med"/>
            <a:tailEnd type="triangle" w="med" len="med"/>
          </a:ln>
        </p:spPr>
      </p:sp>
      <p:sp>
        <p:nvSpPr>
          <p:cNvPr id="38933" name="Line 1045"/>
          <p:cNvSpPr/>
          <p:nvPr/>
        </p:nvSpPr>
        <p:spPr>
          <a:xfrm>
            <a:off x="3352800" y="1219200"/>
            <a:ext cx="1295400" cy="1447800"/>
          </a:xfrm>
          <a:prstGeom prst="line">
            <a:avLst/>
          </a:prstGeom>
          <a:ln w="28575" cap="flat" cmpd="sng">
            <a:solidFill>
              <a:schemeClr val="tx1"/>
            </a:solidFill>
            <a:prstDash val="solid"/>
            <a:headEnd type="none" w="med" len="med"/>
            <a:tailEnd type="triangle" w="med" len="med"/>
          </a:ln>
        </p:spPr>
      </p:sp>
      <p:sp>
        <p:nvSpPr>
          <p:cNvPr id="38934" name="Line 1046"/>
          <p:cNvSpPr/>
          <p:nvPr/>
        </p:nvSpPr>
        <p:spPr>
          <a:xfrm flipV="1">
            <a:off x="3352800" y="838200"/>
            <a:ext cx="1371600" cy="1295400"/>
          </a:xfrm>
          <a:prstGeom prst="line">
            <a:avLst/>
          </a:prstGeom>
          <a:ln w="28575" cap="flat" cmpd="sng">
            <a:solidFill>
              <a:schemeClr val="tx1"/>
            </a:solidFill>
            <a:prstDash val="solid"/>
            <a:headEnd type="none" w="med" len="med"/>
            <a:tailEnd type="triangle" w="med" len="med"/>
          </a:ln>
        </p:spPr>
      </p:sp>
      <p:sp>
        <p:nvSpPr>
          <p:cNvPr id="38935" name="Line 1047"/>
          <p:cNvSpPr/>
          <p:nvPr/>
        </p:nvSpPr>
        <p:spPr>
          <a:xfrm flipV="1">
            <a:off x="3352800" y="1828800"/>
            <a:ext cx="1295400" cy="381000"/>
          </a:xfrm>
          <a:prstGeom prst="line">
            <a:avLst/>
          </a:prstGeom>
          <a:ln w="28575" cap="flat" cmpd="sng">
            <a:solidFill>
              <a:schemeClr val="tx1"/>
            </a:solidFill>
            <a:prstDash val="solid"/>
            <a:headEnd type="none" w="med" len="med"/>
            <a:tailEnd type="triangle" w="med" len="med"/>
          </a:ln>
        </p:spPr>
      </p:sp>
      <p:sp>
        <p:nvSpPr>
          <p:cNvPr id="38936" name="Line 1048"/>
          <p:cNvSpPr/>
          <p:nvPr/>
        </p:nvSpPr>
        <p:spPr>
          <a:xfrm>
            <a:off x="3352800" y="2362200"/>
            <a:ext cx="1295400" cy="381000"/>
          </a:xfrm>
          <a:prstGeom prst="line">
            <a:avLst/>
          </a:prstGeom>
          <a:ln w="28575" cap="flat" cmpd="sng">
            <a:solidFill>
              <a:schemeClr val="tx1"/>
            </a:solidFill>
            <a:prstDash val="solid"/>
            <a:headEnd type="none" w="med" len="med"/>
            <a:tailEnd type="triangle" w="med" len="med"/>
          </a:ln>
        </p:spPr>
      </p:sp>
      <p:sp>
        <p:nvSpPr>
          <p:cNvPr id="38937" name="Line 1049"/>
          <p:cNvSpPr/>
          <p:nvPr/>
        </p:nvSpPr>
        <p:spPr>
          <a:xfrm>
            <a:off x="5105400" y="685800"/>
            <a:ext cx="2057400" cy="914400"/>
          </a:xfrm>
          <a:prstGeom prst="line">
            <a:avLst/>
          </a:prstGeom>
          <a:ln w="28575" cap="flat" cmpd="sng">
            <a:solidFill>
              <a:schemeClr val="tx1"/>
            </a:solidFill>
            <a:prstDash val="solid"/>
            <a:headEnd type="none" w="med" len="med"/>
            <a:tailEnd type="triangle" w="med" len="med"/>
          </a:ln>
        </p:spPr>
      </p:sp>
      <p:sp>
        <p:nvSpPr>
          <p:cNvPr id="38938" name="Line 1050"/>
          <p:cNvSpPr/>
          <p:nvPr/>
        </p:nvSpPr>
        <p:spPr>
          <a:xfrm>
            <a:off x="5105400" y="1752600"/>
            <a:ext cx="1981200" cy="0"/>
          </a:xfrm>
          <a:prstGeom prst="line">
            <a:avLst/>
          </a:prstGeom>
          <a:ln w="28575" cap="flat" cmpd="sng">
            <a:solidFill>
              <a:schemeClr val="tx1"/>
            </a:solidFill>
            <a:prstDash val="solid"/>
            <a:headEnd type="none" w="med" len="med"/>
            <a:tailEnd type="triangle" w="med" len="med"/>
          </a:ln>
        </p:spPr>
      </p:sp>
      <p:sp>
        <p:nvSpPr>
          <p:cNvPr id="38939" name="Line 1051"/>
          <p:cNvSpPr/>
          <p:nvPr/>
        </p:nvSpPr>
        <p:spPr>
          <a:xfrm flipV="1">
            <a:off x="5105400" y="1905000"/>
            <a:ext cx="2057400" cy="838200"/>
          </a:xfrm>
          <a:prstGeom prst="line">
            <a:avLst/>
          </a:prstGeom>
          <a:ln w="28575" cap="flat" cmpd="sng">
            <a:solidFill>
              <a:schemeClr val="tx1"/>
            </a:solidFill>
            <a:prstDash val="solid"/>
            <a:headEnd type="none" w="med" len="med"/>
            <a:tailEnd type="triangle" w="med" len="med"/>
          </a:ln>
        </p:spPr>
      </p:sp>
      <p:sp>
        <p:nvSpPr>
          <p:cNvPr id="38940" name="Text Box 1052"/>
          <p:cNvSpPr txBox="1"/>
          <p:nvPr/>
        </p:nvSpPr>
        <p:spPr>
          <a:xfrm>
            <a:off x="2133600" y="990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8941" name="Text Box 1053"/>
          <p:cNvSpPr txBox="1"/>
          <p:nvPr/>
        </p:nvSpPr>
        <p:spPr>
          <a:xfrm>
            <a:off x="2133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8942" name="Text Box 1054"/>
          <p:cNvSpPr txBox="1"/>
          <p:nvPr/>
        </p:nvSpPr>
        <p:spPr>
          <a:xfrm>
            <a:off x="3733800" y="38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8943" name="Text Box 1055"/>
          <p:cNvSpPr txBox="1"/>
          <p:nvPr/>
        </p:nvSpPr>
        <p:spPr>
          <a:xfrm>
            <a:off x="3733800" y="91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8944" name="Text Box 1056"/>
          <p:cNvSpPr txBox="1"/>
          <p:nvPr/>
        </p:nvSpPr>
        <p:spPr>
          <a:xfrm>
            <a:off x="3581400" y="1752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8945" name="Text Box 1057"/>
          <p:cNvSpPr txBox="1"/>
          <p:nvPr/>
        </p:nvSpPr>
        <p:spPr>
          <a:xfrm>
            <a:off x="57912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8946" name="Text Box 1058"/>
          <p:cNvSpPr txBox="1"/>
          <p:nvPr/>
        </p:nvSpPr>
        <p:spPr>
          <a:xfrm>
            <a:off x="3276600" y="1524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8947" name="Text Box 1059"/>
          <p:cNvSpPr txBox="1"/>
          <p:nvPr/>
        </p:nvSpPr>
        <p:spPr>
          <a:xfrm>
            <a:off x="3733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48" name="Text Box 1060"/>
          <p:cNvSpPr txBox="1"/>
          <p:nvPr/>
        </p:nvSpPr>
        <p:spPr>
          <a:xfrm>
            <a:off x="3581400" y="121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49" name="Text Box 1061"/>
          <p:cNvSpPr txBox="1"/>
          <p:nvPr/>
        </p:nvSpPr>
        <p:spPr>
          <a:xfrm>
            <a:off x="5943600" y="68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50" name="Text Box 1062"/>
          <p:cNvSpPr txBox="1"/>
          <p:nvPr/>
        </p:nvSpPr>
        <p:spPr>
          <a:xfrm>
            <a:off x="56388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8951" name="Line 1063"/>
          <p:cNvSpPr/>
          <p:nvPr/>
        </p:nvSpPr>
        <p:spPr>
          <a:xfrm>
            <a:off x="5105400" y="685800"/>
            <a:ext cx="2057400" cy="914400"/>
          </a:xfrm>
          <a:prstGeom prst="line">
            <a:avLst/>
          </a:prstGeom>
          <a:ln w="28575" cap="flat" cmpd="sng">
            <a:solidFill>
              <a:srgbClr val="FF0000"/>
            </a:solidFill>
            <a:prstDash val="solid"/>
            <a:headEnd type="none" w="med" len="med"/>
            <a:tailEnd type="triangle" w="med" len="med"/>
          </a:ln>
        </p:spPr>
      </p:sp>
      <p:sp>
        <p:nvSpPr>
          <p:cNvPr id="38952" name="Line 1064"/>
          <p:cNvSpPr/>
          <p:nvPr/>
        </p:nvSpPr>
        <p:spPr>
          <a:xfrm>
            <a:off x="5105400" y="1752600"/>
            <a:ext cx="1981200" cy="0"/>
          </a:xfrm>
          <a:prstGeom prst="line">
            <a:avLst/>
          </a:prstGeom>
          <a:ln w="28575" cap="flat" cmpd="sng">
            <a:solidFill>
              <a:srgbClr val="FF0000"/>
            </a:solidFill>
            <a:prstDash val="solid"/>
            <a:headEnd type="none" w="med" len="med"/>
            <a:tailEnd type="triangle" w="med" len="med"/>
          </a:ln>
        </p:spPr>
      </p:sp>
      <p:sp>
        <p:nvSpPr>
          <p:cNvPr id="38953" name="Line 1065"/>
          <p:cNvSpPr/>
          <p:nvPr/>
        </p:nvSpPr>
        <p:spPr>
          <a:xfrm flipV="1">
            <a:off x="5105400" y="1905000"/>
            <a:ext cx="2057400" cy="838200"/>
          </a:xfrm>
          <a:prstGeom prst="line">
            <a:avLst/>
          </a:prstGeom>
          <a:ln w="28575" cap="flat" cmpd="sng">
            <a:solidFill>
              <a:srgbClr val="FF0000"/>
            </a:solidFill>
            <a:prstDash val="solid"/>
            <a:headEnd type="none" w="med" len="med"/>
            <a:tailEnd type="triangle" w="med" len="med"/>
          </a:ln>
        </p:spPr>
      </p:sp>
      <p:sp>
        <p:nvSpPr>
          <p:cNvPr id="38954" name="Oval 1066"/>
          <p:cNvSpPr/>
          <p:nvPr/>
        </p:nvSpPr>
        <p:spPr>
          <a:xfrm>
            <a:off x="70866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8955" name="Oval 1067"/>
          <p:cNvSpPr/>
          <p:nvPr/>
        </p:nvSpPr>
        <p:spPr>
          <a:xfrm>
            <a:off x="4648200" y="457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8956" name="Oval 1068"/>
          <p:cNvSpPr/>
          <p:nvPr/>
        </p:nvSpPr>
        <p:spPr>
          <a:xfrm>
            <a:off x="46482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8957" name="Oval 1069"/>
          <p:cNvSpPr/>
          <p:nvPr/>
        </p:nvSpPr>
        <p:spPr>
          <a:xfrm>
            <a:off x="4648200" y="25146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30" name="Oval 1070"/>
          <p:cNvSpPr/>
          <p:nvPr/>
        </p:nvSpPr>
        <p:spPr>
          <a:xfrm>
            <a:off x="2895600" y="838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31" name="Oval 1071"/>
          <p:cNvSpPr/>
          <p:nvPr/>
        </p:nvSpPr>
        <p:spPr>
          <a:xfrm>
            <a:off x="2895600" y="1981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2032" name="Line 1072"/>
          <p:cNvSpPr/>
          <p:nvPr/>
        </p:nvSpPr>
        <p:spPr>
          <a:xfrm flipV="1">
            <a:off x="3352800" y="685800"/>
            <a:ext cx="1295400" cy="304800"/>
          </a:xfrm>
          <a:prstGeom prst="line">
            <a:avLst/>
          </a:prstGeom>
          <a:ln w="28575" cap="flat" cmpd="sng">
            <a:solidFill>
              <a:srgbClr val="00CC00"/>
            </a:solidFill>
            <a:prstDash val="solid"/>
            <a:headEnd type="none" w="med" len="med"/>
            <a:tailEnd type="triangle" w="med" len="med"/>
          </a:ln>
        </p:spPr>
      </p:sp>
      <p:sp>
        <p:nvSpPr>
          <p:cNvPr id="42033" name="Line 1073"/>
          <p:cNvSpPr/>
          <p:nvPr/>
        </p:nvSpPr>
        <p:spPr>
          <a:xfrm>
            <a:off x="3352800" y="1066800"/>
            <a:ext cx="1295400" cy="609600"/>
          </a:xfrm>
          <a:prstGeom prst="line">
            <a:avLst/>
          </a:prstGeom>
          <a:ln w="28575" cap="flat" cmpd="sng">
            <a:solidFill>
              <a:srgbClr val="00CC00"/>
            </a:solidFill>
            <a:prstDash val="solid"/>
            <a:headEnd type="none" w="med" len="med"/>
            <a:tailEnd type="triangle" w="med" len="med"/>
          </a:ln>
        </p:spPr>
      </p:sp>
      <p:sp>
        <p:nvSpPr>
          <p:cNvPr id="42034" name="Line 1074"/>
          <p:cNvSpPr/>
          <p:nvPr/>
        </p:nvSpPr>
        <p:spPr>
          <a:xfrm>
            <a:off x="3352800" y="1219200"/>
            <a:ext cx="1295400" cy="1447800"/>
          </a:xfrm>
          <a:prstGeom prst="line">
            <a:avLst/>
          </a:prstGeom>
          <a:ln w="28575" cap="flat" cmpd="sng">
            <a:solidFill>
              <a:srgbClr val="00CC00"/>
            </a:solidFill>
            <a:prstDash val="solid"/>
            <a:headEnd type="none" w="med" len="med"/>
            <a:tailEnd type="triangle" w="med" len="med"/>
          </a:ln>
        </p:spPr>
      </p:sp>
      <p:sp>
        <p:nvSpPr>
          <p:cNvPr id="42035" name="Line 1075"/>
          <p:cNvSpPr/>
          <p:nvPr/>
        </p:nvSpPr>
        <p:spPr>
          <a:xfrm flipV="1">
            <a:off x="3352800" y="685800"/>
            <a:ext cx="1295400" cy="304800"/>
          </a:xfrm>
          <a:prstGeom prst="line">
            <a:avLst/>
          </a:prstGeom>
          <a:ln w="28575" cap="flat" cmpd="sng">
            <a:solidFill>
              <a:srgbClr val="FF0000"/>
            </a:solidFill>
            <a:prstDash val="solid"/>
            <a:headEnd type="none" w="med" len="med"/>
            <a:tailEnd type="triangle" w="med" len="med"/>
          </a:ln>
        </p:spPr>
      </p:sp>
      <p:sp>
        <p:nvSpPr>
          <p:cNvPr id="42036" name="Rectangle 1076"/>
          <p:cNvSpPr/>
          <p:nvPr/>
        </p:nvSpPr>
        <p:spPr>
          <a:xfrm>
            <a:off x="4953000" y="5943600"/>
            <a:ext cx="3971925" cy="519113"/>
          </a:xfrm>
          <a:prstGeom prst="rect">
            <a:avLst/>
          </a:prstGeom>
          <a:noFill/>
          <a:ln w="9525">
            <a:noFill/>
          </a:ln>
        </p:spPr>
        <p:txBody>
          <a:bodyPr wrap="none">
            <a:spAutoFit/>
          </a:bodyPr>
          <a:p>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最短路线为</a:t>
            </a:r>
            <a:r>
              <a:rPr lang="en-US" altLang="zh-CN" i="1" dirty="0">
                <a:solidFill>
                  <a:srgbClr val="FF0000"/>
                </a:solidFill>
                <a:latin typeface="Times New Roman" panose="02020603050405020304" pitchFamily="18" charset="0"/>
              </a:rPr>
              <a:t>B</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D</a:t>
            </a:r>
            <a:r>
              <a:rPr lang="en-US" altLang="zh-CN" dirty="0">
                <a:solidFill>
                  <a:srgbClr val="FF0000"/>
                </a:solidFill>
                <a:latin typeface="Times New Roman" panose="02020603050405020304" pitchFamily="18" charset="0"/>
              </a:rPr>
              <a:t>)</a:t>
            </a:r>
            <a:endParaRPr lang="en-US" altLang="zh-CN" dirty="0">
              <a:solidFill>
                <a:srgbClr val="FF0000"/>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91"/>
                                        </p:tgtEl>
                                        <p:attrNameLst>
                                          <p:attrName>style.visibility</p:attrName>
                                        </p:attrNameLst>
                                      </p:cBhvr>
                                      <p:to>
                                        <p:strVal val="visible"/>
                                      </p:to>
                                    </p:set>
                                    <p:animEffect transition="in" filter="blinds(horizontal)">
                                      <p:cBhvr>
                                        <p:cTn id="7" dur="500"/>
                                        <p:tgtEl>
                                          <p:spTgt spid="419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030"/>
                                        </p:tgtEl>
                                        <p:attrNameLst>
                                          <p:attrName>style.visibility</p:attrName>
                                        </p:attrNameLst>
                                      </p:cBhvr>
                                      <p:to>
                                        <p:strVal val="visible"/>
                                      </p:to>
                                    </p:set>
                                    <p:animEffect transition="in" filter="dissolve">
                                      <p:cBhvr>
                                        <p:cTn id="12" dur="500"/>
                                        <p:tgtEl>
                                          <p:spTgt spid="4203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2031"/>
                                        </p:tgtEl>
                                        <p:attrNameLst>
                                          <p:attrName>style.visibility</p:attrName>
                                        </p:attrNameLst>
                                      </p:cBhvr>
                                      <p:to>
                                        <p:strVal val="visible"/>
                                      </p:to>
                                    </p:set>
                                    <p:animEffect transition="in" filter="dissolve">
                                      <p:cBhvr>
                                        <p:cTn id="16" dur="500"/>
                                        <p:tgtEl>
                                          <p:spTgt spid="4203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42032"/>
                                        </p:tgtEl>
                                        <p:attrNameLst>
                                          <p:attrName>style.visibility</p:attrName>
                                        </p:attrNameLst>
                                      </p:cBhvr>
                                      <p:to>
                                        <p:strVal val="visible"/>
                                      </p:to>
                                    </p:set>
                                    <p:animEffect transition="in" filter="barn(outVertical)">
                                      <p:cBhvr>
                                        <p:cTn id="21" dur="500"/>
                                        <p:tgtEl>
                                          <p:spTgt spid="4203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nodeType="clickEffect">
                                  <p:stCondLst>
                                    <p:cond delay="0"/>
                                  </p:stCondLst>
                                  <p:childTnLst>
                                    <p:set>
                                      <p:cBhvr>
                                        <p:cTn id="25" dur="1" fill="hold">
                                          <p:stCondLst>
                                            <p:cond delay="0"/>
                                          </p:stCondLst>
                                        </p:cTn>
                                        <p:tgtEl>
                                          <p:spTgt spid="42033"/>
                                        </p:tgtEl>
                                        <p:attrNameLst>
                                          <p:attrName>style.visibility</p:attrName>
                                        </p:attrNameLst>
                                      </p:cBhvr>
                                      <p:to>
                                        <p:strVal val="visible"/>
                                      </p:to>
                                    </p:set>
                                    <p:animEffect transition="in" filter="barn(outVertical)">
                                      <p:cBhvr>
                                        <p:cTn id="26" dur="500"/>
                                        <p:tgtEl>
                                          <p:spTgt spid="4203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37" fill="hold" nodeType="clickEffect">
                                  <p:stCondLst>
                                    <p:cond delay="0"/>
                                  </p:stCondLst>
                                  <p:childTnLst>
                                    <p:set>
                                      <p:cBhvr>
                                        <p:cTn id="30" dur="1" fill="hold">
                                          <p:stCondLst>
                                            <p:cond delay="0"/>
                                          </p:stCondLst>
                                        </p:cTn>
                                        <p:tgtEl>
                                          <p:spTgt spid="42034"/>
                                        </p:tgtEl>
                                        <p:attrNameLst>
                                          <p:attrName>style.visibility</p:attrName>
                                        </p:attrNameLst>
                                      </p:cBhvr>
                                      <p:to>
                                        <p:strVal val="visible"/>
                                      </p:to>
                                    </p:set>
                                    <p:animEffect transition="in" filter="barn(outVertical)">
                                      <p:cBhvr>
                                        <p:cTn id="31" dur="500"/>
                                        <p:tgtEl>
                                          <p:spTgt spid="42034"/>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5" fill="hold" grpId="0" nodeType="clickEffect">
                                  <p:stCondLst>
                                    <p:cond delay="0"/>
                                  </p:stCondLst>
                                  <p:childTnLst>
                                    <p:set>
                                      <p:cBhvr>
                                        <p:cTn id="35" dur="1" fill="hold">
                                          <p:stCondLst>
                                            <p:cond delay="0"/>
                                          </p:stCondLst>
                                        </p:cTn>
                                        <p:tgtEl>
                                          <p:spTgt spid="41986"/>
                                        </p:tgtEl>
                                        <p:attrNameLst>
                                          <p:attrName>style.visibility</p:attrName>
                                        </p:attrNameLst>
                                      </p:cBhvr>
                                      <p:to>
                                        <p:strVal val="visible"/>
                                      </p:to>
                                    </p:set>
                                    <p:animEffect transition="in" filter="checkerboard(down)">
                                      <p:cBhvr>
                                        <p:cTn id="36" dur="500"/>
                                        <p:tgtEl>
                                          <p:spTgt spid="41986"/>
                                        </p:tgtEl>
                                      </p:cBhvr>
                                    </p:animEffect>
                                  </p:childTnLst>
                                </p:cTn>
                              </p:par>
                            </p:childTnLst>
                          </p:cTn>
                        </p:par>
                        <p:par>
                          <p:cTn id="37" fill="hold">
                            <p:stCondLst>
                              <p:cond delay="500"/>
                            </p:stCondLst>
                            <p:childTnLst>
                              <p:par>
                                <p:cTn id="38" presetID="16" presetClass="entr" presetSubtype="42" fill="hold" grpId="0" nodeType="afterEffect">
                                  <p:stCondLst>
                                    <p:cond delay="0"/>
                                  </p:stCondLst>
                                  <p:childTnLst>
                                    <p:set>
                                      <p:cBhvr>
                                        <p:cTn id="39" dur="1" fill="hold">
                                          <p:stCondLst>
                                            <p:cond delay="0"/>
                                          </p:stCondLst>
                                        </p:cTn>
                                        <p:tgtEl>
                                          <p:spTgt spid="41987"/>
                                        </p:tgtEl>
                                        <p:attrNameLst>
                                          <p:attrName>style.visibility</p:attrName>
                                        </p:attrNameLst>
                                      </p:cBhvr>
                                      <p:to>
                                        <p:strVal val="visible"/>
                                      </p:to>
                                    </p:set>
                                    <p:animEffect transition="in" filter="barn(outHorizontal)">
                                      <p:cBhvr>
                                        <p:cTn id="40" dur="500"/>
                                        <p:tgtEl>
                                          <p:spTgt spid="41987"/>
                                        </p:tgtEl>
                                      </p:cBhvr>
                                    </p:animEffect>
                                  </p:childTnLst>
                                </p:cTn>
                              </p:par>
                            </p:childTnLst>
                          </p:cTn>
                        </p:par>
                        <p:par>
                          <p:cTn id="41" fill="hold">
                            <p:stCondLst>
                              <p:cond delay="1000"/>
                            </p:stCondLst>
                            <p:childTnLst>
                              <p:par>
                                <p:cTn id="42" presetID="16" presetClass="entr" presetSubtype="42" fill="hold" grpId="0" nodeType="afterEffect">
                                  <p:stCondLst>
                                    <p:cond delay="0"/>
                                  </p:stCondLst>
                                  <p:childTnLst>
                                    <p:set>
                                      <p:cBhvr>
                                        <p:cTn id="43" dur="1" fill="hold">
                                          <p:stCondLst>
                                            <p:cond delay="0"/>
                                          </p:stCondLst>
                                        </p:cTn>
                                        <p:tgtEl>
                                          <p:spTgt spid="41988"/>
                                        </p:tgtEl>
                                        <p:attrNameLst>
                                          <p:attrName>style.visibility</p:attrName>
                                        </p:attrNameLst>
                                      </p:cBhvr>
                                      <p:to>
                                        <p:strVal val="visible"/>
                                      </p:to>
                                    </p:set>
                                    <p:animEffect transition="in" filter="barn(outHorizontal)">
                                      <p:cBhvr>
                                        <p:cTn id="44" dur="500"/>
                                        <p:tgtEl>
                                          <p:spTgt spid="41988"/>
                                        </p:tgtEl>
                                      </p:cBhvr>
                                    </p:animEffect>
                                  </p:childTnLst>
                                </p:cTn>
                              </p:par>
                            </p:childTnLst>
                          </p:cTn>
                        </p:par>
                        <p:par>
                          <p:cTn id="45" fill="hold">
                            <p:stCondLst>
                              <p:cond delay="1500"/>
                            </p:stCondLst>
                            <p:childTnLst>
                              <p:par>
                                <p:cTn id="46" presetID="16" presetClass="entr" presetSubtype="42" fill="hold" grpId="0" nodeType="afterEffect">
                                  <p:stCondLst>
                                    <p:cond delay="0"/>
                                  </p:stCondLst>
                                  <p:childTnLst>
                                    <p:set>
                                      <p:cBhvr>
                                        <p:cTn id="47" dur="1" fill="hold">
                                          <p:stCondLst>
                                            <p:cond delay="0"/>
                                          </p:stCondLst>
                                        </p:cTn>
                                        <p:tgtEl>
                                          <p:spTgt spid="41992"/>
                                        </p:tgtEl>
                                        <p:attrNameLst>
                                          <p:attrName>style.visibility</p:attrName>
                                        </p:attrNameLst>
                                      </p:cBhvr>
                                      <p:to>
                                        <p:strVal val="visible"/>
                                      </p:to>
                                    </p:set>
                                    <p:animEffect transition="in" filter="barn(outHorizontal)">
                                      <p:cBhvr>
                                        <p:cTn id="48" dur="500"/>
                                        <p:tgtEl>
                                          <p:spTgt spid="41992"/>
                                        </p:tgtEl>
                                      </p:cBhvr>
                                    </p:animEffect>
                                  </p:childTnLst>
                                </p:cTn>
                              </p:par>
                            </p:childTnLst>
                          </p:cTn>
                        </p:par>
                        <p:par>
                          <p:cTn id="49" fill="hold">
                            <p:stCondLst>
                              <p:cond delay="2000"/>
                            </p:stCondLst>
                            <p:childTnLst>
                              <p:par>
                                <p:cTn id="50" presetID="16" presetClass="entr" presetSubtype="26" fill="hold" grpId="0" nodeType="afterEffect">
                                  <p:stCondLst>
                                    <p:cond delay="0"/>
                                  </p:stCondLst>
                                  <p:childTnLst>
                                    <p:set>
                                      <p:cBhvr>
                                        <p:cTn id="51" dur="1" fill="hold">
                                          <p:stCondLst>
                                            <p:cond delay="0"/>
                                          </p:stCondLst>
                                        </p:cTn>
                                        <p:tgtEl>
                                          <p:spTgt spid="41993"/>
                                        </p:tgtEl>
                                        <p:attrNameLst>
                                          <p:attrName>style.visibility</p:attrName>
                                        </p:attrNameLst>
                                      </p:cBhvr>
                                      <p:to>
                                        <p:strVal val="visible"/>
                                      </p:to>
                                    </p:set>
                                    <p:animEffect transition="in" filter="barn(inHorizontal)">
                                      <p:cBhvr>
                                        <p:cTn id="52" dur="500"/>
                                        <p:tgtEl>
                                          <p:spTgt spid="41993"/>
                                        </p:tgtEl>
                                      </p:cBhvr>
                                    </p:animEffect>
                                  </p:childTnLst>
                                </p:cTn>
                              </p:par>
                            </p:childTnLst>
                          </p:cTn>
                        </p:par>
                        <p:par>
                          <p:cTn id="53" fill="hold">
                            <p:stCondLst>
                              <p:cond delay="2500"/>
                            </p:stCondLst>
                            <p:childTnLst>
                              <p:par>
                                <p:cTn id="54" presetID="16" presetClass="entr" presetSubtype="42" fill="hold" grpId="0" nodeType="afterEffect">
                                  <p:stCondLst>
                                    <p:cond delay="0"/>
                                  </p:stCondLst>
                                  <p:childTnLst>
                                    <p:set>
                                      <p:cBhvr>
                                        <p:cTn id="55" dur="1" fill="hold">
                                          <p:stCondLst>
                                            <p:cond delay="0"/>
                                          </p:stCondLst>
                                        </p:cTn>
                                        <p:tgtEl>
                                          <p:spTgt spid="41989"/>
                                        </p:tgtEl>
                                        <p:attrNameLst>
                                          <p:attrName>style.visibility</p:attrName>
                                        </p:attrNameLst>
                                      </p:cBhvr>
                                      <p:to>
                                        <p:strVal val="visible"/>
                                      </p:to>
                                    </p:set>
                                    <p:animEffect transition="in" filter="barn(outHorizontal)">
                                      <p:cBhvr>
                                        <p:cTn id="56" dur="500"/>
                                        <p:tgtEl>
                                          <p:spTgt spid="41989"/>
                                        </p:tgtEl>
                                      </p:cBhvr>
                                    </p:animEffect>
                                  </p:childTnLst>
                                </p:cTn>
                              </p:par>
                            </p:childTnLst>
                          </p:cTn>
                        </p:par>
                        <p:par>
                          <p:cTn id="57" fill="hold">
                            <p:stCondLst>
                              <p:cond delay="3000"/>
                            </p:stCondLst>
                            <p:childTnLst>
                              <p:par>
                                <p:cTn id="58" presetID="16" presetClass="entr" presetSubtype="42" fill="hold" grpId="0" nodeType="afterEffect">
                                  <p:stCondLst>
                                    <p:cond delay="0"/>
                                  </p:stCondLst>
                                  <p:childTnLst>
                                    <p:set>
                                      <p:cBhvr>
                                        <p:cTn id="59" dur="1" fill="hold">
                                          <p:stCondLst>
                                            <p:cond delay="0"/>
                                          </p:stCondLst>
                                        </p:cTn>
                                        <p:tgtEl>
                                          <p:spTgt spid="41990"/>
                                        </p:tgtEl>
                                        <p:attrNameLst>
                                          <p:attrName>style.visibility</p:attrName>
                                        </p:attrNameLst>
                                      </p:cBhvr>
                                      <p:to>
                                        <p:strVal val="visible"/>
                                      </p:to>
                                    </p:set>
                                    <p:animEffect transition="in" filter="barn(outHorizontal)">
                                      <p:cBhvr>
                                        <p:cTn id="60" dur="500"/>
                                        <p:tgtEl>
                                          <p:spTgt spid="41990"/>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nodeType="clickEffect">
                                  <p:stCondLst>
                                    <p:cond delay="0"/>
                                  </p:stCondLst>
                                  <p:childTnLst>
                                    <p:set>
                                      <p:cBhvr>
                                        <p:cTn id="64" dur="1" fill="hold">
                                          <p:stCondLst>
                                            <p:cond delay="0"/>
                                          </p:stCondLst>
                                        </p:cTn>
                                        <p:tgtEl>
                                          <p:spTgt spid="42035"/>
                                        </p:tgtEl>
                                        <p:attrNameLst>
                                          <p:attrName>style.visibility</p:attrName>
                                        </p:attrNameLst>
                                      </p:cBhvr>
                                      <p:to>
                                        <p:strVal val="visible"/>
                                      </p:to>
                                    </p:set>
                                    <p:animEffect transition="in" filter="barn(outVertical)">
                                      <p:cBhvr>
                                        <p:cTn id="65" dur="500"/>
                                        <p:tgtEl>
                                          <p:spTgt spid="42035"/>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37" fill="hold" grpId="0" nodeType="clickEffect">
                                  <p:stCondLst>
                                    <p:cond delay="0"/>
                                  </p:stCondLst>
                                  <p:childTnLst>
                                    <p:set>
                                      <p:cBhvr>
                                        <p:cTn id="69" dur="1" fill="hold">
                                          <p:stCondLst>
                                            <p:cond delay="0"/>
                                          </p:stCondLst>
                                        </p:cTn>
                                        <p:tgtEl>
                                          <p:spTgt spid="42036"/>
                                        </p:tgtEl>
                                        <p:attrNameLst>
                                          <p:attrName>style.visibility</p:attrName>
                                        </p:attrNameLst>
                                      </p:cBhvr>
                                      <p:to>
                                        <p:strVal val="visible"/>
                                      </p:to>
                                    </p:set>
                                    <p:animEffect transition="in" filter="barn(outVertical)">
                                      <p:cBhvr>
                                        <p:cTn id="70" dur="500"/>
                                        <p:tgtEl>
                                          <p:spTgt spid="42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87" grpId="0" animBg="1"/>
      <p:bldP spid="41988" grpId="0" animBg="1"/>
      <p:bldP spid="41989" grpId="0" animBg="1"/>
      <p:bldP spid="41990" grpId="0" animBg="1"/>
      <p:bldP spid="41991" grpId="0"/>
      <p:bldP spid="41992" grpId="0" animBg="1"/>
      <p:bldP spid="41993" grpId="0" animBg="1"/>
      <p:bldP spid="42030" grpId="0" animBg="1"/>
      <p:bldP spid="42031" grpId="0" animBg="1"/>
      <p:bldP spid="42036"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90" name="Text Box 2"/>
          <p:cNvSpPr txBox="1"/>
          <p:nvPr/>
        </p:nvSpPr>
        <p:spPr>
          <a:xfrm>
            <a:off x="228600" y="3429000"/>
            <a:ext cx="8686800" cy="3081338"/>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endParaRPr lang="en-US" altLang="zh-CN" dirty="0">
              <a:solidFill>
                <a:srgbClr val="000066"/>
              </a:solidFill>
              <a:latin typeface="Times New Roman" panose="02020603050405020304" pitchFamily="18" charset="0"/>
            </a:endParaRPr>
          </a:p>
          <a:p>
            <a:r>
              <a:rPr lang="en-US" altLang="zh-CN" b="0" i="1"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 )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2+1</a:t>
            </a:r>
            <a:endParaRPr lang="en-US" altLang="zh-CN" i="1" dirty="0">
              <a:solidFill>
                <a:srgbClr val="000066"/>
              </a:solidFill>
              <a:latin typeface="Times New Roman" panose="02020603050405020304" pitchFamily="18" charset="0"/>
            </a:endParaRPr>
          </a:p>
          <a:p>
            <a:r>
              <a:rPr lang="en-US" altLang="zh-CN" i="1" dirty="0">
                <a:solidFill>
                  <a:srgbClr val="000066"/>
                </a:solidFill>
                <a:latin typeface="Times New Roman" panose="02020603050405020304" pitchFamily="18" charset="0"/>
              </a:rPr>
              <a:t>          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 min   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2</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 min   3+3   </a:t>
            </a:r>
            <a:endParaRPr lang="en-US" altLang="zh-CN" dirty="0">
              <a:solidFill>
                <a:srgbClr val="000066"/>
              </a:solidFill>
              <a:latin typeface="Times New Roman" panose="02020603050405020304" pitchFamily="18" charset="0"/>
            </a:endParaRPr>
          </a:p>
          <a:p>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d(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3</a:t>
            </a:r>
            <a:r>
              <a:rPr lang="en-US" altLang="zh-CN" dirty="0">
                <a:solidFill>
                  <a:srgbClr val="000066"/>
                </a:solidFill>
                <a:latin typeface="Times New Roman" panose="02020603050405020304" pitchFamily="18" charset="0"/>
              </a:rPr>
              <a:t> ) +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C</a:t>
            </a:r>
            <a:r>
              <a:rPr lang="en-US" altLang="zh-CN" i="1" baseline="-25000" dirty="0">
                <a:solidFill>
                  <a:srgbClr val="000066"/>
                </a:solidFill>
                <a:latin typeface="Times New Roman" panose="02020603050405020304" pitchFamily="18" charset="0"/>
              </a:rPr>
              <a:t>3 </a:t>
            </a:r>
            <a:r>
              <a:rPr lang="en-US" altLang="zh-CN" dirty="0">
                <a:solidFill>
                  <a:srgbClr val="000066"/>
                </a:solidFill>
                <a:latin typeface="Times New Roman" panose="02020603050405020304" pitchFamily="18" charset="0"/>
              </a:rPr>
              <a:t>)                 1+4</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                                    3</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                      = min    6    = 3</a:t>
            </a:r>
            <a:endParaRPr lang="en-US" altLang="zh-CN" dirty="0">
              <a:solidFill>
                <a:srgbClr val="FF0000"/>
              </a:solidFill>
              <a:latin typeface="Times New Roman" panose="02020603050405020304" pitchFamily="18" charset="0"/>
            </a:endParaRPr>
          </a:p>
          <a:p>
            <a:r>
              <a:rPr lang="en-US" altLang="zh-CN" dirty="0">
                <a:solidFill>
                  <a:srgbClr val="000066"/>
                </a:solidFill>
                <a:latin typeface="Times New Roman" panose="02020603050405020304" pitchFamily="18" charset="0"/>
              </a:rPr>
              <a:t>                                    5</a:t>
            </a:r>
            <a:endParaRPr lang="en-US" altLang="zh-CN" dirty="0">
              <a:solidFill>
                <a:srgbClr val="000066"/>
              </a:solidFill>
              <a:latin typeface="Times New Roman" panose="02020603050405020304" pitchFamily="18" charset="0"/>
            </a:endParaRPr>
          </a:p>
        </p:txBody>
      </p:sp>
      <p:sp>
        <p:nvSpPr>
          <p:cNvPr id="12291" name="AutoShape 3"/>
          <p:cNvSpPr/>
          <p:nvPr/>
        </p:nvSpPr>
        <p:spPr>
          <a:xfrm>
            <a:off x="3276600" y="3962400"/>
            <a:ext cx="152400" cy="1219200"/>
          </a:xfrm>
          <a:prstGeom prst="lef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latin typeface="Times New Roman" panose="02020603050405020304" pitchFamily="18" charset="0"/>
              <a:ea typeface="宋体" panose="02010600030101010101" pitchFamily="2" charset="-122"/>
            </a:endParaRPr>
          </a:p>
        </p:txBody>
      </p:sp>
      <p:sp>
        <p:nvSpPr>
          <p:cNvPr id="12292" name="AutoShape 4"/>
          <p:cNvSpPr/>
          <p:nvPr/>
        </p:nvSpPr>
        <p:spPr>
          <a:xfrm>
            <a:off x="6248400" y="3962400"/>
            <a:ext cx="152400" cy="1219200"/>
          </a:xfrm>
          <a:prstGeom prst="righ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12293" name="AutoShape 5"/>
          <p:cNvSpPr/>
          <p:nvPr/>
        </p:nvSpPr>
        <p:spPr>
          <a:xfrm>
            <a:off x="7543800" y="3962400"/>
            <a:ext cx="152400" cy="1219200"/>
          </a:xfrm>
          <a:prstGeom prst="lef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latin typeface="Times New Roman" panose="02020603050405020304" pitchFamily="18" charset="0"/>
              <a:ea typeface="宋体" panose="02010600030101010101" pitchFamily="2" charset="-122"/>
            </a:endParaRPr>
          </a:p>
        </p:txBody>
      </p:sp>
      <p:sp>
        <p:nvSpPr>
          <p:cNvPr id="12294" name="AutoShape 6"/>
          <p:cNvSpPr/>
          <p:nvPr/>
        </p:nvSpPr>
        <p:spPr>
          <a:xfrm>
            <a:off x="8382000" y="3962400"/>
            <a:ext cx="152400" cy="1219200"/>
          </a:xfrm>
          <a:prstGeom prst="rightBrace">
            <a:avLst>
              <a:gd name="adj1" fmla="val 66666"/>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12295" name="AutoShape 7"/>
          <p:cNvSpPr/>
          <p:nvPr/>
        </p:nvSpPr>
        <p:spPr>
          <a:xfrm>
            <a:off x="3276600" y="5410200"/>
            <a:ext cx="76200" cy="914400"/>
          </a:xfrm>
          <a:prstGeom prst="leftBrace">
            <a:avLst>
              <a:gd name="adj1" fmla="val 100000"/>
              <a:gd name="adj2" fmla="val 50000"/>
            </a:avLst>
          </a:prstGeom>
          <a:noFill/>
          <a:ln w="28575" cap="flat" cmpd="sng">
            <a:solidFill>
              <a:srgbClr val="000066"/>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2296" name="AutoShape 8"/>
          <p:cNvSpPr/>
          <p:nvPr/>
        </p:nvSpPr>
        <p:spPr>
          <a:xfrm>
            <a:off x="3810000" y="5410200"/>
            <a:ext cx="152400" cy="914400"/>
          </a:xfrm>
          <a:prstGeom prst="rightBrace">
            <a:avLst>
              <a:gd name="adj1" fmla="val 50000"/>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zh-CN" sz="2400" b="0" dirty="0">
              <a:solidFill>
                <a:srgbClr val="000066"/>
              </a:solidFill>
              <a:latin typeface="Times New Roman" panose="02020603050405020304" pitchFamily="18" charset="0"/>
              <a:ea typeface="宋体" panose="02010600030101010101" pitchFamily="2" charset="-122"/>
            </a:endParaRPr>
          </a:p>
        </p:txBody>
      </p:sp>
      <p:sp>
        <p:nvSpPr>
          <p:cNvPr id="39945" name="Oval 17"/>
          <p:cNvSpPr/>
          <p:nvPr/>
        </p:nvSpPr>
        <p:spPr>
          <a:xfrm>
            <a:off x="1447800" y="1524000"/>
            <a:ext cx="457200" cy="457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39946" name="Oval 18"/>
          <p:cNvSpPr/>
          <p:nvPr/>
        </p:nvSpPr>
        <p:spPr>
          <a:xfrm>
            <a:off x="2895600" y="838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47" name="Oval 19"/>
          <p:cNvSpPr/>
          <p:nvPr/>
        </p:nvSpPr>
        <p:spPr>
          <a:xfrm>
            <a:off x="2895600" y="1981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48" name="Oval 20"/>
          <p:cNvSpPr/>
          <p:nvPr/>
        </p:nvSpPr>
        <p:spPr>
          <a:xfrm>
            <a:off x="4648200" y="457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49" name="Oval 21"/>
          <p:cNvSpPr/>
          <p:nvPr/>
        </p:nvSpPr>
        <p:spPr>
          <a:xfrm>
            <a:off x="46482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50" name="Oval 22"/>
          <p:cNvSpPr/>
          <p:nvPr/>
        </p:nvSpPr>
        <p:spPr>
          <a:xfrm>
            <a:off x="4648200" y="25146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51" name="Oval 23"/>
          <p:cNvSpPr/>
          <p:nvPr/>
        </p:nvSpPr>
        <p:spPr>
          <a:xfrm>
            <a:off x="70866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9952" name="Line 24"/>
          <p:cNvSpPr/>
          <p:nvPr/>
        </p:nvSpPr>
        <p:spPr>
          <a:xfrm flipV="1">
            <a:off x="1905000" y="1143000"/>
            <a:ext cx="990600" cy="457200"/>
          </a:xfrm>
          <a:prstGeom prst="line">
            <a:avLst/>
          </a:prstGeom>
          <a:ln w="28575" cap="flat" cmpd="sng">
            <a:solidFill>
              <a:schemeClr val="tx1"/>
            </a:solidFill>
            <a:prstDash val="solid"/>
            <a:headEnd type="none" w="med" len="med"/>
            <a:tailEnd type="triangle" w="med" len="med"/>
          </a:ln>
        </p:spPr>
      </p:sp>
      <p:sp>
        <p:nvSpPr>
          <p:cNvPr id="39953" name="Line 25"/>
          <p:cNvSpPr/>
          <p:nvPr/>
        </p:nvSpPr>
        <p:spPr>
          <a:xfrm>
            <a:off x="1905000" y="1905000"/>
            <a:ext cx="990600" cy="304800"/>
          </a:xfrm>
          <a:prstGeom prst="line">
            <a:avLst/>
          </a:prstGeom>
          <a:ln w="28575" cap="flat" cmpd="sng">
            <a:solidFill>
              <a:schemeClr val="tx1"/>
            </a:solidFill>
            <a:prstDash val="solid"/>
            <a:headEnd type="none" w="med" len="med"/>
            <a:tailEnd type="triangle" w="med" len="med"/>
          </a:ln>
        </p:spPr>
      </p:sp>
      <p:sp>
        <p:nvSpPr>
          <p:cNvPr id="39954" name="Line 26"/>
          <p:cNvSpPr/>
          <p:nvPr/>
        </p:nvSpPr>
        <p:spPr>
          <a:xfrm flipV="1">
            <a:off x="3352800" y="685800"/>
            <a:ext cx="1295400" cy="304800"/>
          </a:xfrm>
          <a:prstGeom prst="line">
            <a:avLst/>
          </a:prstGeom>
          <a:ln w="28575" cap="flat" cmpd="sng">
            <a:solidFill>
              <a:schemeClr val="tx1"/>
            </a:solidFill>
            <a:prstDash val="solid"/>
            <a:headEnd type="none" w="med" len="med"/>
            <a:tailEnd type="triangle" w="med" len="med"/>
          </a:ln>
        </p:spPr>
      </p:sp>
      <p:sp>
        <p:nvSpPr>
          <p:cNvPr id="39955" name="Line 27"/>
          <p:cNvSpPr/>
          <p:nvPr/>
        </p:nvSpPr>
        <p:spPr>
          <a:xfrm>
            <a:off x="3352800" y="1066800"/>
            <a:ext cx="1295400" cy="609600"/>
          </a:xfrm>
          <a:prstGeom prst="line">
            <a:avLst/>
          </a:prstGeom>
          <a:ln w="28575" cap="flat" cmpd="sng">
            <a:solidFill>
              <a:schemeClr val="tx1"/>
            </a:solidFill>
            <a:prstDash val="solid"/>
            <a:headEnd type="none" w="med" len="med"/>
            <a:tailEnd type="triangle" w="med" len="med"/>
          </a:ln>
        </p:spPr>
      </p:sp>
      <p:sp>
        <p:nvSpPr>
          <p:cNvPr id="39956" name="Line 28"/>
          <p:cNvSpPr/>
          <p:nvPr/>
        </p:nvSpPr>
        <p:spPr>
          <a:xfrm>
            <a:off x="3352800" y="1219200"/>
            <a:ext cx="1295400" cy="1447800"/>
          </a:xfrm>
          <a:prstGeom prst="line">
            <a:avLst/>
          </a:prstGeom>
          <a:ln w="28575" cap="flat" cmpd="sng">
            <a:solidFill>
              <a:schemeClr val="tx1"/>
            </a:solidFill>
            <a:prstDash val="solid"/>
            <a:headEnd type="none" w="med" len="med"/>
            <a:tailEnd type="triangle" w="med" len="med"/>
          </a:ln>
        </p:spPr>
      </p:sp>
      <p:sp>
        <p:nvSpPr>
          <p:cNvPr id="39957" name="Line 29"/>
          <p:cNvSpPr/>
          <p:nvPr/>
        </p:nvSpPr>
        <p:spPr>
          <a:xfrm flipV="1">
            <a:off x="3352800" y="838200"/>
            <a:ext cx="1371600" cy="1295400"/>
          </a:xfrm>
          <a:prstGeom prst="line">
            <a:avLst/>
          </a:prstGeom>
          <a:ln w="28575" cap="flat" cmpd="sng">
            <a:solidFill>
              <a:schemeClr val="tx1"/>
            </a:solidFill>
            <a:prstDash val="solid"/>
            <a:headEnd type="none" w="med" len="med"/>
            <a:tailEnd type="triangle" w="med" len="med"/>
          </a:ln>
        </p:spPr>
      </p:sp>
      <p:sp>
        <p:nvSpPr>
          <p:cNvPr id="39958" name="Line 30"/>
          <p:cNvSpPr/>
          <p:nvPr/>
        </p:nvSpPr>
        <p:spPr>
          <a:xfrm flipV="1">
            <a:off x="3352800" y="1828800"/>
            <a:ext cx="1295400" cy="381000"/>
          </a:xfrm>
          <a:prstGeom prst="line">
            <a:avLst/>
          </a:prstGeom>
          <a:ln w="28575" cap="flat" cmpd="sng">
            <a:solidFill>
              <a:schemeClr val="tx1"/>
            </a:solidFill>
            <a:prstDash val="solid"/>
            <a:headEnd type="none" w="med" len="med"/>
            <a:tailEnd type="triangle" w="med" len="med"/>
          </a:ln>
        </p:spPr>
      </p:sp>
      <p:sp>
        <p:nvSpPr>
          <p:cNvPr id="39959" name="Line 31"/>
          <p:cNvSpPr/>
          <p:nvPr/>
        </p:nvSpPr>
        <p:spPr>
          <a:xfrm>
            <a:off x="3352800" y="2362200"/>
            <a:ext cx="1295400" cy="381000"/>
          </a:xfrm>
          <a:prstGeom prst="line">
            <a:avLst/>
          </a:prstGeom>
          <a:ln w="28575" cap="flat" cmpd="sng">
            <a:solidFill>
              <a:schemeClr val="tx1"/>
            </a:solidFill>
            <a:prstDash val="solid"/>
            <a:headEnd type="none" w="med" len="med"/>
            <a:tailEnd type="triangle" w="med" len="med"/>
          </a:ln>
        </p:spPr>
      </p:sp>
      <p:sp>
        <p:nvSpPr>
          <p:cNvPr id="39960" name="Line 32"/>
          <p:cNvSpPr/>
          <p:nvPr/>
        </p:nvSpPr>
        <p:spPr>
          <a:xfrm>
            <a:off x="5105400" y="685800"/>
            <a:ext cx="2057400" cy="914400"/>
          </a:xfrm>
          <a:prstGeom prst="line">
            <a:avLst/>
          </a:prstGeom>
          <a:ln w="28575" cap="flat" cmpd="sng">
            <a:solidFill>
              <a:schemeClr val="tx1"/>
            </a:solidFill>
            <a:prstDash val="solid"/>
            <a:headEnd type="none" w="med" len="med"/>
            <a:tailEnd type="triangle" w="med" len="med"/>
          </a:ln>
        </p:spPr>
      </p:sp>
      <p:sp>
        <p:nvSpPr>
          <p:cNvPr id="39961" name="Line 33"/>
          <p:cNvSpPr/>
          <p:nvPr/>
        </p:nvSpPr>
        <p:spPr>
          <a:xfrm>
            <a:off x="5105400" y="1752600"/>
            <a:ext cx="1981200" cy="0"/>
          </a:xfrm>
          <a:prstGeom prst="line">
            <a:avLst/>
          </a:prstGeom>
          <a:ln w="28575" cap="flat" cmpd="sng">
            <a:solidFill>
              <a:schemeClr val="tx1"/>
            </a:solidFill>
            <a:prstDash val="solid"/>
            <a:headEnd type="none" w="med" len="med"/>
            <a:tailEnd type="triangle" w="med" len="med"/>
          </a:ln>
        </p:spPr>
      </p:sp>
      <p:sp>
        <p:nvSpPr>
          <p:cNvPr id="39962" name="Line 34"/>
          <p:cNvSpPr/>
          <p:nvPr/>
        </p:nvSpPr>
        <p:spPr>
          <a:xfrm flipV="1">
            <a:off x="5105400" y="1905000"/>
            <a:ext cx="2057400" cy="838200"/>
          </a:xfrm>
          <a:prstGeom prst="line">
            <a:avLst/>
          </a:prstGeom>
          <a:ln w="28575" cap="flat" cmpd="sng">
            <a:solidFill>
              <a:schemeClr val="tx1"/>
            </a:solidFill>
            <a:prstDash val="solid"/>
            <a:headEnd type="none" w="med" len="med"/>
            <a:tailEnd type="triangle" w="med" len="med"/>
          </a:ln>
        </p:spPr>
      </p:sp>
      <p:sp>
        <p:nvSpPr>
          <p:cNvPr id="39963" name="Text Box 35"/>
          <p:cNvSpPr txBox="1"/>
          <p:nvPr/>
        </p:nvSpPr>
        <p:spPr>
          <a:xfrm>
            <a:off x="2133600" y="990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64" name="Text Box 36"/>
          <p:cNvSpPr txBox="1"/>
          <p:nvPr/>
        </p:nvSpPr>
        <p:spPr>
          <a:xfrm>
            <a:off x="2133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9965" name="Text Box 37"/>
          <p:cNvSpPr txBox="1"/>
          <p:nvPr/>
        </p:nvSpPr>
        <p:spPr>
          <a:xfrm>
            <a:off x="3733800" y="38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66" name="Text Box 38"/>
          <p:cNvSpPr txBox="1"/>
          <p:nvPr/>
        </p:nvSpPr>
        <p:spPr>
          <a:xfrm>
            <a:off x="3733800" y="91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67" name="Text Box 39"/>
          <p:cNvSpPr txBox="1"/>
          <p:nvPr/>
        </p:nvSpPr>
        <p:spPr>
          <a:xfrm>
            <a:off x="3581400" y="1752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68" name="Text Box 40"/>
          <p:cNvSpPr txBox="1"/>
          <p:nvPr/>
        </p:nvSpPr>
        <p:spPr>
          <a:xfrm>
            <a:off x="57912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69" name="Text Box 41"/>
          <p:cNvSpPr txBox="1"/>
          <p:nvPr/>
        </p:nvSpPr>
        <p:spPr>
          <a:xfrm>
            <a:off x="3276600" y="1524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70" name="Text Box 42"/>
          <p:cNvSpPr txBox="1"/>
          <p:nvPr/>
        </p:nvSpPr>
        <p:spPr>
          <a:xfrm>
            <a:off x="3733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71" name="Text Box 43"/>
          <p:cNvSpPr txBox="1"/>
          <p:nvPr/>
        </p:nvSpPr>
        <p:spPr>
          <a:xfrm>
            <a:off x="3581400" y="121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72" name="Text Box 44"/>
          <p:cNvSpPr txBox="1"/>
          <p:nvPr/>
        </p:nvSpPr>
        <p:spPr>
          <a:xfrm>
            <a:off x="5943600" y="68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73" name="Text Box 45"/>
          <p:cNvSpPr txBox="1"/>
          <p:nvPr/>
        </p:nvSpPr>
        <p:spPr>
          <a:xfrm>
            <a:off x="56388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39974" name="Line 46"/>
          <p:cNvSpPr/>
          <p:nvPr/>
        </p:nvSpPr>
        <p:spPr>
          <a:xfrm>
            <a:off x="5105400" y="685800"/>
            <a:ext cx="2057400" cy="914400"/>
          </a:xfrm>
          <a:prstGeom prst="line">
            <a:avLst/>
          </a:prstGeom>
          <a:ln w="28575" cap="flat" cmpd="sng">
            <a:solidFill>
              <a:srgbClr val="FF0000"/>
            </a:solidFill>
            <a:prstDash val="solid"/>
            <a:headEnd type="none" w="med" len="med"/>
            <a:tailEnd type="triangle" w="med" len="med"/>
          </a:ln>
        </p:spPr>
      </p:sp>
      <p:sp>
        <p:nvSpPr>
          <p:cNvPr id="39975" name="Line 47"/>
          <p:cNvSpPr/>
          <p:nvPr/>
        </p:nvSpPr>
        <p:spPr>
          <a:xfrm>
            <a:off x="5105400" y="1752600"/>
            <a:ext cx="1981200" cy="0"/>
          </a:xfrm>
          <a:prstGeom prst="line">
            <a:avLst/>
          </a:prstGeom>
          <a:ln w="28575" cap="flat" cmpd="sng">
            <a:solidFill>
              <a:srgbClr val="FF0000"/>
            </a:solidFill>
            <a:prstDash val="solid"/>
            <a:headEnd type="none" w="med" len="med"/>
            <a:tailEnd type="triangle" w="med" len="med"/>
          </a:ln>
        </p:spPr>
      </p:sp>
      <p:sp>
        <p:nvSpPr>
          <p:cNvPr id="39976" name="Line 48"/>
          <p:cNvSpPr/>
          <p:nvPr/>
        </p:nvSpPr>
        <p:spPr>
          <a:xfrm flipV="1">
            <a:off x="5105400" y="1905000"/>
            <a:ext cx="2057400" cy="838200"/>
          </a:xfrm>
          <a:prstGeom prst="line">
            <a:avLst/>
          </a:prstGeom>
          <a:ln w="28575" cap="flat" cmpd="sng">
            <a:solidFill>
              <a:srgbClr val="FF0000"/>
            </a:solidFill>
            <a:prstDash val="solid"/>
            <a:headEnd type="none" w="med" len="med"/>
            <a:tailEnd type="triangle" w="med" len="med"/>
          </a:ln>
        </p:spPr>
      </p:sp>
      <p:sp>
        <p:nvSpPr>
          <p:cNvPr id="39977" name="Oval 49"/>
          <p:cNvSpPr/>
          <p:nvPr/>
        </p:nvSpPr>
        <p:spPr>
          <a:xfrm>
            <a:off x="70866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39978" name="Oval 50"/>
          <p:cNvSpPr/>
          <p:nvPr/>
        </p:nvSpPr>
        <p:spPr>
          <a:xfrm>
            <a:off x="4648200" y="457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79" name="Oval 51"/>
          <p:cNvSpPr/>
          <p:nvPr/>
        </p:nvSpPr>
        <p:spPr>
          <a:xfrm>
            <a:off x="46482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80" name="Oval 52"/>
          <p:cNvSpPr/>
          <p:nvPr/>
        </p:nvSpPr>
        <p:spPr>
          <a:xfrm>
            <a:off x="4648200" y="25146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39981" name="Oval 53"/>
          <p:cNvSpPr/>
          <p:nvPr/>
        </p:nvSpPr>
        <p:spPr>
          <a:xfrm>
            <a:off x="2895600" y="838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39982" name="Oval 54"/>
          <p:cNvSpPr/>
          <p:nvPr/>
        </p:nvSpPr>
        <p:spPr>
          <a:xfrm>
            <a:off x="2895600" y="1981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39983" name="Line 55"/>
          <p:cNvSpPr/>
          <p:nvPr/>
        </p:nvSpPr>
        <p:spPr>
          <a:xfrm flipV="1">
            <a:off x="3352800" y="685800"/>
            <a:ext cx="1295400" cy="304800"/>
          </a:xfrm>
          <a:prstGeom prst="line">
            <a:avLst/>
          </a:prstGeom>
          <a:ln w="28575" cap="flat" cmpd="sng">
            <a:solidFill>
              <a:srgbClr val="00CC00"/>
            </a:solidFill>
            <a:prstDash val="solid"/>
            <a:headEnd type="none" w="med" len="med"/>
            <a:tailEnd type="triangle" w="med" len="med"/>
          </a:ln>
        </p:spPr>
      </p:sp>
      <p:sp>
        <p:nvSpPr>
          <p:cNvPr id="39984" name="Line 56"/>
          <p:cNvSpPr/>
          <p:nvPr/>
        </p:nvSpPr>
        <p:spPr>
          <a:xfrm>
            <a:off x="3352800" y="1066800"/>
            <a:ext cx="1295400" cy="609600"/>
          </a:xfrm>
          <a:prstGeom prst="line">
            <a:avLst/>
          </a:prstGeom>
          <a:ln w="28575" cap="flat" cmpd="sng">
            <a:solidFill>
              <a:srgbClr val="00CC00"/>
            </a:solidFill>
            <a:prstDash val="solid"/>
            <a:headEnd type="none" w="med" len="med"/>
            <a:tailEnd type="triangle" w="med" len="med"/>
          </a:ln>
        </p:spPr>
      </p:sp>
      <p:sp>
        <p:nvSpPr>
          <p:cNvPr id="39985" name="Line 57"/>
          <p:cNvSpPr/>
          <p:nvPr/>
        </p:nvSpPr>
        <p:spPr>
          <a:xfrm>
            <a:off x="3352800" y="1219200"/>
            <a:ext cx="1295400" cy="1447800"/>
          </a:xfrm>
          <a:prstGeom prst="line">
            <a:avLst/>
          </a:prstGeom>
          <a:ln w="28575" cap="flat" cmpd="sng">
            <a:solidFill>
              <a:srgbClr val="00CC00"/>
            </a:solidFill>
            <a:prstDash val="solid"/>
            <a:headEnd type="none" w="med" len="med"/>
            <a:tailEnd type="triangle" w="med" len="med"/>
          </a:ln>
        </p:spPr>
      </p:sp>
      <p:sp>
        <p:nvSpPr>
          <p:cNvPr id="39986" name="Line 58"/>
          <p:cNvSpPr/>
          <p:nvPr/>
        </p:nvSpPr>
        <p:spPr>
          <a:xfrm flipV="1">
            <a:off x="3352800" y="685800"/>
            <a:ext cx="1295400" cy="304800"/>
          </a:xfrm>
          <a:prstGeom prst="line">
            <a:avLst/>
          </a:prstGeom>
          <a:ln w="28575" cap="flat" cmpd="sng">
            <a:solidFill>
              <a:srgbClr val="FF0000"/>
            </a:solidFill>
            <a:prstDash val="solid"/>
            <a:headEnd type="none" w="med" len="med"/>
            <a:tailEnd type="triangle" w="med" len="med"/>
          </a:ln>
        </p:spPr>
      </p:sp>
      <p:sp>
        <p:nvSpPr>
          <p:cNvPr id="12347" name="Rectangle 59"/>
          <p:cNvSpPr/>
          <p:nvPr/>
        </p:nvSpPr>
        <p:spPr>
          <a:xfrm>
            <a:off x="4724400" y="5638800"/>
            <a:ext cx="3971925" cy="519113"/>
          </a:xfrm>
          <a:prstGeom prst="rect">
            <a:avLst/>
          </a:prstGeom>
          <a:noFill/>
          <a:ln w="9525">
            <a:noFill/>
          </a:ln>
        </p:spPr>
        <p:txBody>
          <a:bodyPr wrap="none">
            <a:spAutoFit/>
          </a:bodyPr>
          <a:p>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最短路线为</a:t>
            </a:r>
            <a:r>
              <a:rPr lang="en-US" altLang="zh-CN" i="1" dirty="0">
                <a:solidFill>
                  <a:srgbClr val="FF0000"/>
                </a:solidFill>
                <a:latin typeface="Times New Roman" panose="02020603050405020304" pitchFamily="18" charset="0"/>
              </a:rPr>
              <a:t>B</a:t>
            </a:r>
            <a:r>
              <a:rPr lang="en-US" altLang="zh-CN" i="1" baseline="-25000" dirty="0">
                <a:solidFill>
                  <a:srgbClr val="FF0000"/>
                </a:solidFill>
                <a:latin typeface="Times New Roman" panose="02020603050405020304" pitchFamily="18" charset="0"/>
              </a:rPr>
              <a:t>2</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D</a:t>
            </a:r>
            <a:r>
              <a:rPr lang="en-US" altLang="zh-CN" dirty="0">
                <a:solidFill>
                  <a:srgbClr val="FF0000"/>
                </a:solidFill>
                <a:latin typeface="Times New Roman" panose="02020603050405020304" pitchFamily="18" charset="0"/>
              </a:rPr>
              <a:t>)</a:t>
            </a:r>
            <a:endParaRPr lang="en-US" altLang="zh-CN" dirty="0">
              <a:solidFill>
                <a:srgbClr val="FF0000"/>
              </a:solidFill>
              <a:latin typeface="Times New Roman" panose="02020603050405020304" pitchFamily="18" charset="0"/>
            </a:endParaRPr>
          </a:p>
        </p:txBody>
      </p:sp>
      <p:sp>
        <p:nvSpPr>
          <p:cNvPr id="12348" name="Line 60"/>
          <p:cNvSpPr/>
          <p:nvPr/>
        </p:nvSpPr>
        <p:spPr>
          <a:xfrm flipV="1">
            <a:off x="3352800" y="838200"/>
            <a:ext cx="1371600" cy="1295400"/>
          </a:xfrm>
          <a:prstGeom prst="line">
            <a:avLst/>
          </a:prstGeom>
          <a:ln w="28575" cap="flat" cmpd="sng">
            <a:solidFill>
              <a:srgbClr val="00CC00"/>
            </a:solidFill>
            <a:prstDash val="solid"/>
            <a:headEnd type="none" w="med" len="med"/>
            <a:tailEnd type="triangle" w="med" len="med"/>
          </a:ln>
        </p:spPr>
      </p:sp>
      <p:sp>
        <p:nvSpPr>
          <p:cNvPr id="12349" name="Line 61"/>
          <p:cNvSpPr/>
          <p:nvPr/>
        </p:nvSpPr>
        <p:spPr>
          <a:xfrm flipV="1">
            <a:off x="3352800" y="1828800"/>
            <a:ext cx="1295400" cy="381000"/>
          </a:xfrm>
          <a:prstGeom prst="line">
            <a:avLst/>
          </a:prstGeom>
          <a:ln w="28575" cap="flat" cmpd="sng">
            <a:solidFill>
              <a:srgbClr val="00CC00"/>
            </a:solidFill>
            <a:prstDash val="solid"/>
            <a:headEnd type="none" w="med" len="med"/>
            <a:tailEnd type="triangle" w="med" len="med"/>
          </a:ln>
        </p:spPr>
      </p:sp>
      <p:sp>
        <p:nvSpPr>
          <p:cNvPr id="12350" name="Line 62"/>
          <p:cNvSpPr/>
          <p:nvPr/>
        </p:nvSpPr>
        <p:spPr>
          <a:xfrm>
            <a:off x="3352800" y="2362200"/>
            <a:ext cx="1295400" cy="381000"/>
          </a:xfrm>
          <a:prstGeom prst="line">
            <a:avLst/>
          </a:prstGeom>
          <a:ln w="28575" cap="flat" cmpd="sng">
            <a:solidFill>
              <a:srgbClr val="00CC00"/>
            </a:solidFill>
            <a:prstDash val="solid"/>
            <a:headEnd type="none" w="med" len="med"/>
            <a:tailEnd type="triangle" w="med" len="med"/>
          </a:ln>
        </p:spPr>
      </p:sp>
      <p:sp>
        <p:nvSpPr>
          <p:cNvPr id="12351" name="Line 63"/>
          <p:cNvSpPr/>
          <p:nvPr/>
        </p:nvSpPr>
        <p:spPr>
          <a:xfrm flipV="1">
            <a:off x="3352800" y="838200"/>
            <a:ext cx="1371600" cy="1295400"/>
          </a:xfrm>
          <a:prstGeom prst="line">
            <a:avLst/>
          </a:prstGeom>
          <a:ln w="28575" cap="flat" cmpd="sng">
            <a:solidFill>
              <a:srgbClr val="FF0000"/>
            </a:solidFill>
            <a:prstDash val="solid"/>
            <a:headEnd type="none" w="med" len="med"/>
            <a:tailEnd type="triangle" w="med" len="med"/>
          </a:ln>
        </p:spPr>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2348"/>
                                        </p:tgtEl>
                                        <p:attrNameLst>
                                          <p:attrName>style.visibility</p:attrName>
                                        </p:attrNameLst>
                                      </p:cBhvr>
                                      <p:to>
                                        <p:strVal val="visible"/>
                                      </p:to>
                                    </p:set>
                                    <p:animEffect transition="in" filter="barn(outVertical)">
                                      <p:cBhvr>
                                        <p:cTn id="7" dur="500"/>
                                        <p:tgtEl>
                                          <p:spTgt spid="123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2349"/>
                                        </p:tgtEl>
                                        <p:attrNameLst>
                                          <p:attrName>style.visibility</p:attrName>
                                        </p:attrNameLst>
                                      </p:cBhvr>
                                      <p:to>
                                        <p:strVal val="visible"/>
                                      </p:to>
                                    </p:set>
                                    <p:animEffect transition="in" filter="barn(outVertical)">
                                      <p:cBhvr>
                                        <p:cTn id="12" dur="500"/>
                                        <p:tgtEl>
                                          <p:spTgt spid="1234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2350"/>
                                        </p:tgtEl>
                                        <p:attrNameLst>
                                          <p:attrName>style.visibility</p:attrName>
                                        </p:attrNameLst>
                                      </p:cBhvr>
                                      <p:to>
                                        <p:strVal val="visible"/>
                                      </p:to>
                                    </p:set>
                                    <p:animEffect transition="in" filter="barn(outVertical)">
                                      <p:cBhvr>
                                        <p:cTn id="17" dur="500"/>
                                        <p:tgtEl>
                                          <p:spTgt spid="1235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2290"/>
                                        </p:tgtEl>
                                        <p:attrNameLst>
                                          <p:attrName>style.visibility</p:attrName>
                                        </p:attrNameLst>
                                      </p:cBhvr>
                                      <p:to>
                                        <p:strVal val="visible"/>
                                      </p:to>
                                    </p:set>
                                    <p:animEffect transition="in" filter="blinds(vertical)">
                                      <p:cBhvr>
                                        <p:cTn id="22" dur="500"/>
                                        <p:tgtEl>
                                          <p:spTgt spid="12290"/>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12291"/>
                                        </p:tgtEl>
                                        <p:attrNameLst>
                                          <p:attrName>style.visibility</p:attrName>
                                        </p:attrNameLst>
                                      </p:cBhvr>
                                      <p:to>
                                        <p:strVal val="visible"/>
                                      </p:to>
                                    </p:set>
                                    <p:animEffect transition="in" filter="dissolve">
                                      <p:cBhvr>
                                        <p:cTn id="26" dur="500"/>
                                        <p:tgtEl>
                                          <p:spTgt spid="12291"/>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2292"/>
                                        </p:tgtEl>
                                        <p:attrNameLst>
                                          <p:attrName>style.visibility</p:attrName>
                                        </p:attrNameLst>
                                      </p:cBhvr>
                                      <p:to>
                                        <p:strVal val="visible"/>
                                      </p:to>
                                    </p:set>
                                    <p:animEffect transition="in" filter="dissolve">
                                      <p:cBhvr>
                                        <p:cTn id="30" dur="500"/>
                                        <p:tgtEl>
                                          <p:spTgt spid="12292"/>
                                        </p:tgtEl>
                                      </p:cBhvr>
                                    </p:animEffect>
                                  </p:childTnLst>
                                </p:cTn>
                              </p:par>
                            </p:childTnLst>
                          </p:cTn>
                        </p:par>
                        <p:par>
                          <p:cTn id="31" fill="hold">
                            <p:stCondLst>
                              <p:cond delay="1500"/>
                            </p:stCondLst>
                            <p:childTnLst>
                              <p:par>
                                <p:cTn id="32" presetID="9" presetClass="entr" presetSubtype="0" fill="hold" grpId="0" nodeType="afterEffect">
                                  <p:stCondLst>
                                    <p:cond delay="0"/>
                                  </p:stCondLst>
                                  <p:childTnLst>
                                    <p:set>
                                      <p:cBhvr>
                                        <p:cTn id="33" dur="1" fill="hold">
                                          <p:stCondLst>
                                            <p:cond delay="0"/>
                                          </p:stCondLst>
                                        </p:cTn>
                                        <p:tgtEl>
                                          <p:spTgt spid="12293"/>
                                        </p:tgtEl>
                                        <p:attrNameLst>
                                          <p:attrName>style.visibility</p:attrName>
                                        </p:attrNameLst>
                                      </p:cBhvr>
                                      <p:to>
                                        <p:strVal val="visible"/>
                                      </p:to>
                                    </p:set>
                                    <p:animEffect transition="in" filter="dissolve">
                                      <p:cBhvr>
                                        <p:cTn id="34" dur="500"/>
                                        <p:tgtEl>
                                          <p:spTgt spid="12293"/>
                                        </p:tgtEl>
                                      </p:cBhvr>
                                    </p:animEffect>
                                  </p:childTnLst>
                                </p:cTn>
                              </p:par>
                            </p:childTnLst>
                          </p:cTn>
                        </p:par>
                        <p:par>
                          <p:cTn id="35" fill="hold">
                            <p:stCondLst>
                              <p:cond delay="2000"/>
                            </p:stCondLst>
                            <p:childTnLst>
                              <p:par>
                                <p:cTn id="36" presetID="9" presetClass="entr" presetSubtype="0" fill="hold" grpId="0" nodeType="afterEffect">
                                  <p:stCondLst>
                                    <p:cond delay="0"/>
                                  </p:stCondLst>
                                  <p:childTnLst>
                                    <p:set>
                                      <p:cBhvr>
                                        <p:cTn id="37" dur="1" fill="hold">
                                          <p:stCondLst>
                                            <p:cond delay="0"/>
                                          </p:stCondLst>
                                        </p:cTn>
                                        <p:tgtEl>
                                          <p:spTgt spid="12294"/>
                                        </p:tgtEl>
                                        <p:attrNameLst>
                                          <p:attrName>style.visibility</p:attrName>
                                        </p:attrNameLst>
                                      </p:cBhvr>
                                      <p:to>
                                        <p:strVal val="visible"/>
                                      </p:to>
                                    </p:set>
                                    <p:animEffect transition="in" filter="dissolve">
                                      <p:cBhvr>
                                        <p:cTn id="38" dur="500"/>
                                        <p:tgtEl>
                                          <p:spTgt spid="12294"/>
                                        </p:tgtEl>
                                      </p:cBhvr>
                                    </p:animEffect>
                                  </p:childTnLst>
                                </p:cTn>
                              </p:par>
                            </p:childTnLst>
                          </p:cTn>
                        </p:par>
                        <p:par>
                          <p:cTn id="39" fill="hold">
                            <p:stCondLst>
                              <p:cond delay="2500"/>
                            </p:stCondLst>
                            <p:childTnLst>
                              <p:par>
                                <p:cTn id="40" presetID="9" presetClass="entr" presetSubtype="0" fill="hold" grpId="0" nodeType="afterEffect">
                                  <p:stCondLst>
                                    <p:cond delay="0"/>
                                  </p:stCondLst>
                                  <p:childTnLst>
                                    <p:set>
                                      <p:cBhvr>
                                        <p:cTn id="41" dur="1" fill="hold">
                                          <p:stCondLst>
                                            <p:cond delay="0"/>
                                          </p:stCondLst>
                                        </p:cTn>
                                        <p:tgtEl>
                                          <p:spTgt spid="12295"/>
                                        </p:tgtEl>
                                        <p:attrNameLst>
                                          <p:attrName>style.visibility</p:attrName>
                                        </p:attrNameLst>
                                      </p:cBhvr>
                                      <p:to>
                                        <p:strVal val="visible"/>
                                      </p:to>
                                    </p:set>
                                    <p:animEffect transition="in" filter="dissolve">
                                      <p:cBhvr>
                                        <p:cTn id="42" dur="500"/>
                                        <p:tgtEl>
                                          <p:spTgt spid="12295"/>
                                        </p:tgtEl>
                                      </p:cBhvr>
                                    </p:animEffect>
                                  </p:childTnLst>
                                </p:cTn>
                              </p:par>
                            </p:childTnLst>
                          </p:cTn>
                        </p:par>
                        <p:par>
                          <p:cTn id="43" fill="hold">
                            <p:stCondLst>
                              <p:cond delay="3000"/>
                            </p:stCondLst>
                            <p:childTnLst>
                              <p:par>
                                <p:cTn id="44" presetID="9" presetClass="entr" presetSubtype="0" fill="hold" grpId="0" nodeType="afterEffect">
                                  <p:stCondLst>
                                    <p:cond delay="0"/>
                                  </p:stCondLst>
                                  <p:childTnLst>
                                    <p:set>
                                      <p:cBhvr>
                                        <p:cTn id="45" dur="1" fill="hold">
                                          <p:stCondLst>
                                            <p:cond delay="0"/>
                                          </p:stCondLst>
                                        </p:cTn>
                                        <p:tgtEl>
                                          <p:spTgt spid="12296"/>
                                        </p:tgtEl>
                                        <p:attrNameLst>
                                          <p:attrName>style.visibility</p:attrName>
                                        </p:attrNameLst>
                                      </p:cBhvr>
                                      <p:to>
                                        <p:strVal val="visible"/>
                                      </p:to>
                                    </p:set>
                                    <p:animEffect transition="in" filter="dissolve">
                                      <p:cBhvr>
                                        <p:cTn id="46" dur="500"/>
                                        <p:tgtEl>
                                          <p:spTgt spid="12296"/>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12351"/>
                                        </p:tgtEl>
                                        <p:attrNameLst>
                                          <p:attrName>style.visibility</p:attrName>
                                        </p:attrNameLst>
                                      </p:cBhvr>
                                      <p:to>
                                        <p:strVal val="visible"/>
                                      </p:to>
                                    </p:set>
                                    <p:animEffect transition="in" filter="barn(outVertical)">
                                      <p:cBhvr>
                                        <p:cTn id="51" dur="500"/>
                                        <p:tgtEl>
                                          <p:spTgt spid="12351"/>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37" fill="hold" grpId="0" nodeType="clickEffect">
                                  <p:stCondLst>
                                    <p:cond delay="0"/>
                                  </p:stCondLst>
                                  <p:childTnLst>
                                    <p:set>
                                      <p:cBhvr>
                                        <p:cTn id="55" dur="1" fill="hold">
                                          <p:stCondLst>
                                            <p:cond delay="0"/>
                                          </p:stCondLst>
                                        </p:cTn>
                                        <p:tgtEl>
                                          <p:spTgt spid="12347"/>
                                        </p:tgtEl>
                                        <p:attrNameLst>
                                          <p:attrName>style.visibility</p:attrName>
                                        </p:attrNameLst>
                                      </p:cBhvr>
                                      <p:to>
                                        <p:strVal val="visible"/>
                                      </p:to>
                                    </p:set>
                                    <p:animEffect transition="in" filter="barn(outVertical)">
                                      <p:cBhvr>
                                        <p:cTn id="56" dur="500"/>
                                        <p:tgtEl>
                                          <p:spTgt spid="12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animBg="1"/>
      <p:bldP spid="12292" grpId="0" animBg="1"/>
      <p:bldP spid="12293" grpId="0" animBg="1"/>
      <p:bldP spid="12294" grpId="0" animBg="1"/>
      <p:bldP spid="12295" grpId="0" animBg="1"/>
      <p:bldP spid="12296" grpId="0" animBg="1"/>
      <p:bldP spid="12347"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3010" name="Rectangle 1026"/>
          <p:cNvSpPr/>
          <p:nvPr/>
        </p:nvSpPr>
        <p:spPr>
          <a:xfrm>
            <a:off x="304800" y="3048000"/>
            <a:ext cx="8610600"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第三阶段（</a:t>
            </a:r>
            <a:r>
              <a:rPr lang="zh-CN" altLang="en-US" i="1"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A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A </a:t>
            </a:r>
            <a:r>
              <a:rPr lang="zh-CN" altLang="en-US" dirty="0">
                <a:solidFill>
                  <a:srgbClr val="000066"/>
                </a:solidFill>
                <a:latin typeface="Times New Roman" panose="02020603050405020304" pitchFamily="18" charset="0"/>
              </a:rPr>
              <a:t>到</a:t>
            </a:r>
            <a:r>
              <a:rPr lang="en-US" altLang="zh-CN" i="1" dirty="0">
                <a:solidFill>
                  <a:srgbClr val="000066"/>
                </a:solidFill>
                <a:latin typeface="Times New Roman" panose="02020603050405020304" pitchFamily="18" charset="0"/>
              </a:rPr>
              <a:t>B </a:t>
            </a:r>
            <a:r>
              <a:rPr lang="zh-CN" altLang="en-US" dirty="0">
                <a:solidFill>
                  <a:srgbClr val="000066"/>
                </a:solidFill>
                <a:latin typeface="Times New Roman" panose="02020603050405020304" pitchFamily="18" charset="0"/>
              </a:rPr>
              <a:t>有二条路线。</a:t>
            </a:r>
            <a:endParaRPr lang="zh-CN" altLang="en-US" dirty="0">
              <a:solidFill>
                <a:srgbClr val="000066"/>
              </a:solidFill>
              <a:latin typeface="Times New Roman" panose="02020603050405020304" pitchFamily="18" charset="0"/>
            </a:endParaRPr>
          </a:p>
        </p:txBody>
      </p:sp>
      <p:sp>
        <p:nvSpPr>
          <p:cNvPr id="43011" name="Text Box 1027"/>
          <p:cNvSpPr txBox="1"/>
          <p:nvPr/>
        </p:nvSpPr>
        <p:spPr>
          <a:xfrm>
            <a:off x="228600" y="3733800"/>
            <a:ext cx="8686800" cy="1160463"/>
          </a:xfrm>
          <a:prstGeom prst="rect">
            <a:avLst/>
          </a:prstGeom>
          <a:noFill/>
          <a:ln w="9525">
            <a:noFill/>
          </a:ln>
        </p:spPr>
        <p:txBody>
          <a:bodyPr>
            <a:spAutoFit/>
          </a:bodyPr>
          <a:p>
            <a:pPr>
              <a:spcBef>
                <a:spcPct val="50000"/>
              </a:spcBef>
            </a:pPr>
            <a:r>
              <a:rPr lang="en-US" altLang="zh-CN" b="0"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3</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 = d(</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4</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6</a:t>
            </a:r>
            <a:endParaRPr lang="en-US" altLang="zh-CN" dirty="0">
              <a:solidFill>
                <a:srgbClr val="000066"/>
              </a:solidFill>
              <a:latin typeface="Times New Roman" panose="02020603050405020304" pitchFamily="18" charset="0"/>
            </a:endParaRPr>
          </a:p>
          <a:p>
            <a:pPr>
              <a:spcBef>
                <a:spcPct val="50000"/>
              </a:spcBef>
            </a:pP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3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d(</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4</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3</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7</a:t>
            </a:r>
            <a:endParaRPr lang="en-US" altLang="zh-CN" dirty="0">
              <a:solidFill>
                <a:srgbClr val="000066"/>
              </a:solidFill>
              <a:latin typeface="Times New Roman" panose="02020603050405020304" pitchFamily="18" charset="0"/>
            </a:endParaRPr>
          </a:p>
        </p:txBody>
      </p:sp>
      <p:sp>
        <p:nvSpPr>
          <p:cNvPr id="43012" name="Text Box 1028"/>
          <p:cNvSpPr txBox="1"/>
          <p:nvPr/>
        </p:nvSpPr>
        <p:spPr>
          <a:xfrm>
            <a:off x="457200" y="5257800"/>
            <a:ext cx="8153400" cy="519113"/>
          </a:xfrm>
          <a:prstGeom prst="rect">
            <a:avLst/>
          </a:prstGeom>
          <a:noFill/>
          <a:ln w="9525">
            <a:noFill/>
          </a:ln>
        </p:spPr>
        <p:txBody>
          <a:bodyPr>
            <a:spAutoFit/>
          </a:bodyPr>
          <a:p>
            <a:pPr>
              <a:spcBef>
                <a:spcPct val="50000"/>
              </a:spcBef>
            </a:pP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3 </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a:t>
            </a:r>
            <a:r>
              <a:rPr lang="en-US" altLang="zh-CN" baseline="-25000"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 min                                      = min</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6,7</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=6</a:t>
            </a:r>
            <a:endParaRPr lang="en-US" altLang="zh-CN" dirty="0">
              <a:solidFill>
                <a:srgbClr val="000066"/>
              </a:solidFill>
              <a:latin typeface="Times New Roman" panose="02020603050405020304" pitchFamily="18" charset="0"/>
            </a:endParaRPr>
          </a:p>
        </p:txBody>
      </p:sp>
      <p:sp>
        <p:nvSpPr>
          <p:cNvPr id="43013" name="Rectangle 1029"/>
          <p:cNvSpPr/>
          <p:nvPr/>
        </p:nvSpPr>
        <p:spPr>
          <a:xfrm>
            <a:off x="2895600" y="5105400"/>
            <a:ext cx="2970213" cy="946150"/>
          </a:xfrm>
          <a:prstGeom prst="rect">
            <a:avLst/>
          </a:prstGeom>
          <a:noFill/>
          <a:ln w="9525">
            <a:noFill/>
          </a:ln>
        </p:spPr>
        <p:txBody>
          <a:bodyPr wrap="none">
            <a:spAutoFit/>
          </a:bodyPr>
          <a:p>
            <a:r>
              <a:rPr lang="en-US" altLang="zh-CN" dirty="0">
                <a:solidFill>
                  <a:srgbClr val="000066"/>
                </a:solidFill>
                <a:latin typeface="Times New Roman" panose="02020603050405020304" pitchFamily="18" charset="0"/>
              </a:rPr>
              <a:t>d(</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1 </a:t>
            </a:r>
            <a:r>
              <a:rPr lang="en-US" altLang="zh-CN" dirty="0">
                <a:solidFill>
                  <a:srgbClr val="000066"/>
                </a:solidFill>
                <a:latin typeface="Times New Roman" panose="02020603050405020304" pitchFamily="18" charset="0"/>
              </a:rPr>
              <a:t>)</a:t>
            </a:r>
            <a:endParaRPr lang="en-US" altLang="zh-CN" dirty="0">
              <a:solidFill>
                <a:srgbClr val="000066"/>
              </a:solidFill>
              <a:latin typeface="Times New Roman" panose="02020603050405020304" pitchFamily="18" charset="0"/>
            </a:endParaRPr>
          </a:p>
          <a:p>
            <a:r>
              <a:rPr lang="en-US" altLang="zh-CN" dirty="0">
                <a:solidFill>
                  <a:srgbClr val="000066"/>
                </a:solidFill>
                <a:latin typeface="Times New Roman" panose="02020603050405020304" pitchFamily="18" charset="0"/>
              </a:rPr>
              <a:t>d(</a:t>
            </a:r>
            <a:r>
              <a:rPr lang="en-US" altLang="zh-CN"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B</a:t>
            </a:r>
            <a:r>
              <a:rPr lang="en-US" altLang="zh-CN" i="1" baseline="-25000" dirty="0">
                <a:solidFill>
                  <a:srgbClr val="000066"/>
                </a:solidFill>
                <a:latin typeface="Times New Roman" panose="02020603050405020304" pitchFamily="18" charset="0"/>
              </a:rPr>
              <a:t>2 </a:t>
            </a:r>
            <a:r>
              <a:rPr lang="en-US" altLang="zh-CN" dirty="0">
                <a:solidFill>
                  <a:srgbClr val="000066"/>
                </a:solidFill>
                <a:latin typeface="Times New Roman" panose="02020603050405020304" pitchFamily="18" charset="0"/>
              </a:rPr>
              <a:t>)</a:t>
            </a:r>
            <a:endParaRPr lang="en-US" altLang="zh-CN" dirty="0">
              <a:solidFill>
                <a:srgbClr val="000066"/>
              </a:solidFill>
              <a:latin typeface="Times New Roman" panose="02020603050405020304" pitchFamily="18" charset="0"/>
            </a:endParaRPr>
          </a:p>
        </p:txBody>
      </p:sp>
      <p:sp>
        <p:nvSpPr>
          <p:cNvPr id="43014" name="AutoShape 1030"/>
          <p:cNvSpPr/>
          <p:nvPr/>
        </p:nvSpPr>
        <p:spPr>
          <a:xfrm>
            <a:off x="2743200" y="5105400"/>
            <a:ext cx="152400" cy="914400"/>
          </a:xfrm>
          <a:prstGeom prst="leftBrace">
            <a:avLst>
              <a:gd name="adj1" fmla="val 50000"/>
              <a:gd name="adj2" fmla="val 50000"/>
            </a:avLst>
          </a:prstGeom>
          <a:noFill/>
          <a:ln w="28575" cap="flat" cmpd="sng">
            <a:solidFill>
              <a:srgbClr val="000066"/>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3015" name="AutoShape 1031"/>
          <p:cNvSpPr/>
          <p:nvPr/>
        </p:nvSpPr>
        <p:spPr>
          <a:xfrm>
            <a:off x="5791200" y="5105400"/>
            <a:ext cx="152400" cy="914400"/>
          </a:xfrm>
          <a:prstGeom prst="rightBrace">
            <a:avLst>
              <a:gd name="adj1" fmla="val 50000"/>
              <a:gd name="adj2" fmla="val 50000"/>
            </a:avLst>
          </a:prstGeom>
          <a:noFill/>
          <a:ln w="28575" cap="flat" cmpd="sng">
            <a:solidFill>
              <a:srgbClr val="000066"/>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3016" name="Rectangle 1032"/>
          <p:cNvSpPr/>
          <p:nvPr/>
        </p:nvSpPr>
        <p:spPr>
          <a:xfrm>
            <a:off x="4343400" y="6096000"/>
            <a:ext cx="4572000" cy="519113"/>
          </a:xfrm>
          <a:prstGeom prst="rect">
            <a:avLst/>
          </a:prstGeom>
          <a:noFill/>
          <a:ln w="9525">
            <a:noFill/>
          </a:ln>
        </p:spPr>
        <p:txBody>
          <a:bodyPr>
            <a:spAutoFit/>
          </a:bodyPr>
          <a:p>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最短路线为</a:t>
            </a:r>
            <a:r>
              <a:rPr lang="en-US" altLang="zh-CN" i="1" dirty="0">
                <a:solidFill>
                  <a:srgbClr val="FF0000"/>
                </a:solidFill>
                <a:latin typeface="Times New Roman" panose="02020603050405020304" pitchFamily="18" charset="0"/>
              </a:rPr>
              <a:t>A→B</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D</a:t>
            </a:r>
            <a:r>
              <a:rPr lang="en-US" altLang="zh-CN" dirty="0">
                <a:solidFill>
                  <a:srgbClr val="FF0000"/>
                </a:solidFill>
                <a:latin typeface="Times New Roman" panose="02020603050405020304" pitchFamily="18" charset="0"/>
              </a:rPr>
              <a:t>)</a:t>
            </a:r>
            <a:endParaRPr lang="en-US" altLang="zh-CN" dirty="0">
              <a:solidFill>
                <a:srgbClr val="FF0000"/>
              </a:solidFill>
              <a:latin typeface="Times New Roman" panose="02020603050405020304" pitchFamily="18" charset="0"/>
            </a:endParaRPr>
          </a:p>
        </p:txBody>
      </p:sp>
      <p:sp>
        <p:nvSpPr>
          <p:cNvPr id="40969" name="Oval 1033"/>
          <p:cNvSpPr/>
          <p:nvPr/>
        </p:nvSpPr>
        <p:spPr>
          <a:xfrm>
            <a:off x="14478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0970" name="Oval 1034"/>
          <p:cNvSpPr/>
          <p:nvPr/>
        </p:nvSpPr>
        <p:spPr>
          <a:xfrm>
            <a:off x="2895600" y="838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0971" name="Oval 1035"/>
          <p:cNvSpPr/>
          <p:nvPr/>
        </p:nvSpPr>
        <p:spPr>
          <a:xfrm>
            <a:off x="2895600" y="1981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0972" name="Oval 1036"/>
          <p:cNvSpPr/>
          <p:nvPr/>
        </p:nvSpPr>
        <p:spPr>
          <a:xfrm>
            <a:off x="4648200" y="4572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0973" name="Oval 1037"/>
          <p:cNvSpPr/>
          <p:nvPr/>
        </p:nvSpPr>
        <p:spPr>
          <a:xfrm>
            <a:off x="46482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0974" name="Oval 1038"/>
          <p:cNvSpPr/>
          <p:nvPr/>
        </p:nvSpPr>
        <p:spPr>
          <a:xfrm>
            <a:off x="4648200" y="25146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0975" name="Oval 1039"/>
          <p:cNvSpPr/>
          <p:nvPr/>
        </p:nvSpPr>
        <p:spPr>
          <a:xfrm>
            <a:off x="70866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40976" name="Line 1040"/>
          <p:cNvSpPr/>
          <p:nvPr/>
        </p:nvSpPr>
        <p:spPr>
          <a:xfrm flipV="1">
            <a:off x="1905000" y="1143000"/>
            <a:ext cx="990600" cy="457200"/>
          </a:xfrm>
          <a:prstGeom prst="line">
            <a:avLst/>
          </a:prstGeom>
          <a:ln w="28575" cap="flat" cmpd="sng">
            <a:solidFill>
              <a:schemeClr val="tx1"/>
            </a:solidFill>
            <a:prstDash val="solid"/>
            <a:headEnd type="none" w="med" len="med"/>
            <a:tailEnd type="triangle" w="med" len="med"/>
          </a:ln>
        </p:spPr>
      </p:sp>
      <p:sp>
        <p:nvSpPr>
          <p:cNvPr id="40977" name="Line 1041"/>
          <p:cNvSpPr/>
          <p:nvPr/>
        </p:nvSpPr>
        <p:spPr>
          <a:xfrm>
            <a:off x="1905000" y="1981200"/>
            <a:ext cx="990600" cy="228600"/>
          </a:xfrm>
          <a:prstGeom prst="line">
            <a:avLst/>
          </a:prstGeom>
          <a:ln w="28575" cap="flat" cmpd="sng">
            <a:solidFill>
              <a:schemeClr val="tx1"/>
            </a:solidFill>
            <a:prstDash val="solid"/>
            <a:headEnd type="none" w="med" len="med"/>
            <a:tailEnd type="triangle" w="med" len="med"/>
          </a:ln>
        </p:spPr>
      </p:sp>
      <p:sp>
        <p:nvSpPr>
          <p:cNvPr id="40978" name="Line 1042"/>
          <p:cNvSpPr/>
          <p:nvPr/>
        </p:nvSpPr>
        <p:spPr>
          <a:xfrm flipV="1">
            <a:off x="3352800" y="685800"/>
            <a:ext cx="1295400" cy="304800"/>
          </a:xfrm>
          <a:prstGeom prst="line">
            <a:avLst/>
          </a:prstGeom>
          <a:ln w="28575" cap="flat" cmpd="sng">
            <a:solidFill>
              <a:schemeClr val="tx1"/>
            </a:solidFill>
            <a:prstDash val="solid"/>
            <a:headEnd type="none" w="med" len="med"/>
            <a:tailEnd type="triangle" w="med" len="med"/>
          </a:ln>
        </p:spPr>
      </p:sp>
      <p:sp>
        <p:nvSpPr>
          <p:cNvPr id="40979" name="Line 1043"/>
          <p:cNvSpPr/>
          <p:nvPr/>
        </p:nvSpPr>
        <p:spPr>
          <a:xfrm>
            <a:off x="3352800" y="1066800"/>
            <a:ext cx="1295400" cy="609600"/>
          </a:xfrm>
          <a:prstGeom prst="line">
            <a:avLst/>
          </a:prstGeom>
          <a:ln w="28575" cap="flat" cmpd="sng">
            <a:solidFill>
              <a:schemeClr val="tx1"/>
            </a:solidFill>
            <a:prstDash val="solid"/>
            <a:headEnd type="none" w="med" len="med"/>
            <a:tailEnd type="triangle" w="med" len="med"/>
          </a:ln>
        </p:spPr>
      </p:sp>
      <p:sp>
        <p:nvSpPr>
          <p:cNvPr id="40980" name="Line 1044"/>
          <p:cNvSpPr/>
          <p:nvPr/>
        </p:nvSpPr>
        <p:spPr>
          <a:xfrm>
            <a:off x="3352800" y="1219200"/>
            <a:ext cx="1295400" cy="1447800"/>
          </a:xfrm>
          <a:prstGeom prst="line">
            <a:avLst/>
          </a:prstGeom>
          <a:ln w="28575" cap="flat" cmpd="sng">
            <a:solidFill>
              <a:schemeClr val="tx1"/>
            </a:solidFill>
            <a:prstDash val="solid"/>
            <a:headEnd type="none" w="med" len="med"/>
            <a:tailEnd type="triangle" w="med" len="med"/>
          </a:ln>
        </p:spPr>
      </p:sp>
      <p:sp>
        <p:nvSpPr>
          <p:cNvPr id="40981" name="Line 1045"/>
          <p:cNvSpPr/>
          <p:nvPr/>
        </p:nvSpPr>
        <p:spPr>
          <a:xfrm flipV="1">
            <a:off x="3352800" y="838200"/>
            <a:ext cx="1371600" cy="1295400"/>
          </a:xfrm>
          <a:prstGeom prst="line">
            <a:avLst/>
          </a:prstGeom>
          <a:ln w="28575" cap="flat" cmpd="sng">
            <a:solidFill>
              <a:schemeClr val="tx1"/>
            </a:solidFill>
            <a:prstDash val="solid"/>
            <a:headEnd type="none" w="med" len="med"/>
            <a:tailEnd type="triangle" w="med" len="med"/>
          </a:ln>
        </p:spPr>
      </p:sp>
      <p:sp>
        <p:nvSpPr>
          <p:cNvPr id="40982" name="Line 1046"/>
          <p:cNvSpPr/>
          <p:nvPr/>
        </p:nvSpPr>
        <p:spPr>
          <a:xfrm flipV="1">
            <a:off x="3352800" y="1828800"/>
            <a:ext cx="1295400" cy="381000"/>
          </a:xfrm>
          <a:prstGeom prst="line">
            <a:avLst/>
          </a:prstGeom>
          <a:ln w="28575" cap="flat" cmpd="sng">
            <a:solidFill>
              <a:schemeClr val="tx1"/>
            </a:solidFill>
            <a:prstDash val="solid"/>
            <a:headEnd type="none" w="med" len="med"/>
            <a:tailEnd type="triangle" w="med" len="med"/>
          </a:ln>
        </p:spPr>
      </p:sp>
      <p:sp>
        <p:nvSpPr>
          <p:cNvPr id="40983" name="Line 1047"/>
          <p:cNvSpPr/>
          <p:nvPr/>
        </p:nvSpPr>
        <p:spPr>
          <a:xfrm>
            <a:off x="3352800" y="2362200"/>
            <a:ext cx="1295400" cy="381000"/>
          </a:xfrm>
          <a:prstGeom prst="line">
            <a:avLst/>
          </a:prstGeom>
          <a:ln w="28575" cap="flat" cmpd="sng">
            <a:solidFill>
              <a:schemeClr val="tx1"/>
            </a:solidFill>
            <a:prstDash val="solid"/>
            <a:headEnd type="none" w="med" len="med"/>
            <a:tailEnd type="triangle" w="med" len="med"/>
          </a:ln>
        </p:spPr>
      </p:sp>
      <p:sp>
        <p:nvSpPr>
          <p:cNvPr id="40984" name="Line 1048"/>
          <p:cNvSpPr/>
          <p:nvPr/>
        </p:nvSpPr>
        <p:spPr>
          <a:xfrm>
            <a:off x="5105400" y="685800"/>
            <a:ext cx="2057400" cy="914400"/>
          </a:xfrm>
          <a:prstGeom prst="line">
            <a:avLst/>
          </a:prstGeom>
          <a:ln w="28575" cap="flat" cmpd="sng">
            <a:solidFill>
              <a:schemeClr val="tx1"/>
            </a:solidFill>
            <a:prstDash val="solid"/>
            <a:headEnd type="none" w="med" len="med"/>
            <a:tailEnd type="triangle" w="med" len="med"/>
          </a:ln>
        </p:spPr>
      </p:sp>
      <p:sp>
        <p:nvSpPr>
          <p:cNvPr id="40985" name="Line 1049"/>
          <p:cNvSpPr/>
          <p:nvPr/>
        </p:nvSpPr>
        <p:spPr>
          <a:xfrm>
            <a:off x="5105400" y="1752600"/>
            <a:ext cx="1981200" cy="0"/>
          </a:xfrm>
          <a:prstGeom prst="line">
            <a:avLst/>
          </a:prstGeom>
          <a:ln w="28575" cap="flat" cmpd="sng">
            <a:solidFill>
              <a:schemeClr val="tx1"/>
            </a:solidFill>
            <a:prstDash val="solid"/>
            <a:headEnd type="none" w="med" len="med"/>
            <a:tailEnd type="triangle" w="med" len="med"/>
          </a:ln>
        </p:spPr>
      </p:sp>
      <p:sp>
        <p:nvSpPr>
          <p:cNvPr id="40986" name="Line 1050"/>
          <p:cNvSpPr/>
          <p:nvPr/>
        </p:nvSpPr>
        <p:spPr>
          <a:xfrm flipV="1">
            <a:off x="5105400" y="1905000"/>
            <a:ext cx="2057400" cy="838200"/>
          </a:xfrm>
          <a:prstGeom prst="line">
            <a:avLst/>
          </a:prstGeom>
          <a:ln w="28575" cap="flat" cmpd="sng">
            <a:solidFill>
              <a:schemeClr val="tx1"/>
            </a:solidFill>
            <a:prstDash val="solid"/>
            <a:headEnd type="none" w="med" len="med"/>
            <a:tailEnd type="triangle" w="med" len="med"/>
          </a:ln>
        </p:spPr>
      </p:sp>
      <p:sp>
        <p:nvSpPr>
          <p:cNvPr id="40987" name="Text Box 1051"/>
          <p:cNvSpPr txBox="1"/>
          <p:nvPr/>
        </p:nvSpPr>
        <p:spPr>
          <a:xfrm>
            <a:off x="2133600" y="990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0988" name="Text Box 1052"/>
          <p:cNvSpPr txBox="1"/>
          <p:nvPr/>
        </p:nvSpPr>
        <p:spPr>
          <a:xfrm>
            <a:off x="2133600" y="198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0989" name="Text Box 1053"/>
          <p:cNvSpPr txBox="1"/>
          <p:nvPr/>
        </p:nvSpPr>
        <p:spPr>
          <a:xfrm>
            <a:off x="3733800" y="38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0990" name="Text Box 1054"/>
          <p:cNvSpPr txBox="1"/>
          <p:nvPr/>
        </p:nvSpPr>
        <p:spPr>
          <a:xfrm>
            <a:off x="3733800" y="91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0991" name="Text Box 1055"/>
          <p:cNvSpPr txBox="1"/>
          <p:nvPr/>
        </p:nvSpPr>
        <p:spPr>
          <a:xfrm>
            <a:off x="3581400" y="1752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0992" name="Text Box 1056"/>
          <p:cNvSpPr txBox="1"/>
          <p:nvPr/>
        </p:nvSpPr>
        <p:spPr>
          <a:xfrm>
            <a:off x="57912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0993" name="Text Box 1057"/>
          <p:cNvSpPr txBox="1"/>
          <p:nvPr/>
        </p:nvSpPr>
        <p:spPr>
          <a:xfrm>
            <a:off x="3276600" y="1524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0994" name="Text Box 1058"/>
          <p:cNvSpPr txBox="1"/>
          <p:nvPr/>
        </p:nvSpPr>
        <p:spPr>
          <a:xfrm>
            <a:off x="3733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0995" name="Text Box 1059"/>
          <p:cNvSpPr txBox="1"/>
          <p:nvPr/>
        </p:nvSpPr>
        <p:spPr>
          <a:xfrm>
            <a:off x="3581400" y="1219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0996" name="Text Box 1060"/>
          <p:cNvSpPr txBox="1"/>
          <p:nvPr/>
        </p:nvSpPr>
        <p:spPr>
          <a:xfrm>
            <a:off x="5943600" y="68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0997" name="Text Box 1061"/>
          <p:cNvSpPr txBox="1"/>
          <p:nvPr/>
        </p:nvSpPr>
        <p:spPr>
          <a:xfrm>
            <a:off x="56388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0998" name="Line 1062"/>
          <p:cNvSpPr/>
          <p:nvPr/>
        </p:nvSpPr>
        <p:spPr>
          <a:xfrm>
            <a:off x="5105400" y="685800"/>
            <a:ext cx="2057400" cy="914400"/>
          </a:xfrm>
          <a:prstGeom prst="line">
            <a:avLst/>
          </a:prstGeom>
          <a:ln w="28575" cap="flat" cmpd="sng">
            <a:solidFill>
              <a:srgbClr val="FF0000"/>
            </a:solidFill>
            <a:prstDash val="solid"/>
            <a:headEnd type="none" w="med" len="med"/>
            <a:tailEnd type="triangle" w="med" len="med"/>
          </a:ln>
        </p:spPr>
      </p:sp>
      <p:sp>
        <p:nvSpPr>
          <p:cNvPr id="40999" name="Line 1063"/>
          <p:cNvSpPr/>
          <p:nvPr/>
        </p:nvSpPr>
        <p:spPr>
          <a:xfrm>
            <a:off x="5105400" y="1752600"/>
            <a:ext cx="1981200" cy="0"/>
          </a:xfrm>
          <a:prstGeom prst="line">
            <a:avLst/>
          </a:prstGeom>
          <a:ln w="28575" cap="flat" cmpd="sng">
            <a:solidFill>
              <a:srgbClr val="FF0000"/>
            </a:solidFill>
            <a:prstDash val="solid"/>
            <a:headEnd type="none" w="med" len="med"/>
            <a:tailEnd type="triangle" w="med" len="med"/>
          </a:ln>
        </p:spPr>
      </p:sp>
      <p:sp>
        <p:nvSpPr>
          <p:cNvPr id="41000" name="Line 1064"/>
          <p:cNvSpPr/>
          <p:nvPr/>
        </p:nvSpPr>
        <p:spPr>
          <a:xfrm flipV="1">
            <a:off x="5105400" y="1905000"/>
            <a:ext cx="2057400" cy="838200"/>
          </a:xfrm>
          <a:prstGeom prst="line">
            <a:avLst/>
          </a:prstGeom>
          <a:ln w="28575" cap="flat" cmpd="sng">
            <a:solidFill>
              <a:srgbClr val="FF0000"/>
            </a:solidFill>
            <a:prstDash val="solid"/>
            <a:headEnd type="none" w="med" len="med"/>
            <a:tailEnd type="triangle" w="med" len="med"/>
          </a:ln>
        </p:spPr>
      </p:sp>
      <p:sp>
        <p:nvSpPr>
          <p:cNvPr id="41001" name="Oval 1065"/>
          <p:cNvSpPr/>
          <p:nvPr/>
        </p:nvSpPr>
        <p:spPr>
          <a:xfrm>
            <a:off x="70866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41002" name="Oval 1066"/>
          <p:cNvSpPr/>
          <p:nvPr/>
        </p:nvSpPr>
        <p:spPr>
          <a:xfrm>
            <a:off x="4648200" y="457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1003" name="Oval 1067"/>
          <p:cNvSpPr/>
          <p:nvPr/>
        </p:nvSpPr>
        <p:spPr>
          <a:xfrm>
            <a:off x="46482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1004" name="Oval 1068"/>
          <p:cNvSpPr/>
          <p:nvPr/>
        </p:nvSpPr>
        <p:spPr>
          <a:xfrm>
            <a:off x="4648200" y="25146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1005" name="Oval 1069"/>
          <p:cNvSpPr/>
          <p:nvPr/>
        </p:nvSpPr>
        <p:spPr>
          <a:xfrm>
            <a:off x="2895600" y="838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1006" name="Oval 1070"/>
          <p:cNvSpPr/>
          <p:nvPr/>
        </p:nvSpPr>
        <p:spPr>
          <a:xfrm>
            <a:off x="2895600" y="19812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1007" name="Line 1071"/>
          <p:cNvSpPr/>
          <p:nvPr/>
        </p:nvSpPr>
        <p:spPr>
          <a:xfrm flipV="1">
            <a:off x="3352800" y="685800"/>
            <a:ext cx="1295400" cy="304800"/>
          </a:xfrm>
          <a:prstGeom prst="line">
            <a:avLst/>
          </a:prstGeom>
          <a:ln w="28575" cap="flat" cmpd="sng">
            <a:solidFill>
              <a:srgbClr val="00CC00"/>
            </a:solidFill>
            <a:prstDash val="solid"/>
            <a:headEnd type="none" w="med" len="med"/>
            <a:tailEnd type="triangle" w="med" len="med"/>
          </a:ln>
        </p:spPr>
      </p:sp>
      <p:sp>
        <p:nvSpPr>
          <p:cNvPr id="41008" name="Line 1072"/>
          <p:cNvSpPr/>
          <p:nvPr/>
        </p:nvSpPr>
        <p:spPr>
          <a:xfrm>
            <a:off x="3352800" y="1066800"/>
            <a:ext cx="1295400" cy="609600"/>
          </a:xfrm>
          <a:prstGeom prst="line">
            <a:avLst/>
          </a:prstGeom>
          <a:ln w="28575" cap="flat" cmpd="sng">
            <a:solidFill>
              <a:srgbClr val="00CC00"/>
            </a:solidFill>
            <a:prstDash val="solid"/>
            <a:headEnd type="none" w="med" len="med"/>
            <a:tailEnd type="triangle" w="med" len="med"/>
          </a:ln>
        </p:spPr>
      </p:sp>
      <p:sp>
        <p:nvSpPr>
          <p:cNvPr id="41009" name="Line 1073"/>
          <p:cNvSpPr/>
          <p:nvPr/>
        </p:nvSpPr>
        <p:spPr>
          <a:xfrm>
            <a:off x="3352800" y="1219200"/>
            <a:ext cx="1295400" cy="1447800"/>
          </a:xfrm>
          <a:prstGeom prst="line">
            <a:avLst/>
          </a:prstGeom>
          <a:ln w="28575" cap="flat" cmpd="sng">
            <a:solidFill>
              <a:srgbClr val="00CC00"/>
            </a:solidFill>
            <a:prstDash val="solid"/>
            <a:headEnd type="none" w="med" len="med"/>
            <a:tailEnd type="triangle" w="med" len="med"/>
          </a:ln>
        </p:spPr>
      </p:sp>
      <p:sp>
        <p:nvSpPr>
          <p:cNvPr id="41010" name="Line 1074"/>
          <p:cNvSpPr/>
          <p:nvPr/>
        </p:nvSpPr>
        <p:spPr>
          <a:xfrm flipV="1">
            <a:off x="3352800" y="685800"/>
            <a:ext cx="1295400" cy="304800"/>
          </a:xfrm>
          <a:prstGeom prst="line">
            <a:avLst/>
          </a:prstGeom>
          <a:ln w="28575" cap="flat" cmpd="sng">
            <a:solidFill>
              <a:srgbClr val="FF0000"/>
            </a:solidFill>
            <a:prstDash val="solid"/>
            <a:headEnd type="none" w="med" len="med"/>
            <a:tailEnd type="triangle" w="med" len="med"/>
          </a:ln>
        </p:spPr>
      </p:sp>
      <p:sp>
        <p:nvSpPr>
          <p:cNvPr id="41011" name="Line 1075"/>
          <p:cNvSpPr/>
          <p:nvPr/>
        </p:nvSpPr>
        <p:spPr>
          <a:xfrm flipV="1">
            <a:off x="3352800" y="838200"/>
            <a:ext cx="1371600" cy="1295400"/>
          </a:xfrm>
          <a:prstGeom prst="line">
            <a:avLst/>
          </a:prstGeom>
          <a:ln w="28575" cap="flat" cmpd="sng">
            <a:solidFill>
              <a:srgbClr val="00CC00"/>
            </a:solidFill>
            <a:prstDash val="solid"/>
            <a:headEnd type="none" w="med" len="med"/>
            <a:tailEnd type="triangle" w="med" len="med"/>
          </a:ln>
        </p:spPr>
      </p:sp>
      <p:sp>
        <p:nvSpPr>
          <p:cNvPr id="41012" name="Line 1076"/>
          <p:cNvSpPr/>
          <p:nvPr/>
        </p:nvSpPr>
        <p:spPr>
          <a:xfrm flipV="1">
            <a:off x="3352800" y="1828800"/>
            <a:ext cx="1295400" cy="381000"/>
          </a:xfrm>
          <a:prstGeom prst="line">
            <a:avLst/>
          </a:prstGeom>
          <a:ln w="28575" cap="flat" cmpd="sng">
            <a:solidFill>
              <a:srgbClr val="00CC00"/>
            </a:solidFill>
            <a:prstDash val="solid"/>
            <a:headEnd type="none" w="med" len="med"/>
            <a:tailEnd type="triangle" w="med" len="med"/>
          </a:ln>
        </p:spPr>
      </p:sp>
      <p:sp>
        <p:nvSpPr>
          <p:cNvPr id="41013" name="Line 1077"/>
          <p:cNvSpPr/>
          <p:nvPr/>
        </p:nvSpPr>
        <p:spPr>
          <a:xfrm>
            <a:off x="3352800" y="2362200"/>
            <a:ext cx="1295400" cy="381000"/>
          </a:xfrm>
          <a:prstGeom prst="line">
            <a:avLst/>
          </a:prstGeom>
          <a:ln w="28575" cap="flat" cmpd="sng">
            <a:solidFill>
              <a:srgbClr val="00CC00"/>
            </a:solidFill>
            <a:prstDash val="solid"/>
            <a:headEnd type="none" w="med" len="med"/>
            <a:tailEnd type="triangle" w="med" len="med"/>
          </a:ln>
        </p:spPr>
      </p:sp>
      <p:sp>
        <p:nvSpPr>
          <p:cNvPr id="41014" name="Line 1078"/>
          <p:cNvSpPr/>
          <p:nvPr/>
        </p:nvSpPr>
        <p:spPr>
          <a:xfrm flipV="1">
            <a:off x="3352800" y="838200"/>
            <a:ext cx="1371600" cy="1295400"/>
          </a:xfrm>
          <a:prstGeom prst="line">
            <a:avLst/>
          </a:prstGeom>
          <a:ln w="28575" cap="flat" cmpd="sng">
            <a:solidFill>
              <a:srgbClr val="FF0000"/>
            </a:solidFill>
            <a:prstDash val="solid"/>
            <a:headEnd type="none" w="med" len="med"/>
            <a:tailEnd type="triangle" w="med" len="med"/>
          </a:ln>
        </p:spPr>
      </p:sp>
      <p:sp>
        <p:nvSpPr>
          <p:cNvPr id="43063" name="Oval 1079"/>
          <p:cNvSpPr/>
          <p:nvPr/>
        </p:nvSpPr>
        <p:spPr>
          <a:xfrm>
            <a:off x="14478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3064" name="Line 1080"/>
          <p:cNvSpPr/>
          <p:nvPr/>
        </p:nvSpPr>
        <p:spPr>
          <a:xfrm flipV="1">
            <a:off x="1905000" y="1143000"/>
            <a:ext cx="990600" cy="457200"/>
          </a:xfrm>
          <a:prstGeom prst="line">
            <a:avLst/>
          </a:prstGeom>
          <a:ln w="28575" cap="flat" cmpd="sng">
            <a:solidFill>
              <a:srgbClr val="00CC00"/>
            </a:solidFill>
            <a:prstDash val="solid"/>
            <a:headEnd type="none" w="med" len="med"/>
            <a:tailEnd type="triangle" w="med" len="med"/>
          </a:ln>
        </p:spPr>
      </p:sp>
      <p:sp>
        <p:nvSpPr>
          <p:cNvPr id="43065" name="Line 1081"/>
          <p:cNvSpPr/>
          <p:nvPr/>
        </p:nvSpPr>
        <p:spPr>
          <a:xfrm>
            <a:off x="1828800" y="1981200"/>
            <a:ext cx="1066800" cy="228600"/>
          </a:xfrm>
          <a:prstGeom prst="line">
            <a:avLst/>
          </a:prstGeom>
          <a:ln w="28575" cap="flat" cmpd="sng">
            <a:solidFill>
              <a:srgbClr val="00CC00"/>
            </a:solidFill>
            <a:prstDash val="solid"/>
            <a:headEnd type="none" w="med" len="med"/>
            <a:tailEnd type="triangle" w="med" len="med"/>
          </a:ln>
        </p:spPr>
      </p:sp>
      <p:sp>
        <p:nvSpPr>
          <p:cNvPr id="43066" name="Line 1082"/>
          <p:cNvSpPr/>
          <p:nvPr/>
        </p:nvSpPr>
        <p:spPr>
          <a:xfrm flipV="1">
            <a:off x="1905000" y="1143000"/>
            <a:ext cx="990600" cy="457200"/>
          </a:xfrm>
          <a:prstGeom prst="line">
            <a:avLst/>
          </a:prstGeom>
          <a:ln w="28575" cap="flat" cmpd="sng">
            <a:solidFill>
              <a:srgbClr val="FF0000"/>
            </a:solidFill>
            <a:prstDash val="solid"/>
            <a:headEnd type="none" w="med" len="med"/>
            <a:tailEnd type="triangle" w="med" len="med"/>
          </a:ln>
        </p:spPr>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0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3010"/>
                                        </p:tgtEl>
                                        <p:attrNameLst>
                                          <p:attrName>style.visibility</p:attrName>
                                        </p:attrNameLst>
                                      </p:cBhvr>
                                      <p:to>
                                        <p:strVal val="visible"/>
                                      </p:to>
                                    </p:set>
                                    <p:animEffect transition="in" filter="blinds(horizontal)">
                                      <p:cBhvr>
                                        <p:cTn id="11" dur="500"/>
                                        <p:tgtEl>
                                          <p:spTgt spid="4301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nodeType="clickEffect">
                                  <p:stCondLst>
                                    <p:cond delay="0"/>
                                  </p:stCondLst>
                                  <p:childTnLst>
                                    <p:set>
                                      <p:cBhvr>
                                        <p:cTn id="15" dur="1" fill="hold">
                                          <p:stCondLst>
                                            <p:cond delay="0"/>
                                          </p:stCondLst>
                                        </p:cTn>
                                        <p:tgtEl>
                                          <p:spTgt spid="43064"/>
                                        </p:tgtEl>
                                        <p:attrNameLst>
                                          <p:attrName>style.visibility</p:attrName>
                                        </p:attrNameLst>
                                      </p:cBhvr>
                                      <p:to>
                                        <p:strVal val="visible"/>
                                      </p:to>
                                    </p:set>
                                    <p:animEffect transition="in" filter="barn(outVertical)">
                                      <p:cBhvr>
                                        <p:cTn id="16" dur="500"/>
                                        <p:tgtEl>
                                          <p:spTgt spid="4306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nodeType="clickEffect">
                                  <p:stCondLst>
                                    <p:cond delay="0"/>
                                  </p:stCondLst>
                                  <p:childTnLst>
                                    <p:set>
                                      <p:cBhvr>
                                        <p:cTn id="20" dur="1" fill="hold">
                                          <p:stCondLst>
                                            <p:cond delay="0"/>
                                          </p:stCondLst>
                                        </p:cTn>
                                        <p:tgtEl>
                                          <p:spTgt spid="43065"/>
                                        </p:tgtEl>
                                        <p:attrNameLst>
                                          <p:attrName>style.visibility</p:attrName>
                                        </p:attrNameLst>
                                      </p:cBhvr>
                                      <p:to>
                                        <p:strVal val="visible"/>
                                      </p:to>
                                    </p:set>
                                    <p:animEffect transition="in" filter="barn(outVertical)">
                                      <p:cBhvr>
                                        <p:cTn id="21" dur="500"/>
                                        <p:tgtEl>
                                          <p:spTgt spid="4306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43011"/>
                                        </p:tgtEl>
                                        <p:attrNameLst>
                                          <p:attrName>style.visibility</p:attrName>
                                        </p:attrNameLst>
                                      </p:cBhvr>
                                      <p:to>
                                        <p:strVal val="visible"/>
                                      </p:to>
                                    </p:set>
                                    <p:animEffect transition="in" filter="blinds(vertical)">
                                      <p:cBhvr>
                                        <p:cTn id="26" dur="500"/>
                                        <p:tgtEl>
                                          <p:spTgt spid="43011"/>
                                        </p:tgtEl>
                                      </p:cBhvr>
                                    </p:animEffect>
                                  </p:childTnLst>
                                </p:cTn>
                              </p:par>
                            </p:childTnLst>
                          </p:cTn>
                        </p:par>
                        <p:par>
                          <p:cTn id="27" fill="hold">
                            <p:stCondLst>
                              <p:cond delay="500"/>
                            </p:stCondLst>
                            <p:childTnLst>
                              <p:par>
                                <p:cTn id="28" presetID="5" presetClass="entr" presetSubtype="10" fill="hold" grpId="0" nodeType="afterEffect">
                                  <p:stCondLst>
                                    <p:cond delay="0"/>
                                  </p:stCondLst>
                                  <p:childTnLst>
                                    <p:set>
                                      <p:cBhvr>
                                        <p:cTn id="29" dur="1" fill="hold">
                                          <p:stCondLst>
                                            <p:cond delay="0"/>
                                          </p:stCondLst>
                                        </p:cTn>
                                        <p:tgtEl>
                                          <p:spTgt spid="43012"/>
                                        </p:tgtEl>
                                        <p:attrNameLst>
                                          <p:attrName>style.visibility</p:attrName>
                                        </p:attrNameLst>
                                      </p:cBhvr>
                                      <p:to>
                                        <p:strVal val="visible"/>
                                      </p:to>
                                    </p:set>
                                    <p:animEffect transition="in" filter="checkerboard(across)">
                                      <p:cBhvr>
                                        <p:cTn id="30" dur="500"/>
                                        <p:tgtEl>
                                          <p:spTgt spid="43012"/>
                                        </p:tgtEl>
                                      </p:cBhvr>
                                    </p:animEffect>
                                  </p:childTnLst>
                                </p:cTn>
                              </p:par>
                            </p:childTnLst>
                          </p:cTn>
                        </p:par>
                        <p:par>
                          <p:cTn id="31" fill="hold">
                            <p:stCondLst>
                              <p:cond delay="1000"/>
                            </p:stCondLst>
                            <p:childTnLst>
                              <p:par>
                                <p:cTn id="32" presetID="16" presetClass="entr" presetSubtype="42" fill="hold" grpId="0" nodeType="afterEffect">
                                  <p:stCondLst>
                                    <p:cond delay="0"/>
                                  </p:stCondLst>
                                  <p:childTnLst>
                                    <p:set>
                                      <p:cBhvr>
                                        <p:cTn id="33" dur="1" fill="hold">
                                          <p:stCondLst>
                                            <p:cond delay="0"/>
                                          </p:stCondLst>
                                        </p:cTn>
                                        <p:tgtEl>
                                          <p:spTgt spid="43014"/>
                                        </p:tgtEl>
                                        <p:attrNameLst>
                                          <p:attrName>style.visibility</p:attrName>
                                        </p:attrNameLst>
                                      </p:cBhvr>
                                      <p:to>
                                        <p:strVal val="visible"/>
                                      </p:to>
                                    </p:set>
                                    <p:animEffect transition="in" filter="barn(outHorizontal)">
                                      <p:cBhvr>
                                        <p:cTn id="34" dur="500"/>
                                        <p:tgtEl>
                                          <p:spTgt spid="43014"/>
                                        </p:tgtEl>
                                      </p:cBhvr>
                                    </p:animEffect>
                                  </p:childTnLst>
                                </p:cTn>
                              </p:par>
                            </p:childTnLst>
                          </p:cTn>
                        </p:par>
                        <p:par>
                          <p:cTn id="35" fill="hold">
                            <p:stCondLst>
                              <p:cond delay="1500"/>
                            </p:stCondLst>
                            <p:childTnLst>
                              <p:par>
                                <p:cTn id="36" presetID="17" presetClass="entr" presetSubtype="10" fill="hold" grpId="0" nodeType="afterEffect">
                                  <p:stCondLst>
                                    <p:cond delay="0"/>
                                  </p:stCondLst>
                                  <p:childTnLst>
                                    <p:set>
                                      <p:cBhvr>
                                        <p:cTn id="37" dur="1" fill="hold">
                                          <p:stCondLst>
                                            <p:cond delay="0"/>
                                          </p:stCondLst>
                                        </p:cTn>
                                        <p:tgtEl>
                                          <p:spTgt spid="43013"/>
                                        </p:tgtEl>
                                        <p:attrNameLst>
                                          <p:attrName>style.visibility</p:attrName>
                                        </p:attrNameLst>
                                      </p:cBhvr>
                                      <p:to>
                                        <p:strVal val="visible"/>
                                      </p:to>
                                    </p:set>
                                    <p:anim calcmode="lin" valueType="num">
                                      <p:cBhvr>
                                        <p:cTn id="38" dur="500" fill="hold"/>
                                        <p:tgtEl>
                                          <p:spTgt spid="43013"/>
                                        </p:tgtEl>
                                        <p:attrNameLst>
                                          <p:attrName>ppt_w</p:attrName>
                                        </p:attrNameLst>
                                      </p:cBhvr>
                                      <p:tavLst>
                                        <p:tav tm="0">
                                          <p:val>
                                            <p:fltVal val="0.000000"/>
                                          </p:val>
                                        </p:tav>
                                        <p:tav tm="100000">
                                          <p:val>
                                            <p:strVal val="#ppt_w"/>
                                          </p:val>
                                        </p:tav>
                                      </p:tavLst>
                                    </p:anim>
                                    <p:anim calcmode="lin" valueType="num">
                                      <p:cBhvr>
                                        <p:cTn id="39" dur="500" fill="hold"/>
                                        <p:tgtEl>
                                          <p:spTgt spid="43013"/>
                                        </p:tgtEl>
                                        <p:attrNameLst>
                                          <p:attrName>ppt_h</p:attrName>
                                        </p:attrNameLst>
                                      </p:cBhvr>
                                      <p:tavLst>
                                        <p:tav tm="0">
                                          <p:val>
                                            <p:strVal val="#ppt_h"/>
                                          </p:val>
                                        </p:tav>
                                        <p:tav tm="100000">
                                          <p:val>
                                            <p:strVal val="#ppt_h"/>
                                          </p:val>
                                        </p:tav>
                                      </p:tavLst>
                                    </p:anim>
                                  </p:childTnLst>
                                </p:cTn>
                              </p:par>
                            </p:childTnLst>
                          </p:cTn>
                        </p:par>
                        <p:par>
                          <p:cTn id="40" fill="hold">
                            <p:stCondLst>
                              <p:cond delay="2000"/>
                            </p:stCondLst>
                            <p:childTnLst>
                              <p:par>
                                <p:cTn id="41" presetID="16" presetClass="entr" presetSubtype="42" fill="hold" grpId="0" nodeType="afterEffect">
                                  <p:stCondLst>
                                    <p:cond delay="0"/>
                                  </p:stCondLst>
                                  <p:childTnLst>
                                    <p:set>
                                      <p:cBhvr>
                                        <p:cTn id="42" dur="1" fill="hold">
                                          <p:stCondLst>
                                            <p:cond delay="0"/>
                                          </p:stCondLst>
                                        </p:cTn>
                                        <p:tgtEl>
                                          <p:spTgt spid="43015"/>
                                        </p:tgtEl>
                                        <p:attrNameLst>
                                          <p:attrName>style.visibility</p:attrName>
                                        </p:attrNameLst>
                                      </p:cBhvr>
                                      <p:to>
                                        <p:strVal val="visible"/>
                                      </p:to>
                                    </p:set>
                                    <p:animEffect transition="in" filter="barn(outHorizontal)">
                                      <p:cBhvr>
                                        <p:cTn id="43" dur="500"/>
                                        <p:tgtEl>
                                          <p:spTgt spid="43015"/>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37" fill="hold" nodeType="clickEffect">
                                  <p:stCondLst>
                                    <p:cond delay="0"/>
                                  </p:stCondLst>
                                  <p:childTnLst>
                                    <p:set>
                                      <p:cBhvr>
                                        <p:cTn id="47" dur="1" fill="hold">
                                          <p:stCondLst>
                                            <p:cond delay="0"/>
                                          </p:stCondLst>
                                        </p:cTn>
                                        <p:tgtEl>
                                          <p:spTgt spid="43066"/>
                                        </p:tgtEl>
                                        <p:attrNameLst>
                                          <p:attrName>style.visibility</p:attrName>
                                        </p:attrNameLst>
                                      </p:cBhvr>
                                      <p:to>
                                        <p:strVal val="visible"/>
                                      </p:to>
                                    </p:set>
                                    <p:animEffect transition="in" filter="barn(outVertical)">
                                      <p:cBhvr>
                                        <p:cTn id="48" dur="500"/>
                                        <p:tgtEl>
                                          <p:spTgt spid="4306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43016"/>
                                        </p:tgtEl>
                                        <p:attrNameLst>
                                          <p:attrName>style.visibility</p:attrName>
                                        </p:attrNameLst>
                                      </p:cBhvr>
                                      <p:to>
                                        <p:strVal val="visible"/>
                                      </p:to>
                                    </p:set>
                                    <p:animEffect transition="in" filter="dissolve">
                                      <p:cBhvr>
                                        <p:cTn id="53" dur="500"/>
                                        <p:tgtEl>
                                          <p:spTgt spid="43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P spid="43011" grpId="0"/>
      <p:bldP spid="43012" grpId="0"/>
      <p:bldP spid="43013" grpId="0"/>
      <p:bldP spid="43014" grpId="0" animBg="1"/>
      <p:bldP spid="43015" grpId="0" animBg="1"/>
      <p:bldP spid="43016" grpId="0"/>
      <p:bldP spid="4306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Oval 1055"/>
          <p:cNvSpPr/>
          <p:nvPr/>
        </p:nvSpPr>
        <p:spPr>
          <a:xfrm>
            <a:off x="1447800" y="22098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1987" name="Oval 1056"/>
          <p:cNvSpPr/>
          <p:nvPr/>
        </p:nvSpPr>
        <p:spPr>
          <a:xfrm>
            <a:off x="2895600" y="1524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1988" name="Oval 1057"/>
          <p:cNvSpPr/>
          <p:nvPr/>
        </p:nvSpPr>
        <p:spPr>
          <a:xfrm>
            <a:off x="2895600" y="2667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1989" name="Oval 1058"/>
          <p:cNvSpPr/>
          <p:nvPr/>
        </p:nvSpPr>
        <p:spPr>
          <a:xfrm>
            <a:off x="4648200" y="11430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1990" name="Oval 1059"/>
          <p:cNvSpPr/>
          <p:nvPr/>
        </p:nvSpPr>
        <p:spPr>
          <a:xfrm>
            <a:off x="4648200" y="22098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1991" name="Oval 1060"/>
          <p:cNvSpPr/>
          <p:nvPr/>
        </p:nvSpPr>
        <p:spPr>
          <a:xfrm>
            <a:off x="4648200" y="32004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1992" name="Oval 1061"/>
          <p:cNvSpPr/>
          <p:nvPr/>
        </p:nvSpPr>
        <p:spPr>
          <a:xfrm>
            <a:off x="7086600" y="2209800"/>
            <a:ext cx="457200" cy="457200"/>
          </a:xfrm>
          <a:prstGeom prst="ellipse">
            <a:avLst/>
          </a:prstGeom>
          <a:solidFill>
            <a:srgbClr val="99FFCC"/>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41993" name="Line 1062"/>
          <p:cNvSpPr/>
          <p:nvPr/>
        </p:nvSpPr>
        <p:spPr>
          <a:xfrm flipV="1">
            <a:off x="1905000" y="1828800"/>
            <a:ext cx="990600" cy="457200"/>
          </a:xfrm>
          <a:prstGeom prst="line">
            <a:avLst/>
          </a:prstGeom>
          <a:ln w="28575" cap="flat" cmpd="sng">
            <a:solidFill>
              <a:schemeClr val="tx1"/>
            </a:solidFill>
            <a:prstDash val="solid"/>
            <a:headEnd type="none" w="med" len="med"/>
            <a:tailEnd type="triangle" w="med" len="med"/>
          </a:ln>
        </p:spPr>
      </p:sp>
      <p:sp>
        <p:nvSpPr>
          <p:cNvPr id="41994" name="Line 1063"/>
          <p:cNvSpPr/>
          <p:nvPr/>
        </p:nvSpPr>
        <p:spPr>
          <a:xfrm>
            <a:off x="1905000" y="2667000"/>
            <a:ext cx="990600" cy="228600"/>
          </a:xfrm>
          <a:prstGeom prst="line">
            <a:avLst/>
          </a:prstGeom>
          <a:ln w="28575" cap="flat" cmpd="sng">
            <a:solidFill>
              <a:schemeClr val="tx1"/>
            </a:solidFill>
            <a:prstDash val="solid"/>
            <a:headEnd type="none" w="med" len="med"/>
            <a:tailEnd type="triangle" w="med" len="med"/>
          </a:ln>
        </p:spPr>
      </p:sp>
      <p:sp>
        <p:nvSpPr>
          <p:cNvPr id="41995" name="Line 1064"/>
          <p:cNvSpPr/>
          <p:nvPr/>
        </p:nvSpPr>
        <p:spPr>
          <a:xfrm flipV="1">
            <a:off x="3352800" y="1371600"/>
            <a:ext cx="1295400" cy="304800"/>
          </a:xfrm>
          <a:prstGeom prst="line">
            <a:avLst/>
          </a:prstGeom>
          <a:ln w="28575" cap="flat" cmpd="sng">
            <a:solidFill>
              <a:schemeClr val="tx1"/>
            </a:solidFill>
            <a:prstDash val="solid"/>
            <a:headEnd type="none" w="med" len="med"/>
            <a:tailEnd type="triangle" w="med" len="med"/>
          </a:ln>
        </p:spPr>
      </p:sp>
      <p:sp>
        <p:nvSpPr>
          <p:cNvPr id="41996" name="Line 1065"/>
          <p:cNvSpPr/>
          <p:nvPr/>
        </p:nvSpPr>
        <p:spPr>
          <a:xfrm>
            <a:off x="3352800" y="1752600"/>
            <a:ext cx="1295400" cy="609600"/>
          </a:xfrm>
          <a:prstGeom prst="line">
            <a:avLst/>
          </a:prstGeom>
          <a:ln w="28575" cap="flat" cmpd="sng">
            <a:solidFill>
              <a:schemeClr val="tx1"/>
            </a:solidFill>
            <a:prstDash val="solid"/>
            <a:headEnd type="none" w="med" len="med"/>
            <a:tailEnd type="triangle" w="med" len="med"/>
          </a:ln>
        </p:spPr>
      </p:sp>
      <p:sp>
        <p:nvSpPr>
          <p:cNvPr id="41997" name="Line 1066"/>
          <p:cNvSpPr/>
          <p:nvPr/>
        </p:nvSpPr>
        <p:spPr>
          <a:xfrm>
            <a:off x="3352800" y="1905000"/>
            <a:ext cx="1295400" cy="1447800"/>
          </a:xfrm>
          <a:prstGeom prst="line">
            <a:avLst/>
          </a:prstGeom>
          <a:ln w="28575" cap="flat" cmpd="sng">
            <a:solidFill>
              <a:schemeClr val="tx1"/>
            </a:solidFill>
            <a:prstDash val="solid"/>
            <a:headEnd type="none" w="med" len="med"/>
            <a:tailEnd type="triangle" w="med" len="med"/>
          </a:ln>
        </p:spPr>
      </p:sp>
      <p:sp>
        <p:nvSpPr>
          <p:cNvPr id="41998" name="Line 1067"/>
          <p:cNvSpPr/>
          <p:nvPr/>
        </p:nvSpPr>
        <p:spPr>
          <a:xfrm flipV="1">
            <a:off x="3352800" y="1524000"/>
            <a:ext cx="1371600" cy="1295400"/>
          </a:xfrm>
          <a:prstGeom prst="line">
            <a:avLst/>
          </a:prstGeom>
          <a:ln w="28575" cap="flat" cmpd="sng">
            <a:solidFill>
              <a:schemeClr val="tx1"/>
            </a:solidFill>
            <a:prstDash val="solid"/>
            <a:headEnd type="none" w="med" len="med"/>
            <a:tailEnd type="triangle" w="med" len="med"/>
          </a:ln>
        </p:spPr>
      </p:sp>
      <p:sp>
        <p:nvSpPr>
          <p:cNvPr id="41999" name="Line 1068"/>
          <p:cNvSpPr/>
          <p:nvPr/>
        </p:nvSpPr>
        <p:spPr>
          <a:xfrm flipV="1">
            <a:off x="3352800" y="2514600"/>
            <a:ext cx="1295400" cy="381000"/>
          </a:xfrm>
          <a:prstGeom prst="line">
            <a:avLst/>
          </a:prstGeom>
          <a:ln w="28575" cap="flat" cmpd="sng">
            <a:solidFill>
              <a:schemeClr val="tx1"/>
            </a:solidFill>
            <a:prstDash val="solid"/>
            <a:headEnd type="none" w="med" len="med"/>
            <a:tailEnd type="triangle" w="med" len="med"/>
          </a:ln>
        </p:spPr>
      </p:sp>
      <p:sp>
        <p:nvSpPr>
          <p:cNvPr id="42000" name="Line 1069"/>
          <p:cNvSpPr/>
          <p:nvPr/>
        </p:nvSpPr>
        <p:spPr>
          <a:xfrm>
            <a:off x="3352800" y="3048000"/>
            <a:ext cx="1295400" cy="381000"/>
          </a:xfrm>
          <a:prstGeom prst="line">
            <a:avLst/>
          </a:prstGeom>
          <a:ln w="28575" cap="flat" cmpd="sng">
            <a:solidFill>
              <a:schemeClr val="tx1"/>
            </a:solidFill>
            <a:prstDash val="solid"/>
            <a:headEnd type="none" w="med" len="med"/>
            <a:tailEnd type="triangle" w="med" len="med"/>
          </a:ln>
        </p:spPr>
      </p:sp>
      <p:sp>
        <p:nvSpPr>
          <p:cNvPr id="42001" name="Line 1070"/>
          <p:cNvSpPr/>
          <p:nvPr/>
        </p:nvSpPr>
        <p:spPr>
          <a:xfrm>
            <a:off x="5105400" y="1371600"/>
            <a:ext cx="2057400" cy="914400"/>
          </a:xfrm>
          <a:prstGeom prst="line">
            <a:avLst/>
          </a:prstGeom>
          <a:ln w="28575" cap="flat" cmpd="sng">
            <a:solidFill>
              <a:schemeClr val="tx1"/>
            </a:solidFill>
            <a:prstDash val="solid"/>
            <a:headEnd type="none" w="med" len="med"/>
            <a:tailEnd type="triangle" w="med" len="med"/>
          </a:ln>
        </p:spPr>
      </p:sp>
      <p:sp>
        <p:nvSpPr>
          <p:cNvPr id="42002" name="Line 1071"/>
          <p:cNvSpPr/>
          <p:nvPr/>
        </p:nvSpPr>
        <p:spPr>
          <a:xfrm>
            <a:off x="5105400" y="2438400"/>
            <a:ext cx="1981200" cy="0"/>
          </a:xfrm>
          <a:prstGeom prst="line">
            <a:avLst/>
          </a:prstGeom>
          <a:ln w="28575" cap="flat" cmpd="sng">
            <a:solidFill>
              <a:schemeClr val="tx1"/>
            </a:solidFill>
            <a:prstDash val="solid"/>
            <a:headEnd type="none" w="med" len="med"/>
            <a:tailEnd type="triangle" w="med" len="med"/>
          </a:ln>
        </p:spPr>
      </p:sp>
      <p:sp>
        <p:nvSpPr>
          <p:cNvPr id="42003" name="Line 1072"/>
          <p:cNvSpPr/>
          <p:nvPr/>
        </p:nvSpPr>
        <p:spPr>
          <a:xfrm flipV="1">
            <a:off x="5105400" y="2590800"/>
            <a:ext cx="2057400" cy="838200"/>
          </a:xfrm>
          <a:prstGeom prst="line">
            <a:avLst/>
          </a:prstGeom>
          <a:ln w="28575" cap="flat" cmpd="sng">
            <a:solidFill>
              <a:schemeClr val="tx1"/>
            </a:solidFill>
            <a:prstDash val="solid"/>
            <a:headEnd type="none" w="med" len="med"/>
            <a:tailEnd type="triangle" w="med" len="med"/>
          </a:ln>
        </p:spPr>
      </p:sp>
      <p:sp>
        <p:nvSpPr>
          <p:cNvPr id="42004" name="Text Box 1073"/>
          <p:cNvSpPr txBox="1"/>
          <p:nvPr/>
        </p:nvSpPr>
        <p:spPr>
          <a:xfrm>
            <a:off x="2133600" y="1676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2005" name="Text Box 1074"/>
          <p:cNvSpPr txBox="1"/>
          <p:nvPr/>
        </p:nvSpPr>
        <p:spPr>
          <a:xfrm>
            <a:off x="2133600" y="2667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2006" name="Text Box 1075"/>
          <p:cNvSpPr txBox="1"/>
          <p:nvPr/>
        </p:nvSpPr>
        <p:spPr>
          <a:xfrm>
            <a:off x="3733800" y="1066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07" name="Text Box 1076"/>
          <p:cNvSpPr txBox="1"/>
          <p:nvPr/>
        </p:nvSpPr>
        <p:spPr>
          <a:xfrm>
            <a:off x="3733800" y="1600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08" name="Text Box 1077"/>
          <p:cNvSpPr txBox="1"/>
          <p:nvPr/>
        </p:nvSpPr>
        <p:spPr>
          <a:xfrm>
            <a:off x="3581400" y="2438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09" name="Text Box 1078"/>
          <p:cNvSpPr txBox="1"/>
          <p:nvPr/>
        </p:nvSpPr>
        <p:spPr>
          <a:xfrm>
            <a:off x="57912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10" name="Text Box 1079"/>
          <p:cNvSpPr txBox="1"/>
          <p:nvPr/>
        </p:nvSpPr>
        <p:spPr>
          <a:xfrm>
            <a:off x="3276600" y="2209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2011" name="Text Box 1080"/>
          <p:cNvSpPr txBox="1"/>
          <p:nvPr/>
        </p:nvSpPr>
        <p:spPr>
          <a:xfrm>
            <a:off x="37338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12" name="Text Box 1081"/>
          <p:cNvSpPr txBox="1"/>
          <p:nvPr/>
        </p:nvSpPr>
        <p:spPr>
          <a:xfrm>
            <a:off x="3581400" y="1905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13" name="Text Box 1082"/>
          <p:cNvSpPr txBox="1"/>
          <p:nvPr/>
        </p:nvSpPr>
        <p:spPr>
          <a:xfrm>
            <a:off x="59436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14" name="Text Box 1083"/>
          <p:cNvSpPr txBox="1"/>
          <p:nvPr/>
        </p:nvSpPr>
        <p:spPr>
          <a:xfrm>
            <a:off x="5638800" y="2743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2015" name="Line 1084"/>
          <p:cNvSpPr/>
          <p:nvPr/>
        </p:nvSpPr>
        <p:spPr>
          <a:xfrm>
            <a:off x="5105400" y="1371600"/>
            <a:ext cx="2057400" cy="914400"/>
          </a:xfrm>
          <a:prstGeom prst="line">
            <a:avLst/>
          </a:prstGeom>
          <a:ln w="28575" cap="flat" cmpd="sng">
            <a:solidFill>
              <a:srgbClr val="FF0000"/>
            </a:solidFill>
            <a:prstDash val="solid"/>
            <a:headEnd type="none" w="med" len="med"/>
            <a:tailEnd type="triangle" w="med" len="med"/>
          </a:ln>
        </p:spPr>
      </p:sp>
      <p:sp>
        <p:nvSpPr>
          <p:cNvPr id="42016" name="Line 1085"/>
          <p:cNvSpPr/>
          <p:nvPr/>
        </p:nvSpPr>
        <p:spPr>
          <a:xfrm>
            <a:off x="5105400" y="2438400"/>
            <a:ext cx="1981200" cy="0"/>
          </a:xfrm>
          <a:prstGeom prst="line">
            <a:avLst/>
          </a:prstGeom>
          <a:ln w="28575" cap="flat" cmpd="sng">
            <a:solidFill>
              <a:srgbClr val="FF0000"/>
            </a:solidFill>
            <a:prstDash val="solid"/>
            <a:headEnd type="none" w="med" len="med"/>
            <a:tailEnd type="triangle" w="med" len="med"/>
          </a:ln>
        </p:spPr>
      </p:sp>
      <p:sp>
        <p:nvSpPr>
          <p:cNvPr id="42017" name="Line 1086"/>
          <p:cNvSpPr/>
          <p:nvPr/>
        </p:nvSpPr>
        <p:spPr>
          <a:xfrm flipV="1">
            <a:off x="5105400" y="2590800"/>
            <a:ext cx="2057400" cy="838200"/>
          </a:xfrm>
          <a:prstGeom prst="line">
            <a:avLst/>
          </a:prstGeom>
          <a:ln w="28575" cap="flat" cmpd="sng">
            <a:solidFill>
              <a:srgbClr val="FF0000"/>
            </a:solidFill>
            <a:prstDash val="solid"/>
            <a:headEnd type="none" w="med" len="med"/>
            <a:tailEnd type="triangle" w="med" len="med"/>
          </a:ln>
        </p:spPr>
      </p:sp>
      <p:sp>
        <p:nvSpPr>
          <p:cNvPr id="42018" name="Oval 1087"/>
          <p:cNvSpPr/>
          <p:nvPr/>
        </p:nvSpPr>
        <p:spPr>
          <a:xfrm>
            <a:off x="7086600" y="22098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endParaRPr lang="en-US" altLang="zh-CN" sz="2400" b="0" dirty="0">
              <a:latin typeface="Times New Roman" panose="02020603050405020304" pitchFamily="18" charset="0"/>
              <a:ea typeface="宋体" panose="02010600030101010101" pitchFamily="2" charset="-122"/>
            </a:endParaRPr>
          </a:p>
        </p:txBody>
      </p:sp>
      <p:sp>
        <p:nvSpPr>
          <p:cNvPr id="42019" name="Oval 1088"/>
          <p:cNvSpPr/>
          <p:nvPr/>
        </p:nvSpPr>
        <p:spPr>
          <a:xfrm>
            <a:off x="4648200" y="1143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20" name="Oval 1089"/>
          <p:cNvSpPr/>
          <p:nvPr/>
        </p:nvSpPr>
        <p:spPr>
          <a:xfrm>
            <a:off x="4648200" y="22098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2021" name="Oval 1090"/>
          <p:cNvSpPr/>
          <p:nvPr/>
        </p:nvSpPr>
        <p:spPr>
          <a:xfrm>
            <a:off x="4648200" y="32004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2022" name="Oval 1091"/>
          <p:cNvSpPr/>
          <p:nvPr/>
        </p:nvSpPr>
        <p:spPr>
          <a:xfrm>
            <a:off x="2895600" y="1524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2023" name="Oval 1092"/>
          <p:cNvSpPr/>
          <p:nvPr/>
        </p:nvSpPr>
        <p:spPr>
          <a:xfrm>
            <a:off x="2895600" y="26670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2024" name="Line 1093"/>
          <p:cNvSpPr/>
          <p:nvPr/>
        </p:nvSpPr>
        <p:spPr>
          <a:xfrm flipV="1">
            <a:off x="3352800" y="1371600"/>
            <a:ext cx="1295400" cy="304800"/>
          </a:xfrm>
          <a:prstGeom prst="line">
            <a:avLst/>
          </a:prstGeom>
          <a:ln w="28575" cap="flat" cmpd="sng">
            <a:solidFill>
              <a:srgbClr val="00CC00"/>
            </a:solidFill>
            <a:prstDash val="solid"/>
            <a:headEnd type="none" w="med" len="med"/>
            <a:tailEnd type="triangle" w="med" len="med"/>
          </a:ln>
        </p:spPr>
      </p:sp>
      <p:sp>
        <p:nvSpPr>
          <p:cNvPr id="42025" name="Line 1094"/>
          <p:cNvSpPr/>
          <p:nvPr/>
        </p:nvSpPr>
        <p:spPr>
          <a:xfrm>
            <a:off x="3352800" y="1752600"/>
            <a:ext cx="1295400" cy="609600"/>
          </a:xfrm>
          <a:prstGeom prst="line">
            <a:avLst/>
          </a:prstGeom>
          <a:ln w="28575" cap="flat" cmpd="sng">
            <a:solidFill>
              <a:srgbClr val="00CC00"/>
            </a:solidFill>
            <a:prstDash val="solid"/>
            <a:headEnd type="none" w="med" len="med"/>
            <a:tailEnd type="triangle" w="med" len="med"/>
          </a:ln>
        </p:spPr>
      </p:sp>
      <p:sp>
        <p:nvSpPr>
          <p:cNvPr id="42026" name="Line 1095"/>
          <p:cNvSpPr/>
          <p:nvPr/>
        </p:nvSpPr>
        <p:spPr>
          <a:xfrm>
            <a:off x="3352800" y="1905000"/>
            <a:ext cx="1295400" cy="1447800"/>
          </a:xfrm>
          <a:prstGeom prst="line">
            <a:avLst/>
          </a:prstGeom>
          <a:ln w="28575" cap="flat" cmpd="sng">
            <a:solidFill>
              <a:srgbClr val="00CC00"/>
            </a:solidFill>
            <a:prstDash val="solid"/>
            <a:headEnd type="none" w="med" len="med"/>
            <a:tailEnd type="triangle" w="med" len="med"/>
          </a:ln>
        </p:spPr>
      </p:sp>
      <p:sp>
        <p:nvSpPr>
          <p:cNvPr id="42027" name="Line 1096"/>
          <p:cNvSpPr/>
          <p:nvPr/>
        </p:nvSpPr>
        <p:spPr>
          <a:xfrm flipV="1">
            <a:off x="3352800" y="1371600"/>
            <a:ext cx="1295400" cy="304800"/>
          </a:xfrm>
          <a:prstGeom prst="line">
            <a:avLst/>
          </a:prstGeom>
          <a:ln w="28575" cap="flat" cmpd="sng">
            <a:solidFill>
              <a:srgbClr val="FF0000"/>
            </a:solidFill>
            <a:prstDash val="solid"/>
            <a:headEnd type="none" w="med" len="med"/>
            <a:tailEnd type="triangle" w="med" len="med"/>
          </a:ln>
        </p:spPr>
      </p:sp>
      <p:sp>
        <p:nvSpPr>
          <p:cNvPr id="42028" name="Line 1097"/>
          <p:cNvSpPr/>
          <p:nvPr/>
        </p:nvSpPr>
        <p:spPr>
          <a:xfrm flipV="1">
            <a:off x="3352800" y="1524000"/>
            <a:ext cx="1371600" cy="1295400"/>
          </a:xfrm>
          <a:prstGeom prst="line">
            <a:avLst/>
          </a:prstGeom>
          <a:ln w="28575" cap="flat" cmpd="sng">
            <a:solidFill>
              <a:srgbClr val="00CC00"/>
            </a:solidFill>
            <a:prstDash val="solid"/>
            <a:headEnd type="none" w="med" len="med"/>
            <a:tailEnd type="triangle" w="med" len="med"/>
          </a:ln>
        </p:spPr>
      </p:sp>
      <p:sp>
        <p:nvSpPr>
          <p:cNvPr id="42029" name="Line 1098"/>
          <p:cNvSpPr/>
          <p:nvPr/>
        </p:nvSpPr>
        <p:spPr>
          <a:xfrm flipV="1">
            <a:off x="3352800" y="2514600"/>
            <a:ext cx="1295400" cy="381000"/>
          </a:xfrm>
          <a:prstGeom prst="line">
            <a:avLst/>
          </a:prstGeom>
          <a:ln w="28575" cap="flat" cmpd="sng">
            <a:solidFill>
              <a:srgbClr val="00CC00"/>
            </a:solidFill>
            <a:prstDash val="solid"/>
            <a:headEnd type="none" w="med" len="med"/>
            <a:tailEnd type="triangle" w="med" len="med"/>
          </a:ln>
        </p:spPr>
      </p:sp>
      <p:sp>
        <p:nvSpPr>
          <p:cNvPr id="42030" name="Line 1099"/>
          <p:cNvSpPr/>
          <p:nvPr/>
        </p:nvSpPr>
        <p:spPr>
          <a:xfrm>
            <a:off x="3352800" y="3048000"/>
            <a:ext cx="1295400" cy="381000"/>
          </a:xfrm>
          <a:prstGeom prst="line">
            <a:avLst/>
          </a:prstGeom>
          <a:ln w="28575" cap="flat" cmpd="sng">
            <a:solidFill>
              <a:srgbClr val="00CC00"/>
            </a:solidFill>
            <a:prstDash val="solid"/>
            <a:headEnd type="none" w="med" len="med"/>
            <a:tailEnd type="triangle" w="med" len="med"/>
          </a:ln>
        </p:spPr>
      </p:sp>
      <p:sp>
        <p:nvSpPr>
          <p:cNvPr id="42031" name="Line 1100"/>
          <p:cNvSpPr/>
          <p:nvPr/>
        </p:nvSpPr>
        <p:spPr>
          <a:xfrm flipV="1">
            <a:off x="3352800" y="1524000"/>
            <a:ext cx="1371600" cy="1295400"/>
          </a:xfrm>
          <a:prstGeom prst="line">
            <a:avLst/>
          </a:prstGeom>
          <a:ln w="28575" cap="flat" cmpd="sng">
            <a:solidFill>
              <a:srgbClr val="FF0000"/>
            </a:solidFill>
            <a:prstDash val="solid"/>
            <a:headEnd type="none" w="med" len="med"/>
            <a:tailEnd type="triangle" w="med" len="med"/>
          </a:ln>
        </p:spPr>
      </p:sp>
      <p:sp>
        <p:nvSpPr>
          <p:cNvPr id="42032" name="Oval 1101"/>
          <p:cNvSpPr/>
          <p:nvPr/>
        </p:nvSpPr>
        <p:spPr>
          <a:xfrm>
            <a:off x="1447800" y="2209800"/>
            <a:ext cx="457200" cy="45720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2033" name="Line 1102"/>
          <p:cNvSpPr/>
          <p:nvPr/>
        </p:nvSpPr>
        <p:spPr>
          <a:xfrm flipV="1">
            <a:off x="1905000" y="1828800"/>
            <a:ext cx="990600" cy="457200"/>
          </a:xfrm>
          <a:prstGeom prst="line">
            <a:avLst/>
          </a:prstGeom>
          <a:ln w="28575" cap="flat" cmpd="sng">
            <a:solidFill>
              <a:srgbClr val="00CC00"/>
            </a:solidFill>
            <a:prstDash val="solid"/>
            <a:headEnd type="none" w="med" len="med"/>
            <a:tailEnd type="triangle" w="med" len="med"/>
          </a:ln>
        </p:spPr>
      </p:sp>
      <p:sp>
        <p:nvSpPr>
          <p:cNvPr id="42034" name="Line 1103"/>
          <p:cNvSpPr/>
          <p:nvPr/>
        </p:nvSpPr>
        <p:spPr>
          <a:xfrm>
            <a:off x="1828800" y="2667000"/>
            <a:ext cx="1066800" cy="228600"/>
          </a:xfrm>
          <a:prstGeom prst="line">
            <a:avLst/>
          </a:prstGeom>
          <a:ln w="28575" cap="flat" cmpd="sng">
            <a:solidFill>
              <a:srgbClr val="00CC00"/>
            </a:solidFill>
            <a:prstDash val="solid"/>
            <a:headEnd type="none" w="med" len="med"/>
            <a:tailEnd type="triangle" w="med" len="med"/>
          </a:ln>
        </p:spPr>
      </p:sp>
      <p:sp>
        <p:nvSpPr>
          <p:cNvPr id="42035" name="Line 1104"/>
          <p:cNvSpPr/>
          <p:nvPr/>
        </p:nvSpPr>
        <p:spPr>
          <a:xfrm flipV="1">
            <a:off x="1905000" y="1828800"/>
            <a:ext cx="990600" cy="457200"/>
          </a:xfrm>
          <a:prstGeom prst="line">
            <a:avLst/>
          </a:prstGeom>
          <a:ln w="28575" cap="flat" cmpd="sng">
            <a:solidFill>
              <a:srgbClr val="FF0000"/>
            </a:solidFill>
            <a:prstDash val="solid"/>
            <a:headEnd type="none" w="med" len="med"/>
            <a:tailEnd type="triangle" w="med" len="med"/>
          </a:ln>
        </p:spPr>
      </p:sp>
      <p:sp>
        <p:nvSpPr>
          <p:cNvPr id="41041" name="Rectangle 1105"/>
          <p:cNvSpPr/>
          <p:nvPr/>
        </p:nvSpPr>
        <p:spPr>
          <a:xfrm>
            <a:off x="1676400" y="4572000"/>
            <a:ext cx="5562600" cy="1554163"/>
          </a:xfrm>
          <a:prstGeom prst="rect">
            <a:avLst/>
          </a:prstGeom>
          <a:noFill/>
          <a:ln w="9525">
            <a:noFill/>
          </a:ln>
        </p:spPr>
        <p:txBody>
          <a:bodyPr>
            <a:spAutoFit/>
          </a:bodyPr>
          <a:p>
            <a:r>
              <a:rPr lang="zh-CN" altLang="en-US" sz="3200" dirty="0">
                <a:solidFill>
                  <a:schemeClr val="accent2"/>
                </a:solidFill>
                <a:latin typeface="Times New Roman" panose="02020603050405020304" pitchFamily="18" charset="0"/>
              </a:rPr>
              <a:t>最短路线为     </a:t>
            </a:r>
            <a:r>
              <a:rPr lang="en-US" altLang="zh-CN" sz="3200" i="1" dirty="0">
                <a:solidFill>
                  <a:schemeClr val="accent2"/>
                </a:solidFill>
                <a:latin typeface="Times New Roman" panose="02020603050405020304" pitchFamily="18" charset="0"/>
              </a:rPr>
              <a:t>A→B</a:t>
            </a:r>
            <a:r>
              <a:rPr lang="en-US" altLang="zh-CN" sz="3200" i="1" baseline="-25000" dirty="0">
                <a:solidFill>
                  <a:schemeClr val="accent2"/>
                </a:solidFill>
                <a:latin typeface="Times New Roman" panose="02020603050405020304" pitchFamily="18" charset="0"/>
              </a:rPr>
              <a:t>1</a:t>
            </a:r>
            <a:r>
              <a:rPr lang="en-US" altLang="zh-CN" sz="3200" dirty="0">
                <a:solidFill>
                  <a:schemeClr val="accent2"/>
                </a:solidFill>
                <a:latin typeface="Times New Roman" panose="02020603050405020304" pitchFamily="18" charset="0"/>
              </a:rPr>
              <a:t>→</a:t>
            </a:r>
            <a:r>
              <a:rPr lang="en-US" altLang="zh-CN" sz="3200" i="1" dirty="0">
                <a:solidFill>
                  <a:schemeClr val="accent2"/>
                </a:solidFill>
                <a:latin typeface="Times New Roman" panose="02020603050405020304" pitchFamily="18" charset="0"/>
              </a:rPr>
              <a:t>C</a:t>
            </a:r>
            <a:r>
              <a:rPr lang="en-US" altLang="zh-CN" sz="3200" i="1" baseline="-25000" dirty="0">
                <a:solidFill>
                  <a:schemeClr val="accent2"/>
                </a:solidFill>
                <a:latin typeface="Times New Roman" panose="02020603050405020304" pitchFamily="18" charset="0"/>
              </a:rPr>
              <a:t>1</a:t>
            </a:r>
            <a:r>
              <a:rPr lang="en-US" altLang="zh-CN" sz="3200" dirty="0">
                <a:solidFill>
                  <a:schemeClr val="accent2"/>
                </a:solidFill>
                <a:latin typeface="Times New Roman" panose="02020603050405020304" pitchFamily="18" charset="0"/>
              </a:rPr>
              <a:t> →</a:t>
            </a:r>
            <a:r>
              <a:rPr lang="en-US" altLang="zh-CN" sz="3200" i="1" dirty="0">
                <a:solidFill>
                  <a:schemeClr val="accent2"/>
                </a:solidFill>
                <a:latin typeface="Times New Roman" panose="02020603050405020304" pitchFamily="18" charset="0"/>
              </a:rPr>
              <a:t>D</a:t>
            </a:r>
            <a:endParaRPr lang="en-US" altLang="zh-CN" sz="3200" i="1" dirty="0">
              <a:solidFill>
                <a:schemeClr val="accent2"/>
              </a:solidFill>
              <a:latin typeface="Times New Roman" panose="02020603050405020304" pitchFamily="18" charset="0"/>
            </a:endParaRPr>
          </a:p>
          <a:p>
            <a:r>
              <a:rPr lang="en-US" altLang="zh-CN" sz="3200" dirty="0">
                <a:solidFill>
                  <a:schemeClr val="accent2"/>
                </a:solidFill>
                <a:latin typeface="Times New Roman" panose="02020603050405020304" pitchFamily="18" charset="0"/>
              </a:rPr>
              <a:t>           </a:t>
            </a:r>
            <a:endParaRPr lang="en-US" altLang="zh-CN" sz="3200" dirty="0">
              <a:solidFill>
                <a:schemeClr val="accent2"/>
              </a:solidFill>
              <a:latin typeface="Times New Roman" panose="02020603050405020304" pitchFamily="18" charset="0"/>
            </a:endParaRPr>
          </a:p>
          <a:p>
            <a:r>
              <a:rPr lang="en-US" altLang="zh-CN" sz="3200" dirty="0">
                <a:solidFill>
                  <a:schemeClr val="accent2"/>
                </a:solidFill>
                <a:latin typeface="Times New Roman" panose="02020603050405020304" pitchFamily="18" charset="0"/>
              </a:rPr>
              <a:t>                </a:t>
            </a:r>
            <a:r>
              <a:rPr lang="zh-CN" altLang="en-US" sz="3200" dirty="0">
                <a:solidFill>
                  <a:schemeClr val="accent2"/>
                </a:solidFill>
                <a:latin typeface="Times New Roman" panose="02020603050405020304" pitchFamily="18" charset="0"/>
              </a:rPr>
              <a:t>路长为 </a:t>
            </a:r>
            <a:r>
              <a:rPr lang="en-US" altLang="zh-CN" sz="3200" dirty="0">
                <a:solidFill>
                  <a:schemeClr val="accent2"/>
                </a:solidFill>
                <a:latin typeface="Times New Roman" panose="02020603050405020304" pitchFamily="18" charset="0"/>
              </a:rPr>
              <a:t>6</a:t>
            </a:r>
            <a:endParaRPr lang="en-US" altLang="zh-CN" sz="3200" dirty="0">
              <a:solidFill>
                <a:schemeClr val="accent2"/>
              </a:solidFill>
              <a:latin typeface="Times New Roman" panose="02020603050405020304" pitchFamily="18" charset="0"/>
            </a:endParaRPr>
          </a:p>
        </p:txBody>
      </p:sp>
      <p:sp>
        <p:nvSpPr>
          <p:cNvPr id="41042" name="Line 1106"/>
          <p:cNvSpPr/>
          <p:nvPr/>
        </p:nvSpPr>
        <p:spPr>
          <a:xfrm flipV="1">
            <a:off x="1905000" y="1828800"/>
            <a:ext cx="990600" cy="457200"/>
          </a:xfrm>
          <a:prstGeom prst="line">
            <a:avLst/>
          </a:prstGeom>
          <a:ln w="28575" cap="flat" cmpd="sng">
            <a:solidFill>
              <a:schemeClr val="accent2"/>
            </a:solidFill>
            <a:prstDash val="solid"/>
            <a:headEnd type="none" w="med" len="med"/>
            <a:tailEnd type="triangle" w="med" len="med"/>
          </a:ln>
        </p:spPr>
      </p:sp>
      <p:sp>
        <p:nvSpPr>
          <p:cNvPr id="41043" name="Line 1107"/>
          <p:cNvSpPr/>
          <p:nvPr/>
        </p:nvSpPr>
        <p:spPr>
          <a:xfrm flipV="1">
            <a:off x="3352800" y="1371600"/>
            <a:ext cx="1295400" cy="304800"/>
          </a:xfrm>
          <a:prstGeom prst="line">
            <a:avLst/>
          </a:prstGeom>
          <a:ln w="28575" cap="flat" cmpd="sng">
            <a:solidFill>
              <a:schemeClr val="accent2"/>
            </a:solidFill>
            <a:prstDash val="solid"/>
            <a:headEnd type="none" w="med" len="med"/>
            <a:tailEnd type="triangle" w="med" len="med"/>
          </a:ln>
        </p:spPr>
      </p:sp>
      <p:sp>
        <p:nvSpPr>
          <p:cNvPr id="41044" name="Line 1108"/>
          <p:cNvSpPr/>
          <p:nvPr/>
        </p:nvSpPr>
        <p:spPr>
          <a:xfrm>
            <a:off x="5105400" y="1371600"/>
            <a:ext cx="2057400" cy="914400"/>
          </a:xfrm>
          <a:prstGeom prst="line">
            <a:avLst/>
          </a:prstGeom>
          <a:ln w="28575" cap="flat" cmpd="sng">
            <a:solidFill>
              <a:schemeClr val="accent2"/>
            </a:solidFill>
            <a:prstDash val="solid"/>
            <a:headEnd type="none" w="med" len="med"/>
            <a:tailEnd type="triangle" w="med" len="med"/>
          </a:ln>
        </p:spPr>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1042"/>
                                        </p:tgtEl>
                                        <p:attrNameLst>
                                          <p:attrName>style.visibility</p:attrName>
                                        </p:attrNameLst>
                                      </p:cBhvr>
                                      <p:to>
                                        <p:strVal val="visible"/>
                                      </p:to>
                                    </p:set>
                                    <p:animEffect transition="in" filter="barn(outVertical)">
                                      <p:cBhvr>
                                        <p:cTn id="7" dur="500"/>
                                        <p:tgtEl>
                                          <p:spTgt spid="4104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41043"/>
                                        </p:tgtEl>
                                        <p:attrNameLst>
                                          <p:attrName>style.visibility</p:attrName>
                                        </p:attrNameLst>
                                      </p:cBhvr>
                                      <p:to>
                                        <p:strVal val="visible"/>
                                      </p:to>
                                    </p:set>
                                    <p:animEffect transition="in" filter="barn(outVertical)">
                                      <p:cBhvr>
                                        <p:cTn id="12" dur="500"/>
                                        <p:tgtEl>
                                          <p:spTgt spid="410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1044"/>
                                        </p:tgtEl>
                                        <p:attrNameLst>
                                          <p:attrName>style.visibility</p:attrName>
                                        </p:attrNameLst>
                                      </p:cBhvr>
                                      <p:to>
                                        <p:strVal val="visible"/>
                                      </p:to>
                                    </p:set>
                                    <p:animEffect transition="in" filter="barn(outVertical)">
                                      <p:cBhvr>
                                        <p:cTn id="17" dur="500"/>
                                        <p:tgtEl>
                                          <p:spTgt spid="410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041"/>
                                        </p:tgtEl>
                                        <p:attrNameLst>
                                          <p:attrName>style.visibility</p:attrName>
                                        </p:attrNameLst>
                                      </p:cBhvr>
                                      <p:to>
                                        <p:strVal val="visible"/>
                                      </p:to>
                                    </p:set>
                                    <p:animEffect transition="in" filter="blinds(horizontal)">
                                      <p:cBhvr>
                                        <p:cTn id="22" dur="500"/>
                                        <p:tgtEl>
                                          <p:spTgt spid="41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1"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3010" name="Text Box 2"/>
          <p:cNvSpPr txBox="1"/>
          <p:nvPr/>
        </p:nvSpPr>
        <p:spPr>
          <a:xfrm>
            <a:off x="533400" y="381000"/>
            <a:ext cx="1349375" cy="519113"/>
          </a:xfrm>
          <a:prstGeom prst="rect">
            <a:avLst/>
          </a:prstGeom>
          <a:noFill/>
          <a:ln w="9525">
            <a:noFill/>
          </a:ln>
        </p:spPr>
        <p:txBody>
          <a:bodyPr>
            <a:spAutoFit/>
          </a:bodyPr>
          <a:p>
            <a:pPr>
              <a:spcBef>
                <a:spcPct val="50000"/>
              </a:spcBef>
            </a:pPr>
            <a:r>
              <a:rPr lang="zh-CN" altLang="en-US" dirty="0">
                <a:solidFill>
                  <a:srgbClr val="000066"/>
                </a:solidFill>
                <a:latin typeface="Times New Roman" panose="02020603050405020304" pitchFamily="18" charset="0"/>
              </a:rPr>
              <a:t>练习</a:t>
            </a:r>
            <a:r>
              <a:rPr lang="en-US" altLang="zh-CN" dirty="0">
                <a:solidFill>
                  <a:srgbClr val="000066"/>
                </a:solidFill>
                <a:latin typeface="Times New Roman" panose="02020603050405020304" pitchFamily="18" charset="0"/>
              </a:rPr>
              <a:t>1</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
        <p:nvSpPr>
          <p:cNvPr id="43011" name="Oval 3"/>
          <p:cNvSpPr/>
          <p:nvPr/>
        </p:nvSpPr>
        <p:spPr>
          <a:xfrm>
            <a:off x="2286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3012" name="Oval 4"/>
          <p:cNvSpPr/>
          <p:nvPr/>
        </p:nvSpPr>
        <p:spPr>
          <a:xfrm>
            <a:off x="1295400" y="1828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13" name="Oval 5"/>
          <p:cNvSpPr/>
          <p:nvPr/>
        </p:nvSpPr>
        <p:spPr>
          <a:xfrm>
            <a:off x="1371600" y="3352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14" name="Oval 6"/>
          <p:cNvSpPr/>
          <p:nvPr/>
        </p:nvSpPr>
        <p:spPr>
          <a:xfrm>
            <a:off x="2895600" y="1066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15" name="Oval 7"/>
          <p:cNvSpPr/>
          <p:nvPr/>
        </p:nvSpPr>
        <p:spPr>
          <a:xfrm>
            <a:off x="2819400" y="2133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43016" name="Oval 8"/>
          <p:cNvSpPr/>
          <p:nvPr/>
        </p:nvSpPr>
        <p:spPr>
          <a:xfrm>
            <a:off x="2819400" y="3429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17" name="Oval 9"/>
          <p:cNvSpPr/>
          <p:nvPr/>
        </p:nvSpPr>
        <p:spPr>
          <a:xfrm>
            <a:off x="2819400" y="4572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3018" name="Oval 10"/>
          <p:cNvSpPr/>
          <p:nvPr/>
        </p:nvSpPr>
        <p:spPr>
          <a:xfrm>
            <a:off x="4419600" y="1600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19" name="Oval 11"/>
          <p:cNvSpPr/>
          <p:nvPr/>
        </p:nvSpPr>
        <p:spPr>
          <a:xfrm>
            <a:off x="44196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20" name="Oval 12"/>
          <p:cNvSpPr/>
          <p:nvPr/>
        </p:nvSpPr>
        <p:spPr>
          <a:xfrm>
            <a:off x="4419600" y="3962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21" name="Oval 13"/>
          <p:cNvSpPr/>
          <p:nvPr/>
        </p:nvSpPr>
        <p:spPr>
          <a:xfrm>
            <a:off x="6019800" y="1600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22" name="Oval 14"/>
          <p:cNvSpPr/>
          <p:nvPr/>
        </p:nvSpPr>
        <p:spPr>
          <a:xfrm>
            <a:off x="60198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23" name="Oval 15"/>
          <p:cNvSpPr/>
          <p:nvPr/>
        </p:nvSpPr>
        <p:spPr>
          <a:xfrm>
            <a:off x="6096000" y="4038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24" name="Oval 16"/>
          <p:cNvSpPr/>
          <p:nvPr/>
        </p:nvSpPr>
        <p:spPr>
          <a:xfrm>
            <a:off x="7391400" y="2133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25" name="Oval 17"/>
          <p:cNvSpPr/>
          <p:nvPr/>
        </p:nvSpPr>
        <p:spPr>
          <a:xfrm>
            <a:off x="7391400" y="3581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26" name="Oval 18"/>
          <p:cNvSpPr/>
          <p:nvPr/>
        </p:nvSpPr>
        <p:spPr>
          <a:xfrm>
            <a:off x="8458200" y="2743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43027" name="Line 21"/>
          <p:cNvSpPr/>
          <p:nvPr/>
        </p:nvSpPr>
        <p:spPr>
          <a:xfrm flipV="1">
            <a:off x="609600" y="2209800"/>
            <a:ext cx="762000" cy="609600"/>
          </a:xfrm>
          <a:prstGeom prst="line">
            <a:avLst/>
          </a:prstGeom>
          <a:ln w="28575" cap="flat" cmpd="sng">
            <a:solidFill>
              <a:schemeClr val="tx1"/>
            </a:solidFill>
            <a:prstDash val="solid"/>
            <a:headEnd type="none" w="med" len="med"/>
            <a:tailEnd type="triangle" w="med" len="med"/>
          </a:ln>
        </p:spPr>
      </p:sp>
      <p:sp>
        <p:nvSpPr>
          <p:cNvPr id="43028" name="Line 22"/>
          <p:cNvSpPr/>
          <p:nvPr/>
        </p:nvSpPr>
        <p:spPr>
          <a:xfrm>
            <a:off x="609600" y="3124200"/>
            <a:ext cx="762000" cy="304800"/>
          </a:xfrm>
          <a:prstGeom prst="line">
            <a:avLst/>
          </a:prstGeom>
          <a:ln w="28575" cap="flat" cmpd="sng">
            <a:solidFill>
              <a:schemeClr val="tx1"/>
            </a:solidFill>
            <a:prstDash val="solid"/>
            <a:headEnd type="none" w="med" len="med"/>
            <a:tailEnd type="triangle" w="med" len="med"/>
          </a:ln>
        </p:spPr>
      </p:sp>
      <p:sp>
        <p:nvSpPr>
          <p:cNvPr id="43029" name="Line 23"/>
          <p:cNvSpPr/>
          <p:nvPr/>
        </p:nvSpPr>
        <p:spPr>
          <a:xfrm flipV="1">
            <a:off x="1676400" y="1371600"/>
            <a:ext cx="1219200" cy="533400"/>
          </a:xfrm>
          <a:prstGeom prst="line">
            <a:avLst/>
          </a:prstGeom>
          <a:ln w="28575" cap="flat" cmpd="sng">
            <a:solidFill>
              <a:schemeClr val="tx1"/>
            </a:solidFill>
            <a:prstDash val="solid"/>
            <a:headEnd type="none" w="med" len="med"/>
            <a:tailEnd type="triangle" w="med" len="med"/>
          </a:ln>
        </p:spPr>
      </p:sp>
      <p:sp>
        <p:nvSpPr>
          <p:cNvPr id="43030" name="Line 24"/>
          <p:cNvSpPr/>
          <p:nvPr/>
        </p:nvSpPr>
        <p:spPr>
          <a:xfrm>
            <a:off x="1752600" y="2057400"/>
            <a:ext cx="1066800" cy="304800"/>
          </a:xfrm>
          <a:prstGeom prst="line">
            <a:avLst/>
          </a:prstGeom>
          <a:ln w="28575" cap="flat" cmpd="sng">
            <a:solidFill>
              <a:schemeClr val="tx1"/>
            </a:solidFill>
            <a:prstDash val="solid"/>
            <a:headEnd type="none" w="med" len="med"/>
            <a:tailEnd type="triangle" w="med" len="med"/>
          </a:ln>
        </p:spPr>
      </p:sp>
      <p:sp>
        <p:nvSpPr>
          <p:cNvPr id="43031" name="Line 25"/>
          <p:cNvSpPr/>
          <p:nvPr/>
        </p:nvSpPr>
        <p:spPr>
          <a:xfrm>
            <a:off x="1676400" y="2286000"/>
            <a:ext cx="1219200" cy="1219200"/>
          </a:xfrm>
          <a:prstGeom prst="line">
            <a:avLst/>
          </a:prstGeom>
          <a:ln w="28575" cap="flat" cmpd="sng">
            <a:solidFill>
              <a:schemeClr val="tx1"/>
            </a:solidFill>
            <a:prstDash val="solid"/>
            <a:headEnd type="none" w="med" len="med"/>
            <a:tailEnd type="triangle" w="med" len="med"/>
          </a:ln>
        </p:spPr>
      </p:sp>
      <p:sp>
        <p:nvSpPr>
          <p:cNvPr id="43032" name="Line 26"/>
          <p:cNvSpPr/>
          <p:nvPr/>
        </p:nvSpPr>
        <p:spPr>
          <a:xfrm flipV="1">
            <a:off x="1752600" y="2438400"/>
            <a:ext cx="1066800" cy="990600"/>
          </a:xfrm>
          <a:prstGeom prst="line">
            <a:avLst/>
          </a:prstGeom>
          <a:ln w="28575" cap="flat" cmpd="sng">
            <a:solidFill>
              <a:schemeClr val="tx1"/>
            </a:solidFill>
            <a:prstDash val="solid"/>
            <a:headEnd type="none" w="med" len="med"/>
            <a:tailEnd type="triangle" w="med" len="med"/>
          </a:ln>
        </p:spPr>
      </p:sp>
      <p:sp>
        <p:nvSpPr>
          <p:cNvPr id="43033" name="Line 27"/>
          <p:cNvSpPr/>
          <p:nvPr/>
        </p:nvSpPr>
        <p:spPr>
          <a:xfrm>
            <a:off x="1828800" y="3657600"/>
            <a:ext cx="990600" cy="0"/>
          </a:xfrm>
          <a:prstGeom prst="line">
            <a:avLst/>
          </a:prstGeom>
          <a:ln w="28575" cap="flat" cmpd="sng">
            <a:solidFill>
              <a:schemeClr val="tx1"/>
            </a:solidFill>
            <a:prstDash val="solid"/>
            <a:headEnd type="none" w="med" len="med"/>
            <a:tailEnd type="triangle" w="med" len="med"/>
          </a:ln>
        </p:spPr>
      </p:sp>
      <p:sp>
        <p:nvSpPr>
          <p:cNvPr id="43034" name="Line 28"/>
          <p:cNvSpPr/>
          <p:nvPr/>
        </p:nvSpPr>
        <p:spPr>
          <a:xfrm>
            <a:off x="1752600" y="3733800"/>
            <a:ext cx="1143000" cy="914400"/>
          </a:xfrm>
          <a:prstGeom prst="line">
            <a:avLst/>
          </a:prstGeom>
          <a:ln w="28575" cap="flat" cmpd="sng">
            <a:solidFill>
              <a:schemeClr val="tx1"/>
            </a:solidFill>
            <a:prstDash val="solid"/>
            <a:headEnd type="none" w="med" len="med"/>
            <a:tailEnd type="triangle" w="med" len="med"/>
          </a:ln>
        </p:spPr>
      </p:sp>
      <p:sp>
        <p:nvSpPr>
          <p:cNvPr id="43035" name="Line 29"/>
          <p:cNvSpPr/>
          <p:nvPr/>
        </p:nvSpPr>
        <p:spPr>
          <a:xfrm>
            <a:off x="3352800" y="1371600"/>
            <a:ext cx="1066800" cy="381000"/>
          </a:xfrm>
          <a:prstGeom prst="line">
            <a:avLst/>
          </a:prstGeom>
          <a:ln w="28575" cap="flat" cmpd="sng">
            <a:solidFill>
              <a:schemeClr val="tx1"/>
            </a:solidFill>
            <a:prstDash val="solid"/>
            <a:headEnd type="none" w="med" len="med"/>
            <a:tailEnd type="triangle" w="med" len="med"/>
          </a:ln>
        </p:spPr>
      </p:sp>
      <p:sp>
        <p:nvSpPr>
          <p:cNvPr id="43036" name="Line 30"/>
          <p:cNvSpPr/>
          <p:nvPr/>
        </p:nvSpPr>
        <p:spPr>
          <a:xfrm>
            <a:off x="3276600" y="1524000"/>
            <a:ext cx="1219200" cy="1295400"/>
          </a:xfrm>
          <a:prstGeom prst="line">
            <a:avLst/>
          </a:prstGeom>
          <a:ln w="28575" cap="flat" cmpd="sng">
            <a:solidFill>
              <a:schemeClr val="tx1"/>
            </a:solidFill>
            <a:prstDash val="solid"/>
            <a:headEnd type="none" w="med" len="med"/>
            <a:tailEnd type="triangle" w="med" len="med"/>
          </a:ln>
        </p:spPr>
      </p:sp>
      <p:sp>
        <p:nvSpPr>
          <p:cNvPr id="43037" name="Line 31"/>
          <p:cNvSpPr/>
          <p:nvPr/>
        </p:nvSpPr>
        <p:spPr>
          <a:xfrm flipV="1">
            <a:off x="3276600" y="1905000"/>
            <a:ext cx="1143000" cy="457200"/>
          </a:xfrm>
          <a:prstGeom prst="line">
            <a:avLst/>
          </a:prstGeom>
          <a:ln w="28575" cap="flat" cmpd="sng">
            <a:solidFill>
              <a:schemeClr val="tx1"/>
            </a:solidFill>
            <a:prstDash val="solid"/>
            <a:headEnd type="none" w="med" len="med"/>
            <a:tailEnd type="triangle" w="med" len="med"/>
          </a:ln>
        </p:spPr>
      </p:sp>
      <p:sp>
        <p:nvSpPr>
          <p:cNvPr id="43038" name="Line 32"/>
          <p:cNvSpPr/>
          <p:nvPr/>
        </p:nvSpPr>
        <p:spPr>
          <a:xfrm>
            <a:off x="3276600" y="2514600"/>
            <a:ext cx="1143000" cy="381000"/>
          </a:xfrm>
          <a:prstGeom prst="line">
            <a:avLst/>
          </a:prstGeom>
          <a:ln w="28575" cap="flat" cmpd="sng">
            <a:solidFill>
              <a:schemeClr val="tx1"/>
            </a:solidFill>
            <a:prstDash val="solid"/>
            <a:headEnd type="none" w="med" len="med"/>
            <a:tailEnd type="triangle" w="med" len="med"/>
          </a:ln>
        </p:spPr>
      </p:sp>
      <p:sp>
        <p:nvSpPr>
          <p:cNvPr id="43039" name="Line 33"/>
          <p:cNvSpPr/>
          <p:nvPr/>
        </p:nvSpPr>
        <p:spPr>
          <a:xfrm flipV="1">
            <a:off x="3276600" y="3048000"/>
            <a:ext cx="1143000" cy="609600"/>
          </a:xfrm>
          <a:prstGeom prst="line">
            <a:avLst/>
          </a:prstGeom>
          <a:ln w="28575" cap="flat" cmpd="sng">
            <a:solidFill>
              <a:schemeClr val="tx1"/>
            </a:solidFill>
            <a:prstDash val="solid"/>
            <a:headEnd type="none" w="med" len="med"/>
            <a:tailEnd type="triangle" w="med" len="med"/>
          </a:ln>
        </p:spPr>
      </p:sp>
      <p:sp>
        <p:nvSpPr>
          <p:cNvPr id="43040" name="Line 34"/>
          <p:cNvSpPr/>
          <p:nvPr/>
        </p:nvSpPr>
        <p:spPr>
          <a:xfrm>
            <a:off x="3276600" y="3810000"/>
            <a:ext cx="1143000" cy="304800"/>
          </a:xfrm>
          <a:prstGeom prst="line">
            <a:avLst/>
          </a:prstGeom>
          <a:ln w="28575" cap="flat" cmpd="sng">
            <a:solidFill>
              <a:schemeClr val="tx1"/>
            </a:solidFill>
            <a:prstDash val="solid"/>
            <a:headEnd type="none" w="med" len="med"/>
            <a:tailEnd type="triangle" w="med" len="med"/>
          </a:ln>
        </p:spPr>
      </p:sp>
      <p:sp>
        <p:nvSpPr>
          <p:cNvPr id="43041" name="Line 35"/>
          <p:cNvSpPr/>
          <p:nvPr/>
        </p:nvSpPr>
        <p:spPr>
          <a:xfrm flipV="1">
            <a:off x="3276600" y="4343400"/>
            <a:ext cx="1219200" cy="457200"/>
          </a:xfrm>
          <a:prstGeom prst="line">
            <a:avLst/>
          </a:prstGeom>
          <a:ln w="28575" cap="flat" cmpd="sng">
            <a:solidFill>
              <a:schemeClr val="tx1"/>
            </a:solidFill>
            <a:prstDash val="solid"/>
            <a:headEnd type="none" w="med" len="med"/>
            <a:tailEnd type="triangle" w="med" len="med"/>
          </a:ln>
        </p:spPr>
      </p:sp>
      <p:sp>
        <p:nvSpPr>
          <p:cNvPr id="43042" name="Line 36"/>
          <p:cNvSpPr/>
          <p:nvPr/>
        </p:nvSpPr>
        <p:spPr>
          <a:xfrm flipV="1">
            <a:off x="3276600" y="3124200"/>
            <a:ext cx="1295400" cy="1600200"/>
          </a:xfrm>
          <a:prstGeom prst="line">
            <a:avLst/>
          </a:prstGeom>
          <a:ln w="28575" cap="flat" cmpd="sng">
            <a:solidFill>
              <a:schemeClr val="tx1"/>
            </a:solidFill>
            <a:prstDash val="solid"/>
            <a:headEnd type="none" w="med" len="med"/>
            <a:tailEnd type="triangle" w="med" len="med"/>
          </a:ln>
        </p:spPr>
      </p:sp>
      <p:sp>
        <p:nvSpPr>
          <p:cNvPr id="43043" name="Line 37"/>
          <p:cNvSpPr/>
          <p:nvPr/>
        </p:nvSpPr>
        <p:spPr>
          <a:xfrm>
            <a:off x="4876800" y="1828800"/>
            <a:ext cx="1143000" cy="0"/>
          </a:xfrm>
          <a:prstGeom prst="line">
            <a:avLst/>
          </a:prstGeom>
          <a:ln w="28575" cap="flat" cmpd="sng">
            <a:solidFill>
              <a:schemeClr val="tx1"/>
            </a:solidFill>
            <a:prstDash val="solid"/>
            <a:headEnd type="none" w="med" len="med"/>
            <a:tailEnd type="triangle" w="med" len="med"/>
          </a:ln>
        </p:spPr>
      </p:sp>
      <p:sp>
        <p:nvSpPr>
          <p:cNvPr id="43044" name="Line 38"/>
          <p:cNvSpPr/>
          <p:nvPr/>
        </p:nvSpPr>
        <p:spPr>
          <a:xfrm>
            <a:off x="4876800" y="1981200"/>
            <a:ext cx="1219200" cy="914400"/>
          </a:xfrm>
          <a:prstGeom prst="line">
            <a:avLst/>
          </a:prstGeom>
          <a:ln w="28575" cap="flat" cmpd="sng">
            <a:solidFill>
              <a:schemeClr val="tx1"/>
            </a:solidFill>
            <a:prstDash val="solid"/>
            <a:headEnd type="none" w="med" len="med"/>
            <a:tailEnd type="triangle" w="med" len="med"/>
          </a:ln>
        </p:spPr>
      </p:sp>
      <p:sp>
        <p:nvSpPr>
          <p:cNvPr id="43045" name="Line 40"/>
          <p:cNvSpPr/>
          <p:nvPr/>
        </p:nvSpPr>
        <p:spPr>
          <a:xfrm>
            <a:off x="4876800" y="3048000"/>
            <a:ext cx="1143000" cy="0"/>
          </a:xfrm>
          <a:prstGeom prst="line">
            <a:avLst/>
          </a:prstGeom>
          <a:ln w="28575" cap="flat" cmpd="sng">
            <a:solidFill>
              <a:schemeClr val="tx1"/>
            </a:solidFill>
            <a:prstDash val="solid"/>
            <a:headEnd type="none" w="med" len="med"/>
            <a:tailEnd type="triangle" w="med" len="med"/>
          </a:ln>
        </p:spPr>
      </p:sp>
      <p:sp>
        <p:nvSpPr>
          <p:cNvPr id="43046" name="Line 42"/>
          <p:cNvSpPr/>
          <p:nvPr/>
        </p:nvSpPr>
        <p:spPr>
          <a:xfrm>
            <a:off x="4800600" y="3124200"/>
            <a:ext cx="1295400" cy="990600"/>
          </a:xfrm>
          <a:prstGeom prst="line">
            <a:avLst/>
          </a:prstGeom>
          <a:ln w="28575" cap="flat" cmpd="sng">
            <a:solidFill>
              <a:schemeClr val="tx1"/>
            </a:solidFill>
            <a:prstDash val="solid"/>
            <a:headEnd type="none" w="med" len="med"/>
            <a:tailEnd type="triangle" w="med" len="med"/>
          </a:ln>
        </p:spPr>
      </p:sp>
      <p:sp>
        <p:nvSpPr>
          <p:cNvPr id="43047" name="Line 43"/>
          <p:cNvSpPr/>
          <p:nvPr/>
        </p:nvSpPr>
        <p:spPr>
          <a:xfrm flipV="1">
            <a:off x="4876800" y="3124200"/>
            <a:ext cx="1219200" cy="990600"/>
          </a:xfrm>
          <a:prstGeom prst="line">
            <a:avLst/>
          </a:prstGeom>
          <a:ln w="28575" cap="flat" cmpd="sng">
            <a:solidFill>
              <a:schemeClr val="tx1"/>
            </a:solidFill>
            <a:prstDash val="solid"/>
            <a:headEnd type="none" w="med" len="med"/>
            <a:tailEnd type="triangle" w="med" len="med"/>
          </a:ln>
        </p:spPr>
      </p:sp>
      <p:sp>
        <p:nvSpPr>
          <p:cNvPr id="43048" name="Line 44"/>
          <p:cNvSpPr/>
          <p:nvPr/>
        </p:nvSpPr>
        <p:spPr>
          <a:xfrm>
            <a:off x="4876800" y="4267200"/>
            <a:ext cx="1219200" cy="0"/>
          </a:xfrm>
          <a:prstGeom prst="line">
            <a:avLst/>
          </a:prstGeom>
          <a:ln w="28575" cap="flat" cmpd="sng">
            <a:solidFill>
              <a:schemeClr val="tx1"/>
            </a:solidFill>
            <a:prstDash val="solid"/>
            <a:headEnd type="none" w="med" len="med"/>
            <a:tailEnd type="triangle" w="med" len="med"/>
          </a:ln>
        </p:spPr>
      </p:sp>
      <p:sp>
        <p:nvSpPr>
          <p:cNvPr id="43049" name="Line 45"/>
          <p:cNvSpPr/>
          <p:nvPr/>
        </p:nvSpPr>
        <p:spPr>
          <a:xfrm>
            <a:off x="6477000" y="1905000"/>
            <a:ext cx="990600" cy="304800"/>
          </a:xfrm>
          <a:prstGeom prst="line">
            <a:avLst/>
          </a:prstGeom>
          <a:ln w="28575" cap="flat" cmpd="sng">
            <a:solidFill>
              <a:schemeClr val="tx1"/>
            </a:solidFill>
            <a:prstDash val="solid"/>
            <a:headEnd type="none" w="med" len="med"/>
            <a:tailEnd type="triangle" w="med" len="med"/>
          </a:ln>
        </p:spPr>
      </p:sp>
      <p:sp>
        <p:nvSpPr>
          <p:cNvPr id="43050" name="Line 46"/>
          <p:cNvSpPr/>
          <p:nvPr/>
        </p:nvSpPr>
        <p:spPr>
          <a:xfrm flipV="1">
            <a:off x="6477000" y="2438400"/>
            <a:ext cx="914400" cy="533400"/>
          </a:xfrm>
          <a:prstGeom prst="line">
            <a:avLst/>
          </a:prstGeom>
          <a:ln w="28575" cap="flat" cmpd="sng">
            <a:solidFill>
              <a:schemeClr val="tx1"/>
            </a:solidFill>
            <a:prstDash val="solid"/>
            <a:headEnd type="none" w="med" len="med"/>
            <a:tailEnd type="triangle" w="med" len="med"/>
          </a:ln>
        </p:spPr>
      </p:sp>
      <p:sp>
        <p:nvSpPr>
          <p:cNvPr id="43051" name="Line 47"/>
          <p:cNvSpPr/>
          <p:nvPr/>
        </p:nvSpPr>
        <p:spPr>
          <a:xfrm>
            <a:off x="6477000" y="1981200"/>
            <a:ext cx="1066800" cy="1600200"/>
          </a:xfrm>
          <a:prstGeom prst="line">
            <a:avLst/>
          </a:prstGeom>
          <a:ln w="28575" cap="flat" cmpd="sng">
            <a:solidFill>
              <a:schemeClr val="tx1"/>
            </a:solidFill>
            <a:prstDash val="solid"/>
            <a:headEnd type="none" w="med" len="med"/>
            <a:tailEnd type="triangle" w="med" len="med"/>
          </a:ln>
        </p:spPr>
      </p:sp>
      <p:sp>
        <p:nvSpPr>
          <p:cNvPr id="43052" name="Line 48"/>
          <p:cNvSpPr/>
          <p:nvPr/>
        </p:nvSpPr>
        <p:spPr>
          <a:xfrm>
            <a:off x="6477000" y="3048000"/>
            <a:ext cx="990600" cy="609600"/>
          </a:xfrm>
          <a:prstGeom prst="line">
            <a:avLst/>
          </a:prstGeom>
          <a:ln w="28575" cap="flat" cmpd="sng">
            <a:solidFill>
              <a:schemeClr val="tx1"/>
            </a:solidFill>
            <a:prstDash val="solid"/>
            <a:headEnd type="none" w="med" len="med"/>
            <a:tailEnd type="triangle" w="med" len="med"/>
          </a:ln>
        </p:spPr>
      </p:sp>
      <p:sp>
        <p:nvSpPr>
          <p:cNvPr id="43053" name="Line 49"/>
          <p:cNvSpPr/>
          <p:nvPr/>
        </p:nvSpPr>
        <p:spPr>
          <a:xfrm flipV="1">
            <a:off x="6553200" y="2590800"/>
            <a:ext cx="990600" cy="1524000"/>
          </a:xfrm>
          <a:prstGeom prst="line">
            <a:avLst/>
          </a:prstGeom>
          <a:ln w="28575" cap="flat" cmpd="sng">
            <a:solidFill>
              <a:schemeClr val="tx1"/>
            </a:solidFill>
            <a:prstDash val="solid"/>
            <a:headEnd type="none" w="med" len="med"/>
            <a:tailEnd type="triangle" w="med" len="med"/>
          </a:ln>
        </p:spPr>
      </p:sp>
      <p:sp>
        <p:nvSpPr>
          <p:cNvPr id="43054" name="Line 50"/>
          <p:cNvSpPr/>
          <p:nvPr/>
        </p:nvSpPr>
        <p:spPr>
          <a:xfrm flipV="1">
            <a:off x="6553200" y="3962400"/>
            <a:ext cx="914400" cy="381000"/>
          </a:xfrm>
          <a:prstGeom prst="line">
            <a:avLst/>
          </a:prstGeom>
          <a:ln w="28575" cap="flat" cmpd="sng">
            <a:solidFill>
              <a:schemeClr val="tx1"/>
            </a:solidFill>
            <a:prstDash val="solid"/>
            <a:headEnd type="none" w="med" len="med"/>
            <a:tailEnd type="triangle" w="med" len="med"/>
          </a:ln>
        </p:spPr>
      </p:sp>
      <p:sp>
        <p:nvSpPr>
          <p:cNvPr id="43055" name="Line 51"/>
          <p:cNvSpPr/>
          <p:nvPr/>
        </p:nvSpPr>
        <p:spPr>
          <a:xfrm>
            <a:off x="7848600" y="2438400"/>
            <a:ext cx="685800" cy="381000"/>
          </a:xfrm>
          <a:prstGeom prst="line">
            <a:avLst/>
          </a:prstGeom>
          <a:ln w="28575" cap="flat" cmpd="sng">
            <a:solidFill>
              <a:schemeClr val="tx1"/>
            </a:solidFill>
            <a:prstDash val="solid"/>
            <a:headEnd type="none" w="med" len="med"/>
            <a:tailEnd type="triangle" w="med" len="med"/>
          </a:ln>
        </p:spPr>
      </p:sp>
      <p:sp>
        <p:nvSpPr>
          <p:cNvPr id="43056" name="Line 52"/>
          <p:cNvSpPr/>
          <p:nvPr/>
        </p:nvSpPr>
        <p:spPr>
          <a:xfrm flipV="1">
            <a:off x="7848600" y="3124200"/>
            <a:ext cx="685800" cy="609600"/>
          </a:xfrm>
          <a:prstGeom prst="line">
            <a:avLst/>
          </a:prstGeom>
          <a:ln w="28575" cap="flat" cmpd="sng">
            <a:solidFill>
              <a:schemeClr val="tx1"/>
            </a:solidFill>
            <a:prstDash val="solid"/>
            <a:headEnd type="none" w="med" len="med"/>
            <a:tailEnd type="triangle" w="med" len="med"/>
          </a:ln>
        </p:spPr>
      </p:sp>
      <p:sp>
        <p:nvSpPr>
          <p:cNvPr id="43057" name="Text Box 53"/>
          <p:cNvSpPr txBox="1"/>
          <p:nvPr/>
        </p:nvSpPr>
        <p:spPr>
          <a:xfrm>
            <a:off x="685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3058" name="Text Box 54"/>
          <p:cNvSpPr txBox="1"/>
          <p:nvPr/>
        </p:nvSpPr>
        <p:spPr>
          <a:xfrm>
            <a:off x="685800" y="3276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59" name="Text Box 55"/>
          <p:cNvSpPr txBox="1"/>
          <p:nvPr/>
        </p:nvSpPr>
        <p:spPr>
          <a:xfrm>
            <a:off x="18288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60" name="Text Box 56"/>
          <p:cNvSpPr txBox="1"/>
          <p:nvPr/>
        </p:nvSpPr>
        <p:spPr>
          <a:xfrm>
            <a:off x="2209800" y="1828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61" name="Text Box 57"/>
          <p:cNvSpPr txBox="1"/>
          <p:nvPr/>
        </p:nvSpPr>
        <p:spPr>
          <a:xfrm>
            <a:off x="1905000" y="2209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3062" name="Text Box 58"/>
          <p:cNvSpPr txBox="1"/>
          <p:nvPr/>
        </p:nvSpPr>
        <p:spPr>
          <a:xfrm>
            <a:off x="1752600" y="2819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3063" name="Text Box 59"/>
          <p:cNvSpPr txBox="1"/>
          <p:nvPr/>
        </p:nvSpPr>
        <p:spPr>
          <a:xfrm>
            <a:off x="1981200" y="3276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43064" name="Text Box 60"/>
          <p:cNvSpPr txBox="1"/>
          <p:nvPr/>
        </p:nvSpPr>
        <p:spPr>
          <a:xfrm>
            <a:off x="22098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3065" name="Text Box 61"/>
          <p:cNvSpPr txBox="1"/>
          <p:nvPr/>
        </p:nvSpPr>
        <p:spPr>
          <a:xfrm>
            <a:off x="3276600" y="1905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66" name="Text Box 62"/>
          <p:cNvSpPr txBox="1"/>
          <p:nvPr/>
        </p:nvSpPr>
        <p:spPr>
          <a:xfrm>
            <a:off x="3657600" y="1066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3067" name="Text Box 63"/>
          <p:cNvSpPr txBox="1"/>
          <p:nvPr/>
        </p:nvSpPr>
        <p:spPr>
          <a:xfrm>
            <a:off x="3581400" y="1600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3068" name="Text Box 64"/>
          <p:cNvSpPr txBox="1"/>
          <p:nvPr/>
        </p:nvSpPr>
        <p:spPr>
          <a:xfrm>
            <a:off x="3581400" y="2209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3069" name="Text Box 65"/>
          <p:cNvSpPr txBox="1"/>
          <p:nvPr/>
        </p:nvSpPr>
        <p:spPr>
          <a:xfrm>
            <a:off x="33528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70" name="Text Box 66"/>
          <p:cNvSpPr txBox="1"/>
          <p:nvPr/>
        </p:nvSpPr>
        <p:spPr>
          <a:xfrm>
            <a:off x="3505200" y="3505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71" name="Text Box 67"/>
          <p:cNvSpPr txBox="1"/>
          <p:nvPr/>
        </p:nvSpPr>
        <p:spPr>
          <a:xfrm>
            <a:off x="3276600" y="4114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3072" name="Text Box 68"/>
          <p:cNvSpPr txBox="1"/>
          <p:nvPr/>
        </p:nvSpPr>
        <p:spPr>
          <a:xfrm>
            <a:off x="3733800" y="4191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3073" name="Text Box 69"/>
          <p:cNvSpPr txBox="1"/>
          <p:nvPr/>
        </p:nvSpPr>
        <p:spPr>
          <a:xfrm>
            <a:off x="5257800" y="137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74" name="Text Box 70"/>
          <p:cNvSpPr txBox="1"/>
          <p:nvPr/>
        </p:nvSpPr>
        <p:spPr>
          <a:xfrm>
            <a:off x="5410200" y="205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75" name="Text Box 71"/>
          <p:cNvSpPr txBox="1"/>
          <p:nvPr/>
        </p:nvSpPr>
        <p:spPr>
          <a:xfrm>
            <a:off x="5181600" y="3048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76" name="Text Box 72"/>
          <p:cNvSpPr txBox="1"/>
          <p:nvPr/>
        </p:nvSpPr>
        <p:spPr>
          <a:xfrm>
            <a:off x="5029200" y="2667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3077" name="Text Box 73"/>
          <p:cNvSpPr txBox="1"/>
          <p:nvPr/>
        </p:nvSpPr>
        <p:spPr>
          <a:xfrm>
            <a:off x="4876800" y="3581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78" name="Text Box 74"/>
          <p:cNvSpPr txBox="1"/>
          <p:nvPr/>
        </p:nvSpPr>
        <p:spPr>
          <a:xfrm>
            <a:off x="7924800" y="3124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79" name="Text Box 75"/>
          <p:cNvSpPr txBox="1"/>
          <p:nvPr/>
        </p:nvSpPr>
        <p:spPr>
          <a:xfrm>
            <a:off x="6858000" y="1676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3080" name="Text Box 76"/>
          <p:cNvSpPr txBox="1"/>
          <p:nvPr/>
        </p:nvSpPr>
        <p:spPr>
          <a:xfrm>
            <a:off x="6781800" y="2133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3081" name="Text Box 77"/>
          <p:cNvSpPr txBox="1"/>
          <p:nvPr/>
        </p:nvSpPr>
        <p:spPr>
          <a:xfrm>
            <a:off x="6705600" y="2895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3082" name="Text Box 78"/>
          <p:cNvSpPr txBox="1"/>
          <p:nvPr/>
        </p:nvSpPr>
        <p:spPr>
          <a:xfrm>
            <a:off x="6477000" y="2438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3083" name="Text Box 79"/>
          <p:cNvSpPr txBox="1"/>
          <p:nvPr/>
        </p:nvSpPr>
        <p:spPr>
          <a:xfrm>
            <a:off x="6477000" y="3505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3084" name="Text Box 80"/>
          <p:cNvSpPr txBox="1"/>
          <p:nvPr/>
        </p:nvSpPr>
        <p:spPr>
          <a:xfrm>
            <a:off x="67818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3085" name="Text Box 81"/>
          <p:cNvSpPr txBox="1"/>
          <p:nvPr/>
        </p:nvSpPr>
        <p:spPr>
          <a:xfrm>
            <a:off x="8077200" y="2209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13394" name="Text Box 82"/>
          <p:cNvSpPr txBox="1"/>
          <p:nvPr/>
        </p:nvSpPr>
        <p:spPr>
          <a:xfrm>
            <a:off x="228600" y="5334000"/>
            <a:ext cx="8686800" cy="1160463"/>
          </a:xfrm>
          <a:prstGeom prst="rect">
            <a:avLst/>
          </a:prstGeom>
          <a:noFill/>
          <a:ln w="9525">
            <a:noFill/>
          </a:ln>
        </p:spPr>
        <p:txBody>
          <a:bodyPr>
            <a:spAutoFit/>
          </a:bodyPr>
          <a:p>
            <a:pPr>
              <a:spcBef>
                <a:spcPct val="50000"/>
              </a:spcBef>
            </a:pPr>
            <a:r>
              <a:rPr lang="zh-CN" altLang="en-US" dirty="0">
                <a:solidFill>
                  <a:srgbClr val="FF6600"/>
                </a:solidFill>
                <a:latin typeface="Times New Roman" panose="02020603050405020304" pitchFamily="18" charset="0"/>
              </a:rPr>
              <a:t>最优路线为：</a:t>
            </a:r>
            <a:r>
              <a:rPr lang="en-US" altLang="zh-CN" i="1" dirty="0">
                <a:solidFill>
                  <a:srgbClr val="FF6600"/>
                </a:solidFill>
                <a:latin typeface="Times New Roman" panose="02020603050405020304" pitchFamily="18" charset="0"/>
              </a:rPr>
              <a:t>A → </a:t>
            </a:r>
            <a:r>
              <a:rPr lang="en-US" altLang="zh-CN" i="1" dirty="0">
                <a:solidFill>
                  <a:srgbClr val="FF6600"/>
                </a:solidFill>
                <a:latin typeface="Times New Roman" panose="02020603050405020304" pitchFamily="18" charset="0"/>
                <a:ea typeface="宋体" panose="02010600030101010101" pitchFamily="2" charset="-122"/>
              </a:rPr>
              <a:t>B</a:t>
            </a:r>
            <a:r>
              <a:rPr lang="en-US" altLang="zh-CN" i="1" baseline="-25000" dirty="0">
                <a:solidFill>
                  <a:srgbClr val="FF6600"/>
                </a:solidFill>
                <a:latin typeface="Times New Roman" panose="02020603050405020304" pitchFamily="18" charset="0"/>
                <a:ea typeface="宋体" panose="02010600030101010101" pitchFamily="2" charset="-122"/>
              </a:rPr>
              <a:t>1 </a:t>
            </a:r>
            <a:r>
              <a:rPr lang="en-US" altLang="zh-CN" i="1" dirty="0">
                <a:solidFill>
                  <a:srgbClr val="FF6600"/>
                </a:solidFill>
                <a:latin typeface="Times New Roman" panose="02020603050405020304" pitchFamily="18" charset="0"/>
              </a:rPr>
              <a:t>→ </a:t>
            </a:r>
            <a:r>
              <a:rPr lang="en-US" altLang="zh-CN" i="1" dirty="0">
                <a:solidFill>
                  <a:srgbClr val="FF6600"/>
                </a:solidFill>
                <a:latin typeface="Times New Roman" panose="02020603050405020304" pitchFamily="18" charset="0"/>
                <a:ea typeface="宋体" panose="02010600030101010101" pitchFamily="2" charset="-122"/>
              </a:rPr>
              <a:t>C</a:t>
            </a:r>
            <a:r>
              <a:rPr lang="en-US" altLang="zh-CN" i="1" baseline="-25000" dirty="0">
                <a:solidFill>
                  <a:srgbClr val="FF6600"/>
                </a:solidFill>
                <a:latin typeface="Times New Roman" panose="02020603050405020304" pitchFamily="18" charset="0"/>
                <a:ea typeface="宋体" panose="02010600030101010101" pitchFamily="2" charset="-122"/>
              </a:rPr>
              <a:t>2 </a:t>
            </a:r>
            <a:r>
              <a:rPr lang="en-US" altLang="zh-CN" i="1" dirty="0">
                <a:solidFill>
                  <a:srgbClr val="FF6600"/>
                </a:solidFill>
                <a:latin typeface="Times New Roman" panose="02020603050405020304" pitchFamily="18" charset="0"/>
              </a:rPr>
              <a:t>→ </a:t>
            </a:r>
            <a:r>
              <a:rPr lang="en-US" altLang="zh-CN" i="1" dirty="0">
                <a:solidFill>
                  <a:srgbClr val="FF6600"/>
                </a:solidFill>
                <a:latin typeface="Times New Roman" panose="02020603050405020304" pitchFamily="18" charset="0"/>
                <a:ea typeface="宋体" panose="02010600030101010101" pitchFamily="2" charset="-122"/>
              </a:rPr>
              <a:t>D</a:t>
            </a:r>
            <a:r>
              <a:rPr lang="en-US" altLang="zh-CN" i="1" baseline="-25000" dirty="0">
                <a:solidFill>
                  <a:srgbClr val="FF6600"/>
                </a:solidFill>
                <a:latin typeface="Times New Roman" panose="02020603050405020304" pitchFamily="18" charset="0"/>
                <a:ea typeface="宋体" panose="02010600030101010101" pitchFamily="2" charset="-122"/>
              </a:rPr>
              <a:t>1 </a:t>
            </a:r>
            <a:r>
              <a:rPr lang="en-US" altLang="zh-CN" i="1" dirty="0">
                <a:solidFill>
                  <a:srgbClr val="FF6600"/>
                </a:solidFill>
                <a:latin typeface="Times New Roman" panose="02020603050405020304" pitchFamily="18" charset="0"/>
              </a:rPr>
              <a:t>→ </a:t>
            </a:r>
            <a:r>
              <a:rPr lang="en-US" altLang="zh-CN" i="1" dirty="0">
                <a:solidFill>
                  <a:srgbClr val="FF6600"/>
                </a:solidFill>
                <a:latin typeface="Times New Roman" panose="02020603050405020304" pitchFamily="18" charset="0"/>
                <a:ea typeface="宋体" panose="02010600030101010101" pitchFamily="2" charset="-122"/>
              </a:rPr>
              <a:t>E</a:t>
            </a:r>
            <a:r>
              <a:rPr lang="en-US" altLang="zh-CN" i="1" baseline="-25000" dirty="0">
                <a:solidFill>
                  <a:srgbClr val="FF6600"/>
                </a:solidFill>
                <a:latin typeface="Times New Roman" panose="02020603050405020304" pitchFamily="18" charset="0"/>
                <a:ea typeface="宋体" panose="02010600030101010101" pitchFamily="2" charset="-122"/>
              </a:rPr>
              <a:t>2 </a:t>
            </a:r>
            <a:r>
              <a:rPr lang="en-US" altLang="zh-CN" i="1" dirty="0">
                <a:solidFill>
                  <a:srgbClr val="FF6600"/>
                </a:solidFill>
                <a:latin typeface="Times New Roman" panose="02020603050405020304" pitchFamily="18" charset="0"/>
              </a:rPr>
              <a:t>→ </a:t>
            </a:r>
            <a:r>
              <a:rPr lang="en-US" altLang="zh-CN" i="1" dirty="0">
                <a:solidFill>
                  <a:srgbClr val="FF6600"/>
                </a:solidFill>
                <a:latin typeface="Times New Roman" panose="02020603050405020304" pitchFamily="18" charset="0"/>
                <a:ea typeface="宋体" panose="02010600030101010101" pitchFamily="2" charset="-122"/>
              </a:rPr>
              <a:t>F</a:t>
            </a:r>
            <a:r>
              <a:rPr lang="en-US" altLang="zh-CN" i="1" baseline="-25000" dirty="0">
                <a:solidFill>
                  <a:srgbClr val="FF6600"/>
                </a:solidFill>
                <a:latin typeface="Times New Roman" panose="02020603050405020304" pitchFamily="18" charset="0"/>
                <a:ea typeface="宋体" panose="02010600030101010101" pitchFamily="2" charset="-122"/>
              </a:rPr>
              <a:t>2 </a:t>
            </a:r>
            <a:r>
              <a:rPr lang="en-US" altLang="zh-CN" i="1" dirty="0">
                <a:solidFill>
                  <a:srgbClr val="FF6600"/>
                </a:solidFill>
                <a:latin typeface="Times New Roman" panose="02020603050405020304" pitchFamily="18" charset="0"/>
              </a:rPr>
              <a:t>→ </a:t>
            </a:r>
            <a:r>
              <a:rPr lang="en-US" altLang="zh-CN" i="1" dirty="0">
                <a:solidFill>
                  <a:srgbClr val="FF6600"/>
                </a:solidFill>
                <a:latin typeface="Times New Roman" panose="02020603050405020304" pitchFamily="18" charset="0"/>
                <a:ea typeface="宋体" panose="02010600030101010101" pitchFamily="2" charset="-122"/>
              </a:rPr>
              <a:t>G</a:t>
            </a:r>
            <a:endParaRPr lang="en-US" altLang="zh-CN" i="1" dirty="0">
              <a:solidFill>
                <a:srgbClr val="FF6600"/>
              </a:solidFill>
              <a:latin typeface="Times New Roman" panose="02020603050405020304" pitchFamily="18" charset="0"/>
              <a:ea typeface="宋体" panose="02010600030101010101" pitchFamily="2" charset="-122"/>
            </a:endParaRPr>
          </a:p>
          <a:p>
            <a:pPr>
              <a:spcBef>
                <a:spcPct val="50000"/>
              </a:spcBef>
            </a:pPr>
            <a:r>
              <a:rPr lang="en-US" altLang="zh-CN" i="1" dirty="0">
                <a:solidFill>
                  <a:srgbClr val="FF6600"/>
                </a:solidFill>
                <a:latin typeface="Times New Roman" panose="02020603050405020304" pitchFamily="18" charset="0"/>
                <a:ea typeface="宋体" panose="02010600030101010101" pitchFamily="2" charset="-122"/>
              </a:rPr>
              <a:t>                           </a:t>
            </a:r>
            <a:r>
              <a:rPr lang="zh-CN" altLang="en-US" dirty="0">
                <a:solidFill>
                  <a:srgbClr val="FF6600"/>
                </a:solidFill>
                <a:latin typeface="Times New Roman" panose="02020603050405020304" pitchFamily="18" charset="0"/>
              </a:rPr>
              <a:t>路长</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18</a:t>
            </a:r>
            <a:endParaRPr lang="en-US" altLang="zh-CN" dirty="0">
              <a:solidFill>
                <a:srgbClr val="FF6600"/>
              </a:solidFill>
              <a:latin typeface="Times New Roman" panose="02020603050405020304" pitchFamily="18" charset="0"/>
              <a:ea typeface="宋体" panose="02010600030101010101" pitchFamily="2" charset="-122"/>
            </a:endParaRPr>
          </a:p>
        </p:txBody>
      </p:sp>
      <p:sp>
        <p:nvSpPr>
          <p:cNvPr id="13395" name="Line 83"/>
          <p:cNvSpPr/>
          <p:nvPr/>
        </p:nvSpPr>
        <p:spPr>
          <a:xfrm flipV="1">
            <a:off x="609600" y="2209800"/>
            <a:ext cx="762000" cy="609600"/>
          </a:xfrm>
          <a:prstGeom prst="line">
            <a:avLst/>
          </a:prstGeom>
          <a:ln w="28575" cap="flat" cmpd="sng">
            <a:solidFill>
              <a:srgbClr val="FF0000"/>
            </a:solidFill>
            <a:prstDash val="solid"/>
            <a:headEnd type="none" w="med" len="med"/>
            <a:tailEnd type="triangle" w="med" len="med"/>
          </a:ln>
        </p:spPr>
      </p:sp>
      <p:sp>
        <p:nvSpPr>
          <p:cNvPr id="13396" name="Line 84"/>
          <p:cNvSpPr/>
          <p:nvPr/>
        </p:nvSpPr>
        <p:spPr>
          <a:xfrm>
            <a:off x="1752600" y="2057400"/>
            <a:ext cx="1066800" cy="304800"/>
          </a:xfrm>
          <a:prstGeom prst="line">
            <a:avLst/>
          </a:prstGeom>
          <a:ln w="28575" cap="flat" cmpd="sng">
            <a:solidFill>
              <a:srgbClr val="FF0000"/>
            </a:solidFill>
            <a:prstDash val="solid"/>
            <a:headEnd type="none" w="med" len="med"/>
            <a:tailEnd type="triangle" w="med" len="med"/>
          </a:ln>
        </p:spPr>
      </p:sp>
      <p:sp>
        <p:nvSpPr>
          <p:cNvPr id="13397" name="Line 85"/>
          <p:cNvSpPr/>
          <p:nvPr/>
        </p:nvSpPr>
        <p:spPr>
          <a:xfrm flipV="1">
            <a:off x="3276600" y="1905000"/>
            <a:ext cx="1143000" cy="457200"/>
          </a:xfrm>
          <a:prstGeom prst="line">
            <a:avLst/>
          </a:prstGeom>
          <a:ln w="28575" cap="flat" cmpd="sng">
            <a:solidFill>
              <a:srgbClr val="FF0000"/>
            </a:solidFill>
            <a:prstDash val="solid"/>
            <a:headEnd type="none" w="med" len="med"/>
            <a:tailEnd type="triangle" w="med" len="med"/>
          </a:ln>
        </p:spPr>
      </p:sp>
      <p:sp>
        <p:nvSpPr>
          <p:cNvPr id="13398" name="Line 86"/>
          <p:cNvSpPr/>
          <p:nvPr/>
        </p:nvSpPr>
        <p:spPr>
          <a:xfrm>
            <a:off x="4876800" y="1981200"/>
            <a:ext cx="1219200" cy="914400"/>
          </a:xfrm>
          <a:prstGeom prst="line">
            <a:avLst/>
          </a:prstGeom>
          <a:ln w="28575" cap="flat" cmpd="sng">
            <a:solidFill>
              <a:srgbClr val="FF0000"/>
            </a:solidFill>
            <a:prstDash val="solid"/>
            <a:headEnd type="none" w="med" len="med"/>
            <a:tailEnd type="triangle" w="med" len="med"/>
          </a:ln>
        </p:spPr>
      </p:sp>
      <p:sp>
        <p:nvSpPr>
          <p:cNvPr id="13399" name="Line 87"/>
          <p:cNvSpPr/>
          <p:nvPr/>
        </p:nvSpPr>
        <p:spPr>
          <a:xfrm>
            <a:off x="6477000" y="3048000"/>
            <a:ext cx="990600" cy="609600"/>
          </a:xfrm>
          <a:prstGeom prst="line">
            <a:avLst/>
          </a:prstGeom>
          <a:ln w="28575" cap="flat" cmpd="sng">
            <a:solidFill>
              <a:srgbClr val="FF0000"/>
            </a:solidFill>
            <a:prstDash val="solid"/>
            <a:headEnd type="none" w="med" len="med"/>
            <a:tailEnd type="triangle" w="med" len="med"/>
          </a:ln>
        </p:spPr>
      </p:sp>
      <p:sp>
        <p:nvSpPr>
          <p:cNvPr id="13400" name="Line 88"/>
          <p:cNvSpPr/>
          <p:nvPr/>
        </p:nvSpPr>
        <p:spPr>
          <a:xfrm flipV="1">
            <a:off x="7848600" y="3124200"/>
            <a:ext cx="685800" cy="609600"/>
          </a:xfrm>
          <a:prstGeom prst="line">
            <a:avLst/>
          </a:prstGeom>
          <a:ln w="28575" cap="flat" cmpd="sng">
            <a:solidFill>
              <a:srgbClr val="FF0000"/>
            </a:solidFill>
            <a:prstDash val="solid"/>
            <a:headEnd type="none" w="med" len="med"/>
            <a:tailEnd type="triangle" w="med" len="med"/>
          </a:ln>
        </p:spPr>
      </p:sp>
      <p:sp>
        <p:nvSpPr>
          <p:cNvPr id="43093" name="Line 90"/>
          <p:cNvSpPr/>
          <p:nvPr/>
        </p:nvSpPr>
        <p:spPr>
          <a:xfrm>
            <a:off x="609600" y="3124200"/>
            <a:ext cx="762000" cy="304800"/>
          </a:xfrm>
          <a:prstGeom prst="line">
            <a:avLst/>
          </a:prstGeom>
          <a:ln w="9525" cap="flat" cmpd="sng">
            <a:solidFill>
              <a:schemeClr val="tx1"/>
            </a:solidFill>
            <a:prstDash val="solid"/>
            <a:headEnd type="none" w="med" len="med"/>
            <a:tailEnd type="triangle" w="med" len="med"/>
          </a:ln>
        </p:spPr>
      </p:sp>
      <p:sp>
        <p:nvSpPr>
          <p:cNvPr id="43094" name="Text Box 91"/>
          <p:cNvSpPr txBox="1"/>
          <p:nvPr/>
        </p:nvSpPr>
        <p:spPr>
          <a:xfrm>
            <a:off x="1828800" y="381000"/>
            <a:ext cx="36576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求从</a:t>
            </a:r>
            <a:r>
              <a:rPr lang="en-US" altLang="zh-CN" dirty="0">
                <a:solidFill>
                  <a:srgbClr val="000066"/>
                </a:solidFill>
                <a:latin typeface="Times New Roman" panose="02020603050405020304" pitchFamily="18" charset="0"/>
              </a:rPr>
              <a:t>A</a:t>
            </a:r>
            <a:r>
              <a:rPr lang="zh-CN" altLang="en-US" dirty="0">
                <a:solidFill>
                  <a:srgbClr val="000066"/>
                </a:solidFill>
                <a:latin typeface="楷体_GB2312" pitchFamily="49" charset="-122"/>
              </a:rPr>
              <a:t>到</a:t>
            </a:r>
            <a:r>
              <a:rPr lang="en-US" altLang="zh-CN" dirty="0">
                <a:solidFill>
                  <a:srgbClr val="000066"/>
                </a:solidFill>
                <a:latin typeface="Times New Roman" panose="02020603050405020304" pitchFamily="18" charset="0"/>
              </a:rPr>
              <a:t>G</a:t>
            </a:r>
            <a:r>
              <a:rPr lang="zh-CN" altLang="en-US" dirty="0">
                <a:solidFill>
                  <a:srgbClr val="000066"/>
                </a:solidFill>
                <a:latin typeface="楷体_GB2312" pitchFamily="49" charset="-122"/>
              </a:rPr>
              <a:t>的最短路径</a:t>
            </a:r>
            <a:endParaRPr lang="zh-CN" altLang="en-US" dirty="0">
              <a:solidFill>
                <a:srgbClr val="000066"/>
              </a:solidFill>
              <a:latin typeface="楷体_GB2312" pitchFamily="49" charset="-122"/>
            </a:endParaRPr>
          </a:p>
        </p:txBody>
      </p:sp>
      <p:sp>
        <p:nvSpPr>
          <p:cNvPr id="43095" name="Text Box 92"/>
          <p:cNvSpPr txBox="1"/>
          <p:nvPr/>
        </p:nvSpPr>
        <p:spPr>
          <a:xfrm>
            <a:off x="5105400" y="4267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3395"/>
                                        </p:tgtEl>
                                        <p:attrNameLst>
                                          <p:attrName>style.visibility</p:attrName>
                                        </p:attrNameLst>
                                      </p:cBhvr>
                                      <p:to>
                                        <p:strVal val="visible"/>
                                      </p:to>
                                    </p:set>
                                    <p:animEffect transition="in" filter="barn(outVertical)">
                                      <p:cBhvr>
                                        <p:cTn id="7" dur="500"/>
                                        <p:tgtEl>
                                          <p:spTgt spid="1339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3396"/>
                                        </p:tgtEl>
                                        <p:attrNameLst>
                                          <p:attrName>style.visibility</p:attrName>
                                        </p:attrNameLst>
                                      </p:cBhvr>
                                      <p:to>
                                        <p:strVal val="visible"/>
                                      </p:to>
                                    </p:set>
                                    <p:animEffect transition="in" filter="barn(outVertical)">
                                      <p:cBhvr>
                                        <p:cTn id="12" dur="500"/>
                                        <p:tgtEl>
                                          <p:spTgt spid="1339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3397"/>
                                        </p:tgtEl>
                                        <p:attrNameLst>
                                          <p:attrName>style.visibility</p:attrName>
                                        </p:attrNameLst>
                                      </p:cBhvr>
                                      <p:to>
                                        <p:strVal val="visible"/>
                                      </p:to>
                                    </p:set>
                                    <p:animEffect transition="in" filter="barn(outVertical)">
                                      <p:cBhvr>
                                        <p:cTn id="17" dur="500"/>
                                        <p:tgtEl>
                                          <p:spTgt spid="1339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13398"/>
                                        </p:tgtEl>
                                        <p:attrNameLst>
                                          <p:attrName>style.visibility</p:attrName>
                                        </p:attrNameLst>
                                      </p:cBhvr>
                                      <p:to>
                                        <p:strVal val="visible"/>
                                      </p:to>
                                    </p:set>
                                    <p:animEffect transition="in" filter="barn(outVertical)">
                                      <p:cBhvr>
                                        <p:cTn id="22" dur="500"/>
                                        <p:tgtEl>
                                          <p:spTgt spid="1339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3399"/>
                                        </p:tgtEl>
                                        <p:attrNameLst>
                                          <p:attrName>style.visibility</p:attrName>
                                        </p:attrNameLst>
                                      </p:cBhvr>
                                      <p:to>
                                        <p:strVal val="visible"/>
                                      </p:to>
                                    </p:set>
                                    <p:animEffect transition="in" filter="barn(outVertical)">
                                      <p:cBhvr>
                                        <p:cTn id="27" dur="500"/>
                                        <p:tgtEl>
                                          <p:spTgt spid="1339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3400"/>
                                        </p:tgtEl>
                                        <p:attrNameLst>
                                          <p:attrName>style.visibility</p:attrName>
                                        </p:attrNameLst>
                                      </p:cBhvr>
                                      <p:to>
                                        <p:strVal val="visible"/>
                                      </p:to>
                                    </p:set>
                                    <p:animEffect transition="in" filter="barn(outVertical)">
                                      <p:cBhvr>
                                        <p:cTn id="32" dur="500"/>
                                        <p:tgtEl>
                                          <p:spTgt spid="1340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3394"/>
                                        </p:tgtEl>
                                        <p:attrNameLst>
                                          <p:attrName>style.visibility</p:attrName>
                                        </p:attrNameLst>
                                      </p:cBhvr>
                                      <p:to>
                                        <p:strVal val="visible"/>
                                      </p:to>
                                    </p:set>
                                    <p:animEffect transition="in" filter="blinds(vertical)">
                                      <p:cBhvr>
                                        <p:cTn id="37" dur="500"/>
                                        <p:tgtEl>
                                          <p:spTgt spid="13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9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7346" name="Oval 2"/>
          <p:cNvSpPr/>
          <p:nvPr/>
        </p:nvSpPr>
        <p:spPr>
          <a:xfrm>
            <a:off x="5486400" y="4800600"/>
            <a:ext cx="685800" cy="3810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7347" name="Oval 3"/>
          <p:cNvSpPr/>
          <p:nvPr/>
        </p:nvSpPr>
        <p:spPr>
          <a:xfrm>
            <a:off x="5562600" y="2971800"/>
            <a:ext cx="685800" cy="3810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7348" name="Text Box 4"/>
          <p:cNvSpPr txBox="1"/>
          <p:nvPr/>
        </p:nvSpPr>
        <p:spPr>
          <a:xfrm>
            <a:off x="5029200" y="2057400"/>
            <a:ext cx="4114800" cy="519113"/>
          </a:xfrm>
          <a:prstGeom prst="rect">
            <a:avLst/>
          </a:prstGeom>
          <a:noFill/>
          <a:ln w="9525">
            <a:noFill/>
          </a:ln>
        </p:spPr>
        <p:txBody>
          <a:bodyPr>
            <a:spAutoFit/>
          </a:bodyPr>
          <a:p>
            <a:pPr algn="just">
              <a:spcBef>
                <a:spcPts val="1200"/>
              </a:spcBef>
            </a:pPr>
            <a:r>
              <a:rPr lang="en-US" altLang="zh-CN" dirty="0">
                <a:latin typeface="宋体" panose="02010600030101010101" pitchFamily="2" charset="-122"/>
                <a:ea typeface="宋体" panose="02010600030101010101" pitchFamily="2" charset="-122"/>
              </a:rPr>
              <a:t>k=5</a:t>
            </a:r>
            <a:r>
              <a:rPr lang="zh-CN" altLang="en-US" dirty="0">
                <a:latin typeface="宋体" panose="02010600030101010101" pitchFamily="2" charset="-122"/>
                <a:ea typeface="宋体" panose="02010600030101010101" pitchFamily="2" charset="-122"/>
              </a:rPr>
              <a:t>，出发点</a:t>
            </a:r>
            <a:r>
              <a:rPr lang="en-US" altLang="zh-CN" dirty="0">
                <a:latin typeface="宋体" panose="02010600030101010101" pitchFamily="2" charset="-122"/>
                <a:ea typeface="宋体" panose="02010600030101010101" pitchFamily="2" charset="-122"/>
              </a:rPr>
              <a:t>E1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E2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E3</a:t>
            </a:r>
            <a:endParaRPr lang="en-US" altLang="zh-CN" dirty="0">
              <a:latin typeface="Times New Roman" panose="02020603050405020304" pitchFamily="18" charset="0"/>
              <a:ea typeface="宋体" panose="02010600030101010101" pitchFamily="2" charset="-122"/>
            </a:endParaRPr>
          </a:p>
        </p:txBody>
      </p:sp>
      <p:graphicFrame>
        <p:nvGraphicFramePr>
          <p:cNvPr id="57349" name="Object 5"/>
          <p:cNvGraphicFramePr/>
          <p:nvPr/>
        </p:nvGraphicFramePr>
        <p:xfrm>
          <a:off x="1524000" y="2819400"/>
          <a:ext cx="5041900" cy="1117600"/>
        </p:xfrm>
        <a:graphic>
          <a:graphicData uri="http://schemas.openxmlformats.org/presentationml/2006/ole">
            <mc:AlternateContent xmlns:mc="http://schemas.openxmlformats.org/markup-compatibility/2006">
              <mc:Choice xmlns:v="urn:schemas-microsoft-com:vml" Requires="v">
                <p:oleObj spid="_x0000_s3089" name="" r:id="rId1" imgW="3072130" imgH="482600" progId="Equation.3">
                  <p:embed/>
                </p:oleObj>
              </mc:Choice>
              <mc:Fallback>
                <p:oleObj name="" r:id="rId1" imgW="3072130" imgH="482600" progId="Equation.3">
                  <p:embed/>
                  <p:pic>
                    <p:nvPicPr>
                      <p:cNvPr id="0" name="图片 3088"/>
                      <p:cNvPicPr/>
                      <p:nvPr/>
                    </p:nvPicPr>
                    <p:blipFill>
                      <a:blip r:embed="rId2"/>
                      <a:stretch>
                        <a:fillRect/>
                      </a:stretch>
                    </p:blipFill>
                    <p:spPr>
                      <a:xfrm>
                        <a:off x="1524000" y="2819400"/>
                        <a:ext cx="5041900" cy="1117600"/>
                      </a:xfrm>
                      <a:prstGeom prst="rect">
                        <a:avLst/>
                      </a:prstGeom>
                      <a:noFill/>
                      <a:ln w="38100">
                        <a:noFill/>
                        <a:miter/>
                      </a:ln>
                    </p:spPr>
                  </p:pic>
                </p:oleObj>
              </mc:Fallback>
            </mc:AlternateContent>
          </a:graphicData>
        </a:graphic>
      </p:graphicFrame>
      <p:grpSp>
        <p:nvGrpSpPr>
          <p:cNvPr id="2" name="Group 6"/>
          <p:cNvGrpSpPr/>
          <p:nvPr/>
        </p:nvGrpSpPr>
        <p:grpSpPr>
          <a:xfrm>
            <a:off x="6781800" y="2819400"/>
            <a:ext cx="2362200" cy="1066800"/>
            <a:chOff x="4272" y="1344"/>
            <a:chExt cx="1488" cy="672"/>
          </a:xfrm>
        </p:grpSpPr>
        <p:sp>
          <p:nvSpPr>
            <p:cNvPr id="7277" name="Text Box 7"/>
            <p:cNvSpPr txBox="1"/>
            <p:nvPr/>
          </p:nvSpPr>
          <p:spPr>
            <a:xfrm>
              <a:off x="4512" y="1344"/>
              <a:ext cx="1248"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E1   F1   G</a:t>
              </a:r>
              <a:endParaRPr lang="en-US" altLang="zh-CN" sz="2400" dirty="0">
                <a:latin typeface="Times New Roman" panose="02020603050405020304" pitchFamily="18" charset="0"/>
                <a:ea typeface="宋体" panose="02010600030101010101" pitchFamily="2" charset="-122"/>
              </a:endParaRPr>
            </a:p>
          </p:txBody>
        </p:sp>
        <p:sp>
          <p:nvSpPr>
            <p:cNvPr id="7278" name="Line 8"/>
            <p:cNvSpPr/>
            <p:nvPr/>
          </p:nvSpPr>
          <p:spPr>
            <a:xfrm>
              <a:off x="4800" y="1872"/>
              <a:ext cx="139" cy="0"/>
            </a:xfrm>
            <a:prstGeom prst="line">
              <a:avLst/>
            </a:prstGeom>
            <a:ln w="38100" cap="flat" cmpd="sng">
              <a:solidFill>
                <a:srgbClr val="FF0000"/>
              </a:solidFill>
              <a:prstDash val="solid"/>
              <a:headEnd type="none" w="med" len="med"/>
              <a:tailEnd type="triangle" w="med" len="med"/>
            </a:ln>
          </p:spPr>
        </p:sp>
        <p:sp>
          <p:nvSpPr>
            <p:cNvPr id="7279" name="Line 9"/>
            <p:cNvSpPr/>
            <p:nvPr/>
          </p:nvSpPr>
          <p:spPr>
            <a:xfrm>
              <a:off x="5136" y="1872"/>
              <a:ext cx="139" cy="0"/>
            </a:xfrm>
            <a:prstGeom prst="line">
              <a:avLst/>
            </a:prstGeom>
            <a:ln w="38100" cap="flat" cmpd="sng">
              <a:solidFill>
                <a:srgbClr val="FF0000"/>
              </a:solidFill>
              <a:prstDash val="solid"/>
              <a:headEnd type="none" w="med" len="med"/>
              <a:tailEnd type="triangle" w="med" len="med"/>
            </a:ln>
          </p:spPr>
        </p:sp>
        <p:sp>
          <p:nvSpPr>
            <p:cNvPr id="7280" name="AutoShape 10"/>
            <p:cNvSpPr/>
            <p:nvPr/>
          </p:nvSpPr>
          <p:spPr>
            <a:xfrm>
              <a:off x="4272" y="1632"/>
              <a:ext cx="256" cy="192"/>
            </a:xfrm>
            <a:prstGeom prst="rightArrow">
              <a:avLst>
                <a:gd name="adj1" fmla="val 50000"/>
                <a:gd name="adj2"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graphicFrame>
        <p:nvGraphicFramePr>
          <p:cNvPr id="57355" name="Object 11"/>
          <p:cNvGraphicFramePr/>
          <p:nvPr/>
        </p:nvGraphicFramePr>
        <p:xfrm>
          <a:off x="381000" y="4191000"/>
          <a:ext cx="6196013" cy="1066800"/>
        </p:xfrm>
        <a:graphic>
          <a:graphicData uri="http://schemas.openxmlformats.org/presentationml/2006/ole">
            <mc:AlternateContent xmlns:mc="http://schemas.openxmlformats.org/markup-compatibility/2006">
              <mc:Choice xmlns:v="urn:schemas-microsoft-com:vml" Requires="v">
                <p:oleObj spid="_x0000_s3088" name="" r:id="rId3" imgW="4277995" imgH="571500" progId="Equation.3">
                  <p:embed/>
                </p:oleObj>
              </mc:Choice>
              <mc:Fallback>
                <p:oleObj name="" r:id="rId3" imgW="4277995" imgH="571500" progId="Equation.3">
                  <p:embed/>
                  <p:pic>
                    <p:nvPicPr>
                      <p:cNvPr id="0" name="图片 3087"/>
                      <p:cNvPicPr/>
                      <p:nvPr/>
                    </p:nvPicPr>
                    <p:blipFill>
                      <a:blip r:embed="rId4"/>
                      <a:stretch>
                        <a:fillRect/>
                      </a:stretch>
                    </p:blipFill>
                    <p:spPr>
                      <a:xfrm>
                        <a:off x="381000" y="4191000"/>
                        <a:ext cx="6196013" cy="1066800"/>
                      </a:xfrm>
                      <a:prstGeom prst="rect">
                        <a:avLst/>
                      </a:prstGeom>
                      <a:noFill/>
                      <a:ln w="38100">
                        <a:noFill/>
                        <a:miter/>
                      </a:ln>
                    </p:spPr>
                  </p:pic>
                </p:oleObj>
              </mc:Fallback>
            </mc:AlternateContent>
          </a:graphicData>
        </a:graphic>
      </p:graphicFrame>
      <p:grpSp>
        <p:nvGrpSpPr>
          <p:cNvPr id="7180" name="Group 12"/>
          <p:cNvGrpSpPr/>
          <p:nvPr/>
        </p:nvGrpSpPr>
        <p:grpSpPr>
          <a:xfrm>
            <a:off x="0" y="0"/>
            <a:ext cx="5486400" cy="2686050"/>
            <a:chOff x="192" y="1008"/>
            <a:chExt cx="5232" cy="2256"/>
          </a:xfrm>
        </p:grpSpPr>
        <p:sp>
          <p:nvSpPr>
            <p:cNvPr id="7201" name="Oval 13"/>
            <p:cNvSpPr/>
            <p:nvPr/>
          </p:nvSpPr>
          <p:spPr>
            <a:xfrm>
              <a:off x="192" y="1824"/>
              <a:ext cx="432"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7202" name="Oval 14"/>
            <p:cNvSpPr/>
            <p:nvPr/>
          </p:nvSpPr>
          <p:spPr>
            <a:xfrm>
              <a:off x="864" y="1440"/>
              <a:ext cx="432"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B1</a:t>
              </a:r>
              <a:endParaRPr lang="en-US" altLang="zh-CN" sz="2400" b="0" dirty="0">
                <a:latin typeface="Times New Roman" panose="02020603050405020304" pitchFamily="18" charset="0"/>
                <a:ea typeface="宋体" panose="02010600030101010101" pitchFamily="2" charset="-122"/>
              </a:endParaRPr>
            </a:p>
          </p:txBody>
        </p:sp>
        <p:sp>
          <p:nvSpPr>
            <p:cNvPr id="7203" name="Oval 15"/>
            <p:cNvSpPr/>
            <p:nvPr/>
          </p:nvSpPr>
          <p:spPr>
            <a:xfrm>
              <a:off x="912" y="2256"/>
              <a:ext cx="432"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B2</a:t>
              </a:r>
              <a:endParaRPr lang="en-US" altLang="zh-CN" sz="2400" b="0" dirty="0">
                <a:latin typeface="Times New Roman" panose="02020603050405020304" pitchFamily="18" charset="0"/>
                <a:ea typeface="宋体" panose="02010600030101010101" pitchFamily="2" charset="-122"/>
              </a:endParaRPr>
            </a:p>
          </p:txBody>
        </p:sp>
        <p:sp>
          <p:nvSpPr>
            <p:cNvPr id="7204" name="Oval 16"/>
            <p:cNvSpPr/>
            <p:nvPr/>
          </p:nvSpPr>
          <p:spPr>
            <a:xfrm>
              <a:off x="1776" y="1056"/>
              <a:ext cx="528" cy="38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C1</a:t>
              </a:r>
              <a:endParaRPr lang="en-US" altLang="zh-CN" sz="2400" b="0" dirty="0">
                <a:latin typeface="Times New Roman" panose="02020603050405020304" pitchFamily="18" charset="0"/>
                <a:ea typeface="宋体" panose="02010600030101010101" pitchFamily="2" charset="-122"/>
              </a:endParaRPr>
            </a:p>
          </p:txBody>
        </p:sp>
        <p:sp>
          <p:nvSpPr>
            <p:cNvPr id="7205" name="Oval 17"/>
            <p:cNvSpPr/>
            <p:nvPr/>
          </p:nvSpPr>
          <p:spPr>
            <a:xfrm>
              <a:off x="1776" y="1632"/>
              <a:ext cx="528"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C2</a:t>
              </a:r>
              <a:endParaRPr lang="en-US" altLang="zh-CN" sz="2400" b="0" dirty="0">
                <a:latin typeface="Times New Roman" panose="02020603050405020304" pitchFamily="18" charset="0"/>
                <a:ea typeface="宋体" panose="02010600030101010101" pitchFamily="2" charset="-122"/>
              </a:endParaRPr>
            </a:p>
          </p:txBody>
        </p:sp>
        <p:sp>
          <p:nvSpPr>
            <p:cNvPr id="7206" name="Oval 18"/>
            <p:cNvSpPr/>
            <p:nvPr/>
          </p:nvSpPr>
          <p:spPr>
            <a:xfrm>
              <a:off x="1776" y="2160"/>
              <a:ext cx="480" cy="38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C3</a:t>
              </a:r>
              <a:endParaRPr lang="en-US" altLang="zh-CN" sz="2400" b="0" dirty="0">
                <a:latin typeface="Times New Roman" panose="02020603050405020304" pitchFamily="18" charset="0"/>
                <a:ea typeface="宋体" panose="02010600030101010101" pitchFamily="2" charset="-122"/>
              </a:endParaRPr>
            </a:p>
          </p:txBody>
        </p:sp>
        <p:sp>
          <p:nvSpPr>
            <p:cNvPr id="7207" name="Oval 19"/>
            <p:cNvSpPr/>
            <p:nvPr/>
          </p:nvSpPr>
          <p:spPr>
            <a:xfrm>
              <a:off x="1776" y="2784"/>
              <a:ext cx="480"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C4</a:t>
              </a:r>
              <a:endParaRPr lang="en-US" altLang="zh-CN" sz="2400" b="0" dirty="0">
                <a:latin typeface="Times New Roman" panose="02020603050405020304" pitchFamily="18" charset="0"/>
                <a:ea typeface="宋体" panose="02010600030101010101" pitchFamily="2" charset="-122"/>
              </a:endParaRPr>
            </a:p>
          </p:txBody>
        </p:sp>
        <p:sp>
          <p:nvSpPr>
            <p:cNvPr id="7208" name="Oval 20"/>
            <p:cNvSpPr/>
            <p:nvPr/>
          </p:nvSpPr>
          <p:spPr>
            <a:xfrm>
              <a:off x="2784" y="1248"/>
              <a:ext cx="432" cy="38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D1</a:t>
              </a:r>
              <a:endParaRPr lang="en-US" altLang="zh-CN" sz="2400" b="0" dirty="0">
                <a:latin typeface="Times New Roman" panose="02020603050405020304" pitchFamily="18" charset="0"/>
                <a:ea typeface="宋体" panose="02010600030101010101" pitchFamily="2" charset="-122"/>
              </a:endParaRPr>
            </a:p>
          </p:txBody>
        </p:sp>
        <p:sp>
          <p:nvSpPr>
            <p:cNvPr id="7209" name="Oval 21"/>
            <p:cNvSpPr/>
            <p:nvPr/>
          </p:nvSpPr>
          <p:spPr>
            <a:xfrm>
              <a:off x="2784" y="1968"/>
              <a:ext cx="480"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D2</a:t>
              </a:r>
              <a:endParaRPr lang="en-US" altLang="zh-CN" sz="2400" b="0" dirty="0">
                <a:latin typeface="Times New Roman" panose="02020603050405020304" pitchFamily="18" charset="0"/>
                <a:ea typeface="宋体" panose="02010600030101010101" pitchFamily="2" charset="-122"/>
              </a:endParaRPr>
            </a:p>
          </p:txBody>
        </p:sp>
        <p:sp>
          <p:nvSpPr>
            <p:cNvPr id="7210" name="Oval 22"/>
            <p:cNvSpPr/>
            <p:nvPr/>
          </p:nvSpPr>
          <p:spPr>
            <a:xfrm>
              <a:off x="2832" y="2496"/>
              <a:ext cx="432" cy="38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D3</a:t>
              </a:r>
              <a:endParaRPr lang="en-US" altLang="zh-CN" sz="2400" b="0" dirty="0">
                <a:latin typeface="Times New Roman" panose="02020603050405020304" pitchFamily="18" charset="0"/>
                <a:ea typeface="宋体" panose="02010600030101010101" pitchFamily="2" charset="-122"/>
              </a:endParaRPr>
            </a:p>
          </p:txBody>
        </p:sp>
        <p:sp>
          <p:nvSpPr>
            <p:cNvPr id="7211" name="Oval 23"/>
            <p:cNvSpPr/>
            <p:nvPr/>
          </p:nvSpPr>
          <p:spPr>
            <a:xfrm>
              <a:off x="3696" y="1248"/>
              <a:ext cx="336"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E1</a:t>
              </a:r>
              <a:endParaRPr lang="en-US" altLang="zh-CN" sz="2400" b="0" dirty="0">
                <a:latin typeface="Times New Roman" panose="02020603050405020304" pitchFamily="18" charset="0"/>
                <a:ea typeface="宋体" panose="02010600030101010101" pitchFamily="2" charset="-122"/>
              </a:endParaRPr>
            </a:p>
          </p:txBody>
        </p:sp>
        <p:sp>
          <p:nvSpPr>
            <p:cNvPr id="7212" name="Oval 24"/>
            <p:cNvSpPr/>
            <p:nvPr/>
          </p:nvSpPr>
          <p:spPr>
            <a:xfrm>
              <a:off x="3648" y="1968"/>
              <a:ext cx="432"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E2</a:t>
              </a:r>
              <a:endParaRPr lang="en-US" altLang="zh-CN" sz="2400" b="0" dirty="0">
                <a:latin typeface="Times New Roman" panose="02020603050405020304" pitchFamily="18" charset="0"/>
                <a:ea typeface="宋体" panose="02010600030101010101" pitchFamily="2" charset="-122"/>
              </a:endParaRPr>
            </a:p>
          </p:txBody>
        </p:sp>
        <p:sp>
          <p:nvSpPr>
            <p:cNvPr id="7213" name="Oval 25"/>
            <p:cNvSpPr/>
            <p:nvPr/>
          </p:nvSpPr>
          <p:spPr>
            <a:xfrm>
              <a:off x="3696" y="2496"/>
              <a:ext cx="384" cy="2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E3</a:t>
              </a:r>
              <a:endParaRPr lang="en-US" altLang="zh-CN" sz="2400" b="0" dirty="0">
                <a:latin typeface="Times New Roman" panose="02020603050405020304" pitchFamily="18" charset="0"/>
                <a:ea typeface="宋体" panose="02010600030101010101" pitchFamily="2" charset="-122"/>
              </a:endParaRPr>
            </a:p>
          </p:txBody>
        </p:sp>
        <p:sp>
          <p:nvSpPr>
            <p:cNvPr id="7214" name="Oval 26"/>
            <p:cNvSpPr/>
            <p:nvPr/>
          </p:nvSpPr>
          <p:spPr>
            <a:xfrm>
              <a:off x="4368" y="1584"/>
              <a:ext cx="384" cy="38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F1</a:t>
              </a:r>
              <a:endParaRPr lang="en-US" altLang="zh-CN" sz="2400" b="0" dirty="0">
                <a:latin typeface="Times New Roman" panose="02020603050405020304" pitchFamily="18" charset="0"/>
                <a:ea typeface="宋体" panose="02010600030101010101" pitchFamily="2" charset="-122"/>
              </a:endParaRPr>
            </a:p>
          </p:txBody>
        </p:sp>
        <p:sp>
          <p:nvSpPr>
            <p:cNvPr id="7215" name="Oval 27"/>
            <p:cNvSpPr/>
            <p:nvPr/>
          </p:nvSpPr>
          <p:spPr>
            <a:xfrm>
              <a:off x="4368" y="2256"/>
              <a:ext cx="384"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F2</a:t>
              </a:r>
              <a:endParaRPr lang="en-US" altLang="zh-CN" sz="2400" b="0" dirty="0">
                <a:latin typeface="Times New Roman" panose="02020603050405020304" pitchFamily="18" charset="0"/>
                <a:ea typeface="宋体" panose="02010600030101010101" pitchFamily="2" charset="-122"/>
              </a:endParaRPr>
            </a:p>
          </p:txBody>
        </p:sp>
        <p:sp>
          <p:nvSpPr>
            <p:cNvPr id="7216" name="Oval 28"/>
            <p:cNvSpPr/>
            <p:nvPr/>
          </p:nvSpPr>
          <p:spPr>
            <a:xfrm>
              <a:off x="5088" y="1920"/>
              <a:ext cx="336"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7217" name="Line 29"/>
            <p:cNvSpPr/>
            <p:nvPr/>
          </p:nvSpPr>
          <p:spPr>
            <a:xfrm flipV="1">
              <a:off x="576" y="1680"/>
              <a:ext cx="288" cy="192"/>
            </a:xfrm>
            <a:prstGeom prst="line">
              <a:avLst/>
            </a:prstGeom>
            <a:ln w="9525" cap="flat" cmpd="sng">
              <a:solidFill>
                <a:schemeClr val="tx1"/>
              </a:solidFill>
              <a:prstDash val="solid"/>
              <a:headEnd type="none" w="med" len="med"/>
              <a:tailEnd type="none" w="med" len="med"/>
            </a:ln>
          </p:spPr>
        </p:sp>
        <p:sp>
          <p:nvSpPr>
            <p:cNvPr id="7218" name="Line 30"/>
            <p:cNvSpPr/>
            <p:nvPr/>
          </p:nvSpPr>
          <p:spPr>
            <a:xfrm flipV="1">
              <a:off x="1248" y="1296"/>
              <a:ext cx="528" cy="192"/>
            </a:xfrm>
            <a:prstGeom prst="line">
              <a:avLst/>
            </a:prstGeom>
            <a:ln w="9525" cap="flat" cmpd="sng">
              <a:solidFill>
                <a:schemeClr val="tx1"/>
              </a:solidFill>
              <a:prstDash val="solid"/>
              <a:headEnd type="none" w="med" len="med"/>
              <a:tailEnd type="none" w="med" len="med"/>
            </a:ln>
          </p:spPr>
        </p:sp>
        <p:sp>
          <p:nvSpPr>
            <p:cNvPr id="7219" name="Line 31"/>
            <p:cNvSpPr/>
            <p:nvPr/>
          </p:nvSpPr>
          <p:spPr>
            <a:xfrm>
              <a:off x="2304" y="1248"/>
              <a:ext cx="480" cy="144"/>
            </a:xfrm>
            <a:prstGeom prst="line">
              <a:avLst/>
            </a:prstGeom>
            <a:ln w="9525" cap="flat" cmpd="sng">
              <a:solidFill>
                <a:schemeClr val="tx1"/>
              </a:solidFill>
              <a:prstDash val="solid"/>
              <a:headEnd type="none" w="med" len="med"/>
              <a:tailEnd type="none" w="med" len="med"/>
            </a:ln>
          </p:spPr>
        </p:sp>
        <p:sp>
          <p:nvSpPr>
            <p:cNvPr id="7220" name="Line 32"/>
            <p:cNvSpPr/>
            <p:nvPr/>
          </p:nvSpPr>
          <p:spPr>
            <a:xfrm flipV="1">
              <a:off x="3216" y="1392"/>
              <a:ext cx="480" cy="48"/>
            </a:xfrm>
            <a:prstGeom prst="line">
              <a:avLst/>
            </a:prstGeom>
            <a:ln w="9525" cap="flat" cmpd="sng">
              <a:solidFill>
                <a:schemeClr val="tx1"/>
              </a:solidFill>
              <a:prstDash val="solid"/>
              <a:headEnd type="none" w="med" len="med"/>
              <a:tailEnd type="none" w="med" len="med"/>
            </a:ln>
          </p:spPr>
        </p:sp>
        <p:sp>
          <p:nvSpPr>
            <p:cNvPr id="7221" name="Line 33"/>
            <p:cNvSpPr/>
            <p:nvPr/>
          </p:nvSpPr>
          <p:spPr>
            <a:xfrm>
              <a:off x="4032" y="1440"/>
              <a:ext cx="384" cy="192"/>
            </a:xfrm>
            <a:prstGeom prst="line">
              <a:avLst/>
            </a:prstGeom>
            <a:ln w="9525" cap="flat" cmpd="sng">
              <a:solidFill>
                <a:schemeClr val="tx1"/>
              </a:solidFill>
              <a:prstDash val="solid"/>
              <a:headEnd type="none" w="med" len="med"/>
              <a:tailEnd type="none" w="med" len="med"/>
            </a:ln>
          </p:spPr>
        </p:sp>
        <p:sp>
          <p:nvSpPr>
            <p:cNvPr id="7222" name="Line 34"/>
            <p:cNvSpPr/>
            <p:nvPr/>
          </p:nvSpPr>
          <p:spPr>
            <a:xfrm>
              <a:off x="4752" y="1776"/>
              <a:ext cx="384" cy="192"/>
            </a:xfrm>
            <a:prstGeom prst="line">
              <a:avLst/>
            </a:prstGeom>
            <a:ln w="9525" cap="flat" cmpd="sng">
              <a:solidFill>
                <a:schemeClr val="tx1"/>
              </a:solidFill>
              <a:prstDash val="solid"/>
              <a:headEnd type="none" w="med" len="med"/>
              <a:tailEnd type="none" w="med" len="med"/>
            </a:ln>
          </p:spPr>
        </p:sp>
        <p:sp>
          <p:nvSpPr>
            <p:cNvPr id="7223" name="Line 35"/>
            <p:cNvSpPr/>
            <p:nvPr/>
          </p:nvSpPr>
          <p:spPr>
            <a:xfrm>
              <a:off x="576" y="2064"/>
              <a:ext cx="384" cy="240"/>
            </a:xfrm>
            <a:prstGeom prst="line">
              <a:avLst/>
            </a:prstGeom>
            <a:ln w="9525" cap="flat" cmpd="sng">
              <a:solidFill>
                <a:schemeClr val="tx1"/>
              </a:solidFill>
              <a:prstDash val="solid"/>
              <a:headEnd type="none" w="med" len="med"/>
              <a:tailEnd type="none" w="med" len="med"/>
            </a:ln>
          </p:spPr>
        </p:sp>
        <p:sp>
          <p:nvSpPr>
            <p:cNvPr id="7224" name="Line 36"/>
            <p:cNvSpPr/>
            <p:nvPr/>
          </p:nvSpPr>
          <p:spPr>
            <a:xfrm>
              <a:off x="1296" y="2544"/>
              <a:ext cx="480" cy="336"/>
            </a:xfrm>
            <a:prstGeom prst="line">
              <a:avLst/>
            </a:prstGeom>
            <a:ln w="9525" cap="flat" cmpd="sng">
              <a:solidFill>
                <a:schemeClr val="tx1"/>
              </a:solidFill>
              <a:prstDash val="solid"/>
              <a:headEnd type="none" w="med" len="med"/>
              <a:tailEnd type="none" w="med" len="med"/>
            </a:ln>
          </p:spPr>
        </p:sp>
        <p:sp>
          <p:nvSpPr>
            <p:cNvPr id="7225" name="Line 37"/>
            <p:cNvSpPr/>
            <p:nvPr/>
          </p:nvSpPr>
          <p:spPr>
            <a:xfrm flipV="1">
              <a:off x="2256" y="2784"/>
              <a:ext cx="624" cy="144"/>
            </a:xfrm>
            <a:prstGeom prst="line">
              <a:avLst/>
            </a:prstGeom>
            <a:ln w="9525" cap="flat" cmpd="sng">
              <a:solidFill>
                <a:schemeClr val="tx1"/>
              </a:solidFill>
              <a:prstDash val="solid"/>
              <a:headEnd type="none" w="med" len="med"/>
              <a:tailEnd type="none" w="med" len="med"/>
            </a:ln>
          </p:spPr>
        </p:sp>
        <p:sp>
          <p:nvSpPr>
            <p:cNvPr id="7226" name="Line 38"/>
            <p:cNvSpPr/>
            <p:nvPr/>
          </p:nvSpPr>
          <p:spPr>
            <a:xfrm>
              <a:off x="3264" y="2688"/>
              <a:ext cx="432" cy="0"/>
            </a:xfrm>
            <a:prstGeom prst="line">
              <a:avLst/>
            </a:prstGeom>
            <a:ln w="9525" cap="flat" cmpd="sng">
              <a:solidFill>
                <a:schemeClr val="tx1"/>
              </a:solidFill>
              <a:prstDash val="solid"/>
              <a:headEnd type="none" w="med" len="med"/>
              <a:tailEnd type="none" w="med" len="med"/>
            </a:ln>
          </p:spPr>
        </p:sp>
        <p:sp>
          <p:nvSpPr>
            <p:cNvPr id="7227" name="Line 39"/>
            <p:cNvSpPr/>
            <p:nvPr/>
          </p:nvSpPr>
          <p:spPr>
            <a:xfrm flipV="1">
              <a:off x="4080" y="2496"/>
              <a:ext cx="336" cy="96"/>
            </a:xfrm>
            <a:prstGeom prst="line">
              <a:avLst/>
            </a:prstGeom>
            <a:ln w="9525" cap="flat" cmpd="sng">
              <a:solidFill>
                <a:schemeClr val="tx1"/>
              </a:solidFill>
              <a:prstDash val="solid"/>
              <a:headEnd type="none" w="med" len="med"/>
              <a:tailEnd type="none" w="med" len="med"/>
            </a:ln>
          </p:spPr>
        </p:sp>
        <p:sp>
          <p:nvSpPr>
            <p:cNvPr id="7228" name="Line 40"/>
            <p:cNvSpPr/>
            <p:nvPr/>
          </p:nvSpPr>
          <p:spPr>
            <a:xfrm flipV="1">
              <a:off x="4752" y="2208"/>
              <a:ext cx="336" cy="192"/>
            </a:xfrm>
            <a:prstGeom prst="line">
              <a:avLst/>
            </a:prstGeom>
            <a:ln w="9525" cap="flat" cmpd="sng">
              <a:solidFill>
                <a:schemeClr val="tx1"/>
              </a:solidFill>
              <a:prstDash val="solid"/>
              <a:headEnd type="none" w="med" len="med"/>
              <a:tailEnd type="none" w="med" len="med"/>
            </a:ln>
          </p:spPr>
        </p:sp>
        <p:sp>
          <p:nvSpPr>
            <p:cNvPr id="7229" name="Line 41"/>
            <p:cNvSpPr/>
            <p:nvPr/>
          </p:nvSpPr>
          <p:spPr>
            <a:xfrm>
              <a:off x="1296" y="1632"/>
              <a:ext cx="480" cy="96"/>
            </a:xfrm>
            <a:prstGeom prst="line">
              <a:avLst/>
            </a:prstGeom>
            <a:ln w="9525" cap="flat" cmpd="sng">
              <a:solidFill>
                <a:schemeClr val="tx1"/>
              </a:solidFill>
              <a:prstDash val="solid"/>
              <a:headEnd type="none" w="med" len="med"/>
              <a:tailEnd type="none" w="med" len="med"/>
            </a:ln>
          </p:spPr>
        </p:sp>
        <p:sp>
          <p:nvSpPr>
            <p:cNvPr id="7230" name="Line 42"/>
            <p:cNvSpPr/>
            <p:nvPr/>
          </p:nvSpPr>
          <p:spPr>
            <a:xfrm>
              <a:off x="1248" y="1728"/>
              <a:ext cx="576" cy="528"/>
            </a:xfrm>
            <a:prstGeom prst="line">
              <a:avLst/>
            </a:prstGeom>
            <a:ln w="9525" cap="flat" cmpd="sng">
              <a:solidFill>
                <a:schemeClr val="tx1"/>
              </a:solidFill>
              <a:prstDash val="solid"/>
              <a:headEnd type="none" w="med" len="med"/>
              <a:tailEnd type="none" w="med" len="med"/>
            </a:ln>
          </p:spPr>
        </p:sp>
        <p:sp>
          <p:nvSpPr>
            <p:cNvPr id="7231" name="Line 43"/>
            <p:cNvSpPr/>
            <p:nvPr/>
          </p:nvSpPr>
          <p:spPr>
            <a:xfrm flipV="1">
              <a:off x="1296" y="1824"/>
              <a:ext cx="480" cy="480"/>
            </a:xfrm>
            <a:prstGeom prst="line">
              <a:avLst/>
            </a:prstGeom>
            <a:ln w="9525" cap="flat" cmpd="sng">
              <a:solidFill>
                <a:schemeClr val="tx1"/>
              </a:solidFill>
              <a:prstDash val="solid"/>
              <a:headEnd type="none" w="med" len="med"/>
              <a:tailEnd type="none" w="med" len="med"/>
            </a:ln>
          </p:spPr>
        </p:sp>
        <p:sp>
          <p:nvSpPr>
            <p:cNvPr id="7232" name="Line 44"/>
            <p:cNvSpPr/>
            <p:nvPr/>
          </p:nvSpPr>
          <p:spPr>
            <a:xfrm>
              <a:off x="1344" y="2400"/>
              <a:ext cx="432" cy="0"/>
            </a:xfrm>
            <a:prstGeom prst="line">
              <a:avLst/>
            </a:prstGeom>
            <a:ln w="9525" cap="flat" cmpd="sng">
              <a:solidFill>
                <a:schemeClr val="tx1"/>
              </a:solidFill>
              <a:prstDash val="solid"/>
              <a:headEnd type="none" w="med" len="med"/>
              <a:tailEnd type="none" w="med" len="med"/>
            </a:ln>
          </p:spPr>
        </p:sp>
        <p:sp>
          <p:nvSpPr>
            <p:cNvPr id="7233" name="Line 45"/>
            <p:cNvSpPr/>
            <p:nvPr/>
          </p:nvSpPr>
          <p:spPr>
            <a:xfrm>
              <a:off x="2304" y="1296"/>
              <a:ext cx="528" cy="720"/>
            </a:xfrm>
            <a:prstGeom prst="line">
              <a:avLst/>
            </a:prstGeom>
            <a:ln w="9525" cap="flat" cmpd="sng">
              <a:solidFill>
                <a:schemeClr val="tx1"/>
              </a:solidFill>
              <a:prstDash val="solid"/>
              <a:headEnd type="none" w="med" len="med"/>
              <a:tailEnd type="none" w="med" len="med"/>
            </a:ln>
          </p:spPr>
        </p:sp>
        <p:sp>
          <p:nvSpPr>
            <p:cNvPr id="7234" name="Line 46"/>
            <p:cNvSpPr/>
            <p:nvPr/>
          </p:nvSpPr>
          <p:spPr>
            <a:xfrm flipV="1">
              <a:off x="2304" y="1488"/>
              <a:ext cx="480" cy="240"/>
            </a:xfrm>
            <a:prstGeom prst="line">
              <a:avLst/>
            </a:prstGeom>
            <a:ln w="9525" cap="flat" cmpd="sng">
              <a:solidFill>
                <a:schemeClr val="tx1"/>
              </a:solidFill>
              <a:prstDash val="solid"/>
              <a:headEnd type="none" w="med" len="med"/>
              <a:tailEnd type="none" w="med" len="med"/>
            </a:ln>
          </p:spPr>
        </p:sp>
        <p:sp>
          <p:nvSpPr>
            <p:cNvPr id="7235" name="Line 47"/>
            <p:cNvSpPr/>
            <p:nvPr/>
          </p:nvSpPr>
          <p:spPr>
            <a:xfrm>
              <a:off x="2304" y="1872"/>
              <a:ext cx="480" cy="192"/>
            </a:xfrm>
            <a:prstGeom prst="line">
              <a:avLst/>
            </a:prstGeom>
            <a:ln w="9525" cap="flat" cmpd="sng">
              <a:solidFill>
                <a:schemeClr val="tx1"/>
              </a:solidFill>
              <a:prstDash val="solid"/>
              <a:headEnd type="none" w="med" len="med"/>
              <a:tailEnd type="none" w="med" len="med"/>
            </a:ln>
          </p:spPr>
        </p:sp>
        <p:sp>
          <p:nvSpPr>
            <p:cNvPr id="7236" name="Line 48"/>
            <p:cNvSpPr/>
            <p:nvPr/>
          </p:nvSpPr>
          <p:spPr>
            <a:xfrm flipV="1">
              <a:off x="2256" y="2112"/>
              <a:ext cx="528" cy="240"/>
            </a:xfrm>
            <a:prstGeom prst="line">
              <a:avLst/>
            </a:prstGeom>
            <a:ln w="9525" cap="flat" cmpd="sng">
              <a:solidFill>
                <a:schemeClr val="tx1"/>
              </a:solidFill>
              <a:prstDash val="solid"/>
              <a:headEnd type="none" w="med" len="med"/>
              <a:tailEnd type="none" w="med" len="med"/>
            </a:ln>
          </p:spPr>
        </p:sp>
        <p:sp>
          <p:nvSpPr>
            <p:cNvPr id="7237" name="Line 49"/>
            <p:cNvSpPr/>
            <p:nvPr/>
          </p:nvSpPr>
          <p:spPr>
            <a:xfrm>
              <a:off x="2208" y="2448"/>
              <a:ext cx="624" cy="192"/>
            </a:xfrm>
            <a:prstGeom prst="line">
              <a:avLst/>
            </a:prstGeom>
            <a:ln w="9525" cap="flat" cmpd="sng">
              <a:solidFill>
                <a:schemeClr val="tx1"/>
              </a:solidFill>
              <a:prstDash val="solid"/>
              <a:headEnd type="none" w="med" len="med"/>
              <a:tailEnd type="none" w="med" len="med"/>
            </a:ln>
          </p:spPr>
        </p:sp>
        <p:sp>
          <p:nvSpPr>
            <p:cNvPr id="7238" name="Line 50"/>
            <p:cNvSpPr/>
            <p:nvPr/>
          </p:nvSpPr>
          <p:spPr>
            <a:xfrm flipV="1">
              <a:off x="2208" y="2208"/>
              <a:ext cx="624" cy="624"/>
            </a:xfrm>
            <a:prstGeom prst="line">
              <a:avLst/>
            </a:prstGeom>
            <a:ln w="9525" cap="flat" cmpd="sng">
              <a:solidFill>
                <a:schemeClr val="tx1"/>
              </a:solidFill>
              <a:prstDash val="solid"/>
              <a:headEnd type="none" w="med" len="med"/>
              <a:tailEnd type="none" w="med" len="med"/>
            </a:ln>
          </p:spPr>
        </p:sp>
        <p:sp>
          <p:nvSpPr>
            <p:cNvPr id="7239" name="Line 51"/>
            <p:cNvSpPr/>
            <p:nvPr/>
          </p:nvSpPr>
          <p:spPr>
            <a:xfrm>
              <a:off x="3168" y="1536"/>
              <a:ext cx="528" cy="480"/>
            </a:xfrm>
            <a:prstGeom prst="line">
              <a:avLst/>
            </a:prstGeom>
            <a:ln w="9525" cap="flat" cmpd="sng">
              <a:solidFill>
                <a:schemeClr val="tx1"/>
              </a:solidFill>
              <a:prstDash val="solid"/>
              <a:headEnd type="none" w="med" len="med"/>
              <a:tailEnd type="none" w="med" len="med"/>
            </a:ln>
          </p:spPr>
        </p:sp>
        <p:sp>
          <p:nvSpPr>
            <p:cNvPr id="7240" name="Line 52"/>
            <p:cNvSpPr/>
            <p:nvPr/>
          </p:nvSpPr>
          <p:spPr>
            <a:xfrm>
              <a:off x="3264" y="2112"/>
              <a:ext cx="384" cy="0"/>
            </a:xfrm>
            <a:prstGeom prst="line">
              <a:avLst/>
            </a:prstGeom>
            <a:ln w="9525" cap="flat" cmpd="sng">
              <a:solidFill>
                <a:schemeClr val="tx1"/>
              </a:solidFill>
              <a:prstDash val="solid"/>
              <a:headEnd type="none" w="med" len="med"/>
              <a:tailEnd type="none" w="med" len="med"/>
            </a:ln>
          </p:spPr>
        </p:sp>
        <p:sp>
          <p:nvSpPr>
            <p:cNvPr id="7241" name="Line 53"/>
            <p:cNvSpPr/>
            <p:nvPr/>
          </p:nvSpPr>
          <p:spPr>
            <a:xfrm>
              <a:off x="3216" y="2256"/>
              <a:ext cx="528" cy="288"/>
            </a:xfrm>
            <a:prstGeom prst="line">
              <a:avLst/>
            </a:prstGeom>
            <a:ln w="9525" cap="flat" cmpd="sng">
              <a:solidFill>
                <a:schemeClr val="tx1"/>
              </a:solidFill>
              <a:prstDash val="solid"/>
              <a:headEnd type="none" w="med" len="med"/>
              <a:tailEnd type="none" w="med" len="med"/>
            </a:ln>
          </p:spPr>
        </p:sp>
        <p:sp>
          <p:nvSpPr>
            <p:cNvPr id="7242" name="Line 54"/>
            <p:cNvSpPr/>
            <p:nvPr/>
          </p:nvSpPr>
          <p:spPr>
            <a:xfrm flipV="1">
              <a:off x="3216" y="2208"/>
              <a:ext cx="480" cy="336"/>
            </a:xfrm>
            <a:prstGeom prst="line">
              <a:avLst/>
            </a:prstGeom>
            <a:ln w="9525" cap="flat" cmpd="sng">
              <a:solidFill>
                <a:schemeClr val="tx1"/>
              </a:solidFill>
              <a:prstDash val="solid"/>
              <a:headEnd type="none" w="med" len="med"/>
              <a:tailEnd type="none" w="med" len="med"/>
            </a:ln>
          </p:spPr>
        </p:sp>
        <p:sp>
          <p:nvSpPr>
            <p:cNvPr id="7243" name="Line 55"/>
            <p:cNvSpPr/>
            <p:nvPr/>
          </p:nvSpPr>
          <p:spPr>
            <a:xfrm>
              <a:off x="3984" y="1488"/>
              <a:ext cx="528" cy="768"/>
            </a:xfrm>
            <a:prstGeom prst="line">
              <a:avLst/>
            </a:prstGeom>
            <a:ln w="9525" cap="flat" cmpd="sng">
              <a:solidFill>
                <a:schemeClr val="tx1"/>
              </a:solidFill>
              <a:prstDash val="solid"/>
              <a:headEnd type="none" w="med" len="med"/>
              <a:tailEnd type="none" w="med" len="med"/>
            </a:ln>
          </p:spPr>
        </p:sp>
        <p:sp>
          <p:nvSpPr>
            <p:cNvPr id="7244" name="Line 56"/>
            <p:cNvSpPr/>
            <p:nvPr/>
          </p:nvSpPr>
          <p:spPr>
            <a:xfrm flipV="1">
              <a:off x="4032" y="1872"/>
              <a:ext cx="384" cy="144"/>
            </a:xfrm>
            <a:prstGeom prst="line">
              <a:avLst/>
            </a:prstGeom>
            <a:ln w="9525" cap="flat" cmpd="sng">
              <a:solidFill>
                <a:schemeClr val="tx1"/>
              </a:solidFill>
              <a:prstDash val="solid"/>
              <a:headEnd type="none" w="med" len="med"/>
              <a:tailEnd type="none" w="med" len="med"/>
            </a:ln>
          </p:spPr>
        </p:sp>
        <p:sp>
          <p:nvSpPr>
            <p:cNvPr id="7245" name="Line 57"/>
            <p:cNvSpPr/>
            <p:nvPr/>
          </p:nvSpPr>
          <p:spPr>
            <a:xfrm>
              <a:off x="4032" y="2208"/>
              <a:ext cx="336" cy="144"/>
            </a:xfrm>
            <a:prstGeom prst="line">
              <a:avLst/>
            </a:prstGeom>
            <a:ln w="9525" cap="flat" cmpd="sng">
              <a:solidFill>
                <a:schemeClr val="tx1"/>
              </a:solidFill>
              <a:prstDash val="solid"/>
              <a:headEnd type="none" w="med" len="med"/>
              <a:tailEnd type="none" w="med" len="med"/>
            </a:ln>
          </p:spPr>
        </p:sp>
        <p:sp>
          <p:nvSpPr>
            <p:cNvPr id="7246" name="Line 58"/>
            <p:cNvSpPr/>
            <p:nvPr/>
          </p:nvSpPr>
          <p:spPr>
            <a:xfrm flipV="1">
              <a:off x="3984" y="1920"/>
              <a:ext cx="528" cy="576"/>
            </a:xfrm>
            <a:prstGeom prst="line">
              <a:avLst/>
            </a:prstGeom>
            <a:ln w="9525" cap="flat" cmpd="sng">
              <a:solidFill>
                <a:schemeClr val="tx1"/>
              </a:solidFill>
              <a:prstDash val="solid"/>
              <a:headEnd type="none" w="med" len="med"/>
              <a:tailEnd type="none" w="med" len="med"/>
            </a:ln>
          </p:spPr>
        </p:sp>
        <p:sp>
          <p:nvSpPr>
            <p:cNvPr id="7247" name="Text Box 59"/>
            <p:cNvSpPr txBox="1"/>
            <p:nvPr/>
          </p:nvSpPr>
          <p:spPr>
            <a:xfrm>
              <a:off x="480" y="1584"/>
              <a:ext cx="192"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7248" name="Text Box 60"/>
            <p:cNvSpPr txBox="1"/>
            <p:nvPr/>
          </p:nvSpPr>
          <p:spPr>
            <a:xfrm>
              <a:off x="672" y="1968"/>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49" name="Text Box 61"/>
            <p:cNvSpPr txBox="1"/>
            <p:nvPr/>
          </p:nvSpPr>
          <p:spPr>
            <a:xfrm>
              <a:off x="1201" y="1248"/>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7250" name="Text Box 62"/>
            <p:cNvSpPr txBox="1"/>
            <p:nvPr/>
          </p:nvSpPr>
          <p:spPr>
            <a:xfrm>
              <a:off x="1344" y="1536"/>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51" name="Text Box 63"/>
            <p:cNvSpPr txBox="1"/>
            <p:nvPr/>
          </p:nvSpPr>
          <p:spPr>
            <a:xfrm>
              <a:off x="1248" y="1776"/>
              <a:ext cx="336"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7252" name="Text Box 64"/>
            <p:cNvSpPr txBox="1"/>
            <p:nvPr/>
          </p:nvSpPr>
          <p:spPr>
            <a:xfrm>
              <a:off x="1296" y="2112"/>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7253" name="Text Box 65"/>
            <p:cNvSpPr txBox="1"/>
            <p:nvPr/>
          </p:nvSpPr>
          <p:spPr>
            <a:xfrm>
              <a:off x="1392" y="2352"/>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7254" name="Text Box 66"/>
            <p:cNvSpPr txBox="1"/>
            <p:nvPr/>
          </p:nvSpPr>
          <p:spPr>
            <a:xfrm>
              <a:off x="1296" y="2640"/>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7255" name="Text Box 67"/>
            <p:cNvSpPr txBox="1"/>
            <p:nvPr/>
          </p:nvSpPr>
          <p:spPr>
            <a:xfrm>
              <a:off x="2352" y="1008"/>
              <a:ext cx="336"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7256" name="Text Box 68"/>
            <p:cNvSpPr txBox="1"/>
            <p:nvPr/>
          </p:nvSpPr>
          <p:spPr>
            <a:xfrm>
              <a:off x="2208" y="1344"/>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7257" name="Text Box 69"/>
            <p:cNvSpPr txBox="1"/>
            <p:nvPr/>
          </p:nvSpPr>
          <p:spPr>
            <a:xfrm>
              <a:off x="2304" y="1632"/>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58" name="Text Box 70"/>
            <p:cNvSpPr txBox="1"/>
            <p:nvPr/>
          </p:nvSpPr>
          <p:spPr>
            <a:xfrm>
              <a:off x="2208" y="1872"/>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7259" name="Text Box 71"/>
            <p:cNvSpPr txBox="1"/>
            <p:nvPr/>
          </p:nvSpPr>
          <p:spPr>
            <a:xfrm>
              <a:off x="2256" y="2112"/>
              <a:ext cx="192"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60" name="Text Box 72"/>
            <p:cNvSpPr txBox="1"/>
            <p:nvPr/>
          </p:nvSpPr>
          <p:spPr>
            <a:xfrm>
              <a:off x="2256" y="2400"/>
              <a:ext cx="192"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61" name="Text Box 73"/>
            <p:cNvSpPr txBox="1"/>
            <p:nvPr/>
          </p:nvSpPr>
          <p:spPr>
            <a:xfrm>
              <a:off x="2160" y="2592"/>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7262" name="Text Box 74"/>
            <p:cNvSpPr txBox="1"/>
            <p:nvPr/>
          </p:nvSpPr>
          <p:spPr>
            <a:xfrm>
              <a:off x="2352" y="2880"/>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7263" name="Text Box 75"/>
            <p:cNvSpPr txBox="1"/>
            <p:nvPr/>
          </p:nvSpPr>
          <p:spPr>
            <a:xfrm>
              <a:off x="3216" y="1152"/>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7264" name="Text Box 76"/>
            <p:cNvSpPr txBox="1"/>
            <p:nvPr/>
          </p:nvSpPr>
          <p:spPr>
            <a:xfrm>
              <a:off x="3216" y="1584"/>
              <a:ext cx="335"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7265" name="Text Box 77"/>
            <p:cNvSpPr txBox="1"/>
            <p:nvPr/>
          </p:nvSpPr>
          <p:spPr>
            <a:xfrm>
              <a:off x="3216" y="1872"/>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7266" name="Text Box 78"/>
            <p:cNvSpPr txBox="1"/>
            <p:nvPr/>
          </p:nvSpPr>
          <p:spPr>
            <a:xfrm>
              <a:off x="3216" y="2160"/>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7267" name="Text Box 79"/>
            <p:cNvSpPr txBox="1"/>
            <p:nvPr/>
          </p:nvSpPr>
          <p:spPr>
            <a:xfrm>
              <a:off x="3264" y="2352"/>
              <a:ext cx="192"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68" name="Text Box 80"/>
            <p:cNvSpPr txBox="1"/>
            <p:nvPr/>
          </p:nvSpPr>
          <p:spPr>
            <a:xfrm>
              <a:off x="3216" y="2640"/>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69" name="Text Box 81"/>
            <p:cNvSpPr txBox="1"/>
            <p:nvPr/>
          </p:nvSpPr>
          <p:spPr>
            <a:xfrm>
              <a:off x="4080" y="1248"/>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7270" name="Text Box 82"/>
            <p:cNvSpPr txBox="1"/>
            <p:nvPr/>
          </p:nvSpPr>
          <p:spPr>
            <a:xfrm>
              <a:off x="3936" y="1536"/>
              <a:ext cx="240"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7271" name="Text Box 83"/>
            <p:cNvSpPr txBox="1"/>
            <p:nvPr/>
          </p:nvSpPr>
          <p:spPr>
            <a:xfrm>
              <a:off x="3936" y="1824"/>
              <a:ext cx="191"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7272" name="Text Box 84"/>
            <p:cNvSpPr txBox="1"/>
            <p:nvPr/>
          </p:nvSpPr>
          <p:spPr>
            <a:xfrm>
              <a:off x="4032" y="2016"/>
              <a:ext cx="336"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7273" name="Text Box 85"/>
            <p:cNvSpPr txBox="1"/>
            <p:nvPr/>
          </p:nvSpPr>
          <p:spPr>
            <a:xfrm>
              <a:off x="3936" y="2256"/>
              <a:ext cx="288"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7274" name="Text Box 86"/>
            <p:cNvSpPr txBox="1"/>
            <p:nvPr/>
          </p:nvSpPr>
          <p:spPr>
            <a:xfrm>
              <a:off x="4127" y="2592"/>
              <a:ext cx="241"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7275" name="Text Box 87"/>
            <p:cNvSpPr txBox="1"/>
            <p:nvPr/>
          </p:nvSpPr>
          <p:spPr>
            <a:xfrm>
              <a:off x="4752" y="1536"/>
              <a:ext cx="144"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7276" name="Text Box 88"/>
            <p:cNvSpPr txBox="1"/>
            <p:nvPr/>
          </p:nvSpPr>
          <p:spPr>
            <a:xfrm>
              <a:off x="4800" y="2400"/>
              <a:ext cx="191" cy="384"/>
            </a:xfrm>
            <a:prstGeom prst="rect">
              <a:avLst/>
            </a:prstGeom>
            <a:noFill/>
            <a:ln w="9525">
              <a:noFill/>
            </a:ln>
          </p:spPr>
          <p:txBody>
            <a:bodyPr>
              <a:spAutoFit/>
            </a:bodyPr>
            <a:p>
              <a:pPr>
                <a:spcBef>
                  <a:spcPct val="50000"/>
                </a:spcBef>
              </a:pPr>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grpSp>
      <p:graphicFrame>
        <p:nvGraphicFramePr>
          <p:cNvPr id="57433" name="Object 89"/>
          <p:cNvGraphicFramePr/>
          <p:nvPr/>
        </p:nvGraphicFramePr>
        <p:xfrm>
          <a:off x="228600" y="3124200"/>
          <a:ext cx="1295400" cy="592138"/>
        </p:xfrm>
        <a:graphic>
          <a:graphicData uri="http://schemas.openxmlformats.org/presentationml/2006/ole">
            <mc:AlternateContent xmlns:mc="http://schemas.openxmlformats.org/markup-compatibility/2006">
              <mc:Choice xmlns:v="urn:schemas-microsoft-com:vml" Requires="v">
                <p:oleObj spid="_x0000_s3086" name="" r:id="rId5" imgW="443865" imgH="203200" progId="Equation.3">
                  <p:embed/>
                </p:oleObj>
              </mc:Choice>
              <mc:Fallback>
                <p:oleObj name="" r:id="rId5" imgW="443865" imgH="203200" progId="Equation.3">
                  <p:embed/>
                  <p:pic>
                    <p:nvPicPr>
                      <p:cNvPr id="0" name="图片 3085"/>
                      <p:cNvPicPr/>
                      <p:nvPr/>
                    </p:nvPicPr>
                    <p:blipFill>
                      <a:blip r:embed="rId6"/>
                      <a:stretch>
                        <a:fillRect/>
                      </a:stretch>
                    </p:blipFill>
                    <p:spPr>
                      <a:xfrm>
                        <a:off x="228600" y="3124200"/>
                        <a:ext cx="1295400" cy="592138"/>
                      </a:xfrm>
                      <a:prstGeom prst="rect">
                        <a:avLst/>
                      </a:prstGeom>
                      <a:noFill/>
                      <a:ln w="38100">
                        <a:noFill/>
                        <a:miter/>
                      </a:ln>
                    </p:spPr>
                  </p:pic>
                </p:oleObj>
              </mc:Fallback>
            </mc:AlternateContent>
          </a:graphicData>
        </a:graphic>
      </p:graphicFrame>
      <p:sp>
        <p:nvSpPr>
          <p:cNvPr id="57434" name="Line 90"/>
          <p:cNvSpPr/>
          <p:nvPr/>
        </p:nvSpPr>
        <p:spPr>
          <a:xfrm>
            <a:off x="4038600" y="533400"/>
            <a:ext cx="457200" cy="228600"/>
          </a:xfrm>
          <a:prstGeom prst="line">
            <a:avLst/>
          </a:prstGeom>
          <a:ln w="38100" cap="flat" cmpd="sng">
            <a:solidFill>
              <a:srgbClr val="FF0000"/>
            </a:solidFill>
            <a:prstDash val="solid"/>
            <a:headEnd type="none" w="med" len="med"/>
            <a:tailEnd type="none" w="med" len="med"/>
          </a:ln>
        </p:spPr>
      </p:sp>
      <p:sp>
        <p:nvSpPr>
          <p:cNvPr id="57435" name="Line 91"/>
          <p:cNvSpPr/>
          <p:nvPr/>
        </p:nvSpPr>
        <p:spPr>
          <a:xfrm>
            <a:off x="4038600" y="533400"/>
            <a:ext cx="381000" cy="228600"/>
          </a:xfrm>
          <a:prstGeom prst="line">
            <a:avLst/>
          </a:prstGeom>
          <a:ln w="38100" cap="flat" cmpd="sng">
            <a:solidFill>
              <a:srgbClr val="FF0000"/>
            </a:solidFill>
            <a:prstDash val="solid"/>
            <a:headEnd type="none" w="med" len="med"/>
            <a:tailEnd type="none" w="med" len="med"/>
          </a:ln>
        </p:spPr>
      </p:sp>
      <p:sp>
        <p:nvSpPr>
          <p:cNvPr id="57436" name="Line 92"/>
          <p:cNvSpPr/>
          <p:nvPr/>
        </p:nvSpPr>
        <p:spPr>
          <a:xfrm>
            <a:off x="3962400" y="533400"/>
            <a:ext cx="533400" cy="914400"/>
          </a:xfrm>
          <a:prstGeom prst="line">
            <a:avLst/>
          </a:prstGeom>
          <a:ln w="38100" cap="flat" cmpd="sng">
            <a:solidFill>
              <a:srgbClr val="FF0000"/>
            </a:solidFill>
            <a:prstDash val="solid"/>
            <a:headEnd type="none" w="med" len="med"/>
            <a:tailEnd type="none" w="med" len="med"/>
          </a:ln>
        </p:spPr>
      </p:sp>
      <p:graphicFrame>
        <p:nvGraphicFramePr>
          <p:cNvPr id="7173" name="Object 93"/>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087" name="" r:id="rId7" imgW="114300" imgH="215265" progId="Equation.3">
                  <p:embed/>
                </p:oleObj>
              </mc:Choice>
              <mc:Fallback>
                <p:oleObj name="" r:id="rId7" imgW="114300" imgH="215265" progId="Equation.3">
                  <p:embed/>
                  <p:pic>
                    <p:nvPicPr>
                      <p:cNvPr id="0" name="图片 3086"/>
                      <p:cNvPicPr/>
                      <p:nvPr/>
                    </p:nvPicPr>
                    <p:blipFill>
                      <a:blip r:embed="rId8"/>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7184" name="Text Box 94"/>
          <p:cNvSpPr txBox="1"/>
          <p:nvPr/>
        </p:nvSpPr>
        <p:spPr>
          <a:xfrm>
            <a:off x="838200" y="5791200"/>
            <a:ext cx="3276600" cy="457200"/>
          </a:xfrm>
          <a:prstGeom prst="rect">
            <a:avLst/>
          </a:prstGeom>
          <a:noFill/>
          <a:ln w="9525">
            <a:noFill/>
          </a:ln>
        </p:spPr>
        <p:txBody>
          <a:bodyPr>
            <a:spAutoFit/>
          </a:bodyPr>
          <a:p>
            <a:pPr>
              <a:spcBef>
                <a:spcPct val="50000"/>
              </a:spcBef>
            </a:pPr>
            <a:endParaRPr lang="zh-CN" altLang="zh-CN" sz="2400" b="0" dirty="0">
              <a:latin typeface="Times New Roman" panose="02020603050405020304" pitchFamily="18" charset="0"/>
              <a:ea typeface="宋体" panose="02010600030101010101" pitchFamily="2" charset="-122"/>
            </a:endParaRPr>
          </a:p>
        </p:txBody>
      </p:sp>
      <p:grpSp>
        <p:nvGrpSpPr>
          <p:cNvPr id="4" name="Group 96"/>
          <p:cNvGrpSpPr/>
          <p:nvPr/>
        </p:nvGrpSpPr>
        <p:grpSpPr>
          <a:xfrm>
            <a:off x="6781800" y="4114800"/>
            <a:ext cx="2362200" cy="1066800"/>
            <a:chOff x="4272" y="1344"/>
            <a:chExt cx="1488" cy="672"/>
          </a:xfrm>
        </p:grpSpPr>
        <p:sp>
          <p:nvSpPr>
            <p:cNvPr id="7197" name="Text Box 97"/>
            <p:cNvSpPr txBox="1"/>
            <p:nvPr/>
          </p:nvSpPr>
          <p:spPr>
            <a:xfrm>
              <a:off x="4512" y="1344"/>
              <a:ext cx="1248"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E2  F2   G</a:t>
              </a:r>
              <a:endParaRPr lang="en-US" altLang="zh-CN" sz="2400" dirty="0">
                <a:latin typeface="Times New Roman" panose="02020603050405020304" pitchFamily="18" charset="0"/>
                <a:ea typeface="宋体" panose="02010600030101010101" pitchFamily="2" charset="-122"/>
              </a:endParaRPr>
            </a:p>
          </p:txBody>
        </p:sp>
        <p:sp>
          <p:nvSpPr>
            <p:cNvPr id="7198" name="Line 98"/>
            <p:cNvSpPr/>
            <p:nvPr/>
          </p:nvSpPr>
          <p:spPr>
            <a:xfrm>
              <a:off x="4800" y="1872"/>
              <a:ext cx="139" cy="0"/>
            </a:xfrm>
            <a:prstGeom prst="line">
              <a:avLst/>
            </a:prstGeom>
            <a:ln w="38100" cap="flat" cmpd="sng">
              <a:solidFill>
                <a:srgbClr val="FF0000"/>
              </a:solidFill>
              <a:prstDash val="solid"/>
              <a:headEnd type="none" w="med" len="med"/>
              <a:tailEnd type="triangle" w="med" len="med"/>
            </a:ln>
          </p:spPr>
        </p:sp>
        <p:sp>
          <p:nvSpPr>
            <p:cNvPr id="7199" name="Line 99"/>
            <p:cNvSpPr/>
            <p:nvPr/>
          </p:nvSpPr>
          <p:spPr>
            <a:xfrm>
              <a:off x="5136" y="1872"/>
              <a:ext cx="139" cy="0"/>
            </a:xfrm>
            <a:prstGeom prst="line">
              <a:avLst/>
            </a:prstGeom>
            <a:ln w="38100" cap="flat" cmpd="sng">
              <a:solidFill>
                <a:srgbClr val="FF0000"/>
              </a:solidFill>
              <a:prstDash val="solid"/>
              <a:headEnd type="none" w="med" len="med"/>
              <a:tailEnd type="triangle" w="med" len="med"/>
            </a:ln>
          </p:spPr>
        </p:sp>
        <p:sp>
          <p:nvSpPr>
            <p:cNvPr id="7200" name="AutoShape 100"/>
            <p:cNvSpPr/>
            <p:nvPr/>
          </p:nvSpPr>
          <p:spPr>
            <a:xfrm>
              <a:off x="4272" y="1632"/>
              <a:ext cx="256" cy="192"/>
            </a:xfrm>
            <a:prstGeom prst="rightArrow">
              <a:avLst>
                <a:gd name="adj1" fmla="val 50000"/>
                <a:gd name="adj2"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grpSp>
        <p:nvGrpSpPr>
          <p:cNvPr id="5" name="Group 101"/>
          <p:cNvGrpSpPr/>
          <p:nvPr/>
        </p:nvGrpSpPr>
        <p:grpSpPr>
          <a:xfrm>
            <a:off x="381000" y="5334000"/>
            <a:ext cx="8763000" cy="1143000"/>
            <a:chOff x="672" y="3360"/>
            <a:chExt cx="5088" cy="720"/>
          </a:xfrm>
        </p:grpSpPr>
        <p:graphicFrame>
          <p:nvGraphicFramePr>
            <p:cNvPr id="7174" name="Object 102"/>
            <p:cNvGraphicFramePr/>
            <p:nvPr/>
          </p:nvGraphicFramePr>
          <p:xfrm>
            <a:off x="672" y="3510"/>
            <a:ext cx="3576" cy="570"/>
          </p:xfrm>
          <a:graphic>
            <a:graphicData uri="http://schemas.openxmlformats.org/presentationml/2006/ole">
              <mc:AlternateContent xmlns:mc="http://schemas.openxmlformats.org/markup-compatibility/2006">
                <mc:Choice xmlns:v="urn:schemas-microsoft-com:vml" Requires="v">
                  <p:oleObj spid="_x0000_s3085" name="" r:id="rId9" imgW="4265295" imgH="571500" progId="Equation.3">
                    <p:embed/>
                  </p:oleObj>
                </mc:Choice>
                <mc:Fallback>
                  <p:oleObj name="" r:id="rId9" imgW="4265295" imgH="571500" progId="Equation.3">
                    <p:embed/>
                    <p:pic>
                      <p:nvPicPr>
                        <p:cNvPr id="0" name="图片 3084"/>
                        <p:cNvPicPr/>
                        <p:nvPr/>
                      </p:nvPicPr>
                      <p:blipFill>
                        <a:blip r:embed="rId10"/>
                        <a:stretch>
                          <a:fillRect/>
                        </a:stretch>
                      </p:blipFill>
                      <p:spPr>
                        <a:xfrm>
                          <a:off x="672" y="3510"/>
                          <a:ext cx="3576" cy="570"/>
                        </a:xfrm>
                        <a:prstGeom prst="rect">
                          <a:avLst/>
                        </a:prstGeom>
                        <a:noFill/>
                        <a:ln w="38100">
                          <a:noFill/>
                          <a:miter/>
                        </a:ln>
                      </p:spPr>
                    </p:pic>
                  </p:oleObj>
                </mc:Fallback>
              </mc:AlternateContent>
            </a:graphicData>
          </a:graphic>
        </p:graphicFrame>
        <p:grpSp>
          <p:nvGrpSpPr>
            <p:cNvPr id="7192" name="Group 103"/>
            <p:cNvGrpSpPr/>
            <p:nvPr/>
          </p:nvGrpSpPr>
          <p:grpSpPr>
            <a:xfrm>
              <a:off x="4272" y="3360"/>
              <a:ext cx="1488" cy="672"/>
              <a:chOff x="4272" y="1344"/>
              <a:chExt cx="1488" cy="672"/>
            </a:xfrm>
          </p:grpSpPr>
          <p:sp>
            <p:nvSpPr>
              <p:cNvPr id="7193" name="Text Box 104"/>
              <p:cNvSpPr txBox="1"/>
              <p:nvPr/>
            </p:nvSpPr>
            <p:spPr>
              <a:xfrm>
                <a:off x="4512" y="1344"/>
                <a:ext cx="1248"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E3   F2   G</a:t>
                </a:r>
                <a:endParaRPr lang="en-US" altLang="zh-CN" sz="2400" dirty="0">
                  <a:latin typeface="Times New Roman" panose="02020603050405020304" pitchFamily="18" charset="0"/>
                  <a:ea typeface="宋体" panose="02010600030101010101" pitchFamily="2" charset="-122"/>
                </a:endParaRPr>
              </a:p>
            </p:txBody>
          </p:sp>
          <p:sp>
            <p:nvSpPr>
              <p:cNvPr id="7194" name="Line 105"/>
              <p:cNvSpPr/>
              <p:nvPr/>
            </p:nvSpPr>
            <p:spPr>
              <a:xfrm>
                <a:off x="4800" y="1872"/>
                <a:ext cx="139" cy="0"/>
              </a:xfrm>
              <a:prstGeom prst="line">
                <a:avLst/>
              </a:prstGeom>
              <a:ln w="38100" cap="flat" cmpd="sng">
                <a:solidFill>
                  <a:srgbClr val="FF0000"/>
                </a:solidFill>
                <a:prstDash val="solid"/>
                <a:headEnd type="none" w="med" len="med"/>
                <a:tailEnd type="triangle" w="med" len="med"/>
              </a:ln>
            </p:spPr>
          </p:sp>
          <p:sp>
            <p:nvSpPr>
              <p:cNvPr id="7195" name="Line 106"/>
              <p:cNvSpPr/>
              <p:nvPr/>
            </p:nvSpPr>
            <p:spPr>
              <a:xfrm>
                <a:off x="5136" y="1872"/>
                <a:ext cx="139" cy="0"/>
              </a:xfrm>
              <a:prstGeom prst="line">
                <a:avLst/>
              </a:prstGeom>
              <a:ln w="38100" cap="flat" cmpd="sng">
                <a:solidFill>
                  <a:srgbClr val="FF0000"/>
                </a:solidFill>
                <a:prstDash val="solid"/>
                <a:headEnd type="none" w="med" len="med"/>
                <a:tailEnd type="triangle" w="med" len="med"/>
              </a:ln>
            </p:spPr>
          </p:sp>
          <p:sp>
            <p:nvSpPr>
              <p:cNvPr id="7196" name="AutoShape 107"/>
              <p:cNvSpPr/>
              <p:nvPr/>
            </p:nvSpPr>
            <p:spPr>
              <a:xfrm>
                <a:off x="4272" y="1632"/>
                <a:ext cx="256" cy="192"/>
              </a:xfrm>
              <a:prstGeom prst="rightArrow">
                <a:avLst>
                  <a:gd name="adj1" fmla="val 50000"/>
                  <a:gd name="adj2"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grpSp>
      <p:grpSp>
        <p:nvGrpSpPr>
          <p:cNvPr id="7" name="Group 108"/>
          <p:cNvGrpSpPr/>
          <p:nvPr/>
        </p:nvGrpSpPr>
        <p:grpSpPr>
          <a:xfrm>
            <a:off x="5486400" y="381000"/>
            <a:ext cx="3962400" cy="1160463"/>
            <a:chOff x="3600" y="240"/>
            <a:chExt cx="2496" cy="731"/>
          </a:xfrm>
        </p:grpSpPr>
        <p:sp>
          <p:nvSpPr>
            <p:cNvPr id="7188" name="Text Box 109"/>
            <p:cNvSpPr txBox="1"/>
            <p:nvPr/>
          </p:nvSpPr>
          <p:spPr>
            <a:xfrm>
              <a:off x="3600" y="240"/>
              <a:ext cx="768" cy="327"/>
            </a:xfrm>
            <a:prstGeom prst="rect">
              <a:avLst/>
            </a:prstGeom>
            <a:noFill/>
            <a:ln w="9525">
              <a:noFill/>
            </a:ln>
          </p:spPr>
          <p:txBody>
            <a:bodyPr>
              <a:spAutoFit/>
            </a:bodyPr>
            <a:p>
              <a:pPr>
                <a:spcBef>
                  <a:spcPct val="50000"/>
                </a:spcBef>
              </a:pPr>
              <a:r>
                <a:rPr lang="en-US" altLang="zh-CN" dirty="0">
                  <a:latin typeface="宋体" panose="02010600030101010101" pitchFamily="2" charset="-122"/>
                  <a:ea typeface="宋体" panose="02010600030101010101" pitchFamily="2" charset="-122"/>
                </a:rPr>
                <a:t>k=6</a:t>
              </a:r>
              <a:r>
                <a:rPr lang="en-US" altLang="zh-CN"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p:txBody>
        </p:sp>
        <p:sp>
          <p:nvSpPr>
            <p:cNvPr id="7189" name="Text Box 110"/>
            <p:cNvSpPr txBox="1"/>
            <p:nvPr/>
          </p:nvSpPr>
          <p:spPr>
            <a:xfrm>
              <a:off x="4080" y="240"/>
              <a:ext cx="2016" cy="731"/>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1    </a:t>
              </a:r>
              <a:r>
                <a:rPr lang="en-US" altLang="zh-CN" dirty="0">
                  <a:latin typeface="Times New Roman" panose="02020603050405020304" pitchFamily="18" charset="0"/>
                  <a:ea typeface="宋体" panose="02010600030101010101" pitchFamily="2" charset="-122"/>
                </a:rPr>
                <a:t> G </a:t>
              </a:r>
              <a:r>
                <a:rPr lang="en-US" altLang="zh-CN" i="1" dirty="0">
                  <a:latin typeface="宋体" panose="02010600030101010101" pitchFamily="2" charset="-122"/>
                  <a:ea typeface="宋体" panose="02010600030101010101" pitchFamily="2" charset="-122"/>
                </a:rPr>
                <a:t>f</a:t>
              </a:r>
              <a:r>
                <a:rPr lang="en-US" altLang="zh-CN" baseline="-25000" dirty="0">
                  <a:latin typeface="宋体" panose="02010600030101010101" pitchFamily="2" charset="-122"/>
                  <a:ea typeface="宋体" panose="02010600030101010101" pitchFamily="2" charset="-122"/>
                </a:rPr>
                <a:t>6</a:t>
              </a:r>
              <a:r>
                <a:rPr lang="en-US" altLang="zh-CN" dirty="0">
                  <a:latin typeface="宋体" panose="02010600030101010101" pitchFamily="2" charset="-122"/>
                  <a:ea typeface="宋体" panose="02010600030101010101" pitchFamily="2" charset="-122"/>
                </a:rPr>
                <a:t>(F1)=4</a:t>
              </a:r>
              <a:endParaRPr lang="en-US" altLang="zh-CN" dirty="0">
                <a:latin typeface="宋体" panose="02010600030101010101" pitchFamily="2" charset="-122"/>
                <a:ea typeface="宋体" panose="02010600030101010101" pitchFamily="2" charset="-122"/>
              </a:endParaRPr>
            </a:p>
            <a:p>
              <a:pPr>
                <a:spcBef>
                  <a:spcPct val="50000"/>
                </a:spcBef>
              </a:pPr>
              <a:r>
                <a:rPr lang="en-US" altLang="zh-CN" dirty="0">
                  <a:latin typeface="宋体" panose="02010600030101010101" pitchFamily="2" charset="-122"/>
                  <a:ea typeface="宋体" panose="02010600030101010101" pitchFamily="2" charset="-122"/>
                </a:rPr>
                <a:t>F</a:t>
              </a:r>
              <a:r>
                <a:rPr lang="en-US" altLang="zh-CN" baseline="-25000" dirty="0">
                  <a:latin typeface="宋体" panose="02010600030101010101" pitchFamily="2" charset="-122"/>
                  <a:ea typeface="宋体" panose="02010600030101010101" pitchFamily="2" charset="-122"/>
                </a:rPr>
                <a:t>2   </a:t>
              </a:r>
              <a:r>
                <a:rPr lang="en-US" altLang="zh-CN" dirty="0">
                  <a:latin typeface="Times New Roman" panose="02020603050405020304" pitchFamily="18" charset="0"/>
                  <a:ea typeface="宋体" panose="02010600030101010101" pitchFamily="2" charset="-122"/>
                </a:rPr>
                <a:t>G</a:t>
              </a:r>
              <a:r>
                <a:rPr lang="en-US" altLang="zh-CN" baseline="-25000"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,f</a:t>
              </a:r>
              <a:r>
                <a:rPr lang="en-US" altLang="zh-CN" baseline="-25000" dirty="0">
                  <a:latin typeface="宋体" panose="02010600030101010101" pitchFamily="2" charset="-122"/>
                  <a:ea typeface="宋体" panose="02010600030101010101" pitchFamily="2" charset="-122"/>
                </a:rPr>
                <a:t>6</a:t>
              </a:r>
              <a:r>
                <a:rPr lang="en-US" altLang="zh-CN" dirty="0">
                  <a:latin typeface="宋体" panose="02010600030101010101" pitchFamily="2" charset="-122"/>
                  <a:ea typeface="宋体" panose="02010600030101010101" pitchFamily="2" charset="-122"/>
                </a:rPr>
                <a:t>(F2)=3</a:t>
              </a:r>
              <a:endParaRPr lang="en-US" altLang="zh-CN" dirty="0">
                <a:latin typeface="宋体" panose="02010600030101010101" pitchFamily="2" charset="-122"/>
                <a:ea typeface="宋体" panose="02010600030101010101" pitchFamily="2" charset="-122"/>
              </a:endParaRPr>
            </a:p>
          </p:txBody>
        </p:sp>
        <p:sp>
          <p:nvSpPr>
            <p:cNvPr id="7190" name="AutoShape 111"/>
            <p:cNvSpPr/>
            <p:nvPr/>
          </p:nvSpPr>
          <p:spPr>
            <a:xfrm>
              <a:off x="4368" y="336"/>
              <a:ext cx="144" cy="144"/>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191" name="AutoShape 112"/>
            <p:cNvSpPr/>
            <p:nvPr/>
          </p:nvSpPr>
          <p:spPr>
            <a:xfrm>
              <a:off x="4368" y="768"/>
              <a:ext cx="144" cy="144"/>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348"/>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11" name="CARBRAK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74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1" presetClass="entr" presetSubtype="0" fill="hold" nodeType="clickEffect">
                                  <p:stCondLst>
                                    <p:cond delay="0"/>
                                  </p:stCondLst>
                                  <p:childTnLst>
                                    <p:set>
                                      <p:cBhvr>
                                        <p:cTn id="18" dur="1000">
                                          <p:stCondLst>
                                            <p:cond delay="0"/>
                                          </p:stCondLst>
                                        </p:cTn>
                                        <p:tgtEl>
                                          <p:spTgt spid="57434"/>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12" name="glass.wav"/>
                                        </p:tgtEl>
                                      </p:cMediaNode>
                                    </p:audio>
                                  </p:subTnLst>
                                </p:cTn>
                              </p:par>
                            </p:childTnLst>
                          </p:cTn>
                        </p:par>
                      </p:childTnLst>
                    </p:cTn>
                  </p:par>
                  <p:par>
                    <p:cTn id="19" fill="hold">
                      <p:stCondLst>
                        <p:cond delay="indefinite"/>
                      </p:stCondLst>
                      <p:childTnLst>
                        <p:par>
                          <p:cTn id="20" fill="hold">
                            <p:stCondLst>
                              <p:cond delay="0"/>
                            </p:stCondLst>
                            <p:childTnLst>
                              <p:par>
                                <p:cTn id="21" presetID="11" presetClass="entr" presetSubtype="0" fill="hold" nodeType="clickEffect">
                                  <p:stCondLst>
                                    <p:cond delay="0"/>
                                  </p:stCondLst>
                                  <p:childTnLst>
                                    <p:set>
                                      <p:cBhvr>
                                        <p:cTn id="22" dur="1000">
                                          <p:stCondLst>
                                            <p:cond delay="0"/>
                                          </p:stCondLst>
                                        </p:cTn>
                                        <p:tgtEl>
                                          <p:spTgt spid="574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1" presetClass="entr" presetSubtype="0" fill="hold" nodeType="clickEffect">
                                  <p:stCondLst>
                                    <p:cond delay="0"/>
                                  </p:stCondLst>
                                  <p:childTnLst>
                                    <p:set>
                                      <p:cBhvr>
                                        <p:cTn id="26" dur="1000">
                                          <p:stCondLst>
                                            <p:cond delay="0"/>
                                          </p:stCondLst>
                                        </p:cTn>
                                        <p:tgtEl>
                                          <p:spTgt spid="574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73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7347"/>
                                        </p:tgtEl>
                                        <p:attrNameLst>
                                          <p:attrName>style.visibility</p:attrName>
                                        </p:attrNameLst>
                                      </p:cBhvr>
                                      <p:to>
                                        <p:strVal val="visible"/>
                                      </p:to>
                                    </p:set>
                                  </p:childTnLst>
                                  <p:subTnLst>
                                    <p:set>
                                      <p:cBhvr override="childStyle">
                                        <p:cTn dur="1" fill="hold" display="0" masterRel="nextClick" afterEffect="1"/>
                                        <p:tgtEl>
                                          <p:spTgt spid="57347"/>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73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7346"/>
                                        </p:tgtEl>
                                        <p:attrNameLst>
                                          <p:attrName>style.visibility</p:attrName>
                                        </p:attrNameLst>
                                      </p:cBhvr>
                                      <p:to>
                                        <p:strVal val="visible"/>
                                      </p:to>
                                    </p:set>
                                  </p:childTnLst>
                                  <p:subTnLst>
                                    <p:set>
                                      <p:cBhvr override="childStyle">
                                        <p:cTn dur="1" fill="hold" display="0" masterRel="nextClick" afterEffect="1"/>
                                        <p:tgtEl>
                                          <p:spTgt spid="57346"/>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nimBg="1"/>
      <p:bldP spid="57347" grpId="0" animBg="1"/>
      <p:bldP spid="57348"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Oval 2"/>
          <p:cNvSpPr/>
          <p:nvPr/>
        </p:nvSpPr>
        <p:spPr>
          <a:xfrm>
            <a:off x="2438400" y="304800"/>
            <a:ext cx="2057400" cy="6096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8371" name="Oval 3"/>
          <p:cNvSpPr/>
          <p:nvPr/>
        </p:nvSpPr>
        <p:spPr>
          <a:xfrm>
            <a:off x="2819400" y="2743200"/>
            <a:ext cx="1828800" cy="6096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8372" name="Oval 4"/>
          <p:cNvSpPr/>
          <p:nvPr/>
        </p:nvSpPr>
        <p:spPr>
          <a:xfrm>
            <a:off x="7315200" y="990600"/>
            <a:ext cx="1828800" cy="6096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8373" name="Oval 5"/>
          <p:cNvSpPr/>
          <p:nvPr/>
        </p:nvSpPr>
        <p:spPr>
          <a:xfrm>
            <a:off x="6248400" y="4419600"/>
            <a:ext cx="1447800" cy="6096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4038" name="Group 6"/>
          <p:cNvGrpSpPr/>
          <p:nvPr/>
        </p:nvGrpSpPr>
        <p:grpSpPr>
          <a:xfrm>
            <a:off x="76200" y="304800"/>
            <a:ext cx="4572000" cy="2043113"/>
            <a:chOff x="192" y="192"/>
            <a:chExt cx="2880" cy="1287"/>
          </a:xfrm>
        </p:grpSpPr>
        <p:sp>
          <p:nvSpPr>
            <p:cNvPr id="44069" name="Text Box 7"/>
            <p:cNvSpPr txBox="1"/>
            <p:nvPr/>
          </p:nvSpPr>
          <p:spPr>
            <a:xfrm>
              <a:off x="192" y="192"/>
              <a:ext cx="1008"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k=4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4070" name="Text Box 8"/>
            <p:cNvSpPr txBox="1"/>
            <p:nvPr/>
          </p:nvSpPr>
          <p:spPr>
            <a:xfrm>
              <a:off x="720" y="192"/>
              <a:ext cx="2352" cy="1287"/>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D1</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D1</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E2</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D2</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E2</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D3</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E2</a:t>
              </a:r>
              <a:endParaRPr lang="en-US" altLang="zh-CN" sz="3200" dirty="0">
                <a:latin typeface="Times New Roman" panose="02020603050405020304" pitchFamily="18" charset="0"/>
                <a:ea typeface="宋体" panose="02010600030101010101" pitchFamily="2" charset="-122"/>
              </a:endParaRPr>
            </a:p>
          </p:txBody>
        </p:sp>
      </p:grpSp>
      <p:sp>
        <p:nvSpPr>
          <p:cNvPr id="58377" name="Text Box 9"/>
          <p:cNvSpPr txBox="1"/>
          <p:nvPr/>
        </p:nvSpPr>
        <p:spPr>
          <a:xfrm>
            <a:off x="228600" y="2743200"/>
            <a:ext cx="6019800" cy="13112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k=2, </a:t>
            </a:r>
            <a:r>
              <a:rPr lang="en-US" altLang="zh-CN" sz="3200" i="1" dirty="0">
                <a:latin typeface="Times New Roman" panose="02020603050405020304" pitchFamily="18" charset="0"/>
                <a:ea typeface="宋体" panose="02010600030101010101" pitchFamily="2" charset="-122"/>
              </a:rPr>
              <a:t> f</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B1</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13</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B1</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C2</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       f</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B2</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C3</a:t>
            </a:r>
            <a:endParaRPr lang="en-US" altLang="zh-CN" sz="2400" dirty="0">
              <a:latin typeface="Times New Roman" panose="02020603050405020304" pitchFamily="18" charset="0"/>
              <a:ea typeface="宋体" panose="02010600030101010101" pitchFamily="2" charset="-122"/>
            </a:endParaRPr>
          </a:p>
        </p:txBody>
      </p:sp>
      <p:grpSp>
        <p:nvGrpSpPr>
          <p:cNvPr id="3" name="Group 10"/>
          <p:cNvGrpSpPr/>
          <p:nvPr/>
        </p:nvGrpSpPr>
        <p:grpSpPr>
          <a:xfrm>
            <a:off x="4648200" y="196850"/>
            <a:ext cx="4572000" cy="2774950"/>
            <a:chOff x="4176" y="0"/>
            <a:chExt cx="2880" cy="1748"/>
          </a:xfrm>
        </p:grpSpPr>
        <p:sp>
          <p:nvSpPr>
            <p:cNvPr id="44067" name="Text Box 11"/>
            <p:cNvSpPr txBox="1"/>
            <p:nvPr/>
          </p:nvSpPr>
          <p:spPr>
            <a:xfrm>
              <a:off x="4848" y="0"/>
              <a:ext cx="2208" cy="1748"/>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C1</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13</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C1</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D1</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C2</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C2</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D1</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C3</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D1</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C4</a:t>
              </a:r>
              <a:r>
                <a:rPr lang="en-US" altLang="zh-CN" sz="32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12</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3</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C4</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D3</a:t>
              </a:r>
              <a:endParaRPr lang="en-US" altLang="zh-CN" sz="2400" dirty="0">
                <a:latin typeface="Times New Roman" panose="02020603050405020304" pitchFamily="18" charset="0"/>
                <a:ea typeface="宋体" panose="02010600030101010101" pitchFamily="2" charset="-122"/>
              </a:endParaRPr>
            </a:p>
          </p:txBody>
        </p:sp>
        <p:sp>
          <p:nvSpPr>
            <p:cNvPr id="44068" name="Text Box 12"/>
            <p:cNvSpPr txBox="1"/>
            <p:nvPr/>
          </p:nvSpPr>
          <p:spPr>
            <a:xfrm>
              <a:off x="4176" y="48"/>
              <a:ext cx="816"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k=3,</a:t>
              </a:r>
              <a:endParaRPr lang="en-US" altLang="zh-CN" dirty="0">
                <a:latin typeface="Times New Roman" panose="02020603050405020304" pitchFamily="18" charset="0"/>
                <a:ea typeface="宋体" panose="02010600030101010101" pitchFamily="2" charset="-122"/>
              </a:endParaRPr>
            </a:p>
          </p:txBody>
        </p:sp>
      </p:grpSp>
      <p:grpSp>
        <p:nvGrpSpPr>
          <p:cNvPr id="4" name="Group 13"/>
          <p:cNvGrpSpPr/>
          <p:nvPr/>
        </p:nvGrpSpPr>
        <p:grpSpPr>
          <a:xfrm>
            <a:off x="304800" y="4021138"/>
            <a:ext cx="8382000" cy="1617662"/>
            <a:chOff x="192" y="2448"/>
            <a:chExt cx="5280" cy="1019"/>
          </a:xfrm>
        </p:grpSpPr>
        <p:sp>
          <p:nvSpPr>
            <p:cNvPr id="44053" name="Text Box 14"/>
            <p:cNvSpPr txBox="1"/>
            <p:nvPr/>
          </p:nvSpPr>
          <p:spPr>
            <a:xfrm>
              <a:off x="3312" y="2947"/>
              <a:ext cx="960" cy="365"/>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ea typeface="宋体" panose="02010600030101010101" pitchFamily="2" charset="-122"/>
                </a:rPr>
                <a:t>= min</a:t>
              </a:r>
              <a:endParaRPr lang="en-US" altLang="zh-CN" sz="3200" b="0" dirty="0">
                <a:latin typeface="Times New Roman" panose="02020603050405020304" pitchFamily="18" charset="0"/>
                <a:ea typeface="宋体" panose="02010600030101010101" pitchFamily="2" charset="-122"/>
              </a:endParaRPr>
            </a:p>
          </p:txBody>
        </p:sp>
        <p:grpSp>
          <p:nvGrpSpPr>
            <p:cNvPr id="44054" name="Group 15"/>
            <p:cNvGrpSpPr/>
            <p:nvPr/>
          </p:nvGrpSpPr>
          <p:grpSpPr>
            <a:xfrm>
              <a:off x="192" y="2448"/>
              <a:ext cx="5280" cy="1019"/>
              <a:chOff x="192" y="2736"/>
              <a:chExt cx="5280" cy="1019"/>
            </a:xfrm>
          </p:grpSpPr>
          <p:grpSp>
            <p:nvGrpSpPr>
              <p:cNvPr id="44055" name="Group 16"/>
              <p:cNvGrpSpPr/>
              <p:nvPr/>
            </p:nvGrpSpPr>
            <p:grpSpPr>
              <a:xfrm>
                <a:off x="480" y="3024"/>
                <a:ext cx="4992" cy="731"/>
                <a:chOff x="432" y="3264"/>
                <a:chExt cx="4992" cy="731"/>
              </a:xfrm>
            </p:grpSpPr>
            <p:sp>
              <p:nvSpPr>
                <p:cNvPr id="44057" name="AutoShape 17"/>
                <p:cNvSpPr/>
                <p:nvPr/>
              </p:nvSpPr>
              <p:spPr>
                <a:xfrm>
                  <a:off x="4608" y="3312"/>
                  <a:ext cx="192" cy="672"/>
                </a:xfrm>
                <a:prstGeom prst="rightBrace">
                  <a:avLst>
                    <a:gd name="adj1" fmla="val 29166"/>
                    <a:gd name="adj2" fmla="val 50000"/>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4058" name="Group 18"/>
                <p:cNvGrpSpPr/>
                <p:nvPr/>
              </p:nvGrpSpPr>
              <p:grpSpPr>
                <a:xfrm>
                  <a:off x="432" y="3264"/>
                  <a:ext cx="4992" cy="731"/>
                  <a:chOff x="432" y="3253"/>
                  <a:chExt cx="4992" cy="731"/>
                </a:xfrm>
              </p:grpSpPr>
              <p:sp>
                <p:nvSpPr>
                  <p:cNvPr id="44059" name="AutoShape 19"/>
                  <p:cNvSpPr/>
                  <p:nvPr/>
                </p:nvSpPr>
                <p:spPr>
                  <a:xfrm>
                    <a:off x="3936" y="3312"/>
                    <a:ext cx="144" cy="672"/>
                  </a:xfrm>
                  <a:prstGeom prst="leftBrace">
                    <a:avLst>
                      <a:gd name="adj1" fmla="val 38888"/>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4060" name="Group 20"/>
                  <p:cNvGrpSpPr/>
                  <p:nvPr/>
                </p:nvGrpSpPr>
                <p:grpSpPr>
                  <a:xfrm>
                    <a:off x="432" y="3312"/>
                    <a:ext cx="4560" cy="672"/>
                    <a:chOff x="432" y="3312"/>
                    <a:chExt cx="4560" cy="672"/>
                  </a:xfrm>
                </p:grpSpPr>
                <p:sp>
                  <p:nvSpPr>
                    <p:cNvPr id="44063" name="Text Box 21"/>
                    <p:cNvSpPr txBox="1"/>
                    <p:nvPr/>
                  </p:nvSpPr>
                  <p:spPr>
                    <a:xfrm>
                      <a:off x="432" y="3408"/>
                      <a:ext cx="456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f</a:t>
                      </a:r>
                      <a:r>
                        <a:rPr lang="en-US" altLang="zh-CN" sz="3200" baseline="-25000" dirty="0">
                          <a:latin typeface="Times New Roman" panose="02020603050405020304" pitchFamily="18" charset="0"/>
                          <a:ea typeface="宋体" panose="02010600030101010101" pitchFamily="2" charset="-122"/>
                        </a:rPr>
                        <a:t>1</a:t>
                      </a:r>
                      <a:r>
                        <a:rPr lang="en-US" altLang="zh-CN" sz="32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a:t>
                      </a:r>
                      <a:r>
                        <a:rPr lang="en-US" altLang="zh-CN" sz="3200" dirty="0">
                          <a:latin typeface="Times New Roman" panose="02020603050405020304" pitchFamily="18" charset="0"/>
                          <a:ea typeface="宋体" panose="02010600030101010101" pitchFamily="2" charset="-122"/>
                        </a:rPr>
                        <a:t>)= min</a:t>
                      </a:r>
                      <a:endParaRPr lang="en-US" altLang="zh-CN" sz="3200" b="0" dirty="0">
                        <a:latin typeface="Times New Roman" panose="02020603050405020304" pitchFamily="18" charset="0"/>
                        <a:ea typeface="宋体" panose="02010600030101010101" pitchFamily="2" charset="-122"/>
                      </a:endParaRPr>
                    </a:p>
                  </p:txBody>
                </p:sp>
                <p:sp>
                  <p:nvSpPr>
                    <p:cNvPr id="44064" name="Text Box 22"/>
                    <p:cNvSpPr txBox="1"/>
                    <p:nvPr/>
                  </p:nvSpPr>
                  <p:spPr>
                    <a:xfrm>
                      <a:off x="1776" y="3312"/>
                      <a:ext cx="2640" cy="633"/>
                    </a:xfrm>
                    <a:prstGeom prst="rect">
                      <a:avLst/>
                    </a:prstGeom>
                    <a:noFill/>
                    <a:ln w="9525">
                      <a:noFill/>
                    </a:ln>
                  </p:spPr>
                  <p:txBody>
                    <a:bodyPr>
                      <a:spAutoFit/>
                    </a:bodyPr>
                    <a:p>
                      <a:pPr>
                        <a:spcBef>
                          <a:spcPct val="50000"/>
                        </a:spcBef>
                      </a:pPr>
                      <a:r>
                        <a:rPr lang="en-US" altLang="zh-CN" sz="2400" i="1" dirty="0">
                          <a:latin typeface="Times New Roman" panose="02020603050405020304" pitchFamily="18" charset="0"/>
                          <a:ea typeface="宋体" panose="02010600030101010101" pitchFamily="2" charset="-122"/>
                        </a:rPr>
                        <a:t>d</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(A,B1)+ </a:t>
                      </a:r>
                      <a:r>
                        <a:rPr lang="en-US" altLang="zh-CN" sz="2400" i="1" dirty="0">
                          <a:latin typeface="Times New Roman" panose="02020603050405020304" pitchFamily="18" charset="0"/>
                          <a:ea typeface="宋体" panose="02010600030101010101" pitchFamily="2" charset="-122"/>
                        </a:rPr>
                        <a:t>f</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(B1)        </a:t>
                      </a: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2400" i="1" dirty="0">
                          <a:latin typeface="Times New Roman" panose="02020603050405020304" pitchFamily="18" charset="0"/>
                          <a:ea typeface="宋体" panose="02010600030101010101" pitchFamily="2" charset="-122"/>
                        </a:rPr>
                        <a:t>d</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(A,B2)+ </a:t>
                      </a:r>
                      <a:r>
                        <a:rPr lang="en-US" altLang="zh-CN" sz="2400" i="1" dirty="0">
                          <a:latin typeface="Times New Roman" panose="02020603050405020304" pitchFamily="18" charset="0"/>
                          <a:ea typeface="宋体" panose="02010600030101010101" pitchFamily="2" charset="-122"/>
                        </a:rPr>
                        <a:t>f</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(B2)</a:t>
                      </a:r>
                      <a:endParaRPr lang="en-US" altLang="zh-CN" sz="2400" dirty="0">
                        <a:latin typeface="Times New Roman" panose="02020603050405020304" pitchFamily="18" charset="0"/>
                        <a:ea typeface="宋体" panose="02010600030101010101" pitchFamily="2" charset="-122"/>
                      </a:endParaRPr>
                    </a:p>
                  </p:txBody>
                </p:sp>
                <p:sp>
                  <p:nvSpPr>
                    <p:cNvPr id="44065" name="AutoShape 23"/>
                    <p:cNvSpPr/>
                    <p:nvPr/>
                  </p:nvSpPr>
                  <p:spPr>
                    <a:xfrm>
                      <a:off x="3120" y="3312"/>
                      <a:ext cx="192" cy="672"/>
                    </a:xfrm>
                    <a:prstGeom prst="rightBrace">
                      <a:avLst>
                        <a:gd name="adj1" fmla="val 29166"/>
                        <a:gd name="adj2" fmla="val 50000"/>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4066" name="AutoShape 24"/>
                    <p:cNvSpPr/>
                    <p:nvPr/>
                  </p:nvSpPr>
                  <p:spPr>
                    <a:xfrm>
                      <a:off x="1680" y="3312"/>
                      <a:ext cx="144" cy="672"/>
                    </a:xfrm>
                    <a:prstGeom prst="leftBrace">
                      <a:avLst>
                        <a:gd name="adj1" fmla="val 38888"/>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sp>
                <p:nvSpPr>
                  <p:cNvPr id="44061" name="Text Box 25"/>
                  <p:cNvSpPr txBox="1"/>
                  <p:nvPr/>
                </p:nvSpPr>
                <p:spPr>
                  <a:xfrm>
                    <a:off x="4080" y="3253"/>
                    <a:ext cx="720" cy="731"/>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5+13</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b="0" dirty="0">
                        <a:latin typeface="Times New Roman" panose="02020603050405020304" pitchFamily="18" charset="0"/>
                        <a:ea typeface="宋体" panose="02010600030101010101" pitchFamily="2" charset="-122"/>
                      </a:rPr>
                      <a:t>3+16</a:t>
                    </a:r>
                    <a:endParaRPr lang="en-US" altLang="zh-CN" b="0" dirty="0">
                      <a:latin typeface="Times New Roman" panose="02020603050405020304" pitchFamily="18" charset="0"/>
                      <a:ea typeface="宋体" panose="02010600030101010101" pitchFamily="2" charset="-122"/>
                    </a:endParaRPr>
                  </a:p>
                </p:txBody>
              </p:sp>
              <p:sp>
                <p:nvSpPr>
                  <p:cNvPr id="44062" name="Text Box 26"/>
                  <p:cNvSpPr txBox="1"/>
                  <p:nvPr/>
                </p:nvSpPr>
                <p:spPr>
                  <a:xfrm>
                    <a:off x="4800" y="3504"/>
                    <a:ext cx="624" cy="365"/>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ea typeface="宋体" panose="02010600030101010101" pitchFamily="2" charset="-122"/>
                      </a:rPr>
                      <a:t>=</a:t>
                    </a:r>
                    <a:r>
                      <a:rPr lang="en-US" altLang="zh-CN" b="0" dirty="0">
                        <a:latin typeface="Times New Roman" panose="02020603050405020304" pitchFamily="18" charset="0"/>
                        <a:ea typeface="宋体" panose="02010600030101010101" pitchFamily="2" charset="-122"/>
                      </a:rPr>
                      <a:t>18</a:t>
                    </a:r>
                    <a:endParaRPr lang="en-US" altLang="zh-CN" b="0" dirty="0">
                      <a:latin typeface="Times New Roman" panose="02020603050405020304" pitchFamily="18" charset="0"/>
                      <a:ea typeface="宋体" panose="02010600030101010101" pitchFamily="2" charset="-122"/>
                    </a:endParaRPr>
                  </a:p>
                </p:txBody>
              </p:sp>
            </p:grpSp>
          </p:grpSp>
          <p:sp>
            <p:nvSpPr>
              <p:cNvPr id="44056" name="Text Box 27"/>
              <p:cNvSpPr txBox="1"/>
              <p:nvPr/>
            </p:nvSpPr>
            <p:spPr>
              <a:xfrm>
                <a:off x="192" y="2736"/>
                <a:ext cx="1056"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宋体" panose="02010600030101010101" pitchFamily="2" charset="-122"/>
                  </a:rPr>
                  <a:t>k=1,</a:t>
                </a:r>
                <a:endParaRPr lang="en-US" altLang="zh-CN" dirty="0">
                  <a:latin typeface="Times New Roman" panose="02020603050405020304" pitchFamily="18" charset="0"/>
                  <a:ea typeface="宋体" panose="02010600030101010101" pitchFamily="2" charset="-122"/>
                </a:endParaRPr>
              </a:p>
            </p:txBody>
          </p:sp>
        </p:grpSp>
      </p:grpSp>
      <p:grpSp>
        <p:nvGrpSpPr>
          <p:cNvPr id="9" name="Group 28"/>
          <p:cNvGrpSpPr/>
          <p:nvPr/>
        </p:nvGrpSpPr>
        <p:grpSpPr>
          <a:xfrm>
            <a:off x="609600" y="5688013"/>
            <a:ext cx="7696200" cy="606425"/>
            <a:chOff x="384" y="3583"/>
            <a:chExt cx="4848" cy="382"/>
          </a:xfrm>
        </p:grpSpPr>
        <p:sp>
          <p:nvSpPr>
            <p:cNvPr id="44043" name="Text Box 29"/>
            <p:cNvSpPr txBox="1"/>
            <p:nvPr/>
          </p:nvSpPr>
          <p:spPr>
            <a:xfrm>
              <a:off x="384"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(A)=B1</a:t>
              </a:r>
              <a:endParaRPr lang="en-US" altLang="zh-CN" sz="2400" dirty="0">
                <a:latin typeface="Times New Roman" panose="02020603050405020304" pitchFamily="18" charset="0"/>
                <a:ea typeface="宋体" panose="02010600030101010101" pitchFamily="2" charset="-122"/>
              </a:endParaRPr>
            </a:p>
          </p:txBody>
        </p:sp>
        <p:grpSp>
          <p:nvGrpSpPr>
            <p:cNvPr id="44044" name="Group 30"/>
            <p:cNvGrpSpPr/>
            <p:nvPr/>
          </p:nvGrpSpPr>
          <p:grpSpPr>
            <a:xfrm>
              <a:off x="1344" y="3600"/>
              <a:ext cx="1440" cy="365"/>
              <a:chOff x="1344" y="3600"/>
              <a:chExt cx="1440" cy="365"/>
            </a:xfrm>
          </p:grpSpPr>
          <p:sp>
            <p:nvSpPr>
              <p:cNvPr id="44051" name="AutoShape 31"/>
              <p:cNvSpPr/>
              <p:nvPr/>
            </p:nvSpPr>
            <p:spPr>
              <a:xfrm>
                <a:off x="1344"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4052" name="Text Box 32"/>
              <p:cNvSpPr txBox="1"/>
              <p:nvPr/>
            </p:nvSpPr>
            <p:spPr>
              <a:xfrm>
                <a:off x="1584"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(B1)=C2</a:t>
                </a:r>
                <a:endParaRPr lang="en-US" altLang="zh-CN" sz="2400" dirty="0">
                  <a:latin typeface="Times New Roman" panose="02020603050405020304" pitchFamily="18" charset="0"/>
                  <a:ea typeface="宋体" panose="02010600030101010101" pitchFamily="2" charset="-122"/>
                </a:endParaRPr>
              </a:p>
            </p:txBody>
          </p:sp>
        </p:grpSp>
        <p:grpSp>
          <p:nvGrpSpPr>
            <p:cNvPr id="44045" name="Group 33"/>
            <p:cNvGrpSpPr/>
            <p:nvPr/>
          </p:nvGrpSpPr>
          <p:grpSpPr>
            <a:xfrm>
              <a:off x="2592" y="3583"/>
              <a:ext cx="1392" cy="365"/>
              <a:chOff x="2592" y="3583"/>
              <a:chExt cx="1392" cy="365"/>
            </a:xfrm>
          </p:grpSpPr>
          <p:sp>
            <p:nvSpPr>
              <p:cNvPr id="44049" name="AutoShape 34"/>
              <p:cNvSpPr/>
              <p:nvPr/>
            </p:nvSpPr>
            <p:spPr>
              <a:xfrm>
                <a:off x="2592"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4050" name="Text Box 35"/>
              <p:cNvSpPr txBox="1"/>
              <p:nvPr/>
            </p:nvSpPr>
            <p:spPr>
              <a:xfrm>
                <a:off x="2784" y="3583"/>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(C2)=D1</a:t>
                </a:r>
                <a:endParaRPr lang="en-US" altLang="zh-CN" sz="2400" dirty="0">
                  <a:latin typeface="Times New Roman" panose="02020603050405020304" pitchFamily="18" charset="0"/>
                  <a:ea typeface="宋体" panose="02010600030101010101" pitchFamily="2" charset="-122"/>
                </a:endParaRPr>
              </a:p>
            </p:txBody>
          </p:sp>
        </p:grpSp>
        <p:grpSp>
          <p:nvGrpSpPr>
            <p:cNvPr id="44046" name="Group 36"/>
            <p:cNvGrpSpPr/>
            <p:nvPr/>
          </p:nvGrpSpPr>
          <p:grpSpPr>
            <a:xfrm>
              <a:off x="3840" y="3600"/>
              <a:ext cx="1392" cy="365"/>
              <a:chOff x="3840" y="3600"/>
              <a:chExt cx="1392" cy="365"/>
            </a:xfrm>
          </p:grpSpPr>
          <p:sp>
            <p:nvSpPr>
              <p:cNvPr id="44047" name="AutoShape 37"/>
              <p:cNvSpPr/>
              <p:nvPr/>
            </p:nvSpPr>
            <p:spPr>
              <a:xfrm>
                <a:off x="3840"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4048" name="Text Box 38"/>
              <p:cNvSpPr txBox="1"/>
              <p:nvPr/>
            </p:nvSpPr>
            <p:spPr>
              <a:xfrm>
                <a:off x="4032"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(D1)=E2</a:t>
                </a:r>
                <a:endParaRPr lang="en-US" altLang="zh-CN" sz="2400" dirty="0">
                  <a:latin typeface="Times New Roman" panose="02020603050405020304" pitchFamily="18" charset="0"/>
                  <a:ea typeface="宋体" panose="02010600030101010101" pitchFamily="2" charset="-122"/>
                </a:endParaRPr>
              </a:p>
            </p:txBody>
          </p:sp>
        </p:gr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83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83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83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83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ppt_x</p:attrName>
                                        </p:attrNameLst>
                                      </p:cBhvr>
                                      <p:tavLst>
                                        <p:tav tm="0">
                                          <p:val>
                                            <p:strVal val="#ppt_x-#ppt_w/2"/>
                                          </p:val>
                                        </p:tav>
                                        <p:tav tm="100000">
                                          <p:val>
                                            <p:strVal val="#ppt_x"/>
                                          </p:val>
                                        </p:tav>
                                      </p:tavLst>
                                    </p:anim>
                                    <p:anim calcmode="lin" valueType="num">
                                      <p:cBhvr>
                                        <p:cTn id="36" dur="500" fill="hold"/>
                                        <p:tgtEl>
                                          <p:spTgt spid="9"/>
                                        </p:tgtEl>
                                        <p:attrNameLst>
                                          <p:attrName>ppt_y</p:attrName>
                                        </p:attrNameLst>
                                      </p:cBhvr>
                                      <p:tavLst>
                                        <p:tav tm="0">
                                          <p:val>
                                            <p:strVal val="#ppt_y"/>
                                          </p:val>
                                        </p:tav>
                                        <p:tav tm="100000">
                                          <p:val>
                                            <p:strVal val="#ppt_y"/>
                                          </p:val>
                                        </p:tav>
                                      </p:tavLst>
                                    </p:anim>
                                    <p:anim calcmode="lin" valueType="num">
                                      <p:cBhvr>
                                        <p:cTn id="37" dur="500" fill="hold"/>
                                        <p:tgtEl>
                                          <p:spTgt spid="9"/>
                                        </p:tgtEl>
                                        <p:attrNameLst>
                                          <p:attrName>ppt_w</p:attrName>
                                        </p:attrNameLst>
                                      </p:cBhvr>
                                      <p:tavLst>
                                        <p:tav tm="0">
                                          <p:val>
                                            <p:fltVal val="0.000000"/>
                                          </p:val>
                                        </p:tav>
                                        <p:tav tm="100000">
                                          <p:val>
                                            <p:strVal val="#ppt_w"/>
                                          </p:val>
                                        </p:tav>
                                      </p:tavLst>
                                    </p:anim>
                                    <p:anim calcmode="lin" valueType="num">
                                      <p:cBhvr>
                                        <p:cTn id="38" dur="5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1" grpId="0" animBg="1"/>
      <p:bldP spid="58372" grpId="0" animBg="1"/>
      <p:bldP spid="58373" grpId="0" animBg="1"/>
      <p:bldP spid="58377"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9394" name="Oval 2"/>
          <p:cNvSpPr/>
          <p:nvPr/>
        </p:nvSpPr>
        <p:spPr>
          <a:xfrm>
            <a:off x="2667000" y="1981200"/>
            <a:ext cx="685800" cy="533400"/>
          </a:xfrm>
          <a:prstGeom prst="ellipse">
            <a:avLst/>
          </a:prstGeom>
          <a:solidFill>
            <a:srgbClr val="FFFF66"/>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5059" name="Group 88"/>
          <p:cNvGrpSpPr/>
          <p:nvPr/>
        </p:nvGrpSpPr>
        <p:grpSpPr>
          <a:xfrm>
            <a:off x="990600" y="304800"/>
            <a:ext cx="7696200" cy="606425"/>
            <a:chOff x="384" y="3583"/>
            <a:chExt cx="4848" cy="382"/>
          </a:xfrm>
        </p:grpSpPr>
        <p:sp>
          <p:nvSpPr>
            <p:cNvPr id="45162" name="Text Box 89"/>
            <p:cNvSpPr txBox="1"/>
            <p:nvPr/>
          </p:nvSpPr>
          <p:spPr>
            <a:xfrm>
              <a:off x="384"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(A)=B1</a:t>
              </a:r>
              <a:endParaRPr lang="en-US" altLang="zh-CN" sz="2400" dirty="0">
                <a:latin typeface="Times New Roman" panose="02020603050405020304" pitchFamily="18" charset="0"/>
                <a:ea typeface="宋体" panose="02010600030101010101" pitchFamily="2" charset="-122"/>
              </a:endParaRPr>
            </a:p>
          </p:txBody>
        </p:sp>
        <p:grpSp>
          <p:nvGrpSpPr>
            <p:cNvPr id="45163" name="Group 90"/>
            <p:cNvGrpSpPr/>
            <p:nvPr/>
          </p:nvGrpSpPr>
          <p:grpSpPr>
            <a:xfrm>
              <a:off x="1344" y="3600"/>
              <a:ext cx="1440" cy="365"/>
              <a:chOff x="1344" y="3600"/>
              <a:chExt cx="1440" cy="365"/>
            </a:xfrm>
          </p:grpSpPr>
          <p:sp>
            <p:nvSpPr>
              <p:cNvPr id="45170" name="AutoShape 91"/>
              <p:cNvSpPr/>
              <p:nvPr/>
            </p:nvSpPr>
            <p:spPr>
              <a:xfrm>
                <a:off x="1344"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5171" name="Text Box 92"/>
              <p:cNvSpPr txBox="1"/>
              <p:nvPr/>
            </p:nvSpPr>
            <p:spPr>
              <a:xfrm>
                <a:off x="1584"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(B1)=C2</a:t>
                </a:r>
                <a:endParaRPr lang="en-US" altLang="zh-CN" sz="2400" dirty="0">
                  <a:latin typeface="Times New Roman" panose="02020603050405020304" pitchFamily="18" charset="0"/>
                  <a:ea typeface="宋体" panose="02010600030101010101" pitchFamily="2" charset="-122"/>
                </a:endParaRPr>
              </a:p>
            </p:txBody>
          </p:sp>
        </p:grpSp>
        <p:grpSp>
          <p:nvGrpSpPr>
            <p:cNvPr id="45164" name="Group 93"/>
            <p:cNvGrpSpPr/>
            <p:nvPr/>
          </p:nvGrpSpPr>
          <p:grpSpPr>
            <a:xfrm>
              <a:off x="2592" y="3583"/>
              <a:ext cx="1392" cy="365"/>
              <a:chOff x="2592" y="3583"/>
              <a:chExt cx="1392" cy="365"/>
            </a:xfrm>
          </p:grpSpPr>
          <p:sp>
            <p:nvSpPr>
              <p:cNvPr id="45168" name="AutoShape 94"/>
              <p:cNvSpPr/>
              <p:nvPr/>
            </p:nvSpPr>
            <p:spPr>
              <a:xfrm>
                <a:off x="2592"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5169" name="Text Box 95"/>
              <p:cNvSpPr txBox="1"/>
              <p:nvPr/>
            </p:nvSpPr>
            <p:spPr>
              <a:xfrm>
                <a:off x="2784" y="3583"/>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(C2)=D1</a:t>
                </a:r>
                <a:endParaRPr lang="en-US" altLang="zh-CN" sz="2400" dirty="0">
                  <a:latin typeface="Times New Roman" panose="02020603050405020304" pitchFamily="18" charset="0"/>
                  <a:ea typeface="宋体" panose="02010600030101010101" pitchFamily="2" charset="-122"/>
                </a:endParaRPr>
              </a:p>
            </p:txBody>
          </p:sp>
        </p:grpSp>
        <p:grpSp>
          <p:nvGrpSpPr>
            <p:cNvPr id="45165" name="Group 96"/>
            <p:cNvGrpSpPr/>
            <p:nvPr/>
          </p:nvGrpSpPr>
          <p:grpSpPr>
            <a:xfrm>
              <a:off x="3840" y="3600"/>
              <a:ext cx="1392" cy="365"/>
              <a:chOff x="3840" y="3600"/>
              <a:chExt cx="1392" cy="365"/>
            </a:xfrm>
          </p:grpSpPr>
          <p:sp>
            <p:nvSpPr>
              <p:cNvPr id="45166" name="AutoShape 97"/>
              <p:cNvSpPr/>
              <p:nvPr/>
            </p:nvSpPr>
            <p:spPr>
              <a:xfrm>
                <a:off x="3840" y="3744"/>
                <a:ext cx="192" cy="144"/>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5167" name="Text Box 98"/>
              <p:cNvSpPr txBox="1"/>
              <p:nvPr/>
            </p:nvSpPr>
            <p:spPr>
              <a:xfrm>
                <a:off x="4032" y="3600"/>
                <a:ext cx="1200" cy="365"/>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(D1)=E2</a:t>
                </a:r>
                <a:endParaRPr lang="en-US" altLang="zh-CN" sz="2400" dirty="0">
                  <a:latin typeface="Times New Roman" panose="02020603050405020304" pitchFamily="18" charset="0"/>
                  <a:ea typeface="宋体" panose="02010600030101010101" pitchFamily="2" charset="-122"/>
                </a:endParaRPr>
              </a:p>
            </p:txBody>
          </p:sp>
        </p:grpSp>
      </p:grpSp>
      <p:grpSp>
        <p:nvGrpSpPr>
          <p:cNvPr id="6" name="Group 99"/>
          <p:cNvGrpSpPr/>
          <p:nvPr/>
        </p:nvGrpSpPr>
        <p:grpSpPr>
          <a:xfrm>
            <a:off x="533400" y="914400"/>
            <a:ext cx="6400800" cy="1143000"/>
            <a:chOff x="336" y="576"/>
            <a:chExt cx="4032" cy="720"/>
          </a:xfrm>
        </p:grpSpPr>
        <p:sp>
          <p:nvSpPr>
            <p:cNvPr id="45150" name="Line 100"/>
            <p:cNvSpPr/>
            <p:nvPr/>
          </p:nvSpPr>
          <p:spPr>
            <a:xfrm>
              <a:off x="624" y="1152"/>
              <a:ext cx="139" cy="0"/>
            </a:xfrm>
            <a:prstGeom prst="line">
              <a:avLst/>
            </a:prstGeom>
            <a:ln w="38100" cap="flat" cmpd="sng">
              <a:solidFill>
                <a:srgbClr val="FF0000"/>
              </a:solidFill>
              <a:prstDash val="solid"/>
              <a:headEnd type="none" w="med" len="med"/>
              <a:tailEnd type="triangle" w="med" len="med"/>
            </a:ln>
          </p:spPr>
        </p:sp>
        <p:sp>
          <p:nvSpPr>
            <p:cNvPr id="45151" name="Line 101"/>
            <p:cNvSpPr/>
            <p:nvPr/>
          </p:nvSpPr>
          <p:spPr>
            <a:xfrm>
              <a:off x="960" y="1152"/>
              <a:ext cx="139" cy="0"/>
            </a:xfrm>
            <a:prstGeom prst="line">
              <a:avLst/>
            </a:prstGeom>
            <a:ln w="38100" cap="flat" cmpd="sng">
              <a:solidFill>
                <a:srgbClr val="FF0000"/>
              </a:solidFill>
              <a:prstDash val="solid"/>
              <a:headEnd type="none" w="med" len="med"/>
              <a:tailEnd type="triangle" w="med" len="med"/>
            </a:ln>
          </p:spPr>
        </p:sp>
        <p:grpSp>
          <p:nvGrpSpPr>
            <p:cNvPr id="45152" name="Group 102"/>
            <p:cNvGrpSpPr/>
            <p:nvPr/>
          </p:nvGrpSpPr>
          <p:grpSpPr>
            <a:xfrm>
              <a:off x="336" y="576"/>
              <a:ext cx="4032" cy="720"/>
              <a:chOff x="336" y="576"/>
              <a:chExt cx="4032" cy="720"/>
            </a:xfrm>
          </p:grpSpPr>
          <p:sp>
            <p:nvSpPr>
              <p:cNvPr id="45153" name="Text Box 103"/>
              <p:cNvSpPr txBox="1"/>
              <p:nvPr/>
            </p:nvSpPr>
            <p:spPr>
              <a:xfrm>
                <a:off x="336" y="624"/>
                <a:ext cx="1392"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E1   F1   G</a:t>
                </a:r>
                <a:endParaRPr lang="en-US" altLang="zh-CN" sz="2400" dirty="0">
                  <a:latin typeface="Times New Roman" panose="02020603050405020304" pitchFamily="18" charset="0"/>
                  <a:ea typeface="宋体" panose="02010600030101010101" pitchFamily="2" charset="-122"/>
                </a:endParaRPr>
              </a:p>
            </p:txBody>
          </p:sp>
          <p:grpSp>
            <p:nvGrpSpPr>
              <p:cNvPr id="45154" name="Group 104"/>
              <p:cNvGrpSpPr/>
              <p:nvPr/>
            </p:nvGrpSpPr>
            <p:grpSpPr>
              <a:xfrm>
                <a:off x="1488" y="600"/>
                <a:ext cx="1248" cy="672"/>
                <a:chOff x="2736" y="720"/>
                <a:chExt cx="1248" cy="672"/>
              </a:xfrm>
            </p:grpSpPr>
            <p:sp>
              <p:nvSpPr>
                <p:cNvPr id="45159" name="Text Box 105"/>
                <p:cNvSpPr txBox="1"/>
                <p:nvPr/>
              </p:nvSpPr>
              <p:spPr>
                <a:xfrm>
                  <a:off x="2736" y="720"/>
                  <a:ext cx="1248"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E2  F2   G</a:t>
                  </a:r>
                  <a:endParaRPr lang="en-US" altLang="zh-CN" sz="2400" dirty="0">
                    <a:latin typeface="Times New Roman" panose="02020603050405020304" pitchFamily="18" charset="0"/>
                    <a:ea typeface="宋体" panose="02010600030101010101" pitchFamily="2" charset="-122"/>
                  </a:endParaRPr>
                </a:p>
              </p:txBody>
            </p:sp>
            <p:sp>
              <p:nvSpPr>
                <p:cNvPr id="45160" name="Line 106"/>
                <p:cNvSpPr/>
                <p:nvPr/>
              </p:nvSpPr>
              <p:spPr>
                <a:xfrm>
                  <a:off x="3024" y="1248"/>
                  <a:ext cx="139" cy="0"/>
                </a:xfrm>
                <a:prstGeom prst="line">
                  <a:avLst/>
                </a:prstGeom>
                <a:ln w="38100" cap="flat" cmpd="sng">
                  <a:solidFill>
                    <a:srgbClr val="FF0000"/>
                  </a:solidFill>
                  <a:prstDash val="solid"/>
                  <a:headEnd type="none" w="med" len="med"/>
                  <a:tailEnd type="triangle" w="med" len="med"/>
                </a:ln>
              </p:spPr>
            </p:sp>
            <p:sp>
              <p:nvSpPr>
                <p:cNvPr id="45161" name="Line 107"/>
                <p:cNvSpPr/>
                <p:nvPr/>
              </p:nvSpPr>
              <p:spPr>
                <a:xfrm>
                  <a:off x="3360" y="1248"/>
                  <a:ext cx="139" cy="0"/>
                </a:xfrm>
                <a:prstGeom prst="line">
                  <a:avLst/>
                </a:prstGeom>
                <a:ln w="38100" cap="flat" cmpd="sng">
                  <a:solidFill>
                    <a:srgbClr val="FF0000"/>
                  </a:solidFill>
                  <a:prstDash val="solid"/>
                  <a:headEnd type="none" w="med" len="med"/>
                  <a:tailEnd type="triangle" w="med" len="med"/>
                </a:ln>
              </p:spPr>
            </p:sp>
          </p:grpSp>
          <p:grpSp>
            <p:nvGrpSpPr>
              <p:cNvPr id="45155" name="Group 108"/>
              <p:cNvGrpSpPr/>
              <p:nvPr/>
            </p:nvGrpSpPr>
            <p:grpSpPr>
              <a:xfrm>
                <a:off x="2688" y="576"/>
                <a:ext cx="1680" cy="672"/>
                <a:chOff x="2688" y="672"/>
                <a:chExt cx="1680" cy="672"/>
              </a:xfrm>
            </p:grpSpPr>
            <p:sp>
              <p:nvSpPr>
                <p:cNvPr id="45156" name="Text Box 109"/>
                <p:cNvSpPr txBox="1"/>
                <p:nvPr/>
              </p:nvSpPr>
              <p:spPr>
                <a:xfrm>
                  <a:off x="2688" y="672"/>
                  <a:ext cx="1680" cy="672"/>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5</a:t>
                  </a:r>
                  <a:r>
                    <a:rPr lang="en-US" altLang="zh-CN" b="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r>
                    <a:rPr lang="en-US" altLang="zh-CN" b="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F</a:t>
                  </a: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E3   F2   G</a:t>
                  </a:r>
                  <a:endParaRPr lang="en-US" altLang="zh-CN" sz="3200" b="0" dirty="0">
                    <a:latin typeface="Times New Roman" panose="02020603050405020304" pitchFamily="18" charset="0"/>
                    <a:ea typeface="宋体" panose="02010600030101010101" pitchFamily="2" charset="-122"/>
                  </a:endParaRPr>
                </a:p>
              </p:txBody>
            </p:sp>
            <p:sp>
              <p:nvSpPr>
                <p:cNvPr id="45157" name="Line 110"/>
                <p:cNvSpPr/>
                <p:nvPr/>
              </p:nvSpPr>
              <p:spPr>
                <a:xfrm>
                  <a:off x="3312" y="1200"/>
                  <a:ext cx="139" cy="0"/>
                </a:xfrm>
                <a:prstGeom prst="line">
                  <a:avLst/>
                </a:prstGeom>
                <a:ln w="38100" cap="flat" cmpd="sng">
                  <a:solidFill>
                    <a:srgbClr val="FF0000"/>
                  </a:solidFill>
                  <a:prstDash val="solid"/>
                  <a:headEnd type="none" w="med" len="med"/>
                  <a:tailEnd type="triangle" w="med" len="med"/>
                </a:ln>
              </p:spPr>
            </p:sp>
            <p:sp>
              <p:nvSpPr>
                <p:cNvPr id="45158" name="Line 111"/>
                <p:cNvSpPr/>
                <p:nvPr/>
              </p:nvSpPr>
              <p:spPr>
                <a:xfrm>
                  <a:off x="2976" y="1200"/>
                  <a:ext cx="139" cy="0"/>
                </a:xfrm>
                <a:prstGeom prst="line">
                  <a:avLst/>
                </a:prstGeom>
                <a:ln w="38100" cap="flat" cmpd="sng">
                  <a:solidFill>
                    <a:srgbClr val="FF0000"/>
                  </a:solidFill>
                  <a:prstDash val="solid"/>
                  <a:headEnd type="none" w="med" len="med"/>
                  <a:tailEnd type="triangle" w="med" len="med"/>
                </a:ln>
              </p:spPr>
            </p:sp>
          </p:grpSp>
        </p:grpSp>
      </p:grpSp>
      <p:sp>
        <p:nvSpPr>
          <p:cNvPr id="59504" name="Text Box 112"/>
          <p:cNvSpPr txBox="1"/>
          <p:nvPr/>
        </p:nvSpPr>
        <p:spPr>
          <a:xfrm>
            <a:off x="1066800" y="1981200"/>
            <a:ext cx="502920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ea typeface="宋体" panose="02010600030101010101" pitchFamily="2" charset="-122"/>
              </a:rPr>
              <a:t>7               5                  9</a:t>
            </a:r>
            <a:endParaRPr lang="en-US" altLang="zh-CN" sz="3200" b="0" dirty="0">
              <a:latin typeface="Times New Roman" panose="02020603050405020304" pitchFamily="18" charset="0"/>
              <a:ea typeface="宋体" panose="02010600030101010101" pitchFamily="2" charset="-122"/>
            </a:endParaRPr>
          </a:p>
        </p:txBody>
      </p:sp>
      <p:sp>
        <p:nvSpPr>
          <p:cNvPr id="59505" name="Text Box 113"/>
          <p:cNvSpPr txBox="1"/>
          <p:nvPr/>
        </p:nvSpPr>
        <p:spPr>
          <a:xfrm>
            <a:off x="6705600" y="990600"/>
            <a:ext cx="243840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5</a:t>
            </a:r>
            <a:r>
              <a:rPr lang="en-US" altLang="zh-CN" sz="2400" dirty="0">
                <a:latin typeface="Times New Roman" panose="02020603050405020304" pitchFamily="18" charset="0"/>
                <a:ea typeface="宋体" panose="02010600030101010101" pitchFamily="2" charset="-122"/>
              </a:rPr>
              <a:t>(E2)=F2</a:t>
            </a:r>
            <a:endParaRPr lang="en-US" altLang="zh-CN" sz="2400" dirty="0">
              <a:latin typeface="Times New Roman" panose="02020603050405020304" pitchFamily="18" charset="0"/>
              <a:ea typeface="宋体" panose="02010600030101010101" pitchFamily="2" charset="-122"/>
            </a:endParaRPr>
          </a:p>
        </p:txBody>
      </p:sp>
      <p:sp>
        <p:nvSpPr>
          <p:cNvPr id="59506" name="Text Box 114"/>
          <p:cNvSpPr txBox="1"/>
          <p:nvPr/>
        </p:nvSpPr>
        <p:spPr>
          <a:xfrm>
            <a:off x="6858000" y="1706563"/>
            <a:ext cx="1981200" cy="579437"/>
          </a:xfrm>
          <a:prstGeom prst="rect">
            <a:avLst/>
          </a:prstGeom>
          <a:noFill/>
          <a:ln w="9525">
            <a:noFill/>
          </a:ln>
        </p:spPr>
        <p:txBody>
          <a:bodyPr>
            <a:spAutoFit/>
          </a:bodyPr>
          <a:p>
            <a:pPr>
              <a:spcBef>
                <a:spcPct val="50000"/>
              </a:spcBef>
            </a:pPr>
            <a:r>
              <a:rPr lang="en-US" altLang="zh-CN" sz="3200" i="1" dirty="0">
                <a:latin typeface="Times New Roman" panose="02020603050405020304" pitchFamily="18" charset="0"/>
                <a:ea typeface="宋体" panose="02010600030101010101" pitchFamily="2" charset="-122"/>
              </a:rPr>
              <a:t>u</a:t>
            </a:r>
            <a:r>
              <a:rPr lang="en-US" altLang="zh-CN" sz="3200" baseline="-25000" dirty="0">
                <a:latin typeface="Times New Roman" panose="02020603050405020304" pitchFamily="18" charset="0"/>
                <a:ea typeface="宋体" panose="02010600030101010101" pitchFamily="2" charset="-122"/>
              </a:rPr>
              <a:t>6</a:t>
            </a:r>
            <a:r>
              <a:rPr lang="en-US" altLang="zh-CN" sz="2400" dirty="0">
                <a:latin typeface="Times New Roman" panose="02020603050405020304" pitchFamily="18" charset="0"/>
                <a:ea typeface="宋体" panose="02010600030101010101" pitchFamily="2" charset="-122"/>
              </a:rPr>
              <a:t>(F2)=G</a:t>
            </a:r>
            <a:endParaRPr lang="en-US" altLang="zh-CN" sz="2400" dirty="0">
              <a:latin typeface="Times New Roman" panose="02020603050405020304" pitchFamily="18" charset="0"/>
              <a:ea typeface="宋体" panose="02010600030101010101" pitchFamily="2" charset="-122"/>
            </a:endParaRPr>
          </a:p>
        </p:txBody>
      </p:sp>
      <p:sp>
        <p:nvSpPr>
          <p:cNvPr id="59507" name="AutoShape 115"/>
          <p:cNvSpPr/>
          <p:nvPr/>
        </p:nvSpPr>
        <p:spPr>
          <a:xfrm>
            <a:off x="7010400" y="2819400"/>
            <a:ext cx="1905000" cy="609600"/>
          </a:xfrm>
          <a:prstGeom prst="wedgeRoundRectCallout">
            <a:avLst>
              <a:gd name="adj1" fmla="val -12750"/>
              <a:gd name="adj2" fmla="val -154949"/>
              <a:gd name="adj3" fmla="val 16667"/>
            </a:avLst>
          </a:prstGeom>
          <a:solidFill>
            <a:srgbClr val="FFFF66"/>
          </a:solidFill>
          <a:ln w="9525" cap="flat" cmpd="sng">
            <a:solidFill>
              <a:schemeClr val="tx1"/>
            </a:solidFill>
            <a:prstDash val="solid"/>
            <a:miter/>
            <a:headEnd type="none" w="med" len="med"/>
            <a:tailEnd type="none" w="med" len="med"/>
          </a:ln>
        </p:spPr>
        <p:txBody>
          <a:bodyPr/>
          <a:p>
            <a:pPr algn="ctr"/>
            <a:r>
              <a:rPr lang="zh-CN" altLang="en-US" dirty="0">
                <a:latin typeface="Times New Roman" panose="02020603050405020304" pitchFamily="18" charset="0"/>
              </a:rPr>
              <a:t>最优策略</a:t>
            </a:r>
            <a:endParaRPr lang="zh-CN" altLang="en-US" dirty="0">
              <a:latin typeface="Times New Roman" panose="02020603050405020304" pitchFamily="18" charset="0"/>
            </a:endParaRPr>
          </a:p>
        </p:txBody>
      </p:sp>
      <p:sp>
        <p:nvSpPr>
          <p:cNvPr id="59508" name="AutoShape 116"/>
          <p:cNvSpPr/>
          <p:nvPr/>
        </p:nvSpPr>
        <p:spPr>
          <a:xfrm rot="5400000">
            <a:off x="7429500" y="876300"/>
            <a:ext cx="304800" cy="228600"/>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9509" name="AutoShape 117"/>
          <p:cNvSpPr/>
          <p:nvPr/>
        </p:nvSpPr>
        <p:spPr>
          <a:xfrm rot="5400000">
            <a:off x="7429500" y="1562100"/>
            <a:ext cx="304800" cy="228600"/>
          </a:xfrm>
          <a:prstGeom prst="rightArrow">
            <a:avLst>
              <a:gd name="adj1" fmla="val 50000"/>
              <a:gd name="adj2" fmla="val 33333"/>
            </a:avLst>
          </a:prstGeom>
          <a:solidFill>
            <a:srgbClr val="FF00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5067" name="Oval 118"/>
          <p:cNvSpPr/>
          <p:nvPr/>
        </p:nvSpPr>
        <p:spPr>
          <a:xfrm>
            <a:off x="2286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A</a:t>
            </a:r>
            <a:endParaRPr lang="en-US" altLang="zh-CN" sz="2400" b="0" dirty="0">
              <a:latin typeface="Times New Roman" panose="02020603050405020304" pitchFamily="18" charset="0"/>
              <a:ea typeface="宋体" panose="02010600030101010101" pitchFamily="2" charset="-122"/>
            </a:endParaRPr>
          </a:p>
        </p:txBody>
      </p:sp>
      <p:sp>
        <p:nvSpPr>
          <p:cNvPr id="45068" name="Oval 119"/>
          <p:cNvSpPr/>
          <p:nvPr/>
        </p:nvSpPr>
        <p:spPr>
          <a:xfrm>
            <a:off x="1295400" y="3429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069" name="Oval 120"/>
          <p:cNvSpPr/>
          <p:nvPr/>
        </p:nvSpPr>
        <p:spPr>
          <a:xfrm>
            <a:off x="1371600" y="4953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B</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070" name="Oval 121"/>
          <p:cNvSpPr/>
          <p:nvPr/>
        </p:nvSpPr>
        <p:spPr>
          <a:xfrm>
            <a:off x="2895600" y="26670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071" name="Oval 122"/>
          <p:cNvSpPr/>
          <p:nvPr/>
        </p:nvSpPr>
        <p:spPr>
          <a:xfrm>
            <a:off x="2819400" y="3733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2</a:t>
            </a:r>
            <a:endParaRPr lang="en-US" altLang="zh-CN" sz="2400" b="0" baseline="-25000" dirty="0">
              <a:latin typeface="Times New Roman" panose="02020603050405020304" pitchFamily="18" charset="0"/>
              <a:ea typeface="宋体" panose="02010600030101010101" pitchFamily="2" charset="-122"/>
            </a:endParaRPr>
          </a:p>
        </p:txBody>
      </p:sp>
      <p:sp>
        <p:nvSpPr>
          <p:cNvPr id="45072" name="Oval 123"/>
          <p:cNvSpPr/>
          <p:nvPr/>
        </p:nvSpPr>
        <p:spPr>
          <a:xfrm>
            <a:off x="2819400" y="5029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073" name="Oval 124"/>
          <p:cNvSpPr/>
          <p:nvPr/>
        </p:nvSpPr>
        <p:spPr>
          <a:xfrm>
            <a:off x="2819400" y="61722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C</a:t>
            </a:r>
            <a:r>
              <a:rPr lang="en-US" altLang="zh-CN" sz="2400" b="0" baseline="-2500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5074" name="Oval 125"/>
          <p:cNvSpPr/>
          <p:nvPr/>
        </p:nvSpPr>
        <p:spPr>
          <a:xfrm>
            <a:off x="4419600" y="3200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075" name="Oval 126"/>
          <p:cNvSpPr/>
          <p:nvPr/>
        </p:nvSpPr>
        <p:spPr>
          <a:xfrm>
            <a:off x="44196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076" name="Oval 127"/>
          <p:cNvSpPr/>
          <p:nvPr/>
        </p:nvSpPr>
        <p:spPr>
          <a:xfrm>
            <a:off x="4419600" y="5562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D</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077" name="Oval 128"/>
          <p:cNvSpPr/>
          <p:nvPr/>
        </p:nvSpPr>
        <p:spPr>
          <a:xfrm>
            <a:off x="6019800" y="3200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078" name="Oval 129"/>
          <p:cNvSpPr/>
          <p:nvPr/>
        </p:nvSpPr>
        <p:spPr>
          <a:xfrm>
            <a:off x="60198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079" name="Oval 130"/>
          <p:cNvSpPr/>
          <p:nvPr/>
        </p:nvSpPr>
        <p:spPr>
          <a:xfrm>
            <a:off x="6096000" y="5638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E</a:t>
            </a:r>
            <a:r>
              <a:rPr lang="en-US" altLang="zh-CN" sz="2400" b="0" baseline="-2500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080" name="Oval 131"/>
          <p:cNvSpPr/>
          <p:nvPr/>
        </p:nvSpPr>
        <p:spPr>
          <a:xfrm>
            <a:off x="7391400" y="37338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081" name="Oval 132"/>
          <p:cNvSpPr/>
          <p:nvPr/>
        </p:nvSpPr>
        <p:spPr>
          <a:xfrm>
            <a:off x="7391400" y="51816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F</a:t>
            </a:r>
            <a:r>
              <a:rPr lang="en-US" altLang="zh-CN" sz="2400" b="0" baseline="-25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082" name="Oval 133"/>
          <p:cNvSpPr/>
          <p:nvPr/>
        </p:nvSpPr>
        <p:spPr>
          <a:xfrm>
            <a:off x="8458200" y="4343400"/>
            <a:ext cx="457200" cy="457200"/>
          </a:xfrm>
          <a:prstGeom prst="ellipse">
            <a:avLst/>
          </a:prstGeom>
          <a:solidFill>
            <a:srgbClr val="66CCFF"/>
          </a:solidFill>
          <a:ln w="9525" cap="flat" cmpd="sng">
            <a:solidFill>
              <a:schemeClr val="tx1"/>
            </a:solidFill>
            <a:prstDash val="solid"/>
            <a:headEnd type="none" w="med" len="med"/>
            <a:tailEnd type="none" w="med" len="med"/>
          </a:ln>
        </p:spPr>
        <p:txBody>
          <a:bodyPr wrap="none" anchor="ctr" anchorCtr="0"/>
          <a:p>
            <a:pPr algn="ctr"/>
            <a:r>
              <a:rPr lang="en-US" altLang="zh-CN" sz="2400" b="0" dirty="0">
                <a:latin typeface="Times New Roman" panose="02020603050405020304" pitchFamily="18" charset="0"/>
                <a:ea typeface="宋体" panose="02010600030101010101" pitchFamily="2" charset="-122"/>
              </a:rPr>
              <a:t>G</a:t>
            </a:r>
            <a:endParaRPr lang="en-US" altLang="zh-CN" sz="2400" b="0" dirty="0">
              <a:latin typeface="Times New Roman" panose="02020603050405020304" pitchFamily="18" charset="0"/>
              <a:ea typeface="宋体" panose="02010600030101010101" pitchFamily="2" charset="-122"/>
            </a:endParaRPr>
          </a:p>
        </p:txBody>
      </p:sp>
      <p:sp>
        <p:nvSpPr>
          <p:cNvPr id="45083" name="Line 134"/>
          <p:cNvSpPr/>
          <p:nvPr/>
        </p:nvSpPr>
        <p:spPr>
          <a:xfrm flipV="1">
            <a:off x="609600" y="3810000"/>
            <a:ext cx="762000" cy="609600"/>
          </a:xfrm>
          <a:prstGeom prst="line">
            <a:avLst/>
          </a:prstGeom>
          <a:ln w="28575" cap="flat" cmpd="sng">
            <a:solidFill>
              <a:schemeClr val="tx1"/>
            </a:solidFill>
            <a:prstDash val="solid"/>
            <a:headEnd type="none" w="med" len="med"/>
            <a:tailEnd type="triangle" w="med" len="med"/>
          </a:ln>
        </p:spPr>
      </p:sp>
      <p:sp>
        <p:nvSpPr>
          <p:cNvPr id="45084" name="Line 135"/>
          <p:cNvSpPr/>
          <p:nvPr/>
        </p:nvSpPr>
        <p:spPr>
          <a:xfrm>
            <a:off x="609600" y="4724400"/>
            <a:ext cx="762000" cy="304800"/>
          </a:xfrm>
          <a:prstGeom prst="line">
            <a:avLst/>
          </a:prstGeom>
          <a:ln w="28575" cap="flat" cmpd="sng">
            <a:solidFill>
              <a:schemeClr val="tx1"/>
            </a:solidFill>
            <a:prstDash val="solid"/>
            <a:headEnd type="none" w="med" len="med"/>
            <a:tailEnd type="triangle" w="med" len="med"/>
          </a:ln>
        </p:spPr>
      </p:sp>
      <p:sp>
        <p:nvSpPr>
          <p:cNvPr id="45085" name="Line 136"/>
          <p:cNvSpPr/>
          <p:nvPr/>
        </p:nvSpPr>
        <p:spPr>
          <a:xfrm flipV="1">
            <a:off x="1676400" y="2971800"/>
            <a:ext cx="1219200" cy="533400"/>
          </a:xfrm>
          <a:prstGeom prst="line">
            <a:avLst/>
          </a:prstGeom>
          <a:ln w="28575" cap="flat" cmpd="sng">
            <a:solidFill>
              <a:schemeClr val="tx1"/>
            </a:solidFill>
            <a:prstDash val="solid"/>
            <a:headEnd type="none" w="med" len="med"/>
            <a:tailEnd type="triangle" w="med" len="med"/>
          </a:ln>
        </p:spPr>
      </p:sp>
      <p:sp>
        <p:nvSpPr>
          <p:cNvPr id="45086" name="Line 137"/>
          <p:cNvSpPr/>
          <p:nvPr/>
        </p:nvSpPr>
        <p:spPr>
          <a:xfrm>
            <a:off x="1752600" y="3657600"/>
            <a:ext cx="1066800" cy="304800"/>
          </a:xfrm>
          <a:prstGeom prst="line">
            <a:avLst/>
          </a:prstGeom>
          <a:ln w="28575" cap="flat" cmpd="sng">
            <a:solidFill>
              <a:schemeClr val="tx1"/>
            </a:solidFill>
            <a:prstDash val="solid"/>
            <a:headEnd type="none" w="med" len="med"/>
            <a:tailEnd type="triangle" w="med" len="med"/>
          </a:ln>
        </p:spPr>
      </p:sp>
      <p:sp>
        <p:nvSpPr>
          <p:cNvPr id="45087" name="Line 138"/>
          <p:cNvSpPr/>
          <p:nvPr/>
        </p:nvSpPr>
        <p:spPr>
          <a:xfrm>
            <a:off x="1676400" y="3886200"/>
            <a:ext cx="1219200" cy="1219200"/>
          </a:xfrm>
          <a:prstGeom prst="line">
            <a:avLst/>
          </a:prstGeom>
          <a:ln w="28575" cap="flat" cmpd="sng">
            <a:solidFill>
              <a:schemeClr val="tx1"/>
            </a:solidFill>
            <a:prstDash val="solid"/>
            <a:headEnd type="none" w="med" len="med"/>
            <a:tailEnd type="triangle" w="med" len="med"/>
          </a:ln>
        </p:spPr>
      </p:sp>
      <p:sp>
        <p:nvSpPr>
          <p:cNvPr id="45088" name="Line 139"/>
          <p:cNvSpPr/>
          <p:nvPr/>
        </p:nvSpPr>
        <p:spPr>
          <a:xfrm flipV="1">
            <a:off x="1752600" y="4038600"/>
            <a:ext cx="1066800" cy="990600"/>
          </a:xfrm>
          <a:prstGeom prst="line">
            <a:avLst/>
          </a:prstGeom>
          <a:ln w="28575" cap="flat" cmpd="sng">
            <a:solidFill>
              <a:schemeClr val="tx1"/>
            </a:solidFill>
            <a:prstDash val="solid"/>
            <a:headEnd type="none" w="med" len="med"/>
            <a:tailEnd type="triangle" w="med" len="med"/>
          </a:ln>
        </p:spPr>
      </p:sp>
      <p:sp>
        <p:nvSpPr>
          <p:cNvPr id="45089" name="Line 140"/>
          <p:cNvSpPr/>
          <p:nvPr/>
        </p:nvSpPr>
        <p:spPr>
          <a:xfrm>
            <a:off x="1828800" y="5257800"/>
            <a:ext cx="990600" cy="0"/>
          </a:xfrm>
          <a:prstGeom prst="line">
            <a:avLst/>
          </a:prstGeom>
          <a:ln w="28575" cap="flat" cmpd="sng">
            <a:solidFill>
              <a:schemeClr val="tx1"/>
            </a:solidFill>
            <a:prstDash val="solid"/>
            <a:headEnd type="none" w="med" len="med"/>
            <a:tailEnd type="triangle" w="med" len="med"/>
          </a:ln>
        </p:spPr>
      </p:sp>
      <p:sp>
        <p:nvSpPr>
          <p:cNvPr id="45090" name="Line 141"/>
          <p:cNvSpPr/>
          <p:nvPr/>
        </p:nvSpPr>
        <p:spPr>
          <a:xfrm>
            <a:off x="1752600" y="5334000"/>
            <a:ext cx="1143000" cy="914400"/>
          </a:xfrm>
          <a:prstGeom prst="line">
            <a:avLst/>
          </a:prstGeom>
          <a:ln w="28575" cap="flat" cmpd="sng">
            <a:solidFill>
              <a:schemeClr val="tx1"/>
            </a:solidFill>
            <a:prstDash val="solid"/>
            <a:headEnd type="none" w="med" len="med"/>
            <a:tailEnd type="triangle" w="med" len="med"/>
          </a:ln>
        </p:spPr>
      </p:sp>
      <p:sp>
        <p:nvSpPr>
          <p:cNvPr id="45091" name="Line 142"/>
          <p:cNvSpPr/>
          <p:nvPr/>
        </p:nvSpPr>
        <p:spPr>
          <a:xfrm>
            <a:off x="3352800" y="2971800"/>
            <a:ext cx="1066800" cy="381000"/>
          </a:xfrm>
          <a:prstGeom prst="line">
            <a:avLst/>
          </a:prstGeom>
          <a:ln w="28575" cap="flat" cmpd="sng">
            <a:solidFill>
              <a:schemeClr val="tx1"/>
            </a:solidFill>
            <a:prstDash val="solid"/>
            <a:headEnd type="none" w="med" len="med"/>
            <a:tailEnd type="triangle" w="med" len="med"/>
          </a:ln>
        </p:spPr>
      </p:sp>
      <p:sp>
        <p:nvSpPr>
          <p:cNvPr id="45092" name="Line 143"/>
          <p:cNvSpPr/>
          <p:nvPr/>
        </p:nvSpPr>
        <p:spPr>
          <a:xfrm>
            <a:off x="3276600" y="3124200"/>
            <a:ext cx="1219200" cy="1295400"/>
          </a:xfrm>
          <a:prstGeom prst="line">
            <a:avLst/>
          </a:prstGeom>
          <a:ln w="28575" cap="flat" cmpd="sng">
            <a:solidFill>
              <a:schemeClr val="tx1"/>
            </a:solidFill>
            <a:prstDash val="solid"/>
            <a:headEnd type="none" w="med" len="med"/>
            <a:tailEnd type="triangle" w="med" len="med"/>
          </a:ln>
        </p:spPr>
      </p:sp>
      <p:sp>
        <p:nvSpPr>
          <p:cNvPr id="45093" name="Line 144"/>
          <p:cNvSpPr/>
          <p:nvPr/>
        </p:nvSpPr>
        <p:spPr>
          <a:xfrm flipV="1">
            <a:off x="3276600" y="3505200"/>
            <a:ext cx="1143000" cy="457200"/>
          </a:xfrm>
          <a:prstGeom prst="line">
            <a:avLst/>
          </a:prstGeom>
          <a:ln w="28575" cap="flat" cmpd="sng">
            <a:solidFill>
              <a:schemeClr val="tx1"/>
            </a:solidFill>
            <a:prstDash val="solid"/>
            <a:headEnd type="none" w="med" len="med"/>
            <a:tailEnd type="triangle" w="med" len="med"/>
          </a:ln>
        </p:spPr>
      </p:sp>
      <p:sp>
        <p:nvSpPr>
          <p:cNvPr id="45094" name="Line 145"/>
          <p:cNvSpPr/>
          <p:nvPr/>
        </p:nvSpPr>
        <p:spPr>
          <a:xfrm>
            <a:off x="3276600" y="4114800"/>
            <a:ext cx="1143000" cy="381000"/>
          </a:xfrm>
          <a:prstGeom prst="line">
            <a:avLst/>
          </a:prstGeom>
          <a:ln w="28575" cap="flat" cmpd="sng">
            <a:solidFill>
              <a:schemeClr val="tx1"/>
            </a:solidFill>
            <a:prstDash val="solid"/>
            <a:headEnd type="none" w="med" len="med"/>
            <a:tailEnd type="triangle" w="med" len="med"/>
          </a:ln>
        </p:spPr>
      </p:sp>
      <p:sp>
        <p:nvSpPr>
          <p:cNvPr id="45095" name="Line 146"/>
          <p:cNvSpPr/>
          <p:nvPr/>
        </p:nvSpPr>
        <p:spPr>
          <a:xfrm flipV="1">
            <a:off x="3276600" y="4648200"/>
            <a:ext cx="1143000" cy="609600"/>
          </a:xfrm>
          <a:prstGeom prst="line">
            <a:avLst/>
          </a:prstGeom>
          <a:ln w="28575" cap="flat" cmpd="sng">
            <a:solidFill>
              <a:schemeClr val="tx1"/>
            </a:solidFill>
            <a:prstDash val="solid"/>
            <a:headEnd type="none" w="med" len="med"/>
            <a:tailEnd type="triangle" w="med" len="med"/>
          </a:ln>
        </p:spPr>
      </p:sp>
      <p:sp>
        <p:nvSpPr>
          <p:cNvPr id="45096" name="Line 147"/>
          <p:cNvSpPr/>
          <p:nvPr/>
        </p:nvSpPr>
        <p:spPr>
          <a:xfrm>
            <a:off x="3276600" y="5410200"/>
            <a:ext cx="1143000" cy="304800"/>
          </a:xfrm>
          <a:prstGeom prst="line">
            <a:avLst/>
          </a:prstGeom>
          <a:ln w="28575" cap="flat" cmpd="sng">
            <a:solidFill>
              <a:schemeClr val="tx1"/>
            </a:solidFill>
            <a:prstDash val="solid"/>
            <a:headEnd type="none" w="med" len="med"/>
            <a:tailEnd type="triangle" w="med" len="med"/>
          </a:ln>
        </p:spPr>
      </p:sp>
      <p:sp>
        <p:nvSpPr>
          <p:cNvPr id="45097" name="Line 148"/>
          <p:cNvSpPr/>
          <p:nvPr/>
        </p:nvSpPr>
        <p:spPr>
          <a:xfrm flipV="1">
            <a:off x="3276600" y="5943600"/>
            <a:ext cx="1219200" cy="457200"/>
          </a:xfrm>
          <a:prstGeom prst="line">
            <a:avLst/>
          </a:prstGeom>
          <a:ln w="28575" cap="flat" cmpd="sng">
            <a:solidFill>
              <a:schemeClr val="tx1"/>
            </a:solidFill>
            <a:prstDash val="solid"/>
            <a:headEnd type="none" w="med" len="med"/>
            <a:tailEnd type="triangle" w="med" len="med"/>
          </a:ln>
        </p:spPr>
      </p:sp>
      <p:sp>
        <p:nvSpPr>
          <p:cNvPr id="45098" name="Line 149"/>
          <p:cNvSpPr/>
          <p:nvPr/>
        </p:nvSpPr>
        <p:spPr>
          <a:xfrm flipV="1">
            <a:off x="3276600" y="4724400"/>
            <a:ext cx="1295400" cy="1600200"/>
          </a:xfrm>
          <a:prstGeom prst="line">
            <a:avLst/>
          </a:prstGeom>
          <a:ln w="28575" cap="flat" cmpd="sng">
            <a:solidFill>
              <a:schemeClr val="tx1"/>
            </a:solidFill>
            <a:prstDash val="solid"/>
            <a:headEnd type="none" w="med" len="med"/>
            <a:tailEnd type="triangle" w="med" len="med"/>
          </a:ln>
        </p:spPr>
      </p:sp>
      <p:sp>
        <p:nvSpPr>
          <p:cNvPr id="45099" name="Line 150"/>
          <p:cNvSpPr/>
          <p:nvPr/>
        </p:nvSpPr>
        <p:spPr>
          <a:xfrm>
            <a:off x="4876800" y="3429000"/>
            <a:ext cx="1143000" cy="0"/>
          </a:xfrm>
          <a:prstGeom prst="line">
            <a:avLst/>
          </a:prstGeom>
          <a:ln w="28575" cap="flat" cmpd="sng">
            <a:solidFill>
              <a:schemeClr val="tx1"/>
            </a:solidFill>
            <a:prstDash val="solid"/>
            <a:headEnd type="none" w="med" len="med"/>
            <a:tailEnd type="triangle" w="med" len="med"/>
          </a:ln>
        </p:spPr>
      </p:sp>
      <p:sp>
        <p:nvSpPr>
          <p:cNvPr id="45100" name="Line 151"/>
          <p:cNvSpPr/>
          <p:nvPr/>
        </p:nvSpPr>
        <p:spPr>
          <a:xfrm>
            <a:off x="4876800" y="3581400"/>
            <a:ext cx="1219200" cy="914400"/>
          </a:xfrm>
          <a:prstGeom prst="line">
            <a:avLst/>
          </a:prstGeom>
          <a:ln w="28575" cap="flat" cmpd="sng">
            <a:solidFill>
              <a:schemeClr val="tx1"/>
            </a:solidFill>
            <a:prstDash val="solid"/>
            <a:headEnd type="none" w="med" len="med"/>
            <a:tailEnd type="triangle" w="med" len="med"/>
          </a:ln>
        </p:spPr>
      </p:sp>
      <p:sp>
        <p:nvSpPr>
          <p:cNvPr id="45101" name="Line 152"/>
          <p:cNvSpPr/>
          <p:nvPr/>
        </p:nvSpPr>
        <p:spPr>
          <a:xfrm>
            <a:off x="4876800" y="4648200"/>
            <a:ext cx="1143000" cy="0"/>
          </a:xfrm>
          <a:prstGeom prst="line">
            <a:avLst/>
          </a:prstGeom>
          <a:ln w="28575" cap="flat" cmpd="sng">
            <a:solidFill>
              <a:schemeClr val="tx1"/>
            </a:solidFill>
            <a:prstDash val="solid"/>
            <a:headEnd type="none" w="med" len="med"/>
            <a:tailEnd type="triangle" w="med" len="med"/>
          </a:ln>
        </p:spPr>
      </p:sp>
      <p:sp>
        <p:nvSpPr>
          <p:cNvPr id="45102" name="Line 153"/>
          <p:cNvSpPr/>
          <p:nvPr/>
        </p:nvSpPr>
        <p:spPr>
          <a:xfrm>
            <a:off x="4800600" y="4724400"/>
            <a:ext cx="1295400" cy="990600"/>
          </a:xfrm>
          <a:prstGeom prst="line">
            <a:avLst/>
          </a:prstGeom>
          <a:ln w="28575" cap="flat" cmpd="sng">
            <a:solidFill>
              <a:schemeClr val="tx1"/>
            </a:solidFill>
            <a:prstDash val="solid"/>
            <a:headEnd type="none" w="med" len="med"/>
            <a:tailEnd type="triangle" w="med" len="med"/>
          </a:ln>
        </p:spPr>
      </p:sp>
      <p:sp>
        <p:nvSpPr>
          <p:cNvPr id="45103" name="Line 154"/>
          <p:cNvSpPr/>
          <p:nvPr/>
        </p:nvSpPr>
        <p:spPr>
          <a:xfrm flipV="1">
            <a:off x="4876800" y="4724400"/>
            <a:ext cx="1219200" cy="990600"/>
          </a:xfrm>
          <a:prstGeom prst="line">
            <a:avLst/>
          </a:prstGeom>
          <a:ln w="28575" cap="flat" cmpd="sng">
            <a:solidFill>
              <a:schemeClr val="tx1"/>
            </a:solidFill>
            <a:prstDash val="solid"/>
            <a:headEnd type="none" w="med" len="med"/>
            <a:tailEnd type="triangle" w="med" len="med"/>
          </a:ln>
        </p:spPr>
      </p:sp>
      <p:sp>
        <p:nvSpPr>
          <p:cNvPr id="45104" name="Line 155"/>
          <p:cNvSpPr/>
          <p:nvPr/>
        </p:nvSpPr>
        <p:spPr>
          <a:xfrm>
            <a:off x="4876800" y="5867400"/>
            <a:ext cx="1219200" cy="0"/>
          </a:xfrm>
          <a:prstGeom prst="line">
            <a:avLst/>
          </a:prstGeom>
          <a:ln w="28575" cap="flat" cmpd="sng">
            <a:solidFill>
              <a:schemeClr val="tx1"/>
            </a:solidFill>
            <a:prstDash val="solid"/>
            <a:headEnd type="none" w="med" len="med"/>
            <a:tailEnd type="triangle" w="med" len="med"/>
          </a:ln>
        </p:spPr>
      </p:sp>
      <p:sp>
        <p:nvSpPr>
          <p:cNvPr id="45105" name="Line 156"/>
          <p:cNvSpPr/>
          <p:nvPr/>
        </p:nvSpPr>
        <p:spPr>
          <a:xfrm>
            <a:off x="6477000" y="3505200"/>
            <a:ext cx="990600" cy="304800"/>
          </a:xfrm>
          <a:prstGeom prst="line">
            <a:avLst/>
          </a:prstGeom>
          <a:ln w="28575" cap="flat" cmpd="sng">
            <a:solidFill>
              <a:schemeClr val="tx1"/>
            </a:solidFill>
            <a:prstDash val="solid"/>
            <a:headEnd type="none" w="med" len="med"/>
            <a:tailEnd type="triangle" w="med" len="med"/>
          </a:ln>
        </p:spPr>
      </p:sp>
      <p:sp>
        <p:nvSpPr>
          <p:cNvPr id="45106" name="Line 157"/>
          <p:cNvSpPr/>
          <p:nvPr/>
        </p:nvSpPr>
        <p:spPr>
          <a:xfrm flipV="1">
            <a:off x="6477000" y="4038600"/>
            <a:ext cx="914400" cy="533400"/>
          </a:xfrm>
          <a:prstGeom prst="line">
            <a:avLst/>
          </a:prstGeom>
          <a:ln w="28575" cap="flat" cmpd="sng">
            <a:solidFill>
              <a:schemeClr val="tx1"/>
            </a:solidFill>
            <a:prstDash val="solid"/>
            <a:headEnd type="none" w="med" len="med"/>
            <a:tailEnd type="triangle" w="med" len="med"/>
          </a:ln>
        </p:spPr>
      </p:sp>
      <p:sp>
        <p:nvSpPr>
          <p:cNvPr id="45107" name="Line 158"/>
          <p:cNvSpPr/>
          <p:nvPr/>
        </p:nvSpPr>
        <p:spPr>
          <a:xfrm>
            <a:off x="6477000" y="3581400"/>
            <a:ext cx="1066800" cy="1600200"/>
          </a:xfrm>
          <a:prstGeom prst="line">
            <a:avLst/>
          </a:prstGeom>
          <a:ln w="28575" cap="flat" cmpd="sng">
            <a:solidFill>
              <a:schemeClr val="tx1"/>
            </a:solidFill>
            <a:prstDash val="solid"/>
            <a:headEnd type="none" w="med" len="med"/>
            <a:tailEnd type="triangle" w="med" len="med"/>
          </a:ln>
        </p:spPr>
      </p:sp>
      <p:sp>
        <p:nvSpPr>
          <p:cNvPr id="45108" name="Line 159"/>
          <p:cNvSpPr/>
          <p:nvPr/>
        </p:nvSpPr>
        <p:spPr>
          <a:xfrm>
            <a:off x="6477000" y="4648200"/>
            <a:ext cx="990600" cy="609600"/>
          </a:xfrm>
          <a:prstGeom prst="line">
            <a:avLst/>
          </a:prstGeom>
          <a:ln w="28575" cap="flat" cmpd="sng">
            <a:solidFill>
              <a:schemeClr val="tx1"/>
            </a:solidFill>
            <a:prstDash val="solid"/>
            <a:headEnd type="none" w="med" len="med"/>
            <a:tailEnd type="triangle" w="med" len="med"/>
          </a:ln>
        </p:spPr>
      </p:sp>
      <p:sp>
        <p:nvSpPr>
          <p:cNvPr id="45109" name="Line 160"/>
          <p:cNvSpPr/>
          <p:nvPr/>
        </p:nvSpPr>
        <p:spPr>
          <a:xfrm flipV="1">
            <a:off x="6553200" y="4191000"/>
            <a:ext cx="990600" cy="1524000"/>
          </a:xfrm>
          <a:prstGeom prst="line">
            <a:avLst/>
          </a:prstGeom>
          <a:ln w="28575" cap="flat" cmpd="sng">
            <a:solidFill>
              <a:schemeClr val="tx1"/>
            </a:solidFill>
            <a:prstDash val="solid"/>
            <a:headEnd type="none" w="med" len="med"/>
            <a:tailEnd type="triangle" w="med" len="med"/>
          </a:ln>
        </p:spPr>
      </p:sp>
      <p:sp>
        <p:nvSpPr>
          <p:cNvPr id="45110" name="Line 161"/>
          <p:cNvSpPr/>
          <p:nvPr/>
        </p:nvSpPr>
        <p:spPr>
          <a:xfrm flipV="1">
            <a:off x="6553200" y="5562600"/>
            <a:ext cx="914400" cy="381000"/>
          </a:xfrm>
          <a:prstGeom prst="line">
            <a:avLst/>
          </a:prstGeom>
          <a:ln w="28575" cap="flat" cmpd="sng">
            <a:solidFill>
              <a:schemeClr val="tx1"/>
            </a:solidFill>
            <a:prstDash val="solid"/>
            <a:headEnd type="none" w="med" len="med"/>
            <a:tailEnd type="triangle" w="med" len="med"/>
          </a:ln>
        </p:spPr>
      </p:sp>
      <p:sp>
        <p:nvSpPr>
          <p:cNvPr id="45111" name="Line 162"/>
          <p:cNvSpPr/>
          <p:nvPr/>
        </p:nvSpPr>
        <p:spPr>
          <a:xfrm>
            <a:off x="7848600" y="4038600"/>
            <a:ext cx="685800" cy="381000"/>
          </a:xfrm>
          <a:prstGeom prst="line">
            <a:avLst/>
          </a:prstGeom>
          <a:ln w="28575" cap="flat" cmpd="sng">
            <a:solidFill>
              <a:schemeClr val="tx1"/>
            </a:solidFill>
            <a:prstDash val="solid"/>
            <a:headEnd type="none" w="med" len="med"/>
            <a:tailEnd type="triangle" w="med" len="med"/>
          </a:ln>
        </p:spPr>
      </p:sp>
      <p:sp>
        <p:nvSpPr>
          <p:cNvPr id="45112" name="Line 163"/>
          <p:cNvSpPr/>
          <p:nvPr/>
        </p:nvSpPr>
        <p:spPr>
          <a:xfrm flipV="1">
            <a:off x="7848600" y="4724400"/>
            <a:ext cx="685800" cy="609600"/>
          </a:xfrm>
          <a:prstGeom prst="line">
            <a:avLst/>
          </a:prstGeom>
          <a:ln w="28575" cap="flat" cmpd="sng">
            <a:solidFill>
              <a:schemeClr val="tx1"/>
            </a:solidFill>
            <a:prstDash val="solid"/>
            <a:headEnd type="none" w="med" len="med"/>
            <a:tailEnd type="triangle" w="med" len="med"/>
          </a:ln>
        </p:spPr>
      </p:sp>
      <p:sp>
        <p:nvSpPr>
          <p:cNvPr id="45113" name="Text Box 164"/>
          <p:cNvSpPr txBox="1"/>
          <p:nvPr/>
        </p:nvSpPr>
        <p:spPr>
          <a:xfrm>
            <a:off x="6858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5114" name="Text Box 165"/>
          <p:cNvSpPr txBox="1"/>
          <p:nvPr/>
        </p:nvSpPr>
        <p:spPr>
          <a:xfrm>
            <a:off x="685800" y="4876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15" name="Text Box 166"/>
          <p:cNvSpPr txBox="1"/>
          <p:nvPr/>
        </p:nvSpPr>
        <p:spPr>
          <a:xfrm>
            <a:off x="18288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116" name="Text Box 167"/>
          <p:cNvSpPr txBox="1"/>
          <p:nvPr/>
        </p:nvSpPr>
        <p:spPr>
          <a:xfrm>
            <a:off x="2209800" y="3429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17" name="Text Box 168"/>
          <p:cNvSpPr txBox="1"/>
          <p:nvPr/>
        </p:nvSpPr>
        <p:spPr>
          <a:xfrm>
            <a:off x="19050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5118" name="Text Box 169"/>
          <p:cNvSpPr txBox="1"/>
          <p:nvPr/>
        </p:nvSpPr>
        <p:spPr>
          <a:xfrm>
            <a:off x="1752600" y="4419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5119" name="Text Box 170"/>
          <p:cNvSpPr txBox="1"/>
          <p:nvPr/>
        </p:nvSpPr>
        <p:spPr>
          <a:xfrm>
            <a:off x="1981200" y="4876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7</a:t>
            </a:r>
            <a:endParaRPr lang="en-US" altLang="zh-CN" sz="2400" b="0" dirty="0">
              <a:latin typeface="Times New Roman" panose="02020603050405020304" pitchFamily="18" charset="0"/>
              <a:ea typeface="宋体" panose="02010600030101010101" pitchFamily="2" charset="-122"/>
            </a:endParaRPr>
          </a:p>
        </p:txBody>
      </p:sp>
      <p:sp>
        <p:nvSpPr>
          <p:cNvPr id="45120" name="Text Box 171"/>
          <p:cNvSpPr txBox="1"/>
          <p:nvPr/>
        </p:nvSpPr>
        <p:spPr>
          <a:xfrm>
            <a:off x="2209800" y="5334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5121" name="Text Box 172"/>
          <p:cNvSpPr txBox="1"/>
          <p:nvPr/>
        </p:nvSpPr>
        <p:spPr>
          <a:xfrm>
            <a:off x="3276600" y="3505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22" name="Text Box 173"/>
          <p:cNvSpPr txBox="1"/>
          <p:nvPr/>
        </p:nvSpPr>
        <p:spPr>
          <a:xfrm>
            <a:off x="3657600" y="2667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5123" name="Text Box 174"/>
          <p:cNvSpPr txBox="1"/>
          <p:nvPr/>
        </p:nvSpPr>
        <p:spPr>
          <a:xfrm>
            <a:off x="3581400" y="3200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5124" name="Text Box 175"/>
          <p:cNvSpPr txBox="1"/>
          <p:nvPr/>
        </p:nvSpPr>
        <p:spPr>
          <a:xfrm>
            <a:off x="35814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5125" name="Text Box 176"/>
          <p:cNvSpPr txBox="1"/>
          <p:nvPr/>
        </p:nvSpPr>
        <p:spPr>
          <a:xfrm>
            <a:off x="3352800" y="4572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26" name="Text Box 177"/>
          <p:cNvSpPr txBox="1"/>
          <p:nvPr/>
        </p:nvSpPr>
        <p:spPr>
          <a:xfrm>
            <a:off x="35052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27" name="Text Box 178"/>
          <p:cNvSpPr txBox="1"/>
          <p:nvPr/>
        </p:nvSpPr>
        <p:spPr>
          <a:xfrm>
            <a:off x="3276600" y="5715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8</a:t>
            </a:r>
            <a:endParaRPr lang="en-US" altLang="zh-CN" sz="2400" b="0" dirty="0">
              <a:latin typeface="Times New Roman" panose="02020603050405020304" pitchFamily="18" charset="0"/>
              <a:ea typeface="宋体" panose="02010600030101010101" pitchFamily="2" charset="-122"/>
            </a:endParaRPr>
          </a:p>
        </p:txBody>
      </p:sp>
      <p:sp>
        <p:nvSpPr>
          <p:cNvPr id="45128" name="Text Box 179"/>
          <p:cNvSpPr txBox="1"/>
          <p:nvPr/>
        </p:nvSpPr>
        <p:spPr>
          <a:xfrm>
            <a:off x="3733800" y="5791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45129" name="Text Box 180"/>
          <p:cNvSpPr txBox="1"/>
          <p:nvPr/>
        </p:nvSpPr>
        <p:spPr>
          <a:xfrm>
            <a:off x="5257800" y="2971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130" name="Text Box 181"/>
          <p:cNvSpPr txBox="1"/>
          <p:nvPr/>
        </p:nvSpPr>
        <p:spPr>
          <a:xfrm>
            <a:off x="5410200" y="3657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131" name="Text Box 182"/>
          <p:cNvSpPr txBox="1"/>
          <p:nvPr/>
        </p:nvSpPr>
        <p:spPr>
          <a:xfrm>
            <a:off x="5181600" y="4648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132" name="Text Box 183"/>
          <p:cNvSpPr txBox="1"/>
          <p:nvPr/>
        </p:nvSpPr>
        <p:spPr>
          <a:xfrm>
            <a:off x="5029200" y="4267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5133" name="Text Box 184"/>
          <p:cNvSpPr txBox="1"/>
          <p:nvPr/>
        </p:nvSpPr>
        <p:spPr>
          <a:xfrm>
            <a:off x="4876800" y="5181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34" name="Text Box 185"/>
          <p:cNvSpPr txBox="1"/>
          <p:nvPr/>
        </p:nvSpPr>
        <p:spPr>
          <a:xfrm>
            <a:off x="7924800" y="4724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35" name="Text Box 186"/>
          <p:cNvSpPr txBox="1"/>
          <p:nvPr/>
        </p:nvSpPr>
        <p:spPr>
          <a:xfrm>
            <a:off x="6858000" y="3276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
        <p:nvSpPr>
          <p:cNvPr id="45136" name="Text Box 187"/>
          <p:cNvSpPr txBox="1"/>
          <p:nvPr/>
        </p:nvSpPr>
        <p:spPr>
          <a:xfrm>
            <a:off x="6781800" y="3733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5137" name="Text Box 188"/>
          <p:cNvSpPr txBox="1"/>
          <p:nvPr/>
        </p:nvSpPr>
        <p:spPr>
          <a:xfrm>
            <a:off x="6705600" y="44958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sp>
        <p:nvSpPr>
          <p:cNvPr id="45138" name="Text Box 189"/>
          <p:cNvSpPr txBox="1"/>
          <p:nvPr/>
        </p:nvSpPr>
        <p:spPr>
          <a:xfrm>
            <a:off x="6477000" y="40386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5</a:t>
            </a:r>
            <a:endParaRPr lang="en-US" altLang="zh-CN" sz="2400" b="0" dirty="0">
              <a:latin typeface="Times New Roman" panose="02020603050405020304" pitchFamily="18" charset="0"/>
              <a:ea typeface="宋体" panose="02010600030101010101" pitchFamily="2" charset="-122"/>
            </a:endParaRPr>
          </a:p>
        </p:txBody>
      </p:sp>
      <p:sp>
        <p:nvSpPr>
          <p:cNvPr id="45139" name="Text Box 190"/>
          <p:cNvSpPr txBox="1"/>
          <p:nvPr/>
        </p:nvSpPr>
        <p:spPr>
          <a:xfrm>
            <a:off x="6477000" y="510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5140" name="Text Box 191"/>
          <p:cNvSpPr txBox="1"/>
          <p:nvPr/>
        </p:nvSpPr>
        <p:spPr>
          <a:xfrm>
            <a:off x="6781800" y="54102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6</a:t>
            </a:r>
            <a:endParaRPr lang="en-US" altLang="zh-CN" sz="2400" b="0" dirty="0">
              <a:latin typeface="Times New Roman" panose="02020603050405020304" pitchFamily="18" charset="0"/>
              <a:ea typeface="宋体" panose="02010600030101010101" pitchFamily="2" charset="-122"/>
            </a:endParaRPr>
          </a:p>
        </p:txBody>
      </p:sp>
      <p:sp>
        <p:nvSpPr>
          <p:cNvPr id="45141" name="Text Box 192"/>
          <p:cNvSpPr txBox="1"/>
          <p:nvPr/>
        </p:nvSpPr>
        <p:spPr>
          <a:xfrm>
            <a:off x="8077200" y="38100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4</a:t>
            </a:r>
            <a:endParaRPr lang="en-US" altLang="zh-CN" sz="2400" b="0" dirty="0">
              <a:latin typeface="Times New Roman" panose="02020603050405020304" pitchFamily="18" charset="0"/>
              <a:ea typeface="宋体" panose="02010600030101010101" pitchFamily="2" charset="-122"/>
            </a:endParaRPr>
          </a:p>
        </p:txBody>
      </p:sp>
      <p:sp>
        <p:nvSpPr>
          <p:cNvPr id="59585" name="Line 193"/>
          <p:cNvSpPr/>
          <p:nvPr/>
        </p:nvSpPr>
        <p:spPr>
          <a:xfrm flipV="1">
            <a:off x="609600" y="3810000"/>
            <a:ext cx="762000" cy="609600"/>
          </a:xfrm>
          <a:prstGeom prst="line">
            <a:avLst/>
          </a:prstGeom>
          <a:ln w="28575" cap="flat" cmpd="sng">
            <a:solidFill>
              <a:srgbClr val="FF0000"/>
            </a:solidFill>
            <a:prstDash val="solid"/>
            <a:headEnd type="none" w="med" len="med"/>
            <a:tailEnd type="triangle" w="med" len="med"/>
          </a:ln>
        </p:spPr>
      </p:sp>
      <p:sp>
        <p:nvSpPr>
          <p:cNvPr id="59586" name="Line 194"/>
          <p:cNvSpPr/>
          <p:nvPr/>
        </p:nvSpPr>
        <p:spPr>
          <a:xfrm>
            <a:off x="1752600" y="3657600"/>
            <a:ext cx="1066800" cy="304800"/>
          </a:xfrm>
          <a:prstGeom prst="line">
            <a:avLst/>
          </a:prstGeom>
          <a:ln w="28575" cap="flat" cmpd="sng">
            <a:solidFill>
              <a:srgbClr val="FF0000"/>
            </a:solidFill>
            <a:prstDash val="solid"/>
            <a:headEnd type="none" w="med" len="med"/>
            <a:tailEnd type="triangle" w="med" len="med"/>
          </a:ln>
        </p:spPr>
      </p:sp>
      <p:sp>
        <p:nvSpPr>
          <p:cNvPr id="59587" name="Line 195"/>
          <p:cNvSpPr/>
          <p:nvPr/>
        </p:nvSpPr>
        <p:spPr>
          <a:xfrm flipV="1">
            <a:off x="3276600" y="3505200"/>
            <a:ext cx="1143000" cy="457200"/>
          </a:xfrm>
          <a:prstGeom prst="line">
            <a:avLst/>
          </a:prstGeom>
          <a:ln w="28575" cap="flat" cmpd="sng">
            <a:solidFill>
              <a:srgbClr val="FF0000"/>
            </a:solidFill>
            <a:prstDash val="solid"/>
            <a:headEnd type="none" w="med" len="med"/>
            <a:tailEnd type="triangle" w="med" len="med"/>
          </a:ln>
        </p:spPr>
      </p:sp>
      <p:sp>
        <p:nvSpPr>
          <p:cNvPr id="59588" name="Line 196"/>
          <p:cNvSpPr/>
          <p:nvPr/>
        </p:nvSpPr>
        <p:spPr>
          <a:xfrm>
            <a:off x="4876800" y="3581400"/>
            <a:ext cx="1219200" cy="914400"/>
          </a:xfrm>
          <a:prstGeom prst="line">
            <a:avLst/>
          </a:prstGeom>
          <a:ln w="28575" cap="flat" cmpd="sng">
            <a:solidFill>
              <a:srgbClr val="FF0000"/>
            </a:solidFill>
            <a:prstDash val="solid"/>
            <a:headEnd type="none" w="med" len="med"/>
            <a:tailEnd type="triangle" w="med" len="med"/>
          </a:ln>
        </p:spPr>
      </p:sp>
      <p:sp>
        <p:nvSpPr>
          <p:cNvPr id="59589" name="Line 197"/>
          <p:cNvSpPr/>
          <p:nvPr/>
        </p:nvSpPr>
        <p:spPr>
          <a:xfrm>
            <a:off x="6477000" y="4648200"/>
            <a:ext cx="990600" cy="609600"/>
          </a:xfrm>
          <a:prstGeom prst="line">
            <a:avLst/>
          </a:prstGeom>
          <a:ln w="28575" cap="flat" cmpd="sng">
            <a:solidFill>
              <a:srgbClr val="FF0000"/>
            </a:solidFill>
            <a:prstDash val="solid"/>
            <a:headEnd type="none" w="med" len="med"/>
            <a:tailEnd type="triangle" w="med" len="med"/>
          </a:ln>
        </p:spPr>
      </p:sp>
      <p:sp>
        <p:nvSpPr>
          <p:cNvPr id="59590" name="Line 198"/>
          <p:cNvSpPr/>
          <p:nvPr/>
        </p:nvSpPr>
        <p:spPr>
          <a:xfrm flipV="1">
            <a:off x="7848600" y="4724400"/>
            <a:ext cx="685800" cy="609600"/>
          </a:xfrm>
          <a:prstGeom prst="line">
            <a:avLst/>
          </a:prstGeom>
          <a:ln w="28575" cap="flat" cmpd="sng">
            <a:solidFill>
              <a:srgbClr val="FF0000"/>
            </a:solidFill>
            <a:prstDash val="solid"/>
            <a:headEnd type="none" w="med" len="med"/>
            <a:tailEnd type="triangle" w="med" len="med"/>
          </a:ln>
        </p:spPr>
      </p:sp>
      <p:sp>
        <p:nvSpPr>
          <p:cNvPr id="45148" name="Line 199"/>
          <p:cNvSpPr/>
          <p:nvPr/>
        </p:nvSpPr>
        <p:spPr>
          <a:xfrm>
            <a:off x="609600" y="4724400"/>
            <a:ext cx="762000" cy="304800"/>
          </a:xfrm>
          <a:prstGeom prst="line">
            <a:avLst/>
          </a:prstGeom>
          <a:ln w="9525" cap="flat" cmpd="sng">
            <a:solidFill>
              <a:schemeClr val="tx1"/>
            </a:solidFill>
            <a:prstDash val="solid"/>
            <a:headEnd type="none" w="med" len="med"/>
            <a:tailEnd type="triangle" w="med" len="med"/>
          </a:ln>
        </p:spPr>
      </p:sp>
      <p:sp>
        <p:nvSpPr>
          <p:cNvPr id="45149" name="Text Box 200"/>
          <p:cNvSpPr txBox="1"/>
          <p:nvPr/>
        </p:nvSpPr>
        <p:spPr>
          <a:xfrm>
            <a:off x="5105400" y="5867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3</a:t>
            </a:r>
            <a:endParaRPr lang="en-US" altLang="zh-CN" sz="24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5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93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9508"/>
                                        </p:tgtEl>
                                        <p:attrNameLst>
                                          <p:attrName>style.visibility</p:attrName>
                                        </p:attrNameLst>
                                      </p:cBhvr>
                                      <p:to>
                                        <p:strVal val="visible"/>
                                      </p:to>
                                    </p:set>
                                    <p:animEffect transition="in" filter="dissolve">
                                      <p:cBhvr>
                                        <p:cTn id="19" dur="500"/>
                                        <p:tgtEl>
                                          <p:spTgt spid="5950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5950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9509"/>
                                        </p:tgtEl>
                                        <p:attrNameLst>
                                          <p:attrName>style.visibility</p:attrName>
                                        </p:attrNameLst>
                                      </p:cBhvr>
                                      <p:to>
                                        <p:strVal val="visible"/>
                                      </p:to>
                                    </p:set>
                                    <p:animEffect transition="in" filter="dissolve">
                                      <p:cBhvr>
                                        <p:cTn id="28" dur="500"/>
                                        <p:tgtEl>
                                          <p:spTgt spid="5950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950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950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59585"/>
                                        </p:tgtEl>
                                        <p:attrNameLst>
                                          <p:attrName>style.visibility</p:attrName>
                                        </p:attrNameLst>
                                      </p:cBhvr>
                                      <p:to>
                                        <p:strVal val="visible"/>
                                      </p:to>
                                    </p:set>
                                    <p:animEffect transition="in" filter="barn(outVertical)">
                                      <p:cBhvr>
                                        <p:cTn id="41" dur="500"/>
                                        <p:tgtEl>
                                          <p:spTgt spid="59585"/>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37" fill="hold" nodeType="clickEffect">
                                  <p:stCondLst>
                                    <p:cond delay="0"/>
                                  </p:stCondLst>
                                  <p:childTnLst>
                                    <p:set>
                                      <p:cBhvr>
                                        <p:cTn id="45" dur="1" fill="hold">
                                          <p:stCondLst>
                                            <p:cond delay="0"/>
                                          </p:stCondLst>
                                        </p:cTn>
                                        <p:tgtEl>
                                          <p:spTgt spid="59586"/>
                                        </p:tgtEl>
                                        <p:attrNameLst>
                                          <p:attrName>style.visibility</p:attrName>
                                        </p:attrNameLst>
                                      </p:cBhvr>
                                      <p:to>
                                        <p:strVal val="visible"/>
                                      </p:to>
                                    </p:set>
                                    <p:animEffect transition="in" filter="barn(outVertical)">
                                      <p:cBhvr>
                                        <p:cTn id="46" dur="500"/>
                                        <p:tgtEl>
                                          <p:spTgt spid="59586"/>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59587"/>
                                        </p:tgtEl>
                                        <p:attrNameLst>
                                          <p:attrName>style.visibility</p:attrName>
                                        </p:attrNameLst>
                                      </p:cBhvr>
                                      <p:to>
                                        <p:strVal val="visible"/>
                                      </p:to>
                                    </p:set>
                                    <p:animEffect transition="in" filter="barn(outVertical)">
                                      <p:cBhvr>
                                        <p:cTn id="51" dur="500"/>
                                        <p:tgtEl>
                                          <p:spTgt spid="59587"/>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37" fill="hold" nodeType="clickEffect">
                                  <p:stCondLst>
                                    <p:cond delay="0"/>
                                  </p:stCondLst>
                                  <p:childTnLst>
                                    <p:set>
                                      <p:cBhvr>
                                        <p:cTn id="55" dur="1" fill="hold">
                                          <p:stCondLst>
                                            <p:cond delay="0"/>
                                          </p:stCondLst>
                                        </p:cTn>
                                        <p:tgtEl>
                                          <p:spTgt spid="59588"/>
                                        </p:tgtEl>
                                        <p:attrNameLst>
                                          <p:attrName>style.visibility</p:attrName>
                                        </p:attrNameLst>
                                      </p:cBhvr>
                                      <p:to>
                                        <p:strVal val="visible"/>
                                      </p:to>
                                    </p:set>
                                    <p:animEffect transition="in" filter="barn(outVertical)">
                                      <p:cBhvr>
                                        <p:cTn id="56" dur="500"/>
                                        <p:tgtEl>
                                          <p:spTgt spid="59588"/>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37" fill="hold" nodeType="clickEffect">
                                  <p:stCondLst>
                                    <p:cond delay="0"/>
                                  </p:stCondLst>
                                  <p:childTnLst>
                                    <p:set>
                                      <p:cBhvr>
                                        <p:cTn id="60" dur="1" fill="hold">
                                          <p:stCondLst>
                                            <p:cond delay="0"/>
                                          </p:stCondLst>
                                        </p:cTn>
                                        <p:tgtEl>
                                          <p:spTgt spid="59589"/>
                                        </p:tgtEl>
                                        <p:attrNameLst>
                                          <p:attrName>style.visibility</p:attrName>
                                        </p:attrNameLst>
                                      </p:cBhvr>
                                      <p:to>
                                        <p:strVal val="visible"/>
                                      </p:to>
                                    </p:set>
                                    <p:animEffect transition="in" filter="barn(outVertical)">
                                      <p:cBhvr>
                                        <p:cTn id="61" dur="500"/>
                                        <p:tgtEl>
                                          <p:spTgt spid="59589"/>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37" fill="hold" nodeType="clickEffect">
                                  <p:stCondLst>
                                    <p:cond delay="0"/>
                                  </p:stCondLst>
                                  <p:childTnLst>
                                    <p:set>
                                      <p:cBhvr>
                                        <p:cTn id="65" dur="1" fill="hold">
                                          <p:stCondLst>
                                            <p:cond delay="0"/>
                                          </p:stCondLst>
                                        </p:cTn>
                                        <p:tgtEl>
                                          <p:spTgt spid="59590"/>
                                        </p:tgtEl>
                                        <p:attrNameLst>
                                          <p:attrName>style.visibility</p:attrName>
                                        </p:attrNameLst>
                                      </p:cBhvr>
                                      <p:to>
                                        <p:strVal val="visible"/>
                                      </p:to>
                                    </p:set>
                                    <p:animEffect transition="in" filter="barn(outVertical)">
                                      <p:cBhvr>
                                        <p:cTn id="66" dur="500"/>
                                        <p:tgtEl>
                                          <p:spTgt spid="59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nimBg="1"/>
      <p:bldP spid="59504" grpId="0"/>
      <p:bldP spid="59505" grpId="0"/>
      <p:bldP spid="59506" grpId="0"/>
      <p:bldP spid="59507" grpId="0" animBg="1"/>
      <p:bldP spid="59508" grpId="0" animBg="1"/>
      <p:bldP spid="5950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6082" name="Text Box 1078"/>
          <p:cNvSpPr txBox="1"/>
          <p:nvPr/>
        </p:nvSpPr>
        <p:spPr>
          <a:xfrm>
            <a:off x="1828800" y="381000"/>
            <a:ext cx="3657600" cy="519113"/>
          </a:xfrm>
          <a:prstGeom prst="rect">
            <a:avLst/>
          </a:prstGeom>
          <a:noFill/>
          <a:ln w="9525">
            <a:noFill/>
          </a:ln>
        </p:spPr>
        <p:txBody>
          <a:bodyPr>
            <a:spAutoFit/>
          </a:bodyPr>
          <a:p>
            <a:pPr>
              <a:spcBef>
                <a:spcPct val="50000"/>
              </a:spcBef>
            </a:pPr>
            <a:r>
              <a:rPr lang="zh-CN" altLang="en-US" dirty="0">
                <a:solidFill>
                  <a:srgbClr val="000066"/>
                </a:solidFill>
                <a:latin typeface="楷体_GB2312" pitchFamily="49" charset="-122"/>
              </a:rPr>
              <a:t>求从</a:t>
            </a:r>
            <a:r>
              <a:rPr lang="en-US" altLang="zh-CN" dirty="0">
                <a:solidFill>
                  <a:srgbClr val="000066"/>
                </a:solidFill>
                <a:latin typeface="Times New Roman" panose="02020603050405020304" pitchFamily="18" charset="0"/>
              </a:rPr>
              <a:t>A</a:t>
            </a:r>
            <a:r>
              <a:rPr lang="zh-CN" altLang="en-US" dirty="0">
                <a:solidFill>
                  <a:srgbClr val="000066"/>
                </a:solidFill>
                <a:latin typeface="楷体_GB2312" pitchFamily="49" charset="-122"/>
              </a:rPr>
              <a:t>到</a:t>
            </a:r>
            <a:r>
              <a:rPr lang="en-US" altLang="zh-CN" dirty="0">
                <a:solidFill>
                  <a:srgbClr val="000066"/>
                </a:solidFill>
                <a:latin typeface="Times New Roman" panose="02020603050405020304" pitchFamily="18" charset="0"/>
              </a:rPr>
              <a:t>E</a:t>
            </a:r>
            <a:r>
              <a:rPr lang="zh-CN" altLang="en-US" dirty="0">
                <a:solidFill>
                  <a:srgbClr val="000066"/>
                </a:solidFill>
                <a:latin typeface="楷体_GB2312" pitchFamily="49" charset="-122"/>
              </a:rPr>
              <a:t>的最短路径</a:t>
            </a:r>
            <a:endParaRPr lang="zh-CN" altLang="en-US" dirty="0">
              <a:solidFill>
                <a:srgbClr val="000066"/>
              </a:solidFill>
              <a:latin typeface="楷体_GB2312" pitchFamily="49" charset="-122"/>
            </a:endParaRPr>
          </a:p>
        </p:txBody>
      </p:sp>
      <p:sp>
        <p:nvSpPr>
          <p:cNvPr id="44087" name="Text Box 1079"/>
          <p:cNvSpPr txBox="1"/>
          <p:nvPr/>
        </p:nvSpPr>
        <p:spPr>
          <a:xfrm>
            <a:off x="762000" y="5334000"/>
            <a:ext cx="7848600" cy="579438"/>
          </a:xfrm>
          <a:prstGeom prst="rect">
            <a:avLst/>
          </a:prstGeom>
          <a:noFill/>
          <a:ln w="9525">
            <a:noFill/>
          </a:ln>
        </p:spPr>
        <p:txBody>
          <a:bodyPr>
            <a:spAutoFit/>
          </a:bodyPr>
          <a:p>
            <a:pPr>
              <a:spcBef>
                <a:spcPct val="50000"/>
              </a:spcBef>
            </a:pPr>
            <a:r>
              <a:rPr lang="zh-CN" altLang="en-US" sz="3200" dirty="0">
                <a:solidFill>
                  <a:srgbClr val="FF6600"/>
                </a:solidFill>
                <a:latin typeface="楷体_GB2312" pitchFamily="49" charset="-122"/>
              </a:rPr>
              <a:t>路线为</a:t>
            </a:r>
            <a:r>
              <a:rPr lang="en-US" altLang="zh-CN" dirty="0">
                <a:solidFill>
                  <a:srgbClr val="FF6600"/>
                </a:solidFill>
                <a:latin typeface="Times New Roman" panose="02020603050405020304" pitchFamily="18" charset="0"/>
              </a:rPr>
              <a:t>A→B</a:t>
            </a:r>
            <a:r>
              <a:rPr lang="en-US" altLang="zh-CN" baseline="-25000" dirty="0">
                <a:solidFill>
                  <a:srgbClr val="FF6600"/>
                </a:solidFill>
                <a:latin typeface="Times New Roman" panose="02020603050405020304" pitchFamily="18" charset="0"/>
              </a:rPr>
              <a:t>2</a:t>
            </a:r>
            <a:r>
              <a:rPr lang="en-US" altLang="zh-CN" dirty="0">
                <a:solidFill>
                  <a:srgbClr val="FF6600"/>
                </a:solidFill>
                <a:latin typeface="Times New Roman" panose="02020603050405020304" pitchFamily="18" charset="0"/>
              </a:rPr>
              <a:t>→C</a:t>
            </a:r>
            <a:r>
              <a:rPr lang="en-US" altLang="zh-CN" baseline="-25000" dirty="0">
                <a:solidFill>
                  <a:srgbClr val="FF6600"/>
                </a:solidFill>
                <a:latin typeface="Times New Roman" panose="02020603050405020304" pitchFamily="18" charset="0"/>
              </a:rPr>
              <a:t>1</a:t>
            </a:r>
            <a:r>
              <a:rPr lang="en-US" altLang="zh-CN" dirty="0">
                <a:solidFill>
                  <a:srgbClr val="FF6600"/>
                </a:solidFill>
                <a:latin typeface="Times New Roman" panose="02020603050405020304" pitchFamily="18" charset="0"/>
              </a:rPr>
              <a:t> →D</a:t>
            </a:r>
            <a:r>
              <a:rPr lang="en-US" altLang="zh-CN" baseline="-25000" dirty="0">
                <a:solidFill>
                  <a:srgbClr val="FF6600"/>
                </a:solidFill>
                <a:latin typeface="Times New Roman" panose="02020603050405020304" pitchFamily="18" charset="0"/>
              </a:rPr>
              <a:t>1</a:t>
            </a:r>
            <a:r>
              <a:rPr lang="en-US" altLang="zh-CN" dirty="0">
                <a:solidFill>
                  <a:srgbClr val="FF6600"/>
                </a:solidFill>
                <a:latin typeface="Times New Roman" panose="02020603050405020304" pitchFamily="18" charset="0"/>
              </a:rPr>
              <a:t> →E</a:t>
            </a:r>
            <a:r>
              <a:rPr lang="en-US" altLang="zh-CN" b="0" dirty="0">
                <a:solidFill>
                  <a:schemeClr val="tx2"/>
                </a:solidFill>
                <a:latin typeface="楷体_GB2312" pitchFamily="49" charset="-122"/>
              </a:rPr>
              <a:t> </a:t>
            </a:r>
            <a:r>
              <a:rPr lang="zh-CN" altLang="en-US" dirty="0">
                <a:solidFill>
                  <a:srgbClr val="FF6600"/>
                </a:solidFill>
                <a:latin typeface="楷体_GB2312" pitchFamily="49" charset="-122"/>
              </a:rPr>
              <a:t>，</a:t>
            </a:r>
            <a:r>
              <a:rPr lang="zh-CN" altLang="en-US" sz="3200" dirty="0">
                <a:solidFill>
                  <a:srgbClr val="FF6600"/>
                </a:solidFill>
                <a:latin typeface="楷体_GB2312" pitchFamily="49" charset="-122"/>
              </a:rPr>
              <a:t>最短路径为</a:t>
            </a:r>
            <a:r>
              <a:rPr lang="en-US" altLang="zh-CN" sz="3200" dirty="0">
                <a:solidFill>
                  <a:srgbClr val="FF6600"/>
                </a:solidFill>
                <a:latin typeface="楷体_GB2312" pitchFamily="49" charset="-122"/>
              </a:rPr>
              <a:t>19</a:t>
            </a:r>
            <a:endParaRPr lang="en-US" altLang="zh-CN" sz="3200" dirty="0">
              <a:solidFill>
                <a:srgbClr val="FF6600"/>
              </a:solidFill>
              <a:latin typeface="楷体_GB2312" pitchFamily="49" charset="-122"/>
            </a:endParaRPr>
          </a:p>
        </p:txBody>
      </p:sp>
      <p:sp>
        <p:nvSpPr>
          <p:cNvPr id="46084" name="Oval 1080"/>
          <p:cNvSpPr/>
          <p:nvPr/>
        </p:nvSpPr>
        <p:spPr>
          <a:xfrm>
            <a:off x="838200" y="2743200"/>
            <a:ext cx="533400" cy="533400"/>
          </a:xfrm>
          <a:prstGeom prst="ellipse">
            <a:avLst/>
          </a:prstGeom>
          <a:solidFill>
            <a:schemeClr val="accent1"/>
          </a:solidFill>
          <a:ln w="9525">
            <a:noFill/>
          </a:ln>
        </p:spPr>
        <p:txBody>
          <a:bodyPr wrap="none" anchor="ctr" anchorCtr="0"/>
          <a:p>
            <a:pPr algn="ct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46085" name="Oval 1081"/>
          <p:cNvSpPr/>
          <p:nvPr/>
        </p:nvSpPr>
        <p:spPr>
          <a:xfrm>
            <a:off x="2514600" y="2667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B</a:t>
            </a:r>
            <a:r>
              <a:rPr lang="en-US" altLang="zh-CN" baseline="-25000" dirty="0">
                <a:solidFill>
                  <a:schemeClr val="tx2"/>
                </a:solidFill>
                <a:latin typeface="Times New Roman" panose="02020603050405020304" pitchFamily="18" charset="0"/>
              </a:rPr>
              <a:t>2</a:t>
            </a:r>
            <a:endParaRPr lang="en-US" altLang="zh-CN" baseline="-25000" dirty="0">
              <a:solidFill>
                <a:schemeClr val="tx2"/>
              </a:solidFill>
              <a:latin typeface="Times New Roman" panose="02020603050405020304" pitchFamily="18" charset="0"/>
            </a:endParaRPr>
          </a:p>
        </p:txBody>
      </p:sp>
      <p:sp>
        <p:nvSpPr>
          <p:cNvPr id="46086" name="Oval 1082"/>
          <p:cNvSpPr/>
          <p:nvPr/>
        </p:nvSpPr>
        <p:spPr>
          <a:xfrm>
            <a:off x="2590800" y="1524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B</a:t>
            </a:r>
            <a:r>
              <a:rPr lang="en-US" altLang="zh-CN" baseline="-25000" dirty="0">
                <a:solidFill>
                  <a:schemeClr val="tx2"/>
                </a:solidFill>
                <a:latin typeface="Times New Roman" panose="02020603050405020304" pitchFamily="18" charset="0"/>
              </a:rPr>
              <a:t>1</a:t>
            </a:r>
            <a:endParaRPr lang="en-US" altLang="zh-CN" baseline="-25000" dirty="0">
              <a:solidFill>
                <a:schemeClr val="tx2"/>
              </a:solidFill>
              <a:latin typeface="Times New Roman" panose="02020603050405020304" pitchFamily="18" charset="0"/>
            </a:endParaRPr>
          </a:p>
        </p:txBody>
      </p:sp>
      <p:sp>
        <p:nvSpPr>
          <p:cNvPr id="46087" name="Oval 1083"/>
          <p:cNvSpPr/>
          <p:nvPr/>
        </p:nvSpPr>
        <p:spPr>
          <a:xfrm>
            <a:off x="2514600" y="3810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B</a:t>
            </a:r>
            <a:r>
              <a:rPr lang="en-US" altLang="zh-CN" baseline="-25000" dirty="0">
                <a:solidFill>
                  <a:schemeClr val="tx2"/>
                </a:solidFill>
                <a:latin typeface="Times New Roman" panose="02020603050405020304" pitchFamily="18" charset="0"/>
              </a:rPr>
              <a:t>3</a:t>
            </a:r>
            <a:endParaRPr lang="en-US" altLang="zh-CN" baseline="-25000" dirty="0">
              <a:solidFill>
                <a:schemeClr val="tx2"/>
              </a:solidFill>
              <a:latin typeface="Times New Roman" panose="02020603050405020304" pitchFamily="18" charset="0"/>
            </a:endParaRPr>
          </a:p>
        </p:txBody>
      </p:sp>
      <p:sp>
        <p:nvSpPr>
          <p:cNvPr id="46088" name="Oval 1084"/>
          <p:cNvSpPr/>
          <p:nvPr/>
        </p:nvSpPr>
        <p:spPr>
          <a:xfrm>
            <a:off x="4419600" y="1524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C</a:t>
            </a:r>
            <a:r>
              <a:rPr lang="en-US" altLang="zh-CN" baseline="-25000" dirty="0">
                <a:solidFill>
                  <a:schemeClr val="tx2"/>
                </a:solidFill>
                <a:latin typeface="Times New Roman" panose="02020603050405020304" pitchFamily="18" charset="0"/>
              </a:rPr>
              <a:t>1</a:t>
            </a:r>
            <a:endParaRPr lang="en-US" altLang="zh-CN" baseline="-25000" dirty="0">
              <a:solidFill>
                <a:schemeClr val="tx2"/>
              </a:solidFill>
              <a:latin typeface="Times New Roman" panose="02020603050405020304" pitchFamily="18" charset="0"/>
            </a:endParaRPr>
          </a:p>
        </p:txBody>
      </p:sp>
      <p:sp>
        <p:nvSpPr>
          <p:cNvPr id="46089" name="Oval 1085"/>
          <p:cNvSpPr/>
          <p:nvPr/>
        </p:nvSpPr>
        <p:spPr>
          <a:xfrm>
            <a:off x="4419600" y="2667000"/>
            <a:ext cx="533400" cy="533400"/>
          </a:xfrm>
          <a:prstGeom prst="ellipse">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46090" name="Oval 1086"/>
          <p:cNvSpPr/>
          <p:nvPr/>
        </p:nvSpPr>
        <p:spPr>
          <a:xfrm>
            <a:off x="4419600" y="3810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C</a:t>
            </a:r>
            <a:r>
              <a:rPr lang="en-US" altLang="zh-CN" baseline="-25000" dirty="0">
                <a:solidFill>
                  <a:schemeClr val="tx2"/>
                </a:solidFill>
                <a:latin typeface="Times New Roman" panose="02020603050405020304" pitchFamily="18" charset="0"/>
              </a:rPr>
              <a:t>3</a:t>
            </a:r>
            <a:endParaRPr lang="en-US" altLang="zh-CN" baseline="-25000" dirty="0">
              <a:solidFill>
                <a:schemeClr val="tx2"/>
              </a:solidFill>
              <a:latin typeface="Times New Roman" panose="02020603050405020304" pitchFamily="18" charset="0"/>
            </a:endParaRPr>
          </a:p>
        </p:txBody>
      </p:sp>
      <p:sp>
        <p:nvSpPr>
          <p:cNvPr id="46091" name="Oval 1087"/>
          <p:cNvSpPr/>
          <p:nvPr/>
        </p:nvSpPr>
        <p:spPr>
          <a:xfrm>
            <a:off x="6248400" y="19812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D</a:t>
            </a:r>
            <a:r>
              <a:rPr lang="en-US" altLang="zh-CN" baseline="-25000" dirty="0">
                <a:solidFill>
                  <a:schemeClr val="tx2"/>
                </a:solidFill>
                <a:latin typeface="Times New Roman" panose="02020603050405020304" pitchFamily="18" charset="0"/>
              </a:rPr>
              <a:t>1</a:t>
            </a:r>
            <a:endParaRPr lang="en-US" altLang="zh-CN" baseline="-25000" dirty="0">
              <a:solidFill>
                <a:schemeClr val="tx2"/>
              </a:solidFill>
              <a:latin typeface="Times New Roman" panose="02020603050405020304" pitchFamily="18" charset="0"/>
            </a:endParaRPr>
          </a:p>
        </p:txBody>
      </p:sp>
      <p:sp>
        <p:nvSpPr>
          <p:cNvPr id="46092" name="Oval 1088"/>
          <p:cNvSpPr/>
          <p:nvPr/>
        </p:nvSpPr>
        <p:spPr>
          <a:xfrm>
            <a:off x="6248400" y="32766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D</a:t>
            </a:r>
            <a:r>
              <a:rPr lang="en-US" altLang="zh-CN" baseline="-25000" dirty="0">
                <a:solidFill>
                  <a:schemeClr val="tx2"/>
                </a:solidFill>
                <a:latin typeface="Times New Roman" panose="02020603050405020304" pitchFamily="18" charset="0"/>
              </a:rPr>
              <a:t>2</a:t>
            </a:r>
            <a:endParaRPr lang="en-US" altLang="zh-CN" baseline="-25000" dirty="0">
              <a:solidFill>
                <a:schemeClr val="tx2"/>
              </a:solidFill>
              <a:latin typeface="Times New Roman" panose="02020603050405020304" pitchFamily="18" charset="0"/>
            </a:endParaRPr>
          </a:p>
        </p:txBody>
      </p:sp>
      <p:sp>
        <p:nvSpPr>
          <p:cNvPr id="46093" name="Oval 1089"/>
          <p:cNvSpPr/>
          <p:nvPr/>
        </p:nvSpPr>
        <p:spPr>
          <a:xfrm>
            <a:off x="7772400" y="27432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E</a:t>
            </a:r>
            <a:endParaRPr lang="en-US" altLang="zh-CN" dirty="0">
              <a:solidFill>
                <a:schemeClr val="tx2"/>
              </a:solidFill>
              <a:latin typeface="Times New Roman" panose="02020603050405020304" pitchFamily="18" charset="0"/>
            </a:endParaRPr>
          </a:p>
        </p:txBody>
      </p:sp>
      <p:sp>
        <p:nvSpPr>
          <p:cNvPr id="46094" name="Line 1090"/>
          <p:cNvSpPr/>
          <p:nvPr/>
        </p:nvSpPr>
        <p:spPr>
          <a:xfrm flipV="1">
            <a:off x="1371600" y="1981200"/>
            <a:ext cx="1295400" cy="990600"/>
          </a:xfrm>
          <a:prstGeom prst="line">
            <a:avLst/>
          </a:prstGeom>
          <a:ln w="28575" cap="flat" cmpd="sng">
            <a:solidFill>
              <a:schemeClr val="accent2"/>
            </a:solidFill>
            <a:prstDash val="solid"/>
            <a:headEnd type="none" w="med" len="med"/>
            <a:tailEnd type="triangle" w="med" len="med"/>
          </a:ln>
        </p:spPr>
      </p:sp>
      <p:sp>
        <p:nvSpPr>
          <p:cNvPr id="46095" name="Line 1091"/>
          <p:cNvSpPr/>
          <p:nvPr/>
        </p:nvSpPr>
        <p:spPr>
          <a:xfrm>
            <a:off x="1371600" y="2971800"/>
            <a:ext cx="1143000" cy="0"/>
          </a:xfrm>
          <a:prstGeom prst="line">
            <a:avLst/>
          </a:prstGeom>
          <a:ln w="28575" cap="flat" cmpd="sng">
            <a:solidFill>
              <a:schemeClr val="accent2"/>
            </a:solidFill>
            <a:prstDash val="solid"/>
            <a:headEnd type="none" w="med" len="med"/>
            <a:tailEnd type="triangle" w="med" len="med"/>
          </a:ln>
        </p:spPr>
      </p:sp>
      <p:sp>
        <p:nvSpPr>
          <p:cNvPr id="46096" name="Line 1092"/>
          <p:cNvSpPr/>
          <p:nvPr/>
        </p:nvSpPr>
        <p:spPr>
          <a:xfrm>
            <a:off x="1371600" y="2971800"/>
            <a:ext cx="1219200" cy="990600"/>
          </a:xfrm>
          <a:prstGeom prst="line">
            <a:avLst/>
          </a:prstGeom>
          <a:ln w="28575" cap="flat" cmpd="sng">
            <a:solidFill>
              <a:schemeClr val="accent2"/>
            </a:solidFill>
            <a:prstDash val="solid"/>
            <a:headEnd type="none" w="med" len="med"/>
            <a:tailEnd type="triangle" w="med" len="med"/>
          </a:ln>
        </p:spPr>
      </p:sp>
      <p:sp>
        <p:nvSpPr>
          <p:cNvPr id="46097" name="Line 1093"/>
          <p:cNvSpPr/>
          <p:nvPr/>
        </p:nvSpPr>
        <p:spPr>
          <a:xfrm>
            <a:off x="3124200" y="1752600"/>
            <a:ext cx="1295400" cy="0"/>
          </a:xfrm>
          <a:prstGeom prst="line">
            <a:avLst/>
          </a:prstGeom>
          <a:ln w="28575" cap="flat" cmpd="sng">
            <a:solidFill>
              <a:schemeClr val="accent2"/>
            </a:solidFill>
            <a:prstDash val="solid"/>
            <a:headEnd type="none" w="med" len="med"/>
            <a:tailEnd type="triangle" w="med" len="med"/>
          </a:ln>
        </p:spPr>
      </p:sp>
      <p:sp>
        <p:nvSpPr>
          <p:cNvPr id="46098" name="Line 1094"/>
          <p:cNvSpPr/>
          <p:nvPr/>
        </p:nvSpPr>
        <p:spPr>
          <a:xfrm>
            <a:off x="3124200" y="1752600"/>
            <a:ext cx="1295400" cy="1066800"/>
          </a:xfrm>
          <a:prstGeom prst="line">
            <a:avLst/>
          </a:prstGeom>
          <a:ln w="28575" cap="flat" cmpd="sng">
            <a:solidFill>
              <a:schemeClr val="accent2"/>
            </a:solidFill>
            <a:prstDash val="solid"/>
            <a:headEnd type="none" w="med" len="med"/>
            <a:tailEnd type="triangle" w="med" len="med"/>
          </a:ln>
        </p:spPr>
      </p:sp>
      <p:sp>
        <p:nvSpPr>
          <p:cNvPr id="46099" name="Line 1095"/>
          <p:cNvSpPr/>
          <p:nvPr/>
        </p:nvSpPr>
        <p:spPr>
          <a:xfrm>
            <a:off x="3048000" y="2971800"/>
            <a:ext cx="1371600" cy="0"/>
          </a:xfrm>
          <a:prstGeom prst="line">
            <a:avLst/>
          </a:prstGeom>
          <a:ln w="28575" cap="flat" cmpd="sng">
            <a:solidFill>
              <a:schemeClr val="accent2"/>
            </a:solidFill>
            <a:prstDash val="solid"/>
            <a:headEnd type="none" w="med" len="med"/>
            <a:tailEnd type="triangle" w="med" len="med"/>
          </a:ln>
        </p:spPr>
      </p:sp>
      <p:sp>
        <p:nvSpPr>
          <p:cNvPr id="46100" name="Line 1096"/>
          <p:cNvSpPr/>
          <p:nvPr/>
        </p:nvSpPr>
        <p:spPr>
          <a:xfrm flipV="1">
            <a:off x="3048000" y="1905000"/>
            <a:ext cx="1371600" cy="1066800"/>
          </a:xfrm>
          <a:prstGeom prst="line">
            <a:avLst/>
          </a:prstGeom>
          <a:ln w="28575" cap="flat" cmpd="sng">
            <a:solidFill>
              <a:schemeClr val="accent2"/>
            </a:solidFill>
            <a:prstDash val="solid"/>
            <a:headEnd type="none" w="med" len="med"/>
            <a:tailEnd type="triangle" w="med" len="med"/>
          </a:ln>
        </p:spPr>
      </p:sp>
      <p:sp>
        <p:nvSpPr>
          <p:cNvPr id="46101" name="Line 1097"/>
          <p:cNvSpPr/>
          <p:nvPr/>
        </p:nvSpPr>
        <p:spPr>
          <a:xfrm>
            <a:off x="3048000" y="2971800"/>
            <a:ext cx="1371600" cy="1066800"/>
          </a:xfrm>
          <a:prstGeom prst="line">
            <a:avLst/>
          </a:prstGeom>
          <a:ln w="28575" cap="flat" cmpd="sng">
            <a:solidFill>
              <a:schemeClr val="accent2"/>
            </a:solidFill>
            <a:prstDash val="solid"/>
            <a:headEnd type="none" w="med" len="med"/>
            <a:tailEnd type="triangle" w="med" len="med"/>
          </a:ln>
        </p:spPr>
      </p:sp>
      <p:sp>
        <p:nvSpPr>
          <p:cNvPr id="46102" name="Line 1098"/>
          <p:cNvSpPr/>
          <p:nvPr/>
        </p:nvSpPr>
        <p:spPr>
          <a:xfrm flipV="1">
            <a:off x="3048000" y="3048000"/>
            <a:ext cx="1447800" cy="1066800"/>
          </a:xfrm>
          <a:prstGeom prst="line">
            <a:avLst/>
          </a:prstGeom>
          <a:ln w="28575" cap="flat" cmpd="sng">
            <a:solidFill>
              <a:schemeClr val="accent2"/>
            </a:solidFill>
            <a:prstDash val="solid"/>
            <a:headEnd type="none" w="med" len="med"/>
            <a:tailEnd type="triangle" w="med" len="med"/>
          </a:ln>
        </p:spPr>
      </p:sp>
      <p:sp>
        <p:nvSpPr>
          <p:cNvPr id="46103" name="Line 1099"/>
          <p:cNvSpPr/>
          <p:nvPr/>
        </p:nvSpPr>
        <p:spPr>
          <a:xfrm>
            <a:off x="3048000" y="4114800"/>
            <a:ext cx="1371600" cy="0"/>
          </a:xfrm>
          <a:prstGeom prst="line">
            <a:avLst/>
          </a:prstGeom>
          <a:ln w="28575" cap="flat" cmpd="sng">
            <a:solidFill>
              <a:schemeClr val="accent2"/>
            </a:solidFill>
            <a:prstDash val="solid"/>
            <a:headEnd type="none" w="med" len="med"/>
            <a:tailEnd type="triangle" w="med" len="med"/>
          </a:ln>
        </p:spPr>
      </p:sp>
      <p:sp>
        <p:nvSpPr>
          <p:cNvPr id="46104" name="Line 1100"/>
          <p:cNvSpPr/>
          <p:nvPr/>
        </p:nvSpPr>
        <p:spPr>
          <a:xfrm>
            <a:off x="3124200" y="1752600"/>
            <a:ext cx="1371600" cy="2133600"/>
          </a:xfrm>
          <a:prstGeom prst="line">
            <a:avLst/>
          </a:prstGeom>
          <a:ln w="28575" cap="flat" cmpd="sng">
            <a:solidFill>
              <a:schemeClr val="accent2"/>
            </a:solidFill>
            <a:prstDash val="solid"/>
            <a:headEnd type="none" w="med" len="med"/>
            <a:tailEnd type="triangle" w="med" len="med"/>
          </a:ln>
        </p:spPr>
      </p:sp>
      <p:sp>
        <p:nvSpPr>
          <p:cNvPr id="46105" name="Line 1101"/>
          <p:cNvSpPr/>
          <p:nvPr/>
        </p:nvSpPr>
        <p:spPr>
          <a:xfrm flipV="1">
            <a:off x="3048000" y="1981200"/>
            <a:ext cx="1447800" cy="2057400"/>
          </a:xfrm>
          <a:prstGeom prst="line">
            <a:avLst/>
          </a:prstGeom>
          <a:ln w="28575" cap="flat" cmpd="sng">
            <a:solidFill>
              <a:schemeClr val="accent2"/>
            </a:solidFill>
            <a:prstDash val="solid"/>
            <a:headEnd type="none" w="med" len="med"/>
            <a:tailEnd type="triangle" w="med" len="med"/>
          </a:ln>
        </p:spPr>
      </p:sp>
      <p:sp>
        <p:nvSpPr>
          <p:cNvPr id="46106" name="Line 1102"/>
          <p:cNvSpPr/>
          <p:nvPr/>
        </p:nvSpPr>
        <p:spPr>
          <a:xfrm>
            <a:off x="4953000" y="1752600"/>
            <a:ext cx="1295400" cy="381000"/>
          </a:xfrm>
          <a:prstGeom prst="line">
            <a:avLst/>
          </a:prstGeom>
          <a:ln w="28575" cap="flat" cmpd="sng">
            <a:solidFill>
              <a:schemeClr val="accent2"/>
            </a:solidFill>
            <a:prstDash val="solid"/>
            <a:headEnd type="none" w="med" len="med"/>
            <a:tailEnd type="triangle" w="med" len="med"/>
          </a:ln>
        </p:spPr>
      </p:sp>
      <p:sp>
        <p:nvSpPr>
          <p:cNvPr id="46107" name="Line 1103"/>
          <p:cNvSpPr/>
          <p:nvPr/>
        </p:nvSpPr>
        <p:spPr>
          <a:xfrm>
            <a:off x="4953000" y="1752600"/>
            <a:ext cx="1295400" cy="1676400"/>
          </a:xfrm>
          <a:prstGeom prst="line">
            <a:avLst/>
          </a:prstGeom>
          <a:ln w="28575" cap="flat" cmpd="sng">
            <a:solidFill>
              <a:schemeClr val="accent2"/>
            </a:solidFill>
            <a:prstDash val="solid"/>
            <a:headEnd type="none" w="med" len="med"/>
            <a:tailEnd type="triangle" w="med" len="med"/>
          </a:ln>
        </p:spPr>
      </p:sp>
      <p:sp>
        <p:nvSpPr>
          <p:cNvPr id="46108" name="Line 1104"/>
          <p:cNvSpPr/>
          <p:nvPr/>
        </p:nvSpPr>
        <p:spPr>
          <a:xfrm flipV="1">
            <a:off x="4953000" y="2362200"/>
            <a:ext cx="1295400" cy="609600"/>
          </a:xfrm>
          <a:prstGeom prst="line">
            <a:avLst/>
          </a:prstGeom>
          <a:ln w="28575" cap="flat" cmpd="sng">
            <a:solidFill>
              <a:schemeClr val="accent2"/>
            </a:solidFill>
            <a:prstDash val="solid"/>
            <a:headEnd type="none" w="med" len="med"/>
            <a:tailEnd type="triangle" w="med" len="med"/>
          </a:ln>
        </p:spPr>
      </p:sp>
      <p:sp>
        <p:nvSpPr>
          <p:cNvPr id="46109" name="Line 1105"/>
          <p:cNvSpPr/>
          <p:nvPr/>
        </p:nvSpPr>
        <p:spPr>
          <a:xfrm>
            <a:off x="4953000" y="2971800"/>
            <a:ext cx="1219200" cy="533400"/>
          </a:xfrm>
          <a:prstGeom prst="line">
            <a:avLst/>
          </a:prstGeom>
          <a:ln w="28575" cap="flat" cmpd="sng">
            <a:solidFill>
              <a:schemeClr val="accent2"/>
            </a:solidFill>
            <a:prstDash val="solid"/>
            <a:headEnd type="none" w="med" len="med"/>
            <a:tailEnd type="triangle" w="med" len="med"/>
          </a:ln>
        </p:spPr>
      </p:sp>
      <p:sp>
        <p:nvSpPr>
          <p:cNvPr id="46110" name="Line 1106"/>
          <p:cNvSpPr/>
          <p:nvPr/>
        </p:nvSpPr>
        <p:spPr>
          <a:xfrm flipV="1">
            <a:off x="4953000" y="2438400"/>
            <a:ext cx="1371600" cy="1676400"/>
          </a:xfrm>
          <a:prstGeom prst="line">
            <a:avLst/>
          </a:prstGeom>
          <a:ln w="28575" cap="flat" cmpd="sng">
            <a:solidFill>
              <a:schemeClr val="accent2"/>
            </a:solidFill>
            <a:prstDash val="solid"/>
            <a:headEnd type="none" w="med" len="med"/>
            <a:tailEnd type="triangle" w="med" len="med"/>
          </a:ln>
        </p:spPr>
      </p:sp>
      <p:sp>
        <p:nvSpPr>
          <p:cNvPr id="46111" name="Line 1107"/>
          <p:cNvSpPr/>
          <p:nvPr/>
        </p:nvSpPr>
        <p:spPr>
          <a:xfrm flipV="1">
            <a:off x="4953000" y="3581400"/>
            <a:ext cx="1295400" cy="533400"/>
          </a:xfrm>
          <a:prstGeom prst="line">
            <a:avLst/>
          </a:prstGeom>
          <a:ln w="28575" cap="flat" cmpd="sng">
            <a:solidFill>
              <a:schemeClr val="accent2"/>
            </a:solidFill>
            <a:prstDash val="solid"/>
            <a:headEnd type="none" w="med" len="med"/>
            <a:tailEnd type="triangle" w="med" len="med"/>
          </a:ln>
        </p:spPr>
      </p:sp>
      <p:sp>
        <p:nvSpPr>
          <p:cNvPr id="46112" name="Line 1108"/>
          <p:cNvSpPr/>
          <p:nvPr/>
        </p:nvSpPr>
        <p:spPr>
          <a:xfrm>
            <a:off x="6781800" y="2362200"/>
            <a:ext cx="1066800" cy="533400"/>
          </a:xfrm>
          <a:prstGeom prst="line">
            <a:avLst/>
          </a:prstGeom>
          <a:ln w="28575" cap="flat" cmpd="sng">
            <a:solidFill>
              <a:schemeClr val="accent2"/>
            </a:solidFill>
            <a:prstDash val="solid"/>
            <a:headEnd type="none" w="med" len="med"/>
            <a:tailEnd type="triangle" w="med" len="med"/>
          </a:ln>
        </p:spPr>
      </p:sp>
      <p:sp>
        <p:nvSpPr>
          <p:cNvPr id="46113" name="Line 1109"/>
          <p:cNvSpPr/>
          <p:nvPr/>
        </p:nvSpPr>
        <p:spPr>
          <a:xfrm flipV="1">
            <a:off x="6781800" y="3124200"/>
            <a:ext cx="990600" cy="457200"/>
          </a:xfrm>
          <a:prstGeom prst="line">
            <a:avLst/>
          </a:prstGeom>
          <a:ln w="28575" cap="flat" cmpd="sng">
            <a:solidFill>
              <a:schemeClr val="accent2"/>
            </a:solidFill>
            <a:prstDash val="solid"/>
            <a:headEnd type="none" w="med" len="med"/>
            <a:tailEnd type="triangle" w="med" len="med"/>
          </a:ln>
        </p:spPr>
      </p:sp>
      <p:sp>
        <p:nvSpPr>
          <p:cNvPr id="46114" name="Oval 1110"/>
          <p:cNvSpPr/>
          <p:nvPr/>
        </p:nvSpPr>
        <p:spPr>
          <a:xfrm>
            <a:off x="4419600" y="2667000"/>
            <a:ext cx="533400" cy="533400"/>
          </a:xfrm>
          <a:prstGeom prst="ellipse">
            <a:avLst/>
          </a:prstGeom>
          <a:solidFill>
            <a:schemeClr val="accent1"/>
          </a:solidFill>
          <a:ln w="9525">
            <a:noFill/>
          </a:ln>
        </p:spPr>
        <p:txBody>
          <a:bodyPr wrap="none" anchor="ctr" anchorCtr="0"/>
          <a:p>
            <a:pPr algn="ctr"/>
            <a:r>
              <a:rPr lang="en-US" altLang="zh-CN" dirty="0">
                <a:solidFill>
                  <a:schemeClr val="tx2"/>
                </a:solidFill>
                <a:latin typeface="Times New Roman" panose="02020603050405020304" pitchFamily="18" charset="0"/>
              </a:rPr>
              <a:t>C</a:t>
            </a:r>
            <a:r>
              <a:rPr lang="en-US" altLang="zh-CN" baseline="-25000" dirty="0">
                <a:solidFill>
                  <a:schemeClr val="tx2"/>
                </a:solidFill>
                <a:latin typeface="Times New Roman" panose="02020603050405020304" pitchFamily="18" charset="0"/>
              </a:rPr>
              <a:t>2</a:t>
            </a:r>
            <a:endParaRPr lang="en-US" altLang="zh-CN" baseline="-25000" dirty="0">
              <a:solidFill>
                <a:schemeClr val="tx2"/>
              </a:solidFill>
              <a:latin typeface="Times New Roman" panose="02020603050405020304" pitchFamily="18" charset="0"/>
            </a:endParaRPr>
          </a:p>
        </p:txBody>
      </p:sp>
      <p:sp>
        <p:nvSpPr>
          <p:cNvPr id="44119" name="Line 1111"/>
          <p:cNvSpPr/>
          <p:nvPr/>
        </p:nvSpPr>
        <p:spPr>
          <a:xfrm>
            <a:off x="1371600" y="2971800"/>
            <a:ext cx="1143000" cy="0"/>
          </a:xfrm>
          <a:prstGeom prst="line">
            <a:avLst/>
          </a:prstGeom>
          <a:ln w="38100" cap="flat" cmpd="sng">
            <a:solidFill>
              <a:srgbClr val="FF0000"/>
            </a:solidFill>
            <a:prstDash val="solid"/>
            <a:headEnd type="none" w="med" len="med"/>
            <a:tailEnd type="triangle" w="med" len="med"/>
          </a:ln>
        </p:spPr>
      </p:sp>
      <p:sp>
        <p:nvSpPr>
          <p:cNvPr id="44120" name="Line 1112"/>
          <p:cNvSpPr/>
          <p:nvPr/>
        </p:nvSpPr>
        <p:spPr>
          <a:xfrm flipV="1">
            <a:off x="3048000" y="1905000"/>
            <a:ext cx="1371600" cy="1066800"/>
          </a:xfrm>
          <a:prstGeom prst="line">
            <a:avLst/>
          </a:prstGeom>
          <a:ln w="38100" cap="flat" cmpd="sng">
            <a:solidFill>
              <a:srgbClr val="FF0000"/>
            </a:solidFill>
            <a:prstDash val="solid"/>
            <a:headEnd type="none" w="med" len="med"/>
            <a:tailEnd type="triangle" w="med" len="med"/>
          </a:ln>
        </p:spPr>
      </p:sp>
      <p:sp>
        <p:nvSpPr>
          <p:cNvPr id="44121" name="Line 1113"/>
          <p:cNvSpPr/>
          <p:nvPr/>
        </p:nvSpPr>
        <p:spPr>
          <a:xfrm>
            <a:off x="4953000" y="1752600"/>
            <a:ext cx="1295400" cy="381000"/>
          </a:xfrm>
          <a:prstGeom prst="line">
            <a:avLst/>
          </a:prstGeom>
          <a:ln w="38100" cap="flat" cmpd="sng">
            <a:solidFill>
              <a:srgbClr val="FF0000"/>
            </a:solidFill>
            <a:prstDash val="solid"/>
            <a:headEnd type="none" w="med" len="med"/>
            <a:tailEnd type="triangle" w="med" len="med"/>
          </a:ln>
        </p:spPr>
      </p:sp>
      <p:sp>
        <p:nvSpPr>
          <p:cNvPr id="44122" name="Line 1114"/>
          <p:cNvSpPr/>
          <p:nvPr/>
        </p:nvSpPr>
        <p:spPr>
          <a:xfrm>
            <a:off x="6781800" y="2362200"/>
            <a:ext cx="1066800" cy="533400"/>
          </a:xfrm>
          <a:prstGeom prst="line">
            <a:avLst/>
          </a:prstGeom>
          <a:ln w="38100" cap="flat" cmpd="sng">
            <a:solidFill>
              <a:srgbClr val="FF0000"/>
            </a:solidFill>
            <a:prstDash val="solid"/>
            <a:headEnd type="none" w="med" len="med"/>
            <a:tailEnd type="triangle" w="med" len="med"/>
          </a:ln>
        </p:spPr>
      </p:sp>
      <p:sp>
        <p:nvSpPr>
          <p:cNvPr id="46119" name="Text Box 1115"/>
          <p:cNvSpPr txBox="1"/>
          <p:nvPr/>
        </p:nvSpPr>
        <p:spPr>
          <a:xfrm>
            <a:off x="1828800" y="26400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5</a:t>
            </a:r>
            <a:endParaRPr lang="en-US" altLang="zh-CN" sz="2000" b="0" dirty="0">
              <a:latin typeface="Times New Roman" panose="02020603050405020304" pitchFamily="18" charset="0"/>
              <a:ea typeface="宋体" panose="02010600030101010101" pitchFamily="2" charset="-122"/>
            </a:endParaRPr>
          </a:p>
        </p:txBody>
      </p:sp>
      <p:sp>
        <p:nvSpPr>
          <p:cNvPr id="46120" name="Text Box 1116"/>
          <p:cNvSpPr txBox="1"/>
          <p:nvPr/>
        </p:nvSpPr>
        <p:spPr>
          <a:xfrm>
            <a:off x="1676400" y="21066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2</a:t>
            </a:r>
            <a:endParaRPr lang="en-US" altLang="zh-CN" sz="2000" b="0" dirty="0">
              <a:latin typeface="Times New Roman" panose="02020603050405020304" pitchFamily="18" charset="0"/>
              <a:ea typeface="宋体" panose="02010600030101010101" pitchFamily="2" charset="-122"/>
            </a:endParaRPr>
          </a:p>
        </p:txBody>
      </p:sp>
      <p:sp>
        <p:nvSpPr>
          <p:cNvPr id="46121" name="Text Box 1117"/>
          <p:cNvSpPr txBox="1"/>
          <p:nvPr/>
        </p:nvSpPr>
        <p:spPr>
          <a:xfrm>
            <a:off x="3505200" y="1828800"/>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14</a:t>
            </a:r>
            <a:endParaRPr lang="en-US" altLang="zh-CN" sz="2000" b="0" dirty="0">
              <a:latin typeface="Times New Roman" panose="02020603050405020304" pitchFamily="18" charset="0"/>
              <a:ea typeface="宋体" panose="02010600030101010101" pitchFamily="2" charset="-122"/>
            </a:endParaRPr>
          </a:p>
        </p:txBody>
      </p:sp>
      <p:sp>
        <p:nvSpPr>
          <p:cNvPr id="46122" name="Text Box 1118"/>
          <p:cNvSpPr txBox="1"/>
          <p:nvPr/>
        </p:nvSpPr>
        <p:spPr>
          <a:xfrm>
            <a:off x="3200400" y="1295400"/>
            <a:ext cx="336550" cy="457200"/>
          </a:xfrm>
          <a:prstGeom prst="rect">
            <a:avLst/>
          </a:prstGeom>
          <a:noFill/>
          <a:ln w="9525">
            <a:noFill/>
          </a:ln>
        </p:spPr>
        <p:txBody>
          <a:bodyPr wrap="none">
            <a:spAutoFit/>
          </a:bodyPr>
          <a:p>
            <a:r>
              <a:rPr lang="en-US" altLang="zh-CN" sz="2400" b="0" dirty="0">
                <a:latin typeface="Times New Roman" panose="02020603050405020304" pitchFamily="18" charset="0"/>
                <a:ea typeface="宋体" panose="02010600030101010101" pitchFamily="2" charset="-122"/>
              </a:rPr>
              <a:t>1</a:t>
            </a:r>
            <a:endParaRPr lang="en-US" altLang="zh-CN" sz="2400" b="0" dirty="0">
              <a:latin typeface="Times New Roman" panose="02020603050405020304" pitchFamily="18" charset="0"/>
              <a:ea typeface="宋体" panose="02010600030101010101" pitchFamily="2" charset="-122"/>
            </a:endParaRPr>
          </a:p>
        </p:txBody>
      </p:sp>
      <p:sp>
        <p:nvSpPr>
          <p:cNvPr id="46123" name="Text Box 1119"/>
          <p:cNvSpPr txBox="1"/>
          <p:nvPr/>
        </p:nvSpPr>
        <p:spPr>
          <a:xfrm>
            <a:off x="3200400" y="1344613"/>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12</a:t>
            </a:r>
            <a:endParaRPr lang="en-US" altLang="zh-CN" sz="2000" b="0" dirty="0">
              <a:latin typeface="Times New Roman" panose="02020603050405020304" pitchFamily="18" charset="0"/>
              <a:ea typeface="宋体" panose="02010600030101010101" pitchFamily="2" charset="-122"/>
            </a:endParaRPr>
          </a:p>
        </p:txBody>
      </p:sp>
      <p:sp>
        <p:nvSpPr>
          <p:cNvPr id="46124" name="Text Box 1120"/>
          <p:cNvSpPr txBox="1"/>
          <p:nvPr/>
        </p:nvSpPr>
        <p:spPr>
          <a:xfrm>
            <a:off x="3124200" y="24876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6</a:t>
            </a:r>
            <a:endParaRPr lang="en-US" altLang="zh-CN" sz="2000" b="0" dirty="0">
              <a:latin typeface="Times New Roman" panose="02020603050405020304" pitchFamily="18" charset="0"/>
              <a:ea typeface="宋体" panose="02010600030101010101" pitchFamily="2" charset="-122"/>
            </a:endParaRPr>
          </a:p>
        </p:txBody>
      </p:sp>
      <p:sp>
        <p:nvSpPr>
          <p:cNvPr id="46125" name="Text Box 1121"/>
          <p:cNvSpPr txBox="1"/>
          <p:nvPr/>
        </p:nvSpPr>
        <p:spPr>
          <a:xfrm>
            <a:off x="2895600" y="1954213"/>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10</a:t>
            </a:r>
            <a:endParaRPr lang="en-US" altLang="zh-CN" sz="2000" b="0" dirty="0">
              <a:latin typeface="Times New Roman" panose="02020603050405020304" pitchFamily="18" charset="0"/>
              <a:ea typeface="宋体" panose="02010600030101010101" pitchFamily="2" charset="-122"/>
            </a:endParaRPr>
          </a:p>
        </p:txBody>
      </p:sp>
      <p:sp>
        <p:nvSpPr>
          <p:cNvPr id="46126" name="Text Box 1122"/>
          <p:cNvSpPr txBox="1"/>
          <p:nvPr/>
        </p:nvSpPr>
        <p:spPr>
          <a:xfrm>
            <a:off x="3276600" y="2640013"/>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10</a:t>
            </a:r>
            <a:endParaRPr lang="en-US" altLang="zh-CN" sz="2000" b="0" dirty="0">
              <a:latin typeface="Times New Roman" panose="02020603050405020304" pitchFamily="18" charset="0"/>
              <a:ea typeface="宋体" panose="02010600030101010101" pitchFamily="2" charset="-122"/>
            </a:endParaRPr>
          </a:p>
        </p:txBody>
      </p:sp>
      <p:sp>
        <p:nvSpPr>
          <p:cNvPr id="46127" name="Text Box 1123"/>
          <p:cNvSpPr txBox="1"/>
          <p:nvPr/>
        </p:nvSpPr>
        <p:spPr>
          <a:xfrm>
            <a:off x="3048000" y="3124200"/>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4</a:t>
            </a:r>
            <a:endParaRPr lang="en-US" altLang="zh-CN" sz="2000" b="0" dirty="0">
              <a:latin typeface="Times New Roman" panose="02020603050405020304" pitchFamily="18" charset="0"/>
              <a:ea typeface="宋体" panose="02010600030101010101" pitchFamily="2" charset="-122"/>
            </a:endParaRPr>
          </a:p>
        </p:txBody>
      </p:sp>
      <p:sp>
        <p:nvSpPr>
          <p:cNvPr id="46128" name="Text Box 1124"/>
          <p:cNvSpPr txBox="1"/>
          <p:nvPr/>
        </p:nvSpPr>
        <p:spPr>
          <a:xfrm>
            <a:off x="5257800" y="14970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3</a:t>
            </a:r>
            <a:endParaRPr lang="en-US" altLang="zh-CN" sz="2000" b="0" dirty="0">
              <a:latin typeface="Times New Roman" panose="02020603050405020304" pitchFamily="18" charset="0"/>
              <a:ea typeface="宋体" panose="02010600030101010101" pitchFamily="2" charset="-122"/>
            </a:endParaRPr>
          </a:p>
        </p:txBody>
      </p:sp>
      <p:sp>
        <p:nvSpPr>
          <p:cNvPr id="46129" name="Text Box 1125"/>
          <p:cNvSpPr txBox="1"/>
          <p:nvPr/>
        </p:nvSpPr>
        <p:spPr>
          <a:xfrm>
            <a:off x="3429000" y="3706813"/>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12</a:t>
            </a:r>
            <a:endParaRPr lang="en-US" altLang="zh-CN" sz="2000" b="0" dirty="0">
              <a:latin typeface="Times New Roman" panose="02020603050405020304" pitchFamily="18" charset="0"/>
              <a:ea typeface="宋体" panose="02010600030101010101" pitchFamily="2" charset="-122"/>
            </a:endParaRPr>
          </a:p>
        </p:txBody>
      </p:sp>
      <p:sp>
        <p:nvSpPr>
          <p:cNvPr id="46130" name="Text Box 1126"/>
          <p:cNvSpPr txBox="1"/>
          <p:nvPr/>
        </p:nvSpPr>
        <p:spPr>
          <a:xfrm>
            <a:off x="3200400" y="4038600"/>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11</a:t>
            </a:r>
            <a:endParaRPr lang="en-US" altLang="zh-CN" sz="2000" b="0" dirty="0">
              <a:latin typeface="Times New Roman" panose="02020603050405020304" pitchFamily="18" charset="0"/>
              <a:ea typeface="宋体" panose="02010600030101010101" pitchFamily="2" charset="-122"/>
            </a:endParaRPr>
          </a:p>
        </p:txBody>
      </p:sp>
      <p:sp>
        <p:nvSpPr>
          <p:cNvPr id="46131" name="Text Box 1127"/>
          <p:cNvSpPr txBox="1"/>
          <p:nvPr/>
        </p:nvSpPr>
        <p:spPr>
          <a:xfrm>
            <a:off x="2819400" y="3505200"/>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13</a:t>
            </a:r>
            <a:endParaRPr lang="en-US" altLang="zh-CN" sz="2000" b="0" dirty="0">
              <a:latin typeface="Times New Roman" panose="02020603050405020304" pitchFamily="18" charset="0"/>
              <a:ea typeface="宋体" panose="02010600030101010101" pitchFamily="2" charset="-122"/>
            </a:endParaRPr>
          </a:p>
        </p:txBody>
      </p:sp>
      <p:sp>
        <p:nvSpPr>
          <p:cNvPr id="46132" name="Text Box 1128"/>
          <p:cNvSpPr txBox="1"/>
          <p:nvPr/>
        </p:nvSpPr>
        <p:spPr>
          <a:xfrm>
            <a:off x="4953000" y="21066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9</a:t>
            </a:r>
            <a:endParaRPr lang="en-US" altLang="zh-CN" sz="2000" b="0" dirty="0">
              <a:latin typeface="Times New Roman" panose="02020603050405020304" pitchFamily="18" charset="0"/>
              <a:ea typeface="宋体" panose="02010600030101010101" pitchFamily="2" charset="-122"/>
            </a:endParaRPr>
          </a:p>
        </p:txBody>
      </p:sp>
      <p:sp>
        <p:nvSpPr>
          <p:cNvPr id="46133" name="Text Box 1129"/>
          <p:cNvSpPr txBox="1"/>
          <p:nvPr/>
        </p:nvSpPr>
        <p:spPr>
          <a:xfrm>
            <a:off x="5105400" y="24876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6</a:t>
            </a:r>
            <a:endParaRPr lang="en-US" altLang="zh-CN" sz="2000" b="0" dirty="0">
              <a:latin typeface="Times New Roman" panose="02020603050405020304" pitchFamily="18" charset="0"/>
              <a:ea typeface="宋体" panose="02010600030101010101" pitchFamily="2" charset="-122"/>
            </a:endParaRPr>
          </a:p>
        </p:txBody>
      </p:sp>
      <p:sp>
        <p:nvSpPr>
          <p:cNvPr id="46134" name="Text Box 1130"/>
          <p:cNvSpPr txBox="1"/>
          <p:nvPr/>
        </p:nvSpPr>
        <p:spPr>
          <a:xfrm>
            <a:off x="5029200" y="30972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5</a:t>
            </a:r>
            <a:endParaRPr lang="en-US" altLang="zh-CN" sz="2000" b="0" dirty="0">
              <a:latin typeface="Times New Roman" panose="02020603050405020304" pitchFamily="18" charset="0"/>
              <a:ea typeface="宋体" panose="02010600030101010101" pitchFamily="2" charset="-122"/>
            </a:endParaRPr>
          </a:p>
        </p:txBody>
      </p:sp>
      <p:sp>
        <p:nvSpPr>
          <p:cNvPr id="46135" name="Text Box 1131"/>
          <p:cNvSpPr txBox="1"/>
          <p:nvPr/>
        </p:nvSpPr>
        <p:spPr>
          <a:xfrm>
            <a:off x="4876800" y="34782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8</a:t>
            </a:r>
            <a:endParaRPr lang="en-US" altLang="zh-CN" sz="2000" b="0" dirty="0">
              <a:latin typeface="Times New Roman" panose="02020603050405020304" pitchFamily="18" charset="0"/>
              <a:ea typeface="宋体" panose="02010600030101010101" pitchFamily="2" charset="-122"/>
            </a:endParaRPr>
          </a:p>
        </p:txBody>
      </p:sp>
      <p:sp>
        <p:nvSpPr>
          <p:cNvPr id="46136" name="Text Box 1132"/>
          <p:cNvSpPr txBox="1"/>
          <p:nvPr/>
        </p:nvSpPr>
        <p:spPr>
          <a:xfrm>
            <a:off x="5257800" y="3935413"/>
            <a:ext cx="438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10</a:t>
            </a:r>
            <a:endParaRPr lang="en-US" altLang="zh-CN" sz="2000" b="0" dirty="0">
              <a:latin typeface="Times New Roman" panose="02020603050405020304" pitchFamily="18" charset="0"/>
              <a:ea typeface="宋体" panose="02010600030101010101" pitchFamily="2" charset="-122"/>
            </a:endParaRPr>
          </a:p>
        </p:txBody>
      </p:sp>
      <p:sp>
        <p:nvSpPr>
          <p:cNvPr id="46137" name="Text Box 1133"/>
          <p:cNvSpPr txBox="1"/>
          <p:nvPr/>
        </p:nvSpPr>
        <p:spPr>
          <a:xfrm>
            <a:off x="7010400" y="21828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5</a:t>
            </a:r>
            <a:endParaRPr lang="en-US" altLang="zh-CN" sz="2000" b="0" dirty="0">
              <a:latin typeface="Times New Roman" panose="02020603050405020304" pitchFamily="18" charset="0"/>
              <a:ea typeface="宋体" panose="02010600030101010101" pitchFamily="2" charset="-122"/>
            </a:endParaRPr>
          </a:p>
        </p:txBody>
      </p:sp>
      <p:sp>
        <p:nvSpPr>
          <p:cNvPr id="46138" name="Text Box 1134"/>
          <p:cNvSpPr txBox="1"/>
          <p:nvPr/>
        </p:nvSpPr>
        <p:spPr>
          <a:xfrm>
            <a:off x="6934200" y="30210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2</a:t>
            </a:r>
            <a:endParaRPr lang="en-US" altLang="zh-CN" sz="2000" b="0" dirty="0">
              <a:latin typeface="Times New Roman" panose="02020603050405020304" pitchFamily="18" charset="0"/>
              <a:ea typeface="宋体" panose="02010600030101010101" pitchFamily="2" charset="-122"/>
            </a:endParaRPr>
          </a:p>
        </p:txBody>
      </p:sp>
      <p:sp>
        <p:nvSpPr>
          <p:cNvPr id="46139" name="Text Box 1135"/>
          <p:cNvSpPr txBox="1"/>
          <p:nvPr/>
        </p:nvSpPr>
        <p:spPr>
          <a:xfrm>
            <a:off x="457200" y="457200"/>
            <a:ext cx="1349375" cy="519113"/>
          </a:xfrm>
          <a:prstGeom prst="rect">
            <a:avLst/>
          </a:prstGeom>
          <a:noFill/>
          <a:ln w="9525">
            <a:noFill/>
          </a:ln>
        </p:spPr>
        <p:txBody>
          <a:bodyPr>
            <a:spAutoFit/>
          </a:bodyPr>
          <a:p>
            <a:pPr>
              <a:spcBef>
                <a:spcPct val="50000"/>
              </a:spcBef>
            </a:pPr>
            <a:r>
              <a:rPr lang="zh-CN" altLang="en-US" dirty="0">
                <a:solidFill>
                  <a:srgbClr val="000066"/>
                </a:solidFill>
                <a:latin typeface="Times New Roman" panose="02020603050405020304" pitchFamily="18" charset="0"/>
              </a:rPr>
              <a:t>练习</a:t>
            </a:r>
            <a:r>
              <a:rPr lang="en-US" altLang="zh-CN" dirty="0">
                <a:solidFill>
                  <a:srgbClr val="000066"/>
                </a:solidFill>
                <a:latin typeface="Times New Roman" panose="02020603050405020304" pitchFamily="18" charset="0"/>
              </a:rPr>
              <a:t>2</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
        <p:nvSpPr>
          <p:cNvPr id="46140" name="Text Box 1136"/>
          <p:cNvSpPr txBox="1"/>
          <p:nvPr/>
        </p:nvSpPr>
        <p:spPr>
          <a:xfrm>
            <a:off x="1981200" y="3173413"/>
            <a:ext cx="311150" cy="396875"/>
          </a:xfrm>
          <a:prstGeom prst="rect">
            <a:avLst/>
          </a:prstGeom>
          <a:noFill/>
          <a:ln w="9525">
            <a:noFill/>
          </a:ln>
        </p:spPr>
        <p:txBody>
          <a:bodyPr wrap="none">
            <a:spAutoFit/>
          </a:bodyPr>
          <a:p>
            <a:r>
              <a:rPr lang="en-US" altLang="zh-CN" sz="2000" b="0" dirty="0">
                <a:latin typeface="Times New Roman" panose="02020603050405020304" pitchFamily="18" charset="0"/>
                <a:ea typeface="宋体" panose="02010600030101010101" pitchFamily="2" charset="-122"/>
              </a:rPr>
              <a:t>1</a:t>
            </a:r>
            <a:endParaRPr lang="en-US" altLang="zh-CN" sz="2000" b="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4119"/>
                                        </p:tgtEl>
                                        <p:attrNameLst>
                                          <p:attrName>style.visibility</p:attrName>
                                        </p:attrNameLst>
                                      </p:cBhvr>
                                      <p:to>
                                        <p:strVal val="visible"/>
                                      </p:to>
                                    </p:set>
                                    <p:animEffect transition="in" filter="dissolve">
                                      <p:cBhvr>
                                        <p:cTn id="7" dur="500"/>
                                        <p:tgtEl>
                                          <p:spTgt spid="441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4120"/>
                                        </p:tgtEl>
                                        <p:attrNameLst>
                                          <p:attrName>style.visibility</p:attrName>
                                        </p:attrNameLst>
                                      </p:cBhvr>
                                      <p:to>
                                        <p:strVal val="visible"/>
                                      </p:to>
                                    </p:set>
                                    <p:animEffect transition="in" filter="dissolve">
                                      <p:cBhvr>
                                        <p:cTn id="12" dur="500"/>
                                        <p:tgtEl>
                                          <p:spTgt spid="441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4121"/>
                                        </p:tgtEl>
                                        <p:attrNameLst>
                                          <p:attrName>style.visibility</p:attrName>
                                        </p:attrNameLst>
                                      </p:cBhvr>
                                      <p:to>
                                        <p:strVal val="visible"/>
                                      </p:to>
                                    </p:set>
                                    <p:animEffect transition="in" filter="dissolve">
                                      <p:cBhvr>
                                        <p:cTn id="17" dur="500"/>
                                        <p:tgtEl>
                                          <p:spTgt spid="4412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4122"/>
                                        </p:tgtEl>
                                        <p:attrNameLst>
                                          <p:attrName>style.visibility</p:attrName>
                                        </p:attrNameLst>
                                      </p:cBhvr>
                                      <p:to>
                                        <p:strVal val="visible"/>
                                      </p:to>
                                    </p:set>
                                    <p:animEffect transition="in" filter="dissolve">
                                      <p:cBhvr>
                                        <p:cTn id="22" dur="500"/>
                                        <p:tgtEl>
                                          <p:spTgt spid="441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087"/>
                                        </p:tgtEl>
                                        <p:attrNameLst>
                                          <p:attrName>style.visibility</p:attrName>
                                        </p:attrNameLst>
                                      </p:cBhvr>
                                      <p:to>
                                        <p:strVal val="visible"/>
                                      </p:to>
                                    </p:set>
                                    <p:animEffect transition="in" filter="blinds(horizontal)">
                                      <p:cBhvr>
                                        <p:cTn id="27" dur="500"/>
                                        <p:tgtEl>
                                          <p:spTgt spid="44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87"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4339" name="Text Box 3"/>
          <p:cNvSpPr txBox="1"/>
          <p:nvPr/>
        </p:nvSpPr>
        <p:spPr>
          <a:xfrm>
            <a:off x="228600" y="1219200"/>
            <a:ext cx="8626475" cy="2654300"/>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现有数量为</a:t>
            </a:r>
            <a:r>
              <a:rPr lang="en-US" altLang="zh-CN" i="1" dirty="0">
                <a:solidFill>
                  <a:srgbClr val="000066"/>
                </a:solidFill>
                <a:latin typeface="Times New Roman" panose="02020603050405020304" pitchFamily="18" charset="0"/>
              </a:rPr>
              <a:t>a</a:t>
            </a:r>
            <a:r>
              <a:rPr lang="zh-CN" altLang="en-US" dirty="0">
                <a:solidFill>
                  <a:srgbClr val="000066"/>
                </a:solidFill>
                <a:latin typeface="Times New Roman" panose="02020603050405020304" pitchFamily="18" charset="0"/>
              </a:rPr>
              <a:t>（万元）的资金，计划分配给</a:t>
            </a:r>
            <a:r>
              <a:rPr lang="en-US" altLang="zh-CN" b="0" i="1" dirty="0">
                <a:solidFill>
                  <a:srgbClr val="000066"/>
                </a:solidFill>
                <a:latin typeface="Times New Roman" panose="02020603050405020304" pitchFamily="18" charset="0"/>
              </a:rPr>
              <a:t>n </a:t>
            </a:r>
            <a:r>
              <a:rPr lang="zh-CN" altLang="en-US" dirty="0">
                <a:solidFill>
                  <a:srgbClr val="000066"/>
                </a:solidFill>
                <a:latin typeface="Times New Roman" panose="02020603050405020304" pitchFamily="18" charset="0"/>
              </a:rPr>
              <a:t>个工厂</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用于扩大再生产。</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假设：</a:t>
            </a:r>
            <a:r>
              <a:rPr lang="en-US" altLang="zh-CN" b="0" i="1" dirty="0">
                <a:solidFill>
                  <a:srgbClr val="000066"/>
                </a:solidFill>
                <a:latin typeface="Times New Roman" panose="02020603050405020304" pitchFamily="18" charset="0"/>
              </a:rPr>
              <a:t>x</a:t>
            </a:r>
            <a:r>
              <a:rPr lang="en-US" altLang="zh-CN" b="0" i="1" baseline="-25000" dirty="0">
                <a:solidFill>
                  <a:srgbClr val="000066"/>
                </a:solidFill>
                <a:latin typeface="Times New Roman" panose="02020603050405020304" pitchFamily="18" charset="0"/>
              </a:rPr>
              <a:t>i </a:t>
            </a:r>
            <a:r>
              <a:rPr lang="zh-CN" altLang="en-US" dirty="0">
                <a:solidFill>
                  <a:srgbClr val="000066"/>
                </a:solidFill>
                <a:latin typeface="Times New Roman" panose="02020603050405020304" pitchFamily="18" charset="0"/>
              </a:rPr>
              <a:t>为分配给第</a:t>
            </a:r>
            <a:r>
              <a:rPr lang="en-US" altLang="zh-CN" b="0" i="1" dirty="0">
                <a:solidFill>
                  <a:srgbClr val="000066"/>
                </a:solidFill>
                <a:latin typeface="Times New Roman" panose="02020603050405020304" pitchFamily="18" charset="0"/>
              </a:rPr>
              <a:t>i </a:t>
            </a:r>
            <a:r>
              <a:rPr lang="zh-CN" altLang="en-US" dirty="0">
                <a:solidFill>
                  <a:srgbClr val="000066"/>
                </a:solidFill>
                <a:latin typeface="Times New Roman" panose="02020603050405020304" pitchFamily="18" charset="0"/>
              </a:rPr>
              <a:t>个工厂的资金数量（万元） ；</a:t>
            </a:r>
            <a:r>
              <a:rPr lang="en-US" altLang="zh-CN" b="0" i="1" dirty="0">
                <a:solidFill>
                  <a:srgbClr val="000066"/>
                </a:solidFill>
                <a:latin typeface="Times New Roman" panose="02020603050405020304" pitchFamily="18" charset="0"/>
              </a:rPr>
              <a:t>g</a:t>
            </a:r>
            <a:r>
              <a:rPr lang="en-US" altLang="zh-CN" b="0" i="1" baseline="-25000" dirty="0">
                <a:solidFill>
                  <a:srgbClr val="000066"/>
                </a:solidFill>
                <a:latin typeface="Times New Roman" panose="02020603050405020304" pitchFamily="18" charset="0"/>
              </a:rPr>
              <a:t>i</a:t>
            </a:r>
            <a:r>
              <a:rPr lang="en-US" altLang="zh-CN"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i="1" baseline="-25000" dirty="0">
                <a:solidFill>
                  <a:srgbClr val="000066"/>
                </a:solidFill>
                <a:latin typeface="Times New Roman" panose="02020603050405020304" pitchFamily="18" charset="0"/>
              </a:rPr>
              <a:t>i</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为第</a:t>
            </a:r>
            <a:r>
              <a:rPr lang="en-US" altLang="zh-CN" b="0" i="1" dirty="0">
                <a:solidFill>
                  <a:srgbClr val="000066"/>
                </a:solidFill>
                <a:latin typeface="Times New Roman" panose="02020603050405020304" pitchFamily="18" charset="0"/>
              </a:rPr>
              <a:t>i </a:t>
            </a:r>
            <a:r>
              <a:rPr lang="zh-CN" altLang="en-US" dirty="0">
                <a:solidFill>
                  <a:srgbClr val="000066"/>
                </a:solidFill>
                <a:latin typeface="Times New Roman" panose="02020603050405020304" pitchFamily="18" charset="0"/>
              </a:rPr>
              <a:t>个工厂得到资金后提供的利润值（万元）。</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问题是如何确定各工厂的资金数，使得总的利润为最大。      </a:t>
            </a:r>
            <a:endParaRPr lang="zh-CN" altLang="en-US" dirty="0">
              <a:solidFill>
                <a:srgbClr val="000066"/>
              </a:solidFill>
              <a:latin typeface="Times New Roman" panose="02020603050405020304" pitchFamily="18" charset="0"/>
            </a:endParaRPr>
          </a:p>
        </p:txBody>
      </p:sp>
      <p:graphicFrame>
        <p:nvGraphicFramePr>
          <p:cNvPr id="78848" name="Object 0"/>
          <p:cNvGraphicFramePr/>
          <p:nvPr/>
        </p:nvGraphicFramePr>
        <p:xfrm>
          <a:off x="3678238" y="3733800"/>
          <a:ext cx="3881437" cy="2613025"/>
        </p:xfrm>
        <a:graphic>
          <a:graphicData uri="http://schemas.openxmlformats.org/presentationml/2006/ole">
            <mc:AlternateContent xmlns:mc="http://schemas.openxmlformats.org/markup-compatibility/2006">
              <mc:Choice xmlns:v="urn:schemas-microsoft-com:vml" Requires="v">
                <p:oleObj spid="_x0000_s3093" name="" r:id="rId1" imgW="1320165" imgH="1142365" progId="Equation.3">
                  <p:embed/>
                </p:oleObj>
              </mc:Choice>
              <mc:Fallback>
                <p:oleObj name="" r:id="rId1" imgW="1320165" imgH="1142365" progId="Equation.3">
                  <p:embed/>
                  <p:pic>
                    <p:nvPicPr>
                      <p:cNvPr id="0" name="图片 3092"/>
                      <p:cNvPicPr/>
                      <p:nvPr/>
                    </p:nvPicPr>
                    <p:blipFill>
                      <a:blip r:embed="rId2"/>
                      <a:stretch>
                        <a:fillRect/>
                      </a:stretch>
                    </p:blipFill>
                    <p:spPr>
                      <a:xfrm>
                        <a:off x="3678238" y="3733800"/>
                        <a:ext cx="3881437" cy="2613025"/>
                      </a:xfrm>
                      <a:prstGeom prst="rect">
                        <a:avLst/>
                      </a:prstGeom>
                      <a:noFill/>
                      <a:ln w="38100">
                        <a:noFill/>
                        <a:miter/>
                      </a:ln>
                    </p:spPr>
                  </p:pic>
                </p:oleObj>
              </mc:Fallback>
            </mc:AlternateContent>
          </a:graphicData>
        </a:graphic>
      </p:graphicFrame>
      <p:sp>
        <p:nvSpPr>
          <p:cNvPr id="14341" name="Rectangle 5"/>
          <p:cNvSpPr/>
          <p:nvPr/>
        </p:nvSpPr>
        <p:spPr>
          <a:xfrm>
            <a:off x="762000" y="3810000"/>
            <a:ext cx="26955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据此，有下式：</a:t>
            </a:r>
            <a:endParaRPr lang="zh-CN" altLang="en-US" dirty="0">
              <a:solidFill>
                <a:srgbClr val="000066"/>
              </a:solidFill>
              <a:latin typeface="Times New Roman" panose="02020603050405020304" pitchFamily="18" charset="0"/>
            </a:endParaRPr>
          </a:p>
        </p:txBody>
      </p:sp>
      <p:sp>
        <p:nvSpPr>
          <p:cNvPr id="14344" name="Text Box 8"/>
          <p:cNvSpPr txBox="1">
            <a:spLocks noGrp="1"/>
          </p:cNvSpPr>
          <p:nvPr>
            <p:ph type="ctrTitle"/>
          </p:nvPr>
        </p:nvSpPr>
        <p:spPr>
          <a:xfrm>
            <a:off x="0" y="304800"/>
            <a:ext cx="7772400" cy="762000"/>
          </a:xfrm>
          <a:noFill/>
          <a:ln>
            <a:noFill/>
          </a:ln>
        </p:spPr>
        <p:txBody>
          <a:bodyPr/>
          <a:p>
            <a:pPr algn="l" eaLnBrk="1" hangingPunct="1">
              <a:spcBef>
                <a:spcPct val="50000"/>
              </a:spcBef>
              <a:buClrTx/>
              <a:buSzTx/>
              <a:buFontTx/>
            </a:pPr>
            <a:r>
              <a:rPr lang="zh-CN" altLang="en-US" sz="3600" b="1" dirty="0">
                <a:solidFill>
                  <a:srgbClr val="006666"/>
                </a:solidFill>
                <a:ea typeface="黑体" panose="02010609060101010101" pitchFamily="2" charset="-122"/>
              </a:rPr>
              <a:t>三、投资分配问题</a:t>
            </a:r>
            <a:endParaRPr lang="zh-CN" altLang="en-US" sz="3600" b="1" dirty="0">
              <a:solidFill>
                <a:srgbClr val="006666"/>
              </a:solidFill>
              <a:ea typeface="黑体" panose="0201060906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44"/>
                                        </p:tgtEl>
                                        <p:attrNameLst>
                                          <p:attrName>style.visibility</p:attrName>
                                        </p:attrNameLst>
                                      </p:cBhvr>
                                      <p:to>
                                        <p:strVal val="visible"/>
                                      </p:to>
                                    </p:set>
                                    <p:anim calcmode="lin" valueType="num">
                                      <p:cBhvr additive="base">
                                        <p:cTn id="7" dur="500" fill="hold"/>
                                        <p:tgtEl>
                                          <p:spTgt spid="14344"/>
                                        </p:tgtEl>
                                        <p:attrNameLst>
                                          <p:attrName>ppt_x</p:attrName>
                                        </p:attrNameLst>
                                      </p:cBhvr>
                                      <p:tavLst>
                                        <p:tav tm="0">
                                          <p:val>
                                            <p:strVal val="0-#ppt_w/2"/>
                                          </p:val>
                                        </p:tav>
                                        <p:tav tm="100000">
                                          <p:val>
                                            <p:strVal val="#ppt_x"/>
                                          </p:val>
                                        </p:tav>
                                      </p:tavLst>
                                    </p:anim>
                                    <p:anim calcmode="lin" valueType="num">
                                      <p:cBhvr additive="base">
                                        <p:cTn id="8" dur="500" fill="hold"/>
                                        <p:tgtEl>
                                          <p:spTgt spid="143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5" fill="hold" grpId="0" nodeType="clickEffect">
                                  <p:stCondLst>
                                    <p:cond delay="0"/>
                                  </p:stCondLst>
                                  <p:childTnLst>
                                    <p:set>
                                      <p:cBhvr>
                                        <p:cTn id="12" dur="1" fill="hold">
                                          <p:stCondLst>
                                            <p:cond delay="0"/>
                                          </p:stCondLst>
                                        </p:cTn>
                                        <p:tgtEl>
                                          <p:spTgt spid="14339"/>
                                        </p:tgtEl>
                                        <p:attrNameLst>
                                          <p:attrName>style.visibility</p:attrName>
                                        </p:attrNameLst>
                                      </p:cBhvr>
                                      <p:to>
                                        <p:strVal val="visible"/>
                                      </p:to>
                                    </p:set>
                                    <p:animEffect transition="in" filter="checkerboard(down)">
                                      <p:cBhvr>
                                        <p:cTn id="13" dur="500"/>
                                        <p:tgtEl>
                                          <p:spTgt spid="1433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4341"/>
                                        </p:tgtEl>
                                        <p:attrNameLst>
                                          <p:attrName>style.visibility</p:attrName>
                                        </p:attrNameLst>
                                      </p:cBhvr>
                                      <p:to>
                                        <p:strVal val="visible"/>
                                      </p:to>
                                    </p:set>
                                    <p:animEffect transition="in" filter="dissolve">
                                      <p:cBhvr>
                                        <p:cTn id="18" dur="500"/>
                                        <p:tgtEl>
                                          <p:spTgt spid="14341"/>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4" fill="hold" nodeType="clickEffect">
                                  <p:stCondLst>
                                    <p:cond delay="0"/>
                                  </p:stCondLst>
                                  <p:childTnLst>
                                    <p:set>
                                      <p:cBhvr>
                                        <p:cTn id="22" dur="1" fill="hold">
                                          <p:stCondLst>
                                            <p:cond delay="0"/>
                                          </p:stCondLst>
                                        </p:cTn>
                                        <p:tgtEl>
                                          <p:spTgt spid="78848"/>
                                        </p:tgtEl>
                                        <p:attrNameLst>
                                          <p:attrName>style.visibility</p:attrName>
                                        </p:attrNameLst>
                                      </p:cBhvr>
                                      <p:to>
                                        <p:strVal val="visible"/>
                                      </p:to>
                                    </p:set>
                                    <p:anim calcmode="lin" valueType="num">
                                      <p:cBhvr>
                                        <p:cTn id="23" dur="500" fill="hold"/>
                                        <p:tgtEl>
                                          <p:spTgt spid="78848"/>
                                        </p:tgtEl>
                                        <p:attrNameLst>
                                          <p:attrName>ppt_x</p:attrName>
                                        </p:attrNameLst>
                                      </p:cBhvr>
                                      <p:tavLst>
                                        <p:tav tm="0">
                                          <p:val>
                                            <p:strVal val="#ppt_x"/>
                                          </p:val>
                                        </p:tav>
                                        <p:tav tm="100000">
                                          <p:val>
                                            <p:strVal val="#ppt_x"/>
                                          </p:val>
                                        </p:tav>
                                      </p:tavLst>
                                    </p:anim>
                                    <p:anim calcmode="lin" valueType="num">
                                      <p:cBhvr>
                                        <p:cTn id="24" dur="500" fill="hold"/>
                                        <p:tgtEl>
                                          <p:spTgt spid="78848"/>
                                        </p:tgtEl>
                                        <p:attrNameLst>
                                          <p:attrName>ppt_y</p:attrName>
                                        </p:attrNameLst>
                                      </p:cBhvr>
                                      <p:tavLst>
                                        <p:tav tm="0">
                                          <p:val>
                                            <p:strVal val="#ppt_y+#ppt_h/2"/>
                                          </p:val>
                                        </p:tav>
                                        <p:tav tm="100000">
                                          <p:val>
                                            <p:strVal val="#ppt_y"/>
                                          </p:val>
                                        </p:tav>
                                      </p:tavLst>
                                    </p:anim>
                                    <p:anim calcmode="lin" valueType="num">
                                      <p:cBhvr>
                                        <p:cTn id="25" dur="500" fill="hold"/>
                                        <p:tgtEl>
                                          <p:spTgt spid="78848"/>
                                        </p:tgtEl>
                                        <p:attrNameLst>
                                          <p:attrName>ppt_w</p:attrName>
                                        </p:attrNameLst>
                                      </p:cBhvr>
                                      <p:tavLst>
                                        <p:tav tm="0">
                                          <p:val>
                                            <p:strVal val="#ppt_w"/>
                                          </p:val>
                                        </p:tav>
                                        <p:tav tm="100000">
                                          <p:val>
                                            <p:strVal val="#ppt_w"/>
                                          </p:val>
                                        </p:tav>
                                      </p:tavLst>
                                    </p:anim>
                                    <p:anim calcmode="lin" valueType="num">
                                      <p:cBhvr>
                                        <p:cTn id="26" dur="500" fill="hold"/>
                                        <p:tgtEl>
                                          <p:spTgt spid="7884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14341" grpId="0"/>
      <p:bldP spid="1434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Text Box 2"/>
          <p:cNvSpPr txBox="1"/>
          <p:nvPr/>
        </p:nvSpPr>
        <p:spPr>
          <a:xfrm>
            <a:off x="228600" y="685800"/>
            <a:ext cx="8686800" cy="1587500"/>
          </a:xfrm>
          <a:prstGeom prst="rect">
            <a:avLst/>
          </a:prstGeom>
          <a:noFill/>
          <a:ln w="9525">
            <a:noFill/>
          </a:ln>
        </p:spPr>
        <p:txBody>
          <a:bodyPr>
            <a:spAutoFit/>
          </a:bodyPr>
          <a:p>
            <a:pPr>
              <a:spcBef>
                <a:spcPct val="50000"/>
              </a:spcBef>
            </a:pP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令：</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k</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en-US" altLang="zh-CN" dirty="0">
                <a:solidFill>
                  <a:srgbClr val="000066"/>
                </a:solidFill>
                <a:latin typeface="Times New Roman" panose="02020603050405020304" pitchFamily="18" charset="0"/>
              </a:rPr>
              <a:t>) = </a:t>
            </a:r>
            <a:r>
              <a:rPr lang="zh-CN" altLang="en-US" dirty="0">
                <a:solidFill>
                  <a:srgbClr val="000066"/>
                </a:solidFill>
                <a:latin typeface="Times New Roman" panose="02020603050405020304" pitchFamily="18" charset="0"/>
              </a:rPr>
              <a:t>以数量为</a:t>
            </a:r>
            <a:r>
              <a:rPr lang="en-US" altLang="zh-CN" b="0" i="1" dirty="0">
                <a:solidFill>
                  <a:srgbClr val="000066"/>
                </a:solidFill>
                <a:latin typeface="Times New Roman" panose="02020603050405020304" pitchFamily="18" charset="0"/>
              </a:rPr>
              <a:t>x </a:t>
            </a:r>
            <a:r>
              <a:rPr lang="zh-CN" altLang="en-US" dirty="0">
                <a:solidFill>
                  <a:srgbClr val="000066"/>
                </a:solidFill>
                <a:latin typeface="Times New Roman" panose="02020603050405020304" pitchFamily="18" charset="0"/>
              </a:rPr>
              <a:t>的资金分配给前</a:t>
            </a:r>
            <a:r>
              <a:rPr lang="en-US" altLang="zh-CN" i="1" dirty="0">
                <a:solidFill>
                  <a:srgbClr val="000066"/>
                </a:solidFill>
                <a:latin typeface="Times New Roman" panose="02020603050405020304" pitchFamily="18" charset="0"/>
              </a:rPr>
              <a:t>k</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个工厂，所得到的最大利润值。</a:t>
            </a:r>
            <a:endParaRPr lang="zh-CN" altLang="en-US" dirty="0">
              <a:solidFill>
                <a:srgbClr val="000066"/>
              </a:solidFill>
              <a:latin typeface="Times New Roman" panose="02020603050405020304" pitchFamily="18" charset="0"/>
            </a:endParaRPr>
          </a:p>
          <a:p>
            <a:pPr>
              <a:spcBef>
                <a:spcPct val="50000"/>
              </a:spcBef>
            </a:pPr>
            <a:r>
              <a:rPr lang="zh-CN" altLang="en-US" dirty="0">
                <a:solidFill>
                  <a:srgbClr val="000066"/>
                </a:solidFill>
                <a:latin typeface="Times New Roman" panose="02020603050405020304" pitchFamily="18" charset="0"/>
              </a:rPr>
              <a:t>  用动态规划求解，就是求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n</a:t>
            </a:r>
            <a:r>
              <a:rPr lang="en-US" altLang="zh-CN"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a</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的问题。</a:t>
            </a:r>
            <a:endParaRPr lang="zh-CN" altLang="en-US" dirty="0">
              <a:solidFill>
                <a:srgbClr val="000066"/>
              </a:solidFill>
              <a:latin typeface="Times New Roman" panose="02020603050405020304" pitchFamily="18" charset="0"/>
            </a:endParaRPr>
          </a:p>
        </p:txBody>
      </p:sp>
      <p:sp>
        <p:nvSpPr>
          <p:cNvPr id="15363" name="Text Box 3"/>
          <p:cNvSpPr txBox="1"/>
          <p:nvPr/>
        </p:nvSpPr>
        <p:spPr>
          <a:xfrm>
            <a:off x="228600" y="2514600"/>
            <a:ext cx="8626475" cy="519113"/>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当 </a:t>
            </a:r>
            <a:r>
              <a:rPr lang="en-US" altLang="zh-CN" i="1" dirty="0">
                <a:solidFill>
                  <a:srgbClr val="000066"/>
                </a:solidFill>
                <a:latin typeface="Times New Roman" panose="02020603050405020304" pitchFamily="18" charset="0"/>
              </a:rPr>
              <a:t>k</a:t>
            </a:r>
            <a:r>
              <a:rPr lang="en-US" altLang="zh-CN" dirty="0">
                <a:solidFill>
                  <a:srgbClr val="000066"/>
                </a:solidFill>
                <a:latin typeface="Times New Roman" panose="02020603050405020304" pitchFamily="18" charset="0"/>
              </a:rPr>
              <a:t>=1</a:t>
            </a:r>
            <a:r>
              <a:rPr lang="en-US" altLang="zh-CN" b="0"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时，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en-US" altLang="zh-CN" dirty="0">
                <a:solidFill>
                  <a:srgbClr val="000066"/>
                </a:solidFill>
                <a:latin typeface="Times New Roman" panose="02020603050405020304" pitchFamily="18" charset="0"/>
              </a:rPr>
              <a:t>) = </a:t>
            </a:r>
            <a:r>
              <a:rPr lang="en-US" altLang="zh-CN" i="1" dirty="0">
                <a:solidFill>
                  <a:srgbClr val="000066"/>
                </a:solidFill>
                <a:latin typeface="Times New Roman" panose="02020603050405020304" pitchFamily="18" charset="0"/>
              </a:rPr>
              <a:t>g</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（因为只给一个工厂） </a:t>
            </a:r>
            <a:endParaRPr lang="zh-CN" altLang="en-US" dirty="0">
              <a:solidFill>
                <a:srgbClr val="000066"/>
              </a:solidFill>
              <a:latin typeface="Times New Roman" panose="02020603050405020304" pitchFamily="18" charset="0"/>
            </a:endParaRPr>
          </a:p>
        </p:txBody>
      </p:sp>
      <p:sp>
        <p:nvSpPr>
          <p:cNvPr id="15364" name="Rectangle 4"/>
          <p:cNvSpPr/>
          <p:nvPr/>
        </p:nvSpPr>
        <p:spPr>
          <a:xfrm>
            <a:off x="228600" y="3276600"/>
            <a:ext cx="8915400" cy="2714625"/>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当</a:t>
            </a:r>
            <a:r>
              <a:rPr lang="en-US" altLang="zh-CN" dirty="0">
                <a:solidFill>
                  <a:srgbClr val="000066"/>
                </a:solidFill>
                <a:latin typeface="Times New Roman" panose="02020603050405020304" pitchFamily="18" charset="0"/>
              </a:rPr>
              <a:t>1</a:t>
            </a:r>
            <a:r>
              <a:rPr lang="zh-CN" altLang="en-US"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k</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n</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时，其递推关系如下：</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设：</a:t>
            </a:r>
            <a:r>
              <a:rPr lang="en-US" altLang="zh-CN" i="1" dirty="0">
                <a:solidFill>
                  <a:srgbClr val="000066"/>
                </a:solidFill>
                <a:latin typeface="Times New Roman" panose="02020603050405020304" pitchFamily="18" charset="0"/>
              </a:rPr>
              <a:t>y</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为分给第</a:t>
            </a:r>
            <a:r>
              <a:rPr lang="en-US" altLang="zh-CN" b="0" i="1" dirty="0">
                <a:solidFill>
                  <a:srgbClr val="000066"/>
                </a:solidFill>
                <a:latin typeface="Times New Roman" panose="02020603050405020304" pitchFamily="18" charset="0"/>
              </a:rPr>
              <a:t>k </a:t>
            </a:r>
            <a:r>
              <a:rPr lang="zh-CN" altLang="en-US" dirty="0">
                <a:solidFill>
                  <a:srgbClr val="000066"/>
                </a:solidFill>
                <a:latin typeface="Times New Roman" panose="02020603050405020304" pitchFamily="18" charset="0"/>
              </a:rPr>
              <a:t>个工厂的资金（其中 </a:t>
            </a:r>
            <a:r>
              <a:rPr lang="en-US" altLang="zh-CN" dirty="0">
                <a:solidFill>
                  <a:srgbClr val="000066"/>
                </a:solidFill>
                <a:latin typeface="Times New Roman" panose="02020603050405020304" pitchFamily="18" charset="0"/>
              </a:rPr>
              <a:t>0≤</a:t>
            </a:r>
            <a:r>
              <a:rPr lang="en-US" altLang="zh-CN" i="1" dirty="0">
                <a:solidFill>
                  <a:srgbClr val="000066"/>
                </a:solidFill>
                <a:latin typeface="Times New Roman" panose="02020603050405020304" pitchFamily="18" charset="0"/>
              </a:rPr>
              <a:t>y </a:t>
            </a:r>
            <a:r>
              <a:rPr lang="en-US" altLang="zh-CN"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x</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），此时还剩 </a:t>
            </a:r>
            <a:r>
              <a:rPr lang="en-US" altLang="zh-CN" i="1" dirty="0">
                <a:solidFill>
                  <a:srgbClr val="000066"/>
                </a:solidFill>
                <a:latin typeface="Times New Roman" panose="02020603050405020304" pitchFamily="18" charset="0"/>
              </a:rPr>
              <a:t>x</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 </a:t>
            </a:r>
            <a:r>
              <a:rPr lang="en-US" altLang="zh-CN" i="1" dirty="0">
                <a:solidFill>
                  <a:srgbClr val="000066"/>
                </a:solidFill>
                <a:latin typeface="Times New Roman" panose="02020603050405020304" pitchFamily="18" charset="0"/>
              </a:rPr>
              <a:t>y</a:t>
            </a:r>
            <a:r>
              <a:rPr lang="zh-CN" altLang="en-US" dirty="0">
                <a:solidFill>
                  <a:srgbClr val="000066"/>
                </a:solidFill>
                <a:latin typeface="Times New Roman" panose="02020603050405020304" pitchFamily="18" charset="0"/>
              </a:rPr>
              <a:t>（万元）的资金需要分配给前 </a:t>
            </a:r>
            <a:r>
              <a:rPr lang="en-US" altLang="zh-CN" i="1" dirty="0">
                <a:solidFill>
                  <a:srgbClr val="000066"/>
                </a:solidFill>
                <a:latin typeface="Times New Roman" panose="02020603050405020304" pitchFamily="18" charset="0"/>
              </a:rPr>
              <a:t>k</a:t>
            </a:r>
            <a:r>
              <a:rPr lang="en-US" altLang="zh-CN" dirty="0">
                <a:solidFill>
                  <a:srgbClr val="000066"/>
                </a:solidFill>
                <a:latin typeface="Times New Roman" panose="02020603050405020304" pitchFamily="18" charset="0"/>
              </a:rPr>
              <a:t>-1</a:t>
            </a:r>
            <a:r>
              <a:rPr lang="en-US" altLang="zh-CN" b="0"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个工厂</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如果采取最优策略，则得到的最大利润为</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k</a:t>
            </a:r>
            <a:r>
              <a:rPr lang="zh-CN" altLang="en-US" i="1" baseline="-25000" dirty="0">
                <a:solidFill>
                  <a:srgbClr val="000066"/>
                </a:solidFill>
                <a:latin typeface="Times New Roman" panose="02020603050405020304" pitchFamily="18" charset="0"/>
              </a:rPr>
              <a:t>－</a:t>
            </a:r>
            <a:r>
              <a:rPr lang="en-US" altLang="zh-CN" i="1" baseline="-25000" dirty="0">
                <a:solidFill>
                  <a:srgbClr val="000066"/>
                </a:solidFill>
                <a:latin typeface="Times New Roman" panose="02020603050405020304" pitchFamily="18" charset="0"/>
              </a:rPr>
              <a:t>1</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zh-CN" altLang="en-US" i="1"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y</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因此总的利润为：</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a:t>
            </a:r>
            <a:r>
              <a:rPr lang="en-US" altLang="zh-CN" sz="3200" i="1" dirty="0">
                <a:solidFill>
                  <a:srgbClr val="000066"/>
                </a:solidFill>
                <a:latin typeface="Times New Roman" panose="02020603050405020304" pitchFamily="18" charset="0"/>
              </a:rPr>
              <a:t>g</a:t>
            </a:r>
            <a:r>
              <a:rPr lang="en-US" altLang="zh-CN" sz="3200" i="1" baseline="-25000" dirty="0">
                <a:solidFill>
                  <a:srgbClr val="000066"/>
                </a:solidFill>
                <a:latin typeface="Times New Roman" panose="02020603050405020304" pitchFamily="18" charset="0"/>
              </a:rPr>
              <a:t>k</a:t>
            </a:r>
            <a:r>
              <a:rPr lang="en-US" altLang="zh-CN" sz="3200" dirty="0">
                <a:solidFill>
                  <a:srgbClr val="000066"/>
                </a:solidFill>
                <a:latin typeface="Times New Roman" panose="02020603050405020304" pitchFamily="18" charset="0"/>
              </a:rPr>
              <a:t>(</a:t>
            </a:r>
            <a:r>
              <a:rPr lang="en-US" altLang="zh-CN" sz="3200" i="1" dirty="0">
                <a:solidFill>
                  <a:srgbClr val="000066"/>
                </a:solidFill>
                <a:latin typeface="Times New Roman" panose="02020603050405020304" pitchFamily="18" charset="0"/>
              </a:rPr>
              <a:t>y</a:t>
            </a:r>
            <a:r>
              <a:rPr lang="en-US" altLang="zh-CN" sz="3200" dirty="0">
                <a:solidFill>
                  <a:srgbClr val="000066"/>
                </a:solidFill>
                <a:latin typeface="Times New Roman" panose="02020603050405020304" pitchFamily="18" charset="0"/>
              </a:rPr>
              <a:t>) </a:t>
            </a:r>
            <a:r>
              <a:rPr lang="zh-CN" altLang="en-US" sz="3200" dirty="0">
                <a:solidFill>
                  <a:srgbClr val="000066"/>
                </a:solidFill>
                <a:latin typeface="Times New Roman" panose="02020603050405020304" pitchFamily="18" charset="0"/>
              </a:rPr>
              <a:t>＋ </a:t>
            </a:r>
            <a:r>
              <a:rPr lang="en-US" altLang="zh-CN" sz="3200" i="1" dirty="0">
                <a:solidFill>
                  <a:srgbClr val="000066"/>
                </a:solidFill>
                <a:latin typeface="Times New Roman" panose="02020603050405020304" pitchFamily="18" charset="0"/>
              </a:rPr>
              <a:t>f</a:t>
            </a:r>
            <a:r>
              <a:rPr lang="en-US" altLang="zh-CN" sz="3200" i="1" baseline="-25000" dirty="0">
                <a:solidFill>
                  <a:srgbClr val="000066"/>
                </a:solidFill>
                <a:latin typeface="Times New Roman" panose="02020603050405020304" pitchFamily="18" charset="0"/>
              </a:rPr>
              <a:t>k</a:t>
            </a:r>
            <a:r>
              <a:rPr lang="zh-CN" altLang="en-US" sz="3200" i="1" baseline="-25000" dirty="0">
                <a:solidFill>
                  <a:srgbClr val="000066"/>
                </a:solidFill>
                <a:latin typeface="Times New Roman" panose="02020603050405020304" pitchFamily="18" charset="0"/>
              </a:rPr>
              <a:t>－</a:t>
            </a:r>
            <a:r>
              <a:rPr lang="en-US" altLang="zh-CN" sz="3200" i="1" baseline="-25000" dirty="0">
                <a:solidFill>
                  <a:srgbClr val="000066"/>
                </a:solidFill>
                <a:latin typeface="Times New Roman" panose="02020603050405020304" pitchFamily="18" charset="0"/>
              </a:rPr>
              <a:t>1</a:t>
            </a:r>
            <a:r>
              <a:rPr lang="en-US" altLang="zh-CN" sz="3200" dirty="0">
                <a:solidFill>
                  <a:srgbClr val="000066"/>
                </a:solidFill>
                <a:latin typeface="Times New Roman" panose="02020603050405020304" pitchFamily="18" charset="0"/>
              </a:rPr>
              <a:t>(</a:t>
            </a:r>
            <a:r>
              <a:rPr lang="en-US" altLang="zh-CN" sz="3200" i="1" dirty="0">
                <a:solidFill>
                  <a:srgbClr val="000066"/>
                </a:solidFill>
                <a:latin typeface="Times New Roman" panose="02020603050405020304" pitchFamily="18" charset="0"/>
              </a:rPr>
              <a:t>x</a:t>
            </a:r>
            <a:r>
              <a:rPr lang="zh-CN" altLang="en-US" sz="3200" i="1" dirty="0">
                <a:solidFill>
                  <a:srgbClr val="000066"/>
                </a:solidFill>
                <a:latin typeface="Times New Roman" panose="02020603050405020304" pitchFamily="18" charset="0"/>
              </a:rPr>
              <a:t>－</a:t>
            </a:r>
            <a:r>
              <a:rPr lang="en-US" altLang="zh-CN" sz="3200" i="1" dirty="0">
                <a:solidFill>
                  <a:srgbClr val="000066"/>
                </a:solidFill>
                <a:latin typeface="Times New Roman" panose="02020603050405020304" pitchFamily="18" charset="0"/>
              </a:rPr>
              <a:t>y</a:t>
            </a:r>
            <a:r>
              <a:rPr lang="en-US" altLang="zh-CN" sz="3200"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  </a:t>
            </a:r>
            <a:endParaRPr lang="en-US" altLang="zh-CN"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15362"/>
                                        </p:tgtEl>
                                        <p:attrNameLst>
                                          <p:attrName>style.visibility</p:attrName>
                                        </p:attrNameLst>
                                      </p:cBhvr>
                                      <p:to>
                                        <p:strVal val="visible"/>
                                      </p:to>
                                    </p:set>
                                    <p:anim to="" calcmode="lin" valueType="num">
                                      <p:cBhvr>
                                        <p:cTn id="7" dur="1" fill="hold"/>
                                        <p:tgtEl>
                                          <p:spTgt spid="1536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dissolve">
                                      <p:cBhvr>
                                        <p:cTn id="12" dur="500"/>
                                        <p:tgtEl>
                                          <p:spTgt spid="153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364"/>
                                        </p:tgtEl>
                                        <p:attrNameLst>
                                          <p:attrName>style.visibility</p:attrName>
                                        </p:attrNameLst>
                                      </p:cBhvr>
                                      <p:to>
                                        <p:strVal val="visible"/>
                                      </p:to>
                                    </p:set>
                                    <p:animEffect transition="in" filter="wipe(up)">
                                      <p:cBhvr>
                                        <p:cTn id="17" dur="500"/>
                                        <p:tgtEl>
                                          <p:spTgt spid="1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p:bldP spid="1536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79872" name="Object 1024"/>
          <p:cNvGraphicFramePr/>
          <p:nvPr/>
        </p:nvGraphicFramePr>
        <p:xfrm>
          <a:off x="1227138" y="1643063"/>
          <a:ext cx="6845300" cy="1363662"/>
        </p:xfrm>
        <a:graphic>
          <a:graphicData uri="http://schemas.openxmlformats.org/presentationml/2006/ole">
            <mc:AlternateContent xmlns:mc="http://schemas.openxmlformats.org/markup-compatibility/2006">
              <mc:Choice xmlns:v="urn:schemas-microsoft-com:vml" Requires="v">
                <p:oleObj spid="_x0000_s3094" name="" r:id="rId1" imgW="2095500" imgH="508000" progId="Equation.3">
                  <p:embed/>
                </p:oleObj>
              </mc:Choice>
              <mc:Fallback>
                <p:oleObj name="" r:id="rId1" imgW="2095500" imgH="508000" progId="Equation.3">
                  <p:embed/>
                  <p:pic>
                    <p:nvPicPr>
                      <p:cNvPr id="0" name="图片 3093"/>
                      <p:cNvPicPr/>
                      <p:nvPr/>
                    </p:nvPicPr>
                    <p:blipFill>
                      <a:blip r:embed="rId2"/>
                      <a:stretch>
                        <a:fillRect/>
                      </a:stretch>
                    </p:blipFill>
                    <p:spPr>
                      <a:xfrm>
                        <a:off x="1227138" y="1643063"/>
                        <a:ext cx="6845300" cy="1363662"/>
                      </a:xfrm>
                      <a:prstGeom prst="rect">
                        <a:avLst/>
                      </a:prstGeom>
                      <a:noFill/>
                      <a:ln w="38100">
                        <a:noFill/>
                        <a:miter/>
                      </a:ln>
                    </p:spPr>
                  </p:pic>
                </p:oleObj>
              </mc:Fallback>
            </mc:AlternateContent>
          </a:graphicData>
        </a:graphic>
      </p:graphicFrame>
      <p:sp>
        <p:nvSpPr>
          <p:cNvPr id="16387" name="Text Box 3"/>
          <p:cNvSpPr txBox="1"/>
          <p:nvPr/>
        </p:nvSpPr>
        <p:spPr>
          <a:xfrm>
            <a:off x="228600" y="3068638"/>
            <a:ext cx="8686800" cy="1006475"/>
          </a:xfrm>
          <a:prstGeom prst="rect">
            <a:avLst/>
          </a:prstGeom>
          <a:noFill/>
          <a:ln w="9525">
            <a:noFill/>
          </a:ln>
        </p:spPr>
        <p:txBody>
          <a:bodyPr>
            <a:spAutoFit/>
          </a:bodyPr>
          <a:p>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如果</a:t>
            </a:r>
            <a:r>
              <a:rPr lang="en-US" altLang="zh-CN" i="1" dirty="0">
                <a:solidFill>
                  <a:srgbClr val="000066"/>
                </a:solidFill>
                <a:latin typeface="Times New Roman" panose="02020603050405020304" pitchFamily="18" charset="0"/>
              </a:rPr>
              <a:t>a</a:t>
            </a:r>
            <a:r>
              <a:rPr lang="en-US" altLang="zh-CN" b="0" i="1"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是以万元为资金分配单位，则式中的</a:t>
            </a:r>
            <a:r>
              <a:rPr lang="en-US" altLang="zh-CN" sz="3200" b="0" i="1" dirty="0">
                <a:solidFill>
                  <a:srgbClr val="000066"/>
                </a:solidFill>
                <a:latin typeface="Times New Roman" panose="02020603050405020304" pitchFamily="18" charset="0"/>
              </a:rPr>
              <a:t>y </a:t>
            </a:r>
            <a:r>
              <a:rPr lang="zh-CN" altLang="en-US" dirty="0">
                <a:solidFill>
                  <a:srgbClr val="000066"/>
                </a:solidFill>
                <a:latin typeface="Times New Roman" panose="02020603050405020304" pitchFamily="18" charset="0"/>
              </a:rPr>
              <a:t>只取非负整数</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1</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zh-CN" altLang="en-US" dirty="0">
                <a:solidFill>
                  <a:srgbClr val="000066"/>
                </a:solidFill>
                <a:latin typeface="Times New Roman" panose="02020603050405020304" pitchFamily="18" charset="0"/>
              </a:rPr>
              <a:t>。上式可变为：</a:t>
            </a:r>
            <a:endParaRPr lang="zh-CN" altLang="en-US" dirty="0">
              <a:solidFill>
                <a:srgbClr val="000066"/>
              </a:solidFill>
              <a:latin typeface="Times New Roman" panose="02020603050405020304" pitchFamily="18" charset="0"/>
            </a:endParaRPr>
          </a:p>
        </p:txBody>
      </p:sp>
      <p:graphicFrame>
        <p:nvGraphicFramePr>
          <p:cNvPr id="79873" name="Object 1025"/>
          <p:cNvGraphicFramePr/>
          <p:nvPr/>
        </p:nvGraphicFramePr>
        <p:xfrm>
          <a:off x="749300" y="4267200"/>
          <a:ext cx="7546975" cy="784225"/>
        </p:xfrm>
        <a:graphic>
          <a:graphicData uri="http://schemas.openxmlformats.org/presentationml/2006/ole">
            <mc:AlternateContent xmlns:mc="http://schemas.openxmlformats.org/markup-compatibility/2006">
              <mc:Choice xmlns:v="urn:schemas-microsoft-com:vml" Requires="v">
                <p:oleObj spid="_x0000_s3095" name="" r:id="rId3" imgW="2310130" imgH="292100" progId="Equation.3">
                  <p:embed/>
                </p:oleObj>
              </mc:Choice>
              <mc:Fallback>
                <p:oleObj name="" r:id="rId3" imgW="2310130" imgH="292100" progId="Equation.3">
                  <p:embed/>
                  <p:pic>
                    <p:nvPicPr>
                      <p:cNvPr id="0" name="图片 3094"/>
                      <p:cNvPicPr/>
                      <p:nvPr/>
                    </p:nvPicPr>
                    <p:blipFill>
                      <a:blip r:embed="rId4"/>
                      <a:stretch>
                        <a:fillRect/>
                      </a:stretch>
                    </p:blipFill>
                    <p:spPr>
                      <a:xfrm>
                        <a:off x="749300" y="4267200"/>
                        <a:ext cx="7546975" cy="784225"/>
                      </a:xfrm>
                      <a:prstGeom prst="rect">
                        <a:avLst/>
                      </a:prstGeom>
                      <a:noFill/>
                      <a:ln w="38100">
                        <a:noFill/>
                        <a:miter/>
                      </a:ln>
                    </p:spPr>
                  </p:pic>
                </p:oleObj>
              </mc:Fallback>
            </mc:AlternateContent>
          </a:graphicData>
        </a:graphic>
      </p:graphicFrame>
      <p:sp>
        <p:nvSpPr>
          <p:cNvPr id="16389" name="Rectangle 5"/>
          <p:cNvSpPr/>
          <p:nvPr/>
        </p:nvSpPr>
        <p:spPr>
          <a:xfrm>
            <a:off x="1066800" y="838200"/>
            <a:ext cx="7359650"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所以，根据动态规划的最优化原理，有下式：</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 presetClass="entr" presetSubtype="16" fill="hold" nodeType="afterEffect">
                                  <p:stCondLst>
                                    <p:cond delay="0"/>
                                  </p:stCondLst>
                                  <p:childTnLst>
                                    <p:set>
                                      <p:cBhvr>
                                        <p:cTn id="11" dur="1" fill="hold">
                                          <p:stCondLst>
                                            <p:cond delay="0"/>
                                          </p:stCondLst>
                                        </p:cTn>
                                        <p:tgtEl>
                                          <p:spTgt spid="79872"/>
                                        </p:tgtEl>
                                        <p:attrNameLst>
                                          <p:attrName>style.visibility</p:attrName>
                                        </p:attrNameLst>
                                      </p:cBhvr>
                                      <p:to>
                                        <p:strVal val="visible"/>
                                      </p:to>
                                    </p:set>
                                    <p:animEffect transition="in" filter="box(in)">
                                      <p:cBhvr>
                                        <p:cTn id="12" dur="500"/>
                                        <p:tgtEl>
                                          <p:spTgt spid="7987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387"/>
                                        </p:tgtEl>
                                        <p:attrNameLst>
                                          <p:attrName>style.visibility</p:attrName>
                                        </p:attrNameLst>
                                      </p:cBhvr>
                                      <p:to>
                                        <p:strVal val="visible"/>
                                      </p:to>
                                    </p:set>
                                    <p:anim calcmode="lin" valueType="num">
                                      <p:cBhvr additive="base">
                                        <p:cTn id="17" dur="500" fill="hold"/>
                                        <p:tgtEl>
                                          <p:spTgt spid="16387"/>
                                        </p:tgtEl>
                                        <p:attrNameLst>
                                          <p:attrName>ppt_x</p:attrName>
                                        </p:attrNameLst>
                                      </p:cBhvr>
                                      <p:tavLst>
                                        <p:tav tm="0">
                                          <p:val>
                                            <p:strVal val="1+#ppt_w/2"/>
                                          </p:val>
                                        </p:tav>
                                        <p:tav tm="100000">
                                          <p:val>
                                            <p:strVal val="#ppt_x"/>
                                          </p:val>
                                        </p:tav>
                                      </p:tavLst>
                                    </p:anim>
                                    <p:anim calcmode="lin" valueType="num">
                                      <p:cBhvr additive="base">
                                        <p:cTn id="18" dur="500" fill="hold"/>
                                        <p:tgtEl>
                                          <p:spTgt spid="16387"/>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4" presetClass="entr" presetSubtype="32" fill="hold" nodeType="afterEffect">
                                  <p:stCondLst>
                                    <p:cond delay="0"/>
                                  </p:stCondLst>
                                  <p:childTnLst>
                                    <p:set>
                                      <p:cBhvr>
                                        <p:cTn id="21" dur="1" fill="hold">
                                          <p:stCondLst>
                                            <p:cond delay="0"/>
                                          </p:stCondLst>
                                        </p:cTn>
                                        <p:tgtEl>
                                          <p:spTgt spid="79873"/>
                                        </p:tgtEl>
                                        <p:attrNameLst>
                                          <p:attrName>style.visibility</p:attrName>
                                        </p:attrNameLst>
                                      </p:cBhvr>
                                      <p:to>
                                        <p:strVal val="visible"/>
                                      </p:to>
                                    </p:set>
                                    <p:animEffect transition="in" filter="box(out)">
                                      <p:cBhvr>
                                        <p:cTn id="22" dur="500"/>
                                        <p:tgtEl>
                                          <p:spTgt spid="79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16389"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Text Box 2"/>
          <p:cNvSpPr txBox="1"/>
          <p:nvPr/>
        </p:nvSpPr>
        <p:spPr>
          <a:xfrm>
            <a:off x="228600" y="349250"/>
            <a:ext cx="8686800" cy="1860550"/>
          </a:xfrm>
          <a:prstGeom prst="rect">
            <a:avLst/>
          </a:prstGeom>
          <a:noFill/>
          <a:ln w="9525">
            <a:noFill/>
          </a:ln>
        </p:spPr>
        <p:txBody>
          <a:bodyPr>
            <a:spAutoFit/>
          </a:bodyPr>
          <a:p>
            <a:r>
              <a:rPr lang="en-US" altLang="zh-CN" sz="3200" dirty="0">
                <a:solidFill>
                  <a:srgbClr val="000066"/>
                </a:solidFill>
                <a:latin typeface="Times New Roman" panose="02020603050405020304" pitchFamily="18" charset="0"/>
              </a:rPr>
              <a:t>   </a:t>
            </a:r>
            <a:r>
              <a:rPr lang="zh-CN" altLang="en-US" sz="3200" dirty="0">
                <a:solidFill>
                  <a:srgbClr val="000066"/>
                </a:solidFill>
                <a:latin typeface="Times New Roman" panose="02020603050405020304" pitchFamily="18" charset="0"/>
              </a:rPr>
              <a:t>例题：</a:t>
            </a:r>
            <a:endParaRPr lang="zh-CN" altLang="en-US" sz="3200"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设国家拨给</a:t>
            </a:r>
            <a:r>
              <a:rPr lang="en-US" altLang="zh-CN" dirty="0">
                <a:solidFill>
                  <a:srgbClr val="000066"/>
                </a:solidFill>
                <a:latin typeface="Times New Roman" panose="02020603050405020304" pitchFamily="18" charset="0"/>
              </a:rPr>
              <a:t>60</a:t>
            </a:r>
            <a:r>
              <a:rPr lang="zh-CN" altLang="en-US" dirty="0">
                <a:solidFill>
                  <a:srgbClr val="000066"/>
                </a:solidFill>
                <a:latin typeface="Times New Roman" panose="02020603050405020304" pitchFamily="18" charset="0"/>
              </a:rPr>
              <a:t>万元投资，供四个工厂扩建使用，每个工厂扩建后的利润与投资额的大小有关，投资后的利润函数如下表所示。</a:t>
            </a:r>
            <a:endParaRPr lang="zh-CN" altLang="en-US" dirty="0">
              <a:solidFill>
                <a:srgbClr val="000066"/>
              </a:solidFill>
              <a:latin typeface="Times New Roman" panose="02020603050405020304" pitchFamily="18" charset="0"/>
            </a:endParaRPr>
          </a:p>
        </p:txBody>
      </p:sp>
      <p:graphicFrame>
        <p:nvGraphicFramePr>
          <p:cNvPr id="48131" name="表格 48130"/>
          <p:cNvGraphicFramePr/>
          <p:nvPr/>
        </p:nvGraphicFramePr>
        <p:xfrm>
          <a:off x="228600" y="2514600"/>
          <a:ext cx="8686800" cy="2524125"/>
        </p:xfrm>
        <a:graphic>
          <a:graphicData uri="http://schemas.openxmlformats.org/drawingml/2006/table">
            <a:tbl>
              <a:tblPr/>
              <a:tblGrid>
                <a:gridCol w="1085850"/>
                <a:gridCol w="1085850"/>
                <a:gridCol w="1085850"/>
                <a:gridCol w="1085850"/>
                <a:gridCol w="1085850"/>
                <a:gridCol w="1085850"/>
                <a:gridCol w="1085850"/>
                <a:gridCol w="1085850"/>
              </a:tblGrid>
              <a:tr h="695325">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Times New Roman" panose="02020603050405020304" pitchFamily="18" charset="0"/>
                        </a:rPr>
                        <a:t>       </a:t>
                      </a:r>
                      <a:r>
                        <a:rPr lang="zh-CN" altLang="en-US" sz="1800" dirty="0">
                          <a:latin typeface="Times New Roman" panose="02020603050405020304" pitchFamily="18" charset="0"/>
                        </a:rPr>
                        <a:t>投资</a:t>
                      </a:r>
                      <a:endParaRPr lang="zh-CN" altLang="en-US" sz="1800" dirty="0">
                        <a:latin typeface="Times New Roman" panose="02020603050405020304" pitchFamily="18" charset="0"/>
                      </a:endParaRPr>
                    </a:p>
                    <a:p>
                      <a:pPr lvl="0" eaLnBrk="1" hangingPunct="1">
                        <a:spcBef>
                          <a:spcPct val="20000"/>
                        </a:spcBef>
                        <a:buNone/>
                      </a:pPr>
                      <a:r>
                        <a:rPr lang="zh-CN" altLang="en-US" sz="1800" dirty="0">
                          <a:latin typeface="Times New Roman" panose="02020603050405020304" pitchFamily="18" charset="0"/>
                        </a:rPr>
                        <a:t>利润</a:t>
                      </a:r>
                      <a:endParaRPr lang="zh-CN" altLang="en-US" sz="18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115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4</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70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r>
            </a:tbl>
          </a:graphicData>
        </a:graphic>
      </p:graphicFrame>
      <p:sp>
        <p:nvSpPr>
          <p:cNvPr id="17479" name="Line 71"/>
          <p:cNvSpPr/>
          <p:nvPr/>
        </p:nvSpPr>
        <p:spPr>
          <a:xfrm flipH="1" flipV="1">
            <a:off x="228600" y="2514600"/>
            <a:ext cx="1066800" cy="685800"/>
          </a:xfrm>
          <a:prstGeom prst="line">
            <a:avLst/>
          </a:prstGeom>
          <a:ln w="9525" cap="flat" cmpd="sng">
            <a:solidFill>
              <a:schemeClr val="tx1"/>
            </a:solidFill>
            <a:prstDash val="solid"/>
            <a:headEnd type="none" w="med" len="med"/>
            <a:tailEnd type="none" w="med" len="med"/>
          </a:ln>
        </p:spPr>
      </p:sp>
      <p:sp>
        <p:nvSpPr>
          <p:cNvPr id="17486" name="Text Box 78"/>
          <p:cNvSpPr txBox="1"/>
          <p:nvPr/>
        </p:nvSpPr>
        <p:spPr>
          <a:xfrm>
            <a:off x="228600" y="5630863"/>
            <a:ext cx="8686800" cy="519112"/>
          </a:xfrm>
          <a:prstGeom prst="rect">
            <a:avLst/>
          </a:prstGeom>
          <a:noFill/>
          <a:ln w="9525">
            <a:noFill/>
          </a:ln>
        </p:spPr>
        <p:txBody>
          <a:bodyPr>
            <a:spAutoFit/>
          </a:bodyPr>
          <a:p>
            <a:pPr>
              <a:spcBef>
                <a:spcPct val="50000"/>
              </a:spcBef>
            </a:pPr>
            <a:r>
              <a:rPr lang="zh-CN" altLang="en-US" dirty="0">
                <a:solidFill>
                  <a:srgbClr val="000066"/>
                </a:solidFill>
                <a:latin typeface="Times New Roman" panose="02020603050405020304" pitchFamily="18" charset="0"/>
              </a:rPr>
              <a:t>解：依据题意，是要求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4</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60</a:t>
            </a:r>
            <a:r>
              <a:rPr lang="en-US" altLang="zh-CN" b="0"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linds(horizontal)">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 calcmode="lin" valueType="num">
                                      <p:cBhvr>
                                        <p:cTn id="12" dur="500" fill="hold"/>
                                        <p:tgtEl>
                                          <p:spTgt spid="48131"/>
                                        </p:tgtEl>
                                        <p:attrNameLst>
                                          <p:attrName>ppt_x</p:attrName>
                                        </p:attrNameLst>
                                      </p:cBhvr>
                                      <p:tavLst>
                                        <p:tav tm="0">
                                          <p:val>
                                            <p:strVal val="#ppt_x-#ppt_w/2"/>
                                          </p:val>
                                        </p:tav>
                                        <p:tav tm="100000">
                                          <p:val>
                                            <p:strVal val="#ppt_x"/>
                                          </p:val>
                                        </p:tav>
                                      </p:tavLst>
                                    </p:anim>
                                    <p:anim calcmode="lin" valueType="num">
                                      <p:cBhvr>
                                        <p:cTn id="13" dur="500" fill="hold"/>
                                        <p:tgtEl>
                                          <p:spTgt spid="48131"/>
                                        </p:tgtEl>
                                        <p:attrNameLst>
                                          <p:attrName>ppt_y</p:attrName>
                                        </p:attrNameLst>
                                      </p:cBhvr>
                                      <p:tavLst>
                                        <p:tav tm="0">
                                          <p:val>
                                            <p:strVal val="#ppt_y"/>
                                          </p:val>
                                        </p:tav>
                                        <p:tav tm="100000">
                                          <p:val>
                                            <p:strVal val="#ppt_y"/>
                                          </p:val>
                                        </p:tav>
                                      </p:tavLst>
                                    </p:anim>
                                    <p:anim calcmode="lin" valueType="num">
                                      <p:cBhvr>
                                        <p:cTn id="14" dur="500" fill="hold"/>
                                        <p:tgtEl>
                                          <p:spTgt spid="48131"/>
                                        </p:tgtEl>
                                        <p:attrNameLst>
                                          <p:attrName>ppt_w</p:attrName>
                                        </p:attrNameLst>
                                      </p:cBhvr>
                                      <p:tavLst>
                                        <p:tav tm="0">
                                          <p:val>
                                            <p:fltVal val="0.000000"/>
                                          </p:val>
                                        </p:tav>
                                        <p:tav tm="100000">
                                          <p:val>
                                            <p:strVal val="#ppt_w"/>
                                          </p:val>
                                        </p:tav>
                                      </p:tavLst>
                                    </p:anim>
                                    <p:anim calcmode="lin" valueType="num">
                                      <p:cBhvr>
                                        <p:cTn id="15" dur="500" fill="hold"/>
                                        <p:tgtEl>
                                          <p:spTgt spid="48131"/>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17479"/>
                                        </p:tgtEl>
                                        <p:attrNameLst>
                                          <p:attrName>style.visibility</p:attrName>
                                        </p:attrNameLst>
                                      </p:cBhvr>
                                      <p:to>
                                        <p:strVal val="visible"/>
                                      </p:to>
                                    </p:set>
                                    <p:animEffect transition="in" filter="dissolve">
                                      <p:cBhvr>
                                        <p:cTn id="19" dur="500"/>
                                        <p:tgtEl>
                                          <p:spTgt spid="1747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7486"/>
                                        </p:tgtEl>
                                        <p:attrNameLst>
                                          <p:attrName>style.visibility</p:attrName>
                                        </p:attrNameLst>
                                      </p:cBhvr>
                                      <p:to>
                                        <p:strVal val="visible"/>
                                      </p:to>
                                    </p:set>
                                    <p:anim calcmode="lin" valueType="num">
                                      <p:cBhvr additive="base">
                                        <p:cTn id="24" dur="500" fill="hold"/>
                                        <p:tgtEl>
                                          <p:spTgt spid="17486"/>
                                        </p:tgtEl>
                                        <p:attrNameLst>
                                          <p:attrName>ppt_x</p:attrName>
                                        </p:attrNameLst>
                                      </p:cBhvr>
                                      <p:tavLst>
                                        <p:tav tm="0">
                                          <p:val>
                                            <p:strVal val="0-#ppt_w/2"/>
                                          </p:val>
                                        </p:tav>
                                        <p:tav tm="100000">
                                          <p:val>
                                            <p:strVal val="#ppt_x"/>
                                          </p:val>
                                        </p:tav>
                                      </p:tavLst>
                                    </p:anim>
                                    <p:anim calcmode="lin" valueType="num">
                                      <p:cBhvr additive="base">
                                        <p:cTn id="25" dur="500" fill="hold"/>
                                        <p:tgtEl>
                                          <p:spTgt spid="17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86"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528" name="Rectangle 96"/>
          <p:cNvSpPr/>
          <p:nvPr/>
        </p:nvSpPr>
        <p:spPr>
          <a:xfrm>
            <a:off x="2057400" y="2743200"/>
            <a:ext cx="6858000" cy="457200"/>
          </a:xfrm>
          <a:prstGeom prst="rect">
            <a:avLst/>
          </a:prstGeom>
          <a:solidFill>
            <a:srgbClr val="EAEAEA"/>
          </a:solidFill>
          <a:ln w="9525">
            <a:noFill/>
          </a:ln>
        </p:spPr>
        <p:txBody>
          <a:bodyPr wrap="none" anchor="ctr" anchorCtr="0"/>
          <a:p>
            <a:endParaRPr lang="zh-CN" altLang="en-US" dirty="0">
              <a:latin typeface="Times New Roman" panose="02020603050405020304" pitchFamily="18" charset="0"/>
            </a:endParaRPr>
          </a:p>
        </p:txBody>
      </p:sp>
      <p:sp>
        <p:nvSpPr>
          <p:cNvPr id="18527" name="Rectangle 95"/>
          <p:cNvSpPr/>
          <p:nvPr/>
        </p:nvSpPr>
        <p:spPr>
          <a:xfrm>
            <a:off x="2057400" y="2286000"/>
            <a:ext cx="6858000" cy="457200"/>
          </a:xfrm>
          <a:prstGeom prst="rect">
            <a:avLst/>
          </a:prstGeom>
          <a:solidFill>
            <a:schemeClr val="folHlink"/>
          </a:solidFill>
          <a:ln w="9525">
            <a:noFill/>
          </a:ln>
        </p:spPr>
        <p:txBody>
          <a:bodyPr wrap="none" anchor="ctr" anchorCtr="0"/>
          <a:p>
            <a:endParaRPr lang="zh-CN" altLang="en-US" dirty="0">
              <a:latin typeface="Times New Roman" panose="02020603050405020304" pitchFamily="18" charset="0"/>
            </a:endParaRPr>
          </a:p>
        </p:txBody>
      </p:sp>
      <p:sp>
        <p:nvSpPr>
          <p:cNvPr id="18434" name="Text Box 2"/>
          <p:cNvSpPr txBox="1"/>
          <p:nvPr/>
        </p:nvSpPr>
        <p:spPr>
          <a:xfrm>
            <a:off x="228600" y="401638"/>
            <a:ext cx="8686800" cy="946150"/>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按顺序解法计算。</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第一阶段：求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1</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。显然有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1</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 </a:t>
            </a:r>
            <a:r>
              <a:rPr lang="zh-CN" altLang="en-US" b="0" dirty="0">
                <a:solidFill>
                  <a:srgbClr val="000066"/>
                </a:solidFill>
                <a:latin typeface="Times New Roman" panose="02020603050405020304" pitchFamily="18" charset="0"/>
              </a:rPr>
              <a:t>＝ </a:t>
            </a:r>
            <a:r>
              <a:rPr lang="en-US" altLang="zh-CN" b="0" i="1" dirty="0">
                <a:solidFill>
                  <a:srgbClr val="000066"/>
                </a:solidFill>
                <a:latin typeface="Times New Roman" panose="02020603050405020304" pitchFamily="18" charset="0"/>
              </a:rPr>
              <a:t>g</a:t>
            </a:r>
            <a:r>
              <a:rPr lang="en-US" altLang="zh-CN" b="0" i="1" baseline="-25000" dirty="0">
                <a:solidFill>
                  <a:srgbClr val="000066"/>
                </a:solidFill>
                <a:latin typeface="Times New Roman" panose="02020603050405020304" pitchFamily="18" charset="0"/>
              </a:rPr>
              <a:t>1</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，得到下表</a:t>
            </a:r>
            <a:endParaRPr lang="zh-CN" altLang="en-US" dirty="0">
              <a:solidFill>
                <a:srgbClr val="000066"/>
              </a:solidFill>
              <a:latin typeface="Times New Roman" panose="02020603050405020304" pitchFamily="18" charset="0"/>
            </a:endParaRPr>
          </a:p>
        </p:txBody>
      </p:sp>
      <p:graphicFrame>
        <p:nvGraphicFramePr>
          <p:cNvPr id="10247" name="表格 10246"/>
          <p:cNvGraphicFramePr/>
          <p:nvPr/>
        </p:nvGraphicFramePr>
        <p:xfrm>
          <a:off x="228600" y="1524000"/>
          <a:ext cx="8686800" cy="1676400"/>
        </p:xfrm>
        <a:graphic>
          <a:graphicData uri="http://schemas.openxmlformats.org/drawingml/2006/table">
            <a:tbl>
              <a:tblPr/>
              <a:tblGrid>
                <a:gridCol w="1828800"/>
                <a:gridCol w="914400"/>
                <a:gridCol w="914400"/>
                <a:gridCol w="990600"/>
                <a:gridCol w="990600"/>
                <a:gridCol w="1066800"/>
                <a:gridCol w="990600"/>
                <a:gridCol w="990600"/>
              </a:tblGrid>
              <a:tr h="7620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Times New Roman" panose="02020603050405020304" pitchFamily="18" charset="0"/>
                        </a:rPr>
                        <a:t>                   </a:t>
                      </a:r>
                      <a:r>
                        <a:rPr lang="zh-CN" altLang="en-US" sz="2000" dirty="0">
                          <a:latin typeface="Times New Roman" panose="02020603050405020304" pitchFamily="18" charset="0"/>
                        </a:rPr>
                        <a:t>投资</a:t>
                      </a:r>
                      <a:endParaRPr lang="zh-CN" altLang="en-US" sz="2000" dirty="0">
                        <a:latin typeface="Times New Roman" panose="02020603050405020304" pitchFamily="18" charset="0"/>
                      </a:endParaRPr>
                    </a:p>
                    <a:p>
                      <a:pPr lvl="0" eaLnBrk="1" hangingPunct="1">
                        <a:spcBef>
                          <a:spcPct val="20000"/>
                        </a:spcBef>
                        <a:buNone/>
                      </a:pPr>
                      <a:r>
                        <a:rPr lang="zh-CN" altLang="en-US" sz="2000" dirty="0">
                          <a:latin typeface="Times New Roman" panose="02020603050405020304" pitchFamily="18" charset="0"/>
                        </a:rPr>
                        <a:t>利润</a:t>
                      </a:r>
                      <a:endParaRPr lang="zh-CN" altLang="en-US" sz="2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i="1" dirty="0">
                          <a:latin typeface="Times New Roman" panose="02020603050405020304" pitchFamily="18" charset="0"/>
                        </a:rPr>
                        <a:t>f</a:t>
                      </a:r>
                      <a:r>
                        <a:rPr lang="en-US" altLang="zh-CN" sz="2200" i="1" baseline="-25000" dirty="0">
                          <a:latin typeface="Times New Roman" panose="02020603050405020304" pitchFamily="18" charset="0"/>
                        </a:rPr>
                        <a:t>1</a:t>
                      </a:r>
                      <a:r>
                        <a:rPr lang="en-US" altLang="zh-CN" sz="2200" dirty="0">
                          <a:latin typeface="Times New Roman" panose="02020603050405020304" pitchFamily="18" charset="0"/>
                        </a:rPr>
                        <a:t>(</a:t>
                      </a:r>
                      <a:r>
                        <a:rPr lang="en-US" altLang="zh-CN" sz="2200" i="1" dirty="0">
                          <a:latin typeface="Times New Roman" panose="02020603050405020304" pitchFamily="18" charset="0"/>
                        </a:rPr>
                        <a:t>x</a:t>
                      </a:r>
                      <a:r>
                        <a:rPr lang="en-US" altLang="zh-CN" sz="2200" dirty="0">
                          <a:latin typeface="Times New Roman" panose="02020603050405020304" pitchFamily="18" charset="0"/>
                        </a:rPr>
                        <a:t>) </a:t>
                      </a:r>
                      <a:r>
                        <a:rPr lang="zh-CN" altLang="en-US" sz="2200" dirty="0">
                          <a:latin typeface="Times New Roman" panose="02020603050405020304" pitchFamily="18" charset="0"/>
                        </a:rPr>
                        <a:t>＝</a:t>
                      </a:r>
                      <a:r>
                        <a:rPr lang="zh-CN" altLang="en-US" sz="2200" dirty="0">
                          <a:solidFill>
                            <a:srgbClr val="000066"/>
                          </a:solidFill>
                          <a:latin typeface="Times New Roman" panose="02020603050405020304" pitchFamily="18" charset="0"/>
                        </a:rPr>
                        <a:t> </a:t>
                      </a:r>
                      <a:r>
                        <a:rPr lang="en-US" altLang="zh-CN" sz="2200" i="1" dirty="0">
                          <a:latin typeface="Times New Roman" panose="02020603050405020304" pitchFamily="18" charset="0"/>
                        </a:rPr>
                        <a:t>g</a:t>
                      </a:r>
                      <a:r>
                        <a:rPr lang="en-US" altLang="zh-CN" sz="2200" i="1" baseline="-25000" dirty="0">
                          <a:latin typeface="Times New Roman" panose="02020603050405020304" pitchFamily="18" charset="0"/>
                        </a:rPr>
                        <a:t>1</a:t>
                      </a:r>
                      <a:r>
                        <a:rPr lang="en-US" altLang="zh-CN" sz="2200" dirty="0">
                          <a:latin typeface="Times New Roman" panose="02020603050405020304" pitchFamily="18" charset="0"/>
                        </a:rPr>
                        <a:t>(</a:t>
                      </a:r>
                      <a:r>
                        <a:rPr lang="en-US" altLang="zh-CN" sz="2200" i="1" dirty="0">
                          <a:latin typeface="Times New Roman" panose="02020603050405020304" pitchFamily="18" charset="0"/>
                        </a:rPr>
                        <a:t>x</a:t>
                      </a:r>
                      <a:r>
                        <a:rPr lang="en-US" altLang="zh-CN" sz="2200" dirty="0">
                          <a:latin typeface="Times New Roman" panose="02020603050405020304" pitchFamily="18" charset="0"/>
                        </a:rPr>
                        <a:t>)</a:t>
                      </a:r>
                      <a:endParaRPr lang="en-US" altLang="zh-CN" sz="22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400" dirty="0">
                          <a:latin typeface="Times New Roman" panose="02020603050405020304" pitchFamily="18" charset="0"/>
                        </a:rPr>
                        <a:t>最优策略</a:t>
                      </a:r>
                      <a:endParaRPr lang="zh-CN" altLang="en-US"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10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30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40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50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60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8491" name="Line 59"/>
          <p:cNvSpPr/>
          <p:nvPr/>
        </p:nvSpPr>
        <p:spPr>
          <a:xfrm flipH="1" flipV="1">
            <a:off x="228600" y="1524000"/>
            <a:ext cx="1828800" cy="762000"/>
          </a:xfrm>
          <a:prstGeom prst="line">
            <a:avLst/>
          </a:prstGeom>
          <a:ln w="9525" cap="flat" cmpd="sng">
            <a:solidFill>
              <a:schemeClr val="tx1"/>
            </a:solidFill>
            <a:prstDash val="solid"/>
            <a:headEnd type="none" w="med" len="med"/>
            <a:tailEnd type="none" w="med" len="med"/>
          </a:ln>
        </p:spPr>
      </p:sp>
      <p:sp>
        <p:nvSpPr>
          <p:cNvPr id="18518" name="Text Box 86"/>
          <p:cNvSpPr txBox="1"/>
          <p:nvPr/>
        </p:nvSpPr>
        <p:spPr>
          <a:xfrm>
            <a:off x="228600" y="3602038"/>
            <a:ext cx="8686800" cy="946150"/>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第二阶段：求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2</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。此时需考虑第一、第二个工厂如何进行投资分配，以取得最大的总利润。</a:t>
            </a:r>
            <a:endParaRPr lang="zh-CN" altLang="en-US" dirty="0">
              <a:solidFill>
                <a:srgbClr val="000066"/>
              </a:solidFill>
              <a:latin typeface="Times New Roman" panose="02020603050405020304" pitchFamily="18" charset="0"/>
            </a:endParaRPr>
          </a:p>
        </p:txBody>
      </p:sp>
      <p:graphicFrame>
        <p:nvGraphicFramePr>
          <p:cNvPr id="80896" name="Object 1024"/>
          <p:cNvGraphicFramePr/>
          <p:nvPr/>
        </p:nvGraphicFramePr>
        <p:xfrm>
          <a:off x="779463" y="4800600"/>
          <a:ext cx="7146925" cy="685800"/>
        </p:xfrm>
        <a:graphic>
          <a:graphicData uri="http://schemas.openxmlformats.org/presentationml/2006/ole">
            <mc:AlternateContent xmlns:mc="http://schemas.openxmlformats.org/markup-compatibility/2006">
              <mc:Choice xmlns:v="urn:schemas-microsoft-com:vml" Requires="v">
                <p:oleObj spid="_x0000_s3090" name="" r:id="rId1" imgW="2310130" imgH="292100" progId="Equation.3">
                  <p:embed/>
                </p:oleObj>
              </mc:Choice>
              <mc:Fallback>
                <p:oleObj name="" r:id="rId1" imgW="2310130" imgH="292100" progId="Equation.3">
                  <p:embed/>
                  <p:pic>
                    <p:nvPicPr>
                      <p:cNvPr id="0" name="图片 3089"/>
                      <p:cNvPicPr/>
                      <p:nvPr/>
                    </p:nvPicPr>
                    <p:blipFill>
                      <a:blip r:embed="rId2"/>
                      <a:stretch>
                        <a:fillRect/>
                      </a:stretch>
                    </p:blipFill>
                    <p:spPr>
                      <a:xfrm>
                        <a:off x="779463" y="4800600"/>
                        <a:ext cx="7146925" cy="6858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0247"/>
                                        </p:tgtEl>
                                        <p:attrNameLst>
                                          <p:attrName>style.visibility</p:attrName>
                                        </p:attrNameLst>
                                      </p:cBhvr>
                                      <p:to>
                                        <p:strVal val="visible"/>
                                      </p:to>
                                    </p:set>
                                    <p:animEffect transition="in" filter="checkerboard(across)">
                                      <p:cBhvr>
                                        <p:cTn id="11" dur="500"/>
                                        <p:tgtEl>
                                          <p:spTgt spid="10247"/>
                                        </p:tgtEl>
                                      </p:cBhvr>
                                    </p:animEffect>
                                  </p:childTnLst>
                                </p:cTn>
                              </p:par>
                            </p:childTnLst>
                          </p:cTn>
                        </p:par>
                        <p:par>
                          <p:cTn id="12" fill="hold">
                            <p:stCondLst>
                              <p:cond delay="500"/>
                            </p:stCondLst>
                            <p:childTnLst>
                              <p:par>
                                <p:cTn id="13" presetID="9" presetClass="entr" presetSubtype="0" fill="hold" nodeType="afterEffect">
                                  <p:stCondLst>
                                    <p:cond delay="0"/>
                                  </p:stCondLst>
                                  <p:childTnLst>
                                    <p:set>
                                      <p:cBhvr>
                                        <p:cTn id="14" dur="1" fill="hold">
                                          <p:stCondLst>
                                            <p:cond delay="0"/>
                                          </p:stCondLst>
                                        </p:cTn>
                                        <p:tgtEl>
                                          <p:spTgt spid="18491"/>
                                        </p:tgtEl>
                                        <p:attrNameLst>
                                          <p:attrName>style.visibility</p:attrName>
                                        </p:attrNameLst>
                                      </p:cBhvr>
                                      <p:to>
                                        <p:strVal val="visible"/>
                                      </p:to>
                                    </p:set>
                                    <p:animEffect transition="in" filter="dissolve">
                                      <p:cBhvr>
                                        <p:cTn id="15" dur="500"/>
                                        <p:tgtEl>
                                          <p:spTgt spid="18491"/>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18527"/>
                                        </p:tgtEl>
                                        <p:attrNameLst>
                                          <p:attrName>style.visibility</p:attrName>
                                        </p:attrNameLst>
                                      </p:cBhvr>
                                      <p:to>
                                        <p:strVal val="visible"/>
                                      </p:to>
                                    </p:set>
                                    <p:anim calcmode="lin" valueType="num">
                                      <p:cBhvr>
                                        <p:cTn id="20" dur="500" fill="hold"/>
                                        <p:tgtEl>
                                          <p:spTgt spid="18527"/>
                                        </p:tgtEl>
                                        <p:attrNameLst>
                                          <p:attrName>ppt_x</p:attrName>
                                        </p:attrNameLst>
                                      </p:cBhvr>
                                      <p:tavLst>
                                        <p:tav tm="0">
                                          <p:val>
                                            <p:strVal val="#ppt_x-#ppt_w/2"/>
                                          </p:val>
                                        </p:tav>
                                        <p:tav tm="100000">
                                          <p:val>
                                            <p:strVal val="#ppt_x"/>
                                          </p:val>
                                        </p:tav>
                                      </p:tavLst>
                                    </p:anim>
                                    <p:anim calcmode="lin" valueType="num">
                                      <p:cBhvr>
                                        <p:cTn id="21" dur="500" fill="hold"/>
                                        <p:tgtEl>
                                          <p:spTgt spid="18527"/>
                                        </p:tgtEl>
                                        <p:attrNameLst>
                                          <p:attrName>ppt_y</p:attrName>
                                        </p:attrNameLst>
                                      </p:cBhvr>
                                      <p:tavLst>
                                        <p:tav tm="0">
                                          <p:val>
                                            <p:strVal val="#ppt_y"/>
                                          </p:val>
                                        </p:tav>
                                        <p:tav tm="100000">
                                          <p:val>
                                            <p:strVal val="#ppt_y"/>
                                          </p:val>
                                        </p:tav>
                                      </p:tavLst>
                                    </p:anim>
                                    <p:anim calcmode="lin" valueType="num">
                                      <p:cBhvr>
                                        <p:cTn id="22" dur="500" fill="hold"/>
                                        <p:tgtEl>
                                          <p:spTgt spid="18527"/>
                                        </p:tgtEl>
                                        <p:attrNameLst>
                                          <p:attrName>ppt_w</p:attrName>
                                        </p:attrNameLst>
                                      </p:cBhvr>
                                      <p:tavLst>
                                        <p:tav tm="0">
                                          <p:val>
                                            <p:fltVal val="0.000000"/>
                                          </p:val>
                                        </p:tav>
                                        <p:tav tm="100000">
                                          <p:val>
                                            <p:strVal val="#ppt_w"/>
                                          </p:val>
                                        </p:tav>
                                      </p:tavLst>
                                    </p:anim>
                                    <p:anim calcmode="lin" valueType="num">
                                      <p:cBhvr>
                                        <p:cTn id="23" dur="500" fill="hold"/>
                                        <p:tgtEl>
                                          <p:spTgt spid="18527"/>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8528"/>
                                        </p:tgtEl>
                                        <p:attrNameLst>
                                          <p:attrName>style.visibility</p:attrName>
                                        </p:attrNameLst>
                                      </p:cBhvr>
                                      <p:to>
                                        <p:strVal val="visible"/>
                                      </p:to>
                                    </p:set>
                                    <p:anim calcmode="lin" valueType="num">
                                      <p:cBhvr>
                                        <p:cTn id="28" dur="500" fill="hold"/>
                                        <p:tgtEl>
                                          <p:spTgt spid="18528"/>
                                        </p:tgtEl>
                                        <p:attrNameLst>
                                          <p:attrName>ppt_x</p:attrName>
                                        </p:attrNameLst>
                                      </p:cBhvr>
                                      <p:tavLst>
                                        <p:tav tm="0">
                                          <p:val>
                                            <p:strVal val="#ppt_x-#ppt_w/2"/>
                                          </p:val>
                                        </p:tav>
                                        <p:tav tm="100000">
                                          <p:val>
                                            <p:strVal val="#ppt_x"/>
                                          </p:val>
                                        </p:tav>
                                      </p:tavLst>
                                    </p:anim>
                                    <p:anim calcmode="lin" valueType="num">
                                      <p:cBhvr>
                                        <p:cTn id="29" dur="500" fill="hold"/>
                                        <p:tgtEl>
                                          <p:spTgt spid="18528"/>
                                        </p:tgtEl>
                                        <p:attrNameLst>
                                          <p:attrName>ppt_y</p:attrName>
                                        </p:attrNameLst>
                                      </p:cBhvr>
                                      <p:tavLst>
                                        <p:tav tm="0">
                                          <p:val>
                                            <p:strVal val="#ppt_y"/>
                                          </p:val>
                                        </p:tav>
                                        <p:tav tm="100000">
                                          <p:val>
                                            <p:strVal val="#ppt_y"/>
                                          </p:val>
                                        </p:tav>
                                      </p:tavLst>
                                    </p:anim>
                                    <p:anim calcmode="lin" valueType="num">
                                      <p:cBhvr>
                                        <p:cTn id="30" dur="500" fill="hold"/>
                                        <p:tgtEl>
                                          <p:spTgt spid="18528"/>
                                        </p:tgtEl>
                                        <p:attrNameLst>
                                          <p:attrName>ppt_w</p:attrName>
                                        </p:attrNameLst>
                                      </p:cBhvr>
                                      <p:tavLst>
                                        <p:tav tm="0">
                                          <p:val>
                                            <p:fltVal val="0.000000"/>
                                          </p:val>
                                        </p:tav>
                                        <p:tav tm="100000">
                                          <p:val>
                                            <p:strVal val="#ppt_w"/>
                                          </p:val>
                                        </p:tav>
                                      </p:tavLst>
                                    </p:anim>
                                    <p:anim calcmode="lin" valueType="num">
                                      <p:cBhvr>
                                        <p:cTn id="31" dur="500" fill="hold"/>
                                        <p:tgtEl>
                                          <p:spTgt spid="18528"/>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8518"/>
                                        </p:tgtEl>
                                        <p:attrNameLst>
                                          <p:attrName>style.visibility</p:attrName>
                                        </p:attrNameLst>
                                      </p:cBhvr>
                                      <p:to>
                                        <p:strVal val="visible"/>
                                      </p:to>
                                    </p:set>
                                    <p:animEffect transition="in" filter="checkerboard(across)">
                                      <p:cBhvr>
                                        <p:cTn id="36" dur="500"/>
                                        <p:tgtEl>
                                          <p:spTgt spid="18518"/>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80896"/>
                                        </p:tgtEl>
                                        <p:attrNameLst>
                                          <p:attrName>style.visibility</p:attrName>
                                        </p:attrNameLst>
                                      </p:cBhvr>
                                      <p:to>
                                        <p:strVal val="visible"/>
                                      </p:to>
                                    </p:set>
                                    <p:animEffect transition="in" filter="barn(outVertical)">
                                      <p:cBhvr>
                                        <p:cTn id="41" dur="500"/>
                                        <p:tgtEl>
                                          <p:spTgt spid="80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8" grpId="0" animBg="1"/>
      <p:bldP spid="18527" grpId="0" animBg="1"/>
      <p:bldP spid="18434" grpId="0"/>
      <p:bldP spid="18518"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72" name="Rectangle 16"/>
          <p:cNvSpPr/>
          <p:nvPr/>
        </p:nvSpPr>
        <p:spPr>
          <a:xfrm>
            <a:off x="8001000" y="2362200"/>
            <a:ext cx="685800" cy="6096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19471" name="Rectangle 15"/>
          <p:cNvSpPr/>
          <p:nvPr/>
        </p:nvSpPr>
        <p:spPr>
          <a:xfrm>
            <a:off x="6019800" y="1828800"/>
            <a:ext cx="1447800" cy="4572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19470" name="Rectangle 14"/>
          <p:cNvSpPr/>
          <p:nvPr/>
        </p:nvSpPr>
        <p:spPr>
          <a:xfrm>
            <a:off x="5105400" y="2438400"/>
            <a:ext cx="838200" cy="5334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19469" name="Rectangle 13"/>
          <p:cNvSpPr/>
          <p:nvPr/>
        </p:nvSpPr>
        <p:spPr>
          <a:xfrm>
            <a:off x="1752600" y="4114800"/>
            <a:ext cx="5715000" cy="6858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8" name="Rectangle 12"/>
          <p:cNvSpPr/>
          <p:nvPr/>
        </p:nvSpPr>
        <p:spPr>
          <a:xfrm>
            <a:off x="1752600" y="35052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7" name="Rectangle 11"/>
          <p:cNvSpPr/>
          <p:nvPr/>
        </p:nvSpPr>
        <p:spPr>
          <a:xfrm>
            <a:off x="1752600" y="28956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6" name="Rectangle 10"/>
          <p:cNvSpPr/>
          <p:nvPr/>
        </p:nvSpPr>
        <p:spPr>
          <a:xfrm>
            <a:off x="1752600" y="22860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4" name="Rectangle 8"/>
          <p:cNvSpPr/>
          <p:nvPr/>
        </p:nvSpPr>
        <p:spPr>
          <a:xfrm>
            <a:off x="1752600" y="16764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3" name="Rectangle 7"/>
          <p:cNvSpPr/>
          <p:nvPr/>
        </p:nvSpPr>
        <p:spPr>
          <a:xfrm>
            <a:off x="1752600" y="10668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62" name="Rectangle 6"/>
          <p:cNvSpPr/>
          <p:nvPr/>
        </p:nvSpPr>
        <p:spPr>
          <a:xfrm>
            <a:off x="1752600" y="533400"/>
            <a:ext cx="5715000" cy="6096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aphicFrame>
        <p:nvGraphicFramePr>
          <p:cNvPr id="11266" name="Object 1024"/>
          <p:cNvGraphicFramePr/>
          <p:nvPr/>
        </p:nvGraphicFramePr>
        <p:xfrm>
          <a:off x="457200" y="533400"/>
          <a:ext cx="8289925" cy="4306888"/>
        </p:xfrm>
        <a:graphic>
          <a:graphicData uri="http://schemas.openxmlformats.org/presentationml/2006/ole">
            <mc:AlternateContent xmlns:mc="http://schemas.openxmlformats.org/markup-compatibility/2006">
              <mc:Choice xmlns:v="urn:schemas-microsoft-com:vml" Requires="v">
                <p:oleObj spid="_x0000_s3092" name="" r:id="rId1" imgW="2908300" imgH="1625600" progId="Equation.3">
                  <p:embed/>
                </p:oleObj>
              </mc:Choice>
              <mc:Fallback>
                <p:oleObj name="" r:id="rId1" imgW="2908300" imgH="1625600" progId="Equation.3">
                  <p:embed/>
                  <p:pic>
                    <p:nvPicPr>
                      <p:cNvPr id="0" name="图片 3091"/>
                      <p:cNvPicPr/>
                      <p:nvPr/>
                    </p:nvPicPr>
                    <p:blipFill>
                      <a:blip r:embed="rId2"/>
                      <a:stretch>
                        <a:fillRect/>
                      </a:stretch>
                    </p:blipFill>
                    <p:spPr>
                      <a:xfrm>
                        <a:off x="457200" y="533400"/>
                        <a:ext cx="8289925" cy="4306888"/>
                      </a:xfrm>
                      <a:prstGeom prst="rect">
                        <a:avLst/>
                      </a:prstGeom>
                      <a:noFill/>
                      <a:ln w="38100">
                        <a:noFill/>
                        <a:miter/>
                      </a:ln>
                    </p:spPr>
                  </p:pic>
                </p:oleObj>
              </mc:Fallback>
            </mc:AlternateContent>
          </a:graphicData>
        </a:graphic>
      </p:graphicFrame>
      <p:sp>
        <p:nvSpPr>
          <p:cNvPr id="19460" name="Text Box 4"/>
          <p:cNvSpPr txBox="1"/>
          <p:nvPr/>
        </p:nvSpPr>
        <p:spPr>
          <a:xfrm>
            <a:off x="228600" y="4973638"/>
            <a:ext cx="8686800" cy="519112"/>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40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），此时最大利润为</a:t>
            </a:r>
            <a:r>
              <a:rPr lang="en-US" altLang="zh-CN" dirty="0">
                <a:solidFill>
                  <a:srgbClr val="000066"/>
                </a:solidFill>
                <a:latin typeface="Times New Roman" panose="02020603050405020304" pitchFamily="18" charset="0"/>
              </a:rPr>
              <a:t>120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
        <p:nvSpPr>
          <p:cNvPr id="19461" name="Text Box 5"/>
          <p:cNvSpPr txBox="1"/>
          <p:nvPr/>
        </p:nvSpPr>
        <p:spPr>
          <a:xfrm>
            <a:off x="228600" y="5715000"/>
            <a:ext cx="8686800"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同理可求得其它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2</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的值。</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Effect transition="in" filter="blinds(horizontal)">
                                      <p:cBhvr>
                                        <p:cTn id="7" dur="500"/>
                                        <p:tgtEl>
                                          <p:spTgt spid="19462"/>
                                        </p:tgtEl>
                                      </p:cBhvr>
                                    </p:animEffect>
                                  </p:childTnLst>
                                  <p:subTnLst>
                                    <p:set>
                                      <p:cBhvr override="childStyle">
                                        <p:cTn dur="1" fill="hold" display="0" masterRel="nextClick" afterEffect="1"/>
                                        <p:tgtEl>
                                          <p:spTgt spid="1946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checkerboard(across)">
                                      <p:cBhvr>
                                        <p:cTn id="12" dur="500"/>
                                        <p:tgtEl>
                                          <p:spTgt spid="19463"/>
                                        </p:tgtEl>
                                      </p:cBhvr>
                                    </p:animEffect>
                                  </p:childTnLst>
                                  <p:subTnLst>
                                    <p:set>
                                      <p:cBhvr override="childStyle">
                                        <p:cTn dur="1" fill="hold" display="0" masterRel="nextClick" afterEffect="1"/>
                                        <p:tgtEl>
                                          <p:spTgt spid="1946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9464"/>
                                        </p:tgtEl>
                                        <p:attrNameLst>
                                          <p:attrName>style.visibility</p:attrName>
                                        </p:attrNameLst>
                                      </p:cBhvr>
                                      <p:to>
                                        <p:strVal val="visible"/>
                                      </p:to>
                                    </p:set>
                                    <p:animEffect transition="in" filter="box(in)">
                                      <p:cBhvr>
                                        <p:cTn id="17" dur="500"/>
                                        <p:tgtEl>
                                          <p:spTgt spid="19464"/>
                                        </p:tgtEl>
                                      </p:cBhvr>
                                    </p:animEffect>
                                  </p:childTnLst>
                                  <p:subTnLst>
                                    <p:set>
                                      <p:cBhvr override="childStyle">
                                        <p:cTn dur="1" fill="hold" display="0" masterRel="nextClick" afterEffect="1"/>
                                        <p:tgtEl>
                                          <p:spTgt spid="1946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9466"/>
                                        </p:tgtEl>
                                        <p:attrNameLst>
                                          <p:attrName>style.visibility</p:attrName>
                                        </p:attrNameLst>
                                      </p:cBhvr>
                                      <p:to>
                                        <p:strVal val="visible"/>
                                      </p:to>
                                    </p:set>
                                    <p:animEffect transition="in" filter="barn(outHorizontal)">
                                      <p:cBhvr>
                                        <p:cTn id="22" dur="500"/>
                                        <p:tgtEl>
                                          <p:spTgt spid="19466"/>
                                        </p:tgtEl>
                                      </p:cBhvr>
                                    </p:animEffect>
                                  </p:childTnLst>
                                  <p:subTnLst>
                                    <p:set>
                                      <p:cBhvr override="childStyle">
                                        <p:cTn dur="1" fill="hold" display="0" masterRel="nextClick" afterEffect="1"/>
                                        <p:tgtEl>
                                          <p:spTgt spid="1946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9467"/>
                                        </p:tgtEl>
                                        <p:attrNameLst>
                                          <p:attrName>style.visibility</p:attrName>
                                        </p:attrNameLst>
                                      </p:cBhvr>
                                      <p:to>
                                        <p:strVal val="visible"/>
                                      </p:to>
                                    </p:set>
                                    <p:animEffect transition="in" filter="strips(downLeft)">
                                      <p:cBhvr>
                                        <p:cTn id="27" dur="500"/>
                                        <p:tgtEl>
                                          <p:spTgt spid="19467"/>
                                        </p:tgtEl>
                                      </p:cBhvr>
                                    </p:animEffect>
                                  </p:childTnLst>
                                  <p:subTnLst>
                                    <p:set>
                                      <p:cBhvr override="childStyle">
                                        <p:cTn dur="1" fill="hold" display="0" masterRel="nextClick" afterEffect="1"/>
                                        <p:tgtEl>
                                          <p:spTgt spid="19467"/>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9468"/>
                                        </p:tgtEl>
                                        <p:attrNameLst>
                                          <p:attrName>style.visibility</p:attrName>
                                        </p:attrNameLst>
                                      </p:cBhvr>
                                      <p:to>
                                        <p:strVal val="visible"/>
                                      </p:to>
                                    </p:set>
                                    <p:animEffect transition="in" filter="wipe(up)">
                                      <p:cBhvr>
                                        <p:cTn id="32" dur="500"/>
                                        <p:tgtEl>
                                          <p:spTgt spid="19468"/>
                                        </p:tgtEl>
                                      </p:cBhvr>
                                    </p:animEffect>
                                  </p:childTnLst>
                                  <p:subTnLst>
                                    <p:set>
                                      <p:cBhvr override="childStyle">
                                        <p:cTn dur="1" fill="hold" display="0" masterRel="nextClick" afterEffect="1"/>
                                        <p:tgtEl>
                                          <p:spTgt spid="19468"/>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9469"/>
                                        </p:tgtEl>
                                        <p:attrNameLst>
                                          <p:attrName>style.visibility</p:attrName>
                                        </p:attrNameLst>
                                      </p:cBhvr>
                                      <p:to>
                                        <p:strVal val="visible"/>
                                      </p:to>
                                    </p:set>
                                    <p:anim calcmode="lin" valueType="num">
                                      <p:cBhvr>
                                        <p:cTn id="37" dur="500" fill="hold"/>
                                        <p:tgtEl>
                                          <p:spTgt spid="19469"/>
                                        </p:tgtEl>
                                        <p:attrNameLst>
                                          <p:attrName>ppt_w</p:attrName>
                                        </p:attrNameLst>
                                      </p:cBhvr>
                                      <p:tavLst>
                                        <p:tav tm="0">
                                          <p:val>
                                            <p:fltVal val="0.000000"/>
                                          </p:val>
                                        </p:tav>
                                        <p:tav tm="100000">
                                          <p:val>
                                            <p:strVal val="#ppt_w"/>
                                          </p:val>
                                        </p:tav>
                                      </p:tavLst>
                                    </p:anim>
                                    <p:anim calcmode="lin" valueType="num">
                                      <p:cBhvr>
                                        <p:cTn id="38" dur="500" fill="hold"/>
                                        <p:tgtEl>
                                          <p:spTgt spid="19469"/>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946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9470"/>
                                        </p:tgtEl>
                                        <p:attrNameLst>
                                          <p:attrName>style.visibility</p:attrName>
                                        </p:attrNameLst>
                                      </p:cBhvr>
                                      <p:to>
                                        <p:strVal val="visible"/>
                                      </p:to>
                                    </p:set>
                                    <p:animEffect transition="in" filter="dissolve">
                                      <p:cBhvr>
                                        <p:cTn id="43" dur="500"/>
                                        <p:tgtEl>
                                          <p:spTgt spid="19470"/>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19471"/>
                                        </p:tgtEl>
                                        <p:attrNameLst>
                                          <p:attrName>style.visibility</p:attrName>
                                        </p:attrNameLst>
                                      </p:cBhvr>
                                      <p:to>
                                        <p:strVal val="visible"/>
                                      </p:to>
                                    </p:set>
                                    <p:animEffect transition="in" filter="dissolve">
                                      <p:cBhvr>
                                        <p:cTn id="47" dur="500"/>
                                        <p:tgtEl>
                                          <p:spTgt spid="19471"/>
                                        </p:tgtEl>
                                      </p:cBhvr>
                                    </p:animEffect>
                                  </p:childTnLst>
                                </p:cTn>
                              </p:par>
                            </p:childTnLst>
                          </p:cTn>
                        </p:par>
                        <p:par>
                          <p:cTn id="48" fill="hold">
                            <p:stCondLst>
                              <p:cond delay="1000"/>
                            </p:stCondLst>
                            <p:childTnLst>
                              <p:par>
                                <p:cTn id="49" presetID="9" presetClass="entr" presetSubtype="0" fill="hold" grpId="0" nodeType="afterEffect">
                                  <p:stCondLst>
                                    <p:cond delay="0"/>
                                  </p:stCondLst>
                                  <p:childTnLst>
                                    <p:set>
                                      <p:cBhvr>
                                        <p:cTn id="50" dur="1" fill="hold">
                                          <p:stCondLst>
                                            <p:cond delay="0"/>
                                          </p:stCondLst>
                                        </p:cTn>
                                        <p:tgtEl>
                                          <p:spTgt spid="19472"/>
                                        </p:tgtEl>
                                        <p:attrNameLst>
                                          <p:attrName>style.visibility</p:attrName>
                                        </p:attrNameLst>
                                      </p:cBhvr>
                                      <p:to>
                                        <p:strVal val="visible"/>
                                      </p:to>
                                    </p:set>
                                    <p:animEffect transition="in" filter="dissolve">
                                      <p:cBhvr>
                                        <p:cTn id="51" dur="500"/>
                                        <p:tgtEl>
                                          <p:spTgt spid="1947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9460"/>
                                        </p:tgtEl>
                                        <p:attrNameLst>
                                          <p:attrName>style.visibility</p:attrName>
                                        </p:attrNameLst>
                                      </p:cBhvr>
                                      <p:to>
                                        <p:strVal val="visible"/>
                                      </p:to>
                                    </p:set>
                                    <p:animEffect transition="in" filter="blinds(horizontal)">
                                      <p:cBhvr>
                                        <p:cTn id="56" dur="500"/>
                                        <p:tgtEl>
                                          <p:spTgt spid="19460"/>
                                        </p:tgtEl>
                                      </p:cBhvr>
                                    </p:animEffect>
                                  </p:childTnLst>
                                </p:cTn>
                              </p:par>
                            </p:childTnLst>
                          </p:cTn>
                        </p:par>
                        <p:par>
                          <p:cTn id="57" fill="hold">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19461"/>
                                        </p:tgtEl>
                                        <p:attrNameLst>
                                          <p:attrName>style.visibility</p:attrName>
                                        </p:attrNameLst>
                                      </p:cBhvr>
                                      <p:to>
                                        <p:strVal val="visible"/>
                                      </p:to>
                                    </p:set>
                                    <p:animEffect transition="in" filter="dissolve">
                                      <p:cBhvr>
                                        <p:cTn id="60"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2" grpId="0" animBg="1"/>
      <p:bldP spid="19471" grpId="0" animBg="1"/>
      <p:bldP spid="19470" grpId="0" animBg="1"/>
      <p:bldP spid="19469" grpId="0" animBg="1"/>
      <p:bldP spid="19468" grpId="0" animBg="1"/>
      <p:bldP spid="19467" grpId="0" animBg="1"/>
      <p:bldP spid="19466" grpId="0" animBg="1"/>
      <p:bldP spid="19464" grpId="0" animBg="1"/>
      <p:bldP spid="19463" grpId="0" animBg="1"/>
      <p:bldP spid="19462" grpId="0" animBg="1"/>
      <p:bldP spid="19460" grpId="0"/>
      <p:bldP spid="19461"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2290" name="Object 1024"/>
          <p:cNvGraphicFramePr/>
          <p:nvPr/>
        </p:nvGraphicFramePr>
        <p:xfrm>
          <a:off x="1008063" y="431800"/>
          <a:ext cx="7108825" cy="4533900"/>
        </p:xfrm>
        <a:graphic>
          <a:graphicData uri="http://schemas.openxmlformats.org/presentationml/2006/ole">
            <mc:AlternateContent xmlns:mc="http://schemas.openxmlformats.org/markup-compatibility/2006">
              <mc:Choice xmlns:v="urn:schemas-microsoft-com:vml" Requires="v">
                <p:oleObj spid="_x0000_s3091" name="" r:id="rId1" imgW="2298700" imgH="1930400" progId="Equation.3">
                  <p:embed/>
                </p:oleObj>
              </mc:Choice>
              <mc:Fallback>
                <p:oleObj name="" r:id="rId1" imgW="2298700" imgH="1930400" progId="Equation.3">
                  <p:embed/>
                  <p:pic>
                    <p:nvPicPr>
                      <p:cNvPr id="0" name="图片 3090"/>
                      <p:cNvPicPr/>
                      <p:nvPr/>
                    </p:nvPicPr>
                    <p:blipFill>
                      <a:blip r:embed="rId2"/>
                      <a:stretch>
                        <a:fillRect/>
                      </a:stretch>
                    </p:blipFill>
                    <p:spPr>
                      <a:xfrm>
                        <a:off x="1008063" y="431800"/>
                        <a:ext cx="7108825" cy="4533900"/>
                      </a:xfrm>
                      <a:prstGeom prst="rect">
                        <a:avLst/>
                      </a:prstGeom>
                      <a:noFill/>
                      <a:ln w="38100">
                        <a:noFill/>
                        <a:miter/>
                      </a:ln>
                    </p:spPr>
                  </p:pic>
                </p:oleObj>
              </mc:Fallback>
            </mc:AlternateContent>
          </a:graphicData>
        </a:graphic>
      </p:graphicFrame>
      <p:sp>
        <p:nvSpPr>
          <p:cNvPr id="12292" name="Rectangle 3"/>
          <p:cNvSpPr/>
          <p:nvPr/>
        </p:nvSpPr>
        <p:spPr>
          <a:xfrm>
            <a:off x="304800" y="5181600"/>
            <a:ext cx="82454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30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），此时最大利润为</a:t>
            </a:r>
            <a:r>
              <a:rPr lang="en-US" altLang="zh-CN" dirty="0">
                <a:solidFill>
                  <a:srgbClr val="000066"/>
                </a:solidFill>
                <a:latin typeface="Times New Roman" panose="02020603050405020304" pitchFamily="18" charset="0"/>
              </a:rPr>
              <a:t>105</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3314" name="Object 1024"/>
          <p:cNvGraphicFramePr/>
          <p:nvPr/>
        </p:nvGraphicFramePr>
        <p:xfrm>
          <a:off x="989013" y="292100"/>
          <a:ext cx="7146925" cy="1700213"/>
        </p:xfrm>
        <a:graphic>
          <a:graphicData uri="http://schemas.openxmlformats.org/presentationml/2006/ole">
            <mc:AlternateContent xmlns:mc="http://schemas.openxmlformats.org/markup-compatibility/2006">
              <mc:Choice xmlns:v="urn:schemas-microsoft-com:vml" Requires="v">
                <p:oleObj spid="_x0000_s3099" name="" r:id="rId1" imgW="2310130" imgH="723900" progId="Equation.3">
                  <p:embed/>
                </p:oleObj>
              </mc:Choice>
              <mc:Fallback>
                <p:oleObj name="" r:id="rId1" imgW="2310130" imgH="723900" progId="Equation.3">
                  <p:embed/>
                  <p:pic>
                    <p:nvPicPr>
                      <p:cNvPr id="0" name="图片 3098"/>
                      <p:cNvPicPr/>
                      <p:nvPr/>
                    </p:nvPicPr>
                    <p:blipFill>
                      <a:blip r:embed="rId2"/>
                      <a:stretch>
                        <a:fillRect/>
                      </a:stretch>
                    </p:blipFill>
                    <p:spPr>
                      <a:xfrm>
                        <a:off x="989013" y="292100"/>
                        <a:ext cx="7146925" cy="1700213"/>
                      </a:xfrm>
                      <a:prstGeom prst="rect">
                        <a:avLst/>
                      </a:prstGeom>
                      <a:noFill/>
                      <a:ln w="38100">
                        <a:noFill/>
                        <a:miter/>
                      </a:ln>
                    </p:spPr>
                  </p:pic>
                </p:oleObj>
              </mc:Fallback>
            </mc:AlternateContent>
          </a:graphicData>
        </a:graphic>
      </p:graphicFrame>
      <p:sp>
        <p:nvSpPr>
          <p:cNvPr id="21507" name="Rectangle 3"/>
          <p:cNvSpPr/>
          <p:nvPr/>
        </p:nvSpPr>
        <p:spPr>
          <a:xfrm>
            <a:off x="381000" y="2057400"/>
            <a:ext cx="80676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），此时最大利润为</a:t>
            </a:r>
            <a:r>
              <a:rPr lang="en-US" altLang="zh-CN" dirty="0">
                <a:solidFill>
                  <a:srgbClr val="000066"/>
                </a:solidFill>
                <a:latin typeface="Times New Roman" panose="02020603050405020304" pitchFamily="18" charset="0"/>
              </a:rPr>
              <a:t>90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graphicFrame>
        <p:nvGraphicFramePr>
          <p:cNvPr id="83969" name="Object 1025"/>
          <p:cNvGraphicFramePr/>
          <p:nvPr/>
        </p:nvGraphicFramePr>
        <p:xfrm>
          <a:off x="1044575" y="3187700"/>
          <a:ext cx="7186613" cy="1700213"/>
        </p:xfrm>
        <a:graphic>
          <a:graphicData uri="http://schemas.openxmlformats.org/presentationml/2006/ole">
            <mc:AlternateContent xmlns:mc="http://schemas.openxmlformats.org/markup-compatibility/2006">
              <mc:Choice xmlns:v="urn:schemas-microsoft-com:vml" Requires="v">
                <p:oleObj spid="_x0000_s3096" name="" r:id="rId3" imgW="2322830" imgH="723900" progId="Equation.3">
                  <p:embed/>
                </p:oleObj>
              </mc:Choice>
              <mc:Fallback>
                <p:oleObj name="" r:id="rId3" imgW="2322830" imgH="723900" progId="Equation.3">
                  <p:embed/>
                  <p:pic>
                    <p:nvPicPr>
                      <p:cNvPr id="0" name="图片 3095"/>
                      <p:cNvPicPr/>
                      <p:nvPr/>
                    </p:nvPicPr>
                    <p:blipFill>
                      <a:blip r:embed="rId4"/>
                      <a:stretch>
                        <a:fillRect/>
                      </a:stretch>
                    </p:blipFill>
                    <p:spPr>
                      <a:xfrm>
                        <a:off x="1044575" y="3187700"/>
                        <a:ext cx="7186613" cy="1700213"/>
                      </a:xfrm>
                      <a:prstGeom prst="rect">
                        <a:avLst/>
                      </a:prstGeom>
                      <a:noFill/>
                      <a:ln w="38100">
                        <a:noFill/>
                        <a:miter/>
                      </a:ln>
                    </p:spPr>
                  </p:pic>
                </p:oleObj>
              </mc:Fallback>
            </mc:AlternateContent>
          </a:graphicData>
        </a:graphic>
      </p:graphicFrame>
      <p:sp>
        <p:nvSpPr>
          <p:cNvPr id="21509" name="Rectangle 5"/>
          <p:cNvSpPr/>
          <p:nvPr/>
        </p:nvSpPr>
        <p:spPr>
          <a:xfrm>
            <a:off x="457200" y="4953000"/>
            <a:ext cx="80676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10</a:t>
            </a:r>
            <a:r>
              <a:rPr lang="zh-CN" altLang="en-US" dirty="0">
                <a:solidFill>
                  <a:srgbClr val="000066"/>
                </a:solidFill>
                <a:latin typeface="Times New Roman" panose="02020603050405020304" pitchFamily="18" charset="0"/>
              </a:rPr>
              <a:t>），此时最大利润为</a:t>
            </a:r>
            <a:r>
              <a:rPr lang="en-US" altLang="zh-CN" dirty="0">
                <a:solidFill>
                  <a:srgbClr val="000066"/>
                </a:solidFill>
                <a:latin typeface="Times New Roman" panose="02020603050405020304" pitchFamily="18" charset="0"/>
              </a:rPr>
              <a:t>70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500" fill="hold"/>
                                        <p:tgtEl>
                                          <p:spTgt spid="21507"/>
                                        </p:tgtEl>
                                        <p:attrNameLst>
                                          <p:attrName>ppt_w</p:attrName>
                                        </p:attrNameLst>
                                      </p:cBhvr>
                                      <p:tavLst>
                                        <p:tav tm="0">
                                          <p:val>
                                            <p:fltVal val="0.000000"/>
                                          </p:val>
                                        </p:tav>
                                        <p:tav tm="100000">
                                          <p:val>
                                            <p:strVal val="#ppt_w"/>
                                          </p:val>
                                        </p:tav>
                                      </p:tavLst>
                                    </p:anim>
                                    <p:anim calcmode="lin" valueType="num">
                                      <p:cBhvr>
                                        <p:cTn id="8" dur="500" fill="hold"/>
                                        <p:tgtEl>
                                          <p:spTgt spid="21507"/>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3969"/>
                                        </p:tgtEl>
                                        <p:attrNameLst>
                                          <p:attrName>style.visibility</p:attrName>
                                        </p:attrNameLst>
                                      </p:cBhvr>
                                      <p:to>
                                        <p:strVal val="visible"/>
                                      </p:to>
                                    </p:set>
                                    <p:animEffect transition="in" filter="blinds(horizontal)">
                                      <p:cBhvr>
                                        <p:cTn id="13" dur="500"/>
                                        <p:tgtEl>
                                          <p:spTgt spid="8396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21509"/>
                                        </p:tgtEl>
                                        <p:attrNameLst>
                                          <p:attrName>style.visibility</p:attrName>
                                        </p:attrNameLst>
                                      </p:cBhvr>
                                      <p:to>
                                        <p:strVal val="visible"/>
                                      </p:to>
                                    </p:set>
                                    <p:animEffect transition="in" filter="barn(outHorizontal)">
                                      <p:cBhvr>
                                        <p:cTn id="18"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9"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4338" name="Object 1024"/>
          <p:cNvGraphicFramePr/>
          <p:nvPr/>
        </p:nvGraphicFramePr>
        <p:xfrm>
          <a:off x="1146175" y="292100"/>
          <a:ext cx="6832600" cy="1700213"/>
        </p:xfrm>
        <a:graphic>
          <a:graphicData uri="http://schemas.openxmlformats.org/presentationml/2006/ole">
            <mc:AlternateContent xmlns:mc="http://schemas.openxmlformats.org/markup-compatibility/2006">
              <mc:Choice xmlns:v="urn:schemas-microsoft-com:vml" Requires="v">
                <p:oleObj spid="_x0000_s3097" name="" r:id="rId1" imgW="2208530" imgH="723900" progId="Equation.3">
                  <p:embed/>
                </p:oleObj>
              </mc:Choice>
              <mc:Fallback>
                <p:oleObj name="" r:id="rId1" imgW="2208530" imgH="723900" progId="Equation.3">
                  <p:embed/>
                  <p:pic>
                    <p:nvPicPr>
                      <p:cNvPr id="0" name="图片 3096"/>
                      <p:cNvPicPr/>
                      <p:nvPr/>
                    </p:nvPicPr>
                    <p:blipFill>
                      <a:blip r:embed="rId2"/>
                      <a:stretch>
                        <a:fillRect/>
                      </a:stretch>
                    </p:blipFill>
                    <p:spPr>
                      <a:xfrm>
                        <a:off x="1146175" y="292100"/>
                        <a:ext cx="6832600" cy="1700213"/>
                      </a:xfrm>
                      <a:prstGeom prst="rect">
                        <a:avLst/>
                      </a:prstGeom>
                      <a:noFill/>
                      <a:ln w="38100">
                        <a:noFill/>
                        <a:miter/>
                      </a:ln>
                    </p:spPr>
                  </p:pic>
                </p:oleObj>
              </mc:Fallback>
            </mc:AlternateContent>
          </a:graphicData>
        </a:graphic>
      </p:graphicFrame>
      <p:graphicFrame>
        <p:nvGraphicFramePr>
          <p:cNvPr id="84993" name="Object 1025"/>
          <p:cNvGraphicFramePr/>
          <p:nvPr/>
        </p:nvGraphicFramePr>
        <p:xfrm>
          <a:off x="1312863" y="2654300"/>
          <a:ext cx="6438900" cy="1700213"/>
        </p:xfrm>
        <a:graphic>
          <a:graphicData uri="http://schemas.openxmlformats.org/presentationml/2006/ole">
            <mc:AlternateContent xmlns:mc="http://schemas.openxmlformats.org/markup-compatibility/2006">
              <mc:Choice xmlns:v="urn:schemas-microsoft-com:vml" Requires="v">
                <p:oleObj spid="_x0000_s3098" name="" r:id="rId3" imgW="2082165" imgH="723900" progId="Equation.3">
                  <p:embed/>
                </p:oleObj>
              </mc:Choice>
              <mc:Fallback>
                <p:oleObj name="" r:id="rId3" imgW="2082165" imgH="723900" progId="Equation.3">
                  <p:embed/>
                  <p:pic>
                    <p:nvPicPr>
                      <p:cNvPr id="0" name="图片 3097"/>
                      <p:cNvPicPr/>
                      <p:nvPr/>
                    </p:nvPicPr>
                    <p:blipFill>
                      <a:blip r:embed="rId4"/>
                      <a:stretch>
                        <a:fillRect/>
                      </a:stretch>
                    </p:blipFill>
                    <p:spPr>
                      <a:xfrm>
                        <a:off x="1312863" y="2654300"/>
                        <a:ext cx="6438900" cy="1700213"/>
                      </a:xfrm>
                      <a:prstGeom prst="rect">
                        <a:avLst/>
                      </a:prstGeom>
                      <a:noFill/>
                      <a:ln w="38100">
                        <a:noFill/>
                        <a:miter/>
                      </a:ln>
                    </p:spPr>
                  </p:pic>
                </p:oleObj>
              </mc:Fallback>
            </mc:AlternateContent>
          </a:graphicData>
        </a:graphic>
      </p:graphicFrame>
      <p:sp>
        <p:nvSpPr>
          <p:cNvPr id="22533" name="Rectangle 5"/>
          <p:cNvSpPr/>
          <p:nvPr/>
        </p:nvSpPr>
        <p:spPr>
          <a:xfrm>
            <a:off x="304800" y="4343400"/>
            <a:ext cx="8596313" cy="946150"/>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10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）或（ </a:t>
            </a:r>
            <a:r>
              <a:rPr lang="en-US" altLang="zh-CN" dirty="0">
                <a:solidFill>
                  <a:srgbClr val="000066"/>
                </a:solidFill>
                <a:latin typeface="Times New Roman" panose="02020603050405020304" pitchFamily="18" charset="0"/>
              </a:rPr>
              <a:t>0 </a:t>
            </a:r>
            <a:r>
              <a:rPr lang="zh-CN" altLang="en-US" dirty="0">
                <a:solidFill>
                  <a:srgbClr val="000066"/>
                </a:solidFill>
                <a:latin typeface="Times New Roman" panose="02020603050405020304" pitchFamily="18" charset="0"/>
              </a:rPr>
              <a:t>， </a:t>
            </a:r>
            <a:r>
              <a:rPr lang="en-US" altLang="zh-CN" dirty="0">
                <a:solidFill>
                  <a:srgbClr val="000066"/>
                </a:solidFill>
                <a:latin typeface="Times New Roman" panose="02020603050405020304" pitchFamily="18" charset="0"/>
              </a:rPr>
              <a:t>10 </a:t>
            </a:r>
            <a:r>
              <a:rPr lang="zh-CN" altLang="en-US" dirty="0">
                <a:solidFill>
                  <a:srgbClr val="000066"/>
                </a:solidFill>
                <a:latin typeface="Times New Roman" panose="02020603050405020304" pitchFamily="18" charset="0"/>
              </a:rPr>
              <a:t>） ，此时最大利润为</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
        <p:nvSpPr>
          <p:cNvPr id="22534" name="Text Box 6"/>
          <p:cNvSpPr txBox="1"/>
          <p:nvPr/>
        </p:nvSpPr>
        <p:spPr>
          <a:xfrm>
            <a:off x="179388" y="5334000"/>
            <a:ext cx="8964612" cy="946150"/>
          </a:xfrm>
          <a:prstGeom prst="rect">
            <a:avLst/>
          </a:prstGeom>
          <a:noFill/>
          <a:ln w="9525">
            <a:noFill/>
          </a:ln>
        </p:spPr>
        <p:txBody>
          <a:bodyPr>
            <a:spAutoFit/>
          </a:bodyPr>
          <a:p>
            <a:r>
              <a:rPr lang="en-US" altLang="zh-CN" b="0" i="1" dirty="0">
                <a:solidFill>
                  <a:srgbClr val="000066"/>
                </a:solidFill>
                <a:latin typeface="Times New Roman" panose="02020603050405020304" pitchFamily="18" charset="0"/>
              </a:rPr>
              <a:t>     </a:t>
            </a:r>
            <a:r>
              <a:rPr lang="en-US" altLang="zh-CN" b="0" i="1" dirty="0">
                <a:latin typeface="Times New Roman" panose="02020603050405020304" pitchFamily="18" charset="0"/>
              </a:rPr>
              <a:t>f</a:t>
            </a:r>
            <a:r>
              <a:rPr lang="en-US" altLang="zh-CN" b="0" i="1" baseline="-25000" dirty="0">
                <a:latin typeface="Times New Roman" panose="02020603050405020304" pitchFamily="18" charset="0"/>
              </a:rPr>
              <a:t>2</a:t>
            </a:r>
            <a:r>
              <a:rPr lang="en-US" altLang="zh-CN" b="0" dirty="0">
                <a:latin typeface="Times New Roman" panose="02020603050405020304" pitchFamily="18" charset="0"/>
              </a:rPr>
              <a:t>(0)</a:t>
            </a:r>
            <a:r>
              <a:rPr lang="en-US" altLang="zh-CN" dirty="0">
                <a:latin typeface="Times New Roman" panose="02020603050405020304" pitchFamily="18" charset="0"/>
              </a:rPr>
              <a:t> </a:t>
            </a:r>
            <a:r>
              <a:rPr lang="zh-CN" altLang="en-US" dirty="0">
                <a:latin typeface="Times New Roman" panose="02020603050405020304" pitchFamily="18" charset="0"/>
              </a:rPr>
              <a:t>＝</a:t>
            </a:r>
            <a:r>
              <a:rPr lang="en-US" altLang="zh-CN" b="0" dirty="0">
                <a:latin typeface="Times New Roman" panose="02020603050405020304" pitchFamily="18" charset="0"/>
              </a:rPr>
              <a:t>0</a:t>
            </a:r>
            <a:r>
              <a:rPr lang="zh-CN" altLang="en-US" dirty="0">
                <a:latin typeface="Times New Roman" panose="02020603050405020304" pitchFamily="18" charset="0"/>
              </a:rPr>
              <a:t>。</a:t>
            </a:r>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），最大利润为</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得到下表</a:t>
            </a:r>
            <a:endParaRPr lang="zh-CN" altLang="en-US" dirty="0">
              <a:solidFill>
                <a:srgbClr val="000066"/>
              </a:solidFill>
              <a:latin typeface="Times New Roman" panose="02020603050405020304" pitchFamily="18" charset="0"/>
            </a:endParaRPr>
          </a:p>
        </p:txBody>
      </p:sp>
      <p:sp>
        <p:nvSpPr>
          <p:cNvPr id="22538" name="Rectangle 10"/>
          <p:cNvSpPr/>
          <p:nvPr/>
        </p:nvSpPr>
        <p:spPr>
          <a:xfrm>
            <a:off x="533400" y="2057400"/>
            <a:ext cx="7889875" cy="519113"/>
          </a:xfrm>
          <a:prstGeom prst="rect">
            <a:avLst/>
          </a:prstGeom>
          <a:noFill/>
          <a:ln w="9525">
            <a:noFill/>
          </a:ln>
        </p:spPr>
        <p:txBody>
          <a:bodyPr wrap="none">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0</a:t>
            </a:r>
            <a:r>
              <a:rPr lang="zh-CN" altLang="en-US" dirty="0">
                <a:solidFill>
                  <a:srgbClr val="000066"/>
                </a:solidFill>
                <a:latin typeface="Times New Roman" panose="02020603050405020304" pitchFamily="18" charset="0"/>
              </a:rPr>
              <a:t>），此时最大利润为</a:t>
            </a:r>
            <a:r>
              <a:rPr lang="en-US" altLang="zh-CN" dirty="0">
                <a:solidFill>
                  <a:srgbClr val="000066"/>
                </a:solidFill>
                <a:latin typeface="Times New Roman" panose="02020603050405020304" pitchFamily="18" charset="0"/>
              </a:rPr>
              <a:t>50</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8"/>
                                        </p:tgtEl>
                                        <p:attrNameLst>
                                          <p:attrName>style.visibility</p:attrName>
                                        </p:attrNameLst>
                                      </p:cBhvr>
                                      <p:to>
                                        <p:strVal val="visible"/>
                                      </p:to>
                                    </p:set>
                                    <p:animEffect transition="in" filter="blinds(horizontal)">
                                      <p:cBhvr>
                                        <p:cTn id="7" dur="500"/>
                                        <p:tgtEl>
                                          <p:spTgt spid="2253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4993"/>
                                        </p:tgtEl>
                                        <p:attrNameLst>
                                          <p:attrName>style.visibility</p:attrName>
                                        </p:attrNameLst>
                                      </p:cBhvr>
                                      <p:to>
                                        <p:strVal val="visible"/>
                                      </p:to>
                                    </p:set>
                                    <p:animEffect transition="in" filter="checkerboard(across)">
                                      <p:cBhvr>
                                        <p:cTn id="12" dur="500"/>
                                        <p:tgtEl>
                                          <p:spTgt spid="8499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2533"/>
                                        </p:tgtEl>
                                        <p:attrNameLst>
                                          <p:attrName>style.visibility</p:attrName>
                                        </p:attrNameLst>
                                      </p:cBhvr>
                                      <p:to>
                                        <p:strVal val="visible"/>
                                      </p:to>
                                    </p:set>
                                    <p:animEffect transition="in" filter="randombar(horizontal)">
                                      <p:cBhvr>
                                        <p:cTn id="17" dur="500"/>
                                        <p:tgtEl>
                                          <p:spTgt spid="2253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2534"/>
                                        </p:tgtEl>
                                        <p:attrNameLst>
                                          <p:attrName>style.visibility</p:attrName>
                                        </p:attrNameLst>
                                      </p:cBhvr>
                                      <p:to>
                                        <p:strVal val="visible"/>
                                      </p:to>
                                    </p:set>
                                    <p:animEffect transition="in" filter="barn(inVertical)">
                                      <p:cBhvr>
                                        <p:cTn id="22" dur="5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22534" grpId="0"/>
      <p:bldP spid="22538"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600" name="Rectangle 48"/>
          <p:cNvSpPr/>
          <p:nvPr/>
        </p:nvSpPr>
        <p:spPr>
          <a:xfrm>
            <a:off x="2057400" y="2133600"/>
            <a:ext cx="6858000" cy="914400"/>
          </a:xfrm>
          <a:prstGeom prst="rect">
            <a:avLst/>
          </a:prstGeom>
          <a:solidFill>
            <a:srgbClr val="EAEAEA"/>
          </a:solidFill>
          <a:ln w="9525">
            <a:noFill/>
          </a:ln>
        </p:spPr>
        <p:txBody>
          <a:bodyPr wrap="none" anchor="ctr" anchorCtr="0"/>
          <a:p>
            <a:endParaRPr lang="zh-CN" altLang="en-US" dirty="0">
              <a:latin typeface="Times New Roman" panose="02020603050405020304" pitchFamily="18" charset="0"/>
            </a:endParaRPr>
          </a:p>
        </p:txBody>
      </p:sp>
      <p:sp>
        <p:nvSpPr>
          <p:cNvPr id="23599" name="Rectangle 47"/>
          <p:cNvSpPr/>
          <p:nvPr/>
        </p:nvSpPr>
        <p:spPr>
          <a:xfrm>
            <a:off x="2057400" y="1676400"/>
            <a:ext cx="6858000" cy="457200"/>
          </a:xfrm>
          <a:prstGeom prst="rect">
            <a:avLst/>
          </a:prstGeom>
          <a:solidFill>
            <a:schemeClr val="fo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15366" name="表格 15365"/>
          <p:cNvGraphicFramePr/>
          <p:nvPr/>
        </p:nvGraphicFramePr>
        <p:xfrm>
          <a:off x="228600" y="914400"/>
          <a:ext cx="8686800" cy="2114550"/>
        </p:xfrm>
        <a:graphic>
          <a:graphicData uri="http://schemas.openxmlformats.org/drawingml/2006/table">
            <a:tbl>
              <a:tblPr/>
              <a:tblGrid>
                <a:gridCol w="1828800"/>
                <a:gridCol w="914400"/>
                <a:gridCol w="914400"/>
                <a:gridCol w="990600"/>
                <a:gridCol w="990600"/>
                <a:gridCol w="1066800"/>
                <a:gridCol w="990600"/>
                <a:gridCol w="990600"/>
              </a:tblGrid>
              <a:tr h="7620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Times New Roman" panose="02020603050405020304" pitchFamily="18" charset="0"/>
                        </a:rPr>
                        <a:t>                   </a:t>
                      </a:r>
                      <a:r>
                        <a:rPr lang="zh-CN" altLang="en-US" sz="2000" dirty="0">
                          <a:latin typeface="Times New Roman" panose="02020603050405020304" pitchFamily="18" charset="0"/>
                        </a:rPr>
                        <a:t>投资</a:t>
                      </a:r>
                      <a:endParaRPr lang="zh-CN" altLang="en-US" sz="2000" dirty="0">
                        <a:latin typeface="Times New Roman" panose="02020603050405020304" pitchFamily="18" charset="0"/>
                      </a:endParaRPr>
                    </a:p>
                    <a:p>
                      <a:pPr lvl="0" eaLnBrk="1" hangingPunct="1">
                        <a:spcBef>
                          <a:spcPct val="20000"/>
                        </a:spcBef>
                        <a:buNone/>
                      </a:pPr>
                      <a:r>
                        <a:rPr lang="zh-CN" altLang="en-US" sz="2000" dirty="0">
                          <a:latin typeface="Times New Roman" panose="02020603050405020304" pitchFamily="18" charset="0"/>
                        </a:rPr>
                        <a:t>利润</a:t>
                      </a:r>
                      <a:endParaRPr lang="zh-CN" altLang="en-US" sz="2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f</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70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90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9535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400" dirty="0">
                          <a:latin typeface="Times New Roman" panose="02020603050405020304" pitchFamily="18" charset="0"/>
                        </a:rPr>
                        <a:t>最优策略</a:t>
                      </a:r>
                      <a:endParaRPr lang="zh-CN" altLang="en-US"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(10,0)</a:t>
                      </a:r>
                      <a:endParaRPr lang="en-US" altLang="zh-CN" sz="2400" dirty="0">
                        <a:solidFill>
                          <a:srgbClr val="990000"/>
                        </a:solidFill>
                        <a:latin typeface="Times New Roman" panose="02020603050405020304" pitchFamily="18" charset="0"/>
                        <a:ea typeface="宋体" panose="02010600030101010101" pitchFamily="2" charset="-122"/>
                      </a:endParaRPr>
                    </a:p>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(0,10)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(20,10)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(30,20)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(40,20)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5404" name="Line 40"/>
          <p:cNvSpPr/>
          <p:nvPr/>
        </p:nvSpPr>
        <p:spPr>
          <a:xfrm flipH="1" flipV="1">
            <a:off x="228600" y="914400"/>
            <a:ext cx="1828800" cy="762000"/>
          </a:xfrm>
          <a:prstGeom prst="line">
            <a:avLst/>
          </a:prstGeom>
          <a:ln w="9525" cap="flat" cmpd="sng">
            <a:solidFill>
              <a:schemeClr val="tx1"/>
            </a:solidFill>
            <a:prstDash val="solid"/>
            <a:headEnd type="none" w="med" len="med"/>
            <a:tailEnd type="none" w="med" len="med"/>
          </a:ln>
        </p:spPr>
      </p:sp>
      <p:sp>
        <p:nvSpPr>
          <p:cNvPr id="23594" name="Rectangle 42"/>
          <p:cNvSpPr/>
          <p:nvPr/>
        </p:nvSpPr>
        <p:spPr>
          <a:xfrm>
            <a:off x="228600" y="3505200"/>
            <a:ext cx="8631238" cy="946150"/>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第三阶段：求 </a:t>
            </a:r>
            <a:r>
              <a:rPr lang="en-US" altLang="zh-CN" i="1" dirty="0">
                <a:solidFill>
                  <a:srgbClr val="000066"/>
                </a:solidFill>
                <a:latin typeface="Times New Roman" panose="02020603050405020304" pitchFamily="18" charset="0"/>
              </a:rPr>
              <a:t>f</a:t>
            </a:r>
            <a:r>
              <a:rPr lang="en-US" altLang="zh-CN" i="1" baseline="-25000" dirty="0">
                <a:solidFill>
                  <a:srgbClr val="000066"/>
                </a:solidFill>
                <a:latin typeface="Times New Roman" panose="02020603050405020304" pitchFamily="18" charset="0"/>
              </a:rPr>
              <a:t>3</a:t>
            </a:r>
            <a:r>
              <a:rPr lang="en-US" altLang="zh-CN" dirty="0">
                <a:solidFill>
                  <a:srgbClr val="000066"/>
                </a:solidFill>
                <a:latin typeface="Times New Roman" panose="02020603050405020304" pitchFamily="18" charset="0"/>
              </a:rPr>
              <a:t>(</a:t>
            </a:r>
            <a:r>
              <a:rPr lang="en-US" altLang="zh-CN" i="1" dirty="0">
                <a:solidFill>
                  <a:srgbClr val="000066"/>
                </a:solidFill>
                <a:latin typeface="Times New Roman" panose="02020603050405020304" pitchFamily="18" charset="0"/>
              </a:rPr>
              <a:t>x</a:t>
            </a:r>
            <a:r>
              <a:rPr lang="en-US" altLang="zh-CN" dirty="0">
                <a:solidFill>
                  <a:srgbClr val="000066"/>
                </a:solidFill>
                <a:latin typeface="Times New Roman" panose="02020603050405020304" pitchFamily="18" charset="0"/>
              </a:rPr>
              <a:t>)</a:t>
            </a:r>
            <a:r>
              <a:rPr lang="zh-CN" altLang="en-US" dirty="0">
                <a:solidFill>
                  <a:srgbClr val="000066"/>
                </a:solidFill>
                <a:latin typeface="Times New Roman" panose="02020603050405020304" pitchFamily="18" charset="0"/>
              </a:rPr>
              <a:t>。此时需考虑第一、第二及第三个工厂如何进行投资分配，以取得最大的总利润。</a:t>
            </a:r>
            <a:endParaRPr lang="zh-CN" altLang="en-US" dirty="0">
              <a:solidFill>
                <a:srgbClr val="000066"/>
              </a:solidFill>
              <a:latin typeface="Times New Roman" panose="02020603050405020304" pitchFamily="18" charset="0"/>
            </a:endParaRPr>
          </a:p>
        </p:txBody>
      </p:sp>
      <p:graphicFrame>
        <p:nvGraphicFramePr>
          <p:cNvPr id="86016" name="Object 1024"/>
          <p:cNvGraphicFramePr/>
          <p:nvPr/>
        </p:nvGraphicFramePr>
        <p:xfrm>
          <a:off x="779463" y="4800600"/>
          <a:ext cx="7146925" cy="685800"/>
        </p:xfrm>
        <a:graphic>
          <a:graphicData uri="http://schemas.openxmlformats.org/presentationml/2006/ole">
            <mc:AlternateContent xmlns:mc="http://schemas.openxmlformats.org/markup-compatibility/2006">
              <mc:Choice xmlns:v="urn:schemas-microsoft-com:vml" Requires="v">
                <p:oleObj spid="_x0000_s3101" name="" r:id="rId1" imgW="2310130" imgH="292100" progId="Equation.3">
                  <p:embed/>
                </p:oleObj>
              </mc:Choice>
              <mc:Fallback>
                <p:oleObj name="" r:id="rId1" imgW="2310130" imgH="292100" progId="Equation.3">
                  <p:embed/>
                  <p:pic>
                    <p:nvPicPr>
                      <p:cNvPr id="0" name="图片 3100"/>
                      <p:cNvPicPr/>
                      <p:nvPr/>
                    </p:nvPicPr>
                    <p:blipFill>
                      <a:blip r:embed="rId2"/>
                      <a:stretch>
                        <a:fillRect/>
                      </a:stretch>
                    </p:blipFill>
                    <p:spPr>
                      <a:xfrm>
                        <a:off x="779463" y="4800600"/>
                        <a:ext cx="7146925" cy="6858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3599"/>
                                        </p:tgtEl>
                                        <p:attrNameLst>
                                          <p:attrName>style.visibility</p:attrName>
                                        </p:attrNameLst>
                                      </p:cBhvr>
                                      <p:to>
                                        <p:strVal val="visible"/>
                                      </p:to>
                                    </p:set>
                                    <p:animEffect transition="in" filter="barn(outVertical)">
                                      <p:cBhvr>
                                        <p:cTn id="7" dur="500"/>
                                        <p:tgtEl>
                                          <p:spTgt spid="235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3600"/>
                                        </p:tgtEl>
                                        <p:attrNameLst>
                                          <p:attrName>style.visibility</p:attrName>
                                        </p:attrNameLst>
                                      </p:cBhvr>
                                      <p:to>
                                        <p:strVal val="visible"/>
                                      </p:to>
                                    </p:set>
                                    <p:animEffect transition="in" filter="barn(outVertical)">
                                      <p:cBhvr>
                                        <p:cTn id="12" dur="500"/>
                                        <p:tgtEl>
                                          <p:spTgt spid="236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94"/>
                                        </p:tgtEl>
                                        <p:attrNameLst>
                                          <p:attrName>style.visibility</p:attrName>
                                        </p:attrNameLst>
                                      </p:cBhvr>
                                      <p:to>
                                        <p:strVal val="visible"/>
                                      </p:to>
                                    </p:set>
                                    <p:animEffect transition="in" filter="wipe(up)">
                                      <p:cBhvr>
                                        <p:cTn id="17" dur="500"/>
                                        <p:tgtEl>
                                          <p:spTgt spid="235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6016"/>
                                        </p:tgtEl>
                                        <p:attrNameLst>
                                          <p:attrName>style.visibility</p:attrName>
                                        </p:attrNameLst>
                                      </p:cBhvr>
                                      <p:to>
                                        <p:strVal val="visible"/>
                                      </p:to>
                                    </p:set>
                                    <p:animEffect transition="in" filter="blinds(horizontal)">
                                      <p:cBhvr>
                                        <p:cTn id="22" dur="500"/>
                                        <p:tgtEl>
                                          <p:spTgt spid="86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00" grpId="0" animBg="1"/>
      <p:bldP spid="23599" grpId="0" animBg="1"/>
      <p:bldP spid="2359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4584" name="Rectangle 8"/>
          <p:cNvSpPr/>
          <p:nvPr/>
        </p:nvSpPr>
        <p:spPr>
          <a:xfrm>
            <a:off x="8001000" y="2362200"/>
            <a:ext cx="762000" cy="5334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4582" name="Rectangle 6"/>
          <p:cNvSpPr/>
          <p:nvPr/>
        </p:nvSpPr>
        <p:spPr>
          <a:xfrm>
            <a:off x="5943600" y="2362200"/>
            <a:ext cx="1447800" cy="5334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4581" name="Rectangle 5"/>
          <p:cNvSpPr/>
          <p:nvPr/>
        </p:nvSpPr>
        <p:spPr>
          <a:xfrm>
            <a:off x="1676400" y="2362200"/>
            <a:ext cx="2743200" cy="6096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graphicFrame>
        <p:nvGraphicFramePr>
          <p:cNvPr id="16386" name="Object 1024"/>
          <p:cNvGraphicFramePr/>
          <p:nvPr/>
        </p:nvGraphicFramePr>
        <p:xfrm>
          <a:off x="304800" y="457200"/>
          <a:ext cx="8505825" cy="4373563"/>
        </p:xfrm>
        <a:graphic>
          <a:graphicData uri="http://schemas.openxmlformats.org/presentationml/2006/ole">
            <mc:AlternateContent xmlns:mc="http://schemas.openxmlformats.org/markup-compatibility/2006">
              <mc:Choice xmlns:v="urn:schemas-microsoft-com:vml" Requires="v">
                <p:oleObj spid="_x0000_s3100" name="" r:id="rId1" imgW="2984500" imgH="1651000" progId="Equation.3">
                  <p:embed/>
                </p:oleObj>
              </mc:Choice>
              <mc:Fallback>
                <p:oleObj name="" r:id="rId1" imgW="2984500" imgH="1651000" progId="Equation.3">
                  <p:embed/>
                  <p:pic>
                    <p:nvPicPr>
                      <p:cNvPr id="0" name="图片 3099"/>
                      <p:cNvPicPr/>
                      <p:nvPr/>
                    </p:nvPicPr>
                    <p:blipFill>
                      <a:blip r:embed="rId2"/>
                      <a:stretch>
                        <a:fillRect/>
                      </a:stretch>
                    </p:blipFill>
                    <p:spPr>
                      <a:xfrm>
                        <a:off x="304800" y="457200"/>
                        <a:ext cx="8505825" cy="4373563"/>
                      </a:xfrm>
                      <a:prstGeom prst="rect">
                        <a:avLst/>
                      </a:prstGeom>
                      <a:noFill/>
                      <a:ln w="38100">
                        <a:noFill/>
                        <a:miter/>
                      </a:ln>
                    </p:spPr>
                  </p:pic>
                </p:oleObj>
              </mc:Fallback>
            </mc:AlternateContent>
          </a:graphicData>
        </a:graphic>
      </p:graphicFrame>
      <p:sp>
        <p:nvSpPr>
          <p:cNvPr id="16391" name="Rectangle 3"/>
          <p:cNvSpPr/>
          <p:nvPr/>
        </p:nvSpPr>
        <p:spPr>
          <a:xfrm>
            <a:off x="304800" y="5181600"/>
            <a:ext cx="8610600"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最优策略为（</a:t>
            </a:r>
            <a:r>
              <a:rPr lang="en-US" altLang="zh-CN" dirty="0">
                <a:solidFill>
                  <a:srgbClr val="000066"/>
                </a:solidFill>
                <a:latin typeface="Times New Roman" panose="02020603050405020304" pitchFamily="18" charset="0"/>
              </a:rPr>
              <a:t>20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10</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30</a:t>
            </a:r>
            <a:r>
              <a:rPr lang="zh-CN" altLang="en-US" dirty="0">
                <a:solidFill>
                  <a:srgbClr val="000066"/>
                </a:solidFill>
                <a:latin typeface="Times New Roman" panose="02020603050405020304" pitchFamily="18" charset="0"/>
              </a:rPr>
              <a:t>），最大利润为</a:t>
            </a:r>
            <a:r>
              <a:rPr lang="en-US" altLang="zh-CN" dirty="0">
                <a:solidFill>
                  <a:srgbClr val="000066"/>
                </a:solidFill>
                <a:latin typeface="Times New Roman" panose="02020603050405020304" pitchFamily="18" charset="0"/>
              </a:rPr>
              <a:t>155</a:t>
            </a:r>
            <a:r>
              <a:rPr lang="zh-CN" altLang="en-US" dirty="0">
                <a:solidFill>
                  <a:srgbClr val="000066"/>
                </a:solidFill>
                <a:latin typeface="Times New Roman" panose="02020603050405020304" pitchFamily="18" charset="0"/>
              </a:rPr>
              <a:t>万元。</a:t>
            </a:r>
            <a:endParaRPr lang="zh-CN" altLang="en-US" dirty="0">
              <a:solidFill>
                <a:srgbClr val="000066"/>
              </a:solidFill>
              <a:latin typeface="Times New Roman" panose="02020603050405020304" pitchFamily="18" charset="0"/>
            </a:endParaRPr>
          </a:p>
        </p:txBody>
      </p:sp>
      <p:sp>
        <p:nvSpPr>
          <p:cNvPr id="16392" name="Rectangle 4"/>
          <p:cNvSpPr/>
          <p:nvPr/>
        </p:nvSpPr>
        <p:spPr>
          <a:xfrm>
            <a:off x="1295400" y="5867400"/>
            <a:ext cx="6248400"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同理可求得其它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3</a:t>
            </a:r>
            <a:r>
              <a:rPr lang="en-US" altLang="zh-CN" b="0" dirty="0">
                <a:solidFill>
                  <a:srgbClr val="000066"/>
                </a:solidFill>
                <a:latin typeface="Times New Roman" panose="02020603050405020304" pitchFamily="18" charset="0"/>
              </a:rPr>
              <a:t>(</a:t>
            </a:r>
            <a:r>
              <a:rPr lang="en-US" altLang="zh-CN" b="0" i="1" dirty="0">
                <a:solidFill>
                  <a:srgbClr val="000066"/>
                </a:solidFill>
                <a:latin typeface="Times New Roman" panose="02020603050405020304" pitchFamily="18" charset="0"/>
              </a:rPr>
              <a:t>x</a:t>
            </a:r>
            <a:r>
              <a:rPr lang="en-US" altLang="zh-CN" b="0"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 </a:t>
            </a:r>
            <a:r>
              <a:rPr lang="zh-CN" altLang="en-US" dirty="0">
                <a:solidFill>
                  <a:srgbClr val="000066"/>
                </a:solidFill>
                <a:latin typeface="Times New Roman" panose="02020603050405020304" pitchFamily="18" charset="0"/>
              </a:rPr>
              <a:t>的值。得到下表</a:t>
            </a:r>
            <a:endParaRPr lang="zh-CN" altLang="en-US" dirty="0">
              <a:solidFill>
                <a:srgbClr val="000066"/>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blinds(horizontal)">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2"/>
                                        </p:tgtEl>
                                        <p:attrNameLst>
                                          <p:attrName>style.visibility</p:attrName>
                                        </p:attrNameLst>
                                      </p:cBhvr>
                                      <p:to>
                                        <p:strVal val="visible"/>
                                      </p:to>
                                    </p:set>
                                    <p:animEffect transition="in" filter="blinds(horizontal)">
                                      <p:cBhvr>
                                        <p:cTn id="12" dur="500"/>
                                        <p:tgtEl>
                                          <p:spTgt spid="2458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84"/>
                                        </p:tgtEl>
                                        <p:attrNameLst>
                                          <p:attrName>style.visibility</p:attrName>
                                        </p:attrNameLst>
                                      </p:cBhvr>
                                      <p:to>
                                        <p:strVal val="visible"/>
                                      </p:to>
                                    </p:set>
                                    <p:animEffect transition="in" filter="blinds(horizontal)">
                                      <p:cBhvr>
                                        <p:cTn id="17" dur="500"/>
                                        <p:tgtEl>
                                          <p:spTgt spid="24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animBg="1"/>
      <p:bldP spid="24582" grpId="0" animBg="1"/>
      <p:bldP spid="2458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728" name="Rectangle 128"/>
          <p:cNvSpPr/>
          <p:nvPr/>
        </p:nvSpPr>
        <p:spPr>
          <a:xfrm>
            <a:off x="990600" y="1676400"/>
            <a:ext cx="8153400" cy="457200"/>
          </a:xfrm>
          <a:prstGeom prst="rect">
            <a:avLst/>
          </a:prstGeom>
          <a:solidFill>
            <a:schemeClr val="folHlink"/>
          </a:solidFill>
          <a:ln w="9525">
            <a:noFill/>
          </a:ln>
        </p:spPr>
        <p:txBody>
          <a:bodyPr wrap="none" anchor="ctr" anchorCtr="0"/>
          <a:p>
            <a:endParaRPr lang="zh-CN" altLang="en-US" dirty="0">
              <a:latin typeface="Times New Roman" panose="02020603050405020304" pitchFamily="18" charset="0"/>
            </a:endParaRPr>
          </a:p>
        </p:txBody>
      </p:sp>
      <p:sp>
        <p:nvSpPr>
          <p:cNvPr id="25729" name="Rectangle 129"/>
          <p:cNvSpPr/>
          <p:nvPr/>
        </p:nvSpPr>
        <p:spPr>
          <a:xfrm>
            <a:off x="990600" y="2133600"/>
            <a:ext cx="8153400" cy="914400"/>
          </a:xfrm>
          <a:prstGeom prst="rect">
            <a:avLst/>
          </a:prstGeom>
          <a:solidFill>
            <a:srgbClr val="EAEAEA"/>
          </a:solidFill>
          <a:ln w="9525">
            <a:noFill/>
          </a:ln>
        </p:spPr>
        <p:txBody>
          <a:bodyPr wrap="none" anchor="ctr" anchorCtr="0"/>
          <a:p>
            <a:endParaRPr lang="zh-CN" altLang="en-US" dirty="0">
              <a:latin typeface="Times New Roman" panose="02020603050405020304" pitchFamily="18" charset="0"/>
            </a:endParaRPr>
          </a:p>
        </p:txBody>
      </p:sp>
      <p:graphicFrame>
        <p:nvGraphicFramePr>
          <p:cNvPr id="17414" name="表格 17413"/>
          <p:cNvGraphicFramePr/>
          <p:nvPr/>
        </p:nvGraphicFramePr>
        <p:xfrm>
          <a:off x="0" y="914400"/>
          <a:ext cx="9144000" cy="2114550"/>
        </p:xfrm>
        <a:graphic>
          <a:graphicData uri="http://schemas.openxmlformats.org/drawingml/2006/table">
            <a:tbl>
              <a:tblPr/>
              <a:tblGrid>
                <a:gridCol w="1016000"/>
                <a:gridCol w="965200"/>
                <a:gridCol w="1066800"/>
                <a:gridCol w="1143000"/>
                <a:gridCol w="1066800"/>
                <a:gridCol w="1219200"/>
                <a:gridCol w="1295400"/>
                <a:gridCol w="1371600"/>
              </a:tblGrid>
              <a:tr h="7620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Times New Roman" panose="02020603050405020304" pitchFamily="18" charset="0"/>
                        </a:rPr>
                        <a:t>     </a:t>
                      </a:r>
                      <a:r>
                        <a:rPr lang="zh-CN" altLang="en-US" sz="2000" dirty="0">
                          <a:latin typeface="Times New Roman" panose="02020603050405020304" pitchFamily="18" charset="0"/>
                        </a:rPr>
                        <a:t>投资</a:t>
                      </a:r>
                      <a:endParaRPr lang="zh-CN" altLang="en-US" sz="2000" dirty="0">
                        <a:latin typeface="Times New Roman" panose="02020603050405020304" pitchFamily="18" charset="0"/>
                      </a:endParaRPr>
                    </a:p>
                    <a:p>
                      <a:pPr lvl="0" eaLnBrk="1" hangingPunct="1">
                        <a:spcBef>
                          <a:spcPct val="20000"/>
                        </a:spcBef>
                        <a:buNone/>
                      </a:pPr>
                      <a:r>
                        <a:rPr lang="zh-CN" altLang="en-US" sz="2000" dirty="0">
                          <a:latin typeface="Times New Roman" panose="02020603050405020304" pitchFamily="18" charset="0"/>
                        </a:rPr>
                        <a:t>利润</a:t>
                      </a:r>
                      <a:endParaRPr lang="zh-CN" altLang="en-US" sz="2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f</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135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155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9535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400" dirty="0">
                          <a:latin typeface="Times New Roman" panose="02020603050405020304" pitchFamily="18" charset="0"/>
                        </a:rPr>
                        <a:t>最优</a:t>
                      </a:r>
                      <a:endParaRPr lang="zh-CN" altLang="en-US" sz="2400" dirty="0">
                        <a:latin typeface="Times New Roman" panose="02020603050405020304" pitchFamily="18" charset="0"/>
                      </a:endParaRPr>
                    </a:p>
                    <a:p>
                      <a:pPr lvl="0" algn="ctr" eaLnBrk="1" hangingPunct="1">
                        <a:spcBef>
                          <a:spcPct val="20000"/>
                        </a:spcBef>
                        <a:buNone/>
                      </a:pPr>
                      <a:r>
                        <a:rPr lang="zh-CN" altLang="en-US" sz="2400" dirty="0">
                          <a:latin typeface="Times New Roman" panose="02020603050405020304" pitchFamily="18" charset="0"/>
                        </a:rPr>
                        <a:t>策略</a:t>
                      </a:r>
                      <a:endParaRPr lang="zh-CN" altLang="en-US"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99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(0,0,0)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(0,0,10)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(0,0,20)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(0,0,30)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(20,0,20)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(20,0,30)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solidFill>
                            <a:srgbClr val="990000"/>
                          </a:solidFill>
                          <a:latin typeface="Times New Roman" panose="02020603050405020304" pitchFamily="18" charset="0"/>
                          <a:ea typeface="宋体" panose="02010600030101010101" pitchFamily="2" charset="-122"/>
                        </a:rPr>
                        <a:t>(20,10,30)</a:t>
                      </a:r>
                      <a:endParaRPr lang="en-US" altLang="zh-CN" sz="2400" dirty="0">
                        <a:solidFill>
                          <a:srgbClr val="990000"/>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7452" name="Line 78"/>
          <p:cNvSpPr/>
          <p:nvPr/>
        </p:nvSpPr>
        <p:spPr>
          <a:xfrm flipH="1" flipV="1">
            <a:off x="0" y="914400"/>
            <a:ext cx="990600" cy="762000"/>
          </a:xfrm>
          <a:prstGeom prst="line">
            <a:avLst/>
          </a:prstGeom>
          <a:ln w="9525" cap="flat" cmpd="sng">
            <a:solidFill>
              <a:schemeClr val="tx1"/>
            </a:solidFill>
            <a:prstDash val="solid"/>
            <a:headEnd type="none" w="med" len="med"/>
            <a:tailEnd type="none" w="med" len="med"/>
          </a:ln>
        </p:spPr>
      </p:sp>
      <p:sp>
        <p:nvSpPr>
          <p:cNvPr id="25723" name="Rectangle 123"/>
          <p:cNvSpPr/>
          <p:nvPr/>
        </p:nvSpPr>
        <p:spPr>
          <a:xfrm>
            <a:off x="228600" y="3505200"/>
            <a:ext cx="8631238" cy="519113"/>
          </a:xfrm>
          <a:prstGeom prst="rect">
            <a:avLst/>
          </a:prstGeom>
          <a:noFill/>
          <a:ln w="9525">
            <a:noFill/>
          </a:ln>
        </p:spPr>
        <p:txBody>
          <a:bodyPr>
            <a:spAutoFit/>
          </a:bodyPr>
          <a:p>
            <a:r>
              <a:rPr lang="zh-CN" altLang="en-US" dirty="0">
                <a:solidFill>
                  <a:srgbClr val="000066"/>
                </a:solidFill>
                <a:latin typeface="Times New Roman" panose="02020603050405020304" pitchFamily="18" charset="0"/>
              </a:rPr>
              <a:t>第四阶段：求 </a:t>
            </a:r>
            <a:r>
              <a:rPr lang="en-US" altLang="zh-CN" b="0" i="1" dirty="0">
                <a:solidFill>
                  <a:srgbClr val="000066"/>
                </a:solidFill>
                <a:latin typeface="Times New Roman" panose="02020603050405020304" pitchFamily="18" charset="0"/>
              </a:rPr>
              <a:t>f</a:t>
            </a:r>
            <a:r>
              <a:rPr lang="en-US" altLang="zh-CN" b="0" i="1" baseline="-25000" dirty="0">
                <a:solidFill>
                  <a:srgbClr val="000066"/>
                </a:solidFill>
                <a:latin typeface="Times New Roman" panose="02020603050405020304" pitchFamily="18" charset="0"/>
              </a:rPr>
              <a:t>4</a:t>
            </a:r>
            <a:r>
              <a:rPr lang="en-US" altLang="zh-CN" b="0" dirty="0">
                <a:solidFill>
                  <a:srgbClr val="000066"/>
                </a:solidFill>
                <a:latin typeface="Times New Roman" panose="02020603050405020304" pitchFamily="18" charset="0"/>
              </a:rPr>
              <a:t>(60)</a:t>
            </a:r>
            <a:r>
              <a:rPr lang="zh-CN" altLang="en-US" dirty="0">
                <a:solidFill>
                  <a:srgbClr val="000066"/>
                </a:solidFill>
                <a:latin typeface="Times New Roman" panose="02020603050405020304" pitchFamily="18" charset="0"/>
              </a:rPr>
              <a:t>。即问题的最优策略。</a:t>
            </a:r>
            <a:endParaRPr lang="zh-CN" altLang="en-US" dirty="0">
              <a:solidFill>
                <a:srgbClr val="000066"/>
              </a:solidFill>
              <a:latin typeface="Times New Roman" panose="02020603050405020304" pitchFamily="18" charset="0"/>
            </a:endParaRPr>
          </a:p>
        </p:txBody>
      </p:sp>
      <p:graphicFrame>
        <p:nvGraphicFramePr>
          <p:cNvPr id="88064" name="Object 1024"/>
          <p:cNvGraphicFramePr/>
          <p:nvPr/>
        </p:nvGraphicFramePr>
        <p:xfrm>
          <a:off x="781050" y="4800600"/>
          <a:ext cx="7146925" cy="685800"/>
        </p:xfrm>
        <a:graphic>
          <a:graphicData uri="http://schemas.openxmlformats.org/presentationml/2006/ole">
            <mc:AlternateContent xmlns:mc="http://schemas.openxmlformats.org/markup-compatibility/2006">
              <mc:Choice xmlns:v="urn:schemas-microsoft-com:vml" Requires="v">
                <p:oleObj spid="_x0000_s3102" name="" r:id="rId1" imgW="2310130" imgH="292100" progId="Equation.3">
                  <p:embed/>
                </p:oleObj>
              </mc:Choice>
              <mc:Fallback>
                <p:oleObj name="" r:id="rId1" imgW="2310130" imgH="292100" progId="Equation.3">
                  <p:embed/>
                  <p:pic>
                    <p:nvPicPr>
                      <p:cNvPr id="0" name="图片 3101"/>
                      <p:cNvPicPr/>
                      <p:nvPr/>
                    </p:nvPicPr>
                    <p:blipFill>
                      <a:blip r:embed="rId2"/>
                      <a:stretch>
                        <a:fillRect/>
                      </a:stretch>
                    </p:blipFill>
                    <p:spPr>
                      <a:xfrm>
                        <a:off x="781050" y="4800600"/>
                        <a:ext cx="7146925" cy="6858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5728"/>
                                        </p:tgtEl>
                                        <p:attrNameLst>
                                          <p:attrName>style.visibility</p:attrName>
                                        </p:attrNameLst>
                                      </p:cBhvr>
                                      <p:to>
                                        <p:strVal val="visible"/>
                                      </p:to>
                                    </p:set>
                                    <p:animEffect transition="in" filter="barn(outVertical)">
                                      <p:cBhvr>
                                        <p:cTn id="7" dur="500"/>
                                        <p:tgtEl>
                                          <p:spTgt spid="25728"/>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5729"/>
                                        </p:tgtEl>
                                        <p:attrNameLst>
                                          <p:attrName>style.visibility</p:attrName>
                                        </p:attrNameLst>
                                      </p:cBhvr>
                                      <p:to>
                                        <p:strVal val="visible"/>
                                      </p:to>
                                    </p:set>
                                    <p:anim calcmode="lin" valueType="num">
                                      <p:cBhvr>
                                        <p:cTn id="12" dur="500" fill="hold"/>
                                        <p:tgtEl>
                                          <p:spTgt spid="25729"/>
                                        </p:tgtEl>
                                        <p:attrNameLst>
                                          <p:attrName>ppt_x</p:attrName>
                                        </p:attrNameLst>
                                      </p:cBhvr>
                                      <p:tavLst>
                                        <p:tav tm="0">
                                          <p:val>
                                            <p:strVal val="#ppt_x-#ppt_w/2"/>
                                          </p:val>
                                        </p:tav>
                                        <p:tav tm="100000">
                                          <p:val>
                                            <p:strVal val="#ppt_x"/>
                                          </p:val>
                                        </p:tav>
                                      </p:tavLst>
                                    </p:anim>
                                    <p:anim calcmode="lin" valueType="num">
                                      <p:cBhvr>
                                        <p:cTn id="13" dur="500" fill="hold"/>
                                        <p:tgtEl>
                                          <p:spTgt spid="25729"/>
                                        </p:tgtEl>
                                        <p:attrNameLst>
                                          <p:attrName>ppt_y</p:attrName>
                                        </p:attrNameLst>
                                      </p:cBhvr>
                                      <p:tavLst>
                                        <p:tav tm="0">
                                          <p:val>
                                            <p:strVal val="#ppt_y"/>
                                          </p:val>
                                        </p:tav>
                                        <p:tav tm="100000">
                                          <p:val>
                                            <p:strVal val="#ppt_y"/>
                                          </p:val>
                                        </p:tav>
                                      </p:tavLst>
                                    </p:anim>
                                    <p:anim calcmode="lin" valueType="num">
                                      <p:cBhvr>
                                        <p:cTn id="14" dur="500" fill="hold"/>
                                        <p:tgtEl>
                                          <p:spTgt spid="25729"/>
                                        </p:tgtEl>
                                        <p:attrNameLst>
                                          <p:attrName>ppt_w</p:attrName>
                                        </p:attrNameLst>
                                      </p:cBhvr>
                                      <p:tavLst>
                                        <p:tav tm="0">
                                          <p:val>
                                            <p:fltVal val="0.000000"/>
                                          </p:val>
                                        </p:tav>
                                        <p:tav tm="100000">
                                          <p:val>
                                            <p:strVal val="#ppt_w"/>
                                          </p:val>
                                        </p:tav>
                                      </p:tavLst>
                                    </p:anim>
                                    <p:anim calcmode="lin" valueType="num">
                                      <p:cBhvr>
                                        <p:cTn id="15" dur="500" fill="hold"/>
                                        <p:tgtEl>
                                          <p:spTgt spid="25729"/>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723"/>
                                        </p:tgtEl>
                                        <p:attrNameLst>
                                          <p:attrName>style.visibility</p:attrName>
                                        </p:attrNameLst>
                                      </p:cBhvr>
                                      <p:to>
                                        <p:strVal val="visible"/>
                                      </p:to>
                                    </p:set>
                                    <p:animEffect transition="in" filter="blinds(horizontal)">
                                      <p:cBhvr>
                                        <p:cTn id="20" dur="500"/>
                                        <p:tgtEl>
                                          <p:spTgt spid="2572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88064"/>
                                        </p:tgtEl>
                                        <p:attrNameLst>
                                          <p:attrName>style.visibility</p:attrName>
                                        </p:attrNameLst>
                                      </p:cBhvr>
                                      <p:to>
                                        <p:strVal val="visible"/>
                                      </p:to>
                                    </p:set>
                                    <p:animEffect transition="in" filter="dissolve">
                                      <p:cBhvr>
                                        <p:cTn id="25" dur="500"/>
                                        <p:tgtEl>
                                          <p:spTgt spid="88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28" grpId="0" animBg="1"/>
      <p:bldP spid="25729" grpId="0" animBg="1"/>
      <p:bldP spid="25723"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30" name="Rectangle 6"/>
          <p:cNvSpPr/>
          <p:nvPr/>
        </p:nvSpPr>
        <p:spPr>
          <a:xfrm>
            <a:off x="8001000" y="2362200"/>
            <a:ext cx="838200" cy="5334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6629" name="Rectangle 5"/>
          <p:cNvSpPr/>
          <p:nvPr/>
        </p:nvSpPr>
        <p:spPr>
          <a:xfrm>
            <a:off x="6019800" y="1143000"/>
            <a:ext cx="1447800" cy="6096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sp>
        <p:nvSpPr>
          <p:cNvPr id="26628" name="Rectangle 4"/>
          <p:cNvSpPr/>
          <p:nvPr/>
        </p:nvSpPr>
        <p:spPr>
          <a:xfrm>
            <a:off x="1676400" y="1143000"/>
            <a:ext cx="2743200" cy="609600"/>
          </a:xfrm>
          <a:prstGeom prst="rect">
            <a:avLst/>
          </a:prstGeom>
          <a:solidFill>
            <a:schemeClr val="accent1"/>
          </a:solidFill>
          <a:ln w="9525">
            <a:noFill/>
          </a:ln>
        </p:spPr>
        <p:txBody>
          <a:bodyPr wrap="none" anchor="ctr" anchorCtr="0"/>
          <a:p>
            <a:endParaRPr lang="zh-CN" altLang="en-US" dirty="0">
              <a:latin typeface="Times New Roman" panose="02020603050405020304" pitchFamily="18" charset="0"/>
            </a:endParaRPr>
          </a:p>
        </p:txBody>
      </p:sp>
      <p:graphicFrame>
        <p:nvGraphicFramePr>
          <p:cNvPr id="18434" name="Object 1024"/>
          <p:cNvGraphicFramePr/>
          <p:nvPr/>
        </p:nvGraphicFramePr>
        <p:xfrm>
          <a:off x="331788" y="493713"/>
          <a:ext cx="8505825" cy="4373562"/>
        </p:xfrm>
        <a:graphic>
          <a:graphicData uri="http://schemas.openxmlformats.org/presentationml/2006/ole">
            <mc:AlternateContent xmlns:mc="http://schemas.openxmlformats.org/markup-compatibility/2006">
              <mc:Choice xmlns:v="urn:schemas-microsoft-com:vml" Requires="v">
                <p:oleObj spid="_x0000_s3103" name="" r:id="rId1" imgW="2984500" imgH="1651000" progId="Equation.3">
                  <p:embed/>
                </p:oleObj>
              </mc:Choice>
              <mc:Fallback>
                <p:oleObj name="" r:id="rId1" imgW="2984500" imgH="1651000" progId="Equation.3">
                  <p:embed/>
                  <p:pic>
                    <p:nvPicPr>
                      <p:cNvPr id="0" name="图片 3102"/>
                      <p:cNvPicPr/>
                      <p:nvPr/>
                    </p:nvPicPr>
                    <p:blipFill>
                      <a:blip r:embed="rId2"/>
                      <a:stretch>
                        <a:fillRect/>
                      </a:stretch>
                    </p:blipFill>
                    <p:spPr>
                      <a:xfrm>
                        <a:off x="331788" y="493713"/>
                        <a:ext cx="8505825" cy="4373562"/>
                      </a:xfrm>
                      <a:prstGeom prst="rect">
                        <a:avLst/>
                      </a:prstGeom>
                      <a:noFill/>
                      <a:ln w="38100">
                        <a:noFill/>
                        <a:miter/>
                      </a:ln>
                    </p:spPr>
                  </p:pic>
                </p:oleObj>
              </mc:Fallback>
            </mc:AlternateContent>
          </a:graphicData>
        </a:graphic>
      </p:graphicFrame>
      <p:sp>
        <p:nvSpPr>
          <p:cNvPr id="26627" name="Rectangle 3"/>
          <p:cNvSpPr/>
          <p:nvPr/>
        </p:nvSpPr>
        <p:spPr>
          <a:xfrm>
            <a:off x="179388" y="5257800"/>
            <a:ext cx="8839200" cy="519113"/>
          </a:xfrm>
          <a:prstGeom prst="rect">
            <a:avLst/>
          </a:prstGeom>
          <a:solidFill>
            <a:srgbClr val="CCECFF"/>
          </a:solidFill>
          <a:ln w="9525">
            <a:noFill/>
          </a:ln>
        </p:spPr>
        <p:txBody>
          <a:bodyPr>
            <a:spAutoFit/>
          </a:bodyPr>
          <a:p>
            <a:r>
              <a:rPr lang="zh-CN" altLang="en-US" dirty="0">
                <a:solidFill>
                  <a:srgbClr val="FF0000"/>
                </a:solidFill>
                <a:latin typeface="Times New Roman" panose="02020603050405020304" pitchFamily="18" charset="0"/>
              </a:rPr>
              <a:t>最优策略为（</a:t>
            </a:r>
            <a:r>
              <a:rPr lang="en-US" altLang="zh-CN" dirty="0">
                <a:solidFill>
                  <a:srgbClr val="FF0000"/>
                </a:solidFill>
                <a:latin typeface="Times New Roman" panose="02020603050405020304" pitchFamily="18" charset="0"/>
              </a:rPr>
              <a:t>20</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0</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30</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10</a:t>
            </a:r>
            <a:r>
              <a:rPr lang="zh-CN" altLang="en-US" dirty="0">
                <a:solidFill>
                  <a:srgbClr val="FF0000"/>
                </a:solidFill>
                <a:latin typeface="Times New Roman" panose="02020603050405020304" pitchFamily="18" charset="0"/>
              </a:rPr>
              <a:t>），最大利润为</a:t>
            </a:r>
            <a:r>
              <a:rPr lang="en-US" altLang="zh-CN" dirty="0">
                <a:solidFill>
                  <a:srgbClr val="FF0000"/>
                </a:solidFill>
                <a:latin typeface="Times New Roman" panose="02020603050405020304" pitchFamily="18" charset="0"/>
              </a:rPr>
              <a:t>160</a:t>
            </a:r>
            <a:r>
              <a:rPr lang="zh-CN" altLang="en-US" dirty="0">
                <a:solidFill>
                  <a:srgbClr val="FF0000"/>
                </a:solidFill>
                <a:latin typeface="Times New Roman" panose="02020603050405020304" pitchFamily="18" charset="0"/>
              </a:rPr>
              <a:t>万元。</a:t>
            </a:r>
            <a:endParaRPr lang="zh-CN" altLang="en-US" dirty="0">
              <a:solidFill>
                <a:srgbClr val="FF0000"/>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checkerboard(across)">
                                      <p:cBhvr>
                                        <p:cTn id="7" dur="5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checkerboard(across)">
                                      <p:cBhvr>
                                        <p:cTn id="12" dur="500"/>
                                        <p:tgtEl>
                                          <p:spTgt spid="2662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6630"/>
                                        </p:tgtEl>
                                        <p:attrNameLst>
                                          <p:attrName>style.visibility</p:attrName>
                                        </p:attrNameLst>
                                      </p:cBhvr>
                                      <p:to>
                                        <p:strVal val="visible"/>
                                      </p:to>
                                    </p:set>
                                    <p:animEffect transition="in" filter="checkerboard(across)">
                                      <p:cBhvr>
                                        <p:cTn id="17" dur="500"/>
                                        <p:tgtEl>
                                          <p:spTgt spid="26630"/>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26627"/>
                                        </p:tgtEl>
                                        <p:attrNameLst>
                                          <p:attrName>style.visibility</p:attrName>
                                        </p:attrNameLst>
                                      </p:cBhvr>
                                      <p:to>
                                        <p:strVal val="visible"/>
                                      </p:to>
                                    </p:set>
                                    <p:anim calcmode="lin" valueType="num">
                                      <p:cBhvr>
                                        <p:cTn id="22" dur="500" fill="hold"/>
                                        <p:tgtEl>
                                          <p:spTgt spid="26627"/>
                                        </p:tgtEl>
                                        <p:attrNameLst>
                                          <p:attrName>ppt_w</p:attrName>
                                        </p:attrNameLst>
                                      </p:cBhvr>
                                      <p:tavLst>
                                        <p:tav tm="0">
                                          <p:val>
                                            <p:fltVal val="0.000000"/>
                                          </p:val>
                                        </p:tav>
                                        <p:tav tm="100000">
                                          <p:val>
                                            <p:strVal val="#ppt_w"/>
                                          </p:val>
                                        </p:tav>
                                      </p:tavLst>
                                    </p:anim>
                                    <p:anim calcmode="lin" valueType="num">
                                      <p:cBhvr>
                                        <p:cTn id="23" dur="500" fill="hold"/>
                                        <p:tgtEl>
                                          <p:spTgt spid="266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p:bldP spid="26629" grpId="0" animBg="1"/>
      <p:bldP spid="26628" grpId="0" animBg="1"/>
      <p:bldP spid="2662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9154" name="Text Box 2"/>
          <p:cNvSpPr txBox="1"/>
          <p:nvPr/>
        </p:nvSpPr>
        <p:spPr>
          <a:xfrm>
            <a:off x="228600" y="685800"/>
            <a:ext cx="8686800" cy="1860550"/>
          </a:xfrm>
          <a:prstGeom prst="rect">
            <a:avLst/>
          </a:prstGeom>
          <a:noFill/>
          <a:ln w="9525">
            <a:noFill/>
          </a:ln>
        </p:spPr>
        <p:txBody>
          <a:bodyPr>
            <a:spAutoFit/>
          </a:bodyPr>
          <a:p>
            <a:r>
              <a:rPr lang="en-US" altLang="zh-CN" sz="3200" dirty="0">
                <a:solidFill>
                  <a:srgbClr val="000066"/>
                </a:solidFill>
                <a:latin typeface="Times New Roman" panose="02020603050405020304" pitchFamily="18" charset="0"/>
              </a:rPr>
              <a:t>   </a:t>
            </a:r>
            <a:r>
              <a:rPr lang="zh-CN" altLang="en-US" sz="3200" dirty="0">
                <a:solidFill>
                  <a:srgbClr val="000066"/>
                </a:solidFill>
                <a:latin typeface="Times New Roman" panose="02020603050405020304" pitchFamily="18" charset="0"/>
              </a:rPr>
              <a:t>练习：</a:t>
            </a:r>
            <a:endParaRPr lang="zh-CN" altLang="en-US" sz="3200" dirty="0">
              <a:solidFill>
                <a:srgbClr val="000066"/>
              </a:solidFill>
              <a:latin typeface="Times New Roman" panose="02020603050405020304" pitchFamily="18" charset="0"/>
            </a:endParaRPr>
          </a:p>
          <a:p>
            <a:endParaRPr lang="zh-CN" altLang="en-US" dirty="0">
              <a:solidFill>
                <a:srgbClr val="000066"/>
              </a:solidFill>
              <a:latin typeface="Times New Roman" panose="02020603050405020304" pitchFamily="18" charset="0"/>
            </a:endParaRPr>
          </a:p>
          <a:p>
            <a:r>
              <a:rPr lang="zh-CN" altLang="en-US" dirty="0">
                <a:solidFill>
                  <a:srgbClr val="000066"/>
                </a:solidFill>
                <a:latin typeface="Times New Roman" panose="02020603050405020304" pitchFamily="18" charset="0"/>
              </a:rPr>
              <a:t>  求投资分配问题得最优策略，其中</a:t>
            </a:r>
            <a:r>
              <a:rPr lang="en-US" altLang="zh-CN" i="1" dirty="0">
                <a:solidFill>
                  <a:srgbClr val="000066"/>
                </a:solidFill>
                <a:latin typeface="Times New Roman" panose="02020603050405020304" pitchFamily="18" charset="0"/>
              </a:rPr>
              <a:t>a</a:t>
            </a: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50 </a:t>
            </a:r>
            <a:r>
              <a:rPr lang="zh-CN" altLang="en-US" dirty="0">
                <a:solidFill>
                  <a:srgbClr val="000066"/>
                </a:solidFill>
                <a:latin typeface="Times New Roman" panose="02020603050405020304" pitchFamily="18" charset="0"/>
              </a:rPr>
              <a:t>万元，其余资料如表所示。</a:t>
            </a:r>
            <a:endParaRPr lang="zh-CN" altLang="en-US" dirty="0">
              <a:solidFill>
                <a:srgbClr val="000066"/>
              </a:solidFill>
              <a:latin typeface="Times New Roman" panose="02020603050405020304" pitchFamily="18" charset="0"/>
            </a:endParaRPr>
          </a:p>
        </p:txBody>
      </p:sp>
      <p:graphicFrame>
        <p:nvGraphicFramePr>
          <p:cNvPr id="49155" name="表格 49154"/>
          <p:cNvGraphicFramePr/>
          <p:nvPr/>
        </p:nvGraphicFramePr>
        <p:xfrm>
          <a:off x="762000" y="2819400"/>
          <a:ext cx="7600950" cy="2066925"/>
        </p:xfrm>
        <a:graphic>
          <a:graphicData uri="http://schemas.openxmlformats.org/drawingml/2006/table">
            <a:tbl>
              <a:tblPr/>
              <a:tblGrid>
                <a:gridCol w="1085850"/>
                <a:gridCol w="1085850"/>
                <a:gridCol w="1085850"/>
                <a:gridCol w="1085850"/>
                <a:gridCol w="1085850"/>
                <a:gridCol w="1085850"/>
                <a:gridCol w="1085850"/>
              </a:tblGrid>
              <a:tr h="695325">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Times New Roman" panose="02020603050405020304" pitchFamily="18" charset="0"/>
                        </a:rPr>
                        <a:t>       </a:t>
                      </a:r>
                      <a:r>
                        <a:rPr lang="zh-CN" altLang="en-US" sz="1800" dirty="0">
                          <a:latin typeface="Times New Roman" panose="02020603050405020304" pitchFamily="18" charset="0"/>
                        </a:rPr>
                        <a:t>投资</a:t>
                      </a:r>
                      <a:endParaRPr lang="zh-CN" altLang="en-US" sz="1800" dirty="0">
                        <a:latin typeface="Times New Roman" panose="02020603050405020304" pitchFamily="18" charset="0"/>
                      </a:endParaRPr>
                    </a:p>
                    <a:p>
                      <a:pPr lvl="0" eaLnBrk="1" hangingPunct="1">
                        <a:spcBef>
                          <a:spcPct val="20000"/>
                        </a:spcBef>
                        <a:buNone/>
                      </a:pPr>
                      <a:r>
                        <a:rPr lang="zh-CN" altLang="en-US" sz="1800" dirty="0">
                          <a:latin typeface="Times New Roman" panose="02020603050405020304" pitchFamily="18" charset="0"/>
                        </a:rPr>
                        <a:t>利润</a:t>
                      </a:r>
                      <a:endParaRPr lang="zh-CN" altLang="en-US" sz="18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40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52</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85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36</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73</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100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57200">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i="1" dirty="0">
                          <a:latin typeface="Times New Roman" panose="02020603050405020304" pitchFamily="18" charset="0"/>
                        </a:rPr>
                        <a:t>g</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25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65</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68</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400" dirty="0">
                          <a:latin typeface="Times New Roman" panose="02020603050405020304" pitchFamily="18" charset="0"/>
                          <a:ea typeface="宋体" panose="02010600030101010101" pitchFamily="2" charset="-122"/>
                        </a:rPr>
                        <a:t>70</a:t>
                      </a:r>
                      <a:endParaRPr lang="en-US" altLang="zh-CN" sz="240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
        <p:nvSpPr>
          <p:cNvPr id="49197" name="Line 59"/>
          <p:cNvSpPr/>
          <p:nvPr/>
        </p:nvSpPr>
        <p:spPr>
          <a:xfrm flipH="1" flipV="1">
            <a:off x="762000" y="2895600"/>
            <a:ext cx="1066800" cy="609600"/>
          </a:xfrm>
          <a:prstGeom prst="line">
            <a:avLst/>
          </a:prstGeom>
          <a:ln w="9525" cap="flat" cmpd="sng">
            <a:solidFill>
              <a:schemeClr val="tx1"/>
            </a:solidFill>
            <a:prstDash val="solid"/>
            <a:headEnd type="none" w="med" len="med"/>
            <a:tailEnd type="none" w="med" len="med"/>
          </a:ln>
        </p:spPr>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0178" name="TextBox 4"/>
          <p:cNvSpPr txBox="1"/>
          <p:nvPr/>
        </p:nvSpPr>
        <p:spPr>
          <a:xfrm>
            <a:off x="1643063" y="2586038"/>
            <a:ext cx="5786437" cy="1200150"/>
          </a:xfrm>
          <a:prstGeom prst="rect">
            <a:avLst/>
          </a:prstGeom>
          <a:noFill/>
          <a:ln w="9525">
            <a:noFill/>
          </a:ln>
        </p:spPr>
        <p:txBody>
          <a:bodyPr>
            <a:spAutoFit/>
          </a:bodyPr>
          <a:p>
            <a:pPr algn="ctr"/>
            <a:r>
              <a:rPr lang="zh-CN" altLang="en-US" sz="7200" dirty="0">
                <a:latin typeface="Times New Roman" panose="02020603050405020304" pitchFamily="18" charset="0"/>
              </a:rPr>
              <a:t>谢谢大家！</a:t>
            </a:r>
            <a:endParaRPr lang="zh-CN" altLang="en-US" sz="7200" dirty="0">
              <a:latin typeface="Times New Roman" panose="02020603050405020304" pitchFamily="18" charset="0"/>
            </a:endParaRPr>
          </a:p>
        </p:txBody>
      </p:sp>
    </p:spTree>
  </p:cSld>
  <p:clrMapOvr>
    <a:masterClrMapping/>
  </p:clrMapOvr>
  <p:transition spd="med">
    <p:random/>
  </p:transition>
</p:sld>
</file>

<file path=ppt/tags/tag1.xml><?xml version="1.0" encoding="utf-8"?>
<p:tagLst xmlns:p="http://schemas.openxmlformats.org/presentationml/2006/main">
  <p:tag name="KSO_WPP_MARK_KEY" val="fedd16aa-30d1-41b0-89e4-36c89159bfd6"/>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7315</Words>
  <Application>WPS 演示</Application>
  <PresentationFormat>全屏显示(4:3)</PresentationFormat>
  <Paragraphs>1810</Paragraphs>
  <Slides>48</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29</vt:i4>
      </vt:variant>
      <vt:variant>
        <vt:lpstr>幻灯片标题</vt:lpstr>
      </vt:variant>
      <vt:variant>
        <vt:i4>48</vt:i4>
      </vt:variant>
    </vt:vector>
  </HeadingPairs>
  <TitlesOfParts>
    <vt:vector size="90" baseType="lpstr">
      <vt:lpstr>Arial</vt:lpstr>
      <vt:lpstr>宋体</vt:lpstr>
      <vt:lpstr>Wingdings</vt:lpstr>
      <vt:lpstr>Times New Roman</vt:lpstr>
      <vt:lpstr>楷体_GB2312</vt:lpstr>
      <vt:lpstr>新宋体</vt:lpstr>
      <vt:lpstr>Calibri</vt:lpstr>
      <vt:lpstr>黑体</vt:lpstr>
      <vt:lpstr>Symbol</vt:lpstr>
      <vt:lpstr>Helvetica</vt:lpstr>
      <vt:lpstr>微软雅黑</vt:lpstr>
      <vt:lpstr>Arial Unicode MS</vt:lpstr>
      <vt:lpstr>默认设计模板</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kjdx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Albert Yang</cp:lastModifiedBy>
  <cp:revision>82</cp:revision>
  <dcterms:created xsi:type="dcterms:W3CDTF">2003-07-21T03:02:02Z</dcterms:created>
  <dcterms:modified xsi:type="dcterms:W3CDTF">2022-12-11T09:09:39Z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300CA009518B476D817C2A6E0274C938</vt:lpwstr>
  </property>
  <property fmtid="{D5CDD505-2E9C-101B-9397-08002B2CF9AE}" pid="3" name="KSOProductBuildVer">
    <vt:lpwstr>2052-11.1.0.12980</vt:lpwstr>
  </property>
</Properties>
</file>