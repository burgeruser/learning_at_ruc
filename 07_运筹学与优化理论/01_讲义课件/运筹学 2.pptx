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2"/>
  </p:handoutMasterIdLst>
  <p:sldIdLst>
    <p:sldId id="268" r:id="rId3"/>
    <p:sldId id="343" r:id="rId4"/>
    <p:sldId id="342"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75" r:id="rId22"/>
    <p:sldId id="376" r:id="rId23"/>
    <p:sldId id="359" r:id="rId24"/>
    <p:sldId id="369" r:id="rId25"/>
    <p:sldId id="370" r:id="rId26"/>
    <p:sldId id="371" r:id="rId27"/>
    <p:sldId id="373" r:id="rId28"/>
    <p:sldId id="372" r:id="rId29"/>
    <p:sldId id="377" r:id="rId30"/>
    <p:sldId id="320" r:id="rId31"/>
  </p:sldIdLst>
  <p:sldSz cx="9144000" cy="6858000" type="screen4x3"/>
  <p:notesSz cx="6858000" cy="9144000"/>
  <p:custDataLst>
    <p:tags r:id="rId36"/>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33CC33"/>
    <a:srgbClr val="FF99FF"/>
    <a:srgbClr val="66FFCC"/>
    <a:srgbClr val="CCFFFF"/>
    <a:srgbClr val="333399"/>
    <a:srgbClr val="CCEC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525"/>
  </p:normalViewPr>
  <p:slideViewPr>
    <p:cSldViewPr showGuides="1">
      <p:cViewPr varScale="1">
        <p:scale>
          <a:sx n="63" d="100"/>
          <a:sy n="63" d="100"/>
        </p:scale>
        <p:origin x="-1512" y="-96"/>
      </p:cViewPr>
      <p:guideLst>
        <p:guide orient="horz" pos="2160"/>
        <p:guide pos="2880"/>
      </p:guideLst>
    </p:cSldViewPr>
  </p:slideViewPr>
  <p:outlineViewPr>
    <p:cViewPr>
      <p:scale>
        <a:sx n="50" d="100"/>
        <a:sy n="50"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6" Type="http://schemas.openxmlformats.org/officeDocument/2006/relationships/tags" Target="tags/tag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5"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6"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defRPr kumimoji="1" sz="12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defRPr kumimoji="1" sz="1200">
                <a:latin typeface="Times New Roman" panose="02020603050405020304" pitchFamily="18" charset="0"/>
              </a:defRPr>
            </a:lvl1pPr>
          </a:lstStyle>
          <a:p>
            <a:pPr marL="0" marR="0" lvl="0" indent="0" algn="r"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72"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defRPr kumimoji="1" sz="12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latinLnBrk="1" hangingPunct="1">
              <a:buNone/>
            </a:pP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p:nvPr/>
        </p:nvSpPr>
        <p:spPr>
          <a:xfrm>
            <a:off x="3886200" y="0"/>
            <a:ext cx="2971800" cy="457200"/>
          </a:xfrm>
          <a:prstGeom prst="rect">
            <a:avLst/>
          </a:prstGeom>
          <a:noFill/>
          <a:ln w="12700">
            <a:noFill/>
          </a:ln>
        </p:spPr>
        <p:txBody>
          <a:bodyPr wrap="none" anchor="ctr" anchorCtr="0"/>
          <a:p>
            <a:pPr lvl="0" eaLnBrk="1" hangingPunct="1"/>
            <a:endParaRPr lang="zh-CN" altLang="en-US" dirty="0"/>
          </a:p>
        </p:txBody>
      </p:sp>
      <p:sp>
        <p:nvSpPr>
          <p:cNvPr id="33795" name="Rectangle 3"/>
          <p:cNvSpPr>
            <a:spLocks noTextEdit="1"/>
          </p:cNvSpPr>
          <p:nvPr>
            <p:ph type="sldImg"/>
          </p:nvPr>
        </p:nvSpPr>
        <p:spPr>
          <a:xfrm>
            <a:off x="1150938" y="692150"/>
            <a:ext cx="4556125" cy="3416300"/>
          </a:xfrm>
          <a:ln/>
        </p:spPr>
      </p:sp>
      <p:sp>
        <p:nvSpPr>
          <p:cNvPr id="33796" name="Rectangle 4"/>
          <p:cNvSpPr/>
          <p:nvPr>
            <p:ph type="body" idx="1"/>
          </p:nvPr>
        </p:nvSpPr>
        <p:spPr>
          <a:xfrm>
            <a:off x="914400" y="3276600"/>
            <a:ext cx="5029200" cy="5181600"/>
          </a:xfrm>
          <a:ln/>
        </p:spPr>
        <p:txBody>
          <a:bodyPr wrap="square" lIns="90488" tIns="44450" rIns="90488" bIns="44450" anchor="t" anchorCtr="0"/>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p:nvPr/>
        </p:nvSpPr>
        <p:spPr>
          <a:xfrm>
            <a:off x="3886200" y="0"/>
            <a:ext cx="2971800" cy="457200"/>
          </a:xfrm>
          <a:prstGeom prst="rect">
            <a:avLst/>
          </a:prstGeom>
          <a:noFill/>
          <a:ln w="12700">
            <a:noFill/>
          </a:ln>
        </p:spPr>
        <p:txBody>
          <a:bodyPr wrap="none" anchor="ctr" anchorCtr="0"/>
          <a:p>
            <a:pPr lvl="0" eaLnBrk="1" hangingPunct="1"/>
            <a:endParaRPr lang="zh-CN" altLang="en-US" dirty="0"/>
          </a:p>
        </p:txBody>
      </p:sp>
      <p:sp>
        <p:nvSpPr>
          <p:cNvPr id="34819" name="Rectangle 3"/>
          <p:cNvSpPr>
            <a:spLocks noTextEdit="1"/>
          </p:cNvSpPr>
          <p:nvPr>
            <p:ph type="sldImg"/>
          </p:nvPr>
        </p:nvSpPr>
        <p:spPr>
          <a:xfrm>
            <a:off x="1150938" y="692150"/>
            <a:ext cx="4556125" cy="3416300"/>
          </a:xfrm>
          <a:ln/>
        </p:spPr>
      </p:sp>
      <p:sp>
        <p:nvSpPr>
          <p:cNvPr id="34820" name="Rectangle 4"/>
          <p:cNvSpPr/>
          <p:nvPr>
            <p:ph type="body" idx="1"/>
          </p:nvPr>
        </p:nvSpPr>
        <p:spPr>
          <a:xfrm>
            <a:off x="914400" y="3276600"/>
            <a:ext cx="5029200" cy="5181600"/>
          </a:xfrm>
          <a:ln/>
        </p:spPr>
        <p:txBody>
          <a:bodyPr wrap="square" lIns="90488" tIns="44450" rIns="90488" bIns="44450" anchor="t" anchorCtr="0"/>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p:nvPr/>
        </p:nvSpPr>
        <p:spPr>
          <a:xfrm>
            <a:off x="3886200" y="0"/>
            <a:ext cx="2971800" cy="457200"/>
          </a:xfrm>
          <a:prstGeom prst="rect">
            <a:avLst/>
          </a:prstGeom>
          <a:noFill/>
          <a:ln w="12700">
            <a:noFill/>
          </a:ln>
        </p:spPr>
        <p:txBody>
          <a:bodyPr wrap="none" anchor="ctr" anchorCtr="0"/>
          <a:p>
            <a:pPr lvl="0" eaLnBrk="1" hangingPunct="1"/>
            <a:endParaRPr lang="zh-CN" altLang="en-US" dirty="0"/>
          </a:p>
        </p:txBody>
      </p:sp>
      <p:sp>
        <p:nvSpPr>
          <p:cNvPr id="35843" name="Rectangle 3"/>
          <p:cNvSpPr>
            <a:spLocks noTextEdit="1"/>
          </p:cNvSpPr>
          <p:nvPr>
            <p:ph type="sldImg"/>
          </p:nvPr>
        </p:nvSpPr>
        <p:spPr>
          <a:xfrm>
            <a:off x="1150938" y="692150"/>
            <a:ext cx="4556125" cy="3416300"/>
          </a:xfrm>
          <a:ln/>
        </p:spPr>
      </p:sp>
      <p:sp>
        <p:nvSpPr>
          <p:cNvPr id="35844" name="Rectangle 4"/>
          <p:cNvSpPr/>
          <p:nvPr>
            <p:ph type="body" idx="1"/>
          </p:nvPr>
        </p:nvSpPr>
        <p:spPr>
          <a:xfrm>
            <a:off x="914400" y="3276600"/>
            <a:ext cx="5029200" cy="5181600"/>
          </a:xfrm>
          <a:ln/>
        </p:spPr>
        <p:txBody>
          <a:bodyPr wrap="square" lIns="90488" tIns="44450" rIns="90488" bIns="44450" anchor="t" anchorCtr="0"/>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10242" name="Group 2"/>
          <p:cNvGrpSpPr/>
          <p:nvPr/>
        </p:nvGrpSpPr>
        <p:grpSpPr>
          <a:xfrm>
            <a:off x="0" y="0"/>
            <a:ext cx="9144000" cy="6858000"/>
            <a:chOff x="0" y="0"/>
            <a:chExt cx="5760" cy="4320"/>
          </a:xfrm>
        </p:grpSpPr>
        <p:sp>
          <p:nvSpPr>
            <p:cNvPr id="19"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251" name="Group 5"/>
            <p:cNvGrpSpPr/>
            <p:nvPr/>
          </p:nvGrpSpPr>
          <p:grpSpPr>
            <a:xfrm>
              <a:off x="0" y="672"/>
              <a:ext cx="1806" cy="1989"/>
              <a:chOff x="0" y="672"/>
              <a:chExt cx="1806" cy="1989"/>
            </a:xfrm>
          </p:grpSpPr>
          <p:sp>
            <p:nvSpPr>
              <p:cNvPr id="22"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pic>
        <p:nvPicPr>
          <p:cNvPr id="10243" name="Picture 21" descr="Renmin Logo"/>
          <p:cNvPicPr>
            <a:picLocks noChangeAspect="1"/>
          </p:cNvPicPr>
          <p:nvPr userDrawn="1"/>
        </p:nvPicPr>
        <p:blipFill>
          <a:blip r:embed="rId2"/>
          <a:stretch>
            <a:fillRect/>
          </a:stretch>
        </p:blipFill>
        <p:spPr>
          <a:xfrm>
            <a:off x="7523163" y="80963"/>
            <a:ext cx="1512887" cy="1403350"/>
          </a:xfrm>
          <a:prstGeom prst="rect">
            <a:avLst/>
          </a:prstGeom>
          <a:noFill/>
          <a:ln w="9525">
            <a:noFill/>
          </a:ln>
        </p:spPr>
      </p:pic>
      <p:sp>
        <p:nvSpPr>
          <p:cNvPr id="21915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21915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3"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981200"/>
            <a:ext cx="38481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0100" y="1981200"/>
            <a:ext cx="38481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1811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811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grpSp>
        <p:nvGrpSpPr>
          <p:cNvPr id="9220" name="Group 4"/>
          <p:cNvGrpSpPr/>
          <p:nvPr/>
        </p:nvGrpSpPr>
        <p:grpSpPr>
          <a:xfrm>
            <a:off x="0" y="0"/>
            <a:ext cx="9144000" cy="546100"/>
            <a:chOff x="0" y="0"/>
            <a:chExt cx="5760" cy="344"/>
          </a:xfrm>
        </p:grpSpPr>
        <p:sp>
          <p:nvSpPr>
            <p:cNvPr id="218117"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8118"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8119"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8120"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8121"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18122"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8123"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8124"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18125"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9221"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9222"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1812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9224" name="Picture 17" descr="Renmin Logo"/>
          <p:cNvPicPr>
            <a:picLocks noChangeAspect="1"/>
          </p:cNvPicPr>
          <p:nvPr userDrawn="1"/>
        </p:nvPicPr>
        <p:blipFill>
          <a:blip r:embed="rId13"/>
          <a:stretch>
            <a:fillRect/>
          </a:stretch>
        </p:blipFill>
        <p:spPr>
          <a:xfrm>
            <a:off x="7451725" y="115888"/>
            <a:ext cx="1546225" cy="14747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2.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2.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2.xml"/><Relationship Id="rId2" Type="http://schemas.openxmlformats.org/officeDocument/2006/relationships/image" Target="../media/image8.w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2.xml"/><Relationship Id="rId2" Type="http://schemas.openxmlformats.org/officeDocument/2006/relationships/image" Target="../media/image9.w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2.xml"/><Relationship Id="rId2" Type="http://schemas.openxmlformats.org/officeDocument/2006/relationships/image" Target="../media/image10.wmf"/><Relationship Id="rId1"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12.xml"/><Relationship Id="rId4" Type="http://schemas.openxmlformats.org/officeDocument/2006/relationships/image" Target="../media/image12.wmf"/><Relationship Id="rId3" Type="http://schemas.openxmlformats.org/officeDocument/2006/relationships/oleObject" Target="../embeddings/oleObject9.bin"/><Relationship Id="rId2" Type="http://schemas.openxmlformats.org/officeDocument/2006/relationships/image" Target="../media/image11.wmf"/><Relationship Id="rId1"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18"/>
          <p:cNvSpPr txBox="1">
            <a:spLocks noGrp="1"/>
          </p:cNvSpPr>
          <p:nvPr>
            <p:ph type="sldNum" sz="quarter" idx="4"/>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12291" name="Rectangle 2"/>
          <p:cNvSpPr>
            <a:spLocks noGrp="1"/>
          </p:cNvSpPr>
          <p:nvPr>
            <p:ph type="ctrTitle"/>
          </p:nvPr>
        </p:nvSpPr>
        <p:spPr>
          <a:xfrm>
            <a:off x="2857500" y="1989138"/>
            <a:ext cx="6286500" cy="1455737"/>
          </a:xfrm>
          <a:ln/>
        </p:spPr>
        <p:txBody>
          <a:bodyPr vert="horz" wrap="square" lIns="91440" tIns="45720" rIns="91440" bIns="45720" anchor="ctr" anchorCtr="0"/>
          <a:p>
            <a:pPr eaLnBrk="1" hangingPunct="1">
              <a:buClrTx/>
              <a:buSzTx/>
              <a:buFontTx/>
            </a:pPr>
            <a:r>
              <a:rPr lang="zh-CN" altLang="en-US" sz="6000" dirty="0">
                <a:solidFill>
                  <a:srgbClr val="FFFFFF"/>
                </a:solidFill>
                <a:latin typeface="+mj-lt"/>
                <a:ea typeface="+mj-ea"/>
                <a:cs typeface="+mj-cs"/>
              </a:rPr>
              <a:t>运筹学与优化理论</a:t>
            </a:r>
            <a:endParaRPr lang="zh-CN" altLang="en-US" sz="6000" dirty="0">
              <a:solidFill>
                <a:srgbClr val="FFFFFF"/>
              </a:solidFill>
              <a:latin typeface="+mj-lt"/>
              <a:ea typeface="+mj-ea"/>
              <a:cs typeface="+mj-cs"/>
            </a:endParaRPr>
          </a:p>
        </p:txBody>
      </p:sp>
      <p:sp>
        <p:nvSpPr>
          <p:cNvPr id="12292" name="Rectangle 3"/>
          <p:cNvSpPr>
            <a:spLocks noGrp="1"/>
          </p:cNvSpPr>
          <p:nvPr>
            <p:ph type="subTitle" idx="1"/>
          </p:nvPr>
        </p:nvSpPr>
        <p:spPr>
          <a:xfrm>
            <a:off x="3635375" y="4652963"/>
            <a:ext cx="4464050" cy="1512887"/>
          </a:xfrm>
          <a:ln/>
        </p:spPr>
        <p:txBody>
          <a:bodyPr vert="horz" wrap="square" lIns="91440" tIns="45720" rIns="91440" bIns="45720" anchor="t" anchorCtr="0"/>
          <a:p>
            <a:pPr eaLnBrk="1" hangingPunct="1">
              <a:buSzPct val="75000"/>
            </a:pPr>
            <a:r>
              <a:rPr lang="zh-CN" altLang="en-US" b="1" dirty="0">
                <a:latin typeface="宋体" panose="02010600030101010101" pitchFamily="2" charset="-122"/>
                <a:ea typeface="+mn-ea"/>
                <a:cs typeface="+mn-cs"/>
              </a:rPr>
              <a:t>许 伟</a:t>
            </a:r>
            <a:r>
              <a:rPr lang="zh-CN" altLang="en-US" dirty="0">
                <a:latin typeface="宋体" panose="02010600030101010101" pitchFamily="2" charset="-122"/>
                <a:ea typeface="+mn-ea"/>
                <a:cs typeface="+mn-cs"/>
              </a:rPr>
              <a:t> </a:t>
            </a:r>
            <a:r>
              <a:rPr lang="zh-CN" altLang="en-US" sz="2800" dirty="0">
                <a:latin typeface="宋体" panose="02010600030101010101" pitchFamily="2" charset="-122"/>
                <a:ea typeface="+mn-ea"/>
                <a:cs typeface="+mn-cs"/>
              </a:rPr>
              <a:t>教授</a:t>
            </a:r>
            <a:r>
              <a:rPr lang="en-US" altLang="zh-CN" sz="2800" dirty="0">
                <a:latin typeface="宋体" panose="02010600030101010101" pitchFamily="2" charset="-122"/>
                <a:ea typeface="+mn-ea"/>
                <a:cs typeface="+mn-cs"/>
              </a:rPr>
              <a:t>/</a:t>
            </a:r>
            <a:r>
              <a:rPr lang="zh-CN" altLang="en-US" sz="2800" dirty="0">
                <a:latin typeface="宋体" panose="02010600030101010101" pitchFamily="2" charset="-122"/>
                <a:ea typeface="+mn-ea"/>
                <a:cs typeface="+mn-cs"/>
              </a:rPr>
              <a:t>博导</a:t>
            </a:r>
            <a:endParaRPr lang="zh-CN" altLang="en-US" sz="2800" dirty="0">
              <a:latin typeface="宋体" panose="02010600030101010101" pitchFamily="2" charset="-122"/>
              <a:ea typeface="+mn-ea"/>
              <a:cs typeface="+mn-cs"/>
            </a:endParaRPr>
          </a:p>
          <a:p>
            <a:pPr eaLnBrk="1" hangingPunct="1">
              <a:buSzPct val="75000"/>
            </a:pPr>
            <a:r>
              <a:rPr lang="zh-CN" altLang="en-US" sz="2800" dirty="0">
                <a:latin typeface="宋体" panose="02010600030101010101" pitchFamily="2" charset="-122"/>
                <a:ea typeface="+mn-ea"/>
                <a:cs typeface="+mn-cs"/>
              </a:rPr>
              <a:t>中国人民大学信息学院</a:t>
            </a:r>
            <a:endParaRPr lang="zh-CN" altLang="en-US" sz="2800" dirty="0">
              <a:latin typeface="宋体" panose="02010600030101010101" pitchFamily="2" charset="-122"/>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571500" y="709613"/>
            <a:ext cx="5472113" cy="933450"/>
          </a:xfrm>
          <a:ln/>
        </p:spPr>
        <p:txBody>
          <a:bodyPr vert="horz" wrap="square" lIns="91440" tIns="45720" rIns="91440" bIns="45720" anchor="t" anchorCtr="0"/>
          <a:p>
            <a:r>
              <a:rPr lang="zh-CN" altLang="en-US" sz="4800" dirty="0">
                <a:solidFill>
                  <a:srgbClr val="0D04BE"/>
                </a:solidFill>
                <a:ea typeface="楷体_GB2312" pitchFamily="49" charset="-122"/>
              </a:rPr>
              <a:t>本章内容</a:t>
            </a:r>
            <a:endParaRPr lang="zh-CN" altLang="en-US" sz="4800" dirty="0">
              <a:solidFill>
                <a:srgbClr val="0D04BE"/>
              </a:solidFill>
              <a:ea typeface="楷体_GB2312" pitchFamily="49" charset="-122"/>
            </a:endParaRPr>
          </a:p>
        </p:txBody>
      </p:sp>
      <p:sp>
        <p:nvSpPr>
          <p:cNvPr id="12291" name="Rectangle 3"/>
          <p:cNvSpPr>
            <a:spLocks noGrp="1" noChangeArrowheads="1"/>
          </p:cNvSpPr>
          <p:nvPr>
            <p:ph idx="1"/>
          </p:nvPr>
        </p:nvSpPr>
        <p:spPr>
          <a:xfrm>
            <a:off x="714375" y="1785938"/>
            <a:ext cx="7848600" cy="45720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chemeClr val="bg2"/>
              </a:buClr>
              <a:buSzPct val="7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1.1 </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线性规划问题及其数学模型</a:t>
            </a:r>
            <a:endPar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0" marR="0" lvl="0" indent="0" algn="l" defTabSz="914400" rtl="0" eaLnBrk="0" fontAlgn="base" latinLnBrk="0" hangingPunct="0">
              <a:lnSpc>
                <a:spcPct val="150000"/>
              </a:lnSpc>
              <a:spcBef>
                <a:spcPct val="20000"/>
              </a:spcBef>
              <a:spcAft>
                <a:spcPct val="0"/>
              </a:spcAft>
              <a:buClr>
                <a:schemeClr val="bg2"/>
              </a:buClr>
              <a:buSzPct val="7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1.2 </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图解法</a:t>
            </a:r>
            <a:endPar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150000"/>
              </a:lnSpc>
              <a:spcBef>
                <a:spcPct val="20000"/>
              </a:spcBef>
              <a:spcAft>
                <a:spcPct val="0"/>
              </a:spcAft>
              <a:buClr>
                <a:schemeClr val="bg2"/>
              </a:buClr>
              <a:buSzPct val="7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1.3 </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单纯形法原理</a:t>
            </a:r>
            <a:endPar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150000"/>
              </a:lnSpc>
              <a:spcBef>
                <a:spcPct val="20000"/>
              </a:spcBef>
              <a:spcAft>
                <a:spcPct val="0"/>
              </a:spcAft>
              <a:buClr>
                <a:schemeClr val="bg2"/>
              </a:buClr>
              <a:buSzPct val="7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1.4 </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单纯形法计算步骤</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150000"/>
              </a:lnSpc>
              <a:spcBef>
                <a:spcPct val="20000"/>
              </a:spcBef>
              <a:spcAft>
                <a:spcPct val="0"/>
              </a:spcAft>
              <a:buClr>
                <a:schemeClr val="bg2"/>
              </a:buClr>
              <a:buSzPct val="7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1.5 </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单纯形法的进一步讨论</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150000"/>
              </a:lnSpc>
              <a:spcBef>
                <a:spcPct val="20000"/>
              </a:spcBef>
              <a:spcAft>
                <a:spcPct val="0"/>
              </a:spcAft>
              <a:buClr>
                <a:schemeClr val="bg2"/>
              </a:buClr>
              <a:buSzPct val="7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1.6 </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应用举例</a:t>
            </a:r>
            <a:endPar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6"/>
          <p:cNvSpPr>
            <a:spLocks noGrp="1"/>
          </p:cNvSpPr>
          <p:nvPr>
            <p:ph type="title"/>
          </p:nvPr>
        </p:nvSpPr>
        <p:spPr>
          <a:xfrm>
            <a:off x="457200" y="785813"/>
            <a:ext cx="5257800" cy="857250"/>
          </a:xfrm>
          <a:ln/>
        </p:spPr>
        <p:txBody>
          <a:bodyPr vert="horz" wrap="square" lIns="91440" tIns="45720" rIns="91440" bIns="45720" anchor="t" anchorCtr="0"/>
          <a:p>
            <a:r>
              <a:rPr lang="zh-CN" altLang="en-US" sz="4800" dirty="0">
                <a:solidFill>
                  <a:srgbClr val="0D04BE"/>
                </a:solidFill>
                <a:ea typeface="楷体_GB2312" pitchFamily="49" charset="-122"/>
              </a:rPr>
              <a:t>本章内容要点</a:t>
            </a:r>
            <a:endParaRPr lang="zh-CN" altLang="en-US" sz="4800" dirty="0">
              <a:solidFill>
                <a:srgbClr val="0D04BE"/>
              </a:solidFill>
              <a:ea typeface="楷体_GB2312" pitchFamily="49" charset="-122"/>
            </a:endParaRPr>
          </a:p>
        </p:txBody>
      </p:sp>
      <p:sp>
        <p:nvSpPr>
          <p:cNvPr id="14339" name="Rectangle 7"/>
          <p:cNvSpPr>
            <a:spLocks noGrp="1"/>
          </p:cNvSpPr>
          <p:nvPr>
            <p:ph idx="1"/>
          </p:nvPr>
        </p:nvSpPr>
        <p:spPr>
          <a:xfrm>
            <a:off x="714375" y="2071688"/>
            <a:ext cx="7215188" cy="3500437"/>
          </a:xfrm>
          <a:ln/>
        </p:spPr>
        <p:txBody>
          <a:bodyPr vert="horz" wrap="square" lIns="91440" tIns="45720" rIns="91440" bIns="45720" anchor="t" anchorCtr="0"/>
          <a:p>
            <a:pPr marL="609600" indent="-609600">
              <a:lnSpc>
                <a:spcPct val="150000"/>
              </a:lnSpc>
              <a:buFontTx/>
              <a:buBlip>
                <a:blip r:embed="rId1"/>
              </a:buBlip>
            </a:pPr>
            <a:r>
              <a:rPr lang="zh-CN" altLang="en-US" b="1" dirty="0">
                <a:solidFill>
                  <a:srgbClr val="000000"/>
                </a:solidFill>
                <a:ea typeface="楷体_GB2312" pitchFamily="49" charset="-122"/>
              </a:rPr>
              <a:t>线性规划问题及其数学模型</a:t>
            </a:r>
            <a:endParaRPr lang="zh-CN" altLang="en-US" b="1" dirty="0">
              <a:solidFill>
                <a:srgbClr val="000000"/>
              </a:solidFill>
              <a:ea typeface="楷体_GB2312" pitchFamily="49" charset="-122"/>
            </a:endParaRPr>
          </a:p>
          <a:p>
            <a:pPr marL="609600" indent="-609600">
              <a:lnSpc>
                <a:spcPct val="150000"/>
              </a:lnSpc>
              <a:buFontTx/>
              <a:buBlip>
                <a:blip r:embed="rId1"/>
              </a:buBlip>
            </a:pPr>
            <a:r>
              <a:rPr lang="zh-CN" altLang="en-US" b="1" dirty="0">
                <a:solidFill>
                  <a:srgbClr val="000000"/>
                </a:solidFill>
                <a:ea typeface="楷体_GB2312" pitchFamily="49" charset="-122"/>
              </a:rPr>
              <a:t>图解法</a:t>
            </a:r>
            <a:endParaRPr lang="en-US" altLang="zh-CN" b="1" dirty="0">
              <a:solidFill>
                <a:srgbClr val="000000"/>
              </a:solidFill>
              <a:ea typeface="楷体_GB2312" pitchFamily="49" charset="-122"/>
            </a:endParaRPr>
          </a:p>
          <a:p>
            <a:pPr marL="609600" indent="-609600">
              <a:lnSpc>
                <a:spcPct val="150000"/>
              </a:lnSpc>
              <a:buFontTx/>
              <a:buBlip>
                <a:blip r:embed="rId1"/>
              </a:buBlip>
            </a:pPr>
            <a:r>
              <a:rPr lang="zh-CN" altLang="en-US" b="1" dirty="0">
                <a:solidFill>
                  <a:srgbClr val="000000"/>
                </a:solidFill>
                <a:ea typeface="楷体_GB2312" pitchFamily="49" charset="-122"/>
              </a:rPr>
              <a:t>单纯形法原理</a:t>
            </a:r>
            <a:endParaRPr lang="en-US" altLang="zh-CN" b="1" dirty="0">
              <a:solidFill>
                <a:srgbClr val="000000"/>
              </a:solidFill>
              <a:ea typeface="楷体_GB2312" pitchFamily="49" charset="-122"/>
            </a:endParaRPr>
          </a:p>
          <a:p>
            <a:pPr marL="609600" indent="-609600">
              <a:lnSpc>
                <a:spcPct val="150000"/>
              </a:lnSpc>
              <a:buFontTx/>
              <a:buBlip>
                <a:blip r:embed="rId1"/>
              </a:buBlip>
            </a:pPr>
            <a:r>
              <a:rPr lang="zh-CN" altLang="en-US" b="1" dirty="0">
                <a:solidFill>
                  <a:srgbClr val="000000"/>
                </a:solidFill>
                <a:ea typeface="楷体_GB2312" pitchFamily="49" charset="-122"/>
              </a:rPr>
              <a:t>单纯形法计算步骤</a:t>
            </a:r>
            <a:endParaRPr lang="en-US" altLang="zh-CN" b="1" dirty="0">
              <a:solidFill>
                <a:srgbClr val="000000"/>
              </a:solidFill>
              <a:ea typeface="楷体_GB2312"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Rectangle 2"/>
          <p:cNvSpPr>
            <a:spLocks noGrp="1"/>
          </p:cNvSpPr>
          <p:nvPr>
            <p:ph type="title"/>
          </p:nvPr>
        </p:nvSpPr>
        <p:spPr>
          <a:xfrm>
            <a:off x="323850" y="709613"/>
            <a:ext cx="6176963" cy="862012"/>
          </a:xfrm>
          <a:ln/>
        </p:spPr>
        <p:txBody>
          <a:bodyPr vert="horz" wrap="square" lIns="91440" tIns="45720" rIns="91440" bIns="45720" anchor="t" anchorCtr="0"/>
          <a:p>
            <a:r>
              <a:rPr lang="zh-CN" altLang="en-US" sz="4800" dirty="0">
                <a:solidFill>
                  <a:srgbClr val="0D04BE"/>
                </a:solidFill>
                <a:ea typeface="楷体_GB2312" pitchFamily="49" charset="-122"/>
              </a:rPr>
              <a:t>本章主要内容框架图</a:t>
            </a:r>
            <a:endParaRPr lang="zh-CN" altLang="en-US" sz="4800" dirty="0">
              <a:solidFill>
                <a:srgbClr val="0D04BE"/>
              </a:solidFill>
              <a:ea typeface="楷体_GB2312" pitchFamily="49" charset="-122"/>
            </a:endParaRPr>
          </a:p>
        </p:txBody>
      </p:sp>
      <p:graphicFrame>
        <p:nvGraphicFramePr>
          <p:cNvPr id="1026" name="Object 2"/>
          <p:cNvGraphicFramePr/>
          <p:nvPr/>
        </p:nvGraphicFramePr>
        <p:xfrm>
          <a:off x="571500" y="1674813"/>
          <a:ext cx="7704138" cy="4397375"/>
        </p:xfrm>
        <a:graphic>
          <a:graphicData uri="http://schemas.openxmlformats.org/presentationml/2006/ole">
            <mc:AlternateContent xmlns:mc="http://schemas.openxmlformats.org/markup-compatibility/2006">
              <mc:Choice xmlns:v="urn:schemas-microsoft-com:vml" Requires="v">
                <p:oleObj spid="_x0000_s3076" name="" r:id="rId1" imgW="2743200" imgH="2311400" progId="Equation.DSMT4">
                  <p:embed/>
                </p:oleObj>
              </mc:Choice>
              <mc:Fallback>
                <p:oleObj name="" r:id="rId1" imgW="2743200" imgH="2311400" progId="Equation.DSMT4">
                  <p:embed/>
                  <p:pic>
                    <p:nvPicPr>
                      <p:cNvPr id="0" name="图片 3075"/>
                      <p:cNvPicPr/>
                      <p:nvPr/>
                    </p:nvPicPr>
                    <p:blipFill>
                      <a:blip r:embed="rId2"/>
                      <a:stretch>
                        <a:fillRect/>
                      </a:stretch>
                    </p:blipFill>
                    <p:spPr>
                      <a:xfrm>
                        <a:off x="571500" y="1674813"/>
                        <a:ext cx="7704138" cy="4397375"/>
                      </a:xfrm>
                      <a:prstGeom prst="rect">
                        <a:avLst/>
                      </a:prstGeom>
                      <a:noFill/>
                      <a:ln w="38100">
                        <a:noFill/>
                        <a:miter/>
                      </a:ln>
                    </p:spPr>
                  </p:pic>
                </p:oleObj>
              </mc:Fallback>
            </mc:AlternateContent>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15363" name="Rectangle 1032"/>
          <p:cNvSpPr>
            <a:spLocks noGrp="1"/>
          </p:cNvSpPr>
          <p:nvPr>
            <p:ph idx="1"/>
          </p:nvPr>
        </p:nvSpPr>
        <p:spPr>
          <a:xfrm>
            <a:off x="304800" y="1679575"/>
            <a:ext cx="8001000" cy="4606925"/>
          </a:xfrm>
          <a:ln/>
        </p:spPr>
        <p:txBody>
          <a:bodyPr vert="horz" wrap="square" lIns="91440" tIns="45720" rIns="91440" bIns="45720" anchor="t" anchorCtr="0"/>
          <a:p>
            <a:pPr marL="0" indent="0" algn="just">
              <a:lnSpc>
                <a:spcPct val="90000"/>
              </a:lnSpc>
              <a:spcBef>
                <a:spcPct val="0"/>
              </a:spcBef>
              <a:buClr>
                <a:srgbClr val="000000"/>
              </a:buClr>
              <a:buNone/>
            </a:pPr>
            <a:r>
              <a:rPr lang="zh-CN" altLang="en-US" sz="2800" b="1" dirty="0">
                <a:solidFill>
                  <a:srgbClr val="FF0000"/>
                </a:solidFill>
                <a:latin typeface="楷体_GB2312" pitchFamily="49" charset="-122"/>
                <a:ea typeface="楷体_GB2312" pitchFamily="49" charset="-122"/>
              </a:rPr>
              <a:t>例</a:t>
            </a:r>
            <a:r>
              <a:rPr lang="en-US" altLang="zh-CN" sz="2800" b="1" dirty="0">
                <a:solidFill>
                  <a:srgbClr val="FF0000"/>
                </a:solidFill>
                <a:latin typeface="楷体_GB2312" pitchFamily="49" charset="-122"/>
                <a:ea typeface="楷体_GB2312" pitchFamily="49" charset="-122"/>
              </a:rPr>
              <a:t>1.1</a:t>
            </a:r>
            <a:r>
              <a:rPr lang="en-US" altLang="zh-CN" sz="2800" b="1" dirty="0">
                <a:solidFill>
                  <a:srgbClr val="000000"/>
                </a:solidFill>
                <a:latin typeface="楷体_GB2312" pitchFamily="49" charset="-122"/>
                <a:ea typeface="楷体_GB2312" pitchFamily="49" charset="-122"/>
              </a:rPr>
              <a:t> </a:t>
            </a:r>
            <a:r>
              <a:rPr lang="zh-CN" altLang="en-US" sz="2800" b="1" dirty="0">
                <a:solidFill>
                  <a:srgbClr val="000000"/>
                </a:solidFill>
                <a:latin typeface="楷体_GB2312" pitchFamily="49" charset="-122"/>
                <a:ea typeface="楷体_GB2312" pitchFamily="49" charset="-122"/>
              </a:rPr>
              <a:t>某工厂要生产两种新产品：门和窗。经测算，每生产一扇门需要在车间</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加工</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小时、在车间</a:t>
            </a:r>
            <a:r>
              <a:rPr lang="en-US" altLang="zh-CN" sz="2800" b="1" dirty="0">
                <a:solidFill>
                  <a:srgbClr val="000000"/>
                </a:solidFill>
                <a:latin typeface="楷体_GB2312" pitchFamily="49" charset="-122"/>
                <a:ea typeface="楷体_GB2312" pitchFamily="49" charset="-122"/>
              </a:rPr>
              <a:t>3</a:t>
            </a:r>
            <a:r>
              <a:rPr lang="zh-CN" altLang="en-US" sz="2800" b="1" dirty="0">
                <a:solidFill>
                  <a:srgbClr val="000000"/>
                </a:solidFill>
                <a:latin typeface="楷体_GB2312" pitchFamily="49" charset="-122"/>
                <a:ea typeface="楷体_GB2312" pitchFamily="49" charset="-122"/>
              </a:rPr>
              <a:t>加工</a:t>
            </a:r>
            <a:r>
              <a:rPr lang="en-US" altLang="zh-CN" sz="2800" b="1" dirty="0">
                <a:solidFill>
                  <a:srgbClr val="000000"/>
                </a:solidFill>
                <a:latin typeface="楷体_GB2312" pitchFamily="49" charset="-122"/>
                <a:ea typeface="楷体_GB2312" pitchFamily="49" charset="-122"/>
              </a:rPr>
              <a:t>3</a:t>
            </a:r>
            <a:r>
              <a:rPr lang="zh-CN" altLang="en-US" sz="2800" b="1" dirty="0">
                <a:solidFill>
                  <a:srgbClr val="000000"/>
                </a:solidFill>
                <a:latin typeface="楷体_GB2312" pitchFamily="49" charset="-122"/>
                <a:ea typeface="楷体_GB2312" pitchFamily="49" charset="-122"/>
              </a:rPr>
              <a:t>小时；每生产一扇窗需要在车间</a:t>
            </a: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和车间</a:t>
            </a:r>
            <a:r>
              <a:rPr lang="en-US" altLang="zh-CN" sz="2800" b="1" dirty="0">
                <a:solidFill>
                  <a:srgbClr val="000000"/>
                </a:solidFill>
                <a:latin typeface="楷体_GB2312" pitchFamily="49" charset="-122"/>
                <a:ea typeface="楷体_GB2312" pitchFamily="49" charset="-122"/>
              </a:rPr>
              <a:t>3</a:t>
            </a:r>
            <a:r>
              <a:rPr lang="zh-CN" altLang="en-US" sz="2800" b="1" dirty="0">
                <a:solidFill>
                  <a:srgbClr val="000000"/>
                </a:solidFill>
                <a:latin typeface="楷体_GB2312" pitchFamily="49" charset="-122"/>
                <a:ea typeface="楷体_GB2312" pitchFamily="49" charset="-122"/>
              </a:rPr>
              <a:t>各加工</a:t>
            </a: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小时。而车间</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每周可用于生产这两种新产品的时间为</a:t>
            </a:r>
            <a:r>
              <a:rPr lang="en-US" altLang="zh-CN" sz="2800" b="1" dirty="0">
                <a:solidFill>
                  <a:srgbClr val="000000"/>
                </a:solidFill>
                <a:latin typeface="楷体_GB2312" pitchFamily="49" charset="-122"/>
                <a:ea typeface="楷体_GB2312" pitchFamily="49" charset="-122"/>
              </a:rPr>
              <a:t>4</a:t>
            </a:r>
            <a:r>
              <a:rPr lang="zh-CN" altLang="en-US" sz="2800" b="1" dirty="0">
                <a:solidFill>
                  <a:srgbClr val="000000"/>
                </a:solidFill>
                <a:latin typeface="楷体_GB2312" pitchFamily="49" charset="-122"/>
                <a:ea typeface="楷体_GB2312" pitchFamily="49" charset="-122"/>
              </a:rPr>
              <a:t>小时、车间</a:t>
            </a: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为</a:t>
            </a:r>
            <a:r>
              <a:rPr lang="en-US" altLang="zh-CN" sz="2800" b="1" dirty="0">
                <a:solidFill>
                  <a:srgbClr val="000000"/>
                </a:solidFill>
                <a:latin typeface="楷体_GB2312" pitchFamily="49" charset="-122"/>
                <a:ea typeface="楷体_GB2312" pitchFamily="49" charset="-122"/>
              </a:rPr>
              <a:t>12</a:t>
            </a:r>
            <a:r>
              <a:rPr lang="zh-CN" altLang="en-US" sz="2800" b="1" dirty="0">
                <a:solidFill>
                  <a:srgbClr val="000000"/>
                </a:solidFill>
                <a:latin typeface="楷体_GB2312" pitchFamily="49" charset="-122"/>
                <a:ea typeface="楷体_GB2312" pitchFamily="49" charset="-122"/>
              </a:rPr>
              <a:t>小时、车间</a:t>
            </a:r>
            <a:r>
              <a:rPr lang="en-US" altLang="zh-CN" sz="2800" b="1" dirty="0">
                <a:solidFill>
                  <a:srgbClr val="000000"/>
                </a:solidFill>
                <a:latin typeface="楷体_GB2312" pitchFamily="49" charset="-122"/>
                <a:ea typeface="楷体_GB2312" pitchFamily="49" charset="-122"/>
              </a:rPr>
              <a:t>3</a:t>
            </a:r>
            <a:r>
              <a:rPr lang="zh-CN" altLang="en-US" sz="2800" b="1" dirty="0">
                <a:solidFill>
                  <a:srgbClr val="000000"/>
                </a:solidFill>
                <a:latin typeface="楷体_GB2312" pitchFamily="49" charset="-122"/>
                <a:ea typeface="楷体_GB2312" pitchFamily="49" charset="-122"/>
              </a:rPr>
              <a:t>为</a:t>
            </a:r>
            <a:r>
              <a:rPr lang="en-US" altLang="zh-CN" sz="2800" b="1" dirty="0">
                <a:solidFill>
                  <a:srgbClr val="000000"/>
                </a:solidFill>
                <a:latin typeface="楷体_GB2312" pitchFamily="49" charset="-122"/>
                <a:ea typeface="楷体_GB2312" pitchFamily="49" charset="-122"/>
              </a:rPr>
              <a:t>18</a:t>
            </a:r>
            <a:r>
              <a:rPr lang="zh-CN" altLang="en-US" sz="2800" b="1" dirty="0">
                <a:solidFill>
                  <a:srgbClr val="000000"/>
                </a:solidFill>
                <a:latin typeface="楷体_GB2312" pitchFamily="49" charset="-122"/>
                <a:ea typeface="楷体_GB2312" pitchFamily="49" charset="-122"/>
              </a:rPr>
              <a:t>小时。 已知每扇门的利润为</a:t>
            </a:r>
            <a:r>
              <a:rPr lang="en-US" altLang="zh-CN" sz="2800" b="1" dirty="0">
                <a:solidFill>
                  <a:srgbClr val="000000"/>
                </a:solidFill>
                <a:latin typeface="楷体_GB2312" pitchFamily="49" charset="-122"/>
                <a:ea typeface="楷体_GB2312" pitchFamily="49" charset="-122"/>
              </a:rPr>
              <a:t>300</a:t>
            </a:r>
            <a:r>
              <a:rPr lang="zh-CN" altLang="en-US" sz="2800" b="1" dirty="0">
                <a:solidFill>
                  <a:srgbClr val="000000"/>
                </a:solidFill>
                <a:latin typeface="楷体_GB2312" pitchFamily="49" charset="-122"/>
                <a:ea typeface="楷体_GB2312" pitchFamily="49" charset="-122"/>
              </a:rPr>
              <a:t>元，每扇窗的利润为</a:t>
            </a:r>
            <a:r>
              <a:rPr lang="en-US" altLang="zh-CN" sz="2800" b="1" dirty="0">
                <a:solidFill>
                  <a:srgbClr val="000000"/>
                </a:solidFill>
                <a:latin typeface="楷体_GB2312" pitchFamily="49" charset="-122"/>
                <a:ea typeface="楷体_GB2312" pitchFamily="49" charset="-122"/>
              </a:rPr>
              <a:t>500</a:t>
            </a:r>
            <a:r>
              <a:rPr lang="zh-CN" altLang="en-US" sz="2800" b="1" dirty="0">
                <a:solidFill>
                  <a:srgbClr val="000000"/>
                </a:solidFill>
                <a:latin typeface="楷体_GB2312" pitchFamily="49" charset="-122"/>
                <a:ea typeface="楷体_GB2312" pitchFamily="49" charset="-122"/>
              </a:rPr>
              <a:t>元。而且根据经市场调查得到的该两种新产品的市场需求状况可以确定，按当前的定价可确保所有新产品均能销售出去。问该工厂如何安排这两种新产品的生产计划，可使总利润最大？</a:t>
            </a:r>
            <a:endParaRPr lang="zh-CN" altLang="en-US" sz="2800" b="1" dirty="0">
              <a:solidFill>
                <a:srgbClr val="000000"/>
              </a:solidFill>
              <a:latin typeface="楷体_GB2312" pitchFamily="49" charset="-122"/>
              <a:ea typeface="楷体_GB2312"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306388" y="546100"/>
            <a:ext cx="6337300"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16387" name="Rectangle 3"/>
          <p:cNvSpPr>
            <a:spLocks noGrp="1"/>
          </p:cNvSpPr>
          <p:nvPr>
            <p:ph idx="1"/>
          </p:nvPr>
        </p:nvSpPr>
        <p:spPr>
          <a:xfrm>
            <a:off x="214313" y="1604963"/>
            <a:ext cx="8408987" cy="4895850"/>
          </a:xfrm>
          <a:ln/>
        </p:spPr>
        <p:txBody>
          <a:bodyPr vert="horz" wrap="square" lIns="91440" tIns="45720" rIns="91440" bIns="45720" anchor="t" anchorCtr="0"/>
          <a:p>
            <a:pPr marL="0" indent="0" algn="just">
              <a:lnSpc>
                <a:spcPct val="90000"/>
              </a:lnSpc>
              <a:spcBef>
                <a:spcPct val="0"/>
              </a:spcBef>
              <a:buClr>
                <a:srgbClr val="000000"/>
              </a:buClr>
              <a:buNone/>
            </a:pPr>
            <a:r>
              <a:rPr lang="zh-CN" altLang="en-US" sz="2800" b="1" dirty="0">
                <a:solidFill>
                  <a:srgbClr val="000000"/>
                </a:solidFill>
                <a:latin typeface="楷体_GB2312" pitchFamily="49" charset="-122"/>
                <a:ea typeface="楷体_GB2312" pitchFamily="49" charset="-122"/>
              </a:rPr>
              <a:t>在该问题中，目标是总利润最大化，所要决策的变量是新产品的产量，而新产品的产量要受到三个车间每周可用于生产新产品时间的限制。因此，该问题可以用</a:t>
            </a:r>
            <a:r>
              <a:rPr lang="zh-CN" altLang="en-US" sz="2800" b="1" dirty="0">
                <a:solidFill>
                  <a:schemeClr val="accent1"/>
                </a:solidFill>
                <a:latin typeface="楷体_GB2312" pitchFamily="49" charset="-122"/>
                <a:ea typeface="楷体_GB2312" pitchFamily="49" charset="-122"/>
              </a:rPr>
              <a:t>目标、决策变量和约束条件</a:t>
            </a:r>
            <a:r>
              <a:rPr lang="zh-CN" altLang="en-US" sz="2800" b="1" dirty="0">
                <a:solidFill>
                  <a:srgbClr val="000000"/>
                </a:solidFill>
                <a:latin typeface="楷体_GB2312" pitchFamily="49" charset="-122"/>
                <a:ea typeface="楷体_GB2312" pitchFamily="49" charset="-122"/>
              </a:rPr>
              <a:t>三个因素加以描述。实际上，所有的线性规划问题都包含这三个因素：</a:t>
            </a:r>
            <a:endParaRPr lang="zh-CN" altLang="en-US" sz="2800" b="1" dirty="0">
              <a:solidFill>
                <a:srgbClr val="000000"/>
              </a:solidFill>
              <a:latin typeface="楷体_GB2312" pitchFamily="49" charset="-122"/>
              <a:ea typeface="楷体_GB2312" pitchFamily="49" charset="-122"/>
            </a:endParaRPr>
          </a:p>
          <a:p>
            <a:pPr marL="0" lvl="1" indent="0" algn="just">
              <a:lnSpc>
                <a:spcPct val="90000"/>
              </a:lnSpc>
              <a:spcBef>
                <a:spcPct val="0"/>
              </a:spcBef>
              <a:buClr>
                <a:srgbClr val="000000"/>
              </a:buClr>
              <a:buNone/>
            </a:pPr>
            <a:r>
              <a:rPr lang="zh-CN" altLang="en-US"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决策变量</a:t>
            </a:r>
            <a:r>
              <a:rPr lang="zh-CN" altLang="en-US" sz="2400" b="1" dirty="0">
                <a:solidFill>
                  <a:srgbClr val="000000"/>
                </a:solidFill>
                <a:latin typeface="楷体_GB2312" pitchFamily="49" charset="-122"/>
                <a:ea typeface="楷体_GB2312" pitchFamily="49" charset="-122"/>
              </a:rPr>
              <a:t>是问题中有待确定的</a:t>
            </a:r>
            <a:r>
              <a:rPr lang="zh-CN" altLang="en-US" sz="2400" b="1" dirty="0">
                <a:solidFill>
                  <a:srgbClr val="0D04BE"/>
                </a:solidFill>
                <a:latin typeface="楷体_GB2312" pitchFamily="49" charset="-122"/>
                <a:ea typeface="楷体_GB2312" pitchFamily="49" charset="-122"/>
              </a:rPr>
              <a:t>未知</a:t>
            </a:r>
            <a:r>
              <a:rPr lang="zh-CN" altLang="en-US" sz="2400" b="1" dirty="0">
                <a:solidFill>
                  <a:srgbClr val="000000"/>
                </a:solidFill>
                <a:latin typeface="楷体_GB2312" pitchFamily="49" charset="-122"/>
                <a:ea typeface="楷体_GB2312" pitchFamily="49" charset="-122"/>
              </a:rPr>
              <a:t>因素。例如决定企业经营目标的各产品的产量等。</a:t>
            </a:r>
            <a:endParaRPr lang="zh-CN" altLang="en-US" sz="2400" b="1" dirty="0">
              <a:solidFill>
                <a:srgbClr val="000000"/>
              </a:solidFill>
              <a:latin typeface="楷体_GB2312" pitchFamily="49" charset="-122"/>
              <a:ea typeface="楷体_GB2312" pitchFamily="49" charset="-122"/>
            </a:endParaRPr>
          </a:p>
          <a:p>
            <a:pPr marL="0" lvl="1" indent="0" algn="just">
              <a:lnSpc>
                <a:spcPct val="90000"/>
              </a:lnSpc>
              <a:spcBef>
                <a:spcPct val="0"/>
              </a:spcBef>
              <a:buClr>
                <a:srgbClr val="000000"/>
              </a:buClr>
              <a:buNone/>
            </a:pPr>
            <a:r>
              <a:rPr lang="zh-CN" altLang="en-US"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目标函数</a:t>
            </a:r>
            <a:r>
              <a:rPr lang="zh-CN" altLang="en-US" sz="2400" b="1" dirty="0">
                <a:solidFill>
                  <a:srgbClr val="000000"/>
                </a:solidFill>
                <a:latin typeface="楷体_GB2312" pitchFamily="49" charset="-122"/>
                <a:ea typeface="楷体_GB2312" pitchFamily="49" charset="-122"/>
              </a:rPr>
              <a:t>是指对问题所追求的目标的数学描述。例如</a:t>
            </a:r>
            <a:r>
              <a:rPr lang="zh-CN" altLang="en-US" sz="2400" b="1" dirty="0">
                <a:solidFill>
                  <a:srgbClr val="0D04BE"/>
                </a:solidFill>
                <a:latin typeface="楷体_GB2312" pitchFamily="49" charset="-122"/>
                <a:ea typeface="楷体_GB2312" pitchFamily="49" charset="-122"/>
              </a:rPr>
              <a:t>利润最大、成本最小</a:t>
            </a:r>
            <a:r>
              <a:rPr lang="zh-CN" altLang="en-US" sz="2400" b="1" dirty="0">
                <a:solidFill>
                  <a:srgbClr val="000000"/>
                </a:solidFill>
                <a:latin typeface="楷体_GB2312" pitchFamily="49" charset="-122"/>
                <a:ea typeface="楷体_GB2312" pitchFamily="49" charset="-122"/>
              </a:rPr>
              <a:t>等。</a:t>
            </a:r>
            <a:endParaRPr lang="zh-CN" altLang="en-US" sz="2400" b="1" dirty="0">
              <a:solidFill>
                <a:srgbClr val="000000"/>
              </a:solidFill>
              <a:latin typeface="楷体_GB2312" pitchFamily="49" charset="-122"/>
              <a:ea typeface="楷体_GB2312" pitchFamily="49" charset="-122"/>
            </a:endParaRPr>
          </a:p>
          <a:p>
            <a:pPr marL="0" lvl="1" indent="0" algn="just">
              <a:lnSpc>
                <a:spcPct val="90000"/>
              </a:lnSpc>
              <a:spcBef>
                <a:spcPct val="0"/>
              </a:spcBef>
              <a:buClr>
                <a:srgbClr val="000000"/>
              </a:buClr>
              <a:buNone/>
            </a:pPr>
            <a:r>
              <a:rPr lang="zh-CN" altLang="en-US"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楷体_GB2312" pitchFamily="49" charset="-122"/>
                <a:ea typeface="楷体_GB2312" pitchFamily="49" charset="-122"/>
              </a:rPr>
              <a:t>3</a:t>
            </a:r>
            <a:r>
              <a:rPr lang="zh-CN" altLang="en-US" sz="2400" b="1" dirty="0">
                <a:solidFill>
                  <a:srgbClr val="00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约束条件</a:t>
            </a:r>
            <a:r>
              <a:rPr lang="zh-CN" altLang="en-US" sz="2400" b="1" dirty="0">
                <a:solidFill>
                  <a:srgbClr val="000000"/>
                </a:solidFill>
                <a:latin typeface="楷体_GB2312" pitchFamily="49" charset="-122"/>
                <a:ea typeface="楷体_GB2312" pitchFamily="49" charset="-122"/>
              </a:rPr>
              <a:t>是指实现问题目标的</a:t>
            </a:r>
            <a:r>
              <a:rPr lang="zh-CN" altLang="en-US" sz="2400" b="1" dirty="0">
                <a:solidFill>
                  <a:srgbClr val="0D04BE"/>
                </a:solidFill>
                <a:latin typeface="楷体_GB2312" pitchFamily="49" charset="-122"/>
                <a:ea typeface="楷体_GB2312" pitchFamily="49" charset="-122"/>
              </a:rPr>
              <a:t>限制因素</a:t>
            </a:r>
            <a:r>
              <a:rPr lang="zh-CN" altLang="en-US" sz="2400" b="1" dirty="0">
                <a:solidFill>
                  <a:srgbClr val="000000"/>
                </a:solidFill>
                <a:latin typeface="楷体_GB2312" pitchFamily="49" charset="-122"/>
                <a:ea typeface="楷体_GB2312" pitchFamily="49" charset="-122"/>
              </a:rPr>
              <a:t>。如原材料供应量、生产能力、市场需求等，它们限制了目标值所能到达的程度。</a:t>
            </a:r>
            <a:endParaRPr lang="zh-CN" altLang="en-US" sz="2400" b="1" dirty="0">
              <a:solidFill>
                <a:srgbClr val="000000"/>
              </a:solidFill>
              <a:latin typeface="楷体_GB2312" pitchFamily="49" charset="-122"/>
              <a:ea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428625" y="581025"/>
            <a:ext cx="5915025"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17411" name="Rectangle 3"/>
          <p:cNvSpPr>
            <a:spLocks noGrp="1"/>
          </p:cNvSpPr>
          <p:nvPr>
            <p:ph type="body" sz="half" idx="1"/>
          </p:nvPr>
        </p:nvSpPr>
        <p:spPr>
          <a:xfrm>
            <a:off x="611188" y="1643063"/>
            <a:ext cx="7200900" cy="576262"/>
          </a:xfrm>
          <a:ln/>
        </p:spPr>
        <p:txBody>
          <a:bodyPr vert="horz" wrap="square" lIns="91440" tIns="45720" rIns="91440" bIns="45720" anchor="t" anchorCtr="0"/>
          <a:p>
            <a:pPr marL="0" indent="0" algn="just">
              <a:spcBef>
                <a:spcPct val="0"/>
              </a:spcBef>
              <a:buClr>
                <a:srgbClr val="000000"/>
              </a:buClr>
              <a:buSzPct val="75000"/>
              <a:buFont typeface="Wingdings" panose="05000000000000000000" pitchFamily="2" charset="2"/>
              <a:buNone/>
            </a:pPr>
            <a:r>
              <a:rPr lang="zh-CN" altLang="en-US" sz="2800" b="1" dirty="0">
                <a:solidFill>
                  <a:srgbClr val="FF0000"/>
                </a:solidFill>
                <a:latin typeface="楷体_GB2312" pitchFamily="49" charset="-122"/>
                <a:ea typeface="楷体_GB2312" pitchFamily="49" charset="-122"/>
              </a:rPr>
              <a:t>解：</a:t>
            </a:r>
            <a:r>
              <a:rPr lang="zh-CN" altLang="en-US" sz="2800" b="1" dirty="0">
                <a:solidFill>
                  <a:srgbClr val="000000"/>
                </a:solidFill>
                <a:latin typeface="楷体_GB2312" pitchFamily="49" charset="-122"/>
                <a:ea typeface="楷体_GB2312" pitchFamily="49" charset="-122"/>
              </a:rPr>
              <a:t>例</a:t>
            </a:r>
            <a:r>
              <a:rPr lang="en-US" altLang="zh-CN" sz="2800" b="1" dirty="0">
                <a:solidFill>
                  <a:srgbClr val="000000"/>
                </a:solidFill>
                <a:latin typeface="楷体_GB2312" pitchFamily="49" charset="-122"/>
                <a:ea typeface="楷体_GB2312" pitchFamily="49" charset="-122"/>
              </a:rPr>
              <a:t>1.1</a:t>
            </a:r>
            <a:r>
              <a:rPr lang="zh-CN" altLang="en-US" sz="2800" b="1" dirty="0">
                <a:solidFill>
                  <a:srgbClr val="000000"/>
                </a:solidFill>
                <a:latin typeface="楷体_GB2312" pitchFamily="49" charset="-122"/>
                <a:ea typeface="楷体_GB2312" pitchFamily="49" charset="-122"/>
              </a:rPr>
              <a:t>可用表</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表示。</a:t>
            </a:r>
            <a:endParaRPr lang="zh-CN" altLang="en-US" sz="2800" b="1" dirty="0">
              <a:solidFill>
                <a:srgbClr val="000000"/>
              </a:solidFill>
              <a:latin typeface="楷体_GB2312" pitchFamily="49" charset="-122"/>
              <a:ea typeface="楷体_GB2312" pitchFamily="49" charset="-122"/>
            </a:endParaRPr>
          </a:p>
        </p:txBody>
      </p:sp>
      <p:graphicFrame>
        <p:nvGraphicFramePr>
          <p:cNvPr id="17412" name="内容占位符 17411"/>
          <p:cNvGraphicFramePr/>
          <p:nvPr>
            <p:ph sz="half" idx="2"/>
          </p:nvPr>
        </p:nvGraphicFramePr>
        <p:xfrm>
          <a:off x="539750" y="2708275"/>
          <a:ext cx="8135938" cy="3241675"/>
        </p:xfrm>
        <a:graphic>
          <a:graphicData uri="http://schemas.openxmlformats.org/drawingml/2006/table">
            <a:tbl>
              <a:tblPr/>
              <a:tblGrid>
                <a:gridCol w="2138363"/>
                <a:gridCol w="1806575"/>
                <a:gridCol w="1804987"/>
                <a:gridCol w="2386013"/>
              </a:tblGrid>
              <a:tr h="652463">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车间</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单位产品的生产时间（小时）</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每周可获得的生产时间（小时）</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6087">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门</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窗</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r h="4460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0</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4</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60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0</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60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3</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3</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18</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8048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单位利润（元）</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300</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500</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0" hangingPunct="0">
                        <a:spcBef>
                          <a:spcPct val="20000"/>
                        </a:spcBef>
                        <a:buNone/>
                      </a:pPr>
                      <a:endParaRPr lang="zh-CN"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457200" y="509588"/>
            <a:ext cx="5915025" cy="70485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18435" name="Rectangle 3"/>
          <p:cNvSpPr>
            <a:spLocks noGrp="1"/>
          </p:cNvSpPr>
          <p:nvPr>
            <p:ph type="body" sz="half" idx="1"/>
          </p:nvPr>
        </p:nvSpPr>
        <p:spPr>
          <a:xfrm>
            <a:off x="539750" y="1196975"/>
            <a:ext cx="7920038" cy="5040313"/>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sz="2800" b="1" dirty="0">
                <a:solidFill>
                  <a:srgbClr val="FF0000"/>
                </a:solidFill>
                <a:latin typeface="Times New Roman" panose="02020603050405020304" pitchFamily="18" charset="0"/>
                <a:cs typeface="Times New Roman" panose="02020603050405020304" pitchFamily="18" charset="0"/>
              </a:rPr>
              <a:t>（</a:t>
            </a:r>
            <a:r>
              <a:rPr lang="en-US" altLang="zh-CN" sz="2800" b="1" dirty="0">
                <a:solidFill>
                  <a:srgbClr val="FF0000"/>
                </a:solidFill>
                <a:latin typeface="Times New Roman" panose="02020603050405020304" pitchFamily="18" charset="0"/>
                <a:cs typeface="Times New Roman" panose="02020603050405020304" pitchFamily="18" charset="0"/>
              </a:rPr>
              <a:t>1</a:t>
            </a:r>
            <a:r>
              <a:rPr lang="zh-CN" altLang="en-US" sz="2800" b="1" dirty="0">
                <a:solidFill>
                  <a:srgbClr val="FF0000"/>
                </a:solidFill>
                <a:latin typeface="Times New Roman" panose="02020603050405020304" pitchFamily="18" charset="0"/>
                <a:cs typeface="Times New Roman" panose="02020603050405020304" pitchFamily="18" charset="0"/>
              </a:rPr>
              <a:t>）决策变量</a:t>
            </a:r>
            <a:endParaRPr lang="zh-CN" altLang="en-US" sz="2800" b="1" dirty="0">
              <a:solidFill>
                <a:srgbClr val="FF0000"/>
              </a:solidFill>
              <a:latin typeface="Times New Roman" panose="02020603050405020304" pitchFamily="18" charset="0"/>
              <a:cs typeface="Times New Roman" panose="02020603050405020304" pitchFamily="18" charset="0"/>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Times New Roman" panose="02020603050405020304" pitchFamily="18" charset="0"/>
                <a:cs typeface="Times New Roman" panose="02020603050405020304" pitchFamily="18" charset="0"/>
              </a:rPr>
              <a:t>本问题的决策变量是每周门和窗的产量。</a:t>
            </a:r>
            <a:endParaRPr lang="zh-CN" altLang="en-US" sz="2800" b="1" dirty="0">
              <a:solidFill>
                <a:srgbClr val="000000"/>
              </a:solidFill>
              <a:latin typeface="Times New Roman" panose="02020603050405020304" pitchFamily="18" charset="0"/>
              <a:cs typeface="Times New Roman" panose="02020603050405020304" pitchFamily="18" charset="0"/>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Times New Roman" panose="02020603050405020304" pitchFamily="18" charset="0"/>
                <a:cs typeface="Times New Roman" panose="02020603050405020304" pitchFamily="18" charset="0"/>
              </a:rPr>
              <a:t>可设：</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baseline="-25000"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latin typeface="Times New Roman" panose="02020603050405020304" pitchFamily="18" charset="0"/>
                <a:cs typeface="Times New Roman" panose="02020603050405020304" pitchFamily="18" charset="0"/>
              </a:rPr>
              <a:t>为每周门的产量（扇）；</a:t>
            </a:r>
            <a:endParaRPr lang="zh-CN" altLang="en-US" sz="2800" b="1" dirty="0">
              <a:solidFill>
                <a:srgbClr val="000000"/>
              </a:solidFill>
              <a:latin typeface="Times New Roman" panose="02020603050405020304" pitchFamily="18" charset="0"/>
              <a:cs typeface="Times New Roman" panose="02020603050405020304" pitchFamily="18" charset="0"/>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baseline="-25000"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latin typeface="Times New Roman" panose="02020603050405020304" pitchFamily="18" charset="0"/>
                <a:cs typeface="Times New Roman" panose="02020603050405020304" pitchFamily="18" charset="0"/>
              </a:rPr>
              <a:t>为每周窗的产量（扇）。</a:t>
            </a:r>
            <a:endParaRPr lang="zh-CN" altLang="en-US" sz="2800" b="1" dirty="0">
              <a:solidFill>
                <a:srgbClr val="000000"/>
              </a:solidFill>
              <a:latin typeface="Times New Roman" panose="02020603050405020304" pitchFamily="18" charset="0"/>
              <a:cs typeface="Times New Roman" panose="02020603050405020304" pitchFamily="18" charset="0"/>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FF0000"/>
                </a:solidFill>
                <a:latin typeface="Times New Roman" panose="02020603050405020304" pitchFamily="18" charset="0"/>
                <a:cs typeface="Times New Roman" panose="02020603050405020304" pitchFamily="18" charset="0"/>
              </a:rPr>
              <a:t>（</a:t>
            </a:r>
            <a:r>
              <a:rPr lang="en-US" altLang="zh-CN" sz="2800" b="1" dirty="0">
                <a:solidFill>
                  <a:srgbClr val="FF0000"/>
                </a:solidFill>
                <a:latin typeface="Times New Roman" panose="02020603050405020304" pitchFamily="18" charset="0"/>
                <a:cs typeface="Times New Roman" panose="02020603050405020304" pitchFamily="18" charset="0"/>
              </a:rPr>
              <a:t>2</a:t>
            </a:r>
            <a:r>
              <a:rPr lang="zh-CN" altLang="en-US" sz="2800" b="1" dirty="0">
                <a:solidFill>
                  <a:srgbClr val="FF0000"/>
                </a:solidFill>
                <a:latin typeface="Times New Roman" panose="02020603050405020304" pitchFamily="18" charset="0"/>
                <a:cs typeface="Times New Roman" panose="02020603050405020304" pitchFamily="18" charset="0"/>
              </a:rPr>
              <a:t>）目标函数</a:t>
            </a:r>
            <a:endParaRPr lang="zh-CN" altLang="en-US" sz="2800" b="1" dirty="0">
              <a:solidFill>
                <a:srgbClr val="FF0000"/>
              </a:solidFill>
              <a:latin typeface="Times New Roman" panose="02020603050405020304" pitchFamily="18" charset="0"/>
              <a:cs typeface="Times New Roman" panose="02020603050405020304" pitchFamily="18" charset="0"/>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Times New Roman" panose="02020603050405020304" pitchFamily="18" charset="0"/>
                <a:cs typeface="Times New Roman" panose="02020603050405020304" pitchFamily="18" charset="0"/>
              </a:rPr>
              <a:t>本问题的目标是总利润最大。由于门和窗的单位利润分别为</a:t>
            </a:r>
            <a:r>
              <a:rPr lang="en-US" altLang="zh-CN" sz="2800" b="1" dirty="0">
                <a:solidFill>
                  <a:srgbClr val="000000"/>
                </a:solidFill>
                <a:latin typeface="Times New Roman" panose="02020603050405020304" pitchFamily="18" charset="0"/>
                <a:cs typeface="Times New Roman" panose="02020603050405020304" pitchFamily="18" charset="0"/>
              </a:rPr>
              <a:t>300</a:t>
            </a:r>
            <a:r>
              <a:rPr lang="zh-CN" altLang="en-US" sz="2800" b="1" dirty="0">
                <a:solidFill>
                  <a:srgbClr val="000000"/>
                </a:solidFill>
                <a:latin typeface="Times New Roman" panose="02020603050405020304" pitchFamily="18" charset="0"/>
                <a:cs typeface="Times New Roman" panose="02020603050405020304" pitchFamily="18" charset="0"/>
              </a:rPr>
              <a:t>元和</a:t>
            </a:r>
            <a:r>
              <a:rPr lang="en-US" altLang="zh-CN" sz="2800" b="1" dirty="0">
                <a:solidFill>
                  <a:srgbClr val="000000"/>
                </a:solidFill>
                <a:latin typeface="Times New Roman" panose="02020603050405020304" pitchFamily="18" charset="0"/>
                <a:cs typeface="Times New Roman" panose="02020603050405020304" pitchFamily="18" charset="0"/>
              </a:rPr>
              <a:t>500</a:t>
            </a:r>
            <a:r>
              <a:rPr lang="zh-CN" altLang="en-US" sz="2800" b="1" dirty="0">
                <a:solidFill>
                  <a:srgbClr val="000000"/>
                </a:solidFill>
                <a:latin typeface="Times New Roman" panose="02020603050405020304" pitchFamily="18" charset="0"/>
                <a:cs typeface="Times New Roman" panose="02020603050405020304" pitchFamily="18" charset="0"/>
              </a:rPr>
              <a:t>元，而其每周产量分别为</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baseline="-25000"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latin typeface="Times New Roman" panose="02020603050405020304" pitchFamily="18" charset="0"/>
                <a:cs typeface="Times New Roman" panose="02020603050405020304" pitchFamily="18" charset="0"/>
              </a:rPr>
              <a:t>和</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baseline="-25000"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latin typeface="Times New Roman" panose="02020603050405020304" pitchFamily="18" charset="0"/>
                <a:cs typeface="Times New Roman" panose="02020603050405020304" pitchFamily="18" charset="0"/>
              </a:rPr>
              <a:t>，所以每周总利润</a:t>
            </a:r>
            <a:r>
              <a:rPr lang="en-US" altLang="zh-CN" sz="2800" b="1" dirty="0">
                <a:solidFill>
                  <a:srgbClr val="000000"/>
                </a:solidFill>
                <a:latin typeface="Times New Roman" panose="02020603050405020304" pitchFamily="18" charset="0"/>
                <a:cs typeface="Times New Roman" panose="02020603050405020304" pitchFamily="18" charset="0"/>
              </a:rPr>
              <a:t>z</a:t>
            </a:r>
            <a:r>
              <a:rPr lang="zh-CN" altLang="en-US" sz="2800" b="1" dirty="0">
                <a:solidFill>
                  <a:srgbClr val="000000"/>
                </a:solidFill>
                <a:latin typeface="Times New Roman" panose="02020603050405020304" pitchFamily="18" charset="0"/>
                <a:cs typeface="Times New Roman" panose="02020603050405020304" pitchFamily="18" charset="0"/>
              </a:rPr>
              <a:t>为：</a:t>
            </a:r>
            <a:endParaRPr lang="zh-CN" altLang="en-US" sz="2800" b="1" dirty="0">
              <a:solidFill>
                <a:srgbClr val="000000"/>
              </a:solidFill>
              <a:latin typeface="Times New Roman" panose="02020603050405020304" pitchFamily="18" charset="0"/>
              <a:cs typeface="Times New Roman" panose="02020603050405020304" pitchFamily="18" charset="0"/>
            </a:endParaRPr>
          </a:p>
          <a:p>
            <a:pPr marL="0" indent="0" algn="just">
              <a:lnSpc>
                <a:spcPct val="120000"/>
              </a:lnSpc>
              <a:buClr>
                <a:srgbClr val="000000"/>
              </a:buClr>
              <a:buSzPct val="75000"/>
              <a:buFont typeface="Wingdings" panose="05000000000000000000" pitchFamily="2" charset="2"/>
              <a:buNone/>
            </a:pPr>
            <a:r>
              <a:rPr lang="zh-CN" altLang="en-US" sz="2800" b="1" i="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z = </a:t>
            </a:r>
            <a:r>
              <a:rPr lang="en-US" altLang="zh-CN" sz="2800" b="1" dirty="0">
                <a:solidFill>
                  <a:srgbClr val="000000"/>
                </a:solidFill>
                <a:latin typeface="Times New Roman" panose="02020603050405020304" pitchFamily="18" charset="0"/>
                <a:cs typeface="Times New Roman" panose="02020603050405020304" pitchFamily="18" charset="0"/>
              </a:rPr>
              <a:t>300</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baseline="-25000"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500</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baseline="-25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 </a:t>
            </a:r>
            <a:r>
              <a:rPr lang="zh-CN" altLang="en-US" sz="2800" b="1" dirty="0">
                <a:solidFill>
                  <a:srgbClr val="000000"/>
                </a:solidFill>
                <a:latin typeface="Times New Roman" panose="02020603050405020304" pitchFamily="18" charset="0"/>
                <a:cs typeface="Times New Roman" panose="02020603050405020304" pitchFamily="18" charset="0"/>
              </a:rPr>
              <a:t>（元）</a:t>
            </a:r>
            <a:endParaRPr lang="zh-CN" altLang="en-US" sz="2800" b="1" dirty="0">
              <a:solidFill>
                <a:srgbClr val="000000"/>
              </a:solidFill>
              <a:latin typeface="宋体" panose="02010600030101010101" pitchFamily="2" charset="-122"/>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457200" y="581025"/>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19459" name="Rectangle 3"/>
          <p:cNvSpPr>
            <a:spLocks noGrp="1"/>
          </p:cNvSpPr>
          <p:nvPr>
            <p:ph type="body" sz="half" idx="1"/>
          </p:nvPr>
        </p:nvSpPr>
        <p:spPr>
          <a:xfrm>
            <a:off x="500063" y="1428750"/>
            <a:ext cx="8208962" cy="4392613"/>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b="1" dirty="0">
                <a:solidFill>
                  <a:srgbClr val="FF0000"/>
                </a:solidFill>
                <a:latin typeface="楷体_GB2312" pitchFamily="49" charset="-122"/>
                <a:ea typeface="楷体_GB2312" pitchFamily="49" charset="-122"/>
              </a:rPr>
              <a:t>（</a:t>
            </a:r>
            <a:r>
              <a:rPr lang="en-US" altLang="zh-CN" b="1" dirty="0">
                <a:solidFill>
                  <a:srgbClr val="FF0000"/>
                </a:solidFill>
                <a:latin typeface="楷体_GB2312" pitchFamily="49" charset="-122"/>
                <a:ea typeface="楷体_GB2312" pitchFamily="49" charset="-122"/>
              </a:rPr>
              <a:t>3</a:t>
            </a:r>
            <a:r>
              <a:rPr lang="zh-CN" altLang="en-US" b="1" dirty="0">
                <a:solidFill>
                  <a:srgbClr val="FF0000"/>
                </a:solidFill>
                <a:latin typeface="楷体_GB2312" pitchFamily="49" charset="-122"/>
                <a:ea typeface="楷体_GB2312" pitchFamily="49" charset="-122"/>
              </a:rPr>
              <a:t>）约束条件</a:t>
            </a:r>
            <a:endParaRPr lang="zh-CN" altLang="en-US" b="1" dirty="0">
              <a:solidFill>
                <a:srgbClr val="FF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b="1" dirty="0">
                <a:solidFill>
                  <a:srgbClr val="000000"/>
                </a:solidFill>
                <a:latin typeface="楷体_GB2312" pitchFamily="49" charset="-122"/>
                <a:ea typeface="楷体_GB2312" pitchFamily="49" charset="-122"/>
              </a:rPr>
              <a:t>本问题的约束条件共有</a:t>
            </a:r>
            <a:r>
              <a:rPr lang="zh-CN" altLang="en-US" b="1" dirty="0">
                <a:solidFill>
                  <a:schemeClr val="accent1"/>
                </a:solidFill>
                <a:latin typeface="楷体_GB2312" pitchFamily="49" charset="-122"/>
                <a:ea typeface="楷体_GB2312" pitchFamily="49" charset="-122"/>
              </a:rPr>
              <a:t>四</a:t>
            </a:r>
            <a:r>
              <a:rPr lang="zh-CN" altLang="en-US" b="1" dirty="0">
                <a:solidFill>
                  <a:srgbClr val="000000"/>
                </a:solidFill>
                <a:latin typeface="楷体_GB2312" pitchFamily="49" charset="-122"/>
                <a:ea typeface="楷体_GB2312" pitchFamily="49" charset="-122"/>
              </a:rPr>
              <a:t>个。</a:t>
            </a:r>
            <a:endParaRPr lang="zh-CN" altLang="en-US" b="1" dirty="0">
              <a:solidFill>
                <a:srgbClr val="000000"/>
              </a:solidFill>
              <a:latin typeface="楷体_GB2312" pitchFamily="49" charset="-122"/>
              <a:ea typeface="楷体_GB2312" pitchFamily="49" charset="-122"/>
            </a:endParaRPr>
          </a:p>
          <a:p>
            <a:pPr lvl="1" algn="just">
              <a:lnSpc>
                <a:spcPct val="120000"/>
              </a:lnSpc>
              <a:buClr>
                <a:srgbClr val="000000"/>
              </a:buClr>
              <a:buSzTx/>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车间</a:t>
            </a:r>
            <a:r>
              <a:rPr lang="en-US" altLang="zh-CN" b="1" dirty="0">
                <a:solidFill>
                  <a:srgbClr val="000000"/>
                </a:solidFill>
                <a:latin typeface="楷体_GB2312" pitchFamily="49" charset="-122"/>
                <a:ea typeface="楷体_GB2312" pitchFamily="49" charset="-122"/>
              </a:rPr>
              <a:t>1</a:t>
            </a:r>
            <a:r>
              <a:rPr lang="zh-CN" altLang="en-US" b="1" dirty="0">
                <a:solidFill>
                  <a:srgbClr val="000000"/>
                </a:solidFill>
                <a:latin typeface="楷体_GB2312" pitchFamily="49" charset="-122"/>
                <a:ea typeface="楷体_GB2312" pitchFamily="49" charset="-122"/>
              </a:rPr>
              <a:t>每周可用工时限制：</a:t>
            </a:r>
            <a:r>
              <a:rPr lang="en-US" altLang="zh-CN" b="1" i="1" dirty="0">
                <a:solidFill>
                  <a:srgbClr val="000000"/>
                </a:solidFill>
                <a:latin typeface="Times New Roman" panose="02020603050405020304" pitchFamily="18" charset="0"/>
                <a:ea typeface="楷体_GB2312" pitchFamily="49" charset="-122"/>
              </a:rPr>
              <a:t>x</a:t>
            </a:r>
            <a:r>
              <a:rPr lang="en-US" altLang="zh-CN" b="1" i="1" baseline="-25000" dirty="0">
                <a:solidFill>
                  <a:srgbClr val="000000"/>
                </a:solidFill>
                <a:latin typeface="Times New Roman" panose="02020603050405020304" pitchFamily="18" charset="0"/>
                <a:ea typeface="楷体_GB2312" pitchFamily="49" charset="-122"/>
              </a:rPr>
              <a:t>1</a:t>
            </a:r>
            <a:r>
              <a:rPr lang="en-US" altLang="zh-CN" b="1" i="1" dirty="0">
                <a:solidFill>
                  <a:srgbClr val="000000"/>
                </a:solidFill>
                <a:latin typeface="Times New Roman" panose="02020603050405020304" pitchFamily="18" charset="0"/>
                <a:ea typeface="楷体_GB2312" pitchFamily="49" charset="-122"/>
              </a:rPr>
              <a:t> </a:t>
            </a:r>
            <a:r>
              <a:rPr lang="en-US" altLang="zh-CN" b="1" dirty="0">
                <a:solidFill>
                  <a:srgbClr val="000000"/>
                </a:solidFill>
                <a:latin typeface="楷体_GB2312" pitchFamily="49" charset="-122"/>
                <a:ea typeface="楷体_GB2312" pitchFamily="49" charset="-122"/>
                <a:sym typeface="Symbol" panose="05050102010706020507" pitchFamily="18" charset="2"/>
              </a:rPr>
              <a:t> 4</a:t>
            </a:r>
            <a:endParaRPr lang="en-US" altLang="zh-CN" b="1" dirty="0">
              <a:solidFill>
                <a:srgbClr val="000000"/>
              </a:solidFill>
              <a:latin typeface="楷体_GB2312" pitchFamily="49" charset="-122"/>
              <a:ea typeface="楷体_GB2312" pitchFamily="49" charset="-122"/>
              <a:sym typeface="Symbol" panose="05050102010706020507" pitchFamily="18" charset="2"/>
            </a:endParaRPr>
          </a:p>
          <a:p>
            <a:pPr lvl="1" algn="just">
              <a:lnSpc>
                <a:spcPct val="120000"/>
              </a:lnSpc>
              <a:buClr>
                <a:srgbClr val="000000"/>
              </a:buClr>
              <a:buSzTx/>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车间</a:t>
            </a:r>
            <a:r>
              <a:rPr lang="en-US" altLang="zh-CN" b="1" dirty="0">
                <a:solidFill>
                  <a:srgbClr val="000000"/>
                </a:solidFill>
                <a:latin typeface="楷体_GB2312" pitchFamily="49" charset="-122"/>
                <a:ea typeface="楷体_GB2312" pitchFamily="49" charset="-122"/>
              </a:rPr>
              <a:t>2</a:t>
            </a:r>
            <a:r>
              <a:rPr lang="zh-CN" altLang="en-US" b="1" dirty="0">
                <a:solidFill>
                  <a:srgbClr val="000000"/>
                </a:solidFill>
                <a:latin typeface="楷体_GB2312" pitchFamily="49" charset="-122"/>
                <a:ea typeface="楷体_GB2312" pitchFamily="49" charset="-122"/>
              </a:rPr>
              <a:t>每周可用工时限制：</a:t>
            </a:r>
            <a:r>
              <a:rPr lang="en-US" altLang="zh-CN" b="1" dirty="0">
                <a:solidFill>
                  <a:srgbClr val="000000"/>
                </a:solidFill>
                <a:latin typeface="楷体_GB2312" pitchFamily="49" charset="-122"/>
                <a:ea typeface="楷体_GB2312" pitchFamily="49" charset="-122"/>
              </a:rPr>
              <a:t>2</a:t>
            </a:r>
            <a:r>
              <a:rPr lang="en-US" altLang="zh-CN" b="1" i="1" dirty="0">
                <a:solidFill>
                  <a:srgbClr val="000000"/>
                </a:solidFill>
                <a:latin typeface="Times New Roman" panose="02020603050405020304" pitchFamily="18" charset="0"/>
                <a:ea typeface="楷体_GB2312" pitchFamily="49" charset="-122"/>
              </a:rPr>
              <a:t>x</a:t>
            </a:r>
            <a:r>
              <a:rPr lang="en-US" altLang="zh-CN" b="1" i="1" baseline="-25000" dirty="0">
                <a:solidFill>
                  <a:srgbClr val="000000"/>
                </a:solidFill>
                <a:latin typeface="Times New Roman" panose="02020603050405020304" pitchFamily="18" charset="0"/>
                <a:ea typeface="楷体_GB2312" pitchFamily="49" charset="-122"/>
              </a:rPr>
              <a:t>2 </a:t>
            </a:r>
            <a:r>
              <a:rPr lang="en-US" altLang="zh-CN" b="1" dirty="0">
                <a:solidFill>
                  <a:srgbClr val="000000"/>
                </a:solidFill>
                <a:latin typeface="楷体_GB2312" pitchFamily="49" charset="-122"/>
                <a:ea typeface="楷体_GB2312" pitchFamily="49" charset="-122"/>
                <a:sym typeface="Symbol" panose="05050102010706020507" pitchFamily="18" charset="2"/>
              </a:rPr>
              <a:t>  12</a:t>
            </a:r>
            <a:endParaRPr lang="en-US" altLang="zh-CN" b="1" dirty="0">
              <a:solidFill>
                <a:srgbClr val="000000"/>
              </a:solidFill>
              <a:latin typeface="楷体_GB2312" pitchFamily="49" charset="-122"/>
              <a:ea typeface="楷体_GB2312" pitchFamily="49" charset="-122"/>
              <a:sym typeface="Symbol" panose="05050102010706020507" pitchFamily="18" charset="2"/>
            </a:endParaRPr>
          </a:p>
          <a:p>
            <a:pPr lvl="1" algn="just">
              <a:lnSpc>
                <a:spcPct val="120000"/>
              </a:lnSpc>
              <a:buClr>
                <a:srgbClr val="000000"/>
              </a:buClr>
              <a:buSzTx/>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车间</a:t>
            </a:r>
            <a:r>
              <a:rPr lang="en-US" altLang="zh-CN" b="1" dirty="0">
                <a:solidFill>
                  <a:srgbClr val="000000"/>
                </a:solidFill>
                <a:latin typeface="楷体_GB2312" pitchFamily="49" charset="-122"/>
                <a:ea typeface="楷体_GB2312" pitchFamily="49" charset="-122"/>
              </a:rPr>
              <a:t>3</a:t>
            </a:r>
            <a:r>
              <a:rPr lang="zh-CN" altLang="en-US" b="1" dirty="0">
                <a:solidFill>
                  <a:srgbClr val="000000"/>
                </a:solidFill>
                <a:latin typeface="楷体_GB2312" pitchFamily="49" charset="-122"/>
                <a:ea typeface="楷体_GB2312" pitchFamily="49" charset="-122"/>
              </a:rPr>
              <a:t>每周可用工时限制：</a:t>
            </a:r>
            <a:r>
              <a:rPr lang="en-US" altLang="zh-CN" b="1" dirty="0">
                <a:solidFill>
                  <a:srgbClr val="000000"/>
                </a:solidFill>
                <a:latin typeface="楷体_GB2312" pitchFamily="49" charset="-122"/>
                <a:ea typeface="楷体_GB2312" pitchFamily="49" charset="-122"/>
              </a:rPr>
              <a:t>3</a:t>
            </a:r>
            <a:r>
              <a:rPr lang="en-US" altLang="zh-CN" b="1" i="1" dirty="0">
                <a:solidFill>
                  <a:srgbClr val="000000"/>
                </a:solidFill>
                <a:latin typeface="Times New Roman" panose="02020603050405020304" pitchFamily="18" charset="0"/>
                <a:ea typeface="楷体_GB2312" pitchFamily="49" charset="-122"/>
              </a:rPr>
              <a:t>x</a:t>
            </a:r>
            <a:r>
              <a:rPr lang="en-US" altLang="zh-CN" b="1" i="1" baseline="-25000" dirty="0">
                <a:solidFill>
                  <a:srgbClr val="000000"/>
                </a:solidFill>
                <a:latin typeface="Times New Roman" panose="02020603050405020304" pitchFamily="18" charset="0"/>
                <a:ea typeface="楷体_GB2312" pitchFamily="49" charset="-122"/>
              </a:rPr>
              <a:t>1</a:t>
            </a:r>
            <a:r>
              <a:rPr lang="en-US" altLang="zh-CN" b="1" i="1" baseline="-25000" dirty="0">
                <a:solidFill>
                  <a:srgbClr val="000000"/>
                </a:solidFill>
                <a:latin typeface="楷体_GB2312" pitchFamily="49" charset="-122"/>
                <a:ea typeface="楷体_GB2312" pitchFamily="49" charset="-122"/>
              </a:rPr>
              <a:t> </a:t>
            </a:r>
            <a:r>
              <a:rPr lang="en-US" altLang="zh-CN" b="1" dirty="0">
                <a:solidFill>
                  <a:srgbClr val="000000"/>
                </a:solidFill>
                <a:latin typeface="楷体_GB2312" pitchFamily="49" charset="-122"/>
                <a:ea typeface="楷体_GB2312" pitchFamily="49" charset="-122"/>
              </a:rPr>
              <a:t>+2</a:t>
            </a:r>
            <a:r>
              <a:rPr lang="en-US" altLang="zh-CN" b="1" i="1" dirty="0">
                <a:solidFill>
                  <a:srgbClr val="000000"/>
                </a:solidFill>
                <a:latin typeface="Times New Roman" panose="02020603050405020304" pitchFamily="18" charset="0"/>
                <a:ea typeface="楷体_GB2312" pitchFamily="49" charset="-122"/>
              </a:rPr>
              <a:t>x</a:t>
            </a:r>
            <a:r>
              <a:rPr lang="en-US" altLang="zh-CN" b="1" i="1" baseline="-25000" dirty="0">
                <a:solidFill>
                  <a:srgbClr val="000000"/>
                </a:solidFill>
                <a:latin typeface="Times New Roman" panose="02020603050405020304" pitchFamily="18" charset="0"/>
                <a:ea typeface="楷体_GB2312" pitchFamily="49" charset="-122"/>
              </a:rPr>
              <a:t>2</a:t>
            </a:r>
            <a:r>
              <a:rPr lang="en-US" altLang="zh-CN" b="1" dirty="0">
                <a:solidFill>
                  <a:srgbClr val="000000"/>
                </a:solidFill>
                <a:latin typeface="楷体_GB2312" pitchFamily="49" charset="-122"/>
                <a:ea typeface="楷体_GB2312" pitchFamily="49" charset="-122"/>
                <a:sym typeface="Symbol" panose="05050102010706020507" pitchFamily="18" charset="2"/>
              </a:rPr>
              <a:t>  18</a:t>
            </a:r>
            <a:endParaRPr lang="en-US" altLang="zh-CN" b="1" dirty="0">
              <a:solidFill>
                <a:srgbClr val="000000"/>
              </a:solidFill>
              <a:latin typeface="楷体_GB2312" pitchFamily="49" charset="-122"/>
              <a:ea typeface="楷体_GB2312" pitchFamily="49" charset="-122"/>
              <a:sym typeface="Symbol" panose="05050102010706020507" pitchFamily="18" charset="2"/>
            </a:endParaRPr>
          </a:p>
          <a:p>
            <a:pPr lvl="1" algn="just">
              <a:lnSpc>
                <a:spcPct val="120000"/>
              </a:lnSpc>
              <a:buClr>
                <a:srgbClr val="000000"/>
              </a:buClr>
              <a:buSzTx/>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sym typeface="Symbol" panose="05050102010706020507" pitchFamily="18" charset="2"/>
              </a:rPr>
              <a:t>非负约束</a:t>
            </a:r>
            <a:r>
              <a:rPr lang="en-US" altLang="zh-CN" b="1" dirty="0">
                <a:solidFill>
                  <a:srgbClr val="000000"/>
                </a:solidFill>
                <a:latin typeface="楷体_GB2312" pitchFamily="49" charset="-122"/>
                <a:ea typeface="楷体_GB2312" pitchFamily="49" charset="-122"/>
                <a:sym typeface="Symbol" panose="05050102010706020507" pitchFamily="18" charset="2"/>
              </a:rPr>
              <a:t>:</a:t>
            </a:r>
            <a:r>
              <a:rPr lang="en-US" altLang="zh-CN" b="1" i="1" dirty="0">
                <a:solidFill>
                  <a:srgbClr val="000000"/>
                </a:solidFill>
                <a:latin typeface="Times New Roman" panose="02020603050405020304" pitchFamily="18" charset="0"/>
                <a:ea typeface="楷体_GB2312" pitchFamily="49" charset="-122"/>
                <a:sym typeface="Symbol" panose="05050102010706020507" pitchFamily="18" charset="2"/>
              </a:rPr>
              <a:t>x</a:t>
            </a:r>
            <a:r>
              <a:rPr lang="en-US" altLang="zh-CN" b="1" i="1" baseline="-25000" dirty="0">
                <a:solidFill>
                  <a:srgbClr val="000000"/>
                </a:solidFill>
                <a:latin typeface="Times New Roman" panose="02020603050405020304" pitchFamily="18" charset="0"/>
                <a:ea typeface="楷体_GB2312" pitchFamily="49" charset="-122"/>
                <a:sym typeface="Symbol" panose="05050102010706020507" pitchFamily="18" charset="2"/>
              </a:rPr>
              <a:t>1</a:t>
            </a:r>
            <a:r>
              <a:rPr lang="en-US" altLang="zh-CN" b="1" dirty="0">
                <a:solidFill>
                  <a:srgbClr val="000000"/>
                </a:solidFill>
                <a:latin typeface="楷体_GB2312" pitchFamily="49" charset="-122"/>
                <a:ea typeface="楷体_GB2312" pitchFamily="49" charset="-122"/>
                <a:sym typeface="Symbol" panose="05050102010706020507" pitchFamily="18" charset="2"/>
              </a:rPr>
              <a:t>  0, </a:t>
            </a:r>
            <a:r>
              <a:rPr lang="en-US" altLang="zh-CN" b="1" i="1" dirty="0">
                <a:solidFill>
                  <a:srgbClr val="000000"/>
                </a:solidFill>
                <a:latin typeface="Times New Roman" panose="02020603050405020304" pitchFamily="18" charset="0"/>
                <a:ea typeface="楷体_GB2312" pitchFamily="49" charset="-122"/>
                <a:sym typeface="Symbol" panose="05050102010706020507" pitchFamily="18" charset="2"/>
              </a:rPr>
              <a:t>x</a:t>
            </a:r>
            <a:r>
              <a:rPr lang="en-US" altLang="zh-CN" b="1" i="1" baseline="-25000" dirty="0">
                <a:solidFill>
                  <a:srgbClr val="000000"/>
                </a:solidFill>
                <a:latin typeface="Times New Roman" panose="02020603050405020304" pitchFamily="18" charset="0"/>
                <a:ea typeface="楷体_GB2312" pitchFamily="49" charset="-122"/>
                <a:sym typeface="Symbol" panose="05050102010706020507" pitchFamily="18" charset="2"/>
              </a:rPr>
              <a:t>2</a:t>
            </a:r>
            <a:r>
              <a:rPr lang="en-US" altLang="zh-CN" b="1" dirty="0">
                <a:solidFill>
                  <a:srgbClr val="000000"/>
                </a:solidFill>
                <a:latin typeface="楷体_GB2312" pitchFamily="49" charset="-122"/>
                <a:ea typeface="楷体_GB2312" pitchFamily="49" charset="-122"/>
                <a:sym typeface="Symbol" panose="05050102010706020507" pitchFamily="18" charset="2"/>
              </a:rPr>
              <a:t>  0</a:t>
            </a:r>
            <a:endParaRPr lang="en-US" altLang="zh-CN" b="1" dirty="0">
              <a:solidFill>
                <a:srgbClr val="000000"/>
              </a:solidFill>
              <a:latin typeface="楷体_GB2312" pitchFamily="49" charset="-122"/>
              <a:ea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Rectangle 2"/>
          <p:cNvSpPr>
            <a:spLocks noGrp="1"/>
          </p:cNvSpPr>
          <p:nvPr>
            <p:ph type="title"/>
          </p:nvPr>
        </p:nvSpPr>
        <p:spPr>
          <a:xfrm>
            <a:off x="457200" y="581025"/>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2052" name="Rectangle 3"/>
          <p:cNvSpPr>
            <a:spLocks noGrp="1"/>
          </p:cNvSpPr>
          <p:nvPr>
            <p:ph type="body" sz="half" idx="1"/>
          </p:nvPr>
        </p:nvSpPr>
        <p:spPr>
          <a:xfrm>
            <a:off x="500063" y="1428750"/>
            <a:ext cx="4752975" cy="720725"/>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b="1" dirty="0">
                <a:solidFill>
                  <a:srgbClr val="FF0000"/>
                </a:solidFill>
                <a:latin typeface="楷体_GB2312" pitchFamily="49" charset="-122"/>
                <a:ea typeface="楷体_GB2312" pitchFamily="49" charset="-122"/>
              </a:rPr>
              <a:t>例</a:t>
            </a:r>
            <a:r>
              <a:rPr lang="en-US" altLang="zh-CN" b="1" dirty="0">
                <a:solidFill>
                  <a:srgbClr val="FF0000"/>
                </a:solidFill>
                <a:latin typeface="楷体_GB2312" pitchFamily="49" charset="-122"/>
                <a:ea typeface="楷体_GB2312" pitchFamily="49" charset="-122"/>
              </a:rPr>
              <a:t>1.1</a:t>
            </a:r>
            <a:r>
              <a:rPr lang="zh-CN" altLang="en-US" b="1" dirty="0">
                <a:solidFill>
                  <a:srgbClr val="FF0000"/>
                </a:solidFill>
                <a:latin typeface="楷体_GB2312" pitchFamily="49" charset="-122"/>
                <a:ea typeface="楷体_GB2312" pitchFamily="49" charset="-122"/>
              </a:rPr>
              <a:t>的线性规划模型</a:t>
            </a:r>
            <a:r>
              <a:rPr lang="en-US" altLang="zh-CN" b="1" dirty="0">
                <a:solidFill>
                  <a:srgbClr val="FF0000"/>
                </a:solidFill>
                <a:latin typeface="楷体_GB2312" pitchFamily="49" charset="-122"/>
                <a:ea typeface="楷体_GB2312" pitchFamily="49" charset="-122"/>
              </a:rPr>
              <a:t>:</a:t>
            </a:r>
            <a:endParaRPr lang="en-US" altLang="zh-CN" b="1" dirty="0">
              <a:solidFill>
                <a:srgbClr val="FF0000"/>
              </a:solidFill>
              <a:latin typeface="楷体_GB2312" pitchFamily="49" charset="-122"/>
              <a:ea typeface="楷体_GB2312" pitchFamily="49" charset="-122"/>
            </a:endParaRPr>
          </a:p>
        </p:txBody>
      </p:sp>
      <p:graphicFrame>
        <p:nvGraphicFramePr>
          <p:cNvPr id="2050" name="Object 2"/>
          <p:cNvGraphicFramePr/>
          <p:nvPr/>
        </p:nvGraphicFramePr>
        <p:xfrm>
          <a:off x="873125" y="2428875"/>
          <a:ext cx="3711575" cy="3313113"/>
        </p:xfrm>
        <a:graphic>
          <a:graphicData uri="http://schemas.openxmlformats.org/presentationml/2006/ole">
            <mc:AlternateContent xmlns:mc="http://schemas.openxmlformats.org/markup-compatibility/2006">
              <mc:Choice xmlns:v="urn:schemas-microsoft-com:vml" Requires="v">
                <p:oleObj spid="_x0000_s3077" name="" r:id="rId1" imgW="1397000" imgH="1168400" progId="Equation.DSMT4">
                  <p:embed/>
                </p:oleObj>
              </mc:Choice>
              <mc:Fallback>
                <p:oleObj name="" r:id="rId1" imgW="1397000" imgH="1168400" progId="Equation.DSMT4">
                  <p:embed/>
                  <p:pic>
                    <p:nvPicPr>
                      <p:cNvPr id="0" name="图片 3076"/>
                      <p:cNvPicPr/>
                      <p:nvPr/>
                    </p:nvPicPr>
                    <p:blipFill>
                      <a:blip r:embed="rId2"/>
                      <a:stretch>
                        <a:fillRect/>
                      </a:stretch>
                    </p:blipFill>
                    <p:spPr>
                      <a:xfrm>
                        <a:off x="873125" y="2428875"/>
                        <a:ext cx="3711575" cy="3313113"/>
                      </a:xfrm>
                      <a:prstGeom prst="rect">
                        <a:avLst/>
                      </a:prstGeom>
                      <a:noFill/>
                      <a:ln w="38100">
                        <a:noFill/>
                        <a:miter/>
                      </a:ln>
                    </p:spPr>
                  </p:pic>
                </p:oleObj>
              </mc:Fallback>
            </mc:AlternateContent>
          </a:graphicData>
        </a:graphic>
      </p:graphicFrame>
      <p:sp>
        <p:nvSpPr>
          <p:cNvPr id="2053" name="Text Box 6"/>
          <p:cNvSpPr txBox="1"/>
          <p:nvPr/>
        </p:nvSpPr>
        <p:spPr>
          <a:xfrm>
            <a:off x="5000625" y="2214563"/>
            <a:ext cx="3744913" cy="2586037"/>
          </a:xfrm>
          <a:prstGeom prst="rect">
            <a:avLst/>
          </a:prstGeom>
          <a:noFill/>
          <a:ln w="12700">
            <a:noFill/>
          </a:ln>
        </p:spPr>
        <p:txBody>
          <a:bodyPr>
            <a:spAutoFit/>
          </a:bodyPr>
          <a:p>
            <a:r>
              <a:rPr lang="zh-CN" altLang="en-US" b="1" dirty="0">
                <a:solidFill>
                  <a:srgbClr val="000000"/>
                </a:solidFill>
                <a:latin typeface="Arial" panose="020B0604020202020204" pitchFamily="34" charset="0"/>
                <a:ea typeface="黑体" panose="02010609060101010101" pitchFamily="49" charset="-122"/>
              </a:rPr>
              <a:t>这是一个典型的</a:t>
            </a:r>
            <a:r>
              <a:rPr lang="zh-CN" altLang="en-US" b="1" dirty="0">
                <a:solidFill>
                  <a:srgbClr val="FF0000"/>
                </a:solidFill>
                <a:latin typeface="Arial" panose="020B0604020202020204" pitchFamily="34" charset="0"/>
                <a:ea typeface="黑体" panose="02010609060101010101" pitchFamily="49" charset="-122"/>
              </a:rPr>
              <a:t>利润最大化</a:t>
            </a:r>
            <a:r>
              <a:rPr lang="zh-CN" altLang="en-US" b="1" dirty="0">
                <a:solidFill>
                  <a:srgbClr val="000000"/>
                </a:solidFill>
                <a:latin typeface="Arial" panose="020B0604020202020204" pitchFamily="34" charset="0"/>
                <a:ea typeface="黑体" panose="02010609060101010101" pitchFamily="49" charset="-122"/>
              </a:rPr>
              <a:t>的生产计划问题。其中，“</a:t>
            </a:r>
            <a:r>
              <a:rPr lang="en-US" altLang="zh-CN" b="1" dirty="0">
                <a:solidFill>
                  <a:srgbClr val="FF0000"/>
                </a:solidFill>
                <a:latin typeface="Arial" panose="020B0604020202020204" pitchFamily="34" charset="0"/>
                <a:ea typeface="黑体" panose="02010609060101010101" pitchFamily="49" charset="-122"/>
              </a:rPr>
              <a:t>max</a:t>
            </a:r>
            <a:r>
              <a:rPr lang="en-US" altLang="zh-CN" b="1" dirty="0">
                <a:solidFill>
                  <a:srgbClr val="000000"/>
                </a:solidFill>
                <a:latin typeface="Arial" panose="020B0604020202020204" pitchFamily="34" charset="0"/>
                <a:ea typeface="黑体" panose="02010609060101010101" pitchFamily="49" charset="-122"/>
              </a:rPr>
              <a:t>”</a:t>
            </a:r>
            <a:r>
              <a:rPr lang="zh-CN" altLang="en-US" b="1" dirty="0">
                <a:solidFill>
                  <a:srgbClr val="000000"/>
                </a:solidFill>
                <a:latin typeface="Arial" panose="020B0604020202020204" pitchFamily="34" charset="0"/>
                <a:ea typeface="黑体" panose="02010609060101010101" pitchFamily="49" charset="-122"/>
              </a:rPr>
              <a:t>是英文单词“</a:t>
            </a:r>
            <a:r>
              <a:rPr lang="en-US" altLang="zh-CN" b="1" dirty="0">
                <a:solidFill>
                  <a:srgbClr val="000000"/>
                </a:solidFill>
                <a:latin typeface="Arial" panose="020B0604020202020204" pitchFamily="34" charset="0"/>
                <a:ea typeface="黑体" panose="02010609060101010101" pitchFamily="49" charset="-122"/>
              </a:rPr>
              <a:t>maximize”</a:t>
            </a:r>
            <a:r>
              <a:rPr lang="zh-CN" altLang="en-US" b="1" dirty="0">
                <a:solidFill>
                  <a:srgbClr val="000000"/>
                </a:solidFill>
                <a:latin typeface="Arial" panose="020B0604020202020204" pitchFamily="34" charset="0"/>
                <a:ea typeface="黑体" panose="02010609060101010101" pitchFamily="49" charset="-122"/>
              </a:rPr>
              <a:t>的缩写，含义为“最大化”；</a:t>
            </a:r>
            <a:endParaRPr lang="zh-CN" altLang="en-US" b="1" dirty="0">
              <a:solidFill>
                <a:srgbClr val="000000"/>
              </a:solidFill>
              <a:latin typeface="Arial" panose="020B0604020202020204" pitchFamily="34" charset="0"/>
              <a:ea typeface="黑体" panose="02010609060101010101" pitchFamily="49" charset="-122"/>
            </a:endParaRPr>
          </a:p>
          <a:p>
            <a:r>
              <a:rPr lang="zh-CN" altLang="en-US" b="1" dirty="0">
                <a:solidFill>
                  <a:srgbClr val="000000"/>
                </a:solidFill>
                <a:latin typeface="Arial" panose="020B0604020202020204" pitchFamily="34" charset="0"/>
                <a:ea typeface="黑体" panose="02010609060101010101" pitchFamily="49" charset="-122"/>
              </a:rPr>
              <a:t>“</a:t>
            </a:r>
            <a:r>
              <a:rPr lang="en-US" altLang="zh-CN" b="1" dirty="0">
                <a:solidFill>
                  <a:srgbClr val="000000"/>
                </a:solidFill>
                <a:latin typeface="Arial" panose="020B0604020202020204" pitchFamily="34" charset="0"/>
                <a:ea typeface="黑体" panose="02010609060101010101" pitchFamily="49" charset="-122"/>
              </a:rPr>
              <a:t>s.t.”</a:t>
            </a:r>
            <a:r>
              <a:rPr lang="zh-CN" altLang="en-US" b="1" dirty="0">
                <a:solidFill>
                  <a:srgbClr val="000000"/>
                </a:solidFill>
                <a:latin typeface="Arial" panose="020B0604020202020204" pitchFamily="34" charset="0"/>
                <a:ea typeface="黑体" panose="02010609060101010101" pitchFamily="49" charset="-122"/>
              </a:rPr>
              <a:t>是“</a:t>
            </a:r>
            <a:r>
              <a:rPr lang="en-US" altLang="zh-CN" b="1" dirty="0">
                <a:solidFill>
                  <a:srgbClr val="000000"/>
                </a:solidFill>
                <a:latin typeface="Arial" panose="020B0604020202020204" pitchFamily="34" charset="0"/>
                <a:ea typeface="黑体" panose="02010609060101010101" pitchFamily="49" charset="-122"/>
              </a:rPr>
              <a:t>subject to”</a:t>
            </a:r>
            <a:r>
              <a:rPr lang="zh-CN" altLang="en-US" b="1" dirty="0">
                <a:solidFill>
                  <a:srgbClr val="000000"/>
                </a:solidFill>
                <a:latin typeface="Arial" panose="020B0604020202020204" pitchFamily="34" charset="0"/>
                <a:ea typeface="黑体" panose="02010609060101010101" pitchFamily="49" charset="-122"/>
              </a:rPr>
              <a:t>的缩写，表示“满足于</a:t>
            </a:r>
            <a:r>
              <a:rPr lang="en-US" altLang="zh-CN" b="1" dirty="0">
                <a:solidFill>
                  <a:srgbClr val="000000"/>
                </a:solidFill>
                <a:latin typeface="Arial" panose="020B0604020202020204" pitchFamily="34" charset="0"/>
                <a:ea typeface="黑体" panose="02010609060101010101" pitchFamily="49" charset="-122"/>
              </a:rPr>
              <a:t>……”</a:t>
            </a:r>
            <a:r>
              <a:rPr lang="zh-CN" altLang="en-US" b="1" dirty="0">
                <a:solidFill>
                  <a:srgbClr val="000000"/>
                </a:solidFill>
                <a:latin typeface="Arial" panose="020B0604020202020204" pitchFamily="34" charset="0"/>
                <a:ea typeface="黑体" panose="02010609060101010101" pitchFamily="49" charset="-122"/>
              </a:rPr>
              <a:t>。因此，上述模型的含义是：在给定的条件限制下，求使得目标函数</a:t>
            </a:r>
            <a:r>
              <a:rPr lang="en-US" altLang="zh-CN" b="1" dirty="0">
                <a:solidFill>
                  <a:srgbClr val="000000"/>
                </a:solidFill>
                <a:latin typeface="Arial" panose="020B0604020202020204" pitchFamily="34" charset="0"/>
                <a:ea typeface="黑体" panose="02010609060101010101" pitchFamily="49" charset="-122"/>
              </a:rPr>
              <a:t>z</a:t>
            </a:r>
            <a:r>
              <a:rPr lang="zh-CN" altLang="en-US" b="1" dirty="0">
                <a:solidFill>
                  <a:srgbClr val="000000"/>
                </a:solidFill>
                <a:latin typeface="Arial" panose="020B0604020202020204" pitchFamily="34" charset="0"/>
                <a:ea typeface="黑体" panose="02010609060101010101" pitchFamily="49" charset="-122"/>
              </a:rPr>
              <a:t>达到最大时</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1</a:t>
            </a:r>
            <a:r>
              <a:rPr lang="zh-CN" altLang="en-US" b="1" dirty="0">
                <a:solidFill>
                  <a:srgbClr val="000000"/>
                </a:solidFill>
                <a:latin typeface="Arial" panose="020B0604020202020204" pitchFamily="34" charset="0"/>
                <a:ea typeface="黑体" panose="02010609060101010101" pitchFamily="49" charset="-122"/>
              </a:rPr>
              <a:t>，</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2</a:t>
            </a:r>
            <a:r>
              <a:rPr lang="zh-CN" altLang="en-US" b="1" dirty="0">
                <a:solidFill>
                  <a:srgbClr val="000000"/>
                </a:solidFill>
                <a:latin typeface="Arial" panose="020B0604020202020204" pitchFamily="34" charset="0"/>
                <a:ea typeface="黑体" panose="02010609060101010101" pitchFamily="49" charset="-122"/>
              </a:rPr>
              <a:t>的取值。</a:t>
            </a:r>
            <a:endParaRPr lang="zh-CN" altLang="en-US" b="1" dirty="0">
              <a:solidFill>
                <a:srgbClr val="000000"/>
              </a:solidFill>
              <a:latin typeface="Arial" panose="020B0604020202020204" pitchFamily="34" charset="0"/>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514350" y="581025"/>
            <a:ext cx="5915025"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20483" name="Rectangle 3"/>
          <p:cNvSpPr>
            <a:spLocks noGrp="1"/>
          </p:cNvSpPr>
          <p:nvPr>
            <p:ph type="body" sz="half" idx="1"/>
          </p:nvPr>
        </p:nvSpPr>
        <p:spPr>
          <a:xfrm>
            <a:off x="642938" y="1643063"/>
            <a:ext cx="7416800" cy="4249737"/>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en-US" altLang="zh-CN" b="1" dirty="0">
                <a:solidFill>
                  <a:srgbClr val="000000"/>
                </a:solidFill>
                <a:latin typeface="楷体_GB2312" pitchFamily="49" charset="-122"/>
                <a:ea typeface="楷体_GB2312" pitchFamily="49" charset="-122"/>
              </a:rPr>
              <a:t>  </a:t>
            </a:r>
            <a:r>
              <a:rPr lang="zh-CN" altLang="zh-CN" b="1" dirty="0">
                <a:solidFill>
                  <a:srgbClr val="000000"/>
                </a:solidFill>
                <a:latin typeface="楷体_GB2312" pitchFamily="49" charset="-122"/>
                <a:ea typeface="楷体_GB2312" pitchFamily="49" charset="-122"/>
              </a:rPr>
              <a:t>本章讨论的问题均为</a:t>
            </a:r>
            <a:r>
              <a:rPr lang="zh-CN" altLang="zh-CN" b="1" dirty="0">
                <a:solidFill>
                  <a:srgbClr val="FF0000"/>
                </a:solidFill>
                <a:latin typeface="楷体_GB2312" pitchFamily="49" charset="-122"/>
                <a:ea typeface="楷体_GB2312" pitchFamily="49" charset="-122"/>
              </a:rPr>
              <a:t>线性规划</a:t>
            </a:r>
            <a:r>
              <a:rPr lang="zh-CN" altLang="zh-CN" b="1" dirty="0">
                <a:solidFill>
                  <a:srgbClr val="000000"/>
                </a:solidFill>
                <a:latin typeface="楷体_GB2312" pitchFamily="49" charset="-122"/>
                <a:ea typeface="楷体_GB2312" pitchFamily="49" charset="-122"/>
              </a:rPr>
              <a:t>问题。所谓</a:t>
            </a:r>
            <a:r>
              <a:rPr lang="zh-CN" altLang="zh-CN" b="1" dirty="0">
                <a:solidFill>
                  <a:srgbClr val="000000"/>
                </a:solidFill>
                <a:latin typeface="Times"/>
                <a:ea typeface="楷体_GB2312" pitchFamily="49" charset="-122"/>
              </a:rPr>
              <a:t>“</a:t>
            </a:r>
            <a:r>
              <a:rPr lang="zh-CN" altLang="zh-CN" b="1" dirty="0">
                <a:solidFill>
                  <a:schemeClr val="accent1"/>
                </a:solidFill>
                <a:latin typeface="楷体_GB2312" pitchFamily="49" charset="-122"/>
                <a:ea typeface="楷体_GB2312" pitchFamily="49" charset="-122"/>
              </a:rPr>
              <a:t>线性</a:t>
            </a:r>
            <a:r>
              <a:rPr lang="zh-CN" altLang="zh-CN" b="1" dirty="0">
                <a:solidFill>
                  <a:srgbClr val="000000"/>
                </a:solidFill>
                <a:latin typeface="Times"/>
                <a:ea typeface="楷体_GB2312" pitchFamily="49" charset="-122"/>
              </a:rPr>
              <a:t>”</a:t>
            </a:r>
            <a:r>
              <a:rPr lang="zh-CN" altLang="zh-CN" b="1" dirty="0">
                <a:solidFill>
                  <a:srgbClr val="000000"/>
                </a:solidFill>
                <a:latin typeface="楷体_GB2312" pitchFamily="49" charset="-122"/>
                <a:ea typeface="楷体_GB2312" pitchFamily="49" charset="-122"/>
              </a:rPr>
              <a:t>规划，是指如果目标函数是关于</a:t>
            </a:r>
            <a:r>
              <a:rPr lang="zh-CN" altLang="zh-CN" b="1" dirty="0">
                <a:solidFill>
                  <a:schemeClr val="accent1"/>
                </a:solidFill>
                <a:latin typeface="楷体_GB2312" pitchFamily="49" charset="-122"/>
                <a:ea typeface="楷体_GB2312" pitchFamily="49" charset="-122"/>
              </a:rPr>
              <a:t>决策变量</a:t>
            </a:r>
            <a:r>
              <a:rPr lang="zh-CN" altLang="zh-CN" b="1" dirty="0">
                <a:solidFill>
                  <a:srgbClr val="000000"/>
                </a:solidFill>
                <a:latin typeface="楷体_GB2312" pitchFamily="49" charset="-122"/>
                <a:ea typeface="楷体_GB2312" pitchFamily="49" charset="-122"/>
              </a:rPr>
              <a:t>的</a:t>
            </a:r>
            <a:r>
              <a:rPr lang="zh-CN" altLang="zh-CN" b="1" dirty="0">
                <a:solidFill>
                  <a:srgbClr val="FF0000"/>
                </a:solidFill>
                <a:latin typeface="楷体_GB2312" pitchFamily="49" charset="-122"/>
                <a:ea typeface="楷体_GB2312" pitchFamily="49" charset="-122"/>
              </a:rPr>
              <a:t>线性函数</a:t>
            </a:r>
            <a:r>
              <a:rPr lang="zh-CN" altLang="zh-CN" b="1" dirty="0">
                <a:solidFill>
                  <a:srgbClr val="000000"/>
                </a:solidFill>
                <a:latin typeface="楷体_GB2312" pitchFamily="49" charset="-122"/>
                <a:ea typeface="楷体_GB2312" pitchFamily="49" charset="-122"/>
              </a:rPr>
              <a:t>，而且约束条件也都是关于</a:t>
            </a:r>
            <a:r>
              <a:rPr lang="zh-CN" altLang="zh-CN" b="1" dirty="0">
                <a:solidFill>
                  <a:schemeClr val="accent1"/>
                </a:solidFill>
                <a:latin typeface="楷体_GB2312" pitchFamily="49" charset="-122"/>
                <a:ea typeface="楷体_GB2312" pitchFamily="49" charset="-122"/>
              </a:rPr>
              <a:t>决策变量</a:t>
            </a:r>
            <a:r>
              <a:rPr lang="zh-CN" altLang="zh-CN" b="1" dirty="0">
                <a:solidFill>
                  <a:srgbClr val="000000"/>
                </a:solidFill>
                <a:latin typeface="楷体_GB2312" pitchFamily="49" charset="-122"/>
                <a:ea typeface="楷体_GB2312" pitchFamily="49" charset="-122"/>
              </a:rPr>
              <a:t>的</a:t>
            </a:r>
            <a:r>
              <a:rPr lang="zh-CN" altLang="zh-CN" b="1" dirty="0">
                <a:solidFill>
                  <a:srgbClr val="FF0000"/>
                </a:solidFill>
                <a:latin typeface="楷体_GB2312" pitchFamily="49" charset="-122"/>
                <a:ea typeface="楷体_GB2312" pitchFamily="49" charset="-122"/>
              </a:rPr>
              <a:t>线性等式</a:t>
            </a:r>
            <a:r>
              <a:rPr lang="zh-CN" altLang="zh-CN" b="1" dirty="0">
                <a:solidFill>
                  <a:srgbClr val="000000"/>
                </a:solidFill>
                <a:latin typeface="楷体_GB2312" pitchFamily="49" charset="-122"/>
                <a:ea typeface="楷体_GB2312" pitchFamily="49" charset="-122"/>
              </a:rPr>
              <a:t>或</a:t>
            </a:r>
            <a:r>
              <a:rPr lang="zh-CN" altLang="zh-CN" b="1" dirty="0">
                <a:solidFill>
                  <a:srgbClr val="FF0000"/>
                </a:solidFill>
                <a:latin typeface="楷体_GB2312" pitchFamily="49" charset="-122"/>
                <a:ea typeface="楷体_GB2312" pitchFamily="49" charset="-122"/>
              </a:rPr>
              <a:t>线性不等式</a:t>
            </a:r>
            <a:r>
              <a:rPr lang="zh-CN" altLang="zh-CN" b="1" dirty="0">
                <a:solidFill>
                  <a:srgbClr val="000000"/>
                </a:solidFill>
                <a:latin typeface="楷体_GB2312" pitchFamily="49" charset="-122"/>
                <a:ea typeface="楷体_GB2312" pitchFamily="49" charset="-122"/>
              </a:rPr>
              <a:t>，则相应的规划问题就称为线性规划问题。</a:t>
            </a:r>
            <a:endParaRPr lang="zh-CN" altLang="en-US" b="1" dirty="0">
              <a:solidFill>
                <a:srgbClr val="000000"/>
              </a:solidFill>
              <a:latin typeface="楷体_GB2312" pitchFamily="49" charset="-122"/>
              <a:ea typeface="楷体_GB2312"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457200" y="581025"/>
            <a:ext cx="5915025"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21507" name="Rectangle 3"/>
          <p:cNvSpPr>
            <a:spLocks noGrp="1"/>
          </p:cNvSpPr>
          <p:nvPr>
            <p:ph type="body" sz="half" idx="1"/>
          </p:nvPr>
        </p:nvSpPr>
        <p:spPr>
          <a:xfrm>
            <a:off x="509588" y="1412875"/>
            <a:ext cx="7848600" cy="1873250"/>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zh-CN" b="1" dirty="0">
                <a:solidFill>
                  <a:srgbClr val="FF0000"/>
                </a:solidFill>
                <a:latin typeface="楷体_GB2312" pitchFamily="49" charset="-122"/>
                <a:ea typeface="楷体_GB2312" pitchFamily="49" charset="-122"/>
              </a:rPr>
              <a:t>例1.2</a:t>
            </a:r>
            <a:r>
              <a:rPr lang="zh-CN" altLang="zh-CN" b="1" dirty="0">
                <a:solidFill>
                  <a:srgbClr val="000000"/>
                </a:solidFill>
                <a:latin typeface="楷体_GB2312" pitchFamily="49" charset="-122"/>
                <a:ea typeface="楷体_GB2312" pitchFamily="49" charset="-122"/>
              </a:rPr>
              <a:t> 某公司有100万元的资金可供投资</a:t>
            </a:r>
            <a:r>
              <a:rPr lang="zh-CN" altLang="en-US" b="1" dirty="0">
                <a:solidFill>
                  <a:srgbClr val="0D04BE"/>
                </a:solidFill>
                <a:latin typeface="楷体_GB2312" pitchFamily="49" charset="-122"/>
                <a:ea typeface="楷体_GB2312" pitchFamily="49" charset="-122"/>
              </a:rPr>
              <a:t>（要求全部用完</a:t>
            </a:r>
            <a:r>
              <a:rPr lang="en-US" altLang="zh-CN" b="1" dirty="0">
                <a:solidFill>
                  <a:srgbClr val="0D04BE"/>
                </a:solidFill>
                <a:latin typeface="楷体_GB2312" pitchFamily="49" charset="-122"/>
                <a:ea typeface="楷体_GB2312" pitchFamily="49" charset="-122"/>
              </a:rPr>
              <a:t>)</a:t>
            </a:r>
            <a:r>
              <a:rPr lang="zh-CN" altLang="zh-CN" b="1" dirty="0">
                <a:solidFill>
                  <a:srgbClr val="000000"/>
                </a:solidFill>
                <a:latin typeface="楷体_GB2312" pitchFamily="49" charset="-122"/>
                <a:ea typeface="楷体_GB2312" pitchFamily="49" charset="-122"/>
              </a:rPr>
              <a:t>。该公司有六个可选的投资项目，其各种数据如表1－2所示</a:t>
            </a:r>
            <a:r>
              <a:rPr lang="zh-CN" altLang="en-US" b="1" dirty="0">
                <a:solidFill>
                  <a:srgbClr val="000000"/>
                </a:solidFill>
                <a:latin typeface="楷体_GB2312" pitchFamily="49" charset="-122"/>
                <a:ea typeface="楷体_GB2312" pitchFamily="49" charset="-122"/>
              </a:rPr>
              <a:t>。</a:t>
            </a:r>
            <a:endParaRPr lang="zh-CN" altLang="en-US" b="1" dirty="0">
              <a:solidFill>
                <a:srgbClr val="000000"/>
              </a:solidFill>
              <a:latin typeface="楷体_GB2312" pitchFamily="49" charset="-122"/>
              <a:ea typeface="楷体_GB2312" pitchFamily="49" charset="-122"/>
            </a:endParaRPr>
          </a:p>
        </p:txBody>
      </p:sp>
      <p:graphicFrame>
        <p:nvGraphicFramePr>
          <p:cNvPr id="21508" name="内容占位符 21507"/>
          <p:cNvGraphicFramePr/>
          <p:nvPr>
            <p:ph sz="half" idx="2"/>
          </p:nvPr>
        </p:nvGraphicFramePr>
        <p:xfrm>
          <a:off x="944563" y="3429000"/>
          <a:ext cx="7199312" cy="2879725"/>
        </p:xfrm>
        <a:graphic>
          <a:graphicData uri="http://schemas.openxmlformats.org/drawingml/2006/table">
            <a:tbl>
              <a:tblPr/>
              <a:tblGrid>
                <a:gridCol w="1438275"/>
                <a:gridCol w="1439863"/>
                <a:gridCol w="1439862"/>
                <a:gridCol w="1441450"/>
                <a:gridCol w="1439863"/>
              </a:tblGrid>
              <a:tr h="411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投资项目</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风险（</a:t>
                      </a:r>
                      <a:r>
                        <a:rPr lang="en-US" altLang="zh-CN" sz="2000" b="1" dirty="0">
                          <a:solidFill>
                            <a:srgbClr val="000000"/>
                          </a:solidFill>
                          <a:latin typeface="楷体_GB2312" pitchFamily="49" charset="-122"/>
                          <a:ea typeface="楷体_GB2312" pitchFamily="49" charset="-122"/>
                        </a:rPr>
                        <a:t>%</a:t>
                      </a:r>
                      <a:r>
                        <a:rPr lang="zh-CN" altLang="en-US" sz="2000" b="1" dirty="0">
                          <a:solidFill>
                            <a:srgbClr val="000000"/>
                          </a:solidFill>
                          <a:latin typeface="楷体_GB2312" pitchFamily="49" charset="-122"/>
                          <a:ea typeface="楷体_GB2312" pitchFamily="49" charset="-122"/>
                        </a:rPr>
                        <a:t>）</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红利（</a:t>
                      </a:r>
                      <a:r>
                        <a:rPr lang="en-US" altLang="zh-CN" sz="2000" b="1" dirty="0">
                          <a:solidFill>
                            <a:srgbClr val="000000"/>
                          </a:solidFill>
                          <a:latin typeface="楷体_GB2312" pitchFamily="49" charset="-122"/>
                          <a:ea typeface="楷体_GB2312" pitchFamily="49" charset="-122"/>
                        </a:rPr>
                        <a:t>%</a:t>
                      </a:r>
                      <a:r>
                        <a:rPr lang="zh-CN" altLang="en-US" sz="2000" b="1" dirty="0">
                          <a:solidFill>
                            <a:srgbClr val="000000"/>
                          </a:solidFill>
                          <a:latin typeface="楷体_GB2312" pitchFamily="49" charset="-122"/>
                          <a:ea typeface="楷体_GB2312" pitchFamily="49" charset="-122"/>
                        </a:rPr>
                        <a:t>）</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增长（</a:t>
                      </a:r>
                      <a:r>
                        <a:rPr lang="en-US" altLang="zh-CN" sz="2000" b="1" dirty="0">
                          <a:solidFill>
                            <a:srgbClr val="000000"/>
                          </a:solidFill>
                          <a:latin typeface="楷体_GB2312" pitchFamily="49" charset="-122"/>
                          <a:ea typeface="楷体_GB2312" pitchFamily="49" charset="-122"/>
                        </a:rPr>
                        <a:t>%</a:t>
                      </a:r>
                      <a:r>
                        <a:rPr lang="zh-CN" altLang="en-US" sz="2000" b="1" dirty="0">
                          <a:solidFill>
                            <a:srgbClr val="000000"/>
                          </a:solidFill>
                          <a:latin typeface="楷体_GB2312" pitchFamily="49" charset="-122"/>
                          <a:ea typeface="楷体_GB2312" pitchFamily="49" charset="-122"/>
                        </a:rPr>
                        <a:t>）</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zh-CN" altLang="en-US" sz="2000" b="1" dirty="0">
                          <a:solidFill>
                            <a:srgbClr val="000000"/>
                          </a:solidFill>
                          <a:latin typeface="楷体_GB2312" pitchFamily="49" charset="-122"/>
                          <a:ea typeface="楷体_GB2312" pitchFamily="49" charset="-122"/>
                        </a:rPr>
                        <a:t>信用度</a:t>
                      </a:r>
                      <a:endParaRPr lang="zh-CN" altLang="en-US"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27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18</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4</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22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4</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1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6</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5</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7</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10</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95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3</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10</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9</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1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4</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4</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7</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8</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10</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27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5</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12</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6</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15</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4</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1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6</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8</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8</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8</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2000" b="1" dirty="0">
                          <a:solidFill>
                            <a:srgbClr val="000000"/>
                          </a:solidFill>
                          <a:latin typeface="楷体_GB2312" pitchFamily="49" charset="-122"/>
                          <a:ea typeface="楷体_GB2312" pitchFamily="49" charset="-122"/>
                        </a:rPr>
                        <a:t>6</a:t>
                      </a:r>
                      <a:endParaRPr lang="en-US" altLang="zh-CN" sz="2000" b="1" dirty="0">
                        <a:solidFill>
                          <a:srgbClr val="000000"/>
                        </a:solidFill>
                        <a:latin typeface="楷体_GB2312" pitchFamily="49" charset="-122"/>
                        <a:ea typeface="楷体_GB2312" pitchFamily="49"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500063" y="652463"/>
            <a:ext cx="5986462"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22531" name="Rectangle 3"/>
          <p:cNvSpPr>
            <a:spLocks noGrp="1"/>
          </p:cNvSpPr>
          <p:nvPr>
            <p:ph type="body" sz="half" idx="1"/>
          </p:nvPr>
        </p:nvSpPr>
        <p:spPr>
          <a:xfrm>
            <a:off x="428625" y="1571625"/>
            <a:ext cx="7632700" cy="4249738"/>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en-US" altLang="zh-CN" sz="4000" b="1" dirty="0">
                <a:solidFill>
                  <a:srgbClr val="000000"/>
                </a:solidFill>
                <a:latin typeface="楷体_GB2312" pitchFamily="49" charset="-122"/>
                <a:ea typeface="楷体_GB2312" pitchFamily="49" charset="-122"/>
              </a:rPr>
              <a:t>   </a:t>
            </a:r>
            <a:r>
              <a:rPr lang="zh-CN" altLang="en-US" sz="4000" b="1" dirty="0">
                <a:solidFill>
                  <a:srgbClr val="000000"/>
                </a:solidFill>
                <a:latin typeface="楷体_GB2312" pitchFamily="49" charset="-122"/>
                <a:ea typeface="楷体_GB2312" pitchFamily="49" charset="-122"/>
              </a:rPr>
              <a:t>该公司想达到的目标为：投资风险</a:t>
            </a:r>
            <a:r>
              <a:rPr lang="zh-CN" altLang="en-US" sz="4000" b="1" dirty="0">
                <a:solidFill>
                  <a:schemeClr val="accent1"/>
                </a:solidFill>
                <a:latin typeface="楷体_GB2312" pitchFamily="49" charset="-122"/>
                <a:ea typeface="楷体_GB2312" pitchFamily="49" charset="-122"/>
              </a:rPr>
              <a:t>最小</a:t>
            </a:r>
            <a:r>
              <a:rPr lang="zh-CN" altLang="en-US" sz="4000" b="1" dirty="0">
                <a:solidFill>
                  <a:srgbClr val="000000"/>
                </a:solidFill>
                <a:latin typeface="楷体_GB2312" pitchFamily="49" charset="-122"/>
                <a:ea typeface="楷体_GB2312" pitchFamily="49" charset="-122"/>
              </a:rPr>
              <a:t>，每年红利</a:t>
            </a:r>
            <a:r>
              <a:rPr lang="zh-CN" altLang="en-US" sz="4000" b="1" dirty="0">
                <a:solidFill>
                  <a:schemeClr val="accent1"/>
                </a:solidFill>
                <a:latin typeface="楷体_GB2312" pitchFamily="49" charset="-122"/>
                <a:ea typeface="楷体_GB2312" pitchFamily="49" charset="-122"/>
              </a:rPr>
              <a:t>至少</a:t>
            </a:r>
            <a:r>
              <a:rPr lang="zh-CN" altLang="en-US" sz="4000" b="1" dirty="0">
                <a:solidFill>
                  <a:srgbClr val="000000"/>
                </a:solidFill>
                <a:latin typeface="楷体_GB2312" pitchFamily="49" charset="-122"/>
                <a:ea typeface="楷体_GB2312" pitchFamily="49" charset="-122"/>
              </a:rPr>
              <a:t>为</a:t>
            </a:r>
            <a:r>
              <a:rPr lang="en-US" altLang="zh-CN" sz="4000" b="1" dirty="0">
                <a:solidFill>
                  <a:srgbClr val="000000"/>
                </a:solidFill>
                <a:latin typeface="楷体_GB2312" pitchFamily="49" charset="-122"/>
                <a:ea typeface="楷体_GB2312" pitchFamily="49" charset="-122"/>
              </a:rPr>
              <a:t>6.5</a:t>
            </a:r>
            <a:r>
              <a:rPr lang="zh-CN" altLang="en-US" sz="4000" b="1" dirty="0">
                <a:solidFill>
                  <a:srgbClr val="000000"/>
                </a:solidFill>
                <a:latin typeface="楷体_GB2312" pitchFamily="49" charset="-122"/>
                <a:ea typeface="楷体_GB2312" pitchFamily="49" charset="-122"/>
              </a:rPr>
              <a:t>万元，</a:t>
            </a:r>
            <a:r>
              <a:rPr lang="zh-CN" altLang="en-US" sz="4000" b="1" dirty="0">
                <a:solidFill>
                  <a:schemeClr val="accent1"/>
                </a:solidFill>
                <a:latin typeface="楷体_GB2312" pitchFamily="49" charset="-122"/>
                <a:ea typeface="楷体_GB2312" pitchFamily="49" charset="-122"/>
              </a:rPr>
              <a:t>最低</a:t>
            </a:r>
            <a:r>
              <a:rPr lang="zh-CN" altLang="en-US" sz="4000" b="1" dirty="0">
                <a:solidFill>
                  <a:srgbClr val="000000"/>
                </a:solidFill>
                <a:latin typeface="楷体_GB2312" pitchFamily="49" charset="-122"/>
                <a:ea typeface="楷体_GB2312" pitchFamily="49" charset="-122"/>
              </a:rPr>
              <a:t>平均增长率为</a:t>
            </a:r>
            <a:r>
              <a:rPr lang="en-US" altLang="zh-CN" sz="4000" b="1" dirty="0">
                <a:solidFill>
                  <a:srgbClr val="000000"/>
                </a:solidFill>
                <a:latin typeface="楷体_GB2312" pitchFamily="49" charset="-122"/>
                <a:ea typeface="楷体_GB2312" pitchFamily="49" charset="-122"/>
              </a:rPr>
              <a:t>12%</a:t>
            </a:r>
            <a:r>
              <a:rPr lang="zh-CN" altLang="en-US" sz="4000" b="1" dirty="0">
                <a:solidFill>
                  <a:srgbClr val="000000"/>
                </a:solidFill>
                <a:latin typeface="楷体_GB2312" pitchFamily="49" charset="-122"/>
                <a:ea typeface="楷体_GB2312" pitchFamily="49" charset="-122"/>
              </a:rPr>
              <a:t>，</a:t>
            </a:r>
            <a:r>
              <a:rPr lang="zh-CN" altLang="en-US" sz="4000" b="1" dirty="0">
                <a:solidFill>
                  <a:schemeClr val="accent1"/>
                </a:solidFill>
                <a:latin typeface="楷体_GB2312" pitchFamily="49" charset="-122"/>
                <a:ea typeface="楷体_GB2312" pitchFamily="49" charset="-122"/>
              </a:rPr>
              <a:t>最低</a:t>
            </a:r>
            <a:r>
              <a:rPr lang="zh-CN" altLang="en-US" sz="4000" b="1" dirty="0">
                <a:solidFill>
                  <a:srgbClr val="000000"/>
                </a:solidFill>
                <a:latin typeface="楷体_GB2312" pitchFamily="49" charset="-122"/>
                <a:ea typeface="楷体_GB2312" pitchFamily="49" charset="-122"/>
              </a:rPr>
              <a:t>平均信用度为</a:t>
            </a:r>
            <a:r>
              <a:rPr lang="en-US" altLang="zh-CN" sz="4000" b="1" dirty="0">
                <a:solidFill>
                  <a:srgbClr val="000000"/>
                </a:solidFill>
                <a:latin typeface="楷体_GB2312" pitchFamily="49" charset="-122"/>
                <a:ea typeface="楷体_GB2312" pitchFamily="49" charset="-122"/>
              </a:rPr>
              <a:t>7</a:t>
            </a:r>
            <a:r>
              <a:rPr lang="zh-CN" altLang="en-US" sz="4000" b="1" dirty="0">
                <a:solidFill>
                  <a:srgbClr val="000000"/>
                </a:solidFill>
                <a:latin typeface="楷体_GB2312" pitchFamily="49" charset="-122"/>
                <a:ea typeface="楷体_GB2312" pitchFamily="49" charset="-122"/>
              </a:rPr>
              <a:t>。请用线性规划方法求解该问题。</a:t>
            </a:r>
            <a:endParaRPr lang="zh-CN" altLang="en-US" sz="4000" b="1" dirty="0">
              <a:solidFill>
                <a:srgbClr val="000000"/>
              </a:solidFill>
              <a:latin typeface="楷体_GB2312" pitchFamily="49" charset="-122"/>
              <a:ea typeface="楷体_GB2312"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Rectangle 2"/>
          <p:cNvSpPr>
            <a:spLocks noGrp="1"/>
          </p:cNvSpPr>
          <p:nvPr>
            <p:ph type="title"/>
          </p:nvPr>
        </p:nvSpPr>
        <p:spPr>
          <a:xfrm>
            <a:off x="457200" y="581025"/>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3076" name="Rectangle 3"/>
          <p:cNvSpPr>
            <a:spLocks noGrp="1"/>
          </p:cNvSpPr>
          <p:nvPr>
            <p:ph type="body" sz="half" idx="1"/>
          </p:nvPr>
        </p:nvSpPr>
        <p:spPr>
          <a:xfrm>
            <a:off x="571500" y="1214438"/>
            <a:ext cx="7416800" cy="4249737"/>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sz="2800" b="1" dirty="0">
                <a:solidFill>
                  <a:srgbClr val="FF0000"/>
                </a:solidFill>
                <a:latin typeface="楷体_GB2312" pitchFamily="49" charset="-122"/>
                <a:ea typeface="楷体_GB2312" pitchFamily="49" charset="-122"/>
              </a:rPr>
              <a:t>解：</a:t>
            </a:r>
            <a:endParaRPr lang="zh-CN" altLang="en-US" sz="2800" b="1" dirty="0">
              <a:solidFill>
                <a:srgbClr val="FF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FF0000"/>
                </a:solidFill>
                <a:latin typeface="楷体_GB2312" pitchFamily="49" charset="-122"/>
                <a:ea typeface="楷体_GB2312" pitchFamily="49" charset="-122"/>
              </a:rPr>
              <a:t>（</a:t>
            </a:r>
            <a:r>
              <a:rPr lang="en-US" altLang="zh-CN" sz="2800" b="1" dirty="0">
                <a:solidFill>
                  <a:srgbClr val="FF0000"/>
                </a:solidFill>
                <a:latin typeface="楷体_GB2312" pitchFamily="49" charset="-122"/>
                <a:ea typeface="楷体_GB2312" pitchFamily="49" charset="-122"/>
              </a:rPr>
              <a:t>1</a:t>
            </a:r>
            <a:r>
              <a:rPr lang="zh-CN" altLang="en-US" sz="2800" b="1" dirty="0">
                <a:solidFill>
                  <a:srgbClr val="FF0000"/>
                </a:solidFill>
                <a:latin typeface="楷体_GB2312" pitchFamily="49" charset="-122"/>
                <a:ea typeface="楷体_GB2312" pitchFamily="49" charset="-122"/>
              </a:rPr>
              <a:t>）决策变量</a:t>
            </a:r>
            <a:endParaRPr lang="zh-CN" altLang="en-US" sz="2800" b="1" dirty="0">
              <a:solidFill>
                <a:srgbClr val="FF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本问题的决策变量是在每种投资项目上的投资额。设</a:t>
            </a:r>
            <a:r>
              <a:rPr lang="en-US" altLang="zh-CN" sz="2800" b="1" i="1" dirty="0">
                <a:solidFill>
                  <a:srgbClr val="000000"/>
                </a:solidFill>
                <a:latin typeface="Times New Roman" panose="02020603050405020304" pitchFamily="18" charset="0"/>
                <a:ea typeface="楷体_GB2312" pitchFamily="49" charset="-122"/>
              </a:rPr>
              <a:t>x</a:t>
            </a:r>
            <a:r>
              <a:rPr lang="en-US" altLang="zh-CN" sz="2800" b="1" i="1" baseline="-25000" dirty="0">
                <a:solidFill>
                  <a:srgbClr val="000000"/>
                </a:solidFill>
                <a:latin typeface="Times New Roman" panose="02020603050405020304" pitchFamily="18" charset="0"/>
                <a:ea typeface="楷体_GB2312" pitchFamily="49" charset="-122"/>
              </a:rPr>
              <a:t>i</a:t>
            </a:r>
            <a:r>
              <a:rPr lang="zh-CN" altLang="en-US" sz="2800" b="1" dirty="0">
                <a:solidFill>
                  <a:srgbClr val="000000"/>
                </a:solidFill>
                <a:latin typeface="楷体_GB2312" pitchFamily="49" charset="-122"/>
                <a:ea typeface="楷体_GB2312" pitchFamily="49" charset="-122"/>
              </a:rPr>
              <a:t>为项目</a:t>
            </a:r>
            <a:r>
              <a:rPr lang="en-US" altLang="zh-CN" sz="2800" b="1" i="1" dirty="0">
                <a:solidFill>
                  <a:srgbClr val="000000"/>
                </a:solidFill>
                <a:latin typeface="Times New Roman" panose="02020603050405020304" pitchFamily="18" charset="0"/>
                <a:ea typeface="楷体_GB2312" pitchFamily="49" charset="-122"/>
              </a:rPr>
              <a:t>i</a:t>
            </a:r>
            <a:r>
              <a:rPr lang="zh-CN" altLang="en-US" sz="2800" b="1" dirty="0">
                <a:solidFill>
                  <a:srgbClr val="000000"/>
                </a:solidFill>
                <a:latin typeface="楷体_GB2312" pitchFamily="49" charset="-122"/>
                <a:ea typeface="楷体_GB2312" pitchFamily="49" charset="-122"/>
              </a:rPr>
              <a:t>的投资额（万元）（</a:t>
            </a:r>
            <a:r>
              <a:rPr lang="en-US" altLang="zh-CN" sz="2800" b="1" i="1" dirty="0">
                <a:solidFill>
                  <a:srgbClr val="000000"/>
                </a:solidFill>
                <a:latin typeface="Times New Roman" panose="02020603050405020304" pitchFamily="18" charset="0"/>
                <a:ea typeface="楷体_GB2312" pitchFamily="49" charset="-122"/>
              </a:rPr>
              <a:t>i</a:t>
            </a:r>
            <a:r>
              <a:rPr lang="en-US" altLang="zh-CN" sz="2800" b="1" dirty="0">
                <a:solidFill>
                  <a:srgbClr val="000000"/>
                </a:solidFill>
                <a:latin typeface="楷体_GB2312" pitchFamily="49" charset="-122"/>
                <a:ea typeface="楷体_GB2312" pitchFamily="49" charset="-122"/>
              </a:rPr>
              <a:t>=1,2,</a:t>
            </a:r>
            <a:r>
              <a:rPr lang="en-US" altLang="zh-CN" sz="2800" b="1" dirty="0">
                <a:solidFill>
                  <a:srgbClr val="000000"/>
                </a:solidFill>
                <a:latin typeface="楷体_GB2312" pitchFamily="49" charset="-122"/>
                <a:ea typeface="楷体_GB2312" pitchFamily="49" charset="-122"/>
                <a:sym typeface="Symbol" panose="05050102010706020507" pitchFamily="18" charset="2"/>
              </a:rPr>
              <a:t>,6</a:t>
            </a:r>
            <a:r>
              <a:rPr lang="zh-CN" altLang="en-US" sz="2800" b="1" dirty="0">
                <a:solidFill>
                  <a:srgbClr val="000000"/>
                </a:solidFill>
                <a:latin typeface="楷体_GB2312" pitchFamily="49" charset="-122"/>
                <a:ea typeface="楷体_GB2312" pitchFamily="49" charset="-122"/>
              </a:rPr>
              <a:t>）</a:t>
            </a:r>
            <a:endParaRPr lang="zh-CN" altLang="en-US" sz="2800"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FF0000"/>
                </a:solidFill>
                <a:latin typeface="楷体_GB2312" pitchFamily="49" charset="-122"/>
                <a:ea typeface="楷体_GB2312" pitchFamily="49" charset="-122"/>
              </a:rPr>
              <a:t>（</a:t>
            </a:r>
            <a:r>
              <a:rPr lang="en-US" altLang="zh-CN" sz="2800" b="1" dirty="0">
                <a:solidFill>
                  <a:srgbClr val="FF0000"/>
                </a:solidFill>
                <a:latin typeface="楷体_GB2312" pitchFamily="49" charset="-122"/>
                <a:ea typeface="楷体_GB2312" pitchFamily="49" charset="-122"/>
              </a:rPr>
              <a:t>2</a:t>
            </a:r>
            <a:r>
              <a:rPr lang="zh-CN" altLang="en-US" sz="2800" b="1" dirty="0">
                <a:solidFill>
                  <a:srgbClr val="FF0000"/>
                </a:solidFill>
                <a:latin typeface="楷体_GB2312" pitchFamily="49" charset="-122"/>
                <a:ea typeface="楷体_GB2312" pitchFamily="49" charset="-122"/>
              </a:rPr>
              <a:t>）目标函数</a:t>
            </a:r>
            <a:endParaRPr lang="zh-CN" altLang="en-US" sz="2800" b="1" dirty="0">
              <a:solidFill>
                <a:srgbClr val="FF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本问题的目标为总投资风险最小，即</a:t>
            </a:r>
            <a:endParaRPr lang="zh-CN" altLang="en-US" sz="2800" b="1" dirty="0">
              <a:solidFill>
                <a:srgbClr val="000000"/>
              </a:solidFill>
              <a:latin typeface="楷体_GB2312" pitchFamily="49" charset="-122"/>
              <a:ea typeface="楷体_GB2312" pitchFamily="49" charset="-122"/>
            </a:endParaRPr>
          </a:p>
        </p:txBody>
      </p:sp>
      <p:graphicFrame>
        <p:nvGraphicFramePr>
          <p:cNvPr id="3074" name="Object 2"/>
          <p:cNvGraphicFramePr/>
          <p:nvPr/>
        </p:nvGraphicFramePr>
        <p:xfrm>
          <a:off x="246063" y="5500688"/>
          <a:ext cx="8651875" cy="576262"/>
        </p:xfrm>
        <a:graphic>
          <a:graphicData uri="http://schemas.openxmlformats.org/presentationml/2006/ole">
            <mc:AlternateContent xmlns:mc="http://schemas.openxmlformats.org/markup-compatibility/2006">
              <mc:Choice xmlns:v="urn:schemas-microsoft-com:vml" Requires="v">
                <p:oleObj spid="_x0000_s2" name="" r:id="rId1" imgW="3581400" imgH="228600" progId="Equation.DSMT4">
                  <p:embed/>
                </p:oleObj>
              </mc:Choice>
              <mc:Fallback>
                <p:oleObj name="" r:id="rId1" imgW="3581400" imgH="228600" progId="Equation.DSMT4">
                  <p:embed/>
                  <p:pic>
                    <p:nvPicPr>
                      <p:cNvPr id="0" name="图片 1"/>
                      <p:cNvPicPr/>
                      <p:nvPr/>
                    </p:nvPicPr>
                    <p:blipFill>
                      <a:blip r:embed="rId2"/>
                      <a:stretch>
                        <a:fillRect/>
                      </a:stretch>
                    </p:blipFill>
                    <p:spPr>
                      <a:xfrm>
                        <a:off x="246063" y="5500688"/>
                        <a:ext cx="8651875" cy="576262"/>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457200" y="509588"/>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23555" name="Rectangle 3"/>
          <p:cNvSpPr>
            <a:spLocks noGrp="1"/>
          </p:cNvSpPr>
          <p:nvPr>
            <p:ph type="body" sz="half" idx="1"/>
          </p:nvPr>
        </p:nvSpPr>
        <p:spPr>
          <a:xfrm>
            <a:off x="827088" y="1268413"/>
            <a:ext cx="7416800" cy="4321175"/>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sz="2800" b="1" dirty="0">
                <a:solidFill>
                  <a:srgbClr val="FF0000"/>
                </a:solidFill>
                <a:latin typeface="楷体_GB2312" pitchFamily="49" charset="-122"/>
                <a:ea typeface="楷体_GB2312" pitchFamily="49" charset="-122"/>
              </a:rPr>
              <a:t>（</a:t>
            </a:r>
            <a:r>
              <a:rPr lang="en-US" altLang="zh-CN" sz="2800" b="1" dirty="0">
                <a:solidFill>
                  <a:srgbClr val="FF0000"/>
                </a:solidFill>
                <a:latin typeface="楷体_GB2312" pitchFamily="49" charset="-122"/>
                <a:ea typeface="楷体_GB2312" pitchFamily="49" charset="-122"/>
              </a:rPr>
              <a:t>3</a:t>
            </a:r>
            <a:r>
              <a:rPr lang="zh-CN" altLang="en-US" sz="2800" b="1" dirty="0">
                <a:solidFill>
                  <a:srgbClr val="FF0000"/>
                </a:solidFill>
                <a:latin typeface="楷体_GB2312" pitchFamily="49" charset="-122"/>
                <a:ea typeface="楷体_GB2312" pitchFamily="49" charset="-122"/>
              </a:rPr>
              <a:t>）约束条件</a:t>
            </a:r>
            <a:endParaRPr lang="zh-CN" altLang="en-US" sz="2800" b="1" dirty="0">
              <a:solidFill>
                <a:srgbClr val="FF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本问题共有五个约束条件</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en-US" altLang="zh-CN" sz="2800" b="1" dirty="0">
                <a:solidFill>
                  <a:srgbClr val="000000"/>
                </a:solidFill>
                <a:latin typeface="楷体_GB2312" pitchFamily="49" charset="-122"/>
                <a:ea typeface="楷体_GB2312" pitchFamily="49" charset="-122"/>
              </a:rPr>
              <a:t>① </a:t>
            </a:r>
            <a:r>
              <a:rPr lang="zh-CN" altLang="en-US" sz="2800" b="1" dirty="0">
                <a:solidFill>
                  <a:srgbClr val="000000"/>
                </a:solidFill>
                <a:latin typeface="楷体_GB2312" pitchFamily="49" charset="-122"/>
                <a:ea typeface="楷体_GB2312" pitchFamily="49" charset="-122"/>
              </a:rPr>
              <a:t>各项目投资总和为</a:t>
            </a:r>
            <a:r>
              <a:rPr lang="en-US" altLang="zh-CN" sz="2800" b="1" dirty="0">
                <a:solidFill>
                  <a:srgbClr val="000000"/>
                </a:solidFill>
                <a:latin typeface="楷体_GB2312" pitchFamily="49" charset="-122"/>
                <a:ea typeface="楷体_GB2312" pitchFamily="49" charset="-122"/>
              </a:rPr>
              <a:t>100</a:t>
            </a:r>
            <a:r>
              <a:rPr lang="zh-CN" altLang="en-US" sz="2800" b="1" dirty="0">
                <a:solidFill>
                  <a:srgbClr val="000000"/>
                </a:solidFill>
                <a:latin typeface="楷体_GB2312" pitchFamily="49" charset="-122"/>
                <a:ea typeface="楷体_GB2312" pitchFamily="49" charset="-122"/>
              </a:rPr>
              <a:t>万元</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en-US" altLang="zh-CN" sz="2800" b="1" dirty="0">
                <a:solidFill>
                  <a:srgbClr val="000000"/>
                </a:solidFill>
                <a:latin typeface="楷体_GB2312" pitchFamily="49" charset="-122"/>
                <a:ea typeface="楷体_GB2312" pitchFamily="49" charset="-122"/>
              </a:rPr>
              <a:t>② </a:t>
            </a:r>
            <a:r>
              <a:rPr lang="zh-CN" altLang="en-US" sz="2800" b="1" dirty="0">
                <a:solidFill>
                  <a:srgbClr val="000000"/>
                </a:solidFill>
                <a:latin typeface="楷体_GB2312" pitchFamily="49" charset="-122"/>
                <a:ea typeface="楷体_GB2312" pitchFamily="49" charset="-122"/>
              </a:rPr>
              <a:t>每年红利至少为</a:t>
            </a:r>
            <a:r>
              <a:rPr lang="en-US" altLang="zh-CN" sz="2800" b="1" dirty="0">
                <a:solidFill>
                  <a:srgbClr val="000000"/>
                </a:solidFill>
                <a:latin typeface="楷体_GB2312" pitchFamily="49" charset="-122"/>
                <a:ea typeface="楷体_GB2312" pitchFamily="49" charset="-122"/>
              </a:rPr>
              <a:t>6.5</a:t>
            </a:r>
            <a:r>
              <a:rPr lang="zh-CN" altLang="en-US" sz="2800" b="1" dirty="0">
                <a:solidFill>
                  <a:srgbClr val="000000"/>
                </a:solidFill>
                <a:latin typeface="楷体_GB2312" pitchFamily="49" charset="-122"/>
                <a:ea typeface="楷体_GB2312" pitchFamily="49" charset="-122"/>
              </a:rPr>
              <a:t>万元</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en-US" altLang="zh-CN" sz="2800" b="1" dirty="0">
                <a:solidFill>
                  <a:srgbClr val="000000"/>
                </a:solidFill>
                <a:latin typeface="楷体_GB2312" pitchFamily="49" charset="-122"/>
                <a:ea typeface="楷体_GB2312" pitchFamily="49" charset="-122"/>
              </a:rPr>
              <a:t>③ </a:t>
            </a:r>
            <a:r>
              <a:rPr lang="zh-CN" altLang="en-US" sz="2800" b="1" dirty="0">
                <a:solidFill>
                  <a:srgbClr val="000000"/>
                </a:solidFill>
                <a:latin typeface="楷体_GB2312" pitchFamily="49" charset="-122"/>
                <a:ea typeface="楷体_GB2312" pitchFamily="49" charset="-122"/>
              </a:rPr>
              <a:t>最低平均增长率为</a:t>
            </a:r>
            <a:r>
              <a:rPr lang="en-US" altLang="zh-CN" sz="2800" b="1" dirty="0">
                <a:solidFill>
                  <a:srgbClr val="000000"/>
                </a:solidFill>
                <a:latin typeface="楷体_GB2312" pitchFamily="49" charset="-122"/>
                <a:ea typeface="楷体_GB2312" pitchFamily="49" charset="-122"/>
              </a:rPr>
              <a:t>12%;</a:t>
            </a:r>
            <a:endParaRPr lang="en-US" altLang="zh-CN" sz="2800"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en-US" altLang="zh-CN" sz="2800" b="1" dirty="0">
                <a:solidFill>
                  <a:srgbClr val="000000"/>
                </a:solidFill>
                <a:latin typeface="楷体_GB2312" pitchFamily="49" charset="-122"/>
                <a:ea typeface="楷体_GB2312" pitchFamily="49" charset="-122"/>
              </a:rPr>
              <a:t>④ </a:t>
            </a:r>
            <a:r>
              <a:rPr lang="zh-CN" altLang="en-US" sz="2800" b="1" dirty="0">
                <a:solidFill>
                  <a:srgbClr val="000000"/>
                </a:solidFill>
                <a:latin typeface="楷体_GB2312" pitchFamily="49" charset="-122"/>
                <a:ea typeface="楷体_GB2312" pitchFamily="49" charset="-122"/>
              </a:rPr>
              <a:t>最低平均信用度为</a:t>
            </a:r>
            <a:r>
              <a:rPr lang="en-US" altLang="zh-CN" sz="2800" b="1" dirty="0">
                <a:solidFill>
                  <a:srgbClr val="000000"/>
                </a:solidFill>
                <a:latin typeface="楷体_GB2312" pitchFamily="49" charset="-122"/>
                <a:ea typeface="楷体_GB2312" pitchFamily="49" charset="-122"/>
              </a:rPr>
              <a:t>7;</a:t>
            </a:r>
            <a:endParaRPr lang="en-US" altLang="zh-CN" sz="2800"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en-US" altLang="zh-CN" sz="2800" b="1" dirty="0">
                <a:solidFill>
                  <a:srgbClr val="000000"/>
                </a:solidFill>
                <a:latin typeface="楷体_GB2312" pitchFamily="49" charset="-122"/>
                <a:ea typeface="楷体_GB2312" pitchFamily="49" charset="-122"/>
              </a:rPr>
              <a:t>⑤ </a:t>
            </a:r>
            <a:r>
              <a:rPr lang="zh-CN" altLang="en-US" sz="2800" b="1" dirty="0">
                <a:solidFill>
                  <a:srgbClr val="000000"/>
                </a:solidFill>
                <a:latin typeface="楷体_GB2312" pitchFamily="49" charset="-122"/>
                <a:ea typeface="楷体_GB2312" pitchFamily="49" charset="-122"/>
              </a:rPr>
              <a:t>非负约束。</a:t>
            </a:r>
            <a:endParaRPr lang="zh-CN" altLang="en-US" sz="2800" b="1" dirty="0">
              <a:solidFill>
                <a:srgbClr val="000000"/>
              </a:solidFill>
              <a:latin typeface="楷体_GB2312" pitchFamily="49" charset="-122"/>
              <a:ea typeface="楷体_GB2312"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Rectangle 2"/>
          <p:cNvSpPr>
            <a:spLocks noGrp="1"/>
          </p:cNvSpPr>
          <p:nvPr>
            <p:ph type="title"/>
          </p:nvPr>
        </p:nvSpPr>
        <p:spPr>
          <a:xfrm>
            <a:off x="457200" y="438150"/>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4100" name="Rectangle 3"/>
          <p:cNvSpPr>
            <a:spLocks noGrp="1"/>
          </p:cNvSpPr>
          <p:nvPr>
            <p:ph type="body" sz="half" idx="1"/>
          </p:nvPr>
        </p:nvSpPr>
        <p:spPr>
          <a:xfrm>
            <a:off x="539750" y="1125538"/>
            <a:ext cx="4897438" cy="647700"/>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sz="2800" b="1" dirty="0">
                <a:solidFill>
                  <a:srgbClr val="FF0000"/>
                </a:solidFill>
                <a:latin typeface="楷体_GB2312" pitchFamily="49" charset="-122"/>
                <a:ea typeface="楷体_GB2312" pitchFamily="49" charset="-122"/>
              </a:rPr>
              <a:t>得到的线性规划数学模型为：</a:t>
            </a:r>
            <a:endParaRPr lang="zh-CN" altLang="en-US" sz="2800" b="1" dirty="0">
              <a:solidFill>
                <a:srgbClr val="FF0000"/>
              </a:solidFill>
              <a:latin typeface="楷体_GB2312" pitchFamily="49" charset="-122"/>
              <a:ea typeface="楷体_GB2312" pitchFamily="49" charset="-122"/>
            </a:endParaRPr>
          </a:p>
        </p:txBody>
      </p:sp>
      <p:graphicFrame>
        <p:nvGraphicFramePr>
          <p:cNvPr id="4098" name="Object 2"/>
          <p:cNvGraphicFramePr/>
          <p:nvPr/>
        </p:nvGraphicFramePr>
        <p:xfrm>
          <a:off x="250825" y="1700213"/>
          <a:ext cx="7812088" cy="3241675"/>
        </p:xfrm>
        <a:graphic>
          <a:graphicData uri="http://schemas.openxmlformats.org/presentationml/2006/ole">
            <mc:AlternateContent xmlns:mc="http://schemas.openxmlformats.org/markup-compatibility/2006">
              <mc:Choice xmlns:v="urn:schemas-microsoft-com:vml" Requires="v">
                <p:oleObj spid="_x0000_s3077" name="" r:id="rId1" imgW="3937000" imgH="1422400" progId="Equation.DSMT4">
                  <p:embed/>
                </p:oleObj>
              </mc:Choice>
              <mc:Fallback>
                <p:oleObj name="" r:id="rId1" imgW="3937000" imgH="1422400" progId="Equation.DSMT4">
                  <p:embed/>
                  <p:pic>
                    <p:nvPicPr>
                      <p:cNvPr id="0" name="图片 3076"/>
                      <p:cNvPicPr/>
                      <p:nvPr/>
                    </p:nvPicPr>
                    <p:blipFill>
                      <a:blip r:embed="rId2"/>
                      <a:stretch>
                        <a:fillRect/>
                      </a:stretch>
                    </p:blipFill>
                    <p:spPr>
                      <a:xfrm>
                        <a:off x="250825" y="1700213"/>
                        <a:ext cx="7812088" cy="3241675"/>
                      </a:xfrm>
                      <a:prstGeom prst="rect">
                        <a:avLst/>
                      </a:prstGeom>
                      <a:noFill/>
                      <a:ln w="38100">
                        <a:noFill/>
                        <a:miter/>
                      </a:ln>
                    </p:spPr>
                  </p:pic>
                </p:oleObj>
              </mc:Fallback>
            </mc:AlternateContent>
          </a:graphicData>
        </a:graphic>
      </p:graphicFrame>
      <p:sp>
        <p:nvSpPr>
          <p:cNvPr id="4101" name="Text Box 7"/>
          <p:cNvSpPr txBox="1"/>
          <p:nvPr/>
        </p:nvSpPr>
        <p:spPr>
          <a:xfrm>
            <a:off x="323850" y="4940300"/>
            <a:ext cx="8280400" cy="923925"/>
          </a:xfrm>
          <a:prstGeom prst="rect">
            <a:avLst/>
          </a:prstGeom>
          <a:noFill/>
          <a:ln w="12700">
            <a:noFill/>
          </a:ln>
        </p:spPr>
        <p:txBody>
          <a:bodyPr>
            <a:spAutoFit/>
          </a:bodyPr>
          <a:p>
            <a:pPr>
              <a:spcBef>
                <a:spcPct val="50000"/>
              </a:spcBef>
            </a:pPr>
            <a:r>
              <a:rPr lang="zh-CN" altLang="en-US" b="1" dirty="0">
                <a:solidFill>
                  <a:srgbClr val="000000"/>
                </a:solidFill>
                <a:latin typeface="黑体" panose="02010609060101010101" pitchFamily="49" charset="-122"/>
                <a:ea typeface="黑体" panose="02010609060101010101" pitchFamily="49" charset="-122"/>
              </a:rPr>
              <a:t>这是一个典型的</a:t>
            </a:r>
            <a:r>
              <a:rPr lang="zh-CN" altLang="en-US" b="1" dirty="0">
                <a:solidFill>
                  <a:srgbClr val="FF0000"/>
                </a:solidFill>
                <a:latin typeface="黑体" panose="02010609060101010101" pitchFamily="49" charset="-122"/>
                <a:ea typeface="黑体" panose="02010609060101010101" pitchFamily="49" charset="-122"/>
              </a:rPr>
              <a:t>成本</a:t>
            </a:r>
            <a:r>
              <a:rPr lang="zh-CN" altLang="en-US" b="1" dirty="0">
                <a:solidFill>
                  <a:srgbClr val="000000"/>
                </a:solidFill>
                <a:latin typeface="黑体" panose="02010609060101010101" pitchFamily="49" charset="-122"/>
                <a:ea typeface="黑体" panose="02010609060101010101" pitchFamily="49" charset="-122"/>
              </a:rPr>
              <a:t>（或风险）</a:t>
            </a:r>
            <a:r>
              <a:rPr lang="zh-CN" altLang="en-US" b="1" dirty="0">
                <a:solidFill>
                  <a:srgbClr val="FF0000"/>
                </a:solidFill>
                <a:latin typeface="黑体" panose="02010609060101010101" pitchFamily="49" charset="-122"/>
                <a:ea typeface="黑体" panose="02010609060101010101" pitchFamily="49" charset="-122"/>
              </a:rPr>
              <a:t>最小化</a:t>
            </a:r>
            <a:r>
              <a:rPr lang="zh-CN" altLang="en-US" b="1" dirty="0">
                <a:solidFill>
                  <a:srgbClr val="000000"/>
                </a:solidFill>
                <a:latin typeface="黑体" panose="02010609060101010101" pitchFamily="49" charset="-122"/>
                <a:ea typeface="黑体" panose="02010609060101010101" pitchFamily="49" charset="-122"/>
              </a:rPr>
              <a:t>问题。其中，</a:t>
            </a:r>
            <a:r>
              <a:rPr lang="zh-CN" altLang="en-US" b="1" dirty="0">
                <a:solidFill>
                  <a:srgbClr val="000000"/>
                </a:solidFill>
                <a:latin typeface="Times New Roman" panose="02020603050405020304" pitchFamily="18" charset="0"/>
                <a:ea typeface="黑体" panose="02010609060101010101" pitchFamily="49" charset="-122"/>
              </a:rPr>
              <a:t>“</a:t>
            </a:r>
            <a:r>
              <a:rPr lang="en-US" altLang="zh-CN" b="1" dirty="0">
                <a:solidFill>
                  <a:srgbClr val="FF0000"/>
                </a:solidFill>
                <a:latin typeface="Times New Roman" panose="02020603050405020304" pitchFamily="18" charset="0"/>
                <a:ea typeface="黑体" panose="02010609060101010101" pitchFamily="49" charset="-122"/>
              </a:rPr>
              <a:t>m</a:t>
            </a:r>
            <a:r>
              <a:rPr lang="en-US" altLang="zh-CN" b="1" dirty="0">
                <a:solidFill>
                  <a:srgbClr val="FF0000"/>
                </a:solidFill>
                <a:latin typeface="黑体" panose="02010609060101010101" pitchFamily="49" charset="-122"/>
                <a:ea typeface="黑体" panose="02010609060101010101" pitchFamily="49" charset="-122"/>
              </a:rPr>
              <a:t>in</a:t>
            </a:r>
            <a:r>
              <a:rPr lang="en-US" altLang="zh-CN" b="1" dirty="0">
                <a:solidFill>
                  <a:srgbClr val="000000"/>
                </a:solidFill>
                <a:latin typeface="Times New Roman" panose="02020603050405020304" pitchFamily="18" charset="0"/>
                <a:ea typeface="黑体" panose="02010609060101010101" pitchFamily="49" charset="-122"/>
              </a:rPr>
              <a:t>”</a:t>
            </a:r>
            <a:r>
              <a:rPr lang="zh-CN" altLang="en-US" b="1" dirty="0">
                <a:solidFill>
                  <a:srgbClr val="000000"/>
                </a:solidFill>
                <a:latin typeface="黑体" panose="02010609060101010101" pitchFamily="49" charset="-122"/>
                <a:ea typeface="黑体" panose="02010609060101010101" pitchFamily="49" charset="-122"/>
              </a:rPr>
              <a:t>是英文单词</a:t>
            </a:r>
            <a:r>
              <a:rPr lang="zh-CN" altLang="en-US" b="1" dirty="0">
                <a:solidFill>
                  <a:srgbClr val="000000"/>
                </a:solidFill>
                <a:latin typeface="Times New Roman" panose="02020603050405020304" pitchFamily="18" charset="0"/>
                <a:ea typeface="黑体" panose="02010609060101010101" pitchFamily="49" charset="-122"/>
              </a:rPr>
              <a:t>“</a:t>
            </a:r>
            <a:r>
              <a:rPr lang="en-US" altLang="zh-CN" b="1" dirty="0">
                <a:solidFill>
                  <a:srgbClr val="000000"/>
                </a:solidFill>
                <a:latin typeface="Times New Roman" panose="02020603050405020304" pitchFamily="18" charset="0"/>
                <a:ea typeface="黑体" panose="02010609060101010101" pitchFamily="49" charset="-122"/>
              </a:rPr>
              <a:t>m</a:t>
            </a:r>
            <a:r>
              <a:rPr lang="en-US" altLang="zh-CN" b="1" dirty="0">
                <a:solidFill>
                  <a:srgbClr val="000000"/>
                </a:solidFill>
                <a:latin typeface="黑体" panose="02010609060101010101" pitchFamily="49" charset="-122"/>
                <a:ea typeface="黑体" panose="02010609060101010101" pitchFamily="49" charset="-122"/>
              </a:rPr>
              <a:t>inimize</a:t>
            </a:r>
            <a:r>
              <a:rPr lang="en-US" altLang="zh-CN" b="1" dirty="0">
                <a:solidFill>
                  <a:srgbClr val="000000"/>
                </a:solidFill>
                <a:latin typeface="Times New Roman" panose="02020603050405020304" pitchFamily="18" charset="0"/>
                <a:ea typeface="黑体" panose="02010609060101010101" pitchFamily="49" charset="-122"/>
              </a:rPr>
              <a:t>”</a:t>
            </a:r>
            <a:r>
              <a:rPr lang="zh-CN" altLang="en-US" b="1" dirty="0">
                <a:solidFill>
                  <a:srgbClr val="000000"/>
                </a:solidFill>
                <a:latin typeface="黑体" panose="02010609060101010101" pitchFamily="49" charset="-122"/>
                <a:ea typeface="黑体" panose="02010609060101010101" pitchFamily="49" charset="-122"/>
              </a:rPr>
              <a:t>的缩写，含义为</a:t>
            </a:r>
            <a:r>
              <a:rPr lang="zh-CN" altLang="en-US" b="1" dirty="0">
                <a:solidFill>
                  <a:srgbClr val="000000"/>
                </a:solidFill>
                <a:latin typeface="Times New Roman" panose="02020603050405020304" pitchFamily="18" charset="0"/>
                <a:ea typeface="黑体" panose="02010609060101010101" pitchFamily="49" charset="-122"/>
              </a:rPr>
              <a:t>“</a:t>
            </a:r>
            <a:r>
              <a:rPr lang="zh-CN" altLang="en-US" b="1" dirty="0">
                <a:solidFill>
                  <a:srgbClr val="000000"/>
                </a:solidFill>
                <a:latin typeface="黑体" panose="02010609060101010101" pitchFamily="49" charset="-122"/>
                <a:ea typeface="黑体" panose="02010609060101010101" pitchFamily="49" charset="-122"/>
              </a:rPr>
              <a:t>最小化</a:t>
            </a:r>
            <a:r>
              <a:rPr lang="zh-CN" altLang="en-US" b="1" dirty="0">
                <a:solidFill>
                  <a:srgbClr val="000000"/>
                </a:solidFill>
                <a:latin typeface="Times New Roman" panose="02020603050405020304" pitchFamily="18" charset="0"/>
                <a:ea typeface="黑体" panose="02010609060101010101" pitchFamily="49" charset="-122"/>
              </a:rPr>
              <a:t>”</a:t>
            </a:r>
            <a:r>
              <a:rPr lang="zh-CN" altLang="en-US" b="1" dirty="0">
                <a:solidFill>
                  <a:srgbClr val="000000"/>
                </a:solidFill>
                <a:latin typeface="黑体" panose="02010609060101010101" pitchFamily="49" charset="-122"/>
                <a:ea typeface="黑体" panose="02010609060101010101" pitchFamily="49" charset="-122"/>
              </a:rPr>
              <a:t>。因此，上述模型的含义是：在给定的条件限制下，求使得目标函数</a:t>
            </a:r>
            <a:r>
              <a:rPr lang="en-US" altLang="zh-CN" b="1" dirty="0">
                <a:solidFill>
                  <a:srgbClr val="000000"/>
                </a:solidFill>
                <a:latin typeface="黑体" panose="02010609060101010101" pitchFamily="49" charset="-122"/>
                <a:ea typeface="黑体" panose="02010609060101010101" pitchFamily="49" charset="-122"/>
              </a:rPr>
              <a:t>z</a:t>
            </a:r>
            <a:r>
              <a:rPr lang="zh-CN" altLang="en-US" b="1" dirty="0">
                <a:solidFill>
                  <a:srgbClr val="000000"/>
                </a:solidFill>
                <a:latin typeface="黑体" panose="02010609060101010101" pitchFamily="49" charset="-122"/>
                <a:ea typeface="黑体" panose="02010609060101010101" pitchFamily="49" charset="-122"/>
              </a:rPr>
              <a:t>达到最小时的</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1</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2</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3</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4</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5</a:t>
            </a:r>
            <a:r>
              <a:rPr lang="en-US" altLang="zh-CN" b="1" i="1" dirty="0">
                <a:solidFill>
                  <a:srgbClr val="000000"/>
                </a:solidFill>
                <a:latin typeface="Arial" panose="020B0604020202020204" pitchFamily="34" charset="0"/>
                <a:ea typeface="黑体" panose="02010609060101010101" pitchFamily="49" charset="-122"/>
              </a:rPr>
              <a:t>,x</a:t>
            </a:r>
            <a:r>
              <a:rPr lang="en-US" altLang="zh-CN" b="1" i="1" baseline="-25000" dirty="0">
                <a:solidFill>
                  <a:srgbClr val="000000"/>
                </a:solidFill>
                <a:latin typeface="Arial" panose="020B0604020202020204" pitchFamily="34" charset="0"/>
                <a:ea typeface="黑体" panose="02010609060101010101" pitchFamily="49" charset="-122"/>
              </a:rPr>
              <a:t>6</a:t>
            </a:r>
            <a:r>
              <a:rPr lang="zh-CN" altLang="en-US" b="1" dirty="0">
                <a:solidFill>
                  <a:srgbClr val="000000"/>
                </a:solidFill>
                <a:latin typeface="黑体" panose="02010609060101010101" pitchFamily="49" charset="-122"/>
                <a:ea typeface="黑体" panose="02010609060101010101" pitchFamily="49" charset="-122"/>
              </a:rPr>
              <a:t>取值 </a:t>
            </a:r>
            <a:endParaRPr lang="zh-CN" altLang="en-US" b="1" dirty="0">
              <a:solidFill>
                <a:srgbClr val="000000"/>
              </a:solidFill>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a:xfrm>
            <a:off x="442913" y="509588"/>
            <a:ext cx="5986462"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5124" name="Rectangle 3"/>
          <p:cNvSpPr>
            <a:spLocks noGrp="1"/>
          </p:cNvSpPr>
          <p:nvPr>
            <p:ph type="body" sz="half" idx="1"/>
          </p:nvPr>
        </p:nvSpPr>
        <p:spPr>
          <a:xfrm>
            <a:off x="436563" y="1125538"/>
            <a:ext cx="8135937" cy="2089150"/>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sz="4000" b="1" dirty="0">
                <a:solidFill>
                  <a:srgbClr val="FF0000"/>
                </a:solidFill>
                <a:latin typeface="楷体_GB2312" pitchFamily="49" charset="-122"/>
                <a:ea typeface="楷体_GB2312" pitchFamily="49" charset="-122"/>
              </a:rPr>
              <a:t>线性规划的模型结构</a:t>
            </a:r>
            <a:r>
              <a:rPr lang="en-US" altLang="zh-CN" sz="4000" b="1" dirty="0">
                <a:solidFill>
                  <a:srgbClr val="FF0000"/>
                </a:solidFill>
                <a:latin typeface="楷体_GB2312" pitchFamily="49" charset="-122"/>
                <a:ea typeface="楷体_GB2312" pitchFamily="49" charset="-122"/>
              </a:rPr>
              <a:t>:</a:t>
            </a:r>
            <a:endParaRPr lang="en-US" altLang="zh-CN" sz="4000" b="1" dirty="0">
              <a:solidFill>
                <a:srgbClr val="FF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从以上两个例子中可以归纳出线性规划问题的一般形式：对于一组决策变量</a:t>
            </a:r>
            <a:r>
              <a:rPr lang="en-US" altLang="zh-CN" sz="2800" b="1" i="1" dirty="0">
                <a:solidFill>
                  <a:srgbClr val="000000"/>
                </a:solidFill>
                <a:latin typeface="Times New Roman" panose="02020603050405020304" pitchFamily="18" charset="0"/>
                <a:ea typeface="楷体_GB2312" pitchFamily="49" charset="-122"/>
              </a:rPr>
              <a:t>x</a:t>
            </a:r>
            <a:r>
              <a:rPr lang="en-US" altLang="zh-CN" sz="2800" b="1" i="1" baseline="-25000" dirty="0">
                <a:solidFill>
                  <a:srgbClr val="000000"/>
                </a:solidFill>
                <a:latin typeface="Times New Roman" panose="02020603050405020304" pitchFamily="18" charset="0"/>
                <a:ea typeface="楷体_GB2312" pitchFamily="49" charset="-122"/>
              </a:rPr>
              <a:t>1</a:t>
            </a:r>
            <a:r>
              <a:rPr lang="en-US" altLang="zh-CN" sz="2800" b="1" i="1" dirty="0">
                <a:solidFill>
                  <a:srgbClr val="000000"/>
                </a:solidFill>
                <a:latin typeface="Times New Roman" panose="02020603050405020304" pitchFamily="18" charset="0"/>
                <a:ea typeface="楷体_GB2312" pitchFamily="49" charset="-122"/>
              </a:rPr>
              <a:t>,x</a:t>
            </a:r>
            <a:r>
              <a:rPr lang="en-US" altLang="zh-CN" sz="2800" b="1" i="1" baseline="-25000" dirty="0">
                <a:solidFill>
                  <a:srgbClr val="000000"/>
                </a:solidFill>
                <a:latin typeface="Times New Roman" panose="02020603050405020304" pitchFamily="18" charset="0"/>
                <a:ea typeface="楷体_GB2312" pitchFamily="49" charset="-122"/>
              </a:rPr>
              <a:t>2</a:t>
            </a:r>
            <a:r>
              <a:rPr lang="en-US" altLang="zh-CN" sz="2800" b="1" i="1" dirty="0">
                <a:solidFill>
                  <a:srgbClr val="000000"/>
                </a:solidFill>
                <a:latin typeface="Times New Roman" panose="02020603050405020304" pitchFamily="18" charset="0"/>
                <a:ea typeface="楷体_GB2312" pitchFamily="49" charset="-122"/>
              </a:rPr>
              <a:t>,</a:t>
            </a:r>
            <a:r>
              <a:rPr lang="en-US" altLang="zh-CN" sz="2800" b="1" i="1" dirty="0">
                <a:solidFill>
                  <a:srgbClr val="000000"/>
                </a:solidFill>
                <a:latin typeface="Times New Roman" panose="02020603050405020304" pitchFamily="18" charset="0"/>
                <a:ea typeface="楷体_GB2312" pitchFamily="49" charset="-122"/>
                <a:sym typeface="Symbol" panose="05050102010706020507" pitchFamily="18" charset="2"/>
              </a:rPr>
              <a:t>x</a:t>
            </a:r>
            <a:r>
              <a:rPr lang="en-US" altLang="zh-CN" sz="2800" b="1" i="1" baseline="-25000" dirty="0">
                <a:solidFill>
                  <a:srgbClr val="000000"/>
                </a:solidFill>
                <a:latin typeface="Times New Roman" panose="02020603050405020304" pitchFamily="18" charset="0"/>
                <a:ea typeface="楷体_GB2312" pitchFamily="49" charset="-122"/>
                <a:sym typeface="Symbol" panose="05050102010706020507" pitchFamily="18" charset="2"/>
              </a:rPr>
              <a:t>n</a:t>
            </a:r>
            <a:r>
              <a:rPr lang="zh-CN" altLang="en-US" sz="2800" b="1" dirty="0">
                <a:solidFill>
                  <a:srgbClr val="000000"/>
                </a:solidFill>
                <a:latin typeface="楷体_GB2312" pitchFamily="49" charset="-122"/>
                <a:ea typeface="楷体_GB2312" pitchFamily="49" charset="-122"/>
              </a:rPr>
              <a:t>，取</a:t>
            </a:r>
            <a:endParaRPr lang="zh-CN" altLang="en-US" sz="2800" b="1" dirty="0">
              <a:solidFill>
                <a:srgbClr val="FF0000"/>
              </a:solidFill>
              <a:latin typeface="楷体_GB2312" pitchFamily="49" charset="-122"/>
              <a:ea typeface="楷体_GB2312" pitchFamily="49" charset="-122"/>
            </a:endParaRPr>
          </a:p>
        </p:txBody>
      </p:sp>
      <p:sp>
        <p:nvSpPr>
          <p:cNvPr id="5125" name="Rectangle 5"/>
          <p:cNvSpPr/>
          <p:nvPr/>
        </p:nvSpPr>
        <p:spPr>
          <a:xfrm>
            <a:off x="0" y="2719388"/>
            <a:ext cx="9144000" cy="0"/>
          </a:xfrm>
          <a:prstGeom prst="rect">
            <a:avLst/>
          </a:prstGeom>
          <a:noFill/>
          <a:ln w="12700">
            <a:noFill/>
          </a:ln>
        </p:spPr>
        <p:txBody>
          <a:bodyPr wrap="none" anchor="ctr" anchorCtr="0">
            <a:spAutoFit/>
          </a:bodyPr>
          <a:p>
            <a:endParaRPr lang="zh-CN" altLang="en-US" dirty="0">
              <a:latin typeface="Arial" panose="020B0604020202020204" pitchFamily="34" charset="0"/>
            </a:endParaRPr>
          </a:p>
        </p:txBody>
      </p:sp>
      <p:graphicFrame>
        <p:nvGraphicFramePr>
          <p:cNvPr id="5122" name="Object 2"/>
          <p:cNvGraphicFramePr/>
          <p:nvPr/>
        </p:nvGraphicFramePr>
        <p:xfrm>
          <a:off x="550863" y="3143250"/>
          <a:ext cx="7962900" cy="3384550"/>
        </p:xfrm>
        <a:graphic>
          <a:graphicData uri="http://schemas.openxmlformats.org/presentationml/2006/ole">
            <mc:AlternateContent xmlns:mc="http://schemas.openxmlformats.org/markup-compatibility/2006">
              <mc:Choice xmlns:v="urn:schemas-microsoft-com:vml" Requires="v">
                <p:oleObj spid="_x0000_s3078" name="" r:id="rId1" imgW="2971800" imgH="1422400" progId="Equation.DSMT4">
                  <p:embed/>
                </p:oleObj>
              </mc:Choice>
              <mc:Fallback>
                <p:oleObj name="" r:id="rId1" imgW="2971800" imgH="1422400" progId="Equation.DSMT4">
                  <p:embed/>
                  <p:pic>
                    <p:nvPicPr>
                      <p:cNvPr id="0" name="图片 3077"/>
                      <p:cNvPicPr/>
                      <p:nvPr/>
                    </p:nvPicPr>
                    <p:blipFill>
                      <a:blip r:embed="rId2"/>
                      <a:stretch>
                        <a:fillRect/>
                      </a:stretch>
                    </p:blipFill>
                    <p:spPr>
                      <a:xfrm>
                        <a:off x="550863" y="3143250"/>
                        <a:ext cx="7962900" cy="3384550"/>
                      </a:xfrm>
                      <a:prstGeom prst="rect">
                        <a:avLst/>
                      </a:prstGeom>
                      <a:noFill/>
                      <a:ln w="38100">
                        <a:noFill/>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2"/>
          <p:cNvSpPr>
            <a:spLocks noGrp="1"/>
          </p:cNvSpPr>
          <p:nvPr>
            <p:ph type="title"/>
          </p:nvPr>
        </p:nvSpPr>
        <p:spPr>
          <a:xfrm>
            <a:off x="323850" y="438150"/>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6148" name="Rectangle 3"/>
          <p:cNvSpPr>
            <a:spLocks noGrp="1"/>
          </p:cNvSpPr>
          <p:nvPr>
            <p:ph type="body" sz="half" idx="1"/>
          </p:nvPr>
        </p:nvSpPr>
        <p:spPr>
          <a:xfrm>
            <a:off x="357188" y="1125538"/>
            <a:ext cx="8424862" cy="2951162"/>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sz="2400" b="1" dirty="0">
                <a:solidFill>
                  <a:srgbClr val="000000"/>
                </a:solidFill>
                <a:latin typeface="楷体_GB2312" pitchFamily="49" charset="-122"/>
                <a:ea typeface="楷体_GB2312" pitchFamily="49" charset="-122"/>
              </a:rPr>
              <a:t>在线性规划模型中，也直接称</a:t>
            </a:r>
            <a:r>
              <a:rPr lang="en-US" altLang="zh-CN" sz="2400" b="1" dirty="0">
                <a:solidFill>
                  <a:srgbClr val="000000"/>
                </a:solidFill>
                <a:latin typeface="楷体_GB2312" pitchFamily="49" charset="-122"/>
                <a:ea typeface="楷体_GB2312" pitchFamily="49" charset="-122"/>
              </a:rPr>
              <a:t>z</a:t>
            </a:r>
            <a:r>
              <a:rPr lang="zh-CN" altLang="en-US" sz="2400" b="1" dirty="0">
                <a:solidFill>
                  <a:srgbClr val="000000"/>
                </a:solidFill>
                <a:latin typeface="楷体_GB2312" pitchFamily="49" charset="-122"/>
                <a:ea typeface="楷体_GB2312" pitchFamily="49" charset="-122"/>
              </a:rPr>
              <a:t>为目标函数； 称</a:t>
            </a:r>
            <a:r>
              <a:rPr lang="en-US" altLang="zh-CN" sz="2400" b="1" i="1" dirty="0">
                <a:solidFill>
                  <a:srgbClr val="FF0000"/>
                </a:solidFill>
                <a:latin typeface="Times New Roman" panose="02020603050405020304" pitchFamily="18" charset="0"/>
                <a:ea typeface="楷体_GB2312" pitchFamily="49" charset="-122"/>
              </a:rPr>
              <a:t>x</a:t>
            </a:r>
            <a:r>
              <a:rPr lang="en-US" altLang="zh-CN" sz="2400" b="1" i="1" baseline="-25000" dirty="0">
                <a:solidFill>
                  <a:srgbClr val="FF0000"/>
                </a:solidFill>
                <a:latin typeface="Times New Roman" panose="02020603050405020304" pitchFamily="18" charset="0"/>
                <a:ea typeface="楷体_GB2312" pitchFamily="49" charset="-122"/>
              </a:rPr>
              <a:t>j</a:t>
            </a:r>
            <a:r>
              <a:rPr lang="en-US" altLang="zh-CN" sz="2400" b="1" i="1" dirty="0">
                <a:solidFill>
                  <a:srgbClr val="000000"/>
                </a:solidFill>
                <a:latin typeface="Times New Roman" panose="02020603050405020304" pitchFamily="18" charset="0"/>
                <a:ea typeface="楷体_GB2312" pitchFamily="49" charset="-122"/>
              </a:rPr>
              <a:t>(j=1,2,</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i="1" dirty="0">
                <a:solidFill>
                  <a:srgbClr val="000000"/>
                </a:solidFill>
                <a:latin typeface="Times New Roman" panose="02020603050405020304" pitchFamily="18" charset="0"/>
                <a:ea typeface="楷体_GB2312" pitchFamily="49" charset="-122"/>
              </a:rPr>
              <a:t>,n)</a:t>
            </a:r>
            <a:r>
              <a:rPr lang="zh-CN" altLang="en-US" sz="2400" b="1" dirty="0">
                <a:solidFill>
                  <a:srgbClr val="000000"/>
                </a:solidFill>
                <a:latin typeface="楷体_GB2312" pitchFamily="49" charset="-122"/>
                <a:ea typeface="楷体_GB2312" pitchFamily="49" charset="-122"/>
              </a:rPr>
              <a:t>为</a:t>
            </a:r>
            <a:r>
              <a:rPr lang="zh-CN" altLang="en-US" sz="2400" b="1" dirty="0">
                <a:solidFill>
                  <a:srgbClr val="FF0000"/>
                </a:solidFill>
                <a:latin typeface="楷体_GB2312" pitchFamily="49" charset="-122"/>
                <a:ea typeface="楷体_GB2312" pitchFamily="49" charset="-122"/>
              </a:rPr>
              <a:t>决策变量</a:t>
            </a:r>
            <a:r>
              <a:rPr lang="zh-CN" altLang="en-US" sz="2400" b="1" dirty="0">
                <a:solidFill>
                  <a:srgbClr val="000000"/>
                </a:solidFill>
                <a:latin typeface="楷体_GB2312" pitchFamily="49" charset="-122"/>
                <a:ea typeface="楷体_GB2312" pitchFamily="49" charset="-122"/>
              </a:rPr>
              <a:t>；称</a:t>
            </a:r>
            <a:r>
              <a:rPr lang="en-US" altLang="zh-CN" sz="2400" b="1" i="1" dirty="0">
                <a:solidFill>
                  <a:srgbClr val="FF0000"/>
                </a:solidFill>
                <a:latin typeface="Times New Roman" panose="02020603050405020304" pitchFamily="18" charset="0"/>
                <a:ea typeface="楷体_GB2312" pitchFamily="49" charset="-122"/>
              </a:rPr>
              <a:t>c</a:t>
            </a:r>
            <a:r>
              <a:rPr lang="en-US" altLang="zh-CN" sz="2400" b="1" i="1" baseline="-25000" dirty="0">
                <a:solidFill>
                  <a:srgbClr val="FF0000"/>
                </a:solidFill>
                <a:latin typeface="Times New Roman" panose="02020603050405020304" pitchFamily="18" charset="0"/>
                <a:ea typeface="楷体_GB2312" pitchFamily="49" charset="-122"/>
              </a:rPr>
              <a:t>j</a:t>
            </a:r>
            <a:r>
              <a:rPr lang="en-US" altLang="zh-CN" sz="2400" b="1" i="1" dirty="0">
                <a:solidFill>
                  <a:srgbClr val="000000"/>
                </a:solidFill>
                <a:latin typeface="Times New Roman" panose="02020603050405020304" pitchFamily="18" charset="0"/>
                <a:ea typeface="楷体_GB2312" pitchFamily="49" charset="-122"/>
              </a:rPr>
              <a:t>(j=1,2,</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i="1" dirty="0">
                <a:solidFill>
                  <a:srgbClr val="000000"/>
                </a:solidFill>
                <a:latin typeface="Times New Roman" panose="02020603050405020304" pitchFamily="18" charset="0"/>
                <a:ea typeface="楷体_GB2312" pitchFamily="49" charset="-122"/>
              </a:rPr>
              <a:t>,n)</a:t>
            </a: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为</a:t>
            </a:r>
            <a:r>
              <a:rPr lang="zh-CN" altLang="en-US" sz="2400" b="1" dirty="0">
                <a:solidFill>
                  <a:srgbClr val="FF0000"/>
                </a:solidFill>
                <a:latin typeface="楷体_GB2312" pitchFamily="49" charset="-122"/>
                <a:ea typeface="楷体_GB2312" pitchFamily="49" charset="-122"/>
              </a:rPr>
              <a:t>目标函数系数</a:t>
            </a:r>
            <a:r>
              <a:rPr lang="zh-CN" altLang="en-US" sz="2400" b="1" dirty="0">
                <a:solidFill>
                  <a:srgbClr val="000000"/>
                </a:solidFill>
                <a:latin typeface="楷体_GB2312" pitchFamily="49" charset="-122"/>
                <a:ea typeface="楷体_GB2312" pitchFamily="49" charset="-122"/>
              </a:rPr>
              <a:t>或价值系数或费用系数；称 </a:t>
            </a:r>
            <a:r>
              <a:rPr lang="en-US" altLang="zh-CN" sz="2400" b="1" i="1" dirty="0">
                <a:solidFill>
                  <a:srgbClr val="FF0000"/>
                </a:solidFill>
                <a:latin typeface="Times New Roman" panose="02020603050405020304" pitchFamily="18" charset="0"/>
                <a:ea typeface="楷体_GB2312" pitchFamily="49" charset="-122"/>
              </a:rPr>
              <a:t>b</a:t>
            </a:r>
            <a:r>
              <a:rPr lang="en-US" altLang="zh-CN" sz="2400" b="1" i="1" baseline="-25000" dirty="0">
                <a:solidFill>
                  <a:srgbClr val="FF0000"/>
                </a:solidFill>
                <a:latin typeface="Times New Roman" panose="02020603050405020304" pitchFamily="18" charset="0"/>
                <a:ea typeface="楷体_GB2312" pitchFamily="49" charset="-122"/>
              </a:rPr>
              <a:t>i</a:t>
            </a:r>
            <a:r>
              <a:rPr lang="en-US" altLang="zh-CN" sz="2400" b="1" i="1" dirty="0">
                <a:solidFill>
                  <a:srgbClr val="000000"/>
                </a:solidFill>
                <a:latin typeface="Times New Roman" panose="02020603050405020304" pitchFamily="18" charset="0"/>
                <a:ea typeface="楷体_GB2312" pitchFamily="49" charset="-122"/>
              </a:rPr>
              <a:t>(i=1,2,</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i="1" dirty="0">
                <a:solidFill>
                  <a:srgbClr val="000000"/>
                </a:solidFill>
                <a:latin typeface="Times New Roman" panose="02020603050405020304" pitchFamily="18" charset="0"/>
                <a:ea typeface="楷体_GB2312" pitchFamily="49" charset="-122"/>
              </a:rPr>
              <a:t>,m)</a:t>
            </a:r>
            <a:r>
              <a:rPr lang="zh-CN" altLang="en-US" sz="2400" b="1" dirty="0">
                <a:solidFill>
                  <a:srgbClr val="000000"/>
                </a:solidFill>
                <a:latin typeface="楷体_GB2312" pitchFamily="49" charset="-122"/>
                <a:ea typeface="楷体_GB2312" pitchFamily="49" charset="-122"/>
              </a:rPr>
              <a:t>为函数</a:t>
            </a:r>
            <a:r>
              <a:rPr lang="zh-CN" altLang="en-US" sz="2400" b="1" dirty="0">
                <a:solidFill>
                  <a:srgbClr val="FF0000"/>
                </a:solidFill>
                <a:latin typeface="楷体_GB2312" pitchFamily="49" charset="-122"/>
                <a:ea typeface="楷体_GB2312" pitchFamily="49" charset="-122"/>
              </a:rPr>
              <a:t>约束右端常数</a:t>
            </a:r>
            <a:r>
              <a:rPr lang="zh-CN" altLang="en-US" sz="2400" b="1" dirty="0">
                <a:solidFill>
                  <a:srgbClr val="000000"/>
                </a:solidFill>
                <a:latin typeface="楷体_GB2312" pitchFamily="49" charset="-122"/>
                <a:ea typeface="楷体_GB2312" pitchFamily="49" charset="-122"/>
              </a:rPr>
              <a:t>或简称右端值，也称资源常数；称</a:t>
            </a:r>
            <a:r>
              <a:rPr lang="en-US" altLang="zh-CN" sz="2400" b="1" i="1" dirty="0">
                <a:solidFill>
                  <a:srgbClr val="FF0000"/>
                </a:solidFill>
                <a:latin typeface="Times New Roman" panose="02020603050405020304" pitchFamily="18" charset="0"/>
                <a:ea typeface="楷体_GB2312" pitchFamily="49" charset="-122"/>
              </a:rPr>
              <a:t>a</a:t>
            </a:r>
            <a:r>
              <a:rPr lang="en-US" altLang="zh-CN" sz="2400" b="1" i="1" baseline="-25000" dirty="0">
                <a:solidFill>
                  <a:srgbClr val="FF0000"/>
                </a:solidFill>
                <a:latin typeface="Times New Roman" panose="02020603050405020304" pitchFamily="18" charset="0"/>
                <a:ea typeface="楷体_GB2312" pitchFamily="49" charset="-122"/>
              </a:rPr>
              <a:t>ij</a:t>
            </a:r>
            <a:r>
              <a:rPr lang="en-US" altLang="zh-CN" sz="2400" b="1" i="1" dirty="0">
                <a:solidFill>
                  <a:srgbClr val="000000"/>
                </a:solidFill>
                <a:latin typeface="Times New Roman" panose="02020603050405020304" pitchFamily="18" charset="0"/>
                <a:ea typeface="楷体_GB2312" pitchFamily="49" charset="-122"/>
              </a:rPr>
              <a:t>(i=1,2,</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i="1" dirty="0">
                <a:solidFill>
                  <a:srgbClr val="000000"/>
                </a:solidFill>
                <a:latin typeface="Times New Roman" panose="02020603050405020304" pitchFamily="18" charset="0"/>
                <a:ea typeface="楷体_GB2312" pitchFamily="49" charset="-122"/>
              </a:rPr>
              <a:t>,m;j=1,2,</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i="1" dirty="0">
                <a:solidFill>
                  <a:srgbClr val="000000"/>
                </a:solidFill>
                <a:latin typeface="Times New Roman" panose="02020603050405020304" pitchFamily="18" charset="0"/>
                <a:ea typeface="楷体_GB2312" pitchFamily="49" charset="-122"/>
              </a:rPr>
              <a:t>,n)</a:t>
            </a:r>
            <a:r>
              <a:rPr lang="zh-CN" altLang="en-US" sz="2400" b="1" dirty="0">
                <a:solidFill>
                  <a:srgbClr val="000000"/>
                </a:solidFill>
                <a:latin typeface="楷体_GB2312" pitchFamily="49" charset="-122"/>
                <a:ea typeface="楷体_GB2312" pitchFamily="49" charset="-122"/>
              </a:rPr>
              <a:t>为约束系数或</a:t>
            </a:r>
            <a:r>
              <a:rPr lang="zh-CN" altLang="en-US" sz="2400" b="1" dirty="0">
                <a:solidFill>
                  <a:srgbClr val="FF0000"/>
                </a:solidFill>
                <a:latin typeface="楷体_GB2312" pitchFamily="49" charset="-122"/>
                <a:ea typeface="楷体_GB2312" pitchFamily="49" charset="-122"/>
              </a:rPr>
              <a:t>技术系数</a:t>
            </a:r>
            <a:r>
              <a:rPr lang="zh-CN" altLang="en-US" sz="2400" b="1" dirty="0">
                <a:solidFill>
                  <a:srgbClr val="000000"/>
                </a:solidFill>
                <a:latin typeface="楷体_GB2312" pitchFamily="49" charset="-122"/>
                <a:ea typeface="楷体_GB2312" pitchFamily="49" charset="-122"/>
              </a:rPr>
              <a:t>或</a:t>
            </a:r>
            <a:r>
              <a:rPr lang="zh-CN" altLang="en-US" sz="2400" b="1" dirty="0">
                <a:solidFill>
                  <a:srgbClr val="FF0000"/>
                </a:solidFill>
                <a:latin typeface="楷体_GB2312" pitchFamily="49" charset="-122"/>
                <a:ea typeface="楷体_GB2312" pitchFamily="49" charset="-122"/>
              </a:rPr>
              <a:t>工艺系数</a:t>
            </a:r>
            <a:r>
              <a:rPr lang="zh-CN" altLang="en-US" sz="2400" b="1" dirty="0">
                <a:solidFill>
                  <a:srgbClr val="000000"/>
                </a:solidFill>
                <a:latin typeface="楷体_GB2312" pitchFamily="49" charset="-122"/>
                <a:ea typeface="楷体_GB2312" pitchFamily="49" charset="-122"/>
              </a:rPr>
              <a:t>。这里，</a:t>
            </a:r>
            <a:r>
              <a:rPr lang="en-US" altLang="zh-CN" sz="2400" b="1" i="1" dirty="0">
                <a:solidFill>
                  <a:srgbClr val="FF0000"/>
                </a:solidFill>
                <a:latin typeface="Times New Roman" panose="02020603050405020304" pitchFamily="18" charset="0"/>
                <a:ea typeface="楷体_GB2312" pitchFamily="49" charset="-122"/>
              </a:rPr>
              <a:t>c</a:t>
            </a:r>
            <a:r>
              <a:rPr lang="en-US" altLang="zh-CN" sz="2400" b="1" i="1" baseline="-25000" dirty="0">
                <a:solidFill>
                  <a:srgbClr val="FF0000"/>
                </a:solidFill>
                <a:latin typeface="Times New Roman" panose="02020603050405020304" pitchFamily="18" charset="0"/>
                <a:ea typeface="楷体_GB2312" pitchFamily="49" charset="-122"/>
              </a:rPr>
              <a:t>j</a:t>
            </a:r>
            <a:r>
              <a:rPr lang="zh-CN" altLang="en-US" sz="2400" b="1" dirty="0">
                <a:solidFill>
                  <a:srgbClr val="000000"/>
                </a:solidFill>
                <a:latin typeface="楷体_GB2312" pitchFamily="49" charset="-122"/>
                <a:ea typeface="楷体_GB2312" pitchFamily="49" charset="-122"/>
              </a:rPr>
              <a:t>，</a:t>
            </a:r>
            <a:r>
              <a:rPr lang="en-US" altLang="zh-CN" sz="2400" b="1" i="1" dirty="0">
                <a:solidFill>
                  <a:srgbClr val="FF0000"/>
                </a:solidFill>
                <a:latin typeface="Times New Roman" panose="02020603050405020304" pitchFamily="18" charset="0"/>
                <a:ea typeface="楷体_GB2312" pitchFamily="49" charset="-122"/>
              </a:rPr>
              <a:t>b</a:t>
            </a:r>
            <a:r>
              <a:rPr lang="en-US" altLang="zh-CN" sz="2400" b="1" i="1" baseline="-25000" dirty="0">
                <a:solidFill>
                  <a:srgbClr val="FF0000"/>
                </a:solidFill>
                <a:latin typeface="Times New Roman" panose="02020603050405020304" pitchFamily="18" charset="0"/>
                <a:ea typeface="楷体_GB2312" pitchFamily="49" charset="-122"/>
              </a:rPr>
              <a:t>i</a:t>
            </a:r>
            <a:r>
              <a:rPr lang="zh-CN" altLang="en-US" sz="2400" b="1" dirty="0">
                <a:solidFill>
                  <a:srgbClr val="000000"/>
                </a:solidFill>
                <a:latin typeface="楷体_GB2312" pitchFamily="49" charset="-122"/>
                <a:ea typeface="楷体_GB2312" pitchFamily="49" charset="-122"/>
              </a:rPr>
              <a:t>，</a:t>
            </a:r>
            <a:r>
              <a:rPr lang="en-US" altLang="zh-CN" sz="2400" b="1" i="1" dirty="0">
                <a:solidFill>
                  <a:srgbClr val="FF0000"/>
                </a:solidFill>
                <a:latin typeface="Times New Roman" panose="02020603050405020304" pitchFamily="18" charset="0"/>
                <a:ea typeface="楷体_GB2312" pitchFamily="49" charset="-122"/>
              </a:rPr>
              <a:t>a</a:t>
            </a:r>
            <a:r>
              <a:rPr lang="en-US" altLang="zh-CN" sz="2400" b="1" i="1" baseline="-25000" dirty="0">
                <a:solidFill>
                  <a:srgbClr val="FF0000"/>
                </a:solidFill>
                <a:latin typeface="Times New Roman" panose="02020603050405020304" pitchFamily="18" charset="0"/>
                <a:ea typeface="楷体_GB2312" pitchFamily="49" charset="-122"/>
              </a:rPr>
              <a:t>ij</a:t>
            </a:r>
            <a:r>
              <a:rPr lang="zh-CN" altLang="en-US" sz="2400" b="1" dirty="0">
                <a:solidFill>
                  <a:srgbClr val="000000"/>
                </a:solidFill>
                <a:latin typeface="楷体_GB2312" pitchFamily="49" charset="-122"/>
                <a:ea typeface="楷体_GB2312" pitchFamily="49" charset="-122"/>
              </a:rPr>
              <a:t>均为常数。</a:t>
            </a:r>
            <a:endParaRPr lang="zh-CN" altLang="en-US" sz="2400"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None/>
            </a:pPr>
            <a:r>
              <a:rPr lang="zh-CN" altLang="en-US" sz="2400" b="1" dirty="0">
                <a:solidFill>
                  <a:schemeClr val="accent1"/>
                </a:solidFill>
                <a:latin typeface="楷体_GB2312" pitchFamily="49" charset="-122"/>
                <a:ea typeface="楷体_GB2312" pitchFamily="49" charset="-122"/>
              </a:rPr>
              <a:t>线性规划的数学模型可以表示为下列简洁的形式：</a:t>
            </a:r>
            <a:endParaRPr lang="zh-CN" altLang="en-US" sz="2400" b="1" dirty="0">
              <a:solidFill>
                <a:schemeClr val="accent1"/>
              </a:solidFill>
              <a:latin typeface="楷体_GB2312" pitchFamily="49" charset="-122"/>
              <a:ea typeface="楷体_GB2312" pitchFamily="49" charset="-122"/>
            </a:endParaRPr>
          </a:p>
        </p:txBody>
      </p:sp>
      <p:graphicFrame>
        <p:nvGraphicFramePr>
          <p:cNvPr id="6146" name="Object 2"/>
          <p:cNvGraphicFramePr/>
          <p:nvPr/>
        </p:nvGraphicFramePr>
        <p:xfrm>
          <a:off x="1108075" y="3929063"/>
          <a:ext cx="7107238" cy="2709862"/>
        </p:xfrm>
        <a:graphic>
          <a:graphicData uri="http://schemas.openxmlformats.org/presentationml/2006/ole">
            <mc:AlternateContent xmlns:mc="http://schemas.openxmlformats.org/markup-compatibility/2006">
              <mc:Choice xmlns:v="urn:schemas-microsoft-com:vml" Requires="v">
                <p:oleObj spid="_x0000_s3081" name="" r:id="rId1" imgW="2794000" imgH="1384300" progId="Equation.DSMT4">
                  <p:embed/>
                </p:oleObj>
              </mc:Choice>
              <mc:Fallback>
                <p:oleObj name="" r:id="rId1" imgW="2794000" imgH="1384300" progId="Equation.DSMT4">
                  <p:embed/>
                  <p:pic>
                    <p:nvPicPr>
                      <p:cNvPr id="0" name="图片 3080"/>
                      <p:cNvPicPr/>
                      <p:nvPr/>
                    </p:nvPicPr>
                    <p:blipFill>
                      <a:blip r:embed="rId2"/>
                      <a:stretch>
                        <a:fillRect/>
                      </a:stretch>
                    </p:blipFill>
                    <p:spPr>
                      <a:xfrm>
                        <a:off x="1108075" y="3929063"/>
                        <a:ext cx="7107238" cy="2709862"/>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a:spLocks noGrp="1"/>
          </p:cNvSpPr>
          <p:nvPr>
            <p:ph type="title"/>
          </p:nvPr>
        </p:nvSpPr>
        <p:spPr>
          <a:xfrm>
            <a:off x="323850" y="438150"/>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7172" name="Rectangle 3"/>
          <p:cNvSpPr>
            <a:spLocks noGrp="1"/>
          </p:cNvSpPr>
          <p:nvPr>
            <p:ph type="body" sz="half" idx="1"/>
          </p:nvPr>
        </p:nvSpPr>
        <p:spPr>
          <a:xfrm>
            <a:off x="500063" y="1125538"/>
            <a:ext cx="7072312" cy="874712"/>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b="1" dirty="0">
                <a:solidFill>
                  <a:srgbClr val="FF0000"/>
                </a:solidFill>
                <a:latin typeface="楷体_GB2312" pitchFamily="49" charset="-122"/>
                <a:ea typeface="楷体_GB2312" pitchFamily="49" charset="-122"/>
              </a:rPr>
              <a:t>线性规划问题的标准形式</a:t>
            </a:r>
            <a:endParaRPr lang="zh-CN" altLang="en-US" b="1" dirty="0">
              <a:solidFill>
                <a:srgbClr val="FF0000"/>
              </a:solidFill>
              <a:latin typeface="楷体_GB2312" pitchFamily="49" charset="-122"/>
              <a:ea typeface="楷体_GB2312" pitchFamily="49" charset="-122"/>
            </a:endParaRPr>
          </a:p>
        </p:txBody>
      </p:sp>
      <p:graphicFrame>
        <p:nvGraphicFramePr>
          <p:cNvPr id="7170" name="Object 2"/>
          <p:cNvGraphicFramePr/>
          <p:nvPr/>
        </p:nvGraphicFramePr>
        <p:xfrm>
          <a:off x="1081088" y="1928813"/>
          <a:ext cx="6838950" cy="3786187"/>
        </p:xfrm>
        <a:graphic>
          <a:graphicData uri="http://schemas.openxmlformats.org/presentationml/2006/ole">
            <mc:AlternateContent xmlns:mc="http://schemas.openxmlformats.org/markup-compatibility/2006">
              <mc:Choice xmlns:v="urn:schemas-microsoft-com:vml" Requires="v">
                <p:oleObj spid="_x0000_s3079" name="" r:id="rId1" imgW="2476500" imgH="1384300" progId="Equation.DSMT4">
                  <p:embed/>
                </p:oleObj>
              </mc:Choice>
              <mc:Fallback>
                <p:oleObj name="" r:id="rId1" imgW="2476500" imgH="1384300" progId="Equation.DSMT4">
                  <p:embed/>
                  <p:pic>
                    <p:nvPicPr>
                      <p:cNvPr id="0" name="图片 3078"/>
                      <p:cNvPicPr/>
                      <p:nvPr/>
                    </p:nvPicPr>
                    <p:blipFill>
                      <a:blip r:embed="rId2"/>
                      <a:stretch>
                        <a:fillRect/>
                      </a:stretch>
                    </p:blipFill>
                    <p:spPr>
                      <a:xfrm>
                        <a:off x="1081088" y="1928813"/>
                        <a:ext cx="6838950" cy="3786187"/>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Rectangle 2"/>
          <p:cNvSpPr>
            <a:spLocks noGrp="1"/>
          </p:cNvSpPr>
          <p:nvPr>
            <p:ph type="title"/>
          </p:nvPr>
        </p:nvSpPr>
        <p:spPr>
          <a:xfrm>
            <a:off x="323850" y="438150"/>
            <a:ext cx="59864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1.1 </a:t>
            </a:r>
            <a:r>
              <a:rPr lang="zh-CN" altLang="en-US" sz="3200" dirty="0">
                <a:solidFill>
                  <a:srgbClr val="0D04BE"/>
                </a:solidFill>
                <a:latin typeface="楷体_GB2312" pitchFamily="49" charset="-122"/>
                <a:ea typeface="楷体_GB2312" pitchFamily="49" charset="-122"/>
              </a:rPr>
              <a:t>线性规划问题及其数学模型</a:t>
            </a:r>
            <a:endParaRPr lang="zh-CN" altLang="en-US" sz="3200" dirty="0">
              <a:solidFill>
                <a:srgbClr val="0D04BE"/>
              </a:solidFill>
              <a:latin typeface="楷体_GB2312" pitchFamily="49" charset="-122"/>
              <a:ea typeface="楷体_GB2312" pitchFamily="49" charset="-122"/>
            </a:endParaRPr>
          </a:p>
        </p:txBody>
      </p:sp>
      <p:sp>
        <p:nvSpPr>
          <p:cNvPr id="6148" name="Rectangle 3"/>
          <p:cNvSpPr>
            <a:spLocks noGrp="1" noChangeArrowheads="1"/>
          </p:cNvSpPr>
          <p:nvPr>
            <p:ph type="body" sz="half" idx="1"/>
          </p:nvPr>
        </p:nvSpPr>
        <p:spPr>
          <a:xfrm>
            <a:off x="500063" y="1125538"/>
            <a:ext cx="7072313" cy="5018088"/>
          </a:xfrm>
        </p:spPr>
        <p:txBody>
          <a:bodyPr vert="horz" wrap="square" lIns="91440" tIns="45720" rIns="91440" bIns="45720" numCol="1" anchor="t" anchorCtr="0" compatLnSpc="1"/>
          <a:lstStyle/>
          <a:p>
            <a:pPr marL="0" marR="0" lvl="0" indent="0" algn="just" defTabSz="914400" rtl="0" eaLnBrk="0" fontAlgn="base" latinLnBrk="0" hangingPunct="0">
              <a:lnSpc>
                <a:spcPct val="120000"/>
              </a:lnSpc>
              <a:spcBef>
                <a:spcPct val="20000"/>
              </a:spcBef>
              <a:spcAft>
                <a:spcPct val="0"/>
              </a:spcAft>
              <a:buClr>
                <a:srgbClr val="000000"/>
              </a:buClr>
              <a:buSzPct val="75000"/>
              <a:buFont typeface="Wingdings" panose="05000000000000000000" pitchFamily="2" charset="2"/>
              <a:buNone/>
              <a:defRPr/>
            </a:pPr>
            <a:r>
              <a:rPr kumimoji="0" lang="zh-CN" altLang="en-US" sz="32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cs typeface="Times New Roman" panose="02020603050405020304" pitchFamily="18" charset="0"/>
              </a:rPr>
              <a:t>讨论：</a:t>
            </a:r>
            <a:endParaRPr kumimoji="0" lang="en-US" altLang="zh-CN" sz="32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cs typeface="Times New Roman" panose="02020603050405020304" pitchFamily="18" charset="0"/>
            </a:endParaRPr>
          </a:p>
          <a:p>
            <a:pPr marL="514350" marR="0" lvl="0" indent="-514350" algn="just" defTabSz="914400" rtl="0" eaLnBrk="0" fontAlgn="base" latinLnBrk="0" hangingPunct="0">
              <a:lnSpc>
                <a:spcPct val="120000"/>
              </a:lnSpc>
              <a:spcBef>
                <a:spcPct val="20000"/>
              </a:spcBef>
              <a:spcAft>
                <a:spcPct val="0"/>
              </a:spcAft>
              <a:buClr>
                <a:srgbClr val="000000"/>
              </a:buClr>
              <a:buSzPct val="75000"/>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1.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当目标函数为求极小值</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endParaRPr>
          </a:p>
          <a:p>
            <a:pPr marL="514350" marR="0" lvl="0" indent="-514350" algn="just" defTabSz="914400" rtl="0" eaLnBrk="0" fontAlgn="base" latinLnBrk="0" hangingPunct="0">
              <a:lnSpc>
                <a:spcPct val="120000"/>
              </a:lnSpc>
              <a:spcBef>
                <a:spcPct val="20000"/>
              </a:spcBef>
              <a:spcAft>
                <a:spcPct val="0"/>
              </a:spcAft>
              <a:buClr>
                <a:srgbClr val="000000"/>
              </a:buClr>
              <a:buSzPct val="75000"/>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endParaRPr>
          </a:p>
          <a:p>
            <a:pPr marL="514350" marR="0" lvl="0" indent="-514350" algn="just" defTabSz="914400" rtl="0" eaLnBrk="0" fontAlgn="base" latinLnBrk="0" hangingPunct="0">
              <a:lnSpc>
                <a:spcPct val="120000"/>
              </a:lnSpc>
              <a:spcBef>
                <a:spcPct val="20000"/>
              </a:spcBef>
              <a:spcAft>
                <a:spcPct val="0"/>
              </a:spcAft>
              <a:buClr>
                <a:srgbClr val="000000"/>
              </a:buClr>
              <a:buSzPct val="75000"/>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endParaRPr>
          </a:p>
          <a:p>
            <a:pPr marL="514350" marR="0" lvl="0" indent="-514350" algn="just" defTabSz="914400" rtl="0" eaLnBrk="0" fontAlgn="base" latinLnBrk="0" hangingPunct="0">
              <a:lnSpc>
                <a:spcPct val="120000"/>
              </a:lnSpc>
              <a:spcBef>
                <a:spcPct val="20000"/>
              </a:spcBef>
              <a:spcAft>
                <a:spcPct val="0"/>
              </a:spcAft>
              <a:buClr>
                <a:srgbClr val="000000"/>
              </a:buClr>
              <a:buSzPct val="75000"/>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2.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当约束条件为不等式</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endParaRPr>
          </a:p>
          <a:p>
            <a:pPr marL="514350" marR="0" lvl="0" indent="-514350" algn="just" defTabSz="914400" rtl="0" eaLnBrk="0" fontAlgn="base" latinLnBrk="0" hangingPunct="0">
              <a:lnSpc>
                <a:spcPct val="120000"/>
              </a:lnSpc>
              <a:spcBef>
                <a:spcPct val="20000"/>
              </a:spcBef>
              <a:spcAft>
                <a:spcPct val="0"/>
              </a:spcAft>
              <a:buClr>
                <a:srgbClr val="000000"/>
              </a:buClr>
              <a:buSzPct val="75000"/>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3.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当取值为无约束的变量</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endParaRPr>
          </a:p>
          <a:p>
            <a:pPr marL="514350" marR="0" lvl="0" indent="-514350" algn="just" defTabSz="914400" rtl="0" eaLnBrk="0" fontAlgn="base" latinLnBrk="0" hangingPunct="0">
              <a:lnSpc>
                <a:spcPct val="120000"/>
              </a:lnSpc>
              <a:spcBef>
                <a:spcPct val="20000"/>
              </a:spcBef>
              <a:spcAft>
                <a:spcPct val="0"/>
              </a:spcAft>
              <a:buClr>
                <a:srgbClr val="000000"/>
              </a:buClr>
              <a:buSzPct val="75000"/>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4.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rPr>
              <a:t>当     时</a:t>
            </a:r>
            <a:endPar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Times New Roman" panose="02020603050405020304" pitchFamily="18" charset="0"/>
            </a:endParaRPr>
          </a:p>
        </p:txBody>
      </p:sp>
      <p:graphicFrame>
        <p:nvGraphicFramePr>
          <p:cNvPr id="8194" name="Object 2"/>
          <p:cNvGraphicFramePr/>
          <p:nvPr/>
        </p:nvGraphicFramePr>
        <p:xfrm>
          <a:off x="1214438" y="2571750"/>
          <a:ext cx="3927475" cy="1182688"/>
        </p:xfrm>
        <a:graphic>
          <a:graphicData uri="http://schemas.openxmlformats.org/presentationml/2006/ole">
            <mc:AlternateContent xmlns:mc="http://schemas.openxmlformats.org/markup-compatibility/2006">
              <mc:Choice xmlns:v="urn:schemas-microsoft-com:vml" Requires="v">
                <p:oleObj spid="_x0000_s3082" name="" r:id="rId1" imgW="1421765" imgH="444500" progId="Equation.DSMT4">
                  <p:embed/>
                </p:oleObj>
              </mc:Choice>
              <mc:Fallback>
                <p:oleObj name="" r:id="rId1" imgW="1421765" imgH="444500" progId="Equation.DSMT4">
                  <p:embed/>
                  <p:pic>
                    <p:nvPicPr>
                      <p:cNvPr id="0" name="图片 3081"/>
                      <p:cNvPicPr/>
                      <p:nvPr/>
                    </p:nvPicPr>
                    <p:blipFill>
                      <a:blip r:embed="rId2"/>
                      <a:stretch>
                        <a:fillRect/>
                      </a:stretch>
                    </p:blipFill>
                    <p:spPr>
                      <a:xfrm>
                        <a:off x="1214438" y="2571750"/>
                        <a:ext cx="3927475" cy="1182688"/>
                      </a:xfrm>
                      <a:prstGeom prst="rect">
                        <a:avLst/>
                      </a:prstGeom>
                      <a:noFill/>
                      <a:ln w="38100">
                        <a:noFill/>
                        <a:miter/>
                      </a:ln>
                    </p:spPr>
                  </p:pic>
                </p:oleObj>
              </mc:Fallback>
            </mc:AlternateContent>
          </a:graphicData>
        </a:graphic>
      </p:graphicFrame>
      <p:graphicFrame>
        <p:nvGraphicFramePr>
          <p:cNvPr id="8195" name="Object 3"/>
          <p:cNvGraphicFramePr/>
          <p:nvPr/>
        </p:nvGraphicFramePr>
        <p:xfrm>
          <a:off x="1589088" y="5313363"/>
          <a:ext cx="982662" cy="473075"/>
        </p:xfrm>
        <a:graphic>
          <a:graphicData uri="http://schemas.openxmlformats.org/presentationml/2006/ole">
            <mc:AlternateContent xmlns:mc="http://schemas.openxmlformats.org/markup-compatibility/2006">
              <mc:Choice xmlns:v="urn:schemas-microsoft-com:vml" Requires="v">
                <p:oleObj spid="_x0000_s3080" name="" r:id="rId3" imgW="354965" imgH="177800" progId="Equation.DSMT4">
                  <p:embed/>
                </p:oleObj>
              </mc:Choice>
              <mc:Fallback>
                <p:oleObj name="" r:id="rId3" imgW="354965" imgH="177800" progId="Equation.DSMT4">
                  <p:embed/>
                  <p:pic>
                    <p:nvPicPr>
                      <p:cNvPr id="0" name="图片 3079"/>
                      <p:cNvPicPr/>
                      <p:nvPr/>
                    </p:nvPicPr>
                    <p:blipFill>
                      <a:blip r:embed="rId4"/>
                      <a:stretch>
                        <a:fillRect/>
                      </a:stretch>
                    </p:blipFill>
                    <p:spPr>
                      <a:xfrm>
                        <a:off x="1589088" y="5313363"/>
                        <a:ext cx="982662" cy="473075"/>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457200" y="509588"/>
            <a:ext cx="5554663" cy="561975"/>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1.2 </a:t>
            </a:r>
            <a:r>
              <a:rPr lang="zh-CN" altLang="en-US" sz="3200" dirty="0">
                <a:solidFill>
                  <a:srgbClr val="0D04BE"/>
                </a:solidFill>
                <a:latin typeface="楷体_GB2312" pitchFamily="49" charset="-122"/>
                <a:ea typeface="楷体_GB2312" pitchFamily="49" charset="-122"/>
              </a:rPr>
              <a:t>线性规划问题的图解法</a:t>
            </a:r>
            <a:endParaRPr lang="zh-CN" altLang="en-US" sz="3200" dirty="0">
              <a:solidFill>
                <a:srgbClr val="0D04BE"/>
              </a:solidFill>
              <a:latin typeface="楷体_GB2312" pitchFamily="49" charset="-122"/>
              <a:ea typeface="楷体_GB2312" pitchFamily="49" charset="-122"/>
            </a:endParaRPr>
          </a:p>
        </p:txBody>
      </p:sp>
      <p:sp>
        <p:nvSpPr>
          <p:cNvPr id="24579" name="Rectangle 3"/>
          <p:cNvSpPr>
            <a:spLocks noGrp="1"/>
          </p:cNvSpPr>
          <p:nvPr>
            <p:ph type="body" sz="half" idx="1"/>
          </p:nvPr>
        </p:nvSpPr>
        <p:spPr>
          <a:xfrm>
            <a:off x="250825" y="1412875"/>
            <a:ext cx="3887788" cy="4679950"/>
          </a:xfrm>
          <a:ln/>
        </p:spPr>
        <p:txBody>
          <a:bodyPr vert="horz" wrap="square" lIns="91440" tIns="45720" rIns="91440" bIns="45720" anchor="t" anchorCtr="0"/>
          <a:p>
            <a:pPr marL="0" indent="0" algn="just">
              <a:lnSpc>
                <a:spcPct val="120000"/>
              </a:lnSpc>
              <a:buClr>
                <a:srgbClr val="000000"/>
              </a:buClr>
              <a:buSzPct val="75000"/>
              <a:buFont typeface="Wingdings" panose="05000000000000000000" pitchFamily="2" charset="2"/>
              <a:buNone/>
            </a:pPr>
            <a:r>
              <a:rPr lang="zh-CN" altLang="en-US" b="1" dirty="0">
                <a:solidFill>
                  <a:srgbClr val="000000"/>
                </a:solidFill>
                <a:latin typeface="楷体_GB2312" pitchFamily="49" charset="-122"/>
                <a:ea typeface="楷体_GB2312" pitchFamily="49" charset="-122"/>
              </a:rPr>
              <a:t>对于只有</a:t>
            </a:r>
            <a:r>
              <a:rPr lang="zh-CN" altLang="en-US" b="1" dirty="0">
                <a:solidFill>
                  <a:srgbClr val="FF0000"/>
                </a:solidFill>
                <a:latin typeface="楷体_GB2312" pitchFamily="49" charset="-122"/>
                <a:ea typeface="楷体_GB2312" pitchFamily="49" charset="-122"/>
              </a:rPr>
              <a:t>两个</a:t>
            </a:r>
            <a:r>
              <a:rPr lang="zh-CN" altLang="en-US" b="1" dirty="0">
                <a:solidFill>
                  <a:srgbClr val="000000"/>
                </a:solidFill>
                <a:latin typeface="楷体_GB2312" pitchFamily="49" charset="-122"/>
                <a:ea typeface="楷体_GB2312" pitchFamily="49" charset="-122"/>
              </a:rPr>
              <a:t>变量的线性规划问题，可以在二维直角坐标平面上作图求解。</a:t>
            </a:r>
            <a:endParaRPr lang="zh-CN" altLang="en-US"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Char char="u"/>
            </a:pPr>
            <a:r>
              <a:rPr lang="zh-CN" altLang="en-US" b="1" dirty="0">
                <a:solidFill>
                  <a:srgbClr val="000000"/>
                </a:solidFill>
                <a:latin typeface="楷体_GB2312" pitchFamily="49" charset="-122"/>
                <a:ea typeface="楷体_GB2312" pitchFamily="49" charset="-122"/>
              </a:rPr>
              <a:t>可行域与最优解</a:t>
            </a:r>
            <a:endParaRPr lang="zh-CN" altLang="en-US" b="1" dirty="0">
              <a:solidFill>
                <a:srgbClr val="000000"/>
              </a:solidFill>
              <a:latin typeface="楷体_GB2312" pitchFamily="49" charset="-122"/>
              <a:ea typeface="楷体_GB2312" pitchFamily="49" charset="-122"/>
            </a:endParaRPr>
          </a:p>
          <a:p>
            <a:pPr marL="0" indent="0" algn="just">
              <a:lnSpc>
                <a:spcPct val="120000"/>
              </a:lnSpc>
              <a:buClr>
                <a:srgbClr val="000000"/>
              </a:buClr>
              <a:buSzPct val="75000"/>
              <a:buFont typeface="Wingdings" panose="05000000000000000000" pitchFamily="2" charset="2"/>
              <a:buChar char="u"/>
            </a:pPr>
            <a:r>
              <a:rPr lang="zh-CN" altLang="en-US" b="1" dirty="0">
                <a:solidFill>
                  <a:srgbClr val="000000"/>
                </a:solidFill>
                <a:latin typeface="楷体_GB2312" pitchFamily="49" charset="-122"/>
                <a:ea typeface="楷体_GB2312" pitchFamily="49" charset="-122"/>
              </a:rPr>
              <a:t>线性规划的图解法</a:t>
            </a:r>
            <a:endParaRPr lang="zh-CN" altLang="en-US" b="1" dirty="0">
              <a:solidFill>
                <a:srgbClr val="000000"/>
              </a:solidFill>
              <a:latin typeface="楷体_GB2312" pitchFamily="49" charset="-122"/>
              <a:ea typeface="楷体_GB2312" pitchFamily="49" charset="-122"/>
            </a:endParaRPr>
          </a:p>
        </p:txBody>
      </p:sp>
      <p:pic>
        <p:nvPicPr>
          <p:cNvPr id="24580" name="Picture 4"/>
          <p:cNvPicPr>
            <a:picLocks noChangeAspect="1"/>
          </p:cNvPicPr>
          <p:nvPr/>
        </p:nvPicPr>
        <p:blipFill>
          <a:blip r:embed="rId1"/>
          <a:stretch>
            <a:fillRect/>
          </a:stretch>
        </p:blipFill>
        <p:spPr>
          <a:xfrm>
            <a:off x="4427538" y="1412875"/>
            <a:ext cx="4411662" cy="5040313"/>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388938" y="663575"/>
            <a:ext cx="6040437" cy="693738"/>
          </a:xfrm>
          <a:ln/>
        </p:spPr>
        <p:txBody>
          <a:bodyPr vert="horz" wrap="square" lIns="91440" tIns="45720" rIns="91440" bIns="45720" anchor="t" anchorCtr="0"/>
          <a:p>
            <a:r>
              <a:rPr lang="en-US" altLang="en-US" sz="3200" dirty="0">
                <a:solidFill>
                  <a:srgbClr val="0D04BE"/>
                </a:solidFill>
                <a:latin typeface="楷体_GB2312" pitchFamily="49" charset="-122"/>
                <a:ea typeface="楷体_GB2312" pitchFamily="49" charset="-122"/>
              </a:rPr>
              <a:t>1.2 </a:t>
            </a:r>
            <a:r>
              <a:rPr lang="zh-CN" altLang="en-US" sz="3200" dirty="0">
                <a:solidFill>
                  <a:srgbClr val="0D04BE"/>
                </a:solidFill>
                <a:latin typeface="楷体_GB2312" pitchFamily="49" charset="-122"/>
                <a:ea typeface="楷体_GB2312" pitchFamily="49" charset="-122"/>
              </a:rPr>
              <a:t>线性规划问题的图解法</a:t>
            </a:r>
            <a:endParaRPr lang="zh-CN" altLang="en-US" sz="3200" dirty="0">
              <a:solidFill>
                <a:srgbClr val="0D04BE"/>
              </a:solidFill>
              <a:latin typeface="楷体_GB2312" pitchFamily="49" charset="-122"/>
              <a:ea typeface="楷体_GB2312" pitchFamily="49" charset="-122"/>
            </a:endParaRPr>
          </a:p>
        </p:txBody>
      </p:sp>
      <p:sp>
        <p:nvSpPr>
          <p:cNvPr id="25603" name="Rectangle 3"/>
          <p:cNvSpPr>
            <a:spLocks noGrp="1"/>
          </p:cNvSpPr>
          <p:nvPr>
            <p:ph type="body" sz="half" idx="1"/>
          </p:nvPr>
        </p:nvSpPr>
        <p:spPr>
          <a:xfrm>
            <a:off x="465138" y="1628775"/>
            <a:ext cx="8035925" cy="3586163"/>
          </a:xfrm>
          <a:ln/>
        </p:spPr>
        <p:txBody>
          <a:bodyPr vert="horz" wrap="square" lIns="91440" tIns="45720" rIns="91440" bIns="45720" anchor="t" anchorCtr="0"/>
          <a:p>
            <a:pPr marL="0" indent="0" algn="just">
              <a:spcBef>
                <a:spcPct val="0"/>
              </a:spcBef>
              <a:buClr>
                <a:srgbClr val="000000"/>
              </a:buClr>
              <a:buSzPct val="75000"/>
              <a:buFont typeface="Wingdings" panose="05000000000000000000" pitchFamily="2" charset="2"/>
              <a:buChar char="u"/>
            </a:pPr>
            <a:r>
              <a:rPr lang="zh-CN" altLang="en-US" sz="3600" b="1" dirty="0">
                <a:solidFill>
                  <a:srgbClr val="000000"/>
                </a:solidFill>
                <a:latin typeface="楷体_GB2312" pitchFamily="49" charset="-122"/>
                <a:ea typeface="楷体_GB2312" pitchFamily="49" charset="-122"/>
              </a:rPr>
              <a:t> 唯一解</a:t>
            </a:r>
            <a:endParaRPr lang="zh-CN" altLang="en-US" sz="36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Char char="u"/>
            </a:pPr>
            <a:r>
              <a:rPr lang="zh-CN" altLang="en-US" sz="3600" b="1" dirty="0">
                <a:solidFill>
                  <a:srgbClr val="000000"/>
                </a:solidFill>
                <a:latin typeface="楷体_GB2312" pitchFamily="49" charset="-122"/>
                <a:ea typeface="楷体_GB2312" pitchFamily="49" charset="-122"/>
              </a:rPr>
              <a:t> 无穷多解</a:t>
            </a:r>
            <a:endParaRPr lang="zh-CN" altLang="en-US" sz="36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Char char="u"/>
            </a:pPr>
            <a:r>
              <a:rPr lang="zh-CN" altLang="en-US" sz="3600" b="1" dirty="0">
                <a:solidFill>
                  <a:srgbClr val="000000"/>
                </a:solidFill>
                <a:latin typeface="楷体_GB2312" pitchFamily="49" charset="-122"/>
                <a:ea typeface="楷体_GB2312" pitchFamily="49" charset="-122"/>
              </a:rPr>
              <a:t> 无解</a:t>
            </a:r>
            <a:endParaRPr lang="zh-CN" altLang="en-US" sz="36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Char char="u"/>
            </a:pPr>
            <a:r>
              <a:rPr lang="zh-CN" altLang="en-US" sz="3600" b="1" dirty="0">
                <a:solidFill>
                  <a:srgbClr val="000000"/>
                </a:solidFill>
                <a:latin typeface="楷体_GB2312" pitchFamily="49" charset="-122"/>
                <a:ea typeface="楷体_GB2312" pitchFamily="49" charset="-122"/>
              </a:rPr>
              <a:t> 可行域无界（目标值不收敛）</a:t>
            </a:r>
            <a:endParaRPr lang="zh-CN" altLang="en-US" sz="3600" b="1" dirty="0">
              <a:solidFill>
                <a:srgbClr val="000000"/>
              </a:solidFill>
              <a:latin typeface="楷体_GB2312" pitchFamily="49" charset="-122"/>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322263" y="592138"/>
            <a:ext cx="5821362" cy="765175"/>
          </a:xfrm>
          <a:ln/>
        </p:spPr>
        <p:txBody>
          <a:bodyPr vert="horz" wrap="square" lIns="91440" tIns="45720" rIns="91440" bIns="45720" anchor="t" anchorCtr="0"/>
          <a:p>
            <a:r>
              <a:rPr lang="en-US" altLang="en-US" sz="3200" dirty="0">
                <a:solidFill>
                  <a:srgbClr val="0D04BE"/>
                </a:solidFill>
                <a:latin typeface="楷体_GB2312" pitchFamily="49" charset="-122"/>
                <a:ea typeface="楷体_GB2312" pitchFamily="49" charset="-122"/>
              </a:rPr>
              <a:t>1.2 线性规划问题的</a:t>
            </a:r>
            <a:r>
              <a:rPr lang="zh-CN" altLang="en-US" sz="3200" dirty="0">
                <a:solidFill>
                  <a:srgbClr val="0D04BE"/>
                </a:solidFill>
                <a:latin typeface="楷体_GB2312" pitchFamily="49" charset="-122"/>
                <a:ea typeface="楷体_GB2312" pitchFamily="49" charset="-122"/>
              </a:rPr>
              <a:t>图解法</a:t>
            </a:r>
            <a:endParaRPr lang="zh-CN" altLang="en-US" sz="3200" dirty="0">
              <a:solidFill>
                <a:srgbClr val="0D04BE"/>
              </a:solidFill>
              <a:latin typeface="楷体_GB2312" pitchFamily="49" charset="-122"/>
              <a:ea typeface="楷体_GB2312" pitchFamily="49" charset="-122"/>
            </a:endParaRPr>
          </a:p>
        </p:txBody>
      </p:sp>
      <p:sp>
        <p:nvSpPr>
          <p:cNvPr id="26627" name="Rectangle 3"/>
          <p:cNvSpPr>
            <a:spLocks noGrp="1"/>
          </p:cNvSpPr>
          <p:nvPr>
            <p:ph type="body" sz="half" idx="1"/>
          </p:nvPr>
        </p:nvSpPr>
        <p:spPr>
          <a:xfrm>
            <a:off x="328613" y="1500188"/>
            <a:ext cx="3671887" cy="4608512"/>
          </a:xfrm>
          <a:ln/>
        </p:spPr>
        <p:txBody>
          <a:bodyPr vert="horz" wrap="square" lIns="91440" tIns="45720" rIns="91440" bIns="45720" anchor="t" anchorCtr="0"/>
          <a:p>
            <a:pPr marL="0" indent="0" algn="just">
              <a:spcBef>
                <a:spcPct val="0"/>
              </a:spcBef>
              <a:buClr>
                <a:srgbClr val="000000"/>
              </a:buClr>
              <a:buSzPct val="75000"/>
              <a:buFont typeface="Wingdings" panose="05000000000000000000" pitchFamily="2" charset="2"/>
              <a:buChar char="u"/>
            </a:pPr>
            <a:r>
              <a:rPr lang="zh-CN" altLang="en-US" sz="3600" b="1" dirty="0">
                <a:solidFill>
                  <a:srgbClr val="FF0000"/>
                </a:solidFill>
                <a:latin typeface="楷体_GB2312" pitchFamily="49" charset="-122"/>
                <a:ea typeface="楷体_GB2312" pitchFamily="49" charset="-122"/>
              </a:rPr>
              <a:t> 唯一解</a:t>
            </a:r>
            <a:endParaRPr lang="zh-CN" altLang="en-US" sz="3600" b="1" dirty="0">
              <a:solidFill>
                <a:srgbClr val="FF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en-US" b="1" dirty="0">
                <a:solidFill>
                  <a:srgbClr val="000000"/>
                </a:solidFill>
                <a:latin typeface="楷体_GB2312" pitchFamily="49" charset="-122"/>
                <a:ea typeface="楷体_GB2312" pitchFamily="49" charset="-122"/>
              </a:rPr>
              <a:t>线性规划问题具有唯一解是指该规划问题有且仅有一个既在可行域内、又使目标值达到最优的解。例</a:t>
            </a:r>
            <a:r>
              <a:rPr lang="en-US" altLang="zh-CN" b="1" dirty="0">
                <a:solidFill>
                  <a:srgbClr val="000000"/>
                </a:solidFill>
                <a:latin typeface="楷体_GB2312" pitchFamily="49" charset="-122"/>
                <a:ea typeface="楷体_GB2312" pitchFamily="49" charset="-122"/>
              </a:rPr>
              <a:t>1.1</a:t>
            </a:r>
            <a:r>
              <a:rPr lang="zh-CN" altLang="en-US" b="1" dirty="0">
                <a:solidFill>
                  <a:srgbClr val="000000"/>
                </a:solidFill>
                <a:latin typeface="楷体_GB2312" pitchFamily="49" charset="-122"/>
                <a:ea typeface="楷体_GB2312" pitchFamily="49" charset="-122"/>
              </a:rPr>
              <a:t>就是一个具有唯一解的规划问题</a:t>
            </a:r>
            <a:endParaRPr lang="zh-CN" altLang="en-US" b="1" dirty="0">
              <a:solidFill>
                <a:srgbClr val="000000"/>
              </a:solidFill>
              <a:latin typeface="楷体_GB2312" pitchFamily="49" charset="-122"/>
              <a:ea typeface="楷体_GB2312" pitchFamily="49" charset="-122"/>
            </a:endParaRPr>
          </a:p>
        </p:txBody>
      </p:sp>
      <p:pic>
        <p:nvPicPr>
          <p:cNvPr id="26628" name="Picture 4"/>
          <p:cNvPicPr>
            <a:picLocks noChangeAspect="1"/>
          </p:cNvPicPr>
          <p:nvPr/>
        </p:nvPicPr>
        <p:blipFill>
          <a:blip r:embed="rId1"/>
          <a:stretch>
            <a:fillRect/>
          </a:stretch>
        </p:blipFill>
        <p:spPr>
          <a:xfrm>
            <a:off x="4214813" y="1500188"/>
            <a:ext cx="4535487" cy="489585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322263" y="520700"/>
            <a:ext cx="5678487" cy="765175"/>
          </a:xfrm>
          <a:ln/>
        </p:spPr>
        <p:txBody>
          <a:bodyPr vert="horz" wrap="square" lIns="91440" tIns="45720" rIns="91440" bIns="45720" anchor="t" anchorCtr="0"/>
          <a:p>
            <a:r>
              <a:rPr lang="en-US" altLang="en-US" sz="3200" dirty="0">
                <a:solidFill>
                  <a:srgbClr val="0D04BE"/>
                </a:solidFill>
                <a:latin typeface="楷体_GB2312" pitchFamily="49" charset="-122"/>
                <a:ea typeface="楷体_GB2312" pitchFamily="49" charset="-122"/>
              </a:rPr>
              <a:t>1.2 线性规划问题</a:t>
            </a:r>
            <a:r>
              <a:rPr lang="zh-CN" altLang="en-US" sz="3200" dirty="0">
                <a:solidFill>
                  <a:srgbClr val="0D04BE"/>
                </a:solidFill>
                <a:latin typeface="楷体_GB2312" pitchFamily="49" charset="-122"/>
                <a:ea typeface="楷体_GB2312" pitchFamily="49" charset="-122"/>
              </a:rPr>
              <a:t>的图解法</a:t>
            </a:r>
            <a:endParaRPr lang="zh-CN" altLang="en-US" sz="3200" dirty="0">
              <a:solidFill>
                <a:srgbClr val="0D04BE"/>
              </a:solidFill>
              <a:latin typeface="楷体_GB2312" pitchFamily="49" charset="-122"/>
              <a:ea typeface="楷体_GB2312" pitchFamily="49" charset="-122"/>
            </a:endParaRPr>
          </a:p>
        </p:txBody>
      </p:sp>
      <p:sp>
        <p:nvSpPr>
          <p:cNvPr id="27651" name="Rectangle 3"/>
          <p:cNvSpPr>
            <a:spLocks noGrp="1"/>
          </p:cNvSpPr>
          <p:nvPr>
            <p:ph type="body" sz="half" idx="1"/>
          </p:nvPr>
        </p:nvSpPr>
        <p:spPr>
          <a:xfrm>
            <a:off x="214313" y="1500188"/>
            <a:ext cx="3816350" cy="4732337"/>
          </a:xfrm>
          <a:ln/>
        </p:spPr>
        <p:txBody>
          <a:bodyPr vert="horz" wrap="square" lIns="91440" tIns="45720" rIns="91440" bIns="45720" anchor="t" anchorCtr="0"/>
          <a:p>
            <a:pPr marL="0" indent="0" algn="just">
              <a:spcBef>
                <a:spcPct val="0"/>
              </a:spcBef>
              <a:buClr>
                <a:srgbClr val="000000"/>
              </a:buClr>
              <a:buSzPct val="75000"/>
              <a:buFont typeface="Wingdings" panose="05000000000000000000" pitchFamily="2" charset="2"/>
              <a:buChar char="u"/>
            </a:pPr>
            <a:r>
              <a:rPr lang="zh-CN" altLang="en-US" sz="3600" b="1" dirty="0">
                <a:solidFill>
                  <a:srgbClr val="FF0000"/>
                </a:solidFill>
                <a:latin typeface="楷体_GB2312" pitchFamily="49" charset="-122"/>
                <a:ea typeface="楷体_GB2312" pitchFamily="49" charset="-122"/>
              </a:rPr>
              <a:t> 无穷多解</a:t>
            </a:r>
            <a:endParaRPr lang="zh-CN" altLang="en-US" sz="3600" b="1" dirty="0">
              <a:solidFill>
                <a:srgbClr val="FF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zh-CN" sz="2800" b="1" dirty="0">
                <a:solidFill>
                  <a:srgbClr val="000000"/>
                </a:solidFill>
                <a:latin typeface="楷体_GB2312" pitchFamily="49" charset="-122"/>
                <a:ea typeface="楷体_GB2312" pitchFamily="49" charset="-122"/>
              </a:rPr>
              <a:t>线性规划问题具有无穷多解是指该规划问题有无穷多个既在可行域内、又使得目标值达到最优的解。</a:t>
            </a:r>
            <a:endParaRPr lang="zh-CN" altLang="en-US" sz="28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在例</a:t>
            </a:r>
            <a:r>
              <a:rPr lang="en-US" altLang="zh-CN" sz="2800" b="1" dirty="0">
                <a:solidFill>
                  <a:srgbClr val="000000"/>
                </a:solidFill>
                <a:latin typeface="楷体_GB2312" pitchFamily="49" charset="-122"/>
                <a:ea typeface="楷体_GB2312" pitchFamily="49" charset="-122"/>
              </a:rPr>
              <a:t>1.1</a:t>
            </a:r>
            <a:r>
              <a:rPr lang="zh-CN" altLang="en-US" sz="2800" b="1" dirty="0">
                <a:solidFill>
                  <a:srgbClr val="000000"/>
                </a:solidFill>
                <a:latin typeface="楷体_GB2312" pitchFamily="49" charset="-122"/>
                <a:ea typeface="楷体_GB2312" pitchFamily="49" charset="-122"/>
              </a:rPr>
              <a:t>中，设门的单位利润从</a:t>
            </a:r>
            <a:r>
              <a:rPr lang="en-US" altLang="zh-CN" sz="2800" b="1" dirty="0">
                <a:solidFill>
                  <a:srgbClr val="000000"/>
                </a:solidFill>
                <a:latin typeface="楷体_GB2312" pitchFamily="49" charset="-122"/>
                <a:ea typeface="楷体_GB2312" pitchFamily="49" charset="-122"/>
              </a:rPr>
              <a:t>300</a:t>
            </a:r>
            <a:r>
              <a:rPr lang="zh-CN" altLang="en-US" sz="2800" b="1" dirty="0">
                <a:solidFill>
                  <a:srgbClr val="000000"/>
                </a:solidFill>
                <a:latin typeface="楷体_GB2312" pitchFamily="49" charset="-122"/>
                <a:ea typeface="楷体_GB2312" pitchFamily="49" charset="-122"/>
              </a:rPr>
              <a:t>元增加至</a:t>
            </a:r>
            <a:r>
              <a:rPr lang="en-US" altLang="zh-CN" sz="2800" b="1" dirty="0">
                <a:solidFill>
                  <a:srgbClr val="000000"/>
                </a:solidFill>
                <a:latin typeface="楷体_GB2312" pitchFamily="49" charset="-122"/>
                <a:ea typeface="楷体_GB2312" pitchFamily="49" charset="-122"/>
              </a:rPr>
              <a:t>750</a:t>
            </a:r>
            <a:r>
              <a:rPr lang="zh-CN" altLang="en-US" sz="2800" b="1" dirty="0">
                <a:solidFill>
                  <a:srgbClr val="000000"/>
                </a:solidFill>
                <a:latin typeface="楷体_GB2312" pitchFamily="49" charset="-122"/>
                <a:ea typeface="楷体_GB2312" pitchFamily="49" charset="-122"/>
              </a:rPr>
              <a:t>元，这时该问题的解将发生变化</a:t>
            </a:r>
            <a:endParaRPr lang="zh-CN" altLang="en-US" sz="2800" b="1" dirty="0">
              <a:solidFill>
                <a:srgbClr val="000000"/>
              </a:solidFill>
              <a:latin typeface="楷体_GB2312" pitchFamily="49" charset="-122"/>
              <a:ea typeface="楷体_GB2312" pitchFamily="49" charset="-122"/>
            </a:endParaRPr>
          </a:p>
        </p:txBody>
      </p:sp>
      <p:pic>
        <p:nvPicPr>
          <p:cNvPr id="27652" name="Picture 5"/>
          <p:cNvPicPr>
            <a:picLocks noChangeAspect="1"/>
          </p:cNvPicPr>
          <p:nvPr/>
        </p:nvPicPr>
        <p:blipFill>
          <a:blip r:embed="rId1"/>
          <a:stretch>
            <a:fillRect/>
          </a:stretch>
        </p:blipFill>
        <p:spPr>
          <a:xfrm>
            <a:off x="4000500" y="1557338"/>
            <a:ext cx="5040313" cy="485457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285750" y="520700"/>
            <a:ext cx="5892800" cy="765175"/>
          </a:xfrm>
          <a:ln/>
        </p:spPr>
        <p:txBody>
          <a:bodyPr vert="horz" wrap="square" lIns="91440" tIns="45720" rIns="91440" bIns="45720" anchor="t" anchorCtr="0"/>
          <a:p>
            <a:r>
              <a:rPr lang="en-US" altLang="en-US" sz="3200" dirty="0">
                <a:solidFill>
                  <a:srgbClr val="0D04BE"/>
                </a:solidFill>
                <a:latin typeface="楷体_GB2312" pitchFamily="49" charset="-122"/>
                <a:ea typeface="楷体_GB2312" pitchFamily="49" charset="-122"/>
              </a:rPr>
              <a:t>1.2 线性规划问题的</a:t>
            </a:r>
            <a:r>
              <a:rPr lang="zh-CN" altLang="en-US" sz="3200" dirty="0">
                <a:solidFill>
                  <a:srgbClr val="0D04BE"/>
                </a:solidFill>
                <a:latin typeface="楷体_GB2312" pitchFamily="49" charset="-122"/>
                <a:ea typeface="楷体_GB2312" pitchFamily="49" charset="-122"/>
              </a:rPr>
              <a:t>图解法</a:t>
            </a:r>
            <a:endParaRPr lang="zh-CN" altLang="en-US" sz="3200" dirty="0">
              <a:solidFill>
                <a:srgbClr val="0D04BE"/>
              </a:solidFill>
              <a:latin typeface="楷体_GB2312" pitchFamily="49" charset="-122"/>
              <a:ea typeface="楷体_GB2312" pitchFamily="49" charset="-122"/>
            </a:endParaRPr>
          </a:p>
        </p:txBody>
      </p:sp>
      <p:sp>
        <p:nvSpPr>
          <p:cNvPr id="28675" name="Rectangle 3"/>
          <p:cNvSpPr>
            <a:spLocks noGrp="1"/>
          </p:cNvSpPr>
          <p:nvPr>
            <p:ph type="body" sz="half" idx="1"/>
          </p:nvPr>
        </p:nvSpPr>
        <p:spPr>
          <a:xfrm>
            <a:off x="327025" y="1214438"/>
            <a:ext cx="3816350" cy="5446712"/>
          </a:xfrm>
          <a:ln/>
        </p:spPr>
        <p:txBody>
          <a:bodyPr vert="horz" wrap="square" lIns="91440" tIns="45720" rIns="91440" bIns="45720" anchor="t" anchorCtr="0"/>
          <a:p>
            <a:pPr marL="0" indent="0" algn="just">
              <a:spcBef>
                <a:spcPct val="0"/>
              </a:spcBef>
              <a:buClr>
                <a:srgbClr val="000000"/>
              </a:buClr>
              <a:buSzPct val="75000"/>
              <a:buFont typeface="Wingdings" panose="05000000000000000000" pitchFamily="2" charset="2"/>
              <a:buChar char="u"/>
            </a:pPr>
            <a:r>
              <a:rPr lang="zh-CN" altLang="en-US" b="1" dirty="0">
                <a:solidFill>
                  <a:srgbClr val="FF0000"/>
                </a:solidFill>
                <a:latin typeface="楷体_GB2312" pitchFamily="49" charset="-122"/>
                <a:ea typeface="楷体_GB2312" pitchFamily="49" charset="-122"/>
              </a:rPr>
              <a:t> 可行域无界</a:t>
            </a:r>
            <a:endParaRPr lang="en-US" altLang="zh-CN" b="1" dirty="0">
              <a:solidFill>
                <a:srgbClr val="FF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en-US" b="1" dirty="0">
                <a:solidFill>
                  <a:srgbClr val="FF0000"/>
                </a:solidFill>
                <a:latin typeface="楷体_GB2312" pitchFamily="49" charset="-122"/>
                <a:ea typeface="楷体_GB2312" pitchFamily="49" charset="-122"/>
              </a:rPr>
              <a:t>（目标值不收敛）</a:t>
            </a:r>
            <a:endParaRPr lang="zh-CN" altLang="en-US" b="1" dirty="0">
              <a:solidFill>
                <a:srgbClr val="FF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线性规划问题的可行域无界，是指最大化问题中的目标函数值可以无限增大，或最小化问题中的目标函数值可以无限减少。</a:t>
            </a:r>
            <a:endParaRPr lang="zh-CN" altLang="en-US" sz="28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在例</a:t>
            </a:r>
            <a:r>
              <a:rPr lang="en-US" altLang="zh-CN" sz="2800" b="1" dirty="0">
                <a:solidFill>
                  <a:srgbClr val="000000"/>
                </a:solidFill>
                <a:latin typeface="楷体_GB2312" pitchFamily="49" charset="-122"/>
                <a:ea typeface="楷体_GB2312" pitchFamily="49" charset="-122"/>
              </a:rPr>
              <a:t>1.1</a:t>
            </a:r>
            <a:r>
              <a:rPr lang="zh-CN" altLang="en-US" sz="2800" b="1" dirty="0">
                <a:solidFill>
                  <a:srgbClr val="000000"/>
                </a:solidFill>
                <a:latin typeface="楷体_GB2312" pitchFamily="49" charset="-122"/>
                <a:ea typeface="楷体_GB2312" pitchFamily="49" charset="-122"/>
              </a:rPr>
              <a:t>中，如果没有车间可用工时的约束，但要求门与窗的总产量不得少于</a:t>
            </a:r>
            <a:r>
              <a:rPr lang="en-US" altLang="zh-CN" sz="2800" b="1" dirty="0">
                <a:solidFill>
                  <a:srgbClr val="000000"/>
                </a:solidFill>
                <a:latin typeface="楷体_GB2312" pitchFamily="49" charset="-122"/>
                <a:ea typeface="楷体_GB2312" pitchFamily="49" charset="-122"/>
              </a:rPr>
              <a:t>4</a:t>
            </a:r>
            <a:r>
              <a:rPr lang="zh-CN" altLang="en-US" sz="2800" b="1" dirty="0">
                <a:solidFill>
                  <a:srgbClr val="000000"/>
                </a:solidFill>
                <a:latin typeface="楷体_GB2312" pitchFamily="49" charset="-122"/>
                <a:ea typeface="楷体_GB2312" pitchFamily="49" charset="-122"/>
              </a:rPr>
              <a:t>。</a:t>
            </a:r>
            <a:endParaRPr lang="zh-CN" altLang="en-US" sz="2800" b="1" dirty="0">
              <a:solidFill>
                <a:srgbClr val="000000"/>
              </a:solidFill>
              <a:latin typeface="楷体_GB2312" pitchFamily="49" charset="-122"/>
              <a:ea typeface="楷体_GB2312" pitchFamily="49" charset="-122"/>
            </a:endParaRPr>
          </a:p>
        </p:txBody>
      </p:sp>
      <p:pic>
        <p:nvPicPr>
          <p:cNvPr id="28676" name="Picture 5"/>
          <p:cNvPicPr>
            <a:picLocks noChangeAspect="1"/>
          </p:cNvPicPr>
          <p:nvPr/>
        </p:nvPicPr>
        <p:blipFill>
          <a:blip r:embed="rId1"/>
          <a:stretch>
            <a:fillRect/>
          </a:stretch>
        </p:blipFill>
        <p:spPr>
          <a:xfrm>
            <a:off x="4211638" y="1677988"/>
            <a:ext cx="4932362" cy="468312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285750" y="571500"/>
            <a:ext cx="5678488" cy="765175"/>
          </a:xfrm>
          <a:ln/>
        </p:spPr>
        <p:txBody>
          <a:bodyPr vert="horz" wrap="square" lIns="91440" tIns="45720" rIns="91440" bIns="45720" anchor="t" anchorCtr="0"/>
          <a:p>
            <a:r>
              <a:rPr lang="en-US" altLang="en-US" sz="3200" dirty="0">
                <a:solidFill>
                  <a:srgbClr val="0D04BE"/>
                </a:solidFill>
                <a:latin typeface="楷体_GB2312" pitchFamily="49" charset="-122"/>
                <a:ea typeface="楷体_GB2312" pitchFamily="49" charset="-122"/>
              </a:rPr>
              <a:t>1.2 线性规划问题</a:t>
            </a:r>
            <a:r>
              <a:rPr lang="zh-CN" altLang="en-US" sz="3200" dirty="0">
                <a:solidFill>
                  <a:srgbClr val="0D04BE"/>
                </a:solidFill>
                <a:latin typeface="楷体_GB2312" pitchFamily="49" charset="-122"/>
                <a:ea typeface="楷体_GB2312" pitchFamily="49" charset="-122"/>
              </a:rPr>
              <a:t>的图解法</a:t>
            </a:r>
            <a:endParaRPr lang="zh-CN" altLang="en-US" sz="3200" dirty="0">
              <a:solidFill>
                <a:srgbClr val="0D04BE"/>
              </a:solidFill>
              <a:latin typeface="楷体_GB2312" pitchFamily="49" charset="-122"/>
              <a:ea typeface="楷体_GB2312" pitchFamily="49" charset="-122"/>
            </a:endParaRPr>
          </a:p>
        </p:txBody>
      </p:sp>
      <p:sp>
        <p:nvSpPr>
          <p:cNvPr id="29699" name="Rectangle 3"/>
          <p:cNvSpPr>
            <a:spLocks noGrp="1"/>
          </p:cNvSpPr>
          <p:nvPr>
            <p:ph type="body" sz="half" idx="1"/>
          </p:nvPr>
        </p:nvSpPr>
        <p:spPr>
          <a:xfrm>
            <a:off x="250825" y="1392238"/>
            <a:ext cx="3816350" cy="5037137"/>
          </a:xfrm>
          <a:ln/>
        </p:spPr>
        <p:txBody>
          <a:bodyPr vert="horz" wrap="square" lIns="91440" tIns="45720" rIns="91440" bIns="45720" anchor="t" anchorCtr="0"/>
          <a:p>
            <a:pPr marL="0" indent="0" algn="just">
              <a:spcBef>
                <a:spcPct val="0"/>
              </a:spcBef>
              <a:buClr>
                <a:srgbClr val="000000"/>
              </a:buClr>
              <a:buSzPct val="75000"/>
              <a:buFont typeface="Wingdings" panose="05000000000000000000" pitchFamily="2" charset="2"/>
              <a:buChar char="u"/>
            </a:pPr>
            <a:r>
              <a:rPr lang="zh-CN" altLang="en-US" sz="3600" b="1" dirty="0">
                <a:solidFill>
                  <a:srgbClr val="FF0000"/>
                </a:solidFill>
                <a:latin typeface="楷体_GB2312" pitchFamily="49" charset="-122"/>
                <a:ea typeface="楷体_GB2312" pitchFamily="49" charset="-122"/>
              </a:rPr>
              <a:t> 无解</a:t>
            </a:r>
            <a:endParaRPr lang="zh-CN" altLang="en-US" sz="3600" b="1" dirty="0">
              <a:solidFill>
                <a:srgbClr val="FF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当线性规划问题中的约束条件不能同时满足时，无可行域的情况将会出现，这时不存在可行解，即该线性规划问题无解</a:t>
            </a:r>
            <a:r>
              <a:rPr lang="zh-CN" altLang="zh-CN" sz="2800" b="1" dirty="0">
                <a:solidFill>
                  <a:srgbClr val="000000"/>
                </a:solidFill>
                <a:latin typeface="楷体_GB2312" pitchFamily="49" charset="-122"/>
                <a:ea typeface="楷体_GB2312" pitchFamily="49" charset="-122"/>
              </a:rPr>
              <a:t>。</a:t>
            </a:r>
            <a:endParaRPr lang="zh-CN" altLang="en-US" sz="28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zh-CN" altLang="zh-CN" sz="2800" b="1" dirty="0">
                <a:solidFill>
                  <a:srgbClr val="000000"/>
                </a:solidFill>
                <a:latin typeface="楷体_GB2312" pitchFamily="49" charset="-122"/>
                <a:ea typeface="楷体_GB2312" pitchFamily="49" charset="-122"/>
              </a:rPr>
              <a:t>在例1.1中，若要求门的每周产量不得少于6，则需再加上一个约束条件</a:t>
            </a:r>
            <a:r>
              <a:rPr lang="zh-CN" altLang="en-US" sz="2800" b="1" dirty="0">
                <a:solidFill>
                  <a:srgbClr val="000000"/>
                </a:solidFill>
                <a:latin typeface="楷体_GB2312" pitchFamily="49" charset="-122"/>
                <a:ea typeface="楷体_GB2312" pitchFamily="49" charset="-122"/>
              </a:rPr>
              <a:t>：</a:t>
            </a:r>
            <a:r>
              <a:rPr lang="en-US" altLang="zh-CN" sz="2800" b="1" i="1" dirty="0">
                <a:solidFill>
                  <a:srgbClr val="000000"/>
                </a:solidFill>
                <a:latin typeface="Times New Roman" panose="02020603050405020304" pitchFamily="18" charset="0"/>
                <a:ea typeface="楷体_GB2312" pitchFamily="49" charset="-122"/>
              </a:rPr>
              <a:t>x</a:t>
            </a:r>
            <a:r>
              <a:rPr lang="en-US" altLang="zh-CN" sz="2800" b="1" i="1" baseline="-25000" dirty="0">
                <a:solidFill>
                  <a:srgbClr val="000000"/>
                </a:solidFill>
                <a:latin typeface="Times New Roman" panose="02020603050405020304" pitchFamily="18" charset="0"/>
                <a:ea typeface="楷体_GB2312" pitchFamily="49" charset="-122"/>
              </a:rPr>
              <a:t>1</a:t>
            </a:r>
            <a:r>
              <a:rPr lang="en-US" altLang="zh-CN" sz="2800" b="1" dirty="0">
                <a:solidFill>
                  <a:srgbClr val="000000"/>
                </a:solidFill>
                <a:latin typeface="楷体_GB2312" pitchFamily="49" charset="-122"/>
                <a:ea typeface="楷体_GB2312" pitchFamily="49" charset="-122"/>
                <a:sym typeface="Symbol" panose="05050102010706020507" pitchFamily="18" charset="2"/>
              </a:rPr>
              <a:t>6</a:t>
            </a:r>
            <a:endParaRPr lang="en-US" altLang="zh-CN" sz="2800" b="1" dirty="0">
              <a:solidFill>
                <a:srgbClr val="000000"/>
              </a:solidFill>
              <a:latin typeface="楷体_GB2312" pitchFamily="49" charset="-122"/>
              <a:ea typeface="楷体_GB2312" pitchFamily="49" charset="-122"/>
              <a:sym typeface="Symbol" panose="05050102010706020507" pitchFamily="18" charset="2"/>
            </a:endParaRPr>
          </a:p>
        </p:txBody>
      </p:sp>
      <p:pic>
        <p:nvPicPr>
          <p:cNvPr id="29700" name="Picture 5"/>
          <p:cNvPicPr>
            <a:picLocks noChangeAspect="1"/>
          </p:cNvPicPr>
          <p:nvPr/>
        </p:nvPicPr>
        <p:blipFill>
          <a:blip r:embed="rId1"/>
          <a:stretch>
            <a:fillRect/>
          </a:stretch>
        </p:blipFill>
        <p:spPr>
          <a:xfrm>
            <a:off x="4356100" y="1773238"/>
            <a:ext cx="4464050" cy="4608512"/>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388938" y="663575"/>
            <a:ext cx="6040437" cy="693738"/>
          </a:xfrm>
          <a:ln/>
        </p:spPr>
        <p:txBody>
          <a:bodyPr vert="horz" wrap="square" lIns="91440" tIns="45720" rIns="91440" bIns="45720" anchor="t" anchorCtr="0"/>
          <a:p>
            <a:r>
              <a:rPr lang="en-US" altLang="en-US" sz="3200" dirty="0">
                <a:solidFill>
                  <a:srgbClr val="0D04BE"/>
                </a:solidFill>
                <a:latin typeface="楷体_GB2312" pitchFamily="49" charset="-122"/>
                <a:ea typeface="楷体_GB2312" pitchFamily="49" charset="-122"/>
              </a:rPr>
              <a:t>1.2 </a:t>
            </a:r>
            <a:r>
              <a:rPr lang="zh-CN" altLang="en-US" sz="3200" dirty="0">
                <a:solidFill>
                  <a:srgbClr val="0D04BE"/>
                </a:solidFill>
                <a:latin typeface="楷体_GB2312" pitchFamily="49" charset="-122"/>
                <a:ea typeface="楷体_GB2312" pitchFamily="49" charset="-122"/>
              </a:rPr>
              <a:t>线性规划问题的图解法</a:t>
            </a:r>
            <a:endParaRPr lang="zh-CN" altLang="en-US" sz="3200" dirty="0">
              <a:solidFill>
                <a:srgbClr val="0D04BE"/>
              </a:solidFill>
              <a:latin typeface="楷体_GB2312" pitchFamily="49" charset="-122"/>
              <a:ea typeface="楷体_GB2312" pitchFamily="49" charset="-122"/>
            </a:endParaRPr>
          </a:p>
        </p:txBody>
      </p:sp>
      <p:sp>
        <p:nvSpPr>
          <p:cNvPr id="30723" name="Rectangle 3"/>
          <p:cNvSpPr>
            <a:spLocks noGrp="1"/>
          </p:cNvSpPr>
          <p:nvPr>
            <p:ph type="body" sz="half" idx="1"/>
          </p:nvPr>
        </p:nvSpPr>
        <p:spPr>
          <a:xfrm>
            <a:off x="428625" y="1500188"/>
            <a:ext cx="8035925" cy="4857750"/>
          </a:xfrm>
          <a:ln/>
        </p:spPr>
        <p:txBody>
          <a:bodyPr vert="horz" wrap="square" lIns="91440" tIns="45720" rIns="91440" bIns="45720" anchor="t" anchorCtr="0"/>
          <a:p>
            <a:pPr marL="0" indent="0" algn="just">
              <a:spcBef>
                <a:spcPct val="0"/>
              </a:spcBef>
              <a:buClr>
                <a:srgbClr val="000000"/>
              </a:buClr>
              <a:buSzPct val="75000"/>
              <a:buFont typeface="Wingdings" panose="05000000000000000000" pitchFamily="2" charset="2"/>
              <a:buNone/>
            </a:pPr>
            <a:r>
              <a:rPr lang="zh-CN" altLang="en-US" sz="3600" b="1" dirty="0">
                <a:solidFill>
                  <a:srgbClr val="FF0000"/>
                </a:solidFill>
                <a:latin typeface="楷体_GB2312" pitchFamily="49" charset="-122"/>
                <a:ea typeface="楷体_GB2312" pitchFamily="49" charset="-122"/>
              </a:rPr>
              <a:t>启示：</a:t>
            </a:r>
            <a:endParaRPr lang="en-US" altLang="zh-CN" sz="3600" b="1" dirty="0">
              <a:solidFill>
                <a:srgbClr val="FF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Char char="u"/>
            </a:pPr>
            <a:r>
              <a:rPr lang="zh-CN" altLang="en-US" sz="3600" b="1" dirty="0">
                <a:solidFill>
                  <a:srgbClr val="000000"/>
                </a:solidFill>
                <a:latin typeface="楷体_GB2312" pitchFamily="49" charset="-122"/>
                <a:ea typeface="楷体_GB2312" pitchFamily="49" charset="-122"/>
              </a:rPr>
              <a:t> 线性规划解的情况</a:t>
            </a:r>
            <a:endParaRPr lang="en-US" altLang="zh-CN" sz="36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None/>
            </a:pPr>
            <a:r>
              <a:rPr lang="en-US" altLang="zh-CN" sz="3600" b="1" dirty="0">
                <a:solidFill>
                  <a:srgbClr val="000000"/>
                </a:solidFill>
                <a:latin typeface="楷体_GB2312" pitchFamily="49" charset="-122"/>
                <a:ea typeface="楷体_GB2312" pitchFamily="49" charset="-122"/>
              </a:rPr>
              <a:t>   </a:t>
            </a:r>
            <a:r>
              <a:rPr lang="zh-CN" altLang="en-US" sz="3600" b="1" dirty="0">
                <a:solidFill>
                  <a:srgbClr val="000000"/>
                </a:solidFill>
                <a:latin typeface="楷体_GB2312" pitchFamily="49" charset="-122"/>
                <a:ea typeface="楷体_GB2312" pitchFamily="49" charset="-122"/>
              </a:rPr>
              <a:t>唯一最优解、无穷多最优解、无界解、无可行解</a:t>
            </a:r>
            <a:endParaRPr lang="en-US" altLang="zh-CN" sz="36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Char char="u"/>
            </a:pPr>
            <a:r>
              <a:rPr lang="en-US" altLang="zh-CN" sz="3600" b="1" dirty="0">
                <a:solidFill>
                  <a:srgbClr val="000000"/>
                </a:solidFill>
                <a:latin typeface="楷体_GB2312" pitchFamily="49" charset="-122"/>
                <a:ea typeface="楷体_GB2312" pitchFamily="49" charset="-122"/>
              </a:rPr>
              <a:t> </a:t>
            </a:r>
            <a:r>
              <a:rPr lang="zh-CN" altLang="en-US" sz="3600" b="1" dirty="0">
                <a:solidFill>
                  <a:srgbClr val="000000"/>
                </a:solidFill>
                <a:latin typeface="楷体_GB2312" pitchFamily="49" charset="-122"/>
                <a:ea typeface="楷体_GB2312" pitchFamily="49" charset="-122"/>
              </a:rPr>
              <a:t>若线性规划的可行域存在，则可行域是个凸集</a:t>
            </a:r>
            <a:endParaRPr lang="en-US" altLang="zh-CN" sz="3600" b="1" dirty="0">
              <a:solidFill>
                <a:srgbClr val="000000"/>
              </a:solidFill>
              <a:latin typeface="楷体_GB2312" pitchFamily="49" charset="-122"/>
              <a:ea typeface="楷体_GB2312" pitchFamily="49" charset="-122"/>
            </a:endParaRPr>
          </a:p>
          <a:p>
            <a:pPr marL="0" indent="0" algn="just">
              <a:spcBef>
                <a:spcPct val="0"/>
              </a:spcBef>
              <a:buClr>
                <a:srgbClr val="000000"/>
              </a:buClr>
              <a:buSzPct val="75000"/>
              <a:buFont typeface="Wingdings" panose="05000000000000000000" pitchFamily="2" charset="2"/>
              <a:buChar char="u"/>
            </a:pPr>
            <a:r>
              <a:rPr lang="en-US" altLang="zh-CN" sz="3600" b="1" dirty="0">
                <a:solidFill>
                  <a:srgbClr val="000000"/>
                </a:solidFill>
                <a:latin typeface="楷体_GB2312" pitchFamily="49" charset="-122"/>
                <a:ea typeface="楷体_GB2312" pitchFamily="49" charset="-122"/>
              </a:rPr>
              <a:t> </a:t>
            </a:r>
            <a:r>
              <a:rPr lang="zh-CN" altLang="en-US" sz="3600" b="1" dirty="0">
                <a:solidFill>
                  <a:srgbClr val="000000"/>
                </a:solidFill>
                <a:latin typeface="楷体_GB2312" pitchFamily="49" charset="-122"/>
                <a:ea typeface="楷体_GB2312" pitchFamily="49" charset="-122"/>
              </a:rPr>
              <a:t>若线性规划的最优解存在，则最优解一定是可行域的凸集的某个顶点</a:t>
            </a:r>
            <a:endParaRPr lang="zh-CN" altLang="en-US" sz="3600" b="1" dirty="0">
              <a:solidFill>
                <a:srgbClr val="000000"/>
              </a:solidFill>
              <a:latin typeface="楷体_GB2312" pitchFamily="49" charset="-122"/>
              <a:ea typeface="楷体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4"/>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31747" name="Rectangle 3"/>
          <p:cNvSpPr>
            <a:spLocks noGrp="1"/>
          </p:cNvSpPr>
          <p:nvPr>
            <p:ph idx="1"/>
          </p:nvPr>
        </p:nvSpPr>
        <p:spPr>
          <a:xfrm>
            <a:off x="1908175" y="2565400"/>
            <a:ext cx="5113338" cy="1800225"/>
          </a:xfrm>
          <a:ln/>
        </p:spPr>
        <p:txBody>
          <a:bodyPr vert="horz" wrap="square" lIns="91440" tIns="45720" rIns="91440" bIns="45720" anchor="t" anchorCtr="0"/>
          <a:p>
            <a:pPr marL="533400" indent="-533400" algn="ctr" eaLnBrk="1" hangingPunct="1">
              <a:buNone/>
            </a:pPr>
            <a:r>
              <a:rPr lang="zh-CN" altLang="en-US" sz="8000" dirty="0">
                <a:cs typeface="Times New Roman" panose="02020603050405020304" pitchFamily="18" charset="0"/>
              </a:rPr>
              <a:t>谢谢大家</a:t>
            </a:r>
            <a:endParaRPr lang="zh-CN" altLang="en-US" sz="8000" dirty="0"/>
          </a:p>
        </p:txBody>
      </p:sp>
      <p:sp>
        <p:nvSpPr>
          <p:cNvPr id="31748" name="Line 4"/>
          <p:cNvSpPr/>
          <p:nvPr/>
        </p:nvSpPr>
        <p:spPr>
          <a:xfrm>
            <a:off x="1219200" y="3352800"/>
            <a:ext cx="0" cy="0"/>
          </a:xfrm>
          <a:prstGeom prst="line">
            <a:avLst/>
          </a:prstGeom>
          <a:ln w="9525" cap="flat" cmpd="sng">
            <a:solidFill>
              <a:schemeClr val="tx1"/>
            </a:solidFill>
            <a:prstDash val="solid"/>
            <a:headEnd type="none" w="med" len="med"/>
            <a:tailEnd type="none" w="med" len="med"/>
          </a:ln>
        </p:spPr>
      </p:sp>
      <p:sp>
        <p:nvSpPr>
          <p:cNvPr id="31749" name="Line 5"/>
          <p:cNvSpPr/>
          <p:nvPr/>
        </p:nvSpPr>
        <p:spPr>
          <a:xfrm>
            <a:off x="1447800" y="3352800"/>
            <a:ext cx="0" cy="0"/>
          </a:xfrm>
          <a:prstGeom prst="line">
            <a:avLst/>
          </a:prstGeom>
          <a:ln w="9525" cap="flat" cmpd="sng">
            <a:solidFill>
              <a:schemeClr val="tx1"/>
            </a:solidFill>
            <a:prstDash val="solid"/>
            <a:headEnd type="none" w="med" len="med"/>
            <a:tailEnd type="none" w="med" len="med"/>
          </a:ln>
        </p:spPr>
      </p:sp>
      <p:sp>
        <p:nvSpPr>
          <p:cNvPr id="31750" name="Line 6"/>
          <p:cNvSpPr/>
          <p:nvPr/>
        </p:nvSpPr>
        <p:spPr>
          <a:xfrm>
            <a:off x="4953000" y="3810000"/>
            <a:ext cx="0" cy="0"/>
          </a:xfrm>
          <a:prstGeom prst="line">
            <a:avLst/>
          </a:prstGeom>
          <a:ln w="9525" cap="flat" cmpd="sng">
            <a:solidFill>
              <a:schemeClr val="tx1"/>
            </a:solidFill>
            <a:prstDash val="solid"/>
            <a:headEnd type="none" w="med" len="med"/>
            <a:tailEnd type="none" w="med" len="med"/>
          </a:ln>
        </p:spPr>
      </p:sp>
      <p:sp>
        <p:nvSpPr>
          <p:cNvPr id="31751" name="Line 7"/>
          <p:cNvSpPr/>
          <p:nvPr/>
        </p:nvSpPr>
        <p:spPr>
          <a:xfrm>
            <a:off x="6172200" y="3352800"/>
            <a:ext cx="0" cy="0"/>
          </a:xfrm>
          <a:prstGeom prst="line">
            <a:avLst/>
          </a:prstGeom>
          <a:ln w="9525" cap="flat" cmpd="sng">
            <a:solidFill>
              <a:schemeClr val="tx1"/>
            </a:solidFill>
            <a:prstDash val="solid"/>
            <a:headEnd type="none" w="med" len="med"/>
            <a:tailEnd type="none" w="med" len="med"/>
          </a:ln>
        </p:spPr>
      </p:sp>
      <p:sp>
        <p:nvSpPr>
          <p:cNvPr id="31752" name="Line 8"/>
          <p:cNvSpPr/>
          <p:nvPr/>
        </p:nvSpPr>
        <p:spPr>
          <a:xfrm>
            <a:off x="2971800" y="5029200"/>
            <a:ext cx="0" cy="0"/>
          </a:xfrm>
          <a:prstGeom prst="line">
            <a:avLst/>
          </a:prstGeom>
          <a:ln w="9525" cap="flat" cmpd="sng">
            <a:solidFill>
              <a:schemeClr val="tx1"/>
            </a:solidFill>
            <a:prstDash val="solid"/>
            <a:headEnd type="none" w="med" len="med"/>
            <a:tailEnd type="none" w="med" len="med"/>
          </a:ln>
        </p:spPr>
      </p:sp>
      <p:sp>
        <p:nvSpPr>
          <p:cNvPr id="31753" name="Line 9"/>
          <p:cNvSpPr/>
          <p:nvPr/>
        </p:nvSpPr>
        <p:spPr>
          <a:xfrm>
            <a:off x="5257800" y="6096000"/>
            <a:ext cx="0" cy="0"/>
          </a:xfrm>
          <a:prstGeom prst="line">
            <a:avLst/>
          </a:prstGeom>
          <a:ln w="9525" cap="flat" cmpd="sng">
            <a:solidFill>
              <a:schemeClr val="tx1"/>
            </a:solidFill>
            <a:prstDash val="solid"/>
            <a:headEnd type="none" w="med" len="med"/>
            <a:tailEnd type="none" w="med" len="med"/>
          </a:ln>
        </p:spPr>
      </p:sp>
    </p:spTree>
  </p:cSld>
  <p:clrMapOvr>
    <a:masterClrMapping/>
  </p:clrMapOvr>
  <p:transition/>
</p:sld>
</file>

<file path=ppt/tags/tag1.xml><?xml version="1.0" encoding="utf-8"?>
<p:tagLst xmlns:p="http://schemas.openxmlformats.org/presentationml/2006/main">
  <p:tag name="KSO_WPP_MARK_KEY" val="066c9825-df88-40e9-b50d-4d0caeee5c6c"/>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2904</Words>
  <Application>WPS 演示</Application>
  <PresentationFormat>全屏显示(4:3)</PresentationFormat>
  <Paragraphs>291</Paragraphs>
  <Slides>28</Slides>
  <Notes>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9</vt:i4>
      </vt:variant>
      <vt:variant>
        <vt:lpstr>幻灯片标题</vt:lpstr>
      </vt:variant>
      <vt:variant>
        <vt:i4>28</vt:i4>
      </vt:variant>
    </vt:vector>
  </HeadingPairs>
  <TitlesOfParts>
    <vt:vector size="50" baseType="lpstr">
      <vt:lpstr>Arial</vt:lpstr>
      <vt:lpstr>宋体</vt:lpstr>
      <vt:lpstr>Wingdings</vt:lpstr>
      <vt:lpstr>Times New Roman</vt:lpstr>
      <vt:lpstr>Arial Black</vt:lpstr>
      <vt:lpstr>楷体_GB2312</vt:lpstr>
      <vt:lpstr>新宋体</vt:lpstr>
      <vt:lpstr>Symbol</vt:lpstr>
      <vt:lpstr>黑体</vt:lpstr>
      <vt:lpstr>Times</vt:lpstr>
      <vt:lpstr>微软雅黑</vt:lpstr>
      <vt:lpstr>Arial Unicode MS</vt:lpstr>
      <vt:lpstr>Pixel</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Albert Yang</cp:lastModifiedBy>
  <cp:revision>296</cp:revision>
  <dcterms:created xsi:type="dcterms:W3CDTF">2022-12-11T09:07:20Z</dcterms:created>
  <dcterms:modified xsi:type="dcterms:W3CDTF">2022-12-11T09:07:34Z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A2B380743C034C588BBCE3C2394B8AD8</vt:lpwstr>
  </property>
  <property fmtid="{D5CDD505-2E9C-101B-9397-08002B2CF9AE}" pid="3" name="KSOProductBuildVer">
    <vt:lpwstr>2052-11.1.0.12980</vt:lpwstr>
  </property>
</Properties>
</file>