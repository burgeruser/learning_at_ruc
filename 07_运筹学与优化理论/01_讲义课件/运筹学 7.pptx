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28" r:id="rId3"/>
    <p:sldId id="353" r:id="rId4"/>
    <p:sldId id="257" r:id="rId5"/>
    <p:sldId id="258" r:id="rId6"/>
    <p:sldId id="414" r:id="rId7"/>
    <p:sldId id="415" r:id="rId8"/>
    <p:sldId id="259" r:id="rId9"/>
    <p:sldId id="403" r:id="rId10"/>
    <p:sldId id="262" r:id="rId11"/>
    <p:sldId id="260" r:id="rId12"/>
    <p:sldId id="261" r:id="rId13"/>
    <p:sldId id="437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29" r:id="rId23"/>
    <p:sldId id="430" r:id="rId24"/>
    <p:sldId id="431" r:id="rId25"/>
    <p:sldId id="432" r:id="rId26"/>
    <p:sldId id="433" r:id="rId27"/>
    <p:sldId id="434" r:id="rId28"/>
    <p:sldId id="435" r:id="rId29"/>
    <p:sldId id="354" r:id="rId30"/>
    <p:sldId id="355" r:id="rId31"/>
    <p:sldId id="356" r:id="rId32"/>
    <p:sldId id="357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416" r:id="rId43"/>
    <p:sldId id="418" r:id="rId44"/>
    <p:sldId id="417" r:id="rId45"/>
    <p:sldId id="419" r:id="rId46"/>
    <p:sldId id="296" r:id="rId47"/>
    <p:sldId id="439" r:id="rId48"/>
    <p:sldId id="457" r:id="rId49"/>
    <p:sldId id="440" r:id="rId50"/>
    <p:sldId id="441" r:id="rId51"/>
    <p:sldId id="442" r:id="rId52"/>
    <p:sldId id="443" r:id="rId53"/>
    <p:sldId id="444" r:id="rId54"/>
    <p:sldId id="445" r:id="rId55"/>
    <p:sldId id="446" r:id="rId56"/>
    <p:sldId id="447" r:id="rId57"/>
    <p:sldId id="448" r:id="rId58"/>
    <p:sldId id="449" r:id="rId59"/>
    <p:sldId id="450" r:id="rId60"/>
    <p:sldId id="451" r:id="rId61"/>
    <p:sldId id="452" r:id="rId62"/>
    <p:sldId id="453" r:id="rId63"/>
    <p:sldId id="297" r:id="rId64"/>
    <p:sldId id="298" r:id="rId65"/>
    <p:sldId id="299" r:id="rId66"/>
    <p:sldId id="300" r:id="rId67"/>
    <p:sldId id="301" r:id="rId68"/>
    <p:sldId id="372" r:id="rId69"/>
    <p:sldId id="454" r:id="rId70"/>
    <p:sldId id="455" r:id="rId71"/>
    <p:sldId id="303" r:id="rId72"/>
    <p:sldId id="306" r:id="rId73"/>
    <p:sldId id="456" r:id="rId74"/>
    <p:sldId id="307" r:id="rId75"/>
    <p:sldId id="373" r:id="rId76"/>
    <p:sldId id="308" r:id="rId77"/>
    <p:sldId id="309" r:id="rId78"/>
    <p:sldId id="310" r:id="rId79"/>
    <p:sldId id="311" r:id="rId80"/>
    <p:sldId id="312" r:id="rId81"/>
    <p:sldId id="313" r:id="rId82"/>
    <p:sldId id="314" r:id="rId83"/>
    <p:sldId id="315" r:id="rId84"/>
    <p:sldId id="374" r:id="rId85"/>
    <p:sldId id="375" r:id="rId86"/>
    <p:sldId id="317" r:id="rId87"/>
    <p:sldId id="378" r:id="rId88"/>
    <p:sldId id="379" r:id="rId89"/>
    <p:sldId id="380" r:id="rId90"/>
    <p:sldId id="381" r:id="rId91"/>
    <p:sldId id="382" r:id="rId92"/>
    <p:sldId id="383" r:id="rId93"/>
    <p:sldId id="384" r:id="rId94"/>
    <p:sldId id="421" r:id="rId95"/>
    <p:sldId id="422" r:id="rId96"/>
    <p:sldId id="458" r:id="rId97"/>
    <p:sldId id="459" r:id="rId98"/>
    <p:sldId id="460" r:id="rId99"/>
    <p:sldId id="461" r:id="rId100"/>
    <p:sldId id="328" r:id="rId101"/>
    <p:sldId id="329" r:id="rId102"/>
    <p:sldId id="330" r:id="rId103"/>
    <p:sldId id="390" r:id="rId104"/>
    <p:sldId id="391" r:id="rId105"/>
    <p:sldId id="392" r:id="rId106"/>
    <p:sldId id="393" r:id="rId107"/>
    <p:sldId id="394" r:id="rId108"/>
    <p:sldId id="395" r:id="rId109"/>
    <p:sldId id="396" r:id="rId110"/>
    <p:sldId id="397" r:id="rId111"/>
    <p:sldId id="398" r:id="rId112"/>
    <p:sldId id="389" r:id="rId113"/>
    <p:sldId id="342" r:id="rId114"/>
    <p:sldId id="399" r:id="rId115"/>
    <p:sldId id="400" r:id="rId116"/>
    <p:sldId id="401" r:id="rId117"/>
    <p:sldId id="402" r:id="rId118"/>
    <p:sldId id="351" r:id="rId119"/>
    <p:sldId id="352" r:id="rId120"/>
    <p:sldId id="436" r:id="rId121"/>
  </p:sldIdLst>
  <p:sldSz cx="9144000" cy="6858000" type="screen4x3"/>
  <p:notesSz cx="6858000" cy="9144000"/>
  <p:custDataLst>
    <p:tags r:id="rId12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FFFF"/>
    <a:srgbClr val="006600"/>
    <a:srgbClr val="CC00CC"/>
    <a:srgbClr val="CC99FF"/>
    <a:srgbClr val="000066"/>
    <a:srgbClr val="FF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588"/>
    <p:restoredTop sz="94660"/>
  </p:normalViewPr>
  <p:slideViewPr>
    <p:cSldViewPr showGuides="1">
      <p:cViewPr>
        <p:scale>
          <a:sx n="58" d="100"/>
          <a:sy n="58" d="100"/>
        </p:scale>
        <p:origin x="-1632" y="-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56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0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5" Type="http://schemas.openxmlformats.org/officeDocument/2006/relationships/tags" Target="tags/tag1.xml"/><Relationship Id="rId124" Type="http://schemas.openxmlformats.org/officeDocument/2006/relationships/tableStyles" Target="tableStyles.xml"/><Relationship Id="rId123" Type="http://schemas.openxmlformats.org/officeDocument/2006/relationships/viewProps" Target="viewProps.xml"/><Relationship Id="rId122" Type="http://schemas.openxmlformats.org/officeDocument/2006/relationships/presProps" Target="presProps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13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4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5.bin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6.bin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7.bin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emf"/><Relationship Id="rId1" Type="http://schemas.openxmlformats.org/officeDocument/2006/relationships/oleObject" Target="../embeddings/oleObject18.bin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9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emf"/><Relationship Id="rId1" Type="http://schemas.openxmlformats.org/officeDocument/2006/relationships/oleObject" Target="../embeddings/oleObject20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21.bin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2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23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4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5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6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7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8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wmf"/><Relationship Id="rId1" Type="http://schemas.openxmlformats.org/officeDocument/2006/relationships/oleObject" Target="../embeddings/oleObject29.bin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30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wmf"/><Relationship Id="rId1" Type="http://schemas.openxmlformats.org/officeDocument/2006/relationships/oleObject" Target="../embeddings/oleObject31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emf"/><Relationship Id="rId1" Type="http://schemas.openxmlformats.org/officeDocument/2006/relationships/oleObject" Target="../embeddings/oleObject32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emf"/><Relationship Id="rId1" Type="http://schemas.openxmlformats.org/officeDocument/2006/relationships/oleObject" Target="../embeddings/oleObject33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emf"/><Relationship Id="rId1" Type="http://schemas.openxmlformats.org/officeDocument/2006/relationships/oleObject" Target="../embeddings/oleObject34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emf"/><Relationship Id="rId1" Type="http://schemas.openxmlformats.org/officeDocument/2006/relationships/oleObject" Target="../embeddings/oleObject35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36.bin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wmf"/><Relationship Id="rId1" Type="http://schemas.openxmlformats.org/officeDocument/2006/relationships/oleObject" Target="../embeddings/oleObject37.bin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38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39.bin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wmf"/><Relationship Id="rId1" Type="http://schemas.openxmlformats.org/officeDocument/2006/relationships/oleObject" Target="../embeddings/oleObject40.bin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41.bin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42.bin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43.bin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44.bin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45.bin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46.bin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47.bin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48.bin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49.bin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50.bin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wmf"/><Relationship Id="rId1" Type="http://schemas.openxmlformats.org/officeDocument/2006/relationships/oleObject" Target="../embeddings/oleObject51.bin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52.bin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0.png"/></Relationships>
</file>

<file path=ppt/slides/_rels/slide9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2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51.wmf"/><Relationship Id="rId1" Type="http://schemas.openxmlformats.org/officeDocument/2006/relationships/oleObject" Target="../embeddings/oleObject53.bin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5.bin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wmf"/><Relationship Id="rId1" Type="http://schemas.openxmlformats.org/officeDocument/2006/relationships/oleObject" Target="../embeddings/oleObject56.bin"/></Relationships>
</file>

<file path=ppt/slides/_rels/slide1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wmf"/><Relationship Id="rId1" Type="http://schemas.openxmlformats.org/officeDocument/2006/relationships/oleObject" Target="../embeddings/oleObject57.bin"/></Relationships>
</file>

<file path=ppt/slides/_rels/slide1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emf"/><Relationship Id="rId1" Type="http://schemas.openxmlformats.org/officeDocument/2006/relationships/oleObject" Target="../embeddings/oleObject58.bin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18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8371" name="Rectangle 3"/>
          <p:cNvSpPr>
            <a:spLocks noGrp="1"/>
          </p:cNvSpPr>
          <p:nvPr>
            <p:ph type="subTitle" idx="1"/>
          </p:nvPr>
        </p:nvSpPr>
        <p:spPr>
          <a:xfrm>
            <a:off x="2071688" y="4429125"/>
            <a:ext cx="4464050" cy="20002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kumimoji="1" lang="zh-CN" altLang="en-US" b="1" dirty="0">
                <a:latin typeface="宋体" panose="02010600030101010101" pitchFamily="2" charset="-122"/>
                <a:ea typeface="+mn-ea"/>
                <a:cs typeface="+mn-cs"/>
              </a:rPr>
              <a:t>许 伟 </a:t>
            </a:r>
            <a:endParaRPr kumimoji="1" lang="en-US" altLang="zh-CN" b="1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r>
              <a:rPr kumimoji="1"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教授</a:t>
            </a:r>
            <a:r>
              <a:rPr kumimoji="1" lang="en-US" altLang="zh-CN" sz="2800" dirty="0"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kumimoji="1"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博导</a:t>
            </a:r>
            <a:endParaRPr kumimoji="1"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r>
              <a:rPr kumimoji="1"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中国人民大学信息学院</a:t>
            </a:r>
            <a:endParaRPr kumimoji="1"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58372" name="Rectangle 2"/>
          <p:cNvSpPr>
            <a:spLocks noGrp="1"/>
          </p:cNvSpPr>
          <p:nvPr>
            <p:ph type="ctrTitle"/>
          </p:nvPr>
        </p:nvSpPr>
        <p:spPr>
          <a:xfrm>
            <a:off x="1857375" y="1857375"/>
            <a:ext cx="4800600" cy="1455738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6000" dirty="0"/>
              <a:t>运筹学</a:t>
            </a:r>
            <a:endParaRPr lang="zh-CN" altLang="en-US" sz="60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394" name="Picture 1026" descr="7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9315" name="Text Box 1027"/>
          <p:cNvSpPr txBox="1">
            <a:spLocks noChangeArrowheads="1"/>
          </p:cNvSpPr>
          <p:nvPr/>
        </p:nvSpPr>
        <p:spPr bwMode="auto">
          <a:xfrm>
            <a:off x="0" y="0"/>
            <a:ext cx="9144000" cy="71310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60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第三章   运输问题</a:t>
            </a:r>
            <a:endParaRPr kumimoji="1" lang="zh-CN" altLang="en-US" sz="60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en-US" sz="60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运输问题是线性规划问题，由于其</a:t>
            </a:r>
            <a:endParaRPr kumimoji="1" lang="zh-CN" altLang="en-US" sz="40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约束条件的特殊性，产生了特殊的解法。</a:t>
            </a:r>
            <a:endParaRPr kumimoji="1" lang="zh-CN" altLang="en-US" sz="40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en-US" sz="40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en-US" sz="40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en-US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44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3-1      </a:t>
            </a:r>
            <a:r>
              <a:rPr kumimoji="1" lang="zh-CN" altLang="en-US" sz="44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运输问题</a:t>
            </a:r>
            <a:endParaRPr kumimoji="1" lang="zh-CN" altLang="en-US" sz="4400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问题的提出</a:t>
            </a:r>
            <a:endParaRPr kumimoji="1" lang="zh-CN" altLang="en-US" sz="4000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从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个发点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1, 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2, …..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向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个收点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1, 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2….. 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发送某种货物。 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发点的发量为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收点的收量为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。由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运往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单位货物的运费为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ij</a:t>
            </a:r>
            <a:r>
              <a:rPr kumimoji="1" lang="zh-CN" altLang="en-US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运往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货物的运量为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ij</a:t>
            </a:r>
            <a:r>
              <a:rPr kumimoji="1" lang="zh-CN" altLang="en-US" sz="40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r>
              <a:rPr kumimoji="1" lang="zh-CN" altLang="en-US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问如何调配，才能使运费最省？</a:t>
            </a:r>
            <a:endParaRPr kumimoji="1" lang="zh-CN" altLang="en-US" sz="40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en-US" sz="40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en-US" altLang="zh-CN" sz="40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642938" y="1285875"/>
            <a:ext cx="8072438" cy="3786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40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当发点的发量总和为</a:t>
            </a: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4000" b="1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4000" b="1" kern="1200" cap="none" spc="0" normalizeH="0" baseline="-2500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40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收点的收量总和为</a:t>
            </a: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4000" b="1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4000" b="1" kern="1200" cap="none" spc="0" normalizeH="0" baseline="-2500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相等时，称此运输问题为平衡运输问题。否则称此运输问题为非平衡运输问题。</a:t>
            </a:r>
            <a:r>
              <a:rPr kumimoji="1" lang="zh-CN" altLang="en-US" sz="40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若没有特别说明，均假定运输问题为平衡的运输问题。</a:t>
            </a:r>
            <a:endParaRPr kumimoji="1" lang="zh-CN" altLang="en-US" sz="40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Line 2"/>
          <p:cNvSpPr/>
          <p:nvPr/>
        </p:nvSpPr>
        <p:spPr>
          <a:xfrm>
            <a:off x="1143000" y="457200"/>
            <a:ext cx="708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67" name="Line 3"/>
          <p:cNvSpPr/>
          <p:nvPr/>
        </p:nvSpPr>
        <p:spPr>
          <a:xfrm>
            <a:off x="1066800" y="1219200"/>
            <a:ext cx="708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68" name="Line 4"/>
          <p:cNvSpPr/>
          <p:nvPr/>
        </p:nvSpPr>
        <p:spPr>
          <a:xfrm>
            <a:off x="1066800" y="5562600"/>
            <a:ext cx="708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69" name="Line 5"/>
          <p:cNvSpPr/>
          <p:nvPr/>
        </p:nvSpPr>
        <p:spPr>
          <a:xfrm>
            <a:off x="990600" y="4800600"/>
            <a:ext cx="708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0" name="Text Box 6"/>
          <p:cNvSpPr txBox="1"/>
          <p:nvPr/>
        </p:nvSpPr>
        <p:spPr>
          <a:xfrm>
            <a:off x="1371600" y="457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销地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471" name="Text Box 7"/>
          <p:cNvSpPr txBox="1"/>
          <p:nvPr/>
        </p:nvSpPr>
        <p:spPr>
          <a:xfrm>
            <a:off x="914400" y="838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产地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472" name="Text Box 8"/>
          <p:cNvSpPr txBox="1"/>
          <p:nvPr/>
        </p:nvSpPr>
        <p:spPr>
          <a:xfrm>
            <a:off x="777875" y="1524000"/>
            <a:ext cx="671513" cy="26670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1      2      …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2473" name="Text Box 9"/>
          <p:cNvSpPr txBox="1"/>
          <p:nvPr/>
        </p:nvSpPr>
        <p:spPr>
          <a:xfrm>
            <a:off x="685800" y="4191000"/>
            <a:ext cx="1066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m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62474" name="Text Box 10"/>
          <p:cNvSpPr txBox="1"/>
          <p:nvPr/>
        </p:nvSpPr>
        <p:spPr>
          <a:xfrm>
            <a:off x="2438400" y="533400"/>
            <a:ext cx="6248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1          2       …          n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62475" name="Line 11"/>
          <p:cNvSpPr/>
          <p:nvPr/>
        </p:nvSpPr>
        <p:spPr>
          <a:xfrm>
            <a:off x="2133600" y="457200"/>
            <a:ext cx="0" cy="5105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6" name="Line 12"/>
          <p:cNvSpPr/>
          <p:nvPr/>
        </p:nvSpPr>
        <p:spPr>
          <a:xfrm>
            <a:off x="6705600" y="533400"/>
            <a:ext cx="0" cy="5105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7" name="Text Box 13"/>
          <p:cNvSpPr txBox="1"/>
          <p:nvPr/>
        </p:nvSpPr>
        <p:spPr>
          <a:xfrm>
            <a:off x="990600" y="5029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销量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478" name="Text Box 15"/>
          <p:cNvSpPr txBox="1"/>
          <p:nvPr/>
        </p:nvSpPr>
        <p:spPr>
          <a:xfrm>
            <a:off x="6934200" y="6858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产量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479" name="Text Box 17"/>
          <p:cNvSpPr txBox="1"/>
          <p:nvPr/>
        </p:nvSpPr>
        <p:spPr>
          <a:xfrm>
            <a:off x="6858000" y="15240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en-US" altLang="zh-CN" sz="1200" dirty="0">
                <a:latin typeface="Times New Roman" panose="02020603050405020304" pitchFamily="18" charset="0"/>
              </a:rPr>
              <a:t>1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62480" name="Text Box 18"/>
          <p:cNvSpPr txBox="1"/>
          <p:nvPr/>
        </p:nvSpPr>
        <p:spPr>
          <a:xfrm>
            <a:off x="6858000" y="22860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en-US" altLang="zh-CN" sz="1200" dirty="0">
                <a:latin typeface="Times New Roman" panose="02020603050405020304" pitchFamily="18" charset="0"/>
              </a:rPr>
              <a:t>2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62481" name="Text Box 19"/>
          <p:cNvSpPr txBox="1"/>
          <p:nvPr/>
        </p:nvSpPr>
        <p:spPr>
          <a:xfrm>
            <a:off x="6781800" y="40386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en-US" altLang="zh-CN" sz="1200" dirty="0">
                <a:latin typeface="Times New Roman" panose="02020603050405020304" pitchFamily="18" charset="0"/>
              </a:rPr>
              <a:t>m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62482" name="Text Box 21"/>
          <p:cNvSpPr txBox="1"/>
          <p:nvPr/>
        </p:nvSpPr>
        <p:spPr>
          <a:xfrm>
            <a:off x="6858000" y="2743200"/>
            <a:ext cx="671513" cy="1219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…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2483" name="Text Box 23"/>
          <p:cNvSpPr txBox="1"/>
          <p:nvPr/>
        </p:nvSpPr>
        <p:spPr>
          <a:xfrm>
            <a:off x="2209800" y="4876800"/>
            <a:ext cx="6248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b</a:t>
            </a:r>
            <a:r>
              <a:rPr lang="en-US" altLang="zh-CN" sz="12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         b </a:t>
            </a:r>
            <a:r>
              <a:rPr lang="en-US" altLang="zh-CN" sz="12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       …          b </a:t>
            </a:r>
            <a:r>
              <a:rPr lang="en-US" altLang="zh-CN" sz="1200" dirty="0">
                <a:latin typeface="Times New Roman" panose="02020603050405020304" pitchFamily="18" charset="0"/>
              </a:rPr>
              <a:t>n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2484" name="Text Box 25"/>
          <p:cNvSpPr txBox="1"/>
          <p:nvPr/>
        </p:nvSpPr>
        <p:spPr>
          <a:xfrm>
            <a:off x="2362200" y="2514600"/>
            <a:ext cx="4419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c</a:t>
            </a:r>
            <a:r>
              <a:rPr lang="en-US" altLang="zh-CN" sz="1200" dirty="0">
                <a:latin typeface="Times New Roman" panose="02020603050405020304" pitchFamily="18" charset="0"/>
              </a:rPr>
              <a:t>21</a:t>
            </a:r>
            <a:r>
              <a:rPr lang="en-US" altLang="zh-CN" sz="3200" dirty="0">
                <a:latin typeface="Times New Roman" panose="02020603050405020304" pitchFamily="18" charset="0"/>
              </a:rPr>
              <a:t>         c</a:t>
            </a:r>
            <a:r>
              <a:rPr lang="en-US" altLang="zh-CN" sz="1200" dirty="0">
                <a:latin typeface="Times New Roman" panose="02020603050405020304" pitchFamily="18" charset="0"/>
              </a:rPr>
              <a:t>22</a:t>
            </a:r>
            <a:r>
              <a:rPr lang="en-US" altLang="zh-CN" sz="3200" dirty="0">
                <a:latin typeface="Times New Roman" panose="02020603050405020304" pitchFamily="18" charset="0"/>
              </a:rPr>
              <a:t>       …          c</a:t>
            </a:r>
            <a:r>
              <a:rPr lang="en-US" altLang="zh-CN" sz="1200" dirty="0">
                <a:latin typeface="Times New Roman" panose="02020603050405020304" pitchFamily="18" charset="0"/>
              </a:rPr>
              <a:t>2n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2485" name="Text Box 26"/>
          <p:cNvSpPr txBox="1"/>
          <p:nvPr/>
        </p:nvSpPr>
        <p:spPr>
          <a:xfrm>
            <a:off x="2362200" y="4114800"/>
            <a:ext cx="4419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c</a:t>
            </a:r>
            <a:r>
              <a:rPr lang="en-US" altLang="zh-CN" sz="1200" dirty="0">
                <a:latin typeface="Times New Roman" panose="02020603050405020304" pitchFamily="18" charset="0"/>
              </a:rPr>
              <a:t>m1</a:t>
            </a:r>
            <a:r>
              <a:rPr lang="en-US" altLang="zh-CN" sz="3200" dirty="0">
                <a:latin typeface="Times New Roman" panose="02020603050405020304" pitchFamily="18" charset="0"/>
              </a:rPr>
              <a:t>         c</a:t>
            </a:r>
            <a:r>
              <a:rPr lang="en-US" altLang="zh-CN" sz="1200" dirty="0">
                <a:latin typeface="Times New Roman" panose="02020603050405020304" pitchFamily="18" charset="0"/>
              </a:rPr>
              <a:t>m2</a:t>
            </a:r>
            <a:r>
              <a:rPr lang="en-US" altLang="zh-CN" sz="3200" dirty="0">
                <a:latin typeface="Times New Roman" panose="02020603050405020304" pitchFamily="18" charset="0"/>
              </a:rPr>
              <a:t>       …          c</a:t>
            </a:r>
            <a:r>
              <a:rPr lang="en-US" altLang="zh-CN" sz="1200" dirty="0">
                <a:latin typeface="Times New Roman" panose="02020603050405020304" pitchFamily="18" charset="0"/>
              </a:rPr>
              <a:t>mn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2486" name="Text Box 27"/>
          <p:cNvSpPr txBox="1"/>
          <p:nvPr/>
        </p:nvSpPr>
        <p:spPr>
          <a:xfrm>
            <a:off x="2438400" y="1524000"/>
            <a:ext cx="457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c</a:t>
            </a:r>
            <a:r>
              <a:rPr lang="en-US" altLang="zh-CN" sz="1200" dirty="0">
                <a:latin typeface="Times New Roman" panose="02020603050405020304" pitchFamily="18" charset="0"/>
              </a:rPr>
              <a:t>11</a:t>
            </a:r>
            <a:r>
              <a:rPr lang="en-US" altLang="zh-CN" sz="3200" dirty="0">
                <a:latin typeface="Times New Roman" panose="02020603050405020304" pitchFamily="18" charset="0"/>
              </a:rPr>
              <a:t>         c</a:t>
            </a:r>
            <a:r>
              <a:rPr lang="en-US" altLang="zh-CN" sz="1200" dirty="0">
                <a:latin typeface="Times New Roman" panose="02020603050405020304" pitchFamily="18" charset="0"/>
              </a:rPr>
              <a:t>12</a:t>
            </a:r>
            <a:r>
              <a:rPr lang="en-US" altLang="zh-CN" sz="3200" dirty="0">
                <a:latin typeface="Times New Roman" panose="02020603050405020304" pitchFamily="18" charset="0"/>
              </a:rPr>
              <a:t>       …         c</a:t>
            </a:r>
            <a:r>
              <a:rPr lang="en-US" altLang="zh-CN" sz="1200" dirty="0">
                <a:latin typeface="Times New Roman" panose="02020603050405020304" pitchFamily="18" charset="0"/>
              </a:rPr>
              <a:t>1n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2487" name="Text Box 28"/>
          <p:cNvSpPr txBox="1"/>
          <p:nvPr/>
        </p:nvSpPr>
        <p:spPr>
          <a:xfrm>
            <a:off x="3733800" y="3048000"/>
            <a:ext cx="671513" cy="1219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…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1021" name="Text Box 29"/>
          <p:cNvSpPr txBox="1">
            <a:spLocks noChangeArrowheads="1"/>
          </p:cNvSpPr>
          <p:nvPr/>
        </p:nvSpPr>
        <p:spPr bwMode="auto">
          <a:xfrm>
            <a:off x="1219200" y="5715000"/>
            <a:ext cx="45720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44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12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ij</a:t>
            </a:r>
            <a:r>
              <a:rPr kumimoji="1" lang="en-US" altLang="zh-CN" sz="32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zh-CN" altLang="en-US" sz="32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为运价</a:t>
            </a:r>
            <a:endParaRPr kumimoji="1" lang="zh-CN" altLang="en-US" sz="1200" b="1" kern="1200" cap="none" spc="0" normalizeH="0" baseline="0" noProof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Line 2"/>
          <p:cNvSpPr/>
          <p:nvPr/>
        </p:nvSpPr>
        <p:spPr>
          <a:xfrm>
            <a:off x="1143000" y="457200"/>
            <a:ext cx="708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1" name="Line 3"/>
          <p:cNvSpPr/>
          <p:nvPr/>
        </p:nvSpPr>
        <p:spPr>
          <a:xfrm>
            <a:off x="1066800" y="1219200"/>
            <a:ext cx="708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2" name="Line 4"/>
          <p:cNvSpPr/>
          <p:nvPr/>
        </p:nvSpPr>
        <p:spPr>
          <a:xfrm>
            <a:off x="1066800" y="5562600"/>
            <a:ext cx="708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3" name="Line 5"/>
          <p:cNvSpPr/>
          <p:nvPr/>
        </p:nvSpPr>
        <p:spPr>
          <a:xfrm>
            <a:off x="990600" y="4800600"/>
            <a:ext cx="7086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4" name="Text Box 6"/>
          <p:cNvSpPr txBox="1"/>
          <p:nvPr/>
        </p:nvSpPr>
        <p:spPr>
          <a:xfrm>
            <a:off x="1371600" y="457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销地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3495" name="Text Box 7"/>
          <p:cNvSpPr txBox="1"/>
          <p:nvPr/>
        </p:nvSpPr>
        <p:spPr>
          <a:xfrm>
            <a:off x="914400" y="838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产地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3496" name="Text Box 8"/>
          <p:cNvSpPr txBox="1"/>
          <p:nvPr/>
        </p:nvSpPr>
        <p:spPr>
          <a:xfrm>
            <a:off x="777875" y="1524000"/>
            <a:ext cx="671513" cy="26670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1      2      …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3497" name="Text Box 9"/>
          <p:cNvSpPr txBox="1"/>
          <p:nvPr/>
        </p:nvSpPr>
        <p:spPr>
          <a:xfrm>
            <a:off x="685800" y="4191000"/>
            <a:ext cx="1066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m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63498" name="Line 10"/>
          <p:cNvSpPr/>
          <p:nvPr/>
        </p:nvSpPr>
        <p:spPr>
          <a:xfrm>
            <a:off x="2133600" y="457200"/>
            <a:ext cx="0" cy="5105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9" name="Line 11"/>
          <p:cNvSpPr/>
          <p:nvPr/>
        </p:nvSpPr>
        <p:spPr>
          <a:xfrm>
            <a:off x="6705600" y="533400"/>
            <a:ext cx="0" cy="5105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00" name="Text Box 12"/>
          <p:cNvSpPr txBox="1"/>
          <p:nvPr/>
        </p:nvSpPr>
        <p:spPr>
          <a:xfrm>
            <a:off x="990600" y="5029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销量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3501" name="Text Box 13"/>
          <p:cNvSpPr txBox="1"/>
          <p:nvPr/>
        </p:nvSpPr>
        <p:spPr>
          <a:xfrm>
            <a:off x="6934200" y="6858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产量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3502" name="Text Box 14"/>
          <p:cNvSpPr txBox="1"/>
          <p:nvPr/>
        </p:nvSpPr>
        <p:spPr>
          <a:xfrm>
            <a:off x="6858000" y="15240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en-US" altLang="zh-CN" sz="1200" dirty="0">
                <a:latin typeface="Times New Roman" panose="02020603050405020304" pitchFamily="18" charset="0"/>
              </a:rPr>
              <a:t>1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63503" name="Text Box 15"/>
          <p:cNvSpPr txBox="1"/>
          <p:nvPr/>
        </p:nvSpPr>
        <p:spPr>
          <a:xfrm>
            <a:off x="6858000" y="22860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en-US" altLang="zh-CN" sz="1200" dirty="0">
                <a:latin typeface="Times New Roman" panose="02020603050405020304" pitchFamily="18" charset="0"/>
              </a:rPr>
              <a:t>2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63504" name="Text Box 16"/>
          <p:cNvSpPr txBox="1"/>
          <p:nvPr/>
        </p:nvSpPr>
        <p:spPr>
          <a:xfrm>
            <a:off x="6781800" y="40386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latin typeface="Times New Roman" panose="02020603050405020304" pitchFamily="18" charset="0"/>
              </a:rPr>
              <a:t>a</a:t>
            </a:r>
            <a:r>
              <a:rPr lang="en-US" altLang="zh-CN" sz="1200" dirty="0">
                <a:latin typeface="Times New Roman" panose="02020603050405020304" pitchFamily="18" charset="0"/>
              </a:rPr>
              <a:t>m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63505" name="Text Box 17"/>
          <p:cNvSpPr txBox="1"/>
          <p:nvPr/>
        </p:nvSpPr>
        <p:spPr>
          <a:xfrm>
            <a:off x="6858000" y="2743200"/>
            <a:ext cx="671513" cy="1219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…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3506" name="Text Box 18"/>
          <p:cNvSpPr txBox="1"/>
          <p:nvPr/>
        </p:nvSpPr>
        <p:spPr>
          <a:xfrm>
            <a:off x="2362200" y="2514600"/>
            <a:ext cx="4419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x</a:t>
            </a:r>
            <a:r>
              <a:rPr lang="en-US" altLang="zh-CN" sz="1200" dirty="0">
                <a:latin typeface="Times New Roman" panose="02020603050405020304" pitchFamily="18" charset="0"/>
              </a:rPr>
              <a:t>21</a:t>
            </a:r>
            <a:r>
              <a:rPr lang="en-US" altLang="zh-CN" sz="3200" dirty="0">
                <a:latin typeface="Times New Roman" panose="02020603050405020304" pitchFamily="18" charset="0"/>
              </a:rPr>
              <a:t>         x</a:t>
            </a:r>
            <a:r>
              <a:rPr lang="en-US" altLang="zh-CN" sz="1200" dirty="0">
                <a:latin typeface="Times New Roman" panose="02020603050405020304" pitchFamily="18" charset="0"/>
              </a:rPr>
              <a:t>22</a:t>
            </a:r>
            <a:r>
              <a:rPr lang="en-US" altLang="zh-CN" sz="3200" dirty="0">
                <a:latin typeface="Times New Roman" panose="02020603050405020304" pitchFamily="18" charset="0"/>
              </a:rPr>
              <a:t>       …        x</a:t>
            </a:r>
            <a:r>
              <a:rPr lang="en-US" altLang="zh-CN" sz="1200" dirty="0">
                <a:latin typeface="Times New Roman" panose="02020603050405020304" pitchFamily="18" charset="0"/>
              </a:rPr>
              <a:t>2n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3507" name="Text Box 19"/>
          <p:cNvSpPr txBox="1"/>
          <p:nvPr/>
        </p:nvSpPr>
        <p:spPr>
          <a:xfrm>
            <a:off x="2362200" y="4114800"/>
            <a:ext cx="4419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x</a:t>
            </a:r>
            <a:r>
              <a:rPr lang="en-US" altLang="zh-CN" sz="1200" dirty="0">
                <a:latin typeface="Times New Roman" panose="02020603050405020304" pitchFamily="18" charset="0"/>
              </a:rPr>
              <a:t>m1</a:t>
            </a:r>
            <a:r>
              <a:rPr lang="en-US" altLang="zh-CN" sz="3200" dirty="0">
                <a:latin typeface="Times New Roman" panose="02020603050405020304" pitchFamily="18" charset="0"/>
              </a:rPr>
              <a:t>         x</a:t>
            </a:r>
            <a:r>
              <a:rPr lang="en-US" altLang="zh-CN" sz="1200" dirty="0">
                <a:latin typeface="Times New Roman" panose="02020603050405020304" pitchFamily="18" charset="0"/>
              </a:rPr>
              <a:t>m2</a:t>
            </a:r>
            <a:r>
              <a:rPr lang="en-US" altLang="zh-CN" sz="3200" dirty="0">
                <a:latin typeface="Times New Roman" panose="02020603050405020304" pitchFamily="18" charset="0"/>
              </a:rPr>
              <a:t>       …         x</a:t>
            </a:r>
            <a:r>
              <a:rPr lang="en-US" altLang="zh-CN" sz="1200" dirty="0">
                <a:latin typeface="Times New Roman" panose="02020603050405020304" pitchFamily="18" charset="0"/>
              </a:rPr>
              <a:t>mn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3508" name="Text Box 20"/>
          <p:cNvSpPr txBox="1"/>
          <p:nvPr/>
        </p:nvSpPr>
        <p:spPr>
          <a:xfrm>
            <a:off x="2438400" y="1524000"/>
            <a:ext cx="457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x</a:t>
            </a:r>
            <a:r>
              <a:rPr lang="en-US" altLang="zh-CN" sz="1200" dirty="0">
                <a:latin typeface="Times New Roman" panose="02020603050405020304" pitchFamily="18" charset="0"/>
              </a:rPr>
              <a:t>11</a:t>
            </a:r>
            <a:r>
              <a:rPr lang="en-US" altLang="zh-CN" sz="3200" dirty="0">
                <a:latin typeface="Times New Roman" panose="02020603050405020304" pitchFamily="18" charset="0"/>
              </a:rPr>
              <a:t>       x</a:t>
            </a:r>
            <a:r>
              <a:rPr lang="en-US" altLang="zh-CN" sz="1200" dirty="0">
                <a:latin typeface="Times New Roman" panose="02020603050405020304" pitchFamily="18" charset="0"/>
              </a:rPr>
              <a:t>12</a:t>
            </a:r>
            <a:r>
              <a:rPr lang="en-US" altLang="zh-CN" sz="3200" dirty="0">
                <a:latin typeface="Times New Roman" panose="02020603050405020304" pitchFamily="18" charset="0"/>
              </a:rPr>
              <a:t>       …         x</a:t>
            </a:r>
            <a:r>
              <a:rPr lang="en-US" altLang="zh-CN" sz="1200" dirty="0">
                <a:latin typeface="Times New Roman" panose="02020603050405020304" pitchFamily="18" charset="0"/>
              </a:rPr>
              <a:t>1n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3509" name="Text Box 21"/>
          <p:cNvSpPr txBox="1"/>
          <p:nvPr/>
        </p:nvSpPr>
        <p:spPr>
          <a:xfrm>
            <a:off x="3733800" y="3048000"/>
            <a:ext cx="671513" cy="1219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     …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2038" name="Text Box 22"/>
          <p:cNvSpPr txBox="1">
            <a:spLocks noChangeArrowheads="1"/>
          </p:cNvSpPr>
          <p:nvPr/>
        </p:nvSpPr>
        <p:spPr bwMode="auto">
          <a:xfrm>
            <a:off x="1219200" y="5791200"/>
            <a:ext cx="45720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44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16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ij</a:t>
            </a:r>
            <a:r>
              <a:rPr kumimoji="1" lang="en-US" altLang="zh-CN" sz="32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zh-CN" altLang="en-US" sz="32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为运量</a:t>
            </a:r>
            <a:endParaRPr kumimoji="1" lang="zh-CN" altLang="en-US" sz="1200" b="1" kern="1200" cap="none" spc="0" normalizeH="0" baseline="0" noProof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511" name="Text Box 23"/>
          <p:cNvSpPr txBox="1"/>
          <p:nvPr/>
        </p:nvSpPr>
        <p:spPr>
          <a:xfrm>
            <a:off x="2209800" y="4876800"/>
            <a:ext cx="6248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b</a:t>
            </a:r>
            <a:r>
              <a:rPr lang="en-US" altLang="zh-CN" sz="1200" dirty="0">
                <a:latin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</a:rPr>
              <a:t>         b </a:t>
            </a:r>
            <a:r>
              <a:rPr lang="en-US" altLang="zh-CN" sz="1200" dirty="0"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</a:rPr>
              <a:t>       …          b </a:t>
            </a:r>
            <a:r>
              <a:rPr lang="en-US" altLang="zh-CN" sz="1200" dirty="0">
                <a:latin typeface="Times New Roman" panose="02020603050405020304" pitchFamily="18" charset="0"/>
              </a:rPr>
              <a:t>n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3512" name="Text Box 24"/>
          <p:cNvSpPr txBox="1"/>
          <p:nvPr/>
        </p:nvSpPr>
        <p:spPr>
          <a:xfrm>
            <a:off x="2438400" y="533400"/>
            <a:ext cx="6248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1          2       …          n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288925"/>
            <a:ext cx="8305800" cy="6202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运输问题的数学模型：</a:t>
            </a:r>
            <a:endParaRPr kumimoji="1" lang="zh-CN" altLang="en-US" sz="40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  S=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  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</a:t>
            </a:r>
            <a:r>
              <a:rPr kumimoji="1" lang="en-US" altLang="zh-CN" sz="54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ij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54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ij</a:t>
            </a:r>
            <a:endParaRPr kumimoji="1" lang="en-US" altLang="zh-CN" sz="6000" b="1" kern="1200" cap="none" spc="0" normalizeH="0" baseline="-2500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                                  </a:t>
            </a:r>
            <a:r>
              <a:rPr kumimoji="1" lang="en-US" altLang="zh-CN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       j</a:t>
            </a:r>
            <a:endParaRPr kumimoji="1" lang="en-US" altLang="zh-CN" sz="60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6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   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x</a:t>
            </a:r>
            <a:r>
              <a:rPr kumimoji="1" lang="en-US" altLang="zh-CN" sz="54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ij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=a</a:t>
            </a:r>
            <a:r>
              <a:rPr kumimoji="1" lang="en-US" altLang="zh-CN" sz="54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 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(i=1,2…..m)</a:t>
            </a:r>
            <a:endParaRPr kumimoji="1" lang="en-US" altLang="zh-CN" sz="6000" b="1" kern="1200" cap="none" spc="0" normalizeH="0" baseline="-2500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6000" b="1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1" lang="en-US" altLang="zh-CN" sz="3200" b="1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endParaRPr kumimoji="1" lang="en-US" altLang="zh-CN" sz="6000" b="1" kern="1200" cap="none" spc="0" normalizeH="0" baseline="-2500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6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   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x</a:t>
            </a:r>
            <a:r>
              <a:rPr kumimoji="1" lang="en-US" altLang="zh-CN" sz="54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ij  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=b</a:t>
            </a:r>
            <a:r>
              <a:rPr kumimoji="1" lang="en-US" altLang="zh-CN" sz="54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 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(j=1,2……n)</a:t>
            </a:r>
            <a:endParaRPr kumimoji="1" lang="en-US" altLang="zh-CN" sz="6000" b="1" kern="1200" cap="none" spc="0" normalizeH="0" baseline="-2500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i</a:t>
            </a:r>
            <a:endParaRPr kumimoji="1" lang="en-US" altLang="zh-CN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6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54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ij 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</a:t>
            </a:r>
            <a:r>
              <a:rPr kumimoji="1" lang="en-US" altLang="zh-CN" sz="5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</a:t>
            </a:r>
            <a:r>
              <a:rPr kumimoji="1" lang="en-US" altLang="zh-CN" sz="40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(i=1,2…..m; j=1,2……n)</a:t>
            </a:r>
            <a:endParaRPr kumimoji="1" lang="en-US" altLang="zh-CN" sz="40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9730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8839200" cy="1182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运输问题数学模型系数阵为：</a:t>
            </a:r>
            <a:endParaRPr kumimoji="1" lang="zh-CN" altLang="en-US" sz="40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en-US" altLang="zh-CN" sz="3200" b="1" kern="1200" cap="none" spc="0" normalizeH="0" baseline="30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26" name="Object 3"/>
          <p:cNvGraphicFramePr/>
          <p:nvPr/>
        </p:nvGraphicFramePr>
        <p:xfrm>
          <a:off x="536575" y="1143000"/>
          <a:ext cx="8607425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4318000" imgH="2082800" progId="Equation.3">
                  <p:embed/>
                </p:oleObj>
              </mc:Choice>
              <mc:Fallback>
                <p:oleObj name="" r:id="rId1" imgW="4318000" imgH="2082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6575" y="1143000"/>
                        <a:ext cx="8607425" cy="487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8839200" cy="6284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en-US" altLang="zh-CN" sz="40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en-US" altLang="zh-CN" sz="40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且共有 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m+n  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个约束方程。</a:t>
            </a: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并成立：</a:t>
            </a: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所以模型最多只有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m+n-1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个独立约束方程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系数矩阵的秩  ≤ 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m+n-1</a:t>
            </a:r>
            <a:endParaRPr kumimoji="1" lang="en-US" altLang="zh-CN" sz="3600" b="1" kern="1200" cap="none" spc="0" normalizeH="0" baseline="30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50" name="Object 3"/>
          <p:cNvGraphicFramePr/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14300" imgH="215265" progId="Equation.3">
                  <p:embed/>
                </p:oleObj>
              </mc:Choice>
              <mc:Fallback>
                <p:oleObj name="" r:id="rId1" imgW="114300" imgH="21526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/>
          <p:nvPr/>
        </p:nvGraphicFramePr>
        <p:xfrm>
          <a:off x="1600200" y="3429000"/>
          <a:ext cx="698023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246630" imgH="444500" progId="Equation.3">
                  <p:embed/>
                </p:oleObj>
              </mc:Choice>
              <mc:Fallback>
                <p:oleObj name="" r:id="rId3" imgW="2246630" imgH="4445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3429000"/>
                        <a:ext cx="6980238" cy="144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7"/>
          <p:cNvGraphicFramePr/>
          <p:nvPr/>
        </p:nvGraphicFramePr>
        <p:xfrm>
          <a:off x="762000" y="669925"/>
          <a:ext cx="72390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1851660" imgH="266065" progId="Equation.3">
                  <p:embed/>
                </p:oleObj>
              </mc:Choice>
              <mc:Fallback>
                <p:oleObj name="" r:id="rId5" imgW="1851660" imgH="2660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0" y="669925"/>
                        <a:ext cx="7239000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990600" y="609600"/>
            <a:ext cx="73152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运输问题的图表形式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074" name="Object 3"/>
          <p:cNvGraphicFramePr/>
          <p:nvPr/>
        </p:nvGraphicFramePr>
        <p:xfrm>
          <a:off x="1524000" y="2057400"/>
          <a:ext cx="6059488" cy="459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6062345" imgH="2258695" progId="Word.Document.8">
                  <p:embed/>
                </p:oleObj>
              </mc:Choice>
              <mc:Fallback>
                <p:oleObj name="" r:id="rId1" imgW="6062345" imgH="2258695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2057400"/>
                        <a:ext cx="6059488" cy="4598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295400" y="990600"/>
            <a:ext cx="6705600" cy="57070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运输问题解的结构</a:t>
            </a:r>
            <a:endParaRPr kumimoji="1" lang="zh-CN" altLang="en-US" sz="40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54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由于</a:t>
            </a:r>
            <a:r>
              <a:rPr kumimoji="1" lang="zh-CN" altLang="en-US" sz="54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 </a:t>
            </a:r>
            <a:r>
              <a:rPr kumimoji="1" lang="zh-CN" altLang="en-US" sz="54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5400" b="1" kern="1200" cap="none" spc="0" normalizeH="0" baseline="0" noProof="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5400" b="1" kern="1200" cap="none" spc="0" normalizeH="0" baseline="-25000" noProof="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54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54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1" lang="en-US" altLang="zh-CN" sz="54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</a:t>
            </a:r>
            <a:r>
              <a:rPr kumimoji="1" lang="en-US" altLang="zh-CN" sz="54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5400" b="1" kern="1200" cap="none" spc="0" normalizeH="0" baseline="0" noProof="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5400" b="1" kern="1200" cap="none" spc="0" normalizeH="0" baseline="-25000" noProof="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成立</a:t>
            </a:r>
            <a:endParaRPr kumimoji="1" lang="zh-CN" altLang="en-US" sz="5400" b="1" kern="1200" cap="none" spc="0" normalizeH="0" baseline="-2500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30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</a:t>
            </a:r>
            <a:r>
              <a:rPr kumimoji="1" lang="en-US" altLang="zh-CN" sz="3200" b="1" kern="1200" cap="none" spc="0" normalizeH="0" baseline="30000" noProof="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3200" b="1" kern="1200" cap="none" spc="0" normalizeH="0" baseline="30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   j</a:t>
            </a:r>
            <a:endParaRPr kumimoji="1" lang="en-US" altLang="zh-CN" sz="3200" b="1" kern="1200" cap="none" spc="0" normalizeH="0" baseline="3000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40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其</a:t>
            </a:r>
            <a:r>
              <a:rPr kumimoji="1" lang="en-US" altLang="zh-CN" sz="4000" b="1" kern="1200" cap="none" spc="0" normalizeH="0" baseline="0" noProof="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m+n</a:t>
            </a:r>
            <a:r>
              <a:rPr kumimoji="1" lang="zh-CN" altLang="en-US" sz="40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个约束方程并不是独立的。实际上只有</a:t>
            </a:r>
            <a:r>
              <a:rPr kumimoji="1" lang="en-US" altLang="zh-CN" sz="40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m+n-1</a:t>
            </a:r>
            <a:r>
              <a:rPr kumimoji="1" lang="zh-CN" altLang="en-US" sz="40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个是独立的。即约束方程系数矩阵的秩为</a:t>
            </a:r>
            <a:r>
              <a:rPr kumimoji="1" lang="en-US" altLang="zh-CN" sz="40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m+n-1</a:t>
            </a:r>
            <a:r>
              <a:rPr kumimoji="1" lang="zh-CN" altLang="en-US" sz="40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4000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en-US" altLang="zh-CN" sz="24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1" name="Text Box 5"/>
          <p:cNvSpPr txBox="1"/>
          <p:nvPr/>
        </p:nvSpPr>
        <p:spPr>
          <a:xfrm>
            <a:off x="914400" y="5638800"/>
            <a:ext cx="701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b="1" dirty="0">
                <a:latin typeface="楷体_GB2312" pitchFamily="49" charset="-122"/>
              </a:rPr>
              <a:t>  ⑷.</a:t>
            </a:r>
            <a:r>
              <a:rPr lang="zh-CN" altLang="en-US" b="1" dirty="0">
                <a:latin typeface="楷体_GB2312" pitchFamily="49" charset="-122"/>
              </a:rPr>
              <a:t>重复⑵</a:t>
            </a:r>
            <a:r>
              <a:rPr lang="en-US" altLang="zh-CN" b="1" dirty="0">
                <a:latin typeface="楷体_GB2312" pitchFamily="49" charset="-122"/>
              </a:rPr>
              <a:t>. ⑶</a:t>
            </a:r>
            <a:r>
              <a:rPr lang="zh-CN" altLang="en-US" b="1" dirty="0">
                <a:latin typeface="楷体_GB2312" pitchFamily="49" charset="-122"/>
              </a:rPr>
              <a:t>，直到找到最优解为止。</a:t>
            </a:r>
            <a:endParaRPr lang="zh-CN" altLang="en-US" b="1" dirty="0">
              <a:latin typeface="楷体_GB2312" pitchFamily="49" charset="-122"/>
            </a:endParaRPr>
          </a:p>
        </p:txBody>
      </p:sp>
      <p:sp>
        <p:nvSpPr>
          <p:cNvPr id="9223" name="Rectangle 7"/>
          <p:cNvSpPr/>
          <p:nvPr/>
        </p:nvSpPr>
        <p:spPr>
          <a:xfrm>
            <a:off x="668338" y="121920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楷体_GB2312" pitchFamily="49" charset="-122"/>
              </a:rPr>
              <a:t>步骤：</a:t>
            </a:r>
            <a:endParaRPr lang="zh-CN" altLang="en-US" b="1" dirty="0">
              <a:latin typeface="楷体_GB2312" pitchFamily="49" charset="-122"/>
            </a:endParaRPr>
          </a:p>
        </p:txBody>
      </p:sp>
      <p:sp>
        <p:nvSpPr>
          <p:cNvPr id="9224" name="Rectangle 8"/>
          <p:cNvSpPr/>
          <p:nvPr/>
        </p:nvSpPr>
        <p:spPr>
          <a:xfrm>
            <a:off x="838200" y="1752600"/>
            <a:ext cx="77724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b="1" dirty="0">
                <a:latin typeface="楷体_GB2312" pitchFamily="49" charset="-122"/>
              </a:rPr>
              <a:t>   ⑴.</a:t>
            </a:r>
            <a:r>
              <a:rPr lang="zh-CN" altLang="en-US" b="1" dirty="0">
                <a:latin typeface="楷体_GB2312" pitchFamily="49" charset="-122"/>
              </a:rPr>
              <a:t>找出初始基本可行解（初始调运方案，一般</a:t>
            </a:r>
            <a:r>
              <a:rPr lang="en-US" altLang="zh-CN" b="1" dirty="0">
                <a:latin typeface="楷体_GB2312" pitchFamily="49" charset="-122"/>
              </a:rPr>
              <a:t>m+n-1</a:t>
            </a:r>
            <a:r>
              <a:rPr lang="zh-CN" altLang="en-US" b="1" dirty="0">
                <a:latin typeface="楷体_GB2312" pitchFamily="49" charset="-122"/>
              </a:rPr>
              <a:t>个数字格），用西北角法、最小元素法、沃格尔法；</a:t>
            </a:r>
            <a:endParaRPr lang="zh-CN" altLang="en-US" b="1" dirty="0">
              <a:latin typeface="楷体_GB2312" pitchFamily="49" charset="-122"/>
            </a:endParaRPr>
          </a:p>
        </p:txBody>
      </p:sp>
      <p:sp>
        <p:nvSpPr>
          <p:cNvPr id="9225" name="Rectangle 9"/>
          <p:cNvSpPr/>
          <p:nvPr/>
        </p:nvSpPr>
        <p:spPr>
          <a:xfrm>
            <a:off x="914400" y="2971800"/>
            <a:ext cx="76962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b="1" dirty="0">
                <a:latin typeface="楷体_GB2312" pitchFamily="49" charset="-122"/>
              </a:rPr>
              <a:t>  ⑵.</a:t>
            </a:r>
            <a:r>
              <a:rPr lang="zh-CN" altLang="en-US" b="1" dirty="0">
                <a:latin typeface="楷体_GB2312" pitchFamily="49" charset="-122"/>
              </a:rPr>
              <a:t>求出各非基变量的检验数，判别是否达到最优解。如果是停止计算，否则转入下一步，用位势法计算；</a:t>
            </a:r>
            <a:endParaRPr lang="zh-CN" altLang="en-US" b="1" dirty="0">
              <a:latin typeface="楷体_GB2312" pitchFamily="49" charset="-122"/>
            </a:endParaRPr>
          </a:p>
        </p:txBody>
      </p:sp>
      <p:sp>
        <p:nvSpPr>
          <p:cNvPr id="9226" name="Rectangle 10"/>
          <p:cNvSpPr/>
          <p:nvPr/>
        </p:nvSpPr>
        <p:spPr>
          <a:xfrm>
            <a:off x="914400" y="4495800"/>
            <a:ext cx="7467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b="1" dirty="0">
                <a:latin typeface="楷体_GB2312" pitchFamily="49" charset="-122"/>
              </a:rPr>
              <a:t>  ⑶.</a:t>
            </a:r>
            <a:r>
              <a:rPr lang="zh-CN" altLang="en-US" b="1" dirty="0">
                <a:latin typeface="楷体_GB2312" pitchFamily="49" charset="-122"/>
              </a:rPr>
              <a:t>改进当前的基本可行解（确定换入、换出变量），用闭合回路法调整； </a:t>
            </a:r>
            <a:endParaRPr lang="zh-CN" altLang="en-US" b="1" dirty="0">
              <a:latin typeface="楷体_GB2312" pitchFamily="49" charset="-122"/>
            </a:endParaRPr>
          </a:p>
        </p:txBody>
      </p:sp>
      <p:sp>
        <p:nvSpPr>
          <p:cNvPr id="9227" name="Rectangle 11"/>
          <p:cNvSpPr/>
          <p:nvPr/>
        </p:nvSpPr>
        <p:spPr>
          <a:xfrm>
            <a:off x="1143000" y="6172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500063" y="285750"/>
            <a:ext cx="6667500" cy="646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indent="-45720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3-2    </a:t>
            </a: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运输问题的求解</a:t>
            </a:r>
            <a:endParaRPr kumimoji="1" lang="zh-CN" altLang="en-US" sz="36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/>
      <p:bldP spid="9223" grpId="0"/>
      <p:bldP spid="9224" grpId="0"/>
      <p:bldP spid="9225" grpId="0"/>
      <p:bldP spid="9226" grpId="0"/>
      <p:bldP spid="92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98" name="Object 3"/>
          <p:cNvGraphicFramePr/>
          <p:nvPr/>
        </p:nvGraphicFramePr>
        <p:xfrm>
          <a:off x="2214563" y="2928938"/>
          <a:ext cx="6027737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6003290" imgH="1943100" progId="Word.Document.8">
                  <p:embed/>
                </p:oleObj>
              </mc:Choice>
              <mc:Fallback>
                <p:oleObj name="" r:id="rId1" imgW="6003290" imgH="1943100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14563" y="2928938"/>
                        <a:ext cx="6027737" cy="344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85813" y="285750"/>
            <a:ext cx="6667500" cy="3140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indent="-45720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3-2    </a:t>
            </a: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运输问题的求解</a:t>
            </a:r>
            <a:endParaRPr kumimoji="1" lang="zh-CN" altLang="en-US" sz="36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457200" marR="0" indent="-45720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确定初始方案</a:t>
            </a:r>
            <a:endParaRPr kumimoji="1" lang="zh-CN" altLang="en-US" sz="36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indent="-74295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 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西北角法</a:t>
            </a:r>
            <a:endParaRPr kumimoji="1" lang="en-US" altLang="zh-CN" sz="3600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indent="-74295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endParaRPr kumimoji="1" lang="zh-CN" altLang="en-US" sz="3600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990600" y="457200"/>
            <a:ext cx="7543800" cy="1798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从图的西北角开始，填入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2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2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较小的值， 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2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=2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，即从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2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运给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2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吨）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2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已经满足，划去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2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列，并将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2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=4-2=2</a:t>
            </a:r>
            <a:endParaRPr kumimoji="1" lang="en-US" altLang="zh-CN" sz="3200" b="1" kern="1200" cap="none" spc="0" normalizeH="0" baseline="-2500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2" name="Object 3"/>
          <p:cNvGraphicFramePr/>
          <p:nvPr/>
        </p:nvGraphicFramePr>
        <p:xfrm>
          <a:off x="1379538" y="2890838"/>
          <a:ext cx="6142037" cy="382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2890838"/>
                        <a:ext cx="6142037" cy="3825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Line 4"/>
          <p:cNvSpPr/>
          <p:nvPr/>
        </p:nvSpPr>
        <p:spPr>
          <a:xfrm>
            <a:off x="2971800" y="2895600"/>
            <a:ext cx="0" cy="35052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990600" y="457200"/>
            <a:ext cx="7543800" cy="1570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）左上角格子变为（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2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2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），而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2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需要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吨，而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2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只有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吨，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2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已发完，划去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2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行，并把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2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改成（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4-2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3200" b="1" kern="1200" cap="none" spc="0" normalizeH="0" baseline="-2500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46" name="Object 3"/>
          <p:cNvGraphicFramePr/>
          <p:nvPr/>
        </p:nvGraphicFramePr>
        <p:xfrm>
          <a:off x="1379538" y="2890838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2890838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Line 4"/>
          <p:cNvSpPr/>
          <p:nvPr/>
        </p:nvSpPr>
        <p:spPr>
          <a:xfrm>
            <a:off x="3124200" y="2895600"/>
            <a:ext cx="0" cy="35052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149" name="Line 5"/>
          <p:cNvSpPr/>
          <p:nvPr/>
        </p:nvSpPr>
        <p:spPr>
          <a:xfrm>
            <a:off x="1524000" y="4267200"/>
            <a:ext cx="6172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990600" y="457200"/>
            <a:ext cx="7543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）继续进行</a:t>
            </a:r>
            <a:endParaRPr kumimoji="1" lang="zh-CN" altLang="en-US" sz="32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170" name="Object 3"/>
          <p:cNvGraphicFramePr/>
          <p:nvPr/>
        </p:nvGraphicFramePr>
        <p:xfrm>
          <a:off x="1447800" y="2900363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7800" y="2900363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Line 4"/>
          <p:cNvSpPr/>
          <p:nvPr/>
        </p:nvSpPr>
        <p:spPr>
          <a:xfrm>
            <a:off x="3124200" y="2895600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7173" name="Line 5"/>
          <p:cNvSpPr/>
          <p:nvPr/>
        </p:nvSpPr>
        <p:spPr>
          <a:xfrm>
            <a:off x="4191000" y="2895600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7174" name="Line 6"/>
          <p:cNvSpPr/>
          <p:nvPr/>
        </p:nvSpPr>
        <p:spPr>
          <a:xfrm>
            <a:off x="1447800" y="4191000"/>
            <a:ext cx="63246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990600" y="457200"/>
            <a:ext cx="7543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）继续进行</a:t>
            </a:r>
            <a:endParaRPr kumimoji="1" lang="zh-CN" altLang="en-US" sz="32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194" name="Object 3"/>
          <p:cNvGraphicFramePr/>
          <p:nvPr/>
        </p:nvGraphicFramePr>
        <p:xfrm>
          <a:off x="1379538" y="2890838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2890838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Line 4"/>
          <p:cNvSpPr/>
          <p:nvPr/>
        </p:nvSpPr>
        <p:spPr>
          <a:xfrm>
            <a:off x="3124200" y="2895600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8197" name="Line 5"/>
          <p:cNvSpPr/>
          <p:nvPr/>
        </p:nvSpPr>
        <p:spPr>
          <a:xfrm>
            <a:off x="4038600" y="2971800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8198" name="Line 6"/>
          <p:cNvSpPr/>
          <p:nvPr/>
        </p:nvSpPr>
        <p:spPr>
          <a:xfrm>
            <a:off x="5029200" y="2895600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8199" name="Line 7"/>
          <p:cNvSpPr/>
          <p:nvPr/>
        </p:nvSpPr>
        <p:spPr>
          <a:xfrm>
            <a:off x="1524000" y="4191000"/>
            <a:ext cx="6172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990600" y="457200"/>
            <a:ext cx="7543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）继续进行</a:t>
            </a:r>
            <a:endParaRPr kumimoji="1" lang="zh-CN" altLang="en-US" sz="32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218" name="Object 3"/>
          <p:cNvGraphicFramePr/>
          <p:nvPr/>
        </p:nvGraphicFramePr>
        <p:xfrm>
          <a:off x="1444625" y="2906713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4625" y="2906713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Line 4"/>
          <p:cNvSpPr/>
          <p:nvPr/>
        </p:nvSpPr>
        <p:spPr>
          <a:xfrm>
            <a:off x="3048000" y="2895600"/>
            <a:ext cx="0" cy="35814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9221" name="Line 5"/>
          <p:cNvSpPr/>
          <p:nvPr/>
        </p:nvSpPr>
        <p:spPr>
          <a:xfrm>
            <a:off x="4191000" y="2971800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9222" name="Line 6"/>
          <p:cNvSpPr/>
          <p:nvPr/>
        </p:nvSpPr>
        <p:spPr>
          <a:xfrm>
            <a:off x="5181600" y="2895600"/>
            <a:ext cx="0" cy="35052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9223" name="Line 7"/>
          <p:cNvSpPr/>
          <p:nvPr/>
        </p:nvSpPr>
        <p:spPr>
          <a:xfrm flipV="1">
            <a:off x="1524000" y="4191000"/>
            <a:ext cx="62484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9224" name="Line 8"/>
          <p:cNvSpPr/>
          <p:nvPr/>
        </p:nvSpPr>
        <p:spPr>
          <a:xfrm flipV="1">
            <a:off x="1524000" y="4876800"/>
            <a:ext cx="62484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990600" y="457200"/>
            <a:ext cx="7543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）继续进行</a:t>
            </a:r>
            <a:endParaRPr kumimoji="1" lang="zh-CN" altLang="en-US" sz="32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242" name="Object 3"/>
          <p:cNvGraphicFramePr/>
          <p:nvPr/>
        </p:nvGraphicFramePr>
        <p:xfrm>
          <a:off x="1379538" y="2890838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2890838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990600" y="457200"/>
            <a:ext cx="7543800" cy="1554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）得到初始方案：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23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，总运费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=6*2+5*2+4*2+7*3+5*1+8*3=80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2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266" name="Object 3"/>
          <p:cNvGraphicFramePr/>
          <p:nvPr/>
        </p:nvGraphicFramePr>
        <p:xfrm>
          <a:off x="1379538" y="2890838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2890838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785813" y="285750"/>
            <a:ext cx="6667500" cy="3140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marR="0" indent="-45720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3-2    </a:t>
            </a: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运输问题的求解</a:t>
            </a:r>
            <a:endParaRPr kumimoji="1" lang="zh-CN" altLang="en-US" sz="36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457200" marR="0" indent="-45720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确定初始方案</a:t>
            </a:r>
            <a:endParaRPr kumimoji="1" lang="zh-CN" altLang="en-US" sz="36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indent="-74295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 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最小元素法</a:t>
            </a:r>
            <a:endParaRPr kumimoji="1" lang="en-US" altLang="zh-CN" sz="3600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742950" marR="0" indent="-74295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endParaRPr kumimoji="1" lang="zh-CN" altLang="en-US" sz="3600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290" name="Object 2"/>
          <p:cNvGraphicFramePr/>
          <p:nvPr/>
        </p:nvGraphicFramePr>
        <p:xfrm>
          <a:off x="1901825" y="3143250"/>
          <a:ext cx="6027738" cy="344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6003290" imgH="1943100" progId="Word.Document.8">
                  <p:embed/>
                </p:oleObj>
              </mc:Choice>
              <mc:Fallback>
                <p:oleObj name="" r:id="rId1" imgW="6003290" imgH="1943100" progId="Word.Document.8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1825" y="3143250"/>
                        <a:ext cx="6027738" cy="344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219200" y="601663"/>
            <a:ext cx="6019800" cy="173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）从最小元素开始（</a:t>
            </a:r>
            <a:r>
              <a:rPr kumimoji="1" lang="en-US" altLang="zh-CN" sz="36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）即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优先满足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 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个单位，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 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已经满足，划去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列</a:t>
            </a:r>
            <a:r>
              <a:rPr kumimoji="1" lang="zh-CN" altLang="en-US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endParaRPr kumimoji="1" lang="zh-CN" altLang="en-US" sz="36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314" name="Object 2"/>
          <p:cNvGraphicFramePr/>
          <p:nvPr/>
        </p:nvGraphicFramePr>
        <p:xfrm>
          <a:off x="1527175" y="3054350"/>
          <a:ext cx="5895975" cy="389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6003290" imgH="1943100" progId="Word.Document.8">
                  <p:embed/>
                </p:oleObj>
              </mc:Choice>
              <mc:Fallback>
                <p:oleObj name="" r:id="rId1" imgW="6003290" imgH="1943100" progId="Word.Document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7175" y="3054350"/>
                        <a:ext cx="5895975" cy="3892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Line 4"/>
          <p:cNvSpPr/>
          <p:nvPr/>
        </p:nvSpPr>
        <p:spPr>
          <a:xfrm>
            <a:off x="5181600" y="3048000"/>
            <a:ext cx="0" cy="35052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219200" y="601663"/>
            <a:ext cx="6019800" cy="173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）再从最小元素开始（</a:t>
            </a:r>
            <a:r>
              <a:rPr kumimoji="1" lang="en-US" altLang="zh-CN" sz="36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）即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优先满足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 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个单位，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 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已经满足，划去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行</a:t>
            </a:r>
            <a:r>
              <a:rPr kumimoji="1" lang="zh-CN" altLang="en-US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endParaRPr kumimoji="1" lang="zh-CN" altLang="en-US" sz="36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338" name="Object 2"/>
          <p:cNvGraphicFramePr/>
          <p:nvPr/>
        </p:nvGraphicFramePr>
        <p:xfrm>
          <a:off x="1527175" y="2971800"/>
          <a:ext cx="5895975" cy="389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6003290" imgH="1943100" progId="Word.Document.8">
                  <p:embed/>
                </p:oleObj>
              </mc:Choice>
              <mc:Fallback>
                <p:oleObj name="" r:id="rId1" imgW="6003290" imgH="1943100" progId="Word.Document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7175" y="2971800"/>
                        <a:ext cx="5895975" cy="3892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Line 4"/>
          <p:cNvSpPr/>
          <p:nvPr/>
        </p:nvSpPr>
        <p:spPr>
          <a:xfrm>
            <a:off x="5181600" y="3124200"/>
            <a:ext cx="0" cy="342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4341" name="Line 5"/>
          <p:cNvSpPr/>
          <p:nvPr/>
        </p:nvSpPr>
        <p:spPr>
          <a:xfrm>
            <a:off x="1600200" y="4343400"/>
            <a:ext cx="579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219200" y="601663"/>
            <a:ext cx="6019800" cy="173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）再从最小元素开始（</a:t>
            </a:r>
            <a:r>
              <a:rPr kumimoji="1" lang="en-US" altLang="zh-CN" sz="36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）即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优先满足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 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个单位，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 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已经满足，划去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列</a:t>
            </a:r>
            <a:r>
              <a:rPr kumimoji="1" lang="zh-CN" altLang="en-US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endParaRPr kumimoji="1" lang="zh-CN" altLang="en-US" sz="36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5362" name="Object 2"/>
          <p:cNvGraphicFramePr/>
          <p:nvPr/>
        </p:nvGraphicFramePr>
        <p:xfrm>
          <a:off x="1527175" y="3054350"/>
          <a:ext cx="5895975" cy="389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6003290" imgH="1943100" progId="Word.Document.8">
                  <p:embed/>
                </p:oleObj>
              </mc:Choice>
              <mc:Fallback>
                <p:oleObj name="" r:id="rId1" imgW="6003290" imgH="1943100" progId="Word.Document.8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7175" y="3054350"/>
                        <a:ext cx="5895975" cy="3892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Line 4"/>
          <p:cNvSpPr/>
          <p:nvPr/>
        </p:nvSpPr>
        <p:spPr>
          <a:xfrm>
            <a:off x="5181600" y="3124200"/>
            <a:ext cx="0" cy="342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5365" name="Line 5"/>
          <p:cNvSpPr/>
          <p:nvPr/>
        </p:nvSpPr>
        <p:spPr>
          <a:xfrm>
            <a:off x="1600200" y="4343400"/>
            <a:ext cx="579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5366" name="Line 6"/>
          <p:cNvSpPr/>
          <p:nvPr/>
        </p:nvSpPr>
        <p:spPr>
          <a:xfrm>
            <a:off x="3124200" y="3124200"/>
            <a:ext cx="0" cy="34290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219200" y="601663"/>
            <a:ext cx="6629400" cy="173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）再从最小元素开始（</a:t>
            </a:r>
            <a:r>
              <a:rPr kumimoji="1" lang="en-US" altLang="zh-CN" sz="36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）即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优先满足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 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个单位，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 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已经满足，划去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列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行</a:t>
            </a:r>
            <a:r>
              <a:rPr kumimoji="1" lang="zh-CN" altLang="en-US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36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6386" name="Object 2"/>
          <p:cNvGraphicFramePr/>
          <p:nvPr/>
        </p:nvGraphicFramePr>
        <p:xfrm>
          <a:off x="1476375" y="2708275"/>
          <a:ext cx="5861050" cy="386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6003290" imgH="3965575" progId="Word.Document.8">
                  <p:embed/>
                </p:oleObj>
              </mc:Choice>
              <mc:Fallback>
                <p:oleObj name="" r:id="rId1" imgW="6003290" imgH="3965575" progId="Word.Document.8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2708275"/>
                        <a:ext cx="5861050" cy="3868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Line 4"/>
          <p:cNvSpPr/>
          <p:nvPr/>
        </p:nvSpPr>
        <p:spPr>
          <a:xfrm>
            <a:off x="5181600" y="3124200"/>
            <a:ext cx="0" cy="342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6389" name="Line 5"/>
          <p:cNvSpPr/>
          <p:nvPr/>
        </p:nvSpPr>
        <p:spPr>
          <a:xfrm>
            <a:off x="1600200" y="4343400"/>
            <a:ext cx="579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6390" name="Line 6"/>
          <p:cNvSpPr/>
          <p:nvPr/>
        </p:nvSpPr>
        <p:spPr>
          <a:xfrm>
            <a:off x="3124200" y="3124200"/>
            <a:ext cx="0" cy="34290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6391" name="Line 7"/>
          <p:cNvSpPr/>
          <p:nvPr/>
        </p:nvSpPr>
        <p:spPr>
          <a:xfrm>
            <a:off x="4191000" y="3124200"/>
            <a:ext cx="0" cy="33528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6392" name="Line 8"/>
          <p:cNvSpPr/>
          <p:nvPr/>
        </p:nvSpPr>
        <p:spPr>
          <a:xfrm>
            <a:off x="1600200" y="4953000"/>
            <a:ext cx="57912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1219200" y="601663"/>
            <a:ext cx="6629400" cy="1190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）最后把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6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满足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6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 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个单位， 得到初始方案。</a:t>
            </a:r>
            <a:endParaRPr kumimoji="1" lang="zh-CN" altLang="en-US" sz="3600" b="1" kern="1200" cap="none" spc="0" normalizeH="0" baseline="-2500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410" name="Object 2"/>
          <p:cNvGraphicFramePr/>
          <p:nvPr/>
        </p:nvGraphicFramePr>
        <p:xfrm>
          <a:off x="1698625" y="2498725"/>
          <a:ext cx="5861050" cy="386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6003290" imgH="3965575" progId="Word.Document.8">
                  <p:embed/>
                </p:oleObj>
              </mc:Choice>
              <mc:Fallback>
                <p:oleObj name="" r:id="rId1" imgW="6003290" imgH="3965575" progId="Word.Document.8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8625" y="2498725"/>
                        <a:ext cx="5861050" cy="3868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Line 4"/>
          <p:cNvSpPr/>
          <p:nvPr/>
        </p:nvSpPr>
        <p:spPr>
          <a:xfrm>
            <a:off x="5181600" y="3124200"/>
            <a:ext cx="0" cy="3429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7413" name="Line 5"/>
          <p:cNvSpPr/>
          <p:nvPr/>
        </p:nvSpPr>
        <p:spPr>
          <a:xfrm>
            <a:off x="1600200" y="4343400"/>
            <a:ext cx="579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7414" name="Line 6"/>
          <p:cNvSpPr/>
          <p:nvPr/>
        </p:nvSpPr>
        <p:spPr>
          <a:xfrm>
            <a:off x="3200400" y="3124200"/>
            <a:ext cx="0" cy="34290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7415" name="Line 7"/>
          <p:cNvSpPr/>
          <p:nvPr/>
        </p:nvSpPr>
        <p:spPr>
          <a:xfrm>
            <a:off x="4284663" y="3124200"/>
            <a:ext cx="0" cy="335280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7416" name="Line 8"/>
          <p:cNvSpPr/>
          <p:nvPr/>
        </p:nvSpPr>
        <p:spPr>
          <a:xfrm>
            <a:off x="1600200" y="5300663"/>
            <a:ext cx="5791200" cy="0"/>
          </a:xfrm>
          <a:prstGeom prst="line">
            <a:avLst/>
          </a:prstGeom>
          <a:ln w="9525" cap="rnd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7417" name="Line 9"/>
          <p:cNvSpPr/>
          <p:nvPr/>
        </p:nvSpPr>
        <p:spPr>
          <a:xfrm>
            <a:off x="1676400" y="5013325"/>
            <a:ext cx="5715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7418" name="Line 10"/>
          <p:cNvSpPr/>
          <p:nvPr/>
        </p:nvSpPr>
        <p:spPr>
          <a:xfrm>
            <a:off x="6019800" y="3124200"/>
            <a:ext cx="0" cy="32004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609600" y="228600"/>
            <a:ext cx="8001000" cy="2014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）得到初始方案：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13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14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21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22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=4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34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=3</a:t>
            </a:r>
            <a:endParaRPr kumimoji="1" lang="en-US" altLang="zh-CN" sz="3600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总运费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=3*3+4*1+4*2+4*4+8*3=61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600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434" name="Object 2"/>
          <p:cNvGraphicFramePr/>
          <p:nvPr/>
        </p:nvGraphicFramePr>
        <p:xfrm>
          <a:off x="1550988" y="2709863"/>
          <a:ext cx="5862637" cy="387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6003290" imgH="3965575" progId="Word.Document.8">
                  <p:embed/>
                </p:oleObj>
              </mc:Choice>
              <mc:Fallback>
                <p:oleObj name="" r:id="rId1" imgW="6003290" imgH="3965575" progId="Word.Document.8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50988" y="2709863"/>
                        <a:ext cx="5862637" cy="3870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0338" name="Text Box 2"/>
          <p:cNvSpPr txBox="1">
            <a:spLocks noChangeArrowheads="1"/>
          </p:cNvSpPr>
          <p:nvPr/>
        </p:nvSpPr>
        <p:spPr bwMode="auto">
          <a:xfrm>
            <a:off x="990600" y="830263"/>
            <a:ext cx="7086600" cy="4211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 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沃格尔法（差值法）</a:t>
            </a:r>
            <a:endParaRPr kumimoji="1" lang="zh-CN" altLang="en-US" sz="3600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3600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每次从当前运价表上，计算各行各列中两个 </a:t>
            </a:r>
            <a:r>
              <a:rPr kumimoji="1" lang="en-US" altLang="zh-CN" sz="3600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3600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最小与次小）运价之差值（行差值</a:t>
            </a:r>
            <a:r>
              <a:rPr kumimoji="1" lang="en-US" altLang="zh-CN" sz="3600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hi</a:t>
            </a:r>
            <a:r>
              <a:rPr kumimoji="1" lang="zh-CN" altLang="en-US" sz="3600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，列差值</a:t>
            </a:r>
            <a:r>
              <a:rPr kumimoji="1" lang="en-US" altLang="zh-CN" sz="3600" b="1" kern="1200" cap="none" spc="0" normalizeH="0" baseline="0" noProof="0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kj</a:t>
            </a:r>
            <a:r>
              <a:rPr kumimoji="1" lang="zh-CN" altLang="en-US" sz="3600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），优先取最大差值的行或列中最小的格来确定运输关系，直到求出初始方案。</a:t>
            </a:r>
            <a:endParaRPr kumimoji="1" lang="zh-CN" altLang="en-US" sz="3600" b="1" kern="1200" cap="none" spc="0" normalizeH="0" baseline="0" noProof="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458" name="Object 2"/>
          <p:cNvGraphicFramePr/>
          <p:nvPr/>
        </p:nvGraphicFramePr>
        <p:xfrm>
          <a:off x="838200" y="1981200"/>
          <a:ext cx="7570788" cy="451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7563485" imgH="4599305" progId="Word.Document.8">
                  <p:embed/>
                </p:oleObj>
              </mc:Choice>
              <mc:Fallback>
                <p:oleObj name="" r:id="rId1" imgW="7563485" imgH="4599305" progId="Word.Document.8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1981200"/>
                        <a:ext cx="7570788" cy="4516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0482" name="Object 2"/>
          <p:cNvGraphicFramePr/>
          <p:nvPr/>
        </p:nvGraphicFramePr>
        <p:xfrm>
          <a:off x="755650" y="1987550"/>
          <a:ext cx="7553325" cy="458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7562215" imgH="2254250" progId="Word.Document.8">
                  <p:embed/>
                </p:oleObj>
              </mc:Choice>
              <mc:Fallback>
                <p:oleObj name="" r:id="rId1" imgW="7562215" imgH="2254250" progId="Word.Document.8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987550"/>
                        <a:ext cx="7553325" cy="458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506" name="Object 2"/>
          <p:cNvGraphicFramePr/>
          <p:nvPr/>
        </p:nvGraphicFramePr>
        <p:xfrm>
          <a:off x="755650" y="1987550"/>
          <a:ext cx="7553325" cy="458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7543800" imgH="2254250" progId="Word.Document.8">
                  <p:embed/>
                </p:oleObj>
              </mc:Choice>
              <mc:Fallback>
                <p:oleObj name="" r:id="rId1" imgW="7543800" imgH="2254250" progId="Word.Document.8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987550"/>
                        <a:ext cx="7553325" cy="458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Line 3"/>
          <p:cNvSpPr/>
          <p:nvPr/>
        </p:nvSpPr>
        <p:spPr>
          <a:xfrm>
            <a:off x="25908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530" name="Object 2"/>
          <p:cNvGraphicFramePr/>
          <p:nvPr/>
        </p:nvGraphicFramePr>
        <p:xfrm>
          <a:off x="755650" y="1987550"/>
          <a:ext cx="7521575" cy="458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7534910" imgH="2254250" progId="Word.Document.8">
                  <p:embed/>
                </p:oleObj>
              </mc:Choice>
              <mc:Fallback>
                <p:oleObj name="" r:id="rId1" imgW="7534910" imgH="2254250" progId="Word.Document.8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987550"/>
                        <a:ext cx="7521575" cy="458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Line 3"/>
          <p:cNvSpPr/>
          <p:nvPr/>
        </p:nvSpPr>
        <p:spPr>
          <a:xfrm>
            <a:off x="25908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2532" name="Line 4"/>
          <p:cNvSpPr/>
          <p:nvPr/>
        </p:nvSpPr>
        <p:spPr>
          <a:xfrm>
            <a:off x="45720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3554" name="Object 2"/>
          <p:cNvGraphicFramePr/>
          <p:nvPr/>
        </p:nvGraphicFramePr>
        <p:xfrm>
          <a:off x="755650" y="1987550"/>
          <a:ext cx="7504113" cy="459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7516495" imgH="2254250" progId="Word.Document.8">
                  <p:embed/>
                </p:oleObj>
              </mc:Choice>
              <mc:Fallback>
                <p:oleObj name="" r:id="rId1" imgW="7516495" imgH="2254250" progId="Word.Document.8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987550"/>
                        <a:ext cx="7504113" cy="459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Line 3"/>
          <p:cNvSpPr/>
          <p:nvPr/>
        </p:nvSpPr>
        <p:spPr>
          <a:xfrm>
            <a:off x="25908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3556" name="Line 4"/>
          <p:cNvSpPr/>
          <p:nvPr/>
        </p:nvSpPr>
        <p:spPr>
          <a:xfrm>
            <a:off x="45720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4578" name="Object 1026"/>
          <p:cNvGraphicFramePr/>
          <p:nvPr/>
        </p:nvGraphicFramePr>
        <p:xfrm>
          <a:off x="755650" y="1987550"/>
          <a:ext cx="7504113" cy="459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7516495" imgH="2254250" progId="Word.Document.8">
                  <p:embed/>
                </p:oleObj>
              </mc:Choice>
              <mc:Fallback>
                <p:oleObj name="" r:id="rId1" imgW="7516495" imgH="2254250" progId="Word.Document.8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987550"/>
                        <a:ext cx="7504113" cy="459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Line 1027"/>
          <p:cNvSpPr/>
          <p:nvPr/>
        </p:nvSpPr>
        <p:spPr>
          <a:xfrm>
            <a:off x="25908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4580" name="Line 1028"/>
          <p:cNvSpPr/>
          <p:nvPr/>
        </p:nvSpPr>
        <p:spPr>
          <a:xfrm>
            <a:off x="45720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4581" name="Line 1029"/>
          <p:cNvSpPr/>
          <p:nvPr/>
        </p:nvSpPr>
        <p:spPr>
          <a:xfrm>
            <a:off x="838200" y="4495800"/>
            <a:ext cx="7010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5602" name="Object 2"/>
          <p:cNvGraphicFramePr/>
          <p:nvPr/>
        </p:nvGraphicFramePr>
        <p:xfrm>
          <a:off x="755650" y="1987550"/>
          <a:ext cx="7488238" cy="459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7498080" imgH="2254250" progId="Word.Document.8">
                  <p:embed/>
                </p:oleObj>
              </mc:Choice>
              <mc:Fallback>
                <p:oleObj name="" r:id="rId1" imgW="7498080" imgH="2254250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987550"/>
                        <a:ext cx="7488238" cy="459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Line 3"/>
          <p:cNvSpPr/>
          <p:nvPr/>
        </p:nvSpPr>
        <p:spPr>
          <a:xfrm>
            <a:off x="25908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04" name="Line 4"/>
          <p:cNvSpPr/>
          <p:nvPr/>
        </p:nvSpPr>
        <p:spPr>
          <a:xfrm>
            <a:off x="45720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05" name="Line 5"/>
          <p:cNvSpPr/>
          <p:nvPr/>
        </p:nvSpPr>
        <p:spPr>
          <a:xfrm>
            <a:off x="838200" y="4495800"/>
            <a:ext cx="7010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06" name="Line 6"/>
          <p:cNvSpPr/>
          <p:nvPr/>
        </p:nvSpPr>
        <p:spPr>
          <a:xfrm>
            <a:off x="35814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626" name="Object 1026"/>
          <p:cNvGraphicFramePr/>
          <p:nvPr/>
        </p:nvGraphicFramePr>
        <p:xfrm>
          <a:off x="755650" y="1987550"/>
          <a:ext cx="7454900" cy="459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456805" imgH="2254250" progId="Word.Document.8">
                  <p:embed/>
                </p:oleObj>
              </mc:Choice>
              <mc:Fallback>
                <p:oleObj name="" r:id="rId1" imgW="7456805" imgH="2254250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987550"/>
                        <a:ext cx="7454900" cy="459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Line 1027"/>
          <p:cNvSpPr/>
          <p:nvPr/>
        </p:nvSpPr>
        <p:spPr>
          <a:xfrm>
            <a:off x="25908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6628" name="Line 1028"/>
          <p:cNvSpPr/>
          <p:nvPr/>
        </p:nvSpPr>
        <p:spPr>
          <a:xfrm>
            <a:off x="45720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6629" name="Line 1029"/>
          <p:cNvSpPr/>
          <p:nvPr/>
        </p:nvSpPr>
        <p:spPr>
          <a:xfrm>
            <a:off x="838200" y="4495800"/>
            <a:ext cx="7010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6630" name="Line 1030"/>
          <p:cNvSpPr/>
          <p:nvPr/>
        </p:nvSpPr>
        <p:spPr>
          <a:xfrm>
            <a:off x="3581400" y="1981200"/>
            <a:ext cx="0" cy="419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7650" name="Object 2"/>
          <p:cNvGraphicFramePr/>
          <p:nvPr/>
        </p:nvGraphicFramePr>
        <p:xfrm>
          <a:off x="762000" y="2260600"/>
          <a:ext cx="7454900" cy="459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7456805" imgH="2254250" progId="Word.Document.8">
                  <p:embed/>
                </p:oleObj>
              </mc:Choice>
              <mc:Fallback>
                <p:oleObj name="" r:id="rId1" imgW="7456805" imgH="2254250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" y="2260600"/>
                        <a:ext cx="7454900" cy="459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79" name="Text Box 3"/>
          <p:cNvSpPr txBox="1">
            <a:spLocks noChangeArrowheads="1"/>
          </p:cNvSpPr>
          <p:nvPr/>
        </p:nvSpPr>
        <p:spPr bwMode="auto">
          <a:xfrm>
            <a:off x="533400" y="457200"/>
            <a:ext cx="8077200" cy="1554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差值法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初始方案如下： 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13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，费用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=3*3+4*1+4*2+4*1+5*3+6*3=58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1602" name="Text Box 2"/>
          <p:cNvSpPr txBox="1">
            <a:spLocks noChangeArrowheads="1"/>
          </p:cNvSpPr>
          <p:nvPr/>
        </p:nvSpPr>
        <p:spPr bwMode="auto">
          <a:xfrm>
            <a:off x="990600" y="457200"/>
            <a:ext cx="7543800" cy="1554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西北角法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得到初始方案：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23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，总运费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=6*2+5*2+4*2+7*3+5*1+8*3=80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2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8674" name="Object 3"/>
          <p:cNvGraphicFramePr/>
          <p:nvPr/>
        </p:nvGraphicFramePr>
        <p:xfrm>
          <a:off x="1379538" y="2890838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2890838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2626" name="Text Box 1026"/>
          <p:cNvSpPr txBox="1">
            <a:spLocks noChangeArrowheads="1"/>
          </p:cNvSpPr>
          <p:nvPr/>
        </p:nvSpPr>
        <p:spPr bwMode="auto">
          <a:xfrm>
            <a:off x="609600" y="517525"/>
            <a:ext cx="8001000" cy="2014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最小元素法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得到初始方案：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13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14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21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22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=4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34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=3</a:t>
            </a:r>
            <a:endParaRPr kumimoji="1" lang="en-US" altLang="zh-CN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总运费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=3*3+4*1+4*2+4*4+8*3=61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600" b="1" kern="1200" cap="none" spc="0" normalizeH="0" baseline="-2500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9698" name="Object 1027"/>
          <p:cNvGraphicFramePr/>
          <p:nvPr/>
        </p:nvGraphicFramePr>
        <p:xfrm>
          <a:off x="1527175" y="2970213"/>
          <a:ext cx="5895975" cy="389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6003290" imgH="1943100" progId="Word.Document.8">
                  <p:embed/>
                </p:oleObj>
              </mc:Choice>
              <mc:Fallback>
                <p:oleObj name="" r:id="rId1" imgW="6003290" imgH="1943100" progId="Word.Document.8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7175" y="2970213"/>
                        <a:ext cx="5895975" cy="3892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650" name="Text Box 2"/>
          <p:cNvSpPr txBox="1">
            <a:spLocks noChangeArrowheads="1"/>
          </p:cNvSpPr>
          <p:nvPr/>
        </p:nvSpPr>
        <p:spPr bwMode="auto">
          <a:xfrm>
            <a:off x="914400" y="754063"/>
            <a:ext cx="7467600" cy="4967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西北角法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得到初始方案：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11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23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，总运费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=6*2+5*2+4*2+7*3+5*1+8*3=80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2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最小元素法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得到初始方案：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13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21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总运费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=3*3+4*1+4*2+4*4+8*3=61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2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差值法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初始方案如下： 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13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21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24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32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，总运费</a:t>
            </a:r>
            <a:r>
              <a:rPr kumimoji="1" lang="en-US" altLang="zh-CN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=3*3+4*1+4*2+4*1+5*3+6*3=58</a:t>
            </a:r>
            <a:r>
              <a:rPr kumimoji="1" lang="zh-CN" altLang="en-US" sz="32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2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3" name="Text Box 4"/>
          <p:cNvSpPr txBox="1"/>
          <p:nvPr/>
        </p:nvSpPr>
        <p:spPr>
          <a:xfrm>
            <a:off x="250825" y="549275"/>
            <a:ext cx="8321675" cy="2462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例：分别用最小元素法、西北角法和沃格尔法求产销平衡运输问题的初始基可行解</a:t>
            </a:r>
            <a:r>
              <a:rPr lang="zh-CN" altLang="en-US" sz="3200" dirty="0">
                <a:latin typeface="Times New Roman" panose="02020603050405020304" pitchFamily="18" charset="0"/>
              </a:rPr>
              <a:t>  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 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endParaRPr lang="zh-CN" altLang="en-US" sz="3600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22" name="Object 6"/>
          <p:cNvGraphicFramePr/>
          <p:nvPr/>
        </p:nvGraphicFramePr>
        <p:xfrm>
          <a:off x="1042988" y="1916113"/>
          <a:ext cx="6705600" cy="465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6397625" imgH="4636135" progId="Word.Document.8">
                  <p:embed/>
                </p:oleObj>
              </mc:Choice>
              <mc:Fallback>
                <p:oleObj name="" r:id="rId1" imgW="6397625" imgH="4636135" progId="Word.Document.8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988" y="1916113"/>
                        <a:ext cx="6705600" cy="4652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7" name="Text Box 4"/>
          <p:cNvSpPr txBox="1"/>
          <p:nvPr/>
        </p:nvSpPr>
        <p:spPr>
          <a:xfrm>
            <a:off x="250825" y="549275"/>
            <a:ext cx="8893175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解（</a:t>
            </a:r>
            <a:r>
              <a:rPr lang="en-US" altLang="zh-CN" sz="3200" b="1" dirty="0">
                <a:latin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</a:rPr>
              <a:t>）最小元素法</a:t>
            </a:r>
            <a:r>
              <a:rPr lang="zh-CN" altLang="en-US" dirty="0">
                <a:latin typeface="Times New Roman" panose="02020603050405020304" pitchFamily="18" charset="0"/>
              </a:rPr>
              <a:t>       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endParaRPr lang="zh-CN" altLang="en-US" sz="3600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31746" name="Object 5"/>
          <p:cNvGraphicFramePr/>
          <p:nvPr/>
        </p:nvGraphicFramePr>
        <p:xfrm>
          <a:off x="2124075" y="1628775"/>
          <a:ext cx="5715000" cy="344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6186170" imgH="4631690" progId="Word.Document.8">
                  <p:embed/>
                </p:oleObj>
              </mc:Choice>
              <mc:Fallback>
                <p:oleObj name="" r:id="rId1" imgW="6186170" imgH="4631690" progId="Word.Document.8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4075" y="1628775"/>
                        <a:ext cx="5715000" cy="3446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Text Box 6"/>
          <p:cNvSpPr txBox="1"/>
          <p:nvPr/>
        </p:nvSpPr>
        <p:spPr>
          <a:xfrm>
            <a:off x="827088" y="4868863"/>
            <a:ext cx="8893175" cy="1465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dirty="0">
                <a:latin typeface="Times New Roman" panose="02020603050405020304" pitchFamily="18" charset="0"/>
              </a:rPr>
              <a:t>Z=240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endParaRPr lang="en-US" altLang="zh-CN" sz="3600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1" name="Text Box 5"/>
          <p:cNvSpPr txBox="1"/>
          <p:nvPr/>
        </p:nvSpPr>
        <p:spPr>
          <a:xfrm>
            <a:off x="250825" y="0"/>
            <a:ext cx="8893175" cy="1477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zh-CN" altLang="en-US" sz="32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）</a:t>
            </a:r>
            <a:r>
              <a:rPr lang="zh-CN" altLang="en-US" sz="3200" b="1" dirty="0">
                <a:latin typeface="Times New Roman" panose="02020603050405020304" pitchFamily="18" charset="0"/>
              </a:rPr>
              <a:t>西北角法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endParaRPr lang="zh-CN" altLang="en-US" sz="3600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32770" name="Object 6"/>
          <p:cNvGraphicFramePr/>
          <p:nvPr/>
        </p:nvGraphicFramePr>
        <p:xfrm>
          <a:off x="1476375" y="1196975"/>
          <a:ext cx="5732463" cy="396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6186170" imgH="4631690" progId="Word.Document.8">
                  <p:embed/>
                </p:oleObj>
              </mc:Choice>
              <mc:Fallback>
                <p:oleObj name="" r:id="rId1" imgW="6186170" imgH="4631690" progId="Word.Document.8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1196975"/>
                        <a:ext cx="5732463" cy="3968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Text Box 7"/>
          <p:cNvSpPr txBox="1"/>
          <p:nvPr/>
        </p:nvSpPr>
        <p:spPr>
          <a:xfrm>
            <a:off x="611188" y="5157788"/>
            <a:ext cx="8893175" cy="1403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Z=399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endParaRPr lang="en-US" altLang="zh-CN" sz="3600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5" name="Text Box 4"/>
          <p:cNvSpPr txBox="1"/>
          <p:nvPr/>
        </p:nvSpPr>
        <p:spPr>
          <a:xfrm>
            <a:off x="250825" y="549275"/>
            <a:ext cx="8893175" cy="1970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</a:rPr>
              <a:t>）沃格尔法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 </a:t>
            </a:r>
            <a:endParaRPr lang="zh-CN" altLang="en-US" sz="3600" dirty="0">
              <a:latin typeface="Times New Roman" panose="02020603050405020304" pitchFamily="18" charset="0"/>
            </a:endParaRPr>
          </a:p>
          <a:p>
            <a:endParaRPr lang="zh-CN" altLang="en-US" sz="3600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794" name="Object 5"/>
          <p:cNvGraphicFramePr/>
          <p:nvPr/>
        </p:nvGraphicFramePr>
        <p:xfrm>
          <a:off x="1619250" y="1700213"/>
          <a:ext cx="5715000" cy="344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6186170" imgH="4631690" progId="Word.Document.8">
                  <p:embed/>
                </p:oleObj>
              </mc:Choice>
              <mc:Fallback>
                <p:oleObj name="" r:id="rId1" imgW="6186170" imgH="4631690" progId="Word.Document.8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9250" y="1700213"/>
                        <a:ext cx="5715000" cy="3446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6"/>
          <p:cNvSpPr txBox="1"/>
          <p:nvPr/>
        </p:nvSpPr>
        <p:spPr>
          <a:xfrm>
            <a:off x="827088" y="4868863"/>
            <a:ext cx="8893175" cy="1465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dirty="0">
                <a:latin typeface="Times New Roman" panose="02020603050405020304" pitchFamily="18" charset="0"/>
              </a:rPr>
              <a:t>Z=240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endParaRPr lang="en-US" altLang="zh-CN" sz="3600" dirty="0">
              <a:latin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500063" y="642938"/>
            <a:ext cx="8001000" cy="4524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求检验数</a:t>
            </a:r>
            <a:endParaRPr kumimoji="1" lang="zh-CN" altLang="en-US" sz="36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en-US" sz="36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要判断一个调运方案是否已是最优，就要判断方案所对应的基础可行解是否最优。在单纯形法中，根据非基变量（空格）的检验数来判别的。若检验数中没有负值，则已求得最优。</a:t>
            </a:r>
            <a:endParaRPr kumimoji="1" lang="zh-CN" altLang="en-US" sz="36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如何根据初始调运表求得检验数？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4818" name="Object 2"/>
          <p:cNvGraphicFramePr/>
          <p:nvPr/>
        </p:nvGraphicFramePr>
        <p:xfrm>
          <a:off x="1296988" y="2282825"/>
          <a:ext cx="6372225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2282825"/>
                        <a:ext cx="6372225" cy="395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447800" y="838200"/>
            <a:ext cx="6248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如下表：</a:t>
            </a: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0" name="Oval 4"/>
          <p:cNvSpPr/>
          <p:nvPr/>
        </p:nvSpPr>
        <p:spPr>
          <a:xfrm>
            <a:off x="3124200" y="4191000"/>
            <a:ext cx="152400" cy="76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821" name="Line 5"/>
          <p:cNvSpPr/>
          <p:nvPr/>
        </p:nvSpPr>
        <p:spPr>
          <a:xfrm flipV="1">
            <a:off x="2895600" y="3581400"/>
            <a:ext cx="0" cy="68580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5842" name="Object 2"/>
          <p:cNvGraphicFramePr/>
          <p:nvPr/>
        </p:nvGraphicFramePr>
        <p:xfrm>
          <a:off x="1296988" y="2282825"/>
          <a:ext cx="6372225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2282825"/>
                        <a:ext cx="6372225" cy="395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447800" y="838200"/>
            <a:ext cx="6248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如下表：</a:t>
            </a: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4" name="Oval 4"/>
          <p:cNvSpPr/>
          <p:nvPr/>
        </p:nvSpPr>
        <p:spPr>
          <a:xfrm>
            <a:off x="3124200" y="4191000"/>
            <a:ext cx="152400" cy="76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45" name="Line 5"/>
          <p:cNvSpPr/>
          <p:nvPr/>
        </p:nvSpPr>
        <p:spPr>
          <a:xfrm flipV="1">
            <a:off x="2895600" y="3581400"/>
            <a:ext cx="0" cy="68580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46" name="Line 6"/>
          <p:cNvSpPr/>
          <p:nvPr/>
        </p:nvSpPr>
        <p:spPr>
          <a:xfrm>
            <a:off x="2971800" y="3581400"/>
            <a:ext cx="990600" cy="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6866" name="Object 2"/>
          <p:cNvGraphicFramePr/>
          <p:nvPr/>
        </p:nvGraphicFramePr>
        <p:xfrm>
          <a:off x="1296988" y="2282825"/>
          <a:ext cx="6372225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2282825"/>
                        <a:ext cx="6372225" cy="395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447800" y="838200"/>
            <a:ext cx="6248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如下表：</a:t>
            </a: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8" name="Oval 4"/>
          <p:cNvSpPr/>
          <p:nvPr/>
        </p:nvSpPr>
        <p:spPr>
          <a:xfrm>
            <a:off x="2819400" y="4191000"/>
            <a:ext cx="152400" cy="76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69" name="Line 5"/>
          <p:cNvSpPr/>
          <p:nvPr/>
        </p:nvSpPr>
        <p:spPr>
          <a:xfrm flipV="1">
            <a:off x="2895600" y="3581400"/>
            <a:ext cx="0" cy="68580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870" name="Line 6"/>
          <p:cNvSpPr/>
          <p:nvPr/>
        </p:nvSpPr>
        <p:spPr>
          <a:xfrm>
            <a:off x="2895600" y="3581400"/>
            <a:ext cx="990600" cy="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871" name="Line 7"/>
          <p:cNvSpPr/>
          <p:nvPr/>
        </p:nvSpPr>
        <p:spPr>
          <a:xfrm>
            <a:off x="3733800" y="3657600"/>
            <a:ext cx="0" cy="60960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7890" name="Object 2"/>
          <p:cNvGraphicFramePr/>
          <p:nvPr/>
        </p:nvGraphicFramePr>
        <p:xfrm>
          <a:off x="1295400" y="2286000"/>
          <a:ext cx="6372225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2286000"/>
                        <a:ext cx="6372225" cy="395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447800" y="838200"/>
            <a:ext cx="6248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如下表：</a:t>
            </a: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2" name="Oval 4"/>
          <p:cNvSpPr/>
          <p:nvPr/>
        </p:nvSpPr>
        <p:spPr>
          <a:xfrm>
            <a:off x="3124200" y="4191000"/>
            <a:ext cx="152400" cy="76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893" name="Line 5"/>
          <p:cNvSpPr/>
          <p:nvPr/>
        </p:nvSpPr>
        <p:spPr>
          <a:xfrm flipV="1">
            <a:off x="2971800" y="3581400"/>
            <a:ext cx="0" cy="68580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894" name="Line 6"/>
          <p:cNvSpPr/>
          <p:nvPr/>
        </p:nvSpPr>
        <p:spPr>
          <a:xfrm>
            <a:off x="2971800" y="3505200"/>
            <a:ext cx="990600" cy="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895" name="Line 7"/>
          <p:cNvSpPr/>
          <p:nvPr/>
        </p:nvSpPr>
        <p:spPr>
          <a:xfrm>
            <a:off x="3810000" y="3657600"/>
            <a:ext cx="0" cy="60960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896" name="Line 8"/>
          <p:cNvSpPr/>
          <p:nvPr/>
        </p:nvSpPr>
        <p:spPr>
          <a:xfrm flipH="1">
            <a:off x="2971800" y="4267200"/>
            <a:ext cx="914400" cy="0"/>
          </a:xfrm>
          <a:prstGeom prst="line">
            <a:avLst/>
          </a:prstGeom>
          <a:ln w="7620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8914" name="Object 2"/>
          <p:cNvGraphicFramePr/>
          <p:nvPr/>
        </p:nvGraphicFramePr>
        <p:xfrm>
          <a:off x="1296988" y="2282825"/>
          <a:ext cx="6372225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2282825"/>
                        <a:ext cx="6372225" cy="395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Oval 3"/>
          <p:cNvSpPr/>
          <p:nvPr/>
        </p:nvSpPr>
        <p:spPr>
          <a:xfrm>
            <a:off x="5867400" y="3505200"/>
            <a:ext cx="762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9938" name="Object 2"/>
          <p:cNvGraphicFramePr/>
          <p:nvPr/>
        </p:nvGraphicFramePr>
        <p:xfrm>
          <a:off x="1296988" y="2282825"/>
          <a:ext cx="6372225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2282825"/>
                        <a:ext cx="6372225" cy="395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Oval 3"/>
          <p:cNvSpPr/>
          <p:nvPr/>
        </p:nvSpPr>
        <p:spPr>
          <a:xfrm>
            <a:off x="5867400" y="3505200"/>
            <a:ext cx="762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9940" name="Line 4"/>
          <p:cNvSpPr/>
          <p:nvPr/>
        </p:nvSpPr>
        <p:spPr>
          <a:xfrm>
            <a:off x="5943600" y="35814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962" name="Object 2"/>
          <p:cNvGraphicFramePr/>
          <p:nvPr/>
        </p:nvGraphicFramePr>
        <p:xfrm>
          <a:off x="1296988" y="2282825"/>
          <a:ext cx="6372225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2282825"/>
                        <a:ext cx="6372225" cy="395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" name="Oval 3"/>
          <p:cNvSpPr/>
          <p:nvPr/>
        </p:nvSpPr>
        <p:spPr>
          <a:xfrm>
            <a:off x="5867400" y="3505200"/>
            <a:ext cx="762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0964" name="Line 4"/>
          <p:cNvSpPr/>
          <p:nvPr/>
        </p:nvSpPr>
        <p:spPr>
          <a:xfrm>
            <a:off x="5943600" y="35814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65" name="Line 5"/>
          <p:cNvSpPr/>
          <p:nvPr/>
        </p:nvSpPr>
        <p:spPr>
          <a:xfrm flipH="1">
            <a:off x="4114800" y="4191000"/>
            <a:ext cx="17526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1986" name="Object 2"/>
          <p:cNvGraphicFramePr/>
          <p:nvPr/>
        </p:nvGraphicFramePr>
        <p:xfrm>
          <a:off x="1296988" y="2282825"/>
          <a:ext cx="6372225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2282825"/>
                        <a:ext cx="6372225" cy="395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Oval 3"/>
          <p:cNvSpPr/>
          <p:nvPr/>
        </p:nvSpPr>
        <p:spPr>
          <a:xfrm>
            <a:off x="5867400" y="3505200"/>
            <a:ext cx="762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988" name="Line 4"/>
          <p:cNvSpPr/>
          <p:nvPr/>
        </p:nvSpPr>
        <p:spPr>
          <a:xfrm>
            <a:off x="5943600" y="35814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89" name="Line 5"/>
          <p:cNvSpPr/>
          <p:nvPr/>
        </p:nvSpPr>
        <p:spPr>
          <a:xfrm flipH="1">
            <a:off x="4114800" y="4191000"/>
            <a:ext cx="17526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90" name="Line 6"/>
          <p:cNvSpPr/>
          <p:nvPr/>
        </p:nvSpPr>
        <p:spPr>
          <a:xfrm flipV="1">
            <a:off x="4114800" y="3657600"/>
            <a:ext cx="0" cy="5334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3010" name="Object 2"/>
          <p:cNvGraphicFramePr/>
          <p:nvPr/>
        </p:nvGraphicFramePr>
        <p:xfrm>
          <a:off x="1296988" y="2282825"/>
          <a:ext cx="6372225" cy="395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6988" y="2282825"/>
                        <a:ext cx="6372225" cy="3957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Oval 3"/>
          <p:cNvSpPr/>
          <p:nvPr/>
        </p:nvSpPr>
        <p:spPr>
          <a:xfrm>
            <a:off x="5867400" y="3505200"/>
            <a:ext cx="762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3012" name="Line 4"/>
          <p:cNvSpPr/>
          <p:nvPr/>
        </p:nvSpPr>
        <p:spPr>
          <a:xfrm>
            <a:off x="5943600" y="35814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013" name="Line 5"/>
          <p:cNvSpPr/>
          <p:nvPr/>
        </p:nvSpPr>
        <p:spPr>
          <a:xfrm flipH="1">
            <a:off x="4114800" y="4191000"/>
            <a:ext cx="17526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014" name="Line 6"/>
          <p:cNvSpPr/>
          <p:nvPr/>
        </p:nvSpPr>
        <p:spPr>
          <a:xfrm flipV="1">
            <a:off x="4114800" y="3657600"/>
            <a:ext cx="0" cy="5334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015" name="Line 7"/>
          <p:cNvSpPr/>
          <p:nvPr/>
        </p:nvSpPr>
        <p:spPr>
          <a:xfrm>
            <a:off x="4191000" y="3581400"/>
            <a:ext cx="15240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4034" name="Object 2"/>
          <p:cNvGraphicFramePr/>
          <p:nvPr/>
        </p:nvGraphicFramePr>
        <p:xfrm>
          <a:off x="1379538" y="1674813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1674813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Oval 3"/>
          <p:cNvSpPr/>
          <p:nvPr/>
        </p:nvSpPr>
        <p:spPr>
          <a:xfrm>
            <a:off x="28956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5058" name="Object 2"/>
          <p:cNvGraphicFramePr/>
          <p:nvPr/>
        </p:nvGraphicFramePr>
        <p:xfrm>
          <a:off x="1379538" y="1674813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1674813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Oval 3"/>
          <p:cNvSpPr/>
          <p:nvPr/>
        </p:nvSpPr>
        <p:spPr>
          <a:xfrm>
            <a:off x="28956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060" name="Line 5"/>
          <p:cNvSpPr/>
          <p:nvPr/>
        </p:nvSpPr>
        <p:spPr>
          <a:xfrm flipV="1">
            <a:off x="2895600" y="2971800"/>
            <a:ext cx="0" cy="11430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6082" name="Object 2"/>
          <p:cNvGraphicFramePr/>
          <p:nvPr/>
        </p:nvGraphicFramePr>
        <p:xfrm>
          <a:off x="1379538" y="1674813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1674813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Oval 3"/>
          <p:cNvSpPr/>
          <p:nvPr/>
        </p:nvSpPr>
        <p:spPr>
          <a:xfrm>
            <a:off x="28956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6084" name="Line 4"/>
          <p:cNvSpPr/>
          <p:nvPr/>
        </p:nvSpPr>
        <p:spPr>
          <a:xfrm flipV="1">
            <a:off x="2895600" y="2971800"/>
            <a:ext cx="0" cy="11430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6085" name="Line 5"/>
          <p:cNvSpPr/>
          <p:nvPr/>
        </p:nvSpPr>
        <p:spPr>
          <a:xfrm>
            <a:off x="2971800" y="2971800"/>
            <a:ext cx="10668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7106" name="Object 2"/>
          <p:cNvGraphicFramePr/>
          <p:nvPr/>
        </p:nvGraphicFramePr>
        <p:xfrm>
          <a:off x="1379538" y="1674813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1674813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Oval 3"/>
          <p:cNvSpPr/>
          <p:nvPr/>
        </p:nvSpPr>
        <p:spPr>
          <a:xfrm>
            <a:off x="28956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7108" name="Line 4"/>
          <p:cNvSpPr/>
          <p:nvPr/>
        </p:nvSpPr>
        <p:spPr>
          <a:xfrm flipV="1">
            <a:off x="2895600" y="2971800"/>
            <a:ext cx="0" cy="11430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7109" name="Line 5"/>
          <p:cNvSpPr/>
          <p:nvPr/>
        </p:nvSpPr>
        <p:spPr>
          <a:xfrm>
            <a:off x="2971800" y="2971800"/>
            <a:ext cx="10668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7110" name="Line 6"/>
          <p:cNvSpPr/>
          <p:nvPr/>
        </p:nvSpPr>
        <p:spPr>
          <a:xfrm>
            <a:off x="3886200" y="30480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8130" name="Object 2"/>
          <p:cNvGraphicFramePr/>
          <p:nvPr/>
        </p:nvGraphicFramePr>
        <p:xfrm>
          <a:off x="1379538" y="1674813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1674813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1" name="Oval 1027"/>
          <p:cNvSpPr/>
          <p:nvPr/>
        </p:nvSpPr>
        <p:spPr>
          <a:xfrm>
            <a:off x="28956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132" name="Line 1028"/>
          <p:cNvSpPr/>
          <p:nvPr/>
        </p:nvSpPr>
        <p:spPr>
          <a:xfrm flipV="1">
            <a:off x="2895600" y="2971800"/>
            <a:ext cx="0" cy="11430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8133" name="Line 1029"/>
          <p:cNvSpPr/>
          <p:nvPr/>
        </p:nvSpPr>
        <p:spPr>
          <a:xfrm>
            <a:off x="2971800" y="2971800"/>
            <a:ext cx="10668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8134" name="Line 1030"/>
          <p:cNvSpPr/>
          <p:nvPr/>
        </p:nvSpPr>
        <p:spPr>
          <a:xfrm>
            <a:off x="3886200" y="30480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8135" name="Line 1031"/>
          <p:cNvSpPr/>
          <p:nvPr/>
        </p:nvSpPr>
        <p:spPr>
          <a:xfrm>
            <a:off x="3886200" y="3581400"/>
            <a:ext cx="20574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9154" name="Object 2"/>
          <p:cNvGraphicFramePr/>
          <p:nvPr/>
        </p:nvGraphicFramePr>
        <p:xfrm>
          <a:off x="1379538" y="1674813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1674813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5" name="Oval 3"/>
          <p:cNvSpPr/>
          <p:nvPr/>
        </p:nvSpPr>
        <p:spPr>
          <a:xfrm>
            <a:off x="28956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9156" name="Line 4"/>
          <p:cNvSpPr/>
          <p:nvPr/>
        </p:nvSpPr>
        <p:spPr>
          <a:xfrm flipV="1">
            <a:off x="2895600" y="2971800"/>
            <a:ext cx="0" cy="11430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9157" name="Line 5"/>
          <p:cNvSpPr/>
          <p:nvPr/>
        </p:nvSpPr>
        <p:spPr>
          <a:xfrm>
            <a:off x="2971800" y="2971800"/>
            <a:ext cx="10668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9158" name="Line 6"/>
          <p:cNvSpPr/>
          <p:nvPr/>
        </p:nvSpPr>
        <p:spPr>
          <a:xfrm>
            <a:off x="3886200" y="30480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9159" name="Line 7"/>
          <p:cNvSpPr/>
          <p:nvPr/>
        </p:nvSpPr>
        <p:spPr>
          <a:xfrm>
            <a:off x="3886200" y="3581400"/>
            <a:ext cx="20574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9160" name="Line 8"/>
          <p:cNvSpPr/>
          <p:nvPr/>
        </p:nvSpPr>
        <p:spPr>
          <a:xfrm>
            <a:off x="5943600" y="3581400"/>
            <a:ext cx="0" cy="7620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0178" name="Object 2"/>
          <p:cNvGraphicFramePr/>
          <p:nvPr/>
        </p:nvGraphicFramePr>
        <p:xfrm>
          <a:off x="1379538" y="1674813"/>
          <a:ext cx="6372225" cy="395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6377940" imgH="1943100" progId="Word.Document.8">
                  <p:embed/>
                </p:oleObj>
              </mc:Choice>
              <mc:Fallback>
                <p:oleObj name="" r:id="rId1" imgW="6377940" imgH="1943100" progId="Word.Document.8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9538" y="1674813"/>
                        <a:ext cx="6372225" cy="3957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Oval 3"/>
          <p:cNvSpPr/>
          <p:nvPr/>
        </p:nvSpPr>
        <p:spPr>
          <a:xfrm>
            <a:off x="2895600" y="4114800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0180" name="Line 4"/>
          <p:cNvSpPr/>
          <p:nvPr/>
        </p:nvSpPr>
        <p:spPr>
          <a:xfrm flipV="1">
            <a:off x="2895600" y="2971800"/>
            <a:ext cx="0" cy="11430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1" name="Line 5"/>
          <p:cNvSpPr/>
          <p:nvPr/>
        </p:nvSpPr>
        <p:spPr>
          <a:xfrm>
            <a:off x="2971800" y="2971800"/>
            <a:ext cx="10668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2" name="Line 6"/>
          <p:cNvSpPr/>
          <p:nvPr/>
        </p:nvSpPr>
        <p:spPr>
          <a:xfrm>
            <a:off x="3886200" y="30480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3" name="Line 7"/>
          <p:cNvSpPr/>
          <p:nvPr/>
        </p:nvSpPr>
        <p:spPr>
          <a:xfrm>
            <a:off x="3886200" y="3581400"/>
            <a:ext cx="20574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4" name="Line 8"/>
          <p:cNvSpPr/>
          <p:nvPr/>
        </p:nvSpPr>
        <p:spPr>
          <a:xfrm>
            <a:off x="5943600" y="3581400"/>
            <a:ext cx="0" cy="7620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185" name="Line 9"/>
          <p:cNvSpPr/>
          <p:nvPr/>
        </p:nvSpPr>
        <p:spPr>
          <a:xfrm flipH="1">
            <a:off x="3048000" y="4267200"/>
            <a:ext cx="28956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468313" y="908050"/>
            <a:ext cx="7696200" cy="301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600" b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  闭回路法</a:t>
            </a:r>
            <a:endParaRPr kumimoji="1" lang="zh-CN" altLang="en-US" sz="3600" b="1" kern="1200" cap="none" spc="0" normalizeH="0" baseline="0" noProof="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4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空格</a:t>
            </a:r>
            <a:r>
              <a:rPr kumimoji="1" lang="en-US" altLang="zh-CN" sz="4400" b="1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X</a:t>
            </a:r>
            <a:r>
              <a:rPr kumimoji="1" lang="en-US" altLang="zh-CN" sz="4400" b="1" kern="1200" cap="none" spc="0" normalizeH="0" baseline="-2500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ij</a:t>
            </a:r>
            <a:r>
              <a:rPr kumimoji="1" lang="zh-CN" altLang="en-US" sz="4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的检验数</a:t>
            </a:r>
            <a:r>
              <a:rPr kumimoji="1" lang="en-US" altLang="zh-CN" sz="4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=</a:t>
            </a:r>
            <a:r>
              <a:rPr kumimoji="1" lang="zh-CN" altLang="en-US" sz="4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（第奇数次拐角点运价之和减去第偶数次拐角点运价之和）</a:t>
            </a:r>
            <a:endParaRPr kumimoji="1" lang="zh-CN" altLang="en-US" sz="44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Oval 3"/>
          <p:cNvSpPr/>
          <p:nvPr/>
        </p:nvSpPr>
        <p:spPr>
          <a:xfrm>
            <a:off x="32766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683" name="Line 4"/>
          <p:cNvSpPr/>
          <p:nvPr/>
        </p:nvSpPr>
        <p:spPr>
          <a:xfrm flipV="1">
            <a:off x="3429000" y="34290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684" name="Line 5"/>
          <p:cNvSpPr/>
          <p:nvPr/>
        </p:nvSpPr>
        <p:spPr>
          <a:xfrm>
            <a:off x="3429000" y="3352800"/>
            <a:ext cx="10668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685" name="Line 6"/>
          <p:cNvSpPr/>
          <p:nvPr/>
        </p:nvSpPr>
        <p:spPr>
          <a:xfrm>
            <a:off x="4343400" y="35814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5064" name="Text Box 8"/>
          <p:cNvSpPr txBox="1">
            <a:spLocks noChangeArrowheads="1"/>
          </p:cNvSpPr>
          <p:nvPr/>
        </p:nvSpPr>
        <p:spPr bwMode="auto">
          <a:xfrm>
            <a:off x="1371600" y="982663"/>
            <a:ext cx="6400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空格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</a:t>
            </a: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的检验数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4-6+5-4 =- 1</a:t>
            </a:r>
            <a:endParaRPr kumimoji="1" lang="en-US" altLang="zh-CN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7" name="Line 56"/>
          <p:cNvSpPr/>
          <p:nvPr/>
        </p:nvSpPr>
        <p:spPr>
          <a:xfrm flipH="1">
            <a:off x="3429000" y="4191000"/>
            <a:ext cx="8382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71688" name="表格 71687"/>
          <p:cNvGraphicFramePr/>
          <p:nvPr/>
        </p:nvGraphicFramePr>
        <p:xfrm>
          <a:off x="1371600" y="1981200"/>
          <a:ext cx="6781800" cy="4127500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Oval 3"/>
          <p:cNvSpPr/>
          <p:nvPr/>
        </p:nvSpPr>
        <p:spPr>
          <a:xfrm>
            <a:off x="6096000" y="2895600"/>
            <a:ext cx="152400" cy="2286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07" name="Line 4"/>
          <p:cNvSpPr/>
          <p:nvPr/>
        </p:nvSpPr>
        <p:spPr>
          <a:xfrm>
            <a:off x="6172200" y="3200400"/>
            <a:ext cx="0" cy="5334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08" name="Line 5"/>
          <p:cNvSpPr/>
          <p:nvPr/>
        </p:nvSpPr>
        <p:spPr>
          <a:xfrm flipH="1">
            <a:off x="4114800" y="3810000"/>
            <a:ext cx="19812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09" name="Line 6"/>
          <p:cNvSpPr/>
          <p:nvPr/>
        </p:nvSpPr>
        <p:spPr>
          <a:xfrm flipV="1">
            <a:off x="4114800" y="2971800"/>
            <a:ext cx="0" cy="6858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10" name="Line 7"/>
          <p:cNvSpPr/>
          <p:nvPr/>
        </p:nvSpPr>
        <p:spPr>
          <a:xfrm>
            <a:off x="4191000" y="2895600"/>
            <a:ext cx="19050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711" name="Text Box 8"/>
          <p:cNvSpPr txBox="1"/>
          <p:nvPr/>
        </p:nvSpPr>
        <p:spPr>
          <a:xfrm>
            <a:off x="1219200" y="838200"/>
            <a:ext cx="685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7113" name="Text Box 9"/>
          <p:cNvSpPr txBox="1">
            <a:spLocks noChangeArrowheads="1"/>
          </p:cNvSpPr>
          <p:nvPr/>
        </p:nvSpPr>
        <p:spPr bwMode="auto">
          <a:xfrm>
            <a:off x="1143000" y="762000"/>
            <a:ext cx="67818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空格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14</a:t>
            </a: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的检验数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=4-5+4-5 =- 2</a:t>
            </a:r>
            <a:endParaRPr kumimoji="1" lang="en-US" altLang="zh-CN" sz="36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2713" name="表格 72712"/>
          <p:cNvGraphicFramePr/>
          <p:nvPr/>
        </p:nvGraphicFramePr>
        <p:xfrm>
          <a:off x="685800" y="1524000"/>
          <a:ext cx="6553200" cy="4176713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397000"/>
                <a:gridCol w="990600"/>
                <a:gridCol w="1003300"/>
                <a:gridCol w="9017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795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914400" y="228600"/>
            <a:ext cx="7239000" cy="1190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空格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6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31</a:t>
            </a: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的检验数 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7-6+5-4+5-8=-1</a:t>
            </a:r>
            <a:endParaRPr kumimoji="1" lang="en-US" altLang="zh-CN" sz="3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3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31" name="Oval 4"/>
          <p:cNvSpPr/>
          <p:nvPr/>
        </p:nvSpPr>
        <p:spPr>
          <a:xfrm>
            <a:off x="2667000" y="4419600"/>
            <a:ext cx="762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3732" name="Line 5"/>
          <p:cNvSpPr/>
          <p:nvPr/>
        </p:nvSpPr>
        <p:spPr>
          <a:xfrm flipV="1">
            <a:off x="2743200" y="3276600"/>
            <a:ext cx="0" cy="10668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33" name="Line 6"/>
          <p:cNvSpPr/>
          <p:nvPr/>
        </p:nvSpPr>
        <p:spPr>
          <a:xfrm>
            <a:off x="2819400" y="3124200"/>
            <a:ext cx="10668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34" name="Line 7"/>
          <p:cNvSpPr/>
          <p:nvPr/>
        </p:nvSpPr>
        <p:spPr>
          <a:xfrm>
            <a:off x="3810000" y="3200400"/>
            <a:ext cx="0" cy="6096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35" name="Line 8"/>
          <p:cNvSpPr/>
          <p:nvPr/>
        </p:nvSpPr>
        <p:spPr>
          <a:xfrm>
            <a:off x="3810000" y="3962400"/>
            <a:ext cx="17526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36" name="Line 9"/>
          <p:cNvSpPr/>
          <p:nvPr/>
        </p:nvSpPr>
        <p:spPr>
          <a:xfrm>
            <a:off x="5486400" y="4038600"/>
            <a:ext cx="0" cy="53340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37" name="Line 10"/>
          <p:cNvSpPr/>
          <p:nvPr/>
        </p:nvSpPr>
        <p:spPr>
          <a:xfrm flipH="1">
            <a:off x="2590800" y="4572000"/>
            <a:ext cx="2743200" cy="0"/>
          </a:xfrm>
          <a:prstGeom prst="line">
            <a:avLst/>
          </a:prstGeom>
          <a:ln w="57150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73738" name="表格 73737"/>
          <p:cNvGraphicFramePr/>
          <p:nvPr/>
        </p:nvGraphicFramePr>
        <p:xfrm>
          <a:off x="762000" y="1676400"/>
          <a:ext cx="6781800" cy="4127500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371600" y="838200"/>
            <a:ext cx="69342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检验数都为负值，原方案不是最优解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4755" name="表格 74754"/>
          <p:cNvGraphicFramePr/>
          <p:nvPr/>
        </p:nvGraphicFramePr>
        <p:xfrm>
          <a:off x="1371600" y="1981200"/>
          <a:ext cx="6781800" cy="4141788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334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-2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85750" y="214313"/>
            <a:ext cx="6934200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）对偶变量法（位势法）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577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85813"/>
            <a:ext cx="9144000" cy="6072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85750" y="214313"/>
            <a:ext cx="6934200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）对偶变量法（位势法）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680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85750" y="214313"/>
            <a:ext cx="6934200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）对偶变量法（位势法）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782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1563"/>
            <a:ext cx="9144000" cy="5500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533400" y="228600"/>
            <a:ext cx="8001000" cy="2228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+v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=6      u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+v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=5     u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+v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   </a:t>
            </a:r>
            <a:endParaRPr kumimoji="1" lang="en-US" altLang="zh-CN" sz="28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u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+v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=7     u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+v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=5     u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+v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=8</a:t>
            </a:r>
            <a:endParaRPr kumimoji="1" lang="en-US" altLang="zh-CN" sz="28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有七个变量，但只有六个方程，有一个自由变量，一般令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=0</a:t>
            </a:r>
            <a:endParaRPr kumimoji="1" lang="en-US" altLang="zh-CN" sz="2800" b="1" kern="1200" cap="none" spc="0" normalizeH="0" baseline="-2500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8851" name="表格 78850"/>
          <p:cNvGraphicFramePr/>
          <p:nvPr/>
        </p:nvGraphicFramePr>
        <p:xfrm>
          <a:off x="914400" y="2514600"/>
          <a:ext cx="6781800" cy="4127500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2800" b="1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i</a:t>
                      </a:r>
                      <a:endParaRPr lang="en-US" altLang="zh-CN" sz="2800" b="1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-2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800" b="1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b="1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357188" y="285750"/>
            <a:ext cx="7543800" cy="646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解的改进</a:t>
            </a:r>
            <a:endParaRPr kumimoji="1" lang="en-US" altLang="zh-CN" sz="36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9875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3214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357188" y="285750"/>
            <a:ext cx="7543800" cy="646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解的改进</a:t>
            </a:r>
            <a:endParaRPr kumimoji="1" lang="en-US" altLang="zh-CN" sz="36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089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85875"/>
            <a:ext cx="9144000" cy="471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1066800" y="381000"/>
            <a:ext cx="7086600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选择（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32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3200" b="1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）（检验数最小）调整，最小运量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=min(2,3)=2</a:t>
            </a:r>
            <a:endParaRPr kumimoji="1" lang="en-US" altLang="zh-CN" sz="32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23" name="Line 4"/>
          <p:cNvSpPr/>
          <p:nvPr/>
        </p:nvSpPr>
        <p:spPr>
          <a:xfrm flipH="1">
            <a:off x="4114800" y="3124200"/>
            <a:ext cx="9144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1924" name="Line 5"/>
          <p:cNvSpPr/>
          <p:nvPr/>
        </p:nvSpPr>
        <p:spPr>
          <a:xfrm>
            <a:off x="4114800" y="3124200"/>
            <a:ext cx="0" cy="6858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1925" name="Line 6"/>
          <p:cNvSpPr/>
          <p:nvPr/>
        </p:nvSpPr>
        <p:spPr>
          <a:xfrm>
            <a:off x="4114800" y="3886200"/>
            <a:ext cx="9144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1926" name="Line 7"/>
          <p:cNvSpPr/>
          <p:nvPr/>
        </p:nvSpPr>
        <p:spPr>
          <a:xfrm flipV="1">
            <a:off x="5029200" y="3124200"/>
            <a:ext cx="0" cy="6096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1927" name="表格 81926"/>
          <p:cNvGraphicFramePr/>
          <p:nvPr/>
        </p:nvGraphicFramePr>
        <p:xfrm>
          <a:off x="914400" y="1676400"/>
          <a:ext cx="6781800" cy="4127500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r>
                        <a:rPr lang="zh-CN" altLang="en-US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2946" name="表格 82945"/>
          <p:cNvGraphicFramePr/>
          <p:nvPr/>
        </p:nvGraphicFramePr>
        <p:xfrm>
          <a:off x="1143000" y="1714500"/>
          <a:ext cx="6781800" cy="4127500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228600" y="228600"/>
            <a:ext cx="8610600" cy="2041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最小运量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=min(2,3)=2,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奇数点减去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，偶数点加上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，得到新的方案。总运费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=6*2+3*2+4*4+7*1+5*1+8*3=70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（元）原方案运费为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80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3971" name="表格 83970"/>
          <p:cNvGraphicFramePr/>
          <p:nvPr/>
        </p:nvGraphicFramePr>
        <p:xfrm>
          <a:off x="1295400" y="2514600"/>
          <a:ext cx="6781800" cy="4127500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1066800" y="10668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继续求检验数。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4995" name="表格 84994"/>
          <p:cNvGraphicFramePr/>
          <p:nvPr/>
        </p:nvGraphicFramePr>
        <p:xfrm>
          <a:off x="1295400" y="2057400"/>
          <a:ext cx="6781800" cy="4127500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2800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i</a:t>
                      </a:r>
                      <a:endParaRPr lang="en-US" altLang="zh-CN" sz="2800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1143000" y="5334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继续调整运量。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19" name="Line 4"/>
          <p:cNvSpPr/>
          <p:nvPr/>
        </p:nvSpPr>
        <p:spPr>
          <a:xfrm>
            <a:off x="3581400" y="3733800"/>
            <a:ext cx="19812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6020" name="Line 5"/>
          <p:cNvSpPr/>
          <p:nvPr/>
        </p:nvSpPr>
        <p:spPr>
          <a:xfrm flipV="1">
            <a:off x="5486400" y="2819400"/>
            <a:ext cx="0" cy="6858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6021" name="Line 6"/>
          <p:cNvSpPr/>
          <p:nvPr/>
        </p:nvSpPr>
        <p:spPr>
          <a:xfrm flipH="1">
            <a:off x="3581400" y="2743200"/>
            <a:ext cx="17526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6022" name="Line 7"/>
          <p:cNvSpPr/>
          <p:nvPr/>
        </p:nvSpPr>
        <p:spPr>
          <a:xfrm>
            <a:off x="3581400" y="2971800"/>
            <a:ext cx="0" cy="6858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6023" name="表格 86022"/>
          <p:cNvGraphicFramePr/>
          <p:nvPr/>
        </p:nvGraphicFramePr>
        <p:xfrm>
          <a:off x="1447800" y="1371600"/>
          <a:ext cx="7162800" cy="4127500"/>
        </p:xfrm>
        <a:graphic>
          <a:graphicData uri="http://schemas.openxmlformats.org/drawingml/2006/table">
            <a:tbl>
              <a:tblPr/>
              <a:tblGrid>
                <a:gridCol w="1193800"/>
                <a:gridCol w="1193800"/>
                <a:gridCol w="1193800"/>
                <a:gridCol w="1295400"/>
                <a:gridCol w="1092200"/>
                <a:gridCol w="11938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zh-CN" altLang="en-US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838200" y="381000"/>
            <a:ext cx="7086600" cy="1798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继续调整运量。最小运量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endParaRPr kumimoji="1" lang="en-US" altLang="zh-CN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总运费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=6*1+3*3+4*1+4*4+5*1+8*3=64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7043" name="表格 87042"/>
          <p:cNvGraphicFramePr/>
          <p:nvPr/>
        </p:nvGraphicFramePr>
        <p:xfrm>
          <a:off x="1066800" y="2209800"/>
          <a:ext cx="7162800" cy="4127500"/>
        </p:xfrm>
        <a:graphic>
          <a:graphicData uri="http://schemas.openxmlformats.org/drawingml/2006/table">
            <a:tbl>
              <a:tblPr/>
              <a:tblGrid>
                <a:gridCol w="1193800"/>
                <a:gridCol w="1193800"/>
                <a:gridCol w="1193800"/>
                <a:gridCol w="1295400"/>
                <a:gridCol w="1092200"/>
                <a:gridCol w="11938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762000" y="8382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继续计算检验数。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8067" name="表格 88066"/>
          <p:cNvGraphicFramePr/>
          <p:nvPr/>
        </p:nvGraphicFramePr>
        <p:xfrm>
          <a:off x="1295400" y="2057400"/>
          <a:ext cx="6781800" cy="4127500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2800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i</a:t>
                      </a:r>
                      <a:endParaRPr lang="en-US" altLang="zh-CN" sz="2800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-3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11430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继续调整运量。最小运量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  <a:endParaRPr kumimoji="1" lang="en-US" altLang="zh-CN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1" name="Oval 4"/>
          <p:cNvSpPr/>
          <p:nvPr/>
        </p:nvSpPr>
        <p:spPr>
          <a:xfrm>
            <a:off x="6629400" y="24384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9092" name="Line 5"/>
          <p:cNvSpPr/>
          <p:nvPr/>
        </p:nvSpPr>
        <p:spPr>
          <a:xfrm flipH="1">
            <a:off x="3352800" y="2362200"/>
            <a:ext cx="33528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093" name="Line 6"/>
          <p:cNvSpPr/>
          <p:nvPr/>
        </p:nvSpPr>
        <p:spPr>
          <a:xfrm>
            <a:off x="3352800" y="2590800"/>
            <a:ext cx="0" cy="6096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094" name="Line 7"/>
          <p:cNvSpPr/>
          <p:nvPr/>
        </p:nvSpPr>
        <p:spPr>
          <a:xfrm>
            <a:off x="3352800" y="3276600"/>
            <a:ext cx="33528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9095" name="Line 8"/>
          <p:cNvSpPr/>
          <p:nvPr/>
        </p:nvSpPr>
        <p:spPr>
          <a:xfrm flipV="1">
            <a:off x="6705600" y="2590800"/>
            <a:ext cx="0" cy="5334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9096" name="表格 89095"/>
          <p:cNvGraphicFramePr/>
          <p:nvPr/>
        </p:nvGraphicFramePr>
        <p:xfrm>
          <a:off x="1143000" y="1295400"/>
          <a:ext cx="7162800" cy="4127500"/>
        </p:xfrm>
        <a:graphic>
          <a:graphicData uri="http://schemas.openxmlformats.org/drawingml/2006/table">
            <a:tbl>
              <a:tblPr/>
              <a:tblGrid>
                <a:gridCol w="1193800"/>
                <a:gridCol w="1193800"/>
                <a:gridCol w="1193800"/>
                <a:gridCol w="1295400"/>
                <a:gridCol w="1092200"/>
                <a:gridCol w="11938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762000" y="838200"/>
            <a:ext cx="7086600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得到新的调运方案，总运费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=3*3+4*1+4*2+4*4+8*3=61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0115" name="表格 90114"/>
          <p:cNvGraphicFramePr/>
          <p:nvPr/>
        </p:nvGraphicFramePr>
        <p:xfrm>
          <a:off x="914400" y="2286000"/>
          <a:ext cx="7162800" cy="4127500"/>
        </p:xfrm>
        <a:graphic>
          <a:graphicData uri="http://schemas.openxmlformats.org/drawingml/2006/table">
            <a:tbl>
              <a:tblPr/>
              <a:tblGrid>
                <a:gridCol w="1193800"/>
                <a:gridCol w="1193800"/>
                <a:gridCol w="1193800"/>
                <a:gridCol w="1295400"/>
                <a:gridCol w="1092200"/>
                <a:gridCol w="11938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762000" y="8382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继续计算检验数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1139" name="表格 91138"/>
          <p:cNvGraphicFramePr/>
          <p:nvPr/>
        </p:nvGraphicFramePr>
        <p:xfrm>
          <a:off x="1295400" y="2057400"/>
          <a:ext cx="6781800" cy="4127500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2800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i</a:t>
                      </a:r>
                      <a:endParaRPr lang="en-US" altLang="zh-CN" sz="2800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       0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       0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2162" name="表格 92161"/>
          <p:cNvGraphicFramePr/>
          <p:nvPr/>
        </p:nvGraphicFramePr>
        <p:xfrm>
          <a:off x="914400" y="1905000"/>
          <a:ext cx="7162800" cy="4127500"/>
        </p:xfrm>
        <a:graphic>
          <a:graphicData uri="http://schemas.openxmlformats.org/drawingml/2006/table">
            <a:tbl>
              <a:tblPr/>
              <a:tblGrid>
                <a:gridCol w="1193800"/>
                <a:gridCol w="1193800"/>
                <a:gridCol w="1193800"/>
                <a:gridCol w="1295400"/>
                <a:gridCol w="1092200"/>
                <a:gridCol w="11938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207" name="Line 92"/>
          <p:cNvSpPr/>
          <p:nvPr/>
        </p:nvSpPr>
        <p:spPr>
          <a:xfrm>
            <a:off x="5181600" y="32766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208" name="Line 94"/>
          <p:cNvSpPr/>
          <p:nvPr/>
        </p:nvSpPr>
        <p:spPr>
          <a:xfrm flipV="1">
            <a:off x="5105400" y="3276600"/>
            <a:ext cx="0" cy="2057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209" name="Line 95"/>
          <p:cNvSpPr/>
          <p:nvPr/>
        </p:nvSpPr>
        <p:spPr>
          <a:xfrm>
            <a:off x="6477000" y="3352800"/>
            <a:ext cx="0" cy="1981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2210" name="Line 96"/>
          <p:cNvSpPr/>
          <p:nvPr/>
        </p:nvSpPr>
        <p:spPr>
          <a:xfrm flipH="1">
            <a:off x="5181600" y="5257800"/>
            <a:ext cx="1219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81" name="Text Box 97"/>
          <p:cNvSpPr txBox="1">
            <a:spLocks noChangeArrowheads="1"/>
          </p:cNvSpPr>
          <p:nvPr/>
        </p:nvSpPr>
        <p:spPr bwMode="auto">
          <a:xfrm>
            <a:off x="11430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继续调整运量。最小运量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endParaRPr kumimoji="1" lang="en-US" altLang="zh-CN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3186" name="表格 93185"/>
          <p:cNvGraphicFramePr/>
          <p:nvPr/>
        </p:nvGraphicFramePr>
        <p:xfrm>
          <a:off x="914400" y="1905000"/>
          <a:ext cx="7162800" cy="4127500"/>
        </p:xfrm>
        <a:graphic>
          <a:graphicData uri="http://schemas.openxmlformats.org/drawingml/2006/table">
            <a:tbl>
              <a:tblPr/>
              <a:tblGrid>
                <a:gridCol w="1193800"/>
                <a:gridCol w="1193800"/>
                <a:gridCol w="1193800"/>
                <a:gridCol w="1295400"/>
                <a:gridCol w="1092200"/>
                <a:gridCol w="1193800"/>
              </a:tblGrid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9057" name="Text Box 49"/>
          <p:cNvSpPr txBox="1">
            <a:spLocks noChangeArrowheads="1"/>
          </p:cNvSpPr>
          <p:nvPr/>
        </p:nvSpPr>
        <p:spPr bwMode="auto">
          <a:xfrm>
            <a:off x="762000" y="8382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总运费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=4*4+4*2+4*4+5*3=55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762000" y="457200"/>
            <a:ext cx="7086600" cy="2286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计算检验数：空格的检验数全为非负，此时是最优解。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最优调运方案：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</a:t>
            </a: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22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</a:t>
            </a: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14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</a:t>
            </a: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3200" b="1" kern="1200" cap="none" spc="0" normalizeH="0" baseline="-25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33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。最小运费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55</a:t>
            </a: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（元）。</a:t>
            </a:r>
            <a:endParaRPr kumimoji="1" lang="zh-CN" altLang="en-US" sz="3200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2082" name="Text Box 2"/>
          <p:cNvSpPr txBox="1">
            <a:spLocks noChangeArrowheads="1"/>
          </p:cNvSpPr>
          <p:nvPr/>
        </p:nvSpPr>
        <p:spPr bwMode="auto">
          <a:xfrm>
            <a:off x="762000" y="4572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：产销平衡表为：</a:t>
            </a:r>
            <a:endParaRPr kumimoji="1" lang="zh-CN" altLang="en-US" sz="3200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5235" name="表格 95234"/>
          <p:cNvGraphicFramePr/>
          <p:nvPr/>
        </p:nvGraphicFramePr>
        <p:xfrm>
          <a:off x="1371600" y="1447800"/>
          <a:ext cx="6781800" cy="4645025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1031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1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1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5280" name="Line 49"/>
          <p:cNvSpPr/>
          <p:nvPr/>
        </p:nvSpPr>
        <p:spPr>
          <a:xfrm>
            <a:off x="1371600" y="1447800"/>
            <a:ext cx="1143000" cy="1066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6258" name="表格 96257"/>
          <p:cNvGraphicFramePr/>
          <p:nvPr/>
        </p:nvGraphicFramePr>
        <p:xfrm>
          <a:off x="1371600" y="1295400"/>
          <a:ext cx="6781800" cy="4492625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884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5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3151" name="Text Box 47"/>
          <p:cNvSpPr txBox="1">
            <a:spLocks noChangeArrowheads="1"/>
          </p:cNvSpPr>
          <p:nvPr/>
        </p:nvSpPr>
        <p:spPr bwMode="auto">
          <a:xfrm>
            <a:off x="914400" y="4572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）用最小元素法求初始基可行解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3156" name="Text Box 52"/>
          <p:cNvSpPr txBox="1">
            <a:spLocks noChangeArrowheads="1"/>
          </p:cNvSpPr>
          <p:nvPr/>
        </p:nvSpPr>
        <p:spPr bwMode="auto">
          <a:xfrm>
            <a:off x="3886200" y="5943600"/>
            <a:ext cx="1447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表（</a:t>
            </a:r>
            <a:r>
              <a:rPr kumimoji="1" lang="en-US" altLang="zh-CN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kern="1200" cap="none" spc="0" normalizeH="0" baseline="0" noProof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7282" name="表格 97281"/>
          <p:cNvGraphicFramePr/>
          <p:nvPr/>
        </p:nvGraphicFramePr>
        <p:xfrm>
          <a:off x="1371600" y="1295400"/>
          <a:ext cx="6781800" cy="4492625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884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2800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i</a:t>
                      </a:r>
                      <a:endParaRPr lang="en-US" altLang="zh-CN" sz="2800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533400" lvl="0" indent="-53340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marL="533400" lvl="0" indent="-53340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      10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800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4175" name="Text Box 47"/>
          <p:cNvSpPr txBox="1">
            <a:spLocks noChangeArrowheads="1"/>
          </p:cNvSpPr>
          <p:nvPr/>
        </p:nvSpPr>
        <p:spPr bwMode="auto">
          <a:xfrm>
            <a:off x="914400" y="4572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）用位势法求检验数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4190" name="Text Box 62"/>
          <p:cNvSpPr txBox="1">
            <a:spLocks noChangeArrowheads="1"/>
          </p:cNvSpPr>
          <p:nvPr/>
        </p:nvSpPr>
        <p:spPr bwMode="auto">
          <a:xfrm>
            <a:off x="3886200" y="5943600"/>
            <a:ext cx="1447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表（</a:t>
            </a:r>
            <a:r>
              <a:rPr kumimoji="1" lang="en-US" altLang="zh-CN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kern="1200" cap="none" spc="0" normalizeH="0" baseline="0" noProof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5154" name="Text Box 2"/>
          <p:cNvSpPr txBox="1">
            <a:spLocks noChangeArrowheads="1"/>
          </p:cNvSpPr>
          <p:nvPr/>
        </p:nvSpPr>
        <p:spPr bwMode="auto">
          <a:xfrm>
            <a:off x="428625" y="500063"/>
            <a:ext cx="7929563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）检验数 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A2B4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-1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＜</a:t>
            </a:r>
            <a:r>
              <a:rPr kumimoji="1" lang="en-US" altLang="zh-CN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32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，用闭回路调节</a:t>
            </a:r>
            <a:endParaRPr kumimoji="1" lang="zh-CN" altLang="en-US" sz="32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8307" name="表格 98306"/>
          <p:cNvGraphicFramePr/>
          <p:nvPr/>
        </p:nvGraphicFramePr>
        <p:xfrm>
          <a:off x="1371600" y="1295400"/>
          <a:ext cx="6781800" cy="4492625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884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altLang="zh-CN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）</a:t>
                      </a: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  </a:t>
                      </a:r>
                      <a:endParaRPr lang="zh-CN" altLang="en-US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5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8352" name="Line 50"/>
          <p:cNvSpPr/>
          <p:nvPr/>
        </p:nvSpPr>
        <p:spPr>
          <a:xfrm flipH="1">
            <a:off x="5638800" y="28194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53" name="Line 64"/>
          <p:cNvSpPr/>
          <p:nvPr/>
        </p:nvSpPr>
        <p:spPr>
          <a:xfrm flipV="1">
            <a:off x="6553200" y="31242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54" name="Line 65"/>
          <p:cNvSpPr/>
          <p:nvPr/>
        </p:nvSpPr>
        <p:spPr>
          <a:xfrm>
            <a:off x="5715000" y="3124200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55" name="Line 66"/>
          <p:cNvSpPr/>
          <p:nvPr/>
        </p:nvSpPr>
        <p:spPr>
          <a:xfrm>
            <a:off x="5791200" y="38100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5221" name="Text Box 69"/>
          <p:cNvSpPr txBox="1">
            <a:spLocks noChangeArrowheads="1"/>
          </p:cNvSpPr>
          <p:nvPr/>
        </p:nvSpPr>
        <p:spPr bwMode="auto">
          <a:xfrm>
            <a:off x="3886200" y="5943600"/>
            <a:ext cx="1447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表（</a:t>
            </a:r>
            <a:r>
              <a:rPr kumimoji="1" lang="en-US" altLang="zh-CN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kern="1200" cap="none" spc="0" normalizeH="0" baseline="0" noProof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9330" name="表格 99329"/>
          <p:cNvGraphicFramePr/>
          <p:nvPr/>
        </p:nvGraphicFramePr>
        <p:xfrm>
          <a:off x="1295400" y="1447800"/>
          <a:ext cx="6781800" cy="4492625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884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2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7251" name="Text Box 51"/>
          <p:cNvSpPr txBox="1">
            <a:spLocks noChangeArrowheads="1"/>
          </p:cNvSpPr>
          <p:nvPr/>
        </p:nvSpPr>
        <p:spPr bwMode="auto">
          <a:xfrm>
            <a:off x="914400" y="4572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）用闭回路调节得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52" name="Text Box 52"/>
          <p:cNvSpPr txBox="1">
            <a:spLocks noChangeArrowheads="1"/>
          </p:cNvSpPr>
          <p:nvPr/>
        </p:nvSpPr>
        <p:spPr bwMode="auto">
          <a:xfrm>
            <a:off x="3886200" y="5943600"/>
            <a:ext cx="1447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表（</a:t>
            </a:r>
            <a:r>
              <a:rPr kumimoji="1" lang="en-US" altLang="zh-CN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2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kern="1200" cap="none" spc="0" normalizeH="0" baseline="0" noProof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8226" name="Text Box 2"/>
          <p:cNvSpPr txBox="1">
            <a:spLocks noChangeArrowheads="1"/>
          </p:cNvSpPr>
          <p:nvPr/>
        </p:nvSpPr>
        <p:spPr bwMode="auto">
          <a:xfrm>
            <a:off x="914400" y="457200"/>
            <a:ext cx="70866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）用位势法再求表（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）的检验数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04" name="表格 51203"/>
          <p:cNvGraphicFramePr/>
          <p:nvPr/>
        </p:nvGraphicFramePr>
        <p:xfrm>
          <a:off x="1371600" y="1295400"/>
          <a:ext cx="6781800" cy="4492625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884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u</a:t>
                      </a:r>
                      <a:r>
                        <a:rPr lang="en-US" altLang="zh-CN" sz="2800" b="1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i</a:t>
                      </a:r>
                      <a:endParaRPr lang="en-US" altLang="zh-CN" sz="2800" b="1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28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marL="533400" lvl="0" indent="-53340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marL="533400" lvl="0" indent="-53340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       9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12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sz="28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800" b="1" baseline="-25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800" b="1" baseline="-25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8274" name="Text Box 50"/>
          <p:cNvSpPr txBox="1">
            <a:spLocks noChangeArrowheads="1"/>
          </p:cNvSpPr>
          <p:nvPr/>
        </p:nvSpPr>
        <p:spPr bwMode="auto">
          <a:xfrm>
            <a:off x="304800" y="5943600"/>
            <a:ext cx="8305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表（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）非基变量               ，有无穷多最优解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1202" name="Object 51"/>
          <p:cNvGraphicFramePr/>
          <p:nvPr/>
        </p:nvGraphicFramePr>
        <p:xfrm flipV="1">
          <a:off x="3581400" y="5867400"/>
          <a:ext cx="13716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" imgW="760730" imgH="215900" progId="Equation.3">
                  <p:embed/>
                </p:oleObj>
              </mc:Choice>
              <mc:Fallback>
                <p:oleObj name="" r:id="rId1" imgW="760730" imgH="2159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 flipV="1">
                        <a:off x="3581400" y="5867400"/>
                        <a:ext cx="1371600" cy="612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9250" name="Text Box 2"/>
          <p:cNvSpPr txBox="1">
            <a:spLocks noChangeArrowheads="1"/>
          </p:cNvSpPr>
          <p:nvPr/>
        </p:nvSpPr>
        <p:spPr bwMode="auto">
          <a:xfrm>
            <a:off x="838200" y="228600"/>
            <a:ext cx="7086600" cy="1587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表（</a:t>
            </a:r>
            <a:r>
              <a:rPr kumimoji="1" lang="en-US" altLang="zh-CN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中空格的检验数全为非负，此时是最优解。</a:t>
            </a:r>
            <a:endParaRPr kumimoji="1" lang="zh-CN" altLang="en-US" sz="28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最优调运方案为</a:t>
            </a:r>
            <a:r>
              <a:rPr kumimoji="1" lang="zh-CN" altLang="en-US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表（</a:t>
            </a:r>
            <a:r>
              <a:rPr kumimoji="1" lang="en-US" altLang="zh-CN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），</a:t>
            </a:r>
            <a:r>
              <a:rPr kumimoji="1" lang="zh-CN" altLang="en-US" sz="28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最小费用为</a:t>
            </a:r>
            <a:r>
              <a:rPr kumimoji="1" lang="en-US" altLang="zh-CN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85</a:t>
            </a:r>
            <a:r>
              <a:rPr kumimoji="1" lang="zh-CN" altLang="en-US" sz="2800" b="1" kern="1200" cap="none" spc="0" normalizeH="0" baseline="0" noProof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元。</a:t>
            </a:r>
            <a:endParaRPr kumimoji="1" lang="zh-CN" altLang="en-US" sz="2800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0355" name="表格 100354"/>
          <p:cNvGraphicFramePr/>
          <p:nvPr/>
        </p:nvGraphicFramePr>
        <p:xfrm>
          <a:off x="990600" y="1981200"/>
          <a:ext cx="6781800" cy="4492625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884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2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1378" name="表格 101377"/>
          <p:cNvGraphicFramePr/>
          <p:nvPr/>
        </p:nvGraphicFramePr>
        <p:xfrm>
          <a:off x="685800" y="228600"/>
          <a:ext cx="6781800" cy="4492625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884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zh-CN" altLang="en-US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r>
                        <a:rPr lang="zh-CN" altLang="en-US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zh-CN" altLang="en-US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zh-CN" altLang="en-US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zh-CN" altLang="en-US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zh-CN" altLang="en-US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endParaRPr lang="zh-CN" altLang="en-US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zh-CN" altLang="en-US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r>
                        <a:rPr lang="zh-CN" altLang="en-US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）</a:t>
                      </a: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1423" name="Line 47"/>
          <p:cNvSpPr/>
          <p:nvPr/>
        </p:nvSpPr>
        <p:spPr>
          <a:xfrm>
            <a:off x="2362200" y="1524000"/>
            <a:ext cx="3429000" cy="0"/>
          </a:xfrm>
          <a:prstGeom prst="line">
            <a:avLst/>
          </a:prstGeom>
          <a:ln w="952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01424" name="Line 48"/>
          <p:cNvSpPr/>
          <p:nvPr/>
        </p:nvSpPr>
        <p:spPr>
          <a:xfrm>
            <a:off x="5791200" y="1524000"/>
            <a:ext cx="0" cy="1219200"/>
          </a:xfrm>
          <a:prstGeom prst="line">
            <a:avLst/>
          </a:prstGeom>
          <a:ln w="952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01425" name="Line 50"/>
          <p:cNvSpPr/>
          <p:nvPr/>
        </p:nvSpPr>
        <p:spPr>
          <a:xfrm flipH="1">
            <a:off x="2362200" y="2743200"/>
            <a:ext cx="3429000" cy="0"/>
          </a:xfrm>
          <a:prstGeom prst="line">
            <a:avLst/>
          </a:prstGeom>
          <a:ln w="952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01426" name="Line 52"/>
          <p:cNvSpPr/>
          <p:nvPr/>
        </p:nvSpPr>
        <p:spPr>
          <a:xfrm>
            <a:off x="2362200" y="1524000"/>
            <a:ext cx="0" cy="1219200"/>
          </a:xfrm>
          <a:prstGeom prst="line">
            <a:avLst/>
          </a:prstGeom>
          <a:ln w="952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2402" name="表格 102401"/>
          <p:cNvGraphicFramePr/>
          <p:nvPr/>
        </p:nvGraphicFramePr>
        <p:xfrm>
          <a:off x="685800" y="228600"/>
          <a:ext cx="6781800" cy="4492625"/>
        </p:xfrm>
        <a:graphic>
          <a:graphicData uri="http://schemas.openxmlformats.org/drawingml/2006/table">
            <a:tbl>
              <a:tblPr/>
              <a:tblGrid>
                <a:gridCol w="1130300"/>
                <a:gridCol w="1130300"/>
                <a:gridCol w="1130300"/>
                <a:gridCol w="1130300"/>
                <a:gridCol w="1130300"/>
                <a:gridCol w="1130300"/>
              </a:tblGrid>
              <a:tr h="884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 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2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6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30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8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9231" name="Text Box 47"/>
          <p:cNvSpPr txBox="1">
            <a:spLocks noChangeArrowheads="1"/>
          </p:cNvSpPr>
          <p:nvPr/>
        </p:nvSpPr>
        <p:spPr bwMode="auto">
          <a:xfrm>
            <a:off x="304800" y="5181600"/>
            <a:ext cx="8305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为另一最优解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34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453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445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547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6250"/>
            <a:ext cx="9144000" cy="5545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649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1075"/>
            <a:ext cx="9144000" cy="3960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990600" y="830263"/>
            <a:ext cx="7391400" cy="173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</a:t>
            </a:r>
            <a:r>
              <a:rPr kumimoji="1" lang="en-US" altLang="zh-CN" sz="3600" b="1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某石油公司设有四个炼油厂，它们生产普通汽油，并为七个销售区服务，生产和需求情况如下：</a:t>
            </a:r>
            <a:endParaRPr kumimoji="1" lang="zh-CN" altLang="en-US" sz="36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2226" name="Object 3"/>
          <p:cNvGraphicFramePr/>
          <p:nvPr/>
        </p:nvGraphicFramePr>
        <p:xfrm>
          <a:off x="1001713" y="2792413"/>
          <a:ext cx="619125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6162675" imgH="1438275" progId="Word.Document.8">
                  <p:embed/>
                </p:oleObj>
              </mc:Choice>
              <mc:Fallback>
                <p:oleObj name="" r:id="rId1" imgW="6162675" imgH="1438275" progId="Word.Document.8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01713" y="2792413"/>
                        <a:ext cx="6191250" cy="1428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6"/>
          <p:cNvGraphicFramePr/>
          <p:nvPr/>
        </p:nvGraphicFramePr>
        <p:xfrm>
          <a:off x="1066800" y="4038600"/>
          <a:ext cx="7127875" cy="251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" imgW="7096125" imgH="2514600" progId="Word.Document.8">
                  <p:embed/>
                </p:oleObj>
              </mc:Choice>
              <mc:Fallback>
                <p:oleObj name="" r:id="rId3" imgW="7096125" imgH="2514600" progId="Word.Document.8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6800" y="4038600"/>
                        <a:ext cx="7127875" cy="2513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1143000" y="381000"/>
            <a:ext cx="6858000" cy="1739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从炼油厂运往第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zh-CN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个销售区每公升汽油平均运费（单位：角/公升），应如何调运，使运费最省</a:t>
            </a:r>
            <a:r>
              <a:rPr kumimoji="1" lang="zh-CN" altLang="zh-CN" sz="2400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7523" name="表格 107522"/>
          <p:cNvGraphicFramePr/>
          <p:nvPr/>
        </p:nvGraphicFramePr>
        <p:xfrm>
          <a:off x="762000" y="2209800"/>
          <a:ext cx="7620000" cy="4081463"/>
        </p:xfrm>
        <a:graphic>
          <a:graphicData uri="http://schemas.openxmlformats.org/drawingml/2006/table">
            <a:tbl>
              <a:tblPr/>
              <a:tblGrid>
                <a:gridCol w="990600"/>
                <a:gridCol w="701675"/>
                <a:gridCol w="847725"/>
                <a:gridCol w="847725"/>
                <a:gridCol w="844550"/>
                <a:gridCol w="847725"/>
                <a:gridCol w="847725"/>
                <a:gridCol w="844550"/>
                <a:gridCol w="847725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7595" name="Line 76"/>
          <p:cNvSpPr/>
          <p:nvPr/>
        </p:nvSpPr>
        <p:spPr>
          <a:xfrm>
            <a:off x="762000" y="2209800"/>
            <a:ext cx="9906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1143000" y="381000"/>
            <a:ext cx="6858000" cy="1190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解：平衡问题，用最小元素法求初始方案为：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8547" name="表格 108546"/>
          <p:cNvGraphicFramePr/>
          <p:nvPr/>
        </p:nvGraphicFramePr>
        <p:xfrm>
          <a:off x="457200" y="17526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8619" name="Line 162"/>
          <p:cNvSpPr/>
          <p:nvPr/>
        </p:nvSpPr>
        <p:spPr>
          <a:xfrm>
            <a:off x="3276600" y="1447800"/>
            <a:ext cx="0" cy="47244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9570" name="表格 109569"/>
          <p:cNvGraphicFramePr/>
          <p:nvPr/>
        </p:nvGraphicFramePr>
        <p:xfrm>
          <a:off x="304800" y="6096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9642" name="Line 99"/>
          <p:cNvSpPr/>
          <p:nvPr/>
        </p:nvSpPr>
        <p:spPr>
          <a:xfrm>
            <a:off x="3200400" y="228600"/>
            <a:ext cx="0" cy="45720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09643" name="Line 103"/>
          <p:cNvSpPr/>
          <p:nvPr/>
        </p:nvSpPr>
        <p:spPr>
          <a:xfrm>
            <a:off x="6705600" y="304800"/>
            <a:ext cx="0" cy="44958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09644" name="Line 115"/>
          <p:cNvSpPr/>
          <p:nvPr/>
        </p:nvSpPr>
        <p:spPr>
          <a:xfrm>
            <a:off x="304800" y="609600"/>
            <a:ext cx="9144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0594" name="表格 110593"/>
          <p:cNvGraphicFramePr/>
          <p:nvPr/>
        </p:nvGraphicFramePr>
        <p:xfrm>
          <a:off x="304800" y="609600"/>
          <a:ext cx="8001000" cy="39624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0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0666" name="Line 74"/>
          <p:cNvSpPr/>
          <p:nvPr/>
        </p:nvSpPr>
        <p:spPr>
          <a:xfrm>
            <a:off x="3124200" y="228600"/>
            <a:ext cx="0" cy="48006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0667" name="Line 75"/>
          <p:cNvSpPr/>
          <p:nvPr/>
        </p:nvSpPr>
        <p:spPr>
          <a:xfrm>
            <a:off x="4876800" y="228600"/>
            <a:ext cx="0" cy="48006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0668" name="Line 76"/>
          <p:cNvSpPr/>
          <p:nvPr/>
        </p:nvSpPr>
        <p:spPr>
          <a:xfrm>
            <a:off x="6629400" y="304800"/>
            <a:ext cx="0" cy="48006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0669" name="Line 78"/>
          <p:cNvSpPr/>
          <p:nvPr/>
        </p:nvSpPr>
        <p:spPr>
          <a:xfrm>
            <a:off x="304800" y="762000"/>
            <a:ext cx="9144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1618" name="表格 111617"/>
          <p:cNvGraphicFramePr/>
          <p:nvPr/>
        </p:nvGraphicFramePr>
        <p:xfrm>
          <a:off x="304800" y="6096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1690" name="Line 74"/>
          <p:cNvSpPr/>
          <p:nvPr/>
        </p:nvSpPr>
        <p:spPr>
          <a:xfrm>
            <a:off x="3124200" y="381000"/>
            <a:ext cx="0" cy="48006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1691" name="Line 75"/>
          <p:cNvSpPr/>
          <p:nvPr/>
        </p:nvSpPr>
        <p:spPr>
          <a:xfrm>
            <a:off x="6705600" y="304800"/>
            <a:ext cx="0" cy="48006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1692" name="Line 76"/>
          <p:cNvSpPr/>
          <p:nvPr/>
        </p:nvSpPr>
        <p:spPr>
          <a:xfrm>
            <a:off x="4876800" y="304800"/>
            <a:ext cx="0" cy="48006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1693" name="Line 77"/>
          <p:cNvSpPr/>
          <p:nvPr/>
        </p:nvSpPr>
        <p:spPr>
          <a:xfrm>
            <a:off x="381000" y="2209800"/>
            <a:ext cx="87630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1694" name="Line 78"/>
          <p:cNvSpPr/>
          <p:nvPr/>
        </p:nvSpPr>
        <p:spPr>
          <a:xfrm>
            <a:off x="304800" y="762000"/>
            <a:ext cx="9144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2642" name="表格 112641"/>
          <p:cNvGraphicFramePr/>
          <p:nvPr/>
        </p:nvGraphicFramePr>
        <p:xfrm>
          <a:off x="304800" y="6096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714" name="Line 74"/>
          <p:cNvSpPr/>
          <p:nvPr/>
        </p:nvSpPr>
        <p:spPr>
          <a:xfrm>
            <a:off x="3124200" y="304800"/>
            <a:ext cx="0" cy="48768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2715" name="Line 75"/>
          <p:cNvSpPr/>
          <p:nvPr/>
        </p:nvSpPr>
        <p:spPr>
          <a:xfrm>
            <a:off x="6705600" y="304800"/>
            <a:ext cx="0" cy="48768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2716" name="Line 76"/>
          <p:cNvSpPr/>
          <p:nvPr/>
        </p:nvSpPr>
        <p:spPr>
          <a:xfrm>
            <a:off x="4876800" y="381000"/>
            <a:ext cx="0" cy="48768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2717" name="Line 78"/>
          <p:cNvSpPr/>
          <p:nvPr/>
        </p:nvSpPr>
        <p:spPr>
          <a:xfrm>
            <a:off x="0" y="2209800"/>
            <a:ext cx="89154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2718" name="Line 79"/>
          <p:cNvSpPr/>
          <p:nvPr/>
        </p:nvSpPr>
        <p:spPr>
          <a:xfrm>
            <a:off x="1371600" y="304800"/>
            <a:ext cx="0" cy="48768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2719" name="Line 81"/>
          <p:cNvSpPr/>
          <p:nvPr/>
        </p:nvSpPr>
        <p:spPr>
          <a:xfrm>
            <a:off x="304800" y="838200"/>
            <a:ext cx="9144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3666" name="表格 113665"/>
          <p:cNvGraphicFramePr/>
          <p:nvPr/>
        </p:nvGraphicFramePr>
        <p:xfrm>
          <a:off x="533400" y="12954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</a:t>
                      </a: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738" name="Line 74"/>
          <p:cNvSpPr/>
          <p:nvPr/>
        </p:nvSpPr>
        <p:spPr>
          <a:xfrm>
            <a:off x="3352800" y="9144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3739" name="Line 75"/>
          <p:cNvSpPr/>
          <p:nvPr/>
        </p:nvSpPr>
        <p:spPr>
          <a:xfrm>
            <a:off x="6934200" y="10668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3740" name="Line 76"/>
          <p:cNvSpPr/>
          <p:nvPr/>
        </p:nvSpPr>
        <p:spPr>
          <a:xfrm>
            <a:off x="51816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3741" name="Line 77"/>
          <p:cNvSpPr/>
          <p:nvPr/>
        </p:nvSpPr>
        <p:spPr>
          <a:xfrm>
            <a:off x="16002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3742" name="Line 78"/>
          <p:cNvSpPr/>
          <p:nvPr/>
        </p:nvSpPr>
        <p:spPr>
          <a:xfrm>
            <a:off x="533400" y="2895600"/>
            <a:ext cx="83058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3743" name="Line 79"/>
          <p:cNvSpPr/>
          <p:nvPr/>
        </p:nvSpPr>
        <p:spPr>
          <a:xfrm>
            <a:off x="25146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3744" name="Line 81"/>
          <p:cNvSpPr/>
          <p:nvPr/>
        </p:nvSpPr>
        <p:spPr>
          <a:xfrm>
            <a:off x="533400" y="1524000"/>
            <a:ext cx="9144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4690" name="表格 114689"/>
          <p:cNvGraphicFramePr/>
          <p:nvPr/>
        </p:nvGraphicFramePr>
        <p:xfrm>
          <a:off x="533400" y="12954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 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4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5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 </a:t>
                      </a: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4762" name="Line 74"/>
          <p:cNvSpPr/>
          <p:nvPr/>
        </p:nvSpPr>
        <p:spPr>
          <a:xfrm>
            <a:off x="1600200" y="990600"/>
            <a:ext cx="0" cy="48006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4763" name="Line 75"/>
          <p:cNvSpPr/>
          <p:nvPr/>
        </p:nvSpPr>
        <p:spPr>
          <a:xfrm>
            <a:off x="2438400" y="990600"/>
            <a:ext cx="0" cy="48006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4764" name="Line 76"/>
          <p:cNvSpPr/>
          <p:nvPr/>
        </p:nvSpPr>
        <p:spPr>
          <a:xfrm>
            <a:off x="3352800" y="914400"/>
            <a:ext cx="0" cy="48006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4765" name="Line 77"/>
          <p:cNvSpPr/>
          <p:nvPr/>
        </p:nvSpPr>
        <p:spPr>
          <a:xfrm>
            <a:off x="5105400" y="1066800"/>
            <a:ext cx="0" cy="48006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4766" name="Line 78"/>
          <p:cNvSpPr/>
          <p:nvPr/>
        </p:nvSpPr>
        <p:spPr>
          <a:xfrm>
            <a:off x="6934200" y="990600"/>
            <a:ext cx="0" cy="48006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4767" name="Line 79"/>
          <p:cNvSpPr/>
          <p:nvPr/>
        </p:nvSpPr>
        <p:spPr>
          <a:xfrm>
            <a:off x="304800" y="2971800"/>
            <a:ext cx="8458200" cy="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4768" name="Line 81"/>
          <p:cNvSpPr/>
          <p:nvPr/>
        </p:nvSpPr>
        <p:spPr>
          <a:xfrm>
            <a:off x="304800" y="3505200"/>
            <a:ext cx="8458200" cy="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4769" name="Line 82"/>
          <p:cNvSpPr/>
          <p:nvPr/>
        </p:nvSpPr>
        <p:spPr>
          <a:xfrm>
            <a:off x="533400" y="1524000"/>
            <a:ext cx="9144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5714" name="表格 115713"/>
          <p:cNvGraphicFramePr/>
          <p:nvPr/>
        </p:nvGraphicFramePr>
        <p:xfrm>
          <a:off x="533400" y="12954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5786" name="Line 74"/>
          <p:cNvSpPr/>
          <p:nvPr/>
        </p:nvSpPr>
        <p:spPr>
          <a:xfrm>
            <a:off x="1600200" y="990600"/>
            <a:ext cx="0" cy="46482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5787" name="Line 148"/>
          <p:cNvSpPr/>
          <p:nvPr/>
        </p:nvSpPr>
        <p:spPr>
          <a:xfrm>
            <a:off x="5181600" y="1066800"/>
            <a:ext cx="0" cy="46482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5788" name="Line 149"/>
          <p:cNvSpPr/>
          <p:nvPr/>
        </p:nvSpPr>
        <p:spPr>
          <a:xfrm>
            <a:off x="3352800" y="990600"/>
            <a:ext cx="0" cy="46482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5789" name="Line 150"/>
          <p:cNvSpPr/>
          <p:nvPr/>
        </p:nvSpPr>
        <p:spPr>
          <a:xfrm>
            <a:off x="2514600" y="1066800"/>
            <a:ext cx="0" cy="46482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5790" name="Line 151"/>
          <p:cNvSpPr/>
          <p:nvPr/>
        </p:nvSpPr>
        <p:spPr>
          <a:xfrm>
            <a:off x="6934200" y="1066800"/>
            <a:ext cx="0" cy="464820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5791" name="Line 152"/>
          <p:cNvSpPr/>
          <p:nvPr/>
        </p:nvSpPr>
        <p:spPr>
          <a:xfrm>
            <a:off x="304800" y="2971800"/>
            <a:ext cx="8458200" cy="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5792" name="Line 153"/>
          <p:cNvSpPr/>
          <p:nvPr/>
        </p:nvSpPr>
        <p:spPr>
          <a:xfrm>
            <a:off x="228600" y="3581400"/>
            <a:ext cx="8458200" cy="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5793" name="Line 154"/>
          <p:cNvSpPr/>
          <p:nvPr/>
        </p:nvSpPr>
        <p:spPr>
          <a:xfrm>
            <a:off x="381000" y="2286000"/>
            <a:ext cx="8458200" cy="0"/>
          </a:xfrm>
          <a:prstGeom prst="line">
            <a:avLst/>
          </a:prstGeom>
          <a:ln w="38100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5794" name="Line 155"/>
          <p:cNvSpPr/>
          <p:nvPr/>
        </p:nvSpPr>
        <p:spPr>
          <a:xfrm>
            <a:off x="533400" y="1524000"/>
            <a:ext cx="9144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6738" name="表格 116737"/>
          <p:cNvGraphicFramePr/>
          <p:nvPr/>
        </p:nvGraphicFramePr>
        <p:xfrm>
          <a:off x="533400" y="12954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6810" name="Line 74"/>
          <p:cNvSpPr/>
          <p:nvPr/>
        </p:nvSpPr>
        <p:spPr>
          <a:xfrm>
            <a:off x="381000" y="3581400"/>
            <a:ext cx="84582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6811" name="Line 75"/>
          <p:cNvSpPr/>
          <p:nvPr/>
        </p:nvSpPr>
        <p:spPr>
          <a:xfrm>
            <a:off x="304800" y="2971800"/>
            <a:ext cx="84582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6812" name="Line 76"/>
          <p:cNvSpPr/>
          <p:nvPr/>
        </p:nvSpPr>
        <p:spPr>
          <a:xfrm>
            <a:off x="304800" y="2286000"/>
            <a:ext cx="84582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6813" name="Line 77"/>
          <p:cNvSpPr/>
          <p:nvPr/>
        </p:nvSpPr>
        <p:spPr>
          <a:xfrm>
            <a:off x="16002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6814" name="Line 78"/>
          <p:cNvSpPr/>
          <p:nvPr/>
        </p:nvSpPr>
        <p:spPr>
          <a:xfrm>
            <a:off x="24384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6815" name="Line 79"/>
          <p:cNvSpPr/>
          <p:nvPr/>
        </p:nvSpPr>
        <p:spPr>
          <a:xfrm>
            <a:off x="3352800" y="9144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6816" name="Line 80"/>
          <p:cNvSpPr/>
          <p:nvPr/>
        </p:nvSpPr>
        <p:spPr>
          <a:xfrm>
            <a:off x="51816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6817" name="Line 81"/>
          <p:cNvSpPr/>
          <p:nvPr/>
        </p:nvSpPr>
        <p:spPr>
          <a:xfrm>
            <a:off x="7010400" y="11430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6818" name="Line 82"/>
          <p:cNvSpPr/>
          <p:nvPr/>
        </p:nvSpPr>
        <p:spPr>
          <a:xfrm>
            <a:off x="4267200" y="990600"/>
            <a:ext cx="0" cy="44958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6819" name="Line 83"/>
          <p:cNvSpPr/>
          <p:nvPr/>
        </p:nvSpPr>
        <p:spPr>
          <a:xfrm>
            <a:off x="533400" y="1524000"/>
            <a:ext cx="9144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7762" name="表格 117761"/>
          <p:cNvGraphicFramePr/>
          <p:nvPr/>
        </p:nvGraphicFramePr>
        <p:xfrm>
          <a:off x="609600" y="12954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7834" name="Line 74"/>
          <p:cNvSpPr/>
          <p:nvPr/>
        </p:nvSpPr>
        <p:spPr>
          <a:xfrm>
            <a:off x="304800" y="2286000"/>
            <a:ext cx="84582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35" name="Line 75"/>
          <p:cNvSpPr/>
          <p:nvPr/>
        </p:nvSpPr>
        <p:spPr>
          <a:xfrm>
            <a:off x="381000" y="2971800"/>
            <a:ext cx="84582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36" name="Line 76"/>
          <p:cNvSpPr/>
          <p:nvPr/>
        </p:nvSpPr>
        <p:spPr>
          <a:xfrm>
            <a:off x="457200" y="3581400"/>
            <a:ext cx="84582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37" name="Line 77"/>
          <p:cNvSpPr/>
          <p:nvPr/>
        </p:nvSpPr>
        <p:spPr>
          <a:xfrm>
            <a:off x="16002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38" name="Line 78"/>
          <p:cNvSpPr/>
          <p:nvPr/>
        </p:nvSpPr>
        <p:spPr>
          <a:xfrm>
            <a:off x="3429000" y="10668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39" name="Line 79"/>
          <p:cNvSpPr/>
          <p:nvPr/>
        </p:nvSpPr>
        <p:spPr>
          <a:xfrm>
            <a:off x="51816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40" name="Line 80"/>
          <p:cNvSpPr/>
          <p:nvPr/>
        </p:nvSpPr>
        <p:spPr>
          <a:xfrm>
            <a:off x="6934200" y="11430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41" name="Line 81"/>
          <p:cNvSpPr/>
          <p:nvPr/>
        </p:nvSpPr>
        <p:spPr>
          <a:xfrm>
            <a:off x="2438400" y="10668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42" name="Line 82"/>
          <p:cNvSpPr/>
          <p:nvPr/>
        </p:nvSpPr>
        <p:spPr>
          <a:xfrm>
            <a:off x="42672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43" name="Line 83"/>
          <p:cNvSpPr/>
          <p:nvPr/>
        </p:nvSpPr>
        <p:spPr>
          <a:xfrm>
            <a:off x="6172200" y="990600"/>
            <a:ext cx="0" cy="464820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44" name="Line 84"/>
          <p:cNvSpPr/>
          <p:nvPr/>
        </p:nvSpPr>
        <p:spPr>
          <a:xfrm>
            <a:off x="381000" y="4191000"/>
            <a:ext cx="8458200" cy="0"/>
          </a:xfrm>
          <a:prstGeom prst="line">
            <a:avLst/>
          </a:prstGeom>
          <a:ln w="28575" cap="flat" cmpd="sng">
            <a:solidFill>
              <a:srgbClr val="0066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17845" name="Line 85"/>
          <p:cNvSpPr/>
          <p:nvPr/>
        </p:nvSpPr>
        <p:spPr>
          <a:xfrm>
            <a:off x="609600" y="1524000"/>
            <a:ext cx="9144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8786" name="表格 118785"/>
          <p:cNvGraphicFramePr/>
          <p:nvPr/>
        </p:nvGraphicFramePr>
        <p:xfrm>
          <a:off x="609600" y="12954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15</a:t>
                      </a:r>
                      <a:endParaRPr lang="en-US" altLang="zh-CN" sz="28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5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4587" name="Text Box 219"/>
          <p:cNvSpPr txBox="1">
            <a:spLocks noChangeArrowheads="1"/>
          </p:cNvSpPr>
          <p:nvPr/>
        </p:nvSpPr>
        <p:spPr bwMode="auto">
          <a:xfrm>
            <a:off x="1143000" y="381000"/>
            <a:ext cx="68580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用最小元素法得初始基可行解为：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4589" name="Text Box 221"/>
          <p:cNvSpPr txBox="1">
            <a:spLocks noChangeArrowheads="1"/>
          </p:cNvSpPr>
          <p:nvPr/>
        </p:nvSpPr>
        <p:spPr bwMode="auto">
          <a:xfrm>
            <a:off x="3200400" y="5562600"/>
            <a:ext cx="1828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表（</a:t>
            </a:r>
            <a:r>
              <a:rPr kumimoji="1" lang="en-US" altLang="zh-CN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2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32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3" name="Text Box 3"/>
          <p:cNvSpPr txBox="1">
            <a:spLocks noChangeArrowheads="1"/>
          </p:cNvSpPr>
          <p:nvPr/>
        </p:nvSpPr>
        <p:spPr bwMode="auto">
          <a:xfrm>
            <a:off x="1143000" y="381000"/>
            <a:ext cx="68580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用位势法计算检验数。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9811" name="表格 119810"/>
          <p:cNvGraphicFramePr/>
          <p:nvPr/>
        </p:nvGraphicFramePr>
        <p:xfrm>
          <a:off x="685800" y="1295400"/>
          <a:ext cx="8001000" cy="4157663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u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i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4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9883" name="Line 85"/>
          <p:cNvSpPr/>
          <p:nvPr/>
        </p:nvSpPr>
        <p:spPr>
          <a:xfrm>
            <a:off x="685800" y="1447800"/>
            <a:ext cx="9144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3251" name="表格 53250"/>
          <p:cNvGraphicFramePr/>
          <p:nvPr/>
        </p:nvGraphicFramePr>
        <p:xfrm>
          <a:off x="685800" y="1295400"/>
          <a:ext cx="8001000" cy="4157663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   u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i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0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b="1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4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400" b="1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 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 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800" b="1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b="1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5706" name="Text Box 74"/>
          <p:cNvSpPr txBox="1">
            <a:spLocks noChangeArrowheads="1"/>
          </p:cNvSpPr>
          <p:nvPr/>
        </p:nvSpPr>
        <p:spPr bwMode="auto">
          <a:xfrm>
            <a:off x="1143000" y="381000"/>
            <a:ext cx="68580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检验数为：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5708" name="Text Box 76"/>
          <p:cNvSpPr txBox="1">
            <a:spLocks noChangeArrowheads="1"/>
          </p:cNvSpPr>
          <p:nvPr/>
        </p:nvSpPr>
        <p:spPr bwMode="auto">
          <a:xfrm>
            <a:off x="457200" y="5715000"/>
            <a:ext cx="83820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检验数             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，故表（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）不是最优解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3250" name="Object 77"/>
          <p:cNvGraphicFramePr/>
          <p:nvPr/>
        </p:nvGraphicFramePr>
        <p:xfrm flipV="1">
          <a:off x="1676400" y="5715000"/>
          <a:ext cx="20859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825500" imgH="228600" progId="Equation.3">
                  <p:embed/>
                </p:oleObj>
              </mc:Choice>
              <mc:Fallback>
                <p:oleObj name="" r:id="rId1" imgW="825500" imgH="2286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 flipV="1">
                        <a:off x="1676400" y="5715000"/>
                        <a:ext cx="2085975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25" name="Rectangle 78"/>
          <p:cNvSpPr/>
          <p:nvPr/>
        </p:nvSpPr>
        <p:spPr>
          <a:xfrm>
            <a:off x="3124200" y="5943600"/>
            <a:ext cx="3587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＜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3326" name="Line 80"/>
          <p:cNvSpPr/>
          <p:nvPr/>
        </p:nvSpPr>
        <p:spPr>
          <a:xfrm>
            <a:off x="685800" y="1524000"/>
            <a:ext cx="9144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6658" name="Text Box 2"/>
          <p:cNvSpPr txBox="1">
            <a:spLocks noChangeArrowheads="1"/>
          </p:cNvSpPr>
          <p:nvPr/>
        </p:nvSpPr>
        <p:spPr bwMode="auto">
          <a:xfrm>
            <a:off x="1143000" y="381000"/>
            <a:ext cx="68580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闭回路调节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0835" name="表格 120834"/>
          <p:cNvGraphicFramePr/>
          <p:nvPr/>
        </p:nvGraphicFramePr>
        <p:xfrm>
          <a:off x="609600" y="1295400"/>
          <a:ext cx="8001000" cy="44704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10             </a:t>
                      </a:r>
                      <a:endParaRPr lang="en-US" altLang="zh-CN" sz="3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endParaRPr lang="en-US" altLang="zh-CN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66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15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3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5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+1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0907" name="Line 75"/>
          <p:cNvSpPr/>
          <p:nvPr/>
        </p:nvSpPr>
        <p:spPr>
          <a:xfrm>
            <a:off x="7086600" y="2362200"/>
            <a:ext cx="0" cy="60960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0908" name="Line 76"/>
          <p:cNvSpPr/>
          <p:nvPr/>
        </p:nvSpPr>
        <p:spPr>
          <a:xfrm>
            <a:off x="2209800" y="2971800"/>
            <a:ext cx="4724400" cy="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0909" name="Line 78"/>
          <p:cNvSpPr/>
          <p:nvPr/>
        </p:nvSpPr>
        <p:spPr>
          <a:xfrm>
            <a:off x="2286000" y="4114800"/>
            <a:ext cx="2209800" cy="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0910" name="Line 81"/>
          <p:cNvSpPr/>
          <p:nvPr/>
        </p:nvSpPr>
        <p:spPr>
          <a:xfrm>
            <a:off x="4495800" y="2362200"/>
            <a:ext cx="2438400" cy="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0911" name="Line 85"/>
          <p:cNvSpPr/>
          <p:nvPr/>
        </p:nvSpPr>
        <p:spPr>
          <a:xfrm>
            <a:off x="2133600" y="2971800"/>
            <a:ext cx="0" cy="106680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120912" name="Line 86"/>
          <p:cNvSpPr/>
          <p:nvPr/>
        </p:nvSpPr>
        <p:spPr>
          <a:xfrm>
            <a:off x="4495800" y="2438400"/>
            <a:ext cx="0" cy="160020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1858" name="表格 121857"/>
          <p:cNvGraphicFramePr/>
          <p:nvPr/>
        </p:nvGraphicFramePr>
        <p:xfrm>
          <a:off x="609600" y="1295400"/>
          <a:ext cx="8001000" cy="4013200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400" dirty="0">
                          <a:latin typeface="Times New Roman" panose="02020603050405020304" pitchFamily="18" charset="0"/>
                        </a:rPr>
                        <a:t>产量</a:t>
                      </a:r>
                      <a:endParaRPr lang="zh-CN" altLang="en-US" sz="24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10             </a:t>
                      </a:r>
                      <a:endParaRPr lang="en-US" altLang="zh-CN" sz="3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endParaRPr lang="en-US" altLang="zh-CN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25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15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3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3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Times New Roman" panose="02020603050405020304" pitchFamily="18" charset="0"/>
                        </a:rPr>
                        <a:t>销量</a:t>
                      </a:r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766" name="Text Box 86"/>
          <p:cNvSpPr txBox="1">
            <a:spLocks noChangeArrowheads="1"/>
          </p:cNvSpPr>
          <p:nvPr/>
        </p:nvSpPr>
        <p:spPr bwMode="auto">
          <a:xfrm>
            <a:off x="1143000" y="381000"/>
            <a:ext cx="68580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闭回路调节为：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1931" name="Text Box 87"/>
          <p:cNvSpPr txBox="1"/>
          <p:nvPr/>
        </p:nvSpPr>
        <p:spPr>
          <a:xfrm>
            <a:off x="1066800" y="5334000"/>
            <a:ext cx="320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27768" name="Text Box 88"/>
          <p:cNvSpPr txBox="1">
            <a:spLocks noChangeArrowheads="1"/>
          </p:cNvSpPr>
          <p:nvPr/>
        </p:nvSpPr>
        <p:spPr bwMode="auto">
          <a:xfrm>
            <a:off x="3200400" y="5410200"/>
            <a:ext cx="1981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表（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8706" name="Text Box 2"/>
          <p:cNvSpPr txBox="1">
            <a:spLocks noChangeArrowheads="1"/>
          </p:cNvSpPr>
          <p:nvPr/>
        </p:nvSpPr>
        <p:spPr bwMode="auto">
          <a:xfrm>
            <a:off x="1066800" y="0"/>
            <a:ext cx="68580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再用位势法计算表（</a:t>
            </a:r>
            <a:r>
              <a:rPr kumimoji="1" lang="en-US" altLang="zh-CN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3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）检验数。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4276" name="表格 54275"/>
          <p:cNvGraphicFramePr/>
          <p:nvPr/>
        </p:nvGraphicFramePr>
        <p:xfrm>
          <a:off x="838200" y="838200"/>
          <a:ext cx="8001000" cy="4157663"/>
        </p:xfrm>
        <a:graphic>
          <a:graphicData uri="http://schemas.openxmlformats.org/drawingml/2006/table">
            <a:tbl>
              <a:tblPr/>
              <a:tblGrid>
                <a:gridCol w="914400"/>
                <a:gridCol w="862013"/>
                <a:gridCol w="890587"/>
                <a:gridCol w="890588"/>
                <a:gridCol w="885825"/>
                <a:gridCol w="890587"/>
                <a:gridCol w="890588"/>
                <a:gridCol w="885825"/>
                <a:gridCol w="890587"/>
              </a:tblGrid>
              <a:tr h="695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dirty="0"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销地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产地</a:t>
                      </a:r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   u</a:t>
                      </a:r>
                      <a:r>
                        <a:rPr lang="en-US" altLang="zh-CN" sz="2400" baseline="-25000" dirty="0">
                          <a:latin typeface="Times New Roman" panose="02020603050405020304" pitchFamily="18" charset="0"/>
                        </a:rPr>
                        <a:t>i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0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       </a:t>
                      </a:r>
                      <a:endParaRPr lang="en-US" altLang="zh-CN" sz="20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 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400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 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800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9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 0</a:t>
                      </a:r>
                      <a:endParaRPr lang="en-US" altLang="zh-CN" sz="2800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6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4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</a:rPr>
                        <a:t>  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8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5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800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 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0</a:t>
                      </a:r>
                      <a:endParaRPr lang="en-US" altLang="zh-CN" sz="2800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</a:rPr>
                        <a:t>  0</a:t>
                      </a:r>
                      <a:endParaRPr lang="en-US" altLang="zh-CN" sz="2800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4  </a:t>
                      </a: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400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sz="2400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dirty="0">
                          <a:solidFill>
                            <a:srgbClr val="0066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800" dirty="0">
                        <a:solidFill>
                          <a:srgbClr val="0066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8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4274" name="Object 75"/>
          <p:cNvGraphicFramePr/>
          <p:nvPr/>
        </p:nvGraphicFramePr>
        <p:xfrm flipV="1">
          <a:off x="1600200" y="5105400"/>
          <a:ext cx="21510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850265" imgH="228600" progId="Equation.3">
                  <p:embed/>
                </p:oleObj>
              </mc:Choice>
              <mc:Fallback>
                <p:oleObj name="" r:id="rId1" imgW="850265" imgH="2286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 flipV="1">
                        <a:off x="1600200" y="5105400"/>
                        <a:ext cx="2151063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80" name="Text Box 76"/>
          <p:cNvSpPr txBox="1">
            <a:spLocks noChangeArrowheads="1"/>
          </p:cNvSpPr>
          <p:nvPr/>
        </p:nvSpPr>
        <p:spPr bwMode="auto">
          <a:xfrm>
            <a:off x="990600" y="5181600"/>
            <a:ext cx="83820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检验数             </a:t>
            </a:r>
            <a:r>
              <a:rPr kumimoji="1" lang="en-US" altLang="zh-CN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，故表（</a:t>
            </a:r>
            <a:r>
              <a:rPr kumimoji="1" lang="en-US" altLang="zh-CN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）是最优解，</a:t>
            </a:r>
            <a:endParaRPr kumimoji="1" lang="zh-CN" altLang="en-US" sz="28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8782" name="Text Box 78"/>
          <p:cNvSpPr txBox="1">
            <a:spLocks noChangeArrowheads="1"/>
          </p:cNvSpPr>
          <p:nvPr/>
        </p:nvSpPr>
        <p:spPr bwMode="auto">
          <a:xfrm>
            <a:off x="762000" y="5867400"/>
            <a:ext cx="68580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总运费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=480000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（元）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5298" name="Object 2"/>
          <p:cNvGraphicFramePr/>
          <p:nvPr/>
        </p:nvGraphicFramePr>
        <p:xfrm>
          <a:off x="985838" y="1905000"/>
          <a:ext cx="7175500" cy="489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7178040" imgH="2400300" progId="Word.Document.8">
                  <p:embed/>
                </p:oleObj>
              </mc:Choice>
              <mc:Fallback>
                <p:oleObj name="" r:id="rId1" imgW="7178040" imgH="2400300" progId="Word.Document.8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85838" y="1905000"/>
                        <a:ext cx="7175500" cy="4894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79" name="Text Box 3"/>
          <p:cNvSpPr txBox="1">
            <a:spLocks noChangeArrowheads="1"/>
          </p:cNvSpPr>
          <p:nvPr/>
        </p:nvSpPr>
        <p:spPr bwMode="auto">
          <a:xfrm>
            <a:off x="1143000" y="228600"/>
            <a:ext cx="6858000" cy="1465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最优方案如下，</a:t>
            </a: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最小运费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=480000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元</a:t>
            </a:r>
            <a:endParaRPr kumimoji="1" lang="zh-CN" altLang="en-US" sz="2400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6322" name="Object 2048"/>
          <p:cNvGraphicFramePr/>
          <p:nvPr/>
        </p:nvGraphicFramePr>
        <p:xfrm>
          <a:off x="985838" y="1905000"/>
          <a:ext cx="7175500" cy="489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" imgW="7178675" imgH="4896485" progId="Word.Document.8">
                  <p:embed/>
                </p:oleObj>
              </mc:Choice>
              <mc:Fallback>
                <p:oleObj name="" r:id="rId1" imgW="7178675" imgH="4896485" progId="Word.Document.8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85838" y="1905000"/>
                        <a:ext cx="7175500" cy="4894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1143000" y="228600"/>
            <a:ext cx="6858000" cy="1190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有非基变量的检验数</a:t>
            </a:r>
            <a:r>
              <a:rPr kumimoji="1" lang="en-US" altLang="zh-CN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=0</a:t>
            </a:r>
            <a:r>
              <a:rPr kumimoji="1" lang="zh-CN" altLang="en-US" sz="3600" b="1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，有无穷多组解，另外一个解如下：</a:t>
            </a:r>
            <a:endParaRPr kumimoji="1" lang="zh-CN" altLang="en-US" sz="3600" b="1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2883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ln/>
        </p:spPr>
        <p:txBody>
          <a:bodyPr vert="horz" wrap="square" lIns="91440" tIns="45720" rIns="91440" bIns="45720" anchor="t" anchorCtr="0"/>
          <a:p>
            <a:pPr marL="533400" indent="-533400" algn="ctr" eaLnBrk="1" hangingPunct="1">
              <a:buFont typeface="Wingdings" panose="05000000000000000000" pitchFamily="2" charset="2"/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122884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885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886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887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888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889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0789fc46-ae07-4deb-b248-0b6645788fba"/>
</p:tagLst>
</file>

<file path=ppt/theme/theme1.xml><?xml version="1.0" encoding="utf-8"?>
<a:theme xmlns:a="http://schemas.openxmlformats.org/drawingml/2006/main" name="默认设计模板">
  <a:themeElements>
    <a:clrScheme name="默认设计模板 9">
      <a:dk1>
        <a:srgbClr val="000000"/>
      </a:dk1>
      <a:lt1>
        <a:srgbClr val="FFCC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E2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0000"/>
        </a:dk1>
        <a:lt1>
          <a:srgbClr val="FF99CC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CAE2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000000"/>
        </a:dk1>
        <a:lt1>
          <a:srgbClr val="FFCC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E2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Designs\Expedition.pot</Template>
  <TotalTime>0</TotalTime>
  <Words>9998</Words>
  <Application>WPS 演示</Application>
  <PresentationFormat>全屏显示(4:3)</PresentationFormat>
  <Paragraphs>3805</Paragraphs>
  <Slides>119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58</vt:i4>
      </vt:variant>
      <vt:variant>
        <vt:lpstr>幻灯片标题</vt:lpstr>
      </vt:variant>
      <vt:variant>
        <vt:i4>119</vt:i4>
      </vt:variant>
    </vt:vector>
  </HeadingPairs>
  <TitlesOfParts>
    <vt:vector size="190" baseType="lpstr">
      <vt:lpstr>Arial</vt:lpstr>
      <vt:lpstr>宋体</vt:lpstr>
      <vt:lpstr>Wingdings</vt:lpstr>
      <vt:lpstr>Times New Roman</vt:lpstr>
      <vt:lpstr>Calibri</vt:lpstr>
      <vt:lpstr>隶书</vt:lpstr>
      <vt:lpstr>Symbol</vt:lpstr>
      <vt:lpstr>楷体_GB2312</vt:lpstr>
      <vt:lpstr>新宋体</vt:lpstr>
      <vt:lpstr>华文新魏</vt:lpstr>
      <vt:lpstr>微软雅黑</vt:lpstr>
      <vt:lpstr>Arial Unicode MS</vt:lpstr>
      <vt:lpstr>默认设计模板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Equation.3</vt:lpstr>
      <vt:lpstr>Equation.3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运筹学</dc:title>
  <dc:creator/>
  <cp:lastModifiedBy>Albert Yang</cp:lastModifiedBy>
  <cp:revision>189</cp:revision>
  <dcterms:created xsi:type="dcterms:W3CDTF">2001-02-10T05:59:05Z</dcterms:created>
  <dcterms:modified xsi:type="dcterms:W3CDTF">2022-12-11T09:08:50Z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865C8966F8F14B5CB920BC36BCCB8B6D</vt:lpwstr>
  </property>
  <property fmtid="{D5CDD505-2E9C-101B-9397-08002B2CF9AE}" pid="3" name="KSOProductBuildVer">
    <vt:lpwstr>2052-11.1.0.12980</vt:lpwstr>
  </property>
</Properties>
</file>