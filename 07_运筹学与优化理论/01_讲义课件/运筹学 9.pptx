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51" r:id="rId16"/>
    <p:sldId id="352" r:id="rId17"/>
    <p:sldId id="353" r:id="rId18"/>
    <p:sldId id="354" r:id="rId19"/>
    <p:sldId id="356" r:id="rId20"/>
    <p:sldId id="357" r:id="rId21"/>
    <p:sldId id="358" r:id="rId22"/>
    <p:sldId id="359" r:id="rId23"/>
    <p:sldId id="360" r:id="rId24"/>
    <p:sldId id="361" r:id="rId25"/>
    <p:sldId id="362" r:id="rId26"/>
    <p:sldId id="363" r:id="rId27"/>
    <p:sldId id="364" r:id="rId28"/>
    <p:sldId id="365" r:id="rId29"/>
    <p:sldId id="270" r:id="rId30"/>
    <p:sldId id="271" r:id="rId31"/>
    <p:sldId id="272" r:id="rId32"/>
    <p:sldId id="273" r:id="rId33"/>
    <p:sldId id="274" r:id="rId34"/>
    <p:sldId id="275" r:id="rId35"/>
    <p:sldId id="276" r:id="rId36"/>
    <p:sldId id="277" r:id="rId37"/>
    <p:sldId id="278" r:id="rId38"/>
    <p:sldId id="279" r:id="rId39"/>
    <p:sldId id="280" r:id="rId40"/>
    <p:sldId id="281" r:id="rId41"/>
    <p:sldId id="282" r:id="rId42"/>
    <p:sldId id="283" r:id="rId43"/>
    <p:sldId id="284" r:id="rId44"/>
    <p:sldId id="285" r:id="rId45"/>
    <p:sldId id="286" r:id="rId46"/>
    <p:sldId id="287" r:id="rId47"/>
    <p:sldId id="288" r:id="rId48"/>
    <p:sldId id="289" r:id="rId49"/>
    <p:sldId id="290" r:id="rId50"/>
    <p:sldId id="291" r:id="rId51"/>
    <p:sldId id="292" r:id="rId52"/>
    <p:sldId id="293" r:id="rId53"/>
    <p:sldId id="294" r:id="rId54"/>
    <p:sldId id="350" r:id="rId55"/>
    <p:sldId id="295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37" r:id="rId71"/>
    <p:sldId id="340" r:id="rId72"/>
    <p:sldId id="338" r:id="rId73"/>
    <p:sldId id="339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6" r:id="rId85"/>
    <p:sldId id="333" r:id="rId86"/>
    <p:sldId id="334" r:id="rId87"/>
    <p:sldId id="335" r:id="rId88"/>
    <p:sldId id="343" r:id="rId89"/>
    <p:sldId id="369" r:id="rId90"/>
    <p:sldId id="368" r:id="rId91"/>
  </p:sldIdLst>
  <p:sldSz cx="9144000" cy="6858000" type="screen4x3"/>
  <p:notesSz cx="6858000" cy="9144000"/>
  <p:custDataLst>
    <p:tags r:id="rId95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99"/>
    <a:srgbClr val="FF66CC"/>
    <a:srgbClr val="FF99FF"/>
    <a:srgbClr val="CCFFCC"/>
    <a:srgbClr val="FFCCCC"/>
    <a:srgbClr val="009900"/>
    <a:srgbClr val="CCFF99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7023"/>
    <p:restoredTop sz="90929"/>
  </p:normalViewPr>
  <p:slideViewPr>
    <p:cSldViewPr showGuides="1">
      <p:cViewPr varScale="1">
        <p:scale>
          <a:sx n="67" d="100"/>
          <a:sy n="67" d="100"/>
        </p:scale>
        <p:origin x="-13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5" Type="http://schemas.openxmlformats.org/officeDocument/2006/relationships/tags" Target="tags/tag1.xml"/><Relationship Id="rId94" Type="http://schemas.openxmlformats.org/officeDocument/2006/relationships/tableStyles" Target="tableStyles.xml"/><Relationship Id="rId93" Type="http://schemas.openxmlformats.org/officeDocument/2006/relationships/viewProps" Target="viewProps.xml"/><Relationship Id="rId92" Type="http://schemas.openxmlformats.org/officeDocument/2006/relationships/presProps" Target="presProps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wmf"/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9.vml.rels><?xml version="1.0" encoding="UTF-8" standalone="yes"?>
<Relationships xmlns="http://schemas.openxmlformats.org/package/2006/relationships"><Relationship Id="rId5" Type="http://schemas.openxmlformats.org/officeDocument/2006/relationships/image" Target="../media/image18.wmf"/><Relationship Id="rId4" Type="http://schemas.openxmlformats.org/officeDocument/2006/relationships/image" Target="../media/image17.wmf"/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7.wmf"/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2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6.wmf"/></Relationships>
</file>

<file path=ppt/drawings/_rels/vmlDrawing2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3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drawings/_rels/vmlDrawing35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59.wmf"/></Relationships>
</file>

<file path=ppt/drawings/_rels/vmlDrawing38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0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61.wmf"/><Relationship Id="rId1" Type="http://schemas.openxmlformats.org/officeDocument/2006/relationships/image" Target="../media/image62.wmf"/></Relationships>
</file>

<file path=ppt/drawings/_rels/vmlDrawing4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4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7.wmf"/><Relationship Id="rId3" Type="http://schemas.openxmlformats.org/officeDocument/2006/relationships/image" Target="../media/image66.wmf"/><Relationship Id="rId2" Type="http://schemas.openxmlformats.org/officeDocument/2006/relationships/image" Target="../media/image65.wmf"/><Relationship Id="rId1" Type="http://schemas.openxmlformats.org/officeDocument/2006/relationships/image" Target="../media/image64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7.wmf"/></Relationships>
</file>

<file path=ppt/drawings/_rels/vmlDrawing43.vml.rels><?xml version="1.0" encoding="UTF-8" standalone="yes"?>
<Relationships xmlns="http://schemas.openxmlformats.org/package/2006/relationships"><Relationship Id="rId4" Type="http://schemas.openxmlformats.org/officeDocument/2006/relationships/image" Target="../media/image70.wmf"/><Relationship Id="rId3" Type="http://schemas.openxmlformats.org/officeDocument/2006/relationships/image" Target="../media/image67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44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45.vml.rels><?xml version="1.0" encoding="UTF-8" standalone="yes"?>
<Relationships xmlns="http://schemas.openxmlformats.org/package/2006/relationships"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4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4.wmf"/></Relationships>
</file>

<file path=ppt/drawings/_rels/vmlDrawing4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48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49.vml.rels><?xml version="1.0" encoding="UTF-8" standalone="yes"?>
<Relationships xmlns="http://schemas.openxmlformats.org/package/2006/relationships"><Relationship Id="rId1" Type="http://schemas.openxmlformats.org/officeDocument/2006/relationships/image" Target="../media/image75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5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drawings/_rels/vmlDrawing5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5299" name="Rectangle 3"/>
          <p:cNvSpPr>
            <a:spLocks noGrp="1"/>
          </p:cNvSpPr>
          <p:nvPr>
            <p:ph type="body" idx="1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hangingPunct="1"/>
            <a:fld id="{9A0DB2DC-4C9A-4742-B13C-FB6460FD3503}" type="slidenum">
              <a:rPr lang="en-US" altLang="zh-CN" dirty="0">
                <a:latin typeface="Times New Roman" panose="02020603050405020304" pitchFamily="18" charset="0"/>
              </a:rPr>
            </a:fld>
            <a:endParaRPr lang="en-US" altLang="zh-CN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4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5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wmf"/><Relationship Id="rId1" Type="http://schemas.openxmlformats.org/officeDocument/2006/relationships/oleObject" Target="../embeddings/oleObject6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8.wmf"/><Relationship Id="rId1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0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wmf"/><Relationship Id="rId1" Type="http://schemas.openxmlformats.org/officeDocument/2006/relationships/oleObject" Target="../embeddings/oleObject11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17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5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4.wmf"/><Relationship Id="rId12" Type="http://schemas.openxmlformats.org/officeDocument/2006/relationships/vmlDrawing" Target="../drawings/vmlDrawing9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8.wmf"/><Relationship Id="rId1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9.wmf"/><Relationship Id="rId1" Type="http://schemas.openxmlformats.org/officeDocument/2006/relationships/oleObject" Target="../embeddings/oleObject19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0.wmf"/><Relationship Id="rId1" Type="http://schemas.openxmlformats.org/officeDocument/2006/relationships/oleObject" Target="../embeddings/oleObject20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1.wmf"/><Relationship Id="rId1" Type="http://schemas.openxmlformats.org/officeDocument/2006/relationships/oleObject" Target="../embeddings/oleObject21.bin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2.wmf"/><Relationship Id="rId1" Type="http://schemas.openxmlformats.org/officeDocument/2006/relationships/oleObject" Target="../embeddings/oleObject22.bin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23.bin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4.bin"/></Relationships>
</file>

<file path=ppt/slides/_rels/slide2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6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5.wmf"/><Relationship Id="rId1" Type="http://schemas.openxmlformats.org/officeDocument/2006/relationships/oleObject" Target="../embeddings/oleObject25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9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7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8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wmf"/><Relationship Id="rId1" Type="http://schemas.openxmlformats.org/officeDocument/2006/relationships/oleObject" Target="../embeddings/oleObject30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1.wmf"/><Relationship Id="rId1" Type="http://schemas.openxmlformats.org/officeDocument/2006/relationships/oleObject" Target="../embeddings/oleObject31.bin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3.wmf"/><Relationship Id="rId1" Type="http://schemas.openxmlformats.org/officeDocument/2006/relationships/oleObject" Target="../embeddings/oleObject33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7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6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5.wmf"/><Relationship Id="rId3" Type="http://schemas.openxmlformats.org/officeDocument/2006/relationships/oleObject" Target="../embeddings/oleObject35.bin"/><Relationship Id="rId2" Type="http://schemas.openxmlformats.org/officeDocument/2006/relationships/image" Target="../media/image34.wmf"/><Relationship Id="rId13" Type="http://schemas.openxmlformats.org/officeDocument/2006/relationships/vmlDrawing" Target="../drawings/vmlDrawing21.vml"/><Relationship Id="rId12" Type="http://schemas.openxmlformats.org/officeDocument/2006/relationships/slideLayout" Target="../slideLayouts/slideLayout7.xml"/><Relationship Id="rId11" Type="http://schemas.openxmlformats.org/officeDocument/2006/relationships/oleObject" Target="../embeddings/oleObject40.bin"/><Relationship Id="rId10" Type="http://schemas.openxmlformats.org/officeDocument/2006/relationships/oleObject" Target="../embeddings/oleObject39.bin"/><Relationship Id="rId1" Type="http://schemas.openxmlformats.org/officeDocument/2006/relationships/oleObject" Target="../embeddings/oleObject34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5.wmf"/><Relationship Id="rId1" Type="http://schemas.openxmlformats.org/officeDocument/2006/relationships/oleObject" Target="../embeddings/oleObject41.bin"/></Relationships>
</file>

<file path=ppt/slides/_rels/slide3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3.v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9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42.bin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1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0.wmf"/><Relationship Id="rId1" Type="http://schemas.openxmlformats.org/officeDocument/2006/relationships/oleObject" Target="../embeddings/oleObject44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3.wmf"/><Relationship Id="rId3" Type="http://schemas.openxmlformats.org/officeDocument/2006/relationships/oleObject" Target="../embeddings/oleObject47.bin"/><Relationship Id="rId2" Type="http://schemas.openxmlformats.org/officeDocument/2006/relationships/image" Target="../media/image42.wmf"/><Relationship Id="rId1" Type="http://schemas.openxmlformats.org/officeDocument/2006/relationships/oleObject" Target="../embeddings/oleObject46.bin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9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48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7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6.wmf"/><Relationship Id="rId1" Type="http://schemas.openxmlformats.org/officeDocument/2006/relationships/oleObject" Target="../embeddings/oleObject50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8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7.wmf"/><Relationship Id="rId1" Type="http://schemas.openxmlformats.org/officeDocument/2006/relationships/oleObject" Target="../embeddings/oleObject51.bin"/></Relationships>
</file>

<file path=ppt/slides/_rels/slide45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9.wmf"/><Relationship Id="rId3" Type="http://schemas.openxmlformats.org/officeDocument/2006/relationships/oleObject" Target="../embeddings/oleObject53.bin"/><Relationship Id="rId2" Type="http://schemas.openxmlformats.org/officeDocument/2006/relationships/image" Target="../media/image48.wmf"/><Relationship Id="rId1" Type="http://schemas.openxmlformats.org/officeDocument/2006/relationships/oleObject" Target="../embeddings/oleObject52.bin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1.wmf"/><Relationship Id="rId3" Type="http://schemas.openxmlformats.org/officeDocument/2006/relationships/oleObject" Target="../embeddings/oleObject55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54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1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2.wmf"/><Relationship Id="rId1" Type="http://schemas.openxmlformats.org/officeDocument/2006/relationships/oleObject" Target="../embeddings/oleObject56.bin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3.wmf"/><Relationship Id="rId1" Type="http://schemas.openxmlformats.org/officeDocument/2006/relationships/oleObject" Target="../embeddings/oleObject57.bin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wmf"/><Relationship Id="rId1" Type="http://schemas.openxmlformats.org/officeDocument/2006/relationships/oleObject" Target="../embeddings/oleObject58.bin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5.wmf"/><Relationship Id="rId1" Type="http://schemas.openxmlformats.org/officeDocument/2006/relationships/oleObject" Target="../embeddings/oleObject59.bin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7.wmf"/><Relationship Id="rId3" Type="http://schemas.openxmlformats.org/officeDocument/2006/relationships/oleObject" Target="../embeddings/oleObject61.bin"/><Relationship Id="rId2" Type="http://schemas.openxmlformats.org/officeDocument/2006/relationships/image" Target="../media/image56.wmf"/><Relationship Id="rId1" Type="http://schemas.openxmlformats.org/officeDocument/2006/relationships/oleObject" Target="../embeddings/oleObject60.bin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6.v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8.wmf"/><Relationship Id="rId1" Type="http://schemas.openxmlformats.org/officeDocument/2006/relationships/oleObject" Target="../embeddings/oleObject62.bin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9.wmf"/><Relationship Id="rId1" Type="http://schemas.openxmlformats.org/officeDocument/2006/relationships/oleObject" Target="../embeddings/oleObject63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8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1.wmf"/><Relationship Id="rId3" Type="http://schemas.openxmlformats.org/officeDocument/2006/relationships/oleObject" Target="../embeddings/oleObject65.bin"/><Relationship Id="rId2" Type="http://schemas.openxmlformats.org/officeDocument/2006/relationships/image" Target="../media/image60.wmf"/><Relationship Id="rId1" Type="http://schemas.openxmlformats.org/officeDocument/2006/relationships/oleObject" Target="../embeddings/oleObject64.bin"/></Relationships>
</file>

<file path=ppt/slides/_rels/slide7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1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62.wmf"/><Relationship Id="rId1" Type="http://schemas.openxmlformats.org/officeDocument/2006/relationships/oleObject" Target="../embeddings/oleObject66.bin"/></Relationships>
</file>

<file path=ppt/slides/_rels/slide7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3.wmf"/><Relationship Id="rId3" Type="http://schemas.openxmlformats.org/officeDocument/2006/relationships/oleObject" Target="../embeddings/oleObject69.bin"/><Relationship Id="rId2" Type="http://schemas.openxmlformats.org/officeDocument/2006/relationships/image" Target="../media/image62.wmf"/><Relationship Id="rId1" Type="http://schemas.openxmlformats.org/officeDocument/2006/relationships/oleObject" Target="../embeddings/oleObject68.bin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7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66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65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64.wmf"/><Relationship Id="rId10" Type="http://schemas.openxmlformats.org/officeDocument/2006/relationships/vmlDrawing" Target="../drawings/vmlDrawing41.vml"/><Relationship Id="rId1" Type="http://schemas.openxmlformats.org/officeDocument/2006/relationships/oleObject" Target="../embeddings/oleObject70.bin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7.wmf"/><Relationship Id="rId1" Type="http://schemas.openxmlformats.org/officeDocument/2006/relationships/oleObject" Target="../embeddings/oleObject74.bin"/></Relationships>
</file>

<file path=ppt/slides/_rels/slide7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9.bin"/><Relationship Id="rId8" Type="http://schemas.openxmlformats.org/officeDocument/2006/relationships/image" Target="../media/image70.wmf"/><Relationship Id="rId7" Type="http://schemas.openxmlformats.org/officeDocument/2006/relationships/oleObject" Target="../embeddings/oleObject78.bin"/><Relationship Id="rId6" Type="http://schemas.openxmlformats.org/officeDocument/2006/relationships/image" Target="../media/image67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69.wmf"/><Relationship Id="rId3" Type="http://schemas.openxmlformats.org/officeDocument/2006/relationships/oleObject" Target="../embeddings/oleObject76.bin"/><Relationship Id="rId2" Type="http://schemas.openxmlformats.org/officeDocument/2006/relationships/image" Target="../media/image68.wmf"/><Relationship Id="rId11" Type="http://schemas.openxmlformats.org/officeDocument/2006/relationships/vmlDrawing" Target="../drawings/vmlDrawing43.vml"/><Relationship Id="rId10" Type="http://schemas.openxmlformats.org/officeDocument/2006/relationships/slideLayout" Target="../slideLayouts/slideLayout7.xml"/><Relationship Id="rId1" Type="http://schemas.openxmlformats.org/officeDocument/2006/relationships/oleObject" Target="../embeddings/oleObject75.bin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2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71.wmf"/><Relationship Id="rId1" Type="http://schemas.openxmlformats.org/officeDocument/2006/relationships/oleObject" Target="../embeddings/oleObject80.bin"/></Relationships>
</file>

<file path=ppt/slides/_rels/slide7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5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4.w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73.wmf"/><Relationship Id="rId1" Type="http://schemas.openxmlformats.org/officeDocument/2006/relationships/oleObject" Target="../embeddings/oleObject82.bin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4.wmf"/><Relationship Id="rId1" Type="http://schemas.openxmlformats.org/officeDocument/2006/relationships/oleObject" Target="../embeddings/oleObject84.bin"/></Relationships>
</file>

<file path=ppt/slides/_rels/slide8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4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5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74.wmf"/><Relationship Id="rId1" Type="http://schemas.openxmlformats.org/officeDocument/2006/relationships/oleObject" Target="../embeddings/oleObject85.bin"/></Relationships>
</file>

<file path=ppt/slides/_rels/slide8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48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88.bin"/><Relationship Id="rId2" Type="http://schemas.openxmlformats.org/officeDocument/2006/relationships/image" Target="../media/image75.wmf"/><Relationship Id="rId1" Type="http://schemas.openxmlformats.org/officeDocument/2006/relationships/oleObject" Target="../embeddings/oleObject87.bin"/></Relationships>
</file>

<file path=ppt/slides/_rels/slide8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9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5.wmf"/><Relationship Id="rId1" Type="http://schemas.openxmlformats.org/officeDocument/2006/relationships/oleObject" Target="../embeddings/oleObject89.bin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0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6.wmf"/><Relationship Id="rId3" Type="http://schemas.openxmlformats.org/officeDocument/2006/relationships/oleObject" Target="../embeddings/oleObject91.bin"/><Relationship Id="rId2" Type="http://schemas.openxmlformats.org/officeDocument/2006/relationships/image" Target="../media/image75.wmf"/><Relationship Id="rId1" Type="http://schemas.openxmlformats.org/officeDocument/2006/relationships/oleObject" Target="../embeddings/oleObject90.bin"/></Relationships>
</file>

<file path=ppt/slides/_rels/slide85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51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93.bin"/><Relationship Id="rId2" Type="http://schemas.openxmlformats.org/officeDocument/2006/relationships/image" Target="../media/image77.wmf"/><Relationship Id="rId1" Type="http://schemas.openxmlformats.org/officeDocument/2006/relationships/oleObject" Target="../embeddings/oleObject92.bin"/></Relationships>
</file>

<file path=ppt/slides/_rels/slide8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7.wmf"/><Relationship Id="rId1" Type="http://schemas.openxmlformats.org/officeDocument/2006/relationships/oleObject" Target="../embeddings/oleObject94.bin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7.wmf"/><Relationship Id="rId1" Type="http://schemas.openxmlformats.org/officeDocument/2006/relationships/oleObject" Target="../embeddings/oleObject95.bin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Text Box 2"/>
          <p:cNvSpPr txBox="1"/>
          <p:nvPr/>
        </p:nvSpPr>
        <p:spPr>
          <a:xfrm>
            <a:off x="228600" y="228600"/>
            <a:ext cx="8686800" cy="1463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5400" b="1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整    数    规   划</a:t>
            </a:r>
            <a:endParaRPr lang="zh-CN" altLang="en-US" sz="5400" b="1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  <a:p>
            <a:pPr algn="ctr" eaLnBrk="1" hangingPunct="1"/>
            <a:r>
              <a:rPr lang="en-US" altLang="zh-CN" sz="3600" b="1" dirty="0">
                <a:solidFill>
                  <a:srgbClr val="000066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(Integer  Programming)</a:t>
            </a:r>
            <a:endParaRPr lang="en-US" altLang="zh-CN" sz="3600" b="1" dirty="0">
              <a:solidFill>
                <a:srgbClr val="000066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56323" name="Line 3"/>
          <p:cNvSpPr/>
          <p:nvPr/>
        </p:nvSpPr>
        <p:spPr>
          <a:xfrm>
            <a:off x="0" y="1676400"/>
            <a:ext cx="9144000" cy="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6" name="Text Box 4"/>
          <p:cNvSpPr txBox="1"/>
          <p:nvPr/>
        </p:nvSpPr>
        <p:spPr>
          <a:xfrm>
            <a:off x="228600" y="1752600"/>
            <a:ext cx="8686800" cy="762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>
              <a:spcBef>
                <a:spcPct val="50000"/>
              </a:spcBef>
            </a:pPr>
            <a:r>
              <a:rPr lang="zh-CN" altLang="en-US" sz="4400" b="1" dirty="0">
                <a:solidFill>
                  <a:srgbClr val="66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整数规划的模型</a:t>
            </a:r>
            <a:endParaRPr lang="zh-CN" altLang="en-US" sz="4400" b="1" dirty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77" name="Rectangle 5"/>
          <p:cNvSpPr/>
          <p:nvPr/>
        </p:nvSpPr>
        <p:spPr>
          <a:xfrm>
            <a:off x="3124200" y="2743200"/>
            <a:ext cx="2447925" cy="7699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4400" b="1" dirty="0">
                <a:solidFill>
                  <a:srgbClr val="66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割平面法</a:t>
            </a:r>
            <a:endParaRPr lang="zh-CN" altLang="en-US" sz="4400" b="1" dirty="0">
              <a:solidFill>
                <a:srgbClr val="66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78" name="Rectangle 6"/>
          <p:cNvSpPr/>
          <p:nvPr/>
        </p:nvSpPr>
        <p:spPr>
          <a:xfrm>
            <a:off x="2857500" y="3733800"/>
            <a:ext cx="3014663" cy="7699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4400" b="1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分支定界法</a:t>
            </a:r>
            <a:endParaRPr lang="zh-CN" altLang="en-US" sz="4400" b="1" dirty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  <p:sp>
        <p:nvSpPr>
          <p:cNvPr id="3079" name="Rectangle 7"/>
          <p:cNvSpPr/>
          <p:nvPr/>
        </p:nvSpPr>
        <p:spPr>
          <a:xfrm>
            <a:off x="2667000" y="4648200"/>
            <a:ext cx="378460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4400" b="1" dirty="0">
                <a:solidFill>
                  <a:srgbClr val="66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0</a:t>
            </a:r>
            <a:r>
              <a:rPr lang="zh-CN" altLang="en-US" sz="4400" b="1" dirty="0">
                <a:solidFill>
                  <a:srgbClr val="66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－</a:t>
            </a:r>
            <a:r>
              <a:rPr lang="en-US" altLang="zh-CN" sz="4400" b="1" dirty="0">
                <a:solidFill>
                  <a:srgbClr val="66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1 </a:t>
            </a:r>
            <a:r>
              <a:rPr lang="zh-CN" altLang="en-US" sz="4400" b="1" dirty="0">
                <a:solidFill>
                  <a:srgbClr val="6633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整数规划</a:t>
            </a:r>
            <a:endParaRPr lang="zh-CN" altLang="en-US" sz="4400" b="1" dirty="0">
              <a:solidFill>
                <a:srgbClr val="6633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</p:txBody>
      </p:sp>
      <p:sp>
        <p:nvSpPr>
          <p:cNvPr id="3080" name="Rectangle 8"/>
          <p:cNvSpPr/>
          <p:nvPr/>
        </p:nvSpPr>
        <p:spPr>
          <a:xfrm>
            <a:off x="3276600" y="5638800"/>
            <a:ext cx="2393950" cy="762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zh-CN" altLang="en-US" sz="4400" b="1" dirty="0">
                <a:solidFill>
                  <a:srgbClr val="6633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指派问题</a:t>
            </a:r>
            <a:endParaRPr lang="zh-CN" altLang="en-US" sz="4400" b="1" dirty="0">
              <a:solidFill>
                <a:srgbClr val="6633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07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6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7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07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8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tx2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07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79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505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080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" grpId="0" build="p"/>
      <p:bldP spid="3077" grpId="0" build="p"/>
      <p:bldP spid="3078" grpId="0" build="p"/>
      <p:bldP spid="3079" grpId="0" build="p"/>
      <p:bldP spid="308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Text Box 2"/>
          <p:cNvSpPr txBox="1"/>
          <p:nvPr/>
        </p:nvSpPr>
        <p:spPr>
          <a:xfrm>
            <a:off x="228600" y="990600"/>
            <a:ext cx="54102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（一）、整数规划问题实例</a:t>
            </a:r>
            <a:endParaRPr lang="zh-CN" altLang="en-US" sz="3200" b="1" dirty="0">
              <a:solidFill>
                <a:srgbClr val="66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099" name="Text Box 3"/>
          <p:cNvSpPr txBox="1"/>
          <p:nvPr/>
        </p:nvSpPr>
        <p:spPr>
          <a:xfrm>
            <a:off x="228600" y="1600200"/>
            <a:ext cx="8686800" cy="21240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例一、合理下料问题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设某型号圆钢可生产零件毛坯为</a:t>
            </a: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6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6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6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,…,A</a:t>
            </a:r>
            <a:r>
              <a:rPr lang="en-US" altLang="zh-CN" sz="26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。在一根圆钢上下料的方式有</a:t>
            </a: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6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,B</a:t>
            </a:r>
            <a:r>
              <a:rPr lang="en-US" altLang="zh-CN" sz="26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…,B</a:t>
            </a:r>
            <a:r>
              <a:rPr lang="en-US" altLang="zh-CN" sz="26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6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种，每种下料方式可以得到各种零件的毛坯数以及每种零件的需要量，如表所示。问怎样安排下料方式，使得即满足需要，所用的原材料又最少？</a:t>
            </a:r>
            <a:endParaRPr lang="zh-CN" altLang="en-US" sz="26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100" name="Group 4"/>
          <p:cNvGraphicFramePr>
            <a:graphicFrameLocks noGrp="1"/>
          </p:cNvGraphicFramePr>
          <p:nvPr/>
        </p:nvGraphicFramePr>
        <p:xfrm>
          <a:off x="2286000" y="3886200"/>
          <a:ext cx="4876800" cy="2593975"/>
        </p:xfrm>
        <a:graphic>
          <a:graphicData uri="http://schemas.openxmlformats.org/drawingml/2006/table">
            <a:tbl>
              <a:tblPr/>
              <a:tblGrid>
                <a:gridCol w="1219200"/>
                <a:gridCol w="2743200"/>
                <a:gridCol w="914400"/>
              </a:tblGrid>
              <a:tr h="8170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零件       方</a:t>
                      </a:r>
                      <a:endParaRPr kumimoji="1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       个数    式</a:t>
                      </a:r>
                      <a:endParaRPr kumimoji="1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零件</a:t>
                      </a:r>
                      <a:endParaRPr kumimoji="1" lang="zh-CN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零   件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毛坯数</a:t>
                      </a:r>
                      <a:endParaRPr kumimoji="1" lang="zh-CN" alt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768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3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3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14" name="Line 18"/>
          <p:cNvSpPr/>
          <p:nvPr/>
        </p:nvSpPr>
        <p:spPr>
          <a:xfrm flipH="1" flipV="1">
            <a:off x="2819400" y="3886200"/>
            <a:ext cx="68580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15" name="Line 19"/>
          <p:cNvSpPr/>
          <p:nvPr/>
        </p:nvSpPr>
        <p:spPr>
          <a:xfrm flipH="1" flipV="1">
            <a:off x="2286000" y="4191000"/>
            <a:ext cx="1219200" cy="533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4116" name="Object 20"/>
          <p:cNvGraphicFramePr>
            <a:graphicFrameLocks noChangeAspect="1"/>
          </p:cNvGraphicFramePr>
          <p:nvPr/>
        </p:nvGraphicFramePr>
        <p:xfrm>
          <a:off x="3505200" y="4038600"/>
          <a:ext cx="27559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635000" imgH="228600" progId="Equation.3">
                  <p:embed/>
                </p:oleObj>
              </mc:Choice>
              <mc:Fallback>
                <p:oleObj name="" r:id="rId1" imgW="635000" imgH="228600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05200" y="4038600"/>
                        <a:ext cx="2755900" cy="609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7" name="Object 21"/>
          <p:cNvGraphicFramePr>
            <a:graphicFrameLocks noChangeAspect="1"/>
          </p:cNvGraphicFramePr>
          <p:nvPr/>
        </p:nvGraphicFramePr>
        <p:xfrm>
          <a:off x="2705100" y="4659313"/>
          <a:ext cx="352425" cy="1928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77800" imgH="570865" progId="Equation.DSMT4">
                  <p:embed/>
                </p:oleObj>
              </mc:Choice>
              <mc:Fallback>
                <p:oleObj name="" r:id="rId3" imgW="177800" imgH="570865" progId="Equation.DSMT4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5100" y="4659313"/>
                        <a:ext cx="352425" cy="1928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8" name="Object 22"/>
          <p:cNvGraphicFramePr>
            <a:graphicFrameLocks noChangeAspect="1"/>
          </p:cNvGraphicFramePr>
          <p:nvPr/>
        </p:nvGraphicFramePr>
        <p:xfrm>
          <a:off x="6400800" y="4648200"/>
          <a:ext cx="4572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5" imgW="177800" imgH="532765" progId="Equation.3">
                  <p:embed/>
                </p:oleObj>
              </mc:Choice>
              <mc:Fallback>
                <p:oleObj name="" r:id="rId5" imgW="177800" imgH="53276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00800" y="4648200"/>
                        <a:ext cx="457200" cy="1905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19" name="Object 23"/>
          <p:cNvGraphicFramePr>
            <a:graphicFrameLocks noChangeAspect="1"/>
          </p:cNvGraphicFramePr>
          <p:nvPr/>
        </p:nvGraphicFramePr>
        <p:xfrm>
          <a:off x="3505200" y="4724400"/>
          <a:ext cx="2895600" cy="175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7" imgW="787400" imgH="685800" progId="Equation.3">
                  <p:embed/>
                </p:oleObj>
              </mc:Choice>
              <mc:Fallback>
                <p:oleObj name="" r:id="rId7" imgW="787400" imgH="6858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5200" y="4724400"/>
                        <a:ext cx="2895600" cy="175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" name="Rectangle 24"/>
          <p:cNvSpPr>
            <a:spLocks noGrp="1"/>
          </p:cNvSpPr>
          <p:nvPr>
            <p:ph type="ctrTitle"/>
          </p:nvPr>
        </p:nvSpPr>
        <p:spPr>
          <a:xfrm>
            <a:off x="514350" y="304800"/>
            <a:ext cx="7772400" cy="766763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rgbClr val="663300"/>
                </a:solidFill>
                <a:ea typeface="楷体_GB2312" pitchFamily="49" charset="-122"/>
              </a:rPr>
              <a:t>一、整数规划的模型</a:t>
            </a:r>
            <a:endParaRPr lang="zh-CN" altLang="en-US" sz="3600" b="1" dirty="0">
              <a:solidFill>
                <a:srgbClr val="66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9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1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99">
                                            <p:txEl>
                                              <p:charRg st="1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charRg st="12" end="12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" dur="500"/>
                                        <p:tgtEl>
                                          <p:spTgt spid="4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4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  <p:bldP spid="4099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1" name="Text Box 2"/>
          <p:cNvSpPr txBox="1"/>
          <p:nvPr/>
        </p:nvSpPr>
        <p:spPr>
          <a:xfrm>
            <a:off x="228600" y="228600"/>
            <a:ext cx="8686800" cy="11604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设：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表示用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j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=1.2…n)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种方式下料根数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模型：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5123" name="Object 3"/>
          <p:cNvGraphicFramePr>
            <a:graphicFrameLocks noChangeAspect="1"/>
          </p:cNvGraphicFramePr>
          <p:nvPr/>
        </p:nvGraphicFramePr>
        <p:xfrm>
          <a:off x="1981200" y="627063"/>
          <a:ext cx="4800600" cy="278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879600" imgH="1193800" progId="Equation.3">
                  <p:embed/>
                </p:oleObj>
              </mc:Choice>
              <mc:Fallback>
                <p:oleObj name="" r:id="rId1" imgW="1879600" imgH="11938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627063"/>
                        <a:ext cx="4800600" cy="27860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4" name="Text Box 4"/>
          <p:cNvSpPr txBox="1"/>
          <p:nvPr/>
        </p:nvSpPr>
        <p:spPr>
          <a:xfrm>
            <a:off x="228600" y="3429000"/>
            <a:ext cx="8686800" cy="3081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例二、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某公司计划在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个地点建厂，可供选择的地点有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,A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…A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他们的生产能力分别是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,a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2,…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（假设生产同一产品）。第</a:t>
            </a:r>
            <a:r>
              <a:rPr lang="en-US" altLang="zh-CN" sz="2800" b="1" i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个工厂的建设费用为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=1.2…m),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又有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个地点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,B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… B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需要销售这种产品，其销量分别为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.b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…b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。从工厂运往销地的单位运费为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。试决定应在哪些地方建厂，即满足各地需要，又使总建设费用和总运输费用最省？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12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6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146" name="Group 2"/>
          <p:cNvGraphicFramePr>
            <a:graphicFrameLocks noGrp="1"/>
          </p:cNvGraphicFramePr>
          <p:nvPr/>
        </p:nvGraphicFramePr>
        <p:xfrm>
          <a:off x="228600" y="1219200"/>
          <a:ext cx="8686800" cy="4281488"/>
        </p:xfrm>
        <a:graphic>
          <a:graphicData uri="http://schemas.openxmlformats.org/drawingml/2006/table">
            <a:tbl>
              <a:tblPr/>
              <a:tblGrid>
                <a:gridCol w="1524000"/>
                <a:gridCol w="4681538"/>
                <a:gridCol w="1239837"/>
                <a:gridCol w="1241425"/>
              </a:tblGrid>
              <a:tr h="89606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单    销地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</a:rPr>
                        <a:t>厂址   价</a:t>
                      </a:r>
                      <a:endParaRPr kumimoji="1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生产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能力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建设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费用</a:t>
                      </a: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0770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777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</a:rPr>
                        <a:t>销量</a:t>
                      </a:r>
                      <a:endParaRPr kumimoji="1" lang="zh-CN" alt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10" marB="4571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24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10" marB="4571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97" name="Line 24"/>
          <p:cNvSpPr/>
          <p:nvPr/>
        </p:nvSpPr>
        <p:spPr>
          <a:xfrm flipH="1" flipV="1">
            <a:off x="838200" y="1193800"/>
            <a:ext cx="914400" cy="914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98" name="Line 25"/>
          <p:cNvSpPr/>
          <p:nvPr/>
        </p:nvSpPr>
        <p:spPr>
          <a:xfrm flipH="1" flipV="1">
            <a:off x="228600" y="1498600"/>
            <a:ext cx="1524000" cy="609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3074" name="Object 26"/>
          <p:cNvGraphicFramePr>
            <a:graphicFrameLocks noChangeAspect="1"/>
          </p:cNvGraphicFramePr>
          <p:nvPr/>
        </p:nvGraphicFramePr>
        <p:xfrm>
          <a:off x="762000" y="1447800"/>
          <a:ext cx="8161338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1574800" imgH="1219200" progId="Equation.3">
                  <p:embed/>
                </p:oleObj>
              </mc:Choice>
              <mc:Fallback>
                <p:oleObj name="" r:id="rId1" imgW="1574800" imgH="12192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62000" y="1447800"/>
                        <a:ext cx="8161338" cy="4114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9" name="Text Box 2"/>
          <p:cNvSpPr txBox="1"/>
          <p:nvPr/>
        </p:nvSpPr>
        <p:spPr>
          <a:xfrm>
            <a:off x="228600" y="346075"/>
            <a:ext cx="8686800" cy="2227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设：</a:t>
            </a:r>
            <a:r>
              <a:rPr lang="zh-CN" altLang="en-US" sz="2800" b="1" baseline="-300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i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表示从工厂运往销地的运量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i=1.2…m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j=1.2…n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),      1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建厂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又设 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＝             （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i=1.2…m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              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0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不在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建厂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模型：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0" name="AutoShape 3"/>
          <p:cNvSpPr/>
          <p:nvPr/>
        </p:nvSpPr>
        <p:spPr>
          <a:xfrm>
            <a:off x="2819400" y="914400"/>
            <a:ext cx="152400" cy="1066800"/>
          </a:xfrm>
          <a:prstGeom prst="leftBrace">
            <a:avLst>
              <a:gd name="adj1" fmla="val 58333"/>
              <a:gd name="adj2" fmla="val 50000"/>
            </a:avLst>
          </a:prstGeom>
          <a:noFill/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172" name="Object 4"/>
          <p:cNvGraphicFramePr>
            <a:graphicFrameLocks noChangeAspect="1"/>
          </p:cNvGraphicFramePr>
          <p:nvPr/>
        </p:nvGraphicFramePr>
        <p:xfrm>
          <a:off x="2133600" y="2057400"/>
          <a:ext cx="6477000" cy="419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2692400" imgH="1727200" progId="Equation.3">
                  <p:embed/>
                </p:oleObj>
              </mc:Choice>
              <mc:Fallback>
                <p:oleObj name="" r:id="rId1" imgW="2692400" imgH="17272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3600" y="2057400"/>
                        <a:ext cx="6477000" cy="4191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2"/>
          <p:cNvSpPr/>
          <p:nvPr/>
        </p:nvSpPr>
        <p:spPr>
          <a:xfrm>
            <a:off x="304800" y="4953000"/>
            <a:ext cx="8229600" cy="1447800"/>
          </a:xfrm>
          <a:prstGeom prst="rect">
            <a:avLst/>
          </a:prstGeom>
          <a:solidFill>
            <a:srgbClr val="99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5" name="Rectangle 3"/>
          <p:cNvSpPr/>
          <p:nvPr/>
        </p:nvSpPr>
        <p:spPr>
          <a:xfrm>
            <a:off x="304800" y="3505200"/>
            <a:ext cx="8229600" cy="1447800"/>
          </a:xfrm>
          <a:prstGeom prst="rect">
            <a:avLst/>
          </a:prstGeom>
          <a:solidFill>
            <a:srgbClr val="EEC9E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6" name="Rectangle 4"/>
          <p:cNvSpPr/>
          <p:nvPr/>
        </p:nvSpPr>
        <p:spPr>
          <a:xfrm>
            <a:off x="304800" y="2133600"/>
            <a:ext cx="8229600" cy="1371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127" name="Text Box 5"/>
          <p:cNvSpPr txBox="1"/>
          <p:nvPr/>
        </p:nvSpPr>
        <p:spPr>
          <a:xfrm>
            <a:off x="228600" y="304800"/>
            <a:ext cx="86868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例三、机床分配问题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设有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台同类机床，要加工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种零件。已知各种零件的加工时间分别为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,a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2,…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，问如何分配，使各机床的总加工任务相等，或者说尽可能平衡。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128" name="Text Box 6"/>
          <p:cNvSpPr txBox="1"/>
          <p:nvPr/>
        </p:nvSpPr>
        <p:spPr>
          <a:xfrm>
            <a:off x="228600" y="2209800"/>
            <a:ext cx="86868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设：     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分配第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台机床加工第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种零件；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＝              （</a:t>
            </a:r>
            <a:r>
              <a:rPr lang="en-US" altLang="zh-CN" sz="2800" b="1" i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i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=1.2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m,</a:t>
            </a:r>
            <a:r>
              <a:rPr lang="en-US" altLang="zh-CN" sz="2800" b="1" i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j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=1.2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…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 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    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0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相反。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于是，第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台机床加工各种零件的总时间为：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129" name="AutoShape 7"/>
          <p:cNvSpPr/>
          <p:nvPr/>
        </p:nvSpPr>
        <p:spPr>
          <a:xfrm>
            <a:off x="1752600" y="2493963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38100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5122" name="Object 8"/>
          <p:cNvGraphicFramePr>
            <a:graphicFrameLocks noChangeAspect="1"/>
          </p:cNvGraphicFramePr>
          <p:nvPr/>
        </p:nvGraphicFramePr>
        <p:xfrm>
          <a:off x="2438400" y="3810000"/>
          <a:ext cx="358140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1358265" imgH="444500" progId="Equation.3">
                  <p:embed/>
                </p:oleObj>
              </mc:Choice>
              <mc:Fallback>
                <p:oleObj name="" r:id="rId1" imgW="1358265" imgH="4445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38400" y="3810000"/>
                        <a:ext cx="3581400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0" name="Text Box 9"/>
          <p:cNvSpPr txBox="1"/>
          <p:nvPr/>
        </p:nvSpPr>
        <p:spPr>
          <a:xfrm>
            <a:off x="228600" y="48768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又由于一个零件只能在一台机床上加工，所以有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123" name="Object 10"/>
          <p:cNvGraphicFramePr>
            <a:graphicFrameLocks noChangeAspect="1"/>
          </p:cNvGraphicFramePr>
          <p:nvPr/>
        </p:nvGraphicFramePr>
        <p:xfrm>
          <a:off x="2128838" y="5257800"/>
          <a:ext cx="3668712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3" imgW="1435100" imgH="431800" progId="Equation.3">
                  <p:embed/>
                </p:oleObj>
              </mc:Choice>
              <mc:Fallback>
                <p:oleObj name="" r:id="rId3" imgW="1435100" imgH="4318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8838" y="5257800"/>
                        <a:ext cx="3668712" cy="1143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animBg="1"/>
      <p:bldP spid="8195" grpId="0" animBg="1"/>
      <p:bldP spid="819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7" name="Text Box 2"/>
          <p:cNvSpPr txBox="1"/>
          <p:nvPr/>
        </p:nvSpPr>
        <p:spPr>
          <a:xfrm>
            <a:off x="304800" y="609600"/>
            <a:ext cx="4343400" cy="5794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因此，求</a:t>
            </a:r>
            <a:r>
              <a:rPr lang="en-US" altLang="zh-CN" sz="32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 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，使得</a:t>
            </a:r>
            <a:endParaRPr lang="zh-CN" altLang="en-US" sz="32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146" name="Object 3"/>
          <p:cNvGraphicFramePr>
            <a:graphicFrameLocks noChangeAspect="1"/>
          </p:cNvGraphicFramePr>
          <p:nvPr/>
        </p:nvGraphicFramePr>
        <p:xfrm>
          <a:off x="785813" y="1785938"/>
          <a:ext cx="7286625" cy="350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2222500" imgH="977900" progId="Equation.DSMT4">
                  <p:embed/>
                </p:oleObj>
              </mc:Choice>
              <mc:Fallback>
                <p:oleObj name="" r:id="rId1" imgW="2222500" imgH="9779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5813" y="1785938"/>
                        <a:ext cx="7286625" cy="35004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1" name="Text Box 2"/>
          <p:cNvSpPr txBox="1"/>
          <p:nvPr/>
        </p:nvSpPr>
        <p:spPr>
          <a:xfrm>
            <a:off x="593725" y="449263"/>
            <a:ext cx="5508625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（二）、整数规划的数学模型</a:t>
            </a:r>
            <a:endParaRPr lang="zh-CN" altLang="en-US" sz="3200" b="1" dirty="0">
              <a:solidFill>
                <a:srgbClr val="66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72" name="Text Box 3"/>
          <p:cNvSpPr txBox="1"/>
          <p:nvPr/>
        </p:nvSpPr>
        <p:spPr>
          <a:xfrm>
            <a:off x="762000" y="1295400"/>
            <a:ext cx="1828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一般形式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170" name="Object 4"/>
          <p:cNvGraphicFramePr>
            <a:graphicFrameLocks noChangeAspect="1"/>
          </p:cNvGraphicFramePr>
          <p:nvPr/>
        </p:nvGraphicFramePr>
        <p:xfrm>
          <a:off x="914400" y="1676400"/>
          <a:ext cx="7467600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2641600" imgH="1143000" progId="Equation.3">
                  <p:embed/>
                </p:oleObj>
              </mc:Choice>
              <mc:Fallback>
                <p:oleObj name="" r:id="rId1" imgW="2641600" imgH="11430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14400" y="1676400"/>
                        <a:ext cx="7467600" cy="312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5"/>
          <p:cNvSpPr txBox="1"/>
          <p:nvPr/>
        </p:nvSpPr>
        <p:spPr>
          <a:xfrm>
            <a:off x="228600" y="4953000"/>
            <a:ext cx="8686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依照决策变量取整要求的不同，整数规划可分为纯整数线性规划、混合整数线性规划、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整数线性规划。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245">
                                            <p:txEl>
                                              <p:charRg st="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ext Box 2"/>
          <p:cNvSpPr txBox="1"/>
          <p:nvPr/>
        </p:nvSpPr>
        <p:spPr>
          <a:xfrm>
            <a:off x="285750" y="993775"/>
            <a:ext cx="8462963" cy="10779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纯整数线性规划：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所有决策变量要求取非负整数。          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292" name="Rectangle 4"/>
          <p:cNvSpPr/>
          <p:nvPr/>
        </p:nvSpPr>
        <p:spPr>
          <a:xfrm>
            <a:off x="500063" y="2357438"/>
            <a:ext cx="8305800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混合整数规划：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只有一部分的决策变量要求取非负整数，另一部分可以取非负实数。</a:t>
            </a:r>
            <a:endParaRPr lang="zh-CN" altLang="en-US" sz="32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2293" name="Rectangle 5"/>
          <p:cNvSpPr/>
          <p:nvPr/>
        </p:nvSpPr>
        <p:spPr>
          <a:xfrm>
            <a:off x="642938" y="3786188"/>
            <a:ext cx="8101012" cy="1066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    0</a:t>
            </a:r>
            <a:r>
              <a:rPr lang="zh-CN" altLang="en-US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整数规划：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所有决策变量只能取 </a:t>
            </a:r>
            <a:r>
              <a:rPr lang="en-US" altLang="zh-CN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或 </a:t>
            </a:r>
            <a:r>
              <a:rPr lang="en-US" altLang="zh-CN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两个整数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0" grpId="0"/>
      <p:bldP spid="12292" grpId="0"/>
      <p:bldP spid="1229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Text Box 2"/>
          <p:cNvSpPr txBox="1"/>
          <p:nvPr/>
        </p:nvSpPr>
        <p:spPr>
          <a:xfrm>
            <a:off x="428625" y="635000"/>
            <a:ext cx="6737350" cy="5794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b="1" dirty="0">
                <a:solidFill>
                  <a:srgbClr val="660066"/>
                </a:solidFill>
                <a:latin typeface="Times New Roman" panose="02020603050405020304" pitchFamily="18" charset="0"/>
                <a:ea typeface="楷体_GB2312" pitchFamily="49" charset="-122"/>
              </a:rPr>
              <a:t>（三）、整数规划与线性规划的关系</a:t>
            </a:r>
            <a:endParaRPr lang="zh-CN" altLang="en-US" sz="3200" b="1" dirty="0">
              <a:solidFill>
                <a:srgbClr val="66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3315" name="Text Box 3"/>
          <p:cNvSpPr txBox="1"/>
          <p:nvPr/>
        </p:nvSpPr>
        <p:spPr>
          <a:xfrm>
            <a:off x="838200" y="1447800"/>
            <a:ext cx="7467600" cy="45243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从数学模型上看整数规划似乎是线性规划的一种特殊形式，求解只需在线性规划的基础上，通过舍入取整，寻求满足整数要求的解即可。但实际上两者却有很大的不同，通过舍入得到的解（整数）也不一定就是最优解，有时甚至不能保证所得到的解是整数可行解。</a:t>
            </a:r>
            <a:endParaRPr lang="zh-CN" altLang="en-US" sz="32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endParaRPr lang="zh-CN" altLang="en-US" sz="32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举例说明。</a:t>
            </a:r>
            <a:endParaRPr lang="zh-CN" altLang="en-US" sz="32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"/>
                                        <p:tgtEl>
                                          <p:spTgt spid="13315">
                                            <p:txEl>
                                              <p:charRg st="0" end="1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charRg st="127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300"/>
                                        <p:tgtEl>
                                          <p:spTgt spid="13315">
                                            <p:txEl>
                                              <p:charRg st="127" end="1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5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6" name="Text Box 2"/>
          <p:cNvSpPr txBox="1"/>
          <p:nvPr/>
        </p:nvSpPr>
        <p:spPr>
          <a:xfrm>
            <a:off x="533400" y="381000"/>
            <a:ext cx="4648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例：设整数规划问题如下      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194" name="Object 3"/>
          <p:cNvGraphicFramePr>
            <a:graphicFrameLocks noChangeAspect="1"/>
          </p:cNvGraphicFramePr>
          <p:nvPr/>
        </p:nvGraphicFramePr>
        <p:xfrm>
          <a:off x="2306638" y="774700"/>
          <a:ext cx="4149725" cy="265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269365" imgH="939165" progId="Equation.3">
                  <p:embed/>
                </p:oleObj>
              </mc:Choice>
              <mc:Fallback>
                <p:oleObj name="" r:id="rId1" imgW="1269365" imgH="93916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06638" y="774700"/>
                        <a:ext cx="4149725" cy="2654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Text Box 4"/>
          <p:cNvSpPr txBox="1"/>
          <p:nvPr/>
        </p:nvSpPr>
        <p:spPr>
          <a:xfrm>
            <a:off x="228600" y="3397250"/>
            <a:ext cx="8686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首先不考虑整数约束，得到线性规划问题（一般称为松弛问题）。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341" name="Object 5"/>
          <p:cNvGraphicFramePr>
            <a:graphicFrameLocks noChangeAspect="1"/>
          </p:cNvGraphicFramePr>
          <p:nvPr/>
        </p:nvGraphicFramePr>
        <p:xfrm>
          <a:off x="3124200" y="3959225"/>
          <a:ext cx="3319463" cy="236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1016000" imgH="838200" progId="Equation.3">
                  <p:embed/>
                </p:oleObj>
              </mc:Choice>
              <mc:Fallback>
                <p:oleObj name="" r:id="rId3" imgW="1016000" imgH="838200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24200" y="3959225"/>
                        <a:ext cx="3319463" cy="23653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2" name="Rectangle 6"/>
          <p:cNvSpPr/>
          <p:nvPr/>
        </p:nvSpPr>
        <p:spPr>
          <a:xfrm>
            <a:off x="4343400" y="2755900"/>
            <a:ext cx="1828800" cy="5334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/>
      <p:bldP spid="1434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Text Box 2"/>
          <p:cNvSpPr txBox="1"/>
          <p:nvPr/>
        </p:nvSpPr>
        <p:spPr>
          <a:xfrm>
            <a:off x="609600" y="457200"/>
            <a:ext cx="37338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用     解法求出最优解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3/2, 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= 10/3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且有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 = 29/6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395" name="Line 3"/>
          <p:cNvSpPr/>
          <p:nvPr/>
        </p:nvSpPr>
        <p:spPr>
          <a:xfrm>
            <a:off x="4953000" y="838200"/>
            <a:ext cx="0" cy="4038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59396" name="Line 4"/>
          <p:cNvSpPr/>
          <p:nvPr/>
        </p:nvSpPr>
        <p:spPr>
          <a:xfrm>
            <a:off x="4267200" y="4267200"/>
            <a:ext cx="41910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9397" name="Line 5"/>
          <p:cNvSpPr/>
          <p:nvPr/>
        </p:nvSpPr>
        <p:spPr>
          <a:xfrm>
            <a:off x="4953000" y="35052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398" name="Line 6"/>
          <p:cNvSpPr/>
          <p:nvPr/>
        </p:nvSpPr>
        <p:spPr>
          <a:xfrm>
            <a:off x="4953000" y="2667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399" name="Line 7"/>
          <p:cNvSpPr/>
          <p:nvPr/>
        </p:nvSpPr>
        <p:spPr>
          <a:xfrm>
            <a:off x="4953000" y="1905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0" name="Line 8"/>
          <p:cNvSpPr/>
          <p:nvPr/>
        </p:nvSpPr>
        <p:spPr>
          <a:xfrm>
            <a:off x="4953000" y="1143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1" name="Line 9"/>
          <p:cNvSpPr/>
          <p:nvPr/>
        </p:nvSpPr>
        <p:spPr>
          <a:xfrm flipH="1">
            <a:off x="5791200" y="42672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2" name="Line 10"/>
          <p:cNvSpPr/>
          <p:nvPr/>
        </p:nvSpPr>
        <p:spPr>
          <a:xfrm flipV="1">
            <a:off x="5791200" y="41910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3" name="Line 11"/>
          <p:cNvSpPr/>
          <p:nvPr/>
        </p:nvSpPr>
        <p:spPr>
          <a:xfrm flipV="1">
            <a:off x="6553200" y="41910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4" name="Line 12"/>
          <p:cNvSpPr/>
          <p:nvPr/>
        </p:nvSpPr>
        <p:spPr>
          <a:xfrm flipV="1">
            <a:off x="7315200" y="41910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5" name="Line 13"/>
          <p:cNvSpPr/>
          <p:nvPr/>
        </p:nvSpPr>
        <p:spPr>
          <a:xfrm flipV="1">
            <a:off x="8077200" y="41910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6" name="Rectangle 14"/>
          <p:cNvSpPr/>
          <p:nvPr/>
        </p:nvSpPr>
        <p:spPr>
          <a:xfrm>
            <a:off x="8229600" y="41910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407" name="Rectangle 15"/>
          <p:cNvSpPr/>
          <p:nvPr/>
        </p:nvSpPr>
        <p:spPr>
          <a:xfrm>
            <a:off x="4343400" y="6096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9408" name="Line 16"/>
          <p:cNvSpPr/>
          <p:nvPr/>
        </p:nvSpPr>
        <p:spPr>
          <a:xfrm flipH="1" flipV="1">
            <a:off x="5715000" y="914400"/>
            <a:ext cx="2286000" cy="3657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09" name="Rectangle 17"/>
          <p:cNvSpPr/>
          <p:nvPr/>
        </p:nvSpPr>
        <p:spPr>
          <a:xfrm>
            <a:off x="5334000" y="609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⑴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9410" name="Rectangle 18"/>
          <p:cNvSpPr/>
          <p:nvPr/>
        </p:nvSpPr>
        <p:spPr>
          <a:xfrm>
            <a:off x="6629400" y="7620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⑵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9411" name="Line 19"/>
          <p:cNvSpPr/>
          <p:nvPr/>
        </p:nvSpPr>
        <p:spPr>
          <a:xfrm flipV="1">
            <a:off x="4648200" y="838200"/>
            <a:ext cx="1905000" cy="38100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9412" name="Text Box 20"/>
          <p:cNvSpPr txBox="1"/>
          <p:nvPr/>
        </p:nvSpPr>
        <p:spPr>
          <a:xfrm>
            <a:off x="4572000" y="17526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9413" name="Text Box 21"/>
          <p:cNvSpPr txBox="1"/>
          <p:nvPr/>
        </p:nvSpPr>
        <p:spPr>
          <a:xfrm>
            <a:off x="7162800" y="42672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59414" name="Text Box 22"/>
          <p:cNvSpPr txBox="1"/>
          <p:nvPr/>
        </p:nvSpPr>
        <p:spPr>
          <a:xfrm>
            <a:off x="6400800" y="1295400"/>
            <a:ext cx="13938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(3/2,10/3)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59415" name="Line 23"/>
          <p:cNvSpPr/>
          <p:nvPr/>
        </p:nvSpPr>
        <p:spPr>
          <a:xfrm>
            <a:off x="4267200" y="3581400"/>
            <a:ext cx="1295400" cy="12954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59416" name="Line 24"/>
          <p:cNvSpPr/>
          <p:nvPr/>
        </p:nvSpPr>
        <p:spPr>
          <a:xfrm>
            <a:off x="4953000" y="1905000"/>
            <a:ext cx="2209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9417" name="Line 25"/>
          <p:cNvSpPr/>
          <p:nvPr/>
        </p:nvSpPr>
        <p:spPr>
          <a:xfrm>
            <a:off x="4953000" y="2667000"/>
            <a:ext cx="2438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9418" name="Line 26"/>
          <p:cNvSpPr/>
          <p:nvPr/>
        </p:nvSpPr>
        <p:spPr>
          <a:xfrm>
            <a:off x="4953000" y="3505200"/>
            <a:ext cx="2819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9419" name="Line 27"/>
          <p:cNvSpPr/>
          <p:nvPr/>
        </p:nvSpPr>
        <p:spPr>
          <a:xfrm>
            <a:off x="4953000" y="1143000"/>
            <a:ext cx="2209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9420" name="Line 28"/>
          <p:cNvSpPr/>
          <p:nvPr/>
        </p:nvSpPr>
        <p:spPr>
          <a:xfrm flipV="1">
            <a:off x="5791200" y="533400"/>
            <a:ext cx="0" cy="3733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9421" name="Line 29"/>
          <p:cNvSpPr/>
          <p:nvPr/>
        </p:nvSpPr>
        <p:spPr>
          <a:xfrm flipV="1">
            <a:off x="6553200" y="533400"/>
            <a:ext cx="0" cy="3733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59422" name="Line 30"/>
          <p:cNvSpPr/>
          <p:nvPr/>
        </p:nvSpPr>
        <p:spPr>
          <a:xfrm flipV="1">
            <a:off x="7315200" y="3048000"/>
            <a:ext cx="0" cy="12192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15391" name="Oval 31"/>
          <p:cNvSpPr/>
          <p:nvPr/>
        </p:nvSpPr>
        <p:spPr>
          <a:xfrm>
            <a:off x="5715000" y="34290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92" name="Oval 32"/>
          <p:cNvSpPr/>
          <p:nvPr/>
        </p:nvSpPr>
        <p:spPr>
          <a:xfrm>
            <a:off x="6477000" y="34290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93" name="Oval 33"/>
          <p:cNvSpPr/>
          <p:nvPr/>
        </p:nvSpPr>
        <p:spPr>
          <a:xfrm>
            <a:off x="7239000" y="3429000"/>
            <a:ext cx="152400" cy="152400"/>
          </a:xfrm>
          <a:prstGeom prst="ellipse">
            <a:avLst/>
          </a:prstGeom>
          <a:solidFill>
            <a:srgbClr val="FFB445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94" name="Oval 34"/>
          <p:cNvSpPr/>
          <p:nvPr/>
        </p:nvSpPr>
        <p:spPr>
          <a:xfrm>
            <a:off x="5715000" y="2590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95" name="Oval 35"/>
          <p:cNvSpPr/>
          <p:nvPr/>
        </p:nvSpPr>
        <p:spPr>
          <a:xfrm>
            <a:off x="6477000" y="2590800"/>
            <a:ext cx="152400" cy="1524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96" name="Oval 36"/>
          <p:cNvSpPr/>
          <p:nvPr/>
        </p:nvSpPr>
        <p:spPr>
          <a:xfrm>
            <a:off x="5715000" y="41910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97" name="Oval 37"/>
          <p:cNvSpPr/>
          <p:nvPr/>
        </p:nvSpPr>
        <p:spPr>
          <a:xfrm>
            <a:off x="6477000" y="41910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98" name="Oval 38"/>
          <p:cNvSpPr/>
          <p:nvPr/>
        </p:nvSpPr>
        <p:spPr>
          <a:xfrm>
            <a:off x="7239000" y="41910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399" name="Oval 39"/>
          <p:cNvSpPr/>
          <p:nvPr/>
        </p:nvSpPr>
        <p:spPr>
          <a:xfrm>
            <a:off x="5715000" y="1066800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400" name="Oval 40"/>
          <p:cNvSpPr/>
          <p:nvPr/>
        </p:nvSpPr>
        <p:spPr>
          <a:xfrm>
            <a:off x="5715000" y="1828800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401" name="Oval 41"/>
          <p:cNvSpPr/>
          <p:nvPr/>
        </p:nvSpPr>
        <p:spPr>
          <a:xfrm>
            <a:off x="6477000" y="1828800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402" name="Oval 42"/>
          <p:cNvSpPr/>
          <p:nvPr/>
        </p:nvSpPr>
        <p:spPr>
          <a:xfrm>
            <a:off x="6477000" y="1066800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5403" name="Text Box 43"/>
          <p:cNvSpPr txBox="1"/>
          <p:nvPr/>
        </p:nvSpPr>
        <p:spPr>
          <a:xfrm>
            <a:off x="228600" y="2057400"/>
            <a:ext cx="4114800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现求整数解（最优解）：如用“舍入取整法”可得到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个点即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(1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3)    (2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3)(1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4)(2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4)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。显然，它们都不可能是整数规划的最优解。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404" name="Text Box 44"/>
          <p:cNvSpPr txBox="1"/>
          <p:nvPr/>
        </p:nvSpPr>
        <p:spPr>
          <a:xfrm>
            <a:off x="304800" y="4953000"/>
            <a:ext cx="8588375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按整数规划约束条件，其可行解肯定在线性规划问题的可行域内且为整数点。故整数规划问题的可行解集是一个有限集，如图所示。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405" name="Oval 45"/>
          <p:cNvSpPr/>
          <p:nvPr/>
        </p:nvSpPr>
        <p:spPr>
          <a:xfrm>
            <a:off x="4876800" y="41910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438" name="Line 46"/>
          <p:cNvSpPr/>
          <p:nvPr/>
        </p:nvSpPr>
        <p:spPr>
          <a:xfrm>
            <a:off x="5867400" y="1981200"/>
            <a:ext cx="1600200" cy="16764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59439" name="Line 47"/>
          <p:cNvSpPr/>
          <p:nvPr/>
        </p:nvSpPr>
        <p:spPr>
          <a:xfrm>
            <a:off x="5943600" y="1371600"/>
            <a:ext cx="1600200" cy="16002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59440" name="Oval 48"/>
          <p:cNvSpPr/>
          <p:nvPr/>
        </p:nvSpPr>
        <p:spPr>
          <a:xfrm>
            <a:off x="6096000" y="1524000"/>
            <a:ext cx="152400" cy="1524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441" name="Line 49"/>
          <p:cNvSpPr/>
          <p:nvPr/>
        </p:nvSpPr>
        <p:spPr>
          <a:xfrm>
            <a:off x="5257800" y="2438400"/>
            <a:ext cx="1752600" cy="18288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59442" name="Line 50"/>
          <p:cNvSpPr/>
          <p:nvPr/>
        </p:nvSpPr>
        <p:spPr>
          <a:xfrm>
            <a:off x="4800600" y="3048000"/>
            <a:ext cx="1524000" cy="1600200"/>
          </a:xfrm>
          <a:prstGeom prst="line">
            <a:avLst/>
          </a:prstGeom>
          <a:ln w="28575" cap="flat" cmpd="sng">
            <a:solidFill>
              <a:schemeClr val="accent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59443" name="Rectangle 51"/>
          <p:cNvSpPr>
            <a:spLocks noGrp="1"/>
          </p:cNvSpPr>
          <p:nvPr>
            <p:ph type="ctrTitle"/>
          </p:nvPr>
        </p:nvSpPr>
        <p:spPr>
          <a:xfrm>
            <a:off x="838200" y="457200"/>
            <a:ext cx="8382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000066"/>
                </a:solidFill>
                <a:ea typeface="楷体_GB2312" pitchFamily="49" charset="-122"/>
              </a:rPr>
              <a:t>图</a:t>
            </a:r>
            <a:endParaRPr lang="zh-CN" altLang="en-US" sz="28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35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5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91" grpId="0" animBg="1"/>
      <p:bldP spid="15392" grpId="0" animBg="1"/>
      <p:bldP spid="15393" grpId="0" animBg="1"/>
      <p:bldP spid="15394" grpId="0" animBg="1"/>
      <p:bldP spid="15395" grpId="0" animBg="1"/>
      <p:bldP spid="15396" grpId="0" animBg="1"/>
      <p:bldP spid="15397" grpId="0" animBg="1"/>
      <p:bldP spid="15398" grpId="0" animBg="1"/>
      <p:bldP spid="15399" grpId="0" animBg="1"/>
      <p:bldP spid="15400" grpId="0" animBg="1"/>
      <p:bldP spid="15401" grpId="0" animBg="1"/>
      <p:bldP spid="15402" grpId="0" animBg="1"/>
      <p:bldP spid="15403" grpId="0"/>
      <p:bldP spid="15404" grpId="0"/>
      <p:bldP spid="1540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Text Box 2"/>
          <p:cNvSpPr txBox="1"/>
          <p:nvPr/>
        </p:nvSpPr>
        <p:spPr>
          <a:xfrm>
            <a:off x="228600" y="457200"/>
            <a:ext cx="8686800" cy="22860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因此，可将集合内的整数点一一找出，其最大目标函数的值为最优解，此法为完全枚举法。</a:t>
            </a:r>
            <a:endParaRPr lang="zh-CN" altLang="en-US" sz="32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  如上例：其中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）（</a:t>
            </a:r>
            <a:r>
              <a:rPr lang="en-US" altLang="zh-CN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点为最大值，</a:t>
            </a:r>
            <a:r>
              <a:rPr lang="en-US" altLang="zh-CN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Z=4</a:t>
            </a:r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32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387" name="Text Box 3"/>
          <p:cNvSpPr txBox="1"/>
          <p:nvPr/>
        </p:nvSpPr>
        <p:spPr>
          <a:xfrm>
            <a:off x="228600" y="3048000"/>
            <a:ext cx="8686800" cy="25542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3200" b="1" dirty="0">
                <a:solidFill>
                  <a:srgbClr val="990000"/>
                </a:solidFill>
                <a:latin typeface="楷体_GB2312" pitchFamily="49" charset="-122"/>
                <a:ea typeface="楷体_GB2312" pitchFamily="49" charset="-122"/>
              </a:rPr>
              <a:t>目前，常用的求解整数规划的方法有：</a:t>
            </a:r>
            <a:endParaRPr lang="zh-CN" altLang="en-US" sz="3200" b="1" dirty="0">
              <a:solidFill>
                <a:srgbClr val="990000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endParaRPr lang="zh-CN" altLang="en-US" sz="32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割平面法和分支定界法；</a:t>
            </a:r>
            <a:endParaRPr lang="zh-CN" altLang="en-US" sz="32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对于特别的</a:t>
            </a:r>
            <a:r>
              <a:rPr lang="en-US" altLang="zh-CN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规划问题采用隐枚举法和匈牙利法。</a:t>
            </a:r>
            <a:endParaRPr lang="zh-CN" altLang="en-US" sz="32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500"/>
                                        <p:tgtEl>
                                          <p:spTgt spid="16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Text Box 2"/>
          <p:cNvSpPr txBox="1"/>
          <p:nvPr/>
        </p:nvSpPr>
        <p:spPr>
          <a:xfrm>
            <a:off x="228600" y="1371600"/>
            <a:ext cx="8686800" cy="4365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（一）、计算步骤：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、用单纯形法求解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IP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对应的松弛问题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⑴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没有可行解，则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也没有可行解，停止计算。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⑵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有最优解，并符合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的整数条件，则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的最优解即为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的最优解，停止计算。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⑶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有最优解，但不符合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的整数条件，转入下一步。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443" name="Rectangle 3"/>
          <p:cNvSpPr>
            <a:spLocks noGrp="1"/>
          </p:cNvSpPr>
          <p:nvPr>
            <p:ph type="ctrTitle"/>
          </p:nvPr>
        </p:nvSpPr>
        <p:spPr>
          <a:xfrm>
            <a:off x="428625" y="428625"/>
            <a:ext cx="7772400" cy="7620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rgbClr val="663300"/>
                </a:solidFill>
                <a:ea typeface="楷体_GB2312" pitchFamily="49" charset="-122"/>
              </a:rPr>
              <a:t>二、割平面法</a:t>
            </a:r>
            <a:endParaRPr lang="zh-CN" altLang="en-US" sz="3600" b="1" dirty="0">
              <a:solidFill>
                <a:srgbClr val="66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/>
          <p:nvPr/>
        </p:nvSpPr>
        <p:spPr>
          <a:xfrm>
            <a:off x="3810000" y="3733800"/>
            <a:ext cx="2286000" cy="609600"/>
          </a:xfrm>
          <a:prstGeom prst="rect">
            <a:avLst/>
          </a:prstGeom>
          <a:solidFill>
            <a:srgbClr val="F7E2C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6083" name="Rectangle 3"/>
          <p:cNvSpPr/>
          <p:nvPr/>
        </p:nvSpPr>
        <p:spPr>
          <a:xfrm>
            <a:off x="1524000" y="3733800"/>
            <a:ext cx="2133600" cy="609600"/>
          </a:xfrm>
          <a:prstGeom prst="rect">
            <a:avLst/>
          </a:prstGeom>
          <a:solidFill>
            <a:srgbClr val="F7E2C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25" name="Text Box 4"/>
          <p:cNvSpPr txBox="1"/>
          <p:nvPr/>
        </p:nvSpPr>
        <p:spPr>
          <a:xfrm>
            <a:off x="228600" y="830263"/>
            <a:ext cx="8686800" cy="138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2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、从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的最优解中，任选一个不为整数的分量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sz="2800" b="1" baseline="-250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r,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将最优单纯形表中该行的系数   和   分解为整数部分和小数部分之和，并用该行构造割平面方程：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9218" name="Object 2"/>
          <p:cNvGraphicFramePr>
            <a:graphicFrameLocks noChangeAspect="1"/>
          </p:cNvGraphicFramePr>
          <p:nvPr/>
        </p:nvGraphicFramePr>
        <p:xfrm>
          <a:off x="5638800" y="1219200"/>
          <a:ext cx="5413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190500" imgH="241300" progId="Equation.3">
                  <p:embed/>
                </p:oleObj>
              </mc:Choice>
              <mc:Fallback>
                <p:oleObj name="" r:id="rId1" imgW="190500" imgH="241300" progId="Equation.3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38800" y="1219200"/>
                        <a:ext cx="541338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3"/>
          <p:cNvGraphicFramePr>
            <a:graphicFrameLocks noChangeAspect="1"/>
          </p:cNvGraphicFramePr>
          <p:nvPr/>
        </p:nvGraphicFramePr>
        <p:xfrm>
          <a:off x="6553200" y="1219200"/>
          <a:ext cx="45243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3" imgW="152400" imgH="215900" progId="Equation.3">
                  <p:embed/>
                </p:oleObj>
              </mc:Choice>
              <mc:Fallback>
                <p:oleObj name="" r:id="rId3" imgW="152400" imgH="215900" progId="Equation.3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53200" y="1219200"/>
                        <a:ext cx="452438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87" name="Object 4"/>
          <p:cNvGraphicFramePr>
            <a:graphicFrameLocks noChangeAspect="1"/>
          </p:cNvGraphicFramePr>
          <p:nvPr/>
        </p:nvGraphicFramePr>
        <p:xfrm>
          <a:off x="2492375" y="2362200"/>
          <a:ext cx="4510088" cy="1289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5" imgW="1435100" imgH="444500" progId="Equation.3">
                  <p:embed/>
                </p:oleObj>
              </mc:Choice>
              <mc:Fallback>
                <p:oleObj name="" r:id="rId5" imgW="1435100" imgH="444500" progId="Equation.3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2375" y="2362200"/>
                        <a:ext cx="4510088" cy="12890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88" name="Text Box 8"/>
          <p:cNvSpPr txBox="1"/>
          <p:nvPr/>
        </p:nvSpPr>
        <p:spPr>
          <a:xfrm>
            <a:off x="228600" y="4800600"/>
            <a:ext cx="86868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3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、将所得的割平面方程作为一个新的约束条件置于最优单纯形表中（同时增加一个单位列向量），用对偶单纯形法求出新的最优解，返回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6089" name="Text Box 9"/>
          <p:cNvSpPr txBox="1"/>
          <p:nvPr/>
        </p:nvSpPr>
        <p:spPr>
          <a:xfrm>
            <a:off x="4267200" y="38100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的小数部分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6090" name="Text Box 10"/>
          <p:cNvSpPr txBox="1"/>
          <p:nvPr/>
        </p:nvSpPr>
        <p:spPr>
          <a:xfrm>
            <a:off x="1981200" y="3886200"/>
            <a:ext cx="1981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的小数部分</a:t>
            </a:r>
            <a:endParaRPr lang="zh-CN" altLang="en-US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6091" name="Object 5"/>
          <p:cNvGraphicFramePr>
            <a:graphicFrameLocks noChangeAspect="1"/>
          </p:cNvGraphicFramePr>
          <p:nvPr/>
        </p:nvGraphicFramePr>
        <p:xfrm>
          <a:off x="3810000" y="3657600"/>
          <a:ext cx="541338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7" imgW="190500" imgH="241300" progId="Equation.3">
                  <p:embed/>
                </p:oleObj>
              </mc:Choice>
              <mc:Fallback>
                <p:oleObj name="" r:id="rId7" imgW="190500" imgH="241300" progId="Equation.3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810000" y="3657600"/>
                        <a:ext cx="541338" cy="685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092" name="Object 6"/>
          <p:cNvGraphicFramePr>
            <a:graphicFrameLocks noChangeAspect="1"/>
          </p:cNvGraphicFramePr>
          <p:nvPr/>
        </p:nvGraphicFramePr>
        <p:xfrm>
          <a:off x="1600200" y="3733800"/>
          <a:ext cx="452438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9" imgW="152400" imgH="215900" progId="Equation.3">
                  <p:embed/>
                </p:oleObj>
              </mc:Choice>
              <mc:Fallback>
                <p:oleObj name="" r:id="rId9" imgW="152400" imgH="215900" progId="Equation.3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600200" y="3733800"/>
                        <a:ext cx="452438" cy="641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093" name="Line 13"/>
          <p:cNvSpPr/>
          <p:nvPr/>
        </p:nvSpPr>
        <p:spPr>
          <a:xfrm>
            <a:off x="2743200" y="3352800"/>
            <a:ext cx="0" cy="381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6094" name="Line 14"/>
          <p:cNvSpPr/>
          <p:nvPr/>
        </p:nvSpPr>
        <p:spPr>
          <a:xfrm>
            <a:off x="5029200" y="3352800"/>
            <a:ext cx="0" cy="381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60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6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4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0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6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4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46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animBg="1"/>
      <p:bldP spid="46083" grpId="0" animBg="1"/>
      <p:bldP spid="46088" grpId="0"/>
      <p:bldP spid="46089" grpId="0"/>
      <p:bldP spid="4609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3" name="Text Box 2"/>
          <p:cNvSpPr txBox="1"/>
          <p:nvPr/>
        </p:nvSpPr>
        <p:spPr>
          <a:xfrm>
            <a:off x="784225" y="228600"/>
            <a:ext cx="6149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例一：用割平面法求解整数规划问题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242" name="Object 2"/>
          <p:cNvGraphicFramePr>
            <a:graphicFrameLocks noChangeAspect="1"/>
          </p:cNvGraphicFramePr>
          <p:nvPr/>
        </p:nvGraphicFramePr>
        <p:xfrm>
          <a:off x="2535238" y="595313"/>
          <a:ext cx="2963862" cy="2116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1333500" imgH="952500" progId="Equation.3">
                  <p:embed/>
                </p:oleObj>
              </mc:Choice>
              <mc:Fallback>
                <p:oleObj name="" r:id="rId1" imgW="1333500" imgH="9525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35238" y="595313"/>
                        <a:ext cx="2963862" cy="21161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/>
          <p:nvPr/>
        </p:nvSpPr>
        <p:spPr>
          <a:xfrm>
            <a:off x="228600" y="2674938"/>
            <a:ext cx="8686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解：增加松弛变量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，得到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的初始单纯形表和最优单纯形表：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0245" name="表格 10244"/>
          <p:cNvGraphicFramePr/>
          <p:nvPr/>
        </p:nvGraphicFramePr>
        <p:xfrm>
          <a:off x="228600" y="3733800"/>
          <a:ext cx="4267200" cy="2286000"/>
        </p:xfrm>
        <a:graphic>
          <a:graphicData uri="http://schemas.openxmlformats.org/drawingml/2006/table">
            <a:tbl>
              <a:tblPr/>
              <a:tblGrid>
                <a:gridCol w="609600"/>
                <a:gridCol w="609600"/>
                <a:gridCol w="609600"/>
                <a:gridCol w="608013"/>
                <a:gridCol w="611187"/>
                <a:gridCol w="608013"/>
                <a:gridCol w="611187"/>
              </a:tblGrid>
              <a:tr h="457200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0292" name="表格 10291"/>
          <p:cNvGraphicFramePr/>
          <p:nvPr/>
        </p:nvGraphicFramePr>
        <p:xfrm>
          <a:off x="4686300" y="3733800"/>
          <a:ext cx="4152900" cy="2286000"/>
        </p:xfrm>
        <a:graphic>
          <a:graphicData uri="http://schemas.openxmlformats.org/drawingml/2006/table">
            <a:tbl>
              <a:tblPr/>
              <a:tblGrid>
                <a:gridCol w="685800"/>
                <a:gridCol w="533400"/>
                <a:gridCol w="685800"/>
                <a:gridCol w="438150"/>
                <a:gridCol w="438150"/>
                <a:gridCol w="682625"/>
                <a:gridCol w="688975"/>
              </a:tblGrid>
              <a:tr h="457200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3/2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7203" name="AutoShape 99"/>
          <p:cNvSpPr/>
          <p:nvPr/>
        </p:nvSpPr>
        <p:spPr>
          <a:xfrm>
            <a:off x="2743200" y="6019800"/>
            <a:ext cx="3581400" cy="533400"/>
          </a:xfrm>
          <a:prstGeom prst="curvedUpArrow">
            <a:avLst>
              <a:gd name="adj1" fmla="val 134285"/>
              <a:gd name="adj2" fmla="val 268571"/>
              <a:gd name="adj3" fmla="val 33333"/>
            </a:avLst>
          </a:prstGeom>
          <a:solidFill>
            <a:srgbClr val="F7E2C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02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7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7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2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2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20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7" name="Text Box 2"/>
          <p:cNvSpPr txBox="1"/>
          <p:nvPr/>
        </p:nvSpPr>
        <p:spPr>
          <a:xfrm>
            <a:off x="228600" y="1174750"/>
            <a:ext cx="86868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此题的最优解为：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i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＊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(1 , 3/2)     Z = 3/2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但不是整数最优解，引入割平面。以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所在的行生成割平面，由于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1/4=0+1/4, 3/2=1+1/2,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我们已将所需要的数分解为整数和分数，所以，生成割平面的条件为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:                        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1266" name="Object 2"/>
          <p:cNvGraphicFramePr>
            <a:graphicFrameLocks noChangeAspect="1"/>
          </p:cNvGraphicFramePr>
          <p:nvPr/>
        </p:nvGraphicFramePr>
        <p:xfrm>
          <a:off x="2584450" y="2913063"/>
          <a:ext cx="3213100" cy="944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989965" imgH="406400" progId="Equation.3">
                  <p:embed/>
                </p:oleObj>
              </mc:Choice>
              <mc:Fallback>
                <p:oleObj name="" r:id="rId1" imgW="989965" imgH="406400" progId="Equation.3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84450" y="2913063"/>
                        <a:ext cx="3213100" cy="944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/>
          <p:nvPr/>
        </p:nvSpPr>
        <p:spPr>
          <a:xfrm>
            <a:off x="5562600" y="3505200"/>
            <a:ext cx="6096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2292" name="表格 12291"/>
          <p:cNvGraphicFramePr/>
          <p:nvPr/>
        </p:nvGraphicFramePr>
        <p:xfrm>
          <a:off x="685800" y="1676400"/>
          <a:ext cx="7543800" cy="2743200"/>
        </p:xfrm>
        <a:graphic>
          <a:graphicData uri="http://schemas.openxmlformats.org/drawingml/2006/table">
            <a:tbl>
              <a:tblPr/>
              <a:tblGrid>
                <a:gridCol w="942975"/>
                <a:gridCol w="942975"/>
                <a:gridCol w="939800"/>
                <a:gridCol w="941388"/>
                <a:gridCol w="944562"/>
                <a:gridCol w="938213"/>
                <a:gridCol w="946150"/>
                <a:gridCol w="947737"/>
              </a:tblGrid>
              <a:tr h="457200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3/2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354" name="Text Box 65"/>
          <p:cNvSpPr txBox="1"/>
          <p:nvPr/>
        </p:nvSpPr>
        <p:spPr>
          <a:xfrm>
            <a:off x="228600" y="228600"/>
            <a:ext cx="861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现将生成的割平面条件加入松弛变量，然后加到表中：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2290" name="Object 2"/>
          <p:cNvGraphicFramePr>
            <a:graphicFrameLocks noChangeAspect="1"/>
          </p:cNvGraphicFramePr>
          <p:nvPr/>
        </p:nvGraphicFramePr>
        <p:xfrm>
          <a:off x="1700213" y="747713"/>
          <a:ext cx="47783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1473200" imgH="406400" progId="Equation.3">
                  <p:embed/>
                </p:oleObj>
              </mc:Choice>
              <mc:Fallback>
                <p:oleObj name="" r:id="rId1" imgW="1473200" imgH="406400" progId="Equation.3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00213" y="747713"/>
                        <a:ext cx="4778375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55" name="表格 12354"/>
          <p:cNvGraphicFramePr/>
          <p:nvPr/>
        </p:nvGraphicFramePr>
        <p:xfrm>
          <a:off x="685800" y="4419600"/>
          <a:ext cx="7543800" cy="2286000"/>
        </p:xfrm>
        <a:graphic>
          <a:graphicData uri="http://schemas.openxmlformats.org/drawingml/2006/table">
            <a:tbl>
              <a:tblPr/>
              <a:tblGrid>
                <a:gridCol w="942975"/>
                <a:gridCol w="942975"/>
                <a:gridCol w="939800"/>
                <a:gridCol w="941388"/>
                <a:gridCol w="944562"/>
                <a:gridCol w="938213"/>
                <a:gridCol w="946150"/>
                <a:gridCol w="947737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0298" name="Line 122"/>
          <p:cNvSpPr/>
          <p:nvPr/>
        </p:nvSpPr>
        <p:spPr>
          <a:xfrm flipV="1">
            <a:off x="6172200" y="4038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0299" name="Line 123"/>
          <p:cNvSpPr/>
          <p:nvPr/>
        </p:nvSpPr>
        <p:spPr>
          <a:xfrm>
            <a:off x="2743200" y="38862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3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3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2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5" name="Text Box 2"/>
          <p:cNvSpPr txBox="1"/>
          <p:nvPr/>
        </p:nvSpPr>
        <p:spPr>
          <a:xfrm>
            <a:off x="228600" y="1143000"/>
            <a:ext cx="8686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此时，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(2/3, 1), 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=1,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仍不是整数解。继续以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所在行生成割平面，其条件为：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3314" name="Object 2"/>
          <p:cNvGraphicFramePr>
            <a:graphicFrameLocks noChangeAspect="1"/>
          </p:cNvGraphicFramePr>
          <p:nvPr/>
        </p:nvGraphicFramePr>
        <p:xfrm>
          <a:off x="2928938" y="2185988"/>
          <a:ext cx="2895600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964565" imgH="406400" progId="Equation.3">
                  <p:embed/>
                </p:oleObj>
              </mc:Choice>
              <mc:Fallback>
                <p:oleObj name="" r:id="rId1" imgW="964565" imgH="406400" progId="Equation.3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8938" y="2185988"/>
                        <a:ext cx="2895600" cy="866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/>
          <p:nvPr/>
        </p:nvSpPr>
        <p:spPr>
          <a:xfrm>
            <a:off x="6172200" y="5638800"/>
            <a:ext cx="609600" cy="381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2227" name="Rectangle 3"/>
          <p:cNvSpPr/>
          <p:nvPr/>
        </p:nvSpPr>
        <p:spPr>
          <a:xfrm>
            <a:off x="7162800" y="3124200"/>
            <a:ext cx="609600" cy="381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4341" name="Text Box 4"/>
          <p:cNvSpPr txBox="1"/>
          <p:nvPr/>
        </p:nvSpPr>
        <p:spPr>
          <a:xfrm>
            <a:off x="228600" y="228600"/>
            <a:ext cx="861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将生成的割平面条件加入松弛变量，然后加到表中：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1600200" y="596900"/>
          <a:ext cx="4343400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1" imgW="1447165" imgH="406400" progId="Equation.3">
                  <p:embed/>
                </p:oleObj>
              </mc:Choice>
              <mc:Fallback>
                <p:oleObj name="" r:id="rId1" imgW="1447165" imgH="406400" progId="Equation.3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596900"/>
                        <a:ext cx="4343400" cy="865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表格 14341"/>
          <p:cNvGraphicFramePr/>
          <p:nvPr/>
        </p:nvGraphicFramePr>
        <p:xfrm>
          <a:off x="228600" y="1524000"/>
          <a:ext cx="8686800" cy="2381250"/>
        </p:xfrm>
        <a:graphic>
          <a:graphicData uri="http://schemas.openxmlformats.org/drawingml/2006/table">
            <a:tbl>
              <a:tblPr/>
              <a:tblGrid>
                <a:gridCol w="965200"/>
                <a:gridCol w="963613"/>
                <a:gridCol w="962025"/>
                <a:gridCol w="963612"/>
                <a:gridCol w="963613"/>
                <a:gridCol w="962025"/>
                <a:gridCol w="968375"/>
                <a:gridCol w="966787"/>
                <a:gridCol w="97155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-2/3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-2/3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-2/3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2" marB="45732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4413" name="表格 14412"/>
          <p:cNvGraphicFramePr/>
          <p:nvPr/>
        </p:nvGraphicFramePr>
        <p:xfrm>
          <a:off x="228600" y="3886200"/>
          <a:ext cx="8686800" cy="2590800"/>
        </p:xfrm>
        <a:graphic>
          <a:graphicData uri="http://schemas.openxmlformats.org/drawingml/2006/table">
            <a:tbl>
              <a:tblPr/>
              <a:tblGrid>
                <a:gridCol w="965200"/>
                <a:gridCol w="963613"/>
                <a:gridCol w="962025"/>
                <a:gridCol w="963612"/>
                <a:gridCol w="963613"/>
                <a:gridCol w="962025"/>
                <a:gridCol w="968375"/>
                <a:gridCol w="966787"/>
                <a:gridCol w="971550"/>
              </a:tblGrid>
              <a:tr h="431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-6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18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2372" name="Line 148"/>
          <p:cNvSpPr/>
          <p:nvPr/>
        </p:nvSpPr>
        <p:spPr>
          <a:xfrm flipV="1">
            <a:off x="7696200" y="35814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373" name="Line 149"/>
          <p:cNvSpPr/>
          <p:nvPr/>
        </p:nvSpPr>
        <p:spPr>
          <a:xfrm flipV="1">
            <a:off x="6705600" y="60960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2374" name="Line 150"/>
          <p:cNvSpPr/>
          <p:nvPr/>
        </p:nvSpPr>
        <p:spPr>
          <a:xfrm>
            <a:off x="2362200" y="34290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2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2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6" dur="500"/>
                                        <p:tgtEl>
                                          <p:spTgt spid="14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/>
      <p:bldP spid="5222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2466" name="表格 62465"/>
          <p:cNvGraphicFramePr/>
          <p:nvPr/>
        </p:nvGraphicFramePr>
        <p:xfrm>
          <a:off x="228600" y="685800"/>
          <a:ext cx="8686800" cy="2743200"/>
        </p:xfrm>
        <a:graphic>
          <a:graphicData uri="http://schemas.openxmlformats.org/drawingml/2006/table">
            <a:tbl>
              <a:tblPr/>
              <a:tblGrid>
                <a:gridCol w="965200"/>
                <a:gridCol w="963613"/>
                <a:gridCol w="962025"/>
                <a:gridCol w="963612"/>
                <a:gridCol w="963613"/>
                <a:gridCol w="962025"/>
                <a:gridCol w="968375"/>
                <a:gridCol w="966787"/>
                <a:gridCol w="9715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sz="2000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3/2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sz="2000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3321" name="Text Box 73"/>
          <p:cNvSpPr txBox="1"/>
          <p:nvPr/>
        </p:nvSpPr>
        <p:spPr>
          <a:xfrm>
            <a:off x="228600" y="3549650"/>
            <a:ext cx="8686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至此得到最优表，其最优解为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＊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 (1 , 1) , Z = 1,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这也是原问题的最优解。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3322" name="Text Box 74"/>
          <p:cNvSpPr txBox="1"/>
          <p:nvPr/>
        </p:nvSpPr>
        <p:spPr>
          <a:xfrm>
            <a:off x="228600" y="4570413"/>
            <a:ext cx="868680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有以上解题过程可见，表中含有分数元素且算法过程中始终保持对偶可行性，因此，这个算法也称为分数对偶割平面算法。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5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321" grpId="0"/>
      <p:bldP spid="533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3" name="Text Box 2"/>
          <p:cNvSpPr txBox="1"/>
          <p:nvPr/>
        </p:nvSpPr>
        <p:spPr>
          <a:xfrm>
            <a:off x="228600" y="1524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例二：用割平面法求解数规划问题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5362" name="Object 2"/>
          <p:cNvGraphicFramePr>
            <a:graphicFrameLocks noChangeAspect="1"/>
          </p:cNvGraphicFramePr>
          <p:nvPr/>
        </p:nvGraphicFramePr>
        <p:xfrm>
          <a:off x="1108075" y="533400"/>
          <a:ext cx="4872038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1" imgW="1371600" imgH="939800" progId="Equation.3">
                  <p:embed/>
                </p:oleObj>
              </mc:Choice>
              <mc:Fallback>
                <p:oleObj name="" r:id="rId1" imgW="1371600" imgH="939800" progId="Equation.3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08075" y="533400"/>
                        <a:ext cx="4872038" cy="2057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表格 15363"/>
          <p:cNvGraphicFramePr/>
          <p:nvPr/>
        </p:nvGraphicFramePr>
        <p:xfrm>
          <a:off x="1143000" y="2673350"/>
          <a:ext cx="7543800" cy="2286000"/>
        </p:xfrm>
        <a:graphic>
          <a:graphicData uri="http://schemas.openxmlformats.org/drawingml/2006/table">
            <a:tbl>
              <a:tblPr/>
              <a:tblGrid>
                <a:gridCol w="942975"/>
                <a:gridCol w="942975"/>
                <a:gridCol w="939800"/>
                <a:gridCol w="941388"/>
                <a:gridCol w="944562"/>
                <a:gridCol w="938213"/>
                <a:gridCol w="946150"/>
                <a:gridCol w="947737"/>
              </a:tblGrid>
              <a:tr h="457200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15417" name="表格 15416"/>
          <p:cNvGraphicFramePr/>
          <p:nvPr/>
        </p:nvGraphicFramePr>
        <p:xfrm>
          <a:off x="1143000" y="4959350"/>
          <a:ext cx="7543800" cy="1828800"/>
        </p:xfrm>
        <a:graphic>
          <a:graphicData uri="http://schemas.openxmlformats.org/drawingml/2006/table">
            <a:tbl>
              <a:tblPr/>
              <a:tblGrid>
                <a:gridCol w="942975"/>
                <a:gridCol w="942975"/>
                <a:gridCol w="939800"/>
                <a:gridCol w="941388"/>
                <a:gridCol w="944562"/>
                <a:gridCol w="938213"/>
                <a:gridCol w="946150"/>
                <a:gridCol w="947737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5/3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5/6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8/3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-13/3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375" name="Text Box 103"/>
          <p:cNvSpPr txBox="1"/>
          <p:nvPr/>
        </p:nvSpPr>
        <p:spPr>
          <a:xfrm>
            <a:off x="304800" y="2901950"/>
            <a:ext cx="549275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初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始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表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376" name="Text Box 104"/>
          <p:cNvSpPr txBox="1"/>
          <p:nvPr/>
        </p:nvSpPr>
        <p:spPr>
          <a:xfrm>
            <a:off x="304800" y="5187950"/>
            <a:ext cx="549275" cy="11874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最优表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4377" name="AutoShape 105"/>
          <p:cNvSpPr/>
          <p:nvPr/>
        </p:nvSpPr>
        <p:spPr>
          <a:xfrm>
            <a:off x="685800" y="3892550"/>
            <a:ext cx="457200" cy="2057400"/>
          </a:xfrm>
          <a:prstGeom prst="curvedRightArrow">
            <a:avLst>
              <a:gd name="adj1" fmla="val 90000"/>
              <a:gd name="adj2" fmla="val 180000"/>
              <a:gd name="adj3" fmla="val 33333"/>
            </a:avLst>
          </a:prstGeom>
          <a:solidFill>
            <a:srgbClr val="C2E28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43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43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4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4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43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43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1" dur="500"/>
                                        <p:tgtEl>
                                          <p:spTgt spid="15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375" grpId="0"/>
      <p:bldP spid="54376" grpId="0"/>
      <p:bldP spid="5437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8" name="Rectangle 2"/>
          <p:cNvSpPr/>
          <p:nvPr/>
        </p:nvSpPr>
        <p:spPr>
          <a:xfrm>
            <a:off x="228600" y="381000"/>
            <a:ext cx="8686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indent="304800" algn="just"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在松弛问题最优解中，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x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均为非整数解，由上表有：</a:t>
            </a:r>
            <a:endParaRPr lang="zh-CN" altLang="en-US" sz="2800" dirty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386" name="Object 2"/>
          <p:cNvGraphicFramePr>
            <a:graphicFrameLocks noChangeAspect="1"/>
          </p:cNvGraphicFramePr>
          <p:nvPr/>
        </p:nvGraphicFramePr>
        <p:xfrm>
          <a:off x="2232025" y="882650"/>
          <a:ext cx="376555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1" imgW="1282700" imgH="812800" progId="Equation.3">
                  <p:embed/>
                </p:oleObj>
              </mc:Choice>
              <mc:Fallback>
                <p:oleObj name="" r:id="rId1" imgW="1282700" imgH="812800" progId="Equation.3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32025" y="882650"/>
                        <a:ext cx="3765550" cy="204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Rectangle 4"/>
          <p:cNvSpPr/>
          <p:nvPr/>
        </p:nvSpPr>
        <p:spPr>
          <a:xfrm>
            <a:off x="228600" y="31242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将系数和常数都分解成整数和非负真分数之和 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387" name="Object 3"/>
          <p:cNvGraphicFramePr>
            <a:graphicFrameLocks noChangeAspect="1"/>
          </p:cNvGraphicFramePr>
          <p:nvPr/>
        </p:nvGraphicFramePr>
        <p:xfrm>
          <a:off x="1298575" y="3854450"/>
          <a:ext cx="5556250" cy="204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892300" imgH="812800" progId="Equation.3">
                  <p:embed/>
                </p:oleObj>
              </mc:Choice>
              <mc:Fallback>
                <p:oleObj name="" r:id="rId3" imgW="1892300" imgH="812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8575" y="3854450"/>
                        <a:ext cx="5556250" cy="2044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3" name="Rectangle 2"/>
          <p:cNvSpPr/>
          <p:nvPr/>
        </p:nvSpPr>
        <p:spPr>
          <a:xfrm>
            <a:off x="228600" y="457200"/>
            <a:ext cx="8686800" cy="2227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以上式子只须考虑一个即可，解题经验表明，考虑式子右端最大真分数的式子，往往会较快地找到所需割平面约束条件。以上两个式子右端真分数相等，可任选一个考虑。现选第二个式子，并将真分数移到右边得： 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1736725" y="2268538"/>
          <a:ext cx="5221288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1" imgW="1777365" imgH="406400" progId="Equation.3">
                  <p:embed/>
                </p:oleObj>
              </mc:Choice>
              <mc:Fallback>
                <p:oleObj name="" r:id="rId1" imgW="1777365" imgH="406400" progId="Equation.3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6725" y="2268538"/>
                        <a:ext cx="5221288" cy="1101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2117725" y="3413125"/>
          <a:ext cx="3243263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3" imgW="1104265" imgH="406400" progId="Equation.3">
                  <p:embed/>
                </p:oleObj>
              </mc:Choice>
              <mc:Fallback>
                <p:oleObj name="" r:id="rId3" imgW="1104265" imgH="406400" progId="Equation.3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7725" y="3413125"/>
                        <a:ext cx="3243263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Rectangle 5"/>
          <p:cNvSpPr/>
          <p:nvPr/>
        </p:nvSpPr>
        <p:spPr>
          <a:xfrm>
            <a:off x="304800" y="4419600"/>
            <a:ext cx="8534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引入松弛变量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后得到下式，将此约束条件加到上表中，继续求解。 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2765425" y="5089525"/>
          <a:ext cx="4325938" cy="102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5" imgW="1473200" imgH="406400" progId="Equation.3">
                  <p:embed/>
                </p:oleObj>
              </mc:Choice>
              <mc:Fallback>
                <p:oleObj name="" r:id="rId5" imgW="1473200" imgH="406400" progId="Equation.3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765425" y="5089525"/>
                        <a:ext cx="4325938" cy="102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/>
          <p:nvPr/>
        </p:nvSpPr>
        <p:spPr>
          <a:xfrm>
            <a:off x="5562600" y="2057400"/>
            <a:ext cx="6858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63491" name="表格 63490"/>
          <p:cNvGraphicFramePr/>
          <p:nvPr/>
        </p:nvGraphicFramePr>
        <p:xfrm>
          <a:off x="685800" y="228600"/>
          <a:ext cx="7543800" cy="2743200"/>
        </p:xfrm>
        <a:graphic>
          <a:graphicData uri="http://schemas.openxmlformats.org/drawingml/2006/table">
            <a:tbl>
              <a:tblPr/>
              <a:tblGrid>
                <a:gridCol w="942975"/>
                <a:gridCol w="942975"/>
                <a:gridCol w="939800"/>
                <a:gridCol w="941388"/>
                <a:gridCol w="944562"/>
                <a:gridCol w="938213"/>
                <a:gridCol w="946150"/>
                <a:gridCol w="947737"/>
              </a:tblGrid>
              <a:tr h="457200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5/3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5/6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1/6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8/3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13/3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1/6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1/6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553" name="Line 65"/>
          <p:cNvSpPr/>
          <p:nvPr/>
        </p:nvSpPr>
        <p:spPr>
          <a:xfrm flipV="1">
            <a:off x="6248400" y="25908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aphicFrame>
        <p:nvGraphicFramePr>
          <p:cNvPr id="63554" name="表格 63553"/>
          <p:cNvGraphicFramePr/>
          <p:nvPr/>
        </p:nvGraphicFramePr>
        <p:xfrm>
          <a:off x="685800" y="2971800"/>
          <a:ext cx="7543800" cy="2743200"/>
        </p:xfrm>
        <a:graphic>
          <a:graphicData uri="http://schemas.openxmlformats.org/drawingml/2006/table">
            <a:tbl>
              <a:tblPr/>
              <a:tblGrid>
                <a:gridCol w="942975"/>
                <a:gridCol w="942975"/>
                <a:gridCol w="939800"/>
                <a:gridCol w="941388"/>
                <a:gridCol w="944562"/>
                <a:gridCol w="938213"/>
                <a:gridCol w="946150"/>
                <a:gridCol w="947737"/>
              </a:tblGrid>
              <a:tr h="457200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 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616" name="Rectangle 128"/>
          <p:cNvSpPr/>
          <p:nvPr/>
        </p:nvSpPr>
        <p:spPr>
          <a:xfrm>
            <a:off x="6781800" y="5257800"/>
            <a:ext cx="5397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dirty="0">
                <a:latin typeface="Times New Roman" panose="02020603050405020304" pitchFamily="18" charset="0"/>
              </a:rPr>
              <a:t>﹡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63617" name="Rectangle 129"/>
          <p:cNvSpPr/>
          <p:nvPr/>
        </p:nvSpPr>
        <p:spPr>
          <a:xfrm>
            <a:off x="228600" y="5715000"/>
            <a:ext cx="8686800" cy="884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/>
            <a:r>
              <a:rPr lang="en-US" altLang="zh-CN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得到整数最优解，即为整数规划的最优解，而且此整数规划有两个最优解：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＊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 (0, 4),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 4, 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或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zh-CN" altLang="en-US" sz="2800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＊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 (2, 2),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 4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3618" name="Line 130"/>
          <p:cNvSpPr/>
          <p:nvPr/>
        </p:nvSpPr>
        <p:spPr>
          <a:xfrm>
            <a:off x="2819400" y="2438400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1295400" y="685800"/>
          <a:ext cx="5562600" cy="444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1" imgW="1320800" imgH="1397000" progId="Equation.3">
                  <p:embed/>
                </p:oleObj>
              </mc:Choice>
              <mc:Fallback>
                <p:oleObj name="" r:id="rId1" imgW="1320800" imgH="1397000" progId="Equation.3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95400" y="685800"/>
                        <a:ext cx="5562600" cy="4449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4514" name="表格 64513"/>
          <p:cNvGraphicFramePr/>
          <p:nvPr/>
        </p:nvGraphicFramePr>
        <p:xfrm>
          <a:off x="152400" y="304800"/>
          <a:ext cx="8686800" cy="2743200"/>
        </p:xfrm>
        <a:graphic>
          <a:graphicData uri="http://schemas.openxmlformats.org/drawingml/2006/table">
            <a:tbl>
              <a:tblPr/>
              <a:tblGrid>
                <a:gridCol w="965200"/>
                <a:gridCol w="963613"/>
                <a:gridCol w="962025"/>
                <a:gridCol w="963612"/>
                <a:gridCol w="963613"/>
                <a:gridCol w="962025"/>
                <a:gridCol w="968375"/>
                <a:gridCol w="966787"/>
                <a:gridCol w="9715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4/3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4/3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2/9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-5/9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8/3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1/9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2/9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-19/9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-2/9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4585" name="表格 64584"/>
          <p:cNvGraphicFramePr/>
          <p:nvPr/>
        </p:nvGraphicFramePr>
        <p:xfrm>
          <a:off x="152400" y="3429000"/>
          <a:ext cx="8686800" cy="2743200"/>
        </p:xfrm>
        <a:graphic>
          <a:graphicData uri="http://schemas.openxmlformats.org/drawingml/2006/table">
            <a:tbl>
              <a:tblPr/>
              <a:tblGrid>
                <a:gridCol w="965200"/>
                <a:gridCol w="963613"/>
                <a:gridCol w="962025"/>
                <a:gridCol w="963612"/>
                <a:gridCol w="963613"/>
                <a:gridCol w="962025"/>
                <a:gridCol w="968375"/>
                <a:gridCol w="966787"/>
                <a:gridCol w="9715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s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-5/2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1" i="1" baseline="-25000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-9/2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</a:rPr>
                        <a:t>－</a:t>
                      </a:r>
                      <a:r>
                        <a:rPr lang="en-US" altLang="zh-CN" b="1" i="1" dirty="0">
                          <a:latin typeface="Times New Roman" panose="02020603050405020304" pitchFamily="18" charset="0"/>
                        </a:rPr>
                        <a:t>Z</a:t>
                      </a:r>
                      <a:endParaRPr lang="en-US" altLang="zh-CN" b="1" i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01520" name="Text Box 144"/>
          <p:cNvSpPr txBox="1"/>
          <p:nvPr/>
        </p:nvSpPr>
        <p:spPr>
          <a:xfrm>
            <a:off x="3276600" y="6248400"/>
            <a:ext cx="14843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2 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b="1" dirty="0">
                <a:solidFill>
                  <a:srgbClr val="FF33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b="1" dirty="0">
                <a:solidFill>
                  <a:srgbClr val="FF3300"/>
                </a:solidFill>
                <a:latin typeface="Times New Roman" panose="02020603050405020304" pitchFamily="18" charset="0"/>
              </a:rPr>
              <a:t>）</a:t>
            </a:r>
            <a:endParaRPr lang="zh-CN" altLang="en-US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1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1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52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60" name="Text Box 2"/>
          <p:cNvSpPr txBox="1"/>
          <p:nvPr/>
        </p:nvSpPr>
        <p:spPr>
          <a:xfrm>
            <a:off x="304800" y="1143000"/>
            <a:ext cx="3276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（一）、基本思路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3733800" y="1219200"/>
          <a:ext cx="5105400" cy="2640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1" imgW="2209800" imgH="1143000" progId="Equation.3">
                  <p:embed/>
                </p:oleObj>
              </mc:Choice>
              <mc:Fallback>
                <p:oleObj name="" r:id="rId1" imgW="2209800" imgH="1143000" progId="Equation.3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33800" y="1219200"/>
                        <a:ext cx="5105400" cy="26400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2" name="Rectangle 4"/>
          <p:cNvSpPr/>
          <p:nvPr/>
        </p:nvSpPr>
        <p:spPr>
          <a:xfrm>
            <a:off x="381000" y="2286000"/>
            <a:ext cx="30543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考虑纯整数问题：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17413" name="Object 5"/>
          <p:cNvGraphicFramePr>
            <a:graphicFrameLocks noChangeAspect="1"/>
          </p:cNvGraphicFramePr>
          <p:nvPr/>
        </p:nvGraphicFramePr>
        <p:xfrm>
          <a:off x="4114800" y="3886200"/>
          <a:ext cx="4519613" cy="2581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" imgW="1955800" imgH="1117600" progId="Equation.3">
                  <p:embed/>
                </p:oleObj>
              </mc:Choice>
              <mc:Fallback>
                <p:oleObj name="" r:id="rId3" imgW="1955800" imgH="1117600" progId="Equation.3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114800" y="3886200"/>
                        <a:ext cx="4519613" cy="2581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Text Box 6"/>
          <p:cNvSpPr txBox="1"/>
          <p:nvPr/>
        </p:nvSpPr>
        <p:spPr>
          <a:xfrm>
            <a:off x="228600" y="4648200"/>
            <a:ext cx="3581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整数问题的松弛问题：</a:t>
            </a:r>
            <a:endParaRPr lang="zh-CN" altLang="en-US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463" name="Rectangle 7"/>
          <p:cNvSpPr>
            <a:spLocks noGrp="1"/>
          </p:cNvSpPr>
          <p:nvPr>
            <p:ph type="ctrTitle"/>
          </p:nvPr>
        </p:nvSpPr>
        <p:spPr>
          <a:xfrm>
            <a:off x="442913" y="304800"/>
            <a:ext cx="7772400" cy="8382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rgbClr val="663300"/>
                </a:solidFill>
                <a:ea typeface="楷体_GB2312" pitchFamily="49" charset="-122"/>
              </a:rPr>
              <a:t>三、分枝定界法</a:t>
            </a:r>
            <a:endParaRPr lang="zh-CN" altLang="en-US" sz="3600" b="1" dirty="0">
              <a:solidFill>
                <a:srgbClr val="66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0" dur="5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/>
      <p:bldP spid="1741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/>
          <p:nvPr/>
        </p:nvSpPr>
        <p:spPr>
          <a:xfrm>
            <a:off x="228600" y="4800600"/>
            <a:ext cx="8686800" cy="1066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35" name="Rectangle 3"/>
          <p:cNvSpPr/>
          <p:nvPr/>
        </p:nvSpPr>
        <p:spPr>
          <a:xfrm>
            <a:off x="228600" y="3733800"/>
            <a:ext cx="8686800" cy="1066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36" name="Rectangle 4"/>
          <p:cNvSpPr/>
          <p:nvPr/>
        </p:nvSpPr>
        <p:spPr>
          <a:xfrm>
            <a:off x="228600" y="2667000"/>
            <a:ext cx="8686800" cy="1066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8437" name="Rectangle 5"/>
          <p:cNvSpPr/>
          <p:nvPr/>
        </p:nvSpPr>
        <p:spPr>
          <a:xfrm>
            <a:off x="228600" y="1600200"/>
            <a:ext cx="8686800" cy="1066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0487" name="Text Box 6"/>
          <p:cNvSpPr txBox="1"/>
          <p:nvPr/>
        </p:nvSpPr>
        <p:spPr>
          <a:xfrm>
            <a:off x="228600" y="609600"/>
            <a:ext cx="8686800" cy="41513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、先不考虑整数约束，解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的松弛问题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，可能得到以下情况之一：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⑴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没有可行解，则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也没有可行解，停止计算。</a:t>
            </a:r>
            <a:endParaRPr lang="zh-CN" altLang="en-US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⑵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有最优解，并符合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的整数条件，则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的最优解即为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的最优解，停止计算。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⑶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有最优解，但不符合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的整数条件，转入下一步。为讨论方便，设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的最优解为：</a:t>
            </a:r>
            <a:r>
              <a:rPr lang="zh-CN" alt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             </a:t>
            </a:r>
            <a:endParaRPr lang="zh-CN" altLang="en-US" sz="2800" b="1" dirty="0">
              <a:solidFill>
                <a:schemeClr val="accent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482" name="Object 7"/>
          <p:cNvGraphicFramePr>
            <a:graphicFrameLocks noChangeAspect="1"/>
          </p:cNvGraphicFramePr>
          <p:nvPr/>
        </p:nvGraphicFramePr>
        <p:xfrm>
          <a:off x="228600" y="4800600"/>
          <a:ext cx="8686800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3517900" imgH="457200" progId="Equation.3">
                  <p:embed/>
                </p:oleObj>
              </mc:Choice>
              <mc:Fallback>
                <p:oleObj name="" r:id="rId1" imgW="3517900" imgH="457200" progId="Equation.3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4800600"/>
                        <a:ext cx="8686800" cy="1066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0" name="Rectangle 8"/>
          <p:cNvSpPr/>
          <p:nvPr/>
        </p:nvSpPr>
        <p:spPr>
          <a:xfrm>
            <a:off x="1143000" y="6096000"/>
            <a:ext cx="914400" cy="38100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4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4" grpId="0" animBg="1"/>
      <p:bldP spid="18435" grpId="0" animBg="1"/>
      <p:bldP spid="18436" grpId="0" animBg="1"/>
      <p:bldP spid="18437" grpId="0" animBg="1"/>
      <p:bldP spid="1844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228600" y="381000"/>
            <a:ext cx="8686800" cy="2562225"/>
            <a:chOff x="144" y="240"/>
            <a:chExt cx="5472" cy="1614"/>
          </a:xfrm>
        </p:grpSpPr>
        <p:sp>
          <p:nvSpPr>
            <p:cNvPr id="21516" name="Text Box 3"/>
            <p:cNvSpPr txBox="1"/>
            <p:nvPr/>
          </p:nvSpPr>
          <p:spPr>
            <a:xfrm>
              <a:off x="144" y="240"/>
              <a:ext cx="5472" cy="161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2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、定界：</a:t>
              </a:r>
              <a:endPara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   记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</a:t>
              </a:r>
              <a:r>
                <a:rPr lang="en-US" altLang="zh-CN" sz="2800" b="1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IP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)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的目标函数最优值为</a:t>
              </a: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800" i="1" baseline="30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*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,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以</a:t>
              </a: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800" i="1" baseline="30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(0)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作为</a:t>
              </a: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800" i="1" baseline="30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*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的上界，记为      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＝ </a:t>
              </a:r>
              <a:r>
                <a:rPr lang="en-US" altLang="zh-CN" sz="3200" i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3200" i="1" baseline="30000" dirty="0">
                  <a:latin typeface="Times New Roman" panose="02020603050405020304" pitchFamily="18" charset="0"/>
                  <a:ea typeface="楷体_GB2312" pitchFamily="49" charset="-122"/>
                </a:rPr>
                <a:t>(0)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。再用观察法找的一个整数可行解 </a:t>
              </a: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800" i="1" baseline="30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′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，并以其相应的目标函数值 </a:t>
              </a: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800" i="1" baseline="30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′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作为</a:t>
              </a: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800" i="1" baseline="30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*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的下界，记为</a:t>
              </a:r>
              <a:r>
                <a:rPr lang="en-US" altLang="zh-CN" sz="2800" b="1" u="sng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＝ </a:t>
              </a: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800" i="1" baseline="300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′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，也可以令</a:t>
              </a:r>
              <a:r>
                <a:rPr lang="en-US" altLang="zh-CN" sz="2800" i="1" u="sng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＝－∞，则有：</a:t>
              </a:r>
              <a:r>
                <a:rPr lang="zh-CN" altLang="en-US" sz="2800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en-US" altLang="zh-CN" sz="3200" i="1" u="sng" dirty="0">
                  <a:latin typeface="Times New Roman" panose="02020603050405020304" pitchFamily="18" charset="0"/>
                  <a:ea typeface="楷体_GB2312" pitchFamily="49" charset="-122"/>
                </a:rPr>
                <a:t>Z 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≤ </a:t>
              </a:r>
              <a:r>
                <a:rPr lang="en-US" altLang="zh-CN" sz="3200" i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3200" i="1" baseline="30000" dirty="0">
                  <a:latin typeface="Times New Roman" panose="02020603050405020304" pitchFamily="18" charset="0"/>
                  <a:ea typeface="楷体_GB2312" pitchFamily="49" charset="-122"/>
                </a:rPr>
                <a:t>*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 ≤</a:t>
              </a:r>
              <a:endParaRPr lang="en-US" altLang="zh-CN" sz="28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graphicFrame>
          <p:nvGraphicFramePr>
            <p:cNvPr id="21511" name="Object 4"/>
            <p:cNvGraphicFramePr>
              <a:graphicFrameLocks noChangeAspect="1"/>
            </p:cNvGraphicFramePr>
            <p:nvPr/>
          </p:nvGraphicFramePr>
          <p:xfrm>
            <a:off x="720" y="912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1" imgW="152400" imgH="203200" progId="Equation.3">
                    <p:embed/>
                  </p:oleObj>
                </mc:Choice>
                <mc:Fallback>
                  <p:oleObj name="" r:id="rId1" imgW="152400" imgH="203200" progId="Equation.3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720" y="912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2" name="Object 5"/>
            <p:cNvGraphicFramePr>
              <a:graphicFrameLocks noChangeAspect="1"/>
            </p:cNvGraphicFramePr>
            <p:nvPr/>
          </p:nvGraphicFramePr>
          <p:xfrm>
            <a:off x="3645" y="1488"/>
            <a:ext cx="247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3" imgW="152400" imgH="203200" progId="Equation.3">
                    <p:embed/>
                  </p:oleObj>
                </mc:Choice>
                <mc:Fallback>
                  <p:oleObj name="" r:id="rId3" imgW="152400" imgH="203200" progId="Equation.3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645" y="1488"/>
                          <a:ext cx="247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6"/>
          <p:cNvGrpSpPr/>
          <p:nvPr/>
        </p:nvGrpSpPr>
        <p:grpSpPr>
          <a:xfrm>
            <a:off x="228600" y="3040063"/>
            <a:ext cx="8686800" cy="3132137"/>
            <a:chOff x="144" y="1915"/>
            <a:chExt cx="5472" cy="1973"/>
          </a:xfrm>
        </p:grpSpPr>
        <p:sp>
          <p:nvSpPr>
            <p:cNvPr id="21515" name="Text Box 7"/>
            <p:cNvSpPr txBox="1"/>
            <p:nvPr/>
          </p:nvSpPr>
          <p:spPr>
            <a:xfrm>
              <a:off x="144" y="1915"/>
              <a:ext cx="5472" cy="196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>
                <a:spcBef>
                  <a:spcPct val="50000"/>
                </a:spcBef>
              </a:pPr>
              <a:r>
                <a:rPr lang="en-US" altLang="zh-CN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r>
                <a:rPr lang="zh-CN" altLang="en-US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、</a:t>
              </a:r>
              <a:r>
                <a:rPr lang="zh-CN" altLang="en-US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分枝：</a:t>
              </a:r>
              <a:endPara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  在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( </a:t>
              </a:r>
              <a:r>
                <a:rPr lang="en-US" altLang="zh-CN" sz="2800" i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LP</a:t>
              </a:r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 )</a:t>
              </a:r>
              <a:r>
                <a:rPr lang="zh-CN" altLang="en-US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的最优解 </a:t>
              </a:r>
              <a:r>
                <a:rPr lang="en-US" altLang="zh-CN" sz="32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3200" baseline="30000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(0)</a:t>
              </a:r>
              <a:r>
                <a:rPr lang="zh-CN" altLang="en-US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中，任选一个不符合整数条件的变量，例如</a:t>
              </a:r>
              <a:r>
                <a:rPr lang="en-US" altLang="zh-CN" sz="3200" i="1" dirty="0"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3200" i="1" baseline="-30000" dirty="0">
                  <a:latin typeface="楷体_GB2312" pitchFamily="49" charset="-122"/>
                  <a:ea typeface="楷体_GB2312" pitchFamily="49" charset="-122"/>
                </a:rPr>
                <a:t>r</a:t>
              </a:r>
              <a:r>
                <a:rPr lang="en-US" altLang="zh-CN" sz="3200" b="1" dirty="0">
                  <a:latin typeface="楷体_GB2312" pitchFamily="49" charset="-122"/>
                  <a:ea typeface="楷体_GB2312" pitchFamily="49" charset="-122"/>
                </a:rPr>
                <a:t>=</a:t>
              </a:r>
              <a:r>
                <a:rPr lang="en-US" altLang="zh-CN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lang="zh-CN" altLang="en-US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（不为整数），以    表示不超过              </a:t>
              </a:r>
              <a:endPara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  的最大整数。构造两个约束条件</a:t>
              </a:r>
              <a:endPara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rPr>
                <a:t>         </a:t>
              </a:r>
              <a:r>
                <a:rPr lang="en-US" altLang="zh-CN" sz="3200" i="1" dirty="0"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3200" i="1" baseline="-30000" dirty="0">
                  <a:latin typeface="楷体_GB2312" pitchFamily="49" charset="-122"/>
                  <a:ea typeface="楷体_GB2312" pitchFamily="49" charset="-122"/>
                </a:rPr>
                <a:t>r</a:t>
              </a:r>
              <a:r>
                <a:rPr lang="en-US" altLang="zh-CN" sz="2800" b="1" dirty="0">
                  <a:latin typeface="Times New Roman" panose="02020603050405020304" pitchFamily="18" charset="0"/>
                  <a:ea typeface="楷体_GB2312" pitchFamily="49" charset="-122"/>
                </a:rPr>
                <a:t>≤           </a:t>
              </a:r>
              <a:r>
                <a:rPr lang="zh-CN" altLang="en-US" sz="2800" b="1" dirty="0">
                  <a:latin typeface="Times New Roman" panose="02020603050405020304" pitchFamily="18" charset="0"/>
                  <a:ea typeface="楷体_GB2312" pitchFamily="49" charset="-122"/>
                </a:rPr>
                <a:t>和</a:t>
              </a:r>
              <a:r>
                <a:rPr lang="en-US" altLang="zh-CN" sz="3200" i="1" dirty="0"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en-US" altLang="zh-CN" sz="3200" i="1" baseline="-30000" dirty="0">
                  <a:latin typeface="楷体_GB2312" pitchFamily="49" charset="-122"/>
                  <a:ea typeface="楷体_GB2312" pitchFamily="49" charset="-122"/>
                </a:rPr>
                <a:t>r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≥   </a:t>
              </a:r>
              <a:r>
                <a:rPr lang="zh-CN" altLang="en-US" sz="2800" b="1" dirty="0">
                  <a:latin typeface="楷体_GB2312" pitchFamily="49" charset="-122"/>
                  <a:ea typeface="楷体_GB2312" pitchFamily="49" charset="-122"/>
                </a:rPr>
                <a:t>＋</a:t>
              </a:r>
              <a:r>
                <a:rPr lang="en-US" altLang="zh-CN" sz="2800" b="1" dirty="0">
                  <a:latin typeface="楷体_GB2312" pitchFamily="49" charset="-122"/>
                  <a:ea typeface="楷体_GB2312" pitchFamily="49" charset="-122"/>
                </a:rPr>
                <a:t>1</a:t>
              </a:r>
              <a:endParaRPr lang="en-US" altLang="zh-CN" sz="28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21506" name="Object 8"/>
            <p:cNvGraphicFramePr>
              <a:graphicFrameLocks noChangeAspect="1"/>
            </p:cNvGraphicFramePr>
            <p:nvPr/>
          </p:nvGraphicFramePr>
          <p:xfrm>
            <a:off x="1920" y="2688"/>
            <a:ext cx="27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" r:id="rId5" imgW="152400" imgH="215900" progId="Equation.3">
                    <p:embed/>
                  </p:oleObj>
                </mc:Choice>
                <mc:Fallback>
                  <p:oleObj name="" r:id="rId5" imgW="152400" imgH="215900" progId="Equation.3">
                    <p:embed/>
                    <p:pic>
                      <p:nvPicPr>
                        <p:cNvPr id="0" name="图片 3099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0" y="2688"/>
                          <a:ext cx="278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7" name="Object 9"/>
            <p:cNvGraphicFramePr>
              <a:graphicFrameLocks noChangeAspect="1"/>
            </p:cNvGraphicFramePr>
            <p:nvPr/>
          </p:nvGraphicFramePr>
          <p:xfrm>
            <a:off x="3936" y="2688"/>
            <a:ext cx="4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" r:id="rId7" imgW="241300" imgH="215900" progId="Equation.3">
                    <p:embed/>
                  </p:oleObj>
                </mc:Choice>
                <mc:Fallback>
                  <p:oleObj name="" r:id="rId7" imgW="241300" imgH="215900" progId="Equation.3">
                    <p:embed/>
                    <p:pic>
                      <p:nvPicPr>
                        <p:cNvPr id="0" name="图片 3100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936" y="2688"/>
                          <a:ext cx="44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8" name="Object 10"/>
            <p:cNvGraphicFramePr>
              <a:graphicFrameLocks noChangeAspect="1"/>
            </p:cNvGraphicFramePr>
            <p:nvPr/>
          </p:nvGraphicFramePr>
          <p:xfrm>
            <a:off x="192" y="3072"/>
            <a:ext cx="27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9" imgW="152400" imgH="215900" progId="Equation.3">
                    <p:embed/>
                  </p:oleObj>
                </mc:Choice>
                <mc:Fallback>
                  <p:oleObj name="" r:id="rId9" imgW="152400" imgH="215900" progId="Equation.3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" y="3072"/>
                          <a:ext cx="278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09" name="Object 11"/>
            <p:cNvGraphicFramePr>
              <a:graphicFrameLocks noChangeAspect="1"/>
            </p:cNvGraphicFramePr>
            <p:nvPr/>
          </p:nvGraphicFramePr>
          <p:xfrm>
            <a:off x="1728" y="3552"/>
            <a:ext cx="4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10" imgW="241300" imgH="215900" progId="Equation.3">
                    <p:embed/>
                  </p:oleObj>
                </mc:Choice>
                <mc:Fallback>
                  <p:oleObj name="" r:id="rId10" imgW="241300" imgH="215900" progId="Equation.3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728" y="3552"/>
                          <a:ext cx="44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0" name="Object 12"/>
            <p:cNvGraphicFramePr>
              <a:graphicFrameLocks noChangeAspect="1"/>
            </p:cNvGraphicFramePr>
            <p:nvPr/>
          </p:nvGraphicFramePr>
          <p:xfrm>
            <a:off x="2928" y="3552"/>
            <a:ext cx="44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11" imgW="241300" imgH="215900" progId="Equation.3">
                    <p:embed/>
                  </p:oleObj>
                </mc:Choice>
                <mc:Fallback>
                  <p:oleObj name="" r:id="rId11" imgW="241300" imgH="215900" progId="Equation.3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928" y="3552"/>
                          <a:ext cx="440" cy="3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"/>
          <p:cNvSpPr/>
          <p:nvPr/>
        </p:nvSpPr>
        <p:spPr>
          <a:xfrm>
            <a:off x="457200" y="5943600"/>
            <a:ext cx="8686800" cy="579438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如此反复进行，直到得到</a:t>
            </a:r>
            <a:r>
              <a:rPr lang="en-US" altLang="zh-CN" sz="3200" i="1" u="sng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zh-CN" altLang="en-US" sz="3200" i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zh-CN" altLang="en-US" sz="32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zh-CN" altLang="en-US" b="1" dirty="0">
                <a:latin typeface="Times New Roman" panose="02020603050405020304" pitchFamily="18" charset="0"/>
                <a:ea typeface="楷体_GB2312" pitchFamily="49" charset="-122"/>
              </a:rPr>
              <a:t>    为止，即得最优解 </a:t>
            </a:r>
            <a:r>
              <a:rPr lang="en-US" altLang="zh-CN" sz="3200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i="1" baseline="30000" dirty="0"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en-US" altLang="zh-CN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532" name="Text Box 3"/>
          <p:cNvSpPr txBox="1"/>
          <p:nvPr/>
        </p:nvSpPr>
        <p:spPr>
          <a:xfrm>
            <a:off x="228600" y="228600"/>
            <a:ext cx="86868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将这两个约束条件分别加入问题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，形成两个子问题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，再解这两个问题的松弛问题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0484" name="Text Box 4"/>
          <p:cNvSpPr txBox="1"/>
          <p:nvPr/>
        </p:nvSpPr>
        <p:spPr>
          <a:xfrm>
            <a:off x="228600" y="1600200"/>
            <a:ext cx="8686800" cy="2227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4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修改上、下界：按照以下两点规则进行。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⑴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在各分枝问题中，找出目标函数值最大者作为新的上界；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⑵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.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从已符合整数条件的分枝中，找出目标函数值最大者作为新的下界。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0485" name="Text Box 5"/>
          <p:cNvSpPr txBox="1"/>
          <p:nvPr/>
        </p:nvSpPr>
        <p:spPr>
          <a:xfrm>
            <a:off x="228600" y="3886200"/>
            <a:ext cx="8686800" cy="20145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     5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、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比较与剪枝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  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各分枝的目标函数值中，若有小于</a:t>
            </a:r>
            <a:r>
              <a:rPr lang="en-US" altLang="zh-CN" sz="2800" i="1" u="sng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者，则剪掉此枝，表明此子问题已经探清，不必再分枝了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否则继续分枝。        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5257800" y="5943600"/>
          <a:ext cx="392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7" name="" r:id="rId1" imgW="152400" imgH="203200" progId="Equation.3">
                  <p:embed/>
                </p:oleObj>
              </mc:Choice>
              <mc:Fallback>
                <p:oleObj name="" r:id="rId1" imgW="152400" imgH="203200" progId="Equation.3">
                  <p:embed/>
                  <p:pic>
                    <p:nvPicPr>
                      <p:cNvPr id="0" name="图片 310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57800" y="5943600"/>
                        <a:ext cx="392113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0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nimBg="1"/>
      <p:bldP spid="20484" grpId="0"/>
      <p:bldP spid="2048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6" name="Text Box 2"/>
          <p:cNvSpPr txBox="1"/>
          <p:nvPr/>
        </p:nvSpPr>
        <p:spPr>
          <a:xfrm>
            <a:off x="0" y="762000"/>
            <a:ext cx="8915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例一：用分枝定界法求解整数规划问题（用图解法计算）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3554" name="Object 3"/>
          <p:cNvGraphicFramePr>
            <a:graphicFrameLocks noChangeAspect="1"/>
          </p:cNvGraphicFramePr>
          <p:nvPr/>
        </p:nvGraphicFramePr>
        <p:xfrm>
          <a:off x="1600200" y="1219200"/>
          <a:ext cx="3886200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8" name="" r:id="rId1" imgW="1435100" imgH="1041400" progId="Equation.3">
                  <p:embed/>
                </p:oleObj>
              </mc:Choice>
              <mc:Fallback>
                <p:oleObj name="" r:id="rId1" imgW="1435100" imgH="1041400" progId="Equation.3">
                  <p:embed/>
                  <p:pic>
                    <p:nvPicPr>
                      <p:cNvPr id="0" name="图片 310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1219200"/>
                        <a:ext cx="3886200" cy="243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AutoShape 4"/>
          <p:cNvSpPr/>
          <p:nvPr/>
        </p:nvSpPr>
        <p:spPr>
          <a:xfrm>
            <a:off x="5562600" y="1371600"/>
            <a:ext cx="228600" cy="20574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3558" name="Text Box 5"/>
          <p:cNvSpPr txBox="1"/>
          <p:nvPr/>
        </p:nvSpPr>
        <p:spPr>
          <a:xfrm>
            <a:off x="6019800" y="2057400"/>
            <a:ext cx="2035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记为（</a:t>
            </a:r>
            <a:r>
              <a:rPr lang="en-US" altLang="zh-CN" sz="2800" i="1" dirty="0"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1510" name="Text Box 6"/>
          <p:cNvSpPr txBox="1"/>
          <p:nvPr/>
        </p:nvSpPr>
        <p:spPr>
          <a:xfrm>
            <a:off x="228600" y="37338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解：首先去掉整数约束，变成一般线性规划问题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1511" name="Object 7"/>
          <p:cNvGraphicFramePr>
            <a:graphicFrameLocks noChangeAspect="1"/>
          </p:cNvGraphicFramePr>
          <p:nvPr/>
        </p:nvGraphicFramePr>
        <p:xfrm>
          <a:off x="2362200" y="4191000"/>
          <a:ext cx="2992438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3" imgW="1104900" imgH="1041400" progId="Equation.3">
                  <p:embed/>
                </p:oleObj>
              </mc:Choice>
              <mc:Fallback>
                <p:oleObj name="" r:id="rId3" imgW="1104900" imgH="1041400" progId="Equation.3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62200" y="4191000"/>
                        <a:ext cx="2992438" cy="243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AutoShape 8"/>
          <p:cNvSpPr/>
          <p:nvPr/>
        </p:nvSpPr>
        <p:spPr>
          <a:xfrm>
            <a:off x="5486400" y="4419600"/>
            <a:ext cx="228600" cy="2057400"/>
          </a:xfrm>
          <a:prstGeom prst="rightBrace">
            <a:avLst>
              <a:gd name="adj1" fmla="val 7500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1513" name="Text Box 9"/>
          <p:cNvSpPr txBox="1"/>
          <p:nvPr/>
        </p:nvSpPr>
        <p:spPr>
          <a:xfrm>
            <a:off x="5943600" y="5105400"/>
            <a:ext cx="2035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记为（</a:t>
            </a:r>
            <a:r>
              <a:rPr lang="en-US" altLang="zh-CN" sz="2800" i="1" dirty="0"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562" name="Rectangle 10"/>
          <p:cNvSpPr>
            <a:spLocks noGrp="1"/>
          </p:cNvSpPr>
          <p:nvPr>
            <p:ph type="ctrTitle"/>
          </p:nvPr>
        </p:nvSpPr>
        <p:spPr>
          <a:xfrm>
            <a:off x="685800" y="30480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000066"/>
                </a:solidFill>
                <a:ea typeface="楷体_GB2312" pitchFamily="49" charset="-122"/>
              </a:rPr>
              <a:t>（二）、例题</a:t>
            </a:r>
            <a:br>
              <a:rPr lang="zh-CN" altLang="en-US" sz="2800" b="1" dirty="0">
                <a:solidFill>
                  <a:srgbClr val="000066"/>
                </a:solidFill>
                <a:ea typeface="楷体_GB2312" pitchFamily="49" charset="-122"/>
              </a:rPr>
            </a:br>
            <a:endParaRPr lang="zh-CN" altLang="en-US" sz="28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15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4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6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0" grpId="0"/>
      <p:bldP spid="21512" grpId="0" animBg="1"/>
      <p:bldP spid="215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Text Box 2"/>
          <p:cNvSpPr txBox="1"/>
          <p:nvPr/>
        </p:nvSpPr>
        <p:spPr>
          <a:xfrm>
            <a:off x="228600" y="381000"/>
            <a:ext cx="38862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用图解法求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的最优解，如图所示。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531" name="Line 3"/>
          <p:cNvSpPr/>
          <p:nvPr/>
        </p:nvSpPr>
        <p:spPr>
          <a:xfrm>
            <a:off x="4953000" y="3810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2532" name="Line 4"/>
          <p:cNvSpPr/>
          <p:nvPr/>
        </p:nvSpPr>
        <p:spPr>
          <a:xfrm>
            <a:off x="4114800" y="4191000"/>
            <a:ext cx="4724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2533" name="Line 5"/>
          <p:cNvSpPr/>
          <p:nvPr/>
        </p:nvSpPr>
        <p:spPr>
          <a:xfrm>
            <a:off x="4953000" y="3429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4" name="Line 6"/>
          <p:cNvSpPr/>
          <p:nvPr/>
        </p:nvSpPr>
        <p:spPr>
          <a:xfrm>
            <a:off x="4953000" y="2590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5" name="Line 7"/>
          <p:cNvSpPr/>
          <p:nvPr/>
        </p:nvSpPr>
        <p:spPr>
          <a:xfrm>
            <a:off x="4953000" y="1828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6" name="Line 8"/>
          <p:cNvSpPr/>
          <p:nvPr/>
        </p:nvSpPr>
        <p:spPr>
          <a:xfrm>
            <a:off x="4953000" y="1066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7" name="Line 9"/>
          <p:cNvSpPr/>
          <p:nvPr/>
        </p:nvSpPr>
        <p:spPr>
          <a:xfrm flipH="1">
            <a:off x="5791200" y="4191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8" name="Line 10"/>
          <p:cNvSpPr/>
          <p:nvPr/>
        </p:nvSpPr>
        <p:spPr>
          <a:xfrm flipV="1">
            <a:off x="6553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39" name="Line 11"/>
          <p:cNvSpPr/>
          <p:nvPr/>
        </p:nvSpPr>
        <p:spPr>
          <a:xfrm flipV="1">
            <a:off x="7315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0" name="Line 12"/>
          <p:cNvSpPr/>
          <p:nvPr/>
        </p:nvSpPr>
        <p:spPr>
          <a:xfrm flipV="1">
            <a:off x="8077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1" name="Rectangle 13"/>
          <p:cNvSpPr/>
          <p:nvPr/>
        </p:nvSpPr>
        <p:spPr>
          <a:xfrm>
            <a:off x="8229600" y="41148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542" name="Rectangle 14"/>
          <p:cNvSpPr/>
          <p:nvPr/>
        </p:nvSpPr>
        <p:spPr>
          <a:xfrm>
            <a:off x="4343400" y="5334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543" name="Line 15"/>
          <p:cNvSpPr/>
          <p:nvPr/>
        </p:nvSpPr>
        <p:spPr>
          <a:xfrm flipH="1" flipV="1">
            <a:off x="5257800" y="533400"/>
            <a:ext cx="3352800" cy="2819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4" name="Rectangle 16"/>
          <p:cNvSpPr/>
          <p:nvPr/>
        </p:nvSpPr>
        <p:spPr>
          <a:xfrm>
            <a:off x="6781800" y="533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⑴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2545" name="Rectangle 17"/>
          <p:cNvSpPr/>
          <p:nvPr/>
        </p:nvSpPr>
        <p:spPr>
          <a:xfrm>
            <a:off x="5257800" y="304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⑵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2546" name="Line 18"/>
          <p:cNvSpPr/>
          <p:nvPr/>
        </p:nvSpPr>
        <p:spPr>
          <a:xfrm flipV="1">
            <a:off x="4419600" y="914400"/>
            <a:ext cx="2362200" cy="2209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47" name="Text Box 19"/>
          <p:cNvSpPr txBox="1"/>
          <p:nvPr/>
        </p:nvSpPr>
        <p:spPr>
          <a:xfrm>
            <a:off x="4572000" y="16764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2548" name="Text Box 20"/>
          <p:cNvSpPr txBox="1"/>
          <p:nvPr/>
        </p:nvSpPr>
        <p:spPr>
          <a:xfrm>
            <a:off x="7162800" y="4191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2549" name="Text Box 21"/>
          <p:cNvSpPr txBox="1"/>
          <p:nvPr/>
        </p:nvSpPr>
        <p:spPr>
          <a:xfrm>
            <a:off x="6400800" y="1219200"/>
            <a:ext cx="1851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(18/11,40/11)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22550" name="Line 22"/>
          <p:cNvSpPr/>
          <p:nvPr/>
        </p:nvSpPr>
        <p:spPr>
          <a:xfrm>
            <a:off x="3962400" y="3962400"/>
            <a:ext cx="3124200" cy="685800"/>
          </a:xfrm>
          <a:prstGeom prst="line">
            <a:avLst/>
          </a:prstGeom>
          <a:ln w="2857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22551" name="Line 23"/>
          <p:cNvSpPr/>
          <p:nvPr/>
        </p:nvSpPr>
        <p:spPr>
          <a:xfrm>
            <a:off x="4953000" y="1828800"/>
            <a:ext cx="2209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2552" name="Line 24"/>
          <p:cNvSpPr/>
          <p:nvPr/>
        </p:nvSpPr>
        <p:spPr>
          <a:xfrm>
            <a:off x="4953000" y="2590800"/>
            <a:ext cx="3048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2553" name="Line 25"/>
          <p:cNvSpPr/>
          <p:nvPr/>
        </p:nvSpPr>
        <p:spPr>
          <a:xfrm>
            <a:off x="4953000" y="3429000"/>
            <a:ext cx="3581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2554" name="Line 26"/>
          <p:cNvSpPr/>
          <p:nvPr/>
        </p:nvSpPr>
        <p:spPr>
          <a:xfrm>
            <a:off x="4953000" y="1066800"/>
            <a:ext cx="2209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2555" name="Line 27"/>
          <p:cNvSpPr/>
          <p:nvPr/>
        </p:nvSpPr>
        <p:spPr>
          <a:xfrm flipV="1">
            <a:off x="5791200" y="457200"/>
            <a:ext cx="0" cy="3733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2556" name="Line 28"/>
          <p:cNvSpPr/>
          <p:nvPr/>
        </p:nvSpPr>
        <p:spPr>
          <a:xfrm flipV="1">
            <a:off x="6553200" y="457200"/>
            <a:ext cx="0" cy="3733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2557" name="Line 29"/>
          <p:cNvSpPr/>
          <p:nvPr/>
        </p:nvSpPr>
        <p:spPr>
          <a:xfrm flipV="1">
            <a:off x="7315200" y="1905000"/>
            <a:ext cx="0" cy="22860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2558" name="Oval 30"/>
          <p:cNvSpPr/>
          <p:nvPr/>
        </p:nvSpPr>
        <p:spPr>
          <a:xfrm>
            <a:off x="6477000" y="1752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59" name="Oval 31"/>
          <p:cNvSpPr/>
          <p:nvPr/>
        </p:nvSpPr>
        <p:spPr>
          <a:xfrm>
            <a:off x="5715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60" name="Oval 32"/>
          <p:cNvSpPr/>
          <p:nvPr/>
        </p:nvSpPr>
        <p:spPr>
          <a:xfrm>
            <a:off x="6477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61" name="Oval 33"/>
          <p:cNvSpPr/>
          <p:nvPr/>
        </p:nvSpPr>
        <p:spPr>
          <a:xfrm>
            <a:off x="7239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62" name="Oval 34"/>
          <p:cNvSpPr/>
          <p:nvPr/>
        </p:nvSpPr>
        <p:spPr>
          <a:xfrm>
            <a:off x="5715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63" name="Oval 35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64" name="Oval 36"/>
          <p:cNvSpPr/>
          <p:nvPr/>
        </p:nvSpPr>
        <p:spPr>
          <a:xfrm>
            <a:off x="8001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65" name="Oval 37"/>
          <p:cNvSpPr/>
          <p:nvPr/>
        </p:nvSpPr>
        <p:spPr>
          <a:xfrm>
            <a:off x="5715000" y="1752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66" name="Oval 38"/>
          <p:cNvSpPr/>
          <p:nvPr/>
        </p:nvSpPr>
        <p:spPr>
          <a:xfrm>
            <a:off x="7239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67" name="Line 39"/>
          <p:cNvSpPr/>
          <p:nvPr/>
        </p:nvSpPr>
        <p:spPr>
          <a:xfrm flipV="1">
            <a:off x="8077200" y="2438400"/>
            <a:ext cx="0" cy="1752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2568" name="Oval 40"/>
          <p:cNvSpPr/>
          <p:nvPr/>
        </p:nvSpPr>
        <p:spPr>
          <a:xfrm>
            <a:off x="48768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69" name="Oval 41"/>
          <p:cNvSpPr/>
          <p:nvPr/>
        </p:nvSpPr>
        <p:spPr>
          <a:xfrm>
            <a:off x="5715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70" name="Oval 42"/>
          <p:cNvSpPr/>
          <p:nvPr/>
        </p:nvSpPr>
        <p:spPr>
          <a:xfrm>
            <a:off x="6477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71" name="Oval 43"/>
          <p:cNvSpPr/>
          <p:nvPr/>
        </p:nvSpPr>
        <p:spPr>
          <a:xfrm>
            <a:off x="8001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72" name="Oval 44"/>
          <p:cNvSpPr/>
          <p:nvPr/>
        </p:nvSpPr>
        <p:spPr>
          <a:xfrm>
            <a:off x="7239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73" name="Oval 45"/>
          <p:cNvSpPr/>
          <p:nvPr/>
        </p:nvSpPr>
        <p:spPr>
          <a:xfrm>
            <a:off x="6172200" y="1295400"/>
            <a:ext cx="152400" cy="152400"/>
          </a:xfrm>
          <a:prstGeom prst="ellipse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74" name="Oval 46"/>
          <p:cNvSpPr/>
          <p:nvPr/>
        </p:nvSpPr>
        <p:spPr>
          <a:xfrm>
            <a:off x="48768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75" name="Oval 47"/>
          <p:cNvSpPr/>
          <p:nvPr/>
        </p:nvSpPr>
        <p:spPr>
          <a:xfrm>
            <a:off x="48768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2576" name="Rectangle 48"/>
          <p:cNvSpPr/>
          <p:nvPr/>
        </p:nvSpPr>
        <p:spPr>
          <a:xfrm>
            <a:off x="8077200" y="2209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⑶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2577" name="Text Box 49"/>
          <p:cNvSpPr txBox="1"/>
          <p:nvPr/>
        </p:nvSpPr>
        <p:spPr>
          <a:xfrm>
            <a:off x="228600" y="4191000"/>
            <a:ext cx="8686800" cy="24431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对于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18/11≈1.64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endParaRPr lang="zh-CN" altLang="en-US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取值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≤1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，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≥2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对于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=40/11 ≈3.64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取值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≤3 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≥4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先将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）划分为（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LP1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）和（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LP2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取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≤1,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≥2</a:t>
            </a:r>
            <a:endParaRPr lang="en-US" altLang="zh-CN" sz="28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2578" name="Rectangle 50"/>
          <p:cNvSpPr/>
          <p:nvPr/>
        </p:nvSpPr>
        <p:spPr>
          <a:xfrm>
            <a:off x="0" y="1524000"/>
            <a:ext cx="4572000" cy="2228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18/11,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=40/11</a:t>
            </a:r>
            <a:endParaRPr lang="en-US" altLang="zh-CN" sz="28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Z</a:t>
            </a:r>
            <a:r>
              <a:rPr lang="en-US" altLang="zh-CN" sz="2800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=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218/11≈(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19.8)</a:t>
            </a:r>
            <a:endParaRPr lang="en-US" altLang="zh-CN" sz="28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也是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IP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最小值的下限。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2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22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2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22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2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1000"/>
                            </p:stCondLst>
                            <p:childTnLst>
                              <p:par>
                                <p:cTn id="9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22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1500"/>
                            </p:stCondLst>
                            <p:childTnLst>
                              <p:par>
                                <p:cTn id="9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2500"/>
                            </p:stCondLst>
                            <p:childTnLst>
                              <p:par>
                                <p:cTn id="10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7" dur="5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3000"/>
                            </p:stCondLst>
                            <p:childTnLst>
                              <p:par>
                                <p:cTn id="10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14000"/>
                            </p:stCondLst>
                            <p:childTnLst>
                              <p:par>
                                <p:cTn id="1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9" dur="500"/>
                                        <p:tgtEl>
                                          <p:spTgt spid="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22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22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2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500"/>
                            </p:stCondLst>
                            <p:childTnLst>
                              <p:par>
                                <p:cTn id="13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2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22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22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1500"/>
                            </p:stCondLst>
                            <p:childTnLst>
                              <p:par>
                                <p:cTn id="14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8" dur="500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22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0" fill="hold">
                            <p:stCondLst>
                              <p:cond delay="2000"/>
                            </p:stCondLst>
                            <p:childTnLst>
                              <p:par>
                                <p:cTn id="15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22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2500"/>
                            </p:stCondLst>
                            <p:childTnLst>
                              <p:par>
                                <p:cTn id="15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9" dur="500" fill="hold"/>
                                        <p:tgtEl>
                                          <p:spTgt spid="22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3000"/>
                            </p:stCondLst>
                            <p:childTnLst>
                              <p:par>
                                <p:cTn id="16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22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8" dur="500" fill="hold"/>
                                        <p:tgtEl>
                                          <p:spTgt spid="225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225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>
                            <p:stCondLst>
                              <p:cond delay="4000"/>
                            </p:stCondLst>
                            <p:childTnLst>
                              <p:par>
                                <p:cTn id="17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3" dur="500" fill="hold"/>
                                        <p:tgtEl>
                                          <p:spTgt spid="22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4" dur="500" fill="hold"/>
                                        <p:tgtEl>
                                          <p:spTgt spid="22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4500"/>
                            </p:stCondLst>
                            <p:childTnLst>
                              <p:par>
                                <p:cTn id="17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8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9" dur="500" fill="hold"/>
                                        <p:tgtEl>
                                          <p:spTgt spid="22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0"/>
                            </p:stCondLst>
                            <p:childTnLst>
                              <p:par>
                                <p:cTn id="18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4" dur="500" fill="hold"/>
                                        <p:tgtEl>
                                          <p:spTgt spid="225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5500"/>
                            </p:stCondLst>
                            <p:childTnLst>
                              <p:par>
                                <p:cTn id="18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9" dur="500" fill="hold"/>
                                        <p:tgtEl>
                                          <p:spTgt spid="225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6000"/>
                            </p:stCondLst>
                            <p:childTnLst>
                              <p:par>
                                <p:cTn id="19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22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4" dur="500" fill="hold"/>
                                        <p:tgtEl>
                                          <p:spTgt spid="22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>
                            <p:stCondLst>
                              <p:cond delay="6500"/>
                            </p:stCondLst>
                            <p:childTnLst>
                              <p:par>
                                <p:cTn id="19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8" dur="500" fill="hold"/>
                                        <p:tgtEl>
                                          <p:spTgt spid="225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9" dur="500" fill="hold"/>
                                        <p:tgtEl>
                                          <p:spTgt spid="225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0" fill="hold">
                            <p:stCondLst>
                              <p:cond delay="7000"/>
                            </p:stCondLst>
                            <p:childTnLst>
                              <p:par>
                                <p:cTn id="20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3" dur="500" fill="hold"/>
                                        <p:tgtEl>
                                          <p:spTgt spid="225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4" dur="500" fill="hold"/>
                                        <p:tgtEl>
                                          <p:spTgt spid="225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>
                            <p:stCondLst>
                              <p:cond delay="7500"/>
                            </p:stCondLst>
                            <p:childTnLst>
                              <p:par>
                                <p:cTn id="20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8" dur="500" fill="hold"/>
                                        <p:tgtEl>
                                          <p:spTgt spid="22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9" dur="500" fill="hold"/>
                                        <p:tgtEl>
                                          <p:spTgt spid="22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4" dur="500"/>
                                        <p:tgtEl>
                                          <p:spTgt spid="2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1" grpId="0"/>
      <p:bldP spid="22542" grpId="0"/>
      <p:bldP spid="22544" grpId="0"/>
      <p:bldP spid="22545" grpId="0"/>
      <p:bldP spid="22547" grpId="0"/>
      <p:bldP spid="22548" grpId="0"/>
      <p:bldP spid="22549" grpId="0"/>
      <p:bldP spid="22558" grpId="0" animBg="1"/>
      <p:bldP spid="22559" grpId="0" animBg="1"/>
      <p:bldP spid="22560" grpId="0" animBg="1"/>
      <p:bldP spid="22561" grpId="0" animBg="1"/>
      <p:bldP spid="22562" grpId="0" animBg="1"/>
      <p:bldP spid="22563" grpId="0" animBg="1"/>
      <p:bldP spid="22564" grpId="0" animBg="1"/>
      <p:bldP spid="22565" grpId="0" animBg="1"/>
      <p:bldP spid="22566" grpId="0" animBg="1"/>
      <p:bldP spid="22568" grpId="0" animBg="1"/>
      <p:bldP spid="22569" grpId="0" animBg="1"/>
      <p:bldP spid="22570" grpId="0" animBg="1"/>
      <p:bldP spid="22571" grpId="0" animBg="1"/>
      <p:bldP spid="22572" grpId="0" animBg="1"/>
      <p:bldP spid="22573" grpId="0" animBg="1"/>
      <p:bldP spid="22574" grpId="0" animBg="1"/>
      <p:bldP spid="22575" grpId="0" animBg="1"/>
      <p:bldP spid="22576" grpId="0"/>
      <p:bldP spid="22577" grpId="0"/>
      <p:bldP spid="2257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ext Box 2"/>
          <p:cNvSpPr txBox="1"/>
          <p:nvPr/>
        </p:nvSpPr>
        <p:spPr>
          <a:xfrm>
            <a:off x="1219200" y="533400"/>
            <a:ext cx="17303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有下式：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3555" name="Object 3"/>
          <p:cNvGraphicFramePr>
            <a:graphicFrameLocks noChangeAspect="1"/>
          </p:cNvGraphicFramePr>
          <p:nvPr/>
        </p:nvGraphicFramePr>
        <p:xfrm>
          <a:off x="228600" y="1219200"/>
          <a:ext cx="4300538" cy="29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1" imgW="1587500" imgH="1257300" progId="Equation.3">
                  <p:embed/>
                </p:oleObj>
              </mc:Choice>
              <mc:Fallback>
                <p:oleObj name="" r:id="rId1" imgW="1587500" imgH="1257300" progId="Equation.3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1219200"/>
                        <a:ext cx="4300538" cy="294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4"/>
          <p:cNvGraphicFramePr>
            <a:graphicFrameLocks noChangeAspect="1"/>
          </p:cNvGraphicFramePr>
          <p:nvPr/>
        </p:nvGraphicFramePr>
        <p:xfrm>
          <a:off x="4741863" y="1219200"/>
          <a:ext cx="4402137" cy="294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3" imgW="1625600" imgH="1257300" progId="Equation.3">
                  <p:embed/>
                </p:oleObj>
              </mc:Choice>
              <mc:Fallback>
                <p:oleObj name="" r:id="rId3" imgW="1625600" imgH="1257300" progId="Equation.3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1863" y="1219200"/>
                        <a:ext cx="4402137" cy="2943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5"/>
          <p:cNvSpPr txBox="1"/>
          <p:nvPr/>
        </p:nvSpPr>
        <p:spPr>
          <a:xfrm>
            <a:off x="228600" y="45720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现在只要求出（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LP1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）和（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LP2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）的最优解即可。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7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/>
      <p:bldP spid="2355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Line 2"/>
          <p:cNvSpPr/>
          <p:nvPr/>
        </p:nvSpPr>
        <p:spPr>
          <a:xfrm>
            <a:off x="5791200" y="34290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4579" name="Rectangle 3"/>
          <p:cNvSpPr/>
          <p:nvPr/>
        </p:nvSpPr>
        <p:spPr>
          <a:xfrm>
            <a:off x="5867400" y="3352800"/>
            <a:ext cx="609600" cy="1524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64" name="Line 4"/>
          <p:cNvSpPr/>
          <p:nvPr/>
        </p:nvSpPr>
        <p:spPr>
          <a:xfrm>
            <a:off x="5791200" y="25908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4581" name="Line 5"/>
          <p:cNvSpPr/>
          <p:nvPr/>
        </p:nvSpPr>
        <p:spPr>
          <a:xfrm>
            <a:off x="5867400" y="1447800"/>
            <a:ext cx="1295400" cy="304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66566" name="Line 6"/>
          <p:cNvSpPr/>
          <p:nvPr/>
        </p:nvSpPr>
        <p:spPr>
          <a:xfrm>
            <a:off x="4953000" y="3810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6567" name="Line 7"/>
          <p:cNvSpPr/>
          <p:nvPr/>
        </p:nvSpPr>
        <p:spPr>
          <a:xfrm>
            <a:off x="4114800" y="4191000"/>
            <a:ext cx="4724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568" name="Line 8"/>
          <p:cNvSpPr/>
          <p:nvPr/>
        </p:nvSpPr>
        <p:spPr>
          <a:xfrm>
            <a:off x="4953000" y="3429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69" name="Line 9"/>
          <p:cNvSpPr/>
          <p:nvPr/>
        </p:nvSpPr>
        <p:spPr>
          <a:xfrm>
            <a:off x="4953000" y="2590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0" name="Line 10"/>
          <p:cNvSpPr/>
          <p:nvPr/>
        </p:nvSpPr>
        <p:spPr>
          <a:xfrm>
            <a:off x="4953000" y="1828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1" name="Line 11"/>
          <p:cNvSpPr/>
          <p:nvPr/>
        </p:nvSpPr>
        <p:spPr>
          <a:xfrm>
            <a:off x="4953000" y="1066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2" name="Line 12"/>
          <p:cNvSpPr/>
          <p:nvPr/>
        </p:nvSpPr>
        <p:spPr>
          <a:xfrm flipH="1">
            <a:off x="5791200" y="4191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3" name="Line 13"/>
          <p:cNvSpPr/>
          <p:nvPr/>
        </p:nvSpPr>
        <p:spPr>
          <a:xfrm flipV="1">
            <a:off x="5791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4" name="Line 14"/>
          <p:cNvSpPr/>
          <p:nvPr/>
        </p:nvSpPr>
        <p:spPr>
          <a:xfrm flipV="1">
            <a:off x="6553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5" name="Line 15"/>
          <p:cNvSpPr/>
          <p:nvPr/>
        </p:nvSpPr>
        <p:spPr>
          <a:xfrm flipV="1">
            <a:off x="7315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6" name="Line 16"/>
          <p:cNvSpPr/>
          <p:nvPr/>
        </p:nvSpPr>
        <p:spPr>
          <a:xfrm flipV="1">
            <a:off x="8077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77" name="Rectangle 17"/>
          <p:cNvSpPr/>
          <p:nvPr/>
        </p:nvSpPr>
        <p:spPr>
          <a:xfrm>
            <a:off x="8229600" y="41148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6578" name="Rectangle 18"/>
          <p:cNvSpPr/>
          <p:nvPr/>
        </p:nvSpPr>
        <p:spPr>
          <a:xfrm>
            <a:off x="4343400" y="5334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6579" name="Line 19"/>
          <p:cNvSpPr/>
          <p:nvPr/>
        </p:nvSpPr>
        <p:spPr>
          <a:xfrm flipH="1" flipV="1">
            <a:off x="5257800" y="533400"/>
            <a:ext cx="3352800" cy="2819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80" name="Rectangle 20"/>
          <p:cNvSpPr/>
          <p:nvPr/>
        </p:nvSpPr>
        <p:spPr>
          <a:xfrm>
            <a:off x="6781800" y="533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⑴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6581" name="Rectangle 21"/>
          <p:cNvSpPr/>
          <p:nvPr/>
        </p:nvSpPr>
        <p:spPr>
          <a:xfrm>
            <a:off x="5257800" y="304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⑵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6582" name="Line 22"/>
          <p:cNvSpPr/>
          <p:nvPr/>
        </p:nvSpPr>
        <p:spPr>
          <a:xfrm flipV="1">
            <a:off x="4419600" y="914400"/>
            <a:ext cx="2362200" cy="2209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83" name="Text Box 23"/>
          <p:cNvSpPr txBox="1"/>
          <p:nvPr/>
        </p:nvSpPr>
        <p:spPr>
          <a:xfrm>
            <a:off x="4572000" y="16764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6584" name="Text Box 24"/>
          <p:cNvSpPr txBox="1"/>
          <p:nvPr/>
        </p:nvSpPr>
        <p:spPr>
          <a:xfrm>
            <a:off x="7162800" y="4191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6585" name="Text Box 25"/>
          <p:cNvSpPr txBox="1"/>
          <p:nvPr/>
        </p:nvSpPr>
        <p:spPr>
          <a:xfrm>
            <a:off x="6400800" y="1219200"/>
            <a:ext cx="1851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(18/11,40/11)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6586" name="Line 26"/>
          <p:cNvSpPr/>
          <p:nvPr/>
        </p:nvSpPr>
        <p:spPr>
          <a:xfrm>
            <a:off x="3962400" y="3962400"/>
            <a:ext cx="3124200" cy="685800"/>
          </a:xfrm>
          <a:prstGeom prst="line">
            <a:avLst/>
          </a:prstGeom>
          <a:ln w="2857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66587" name="Line 27"/>
          <p:cNvSpPr/>
          <p:nvPr/>
        </p:nvSpPr>
        <p:spPr>
          <a:xfrm>
            <a:off x="6553200" y="1828800"/>
            <a:ext cx="609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6588" name="Line 28"/>
          <p:cNvSpPr/>
          <p:nvPr/>
        </p:nvSpPr>
        <p:spPr>
          <a:xfrm>
            <a:off x="6553200" y="2590800"/>
            <a:ext cx="144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6589" name="Line 29"/>
          <p:cNvSpPr/>
          <p:nvPr/>
        </p:nvSpPr>
        <p:spPr>
          <a:xfrm>
            <a:off x="6553200" y="3429000"/>
            <a:ext cx="198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6590" name="Line 30"/>
          <p:cNvSpPr/>
          <p:nvPr/>
        </p:nvSpPr>
        <p:spPr>
          <a:xfrm>
            <a:off x="4953000" y="1066800"/>
            <a:ext cx="2209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4607" name="Line 31"/>
          <p:cNvSpPr/>
          <p:nvPr/>
        </p:nvSpPr>
        <p:spPr>
          <a:xfrm flipV="1">
            <a:off x="5791200" y="457200"/>
            <a:ext cx="0" cy="3733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4608" name="Line 32"/>
          <p:cNvSpPr/>
          <p:nvPr/>
        </p:nvSpPr>
        <p:spPr>
          <a:xfrm flipV="1">
            <a:off x="6553200" y="457200"/>
            <a:ext cx="0" cy="3733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593" name="Line 33"/>
          <p:cNvSpPr/>
          <p:nvPr/>
        </p:nvSpPr>
        <p:spPr>
          <a:xfrm flipV="1">
            <a:off x="7315200" y="1905000"/>
            <a:ext cx="0" cy="22860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6594" name="Oval 34"/>
          <p:cNvSpPr/>
          <p:nvPr/>
        </p:nvSpPr>
        <p:spPr>
          <a:xfrm>
            <a:off x="6477000" y="1752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95" name="Oval 35"/>
          <p:cNvSpPr/>
          <p:nvPr/>
        </p:nvSpPr>
        <p:spPr>
          <a:xfrm>
            <a:off x="5715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96" name="Oval 36"/>
          <p:cNvSpPr/>
          <p:nvPr/>
        </p:nvSpPr>
        <p:spPr>
          <a:xfrm>
            <a:off x="6477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97" name="Oval 37"/>
          <p:cNvSpPr/>
          <p:nvPr/>
        </p:nvSpPr>
        <p:spPr>
          <a:xfrm>
            <a:off x="7239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98" name="Oval 38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99" name="Oval 39"/>
          <p:cNvSpPr/>
          <p:nvPr/>
        </p:nvSpPr>
        <p:spPr>
          <a:xfrm>
            <a:off x="8001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0" name="Oval 40"/>
          <p:cNvSpPr/>
          <p:nvPr/>
        </p:nvSpPr>
        <p:spPr>
          <a:xfrm>
            <a:off x="7239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1" name="Line 41"/>
          <p:cNvSpPr/>
          <p:nvPr/>
        </p:nvSpPr>
        <p:spPr>
          <a:xfrm flipV="1">
            <a:off x="8077200" y="2438400"/>
            <a:ext cx="0" cy="1752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6602" name="Oval 42"/>
          <p:cNvSpPr/>
          <p:nvPr/>
        </p:nvSpPr>
        <p:spPr>
          <a:xfrm>
            <a:off x="48768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3" name="Oval 43"/>
          <p:cNvSpPr/>
          <p:nvPr/>
        </p:nvSpPr>
        <p:spPr>
          <a:xfrm>
            <a:off x="5715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4" name="Oval 44"/>
          <p:cNvSpPr/>
          <p:nvPr/>
        </p:nvSpPr>
        <p:spPr>
          <a:xfrm>
            <a:off x="6477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5" name="Line 45"/>
          <p:cNvSpPr/>
          <p:nvPr/>
        </p:nvSpPr>
        <p:spPr>
          <a:xfrm>
            <a:off x="4114800" y="4191000"/>
            <a:ext cx="4724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06" name="Oval 46"/>
          <p:cNvSpPr/>
          <p:nvPr/>
        </p:nvSpPr>
        <p:spPr>
          <a:xfrm>
            <a:off x="8001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7" name="Oval 47"/>
          <p:cNvSpPr/>
          <p:nvPr/>
        </p:nvSpPr>
        <p:spPr>
          <a:xfrm>
            <a:off x="7239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8" name="Oval 48"/>
          <p:cNvSpPr/>
          <p:nvPr/>
        </p:nvSpPr>
        <p:spPr>
          <a:xfrm>
            <a:off x="48768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09" name="Oval 49"/>
          <p:cNvSpPr/>
          <p:nvPr/>
        </p:nvSpPr>
        <p:spPr>
          <a:xfrm>
            <a:off x="48768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10" name="Rectangle 50"/>
          <p:cNvSpPr/>
          <p:nvPr/>
        </p:nvSpPr>
        <p:spPr>
          <a:xfrm>
            <a:off x="8077200" y="2209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⑶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4627" name="Text Box 51"/>
          <p:cNvSpPr txBox="1"/>
          <p:nvPr/>
        </p:nvSpPr>
        <p:spPr>
          <a:xfrm>
            <a:off x="228600" y="304800"/>
            <a:ext cx="4016375" cy="265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先求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LP1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如图所示。此时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在点取得最优解。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=3, Z</a:t>
            </a:r>
            <a:r>
              <a:rPr lang="en-US" altLang="zh-CN" sz="2800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16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找到整数解，问题已探明，此枝停止计算。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6612" name="Text Box 52"/>
          <p:cNvSpPr txBox="1"/>
          <p:nvPr/>
        </p:nvSpPr>
        <p:spPr>
          <a:xfrm>
            <a:off x="5867400" y="4191000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6613" name="Text Box 53"/>
          <p:cNvSpPr txBox="1"/>
          <p:nvPr/>
        </p:nvSpPr>
        <p:spPr>
          <a:xfrm>
            <a:off x="4572000" y="3276600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6614" name="Line 54"/>
          <p:cNvSpPr/>
          <p:nvPr/>
        </p:nvSpPr>
        <p:spPr>
          <a:xfrm>
            <a:off x="4953000" y="18288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6615" name="Line 55"/>
          <p:cNvSpPr/>
          <p:nvPr/>
        </p:nvSpPr>
        <p:spPr>
          <a:xfrm>
            <a:off x="4953000" y="25908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6616" name="Line 56"/>
          <p:cNvSpPr/>
          <p:nvPr/>
        </p:nvSpPr>
        <p:spPr>
          <a:xfrm>
            <a:off x="4953000" y="34290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4633" name="Text Box 57"/>
          <p:cNvSpPr txBox="1"/>
          <p:nvPr/>
        </p:nvSpPr>
        <p:spPr>
          <a:xfrm>
            <a:off x="228600" y="3200400"/>
            <a:ext cx="8686800" cy="3511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同理求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LP2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如图所示。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点取得最优解。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=10/3, 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56/3≈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18.7     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∵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&lt; Z</a:t>
            </a:r>
            <a:r>
              <a:rPr lang="en-US" altLang="zh-CN" sz="2800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16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∴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原问题有比（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16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）更小的最优解，但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不是整数，故利用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 ≥ 10/3≥4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加入条件。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618" name="Text Box 58"/>
          <p:cNvSpPr txBox="1"/>
          <p:nvPr/>
        </p:nvSpPr>
        <p:spPr>
          <a:xfrm>
            <a:off x="5486400" y="1447800"/>
            <a:ext cx="3587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B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6619" name="Text Box 59"/>
          <p:cNvSpPr txBox="1"/>
          <p:nvPr/>
        </p:nvSpPr>
        <p:spPr>
          <a:xfrm>
            <a:off x="6096000" y="990600"/>
            <a:ext cx="3683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A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6620" name="Text Box 60"/>
          <p:cNvSpPr txBox="1"/>
          <p:nvPr/>
        </p:nvSpPr>
        <p:spPr>
          <a:xfrm>
            <a:off x="6172200" y="1524000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C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4637" name="Line 61"/>
          <p:cNvSpPr/>
          <p:nvPr/>
        </p:nvSpPr>
        <p:spPr>
          <a:xfrm>
            <a:off x="6553200" y="609600"/>
            <a:ext cx="3048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4638" name="Line 62"/>
          <p:cNvSpPr/>
          <p:nvPr/>
        </p:nvSpPr>
        <p:spPr>
          <a:xfrm flipH="1">
            <a:off x="5486400" y="1219200"/>
            <a:ext cx="3048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623" name="Line 63"/>
          <p:cNvSpPr/>
          <p:nvPr/>
        </p:nvSpPr>
        <p:spPr>
          <a:xfrm>
            <a:off x="5791200" y="18288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4640" name="Rectangle 64"/>
          <p:cNvSpPr/>
          <p:nvPr/>
        </p:nvSpPr>
        <p:spPr>
          <a:xfrm>
            <a:off x="5867400" y="2514600"/>
            <a:ext cx="609600" cy="1524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641" name="Rectangle 65"/>
          <p:cNvSpPr/>
          <p:nvPr/>
        </p:nvSpPr>
        <p:spPr>
          <a:xfrm>
            <a:off x="5867400" y="1752600"/>
            <a:ext cx="609600" cy="152400"/>
          </a:xfrm>
          <a:prstGeom prst="rect">
            <a:avLst/>
          </a:prstGeom>
          <a:solidFill>
            <a:schemeClr val="hlink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642" name="Line 66"/>
          <p:cNvSpPr/>
          <p:nvPr/>
        </p:nvSpPr>
        <p:spPr>
          <a:xfrm>
            <a:off x="5105400" y="1676400"/>
            <a:ext cx="1295400" cy="304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24643" name="Oval 67"/>
          <p:cNvSpPr/>
          <p:nvPr/>
        </p:nvSpPr>
        <p:spPr>
          <a:xfrm>
            <a:off x="6477000" y="1524000"/>
            <a:ext cx="152400" cy="1524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4644" name="Oval 68"/>
          <p:cNvSpPr/>
          <p:nvPr/>
        </p:nvSpPr>
        <p:spPr>
          <a:xfrm>
            <a:off x="5715000" y="1752600"/>
            <a:ext cx="152400" cy="1524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629" name="Oval 69"/>
          <p:cNvSpPr/>
          <p:nvPr/>
        </p:nvSpPr>
        <p:spPr>
          <a:xfrm>
            <a:off x="5715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4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4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4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4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4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24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24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4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24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4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nimBg="1"/>
      <p:bldP spid="24627" grpId="0"/>
      <p:bldP spid="24633" grpId="0"/>
      <p:bldP spid="24640" grpId="0" animBg="1"/>
      <p:bldP spid="24641" grpId="0" animBg="1"/>
      <p:bldP spid="24643" grpId="0" animBg="1"/>
      <p:bldP spid="2464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4" name="Text Box 2"/>
          <p:cNvSpPr txBox="1"/>
          <p:nvPr/>
        </p:nvSpPr>
        <p:spPr>
          <a:xfrm>
            <a:off x="228600" y="6096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加入条件：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≤3,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≥4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有下式：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5602" name="Object 3"/>
          <p:cNvGraphicFramePr>
            <a:graphicFrameLocks noChangeAspect="1"/>
          </p:cNvGraphicFramePr>
          <p:nvPr/>
        </p:nvGraphicFramePr>
        <p:xfrm>
          <a:off x="193675" y="1225550"/>
          <a:ext cx="4370388" cy="338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1" imgW="1612900" imgH="1447800" progId="Equation.3">
                  <p:embed/>
                </p:oleObj>
              </mc:Choice>
              <mc:Fallback>
                <p:oleObj name="" r:id="rId1" imgW="1612900" imgH="1447800" progId="Equation.3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3675" y="1225550"/>
                        <a:ext cx="4370388" cy="338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4"/>
          <p:cNvGraphicFramePr>
            <a:graphicFrameLocks noChangeAspect="1"/>
          </p:cNvGraphicFramePr>
          <p:nvPr/>
        </p:nvGraphicFramePr>
        <p:xfrm>
          <a:off x="4741863" y="1219200"/>
          <a:ext cx="4402137" cy="338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3" imgW="1625600" imgH="1447800" progId="Equation.3">
                  <p:embed/>
                </p:oleObj>
              </mc:Choice>
              <mc:Fallback>
                <p:oleObj name="" r:id="rId3" imgW="1625600" imgH="1447800" progId="Equation.3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1863" y="1219200"/>
                        <a:ext cx="4402137" cy="33893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5" name="Rectangle 5"/>
          <p:cNvSpPr/>
          <p:nvPr/>
        </p:nvSpPr>
        <p:spPr>
          <a:xfrm>
            <a:off x="838200" y="5029200"/>
            <a:ext cx="71120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只要求出（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LP3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）和（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LP4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）的最优解即可。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Line 2"/>
          <p:cNvSpPr/>
          <p:nvPr/>
        </p:nvSpPr>
        <p:spPr>
          <a:xfrm>
            <a:off x="4953000" y="1828800"/>
            <a:ext cx="30480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87" name="Line 3"/>
          <p:cNvSpPr/>
          <p:nvPr/>
        </p:nvSpPr>
        <p:spPr>
          <a:xfrm>
            <a:off x="4953000" y="3810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7588" name="Line 4"/>
          <p:cNvSpPr/>
          <p:nvPr/>
        </p:nvSpPr>
        <p:spPr>
          <a:xfrm>
            <a:off x="4114800" y="4191000"/>
            <a:ext cx="4724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589" name="Line 5"/>
          <p:cNvSpPr/>
          <p:nvPr/>
        </p:nvSpPr>
        <p:spPr>
          <a:xfrm>
            <a:off x="4953000" y="3429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0" name="Line 6"/>
          <p:cNvSpPr/>
          <p:nvPr/>
        </p:nvSpPr>
        <p:spPr>
          <a:xfrm>
            <a:off x="4953000" y="2590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1" name="Line 7"/>
          <p:cNvSpPr/>
          <p:nvPr/>
        </p:nvSpPr>
        <p:spPr>
          <a:xfrm>
            <a:off x="4953000" y="1828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2" name="Line 8"/>
          <p:cNvSpPr/>
          <p:nvPr/>
        </p:nvSpPr>
        <p:spPr>
          <a:xfrm>
            <a:off x="4953000" y="1066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3" name="Line 9"/>
          <p:cNvSpPr/>
          <p:nvPr/>
        </p:nvSpPr>
        <p:spPr>
          <a:xfrm flipH="1">
            <a:off x="5791200" y="4191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4" name="Line 10"/>
          <p:cNvSpPr/>
          <p:nvPr/>
        </p:nvSpPr>
        <p:spPr>
          <a:xfrm flipV="1">
            <a:off x="5791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5" name="Line 11"/>
          <p:cNvSpPr/>
          <p:nvPr/>
        </p:nvSpPr>
        <p:spPr>
          <a:xfrm flipV="1">
            <a:off x="6553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6" name="Line 12"/>
          <p:cNvSpPr/>
          <p:nvPr/>
        </p:nvSpPr>
        <p:spPr>
          <a:xfrm flipV="1">
            <a:off x="7315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7" name="Line 13"/>
          <p:cNvSpPr/>
          <p:nvPr/>
        </p:nvSpPr>
        <p:spPr>
          <a:xfrm flipV="1">
            <a:off x="8077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598" name="Rectangle 14"/>
          <p:cNvSpPr/>
          <p:nvPr/>
        </p:nvSpPr>
        <p:spPr>
          <a:xfrm>
            <a:off x="8229600" y="41148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599" name="Rectangle 15"/>
          <p:cNvSpPr/>
          <p:nvPr/>
        </p:nvSpPr>
        <p:spPr>
          <a:xfrm>
            <a:off x="4343400" y="5334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7600" name="Line 16"/>
          <p:cNvSpPr/>
          <p:nvPr/>
        </p:nvSpPr>
        <p:spPr>
          <a:xfrm flipH="1" flipV="1">
            <a:off x="5257800" y="533400"/>
            <a:ext cx="3429000" cy="2743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01" name="Rectangle 17"/>
          <p:cNvSpPr/>
          <p:nvPr/>
        </p:nvSpPr>
        <p:spPr>
          <a:xfrm>
            <a:off x="6781800" y="533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⑴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02" name="Rectangle 18"/>
          <p:cNvSpPr/>
          <p:nvPr/>
        </p:nvSpPr>
        <p:spPr>
          <a:xfrm>
            <a:off x="5257800" y="304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⑵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03" name="Line 19"/>
          <p:cNvSpPr/>
          <p:nvPr/>
        </p:nvSpPr>
        <p:spPr>
          <a:xfrm flipV="1">
            <a:off x="4419600" y="914400"/>
            <a:ext cx="2362200" cy="2209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04" name="Text Box 20"/>
          <p:cNvSpPr txBox="1"/>
          <p:nvPr/>
        </p:nvSpPr>
        <p:spPr>
          <a:xfrm>
            <a:off x="4572000" y="16764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05" name="Text Box 21"/>
          <p:cNvSpPr txBox="1"/>
          <p:nvPr/>
        </p:nvSpPr>
        <p:spPr>
          <a:xfrm>
            <a:off x="7162800" y="4191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06" name="Text Box 22"/>
          <p:cNvSpPr txBox="1"/>
          <p:nvPr/>
        </p:nvSpPr>
        <p:spPr>
          <a:xfrm>
            <a:off x="6400800" y="1219200"/>
            <a:ext cx="1851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(18/11,40/11)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7607" name="Line 23"/>
          <p:cNvSpPr/>
          <p:nvPr/>
        </p:nvSpPr>
        <p:spPr>
          <a:xfrm>
            <a:off x="3962400" y="3962400"/>
            <a:ext cx="3124200" cy="685800"/>
          </a:xfrm>
          <a:prstGeom prst="line">
            <a:avLst/>
          </a:prstGeom>
          <a:ln w="2857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67608" name="Line 24"/>
          <p:cNvSpPr/>
          <p:nvPr/>
        </p:nvSpPr>
        <p:spPr>
          <a:xfrm>
            <a:off x="6553200" y="2590800"/>
            <a:ext cx="1447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7609" name="Line 25"/>
          <p:cNvSpPr/>
          <p:nvPr/>
        </p:nvSpPr>
        <p:spPr>
          <a:xfrm>
            <a:off x="6553200" y="3429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7674" name="Line 26"/>
          <p:cNvSpPr/>
          <p:nvPr/>
        </p:nvSpPr>
        <p:spPr>
          <a:xfrm>
            <a:off x="4953000" y="1066800"/>
            <a:ext cx="25146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11" name="Line 27"/>
          <p:cNvSpPr/>
          <p:nvPr/>
        </p:nvSpPr>
        <p:spPr>
          <a:xfrm flipV="1">
            <a:off x="5791200" y="457200"/>
            <a:ext cx="0" cy="3733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7612" name="Line 28"/>
          <p:cNvSpPr/>
          <p:nvPr/>
        </p:nvSpPr>
        <p:spPr>
          <a:xfrm flipV="1">
            <a:off x="6553200" y="457200"/>
            <a:ext cx="0" cy="3733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13" name="Line 29"/>
          <p:cNvSpPr/>
          <p:nvPr/>
        </p:nvSpPr>
        <p:spPr>
          <a:xfrm flipV="1">
            <a:off x="7315200" y="1905000"/>
            <a:ext cx="0" cy="22860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7614" name="Oval 30"/>
          <p:cNvSpPr/>
          <p:nvPr/>
        </p:nvSpPr>
        <p:spPr>
          <a:xfrm>
            <a:off x="6477000" y="1752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15" name="Oval 31"/>
          <p:cNvSpPr/>
          <p:nvPr/>
        </p:nvSpPr>
        <p:spPr>
          <a:xfrm>
            <a:off x="5715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16" name="Oval 32"/>
          <p:cNvSpPr/>
          <p:nvPr/>
        </p:nvSpPr>
        <p:spPr>
          <a:xfrm>
            <a:off x="6477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17" name="Oval 33"/>
          <p:cNvSpPr/>
          <p:nvPr/>
        </p:nvSpPr>
        <p:spPr>
          <a:xfrm>
            <a:off x="7239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18" name="Oval 34"/>
          <p:cNvSpPr/>
          <p:nvPr/>
        </p:nvSpPr>
        <p:spPr>
          <a:xfrm>
            <a:off x="5715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19" name="Oval 35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20" name="Oval 36"/>
          <p:cNvSpPr/>
          <p:nvPr/>
        </p:nvSpPr>
        <p:spPr>
          <a:xfrm>
            <a:off x="8001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21" name="Oval 37"/>
          <p:cNvSpPr/>
          <p:nvPr/>
        </p:nvSpPr>
        <p:spPr>
          <a:xfrm>
            <a:off x="5715000" y="1752600"/>
            <a:ext cx="152400" cy="1524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22" name="Oval 38"/>
          <p:cNvSpPr/>
          <p:nvPr/>
        </p:nvSpPr>
        <p:spPr>
          <a:xfrm>
            <a:off x="7239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23" name="Line 39"/>
          <p:cNvSpPr/>
          <p:nvPr/>
        </p:nvSpPr>
        <p:spPr>
          <a:xfrm flipV="1">
            <a:off x="8077200" y="2438400"/>
            <a:ext cx="0" cy="1752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7624" name="Oval 40"/>
          <p:cNvSpPr/>
          <p:nvPr/>
        </p:nvSpPr>
        <p:spPr>
          <a:xfrm>
            <a:off x="48768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25" name="Oval 41"/>
          <p:cNvSpPr/>
          <p:nvPr/>
        </p:nvSpPr>
        <p:spPr>
          <a:xfrm>
            <a:off x="5715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26" name="Oval 42"/>
          <p:cNvSpPr/>
          <p:nvPr/>
        </p:nvSpPr>
        <p:spPr>
          <a:xfrm>
            <a:off x="6477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27" name="Line 43"/>
          <p:cNvSpPr/>
          <p:nvPr/>
        </p:nvSpPr>
        <p:spPr>
          <a:xfrm>
            <a:off x="4114800" y="4191000"/>
            <a:ext cx="4724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28" name="Oval 44"/>
          <p:cNvSpPr/>
          <p:nvPr/>
        </p:nvSpPr>
        <p:spPr>
          <a:xfrm>
            <a:off x="8001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29" name="Oval 45"/>
          <p:cNvSpPr/>
          <p:nvPr/>
        </p:nvSpPr>
        <p:spPr>
          <a:xfrm>
            <a:off x="7239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30" name="Oval 46"/>
          <p:cNvSpPr/>
          <p:nvPr/>
        </p:nvSpPr>
        <p:spPr>
          <a:xfrm>
            <a:off x="6248400" y="12954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31" name="Oval 47"/>
          <p:cNvSpPr/>
          <p:nvPr/>
        </p:nvSpPr>
        <p:spPr>
          <a:xfrm>
            <a:off x="48768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32" name="Oval 48"/>
          <p:cNvSpPr/>
          <p:nvPr/>
        </p:nvSpPr>
        <p:spPr>
          <a:xfrm>
            <a:off x="48768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33" name="Rectangle 49"/>
          <p:cNvSpPr/>
          <p:nvPr/>
        </p:nvSpPr>
        <p:spPr>
          <a:xfrm>
            <a:off x="8077200" y="2209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⑶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34" name="Text Box 50"/>
          <p:cNvSpPr txBox="1"/>
          <p:nvPr/>
        </p:nvSpPr>
        <p:spPr>
          <a:xfrm>
            <a:off x="5867400" y="4191000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35" name="Text Box 51"/>
          <p:cNvSpPr txBox="1"/>
          <p:nvPr/>
        </p:nvSpPr>
        <p:spPr>
          <a:xfrm>
            <a:off x="4572000" y="3276600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36" name="Line 52"/>
          <p:cNvSpPr/>
          <p:nvPr/>
        </p:nvSpPr>
        <p:spPr>
          <a:xfrm>
            <a:off x="4953000" y="25908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7637" name="Line 53"/>
          <p:cNvSpPr/>
          <p:nvPr/>
        </p:nvSpPr>
        <p:spPr>
          <a:xfrm>
            <a:off x="4953000" y="3429000"/>
            <a:ext cx="1600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7638" name="Text Box 54"/>
          <p:cNvSpPr txBox="1"/>
          <p:nvPr/>
        </p:nvSpPr>
        <p:spPr>
          <a:xfrm>
            <a:off x="5486400" y="1447800"/>
            <a:ext cx="3587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B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39" name="Text Box 55"/>
          <p:cNvSpPr txBox="1"/>
          <p:nvPr/>
        </p:nvSpPr>
        <p:spPr>
          <a:xfrm>
            <a:off x="6096000" y="990600"/>
            <a:ext cx="3683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A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40" name="Text Box 56"/>
          <p:cNvSpPr txBox="1"/>
          <p:nvPr/>
        </p:nvSpPr>
        <p:spPr>
          <a:xfrm>
            <a:off x="6172200" y="1524000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C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7641" name="Oval 57"/>
          <p:cNvSpPr/>
          <p:nvPr/>
        </p:nvSpPr>
        <p:spPr>
          <a:xfrm>
            <a:off x="6477000" y="1524000"/>
            <a:ext cx="152400" cy="1524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27706" name="Text Box 58"/>
          <p:cNvSpPr txBox="1"/>
          <p:nvPr/>
        </p:nvSpPr>
        <p:spPr>
          <a:xfrm>
            <a:off x="228600" y="838200"/>
            <a:ext cx="4419600" cy="3297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先求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LP3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如图所示。此时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D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在点取得最优解。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即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12/5≈2.4,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=3, 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-87/5≈-17.4&lt;Z≈-19.8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但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12/5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不是整数，可继续分枝。即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3≤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lang="zh-CN" altLang="en-US" sz="28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707" name="Oval 59"/>
          <p:cNvSpPr/>
          <p:nvPr/>
        </p:nvSpPr>
        <p:spPr>
          <a:xfrm>
            <a:off x="6781800" y="17526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44" name="Text Box 60"/>
          <p:cNvSpPr txBox="1"/>
          <p:nvPr/>
        </p:nvSpPr>
        <p:spPr>
          <a:xfrm>
            <a:off x="6858000" y="1524000"/>
            <a:ext cx="3587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D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7709" name="Text Box 61"/>
          <p:cNvSpPr txBox="1"/>
          <p:nvPr/>
        </p:nvSpPr>
        <p:spPr>
          <a:xfrm>
            <a:off x="228600" y="4648200"/>
            <a:ext cx="4038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LP4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），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如图所示。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无可行解，不再分枝。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7710" name="Line 62"/>
          <p:cNvSpPr/>
          <p:nvPr/>
        </p:nvSpPr>
        <p:spPr>
          <a:xfrm flipV="1">
            <a:off x="7239000" y="762000"/>
            <a:ext cx="0" cy="3048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711" name="Line 63"/>
          <p:cNvSpPr/>
          <p:nvPr/>
        </p:nvSpPr>
        <p:spPr>
          <a:xfrm>
            <a:off x="7772400" y="1828800"/>
            <a:ext cx="0" cy="3048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48" name="Line 64"/>
          <p:cNvSpPr/>
          <p:nvPr/>
        </p:nvSpPr>
        <p:spPr>
          <a:xfrm>
            <a:off x="6553200" y="609600"/>
            <a:ext cx="3048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77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7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77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7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77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77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7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27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06" grpId="0"/>
      <p:bldP spid="27707" grpId="0" animBg="1"/>
      <p:bldP spid="2770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8" name="Text Box 2"/>
          <p:cNvSpPr txBox="1"/>
          <p:nvPr/>
        </p:nvSpPr>
        <p:spPr>
          <a:xfrm>
            <a:off x="228600" y="304800"/>
            <a:ext cx="86868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LP3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）的基础上继续分枝。加入条件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3≤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有下式：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6626" name="Object 3"/>
          <p:cNvGraphicFramePr>
            <a:graphicFrameLocks noChangeAspect="1"/>
          </p:cNvGraphicFramePr>
          <p:nvPr/>
        </p:nvGraphicFramePr>
        <p:xfrm>
          <a:off x="228600" y="1295400"/>
          <a:ext cx="4370388" cy="386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1" imgW="1612900" imgH="1651000" progId="Equation.3">
                  <p:embed/>
                </p:oleObj>
              </mc:Choice>
              <mc:Fallback>
                <p:oleObj name="" r:id="rId1" imgW="1612900" imgH="1651000" progId="Equation.3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1295400"/>
                        <a:ext cx="4370388" cy="3865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7" name="Object 4"/>
          <p:cNvGraphicFramePr>
            <a:graphicFrameLocks noChangeAspect="1"/>
          </p:cNvGraphicFramePr>
          <p:nvPr/>
        </p:nvGraphicFramePr>
        <p:xfrm>
          <a:off x="4741863" y="1219200"/>
          <a:ext cx="4402137" cy="386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3" imgW="1625600" imgH="1651000" progId="Equation.3">
                  <p:embed/>
                </p:oleObj>
              </mc:Choice>
              <mc:Fallback>
                <p:oleObj name="" r:id="rId3" imgW="1625600" imgH="1651000" progId="Equation.3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741863" y="1219200"/>
                        <a:ext cx="4402137" cy="38655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5"/>
          <p:cNvSpPr/>
          <p:nvPr/>
        </p:nvSpPr>
        <p:spPr>
          <a:xfrm>
            <a:off x="838200" y="5486400"/>
            <a:ext cx="71120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只要求出（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LP5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）和（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LP6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）的最优解即可。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Line 2"/>
          <p:cNvSpPr/>
          <p:nvPr/>
        </p:nvSpPr>
        <p:spPr>
          <a:xfrm>
            <a:off x="4953000" y="1828800"/>
            <a:ext cx="3048000" cy="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1" name="Line 3"/>
          <p:cNvSpPr/>
          <p:nvPr/>
        </p:nvSpPr>
        <p:spPr>
          <a:xfrm>
            <a:off x="4953000" y="381000"/>
            <a:ext cx="0" cy="4419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8612" name="Line 4"/>
          <p:cNvSpPr/>
          <p:nvPr/>
        </p:nvSpPr>
        <p:spPr>
          <a:xfrm>
            <a:off x="4114800" y="4191000"/>
            <a:ext cx="4724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13" name="Line 5"/>
          <p:cNvSpPr/>
          <p:nvPr/>
        </p:nvSpPr>
        <p:spPr>
          <a:xfrm>
            <a:off x="4953000" y="3429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4" name="Line 6"/>
          <p:cNvSpPr/>
          <p:nvPr/>
        </p:nvSpPr>
        <p:spPr>
          <a:xfrm>
            <a:off x="4953000" y="2590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5" name="Line 7"/>
          <p:cNvSpPr/>
          <p:nvPr/>
        </p:nvSpPr>
        <p:spPr>
          <a:xfrm>
            <a:off x="4953000" y="1828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6" name="Line 8"/>
          <p:cNvSpPr/>
          <p:nvPr/>
        </p:nvSpPr>
        <p:spPr>
          <a:xfrm>
            <a:off x="4953000" y="10668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7" name="Line 9"/>
          <p:cNvSpPr/>
          <p:nvPr/>
        </p:nvSpPr>
        <p:spPr>
          <a:xfrm flipH="1">
            <a:off x="5791200" y="4191000"/>
            <a:ext cx="76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8" name="Line 10"/>
          <p:cNvSpPr/>
          <p:nvPr/>
        </p:nvSpPr>
        <p:spPr>
          <a:xfrm flipV="1">
            <a:off x="5791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19" name="Line 11"/>
          <p:cNvSpPr/>
          <p:nvPr/>
        </p:nvSpPr>
        <p:spPr>
          <a:xfrm flipV="1">
            <a:off x="6553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20" name="Line 12"/>
          <p:cNvSpPr/>
          <p:nvPr/>
        </p:nvSpPr>
        <p:spPr>
          <a:xfrm flipV="1">
            <a:off x="7315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21" name="Line 13"/>
          <p:cNvSpPr/>
          <p:nvPr/>
        </p:nvSpPr>
        <p:spPr>
          <a:xfrm flipV="1">
            <a:off x="8077200" y="4114800"/>
            <a:ext cx="0" cy="76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22" name="Rectangle 14"/>
          <p:cNvSpPr/>
          <p:nvPr/>
        </p:nvSpPr>
        <p:spPr>
          <a:xfrm>
            <a:off x="8229600" y="41148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8623" name="Rectangle 15"/>
          <p:cNvSpPr/>
          <p:nvPr/>
        </p:nvSpPr>
        <p:spPr>
          <a:xfrm>
            <a:off x="4343400" y="533400"/>
            <a:ext cx="48260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800" b="1" i="1" dirty="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b="1" i="1" baseline="-300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8624" name="Line 16"/>
          <p:cNvSpPr/>
          <p:nvPr/>
        </p:nvSpPr>
        <p:spPr>
          <a:xfrm flipH="1" flipV="1">
            <a:off x="5257800" y="533400"/>
            <a:ext cx="3429000" cy="27432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25" name="Rectangle 17"/>
          <p:cNvSpPr/>
          <p:nvPr/>
        </p:nvSpPr>
        <p:spPr>
          <a:xfrm>
            <a:off x="6781800" y="5334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⑴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26" name="Rectangle 18"/>
          <p:cNvSpPr/>
          <p:nvPr/>
        </p:nvSpPr>
        <p:spPr>
          <a:xfrm>
            <a:off x="5257800" y="304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⑵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27" name="Line 19"/>
          <p:cNvSpPr/>
          <p:nvPr/>
        </p:nvSpPr>
        <p:spPr>
          <a:xfrm flipV="1">
            <a:off x="4419600" y="914400"/>
            <a:ext cx="2362200" cy="2209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28" name="Text Box 20"/>
          <p:cNvSpPr txBox="1"/>
          <p:nvPr/>
        </p:nvSpPr>
        <p:spPr>
          <a:xfrm>
            <a:off x="4572000" y="16764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29" name="Text Box 21"/>
          <p:cNvSpPr txBox="1"/>
          <p:nvPr/>
        </p:nvSpPr>
        <p:spPr>
          <a:xfrm>
            <a:off x="7162800" y="4191000"/>
            <a:ext cx="311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30" name="Text Box 22"/>
          <p:cNvSpPr txBox="1"/>
          <p:nvPr/>
        </p:nvSpPr>
        <p:spPr>
          <a:xfrm>
            <a:off x="6400800" y="1219200"/>
            <a:ext cx="18510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Times New Roman" panose="02020603050405020304" pitchFamily="18" charset="0"/>
              </a:rPr>
              <a:t>(18/11,40/11)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68631" name="Line 23"/>
          <p:cNvSpPr/>
          <p:nvPr/>
        </p:nvSpPr>
        <p:spPr>
          <a:xfrm>
            <a:off x="3962400" y="3962400"/>
            <a:ext cx="3124200" cy="685800"/>
          </a:xfrm>
          <a:prstGeom prst="line">
            <a:avLst/>
          </a:prstGeom>
          <a:ln w="28575" cap="flat" cmpd="sng">
            <a:solidFill>
              <a:schemeClr val="tx1"/>
            </a:solidFill>
            <a:prstDash val="lgDash"/>
            <a:headEnd type="none" w="med" len="med"/>
            <a:tailEnd type="none" w="med" len="med"/>
          </a:ln>
        </p:spPr>
      </p:sp>
      <p:sp>
        <p:nvSpPr>
          <p:cNvPr id="68632" name="Line 24"/>
          <p:cNvSpPr/>
          <p:nvPr/>
        </p:nvSpPr>
        <p:spPr>
          <a:xfrm>
            <a:off x="7239000" y="25908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8633" name="Line 25"/>
          <p:cNvSpPr/>
          <p:nvPr/>
        </p:nvSpPr>
        <p:spPr>
          <a:xfrm>
            <a:off x="7315200" y="34290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8634" name="Line 26"/>
          <p:cNvSpPr/>
          <p:nvPr/>
        </p:nvSpPr>
        <p:spPr>
          <a:xfrm>
            <a:off x="4953000" y="1066800"/>
            <a:ext cx="2514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8635" name="Line 27"/>
          <p:cNvSpPr/>
          <p:nvPr/>
        </p:nvSpPr>
        <p:spPr>
          <a:xfrm flipV="1">
            <a:off x="5791200" y="457200"/>
            <a:ext cx="0" cy="37338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8636" name="Line 28"/>
          <p:cNvSpPr/>
          <p:nvPr/>
        </p:nvSpPr>
        <p:spPr>
          <a:xfrm flipV="1">
            <a:off x="6553200" y="457200"/>
            <a:ext cx="0" cy="37338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37" name="Line 29"/>
          <p:cNvSpPr/>
          <p:nvPr/>
        </p:nvSpPr>
        <p:spPr>
          <a:xfrm flipV="1">
            <a:off x="7315200" y="1905000"/>
            <a:ext cx="0" cy="228600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29726" name="Oval 30"/>
          <p:cNvSpPr/>
          <p:nvPr/>
        </p:nvSpPr>
        <p:spPr>
          <a:xfrm>
            <a:off x="6477000" y="1752600"/>
            <a:ext cx="152400" cy="152400"/>
          </a:xfrm>
          <a:prstGeom prst="ellipse">
            <a:avLst/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39" name="Oval 31"/>
          <p:cNvSpPr/>
          <p:nvPr/>
        </p:nvSpPr>
        <p:spPr>
          <a:xfrm>
            <a:off x="5715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40" name="Oval 32"/>
          <p:cNvSpPr/>
          <p:nvPr/>
        </p:nvSpPr>
        <p:spPr>
          <a:xfrm>
            <a:off x="6477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41" name="Oval 33"/>
          <p:cNvSpPr/>
          <p:nvPr/>
        </p:nvSpPr>
        <p:spPr>
          <a:xfrm>
            <a:off x="7239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42" name="Oval 34"/>
          <p:cNvSpPr/>
          <p:nvPr/>
        </p:nvSpPr>
        <p:spPr>
          <a:xfrm>
            <a:off x="5715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43" name="Oval 35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44" name="Oval 36"/>
          <p:cNvSpPr/>
          <p:nvPr/>
        </p:nvSpPr>
        <p:spPr>
          <a:xfrm>
            <a:off x="8001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45" name="Oval 37"/>
          <p:cNvSpPr/>
          <p:nvPr/>
        </p:nvSpPr>
        <p:spPr>
          <a:xfrm>
            <a:off x="5715000" y="1752600"/>
            <a:ext cx="152400" cy="1524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46" name="Oval 38"/>
          <p:cNvSpPr/>
          <p:nvPr/>
        </p:nvSpPr>
        <p:spPr>
          <a:xfrm>
            <a:off x="7239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47" name="Line 39"/>
          <p:cNvSpPr/>
          <p:nvPr/>
        </p:nvSpPr>
        <p:spPr>
          <a:xfrm flipV="1">
            <a:off x="8077200" y="2438400"/>
            <a:ext cx="0" cy="17526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8648" name="Oval 40"/>
          <p:cNvSpPr/>
          <p:nvPr/>
        </p:nvSpPr>
        <p:spPr>
          <a:xfrm>
            <a:off x="48768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49" name="Oval 41"/>
          <p:cNvSpPr/>
          <p:nvPr/>
        </p:nvSpPr>
        <p:spPr>
          <a:xfrm>
            <a:off x="5715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50" name="Oval 42"/>
          <p:cNvSpPr/>
          <p:nvPr/>
        </p:nvSpPr>
        <p:spPr>
          <a:xfrm>
            <a:off x="64770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51" name="Line 43"/>
          <p:cNvSpPr/>
          <p:nvPr/>
        </p:nvSpPr>
        <p:spPr>
          <a:xfrm>
            <a:off x="4114800" y="4191000"/>
            <a:ext cx="4724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52" name="Oval 44"/>
          <p:cNvSpPr/>
          <p:nvPr/>
        </p:nvSpPr>
        <p:spPr>
          <a:xfrm>
            <a:off x="80010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53" name="Oval 45"/>
          <p:cNvSpPr/>
          <p:nvPr/>
        </p:nvSpPr>
        <p:spPr>
          <a:xfrm>
            <a:off x="7239000" y="25146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54" name="Oval 46"/>
          <p:cNvSpPr/>
          <p:nvPr/>
        </p:nvSpPr>
        <p:spPr>
          <a:xfrm>
            <a:off x="6248400" y="12954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55" name="Oval 47"/>
          <p:cNvSpPr/>
          <p:nvPr/>
        </p:nvSpPr>
        <p:spPr>
          <a:xfrm>
            <a:off x="4876800" y="3352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56" name="Oval 48"/>
          <p:cNvSpPr/>
          <p:nvPr/>
        </p:nvSpPr>
        <p:spPr>
          <a:xfrm>
            <a:off x="4876800" y="4114800"/>
            <a:ext cx="152400" cy="152400"/>
          </a:xfrm>
          <a:prstGeom prst="ellipse">
            <a:avLst/>
          </a:prstGeom>
          <a:solidFill>
            <a:schemeClr val="tx2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57" name="Rectangle 49"/>
          <p:cNvSpPr/>
          <p:nvPr/>
        </p:nvSpPr>
        <p:spPr>
          <a:xfrm>
            <a:off x="8077200" y="2209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⑶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58" name="Text Box 50"/>
          <p:cNvSpPr txBox="1"/>
          <p:nvPr/>
        </p:nvSpPr>
        <p:spPr>
          <a:xfrm>
            <a:off x="5867400" y="4191000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59" name="Text Box 51"/>
          <p:cNvSpPr txBox="1"/>
          <p:nvPr/>
        </p:nvSpPr>
        <p:spPr>
          <a:xfrm>
            <a:off x="4572000" y="3276600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60" name="Line 52"/>
          <p:cNvSpPr/>
          <p:nvPr/>
        </p:nvSpPr>
        <p:spPr>
          <a:xfrm>
            <a:off x="4953000" y="2590800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8661" name="Line 53"/>
          <p:cNvSpPr/>
          <p:nvPr/>
        </p:nvSpPr>
        <p:spPr>
          <a:xfrm>
            <a:off x="4953000" y="3429000"/>
            <a:ext cx="838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68662" name="Text Box 54"/>
          <p:cNvSpPr txBox="1"/>
          <p:nvPr/>
        </p:nvSpPr>
        <p:spPr>
          <a:xfrm>
            <a:off x="5486400" y="1447800"/>
            <a:ext cx="3587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B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63" name="Text Box 55"/>
          <p:cNvSpPr txBox="1"/>
          <p:nvPr/>
        </p:nvSpPr>
        <p:spPr>
          <a:xfrm>
            <a:off x="6096000" y="990600"/>
            <a:ext cx="36830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A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64" name="Text Box 56"/>
          <p:cNvSpPr txBox="1"/>
          <p:nvPr/>
        </p:nvSpPr>
        <p:spPr>
          <a:xfrm>
            <a:off x="6172200" y="1447800"/>
            <a:ext cx="2825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C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65" name="Oval 57"/>
          <p:cNvSpPr/>
          <p:nvPr/>
        </p:nvSpPr>
        <p:spPr>
          <a:xfrm>
            <a:off x="6477000" y="1524000"/>
            <a:ext cx="152400" cy="152400"/>
          </a:xfrm>
          <a:prstGeom prst="ellipse">
            <a:avLst/>
          </a:prstGeom>
          <a:solidFill>
            <a:srgbClr val="FF99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66" name="Oval 58"/>
          <p:cNvSpPr/>
          <p:nvPr/>
        </p:nvSpPr>
        <p:spPr>
          <a:xfrm>
            <a:off x="6781800" y="1752600"/>
            <a:ext cx="152400" cy="152400"/>
          </a:xfrm>
          <a:prstGeom prst="ellipse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8667" name="Text Box 59"/>
          <p:cNvSpPr txBox="1"/>
          <p:nvPr/>
        </p:nvSpPr>
        <p:spPr>
          <a:xfrm>
            <a:off x="6858000" y="1524000"/>
            <a:ext cx="3587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000" dirty="0">
                <a:latin typeface="Times New Roman" panose="02020603050405020304" pitchFamily="18" charset="0"/>
              </a:rPr>
              <a:t>D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8668" name="Line 60"/>
          <p:cNvSpPr/>
          <p:nvPr/>
        </p:nvSpPr>
        <p:spPr>
          <a:xfrm>
            <a:off x="7772400" y="1828800"/>
            <a:ext cx="0" cy="3048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8669" name="Rectangle 61"/>
          <p:cNvSpPr/>
          <p:nvPr/>
        </p:nvSpPr>
        <p:spPr>
          <a:xfrm>
            <a:off x="228600" y="533400"/>
            <a:ext cx="4495800" cy="26558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先求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LP5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如图所示。此时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E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在点取得最优解。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即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=3, Z</a:t>
            </a:r>
            <a:r>
              <a:rPr lang="en-US" altLang="zh-CN" sz="2800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(5)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17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找到整数解，问题已探明，此枝停止计算。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8670" name="Text Box 62"/>
          <p:cNvSpPr txBox="1"/>
          <p:nvPr/>
        </p:nvSpPr>
        <p:spPr>
          <a:xfrm>
            <a:off x="6248400" y="1828800"/>
            <a:ext cx="3397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E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9759" name="Text Box 63"/>
          <p:cNvSpPr txBox="1"/>
          <p:nvPr/>
        </p:nvSpPr>
        <p:spPr>
          <a:xfrm>
            <a:off x="228600" y="3352800"/>
            <a:ext cx="4267200" cy="22288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求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LP6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），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如图所示。此时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在点取得最优解。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3,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=2.5, 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(6)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31/2≈</a:t>
            </a:r>
            <a:r>
              <a:rPr lang="zh-CN" altLang="en-US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15.5 &gt; Z</a:t>
            </a:r>
            <a:r>
              <a:rPr lang="en-US" altLang="zh-CN" sz="2800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(5)</a:t>
            </a:r>
            <a:r>
              <a:rPr lang="en-US" altLang="zh-CN" sz="2800" baseline="-25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800" baseline="-250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8672" name="Text Box 64"/>
          <p:cNvSpPr txBox="1"/>
          <p:nvPr/>
        </p:nvSpPr>
        <p:spPr>
          <a:xfrm>
            <a:off x="7315200" y="1981200"/>
            <a:ext cx="325438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2000" dirty="0">
                <a:latin typeface="Times New Roman" panose="02020603050405020304" pitchFamily="18" charset="0"/>
              </a:rPr>
              <a:t>F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29761" name="Text Box 65"/>
          <p:cNvSpPr txBox="1"/>
          <p:nvPr/>
        </p:nvSpPr>
        <p:spPr>
          <a:xfrm>
            <a:off x="304800" y="5638800"/>
            <a:ext cx="8610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如对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(6)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继续分解，其最小值也不会低于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15.5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，问题探明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剪枝。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9762" name="Line 66"/>
          <p:cNvSpPr/>
          <p:nvPr/>
        </p:nvSpPr>
        <p:spPr>
          <a:xfrm flipV="1">
            <a:off x="7315200" y="1600200"/>
            <a:ext cx="0" cy="2514600"/>
          </a:xfrm>
          <a:prstGeom prst="line">
            <a:avLst/>
          </a:prstGeom>
          <a:ln w="285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9763" name="Line 67"/>
          <p:cNvSpPr/>
          <p:nvPr/>
        </p:nvSpPr>
        <p:spPr>
          <a:xfrm>
            <a:off x="7315200" y="1676400"/>
            <a:ext cx="3810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9764" name="Oval 68"/>
          <p:cNvSpPr/>
          <p:nvPr/>
        </p:nvSpPr>
        <p:spPr>
          <a:xfrm>
            <a:off x="7239000" y="2133600"/>
            <a:ext cx="152400" cy="152400"/>
          </a:xfrm>
          <a:prstGeom prst="ellipse">
            <a:avLst/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9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2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26" grpId="0" animBg="1"/>
      <p:bldP spid="29759" grpId="0"/>
      <p:bldP spid="29761" grpId="0"/>
      <p:bldP spid="2976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ext Box 2"/>
          <p:cNvSpPr txBox="1"/>
          <p:nvPr/>
        </p:nvSpPr>
        <p:spPr>
          <a:xfrm>
            <a:off x="381000" y="609600"/>
            <a:ext cx="2743200" cy="50307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至此，原问题（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IP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）的最优解为：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en-US" altLang="zh-CN" sz="32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32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</a:t>
            </a:r>
            <a:r>
              <a:rPr lang="zh-CN" altLang="en-US" sz="32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，  </a:t>
            </a:r>
            <a:endParaRPr lang="zh-CN" altLang="en-US" sz="32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32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   </a:t>
            </a:r>
            <a:r>
              <a:rPr lang="en-US" altLang="zh-CN" sz="32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32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32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=3, </a:t>
            </a:r>
            <a:endParaRPr lang="en-US" altLang="zh-CN" sz="32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en-US" altLang="zh-CN" sz="32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en-US" altLang="zh-CN" sz="32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 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(5)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en-US" altLang="zh-CN" sz="32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32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32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17</a:t>
            </a:r>
            <a:endParaRPr lang="en-US" altLang="zh-CN" sz="32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以上的求解过程可以用一个树形图表示如右：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23" name="Rectangle 3"/>
          <p:cNvSpPr/>
          <p:nvPr/>
        </p:nvSpPr>
        <p:spPr>
          <a:xfrm>
            <a:off x="3505200" y="1981200"/>
            <a:ext cx="1524000" cy="990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LP1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16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24" name="Line 4"/>
          <p:cNvSpPr/>
          <p:nvPr/>
        </p:nvSpPr>
        <p:spPr>
          <a:xfrm>
            <a:off x="3505200" y="2286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5" name="Rectangle 5"/>
          <p:cNvSpPr/>
          <p:nvPr/>
        </p:nvSpPr>
        <p:spPr>
          <a:xfrm>
            <a:off x="4648200" y="457200"/>
            <a:ext cx="1981200" cy="990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=18/11,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=40/11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19.8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26" name="Line 6"/>
          <p:cNvSpPr/>
          <p:nvPr/>
        </p:nvSpPr>
        <p:spPr>
          <a:xfrm>
            <a:off x="4648200" y="762000"/>
            <a:ext cx="198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7" name="Rectangle 7"/>
          <p:cNvSpPr/>
          <p:nvPr/>
        </p:nvSpPr>
        <p:spPr>
          <a:xfrm>
            <a:off x="6096000" y="1981200"/>
            <a:ext cx="1524000" cy="990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LP2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=10/3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18.5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28" name="Line 8"/>
          <p:cNvSpPr/>
          <p:nvPr/>
        </p:nvSpPr>
        <p:spPr>
          <a:xfrm>
            <a:off x="6096000" y="2286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29" name="Rectangle 9"/>
          <p:cNvSpPr/>
          <p:nvPr/>
        </p:nvSpPr>
        <p:spPr>
          <a:xfrm>
            <a:off x="4876800" y="3581400"/>
            <a:ext cx="1524000" cy="990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LP3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=12/5,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17.4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30" name="Line 10"/>
          <p:cNvSpPr/>
          <p:nvPr/>
        </p:nvSpPr>
        <p:spPr>
          <a:xfrm>
            <a:off x="4876800" y="38862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1" name="Rectangle 11"/>
          <p:cNvSpPr/>
          <p:nvPr/>
        </p:nvSpPr>
        <p:spPr>
          <a:xfrm>
            <a:off x="7315200" y="3581400"/>
            <a:ext cx="1524000" cy="990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LP4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无可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行解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32" name="Line 12"/>
          <p:cNvSpPr/>
          <p:nvPr/>
        </p:nvSpPr>
        <p:spPr>
          <a:xfrm>
            <a:off x="7315200" y="38862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3" name="Rectangle 13"/>
          <p:cNvSpPr/>
          <p:nvPr/>
        </p:nvSpPr>
        <p:spPr>
          <a:xfrm>
            <a:off x="3505200" y="5029200"/>
            <a:ext cx="1524000" cy="990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LP5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(5)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17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34" name="Line 14"/>
          <p:cNvSpPr/>
          <p:nvPr/>
        </p:nvSpPr>
        <p:spPr>
          <a:xfrm>
            <a:off x="3505200" y="5334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5" name="Rectangle 15"/>
          <p:cNvSpPr/>
          <p:nvPr/>
        </p:nvSpPr>
        <p:spPr>
          <a:xfrm>
            <a:off x="6096000" y="5029200"/>
            <a:ext cx="1524000" cy="9906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LP6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=5/2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(6)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15.5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36" name="Line 16"/>
          <p:cNvSpPr/>
          <p:nvPr/>
        </p:nvSpPr>
        <p:spPr>
          <a:xfrm>
            <a:off x="6096000" y="5334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37" name="Line 17"/>
          <p:cNvSpPr/>
          <p:nvPr/>
        </p:nvSpPr>
        <p:spPr>
          <a:xfrm flipH="1">
            <a:off x="4343400" y="1447800"/>
            <a:ext cx="9144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8" name="Line 18"/>
          <p:cNvSpPr/>
          <p:nvPr/>
        </p:nvSpPr>
        <p:spPr>
          <a:xfrm>
            <a:off x="6019800" y="1447800"/>
            <a:ext cx="8382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39" name="Text Box 19"/>
          <p:cNvSpPr txBox="1"/>
          <p:nvPr/>
        </p:nvSpPr>
        <p:spPr>
          <a:xfrm>
            <a:off x="3886200" y="1447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40" name="Text Box 20"/>
          <p:cNvSpPr txBox="1"/>
          <p:nvPr/>
        </p:nvSpPr>
        <p:spPr>
          <a:xfrm>
            <a:off x="6629400" y="1447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41" name="Line 21"/>
          <p:cNvSpPr/>
          <p:nvPr/>
        </p:nvSpPr>
        <p:spPr>
          <a:xfrm flipH="1">
            <a:off x="5638800" y="2971800"/>
            <a:ext cx="914400" cy="6096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2" name="Line 22"/>
          <p:cNvSpPr/>
          <p:nvPr/>
        </p:nvSpPr>
        <p:spPr>
          <a:xfrm>
            <a:off x="7239000" y="2971800"/>
            <a:ext cx="838200" cy="6096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3" name="Text Box 23"/>
          <p:cNvSpPr txBox="1"/>
          <p:nvPr/>
        </p:nvSpPr>
        <p:spPr>
          <a:xfrm>
            <a:off x="5410200" y="2971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44" name="Text Box 24"/>
          <p:cNvSpPr txBox="1"/>
          <p:nvPr/>
        </p:nvSpPr>
        <p:spPr>
          <a:xfrm>
            <a:off x="7620000" y="2971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≥4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45" name="Line 25"/>
          <p:cNvSpPr/>
          <p:nvPr/>
        </p:nvSpPr>
        <p:spPr>
          <a:xfrm flipH="1">
            <a:off x="4267200" y="4572000"/>
            <a:ext cx="1066800" cy="4572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6" name="Line 26"/>
          <p:cNvSpPr/>
          <p:nvPr/>
        </p:nvSpPr>
        <p:spPr>
          <a:xfrm>
            <a:off x="5943600" y="4572000"/>
            <a:ext cx="914400" cy="4572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0747" name="Text Box 27"/>
          <p:cNvSpPr txBox="1"/>
          <p:nvPr/>
        </p:nvSpPr>
        <p:spPr>
          <a:xfrm>
            <a:off x="4038600" y="4419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48" name="Text Box 28"/>
          <p:cNvSpPr txBox="1"/>
          <p:nvPr/>
        </p:nvSpPr>
        <p:spPr>
          <a:xfrm>
            <a:off x="6477000" y="4495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0749" name="Rectangle 29"/>
          <p:cNvSpPr/>
          <p:nvPr/>
        </p:nvSpPr>
        <p:spPr>
          <a:xfrm>
            <a:off x="4572000" y="29638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0" name="Rectangle 30"/>
          <p:cNvSpPr/>
          <p:nvPr/>
        </p:nvSpPr>
        <p:spPr>
          <a:xfrm>
            <a:off x="8458200" y="45640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1" name="Rectangle 31"/>
          <p:cNvSpPr/>
          <p:nvPr/>
        </p:nvSpPr>
        <p:spPr>
          <a:xfrm>
            <a:off x="4572000" y="60118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52" name="Rectangle 32"/>
          <p:cNvSpPr/>
          <p:nvPr/>
        </p:nvSpPr>
        <p:spPr>
          <a:xfrm>
            <a:off x="7162800" y="60118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0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0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3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30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30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0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500"/>
                            </p:stCondLst>
                            <p:childTnLst>
                              <p:par>
                                <p:cTn id="7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0" dur="500"/>
                                        <p:tgtEl>
                                          <p:spTgt spid="30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9000"/>
                            </p:stCondLst>
                            <p:childTnLst>
                              <p:par>
                                <p:cTn id="8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30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9500"/>
                            </p:stCondLst>
                            <p:childTnLst>
                              <p:par>
                                <p:cTn id="8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30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0"/>
                            </p:stCondLst>
                            <p:childTnLst>
                              <p:par>
                                <p:cTn id="9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307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500"/>
                            </p:stCondLst>
                            <p:childTnLst>
                              <p:par>
                                <p:cTn id="9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6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1000"/>
                            </p:stCondLst>
                            <p:childTnLst>
                              <p:par>
                                <p:cTn id="9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30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1500"/>
                            </p:stCondLst>
                            <p:childTnLst>
                              <p:par>
                                <p:cTn id="10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3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2000"/>
                            </p:stCondLst>
                            <p:childTnLst>
                              <p:par>
                                <p:cTn id="1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30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12500"/>
                            </p:stCondLst>
                            <p:childTnLst>
                              <p:par>
                                <p:cTn id="1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2" dur="500"/>
                                        <p:tgtEl>
                                          <p:spTgt spid="3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3000"/>
                            </p:stCondLst>
                            <p:childTnLst>
                              <p:par>
                                <p:cTn id="1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6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350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3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4000"/>
                            </p:stCondLst>
                            <p:childTnLst>
                              <p:par>
                                <p:cTn id="1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3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45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30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23" grpId="0" animBg="1"/>
      <p:bldP spid="30725" grpId="0" animBg="1"/>
      <p:bldP spid="30727" grpId="0" animBg="1"/>
      <p:bldP spid="30729" grpId="0" animBg="1"/>
      <p:bldP spid="30731" grpId="0" animBg="1"/>
      <p:bldP spid="30733" grpId="0" animBg="1"/>
      <p:bldP spid="30735" grpId="0" animBg="1"/>
      <p:bldP spid="30739" grpId="0"/>
      <p:bldP spid="30740" grpId="0"/>
      <p:bldP spid="30743" grpId="0"/>
      <p:bldP spid="30744" grpId="0"/>
      <p:bldP spid="30747" grpId="0"/>
      <p:bldP spid="30748" grpId="0"/>
      <p:bldP spid="30749" grpId="0"/>
      <p:bldP spid="30750" grpId="0"/>
      <p:bldP spid="30751" grpId="0"/>
      <p:bldP spid="3075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7650" name="Object 2"/>
          <p:cNvGraphicFramePr>
            <a:graphicFrameLocks noChangeAspect="1"/>
          </p:cNvGraphicFramePr>
          <p:nvPr/>
        </p:nvGraphicFramePr>
        <p:xfrm>
          <a:off x="1905000" y="2514600"/>
          <a:ext cx="4694238" cy="298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1" imgW="1497965" imgH="951865" progId="Equation.3">
                  <p:embed/>
                </p:oleObj>
              </mc:Choice>
              <mc:Fallback>
                <p:oleObj name="" r:id="rId1" imgW="1497965" imgH="951865" progId="Equation.3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5000" y="2514600"/>
                        <a:ext cx="4694238" cy="2982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1" name="Rectangle 3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3200" b="1" dirty="0">
                <a:solidFill>
                  <a:srgbClr val="000066"/>
                </a:solidFill>
                <a:ea typeface="楷体_GB2312" pitchFamily="49" charset="-122"/>
              </a:rPr>
              <a:t>练习：用分枝定界法求解整数规划问题</a:t>
            </a:r>
            <a:br>
              <a:rPr lang="zh-CN" altLang="en-US" sz="3200" b="1" dirty="0">
                <a:solidFill>
                  <a:srgbClr val="000066"/>
                </a:solidFill>
                <a:ea typeface="楷体_GB2312" pitchFamily="49" charset="-122"/>
              </a:rPr>
            </a:br>
            <a:r>
              <a:rPr lang="zh-CN" altLang="en-US" sz="3200" b="1" dirty="0">
                <a:solidFill>
                  <a:srgbClr val="000066"/>
                </a:solidFill>
                <a:ea typeface="楷体_GB2312" pitchFamily="49" charset="-122"/>
              </a:rPr>
              <a:t>      （图解法）</a:t>
            </a:r>
            <a:br>
              <a:rPr lang="zh-CN" altLang="en-US" sz="3200" b="1" dirty="0">
                <a:solidFill>
                  <a:srgbClr val="000066"/>
                </a:solidFill>
                <a:ea typeface="楷体_GB2312" pitchFamily="49" charset="-122"/>
              </a:rPr>
            </a:br>
            <a:endParaRPr lang="zh-CN" altLang="en-US" sz="32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42"/>
          <p:cNvGrpSpPr/>
          <p:nvPr/>
        </p:nvGrpSpPr>
        <p:grpSpPr>
          <a:xfrm>
            <a:off x="2057400" y="1981200"/>
            <a:ext cx="1524000" cy="990600"/>
            <a:chOff x="1296" y="1248"/>
            <a:chExt cx="960" cy="624"/>
          </a:xfrm>
        </p:grpSpPr>
        <p:sp>
          <p:nvSpPr>
            <p:cNvPr id="70704" name="Rectangle 2"/>
            <p:cNvSpPr/>
            <p:nvPr/>
          </p:nvSpPr>
          <p:spPr>
            <a:xfrm>
              <a:off x="1296" y="1248"/>
              <a:ext cx="960" cy="624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LP1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=1, </a:t>
              </a:r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=7/3</a:t>
              </a:r>
              <a:endPara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楷体_GB2312" pitchFamily="49" charset="-122"/>
                </a:rPr>
                <a:t>(1)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10/3</a:t>
              </a:r>
              <a:endParaRPr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705" name="Line 3"/>
            <p:cNvSpPr/>
            <p:nvPr/>
          </p:nvSpPr>
          <p:spPr>
            <a:xfrm>
              <a:off x="1296" y="144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3" name="Group 41"/>
          <p:cNvGrpSpPr/>
          <p:nvPr/>
        </p:nvGrpSpPr>
        <p:grpSpPr>
          <a:xfrm>
            <a:off x="3581400" y="457200"/>
            <a:ext cx="1981200" cy="990600"/>
            <a:chOff x="2256" y="288"/>
            <a:chExt cx="1248" cy="624"/>
          </a:xfrm>
        </p:grpSpPr>
        <p:sp>
          <p:nvSpPr>
            <p:cNvPr id="70702" name="Rectangle 4"/>
            <p:cNvSpPr/>
            <p:nvPr/>
          </p:nvSpPr>
          <p:spPr>
            <a:xfrm>
              <a:off x="2256" y="288"/>
              <a:ext cx="1248" cy="624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LP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=3/2, </a:t>
              </a:r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=10/3</a:t>
              </a:r>
              <a:endPara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楷体_GB2312" pitchFamily="49" charset="-122"/>
                </a:rPr>
                <a:t>(0)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29/6</a:t>
              </a:r>
              <a:endParaRPr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703" name="Line 5"/>
            <p:cNvSpPr/>
            <p:nvPr/>
          </p:nvSpPr>
          <p:spPr>
            <a:xfrm>
              <a:off x="2256" y="480"/>
              <a:ext cx="124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4" name="Group 43"/>
          <p:cNvGrpSpPr/>
          <p:nvPr/>
        </p:nvGrpSpPr>
        <p:grpSpPr>
          <a:xfrm>
            <a:off x="5638800" y="1905000"/>
            <a:ext cx="1524000" cy="990600"/>
            <a:chOff x="3552" y="1200"/>
            <a:chExt cx="960" cy="624"/>
          </a:xfrm>
        </p:grpSpPr>
        <p:sp>
          <p:nvSpPr>
            <p:cNvPr id="70700" name="Rectangle 6"/>
            <p:cNvSpPr/>
            <p:nvPr/>
          </p:nvSpPr>
          <p:spPr>
            <a:xfrm>
              <a:off x="3552" y="1200"/>
              <a:ext cx="960" cy="624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LP2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=2, </a:t>
              </a:r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=23/9</a:t>
              </a:r>
              <a:endPara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楷体_GB2312" pitchFamily="49" charset="-122"/>
                </a:rPr>
                <a:t>(2)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41/9</a:t>
              </a:r>
              <a:endParaRPr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701" name="Line 7"/>
            <p:cNvSpPr/>
            <p:nvPr/>
          </p:nvSpPr>
          <p:spPr>
            <a:xfrm>
              <a:off x="3552" y="1392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776" name="Line 8"/>
          <p:cNvSpPr/>
          <p:nvPr/>
        </p:nvSpPr>
        <p:spPr>
          <a:xfrm flipH="1">
            <a:off x="2895600" y="1447800"/>
            <a:ext cx="12954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77" name="Line 9"/>
          <p:cNvSpPr/>
          <p:nvPr/>
        </p:nvSpPr>
        <p:spPr>
          <a:xfrm>
            <a:off x="4953000" y="1447800"/>
            <a:ext cx="1371600" cy="4572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78" name="Text Box 10"/>
          <p:cNvSpPr txBox="1"/>
          <p:nvPr/>
        </p:nvSpPr>
        <p:spPr>
          <a:xfrm>
            <a:off x="2590800" y="1371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79" name="Text Box 11"/>
          <p:cNvSpPr txBox="1"/>
          <p:nvPr/>
        </p:nvSpPr>
        <p:spPr>
          <a:xfrm>
            <a:off x="5791200" y="12954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5" name="Group 44"/>
          <p:cNvGrpSpPr/>
          <p:nvPr/>
        </p:nvGrpSpPr>
        <p:grpSpPr>
          <a:xfrm>
            <a:off x="838200" y="3505200"/>
            <a:ext cx="1524000" cy="990600"/>
            <a:chOff x="528" y="2208"/>
            <a:chExt cx="960" cy="624"/>
          </a:xfrm>
        </p:grpSpPr>
        <p:sp>
          <p:nvSpPr>
            <p:cNvPr id="70698" name="Rectangle 12"/>
            <p:cNvSpPr/>
            <p:nvPr/>
          </p:nvSpPr>
          <p:spPr>
            <a:xfrm>
              <a:off x="528" y="2208"/>
              <a:ext cx="960" cy="624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LP5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=1, </a:t>
              </a:r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=2</a:t>
              </a:r>
              <a:endPara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楷体_GB2312" pitchFamily="49" charset="-122"/>
                </a:rPr>
                <a:t>(5)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3</a:t>
              </a:r>
              <a:endParaRPr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99" name="Line 13"/>
            <p:cNvSpPr/>
            <p:nvPr/>
          </p:nvSpPr>
          <p:spPr>
            <a:xfrm>
              <a:off x="528" y="240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45"/>
          <p:cNvGrpSpPr/>
          <p:nvPr/>
        </p:nvGrpSpPr>
        <p:grpSpPr>
          <a:xfrm>
            <a:off x="3048000" y="3505200"/>
            <a:ext cx="1524000" cy="990600"/>
            <a:chOff x="1920" y="2208"/>
            <a:chExt cx="960" cy="624"/>
          </a:xfrm>
        </p:grpSpPr>
        <p:sp>
          <p:nvSpPr>
            <p:cNvPr id="70696" name="Rectangle 14"/>
            <p:cNvSpPr/>
            <p:nvPr/>
          </p:nvSpPr>
          <p:spPr>
            <a:xfrm>
              <a:off x="1920" y="2208"/>
              <a:ext cx="960" cy="624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LP6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无可</a:t>
              </a:r>
              <a:endParaRPr lang="zh-CN" altLang="en-US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行解</a:t>
              </a:r>
              <a:endParaRPr lang="zh-CN" altLang="en-US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97" name="Line 15"/>
            <p:cNvSpPr/>
            <p:nvPr/>
          </p:nvSpPr>
          <p:spPr>
            <a:xfrm>
              <a:off x="1920" y="240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784" name="Line 16"/>
          <p:cNvSpPr/>
          <p:nvPr/>
        </p:nvSpPr>
        <p:spPr>
          <a:xfrm flipH="1">
            <a:off x="1600200" y="2971800"/>
            <a:ext cx="9906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85" name="Line 17"/>
          <p:cNvSpPr/>
          <p:nvPr/>
        </p:nvSpPr>
        <p:spPr>
          <a:xfrm>
            <a:off x="2971800" y="2971800"/>
            <a:ext cx="8382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86" name="Rectangle 18"/>
          <p:cNvSpPr/>
          <p:nvPr/>
        </p:nvSpPr>
        <p:spPr>
          <a:xfrm>
            <a:off x="762000" y="4495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7" name="Rectangle 19"/>
          <p:cNvSpPr/>
          <p:nvPr/>
        </p:nvSpPr>
        <p:spPr>
          <a:xfrm>
            <a:off x="2971800" y="4495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88" name="Text Box 20"/>
          <p:cNvSpPr txBox="1"/>
          <p:nvPr/>
        </p:nvSpPr>
        <p:spPr>
          <a:xfrm>
            <a:off x="1143000" y="2895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89" name="Text Box 21"/>
          <p:cNvSpPr txBox="1"/>
          <p:nvPr/>
        </p:nvSpPr>
        <p:spPr>
          <a:xfrm>
            <a:off x="3581400" y="2971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7" name="Group 46"/>
          <p:cNvGrpSpPr/>
          <p:nvPr/>
        </p:nvGrpSpPr>
        <p:grpSpPr>
          <a:xfrm>
            <a:off x="4572000" y="3505200"/>
            <a:ext cx="1524000" cy="990600"/>
            <a:chOff x="2880" y="2208"/>
            <a:chExt cx="960" cy="624"/>
          </a:xfrm>
        </p:grpSpPr>
        <p:sp>
          <p:nvSpPr>
            <p:cNvPr id="70694" name="Rectangle 22"/>
            <p:cNvSpPr/>
            <p:nvPr/>
          </p:nvSpPr>
          <p:spPr>
            <a:xfrm>
              <a:off x="2880" y="2208"/>
              <a:ext cx="960" cy="624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LP3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=33/14, </a:t>
              </a:r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=2</a:t>
              </a:r>
              <a:endPara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楷体_GB2312" pitchFamily="49" charset="-122"/>
                </a:rPr>
                <a:t>(3)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61/14</a:t>
              </a:r>
              <a:endParaRPr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95" name="Line 23"/>
            <p:cNvSpPr/>
            <p:nvPr/>
          </p:nvSpPr>
          <p:spPr>
            <a:xfrm>
              <a:off x="2880" y="240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8" name="Group 47"/>
          <p:cNvGrpSpPr/>
          <p:nvPr/>
        </p:nvGrpSpPr>
        <p:grpSpPr>
          <a:xfrm>
            <a:off x="6629400" y="3505200"/>
            <a:ext cx="1524000" cy="990600"/>
            <a:chOff x="4176" y="2208"/>
            <a:chExt cx="960" cy="624"/>
          </a:xfrm>
        </p:grpSpPr>
        <p:sp>
          <p:nvSpPr>
            <p:cNvPr id="70692" name="Rectangle 24"/>
            <p:cNvSpPr/>
            <p:nvPr/>
          </p:nvSpPr>
          <p:spPr>
            <a:xfrm>
              <a:off x="4176" y="2208"/>
              <a:ext cx="960" cy="624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LP4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无可</a:t>
              </a:r>
              <a:endParaRPr lang="zh-CN" altLang="en-US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/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行解</a:t>
              </a:r>
              <a:endParaRPr lang="zh-CN" altLang="en-US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93" name="Line 25"/>
            <p:cNvSpPr/>
            <p:nvPr/>
          </p:nvSpPr>
          <p:spPr>
            <a:xfrm>
              <a:off x="4176" y="240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794" name="Line 26"/>
          <p:cNvSpPr/>
          <p:nvPr/>
        </p:nvSpPr>
        <p:spPr>
          <a:xfrm flipH="1">
            <a:off x="5334000" y="2895600"/>
            <a:ext cx="914400" cy="6096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95" name="Line 27"/>
          <p:cNvSpPr/>
          <p:nvPr/>
        </p:nvSpPr>
        <p:spPr>
          <a:xfrm>
            <a:off x="6553200" y="2895600"/>
            <a:ext cx="838200" cy="6096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796" name="Text Box 28"/>
          <p:cNvSpPr txBox="1"/>
          <p:nvPr/>
        </p:nvSpPr>
        <p:spPr>
          <a:xfrm>
            <a:off x="5105400" y="2895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97" name="Text Box 29"/>
          <p:cNvSpPr txBox="1"/>
          <p:nvPr/>
        </p:nvSpPr>
        <p:spPr>
          <a:xfrm>
            <a:off x="7010400" y="2895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798" name="Rectangle 30"/>
          <p:cNvSpPr/>
          <p:nvPr/>
        </p:nvSpPr>
        <p:spPr>
          <a:xfrm>
            <a:off x="7848600" y="4495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9" name="Group 48"/>
          <p:cNvGrpSpPr/>
          <p:nvPr/>
        </p:nvGrpSpPr>
        <p:grpSpPr>
          <a:xfrm>
            <a:off x="3429000" y="5029200"/>
            <a:ext cx="1524000" cy="990600"/>
            <a:chOff x="2160" y="3168"/>
            <a:chExt cx="960" cy="624"/>
          </a:xfrm>
        </p:grpSpPr>
        <p:sp>
          <p:nvSpPr>
            <p:cNvPr id="70690" name="Rectangle 31"/>
            <p:cNvSpPr/>
            <p:nvPr/>
          </p:nvSpPr>
          <p:spPr>
            <a:xfrm>
              <a:off x="2160" y="3168"/>
              <a:ext cx="960" cy="624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LP7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=2, </a:t>
              </a:r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=2</a:t>
              </a:r>
              <a:endPara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楷体_GB2312" pitchFamily="49" charset="-122"/>
                </a:rPr>
                <a:t>(7)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91" name="Line 32"/>
            <p:cNvSpPr/>
            <p:nvPr/>
          </p:nvSpPr>
          <p:spPr>
            <a:xfrm>
              <a:off x="2160" y="336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" name="Group 49"/>
          <p:cNvGrpSpPr/>
          <p:nvPr/>
        </p:nvGrpSpPr>
        <p:grpSpPr>
          <a:xfrm>
            <a:off x="5943600" y="5029200"/>
            <a:ext cx="1524000" cy="990600"/>
            <a:chOff x="3744" y="3168"/>
            <a:chExt cx="960" cy="624"/>
          </a:xfrm>
        </p:grpSpPr>
        <p:sp>
          <p:nvSpPr>
            <p:cNvPr id="70688" name="Rectangle 33"/>
            <p:cNvSpPr/>
            <p:nvPr/>
          </p:nvSpPr>
          <p:spPr>
            <a:xfrm>
              <a:off x="3744" y="3168"/>
              <a:ext cx="960" cy="624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000" b="1" i="1" dirty="0">
                  <a:latin typeface="Times New Roman" panose="02020603050405020304" pitchFamily="18" charset="0"/>
                </a:rPr>
                <a:t>LP8</a:t>
              </a:r>
              <a:endParaRPr lang="en-US" altLang="zh-CN" sz="2000" b="1" i="1" dirty="0">
                <a:latin typeface="Times New Roman" panose="02020603050405020304" pitchFamily="18" charset="0"/>
              </a:endParaRPr>
            </a:p>
            <a:p>
              <a:pPr algn="ctr" eaLnBrk="1" hangingPunct="1"/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1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=3, </a:t>
              </a:r>
              <a:r>
                <a:rPr lang="en-US" altLang="zh-CN" sz="2000" b="1" i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x</a:t>
              </a:r>
              <a:r>
                <a:rPr lang="en-US" altLang="zh-CN" sz="2000" b="1" i="1" baseline="-30000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2</a:t>
              </a:r>
              <a:r>
                <a:rPr lang="en-US" altLang="zh-CN" sz="2000" b="1" dirty="0">
                  <a:solidFill>
                    <a:srgbClr val="9900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=1</a:t>
              </a:r>
              <a:endPara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algn="ctr" eaLnBrk="1" hangingPunct="1"/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Z</a:t>
              </a:r>
              <a:r>
                <a:rPr lang="en-US" altLang="zh-CN" sz="2000" b="1" baseline="30000" dirty="0">
                  <a:latin typeface="Times New Roman" panose="02020603050405020304" pitchFamily="18" charset="0"/>
                  <a:ea typeface="楷体_GB2312" pitchFamily="49" charset="-122"/>
                </a:rPr>
                <a:t>(8)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  <a:r>
                <a:rPr lang="zh-CN" altLang="en-US" sz="2000" b="1" dirty="0">
                  <a:latin typeface="Times New Roman" panose="02020603050405020304" pitchFamily="18" charset="0"/>
                  <a:ea typeface="楷体_GB2312" pitchFamily="49" charset="-122"/>
                </a:rPr>
                <a:t>＝</a:t>
              </a:r>
              <a:r>
                <a:rPr lang="en-US" altLang="zh-CN" sz="2000" b="1" dirty="0">
                  <a:latin typeface="Times New Roman" panose="02020603050405020304" pitchFamily="18" charset="0"/>
                  <a:ea typeface="楷体_GB2312" pitchFamily="49" charset="-122"/>
                </a:rPr>
                <a:t>4</a:t>
              </a:r>
              <a:endParaRPr lang="en-US" altLang="zh-CN" sz="2000" b="1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70689" name="Line 34"/>
            <p:cNvSpPr/>
            <p:nvPr/>
          </p:nvSpPr>
          <p:spPr>
            <a:xfrm>
              <a:off x="3744" y="3360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32803" name="Line 35"/>
          <p:cNvSpPr/>
          <p:nvPr/>
        </p:nvSpPr>
        <p:spPr>
          <a:xfrm flipH="1">
            <a:off x="4191000" y="4495800"/>
            <a:ext cx="10668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04" name="Line 36"/>
          <p:cNvSpPr/>
          <p:nvPr/>
        </p:nvSpPr>
        <p:spPr>
          <a:xfrm>
            <a:off x="5638800" y="4495800"/>
            <a:ext cx="10668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2805" name="Text Box 37"/>
          <p:cNvSpPr txBox="1"/>
          <p:nvPr/>
        </p:nvSpPr>
        <p:spPr>
          <a:xfrm>
            <a:off x="3810000" y="45720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806" name="Text Box 38"/>
          <p:cNvSpPr txBox="1"/>
          <p:nvPr/>
        </p:nvSpPr>
        <p:spPr>
          <a:xfrm>
            <a:off x="6324600" y="4495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2807" name="Rectangle 39"/>
          <p:cNvSpPr/>
          <p:nvPr/>
        </p:nvSpPr>
        <p:spPr>
          <a:xfrm>
            <a:off x="3429000" y="60960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808" name="Rectangle 40"/>
          <p:cNvSpPr/>
          <p:nvPr/>
        </p:nvSpPr>
        <p:spPr>
          <a:xfrm>
            <a:off x="7086600" y="60960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2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2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2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2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2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2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2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2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2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28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2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2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2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27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2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2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32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32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32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3" dur="5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4" dur="500" fill="hold"/>
                                        <p:tgtEl>
                                          <p:spTgt spid="32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9" dur="500" fill="hold"/>
                                        <p:tgtEl>
                                          <p:spTgt spid="327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32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5" dur="500" fill="hold"/>
                                        <p:tgtEl>
                                          <p:spTgt spid="328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6" dur="500" fill="hold"/>
                                        <p:tgtEl>
                                          <p:spTgt spid="328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1" dur="500" fill="hold"/>
                                        <p:tgtEl>
                                          <p:spTgt spid="32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32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8" grpId="0"/>
      <p:bldP spid="32779" grpId="0"/>
      <p:bldP spid="32786" grpId="0"/>
      <p:bldP spid="32787" grpId="0"/>
      <p:bldP spid="32788" grpId="0"/>
      <p:bldP spid="32789" grpId="0"/>
      <p:bldP spid="32796" grpId="0"/>
      <p:bldP spid="32797" grpId="0"/>
      <p:bldP spid="32798" grpId="0"/>
      <p:bldP spid="32805" grpId="0"/>
      <p:bldP spid="32806" grpId="0"/>
      <p:bldP spid="32807" grpId="0"/>
      <p:bldP spid="32808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Rectangle 2"/>
          <p:cNvSpPr/>
          <p:nvPr/>
        </p:nvSpPr>
        <p:spPr>
          <a:xfrm>
            <a:off x="2057400" y="1981200"/>
            <a:ext cx="1524000" cy="9906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LP1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=7/3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10/3</a:t>
            </a: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683" name="Line 3"/>
          <p:cNvSpPr/>
          <p:nvPr/>
        </p:nvSpPr>
        <p:spPr>
          <a:xfrm>
            <a:off x="2057400" y="2286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84" name="Rectangle 4"/>
          <p:cNvSpPr/>
          <p:nvPr/>
        </p:nvSpPr>
        <p:spPr>
          <a:xfrm>
            <a:off x="3581400" y="457200"/>
            <a:ext cx="1981200" cy="9906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=2/3,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=10/3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29/6</a:t>
            </a: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685" name="Line 5"/>
          <p:cNvSpPr/>
          <p:nvPr/>
        </p:nvSpPr>
        <p:spPr>
          <a:xfrm>
            <a:off x="3581400" y="762000"/>
            <a:ext cx="198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86" name="Rectangle 6"/>
          <p:cNvSpPr/>
          <p:nvPr/>
        </p:nvSpPr>
        <p:spPr>
          <a:xfrm>
            <a:off x="5638800" y="1905000"/>
            <a:ext cx="1524000" cy="9906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LP2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=23/9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41/9</a:t>
            </a: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687" name="Line 7"/>
          <p:cNvSpPr/>
          <p:nvPr/>
        </p:nvSpPr>
        <p:spPr>
          <a:xfrm>
            <a:off x="5638800" y="22098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88" name="Rectangle 8"/>
          <p:cNvSpPr/>
          <p:nvPr/>
        </p:nvSpPr>
        <p:spPr>
          <a:xfrm>
            <a:off x="4572000" y="3505200"/>
            <a:ext cx="1524000" cy="9906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LP3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=33/14,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61/14</a:t>
            </a: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689" name="Line 9"/>
          <p:cNvSpPr/>
          <p:nvPr/>
        </p:nvSpPr>
        <p:spPr>
          <a:xfrm>
            <a:off x="4572000" y="3810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0" name="Rectangle 10"/>
          <p:cNvSpPr/>
          <p:nvPr/>
        </p:nvSpPr>
        <p:spPr>
          <a:xfrm>
            <a:off x="6629400" y="3505200"/>
            <a:ext cx="1524000" cy="9906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LP4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无可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行解</a:t>
            </a:r>
            <a:endParaRPr lang="zh-CN" altLang="en-US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691" name="Line 11"/>
          <p:cNvSpPr/>
          <p:nvPr/>
        </p:nvSpPr>
        <p:spPr>
          <a:xfrm>
            <a:off x="6629400" y="3810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2" name="Rectangle 12"/>
          <p:cNvSpPr/>
          <p:nvPr/>
        </p:nvSpPr>
        <p:spPr>
          <a:xfrm>
            <a:off x="3276600" y="4953000"/>
            <a:ext cx="1524000" cy="9906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LP7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latin typeface="Times New Roman" panose="02020603050405020304" pitchFamily="18" charset="0"/>
                <a:ea typeface="楷体_GB2312" pitchFamily="49" charset="-122"/>
              </a:rPr>
              <a:t>(7)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693" name="Line 13"/>
          <p:cNvSpPr/>
          <p:nvPr/>
        </p:nvSpPr>
        <p:spPr>
          <a:xfrm>
            <a:off x="3276600" y="52578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4" name="Rectangle 14"/>
          <p:cNvSpPr/>
          <p:nvPr/>
        </p:nvSpPr>
        <p:spPr>
          <a:xfrm>
            <a:off x="5791200" y="4953000"/>
            <a:ext cx="1524000" cy="990600"/>
          </a:xfrm>
          <a:prstGeom prst="rect">
            <a:avLst/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LP8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latin typeface="Times New Roman" panose="02020603050405020304" pitchFamily="18" charset="0"/>
                <a:ea typeface="楷体_GB2312" pitchFamily="49" charset="-122"/>
              </a:rPr>
              <a:t>(8)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lang="en-US" altLang="zh-CN" sz="20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695" name="Line 15"/>
          <p:cNvSpPr/>
          <p:nvPr/>
        </p:nvSpPr>
        <p:spPr>
          <a:xfrm>
            <a:off x="5791200" y="52578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696" name="Line 16"/>
          <p:cNvSpPr/>
          <p:nvPr/>
        </p:nvSpPr>
        <p:spPr>
          <a:xfrm flipH="1">
            <a:off x="2895600" y="1447800"/>
            <a:ext cx="12954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697" name="Line 17"/>
          <p:cNvSpPr/>
          <p:nvPr/>
        </p:nvSpPr>
        <p:spPr>
          <a:xfrm>
            <a:off x="4953000" y="1447800"/>
            <a:ext cx="1371600" cy="4572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698" name="Text Box 18"/>
          <p:cNvSpPr txBox="1"/>
          <p:nvPr/>
        </p:nvSpPr>
        <p:spPr>
          <a:xfrm>
            <a:off x="2590800" y="1371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699" name="Text Box 19"/>
          <p:cNvSpPr txBox="1"/>
          <p:nvPr/>
        </p:nvSpPr>
        <p:spPr>
          <a:xfrm>
            <a:off x="5791200" y="12954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700" name="Line 20"/>
          <p:cNvSpPr/>
          <p:nvPr/>
        </p:nvSpPr>
        <p:spPr>
          <a:xfrm flipH="1">
            <a:off x="5334000" y="2895600"/>
            <a:ext cx="914400" cy="6096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01" name="Line 21"/>
          <p:cNvSpPr/>
          <p:nvPr/>
        </p:nvSpPr>
        <p:spPr>
          <a:xfrm>
            <a:off x="6553200" y="2895600"/>
            <a:ext cx="838200" cy="6096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02" name="Text Box 22"/>
          <p:cNvSpPr txBox="1"/>
          <p:nvPr/>
        </p:nvSpPr>
        <p:spPr>
          <a:xfrm>
            <a:off x="5105400" y="2895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703" name="Text Box 23"/>
          <p:cNvSpPr txBox="1"/>
          <p:nvPr/>
        </p:nvSpPr>
        <p:spPr>
          <a:xfrm>
            <a:off x="7010400" y="2895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704" name="Line 24"/>
          <p:cNvSpPr/>
          <p:nvPr/>
        </p:nvSpPr>
        <p:spPr>
          <a:xfrm flipH="1">
            <a:off x="4038600" y="4495800"/>
            <a:ext cx="1066800" cy="4572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05" name="Line 25"/>
          <p:cNvSpPr/>
          <p:nvPr/>
        </p:nvSpPr>
        <p:spPr>
          <a:xfrm>
            <a:off x="5562600" y="4495800"/>
            <a:ext cx="990600" cy="4572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1706" name="Text Box 26"/>
          <p:cNvSpPr txBox="1"/>
          <p:nvPr/>
        </p:nvSpPr>
        <p:spPr>
          <a:xfrm>
            <a:off x="3657600" y="4495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707" name="Text Box 27"/>
          <p:cNvSpPr txBox="1"/>
          <p:nvPr/>
        </p:nvSpPr>
        <p:spPr>
          <a:xfrm>
            <a:off x="6172200" y="4419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1708" name="Rectangle 28"/>
          <p:cNvSpPr/>
          <p:nvPr/>
        </p:nvSpPr>
        <p:spPr>
          <a:xfrm>
            <a:off x="7848600" y="4495800"/>
            <a:ext cx="4349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09" name="Rectangle 29"/>
          <p:cNvSpPr/>
          <p:nvPr/>
        </p:nvSpPr>
        <p:spPr>
          <a:xfrm>
            <a:off x="3276600" y="5943600"/>
            <a:ext cx="4349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0" name="Rectangle 30"/>
          <p:cNvSpPr/>
          <p:nvPr/>
        </p:nvSpPr>
        <p:spPr>
          <a:xfrm>
            <a:off x="6934200" y="5943600"/>
            <a:ext cx="4349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1" name="Rectangle 31"/>
          <p:cNvSpPr/>
          <p:nvPr/>
        </p:nvSpPr>
        <p:spPr>
          <a:xfrm>
            <a:off x="1981200" y="3124200"/>
            <a:ext cx="43497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2"/>
          <p:cNvSpPr/>
          <p:nvPr/>
        </p:nvSpPr>
        <p:spPr>
          <a:xfrm>
            <a:off x="1981200" y="4724400"/>
            <a:ext cx="4572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28674" name="Object 3"/>
          <p:cNvGraphicFramePr>
            <a:graphicFrameLocks noChangeAspect="1"/>
          </p:cNvGraphicFramePr>
          <p:nvPr/>
        </p:nvGraphicFramePr>
        <p:xfrm>
          <a:off x="1828800" y="685800"/>
          <a:ext cx="4418013" cy="2438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1" imgW="1548765" imgH="862965" progId="Equation.3">
                  <p:embed/>
                </p:oleObj>
              </mc:Choice>
              <mc:Fallback>
                <p:oleObj name="" r:id="rId1" imgW="1548765" imgH="862965" progId="Equation.3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28800" y="685800"/>
                        <a:ext cx="4418013" cy="2438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表格 28675"/>
          <p:cNvGraphicFramePr/>
          <p:nvPr/>
        </p:nvGraphicFramePr>
        <p:xfrm>
          <a:off x="304800" y="3810000"/>
          <a:ext cx="4495800" cy="2225675"/>
        </p:xfrm>
        <a:graphic>
          <a:graphicData uri="http://schemas.openxmlformats.org/drawingml/2006/table">
            <a:tbl>
              <a:tblPr/>
              <a:tblGrid>
                <a:gridCol w="495300"/>
                <a:gridCol w="571500"/>
                <a:gridCol w="571500"/>
                <a:gridCol w="571500"/>
                <a:gridCol w="571500"/>
                <a:gridCol w="571500"/>
                <a:gridCol w="571500"/>
                <a:gridCol w="57150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9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9/2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14/2</a:t>
                      </a:r>
                      <a:endParaRPr lang="en-US" altLang="zh-CN" sz="16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28731" name="表格 28730"/>
          <p:cNvGraphicFramePr/>
          <p:nvPr/>
        </p:nvGraphicFramePr>
        <p:xfrm>
          <a:off x="4800600" y="3810000"/>
          <a:ext cx="4114800" cy="2225675"/>
        </p:xfrm>
        <a:graphic>
          <a:graphicData uri="http://schemas.openxmlformats.org/drawingml/2006/table">
            <a:tbl>
              <a:tblPr/>
              <a:tblGrid>
                <a:gridCol w="519113"/>
                <a:gridCol w="547687"/>
                <a:gridCol w="650875"/>
                <a:gridCol w="600075"/>
                <a:gridCol w="598488"/>
                <a:gridCol w="600075"/>
                <a:gridCol w="598487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13/4</a:t>
                      </a:r>
                      <a:endParaRPr lang="en-US" altLang="zh-CN" sz="16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5/2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-59/4</a:t>
                      </a:r>
                      <a:endParaRPr lang="en-US" altLang="zh-CN" sz="16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4924" name="Line 108"/>
          <p:cNvSpPr/>
          <p:nvPr/>
        </p:nvSpPr>
        <p:spPr>
          <a:xfrm flipV="1">
            <a:off x="2362200" y="5715000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8781" name="Text Box 109"/>
          <p:cNvSpPr txBox="1"/>
          <p:nvPr/>
        </p:nvSpPr>
        <p:spPr>
          <a:xfrm>
            <a:off x="228600" y="3124200"/>
            <a:ext cx="8915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解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用单纯形法解对应的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问题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如表所示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获得最优解。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926" name="AutoShape 110"/>
          <p:cNvSpPr/>
          <p:nvPr/>
        </p:nvSpPr>
        <p:spPr>
          <a:xfrm>
            <a:off x="3657600" y="6019800"/>
            <a:ext cx="2514600" cy="457200"/>
          </a:xfrm>
          <a:prstGeom prst="curvedUpArrow">
            <a:avLst>
              <a:gd name="adj1" fmla="val 110000"/>
              <a:gd name="adj2" fmla="val 220000"/>
              <a:gd name="adj3" fmla="val 33333"/>
            </a:avLst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4927" name="Text Box 111"/>
          <p:cNvSpPr txBox="1"/>
          <p:nvPr/>
        </p:nvSpPr>
        <p:spPr>
          <a:xfrm>
            <a:off x="1905000" y="60960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初始表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4928" name="Text Box 112"/>
          <p:cNvSpPr txBox="1"/>
          <p:nvPr/>
        </p:nvSpPr>
        <p:spPr>
          <a:xfrm>
            <a:off x="6629400" y="6096000"/>
            <a:ext cx="12954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最终表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28785" name="Rectangle 113"/>
          <p:cNvSpPr>
            <a:spLocks noGrp="1"/>
          </p:cNvSpPr>
          <p:nvPr>
            <p:ph type="ctrTitle"/>
          </p:nvPr>
        </p:nvSpPr>
        <p:spPr>
          <a:xfrm>
            <a:off x="152400" y="228600"/>
            <a:ext cx="84582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000066"/>
                </a:solidFill>
                <a:ea typeface="楷体_GB2312" pitchFamily="49" charset="-122"/>
              </a:rPr>
              <a:t>例二、用分枝定界法求解整数规划问题（单纯形法）</a:t>
            </a:r>
            <a:br>
              <a:rPr lang="zh-CN" altLang="en-US" sz="2800" b="1" dirty="0">
                <a:solidFill>
                  <a:srgbClr val="000066"/>
                </a:solidFill>
                <a:ea typeface="楷体_GB2312" pitchFamily="49" charset="-122"/>
              </a:rPr>
            </a:br>
            <a:endParaRPr lang="zh-CN" altLang="en-US" sz="28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4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4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4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4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4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3" dur="500"/>
                                        <p:tgtEl>
                                          <p:spTgt spid="2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4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 animBg="1"/>
      <p:bldP spid="34926" grpId="0" animBg="1"/>
      <p:bldP spid="34927" grpId="0"/>
      <p:bldP spid="3492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700" name="Text Box 2"/>
          <p:cNvSpPr txBox="1"/>
          <p:nvPr/>
        </p:nvSpPr>
        <p:spPr>
          <a:xfrm>
            <a:off x="228600" y="601663"/>
            <a:ext cx="868680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13/4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5/2    Z</a:t>
            </a:r>
            <a:r>
              <a:rPr lang="en-US" altLang="zh-CN" sz="2800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=59/4≈14.75</a:t>
            </a:r>
            <a:endParaRPr lang="en-US" altLang="zh-CN" sz="2800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选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进行分枝，即增加两个约束，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≥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≥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有下式：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29698" name="Object 3"/>
          <p:cNvGraphicFramePr>
            <a:graphicFrameLocks noChangeAspect="1"/>
          </p:cNvGraphicFramePr>
          <p:nvPr/>
        </p:nvGraphicFramePr>
        <p:xfrm>
          <a:off x="228600" y="1905000"/>
          <a:ext cx="4343400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1" imgW="1587500" imgH="1041400" progId="Equation.3">
                  <p:embed/>
                </p:oleObj>
              </mc:Choice>
              <mc:Fallback>
                <p:oleObj name="" r:id="rId1" imgW="1587500" imgH="1041400" progId="Equation.3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1905000"/>
                        <a:ext cx="4343400" cy="2743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699" name="Object 4"/>
          <p:cNvGraphicFramePr>
            <a:graphicFrameLocks noChangeAspect="1"/>
          </p:cNvGraphicFramePr>
          <p:nvPr/>
        </p:nvGraphicFramePr>
        <p:xfrm>
          <a:off x="4519613" y="1958975"/>
          <a:ext cx="4448175" cy="276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3" imgW="1625600" imgH="1041400" progId="Equation.3">
                  <p:embed/>
                </p:oleObj>
              </mc:Choice>
              <mc:Fallback>
                <p:oleObj name="" r:id="rId3" imgW="1625600" imgH="1041400" progId="Equation.3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19613" y="1958975"/>
                        <a:ext cx="4448175" cy="2765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1" name="Text Box 5"/>
          <p:cNvSpPr txBox="1"/>
          <p:nvPr/>
        </p:nvSpPr>
        <p:spPr>
          <a:xfrm>
            <a:off x="228600" y="4973638"/>
            <a:ext cx="8686800" cy="137318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分别在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中引入松弛变量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，将新加约束条件加入上表计算。即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+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 2 , 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+x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6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zh-CN" altLang="en-US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得下表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: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2"/>
          <p:cNvSpPr/>
          <p:nvPr/>
        </p:nvSpPr>
        <p:spPr>
          <a:xfrm>
            <a:off x="3733800" y="2209800"/>
            <a:ext cx="6858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6867" name="Rectangle 3"/>
          <p:cNvSpPr/>
          <p:nvPr/>
        </p:nvSpPr>
        <p:spPr>
          <a:xfrm>
            <a:off x="5334000" y="3962400"/>
            <a:ext cx="6858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2708" name="表格 72707"/>
          <p:cNvGraphicFramePr/>
          <p:nvPr/>
        </p:nvGraphicFramePr>
        <p:xfrm>
          <a:off x="609600" y="381000"/>
          <a:ext cx="6248400" cy="2682875"/>
        </p:xfrm>
        <a:graphic>
          <a:graphicData uri="http://schemas.openxmlformats.org/drawingml/2006/table">
            <a:tbl>
              <a:tblPr/>
              <a:tblGrid>
                <a:gridCol w="687388"/>
                <a:gridCol w="725487"/>
                <a:gridCol w="863600"/>
                <a:gridCol w="795338"/>
                <a:gridCol w="793750"/>
                <a:gridCol w="795337"/>
                <a:gridCol w="793750"/>
                <a:gridCol w="7937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13/4</a:t>
                      </a:r>
                      <a:endParaRPr lang="en-US" altLang="zh-CN" sz="16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5/2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-59/4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772" name="表格 72771"/>
          <p:cNvGraphicFramePr/>
          <p:nvPr/>
        </p:nvGraphicFramePr>
        <p:xfrm>
          <a:off x="609600" y="3048000"/>
          <a:ext cx="6248400" cy="1768475"/>
        </p:xfrm>
        <a:graphic>
          <a:graphicData uri="http://schemas.openxmlformats.org/drawingml/2006/table">
            <a:tbl>
              <a:tblPr/>
              <a:tblGrid>
                <a:gridCol w="687388"/>
                <a:gridCol w="725487"/>
                <a:gridCol w="863600"/>
                <a:gridCol w="795338"/>
                <a:gridCol w="793750"/>
                <a:gridCol w="795337"/>
                <a:gridCol w="793750"/>
                <a:gridCol w="7937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13/4</a:t>
                      </a:r>
                      <a:endParaRPr lang="en-US" altLang="zh-CN" sz="16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5/2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1/2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-59/4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2818" name="表格 72817"/>
          <p:cNvGraphicFramePr/>
          <p:nvPr/>
        </p:nvGraphicFramePr>
        <p:xfrm>
          <a:off x="609600" y="4800600"/>
          <a:ext cx="6248400" cy="1768475"/>
        </p:xfrm>
        <a:graphic>
          <a:graphicData uri="http://schemas.openxmlformats.org/drawingml/2006/table">
            <a:tbl>
              <a:tblPr/>
              <a:tblGrid>
                <a:gridCol w="687388"/>
                <a:gridCol w="725487"/>
                <a:gridCol w="863600"/>
                <a:gridCol w="795338"/>
                <a:gridCol w="793750"/>
                <a:gridCol w="795337"/>
                <a:gridCol w="793750"/>
                <a:gridCol w="7937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7/2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-29/2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024" name="Line 160"/>
          <p:cNvSpPr/>
          <p:nvPr/>
        </p:nvSpPr>
        <p:spPr>
          <a:xfrm flipV="1">
            <a:off x="5943600" y="4419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7025" name="Text Box 161"/>
          <p:cNvSpPr txBox="1"/>
          <p:nvPr/>
        </p:nvSpPr>
        <p:spPr>
          <a:xfrm>
            <a:off x="6934200" y="4191000"/>
            <a:ext cx="2209800" cy="2273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</a:rPr>
              <a:t>=7/2,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</a:rPr>
              <a:t>=2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=29/2=14.5</a:t>
            </a:r>
            <a:endParaRPr lang="en-US" altLang="zh-CN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继续分枝，加入约束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≥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≥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lang="en-US" altLang="zh-CN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2866" name="Text Box 162"/>
          <p:cNvSpPr txBox="1"/>
          <p:nvPr/>
        </p:nvSpPr>
        <p:spPr>
          <a:xfrm>
            <a:off x="7108825" y="601663"/>
            <a:ext cx="8159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LP1</a:t>
            </a:r>
            <a:endParaRPr lang="en-US" altLang="zh-CN" sz="2800" i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027" name="Line 163"/>
          <p:cNvSpPr/>
          <p:nvPr/>
        </p:nvSpPr>
        <p:spPr>
          <a:xfrm>
            <a:off x="2209800" y="4343400"/>
            <a:ext cx="5334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72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7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7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 animBg="1"/>
      <p:bldP spid="36867" grpId="0" animBg="1"/>
      <p:bldP spid="370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/>
          <p:nvPr/>
        </p:nvSpPr>
        <p:spPr>
          <a:xfrm>
            <a:off x="3733800" y="2209800"/>
            <a:ext cx="6096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7891" name="Rectangle 3"/>
          <p:cNvSpPr/>
          <p:nvPr/>
        </p:nvSpPr>
        <p:spPr>
          <a:xfrm>
            <a:off x="4572000" y="3962400"/>
            <a:ext cx="6096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3732" name="表格 73731"/>
          <p:cNvGraphicFramePr/>
          <p:nvPr/>
        </p:nvGraphicFramePr>
        <p:xfrm>
          <a:off x="609600" y="381000"/>
          <a:ext cx="6248400" cy="2682875"/>
        </p:xfrm>
        <a:graphic>
          <a:graphicData uri="http://schemas.openxmlformats.org/drawingml/2006/table">
            <a:tbl>
              <a:tblPr/>
              <a:tblGrid>
                <a:gridCol w="687388"/>
                <a:gridCol w="725487"/>
                <a:gridCol w="863600"/>
                <a:gridCol w="795338"/>
                <a:gridCol w="793750"/>
                <a:gridCol w="795337"/>
                <a:gridCol w="793750"/>
                <a:gridCol w="7937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13/4</a:t>
                      </a:r>
                      <a:endParaRPr lang="en-US" altLang="zh-CN" sz="16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5/2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-59/4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1" marB="45731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3796" name="表格 73795"/>
          <p:cNvGraphicFramePr/>
          <p:nvPr/>
        </p:nvGraphicFramePr>
        <p:xfrm>
          <a:off x="609600" y="3048000"/>
          <a:ext cx="6248400" cy="1768475"/>
        </p:xfrm>
        <a:graphic>
          <a:graphicData uri="http://schemas.openxmlformats.org/drawingml/2006/table">
            <a:tbl>
              <a:tblPr/>
              <a:tblGrid>
                <a:gridCol w="687388"/>
                <a:gridCol w="725487"/>
                <a:gridCol w="863600"/>
                <a:gridCol w="795338"/>
                <a:gridCol w="793750"/>
                <a:gridCol w="795337"/>
                <a:gridCol w="793750"/>
                <a:gridCol w="7937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600" b="1" dirty="0">
                          <a:latin typeface="Times New Roman" panose="02020603050405020304" pitchFamily="18" charset="0"/>
                        </a:rPr>
                        <a:t>13/4</a:t>
                      </a:r>
                      <a:endParaRPr lang="en-US" altLang="zh-CN" sz="16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5/2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6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-1/2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-59/4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3842" name="表格 73841"/>
          <p:cNvGraphicFramePr/>
          <p:nvPr/>
        </p:nvGraphicFramePr>
        <p:xfrm>
          <a:off x="609600" y="4800600"/>
          <a:ext cx="6248400" cy="1768475"/>
        </p:xfrm>
        <a:graphic>
          <a:graphicData uri="http://schemas.openxmlformats.org/drawingml/2006/table">
            <a:tbl>
              <a:tblPr/>
              <a:tblGrid>
                <a:gridCol w="687388"/>
                <a:gridCol w="725487"/>
                <a:gridCol w="863600"/>
                <a:gridCol w="795338"/>
                <a:gridCol w="793750"/>
                <a:gridCol w="795337"/>
                <a:gridCol w="793750"/>
                <a:gridCol w="793750"/>
              </a:tblGrid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5/2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3/2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-27/2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-5/2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6" marB="45736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048" name="Line 160"/>
          <p:cNvSpPr/>
          <p:nvPr/>
        </p:nvSpPr>
        <p:spPr>
          <a:xfrm flipV="1">
            <a:off x="5105400" y="44196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3889" name="Text Box 161"/>
          <p:cNvSpPr txBox="1"/>
          <p:nvPr/>
        </p:nvSpPr>
        <p:spPr>
          <a:xfrm>
            <a:off x="7108825" y="601663"/>
            <a:ext cx="8159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LP2</a:t>
            </a:r>
            <a:endParaRPr lang="en-US" altLang="zh-CN" sz="2800" i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8050" name="Text Box 162"/>
          <p:cNvSpPr txBox="1"/>
          <p:nvPr/>
        </p:nvSpPr>
        <p:spPr>
          <a:xfrm>
            <a:off x="6934200" y="4572000"/>
            <a:ext cx="2209800" cy="1833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</a:rPr>
              <a:t>=5/2,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</a:rPr>
              <a:t>=3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=27/2=13.5</a:t>
            </a:r>
            <a:endParaRPr lang="en-US" altLang="zh-CN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∵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&lt; 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∴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先不考虑分枝</a:t>
            </a:r>
            <a:endParaRPr lang="zh-CN" altLang="en-US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8051" name="Line 163"/>
          <p:cNvSpPr/>
          <p:nvPr/>
        </p:nvSpPr>
        <p:spPr>
          <a:xfrm>
            <a:off x="2286000" y="4343400"/>
            <a:ext cx="3810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3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3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8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5" dur="500"/>
                                        <p:tgtEl>
                                          <p:spTgt spid="73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 animBg="1"/>
      <p:bldP spid="37891" grpId="0" animBg="1"/>
      <p:bldP spid="38050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4" name="Text Box 2"/>
          <p:cNvSpPr txBox="1"/>
          <p:nvPr/>
        </p:nvSpPr>
        <p:spPr>
          <a:xfrm>
            <a:off x="365125" y="249238"/>
            <a:ext cx="8550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接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LP1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继续分枝，加入约束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≤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有下式：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0722" name="Object 3"/>
          <p:cNvGraphicFramePr>
            <a:graphicFrameLocks noChangeAspect="1"/>
          </p:cNvGraphicFramePr>
          <p:nvPr/>
        </p:nvGraphicFramePr>
        <p:xfrm>
          <a:off x="193675" y="1219200"/>
          <a:ext cx="441325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1" imgW="1612900" imgH="1257300" progId="Equation.3">
                  <p:embed/>
                </p:oleObj>
              </mc:Choice>
              <mc:Fallback>
                <p:oleObj name="" r:id="rId1" imgW="1612900" imgH="1257300" progId="Equation.3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3675" y="1219200"/>
                        <a:ext cx="4413250" cy="335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4"/>
          <p:cNvGraphicFramePr>
            <a:graphicFrameLocks noChangeAspect="1"/>
          </p:cNvGraphicFramePr>
          <p:nvPr/>
        </p:nvGraphicFramePr>
        <p:xfrm>
          <a:off x="4443413" y="1219200"/>
          <a:ext cx="4448175" cy="327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" imgW="1625600" imgH="1257300" progId="Equation.3">
                  <p:embed/>
                </p:oleObj>
              </mc:Choice>
              <mc:Fallback>
                <p:oleObj name="" r:id="rId3" imgW="1625600" imgH="1257300" progId="Equation.3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43413" y="1219200"/>
                        <a:ext cx="4448175" cy="3276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Text Box 5"/>
          <p:cNvSpPr txBox="1"/>
          <p:nvPr/>
        </p:nvSpPr>
        <p:spPr>
          <a:xfrm>
            <a:off x="304800" y="5334000"/>
            <a:ext cx="861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分别引入松弛变量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7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和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8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，然后进行计算。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2"/>
          <p:cNvSpPr/>
          <p:nvPr/>
        </p:nvSpPr>
        <p:spPr>
          <a:xfrm>
            <a:off x="3962400" y="3810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4755" name="Rectangle 3"/>
          <p:cNvSpPr/>
          <p:nvPr/>
        </p:nvSpPr>
        <p:spPr>
          <a:xfrm>
            <a:off x="2438400" y="19812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4756" name="表格 74755"/>
          <p:cNvGraphicFramePr/>
          <p:nvPr/>
        </p:nvGraphicFramePr>
        <p:xfrm>
          <a:off x="228600" y="457200"/>
          <a:ext cx="6705600" cy="2225675"/>
        </p:xfrm>
        <a:graphic>
          <a:graphicData uri="http://schemas.openxmlformats.org/drawingml/2006/table">
            <a:tbl>
              <a:tblPr/>
              <a:tblGrid>
                <a:gridCol w="654050"/>
                <a:gridCol w="690563"/>
                <a:gridCol w="822325"/>
                <a:gridCol w="758825"/>
                <a:gridCol w="755650"/>
                <a:gridCol w="757237"/>
                <a:gridCol w="755650"/>
                <a:gridCol w="755650"/>
                <a:gridCol w="75565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sz="2000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sz="20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sz="2000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sz="20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lang="en-US" altLang="zh-CN" sz="20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7</a:t>
                      </a:r>
                      <a:endParaRPr lang="en-US" altLang="zh-CN" sz="20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7/2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7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-29/2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4827" name="表格 74826"/>
          <p:cNvGraphicFramePr/>
          <p:nvPr/>
        </p:nvGraphicFramePr>
        <p:xfrm>
          <a:off x="228600" y="2667000"/>
          <a:ext cx="6705600" cy="1828800"/>
        </p:xfrm>
        <a:graphic>
          <a:graphicData uri="http://schemas.openxmlformats.org/drawingml/2006/table">
            <a:tbl>
              <a:tblPr/>
              <a:tblGrid>
                <a:gridCol w="654050"/>
                <a:gridCol w="690563"/>
                <a:gridCol w="822325"/>
                <a:gridCol w="758825"/>
                <a:gridCol w="755650"/>
                <a:gridCol w="757237"/>
                <a:gridCol w="755650"/>
                <a:gridCol w="755650"/>
                <a:gridCol w="755650"/>
              </a:tblGrid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7/2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7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-29/2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4888" name="表格 74887"/>
          <p:cNvGraphicFramePr/>
          <p:nvPr/>
        </p:nvGraphicFramePr>
        <p:xfrm>
          <a:off x="228600" y="4495800"/>
          <a:ext cx="6705600" cy="1981200"/>
        </p:xfrm>
        <a:graphic>
          <a:graphicData uri="http://schemas.openxmlformats.org/drawingml/2006/table">
            <a:tbl>
              <a:tblPr/>
              <a:tblGrid>
                <a:gridCol w="654050"/>
                <a:gridCol w="690563"/>
                <a:gridCol w="822325"/>
                <a:gridCol w="758825"/>
                <a:gridCol w="755650"/>
                <a:gridCol w="757237"/>
                <a:gridCol w="755650"/>
                <a:gridCol w="755650"/>
                <a:gridCol w="75565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-3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4949" name="Line 197"/>
          <p:cNvSpPr/>
          <p:nvPr/>
        </p:nvSpPr>
        <p:spPr>
          <a:xfrm flipV="1">
            <a:off x="4572000" y="41910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4950" name="Text Box 198"/>
          <p:cNvSpPr txBox="1"/>
          <p:nvPr/>
        </p:nvSpPr>
        <p:spPr>
          <a:xfrm>
            <a:off x="6934200" y="3505200"/>
            <a:ext cx="1981200" cy="2235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</a:rPr>
              <a:t>=3,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</a:rPr>
              <a:t>=2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Z</a:t>
            </a:r>
            <a:r>
              <a:rPr lang="en-US" altLang="zh-CN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=13</a:t>
            </a:r>
            <a:endParaRPr lang="en-US" altLang="zh-CN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找到整数解，问题已探明，停止计算。</a:t>
            </a:r>
            <a:endParaRPr lang="zh-CN" altLang="en-US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4951" name="Text Box 199"/>
          <p:cNvSpPr txBox="1"/>
          <p:nvPr/>
        </p:nvSpPr>
        <p:spPr>
          <a:xfrm>
            <a:off x="7315200" y="762000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LP3</a:t>
            </a:r>
            <a:endParaRPr lang="en-US" altLang="zh-CN" sz="2800" i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/>
          <p:nvPr/>
        </p:nvSpPr>
        <p:spPr>
          <a:xfrm>
            <a:off x="5486400" y="38100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5779" name="Rectangle 3"/>
          <p:cNvSpPr/>
          <p:nvPr/>
        </p:nvSpPr>
        <p:spPr>
          <a:xfrm>
            <a:off x="2438400" y="1981200"/>
            <a:ext cx="609600" cy="3048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75780" name="表格 75779"/>
          <p:cNvGraphicFramePr/>
          <p:nvPr/>
        </p:nvGraphicFramePr>
        <p:xfrm>
          <a:off x="228600" y="457200"/>
          <a:ext cx="6705600" cy="2225675"/>
        </p:xfrm>
        <a:graphic>
          <a:graphicData uri="http://schemas.openxmlformats.org/drawingml/2006/table">
            <a:tbl>
              <a:tblPr/>
              <a:tblGrid>
                <a:gridCol w="654050"/>
                <a:gridCol w="690563"/>
                <a:gridCol w="822325"/>
                <a:gridCol w="758825"/>
                <a:gridCol w="755650"/>
                <a:gridCol w="757237"/>
                <a:gridCol w="755650"/>
                <a:gridCol w="755650"/>
                <a:gridCol w="75565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C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b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sz="2000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sz="20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sz="2000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sz="20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lang="en-US" altLang="zh-CN" sz="20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0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  <a:endParaRPr lang="en-US" altLang="zh-CN" sz="20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7/2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-4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-29/2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 marT="45733" marB="45733"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5851" name="表格 75850"/>
          <p:cNvGraphicFramePr/>
          <p:nvPr/>
        </p:nvGraphicFramePr>
        <p:xfrm>
          <a:off x="228600" y="2667000"/>
          <a:ext cx="6705600" cy="1828800"/>
        </p:xfrm>
        <a:graphic>
          <a:graphicData uri="http://schemas.openxmlformats.org/drawingml/2006/table">
            <a:tbl>
              <a:tblPr/>
              <a:tblGrid>
                <a:gridCol w="654050"/>
                <a:gridCol w="690563"/>
                <a:gridCol w="822325"/>
                <a:gridCol w="758825"/>
                <a:gridCol w="755650"/>
                <a:gridCol w="757237"/>
                <a:gridCol w="755650"/>
                <a:gridCol w="755650"/>
                <a:gridCol w="755650"/>
              </a:tblGrid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7/2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3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6712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-29/2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-3/2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-1/2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5912" name="表格 75911"/>
          <p:cNvGraphicFramePr/>
          <p:nvPr/>
        </p:nvGraphicFramePr>
        <p:xfrm>
          <a:off x="228600" y="4495800"/>
          <a:ext cx="6705600" cy="1981200"/>
        </p:xfrm>
        <a:graphic>
          <a:graphicData uri="http://schemas.openxmlformats.org/drawingml/2006/table">
            <a:tbl>
              <a:tblPr/>
              <a:tblGrid>
                <a:gridCol w="654050"/>
                <a:gridCol w="690563"/>
                <a:gridCol w="822325"/>
                <a:gridCol w="758825"/>
                <a:gridCol w="755650"/>
                <a:gridCol w="757237"/>
                <a:gridCol w="755650"/>
                <a:gridCol w="755650"/>
                <a:gridCol w="755650"/>
              </a:tblGrid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-3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-4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528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1800" b="1" i="1" baseline="-30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lang="en-US" altLang="zh-CN" sz="1800" b="1" i="1" baseline="-30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18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-14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-2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5973" name="Line 197"/>
          <p:cNvSpPr/>
          <p:nvPr/>
        </p:nvSpPr>
        <p:spPr>
          <a:xfrm flipV="1">
            <a:off x="6096000" y="4191000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75974" name="Text Box 198"/>
          <p:cNvSpPr txBox="1"/>
          <p:nvPr/>
        </p:nvSpPr>
        <p:spPr>
          <a:xfrm>
            <a:off x="6934200" y="3505200"/>
            <a:ext cx="1981200" cy="2235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20000"/>
              </a:spcBef>
            </a:pP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</a:rPr>
              <a:t>=4,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</a:rPr>
              <a:t>=1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</a:t>
            </a:r>
            <a:endParaRPr lang="en-US" altLang="zh-CN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Z</a:t>
            </a:r>
            <a:r>
              <a:rPr lang="en-US" altLang="zh-CN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(4)</a:t>
            </a:r>
            <a:r>
              <a:rPr lang="en-US" altLang="zh-CN" dirty="0">
                <a:solidFill>
                  <a:srgbClr val="990000"/>
                </a:solidFill>
                <a:latin typeface="Times New Roman" panose="02020603050405020304" pitchFamily="18" charset="0"/>
              </a:rPr>
              <a:t> =14</a:t>
            </a:r>
            <a:endParaRPr lang="en-US" altLang="zh-CN" dirty="0">
              <a:solidFill>
                <a:srgbClr val="99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找到整数解，问题已探明，停止计算。</a:t>
            </a:r>
            <a:endParaRPr lang="zh-CN" altLang="en-US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5975" name="Text Box 199"/>
          <p:cNvSpPr txBox="1"/>
          <p:nvPr/>
        </p:nvSpPr>
        <p:spPr>
          <a:xfrm>
            <a:off x="7315200" y="762000"/>
            <a:ext cx="8159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</a:rPr>
              <a:t>LP4</a:t>
            </a:r>
            <a:endParaRPr lang="en-US" altLang="zh-CN" sz="2800" i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Text Box 2"/>
          <p:cNvSpPr txBox="1"/>
          <p:nvPr/>
        </p:nvSpPr>
        <p:spPr>
          <a:xfrm>
            <a:off x="898525" y="296863"/>
            <a:ext cx="264160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32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树形图如下：</a:t>
            </a:r>
            <a:endParaRPr lang="zh-CN" altLang="en-US" sz="32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87" name="Rectangle 3"/>
          <p:cNvSpPr/>
          <p:nvPr/>
        </p:nvSpPr>
        <p:spPr>
          <a:xfrm>
            <a:off x="2667000" y="2667000"/>
            <a:ext cx="16764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LP1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=7/2,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29/2=14.5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88" name="Line 4"/>
          <p:cNvSpPr/>
          <p:nvPr/>
        </p:nvSpPr>
        <p:spPr>
          <a:xfrm>
            <a:off x="2667000" y="2971800"/>
            <a:ext cx="1676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89" name="Rectangle 5"/>
          <p:cNvSpPr/>
          <p:nvPr/>
        </p:nvSpPr>
        <p:spPr>
          <a:xfrm>
            <a:off x="3962400" y="1143000"/>
            <a:ext cx="19812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=13/4,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=5/2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59/4=14.75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90" name="Line 6"/>
          <p:cNvSpPr/>
          <p:nvPr/>
        </p:nvSpPr>
        <p:spPr>
          <a:xfrm>
            <a:off x="3962400" y="1447800"/>
            <a:ext cx="1981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1" name="Rectangle 7"/>
          <p:cNvSpPr/>
          <p:nvPr/>
        </p:nvSpPr>
        <p:spPr>
          <a:xfrm>
            <a:off x="5410200" y="2667000"/>
            <a:ext cx="16764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LP2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=5/2,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27/2=13.5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92" name="Line 8"/>
          <p:cNvSpPr/>
          <p:nvPr/>
        </p:nvSpPr>
        <p:spPr>
          <a:xfrm>
            <a:off x="5410200" y="2971800"/>
            <a:ext cx="1676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3" name="Rectangle 9"/>
          <p:cNvSpPr/>
          <p:nvPr/>
        </p:nvSpPr>
        <p:spPr>
          <a:xfrm>
            <a:off x="1524000" y="4267200"/>
            <a:ext cx="15240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LP3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94" name="Line 10"/>
          <p:cNvSpPr/>
          <p:nvPr/>
        </p:nvSpPr>
        <p:spPr>
          <a:xfrm>
            <a:off x="1524000" y="4572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5" name="Rectangle 11"/>
          <p:cNvSpPr/>
          <p:nvPr/>
        </p:nvSpPr>
        <p:spPr>
          <a:xfrm>
            <a:off x="3962400" y="4267200"/>
            <a:ext cx="15240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LP4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=4,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(4)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14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1996" name="Line 12"/>
          <p:cNvSpPr/>
          <p:nvPr/>
        </p:nvSpPr>
        <p:spPr>
          <a:xfrm>
            <a:off x="3962400" y="4572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1997" name="Line 13"/>
          <p:cNvSpPr/>
          <p:nvPr/>
        </p:nvSpPr>
        <p:spPr>
          <a:xfrm flipH="1">
            <a:off x="3657600" y="2133600"/>
            <a:ext cx="914400" cy="533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98" name="Line 14"/>
          <p:cNvSpPr/>
          <p:nvPr/>
        </p:nvSpPr>
        <p:spPr>
          <a:xfrm>
            <a:off x="5334000" y="2133600"/>
            <a:ext cx="838200" cy="5334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1999" name="Text Box 15"/>
          <p:cNvSpPr txBox="1"/>
          <p:nvPr/>
        </p:nvSpPr>
        <p:spPr>
          <a:xfrm>
            <a:off x="3200400" y="2133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000" name="Text Box 16"/>
          <p:cNvSpPr txBox="1"/>
          <p:nvPr/>
        </p:nvSpPr>
        <p:spPr>
          <a:xfrm>
            <a:off x="5943600" y="2133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001" name="Line 17"/>
          <p:cNvSpPr/>
          <p:nvPr/>
        </p:nvSpPr>
        <p:spPr>
          <a:xfrm flipH="1">
            <a:off x="2286000" y="3657600"/>
            <a:ext cx="91440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02" name="Line 18"/>
          <p:cNvSpPr/>
          <p:nvPr/>
        </p:nvSpPr>
        <p:spPr>
          <a:xfrm>
            <a:off x="3886200" y="3657600"/>
            <a:ext cx="838200" cy="6096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2003" name="Text Box 19"/>
          <p:cNvSpPr txBox="1"/>
          <p:nvPr/>
        </p:nvSpPr>
        <p:spPr>
          <a:xfrm>
            <a:off x="2057400" y="3657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004" name="Text Box 20"/>
          <p:cNvSpPr txBox="1"/>
          <p:nvPr/>
        </p:nvSpPr>
        <p:spPr>
          <a:xfrm>
            <a:off x="4267200" y="3657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≥4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2005" name="Rectangle 21"/>
          <p:cNvSpPr/>
          <p:nvPr/>
        </p:nvSpPr>
        <p:spPr>
          <a:xfrm>
            <a:off x="6705600" y="36576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6" name="Rectangle 22"/>
          <p:cNvSpPr/>
          <p:nvPr/>
        </p:nvSpPr>
        <p:spPr>
          <a:xfrm>
            <a:off x="5029200" y="5257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007" name="Rectangle 23"/>
          <p:cNvSpPr/>
          <p:nvPr/>
        </p:nvSpPr>
        <p:spPr>
          <a:xfrm>
            <a:off x="1524000" y="5257800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1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1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1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1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2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4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4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42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4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41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500"/>
                                        <p:tgtEl>
                                          <p:spTgt spid="419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2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42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41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41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42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42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2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nimBg="1"/>
      <p:bldP spid="41989" grpId="0" animBg="1"/>
      <p:bldP spid="41991" grpId="0" animBg="1"/>
      <p:bldP spid="41993" grpId="0" animBg="1"/>
      <p:bldP spid="41995" grpId="0" animBg="1"/>
      <p:bldP spid="41999" grpId="0"/>
      <p:bldP spid="42000" grpId="0"/>
      <p:bldP spid="42003" grpId="0"/>
      <p:bldP spid="42004" grpId="0"/>
      <p:bldP spid="42005" grpId="0"/>
      <p:bldP spid="42006" grpId="0"/>
      <p:bldP spid="4200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1746" name="Object 2"/>
          <p:cNvGraphicFramePr>
            <a:graphicFrameLocks noChangeAspect="1"/>
          </p:cNvGraphicFramePr>
          <p:nvPr/>
        </p:nvGraphicFramePr>
        <p:xfrm>
          <a:off x="1600200" y="2133600"/>
          <a:ext cx="5181600" cy="341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1498600" imgH="1181100" progId="Equation.3">
                  <p:embed/>
                </p:oleObj>
              </mc:Choice>
              <mc:Fallback>
                <p:oleObj name="" r:id="rId1" imgW="1498600" imgH="1181100" progId="Equation.3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00200" y="2133600"/>
                        <a:ext cx="5181600" cy="341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7" name="Rectangle 3"/>
          <p:cNvSpPr>
            <a:spLocks noGrp="1"/>
          </p:cNvSpPr>
          <p:nvPr>
            <p:ph type="ctrTitle"/>
          </p:nvPr>
        </p:nvSpPr>
        <p:spPr>
          <a:xfrm>
            <a:off x="685800" y="10668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3200" b="1" dirty="0">
                <a:solidFill>
                  <a:srgbClr val="000066"/>
                </a:solidFill>
                <a:ea typeface="楷体_GB2312" pitchFamily="49" charset="-122"/>
              </a:rPr>
              <a:t>练习：用分枝定界法求解整数规划问题</a:t>
            </a:r>
            <a:br>
              <a:rPr lang="zh-CN" altLang="en-US" sz="3200" b="1" dirty="0">
                <a:solidFill>
                  <a:srgbClr val="000066"/>
                </a:solidFill>
                <a:ea typeface="楷体_GB2312" pitchFamily="49" charset="-122"/>
              </a:rPr>
            </a:br>
            <a:r>
              <a:rPr lang="zh-CN" altLang="en-US" sz="3200" b="1" dirty="0">
                <a:solidFill>
                  <a:srgbClr val="000066"/>
                </a:solidFill>
                <a:ea typeface="楷体_GB2312" pitchFamily="49" charset="-122"/>
              </a:rPr>
              <a:t>       （单纯形法）</a:t>
            </a:r>
            <a:endParaRPr lang="zh-CN" altLang="en-US" sz="32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77826" name="表格 77825"/>
          <p:cNvGraphicFramePr/>
          <p:nvPr/>
        </p:nvGraphicFramePr>
        <p:xfrm>
          <a:off x="1150938" y="542925"/>
          <a:ext cx="6207125" cy="2743200"/>
        </p:xfrm>
        <a:graphic>
          <a:graphicData uri="http://schemas.openxmlformats.org/drawingml/2006/table">
            <a:tbl>
              <a:tblPr/>
              <a:tblGrid>
                <a:gridCol w="774700"/>
                <a:gridCol w="776288"/>
                <a:gridCol w="776287"/>
                <a:gridCol w="774700"/>
                <a:gridCol w="776288"/>
                <a:gridCol w="777875"/>
                <a:gridCol w="776287"/>
                <a:gridCol w="774700"/>
              </a:tblGrid>
              <a:tr h="457200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30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6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77888" name="表格 77887"/>
          <p:cNvGraphicFramePr/>
          <p:nvPr/>
        </p:nvGraphicFramePr>
        <p:xfrm>
          <a:off x="1223963" y="3643313"/>
          <a:ext cx="6134100" cy="2743200"/>
        </p:xfrm>
        <a:graphic>
          <a:graphicData uri="http://schemas.openxmlformats.org/drawingml/2006/table">
            <a:tbl>
              <a:tblPr/>
              <a:tblGrid>
                <a:gridCol w="628650"/>
                <a:gridCol w="628650"/>
                <a:gridCol w="1028700"/>
                <a:gridCol w="762000"/>
                <a:gridCol w="682625"/>
                <a:gridCol w="803275"/>
                <a:gridCol w="800100"/>
                <a:gridCol w="800100"/>
              </a:tblGrid>
              <a:tr h="457200">
                <a:tc gridSpan="3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j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c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b</a:t>
                      </a:r>
                      <a:endParaRPr lang="en-US" altLang="zh-CN" b="1" i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3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4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-5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2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40/11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1/11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5/11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-1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 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18/11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1/11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-6/11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x</a:t>
                      </a:r>
                      <a:r>
                        <a:rPr lang="en-US" altLang="zh-CN" b="1" i="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5</a:t>
                      </a:r>
                      <a:endParaRPr lang="en-US" altLang="zh-CN" b="1" i="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26/11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-1/11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6/11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 grid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</a:rPr>
                        <a:t>-Z</a:t>
                      </a:r>
                      <a:endParaRPr lang="en-US" altLang="zh-CN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218/11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6/11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</a:rPr>
                        <a:t>19/11</a:t>
                      </a:r>
                      <a:endParaRPr lang="en-US" altLang="zh-CN" sz="2000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b="1" dirty="0">
                          <a:latin typeface="Times New Roman" panose="02020603050405020304" pitchFamily="18" charset="0"/>
                        </a:rPr>
                        <a:t>0</a:t>
                      </a:r>
                      <a:endParaRPr lang="en-US" altLang="zh-CN" b="1" dirty="0">
                        <a:latin typeface="Times New Roman" panose="02020603050405020304" pitchFamily="18" charset="0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8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7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7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/>
          <p:nvPr/>
        </p:nvSpPr>
        <p:spPr>
          <a:xfrm>
            <a:off x="2514600" y="1981200"/>
            <a:ext cx="15240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LP1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16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35" name="Line 3"/>
          <p:cNvSpPr/>
          <p:nvPr/>
        </p:nvSpPr>
        <p:spPr>
          <a:xfrm>
            <a:off x="2514600" y="2286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6" name="Rectangle 4"/>
          <p:cNvSpPr/>
          <p:nvPr/>
        </p:nvSpPr>
        <p:spPr>
          <a:xfrm>
            <a:off x="3352800" y="457200"/>
            <a:ext cx="22860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=18/11,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=40/11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(0)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19.8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37" name="Line 5"/>
          <p:cNvSpPr/>
          <p:nvPr/>
        </p:nvSpPr>
        <p:spPr>
          <a:xfrm>
            <a:off x="3352800" y="762000"/>
            <a:ext cx="2286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8" name="Rectangle 6"/>
          <p:cNvSpPr/>
          <p:nvPr/>
        </p:nvSpPr>
        <p:spPr>
          <a:xfrm>
            <a:off x="5105400" y="1981200"/>
            <a:ext cx="15240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LP2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=10/3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18.5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39" name="Line 7"/>
          <p:cNvSpPr/>
          <p:nvPr/>
        </p:nvSpPr>
        <p:spPr>
          <a:xfrm>
            <a:off x="5105400" y="2286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0" name="Rectangle 8"/>
          <p:cNvSpPr/>
          <p:nvPr/>
        </p:nvSpPr>
        <p:spPr>
          <a:xfrm>
            <a:off x="3886200" y="3581400"/>
            <a:ext cx="15240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LP3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=12/5,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17.4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41" name="Line 9"/>
          <p:cNvSpPr/>
          <p:nvPr/>
        </p:nvSpPr>
        <p:spPr>
          <a:xfrm>
            <a:off x="3886200" y="38862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2" name="Rectangle 10"/>
          <p:cNvSpPr/>
          <p:nvPr/>
        </p:nvSpPr>
        <p:spPr>
          <a:xfrm>
            <a:off x="6324600" y="3581400"/>
            <a:ext cx="15240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LP4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无可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行解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43" name="Line 11"/>
          <p:cNvSpPr/>
          <p:nvPr/>
        </p:nvSpPr>
        <p:spPr>
          <a:xfrm>
            <a:off x="6324600" y="38862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4" name="Rectangle 12"/>
          <p:cNvSpPr/>
          <p:nvPr/>
        </p:nvSpPr>
        <p:spPr>
          <a:xfrm>
            <a:off x="2514600" y="5029200"/>
            <a:ext cx="15240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LP5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=2,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(5)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17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45" name="Line 13"/>
          <p:cNvSpPr/>
          <p:nvPr/>
        </p:nvSpPr>
        <p:spPr>
          <a:xfrm>
            <a:off x="2514600" y="5334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6" name="Rectangle 14"/>
          <p:cNvSpPr/>
          <p:nvPr/>
        </p:nvSpPr>
        <p:spPr>
          <a:xfrm>
            <a:off x="5105400" y="5029200"/>
            <a:ext cx="1524000" cy="9906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000" b="1" i="1" dirty="0">
                <a:latin typeface="Times New Roman" panose="02020603050405020304" pitchFamily="18" charset="0"/>
              </a:rPr>
              <a:t>LP6</a:t>
            </a:r>
            <a:endParaRPr lang="en-US" altLang="zh-CN" sz="2000" b="1" i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=3, </a:t>
            </a:r>
            <a:r>
              <a:rPr lang="en-US" altLang="zh-CN" sz="20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=5/2</a:t>
            </a:r>
            <a:endParaRPr lang="en-US" altLang="zh-CN" sz="20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ctr" eaLnBrk="1" hangingPunct="1"/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0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(6)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＝－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15.5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47" name="Line 15"/>
          <p:cNvSpPr/>
          <p:nvPr/>
        </p:nvSpPr>
        <p:spPr>
          <a:xfrm>
            <a:off x="5105400" y="5334000"/>
            <a:ext cx="1524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8" name="Line 16"/>
          <p:cNvSpPr/>
          <p:nvPr/>
        </p:nvSpPr>
        <p:spPr>
          <a:xfrm flipH="1">
            <a:off x="3352800" y="1447800"/>
            <a:ext cx="9144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49" name="Line 17"/>
          <p:cNvSpPr/>
          <p:nvPr/>
        </p:nvSpPr>
        <p:spPr>
          <a:xfrm>
            <a:off x="5029200" y="1447800"/>
            <a:ext cx="838200" cy="5334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50" name="Text Box 18"/>
          <p:cNvSpPr txBox="1"/>
          <p:nvPr/>
        </p:nvSpPr>
        <p:spPr>
          <a:xfrm>
            <a:off x="2895600" y="1447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≤1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51" name="Text Box 19"/>
          <p:cNvSpPr txBox="1"/>
          <p:nvPr/>
        </p:nvSpPr>
        <p:spPr>
          <a:xfrm>
            <a:off x="5638800" y="1447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52" name="Line 20"/>
          <p:cNvSpPr/>
          <p:nvPr/>
        </p:nvSpPr>
        <p:spPr>
          <a:xfrm flipH="1">
            <a:off x="4648200" y="2971800"/>
            <a:ext cx="914400" cy="6096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53" name="Line 21"/>
          <p:cNvSpPr/>
          <p:nvPr/>
        </p:nvSpPr>
        <p:spPr>
          <a:xfrm>
            <a:off x="6248400" y="2971800"/>
            <a:ext cx="838200" cy="6096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54" name="Text Box 22"/>
          <p:cNvSpPr txBox="1"/>
          <p:nvPr/>
        </p:nvSpPr>
        <p:spPr>
          <a:xfrm>
            <a:off x="4419600" y="2971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55" name="Text Box 23"/>
          <p:cNvSpPr txBox="1"/>
          <p:nvPr/>
        </p:nvSpPr>
        <p:spPr>
          <a:xfrm>
            <a:off x="6629400" y="2971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≥4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56" name="Line 24"/>
          <p:cNvSpPr/>
          <p:nvPr/>
        </p:nvSpPr>
        <p:spPr>
          <a:xfrm flipH="1">
            <a:off x="3276600" y="4572000"/>
            <a:ext cx="1066800" cy="4572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57" name="Line 25"/>
          <p:cNvSpPr/>
          <p:nvPr/>
        </p:nvSpPr>
        <p:spPr>
          <a:xfrm>
            <a:off x="4953000" y="4572000"/>
            <a:ext cx="914400" cy="457200"/>
          </a:xfrm>
          <a:prstGeom prst="line">
            <a:avLst/>
          </a:prstGeom>
          <a:ln w="9525" cap="flat" cmpd="sng">
            <a:solidFill>
              <a:srgbClr val="000066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58" name="Text Box 26"/>
          <p:cNvSpPr txBox="1"/>
          <p:nvPr/>
        </p:nvSpPr>
        <p:spPr>
          <a:xfrm>
            <a:off x="3048000" y="44196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≤2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59" name="Text Box 27"/>
          <p:cNvSpPr txBox="1"/>
          <p:nvPr/>
        </p:nvSpPr>
        <p:spPr>
          <a:xfrm>
            <a:off x="5486400" y="4495800"/>
            <a:ext cx="8540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0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0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0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≥3</a:t>
            </a:r>
            <a:endParaRPr lang="en-US" altLang="zh-CN" sz="20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60" name="Rectangle 28"/>
          <p:cNvSpPr/>
          <p:nvPr/>
        </p:nvSpPr>
        <p:spPr>
          <a:xfrm>
            <a:off x="3581400" y="29638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1" name="Rectangle 29"/>
          <p:cNvSpPr/>
          <p:nvPr/>
        </p:nvSpPr>
        <p:spPr>
          <a:xfrm>
            <a:off x="7467600" y="45640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2" name="Rectangle 30"/>
          <p:cNvSpPr/>
          <p:nvPr/>
        </p:nvSpPr>
        <p:spPr>
          <a:xfrm>
            <a:off x="3581400" y="60118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63" name="Rectangle 31"/>
          <p:cNvSpPr/>
          <p:nvPr/>
        </p:nvSpPr>
        <p:spPr>
          <a:xfrm>
            <a:off x="6172200" y="6011863"/>
            <a:ext cx="438150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000" b="1" dirty="0">
                <a:solidFill>
                  <a:srgbClr val="000066"/>
                </a:solidFill>
                <a:latin typeface="Times New Roman" panose="02020603050405020304" pitchFamily="18" charset="0"/>
              </a:rPr>
              <a:t>＃</a:t>
            </a:r>
            <a:endParaRPr lang="zh-CN" altLang="en-US" sz="20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4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4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40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4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44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4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4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44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44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44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4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44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3" dur="500"/>
                                        <p:tgtEl>
                                          <p:spTgt spid="44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44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4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44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1" dur="500"/>
                                        <p:tgtEl>
                                          <p:spTgt spid="44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5" dur="500"/>
                                        <p:tgtEl>
                                          <p:spTgt spid="44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44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44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0" dur="500"/>
                                        <p:tgtEl>
                                          <p:spTgt spid="44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5" dur="500"/>
                                        <p:tgtEl>
                                          <p:spTgt spid="44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44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500"/>
                            </p:stCondLst>
                            <p:childTnLst>
                              <p:par>
                                <p:cTn id="12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4" dur="500"/>
                                        <p:tgtEl>
                                          <p:spTgt spid="44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500"/>
                                        <p:tgtEl>
                                          <p:spTgt spid="44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3" dur="500"/>
                                        <p:tgtEl>
                                          <p:spTgt spid="44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500"/>
                            </p:stCondLst>
                            <p:childTnLst>
                              <p:par>
                                <p:cTn id="13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7" dur="500"/>
                                        <p:tgtEl>
                                          <p:spTgt spid="44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1" dur="500"/>
                                        <p:tgtEl>
                                          <p:spTgt spid="44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 animBg="1"/>
      <p:bldP spid="44036" grpId="0" animBg="1"/>
      <p:bldP spid="44038" grpId="0" animBg="1"/>
      <p:bldP spid="44040" grpId="0" animBg="1"/>
      <p:bldP spid="44042" grpId="0" animBg="1"/>
      <p:bldP spid="44044" grpId="0" animBg="1"/>
      <p:bldP spid="44046" grpId="0" animBg="1"/>
      <p:bldP spid="44050" grpId="0"/>
      <p:bldP spid="44051" grpId="0"/>
      <p:bldP spid="44054" grpId="0"/>
      <p:bldP spid="44055" grpId="0"/>
      <p:bldP spid="44058" grpId="0"/>
      <p:bldP spid="44059" grpId="0"/>
      <p:bldP spid="44060" grpId="0"/>
      <p:bldP spid="44061" grpId="0"/>
      <p:bldP spid="44062" grpId="0"/>
      <p:bldP spid="4406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Text Box 2"/>
          <p:cNvSpPr txBox="1"/>
          <p:nvPr/>
        </p:nvSpPr>
        <p:spPr>
          <a:xfrm>
            <a:off x="228600" y="1143000"/>
            <a:ext cx="86106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整数规划是一种特殊形式的整数规划，这时的决策变量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只取两个值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或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，一般的解法为隐枚举法。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58371" name="Text Box 3"/>
          <p:cNvSpPr txBox="1"/>
          <p:nvPr/>
        </p:nvSpPr>
        <p:spPr>
          <a:xfrm>
            <a:off x="533400" y="2232025"/>
            <a:ext cx="4933950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例一、求解下列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规划问题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58372" name="Object 4"/>
          <p:cNvGraphicFramePr>
            <a:graphicFrameLocks noChangeAspect="1"/>
          </p:cNvGraphicFramePr>
          <p:nvPr/>
        </p:nvGraphicFramePr>
        <p:xfrm>
          <a:off x="1903413" y="2819400"/>
          <a:ext cx="4649787" cy="379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5" name="" r:id="rId1" imgW="1574800" imgH="1422400" progId="Equation.3">
                  <p:embed/>
                </p:oleObj>
              </mc:Choice>
              <mc:Fallback>
                <p:oleObj name="" r:id="rId1" imgW="1574800" imgH="1422400" progId="Equation.3">
                  <p:embed/>
                  <p:pic>
                    <p:nvPicPr>
                      <p:cNvPr id="0" name="图片 31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03413" y="2819400"/>
                        <a:ext cx="4649787" cy="3797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3" name="Rectangle 5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7620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rgbClr val="663300"/>
                </a:solidFill>
                <a:latin typeface="楷体_GB2312" pitchFamily="49" charset="-122"/>
                <a:ea typeface="楷体_GB2312" pitchFamily="49" charset="-122"/>
              </a:rPr>
              <a:t>四、</a:t>
            </a:r>
            <a:r>
              <a:rPr lang="en-US" altLang="zh-CN" sz="3600" b="1" dirty="0">
                <a:solidFill>
                  <a:srgbClr val="663300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3600" b="1" dirty="0">
                <a:solidFill>
                  <a:srgbClr val="663300"/>
                </a:solidFill>
                <a:latin typeface="楷体_GB2312" pitchFamily="49" charset="-122"/>
                <a:ea typeface="楷体_GB2312" pitchFamily="49" charset="-122"/>
              </a:rPr>
              <a:t>－</a:t>
            </a:r>
            <a:r>
              <a:rPr lang="en-US" altLang="zh-CN" sz="3600" b="1" dirty="0">
                <a:solidFill>
                  <a:srgbClr val="663300"/>
                </a:solidFill>
                <a:latin typeface="楷体_GB2312" pitchFamily="49" charset="-122"/>
                <a:ea typeface="楷体_GB2312" pitchFamily="49" charset="-122"/>
              </a:rPr>
              <a:t>1 </a:t>
            </a:r>
            <a:r>
              <a:rPr lang="zh-CN" altLang="en-US" sz="3600" b="1" dirty="0">
                <a:solidFill>
                  <a:srgbClr val="663300"/>
                </a:solidFill>
                <a:latin typeface="楷体_GB2312" pitchFamily="49" charset="-122"/>
                <a:ea typeface="楷体_GB2312" pitchFamily="49" charset="-122"/>
              </a:rPr>
              <a:t>整数规划</a:t>
            </a:r>
            <a:endParaRPr lang="zh-CN" altLang="en-US" sz="3600" b="1" dirty="0">
              <a:solidFill>
                <a:srgbClr val="6633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58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8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/>
      <p:bldP spid="5837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2"/>
          <p:cNvSpPr/>
          <p:nvPr/>
        </p:nvSpPr>
        <p:spPr>
          <a:xfrm>
            <a:off x="228600" y="5410200"/>
            <a:ext cx="86868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395" name="Rectangle 3"/>
          <p:cNvSpPr/>
          <p:nvPr/>
        </p:nvSpPr>
        <p:spPr>
          <a:xfrm>
            <a:off x="228600" y="6248400"/>
            <a:ext cx="8686800" cy="3810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396" name="Rectangle 4"/>
          <p:cNvSpPr/>
          <p:nvPr/>
        </p:nvSpPr>
        <p:spPr>
          <a:xfrm>
            <a:off x="228600" y="58674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397" name="Rectangle 5"/>
          <p:cNvSpPr/>
          <p:nvPr/>
        </p:nvSpPr>
        <p:spPr>
          <a:xfrm>
            <a:off x="228600" y="5410200"/>
            <a:ext cx="8686800" cy="4572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398" name="Rectangle 6"/>
          <p:cNvSpPr/>
          <p:nvPr/>
        </p:nvSpPr>
        <p:spPr>
          <a:xfrm>
            <a:off x="228600" y="49530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399" name="Rectangle 7"/>
          <p:cNvSpPr/>
          <p:nvPr/>
        </p:nvSpPr>
        <p:spPr>
          <a:xfrm>
            <a:off x="228600" y="4572000"/>
            <a:ext cx="8686800" cy="4572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400" name="Rectangle 8"/>
          <p:cNvSpPr/>
          <p:nvPr/>
        </p:nvSpPr>
        <p:spPr>
          <a:xfrm>
            <a:off x="228600" y="41148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401" name="Rectangle 9"/>
          <p:cNvSpPr/>
          <p:nvPr/>
        </p:nvSpPr>
        <p:spPr>
          <a:xfrm>
            <a:off x="228600" y="3733800"/>
            <a:ext cx="8686800" cy="3810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402" name="Rectangle 10"/>
          <p:cNvSpPr/>
          <p:nvPr/>
        </p:nvSpPr>
        <p:spPr>
          <a:xfrm>
            <a:off x="228600" y="32766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9403" name="Text Box 11"/>
          <p:cNvSpPr txBox="1"/>
          <p:nvPr/>
        </p:nvSpPr>
        <p:spPr>
          <a:xfrm>
            <a:off x="228600" y="228600"/>
            <a:ext cx="8686800" cy="2227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200" b="1" dirty="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解：对于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规划问题，由于每个变量只取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两个值，一般会用穷举法来解，即将所有的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组合找出，使目标函数达到极值要求就可求得最优解。但此法太繁琐，工作量相当大。而隐枚举法就是在此基础上，通过加入一定的条件，就能较快的求得最优解。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9884" name="表格 79883"/>
          <p:cNvGraphicFramePr/>
          <p:nvPr/>
        </p:nvGraphicFramePr>
        <p:xfrm>
          <a:off x="228600" y="2438400"/>
          <a:ext cx="8686800" cy="4267200"/>
        </p:xfrm>
        <a:graphic>
          <a:graphicData uri="http://schemas.openxmlformats.org/drawingml/2006/table">
            <a:tbl>
              <a:tblPr/>
              <a:tblGrid>
                <a:gridCol w="2171700"/>
                <a:gridCol w="3695700"/>
                <a:gridCol w="1676400"/>
                <a:gridCol w="1143000"/>
              </a:tblGrid>
              <a:tr h="457200"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 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.  x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.  x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sz="2800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约束条件</a:t>
                      </a:r>
                      <a:endParaRPr lang="zh-CN" altLang="en-US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满足条件</a:t>
                      </a:r>
                      <a:endParaRPr lang="zh-CN" altLang="en-US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Z </a:t>
                      </a: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值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vMerge="1"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(1)        (2)       (3)       (4)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是∨     否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0.    0 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0         0         0        0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∨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0.     1 )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</a:t>
                      </a:r>
                      <a:r>
                        <a:rPr lang="zh-CN" altLang="en-US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－</a:t>
                      </a: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1       1         0        1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∨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1. 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2         4         1        4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∨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－</a:t>
                      </a: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( 1.     0. 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1         1         1        0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∨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1.     1 )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1         5	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( 1.     0.     1 )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0         2         1        1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∨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( 1.     1. 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3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( 1.     1.     1 )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2         6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3">
                                            <p:txEl>
                                              <p:charRg st="0" end="1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403">
                                            <p:txEl>
                                              <p:charRg st="0" end="1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59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940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93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5939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7" dur="500"/>
                                        <p:tgtEl>
                                          <p:spTgt spid="5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4" grpId="0" animBg="1"/>
      <p:bldP spid="59395" grpId="0" animBg="1"/>
      <p:bldP spid="59396" grpId="0" animBg="1"/>
      <p:bldP spid="59397" grpId="0" animBg="1"/>
      <p:bldP spid="59398" grpId="0" animBg="1"/>
      <p:bldP spid="59399" grpId="0" animBg="1"/>
      <p:bldP spid="59400" grpId="0" animBg="1"/>
      <p:bldP spid="59401" grpId="0" animBg="1"/>
      <p:bldP spid="59402" grpId="0" animBg="1"/>
      <p:bldP spid="5940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/>
          <p:nvPr/>
        </p:nvSpPr>
        <p:spPr>
          <a:xfrm>
            <a:off x="228600" y="3048000"/>
            <a:ext cx="8686800" cy="45720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0419" name="Rectangle 3"/>
          <p:cNvSpPr/>
          <p:nvPr/>
        </p:nvSpPr>
        <p:spPr>
          <a:xfrm>
            <a:off x="228600" y="5181600"/>
            <a:ext cx="8686800" cy="457200"/>
          </a:xfrm>
          <a:prstGeom prst="rect">
            <a:avLst/>
          </a:prstGeom>
          <a:solidFill>
            <a:srgbClr val="F7E2C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0420" name="Rectangle 4"/>
          <p:cNvSpPr/>
          <p:nvPr/>
        </p:nvSpPr>
        <p:spPr>
          <a:xfrm>
            <a:off x="228600" y="3505200"/>
            <a:ext cx="8686800" cy="3810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0901" name="Text Box 5"/>
          <p:cNvSpPr txBox="1"/>
          <p:nvPr/>
        </p:nvSpPr>
        <p:spPr>
          <a:xfrm>
            <a:off x="228600" y="328613"/>
            <a:ext cx="86868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由上表可知，问题的最优解为 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X*=(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x</a:t>
            </a:r>
            <a:r>
              <a:rPr lang="en-US" altLang="zh-CN" sz="2800" i="1" baseline="-25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x</a:t>
            </a:r>
            <a:r>
              <a:rPr lang="en-US" altLang="zh-CN" sz="2800" i="1" baseline="-25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endParaRPr lang="en-US" altLang="zh-CN" sz="2800" b="1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由上表可知：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是一个可行解，为尽快找到最优解，可将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zh-CN" altLang="en-US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＋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5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≥5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作为一个约束，凡是目标函数值小于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5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的组合不必讨论，如下表。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80902" name="表格 80901"/>
          <p:cNvGraphicFramePr/>
          <p:nvPr/>
        </p:nvGraphicFramePr>
        <p:xfrm>
          <a:off x="228600" y="2209800"/>
          <a:ext cx="8686800" cy="4267200"/>
        </p:xfrm>
        <a:graphic>
          <a:graphicData uri="http://schemas.openxmlformats.org/drawingml/2006/table">
            <a:tbl>
              <a:tblPr/>
              <a:tblGrid>
                <a:gridCol w="2171700"/>
                <a:gridCol w="3695700"/>
                <a:gridCol w="1676400"/>
                <a:gridCol w="1143000"/>
              </a:tblGrid>
              <a:tr h="457200"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x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 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.  x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.  x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</a:t>
                      </a:r>
                      <a:endParaRPr lang="en-US" altLang="zh-CN" sz="2800" b="1" i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约束条件</a:t>
                      </a:r>
                      <a:endParaRPr lang="zh-CN" altLang="en-US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满足条件</a:t>
                      </a:r>
                      <a:endParaRPr lang="zh-CN" altLang="en-US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Z </a:t>
                      </a: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值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875">
                <a:tc vMerge="1"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(0)         (1)        (2)       (3)       (4)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是∨     否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0.    0 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0          0         0         0        0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∨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0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0.     1 )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5        </a:t>
                      </a:r>
                      <a:r>
                        <a:rPr lang="zh-CN" altLang="en-US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－</a:t>
                      </a: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1       1         0        1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∨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1. 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-2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1.     1 )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3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( 1.     0. 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3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5450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( 1.     0.     1 )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8          0         2         1        1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∨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8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( 1.     1. 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1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7037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( 1.     1.     1 )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4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80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04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604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418" grpId="0" animBg="1"/>
      <p:bldP spid="60419" grpId="0" animBg="1"/>
      <p:bldP spid="6042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5" name="Text Box 2"/>
          <p:cNvSpPr txBox="1"/>
          <p:nvPr/>
        </p:nvSpPr>
        <p:spPr>
          <a:xfrm>
            <a:off x="381000" y="381000"/>
            <a:ext cx="5845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例二、求解下列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规划问题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1443" name="Object 3"/>
          <p:cNvGraphicFramePr>
            <a:graphicFrameLocks noChangeAspect="1"/>
          </p:cNvGraphicFramePr>
          <p:nvPr/>
        </p:nvGraphicFramePr>
        <p:xfrm>
          <a:off x="1371600" y="755650"/>
          <a:ext cx="4375150" cy="300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9" name="" r:id="rId1" imgW="1739900" imgH="1193800" progId="Equation.3">
                  <p:embed/>
                </p:oleObj>
              </mc:Choice>
              <mc:Fallback>
                <p:oleObj name="" r:id="rId1" imgW="1739900" imgH="1193800" progId="Equation.3">
                  <p:embed/>
                  <p:pic>
                    <p:nvPicPr>
                      <p:cNvPr id="0" name="图片 312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371600" y="755650"/>
                        <a:ext cx="4375150" cy="30019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4" name="Text Box 4"/>
          <p:cNvSpPr txBox="1"/>
          <p:nvPr/>
        </p:nvSpPr>
        <p:spPr>
          <a:xfrm>
            <a:off x="228600" y="3810000"/>
            <a:ext cx="8915400" cy="9461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解：由于目标函数中变量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的系数均为负数，可作如下变换：  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1445" name="Rectangle 5"/>
          <p:cNvSpPr/>
          <p:nvPr/>
        </p:nvSpPr>
        <p:spPr>
          <a:xfrm>
            <a:off x="0" y="4953000"/>
            <a:ext cx="91440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令 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zh-CN" altLang="en-US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′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 x</a:t>
            </a:r>
            <a:r>
              <a:rPr lang="en-US" altLang="zh-CN" sz="2800" b="1" i="1" baseline="-25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1-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′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′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, 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=1-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′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带入原题中，但需重新调整变量编号。令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′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′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′ 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sz="2800" b="1" i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i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′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得到下式。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1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3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4" grpId="0"/>
      <p:bldP spid="6144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62466" name="Object 2"/>
          <p:cNvGraphicFramePr>
            <a:graphicFrameLocks noChangeAspect="1"/>
          </p:cNvGraphicFramePr>
          <p:nvPr/>
        </p:nvGraphicFramePr>
        <p:xfrm>
          <a:off x="1176338" y="609600"/>
          <a:ext cx="6496050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6" name="" r:id="rId1" imgW="2082800" imgH="1193800" progId="Equation.3">
                  <p:embed/>
                </p:oleObj>
              </mc:Choice>
              <mc:Fallback>
                <p:oleObj name="" r:id="rId1" imgW="2082800" imgH="1193800" progId="Equation.3">
                  <p:embed/>
                  <p:pic>
                    <p:nvPicPr>
                      <p:cNvPr id="0" name="图片 312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176338" y="609600"/>
                        <a:ext cx="6496050" cy="3581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7" name="Text Box 3"/>
          <p:cNvSpPr txBox="1"/>
          <p:nvPr/>
        </p:nvSpPr>
        <p:spPr>
          <a:xfrm>
            <a:off x="228600" y="4564063"/>
            <a:ext cx="868680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可以从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1.1.1.1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开始试算，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′(3)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1.1.0.1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∴ 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i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1.0.1.0 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是原问题的最优解，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62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7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4" name="Text Box 2"/>
          <p:cNvSpPr txBox="1"/>
          <p:nvPr/>
        </p:nvSpPr>
        <p:spPr>
          <a:xfrm>
            <a:off x="228600" y="2286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例三、求解下列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－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规划问题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3491" name="Object 3"/>
          <p:cNvGraphicFramePr>
            <a:graphicFrameLocks noChangeAspect="1"/>
          </p:cNvGraphicFramePr>
          <p:nvPr/>
        </p:nvGraphicFramePr>
        <p:xfrm>
          <a:off x="682625" y="695325"/>
          <a:ext cx="6635750" cy="2782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7" name="" r:id="rId1" imgW="2362200" imgH="990600" progId="Equation.3">
                  <p:embed/>
                </p:oleObj>
              </mc:Choice>
              <mc:Fallback>
                <p:oleObj name="" r:id="rId1" imgW="2362200" imgH="990600" progId="Equation.3">
                  <p:embed/>
                  <p:pic>
                    <p:nvPicPr>
                      <p:cNvPr id="0" name="图片 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2625" y="695325"/>
                        <a:ext cx="6635750" cy="27828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2" name="Text Box 4"/>
          <p:cNvSpPr txBox="1"/>
          <p:nvPr/>
        </p:nvSpPr>
        <p:spPr>
          <a:xfrm>
            <a:off x="228600" y="3290888"/>
            <a:ext cx="8550275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令  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=x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=x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=x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=x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=x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得到下式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63493" name="Object 5"/>
          <p:cNvGraphicFramePr>
            <a:graphicFrameLocks noChangeAspect="1"/>
          </p:cNvGraphicFramePr>
          <p:nvPr/>
        </p:nvGraphicFramePr>
        <p:xfrm>
          <a:off x="701675" y="3846513"/>
          <a:ext cx="6599238" cy="278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8" name="" r:id="rId3" imgW="2349500" imgH="990600" progId="Equation.3">
                  <p:embed/>
                </p:oleObj>
              </mc:Choice>
              <mc:Fallback>
                <p:oleObj name="" r:id="rId3" imgW="2349500" imgH="990600" progId="Equation.3">
                  <p:embed/>
                  <p:pic>
                    <p:nvPicPr>
                      <p:cNvPr id="0" name="图片 31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1675" y="3846513"/>
                        <a:ext cx="6599238" cy="27828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63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/>
          <p:nvPr/>
        </p:nvSpPr>
        <p:spPr>
          <a:xfrm>
            <a:off x="228600" y="3581400"/>
            <a:ext cx="8686800" cy="45720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15" name="Rectangle 3"/>
          <p:cNvSpPr/>
          <p:nvPr/>
        </p:nvSpPr>
        <p:spPr>
          <a:xfrm>
            <a:off x="228600" y="40386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16" name="Rectangle 4"/>
          <p:cNvSpPr/>
          <p:nvPr/>
        </p:nvSpPr>
        <p:spPr>
          <a:xfrm>
            <a:off x="228600" y="31242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17" name="Rectangle 5"/>
          <p:cNvSpPr/>
          <p:nvPr/>
        </p:nvSpPr>
        <p:spPr>
          <a:xfrm>
            <a:off x="228600" y="27432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18" name="Rectangle 6"/>
          <p:cNvSpPr/>
          <p:nvPr/>
        </p:nvSpPr>
        <p:spPr>
          <a:xfrm>
            <a:off x="228600" y="22860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19" name="Rectangle 7"/>
          <p:cNvSpPr/>
          <p:nvPr/>
        </p:nvSpPr>
        <p:spPr>
          <a:xfrm>
            <a:off x="228600" y="18288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20" name="Rectangle 8"/>
          <p:cNvSpPr/>
          <p:nvPr/>
        </p:nvSpPr>
        <p:spPr>
          <a:xfrm>
            <a:off x="228600" y="3581400"/>
            <a:ext cx="8686800" cy="457200"/>
          </a:xfrm>
          <a:prstGeom prst="rect">
            <a:avLst/>
          </a:prstGeom>
          <a:solidFill>
            <a:srgbClr val="FFCCFF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81929" name="表格 81928"/>
          <p:cNvGraphicFramePr/>
          <p:nvPr/>
        </p:nvGraphicFramePr>
        <p:xfrm>
          <a:off x="228600" y="914400"/>
          <a:ext cx="8686800" cy="3581400"/>
        </p:xfrm>
        <a:graphic>
          <a:graphicData uri="http://schemas.openxmlformats.org/drawingml/2006/table">
            <a:tbl>
              <a:tblPr/>
              <a:tblGrid>
                <a:gridCol w="2971800"/>
                <a:gridCol w="2895600"/>
                <a:gridCol w="1676400"/>
                <a:gridCol w="1143000"/>
              </a:tblGrid>
              <a:tr h="479425"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y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1 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.  y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2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.  y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3 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. y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4</a:t>
                      </a: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. y</a:t>
                      </a:r>
                      <a:r>
                        <a:rPr lang="en-US" altLang="zh-CN" sz="2800" b="1" i="1" baseline="-25000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5</a:t>
                      </a:r>
                      <a:endParaRPr lang="en-US" altLang="zh-CN" sz="2800" b="1" i="1" baseline="-25000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约束条件</a:t>
                      </a:r>
                      <a:endParaRPr lang="zh-CN" altLang="en-US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满足条件</a:t>
                      </a:r>
                      <a:endParaRPr lang="zh-CN" altLang="en-US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800" b="1" i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Z </a:t>
                      </a:r>
                      <a:r>
                        <a:rPr lang="zh-CN" altLang="en-US" sz="28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值</a:t>
                      </a:r>
                      <a:endParaRPr lang="zh-CN" altLang="en-US" sz="28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5925">
                <a:tc vMerge="1"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 (1)              (2)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zh-CN" altLang="en-US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是 ∨否</a:t>
                      </a: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47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0.    0.    0.    0 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 0               0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( 1.     0.     0.     0.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 1              -1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1.     0.    0.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-1               1 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0.    1.     0. 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-2               1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0.     0.    1.     0 )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 4              -4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∨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8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47675"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( 0.     0.     0.     0.    1 )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2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           3              -2</a:t>
                      </a:r>
                      <a:endParaRPr lang="en-US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r>
                        <a:rPr lang="en-US" altLang="zh-CN" sz="2000" b="1" dirty="0">
                          <a:latin typeface="Times New Roman" panose="02020603050405020304" pitchFamily="18" charset="0"/>
                          <a:ea typeface="楷体_GB2312" pitchFamily="49" charset="-122"/>
                        </a:rPr>
                        <a:t>×</a:t>
                      </a:r>
                      <a:endParaRPr lang="en-US" altLang="zh-CN" sz="20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marL="457200" lvl="1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lvl="2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lvl="3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lvl="4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 sz="2400" b="0" i="0" u="none" kern="1200" baseline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+mn-cs"/>
                        </a:defRPr>
                      </a:lvl5pPr>
                    </a:lstStyle>
                    <a:p>
                      <a:pPr lvl="0" algn="ctr" eaLnBrk="1" hangingPunct="1">
                        <a:spcBef>
                          <a:spcPct val="20000"/>
                        </a:spcBef>
                        <a:buNone/>
                      </a:pPr>
                      <a:endParaRPr lang="zh-CN" altLang="zh-CN" sz="2200" b="1" dirty="0">
                        <a:latin typeface="Times New Roman" panose="02020603050405020304" pitchFamily="18" charset="0"/>
                        <a:ea typeface="楷体_GB2312" pitchFamily="49" charset="-122"/>
                      </a:endParaRPr>
                    </a:p>
                  </a:txBody>
                  <a:tcPr>
                    <a:lnL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L>
                    <a:lnR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T>
                    <a:lnB w="28575" cap="flat" cmpd="sng">
                      <a:solidFill>
                        <a:schemeClr val="tx1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566" name="Text Box 54"/>
          <p:cNvSpPr txBox="1"/>
          <p:nvPr/>
        </p:nvSpPr>
        <p:spPr>
          <a:xfrm>
            <a:off x="228600" y="4868863"/>
            <a:ext cx="8686800" cy="11604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所以，</a:t>
            </a:r>
            <a:r>
              <a:rPr lang="zh-CN" altLang="en-US" sz="2800" b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Y</a:t>
            </a:r>
            <a:r>
              <a:rPr lang="en-US" altLang="zh-CN" sz="2800" b="1" baseline="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0.0.0.1.0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），原问题的最优解为：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＝（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0.0.1.0.0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），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Z</a:t>
            </a:r>
            <a:r>
              <a:rPr lang="en-US" altLang="zh-CN" sz="2800" baseline="300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*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 =</a:t>
            </a:r>
            <a:r>
              <a:rPr lang="en-US" altLang="zh-CN" sz="2800" dirty="0">
                <a:solidFill>
                  <a:srgbClr val="990000"/>
                </a:solidFill>
                <a:latin typeface="Times New Roman" panose="02020603050405020304" pitchFamily="18" charset="0"/>
                <a:ea typeface="楷体_GB2312" pitchFamily="49" charset="-122"/>
              </a:rPr>
              <a:t>8</a:t>
            </a:r>
            <a:endParaRPr lang="en-US" altLang="zh-CN" sz="2800" dirty="0">
              <a:solidFill>
                <a:srgbClr val="99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451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645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6451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45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451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4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5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45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8" dur="500"/>
                                        <p:tgtEl>
                                          <p:spTgt spid="64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4" grpId="0" animBg="1"/>
      <p:bldP spid="64515" grpId="0" animBg="1"/>
      <p:bldP spid="64516" grpId="0" animBg="1"/>
      <p:bldP spid="64517" grpId="0" animBg="1"/>
      <p:bldP spid="64518" grpId="0" animBg="1"/>
      <p:bldP spid="64519" grpId="0" animBg="1"/>
      <p:bldP spid="64520" grpId="0" animBg="1"/>
      <p:bldP spid="64566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6866" name="Object 2"/>
          <p:cNvGraphicFramePr>
            <a:graphicFrameLocks noChangeAspect="1"/>
          </p:cNvGraphicFramePr>
          <p:nvPr/>
        </p:nvGraphicFramePr>
        <p:xfrm>
          <a:off x="965200" y="1735138"/>
          <a:ext cx="6527800" cy="344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0" name="" r:id="rId1" imgW="2286000" imgH="1206500" progId="Equation.3">
                  <p:embed/>
                </p:oleObj>
              </mc:Choice>
              <mc:Fallback>
                <p:oleObj name="" r:id="rId1" imgW="2286000" imgH="1206500" progId="Equation.3">
                  <p:embed/>
                  <p:pic>
                    <p:nvPicPr>
                      <p:cNvPr id="0" name="图片 312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65200" y="1735138"/>
                        <a:ext cx="6527800" cy="3444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9" name="Text Box 3"/>
          <p:cNvSpPr txBox="1"/>
          <p:nvPr/>
        </p:nvSpPr>
        <p:spPr>
          <a:xfrm>
            <a:off x="2362200" y="5638800"/>
            <a:ext cx="3178175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0 . 1 . 1 . 0 . 0</a:t>
            </a:r>
            <a:r>
              <a:rPr lang="zh-CN" altLang="en-US" sz="2800" b="1" dirty="0">
                <a:solidFill>
                  <a:srgbClr val="990000"/>
                </a:solidFill>
                <a:latin typeface="Times New Roman" panose="02020603050405020304" pitchFamily="18" charset="0"/>
              </a:rPr>
              <a:t>）</a:t>
            </a:r>
            <a:endParaRPr lang="zh-CN" altLang="en-US" sz="2800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6868" name="Rectangle 4"/>
          <p:cNvSpPr>
            <a:spLocks noGrp="1"/>
          </p:cNvSpPr>
          <p:nvPr>
            <p:ph type="ctrTitle"/>
          </p:nvPr>
        </p:nvSpPr>
        <p:spPr>
          <a:xfrm>
            <a:off x="152400" y="762000"/>
            <a:ext cx="80772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3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练习：用隐枚举法求解</a:t>
            </a:r>
            <a:r>
              <a:rPr lang="en-US" altLang="zh-CN" sz="3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en-US" altLang="zh-CN" sz="3000" b="1" dirty="0">
                <a:solidFill>
                  <a:schemeClr val="tx1"/>
                </a:solidFill>
                <a:ea typeface="楷体_GB2312" pitchFamily="49" charset="-122"/>
              </a:rPr>
              <a:t>—</a:t>
            </a:r>
            <a:r>
              <a:rPr lang="en-US" altLang="zh-CN" sz="3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3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规划问题</a:t>
            </a:r>
            <a:endParaRPr lang="zh-CN" altLang="en-US" sz="3000" b="1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75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9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946" name="Text Box 2"/>
          <p:cNvSpPr txBox="1"/>
          <p:nvPr/>
        </p:nvSpPr>
        <p:spPr>
          <a:xfrm>
            <a:off x="228600" y="304800"/>
            <a:ext cx="8686800" cy="641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3600" b="1" dirty="0">
                <a:solidFill>
                  <a:srgbClr val="663300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endParaRPr lang="en-US" altLang="zh-CN" sz="3600" b="1" dirty="0">
              <a:solidFill>
                <a:srgbClr val="6633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947" name="Rectangle 3"/>
          <p:cNvSpPr/>
          <p:nvPr/>
        </p:nvSpPr>
        <p:spPr>
          <a:xfrm>
            <a:off x="228600" y="838200"/>
            <a:ext cx="8686800" cy="30813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在实际中经常会遇到这样的问题，有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项不同的任务，需要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个人分别完成其中的一项，但由于任务的性质和各人的专长不同，因此各人去完成不同的任务的效率（或花费的时间或费用）也就不同。于是产生了一个问题，应指派哪个人去完成哪项任务，使完成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项任务的总效率最高（或所需时间最少），这类问题称为指派问题或分派问题。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564" name="Text Box 4"/>
          <p:cNvSpPr txBox="1"/>
          <p:nvPr/>
        </p:nvSpPr>
        <p:spPr>
          <a:xfrm>
            <a:off x="228600" y="3962400"/>
            <a:ext cx="8610600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（一）、指派问题的数学模型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设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个人被分配去做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件工作，规定每个人只做一件工作，每件工作只有一个人去做。已知第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个人去做第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j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件工作的的效率（ 时间或费用）为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=1.2…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;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=1.2…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并假设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≥0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。问应如何分配才能使总效率（ 时间或费用）最高？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2949" name="Rectangle 5"/>
          <p:cNvSpPr>
            <a:spLocks noGrp="1"/>
          </p:cNvSpPr>
          <p:nvPr>
            <p:ph type="ctrTitle"/>
          </p:nvPr>
        </p:nvSpPr>
        <p:spPr>
          <a:xfrm>
            <a:off x="685800" y="152400"/>
            <a:ext cx="7772400" cy="685800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rgbClr val="663300"/>
                </a:solidFill>
                <a:ea typeface="楷体_GB2312" pitchFamily="49" charset="-122"/>
              </a:rPr>
              <a:t>五、指派问题</a:t>
            </a:r>
            <a:endParaRPr lang="zh-CN" altLang="en-US" sz="3600" b="1" dirty="0">
              <a:solidFill>
                <a:srgbClr val="66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1" name="Text Box 2"/>
          <p:cNvSpPr txBox="1"/>
          <p:nvPr/>
        </p:nvSpPr>
        <p:spPr>
          <a:xfrm>
            <a:off x="228600" y="304800"/>
            <a:ext cx="8686800" cy="13731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设决策变量       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 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分配第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个人去做第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j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件工作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</a:t>
            </a:r>
            <a:r>
              <a:rPr lang="zh-CN" altLang="en-US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25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                    0  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相反  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I,j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=1.2. …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37892" name="AutoShape 3"/>
          <p:cNvSpPr/>
          <p:nvPr/>
        </p:nvSpPr>
        <p:spPr>
          <a:xfrm>
            <a:off x="2895600" y="533400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000066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endParaRPr lang="zh-CN" altLang="zh-CN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3" name="Text Box 4"/>
          <p:cNvSpPr txBox="1"/>
          <p:nvPr/>
        </p:nvSpPr>
        <p:spPr>
          <a:xfrm>
            <a:off x="228600" y="2201863"/>
            <a:ext cx="868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其数学模型为：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37890" name="Object 5"/>
          <p:cNvGraphicFramePr>
            <a:graphicFrameLocks noChangeAspect="1"/>
          </p:cNvGraphicFramePr>
          <p:nvPr/>
        </p:nvGraphicFramePr>
        <p:xfrm>
          <a:off x="2747963" y="1735138"/>
          <a:ext cx="5707062" cy="460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" r:id="rId1" imgW="1701800" imgH="1892300" progId="Equation.3">
                  <p:embed/>
                </p:oleObj>
              </mc:Choice>
              <mc:Fallback>
                <p:oleObj name="" r:id="rId1" imgW="1701800" imgH="1892300" progId="Equation.3">
                  <p:embed/>
                  <p:pic>
                    <p:nvPicPr>
                      <p:cNvPr id="0" name="图片 313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47963" y="1735138"/>
                        <a:ext cx="5707062" cy="460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3970" name="Text Box 2"/>
          <p:cNvSpPr txBox="1"/>
          <p:nvPr/>
        </p:nvSpPr>
        <p:spPr>
          <a:xfrm>
            <a:off x="228600" y="304800"/>
            <a:ext cx="86868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（二）、解题步骤：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83971" name="Rectangle 3"/>
          <p:cNvSpPr/>
          <p:nvPr/>
        </p:nvSpPr>
        <p:spPr>
          <a:xfrm>
            <a:off x="228600" y="969963"/>
            <a:ext cx="8686800" cy="18161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指派问题是</a:t>
            </a:r>
            <a:r>
              <a:rPr lang="en-US" altLang="zh-CN" sz="28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0-1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规划的特例，当然可用整数规划，</a:t>
            </a:r>
            <a:r>
              <a:rPr lang="en-US" altLang="zh-CN" sz="2800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0-1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规划的解法去求解，这就如同用单纯型法求解运输问题一样是不合算的。利用指派问题的特点可有更简便的解法，这就是匈牙利法。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72" name="Text Box 4"/>
          <p:cNvSpPr txBox="1"/>
          <p:nvPr/>
        </p:nvSpPr>
        <p:spPr>
          <a:xfrm>
            <a:off x="228600" y="3143250"/>
            <a:ext cx="8686800" cy="2654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第一步：变换指派问题的系数矩阵（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）为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，使在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的各行各列中都出现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元素，即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(1)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从（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）的每行元素都减去该行的最小元素；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(2)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再从所得新系数矩阵的每列元素中减去该列的最小元素。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eaLnBrk="1" hangingPunct="1"/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4994" name="Text Box 2"/>
          <p:cNvSpPr txBox="1"/>
          <p:nvPr/>
        </p:nvSpPr>
        <p:spPr>
          <a:xfrm>
            <a:off x="228600" y="609600"/>
            <a:ext cx="8686800" cy="56435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第二步：进行试指派，以寻求最优解。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 在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中找尽可能多的独立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元素，若能找出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个独立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元素，就以这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个独立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元素对应解矩阵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中的元素为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，其余为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，这就得到最优解。找独立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元素，常用的步骤为：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从只有一个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元素的行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列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开始，给这个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元素加圈，记作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。然后划去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所在列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的其它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元素，记作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；这表示这列所代表的任务已指派完，不必再考虑别人了。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给只有一个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元素的列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中的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元素加圈，记作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；然后划去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所在行的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元素，记作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．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反复进行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两步，直到尽可能多的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元素都被圈出和划掉为止。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8" name="Text Box 2"/>
          <p:cNvSpPr txBox="1"/>
          <p:nvPr/>
        </p:nvSpPr>
        <p:spPr>
          <a:xfrm>
            <a:off x="228600" y="304800"/>
            <a:ext cx="8686800" cy="60706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(4)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若仍有没有划圈的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元素，且同行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列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元素至少有两个，则从剩有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元素最少的行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列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开始，比较这行各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元素所在列中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元素的数目，选择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元素少的那列的这个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元素加圈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表示选择性多的要“礼让”选择性少的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。然后划掉同行同列的其它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元素。可反复进行，直到所有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元素都已圈出和划掉为止。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（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）若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元素的数目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等于矩阵的阶数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，那么这指派问题的最优解已得到。若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&lt;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则转入下一步。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第三步：作最少的直线覆盖所有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对没有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的行打√号；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对已打√号的行中所有含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元素的列打√号；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再对打有√号的列中含</a:t>
            </a:r>
            <a:r>
              <a:rPr lang="zh-CN" altLang="en-US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元素的行打√号；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2" name="Text Box 2"/>
          <p:cNvSpPr txBox="1"/>
          <p:nvPr/>
        </p:nvSpPr>
        <p:spPr>
          <a:xfrm>
            <a:off x="228600" y="609600"/>
            <a:ext cx="8686800" cy="52165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(4)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重复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(3)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直到得不出新的打√号的行、列为止；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(5)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对没有打√号的行画横线，有打√号的列画纵线，这就得到覆盖所有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元素的最少直线数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应等于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，若不相等，说明试指派过程有误，回到第二步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(4)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，另行试指派；若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&lt;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，须再变换当前的系数矩阵，以找到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个独立的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元素，为此转第四步。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algn="just" eaLnBrk="1" hangingPunct="1"/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第四步：变换矩阵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b="1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以增加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元素。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在没有被直线覆盖的所有元素中找出最小元素，然后打√各行都减去这最小元素；打√各列都加上这最小元素（以保证系数矩阵中不出现负元素）。新系数矩阵的最优解和原问题仍相同。转回第二步。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6" name="Rectangle 188"/>
          <p:cNvSpPr/>
          <p:nvPr/>
        </p:nvSpPr>
        <p:spPr>
          <a:xfrm>
            <a:off x="1524000" y="1752600"/>
            <a:ext cx="6096000" cy="32004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8067" name="Rectangle 2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24384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3600" b="1" dirty="0"/>
              <a:t>例一：</a:t>
            </a:r>
            <a:endParaRPr lang="zh-CN" altLang="en-US" sz="3600" b="1" dirty="0"/>
          </a:p>
        </p:txBody>
      </p:sp>
      <p:grpSp>
        <p:nvGrpSpPr>
          <p:cNvPr id="88068" name="Group 110"/>
          <p:cNvGrpSpPr/>
          <p:nvPr/>
        </p:nvGrpSpPr>
        <p:grpSpPr>
          <a:xfrm>
            <a:off x="1524000" y="1752600"/>
            <a:ext cx="6105525" cy="3200400"/>
            <a:chOff x="960" y="1824"/>
            <a:chExt cx="3846" cy="2002"/>
          </a:xfrm>
        </p:grpSpPr>
        <p:grpSp>
          <p:nvGrpSpPr>
            <p:cNvPr id="88069" name="Group 111"/>
            <p:cNvGrpSpPr/>
            <p:nvPr/>
          </p:nvGrpSpPr>
          <p:grpSpPr>
            <a:xfrm>
              <a:off x="963" y="1827"/>
              <a:ext cx="768" cy="460"/>
              <a:chOff x="0" y="0"/>
              <a:chExt cx="768" cy="460"/>
            </a:xfrm>
          </p:grpSpPr>
          <p:sp>
            <p:nvSpPr>
              <p:cNvPr id="88144" name="Rectangle 112"/>
              <p:cNvSpPr/>
              <p:nvPr/>
            </p:nvSpPr>
            <p:spPr>
              <a:xfrm>
                <a:off x="43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1" hangingPunct="1"/>
                <a:r>
                  <a:rPr lang="en-US" altLang="zh-CN" sz="2000" b="1" dirty="0">
                    <a:latin typeface="Times New Roman" panose="02020603050405020304" pitchFamily="18" charset="0"/>
                  </a:rPr>
                  <a:t>      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任务</a:t>
                </a:r>
                <a:endParaRPr lang="zh-CN" altLang="en-US" sz="20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algn="just"/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人员</a:t>
                </a:r>
                <a:endParaRPr lang="zh-CN" altLang="en-US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algn="just"/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45" name="Rectangle 113"/>
              <p:cNvSpPr/>
              <p:nvPr/>
            </p:nvSpPr>
            <p:spPr>
              <a:xfrm>
                <a:off x="0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0" name="Group 114"/>
            <p:cNvGrpSpPr/>
            <p:nvPr/>
          </p:nvGrpSpPr>
          <p:grpSpPr>
            <a:xfrm>
              <a:off x="1731" y="1827"/>
              <a:ext cx="768" cy="460"/>
              <a:chOff x="768" y="0"/>
              <a:chExt cx="768" cy="460"/>
            </a:xfrm>
          </p:grpSpPr>
          <p:sp>
            <p:nvSpPr>
              <p:cNvPr id="88142" name="Rectangle 115"/>
              <p:cNvSpPr/>
              <p:nvPr/>
            </p:nvSpPr>
            <p:spPr>
              <a:xfrm>
                <a:off x="811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i="1" dirty="0">
                    <a:latin typeface="Times New Roman" panose="02020603050405020304" pitchFamily="18" charset="0"/>
                  </a:rPr>
                  <a:t>A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43" name="Rectangle 116"/>
              <p:cNvSpPr/>
              <p:nvPr/>
            </p:nvSpPr>
            <p:spPr>
              <a:xfrm>
                <a:off x="768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1" name="Group 117"/>
            <p:cNvGrpSpPr/>
            <p:nvPr/>
          </p:nvGrpSpPr>
          <p:grpSpPr>
            <a:xfrm>
              <a:off x="2499" y="1827"/>
              <a:ext cx="768" cy="460"/>
              <a:chOff x="1536" y="0"/>
              <a:chExt cx="768" cy="460"/>
            </a:xfrm>
          </p:grpSpPr>
          <p:sp>
            <p:nvSpPr>
              <p:cNvPr id="88140" name="Rectangle 118"/>
              <p:cNvSpPr/>
              <p:nvPr/>
            </p:nvSpPr>
            <p:spPr>
              <a:xfrm>
                <a:off x="1579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i="1" dirty="0">
                    <a:latin typeface="Times New Roman" panose="02020603050405020304" pitchFamily="18" charset="0"/>
                  </a:rPr>
                  <a:t>B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41" name="Rectangle 119"/>
              <p:cNvSpPr/>
              <p:nvPr/>
            </p:nvSpPr>
            <p:spPr>
              <a:xfrm>
                <a:off x="1536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2" name="Group 120"/>
            <p:cNvGrpSpPr/>
            <p:nvPr/>
          </p:nvGrpSpPr>
          <p:grpSpPr>
            <a:xfrm>
              <a:off x="3267" y="1827"/>
              <a:ext cx="768" cy="460"/>
              <a:chOff x="2304" y="0"/>
              <a:chExt cx="768" cy="460"/>
            </a:xfrm>
          </p:grpSpPr>
          <p:sp>
            <p:nvSpPr>
              <p:cNvPr id="88138" name="Rectangle 121"/>
              <p:cNvSpPr/>
              <p:nvPr/>
            </p:nvSpPr>
            <p:spPr>
              <a:xfrm>
                <a:off x="2347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C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39" name="Rectangle 122"/>
              <p:cNvSpPr/>
              <p:nvPr/>
            </p:nvSpPr>
            <p:spPr>
              <a:xfrm>
                <a:off x="2304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3" name="Group 123"/>
            <p:cNvGrpSpPr/>
            <p:nvPr/>
          </p:nvGrpSpPr>
          <p:grpSpPr>
            <a:xfrm>
              <a:off x="4035" y="1827"/>
              <a:ext cx="768" cy="460"/>
              <a:chOff x="3072" y="0"/>
              <a:chExt cx="768" cy="460"/>
            </a:xfrm>
          </p:grpSpPr>
          <p:sp>
            <p:nvSpPr>
              <p:cNvPr id="88136" name="Rectangle 124"/>
              <p:cNvSpPr/>
              <p:nvPr/>
            </p:nvSpPr>
            <p:spPr>
              <a:xfrm>
                <a:off x="3115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37" name="Rectangle 125"/>
              <p:cNvSpPr/>
              <p:nvPr/>
            </p:nvSpPr>
            <p:spPr>
              <a:xfrm>
                <a:off x="3072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4" name="Group 126"/>
            <p:cNvGrpSpPr/>
            <p:nvPr/>
          </p:nvGrpSpPr>
          <p:grpSpPr>
            <a:xfrm>
              <a:off x="963" y="2287"/>
              <a:ext cx="768" cy="384"/>
              <a:chOff x="0" y="460"/>
              <a:chExt cx="768" cy="384"/>
            </a:xfrm>
          </p:grpSpPr>
          <p:sp>
            <p:nvSpPr>
              <p:cNvPr id="88134" name="Rectangle 127"/>
              <p:cNvSpPr/>
              <p:nvPr/>
            </p:nvSpPr>
            <p:spPr>
              <a:xfrm>
                <a:off x="43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甲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8135" name="Rectangle 128"/>
              <p:cNvSpPr/>
              <p:nvPr/>
            </p:nvSpPr>
            <p:spPr>
              <a:xfrm>
                <a:off x="0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5" name="Group 129"/>
            <p:cNvGrpSpPr/>
            <p:nvPr/>
          </p:nvGrpSpPr>
          <p:grpSpPr>
            <a:xfrm>
              <a:off x="1731" y="2287"/>
              <a:ext cx="768" cy="384"/>
              <a:chOff x="768" y="460"/>
              <a:chExt cx="768" cy="384"/>
            </a:xfrm>
          </p:grpSpPr>
          <p:sp>
            <p:nvSpPr>
              <p:cNvPr id="88132" name="Rectangle 130"/>
              <p:cNvSpPr/>
              <p:nvPr/>
            </p:nvSpPr>
            <p:spPr>
              <a:xfrm>
                <a:off x="811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33" name="Rectangle 131"/>
              <p:cNvSpPr/>
              <p:nvPr/>
            </p:nvSpPr>
            <p:spPr>
              <a:xfrm>
                <a:off x="768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6" name="Group 132"/>
            <p:cNvGrpSpPr/>
            <p:nvPr/>
          </p:nvGrpSpPr>
          <p:grpSpPr>
            <a:xfrm>
              <a:off x="2499" y="2287"/>
              <a:ext cx="768" cy="384"/>
              <a:chOff x="1536" y="460"/>
              <a:chExt cx="768" cy="384"/>
            </a:xfrm>
          </p:grpSpPr>
          <p:sp>
            <p:nvSpPr>
              <p:cNvPr id="88130" name="Rectangle 133"/>
              <p:cNvSpPr/>
              <p:nvPr/>
            </p:nvSpPr>
            <p:spPr>
              <a:xfrm>
                <a:off x="1579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31" name="Rectangle 134"/>
              <p:cNvSpPr/>
              <p:nvPr/>
            </p:nvSpPr>
            <p:spPr>
              <a:xfrm>
                <a:off x="1536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7" name="Group 135"/>
            <p:cNvGrpSpPr/>
            <p:nvPr/>
          </p:nvGrpSpPr>
          <p:grpSpPr>
            <a:xfrm>
              <a:off x="3267" y="2287"/>
              <a:ext cx="768" cy="384"/>
              <a:chOff x="2304" y="460"/>
              <a:chExt cx="768" cy="384"/>
            </a:xfrm>
          </p:grpSpPr>
          <p:sp>
            <p:nvSpPr>
              <p:cNvPr id="88128" name="Rectangle 136"/>
              <p:cNvSpPr/>
              <p:nvPr/>
            </p:nvSpPr>
            <p:spPr>
              <a:xfrm>
                <a:off x="2347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13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29" name="Rectangle 137"/>
              <p:cNvSpPr/>
              <p:nvPr/>
            </p:nvSpPr>
            <p:spPr>
              <a:xfrm>
                <a:off x="2304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8" name="Group 138"/>
            <p:cNvGrpSpPr/>
            <p:nvPr/>
          </p:nvGrpSpPr>
          <p:grpSpPr>
            <a:xfrm>
              <a:off x="4035" y="2287"/>
              <a:ext cx="768" cy="384"/>
              <a:chOff x="3072" y="460"/>
              <a:chExt cx="768" cy="384"/>
            </a:xfrm>
          </p:grpSpPr>
          <p:sp>
            <p:nvSpPr>
              <p:cNvPr id="88126" name="Rectangle 139"/>
              <p:cNvSpPr/>
              <p:nvPr/>
            </p:nvSpPr>
            <p:spPr>
              <a:xfrm>
                <a:off x="3115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27" name="Rectangle 140"/>
              <p:cNvSpPr/>
              <p:nvPr/>
            </p:nvSpPr>
            <p:spPr>
              <a:xfrm>
                <a:off x="3072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79" name="Group 141"/>
            <p:cNvGrpSpPr/>
            <p:nvPr/>
          </p:nvGrpSpPr>
          <p:grpSpPr>
            <a:xfrm>
              <a:off x="963" y="2671"/>
              <a:ext cx="768" cy="384"/>
              <a:chOff x="0" y="844"/>
              <a:chExt cx="768" cy="384"/>
            </a:xfrm>
          </p:grpSpPr>
          <p:sp>
            <p:nvSpPr>
              <p:cNvPr id="88124" name="Rectangle 142"/>
              <p:cNvSpPr/>
              <p:nvPr/>
            </p:nvSpPr>
            <p:spPr>
              <a:xfrm>
                <a:off x="43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乙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8125" name="Rectangle 143"/>
              <p:cNvSpPr/>
              <p:nvPr/>
            </p:nvSpPr>
            <p:spPr>
              <a:xfrm>
                <a:off x="0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0" name="Group 144"/>
            <p:cNvGrpSpPr/>
            <p:nvPr/>
          </p:nvGrpSpPr>
          <p:grpSpPr>
            <a:xfrm>
              <a:off x="1731" y="2671"/>
              <a:ext cx="768" cy="384"/>
              <a:chOff x="768" y="844"/>
              <a:chExt cx="768" cy="384"/>
            </a:xfrm>
          </p:grpSpPr>
          <p:sp>
            <p:nvSpPr>
              <p:cNvPr id="88122" name="Rectangle 145"/>
              <p:cNvSpPr/>
              <p:nvPr/>
            </p:nvSpPr>
            <p:spPr>
              <a:xfrm>
                <a:off x="811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23" name="Rectangle 146"/>
              <p:cNvSpPr/>
              <p:nvPr/>
            </p:nvSpPr>
            <p:spPr>
              <a:xfrm>
                <a:off x="768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1" name="Group 147"/>
            <p:cNvGrpSpPr/>
            <p:nvPr/>
          </p:nvGrpSpPr>
          <p:grpSpPr>
            <a:xfrm>
              <a:off x="2499" y="2671"/>
              <a:ext cx="768" cy="384"/>
              <a:chOff x="1536" y="844"/>
              <a:chExt cx="768" cy="384"/>
            </a:xfrm>
          </p:grpSpPr>
          <p:sp>
            <p:nvSpPr>
              <p:cNvPr id="88120" name="Rectangle 148"/>
              <p:cNvSpPr/>
              <p:nvPr/>
            </p:nvSpPr>
            <p:spPr>
              <a:xfrm>
                <a:off x="1579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21" name="Rectangle 149"/>
              <p:cNvSpPr/>
              <p:nvPr/>
            </p:nvSpPr>
            <p:spPr>
              <a:xfrm>
                <a:off x="1536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2" name="Group 150"/>
            <p:cNvGrpSpPr/>
            <p:nvPr/>
          </p:nvGrpSpPr>
          <p:grpSpPr>
            <a:xfrm>
              <a:off x="3267" y="2671"/>
              <a:ext cx="768" cy="384"/>
              <a:chOff x="2304" y="844"/>
              <a:chExt cx="768" cy="384"/>
            </a:xfrm>
          </p:grpSpPr>
          <p:sp>
            <p:nvSpPr>
              <p:cNvPr id="88118" name="Rectangle 151"/>
              <p:cNvSpPr/>
              <p:nvPr/>
            </p:nvSpPr>
            <p:spPr>
              <a:xfrm>
                <a:off x="2347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19" name="Rectangle 152"/>
              <p:cNvSpPr/>
              <p:nvPr/>
            </p:nvSpPr>
            <p:spPr>
              <a:xfrm>
                <a:off x="2304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3" name="Group 153"/>
            <p:cNvGrpSpPr/>
            <p:nvPr/>
          </p:nvGrpSpPr>
          <p:grpSpPr>
            <a:xfrm>
              <a:off x="4035" y="2671"/>
              <a:ext cx="768" cy="384"/>
              <a:chOff x="3072" y="844"/>
              <a:chExt cx="768" cy="384"/>
            </a:xfrm>
          </p:grpSpPr>
          <p:sp>
            <p:nvSpPr>
              <p:cNvPr id="88116" name="Rectangle 154"/>
              <p:cNvSpPr/>
              <p:nvPr/>
            </p:nvSpPr>
            <p:spPr>
              <a:xfrm>
                <a:off x="3115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15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17" name="Rectangle 155"/>
              <p:cNvSpPr/>
              <p:nvPr/>
            </p:nvSpPr>
            <p:spPr>
              <a:xfrm>
                <a:off x="3072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4" name="Group 156"/>
            <p:cNvGrpSpPr/>
            <p:nvPr/>
          </p:nvGrpSpPr>
          <p:grpSpPr>
            <a:xfrm>
              <a:off x="963" y="3055"/>
              <a:ext cx="768" cy="384"/>
              <a:chOff x="0" y="1228"/>
              <a:chExt cx="768" cy="384"/>
            </a:xfrm>
          </p:grpSpPr>
          <p:sp>
            <p:nvSpPr>
              <p:cNvPr id="88114" name="Rectangle 157"/>
              <p:cNvSpPr/>
              <p:nvPr/>
            </p:nvSpPr>
            <p:spPr>
              <a:xfrm>
                <a:off x="43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丙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8115" name="Rectangle 158"/>
              <p:cNvSpPr/>
              <p:nvPr/>
            </p:nvSpPr>
            <p:spPr>
              <a:xfrm>
                <a:off x="0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5" name="Group 159"/>
            <p:cNvGrpSpPr/>
            <p:nvPr/>
          </p:nvGrpSpPr>
          <p:grpSpPr>
            <a:xfrm>
              <a:off x="1731" y="3055"/>
              <a:ext cx="768" cy="384"/>
              <a:chOff x="768" y="1228"/>
              <a:chExt cx="768" cy="384"/>
            </a:xfrm>
          </p:grpSpPr>
          <p:sp>
            <p:nvSpPr>
              <p:cNvPr id="88112" name="Rectangle 160"/>
              <p:cNvSpPr/>
              <p:nvPr/>
            </p:nvSpPr>
            <p:spPr>
              <a:xfrm>
                <a:off x="811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9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13" name="Rectangle 161"/>
              <p:cNvSpPr/>
              <p:nvPr/>
            </p:nvSpPr>
            <p:spPr>
              <a:xfrm>
                <a:off x="768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6" name="Group 162"/>
            <p:cNvGrpSpPr/>
            <p:nvPr/>
          </p:nvGrpSpPr>
          <p:grpSpPr>
            <a:xfrm>
              <a:off x="2499" y="3055"/>
              <a:ext cx="768" cy="384"/>
              <a:chOff x="1536" y="1228"/>
              <a:chExt cx="768" cy="384"/>
            </a:xfrm>
          </p:grpSpPr>
          <p:sp>
            <p:nvSpPr>
              <p:cNvPr id="88110" name="Rectangle 163"/>
              <p:cNvSpPr/>
              <p:nvPr/>
            </p:nvSpPr>
            <p:spPr>
              <a:xfrm>
                <a:off x="1579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11" name="Rectangle 164"/>
              <p:cNvSpPr/>
              <p:nvPr/>
            </p:nvSpPr>
            <p:spPr>
              <a:xfrm>
                <a:off x="1536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7" name="Group 165"/>
            <p:cNvGrpSpPr/>
            <p:nvPr/>
          </p:nvGrpSpPr>
          <p:grpSpPr>
            <a:xfrm>
              <a:off x="3267" y="3055"/>
              <a:ext cx="768" cy="384"/>
              <a:chOff x="2304" y="1228"/>
              <a:chExt cx="768" cy="384"/>
            </a:xfrm>
          </p:grpSpPr>
          <p:sp>
            <p:nvSpPr>
              <p:cNvPr id="88108" name="Rectangle 166"/>
              <p:cNvSpPr/>
              <p:nvPr/>
            </p:nvSpPr>
            <p:spPr>
              <a:xfrm>
                <a:off x="2347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16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09" name="Rectangle 167"/>
              <p:cNvSpPr/>
              <p:nvPr/>
            </p:nvSpPr>
            <p:spPr>
              <a:xfrm>
                <a:off x="2304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8" name="Group 168"/>
            <p:cNvGrpSpPr/>
            <p:nvPr/>
          </p:nvGrpSpPr>
          <p:grpSpPr>
            <a:xfrm>
              <a:off x="4035" y="3055"/>
              <a:ext cx="768" cy="384"/>
              <a:chOff x="3072" y="1228"/>
              <a:chExt cx="768" cy="384"/>
            </a:xfrm>
          </p:grpSpPr>
          <p:sp>
            <p:nvSpPr>
              <p:cNvPr id="88106" name="Rectangle 169"/>
              <p:cNvSpPr/>
              <p:nvPr/>
            </p:nvSpPr>
            <p:spPr>
              <a:xfrm>
                <a:off x="3115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13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07" name="Rectangle 170"/>
              <p:cNvSpPr/>
              <p:nvPr/>
            </p:nvSpPr>
            <p:spPr>
              <a:xfrm>
                <a:off x="3072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89" name="Group 171"/>
            <p:cNvGrpSpPr/>
            <p:nvPr/>
          </p:nvGrpSpPr>
          <p:grpSpPr>
            <a:xfrm>
              <a:off x="963" y="3439"/>
              <a:ext cx="768" cy="384"/>
              <a:chOff x="0" y="1612"/>
              <a:chExt cx="768" cy="384"/>
            </a:xfrm>
          </p:grpSpPr>
          <p:sp>
            <p:nvSpPr>
              <p:cNvPr id="88104" name="Rectangle 172"/>
              <p:cNvSpPr/>
              <p:nvPr/>
            </p:nvSpPr>
            <p:spPr>
              <a:xfrm>
                <a:off x="43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丁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8105" name="Rectangle 173"/>
              <p:cNvSpPr/>
              <p:nvPr/>
            </p:nvSpPr>
            <p:spPr>
              <a:xfrm>
                <a:off x="0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90" name="Group 174"/>
            <p:cNvGrpSpPr/>
            <p:nvPr/>
          </p:nvGrpSpPr>
          <p:grpSpPr>
            <a:xfrm>
              <a:off x="1731" y="3439"/>
              <a:ext cx="768" cy="384"/>
              <a:chOff x="768" y="1612"/>
              <a:chExt cx="768" cy="384"/>
            </a:xfrm>
          </p:grpSpPr>
          <p:sp>
            <p:nvSpPr>
              <p:cNvPr id="88102" name="Rectangle 175"/>
              <p:cNvSpPr/>
              <p:nvPr/>
            </p:nvSpPr>
            <p:spPr>
              <a:xfrm>
                <a:off x="811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03" name="Rectangle 176"/>
              <p:cNvSpPr/>
              <p:nvPr/>
            </p:nvSpPr>
            <p:spPr>
              <a:xfrm>
                <a:off x="768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91" name="Group 177"/>
            <p:cNvGrpSpPr/>
            <p:nvPr/>
          </p:nvGrpSpPr>
          <p:grpSpPr>
            <a:xfrm>
              <a:off x="2499" y="3439"/>
              <a:ext cx="768" cy="384"/>
              <a:chOff x="1536" y="1612"/>
              <a:chExt cx="768" cy="384"/>
            </a:xfrm>
          </p:grpSpPr>
          <p:sp>
            <p:nvSpPr>
              <p:cNvPr id="88100" name="Rectangle 178"/>
              <p:cNvSpPr/>
              <p:nvPr/>
            </p:nvSpPr>
            <p:spPr>
              <a:xfrm>
                <a:off x="1579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101" name="Rectangle 179"/>
              <p:cNvSpPr/>
              <p:nvPr/>
            </p:nvSpPr>
            <p:spPr>
              <a:xfrm>
                <a:off x="1536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92" name="Group 180"/>
            <p:cNvGrpSpPr/>
            <p:nvPr/>
          </p:nvGrpSpPr>
          <p:grpSpPr>
            <a:xfrm>
              <a:off x="3267" y="3439"/>
              <a:ext cx="768" cy="384"/>
              <a:chOff x="2304" y="1612"/>
              <a:chExt cx="768" cy="384"/>
            </a:xfrm>
          </p:grpSpPr>
          <p:sp>
            <p:nvSpPr>
              <p:cNvPr id="88098" name="Rectangle 181"/>
              <p:cNvSpPr/>
              <p:nvPr/>
            </p:nvSpPr>
            <p:spPr>
              <a:xfrm>
                <a:off x="2347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9" name="Rectangle 182"/>
              <p:cNvSpPr/>
              <p:nvPr/>
            </p:nvSpPr>
            <p:spPr>
              <a:xfrm>
                <a:off x="2304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8093" name="Group 183"/>
            <p:cNvGrpSpPr/>
            <p:nvPr/>
          </p:nvGrpSpPr>
          <p:grpSpPr>
            <a:xfrm>
              <a:off x="4035" y="3439"/>
              <a:ext cx="768" cy="384"/>
              <a:chOff x="3072" y="1612"/>
              <a:chExt cx="768" cy="384"/>
            </a:xfrm>
          </p:grpSpPr>
          <p:sp>
            <p:nvSpPr>
              <p:cNvPr id="88096" name="Rectangle 184"/>
              <p:cNvSpPr/>
              <p:nvPr/>
            </p:nvSpPr>
            <p:spPr>
              <a:xfrm>
                <a:off x="3115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9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097" name="Rectangle 185"/>
              <p:cNvSpPr/>
              <p:nvPr/>
            </p:nvSpPr>
            <p:spPr>
              <a:xfrm>
                <a:off x="3072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8094" name="Rectangle 186"/>
            <p:cNvSpPr/>
            <p:nvPr/>
          </p:nvSpPr>
          <p:spPr>
            <a:xfrm>
              <a:off x="960" y="1824"/>
              <a:ext cx="3846" cy="200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8095" name="Line 187"/>
            <p:cNvSpPr/>
            <p:nvPr/>
          </p:nvSpPr>
          <p:spPr>
            <a:xfrm flipH="1" flipV="1">
              <a:off x="960" y="1824"/>
              <a:ext cx="768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2162" name="Object 2"/>
          <p:cNvGraphicFramePr>
            <a:graphicFrameLocks noChangeAspect="1"/>
          </p:cNvGraphicFramePr>
          <p:nvPr/>
        </p:nvGraphicFramePr>
        <p:xfrm>
          <a:off x="165100" y="1600200"/>
          <a:ext cx="37211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" r:id="rId1" imgW="1181100" imgH="927100" progId="Equation.3">
                  <p:embed/>
                </p:oleObj>
              </mc:Choice>
              <mc:Fallback>
                <p:oleObj name="" r:id="rId1" imgW="1181100" imgH="927100" progId="Equation.3">
                  <p:embed/>
                  <p:pic>
                    <p:nvPicPr>
                      <p:cNvPr id="0" name="图片 313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65100" y="1600200"/>
                        <a:ext cx="3721100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63" name="Object 3"/>
          <p:cNvGraphicFramePr>
            <a:graphicFrameLocks noChangeAspect="1"/>
          </p:cNvGraphicFramePr>
          <p:nvPr/>
        </p:nvGraphicFramePr>
        <p:xfrm>
          <a:off x="5257800" y="1600200"/>
          <a:ext cx="37338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3" imgW="1104900" imgH="927100" progId="Equation.3">
                  <p:embed/>
                </p:oleObj>
              </mc:Choice>
              <mc:Fallback>
                <p:oleObj name="" r:id="rId3" imgW="1104900" imgH="927100" progId="Equation.3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7800" y="1600200"/>
                        <a:ext cx="3733800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AutoShape 4"/>
          <p:cNvSpPr/>
          <p:nvPr/>
        </p:nvSpPr>
        <p:spPr>
          <a:xfrm>
            <a:off x="4572000" y="31242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33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92165" name="Text Box 5"/>
          <p:cNvSpPr txBox="1"/>
          <p:nvPr/>
        </p:nvSpPr>
        <p:spPr>
          <a:xfrm>
            <a:off x="3886200" y="170180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endParaRPr lang="en-US" altLang="zh-CN" sz="36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6" name="Text Box 6"/>
          <p:cNvSpPr txBox="1"/>
          <p:nvPr/>
        </p:nvSpPr>
        <p:spPr>
          <a:xfrm>
            <a:off x="3886200" y="251460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4</a:t>
            </a:r>
            <a:endParaRPr lang="en-US" altLang="zh-CN" sz="36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7" name="Text Box 7"/>
          <p:cNvSpPr txBox="1"/>
          <p:nvPr/>
        </p:nvSpPr>
        <p:spPr>
          <a:xfrm>
            <a:off x="3886200" y="339725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9</a:t>
            </a:r>
            <a:endParaRPr lang="en-US" altLang="zh-CN" sz="36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68" name="Text Box 8"/>
          <p:cNvSpPr txBox="1"/>
          <p:nvPr/>
        </p:nvSpPr>
        <p:spPr>
          <a:xfrm>
            <a:off x="3886200" y="419100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7</a:t>
            </a:r>
            <a:endParaRPr lang="en-US" altLang="zh-CN" sz="36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2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4" grpId="0" animBg="1"/>
      <p:bldP spid="92165" grpId="0"/>
      <p:bldP spid="92166" grpId="0"/>
      <p:bldP spid="92167" grpId="0"/>
      <p:bldP spid="92168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9090" name="Object 1026"/>
          <p:cNvGraphicFramePr>
            <a:graphicFrameLocks noChangeAspect="1"/>
          </p:cNvGraphicFramePr>
          <p:nvPr/>
        </p:nvGraphicFramePr>
        <p:xfrm>
          <a:off x="5105400" y="1600200"/>
          <a:ext cx="35814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6" name="" r:id="rId1" imgW="977900" imgH="927100" progId="Equation.3">
                  <p:embed/>
                </p:oleObj>
              </mc:Choice>
              <mc:Fallback>
                <p:oleObj name="" r:id="rId1" imgW="977900" imgH="927100" progId="Equation.3">
                  <p:embed/>
                  <p:pic>
                    <p:nvPicPr>
                      <p:cNvPr id="0" name="图片 31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05400" y="1600200"/>
                        <a:ext cx="3581400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1" name="Object 1027"/>
          <p:cNvGraphicFramePr>
            <a:graphicFrameLocks noChangeAspect="1"/>
          </p:cNvGraphicFramePr>
          <p:nvPr/>
        </p:nvGraphicFramePr>
        <p:xfrm>
          <a:off x="381000" y="1600200"/>
          <a:ext cx="4046538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" imgW="1104900" imgH="927100" progId="Equation.3">
                  <p:embed/>
                </p:oleObj>
              </mc:Choice>
              <mc:Fallback>
                <p:oleObj name="" r:id="rId3" imgW="1104900" imgH="927100" progId="Equation.3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1000" y="1600200"/>
                        <a:ext cx="4046538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9092" name="AutoShape 1028"/>
          <p:cNvSpPr/>
          <p:nvPr/>
        </p:nvSpPr>
        <p:spPr>
          <a:xfrm>
            <a:off x="4495800" y="31242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33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9094" name="Text Box 1030"/>
          <p:cNvSpPr txBox="1"/>
          <p:nvPr/>
        </p:nvSpPr>
        <p:spPr>
          <a:xfrm>
            <a:off x="2590800" y="495300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4</a:t>
            </a:r>
            <a:endParaRPr lang="en-US" altLang="zh-CN" sz="36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5" name="Text Box 1031"/>
          <p:cNvSpPr txBox="1"/>
          <p:nvPr/>
        </p:nvSpPr>
        <p:spPr>
          <a:xfrm>
            <a:off x="3581400" y="4953000"/>
            <a:ext cx="412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36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2</a:t>
            </a:r>
            <a:endParaRPr lang="en-US" altLang="zh-CN" sz="36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0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0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89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2" grpId="0" animBg="1"/>
      <p:bldP spid="89094" grpId="0"/>
      <p:bldP spid="89095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0962" name="Object 1026"/>
          <p:cNvGraphicFramePr>
            <a:graphicFrameLocks noChangeAspect="1"/>
          </p:cNvGraphicFramePr>
          <p:nvPr/>
        </p:nvGraphicFramePr>
        <p:xfrm>
          <a:off x="381000" y="1600200"/>
          <a:ext cx="3581400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7" name="" r:id="rId1" imgW="977900" imgH="927100" progId="Equation.3">
                  <p:embed/>
                </p:oleObj>
              </mc:Choice>
              <mc:Fallback>
                <p:oleObj name="" r:id="rId1" imgW="977900" imgH="927100" progId="Equation.3">
                  <p:embed/>
                  <p:pic>
                    <p:nvPicPr>
                      <p:cNvPr id="0" name="图片 313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81000" y="1600200"/>
                        <a:ext cx="3581400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5" name="Rectangle 1027"/>
          <p:cNvSpPr/>
          <p:nvPr/>
        </p:nvSpPr>
        <p:spPr>
          <a:xfrm>
            <a:off x="1524000" y="26670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6" name="Rectangle 1028"/>
          <p:cNvSpPr/>
          <p:nvPr/>
        </p:nvSpPr>
        <p:spPr>
          <a:xfrm>
            <a:off x="609600" y="18288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0117" name="Rectangle 1029"/>
          <p:cNvSpPr/>
          <p:nvPr/>
        </p:nvSpPr>
        <p:spPr>
          <a:xfrm>
            <a:off x="2438400" y="43434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18" name="Rectangle 1030"/>
          <p:cNvSpPr/>
          <p:nvPr/>
        </p:nvSpPr>
        <p:spPr>
          <a:xfrm>
            <a:off x="609600" y="43434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0119" name="Rectangle 1031"/>
          <p:cNvSpPr/>
          <p:nvPr/>
        </p:nvSpPr>
        <p:spPr>
          <a:xfrm>
            <a:off x="3200400" y="43434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0120" name="Rectangle 1032"/>
          <p:cNvSpPr/>
          <p:nvPr/>
        </p:nvSpPr>
        <p:spPr>
          <a:xfrm>
            <a:off x="609600" y="35052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121" name="Rectangle 1033"/>
          <p:cNvSpPr/>
          <p:nvPr/>
        </p:nvSpPr>
        <p:spPr>
          <a:xfrm>
            <a:off x="3200400" y="18288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0122" name="Object 1034"/>
          <p:cNvGraphicFramePr>
            <a:graphicFrameLocks noChangeAspect="1"/>
          </p:cNvGraphicFramePr>
          <p:nvPr/>
        </p:nvGraphicFramePr>
        <p:xfrm>
          <a:off x="5243513" y="1600200"/>
          <a:ext cx="3303587" cy="342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4" name="" r:id="rId3" imgW="901700" imgH="927100" progId="Equation.3">
                  <p:embed/>
                </p:oleObj>
              </mc:Choice>
              <mc:Fallback>
                <p:oleObj name="" r:id="rId3" imgW="901700" imgH="927100" progId="Equation.3">
                  <p:embed/>
                  <p:pic>
                    <p:nvPicPr>
                      <p:cNvPr id="0" name="图片 313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43513" y="1600200"/>
                        <a:ext cx="3303587" cy="3429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23" name="AutoShape 1035"/>
          <p:cNvSpPr/>
          <p:nvPr/>
        </p:nvSpPr>
        <p:spPr>
          <a:xfrm>
            <a:off x="4343400" y="3124200"/>
            <a:ext cx="762000" cy="304800"/>
          </a:xfrm>
          <a:prstGeom prst="rightArrow">
            <a:avLst>
              <a:gd name="adj1" fmla="val 50000"/>
              <a:gd name="adj2" fmla="val 62500"/>
            </a:avLst>
          </a:prstGeom>
          <a:solidFill>
            <a:srgbClr val="FF9933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0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9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0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 animBg="1"/>
      <p:bldP spid="90116" grpId="0" animBg="1"/>
      <p:bldP spid="90117" grpId="0" animBg="1"/>
      <p:bldP spid="90118" grpId="0" animBg="1"/>
      <p:bldP spid="90119" grpId="0" animBg="1"/>
      <p:bldP spid="90120" grpId="0" animBg="1"/>
      <p:bldP spid="90121" grpId="0" animBg="1"/>
      <p:bldP spid="90123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90" name="Rectangle 83"/>
          <p:cNvSpPr/>
          <p:nvPr/>
        </p:nvSpPr>
        <p:spPr>
          <a:xfrm>
            <a:off x="1524000" y="2895600"/>
            <a:ext cx="6096000" cy="320040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FFCC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9091" name="Text Box 2"/>
          <p:cNvSpPr txBox="1"/>
          <p:nvPr/>
        </p:nvSpPr>
        <p:spPr>
          <a:xfrm>
            <a:off x="228600" y="457200"/>
            <a:ext cx="8686800" cy="22272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          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有一份中文说明书，需译成英、日、德、俄四种文字，分别记作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、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。现有甲、乙、丙、丁四人，他们将中文说明书译成不同语种的说明书所需时间如下表所示，问如何分派任务，可使总时间最少？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89092" name="Group 3"/>
          <p:cNvGrpSpPr/>
          <p:nvPr/>
        </p:nvGrpSpPr>
        <p:grpSpPr>
          <a:xfrm>
            <a:off x="1524000" y="2895600"/>
            <a:ext cx="6105525" cy="3200400"/>
            <a:chOff x="960" y="1824"/>
            <a:chExt cx="3846" cy="2002"/>
          </a:xfrm>
        </p:grpSpPr>
        <p:grpSp>
          <p:nvGrpSpPr>
            <p:cNvPr id="89094" name="Group 4"/>
            <p:cNvGrpSpPr/>
            <p:nvPr/>
          </p:nvGrpSpPr>
          <p:grpSpPr>
            <a:xfrm>
              <a:off x="963" y="1827"/>
              <a:ext cx="768" cy="460"/>
              <a:chOff x="0" y="0"/>
              <a:chExt cx="768" cy="460"/>
            </a:xfrm>
          </p:grpSpPr>
          <p:sp>
            <p:nvSpPr>
              <p:cNvPr id="89169" name="Rectangle 5"/>
              <p:cNvSpPr/>
              <p:nvPr/>
            </p:nvSpPr>
            <p:spPr>
              <a:xfrm>
                <a:off x="43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/>
              <a:p>
                <a:pPr algn="just" eaLnBrk="1" hangingPunct="1"/>
                <a:r>
                  <a:rPr lang="en-US" altLang="zh-CN" sz="2000" b="1" dirty="0">
                    <a:latin typeface="Times New Roman" panose="02020603050405020304" pitchFamily="18" charset="0"/>
                  </a:rPr>
                  <a:t>      </a:t>
                </a:r>
                <a:r>
                  <a:rPr lang="zh-CN" altLang="en-US" sz="2000" b="1" dirty="0">
                    <a:latin typeface="Times New Roman" panose="02020603050405020304" pitchFamily="18" charset="0"/>
                    <a:ea typeface="楷体_GB2312" pitchFamily="49" charset="-122"/>
                  </a:rPr>
                  <a:t>任务</a:t>
                </a:r>
                <a:endParaRPr lang="zh-CN" altLang="en-US" sz="20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algn="just"/>
                <a:r>
                  <a:rPr lang="zh-CN" altLang="en-US" b="1" dirty="0">
                    <a:latin typeface="Times New Roman" panose="02020603050405020304" pitchFamily="18" charset="0"/>
                    <a:ea typeface="楷体_GB2312" pitchFamily="49" charset="-122"/>
                  </a:rPr>
                  <a:t>人员</a:t>
                </a:r>
                <a:endParaRPr lang="zh-CN" altLang="en-US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  <a:p>
                <a:pPr algn="just"/>
                <a:endParaRPr lang="en-US" altLang="zh-CN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70" name="Rectangle 6"/>
              <p:cNvSpPr/>
              <p:nvPr/>
            </p:nvSpPr>
            <p:spPr>
              <a:xfrm>
                <a:off x="0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095" name="Group 7"/>
            <p:cNvGrpSpPr/>
            <p:nvPr/>
          </p:nvGrpSpPr>
          <p:grpSpPr>
            <a:xfrm>
              <a:off x="1731" y="1827"/>
              <a:ext cx="768" cy="460"/>
              <a:chOff x="768" y="0"/>
              <a:chExt cx="768" cy="460"/>
            </a:xfrm>
          </p:grpSpPr>
          <p:sp>
            <p:nvSpPr>
              <p:cNvPr id="89167" name="Rectangle 8"/>
              <p:cNvSpPr/>
              <p:nvPr/>
            </p:nvSpPr>
            <p:spPr>
              <a:xfrm>
                <a:off x="811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i="1" dirty="0">
                    <a:latin typeface="Times New Roman" panose="02020603050405020304" pitchFamily="18" charset="0"/>
                  </a:rPr>
                  <a:t>A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68" name="Rectangle 9"/>
              <p:cNvSpPr/>
              <p:nvPr/>
            </p:nvSpPr>
            <p:spPr>
              <a:xfrm>
                <a:off x="768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096" name="Group 10"/>
            <p:cNvGrpSpPr/>
            <p:nvPr/>
          </p:nvGrpSpPr>
          <p:grpSpPr>
            <a:xfrm>
              <a:off x="2499" y="1827"/>
              <a:ext cx="768" cy="460"/>
              <a:chOff x="1536" y="0"/>
              <a:chExt cx="768" cy="460"/>
            </a:xfrm>
          </p:grpSpPr>
          <p:sp>
            <p:nvSpPr>
              <p:cNvPr id="89165" name="Rectangle 11"/>
              <p:cNvSpPr/>
              <p:nvPr/>
            </p:nvSpPr>
            <p:spPr>
              <a:xfrm>
                <a:off x="1579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i="1" dirty="0">
                    <a:latin typeface="Times New Roman" panose="02020603050405020304" pitchFamily="18" charset="0"/>
                  </a:rPr>
                  <a:t>B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66" name="Rectangle 12"/>
              <p:cNvSpPr/>
              <p:nvPr/>
            </p:nvSpPr>
            <p:spPr>
              <a:xfrm>
                <a:off x="1536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097" name="Group 13"/>
            <p:cNvGrpSpPr/>
            <p:nvPr/>
          </p:nvGrpSpPr>
          <p:grpSpPr>
            <a:xfrm>
              <a:off x="3267" y="1827"/>
              <a:ext cx="768" cy="460"/>
              <a:chOff x="2304" y="0"/>
              <a:chExt cx="768" cy="460"/>
            </a:xfrm>
          </p:grpSpPr>
          <p:sp>
            <p:nvSpPr>
              <p:cNvPr id="89163" name="Rectangle 14"/>
              <p:cNvSpPr/>
              <p:nvPr/>
            </p:nvSpPr>
            <p:spPr>
              <a:xfrm>
                <a:off x="2347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C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64" name="Rectangle 15"/>
              <p:cNvSpPr/>
              <p:nvPr/>
            </p:nvSpPr>
            <p:spPr>
              <a:xfrm>
                <a:off x="2304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098" name="Group 16"/>
            <p:cNvGrpSpPr/>
            <p:nvPr/>
          </p:nvGrpSpPr>
          <p:grpSpPr>
            <a:xfrm>
              <a:off x="4035" y="1827"/>
              <a:ext cx="768" cy="460"/>
              <a:chOff x="3072" y="0"/>
              <a:chExt cx="768" cy="460"/>
            </a:xfrm>
          </p:grpSpPr>
          <p:sp>
            <p:nvSpPr>
              <p:cNvPr id="89161" name="Rectangle 17"/>
              <p:cNvSpPr/>
              <p:nvPr/>
            </p:nvSpPr>
            <p:spPr>
              <a:xfrm>
                <a:off x="3115" y="0"/>
                <a:ext cx="682" cy="46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D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62" name="Rectangle 18"/>
              <p:cNvSpPr/>
              <p:nvPr/>
            </p:nvSpPr>
            <p:spPr>
              <a:xfrm>
                <a:off x="3072" y="0"/>
                <a:ext cx="768" cy="460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099" name="Group 19"/>
            <p:cNvGrpSpPr/>
            <p:nvPr/>
          </p:nvGrpSpPr>
          <p:grpSpPr>
            <a:xfrm>
              <a:off x="963" y="2287"/>
              <a:ext cx="768" cy="384"/>
              <a:chOff x="0" y="460"/>
              <a:chExt cx="768" cy="384"/>
            </a:xfrm>
          </p:grpSpPr>
          <p:sp>
            <p:nvSpPr>
              <p:cNvPr id="89159" name="Rectangle 20"/>
              <p:cNvSpPr/>
              <p:nvPr/>
            </p:nvSpPr>
            <p:spPr>
              <a:xfrm>
                <a:off x="43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甲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9160" name="Rectangle 21"/>
              <p:cNvSpPr/>
              <p:nvPr/>
            </p:nvSpPr>
            <p:spPr>
              <a:xfrm>
                <a:off x="0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0" name="Group 22"/>
            <p:cNvGrpSpPr/>
            <p:nvPr/>
          </p:nvGrpSpPr>
          <p:grpSpPr>
            <a:xfrm>
              <a:off x="1731" y="2287"/>
              <a:ext cx="768" cy="384"/>
              <a:chOff x="768" y="460"/>
              <a:chExt cx="768" cy="384"/>
            </a:xfrm>
          </p:grpSpPr>
          <p:sp>
            <p:nvSpPr>
              <p:cNvPr id="89157" name="Rectangle 23"/>
              <p:cNvSpPr/>
              <p:nvPr/>
            </p:nvSpPr>
            <p:spPr>
              <a:xfrm>
                <a:off x="811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6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58" name="Rectangle 24"/>
              <p:cNvSpPr/>
              <p:nvPr/>
            </p:nvSpPr>
            <p:spPr>
              <a:xfrm>
                <a:off x="768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1" name="Group 25"/>
            <p:cNvGrpSpPr/>
            <p:nvPr/>
          </p:nvGrpSpPr>
          <p:grpSpPr>
            <a:xfrm>
              <a:off x="2499" y="2287"/>
              <a:ext cx="768" cy="384"/>
              <a:chOff x="1536" y="460"/>
              <a:chExt cx="768" cy="384"/>
            </a:xfrm>
          </p:grpSpPr>
          <p:sp>
            <p:nvSpPr>
              <p:cNvPr id="89155" name="Rectangle 26"/>
              <p:cNvSpPr/>
              <p:nvPr/>
            </p:nvSpPr>
            <p:spPr>
              <a:xfrm>
                <a:off x="1579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7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56" name="Rectangle 27"/>
              <p:cNvSpPr/>
              <p:nvPr/>
            </p:nvSpPr>
            <p:spPr>
              <a:xfrm>
                <a:off x="1536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2" name="Group 28"/>
            <p:cNvGrpSpPr/>
            <p:nvPr/>
          </p:nvGrpSpPr>
          <p:grpSpPr>
            <a:xfrm>
              <a:off x="3267" y="2287"/>
              <a:ext cx="768" cy="384"/>
              <a:chOff x="2304" y="460"/>
              <a:chExt cx="768" cy="384"/>
            </a:xfrm>
          </p:grpSpPr>
          <p:sp>
            <p:nvSpPr>
              <p:cNvPr id="89153" name="Rectangle 29"/>
              <p:cNvSpPr/>
              <p:nvPr/>
            </p:nvSpPr>
            <p:spPr>
              <a:xfrm>
                <a:off x="2347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54" name="Rectangle 30"/>
              <p:cNvSpPr/>
              <p:nvPr/>
            </p:nvSpPr>
            <p:spPr>
              <a:xfrm>
                <a:off x="2304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3" name="Group 31"/>
            <p:cNvGrpSpPr/>
            <p:nvPr/>
          </p:nvGrpSpPr>
          <p:grpSpPr>
            <a:xfrm>
              <a:off x="4035" y="2287"/>
              <a:ext cx="768" cy="384"/>
              <a:chOff x="3072" y="460"/>
              <a:chExt cx="768" cy="384"/>
            </a:xfrm>
          </p:grpSpPr>
          <p:sp>
            <p:nvSpPr>
              <p:cNvPr id="89151" name="Rectangle 32"/>
              <p:cNvSpPr/>
              <p:nvPr/>
            </p:nvSpPr>
            <p:spPr>
              <a:xfrm>
                <a:off x="3115" y="460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52" name="Rectangle 33"/>
              <p:cNvSpPr/>
              <p:nvPr/>
            </p:nvSpPr>
            <p:spPr>
              <a:xfrm>
                <a:off x="3072" y="460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4" name="Group 34"/>
            <p:cNvGrpSpPr/>
            <p:nvPr/>
          </p:nvGrpSpPr>
          <p:grpSpPr>
            <a:xfrm>
              <a:off x="963" y="2671"/>
              <a:ext cx="768" cy="384"/>
              <a:chOff x="0" y="844"/>
              <a:chExt cx="768" cy="384"/>
            </a:xfrm>
          </p:grpSpPr>
          <p:sp>
            <p:nvSpPr>
              <p:cNvPr id="89149" name="Rectangle 35"/>
              <p:cNvSpPr/>
              <p:nvPr/>
            </p:nvSpPr>
            <p:spPr>
              <a:xfrm>
                <a:off x="43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乙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9150" name="Rectangle 36"/>
              <p:cNvSpPr/>
              <p:nvPr/>
            </p:nvSpPr>
            <p:spPr>
              <a:xfrm>
                <a:off x="0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5" name="Group 37"/>
            <p:cNvGrpSpPr/>
            <p:nvPr/>
          </p:nvGrpSpPr>
          <p:grpSpPr>
            <a:xfrm>
              <a:off x="1731" y="2671"/>
              <a:ext cx="768" cy="384"/>
              <a:chOff x="768" y="844"/>
              <a:chExt cx="768" cy="384"/>
            </a:xfrm>
          </p:grpSpPr>
          <p:sp>
            <p:nvSpPr>
              <p:cNvPr id="89147" name="Rectangle 38"/>
              <p:cNvSpPr/>
              <p:nvPr/>
            </p:nvSpPr>
            <p:spPr>
              <a:xfrm>
                <a:off x="811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48" name="Rectangle 39"/>
              <p:cNvSpPr/>
              <p:nvPr/>
            </p:nvSpPr>
            <p:spPr>
              <a:xfrm>
                <a:off x="768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6" name="Group 40"/>
            <p:cNvGrpSpPr/>
            <p:nvPr/>
          </p:nvGrpSpPr>
          <p:grpSpPr>
            <a:xfrm>
              <a:off x="2499" y="2671"/>
              <a:ext cx="768" cy="384"/>
              <a:chOff x="1536" y="844"/>
              <a:chExt cx="768" cy="384"/>
            </a:xfrm>
          </p:grpSpPr>
          <p:sp>
            <p:nvSpPr>
              <p:cNvPr id="89145" name="Rectangle 41"/>
              <p:cNvSpPr/>
              <p:nvPr/>
            </p:nvSpPr>
            <p:spPr>
              <a:xfrm>
                <a:off x="1579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46" name="Rectangle 42"/>
              <p:cNvSpPr/>
              <p:nvPr/>
            </p:nvSpPr>
            <p:spPr>
              <a:xfrm>
                <a:off x="1536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7" name="Group 43"/>
            <p:cNvGrpSpPr/>
            <p:nvPr/>
          </p:nvGrpSpPr>
          <p:grpSpPr>
            <a:xfrm>
              <a:off x="3267" y="2671"/>
              <a:ext cx="768" cy="384"/>
              <a:chOff x="2304" y="844"/>
              <a:chExt cx="768" cy="384"/>
            </a:xfrm>
          </p:grpSpPr>
          <p:sp>
            <p:nvSpPr>
              <p:cNvPr id="89143" name="Rectangle 44"/>
              <p:cNvSpPr/>
              <p:nvPr/>
            </p:nvSpPr>
            <p:spPr>
              <a:xfrm>
                <a:off x="2347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9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44" name="Rectangle 45"/>
              <p:cNvSpPr/>
              <p:nvPr/>
            </p:nvSpPr>
            <p:spPr>
              <a:xfrm>
                <a:off x="2304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8" name="Group 46"/>
            <p:cNvGrpSpPr/>
            <p:nvPr/>
          </p:nvGrpSpPr>
          <p:grpSpPr>
            <a:xfrm>
              <a:off x="4035" y="2671"/>
              <a:ext cx="768" cy="384"/>
              <a:chOff x="3072" y="844"/>
              <a:chExt cx="768" cy="384"/>
            </a:xfrm>
          </p:grpSpPr>
          <p:sp>
            <p:nvSpPr>
              <p:cNvPr id="89141" name="Rectangle 47"/>
              <p:cNvSpPr/>
              <p:nvPr/>
            </p:nvSpPr>
            <p:spPr>
              <a:xfrm>
                <a:off x="3115" y="844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42" name="Rectangle 48"/>
              <p:cNvSpPr/>
              <p:nvPr/>
            </p:nvSpPr>
            <p:spPr>
              <a:xfrm>
                <a:off x="3072" y="844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09" name="Group 49"/>
            <p:cNvGrpSpPr/>
            <p:nvPr/>
          </p:nvGrpSpPr>
          <p:grpSpPr>
            <a:xfrm>
              <a:off x="963" y="3055"/>
              <a:ext cx="768" cy="384"/>
              <a:chOff x="0" y="1228"/>
              <a:chExt cx="768" cy="384"/>
            </a:xfrm>
          </p:grpSpPr>
          <p:sp>
            <p:nvSpPr>
              <p:cNvPr id="89139" name="Rectangle 50"/>
              <p:cNvSpPr/>
              <p:nvPr/>
            </p:nvSpPr>
            <p:spPr>
              <a:xfrm>
                <a:off x="43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丙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9140" name="Rectangle 51"/>
              <p:cNvSpPr/>
              <p:nvPr/>
            </p:nvSpPr>
            <p:spPr>
              <a:xfrm>
                <a:off x="0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10" name="Group 52"/>
            <p:cNvGrpSpPr/>
            <p:nvPr/>
          </p:nvGrpSpPr>
          <p:grpSpPr>
            <a:xfrm>
              <a:off x="1731" y="3055"/>
              <a:ext cx="768" cy="384"/>
              <a:chOff x="768" y="1228"/>
              <a:chExt cx="768" cy="384"/>
            </a:xfrm>
          </p:grpSpPr>
          <p:sp>
            <p:nvSpPr>
              <p:cNvPr id="89137" name="Rectangle 53"/>
              <p:cNvSpPr/>
              <p:nvPr/>
            </p:nvSpPr>
            <p:spPr>
              <a:xfrm>
                <a:off x="811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3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38" name="Rectangle 54"/>
              <p:cNvSpPr/>
              <p:nvPr/>
            </p:nvSpPr>
            <p:spPr>
              <a:xfrm>
                <a:off x="768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11" name="Group 55"/>
            <p:cNvGrpSpPr/>
            <p:nvPr/>
          </p:nvGrpSpPr>
          <p:grpSpPr>
            <a:xfrm>
              <a:off x="2499" y="3055"/>
              <a:ext cx="768" cy="384"/>
              <a:chOff x="1536" y="1228"/>
              <a:chExt cx="768" cy="384"/>
            </a:xfrm>
          </p:grpSpPr>
          <p:sp>
            <p:nvSpPr>
              <p:cNvPr id="89135" name="Rectangle 56"/>
              <p:cNvSpPr/>
              <p:nvPr/>
            </p:nvSpPr>
            <p:spPr>
              <a:xfrm>
                <a:off x="1579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36" name="Rectangle 57"/>
              <p:cNvSpPr/>
              <p:nvPr/>
            </p:nvSpPr>
            <p:spPr>
              <a:xfrm>
                <a:off x="1536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12" name="Group 58"/>
            <p:cNvGrpSpPr/>
            <p:nvPr/>
          </p:nvGrpSpPr>
          <p:grpSpPr>
            <a:xfrm>
              <a:off x="3267" y="3055"/>
              <a:ext cx="768" cy="384"/>
              <a:chOff x="2304" y="1228"/>
              <a:chExt cx="768" cy="384"/>
            </a:xfrm>
          </p:grpSpPr>
          <p:sp>
            <p:nvSpPr>
              <p:cNvPr id="89133" name="Rectangle 59"/>
              <p:cNvSpPr/>
              <p:nvPr/>
            </p:nvSpPr>
            <p:spPr>
              <a:xfrm>
                <a:off x="2347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10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34" name="Rectangle 60"/>
              <p:cNvSpPr/>
              <p:nvPr/>
            </p:nvSpPr>
            <p:spPr>
              <a:xfrm>
                <a:off x="2304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13" name="Group 61"/>
            <p:cNvGrpSpPr/>
            <p:nvPr/>
          </p:nvGrpSpPr>
          <p:grpSpPr>
            <a:xfrm>
              <a:off x="4035" y="3055"/>
              <a:ext cx="768" cy="384"/>
              <a:chOff x="3072" y="1228"/>
              <a:chExt cx="768" cy="384"/>
            </a:xfrm>
          </p:grpSpPr>
          <p:sp>
            <p:nvSpPr>
              <p:cNvPr id="89131" name="Rectangle 62"/>
              <p:cNvSpPr/>
              <p:nvPr/>
            </p:nvSpPr>
            <p:spPr>
              <a:xfrm>
                <a:off x="3115" y="1228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4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32" name="Rectangle 63"/>
              <p:cNvSpPr/>
              <p:nvPr/>
            </p:nvSpPr>
            <p:spPr>
              <a:xfrm>
                <a:off x="3072" y="1228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14" name="Group 64"/>
            <p:cNvGrpSpPr/>
            <p:nvPr/>
          </p:nvGrpSpPr>
          <p:grpSpPr>
            <a:xfrm>
              <a:off x="963" y="3439"/>
              <a:ext cx="768" cy="384"/>
              <a:chOff x="0" y="1612"/>
              <a:chExt cx="768" cy="384"/>
            </a:xfrm>
          </p:grpSpPr>
          <p:sp>
            <p:nvSpPr>
              <p:cNvPr id="89129" name="Rectangle 65"/>
              <p:cNvSpPr/>
              <p:nvPr/>
            </p:nvSpPr>
            <p:spPr>
              <a:xfrm>
                <a:off x="43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zh-CN" altLang="en-US" sz="2800" b="1" dirty="0">
                    <a:latin typeface="Times New Roman" panose="02020603050405020304" pitchFamily="18" charset="0"/>
                    <a:ea typeface="楷体_GB2312" pitchFamily="49" charset="-122"/>
                  </a:rPr>
                  <a:t>丁</a:t>
                </a:r>
                <a:endParaRPr lang="zh-CN" altLang="en-US" sz="2800" b="1" dirty="0">
                  <a:latin typeface="Times New Roman" panose="02020603050405020304" pitchFamily="18" charset="0"/>
                  <a:ea typeface="楷体_GB2312" pitchFamily="49" charset="-122"/>
                </a:endParaRPr>
              </a:p>
            </p:txBody>
          </p:sp>
          <p:sp>
            <p:nvSpPr>
              <p:cNvPr id="89130" name="Rectangle 66"/>
              <p:cNvSpPr/>
              <p:nvPr/>
            </p:nvSpPr>
            <p:spPr>
              <a:xfrm>
                <a:off x="0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15" name="Group 67"/>
            <p:cNvGrpSpPr/>
            <p:nvPr/>
          </p:nvGrpSpPr>
          <p:grpSpPr>
            <a:xfrm>
              <a:off x="1731" y="3439"/>
              <a:ext cx="768" cy="384"/>
              <a:chOff x="768" y="1612"/>
              <a:chExt cx="768" cy="384"/>
            </a:xfrm>
          </p:grpSpPr>
          <p:sp>
            <p:nvSpPr>
              <p:cNvPr id="89127" name="Rectangle 68"/>
              <p:cNvSpPr/>
              <p:nvPr/>
            </p:nvSpPr>
            <p:spPr>
              <a:xfrm>
                <a:off x="811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5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28" name="Rectangle 69"/>
              <p:cNvSpPr/>
              <p:nvPr/>
            </p:nvSpPr>
            <p:spPr>
              <a:xfrm>
                <a:off x="768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16" name="Group 70"/>
            <p:cNvGrpSpPr/>
            <p:nvPr/>
          </p:nvGrpSpPr>
          <p:grpSpPr>
            <a:xfrm>
              <a:off x="2499" y="3439"/>
              <a:ext cx="768" cy="384"/>
              <a:chOff x="1536" y="1612"/>
              <a:chExt cx="768" cy="384"/>
            </a:xfrm>
          </p:grpSpPr>
          <p:sp>
            <p:nvSpPr>
              <p:cNvPr id="89125" name="Rectangle 71"/>
              <p:cNvSpPr/>
              <p:nvPr/>
            </p:nvSpPr>
            <p:spPr>
              <a:xfrm>
                <a:off x="1579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9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26" name="Rectangle 72"/>
              <p:cNvSpPr/>
              <p:nvPr/>
            </p:nvSpPr>
            <p:spPr>
              <a:xfrm>
                <a:off x="1536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17" name="Group 73"/>
            <p:cNvGrpSpPr/>
            <p:nvPr/>
          </p:nvGrpSpPr>
          <p:grpSpPr>
            <a:xfrm>
              <a:off x="3267" y="3439"/>
              <a:ext cx="768" cy="384"/>
              <a:chOff x="2304" y="1612"/>
              <a:chExt cx="768" cy="384"/>
            </a:xfrm>
          </p:grpSpPr>
          <p:sp>
            <p:nvSpPr>
              <p:cNvPr id="89123" name="Rectangle 74"/>
              <p:cNvSpPr/>
              <p:nvPr/>
            </p:nvSpPr>
            <p:spPr>
              <a:xfrm>
                <a:off x="2347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8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24" name="Rectangle 75"/>
              <p:cNvSpPr/>
              <p:nvPr/>
            </p:nvSpPr>
            <p:spPr>
              <a:xfrm>
                <a:off x="2304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89118" name="Group 76"/>
            <p:cNvGrpSpPr/>
            <p:nvPr/>
          </p:nvGrpSpPr>
          <p:grpSpPr>
            <a:xfrm>
              <a:off x="4035" y="3439"/>
              <a:ext cx="768" cy="384"/>
              <a:chOff x="3072" y="1612"/>
              <a:chExt cx="768" cy="384"/>
            </a:xfrm>
          </p:grpSpPr>
          <p:sp>
            <p:nvSpPr>
              <p:cNvPr id="89121" name="Rectangle 77"/>
              <p:cNvSpPr/>
              <p:nvPr/>
            </p:nvSpPr>
            <p:spPr>
              <a:xfrm>
                <a:off x="3115" y="1612"/>
                <a:ext cx="682" cy="3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ctr" anchorCtr="0"/>
              <a:p>
                <a:pPr algn="ctr" eaLnBrk="1" hangingPunct="1"/>
                <a:r>
                  <a:rPr lang="en-US" altLang="zh-CN" sz="2800" b="1" dirty="0">
                    <a:latin typeface="Times New Roman" panose="02020603050405020304" pitchFamily="18" charset="0"/>
                  </a:rPr>
                  <a:t>2</a:t>
                </a:r>
                <a:endParaRPr lang="en-US" altLang="zh-CN" sz="2800" b="1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122" name="Rectangle 78"/>
              <p:cNvSpPr/>
              <p:nvPr/>
            </p:nvSpPr>
            <p:spPr>
              <a:xfrm>
                <a:off x="3072" y="1612"/>
                <a:ext cx="768" cy="384"/>
              </a:xfrm>
              <a:prstGeom prst="rect">
                <a:avLst/>
              </a:prstGeom>
              <a:noFill/>
              <a:ln w="7" cap="flat" cmpd="sng">
                <a:solidFill>
                  <a:srgbClr val="A0A0A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p>
                <a:pPr eaLnBrk="1" hangingPunct="1"/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89119" name="Rectangle 79"/>
            <p:cNvSpPr/>
            <p:nvPr/>
          </p:nvSpPr>
          <p:spPr>
            <a:xfrm>
              <a:off x="960" y="1824"/>
              <a:ext cx="3846" cy="2002"/>
            </a:xfrm>
            <a:prstGeom prst="rect">
              <a:avLst/>
            </a:prstGeom>
            <a:noFill/>
            <a:ln w="11112" cap="flat" cmpd="sng">
              <a:solidFill>
                <a:srgbClr val="A0A0A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eaLnBrk="1" hangingPunct="1"/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89120" name="Line 80"/>
            <p:cNvSpPr/>
            <p:nvPr/>
          </p:nvSpPr>
          <p:spPr>
            <a:xfrm flipH="1" flipV="1">
              <a:off x="960" y="1824"/>
              <a:ext cx="768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9093" name="Rectangle 81"/>
          <p:cNvSpPr>
            <a:spLocks noGrp="1"/>
          </p:cNvSpPr>
          <p:nvPr>
            <p:ph type="ctrTitle"/>
          </p:nvPr>
        </p:nvSpPr>
        <p:spPr>
          <a:xfrm>
            <a:off x="76200" y="304800"/>
            <a:ext cx="1600200" cy="7620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2800" b="1" dirty="0">
                <a:solidFill>
                  <a:srgbClr val="000066"/>
                </a:solidFill>
                <a:ea typeface="楷体_GB2312" pitchFamily="49" charset="-122"/>
              </a:rPr>
              <a:t>例二、</a:t>
            </a:r>
            <a:endParaRPr lang="zh-CN" altLang="en-US" sz="2800" b="1" dirty="0">
              <a:solidFill>
                <a:srgbClr val="000066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90" name="Text Box 2"/>
          <p:cNvSpPr txBox="1"/>
          <p:nvPr/>
        </p:nvSpPr>
        <p:spPr>
          <a:xfrm>
            <a:off x="228600" y="304800"/>
            <a:ext cx="8686800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just" eaLnBrk="1" hangingPunct="1"/>
            <a:r>
              <a:rPr lang="zh-CN" altLang="en-US" sz="32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求解过程如下：</a:t>
            </a:r>
            <a:endParaRPr lang="zh-CN" altLang="en-US" sz="32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第一步，变换系数矩阵：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41986" name="Object 3"/>
          <p:cNvGraphicFramePr>
            <a:graphicFrameLocks noChangeAspect="1"/>
          </p:cNvGraphicFramePr>
          <p:nvPr/>
        </p:nvGraphicFramePr>
        <p:xfrm>
          <a:off x="277813" y="1511300"/>
          <a:ext cx="3355975" cy="1944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4" name="" r:id="rId1" imgW="1600200" imgH="927100" progId="Equation.3">
                  <p:embed/>
                </p:oleObj>
              </mc:Choice>
              <mc:Fallback>
                <p:oleObj name="" r:id="rId1" imgW="1600200" imgH="927100" progId="Equation.3">
                  <p:embed/>
                  <p:pic>
                    <p:nvPicPr>
                      <p:cNvPr id="0" name="图片 312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813" y="1511300"/>
                        <a:ext cx="3355975" cy="19446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2" name="Object 4"/>
          <p:cNvGraphicFramePr>
            <a:graphicFrameLocks noChangeAspect="1"/>
          </p:cNvGraphicFramePr>
          <p:nvPr/>
        </p:nvGraphicFramePr>
        <p:xfrm>
          <a:off x="4267200" y="1509713"/>
          <a:ext cx="1981200" cy="200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2" name="" r:id="rId3" imgW="914400" imgH="927100" progId="Equation.3">
                  <p:embed/>
                </p:oleObj>
              </mc:Choice>
              <mc:Fallback>
                <p:oleObj name="" r:id="rId3" imgW="914400" imgH="927100" progId="Equation.3">
                  <p:embed/>
                  <p:pic>
                    <p:nvPicPr>
                      <p:cNvPr id="0" name="图片 312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67200" y="1509713"/>
                        <a:ext cx="1981200" cy="20097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733" name="Object 5"/>
          <p:cNvGraphicFramePr>
            <a:graphicFrameLocks noChangeAspect="1"/>
          </p:cNvGraphicFramePr>
          <p:nvPr/>
        </p:nvGraphicFramePr>
        <p:xfrm>
          <a:off x="6934200" y="1511300"/>
          <a:ext cx="1905000" cy="1931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1" name="" r:id="rId5" imgW="914400" imgH="927100" progId="Equation.3">
                  <p:embed/>
                </p:oleObj>
              </mc:Choice>
              <mc:Fallback>
                <p:oleObj name="" r:id="rId5" imgW="914400" imgH="927100" progId="Equation.3">
                  <p:embed/>
                  <p:pic>
                    <p:nvPicPr>
                      <p:cNvPr id="0" name="图片 312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934200" y="1511300"/>
                        <a:ext cx="1905000" cy="19319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4" name="Text Box 6"/>
          <p:cNvSpPr txBox="1"/>
          <p:nvPr/>
        </p:nvSpPr>
        <p:spPr>
          <a:xfrm>
            <a:off x="5105400" y="3505200"/>
            <a:ext cx="739775" cy="4889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600" dirty="0">
                <a:latin typeface="Times New Roman" panose="02020603050405020304" pitchFamily="18" charset="0"/>
              </a:rPr>
              <a:t>－</a:t>
            </a:r>
            <a:r>
              <a:rPr lang="en-US" altLang="zh-CN" sz="2600" b="1" dirty="0">
                <a:latin typeface="Times New Roman" panose="02020603050405020304" pitchFamily="18" charset="0"/>
              </a:rPr>
              <a:t>5</a:t>
            </a:r>
            <a:endParaRPr lang="en-US" altLang="zh-CN" sz="2600" b="1" dirty="0">
              <a:latin typeface="Times New Roman" panose="02020603050405020304" pitchFamily="18" charset="0"/>
            </a:endParaRPr>
          </a:p>
        </p:txBody>
      </p:sp>
      <p:sp>
        <p:nvSpPr>
          <p:cNvPr id="73735" name="Text Box 7"/>
          <p:cNvSpPr txBox="1"/>
          <p:nvPr/>
        </p:nvSpPr>
        <p:spPr>
          <a:xfrm>
            <a:off x="228600" y="3810000"/>
            <a:ext cx="3962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第二步，试指派：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73736" name="Object 8"/>
          <p:cNvGraphicFramePr>
            <a:graphicFrameLocks noChangeAspect="1"/>
          </p:cNvGraphicFramePr>
          <p:nvPr/>
        </p:nvGraphicFramePr>
        <p:xfrm>
          <a:off x="3505200" y="4176713"/>
          <a:ext cx="2286000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7" imgW="914400" imgH="927100" progId="Equation.3">
                  <p:embed/>
                </p:oleObj>
              </mc:Choice>
              <mc:Fallback>
                <p:oleObj name="" r:id="rId7" imgW="914400" imgH="927100" progId="Equation.3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5200" y="4176713"/>
                        <a:ext cx="2286000" cy="2166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7" name="Rectangle 9"/>
          <p:cNvSpPr/>
          <p:nvPr/>
        </p:nvSpPr>
        <p:spPr>
          <a:xfrm>
            <a:off x="5181600" y="41910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8" name="Rectangle 10"/>
          <p:cNvSpPr/>
          <p:nvPr/>
        </p:nvSpPr>
        <p:spPr>
          <a:xfrm>
            <a:off x="3581400" y="47244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39" name="Rectangle 11"/>
          <p:cNvSpPr/>
          <p:nvPr/>
        </p:nvSpPr>
        <p:spPr>
          <a:xfrm>
            <a:off x="4114800" y="5257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3740" name="Rectangle 12"/>
          <p:cNvSpPr/>
          <p:nvPr/>
        </p:nvSpPr>
        <p:spPr>
          <a:xfrm>
            <a:off x="4667250" y="4775200"/>
            <a:ext cx="42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3741" name="Rectangle 13"/>
          <p:cNvSpPr/>
          <p:nvPr/>
        </p:nvSpPr>
        <p:spPr>
          <a:xfrm>
            <a:off x="5181600" y="5791200"/>
            <a:ext cx="42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3742" name="Text Box 14"/>
          <p:cNvSpPr txBox="1"/>
          <p:nvPr/>
        </p:nvSpPr>
        <p:spPr>
          <a:xfrm>
            <a:off x="5791200" y="5410200"/>
            <a:ext cx="3352800" cy="8842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找到 </a:t>
            </a:r>
            <a:r>
              <a:rPr lang="en-US" altLang="zh-CN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zh-CN" altLang="en-US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个独立零元素</a:t>
            </a:r>
            <a:endParaRPr lang="zh-CN" altLang="en-US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  <a:p>
            <a:pPr eaLnBrk="1" hangingPunct="1"/>
            <a:r>
              <a:rPr lang="zh-CN" altLang="en-US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但 </a:t>
            </a:r>
            <a:r>
              <a:rPr lang="en-US" altLang="zh-CN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m 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lang="en-US" altLang="zh-CN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3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&lt; 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 =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73743" name="AutoShape 15"/>
          <p:cNvSpPr/>
          <p:nvPr/>
        </p:nvSpPr>
        <p:spPr>
          <a:xfrm>
            <a:off x="3657600" y="24384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3744" name="AutoShape 16"/>
          <p:cNvSpPr/>
          <p:nvPr/>
        </p:nvSpPr>
        <p:spPr>
          <a:xfrm>
            <a:off x="6324600" y="24384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7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3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37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3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3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3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73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73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73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3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4" grpId="0"/>
      <p:bldP spid="73735" grpId="0"/>
      <p:bldP spid="73737" grpId="0"/>
      <p:bldP spid="73738" grpId="0"/>
      <p:bldP spid="73739" grpId="0"/>
      <p:bldP spid="73740" grpId="0"/>
      <p:bldP spid="73741" grpId="0"/>
      <p:bldP spid="73742" grpId="0"/>
      <p:bldP spid="73743" grpId="0" animBg="1"/>
      <p:bldP spid="7374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1" name="Text Box 2"/>
          <p:cNvSpPr txBox="1"/>
          <p:nvPr/>
        </p:nvSpPr>
        <p:spPr>
          <a:xfrm>
            <a:off x="228600" y="477838"/>
            <a:ext cx="86868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第三步，作最少的直线覆盖所有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元素：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aphicFrame>
        <p:nvGraphicFramePr>
          <p:cNvPr id="43010" name="Object 3"/>
          <p:cNvGraphicFramePr>
            <a:graphicFrameLocks noChangeAspect="1"/>
          </p:cNvGraphicFramePr>
          <p:nvPr/>
        </p:nvGraphicFramePr>
        <p:xfrm>
          <a:off x="2819400" y="1204913"/>
          <a:ext cx="2286000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3" name="" r:id="rId1" imgW="914400" imgH="927100" progId="Equation.3">
                  <p:embed/>
                </p:oleObj>
              </mc:Choice>
              <mc:Fallback>
                <p:oleObj name="" r:id="rId1" imgW="914400" imgH="927100" progId="Equation.3">
                  <p:embed/>
                  <p:pic>
                    <p:nvPicPr>
                      <p:cNvPr id="0" name="图片 314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19400" y="1204913"/>
                        <a:ext cx="2286000" cy="2166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2" name="Rectangle 4"/>
          <p:cNvSpPr/>
          <p:nvPr/>
        </p:nvSpPr>
        <p:spPr>
          <a:xfrm>
            <a:off x="4476750" y="12446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3" name="Rectangle 5"/>
          <p:cNvSpPr/>
          <p:nvPr/>
        </p:nvSpPr>
        <p:spPr>
          <a:xfrm>
            <a:off x="2876550" y="17780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4" name="Rectangle 6"/>
          <p:cNvSpPr/>
          <p:nvPr/>
        </p:nvSpPr>
        <p:spPr>
          <a:xfrm>
            <a:off x="3409950" y="23114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3015" name="Rectangle 7"/>
          <p:cNvSpPr/>
          <p:nvPr/>
        </p:nvSpPr>
        <p:spPr>
          <a:xfrm>
            <a:off x="3962400" y="1752600"/>
            <a:ext cx="42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3016" name="Rectangle 8"/>
          <p:cNvSpPr/>
          <p:nvPr/>
        </p:nvSpPr>
        <p:spPr>
          <a:xfrm>
            <a:off x="4495800" y="2819400"/>
            <a:ext cx="42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4761" name="Rectangle 9"/>
          <p:cNvSpPr/>
          <p:nvPr/>
        </p:nvSpPr>
        <p:spPr>
          <a:xfrm>
            <a:off x="5029200" y="12192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4762" name="Rectangle 10"/>
          <p:cNvSpPr/>
          <p:nvPr/>
        </p:nvSpPr>
        <p:spPr>
          <a:xfrm>
            <a:off x="5029200" y="27432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4763" name="Rectangle 11"/>
          <p:cNvSpPr/>
          <p:nvPr/>
        </p:nvSpPr>
        <p:spPr>
          <a:xfrm>
            <a:off x="4419600" y="32766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4764" name="Line 12"/>
          <p:cNvSpPr/>
          <p:nvPr/>
        </p:nvSpPr>
        <p:spPr>
          <a:xfrm>
            <a:off x="2667000" y="1981200"/>
            <a:ext cx="26670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4765" name="Line 13"/>
          <p:cNvSpPr/>
          <p:nvPr/>
        </p:nvSpPr>
        <p:spPr>
          <a:xfrm>
            <a:off x="2667000" y="2514600"/>
            <a:ext cx="26670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4766" name="Line 14"/>
          <p:cNvSpPr/>
          <p:nvPr/>
        </p:nvSpPr>
        <p:spPr>
          <a:xfrm>
            <a:off x="4724400" y="1143000"/>
            <a:ext cx="0" cy="236220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4767" name="Text Box 15"/>
          <p:cNvSpPr txBox="1"/>
          <p:nvPr/>
        </p:nvSpPr>
        <p:spPr>
          <a:xfrm>
            <a:off x="304800" y="3810000"/>
            <a:ext cx="86106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独立零元素的个数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等于最少直线数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，即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＝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=3&lt;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=4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； 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4768" name="Text Box 16"/>
          <p:cNvSpPr txBox="1"/>
          <p:nvPr/>
        </p:nvSpPr>
        <p:spPr>
          <a:xfrm>
            <a:off x="228600" y="4495800"/>
            <a:ext cx="86868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第四步，变换矩阵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sz="2800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lang="en-US" altLang="zh-CN" sz="2800" i="1" baseline="-30000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ij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以增加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元素：没有被直线覆盖的所有元素中的最小元素为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，然后打√各行都减去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；打√各列都加上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，得如下矩阵，并转第二步进行试指派： </a:t>
            </a:r>
            <a:endParaRPr lang="zh-CN" altLang="en-US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4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4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4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4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4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4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4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4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4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6" dur="500"/>
                                        <p:tgtEl>
                                          <p:spTgt spid="74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51" dur="500"/>
                                        <p:tgtEl>
                                          <p:spTgt spid="74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/>
      <p:bldP spid="74762" grpId="0"/>
      <p:bldP spid="74763" grpId="0"/>
      <p:bldP spid="74767" grpId="0"/>
      <p:bldP spid="74768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>
            <a:off x="6629400" y="914400"/>
            <a:ext cx="2286000" cy="2168525"/>
            <a:chOff x="4176" y="576"/>
            <a:chExt cx="1440" cy="1366"/>
          </a:xfrm>
        </p:grpSpPr>
        <p:graphicFrame>
          <p:nvGraphicFramePr>
            <p:cNvPr id="44038" name="Object 3"/>
            <p:cNvGraphicFramePr>
              <a:graphicFrameLocks noChangeAspect="1"/>
            </p:cNvGraphicFramePr>
            <p:nvPr/>
          </p:nvGraphicFramePr>
          <p:xfrm>
            <a:off x="4176" y="576"/>
            <a:ext cx="1440" cy="1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5" name="" r:id="rId1" imgW="914400" imgH="927100" progId="Equation.3">
                    <p:embed/>
                  </p:oleObj>
                </mc:Choice>
                <mc:Fallback>
                  <p:oleObj name="" r:id="rId1" imgW="914400" imgH="927100" progId="Equation.3">
                    <p:embed/>
                    <p:pic>
                      <p:nvPicPr>
                        <p:cNvPr id="0" name="图片 314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176" y="576"/>
                          <a:ext cx="1440" cy="13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68" name="Rectangle 4"/>
            <p:cNvSpPr/>
            <p:nvPr/>
          </p:nvSpPr>
          <p:spPr>
            <a:xfrm>
              <a:off x="5268" y="605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69" name="Rectangle 5"/>
            <p:cNvSpPr/>
            <p:nvPr/>
          </p:nvSpPr>
          <p:spPr>
            <a:xfrm>
              <a:off x="4260" y="941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70" name="Rectangle 6"/>
            <p:cNvSpPr/>
            <p:nvPr/>
          </p:nvSpPr>
          <p:spPr>
            <a:xfrm>
              <a:off x="4596" y="127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71" name="Rectangle 7"/>
            <p:cNvSpPr/>
            <p:nvPr/>
          </p:nvSpPr>
          <p:spPr>
            <a:xfrm>
              <a:off x="4898" y="912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 0</a:t>
              </a:r>
              <a:endParaRPr lang="en-US" altLang="zh-CN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4072" name="Rectangle 8"/>
            <p:cNvSpPr/>
            <p:nvPr/>
          </p:nvSpPr>
          <p:spPr>
            <a:xfrm>
              <a:off x="5234" y="1584"/>
              <a:ext cx="26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 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73" name="Rectangle 9"/>
            <p:cNvSpPr/>
            <p:nvPr/>
          </p:nvSpPr>
          <p:spPr>
            <a:xfrm>
              <a:off x="4944" y="1597"/>
              <a:ext cx="21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</a:rPr>
                <a:t>0</a:t>
              </a:r>
              <a:endParaRPr lang="en-US" altLang="zh-CN" b="1" dirty="0"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75786" name="Object 10"/>
          <p:cNvGraphicFramePr>
            <a:graphicFrameLocks noChangeAspect="1"/>
          </p:cNvGraphicFramePr>
          <p:nvPr/>
        </p:nvGraphicFramePr>
        <p:xfrm>
          <a:off x="6584950" y="3719513"/>
          <a:ext cx="2254250" cy="2166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" r:id="rId3" imgW="901700" imgH="927100" progId="Equation.3">
                  <p:embed/>
                </p:oleObj>
              </mc:Choice>
              <mc:Fallback>
                <p:oleObj name="" r:id="rId3" imgW="901700" imgH="927100" progId="Equation.3">
                  <p:embed/>
                  <p:pic>
                    <p:nvPicPr>
                      <p:cNvPr id="0" name="图片 314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584950" y="3719513"/>
                        <a:ext cx="2254250" cy="21669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7" name="Text Box 11"/>
          <p:cNvSpPr txBox="1"/>
          <p:nvPr/>
        </p:nvSpPr>
        <p:spPr>
          <a:xfrm>
            <a:off x="3200400" y="4067175"/>
            <a:ext cx="1981200" cy="1800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得到</a:t>
            </a:r>
            <a:r>
              <a: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rPr>
              <a:t>个独立零元素，  所以最优解矩阵为：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 </a:t>
            </a:r>
            <a:endParaRPr lang="zh-CN" altLang="en-US" sz="28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5788" name="AutoShape 12"/>
          <p:cNvSpPr/>
          <p:nvPr/>
        </p:nvSpPr>
        <p:spPr>
          <a:xfrm>
            <a:off x="5424488" y="4648200"/>
            <a:ext cx="976312" cy="228600"/>
          </a:xfrm>
          <a:prstGeom prst="rightArrow">
            <a:avLst>
              <a:gd name="adj1" fmla="val 50000"/>
              <a:gd name="adj2" fmla="val 106770"/>
            </a:avLst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5789" name="AutoShape 13"/>
          <p:cNvSpPr/>
          <p:nvPr/>
        </p:nvSpPr>
        <p:spPr>
          <a:xfrm>
            <a:off x="5638800" y="1752600"/>
            <a:ext cx="976313" cy="228600"/>
          </a:xfrm>
          <a:prstGeom prst="rightArrow">
            <a:avLst>
              <a:gd name="adj1" fmla="val 50000"/>
              <a:gd name="adj2" fmla="val 106770"/>
            </a:avLst>
          </a:prstGeom>
          <a:solidFill>
            <a:schemeClr val="accent1"/>
          </a:solidFill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grpSp>
        <p:nvGrpSpPr>
          <p:cNvPr id="44043" name="Group 14"/>
          <p:cNvGrpSpPr/>
          <p:nvPr/>
        </p:nvGrpSpPr>
        <p:grpSpPr>
          <a:xfrm>
            <a:off x="152400" y="838200"/>
            <a:ext cx="2819400" cy="2652713"/>
            <a:chOff x="96" y="528"/>
            <a:chExt cx="1776" cy="1671"/>
          </a:xfrm>
        </p:grpSpPr>
        <p:graphicFrame>
          <p:nvGraphicFramePr>
            <p:cNvPr id="44037" name="Object 15"/>
            <p:cNvGraphicFramePr>
              <a:graphicFrameLocks noChangeAspect="1"/>
            </p:cNvGraphicFramePr>
            <p:nvPr/>
          </p:nvGraphicFramePr>
          <p:xfrm>
            <a:off x="192" y="576"/>
            <a:ext cx="1440" cy="13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6" name="" r:id="rId5" imgW="914400" imgH="927100" progId="Equation.3">
                    <p:embed/>
                  </p:oleObj>
                </mc:Choice>
                <mc:Fallback>
                  <p:oleObj name="" r:id="rId5" imgW="914400" imgH="927100" progId="Equation.3">
                    <p:embed/>
                    <p:pic>
                      <p:nvPicPr>
                        <p:cNvPr id="0" name="图片 3145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2" y="576"/>
                          <a:ext cx="1440" cy="136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7" name="Rectangle 16"/>
            <p:cNvSpPr/>
            <p:nvPr/>
          </p:nvSpPr>
          <p:spPr>
            <a:xfrm>
              <a:off x="1236" y="592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solidFill>
                    <a:srgbClr val="CC0099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8" name="Rectangle 17"/>
            <p:cNvSpPr/>
            <p:nvPr/>
          </p:nvSpPr>
          <p:spPr>
            <a:xfrm>
              <a:off x="228" y="928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solidFill>
                    <a:srgbClr val="CC0099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9" name="Rectangle 18"/>
            <p:cNvSpPr/>
            <p:nvPr/>
          </p:nvSpPr>
          <p:spPr>
            <a:xfrm>
              <a:off x="564" y="1264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solidFill>
                    <a:srgbClr val="CC0099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60" name="Rectangle 19"/>
            <p:cNvSpPr/>
            <p:nvPr/>
          </p:nvSpPr>
          <p:spPr>
            <a:xfrm>
              <a:off x="912" y="912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solidFill>
                    <a:srgbClr val="00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4061" name="Rectangle 20"/>
            <p:cNvSpPr/>
            <p:nvPr/>
          </p:nvSpPr>
          <p:spPr>
            <a:xfrm>
              <a:off x="1248" y="1584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4062" name="Rectangle 21"/>
            <p:cNvSpPr/>
            <p:nvPr/>
          </p:nvSpPr>
          <p:spPr>
            <a:xfrm>
              <a:off x="1584" y="57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63" name="Rectangle 22"/>
            <p:cNvSpPr/>
            <p:nvPr/>
          </p:nvSpPr>
          <p:spPr>
            <a:xfrm>
              <a:off x="1584" y="153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64" name="Rectangle 23"/>
            <p:cNvSpPr/>
            <p:nvPr/>
          </p:nvSpPr>
          <p:spPr>
            <a:xfrm>
              <a:off x="1200" y="1872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44065" name="Line 24"/>
            <p:cNvSpPr/>
            <p:nvPr/>
          </p:nvSpPr>
          <p:spPr>
            <a:xfrm>
              <a:off x="96" y="1056"/>
              <a:ext cx="16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066" name="Line 25"/>
            <p:cNvSpPr/>
            <p:nvPr/>
          </p:nvSpPr>
          <p:spPr>
            <a:xfrm>
              <a:off x="96" y="1392"/>
              <a:ext cx="1680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4067" name="Line 26"/>
            <p:cNvSpPr/>
            <p:nvPr/>
          </p:nvSpPr>
          <p:spPr>
            <a:xfrm>
              <a:off x="1392" y="528"/>
              <a:ext cx="0" cy="14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4" name="Group 27"/>
          <p:cNvGrpSpPr/>
          <p:nvPr/>
        </p:nvGrpSpPr>
        <p:grpSpPr>
          <a:xfrm>
            <a:off x="3276600" y="955675"/>
            <a:ext cx="2286000" cy="2168525"/>
            <a:chOff x="2064" y="602"/>
            <a:chExt cx="1440" cy="1366"/>
          </a:xfrm>
        </p:grpSpPr>
        <p:graphicFrame>
          <p:nvGraphicFramePr>
            <p:cNvPr id="44036" name="Object 28"/>
            <p:cNvGraphicFramePr>
              <a:graphicFrameLocks noChangeAspect="1"/>
            </p:cNvGraphicFramePr>
            <p:nvPr/>
          </p:nvGraphicFramePr>
          <p:xfrm>
            <a:off x="2064" y="602"/>
            <a:ext cx="1440" cy="1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7" name="" r:id="rId7" imgW="914400" imgH="927100" progId="Equation.3">
                    <p:embed/>
                  </p:oleObj>
                </mc:Choice>
                <mc:Fallback>
                  <p:oleObj name="" r:id="rId7" imgW="914400" imgH="927100" progId="Equation.3">
                    <p:embed/>
                    <p:pic>
                      <p:nvPicPr>
                        <p:cNvPr id="0" name="图片 3146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64" y="602"/>
                          <a:ext cx="1440" cy="136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052" name="Rectangle 29"/>
            <p:cNvSpPr/>
            <p:nvPr/>
          </p:nvSpPr>
          <p:spPr>
            <a:xfrm>
              <a:off x="3108" y="627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solidFill>
                    <a:srgbClr val="CC0099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3" name="Rectangle 30"/>
            <p:cNvSpPr/>
            <p:nvPr/>
          </p:nvSpPr>
          <p:spPr>
            <a:xfrm>
              <a:off x="2100" y="963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solidFill>
                    <a:srgbClr val="CC0099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4" name="Rectangle 31"/>
            <p:cNvSpPr/>
            <p:nvPr/>
          </p:nvSpPr>
          <p:spPr>
            <a:xfrm>
              <a:off x="2436" y="1299"/>
              <a:ext cx="30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solidFill>
                    <a:srgbClr val="CC0099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4055" name="Rectangle 32"/>
            <p:cNvSpPr/>
            <p:nvPr/>
          </p:nvSpPr>
          <p:spPr>
            <a:xfrm>
              <a:off x="2784" y="947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solidFill>
                    <a:srgbClr val="00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4056" name="Rectangle 33"/>
            <p:cNvSpPr/>
            <p:nvPr/>
          </p:nvSpPr>
          <p:spPr>
            <a:xfrm>
              <a:off x="3120" y="1619"/>
              <a:ext cx="26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b="1" dirty="0">
                  <a:solidFill>
                    <a:srgbClr val="009900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b="1" dirty="0">
                <a:solidFill>
                  <a:srgbClr val="0099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75810" name="Text Box 34"/>
          <p:cNvSpPr txBox="1"/>
          <p:nvPr/>
        </p:nvSpPr>
        <p:spPr>
          <a:xfrm>
            <a:off x="8153400" y="6019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latin typeface="Times New Roman" panose="02020603050405020304" pitchFamily="18" charset="0"/>
              </a:rPr>
              <a:t>15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75811" name="Object 35"/>
          <p:cNvGraphicFramePr>
            <a:graphicFrameLocks noChangeAspect="1"/>
          </p:cNvGraphicFramePr>
          <p:nvPr/>
        </p:nvGraphicFramePr>
        <p:xfrm>
          <a:off x="304800" y="3810000"/>
          <a:ext cx="2286000" cy="216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" r:id="rId9" imgW="914400" imgH="927100" progId="Equation.3">
                  <p:embed/>
                </p:oleObj>
              </mc:Choice>
              <mc:Fallback>
                <p:oleObj name="" r:id="rId9" imgW="914400" imgH="927100" progId="Equation.3">
                  <p:embed/>
                  <p:pic>
                    <p:nvPicPr>
                      <p:cNvPr id="0" name="图片 314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" y="3810000"/>
                        <a:ext cx="2286000" cy="21685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12" name="Rectangle 36"/>
          <p:cNvSpPr/>
          <p:nvPr/>
        </p:nvSpPr>
        <p:spPr>
          <a:xfrm>
            <a:off x="1962150" y="38354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13" name="Rectangle 37"/>
          <p:cNvSpPr/>
          <p:nvPr/>
        </p:nvSpPr>
        <p:spPr>
          <a:xfrm>
            <a:off x="361950" y="4368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14" name="Rectangle 38"/>
          <p:cNvSpPr/>
          <p:nvPr/>
        </p:nvSpPr>
        <p:spPr>
          <a:xfrm>
            <a:off x="895350" y="49022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75815" name="Rectangle 39"/>
          <p:cNvSpPr/>
          <p:nvPr/>
        </p:nvSpPr>
        <p:spPr>
          <a:xfrm>
            <a:off x="1447800" y="4343400"/>
            <a:ext cx="42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5816" name="Rectangle 40"/>
          <p:cNvSpPr/>
          <p:nvPr/>
        </p:nvSpPr>
        <p:spPr>
          <a:xfrm>
            <a:off x="1981200" y="5410200"/>
            <a:ext cx="42068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009900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b="1" dirty="0">
              <a:solidFill>
                <a:srgbClr val="0099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5817" name="Rectangle 41"/>
          <p:cNvSpPr/>
          <p:nvPr/>
        </p:nvSpPr>
        <p:spPr>
          <a:xfrm>
            <a:off x="1447800" y="54102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solidFill>
                  <a:srgbClr val="CC0099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5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5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5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5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75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5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75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7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5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8" dur="500"/>
                                        <p:tgtEl>
                                          <p:spTgt spid="75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75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8" dur="500"/>
                                        <p:tgtEl>
                                          <p:spTgt spid="75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75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5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7" grpId="0"/>
      <p:bldP spid="75788" grpId="0" animBg="1"/>
      <p:bldP spid="75789" grpId="0" animBg="1"/>
      <p:bldP spid="75810" grpId="0"/>
      <p:bldP spid="75812" grpId="0"/>
      <p:bldP spid="75813" grpId="0"/>
      <p:bldP spid="75814" grpId="0"/>
      <p:bldP spid="75815" grpId="0"/>
      <p:bldP spid="75816" grpId="0"/>
      <p:bldP spid="7581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4" name="Rectangle 2"/>
          <p:cNvSpPr>
            <a:spLocks noGrp="1"/>
          </p:cNvSpPr>
          <p:nvPr>
            <p:ph type="ctrTitle"/>
          </p:nvPr>
        </p:nvSpPr>
        <p:spPr>
          <a:xfrm>
            <a:off x="685800" y="533400"/>
            <a:ext cx="2286000" cy="685800"/>
          </a:xfrm>
          <a:ln/>
        </p:spPr>
        <p:txBody>
          <a:bodyPr vert="horz" wrap="square" lIns="91440" tIns="45720" rIns="91440" bIns="45720" anchor="ctr" anchorCtr="0"/>
          <a:p>
            <a:pPr eaLnBrk="1" hangingPunct="1">
              <a:buClrTx/>
              <a:buSzTx/>
              <a:buFontTx/>
            </a:pPr>
            <a:r>
              <a:rPr lang="zh-CN" altLang="en-US" sz="3200" b="1" dirty="0"/>
              <a:t>练习：</a:t>
            </a:r>
            <a:endParaRPr lang="zh-CN" altLang="en-US" sz="3200" b="1" dirty="0"/>
          </a:p>
        </p:txBody>
      </p:sp>
      <p:sp>
        <p:nvSpPr>
          <p:cNvPr id="90115" name="Rectangle 4"/>
          <p:cNvSpPr/>
          <p:nvPr/>
        </p:nvSpPr>
        <p:spPr>
          <a:xfrm>
            <a:off x="7226300" y="5319713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16" name="Rectangle 5"/>
          <p:cNvSpPr/>
          <p:nvPr/>
        </p:nvSpPr>
        <p:spPr>
          <a:xfrm>
            <a:off x="5918200" y="5319713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5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17" name="Rectangle 6"/>
          <p:cNvSpPr/>
          <p:nvPr/>
        </p:nvSpPr>
        <p:spPr>
          <a:xfrm>
            <a:off x="4610100" y="5319713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7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18" name="Rectangle 7"/>
          <p:cNvSpPr/>
          <p:nvPr/>
        </p:nvSpPr>
        <p:spPr>
          <a:xfrm>
            <a:off x="3302000" y="5319713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6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19" name="Rectangle 8"/>
          <p:cNvSpPr/>
          <p:nvPr/>
        </p:nvSpPr>
        <p:spPr>
          <a:xfrm>
            <a:off x="1993900" y="5319713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4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20" name="Rectangle 9"/>
          <p:cNvSpPr/>
          <p:nvPr/>
        </p:nvSpPr>
        <p:spPr>
          <a:xfrm>
            <a:off x="685800" y="5319713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戊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21" name="Rectangle 10"/>
          <p:cNvSpPr/>
          <p:nvPr/>
        </p:nvSpPr>
        <p:spPr>
          <a:xfrm>
            <a:off x="7226300" y="4697413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6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22" name="Rectangle 11"/>
          <p:cNvSpPr/>
          <p:nvPr/>
        </p:nvSpPr>
        <p:spPr>
          <a:xfrm>
            <a:off x="5918200" y="4697413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9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23" name="Rectangle 12"/>
          <p:cNvSpPr/>
          <p:nvPr/>
        </p:nvSpPr>
        <p:spPr>
          <a:xfrm>
            <a:off x="4610100" y="4697413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6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24" name="Rectangle 13"/>
          <p:cNvSpPr/>
          <p:nvPr/>
        </p:nvSpPr>
        <p:spPr>
          <a:xfrm>
            <a:off x="3302000" y="4697413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3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25" name="Rectangle 14"/>
          <p:cNvSpPr/>
          <p:nvPr/>
        </p:nvSpPr>
        <p:spPr>
          <a:xfrm>
            <a:off x="1993900" y="4697413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7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26" name="Rectangle 15"/>
          <p:cNvSpPr/>
          <p:nvPr/>
        </p:nvSpPr>
        <p:spPr>
          <a:xfrm>
            <a:off x="685800" y="4697413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丁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27" name="Rectangle 16"/>
          <p:cNvSpPr/>
          <p:nvPr/>
        </p:nvSpPr>
        <p:spPr>
          <a:xfrm>
            <a:off x="7226300" y="4073525"/>
            <a:ext cx="1308100" cy="623888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8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28" name="Rectangle 17"/>
          <p:cNvSpPr/>
          <p:nvPr/>
        </p:nvSpPr>
        <p:spPr>
          <a:xfrm>
            <a:off x="5918200" y="4073525"/>
            <a:ext cx="1308100" cy="623888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6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29" name="Rectangle 18"/>
          <p:cNvSpPr/>
          <p:nvPr/>
        </p:nvSpPr>
        <p:spPr>
          <a:xfrm>
            <a:off x="4610100" y="4073525"/>
            <a:ext cx="1308100" cy="623888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4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30" name="Rectangle 19"/>
          <p:cNvSpPr/>
          <p:nvPr/>
        </p:nvSpPr>
        <p:spPr>
          <a:xfrm>
            <a:off x="3302000" y="4073525"/>
            <a:ext cx="1308100" cy="623888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5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31" name="Rectangle 20"/>
          <p:cNvSpPr/>
          <p:nvPr/>
        </p:nvSpPr>
        <p:spPr>
          <a:xfrm>
            <a:off x="1993900" y="4073525"/>
            <a:ext cx="1308100" cy="623888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8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32" name="Rectangle 21"/>
          <p:cNvSpPr/>
          <p:nvPr/>
        </p:nvSpPr>
        <p:spPr>
          <a:xfrm>
            <a:off x="685800" y="4073525"/>
            <a:ext cx="1308100" cy="623888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丙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33" name="Rectangle 22"/>
          <p:cNvSpPr/>
          <p:nvPr/>
        </p:nvSpPr>
        <p:spPr>
          <a:xfrm>
            <a:off x="7226300" y="3449638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9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34" name="Rectangle 23"/>
          <p:cNvSpPr/>
          <p:nvPr/>
        </p:nvSpPr>
        <p:spPr>
          <a:xfrm>
            <a:off x="5918200" y="3449638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35" name="Rectangle 24"/>
          <p:cNvSpPr/>
          <p:nvPr/>
        </p:nvSpPr>
        <p:spPr>
          <a:xfrm>
            <a:off x="4610100" y="3449638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7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36" name="Rectangle 25"/>
          <p:cNvSpPr/>
          <p:nvPr/>
        </p:nvSpPr>
        <p:spPr>
          <a:xfrm>
            <a:off x="3302000" y="3449638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12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37" name="Rectangle 26"/>
          <p:cNvSpPr/>
          <p:nvPr/>
        </p:nvSpPr>
        <p:spPr>
          <a:xfrm>
            <a:off x="1993900" y="3449638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9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38" name="Rectangle 27"/>
          <p:cNvSpPr/>
          <p:nvPr/>
        </p:nvSpPr>
        <p:spPr>
          <a:xfrm>
            <a:off x="685800" y="3449638"/>
            <a:ext cx="1308100" cy="623887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乙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39" name="Rectangle 28"/>
          <p:cNvSpPr/>
          <p:nvPr/>
        </p:nvSpPr>
        <p:spPr>
          <a:xfrm>
            <a:off x="7226300" y="2827338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11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40" name="Rectangle 29"/>
          <p:cNvSpPr/>
          <p:nvPr/>
        </p:nvSpPr>
        <p:spPr>
          <a:xfrm>
            <a:off x="5918200" y="2827338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8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41" name="Rectangle 30"/>
          <p:cNvSpPr/>
          <p:nvPr/>
        </p:nvSpPr>
        <p:spPr>
          <a:xfrm>
            <a:off x="4610100" y="2827338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9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42" name="Rectangle 31"/>
          <p:cNvSpPr/>
          <p:nvPr/>
        </p:nvSpPr>
        <p:spPr>
          <a:xfrm>
            <a:off x="3302000" y="2827338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5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43" name="Rectangle 32"/>
          <p:cNvSpPr/>
          <p:nvPr/>
        </p:nvSpPr>
        <p:spPr>
          <a:xfrm>
            <a:off x="1993900" y="2827338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7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44" name="Rectangle 33"/>
          <p:cNvSpPr/>
          <p:nvPr/>
        </p:nvSpPr>
        <p:spPr>
          <a:xfrm>
            <a:off x="685800" y="2827338"/>
            <a:ext cx="1308100" cy="622300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甲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45" name="Rectangle 34"/>
          <p:cNvSpPr/>
          <p:nvPr/>
        </p:nvSpPr>
        <p:spPr>
          <a:xfrm>
            <a:off x="7226300" y="1470025"/>
            <a:ext cx="1308100" cy="1357313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E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46" name="Rectangle 35"/>
          <p:cNvSpPr/>
          <p:nvPr/>
        </p:nvSpPr>
        <p:spPr>
          <a:xfrm>
            <a:off x="5918200" y="1470025"/>
            <a:ext cx="1308100" cy="1357313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D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47" name="Rectangle 36"/>
          <p:cNvSpPr/>
          <p:nvPr/>
        </p:nvSpPr>
        <p:spPr>
          <a:xfrm>
            <a:off x="4610100" y="1470025"/>
            <a:ext cx="1308100" cy="1357313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C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48" name="Rectangle 37"/>
          <p:cNvSpPr/>
          <p:nvPr/>
        </p:nvSpPr>
        <p:spPr>
          <a:xfrm>
            <a:off x="3302000" y="1470025"/>
            <a:ext cx="1308100" cy="1357313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B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49" name="Rectangle 38"/>
          <p:cNvSpPr/>
          <p:nvPr/>
        </p:nvSpPr>
        <p:spPr>
          <a:xfrm>
            <a:off x="1993900" y="1470025"/>
            <a:ext cx="1308100" cy="1357313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algn="ctr" eaLnBrk="1" hangingPunct="1">
              <a:spcBef>
                <a:spcPct val="20000"/>
              </a:spcBef>
            </a:pP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20000"/>
              </a:spcBef>
            </a:pPr>
            <a:r>
              <a:rPr lang="en-US" altLang="zh-CN" sz="2800" b="1" dirty="0">
                <a:latin typeface="Times New Roman" panose="02020603050405020304" pitchFamily="18" charset="0"/>
              </a:rPr>
              <a:t>A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90150" name="Rectangle 39"/>
          <p:cNvSpPr/>
          <p:nvPr/>
        </p:nvSpPr>
        <p:spPr>
          <a:xfrm>
            <a:off x="685800" y="1470025"/>
            <a:ext cx="1308100" cy="1357313"/>
          </a:xfrm>
          <a:prstGeom prst="rect">
            <a:avLst/>
          </a:prstGeom>
          <a:solidFill>
            <a:srgbClr val="CCECFF"/>
          </a:solidFill>
          <a:ln w="9525">
            <a:noFill/>
          </a:ln>
        </p:spPr>
        <p:txBody>
          <a:bodyPr/>
          <a:p>
            <a:pPr eaLnBrk="1" hangingPunct="1">
              <a:spcBef>
                <a:spcPct val="20000"/>
              </a:spcBef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费  工作                    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   用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spcBef>
                <a:spcPct val="20000"/>
              </a:spcBef>
            </a:pPr>
            <a:r>
              <a:rPr lang="zh-CN" altLang="en-US" sz="2000" b="1" dirty="0">
                <a:latin typeface="楷体_GB2312" pitchFamily="49" charset="-122"/>
                <a:ea typeface="楷体_GB2312" pitchFamily="49" charset="-122"/>
              </a:rPr>
              <a:t>人员</a:t>
            </a:r>
            <a:endParaRPr lang="zh-CN" altLang="en-US" sz="20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0151" name="Line 40"/>
          <p:cNvSpPr/>
          <p:nvPr/>
        </p:nvSpPr>
        <p:spPr>
          <a:xfrm>
            <a:off x="685800" y="1470025"/>
            <a:ext cx="78486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2" name="Line 41"/>
          <p:cNvSpPr/>
          <p:nvPr/>
        </p:nvSpPr>
        <p:spPr>
          <a:xfrm>
            <a:off x="685800" y="2827338"/>
            <a:ext cx="7848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3" name="Line 42"/>
          <p:cNvSpPr/>
          <p:nvPr/>
        </p:nvSpPr>
        <p:spPr>
          <a:xfrm>
            <a:off x="685800" y="3449638"/>
            <a:ext cx="7848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4" name="Line 43"/>
          <p:cNvSpPr/>
          <p:nvPr/>
        </p:nvSpPr>
        <p:spPr>
          <a:xfrm>
            <a:off x="685800" y="4073525"/>
            <a:ext cx="7848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5" name="Line 44"/>
          <p:cNvSpPr/>
          <p:nvPr/>
        </p:nvSpPr>
        <p:spPr>
          <a:xfrm>
            <a:off x="685800" y="4697413"/>
            <a:ext cx="7848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6" name="Line 45"/>
          <p:cNvSpPr/>
          <p:nvPr/>
        </p:nvSpPr>
        <p:spPr>
          <a:xfrm>
            <a:off x="685800" y="5319713"/>
            <a:ext cx="7848600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7" name="Line 46"/>
          <p:cNvSpPr/>
          <p:nvPr/>
        </p:nvSpPr>
        <p:spPr>
          <a:xfrm>
            <a:off x="685800" y="5943600"/>
            <a:ext cx="78486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8" name="Line 47"/>
          <p:cNvSpPr/>
          <p:nvPr/>
        </p:nvSpPr>
        <p:spPr>
          <a:xfrm>
            <a:off x="684213" y="1484313"/>
            <a:ext cx="0" cy="447357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59" name="Line 48"/>
          <p:cNvSpPr/>
          <p:nvPr/>
        </p:nvSpPr>
        <p:spPr>
          <a:xfrm>
            <a:off x="1993900" y="1470025"/>
            <a:ext cx="0" cy="44735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0" name="Line 49"/>
          <p:cNvSpPr/>
          <p:nvPr/>
        </p:nvSpPr>
        <p:spPr>
          <a:xfrm>
            <a:off x="3302000" y="1470025"/>
            <a:ext cx="0" cy="44735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1" name="Line 50"/>
          <p:cNvSpPr/>
          <p:nvPr/>
        </p:nvSpPr>
        <p:spPr>
          <a:xfrm>
            <a:off x="4610100" y="1470025"/>
            <a:ext cx="0" cy="44735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2" name="Line 51"/>
          <p:cNvSpPr/>
          <p:nvPr/>
        </p:nvSpPr>
        <p:spPr>
          <a:xfrm>
            <a:off x="5918200" y="1470025"/>
            <a:ext cx="0" cy="44735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3" name="Line 52"/>
          <p:cNvSpPr/>
          <p:nvPr/>
        </p:nvSpPr>
        <p:spPr>
          <a:xfrm>
            <a:off x="7226300" y="1470025"/>
            <a:ext cx="0" cy="44735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4" name="Line 53"/>
          <p:cNvSpPr/>
          <p:nvPr/>
        </p:nvSpPr>
        <p:spPr>
          <a:xfrm>
            <a:off x="8534400" y="1470025"/>
            <a:ext cx="0" cy="4473575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5" name="Line 54"/>
          <p:cNvSpPr/>
          <p:nvPr/>
        </p:nvSpPr>
        <p:spPr>
          <a:xfrm flipH="1" flipV="1">
            <a:off x="1116013" y="1484313"/>
            <a:ext cx="865187" cy="13398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0166" name="Line 55"/>
          <p:cNvSpPr/>
          <p:nvPr/>
        </p:nvSpPr>
        <p:spPr>
          <a:xfrm flipH="1" flipV="1">
            <a:off x="684213" y="1916113"/>
            <a:ext cx="1296987" cy="90805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 spd="med"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5058" name="Object 2"/>
          <p:cNvGraphicFramePr>
            <a:graphicFrameLocks noChangeAspect="1"/>
          </p:cNvGraphicFramePr>
          <p:nvPr/>
        </p:nvGraphicFramePr>
        <p:xfrm>
          <a:off x="236538" y="1219200"/>
          <a:ext cx="4183062" cy="4043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" r:id="rId1" imgW="1536700" imgH="1155700" progId="Equation.3">
                  <p:embed/>
                </p:oleObj>
              </mc:Choice>
              <mc:Fallback>
                <p:oleObj name="" r:id="rId1" imgW="1536700" imgH="1155700" progId="Equation.3">
                  <p:embed/>
                  <p:pic>
                    <p:nvPicPr>
                      <p:cNvPr id="0" name="图片 31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6538" y="1219200"/>
                        <a:ext cx="4183062" cy="4043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5257800" y="1219200"/>
          <a:ext cx="3576638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" r:id="rId3" imgW="1130300" imgH="1155700" progId="Equation.3">
                  <p:embed/>
                </p:oleObj>
              </mc:Choice>
              <mc:Fallback>
                <p:oleObj name="" r:id="rId3" imgW="1130300" imgH="1155700" progId="Equation.3">
                  <p:embed/>
                  <p:pic>
                    <p:nvPicPr>
                      <p:cNvPr id="0" name="图片 314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257800" y="1219200"/>
                        <a:ext cx="3576638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/>
          <p:nvPr/>
        </p:nvSpPr>
        <p:spPr>
          <a:xfrm>
            <a:off x="7391400" y="5302250"/>
            <a:ext cx="5651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600" b="1" dirty="0">
                <a:latin typeface="Times New Roman" panose="02020603050405020304" pitchFamily="18" charset="0"/>
              </a:rPr>
              <a:t>-1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77829" name="Text Box 5"/>
          <p:cNvSpPr txBox="1"/>
          <p:nvPr/>
        </p:nvSpPr>
        <p:spPr>
          <a:xfrm>
            <a:off x="8121650" y="5302250"/>
            <a:ext cx="5651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3600" b="1" dirty="0">
                <a:latin typeface="Times New Roman" panose="02020603050405020304" pitchFamily="18" charset="0"/>
              </a:rPr>
              <a:t>-2</a:t>
            </a:r>
            <a:endParaRPr lang="en-US" altLang="zh-CN" sz="3600" b="1" dirty="0">
              <a:latin typeface="Times New Roman" panose="02020603050405020304" pitchFamily="18" charset="0"/>
            </a:endParaRPr>
          </a:p>
        </p:txBody>
      </p:sp>
      <p:sp>
        <p:nvSpPr>
          <p:cNvPr id="77830" name="AutoShape 6"/>
          <p:cNvSpPr/>
          <p:nvPr/>
        </p:nvSpPr>
        <p:spPr>
          <a:xfrm>
            <a:off x="4724400" y="31242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33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7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/>
      <p:bldP spid="77829" grpId="0"/>
      <p:bldP spid="77830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6082" name="Object 2"/>
          <p:cNvGraphicFramePr>
            <a:graphicFrameLocks noChangeAspect="1"/>
          </p:cNvGraphicFramePr>
          <p:nvPr/>
        </p:nvGraphicFramePr>
        <p:xfrm>
          <a:off x="457200" y="1219200"/>
          <a:ext cx="39497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" r:id="rId1" imgW="1130300" imgH="1155700" progId="Equation.3">
                  <p:embed/>
                </p:oleObj>
              </mc:Choice>
              <mc:Fallback>
                <p:oleObj name="" r:id="rId1" imgW="1130300" imgH="1155700" progId="Equation.3">
                  <p:embed/>
                  <p:pic>
                    <p:nvPicPr>
                      <p:cNvPr id="0" name="图片 315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7200" y="1219200"/>
                        <a:ext cx="394970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851" name="Object 3"/>
          <p:cNvGraphicFramePr>
            <a:graphicFrameLocks noChangeAspect="1"/>
          </p:cNvGraphicFramePr>
          <p:nvPr/>
        </p:nvGraphicFramePr>
        <p:xfrm>
          <a:off x="4953000" y="1219200"/>
          <a:ext cx="39497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" r:id="rId3" imgW="1130300" imgH="1155700" progId="Equation.3">
                  <p:embed/>
                </p:oleObj>
              </mc:Choice>
              <mc:Fallback>
                <p:oleObj name="" r:id="rId3" imgW="1130300" imgH="1155700" progId="Equation.3">
                  <p:embed/>
                  <p:pic>
                    <p:nvPicPr>
                      <p:cNvPr id="0" name="图片 315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3000" y="1219200"/>
                        <a:ext cx="394970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2" name="Rectangle 4"/>
          <p:cNvSpPr/>
          <p:nvPr/>
        </p:nvSpPr>
        <p:spPr>
          <a:xfrm>
            <a:off x="5867400" y="13716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3" name="Rectangle 5"/>
          <p:cNvSpPr/>
          <p:nvPr/>
        </p:nvSpPr>
        <p:spPr>
          <a:xfrm>
            <a:off x="6629400" y="22098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8854" name="Rectangle 6"/>
          <p:cNvSpPr/>
          <p:nvPr/>
        </p:nvSpPr>
        <p:spPr>
          <a:xfrm>
            <a:off x="8153400" y="22098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5" name="Rectangle 7"/>
          <p:cNvSpPr/>
          <p:nvPr/>
        </p:nvSpPr>
        <p:spPr>
          <a:xfrm>
            <a:off x="6629400" y="29718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6" name="Rectangle 8"/>
          <p:cNvSpPr/>
          <p:nvPr/>
        </p:nvSpPr>
        <p:spPr>
          <a:xfrm>
            <a:off x="5105400" y="45720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7" name="Rectangle 9"/>
          <p:cNvSpPr/>
          <p:nvPr/>
        </p:nvSpPr>
        <p:spPr>
          <a:xfrm>
            <a:off x="5867400" y="38100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8858" name="Rectangle 10"/>
          <p:cNvSpPr/>
          <p:nvPr/>
        </p:nvSpPr>
        <p:spPr>
          <a:xfrm>
            <a:off x="7467600" y="45720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8859" name="AutoShape 11"/>
          <p:cNvSpPr/>
          <p:nvPr/>
        </p:nvSpPr>
        <p:spPr>
          <a:xfrm>
            <a:off x="4419600" y="31242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33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8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8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8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8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2" grpId="0" animBg="1"/>
      <p:bldP spid="78853" grpId="0" animBg="1"/>
      <p:bldP spid="78854" grpId="0" animBg="1"/>
      <p:bldP spid="78855" grpId="0" animBg="1"/>
      <p:bldP spid="78856" grpId="0" animBg="1"/>
      <p:bldP spid="78857" grpId="0" animBg="1"/>
      <p:bldP spid="78858" grpId="0" animBg="1"/>
      <p:bldP spid="7885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7107" name="Group 2"/>
          <p:cNvGrpSpPr/>
          <p:nvPr/>
        </p:nvGrpSpPr>
        <p:grpSpPr>
          <a:xfrm>
            <a:off x="1905000" y="1219200"/>
            <a:ext cx="3949700" cy="4038600"/>
            <a:chOff x="384" y="864"/>
            <a:chExt cx="2488" cy="2544"/>
          </a:xfrm>
        </p:grpSpPr>
        <p:graphicFrame>
          <p:nvGraphicFramePr>
            <p:cNvPr id="47106" name="Object 3"/>
            <p:cNvGraphicFramePr>
              <a:graphicFrameLocks noChangeAspect="1"/>
            </p:cNvGraphicFramePr>
            <p:nvPr/>
          </p:nvGraphicFramePr>
          <p:xfrm>
            <a:off x="384" y="864"/>
            <a:ext cx="2488" cy="2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1" name="" r:id="rId1" imgW="1130300" imgH="1155700" progId="Equation.3">
                    <p:embed/>
                  </p:oleObj>
                </mc:Choice>
                <mc:Fallback>
                  <p:oleObj name="" r:id="rId1" imgW="1130300" imgH="1155700" progId="Equation.3">
                    <p:embed/>
                    <p:pic>
                      <p:nvPicPr>
                        <p:cNvPr id="0" name="图片 3150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4" y="864"/>
                          <a:ext cx="2488" cy="2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116" name="Rectangle 4"/>
            <p:cNvSpPr/>
            <p:nvPr/>
          </p:nvSpPr>
          <p:spPr>
            <a:xfrm>
              <a:off x="960" y="960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17" name="Rectangle 5"/>
            <p:cNvSpPr/>
            <p:nvPr/>
          </p:nvSpPr>
          <p:spPr>
            <a:xfrm>
              <a:off x="1440" y="1488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7118" name="Rectangle 6"/>
            <p:cNvSpPr/>
            <p:nvPr/>
          </p:nvSpPr>
          <p:spPr>
            <a:xfrm>
              <a:off x="2400" y="1488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19" name="Rectangle 7"/>
            <p:cNvSpPr/>
            <p:nvPr/>
          </p:nvSpPr>
          <p:spPr>
            <a:xfrm>
              <a:off x="1440" y="1968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0" name="Rectangle 8"/>
            <p:cNvSpPr/>
            <p:nvPr/>
          </p:nvSpPr>
          <p:spPr>
            <a:xfrm>
              <a:off x="480" y="2976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1" name="Rectangle 9"/>
            <p:cNvSpPr/>
            <p:nvPr/>
          </p:nvSpPr>
          <p:spPr>
            <a:xfrm>
              <a:off x="960" y="2496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7122" name="Rectangle 10"/>
            <p:cNvSpPr/>
            <p:nvPr/>
          </p:nvSpPr>
          <p:spPr>
            <a:xfrm>
              <a:off x="1968" y="2976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79883" name="Rectangle 11"/>
          <p:cNvSpPr/>
          <p:nvPr/>
        </p:nvSpPr>
        <p:spPr>
          <a:xfrm>
            <a:off x="5867400" y="3748088"/>
            <a:ext cx="45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9884" name="Rectangle 12"/>
          <p:cNvSpPr/>
          <p:nvPr/>
        </p:nvSpPr>
        <p:spPr>
          <a:xfrm>
            <a:off x="2819400" y="51816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9885" name="Rectangle 13"/>
          <p:cNvSpPr/>
          <p:nvPr/>
        </p:nvSpPr>
        <p:spPr>
          <a:xfrm>
            <a:off x="5867400" y="13716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79886" name="Line 14"/>
          <p:cNvSpPr/>
          <p:nvPr/>
        </p:nvSpPr>
        <p:spPr>
          <a:xfrm>
            <a:off x="1524000" y="3200400"/>
            <a:ext cx="48006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9887" name="Line 15"/>
          <p:cNvSpPr/>
          <p:nvPr/>
        </p:nvSpPr>
        <p:spPr>
          <a:xfrm>
            <a:off x="1524000" y="2438400"/>
            <a:ext cx="48006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9888" name="Line 16"/>
          <p:cNvSpPr/>
          <p:nvPr/>
        </p:nvSpPr>
        <p:spPr>
          <a:xfrm>
            <a:off x="3124200" y="1066800"/>
            <a:ext cx="0" cy="426720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9889" name="Line 17"/>
          <p:cNvSpPr/>
          <p:nvPr/>
        </p:nvSpPr>
        <p:spPr>
          <a:xfrm>
            <a:off x="1524000" y="4800600"/>
            <a:ext cx="48006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dash"/>
            <a:headEnd type="none" w="med" len="med"/>
            <a:tailEnd type="none" w="med" len="med"/>
          </a:ln>
        </p:spPr>
      </p:sp>
      <p:sp>
        <p:nvSpPr>
          <p:cNvPr id="79890" name="Rectangle 18"/>
          <p:cNvSpPr/>
          <p:nvPr/>
        </p:nvSpPr>
        <p:spPr>
          <a:xfrm>
            <a:off x="4949825" y="5653088"/>
            <a:ext cx="2192338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=4 &lt;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=5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9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9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9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9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9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79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9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83" grpId="0"/>
      <p:bldP spid="79884" grpId="0"/>
      <p:bldP spid="79885" grpId="0"/>
      <p:bldP spid="79890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17"/>
          <p:cNvGrpSpPr/>
          <p:nvPr/>
        </p:nvGrpSpPr>
        <p:grpSpPr>
          <a:xfrm>
            <a:off x="76200" y="1066800"/>
            <a:ext cx="4800600" cy="4267200"/>
            <a:chOff x="48" y="672"/>
            <a:chExt cx="3024" cy="2688"/>
          </a:xfrm>
        </p:grpSpPr>
        <p:grpSp>
          <p:nvGrpSpPr>
            <p:cNvPr id="48134" name="Group 2"/>
            <p:cNvGrpSpPr/>
            <p:nvPr/>
          </p:nvGrpSpPr>
          <p:grpSpPr>
            <a:xfrm>
              <a:off x="288" y="768"/>
              <a:ext cx="2488" cy="2544"/>
              <a:chOff x="384" y="864"/>
              <a:chExt cx="2488" cy="2544"/>
            </a:xfrm>
          </p:grpSpPr>
          <p:graphicFrame>
            <p:nvGraphicFramePr>
              <p:cNvPr id="48131" name="Object 3"/>
              <p:cNvGraphicFramePr>
                <a:graphicFrameLocks noChangeAspect="1"/>
              </p:cNvGraphicFramePr>
              <p:nvPr/>
            </p:nvGraphicFramePr>
            <p:xfrm>
              <a:off x="384" y="864"/>
              <a:ext cx="2488" cy="25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54" name="" r:id="rId1" imgW="1130300" imgH="1155700" progId="Equation.3">
                      <p:embed/>
                    </p:oleObj>
                  </mc:Choice>
                  <mc:Fallback>
                    <p:oleObj name="" r:id="rId1" imgW="1130300" imgH="1155700" progId="Equation.3">
                      <p:embed/>
                      <p:pic>
                        <p:nvPicPr>
                          <p:cNvPr id="0" name="图片 3153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384" y="864"/>
                            <a:ext cx="2488" cy="2544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8139" name="Rectangle 4"/>
              <p:cNvSpPr/>
              <p:nvPr/>
            </p:nvSpPr>
            <p:spPr>
              <a:xfrm>
                <a:off x="960" y="960"/>
                <a:ext cx="336" cy="288"/>
              </a:xfrm>
              <a:prstGeom prst="rect">
                <a:avLst/>
              </a:prstGeom>
              <a:solidFill>
                <a:srgbClr val="D36FD5"/>
              </a:solidFill>
              <a:ln w="9525">
                <a:noFill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b="1" dirty="0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◎</a:t>
                </a:r>
                <a:endPara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40" name="Rectangle 5"/>
              <p:cNvSpPr/>
              <p:nvPr/>
            </p:nvSpPr>
            <p:spPr>
              <a:xfrm>
                <a:off x="1440" y="1488"/>
                <a:ext cx="336" cy="288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sz="28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Ø</a:t>
                </a:r>
                <a:endParaRPr lang="en-US" altLang="zh-CN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8141" name="Rectangle 6"/>
              <p:cNvSpPr/>
              <p:nvPr/>
            </p:nvSpPr>
            <p:spPr>
              <a:xfrm>
                <a:off x="2400" y="1488"/>
                <a:ext cx="336" cy="288"/>
              </a:xfrm>
              <a:prstGeom prst="rect">
                <a:avLst/>
              </a:prstGeom>
              <a:solidFill>
                <a:srgbClr val="D36FD5"/>
              </a:solidFill>
              <a:ln w="9525">
                <a:noFill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b="1" dirty="0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◎</a:t>
                </a:r>
                <a:endPara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42" name="Rectangle 7"/>
              <p:cNvSpPr/>
              <p:nvPr/>
            </p:nvSpPr>
            <p:spPr>
              <a:xfrm>
                <a:off x="1440" y="1968"/>
                <a:ext cx="336" cy="288"/>
              </a:xfrm>
              <a:prstGeom prst="rect">
                <a:avLst/>
              </a:prstGeom>
              <a:solidFill>
                <a:srgbClr val="D36FD5"/>
              </a:solidFill>
              <a:ln w="9525">
                <a:noFill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b="1" dirty="0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◎</a:t>
                </a:r>
                <a:endPara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43" name="Rectangle 8"/>
              <p:cNvSpPr/>
              <p:nvPr/>
            </p:nvSpPr>
            <p:spPr>
              <a:xfrm>
                <a:off x="480" y="2976"/>
                <a:ext cx="336" cy="288"/>
              </a:xfrm>
              <a:prstGeom prst="rect">
                <a:avLst/>
              </a:prstGeom>
              <a:solidFill>
                <a:srgbClr val="D36FD5"/>
              </a:solidFill>
              <a:ln w="9525">
                <a:noFill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b="1" dirty="0">
                    <a:solidFill>
                      <a:srgbClr val="000066"/>
                    </a:solidFill>
                    <a:latin typeface="Times New Roman" panose="02020603050405020304" pitchFamily="18" charset="0"/>
                  </a:rPr>
                  <a:t>◎</a:t>
                </a:r>
                <a:endPara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8144" name="Rectangle 9"/>
              <p:cNvSpPr/>
              <p:nvPr/>
            </p:nvSpPr>
            <p:spPr>
              <a:xfrm>
                <a:off x="960" y="2496"/>
                <a:ext cx="336" cy="288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sz="28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Ø</a:t>
                </a:r>
                <a:endParaRPr lang="en-US" altLang="zh-CN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8145" name="Rectangle 10"/>
              <p:cNvSpPr/>
              <p:nvPr/>
            </p:nvSpPr>
            <p:spPr>
              <a:xfrm>
                <a:off x="1968" y="2976"/>
                <a:ext cx="336" cy="288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</a:ln>
            </p:spPr>
            <p:txBody>
              <a:bodyPr wrap="none" anchor="ctr" anchorCtr="0"/>
              <a:p>
                <a:pPr algn="ctr" eaLnBrk="1" hangingPunct="1"/>
                <a:r>
                  <a:rPr lang="en-US" altLang="zh-CN" sz="2800" b="1" dirty="0">
                    <a:solidFill>
                      <a:srgbClr val="000066"/>
                    </a:solidFill>
                    <a:latin typeface="Times New Roman" panose="02020603050405020304" pitchFamily="18" charset="0"/>
                    <a:ea typeface="楷体_GB2312" pitchFamily="49" charset="-122"/>
                  </a:rPr>
                  <a:t>Ø</a:t>
                </a:r>
                <a:endParaRPr lang="en-US" altLang="zh-CN" sz="2800" b="1" dirty="0">
                  <a:solidFill>
                    <a:srgbClr val="000066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48135" name="Line 11"/>
            <p:cNvSpPr/>
            <p:nvPr/>
          </p:nvSpPr>
          <p:spPr>
            <a:xfrm>
              <a:off x="48" y="2016"/>
              <a:ext cx="302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8136" name="Line 12"/>
            <p:cNvSpPr/>
            <p:nvPr/>
          </p:nvSpPr>
          <p:spPr>
            <a:xfrm>
              <a:off x="48" y="1536"/>
              <a:ext cx="302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8137" name="Line 13"/>
            <p:cNvSpPr/>
            <p:nvPr/>
          </p:nvSpPr>
          <p:spPr>
            <a:xfrm>
              <a:off x="1056" y="672"/>
              <a:ext cx="0" cy="2688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48138" name="Line 14"/>
            <p:cNvSpPr/>
            <p:nvPr/>
          </p:nvSpPr>
          <p:spPr>
            <a:xfrm>
              <a:off x="48" y="3024"/>
              <a:ext cx="3024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dash"/>
              <a:headEnd type="none" w="med" len="med"/>
              <a:tailEnd type="none" w="med" len="med"/>
            </a:ln>
          </p:spPr>
        </p:sp>
      </p:grpSp>
      <p:graphicFrame>
        <p:nvGraphicFramePr>
          <p:cNvPr id="80911" name="Object 15"/>
          <p:cNvGraphicFramePr>
            <a:graphicFrameLocks noChangeAspect="1"/>
          </p:cNvGraphicFramePr>
          <p:nvPr/>
        </p:nvGraphicFramePr>
        <p:xfrm>
          <a:off x="4953000" y="1219200"/>
          <a:ext cx="39497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" r:id="rId3" imgW="1130300" imgH="1155700" progId="Equation.3">
                  <p:embed/>
                </p:oleObj>
              </mc:Choice>
              <mc:Fallback>
                <p:oleObj name="" r:id="rId3" imgW="1130300" imgH="1155700" progId="Equation.3">
                  <p:embed/>
                  <p:pic>
                    <p:nvPicPr>
                      <p:cNvPr id="0" name="图片 315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953000" y="1219200"/>
                        <a:ext cx="394970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14" name="AutoShape 18"/>
          <p:cNvSpPr/>
          <p:nvPr/>
        </p:nvSpPr>
        <p:spPr>
          <a:xfrm>
            <a:off x="4419600" y="32004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33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1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1922" name="Object 2"/>
          <p:cNvGraphicFramePr>
            <a:graphicFrameLocks noChangeAspect="1"/>
          </p:cNvGraphicFramePr>
          <p:nvPr/>
        </p:nvGraphicFramePr>
        <p:xfrm>
          <a:off x="4584700" y="1219200"/>
          <a:ext cx="39497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" r:id="rId1" imgW="1130300" imgH="1155700" progId="Equation.3">
                  <p:embed/>
                </p:oleObj>
              </mc:Choice>
              <mc:Fallback>
                <p:oleObj name="" r:id="rId1" imgW="1130300" imgH="1155700" progId="Equation.3">
                  <p:embed/>
                  <p:pic>
                    <p:nvPicPr>
                      <p:cNvPr id="0" name="图片 315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84700" y="1219200"/>
                        <a:ext cx="394970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3" name="Rectangle 3"/>
          <p:cNvSpPr/>
          <p:nvPr/>
        </p:nvSpPr>
        <p:spPr>
          <a:xfrm>
            <a:off x="5499100" y="13716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4" name="Rectangle 4"/>
          <p:cNvSpPr/>
          <p:nvPr/>
        </p:nvSpPr>
        <p:spPr>
          <a:xfrm>
            <a:off x="5499100" y="38100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25" name="Rectangle 5"/>
          <p:cNvSpPr/>
          <p:nvPr/>
        </p:nvSpPr>
        <p:spPr>
          <a:xfrm>
            <a:off x="4737100" y="45720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6" name="Rectangle 6"/>
          <p:cNvSpPr/>
          <p:nvPr/>
        </p:nvSpPr>
        <p:spPr>
          <a:xfrm>
            <a:off x="7023100" y="45720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27" name="Rectangle 7"/>
          <p:cNvSpPr/>
          <p:nvPr/>
        </p:nvSpPr>
        <p:spPr>
          <a:xfrm>
            <a:off x="7785100" y="38100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28" name="Rectangle 8"/>
          <p:cNvSpPr/>
          <p:nvPr/>
        </p:nvSpPr>
        <p:spPr>
          <a:xfrm>
            <a:off x="7785100" y="22098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29" name="Rectangle 9"/>
          <p:cNvSpPr/>
          <p:nvPr/>
        </p:nvSpPr>
        <p:spPr>
          <a:xfrm>
            <a:off x="6261100" y="22098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1930" name="Rectangle 10"/>
          <p:cNvSpPr/>
          <p:nvPr/>
        </p:nvSpPr>
        <p:spPr>
          <a:xfrm>
            <a:off x="6261100" y="29718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1932" name="Rectangle 12"/>
          <p:cNvSpPr/>
          <p:nvPr/>
        </p:nvSpPr>
        <p:spPr>
          <a:xfrm>
            <a:off x="6261100" y="51816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1934" name="Rectangle 14"/>
          <p:cNvSpPr/>
          <p:nvPr/>
        </p:nvSpPr>
        <p:spPr>
          <a:xfrm>
            <a:off x="7785100" y="5195888"/>
            <a:ext cx="4572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1936" name="Rectangle 16"/>
          <p:cNvSpPr/>
          <p:nvPr/>
        </p:nvSpPr>
        <p:spPr>
          <a:xfrm>
            <a:off x="5422900" y="51816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81961" name="Object 41"/>
          <p:cNvGraphicFramePr>
            <a:graphicFrameLocks noChangeAspect="1"/>
          </p:cNvGraphicFramePr>
          <p:nvPr/>
        </p:nvGraphicFramePr>
        <p:xfrm>
          <a:off x="228600" y="1219200"/>
          <a:ext cx="39497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" r:id="rId3" imgW="1130300" imgH="1155700" progId="Equation.3">
                  <p:embed/>
                </p:oleObj>
              </mc:Choice>
              <mc:Fallback>
                <p:oleObj name="" r:id="rId3" imgW="1130300" imgH="1155700" progId="Equation.3">
                  <p:embed/>
                  <p:pic>
                    <p:nvPicPr>
                      <p:cNvPr id="0" name="图片 315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28600" y="1219200"/>
                        <a:ext cx="394970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62" name="AutoShape 42"/>
          <p:cNvSpPr/>
          <p:nvPr/>
        </p:nvSpPr>
        <p:spPr>
          <a:xfrm>
            <a:off x="4114800" y="32004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33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81963" name="Rectangle 43"/>
          <p:cNvSpPr/>
          <p:nvPr/>
        </p:nvSpPr>
        <p:spPr>
          <a:xfrm>
            <a:off x="8458200" y="28956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1964" name="Rectangle 44"/>
          <p:cNvSpPr/>
          <p:nvPr/>
        </p:nvSpPr>
        <p:spPr>
          <a:xfrm>
            <a:off x="8458200" y="21336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1965" name="Rectangle 45"/>
          <p:cNvSpPr/>
          <p:nvPr/>
        </p:nvSpPr>
        <p:spPr>
          <a:xfrm>
            <a:off x="8458200" y="37338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sp>
        <p:nvSpPr>
          <p:cNvPr id="81966" name="Rectangle 46"/>
          <p:cNvSpPr/>
          <p:nvPr/>
        </p:nvSpPr>
        <p:spPr>
          <a:xfrm>
            <a:off x="8458200" y="1371600"/>
            <a:ext cx="4572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</a:rPr>
              <a:t>√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1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1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1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1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1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1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1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1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81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7" dur="500"/>
                                        <p:tgtEl>
                                          <p:spTgt spid="81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81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81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81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3" grpId="0" animBg="1"/>
      <p:bldP spid="81924" grpId="0" animBg="1"/>
      <p:bldP spid="81925" grpId="0" animBg="1"/>
      <p:bldP spid="81926" grpId="0" animBg="1"/>
      <p:bldP spid="81927" grpId="0" animBg="1"/>
      <p:bldP spid="81928" grpId="0" animBg="1"/>
      <p:bldP spid="81929" grpId="0" animBg="1"/>
      <p:bldP spid="81930" grpId="0" animBg="1"/>
      <p:bldP spid="81932" grpId="0"/>
      <p:bldP spid="81934" grpId="0"/>
      <p:bldP spid="81936" grpId="0"/>
      <p:bldP spid="81962" grpId="0" animBg="1"/>
      <p:bldP spid="81963" grpId="0"/>
      <p:bldP spid="81964" grpId="0"/>
      <p:bldP spid="81965" grpId="0"/>
      <p:bldP spid="81966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6"/>
          <p:cNvGrpSpPr/>
          <p:nvPr/>
        </p:nvGrpSpPr>
        <p:grpSpPr>
          <a:xfrm>
            <a:off x="2667000" y="1066800"/>
            <a:ext cx="4419600" cy="4572000"/>
            <a:chOff x="2880" y="672"/>
            <a:chExt cx="2784" cy="2880"/>
          </a:xfrm>
        </p:grpSpPr>
        <p:graphicFrame>
          <p:nvGraphicFramePr>
            <p:cNvPr id="50178" name="Object 7"/>
            <p:cNvGraphicFramePr>
              <a:graphicFrameLocks noChangeAspect="1"/>
            </p:cNvGraphicFramePr>
            <p:nvPr/>
          </p:nvGraphicFramePr>
          <p:xfrm>
            <a:off x="2880" y="672"/>
            <a:ext cx="2488" cy="2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8" name="" r:id="rId1" imgW="1130300" imgH="1155700" progId="Equation.3">
                    <p:embed/>
                  </p:oleObj>
                </mc:Choice>
                <mc:Fallback>
                  <p:oleObj name="" r:id="rId1" imgW="1130300" imgH="1155700" progId="Equation.3">
                    <p:embed/>
                    <p:pic>
                      <p:nvPicPr>
                        <p:cNvPr id="0" name="图片 315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80" y="672"/>
                          <a:ext cx="2488" cy="2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0185" name="Rectangle 8"/>
            <p:cNvSpPr/>
            <p:nvPr/>
          </p:nvSpPr>
          <p:spPr>
            <a:xfrm>
              <a:off x="3456" y="816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86" name="Rectangle 9"/>
            <p:cNvSpPr/>
            <p:nvPr/>
          </p:nvSpPr>
          <p:spPr>
            <a:xfrm>
              <a:off x="3456" y="2352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187" name="Rectangle 10"/>
            <p:cNvSpPr/>
            <p:nvPr/>
          </p:nvSpPr>
          <p:spPr>
            <a:xfrm>
              <a:off x="2976" y="2832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88" name="Rectangle 11"/>
            <p:cNvSpPr/>
            <p:nvPr/>
          </p:nvSpPr>
          <p:spPr>
            <a:xfrm>
              <a:off x="4416" y="2832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189" name="Rectangle 12"/>
            <p:cNvSpPr/>
            <p:nvPr/>
          </p:nvSpPr>
          <p:spPr>
            <a:xfrm>
              <a:off x="4896" y="2352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90" name="Rectangle 13"/>
            <p:cNvSpPr/>
            <p:nvPr/>
          </p:nvSpPr>
          <p:spPr>
            <a:xfrm>
              <a:off x="4896" y="1344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191" name="Rectangle 14"/>
            <p:cNvSpPr/>
            <p:nvPr/>
          </p:nvSpPr>
          <p:spPr>
            <a:xfrm>
              <a:off x="3936" y="1344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0192" name="Rectangle 15"/>
            <p:cNvSpPr/>
            <p:nvPr/>
          </p:nvSpPr>
          <p:spPr>
            <a:xfrm>
              <a:off x="3936" y="1824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0193" name="Rectangle 16"/>
            <p:cNvSpPr/>
            <p:nvPr/>
          </p:nvSpPr>
          <p:spPr>
            <a:xfrm>
              <a:off x="5376" y="177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0194" name="Rectangle 17"/>
            <p:cNvSpPr/>
            <p:nvPr/>
          </p:nvSpPr>
          <p:spPr>
            <a:xfrm>
              <a:off x="3936" y="321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0195" name="Rectangle 18"/>
            <p:cNvSpPr/>
            <p:nvPr/>
          </p:nvSpPr>
          <p:spPr>
            <a:xfrm>
              <a:off x="5376" y="129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0196" name="Rectangle 19"/>
            <p:cNvSpPr/>
            <p:nvPr/>
          </p:nvSpPr>
          <p:spPr>
            <a:xfrm>
              <a:off x="4896" y="3225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0197" name="Rectangle 20"/>
            <p:cNvSpPr/>
            <p:nvPr/>
          </p:nvSpPr>
          <p:spPr>
            <a:xfrm>
              <a:off x="5376" y="2304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0198" name="Rectangle 21"/>
            <p:cNvSpPr/>
            <p:nvPr/>
          </p:nvSpPr>
          <p:spPr>
            <a:xfrm>
              <a:off x="3408" y="321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0199" name="Rectangle 22"/>
            <p:cNvSpPr/>
            <p:nvPr/>
          </p:nvSpPr>
          <p:spPr>
            <a:xfrm>
              <a:off x="5376" y="81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86039" name="Line 23"/>
          <p:cNvSpPr/>
          <p:nvPr/>
        </p:nvSpPr>
        <p:spPr>
          <a:xfrm>
            <a:off x="2362200" y="4724400"/>
            <a:ext cx="4343400" cy="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40" name="Line 24"/>
          <p:cNvSpPr/>
          <p:nvPr/>
        </p:nvSpPr>
        <p:spPr>
          <a:xfrm>
            <a:off x="3886200" y="685800"/>
            <a:ext cx="0" cy="48006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41" name="Line 25"/>
          <p:cNvSpPr/>
          <p:nvPr/>
        </p:nvSpPr>
        <p:spPr>
          <a:xfrm>
            <a:off x="4648200" y="762000"/>
            <a:ext cx="0" cy="48006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42" name="Line 26"/>
          <p:cNvSpPr/>
          <p:nvPr/>
        </p:nvSpPr>
        <p:spPr>
          <a:xfrm>
            <a:off x="6172200" y="762000"/>
            <a:ext cx="0" cy="4800600"/>
          </a:xfrm>
          <a:prstGeom prst="line">
            <a:avLst/>
          </a:prstGeom>
          <a:ln w="9525" cap="flat" cmpd="sng">
            <a:solidFill>
              <a:srgbClr val="00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6043" name="Rectangle 27"/>
          <p:cNvSpPr/>
          <p:nvPr/>
        </p:nvSpPr>
        <p:spPr>
          <a:xfrm>
            <a:off x="3294063" y="5881688"/>
            <a:ext cx="2192337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l 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=4 &lt; </a:t>
            </a:r>
            <a:r>
              <a:rPr lang="en-US" altLang="zh-CN" sz="2800" b="1" i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=5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6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6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6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6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6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6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6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6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60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60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60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60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60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60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43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 23"/>
          <p:cNvGrpSpPr/>
          <p:nvPr/>
        </p:nvGrpSpPr>
        <p:grpSpPr>
          <a:xfrm>
            <a:off x="0" y="914400"/>
            <a:ext cx="4495800" cy="4800600"/>
            <a:chOff x="0" y="576"/>
            <a:chExt cx="2832" cy="3024"/>
          </a:xfrm>
        </p:grpSpPr>
        <p:graphicFrame>
          <p:nvGraphicFramePr>
            <p:cNvPr id="51203" name="Object 1"/>
            <p:cNvGraphicFramePr>
              <a:graphicFrameLocks noChangeAspect="1"/>
            </p:cNvGraphicFramePr>
            <p:nvPr/>
          </p:nvGraphicFramePr>
          <p:xfrm>
            <a:off x="48" y="720"/>
            <a:ext cx="2488" cy="2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59" name="" r:id="rId1" imgW="1130300" imgH="1155700" progId="Equation.3">
                    <p:embed/>
                  </p:oleObj>
                </mc:Choice>
                <mc:Fallback>
                  <p:oleObj name="" r:id="rId1" imgW="1130300" imgH="1155700" progId="Equation.3">
                    <p:embed/>
                    <p:pic>
                      <p:nvPicPr>
                        <p:cNvPr id="0" name="图片 315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8" y="720"/>
                          <a:ext cx="2488" cy="2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206" name="Rectangle 3"/>
            <p:cNvSpPr/>
            <p:nvPr/>
          </p:nvSpPr>
          <p:spPr>
            <a:xfrm>
              <a:off x="624" y="816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07" name="Rectangle 4"/>
            <p:cNvSpPr/>
            <p:nvPr/>
          </p:nvSpPr>
          <p:spPr>
            <a:xfrm>
              <a:off x="624" y="2352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08" name="Rectangle 5"/>
            <p:cNvSpPr/>
            <p:nvPr/>
          </p:nvSpPr>
          <p:spPr>
            <a:xfrm>
              <a:off x="144" y="2832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09" name="Rectangle 6"/>
            <p:cNvSpPr/>
            <p:nvPr/>
          </p:nvSpPr>
          <p:spPr>
            <a:xfrm>
              <a:off x="1584" y="2832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10" name="Rectangle 7"/>
            <p:cNvSpPr/>
            <p:nvPr/>
          </p:nvSpPr>
          <p:spPr>
            <a:xfrm>
              <a:off x="2064" y="2352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1" name="Rectangle 8"/>
            <p:cNvSpPr/>
            <p:nvPr/>
          </p:nvSpPr>
          <p:spPr>
            <a:xfrm>
              <a:off x="2064" y="1344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12" name="Rectangle 9"/>
            <p:cNvSpPr/>
            <p:nvPr/>
          </p:nvSpPr>
          <p:spPr>
            <a:xfrm>
              <a:off x="1104" y="1344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213" name="Rectangle 10"/>
            <p:cNvSpPr/>
            <p:nvPr/>
          </p:nvSpPr>
          <p:spPr>
            <a:xfrm>
              <a:off x="1104" y="1824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1214" name="Rectangle 11"/>
            <p:cNvSpPr/>
            <p:nvPr/>
          </p:nvSpPr>
          <p:spPr>
            <a:xfrm>
              <a:off x="2544" y="177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215" name="Rectangle 12"/>
            <p:cNvSpPr/>
            <p:nvPr/>
          </p:nvSpPr>
          <p:spPr>
            <a:xfrm>
              <a:off x="1104" y="321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216" name="Rectangle 13"/>
            <p:cNvSpPr/>
            <p:nvPr/>
          </p:nvSpPr>
          <p:spPr>
            <a:xfrm>
              <a:off x="2544" y="129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217" name="Rectangle 14"/>
            <p:cNvSpPr/>
            <p:nvPr/>
          </p:nvSpPr>
          <p:spPr>
            <a:xfrm>
              <a:off x="2064" y="3225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218" name="Rectangle 15"/>
            <p:cNvSpPr/>
            <p:nvPr/>
          </p:nvSpPr>
          <p:spPr>
            <a:xfrm>
              <a:off x="2544" y="2304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219" name="Rectangle 16"/>
            <p:cNvSpPr/>
            <p:nvPr/>
          </p:nvSpPr>
          <p:spPr>
            <a:xfrm>
              <a:off x="576" y="321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220" name="Rectangle 17"/>
            <p:cNvSpPr/>
            <p:nvPr/>
          </p:nvSpPr>
          <p:spPr>
            <a:xfrm>
              <a:off x="2544" y="816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eaLnBrk="1" hangingPunct="1"/>
              <a:r>
                <a:rPr lang="en-US" altLang="zh-CN" sz="2800" b="1" dirty="0">
                  <a:latin typeface="Times New Roman" panose="02020603050405020304" pitchFamily="18" charset="0"/>
                </a:rPr>
                <a:t>√</a:t>
              </a:r>
              <a:endParaRPr lang="en-US" altLang="zh-CN" sz="2800" b="1" dirty="0">
                <a:latin typeface="Times New Roman" panose="02020603050405020304" pitchFamily="18" charset="0"/>
              </a:endParaRPr>
            </a:p>
          </p:txBody>
        </p:sp>
        <p:sp>
          <p:nvSpPr>
            <p:cNvPr id="51221" name="Line 18"/>
            <p:cNvSpPr/>
            <p:nvPr/>
          </p:nvSpPr>
          <p:spPr>
            <a:xfrm>
              <a:off x="0" y="2976"/>
              <a:ext cx="2736" cy="0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2" name="Line 19"/>
            <p:cNvSpPr/>
            <p:nvPr/>
          </p:nvSpPr>
          <p:spPr>
            <a:xfrm>
              <a:off x="816" y="576"/>
              <a:ext cx="0" cy="30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3" name="Line 20"/>
            <p:cNvSpPr/>
            <p:nvPr/>
          </p:nvSpPr>
          <p:spPr>
            <a:xfrm>
              <a:off x="1296" y="576"/>
              <a:ext cx="0" cy="30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224" name="Line 21"/>
            <p:cNvSpPr/>
            <p:nvPr/>
          </p:nvSpPr>
          <p:spPr>
            <a:xfrm>
              <a:off x="2256" y="576"/>
              <a:ext cx="0" cy="3024"/>
            </a:xfrm>
            <a:prstGeom prst="line">
              <a:avLst/>
            </a:prstGeom>
            <a:ln w="9525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03424" name="Object 0"/>
          <p:cNvGraphicFramePr>
            <a:graphicFrameLocks noChangeAspect="1"/>
          </p:cNvGraphicFramePr>
          <p:nvPr/>
        </p:nvGraphicFramePr>
        <p:xfrm>
          <a:off x="4889500" y="1143000"/>
          <a:ext cx="39497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0" name="" r:id="rId3" imgW="1130300" imgH="1155700" progId="Equation.3">
                  <p:embed/>
                </p:oleObj>
              </mc:Choice>
              <mc:Fallback>
                <p:oleObj name="" r:id="rId3" imgW="1130300" imgH="1155700" progId="Equation.3">
                  <p:embed/>
                  <p:pic>
                    <p:nvPicPr>
                      <p:cNvPr id="0" name="图片 3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9500" y="1143000"/>
                        <a:ext cx="394970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68" name="AutoShape 24"/>
          <p:cNvSpPr/>
          <p:nvPr/>
        </p:nvSpPr>
        <p:spPr>
          <a:xfrm>
            <a:off x="4343400" y="32004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33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29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3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68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2226" name="Object 0"/>
          <p:cNvGraphicFramePr>
            <a:graphicFrameLocks noChangeAspect="1"/>
          </p:cNvGraphicFramePr>
          <p:nvPr/>
        </p:nvGraphicFramePr>
        <p:xfrm>
          <a:off x="304800" y="1143000"/>
          <a:ext cx="39497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8" name="" r:id="rId1" imgW="1130300" imgH="1155700" progId="Equation.3">
                  <p:embed/>
                </p:oleObj>
              </mc:Choice>
              <mc:Fallback>
                <p:oleObj name="" r:id="rId1" imgW="1130300" imgH="1155700" progId="Equation.3">
                  <p:embed/>
                  <p:pic>
                    <p:nvPicPr>
                      <p:cNvPr id="0" name="图片 313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04800" y="1143000"/>
                        <a:ext cx="394970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49" name="Object 1"/>
          <p:cNvGraphicFramePr>
            <a:graphicFrameLocks noChangeAspect="1"/>
          </p:cNvGraphicFramePr>
          <p:nvPr/>
        </p:nvGraphicFramePr>
        <p:xfrm>
          <a:off x="4724400" y="1143000"/>
          <a:ext cx="3949700" cy="403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9" name="" r:id="rId3" imgW="1130300" imgH="1155700" progId="Equation.3">
                  <p:embed/>
                </p:oleObj>
              </mc:Choice>
              <mc:Fallback>
                <p:oleObj name="" r:id="rId3" imgW="1130300" imgH="1155700" progId="Equation.3">
                  <p:embed/>
                  <p:pic>
                    <p:nvPicPr>
                      <p:cNvPr id="0" name="图片 31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24400" y="1143000"/>
                        <a:ext cx="3949700" cy="4038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2" name="Rectangle 4"/>
          <p:cNvSpPr/>
          <p:nvPr/>
        </p:nvSpPr>
        <p:spPr>
          <a:xfrm>
            <a:off x="6477000" y="21336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3" name="Rectangle 5"/>
          <p:cNvSpPr/>
          <p:nvPr/>
        </p:nvSpPr>
        <p:spPr>
          <a:xfrm>
            <a:off x="7924800" y="21336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74" name="Rectangle 6"/>
          <p:cNvSpPr/>
          <p:nvPr/>
        </p:nvSpPr>
        <p:spPr>
          <a:xfrm>
            <a:off x="6477000" y="29718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75" name="Rectangle 7"/>
          <p:cNvSpPr/>
          <p:nvPr/>
        </p:nvSpPr>
        <p:spPr>
          <a:xfrm>
            <a:off x="7239000" y="29718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6" name="Rectangle 8"/>
          <p:cNvSpPr/>
          <p:nvPr/>
        </p:nvSpPr>
        <p:spPr>
          <a:xfrm>
            <a:off x="7239000" y="13716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77" name="Rectangle 9"/>
          <p:cNvSpPr/>
          <p:nvPr/>
        </p:nvSpPr>
        <p:spPr>
          <a:xfrm>
            <a:off x="7239000" y="44958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78" name="Rectangle 10"/>
          <p:cNvSpPr/>
          <p:nvPr/>
        </p:nvSpPr>
        <p:spPr>
          <a:xfrm>
            <a:off x="4876800" y="44958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79" name="Rectangle 11"/>
          <p:cNvSpPr/>
          <p:nvPr/>
        </p:nvSpPr>
        <p:spPr>
          <a:xfrm>
            <a:off x="4953000" y="13716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80" name="Rectangle 12"/>
          <p:cNvSpPr/>
          <p:nvPr/>
        </p:nvSpPr>
        <p:spPr>
          <a:xfrm>
            <a:off x="5638800" y="13716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81" name="Rectangle 13"/>
          <p:cNvSpPr/>
          <p:nvPr/>
        </p:nvSpPr>
        <p:spPr>
          <a:xfrm>
            <a:off x="5638800" y="3733800"/>
            <a:ext cx="533400" cy="457200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3982" name="Rectangle 14"/>
          <p:cNvSpPr/>
          <p:nvPr/>
        </p:nvSpPr>
        <p:spPr>
          <a:xfrm>
            <a:off x="7924800" y="3733800"/>
            <a:ext cx="533400" cy="457200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83" name="Text Box 15"/>
          <p:cNvSpPr txBox="1"/>
          <p:nvPr/>
        </p:nvSpPr>
        <p:spPr>
          <a:xfrm>
            <a:off x="4953000" y="5943600"/>
            <a:ext cx="3459163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b="1" dirty="0">
                <a:solidFill>
                  <a:srgbClr val="990000"/>
                </a:solidFill>
                <a:latin typeface="Times New Roman" panose="02020603050405020304" pitchFamily="18" charset="0"/>
              </a:rPr>
              <a:t>此问题有多个最优解</a:t>
            </a:r>
            <a:endParaRPr lang="zh-CN" altLang="en-US" b="1" dirty="0">
              <a:solidFill>
                <a:srgbClr val="99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3984" name="Text Box 16"/>
          <p:cNvSpPr txBox="1"/>
          <p:nvPr/>
        </p:nvSpPr>
        <p:spPr>
          <a:xfrm>
            <a:off x="6902450" y="5257800"/>
            <a:ext cx="4889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1" hangingPunct="1"/>
            <a:r>
              <a:rPr lang="en-US" altLang="zh-CN" b="1" dirty="0">
                <a:latin typeface="Times New Roman" panose="02020603050405020304" pitchFamily="18" charset="0"/>
              </a:rPr>
              <a:t>28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83985" name="AutoShape 17"/>
          <p:cNvSpPr/>
          <p:nvPr/>
        </p:nvSpPr>
        <p:spPr>
          <a:xfrm>
            <a:off x="4191000" y="3200400"/>
            <a:ext cx="609600" cy="3048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9933"/>
          </a:solidFill>
          <a:ln w="9525">
            <a:noFill/>
          </a:ln>
        </p:spPr>
        <p:txBody>
          <a:bodyPr wrap="none" anchor="ctr" anchorCtr="0"/>
          <a:p>
            <a:pPr eaLnBrk="1" hangingPunct="1"/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39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3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83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83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83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83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83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83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83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83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3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3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39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839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2" grpId="0" animBg="1"/>
      <p:bldP spid="83973" grpId="0" animBg="1"/>
      <p:bldP spid="83974" grpId="0" animBg="1"/>
      <p:bldP spid="83975" grpId="0" animBg="1"/>
      <p:bldP spid="83976" grpId="0" animBg="1"/>
      <p:bldP spid="83977" grpId="0" animBg="1"/>
      <p:bldP spid="83978" grpId="0" animBg="1"/>
      <p:bldP spid="83979" grpId="0" animBg="1"/>
      <p:bldP spid="83980" grpId="0" animBg="1"/>
      <p:bldP spid="83981" grpId="0" animBg="1"/>
      <p:bldP spid="83982" grpId="0" animBg="1"/>
      <p:bldP spid="83983" grpId="0"/>
      <p:bldP spid="83984" grpId="0"/>
      <p:bldP spid="8398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3251" name="Group 2"/>
          <p:cNvGrpSpPr/>
          <p:nvPr/>
        </p:nvGrpSpPr>
        <p:grpSpPr>
          <a:xfrm>
            <a:off x="1981200" y="914400"/>
            <a:ext cx="5105400" cy="4343400"/>
            <a:chOff x="1680" y="720"/>
            <a:chExt cx="2488" cy="2544"/>
          </a:xfrm>
        </p:grpSpPr>
        <p:graphicFrame>
          <p:nvGraphicFramePr>
            <p:cNvPr id="53250" name="Object 3"/>
            <p:cNvGraphicFramePr>
              <a:graphicFrameLocks noChangeAspect="1"/>
            </p:cNvGraphicFramePr>
            <p:nvPr/>
          </p:nvGraphicFramePr>
          <p:xfrm>
            <a:off x="1680" y="720"/>
            <a:ext cx="2488" cy="2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42" name="" r:id="rId1" imgW="1130300" imgH="1155700" progId="Equation.3">
                    <p:embed/>
                  </p:oleObj>
                </mc:Choice>
                <mc:Fallback>
                  <p:oleObj name="" r:id="rId1" imgW="1130300" imgH="1155700" progId="Equation.3">
                    <p:embed/>
                    <p:pic>
                      <p:nvPicPr>
                        <p:cNvPr id="0" name="图片 314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80" y="720"/>
                          <a:ext cx="2488" cy="25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3252" name="Rectangle 4"/>
            <p:cNvSpPr/>
            <p:nvPr/>
          </p:nvSpPr>
          <p:spPr>
            <a:xfrm>
              <a:off x="3696" y="1344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53" name="Rectangle 5"/>
            <p:cNvSpPr/>
            <p:nvPr/>
          </p:nvSpPr>
          <p:spPr>
            <a:xfrm>
              <a:off x="2784" y="1344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3254" name="Rectangle 6"/>
            <p:cNvSpPr/>
            <p:nvPr/>
          </p:nvSpPr>
          <p:spPr>
            <a:xfrm>
              <a:off x="3264" y="1872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3255" name="Rectangle 7"/>
            <p:cNvSpPr/>
            <p:nvPr/>
          </p:nvSpPr>
          <p:spPr>
            <a:xfrm>
              <a:off x="2784" y="1872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56" name="Rectangle 8"/>
            <p:cNvSpPr/>
            <p:nvPr/>
          </p:nvSpPr>
          <p:spPr>
            <a:xfrm>
              <a:off x="3264" y="864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3257" name="Rectangle 9"/>
            <p:cNvSpPr/>
            <p:nvPr/>
          </p:nvSpPr>
          <p:spPr>
            <a:xfrm>
              <a:off x="1824" y="2832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3258" name="Rectangle 10"/>
            <p:cNvSpPr/>
            <p:nvPr/>
          </p:nvSpPr>
          <p:spPr>
            <a:xfrm>
              <a:off x="3264" y="2832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59" name="Rectangle 11"/>
            <p:cNvSpPr/>
            <p:nvPr/>
          </p:nvSpPr>
          <p:spPr>
            <a:xfrm>
              <a:off x="2256" y="864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3260" name="Rectangle 12"/>
            <p:cNvSpPr/>
            <p:nvPr/>
          </p:nvSpPr>
          <p:spPr>
            <a:xfrm>
              <a:off x="1824" y="864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3261" name="Rectangle 13"/>
            <p:cNvSpPr/>
            <p:nvPr/>
          </p:nvSpPr>
          <p:spPr>
            <a:xfrm>
              <a:off x="3696" y="2352"/>
              <a:ext cx="336" cy="288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sz="2800" b="1" dirty="0">
                  <a:solidFill>
                    <a:srgbClr val="000066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Ø</a:t>
              </a:r>
              <a:endParaRPr lang="en-US" altLang="zh-CN" sz="2800" b="1" dirty="0">
                <a:solidFill>
                  <a:srgbClr val="000066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53262" name="Rectangle 14"/>
            <p:cNvSpPr/>
            <p:nvPr/>
          </p:nvSpPr>
          <p:spPr>
            <a:xfrm>
              <a:off x="2256" y="2352"/>
              <a:ext cx="336" cy="288"/>
            </a:xfrm>
            <a:prstGeom prst="rect">
              <a:avLst/>
            </a:prstGeom>
            <a:solidFill>
              <a:srgbClr val="D36FD5"/>
            </a:solidFill>
            <a:ln w="9525">
              <a:noFill/>
            </a:ln>
          </p:spPr>
          <p:txBody>
            <a:bodyPr wrap="none" anchor="ctr" anchorCtr="0"/>
            <a:p>
              <a:pPr algn="ctr" eaLnBrk="1" hangingPunct="1"/>
              <a:r>
                <a:rPr lang="en-US" altLang="zh-CN" b="1" dirty="0">
                  <a:solidFill>
                    <a:srgbClr val="000066"/>
                  </a:solidFill>
                  <a:latin typeface="Times New Roman" panose="02020603050405020304" pitchFamily="18" charset="0"/>
                </a:rPr>
                <a:t>◎</a:t>
              </a:r>
              <a:endPara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med">
    <p:rand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4274" name="Object 3"/>
          <p:cNvGraphicFramePr>
            <a:graphicFrameLocks noChangeAspect="1"/>
          </p:cNvGraphicFramePr>
          <p:nvPr/>
        </p:nvGraphicFramePr>
        <p:xfrm>
          <a:off x="1981200" y="914400"/>
          <a:ext cx="5105400" cy="434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1" name="" r:id="rId1" imgW="1130300" imgH="1155700" progId="Equation.3">
                  <p:embed/>
                </p:oleObj>
              </mc:Choice>
              <mc:Fallback>
                <p:oleObj name="" r:id="rId1" imgW="1130300" imgH="1155700" progId="Equation.3">
                  <p:embed/>
                  <p:pic>
                    <p:nvPicPr>
                      <p:cNvPr id="0" name="图片 314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81200" y="914400"/>
                        <a:ext cx="5105400" cy="434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75" name="Rectangle 4"/>
          <p:cNvSpPr/>
          <p:nvPr/>
        </p:nvSpPr>
        <p:spPr>
          <a:xfrm>
            <a:off x="6118225" y="1979613"/>
            <a:ext cx="688975" cy="492125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6" name="Rectangle 5"/>
          <p:cNvSpPr/>
          <p:nvPr/>
        </p:nvSpPr>
        <p:spPr>
          <a:xfrm>
            <a:off x="4246563" y="1979613"/>
            <a:ext cx="688975" cy="492125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7" name="Rectangle 6"/>
          <p:cNvSpPr/>
          <p:nvPr/>
        </p:nvSpPr>
        <p:spPr>
          <a:xfrm>
            <a:off x="5230813" y="2881313"/>
            <a:ext cx="690562" cy="492125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78" name="Rectangle 7"/>
          <p:cNvSpPr/>
          <p:nvPr/>
        </p:nvSpPr>
        <p:spPr>
          <a:xfrm>
            <a:off x="4246563" y="2881313"/>
            <a:ext cx="688975" cy="492125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9" name="Rectangle 8"/>
          <p:cNvSpPr/>
          <p:nvPr/>
        </p:nvSpPr>
        <p:spPr>
          <a:xfrm>
            <a:off x="2133600" y="1160463"/>
            <a:ext cx="690563" cy="492125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80" name="Rectangle 9"/>
          <p:cNvSpPr/>
          <p:nvPr/>
        </p:nvSpPr>
        <p:spPr>
          <a:xfrm>
            <a:off x="5181600" y="4519613"/>
            <a:ext cx="688975" cy="492125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81" name="Rectangle 10"/>
          <p:cNvSpPr/>
          <p:nvPr/>
        </p:nvSpPr>
        <p:spPr>
          <a:xfrm>
            <a:off x="2209800" y="4495800"/>
            <a:ext cx="690563" cy="492125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2" name="Rectangle 11"/>
          <p:cNvSpPr/>
          <p:nvPr/>
        </p:nvSpPr>
        <p:spPr>
          <a:xfrm>
            <a:off x="3163888" y="1160463"/>
            <a:ext cx="688975" cy="492125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83" name="Rectangle 12"/>
          <p:cNvSpPr/>
          <p:nvPr/>
        </p:nvSpPr>
        <p:spPr>
          <a:xfrm>
            <a:off x="5102225" y="1160463"/>
            <a:ext cx="688975" cy="492125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84" name="Rectangle 13"/>
          <p:cNvSpPr/>
          <p:nvPr/>
        </p:nvSpPr>
        <p:spPr>
          <a:xfrm>
            <a:off x="6118225" y="3700463"/>
            <a:ext cx="688975" cy="492125"/>
          </a:xfrm>
          <a:prstGeom prst="rect">
            <a:avLst/>
          </a:prstGeom>
          <a:solidFill>
            <a:srgbClr val="CCFFCC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Ø</a:t>
            </a:r>
            <a:endParaRPr lang="en-US" altLang="zh-CN" sz="2800" b="1" dirty="0">
              <a:solidFill>
                <a:srgbClr val="000066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54285" name="Rectangle 14"/>
          <p:cNvSpPr/>
          <p:nvPr/>
        </p:nvSpPr>
        <p:spPr>
          <a:xfrm>
            <a:off x="3163888" y="3700463"/>
            <a:ext cx="688975" cy="492125"/>
          </a:xfrm>
          <a:prstGeom prst="rect">
            <a:avLst/>
          </a:prstGeom>
          <a:solidFill>
            <a:srgbClr val="D36FD5"/>
          </a:solidFill>
          <a:ln w="9525">
            <a:noFill/>
          </a:ln>
        </p:spPr>
        <p:txBody>
          <a:bodyPr wrap="none" anchor="ctr" anchorCtr="0"/>
          <a:p>
            <a:pPr algn="ctr" eaLnBrk="1" hangingPunct="1"/>
            <a:r>
              <a:rPr lang="en-US" altLang="zh-CN" b="1" dirty="0">
                <a:solidFill>
                  <a:srgbClr val="000066"/>
                </a:solidFill>
                <a:latin typeface="Times New Roman" panose="02020603050405020304" pitchFamily="18" charset="0"/>
              </a:rPr>
              <a:t>◎</a:t>
            </a:r>
            <a:endParaRPr lang="en-US" altLang="zh-CN" b="1" dirty="0">
              <a:solidFill>
                <a:srgbClr val="000066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9" name="Text Box 3"/>
          <p:cNvSpPr txBox="1"/>
          <p:nvPr/>
        </p:nvSpPr>
        <p:spPr>
          <a:xfrm>
            <a:off x="228600" y="1600200"/>
            <a:ext cx="8686800" cy="42656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200000"/>
              </a:lnSpc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排课问题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指派问题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投资组合选择问题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库存问题</a:t>
            </a:r>
            <a:endParaRPr lang="en-US" altLang="zh-CN" sz="28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eaLnBrk="1" hangingPunct="1">
              <a:lnSpc>
                <a:spcPct val="200000"/>
              </a:lnSpc>
            </a:pPr>
            <a:r>
              <a:rPr lang="zh-CN" altLang="en-US" sz="2800" b="1" dirty="0">
                <a:solidFill>
                  <a:srgbClr val="000066"/>
                </a:solidFill>
                <a:latin typeface="Times New Roman" panose="02020603050405020304" pitchFamily="18" charset="0"/>
                <a:ea typeface="楷体_GB2312" pitchFamily="49" charset="-122"/>
              </a:rPr>
              <a:t>其他可以用规划论解决的实际问题</a:t>
            </a:r>
            <a:endParaRPr lang="zh-CN" altLang="en-US" sz="2600" b="1" dirty="0">
              <a:solidFill>
                <a:srgbClr val="000066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1139" name="Rectangle 24"/>
          <p:cNvSpPr>
            <a:spLocks noGrp="1"/>
          </p:cNvSpPr>
          <p:nvPr>
            <p:ph type="ctrTitle"/>
          </p:nvPr>
        </p:nvSpPr>
        <p:spPr>
          <a:xfrm>
            <a:off x="514350" y="304800"/>
            <a:ext cx="7772400" cy="766763"/>
          </a:xfrm>
          <a:ln/>
        </p:spPr>
        <p:txBody>
          <a:bodyPr vert="horz" wrap="square" lIns="91440" tIns="45720" rIns="91440" bIns="45720" anchor="ctr" anchorCtr="0"/>
          <a:p>
            <a:pPr algn="l" eaLnBrk="1" hangingPunct="1">
              <a:buClrTx/>
              <a:buSzTx/>
              <a:buFontTx/>
            </a:pPr>
            <a:r>
              <a:rPr lang="zh-CN" altLang="en-US" sz="3600" b="1" dirty="0">
                <a:solidFill>
                  <a:srgbClr val="663300"/>
                </a:solidFill>
                <a:ea typeface="楷体_GB2312" pitchFamily="49" charset="-122"/>
              </a:rPr>
              <a:t>常见研究问题</a:t>
            </a:r>
            <a:endParaRPr lang="zh-CN" altLang="en-US" sz="3600" b="1" dirty="0">
              <a:solidFill>
                <a:srgbClr val="66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 spd="med"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9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99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99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099">
                                            <p:txEl>
                                              <p:charRg st="5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1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99">
                                            <p:txEl>
                                              <p:charRg st="1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99">
                                            <p:txEl>
                                              <p:charRg st="1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19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99">
                                            <p:txEl>
                                              <p:charRg st="19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099">
                                            <p:txEl>
                                              <p:charRg st="19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charRg st="24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99">
                                            <p:txEl>
                                              <p:charRg st="24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99">
                                            <p:txEl>
                                              <p:charRg st="24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9" grpId="0" build="p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2" name="灯片编号占位符 4"/>
          <p:cNvSpPr txBox="1">
            <a:spLocks noGrp="1"/>
          </p:cNvSpPr>
          <p:nvPr>
            <p:ph type="sldNum" sz="quarter" idx="12"/>
          </p:nvPr>
        </p:nvSpPr>
        <p:spPr>
          <a:xfrm>
            <a:off x="3124200" y="6248400"/>
            <a:ext cx="2895600" cy="457200"/>
          </a:xfrm>
          <a:ln/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ct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163" name="Rectangle 3"/>
          <p:cNvSpPr>
            <a:spLocks noGrp="1"/>
          </p:cNvSpPr>
          <p:nvPr>
            <p:ph idx="1"/>
          </p:nvPr>
        </p:nvSpPr>
        <p:spPr>
          <a:xfrm>
            <a:off x="1908175" y="2565400"/>
            <a:ext cx="5113338" cy="1800225"/>
          </a:xfrm>
          <a:ln/>
        </p:spPr>
        <p:txBody>
          <a:bodyPr vert="horz" wrap="square" lIns="91440" tIns="45720" rIns="91440" bIns="45720" anchor="t" anchorCtr="0"/>
          <a:p>
            <a:pPr marL="533400" indent="-533400" algn="ctr" eaLnBrk="1" hangingPunct="1">
              <a:buFont typeface="Wingdings" panose="05000000000000000000" pitchFamily="2" charset="2"/>
              <a:buNone/>
            </a:pPr>
            <a:r>
              <a:rPr lang="zh-CN" altLang="en-US" sz="8000" dirty="0">
                <a:cs typeface="Times New Roman" panose="02020603050405020304" pitchFamily="18" charset="0"/>
              </a:rPr>
              <a:t>谢谢大家</a:t>
            </a:r>
            <a:endParaRPr lang="zh-CN" altLang="en-US" sz="8000" dirty="0"/>
          </a:p>
        </p:txBody>
      </p:sp>
      <p:sp>
        <p:nvSpPr>
          <p:cNvPr id="92164" name="Line 4"/>
          <p:cNvSpPr/>
          <p:nvPr/>
        </p:nvSpPr>
        <p:spPr>
          <a:xfrm>
            <a:off x="1219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5" name="Line 5"/>
          <p:cNvSpPr/>
          <p:nvPr/>
        </p:nvSpPr>
        <p:spPr>
          <a:xfrm>
            <a:off x="14478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6" name="Line 6"/>
          <p:cNvSpPr/>
          <p:nvPr/>
        </p:nvSpPr>
        <p:spPr>
          <a:xfrm>
            <a:off x="4953000" y="3810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7" name="Line 7"/>
          <p:cNvSpPr/>
          <p:nvPr/>
        </p:nvSpPr>
        <p:spPr>
          <a:xfrm>
            <a:off x="6172200" y="33528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8" name="Line 8"/>
          <p:cNvSpPr/>
          <p:nvPr/>
        </p:nvSpPr>
        <p:spPr>
          <a:xfrm>
            <a:off x="2971800" y="50292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9" name="Line 9"/>
          <p:cNvSpPr/>
          <p:nvPr/>
        </p:nvSpPr>
        <p:spPr>
          <a:xfrm>
            <a:off x="5257800" y="6096000"/>
            <a:ext cx="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PP_MARK_KEY" val="ae58a38b-db03-4b01-9fd1-9d6496b6d524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12409</Words>
  <Application>WPS 演示</Application>
  <PresentationFormat>全屏显示(4:3)</PresentationFormat>
  <Paragraphs>3945</Paragraphs>
  <Slides>89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95</vt:i4>
      </vt:variant>
      <vt:variant>
        <vt:lpstr>幻灯片标题</vt:lpstr>
      </vt:variant>
      <vt:variant>
        <vt:i4>89</vt:i4>
      </vt:variant>
    </vt:vector>
  </HeadingPairs>
  <TitlesOfParts>
    <vt:vector size="195" baseType="lpstr">
      <vt:lpstr>Arial</vt:lpstr>
      <vt:lpstr>宋体</vt:lpstr>
      <vt:lpstr>Wingdings</vt:lpstr>
      <vt:lpstr>Times New Roman</vt:lpstr>
      <vt:lpstr>Calibri</vt:lpstr>
      <vt:lpstr>黑体</vt:lpstr>
      <vt:lpstr>楷体_GB2312</vt:lpstr>
      <vt:lpstr>新宋体</vt:lpstr>
      <vt:lpstr>微软雅黑</vt:lpstr>
      <vt:lpstr>Arial Unicode MS</vt:lpstr>
      <vt:lpstr>默认设计模板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hebeikejidaxue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/>
  <cp:lastModifiedBy>Albert Yang</cp:lastModifiedBy>
  <cp:revision>61</cp:revision>
  <dcterms:created xsi:type="dcterms:W3CDTF">2004-04-19T02:55:16Z</dcterms:created>
  <dcterms:modified xsi:type="dcterms:W3CDTF">2022-12-11T09:09:20Z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29AF1B75989446AFBD0C0D2FBBEAC510</vt:lpwstr>
  </property>
  <property fmtid="{D5CDD505-2E9C-101B-9397-08002B2CF9AE}" pid="3" name="KSOProductBuildVer">
    <vt:lpwstr>2052-11.1.0.12980</vt:lpwstr>
  </property>
</Properties>
</file>