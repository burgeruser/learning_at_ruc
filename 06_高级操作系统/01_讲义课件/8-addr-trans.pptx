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111"/>
  </p:notesMasterIdLst>
  <p:handoutMasterIdLst>
    <p:handoutMasterId r:id="rId112"/>
  </p:handoutMasterIdLst>
  <p:sldIdLst>
    <p:sldId id="1056" r:id="rId2"/>
    <p:sldId id="1057" r:id="rId3"/>
    <p:sldId id="1170" r:id="rId4"/>
    <p:sldId id="1171" r:id="rId5"/>
    <p:sldId id="1174" r:id="rId6"/>
    <p:sldId id="1172" r:id="rId7"/>
    <p:sldId id="1173" r:id="rId8"/>
    <p:sldId id="1175" r:id="rId9"/>
    <p:sldId id="1176" r:id="rId10"/>
    <p:sldId id="1177" r:id="rId11"/>
    <p:sldId id="1195" r:id="rId12"/>
    <p:sldId id="1199" r:id="rId13"/>
    <p:sldId id="1200" r:id="rId14"/>
    <p:sldId id="1201" r:id="rId15"/>
    <p:sldId id="1202" r:id="rId16"/>
    <p:sldId id="1203" r:id="rId17"/>
    <p:sldId id="1204" r:id="rId18"/>
    <p:sldId id="1058" r:id="rId19"/>
    <p:sldId id="1059" r:id="rId20"/>
    <p:sldId id="1060" r:id="rId21"/>
    <p:sldId id="1061" r:id="rId22"/>
    <p:sldId id="1062" r:id="rId23"/>
    <p:sldId id="1063" r:id="rId24"/>
    <p:sldId id="1064" r:id="rId25"/>
    <p:sldId id="1065" r:id="rId26"/>
    <p:sldId id="1066" r:id="rId27"/>
    <p:sldId id="1070" r:id="rId28"/>
    <p:sldId id="1163" r:id="rId29"/>
    <p:sldId id="1164" r:id="rId30"/>
    <p:sldId id="1165" r:id="rId31"/>
    <p:sldId id="1071" r:id="rId32"/>
    <p:sldId id="1072" r:id="rId33"/>
    <p:sldId id="1217" r:id="rId34"/>
    <p:sldId id="1218" r:id="rId35"/>
    <p:sldId id="1219" r:id="rId36"/>
    <p:sldId id="1220" r:id="rId37"/>
    <p:sldId id="1208" r:id="rId38"/>
    <p:sldId id="1206" r:id="rId39"/>
    <p:sldId id="1207" r:id="rId40"/>
    <p:sldId id="1209" r:id="rId41"/>
    <p:sldId id="1210" r:id="rId42"/>
    <p:sldId id="1211" r:id="rId43"/>
    <p:sldId id="1198" r:id="rId44"/>
    <p:sldId id="1215" r:id="rId45"/>
    <p:sldId id="1216" r:id="rId46"/>
    <p:sldId id="1078" r:id="rId47"/>
    <p:sldId id="1079" r:id="rId48"/>
    <p:sldId id="1221" r:id="rId49"/>
    <p:sldId id="1224" r:id="rId50"/>
    <p:sldId id="1225" r:id="rId51"/>
    <p:sldId id="1222" r:id="rId52"/>
    <p:sldId id="1227" r:id="rId53"/>
    <p:sldId id="1223" r:id="rId54"/>
    <p:sldId id="1226" r:id="rId55"/>
    <p:sldId id="1228" r:id="rId56"/>
    <p:sldId id="1229" r:id="rId57"/>
    <p:sldId id="1230" r:id="rId58"/>
    <p:sldId id="1083" r:id="rId59"/>
    <p:sldId id="1168" r:id="rId60"/>
    <p:sldId id="1084" r:id="rId61"/>
    <p:sldId id="1085" r:id="rId62"/>
    <p:sldId id="1086" r:id="rId63"/>
    <p:sldId id="1087" r:id="rId64"/>
    <p:sldId id="1169" r:id="rId65"/>
    <p:sldId id="1088" r:id="rId66"/>
    <p:sldId id="1089" r:id="rId67"/>
    <p:sldId id="1090" r:id="rId68"/>
    <p:sldId id="1231" r:id="rId69"/>
    <p:sldId id="1232" r:id="rId70"/>
    <p:sldId id="1239" r:id="rId71"/>
    <p:sldId id="1233" r:id="rId72"/>
    <p:sldId id="1235" r:id="rId73"/>
    <p:sldId id="1240" r:id="rId74"/>
    <p:sldId id="1241" r:id="rId75"/>
    <p:sldId id="1242" r:id="rId76"/>
    <p:sldId id="1166" r:id="rId77"/>
    <p:sldId id="1167" r:id="rId78"/>
    <p:sldId id="1237" r:id="rId79"/>
    <p:sldId id="1236" r:id="rId80"/>
    <p:sldId id="1253" r:id="rId81"/>
    <p:sldId id="1244" r:id="rId82"/>
    <p:sldId id="1245" r:id="rId83"/>
    <p:sldId id="1246" r:id="rId84"/>
    <p:sldId id="1247" r:id="rId85"/>
    <p:sldId id="1249" r:id="rId86"/>
    <p:sldId id="1243" r:id="rId87"/>
    <p:sldId id="1092" r:id="rId88"/>
    <p:sldId id="1250" r:id="rId89"/>
    <p:sldId id="1093" r:id="rId90"/>
    <p:sldId id="1094" r:id="rId91"/>
    <p:sldId id="1254" r:id="rId92"/>
    <p:sldId id="1255" r:id="rId93"/>
    <p:sldId id="1256" r:id="rId94"/>
    <p:sldId id="1257" r:id="rId95"/>
    <p:sldId id="1258" r:id="rId96"/>
    <p:sldId id="1260" r:id="rId97"/>
    <p:sldId id="1269" r:id="rId98"/>
    <p:sldId id="1270" r:id="rId99"/>
    <p:sldId id="1272" r:id="rId100"/>
    <p:sldId id="1273" r:id="rId101"/>
    <p:sldId id="1274" r:id="rId102"/>
    <p:sldId id="1275" r:id="rId103"/>
    <p:sldId id="1276" r:id="rId104"/>
    <p:sldId id="1277" r:id="rId105"/>
    <p:sldId id="1130" r:id="rId106"/>
    <p:sldId id="1131" r:id="rId107"/>
    <p:sldId id="1132" r:id="rId108"/>
    <p:sldId id="1133" r:id="rId109"/>
    <p:sldId id="1134" r:id="rId110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Comic Sans MS" charset="0"/>
        <a:ea typeface="宋体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Comic Sans MS" charset="0"/>
        <a:ea typeface="宋体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Comic Sans MS" charset="0"/>
        <a:ea typeface="宋体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Comic Sans MS" charset="0"/>
        <a:ea typeface="宋体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Comic Sans MS" charset="0"/>
        <a:ea typeface="宋体" charset="-122"/>
        <a:cs typeface="+mn-cs"/>
      </a:defRPr>
    </a:lvl5pPr>
    <a:lvl6pPr marL="2286000" algn="l" defTabSz="914400" rtl="0" eaLnBrk="1" latinLnBrk="0" hangingPunct="1">
      <a:defRPr sz="2000" b="1" kern="1200">
        <a:solidFill>
          <a:schemeClr val="tx1"/>
        </a:solidFill>
        <a:latin typeface="Comic Sans MS" charset="0"/>
        <a:ea typeface="宋体" charset="-122"/>
        <a:cs typeface="+mn-cs"/>
      </a:defRPr>
    </a:lvl6pPr>
    <a:lvl7pPr marL="2743200" algn="l" defTabSz="914400" rtl="0" eaLnBrk="1" latinLnBrk="0" hangingPunct="1">
      <a:defRPr sz="2000" b="1" kern="1200">
        <a:solidFill>
          <a:schemeClr val="tx1"/>
        </a:solidFill>
        <a:latin typeface="Comic Sans MS" charset="0"/>
        <a:ea typeface="宋体" charset="-122"/>
        <a:cs typeface="+mn-cs"/>
      </a:defRPr>
    </a:lvl7pPr>
    <a:lvl8pPr marL="3200400" algn="l" defTabSz="914400" rtl="0" eaLnBrk="1" latinLnBrk="0" hangingPunct="1">
      <a:defRPr sz="2000" b="1" kern="1200">
        <a:solidFill>
          <a:schemeClr val="tx1"/>
        </a:solidFill>
        <a:latin typeface="Comic Sans MS" charset="0"/>
        <a:ea typeface="宋体" charset="-122"/>
        <a:cs typeface="+mn-cs"/>
      </a:defRPr>
    </a:lvl8pPr>
    <a:lvl9pPr marL="3657600" algn="l" defTabSz="914400" rtl="0" eaLnBrk="1" latinLnBrk="0" hangingPunct="1">
      <a:defRPr sz="2000" b="1" kern="1200">
        <a:solidFill>
          <a:schemeClr val="tx1"/>
        </a:solidFill>
        <a:latin typeface="Comic Sans MS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00CC"/>
    <a:srgbClr val="00CC66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060"/>
    <p:restoredTop sz="95646"/>
  </p:normalViewPr>
  <p:slideViewPr>
    <p:cSldViewPr>
      <p:cViewPr varScale="1">
        <p:scale>
          <a:sx n="122" d="100"/>
          <a:sy n="122" d="100"/>
        </p:scale>
        <p:origin x="2320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handoutMaster" Target="handoutMasters/handoutMaster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presProps" Target="presProp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notesMaster" Target="notesMasters/notesMaster1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108.xml"/><Relationship Id="rId2" Type="http://schemas.openxmlformats.org/officeDocument/2006/relationships/slide" Target="slides/slide107.xml"/><Relationship Id="rId1" Type="http://schemas.openxmlformats.org/officeDocument/2006/relationships/slide" Target="slides/slide106.xml"/><Relationship Id="rId4" Type="http://schemas.openxmlformats.org/officeDocument/2006/relationships/slide" Target="slides/slide109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7A7BE0-D18F-8045-A517-1B7E0665DA29}" type="datetimeFigureOut">
              <a:rPr kumimoji="1" lang="zh-CN" altLang="en-US" smtClean="0"/>
              <a:t>2021/11/6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FC1C7B-97B3-AC40-A8CF-52CAA952D66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663587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Times New Roman" pitchFamily="18" charset="0"/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Times New Roman" pitchFamily="18" charset="0"/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Times New Roman" pitchFamily="18" charset="0"/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Times New Roman" charset="0"/>
              </a:defRPr>
            </a:lvl1pPr>
          </a:lstStyle>
          <a:p>
            <a:fld id="{449CF617-9902-334A-9C6C-EF00630F7CCA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宋体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AF2A28A4-590E-4946-81EF-F42B8741BC2B}" type="slidenum">
              <a:rPr lang="zh-CN" altLang="en-US" sz="1200" b="0">
                <a:latin typeface="Times New Roman" charset="0"/>
              </a:rPr>
              <a:pPr/>
              <a:t>1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96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kumimoji="0"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9FEBA713-CB3E-3C49-B195-2577D869E7B0}" type="slidenum">
              <a:rPr lang="zh-CN" altLang="en-US" sz="1200" b="0">
                <a:latin typeface="Times New Roman" charset="0"/>
              </a:rPr>
              <a:pPr/>
              <a:t>2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983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kumimoji="0"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AF2A28A4-590E-4946-81EF-F42B8741BC2B}" type="slidenum">
              <a:rPr lang="zh-CN" altLang="en-US" sz="1200" b="0">
                <a:latin typeface="Times New Roman" charset="0"/>
              </a:rPr>
              <a:pPr/>
              <a:t>11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96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kumimoji="0" lang="zh-CN" altLang="en-US">
              <a:latin typeface="Times New Roman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956860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36802A98-8C2F-4648-AE2A-3880E8FE3852}" type="slidenum">
              <a:rPr lang="zh-CN" altLang="en-US" sz="1200" b="0">
                <a:latin typeface="Times New Roman" charset="0"/>
              </a:rPr>
              <a:pPr/>
              <a:t>18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100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kumimoji="0"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9E2EF30F-CCB9-ED49-B023-3A8744C3C0FF}" type="slidenum">
              <a:rPr lang="zh-CN" altLang="en-US" sz="1200" b="0">
                <a:latin typeface="Times New Roman" charset="0"/>
              </a:rPr>
              <a:pPr/>
              <a:t>19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102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kumimoji="0"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C7577C84-B670-2F41-8D8B-132185196F2B}" type="slidenum">
              <a:rPr lang="zh-CN" altLang="en-US" sz="1200" b="0">
                <a:latin typeface="Times New Roman" charset="0"/>
              </a:rPr>
              <a:pPr/>
              <a:t>20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104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kumimoji="0"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0486B90F-6763-E44E-BD5F-1D4523B2F875}" type="slidenum">
              <a:rPr lang="zh-CN" altLang="en-US" sz="1200" b="0">
                <a:latin typeface="Times New Roman" charset="0"/>
              </a:rPr>
              <a:pPr/>
              <a:t>21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1064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4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kumimoji="0"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58159839-32DB-104A-B778-12AAC6C832E1}" type="slidenum">
              <a:rPr lang="zh-CN" altLang="en-US" sz="1200" b="0">
                <a:latin typeface="Times New Roman" charset="0"/>
              </a:rPr>
              <a:pPr/>
              <a:t>22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108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kumimoji="0"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454B76B1-30D9-204D-B422-14B331B905AA}" type="slidenum">
              <a:rPr lang="zh-CN" altLang="en-US" sz="1200" b="0">
                <a:latin typeface="Times New Roman" charset="0"/>
              </a:rPr>
              <a:pPr/>
              <a:t>23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kumimoji="0"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C0A7FF0D-DC39-BD40-A484-FB601813A55E}" type="slidenum">
              <a:rPr lang="zh-CN" altLang="en-US" sz="1200" b="0">
                <a:latin typeface="Times New Roman" charset="0"/>
              </a:rPr>
              <a:pPr/>
              <a:t>24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112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kumimoji="0"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92FD29A7-14FA-1444-A59A-3B1C5EC9E433}" type="slidenum">
              <a:rPr lang="zh-CN" altLang="en-US" sz="1200" b="0">
                <a:latin typeface="Times New Roman" charset="0"/>
              </a:rPr>
              <a:pPr/>
              <a:t>25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114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kumimoji="0"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881B1D68-FE37-0A49-8DD8-AE523058D2E7}" type="slidenum">
              <a:rPr lang="zh-CN" altLang="en-US" sz="1200" b="0">
                <a:latin typeface="Times New Roman" charset="0"/>
              </a:rPr>
              <a:pPr/>
              <a:t>26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1167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kumimoji="0"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6C605F08-6F0B-814D-A6A2-55E5B82EE42E}" type="slidenum">
              <a:rPr lang="zh-CN" altLang="en-US" sz="1200" b="0">
                <a:latin typeface="Times New Roman" charset="0"/>
              </a:rPr>
              <a:pPr/>
              <a:t>27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120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kumimoji="0"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B0E711D4-5035-E841-B94E-65B3A7F652DE}" type="slidenum">
              <a:rPr lang="zh-CN" altLang="en-US" sz="1200" b="0">
                <a:latin typeface="Times New Roman" charset="0"/>
              </a:rPr>
              <a:pPr/>
              <a:t>28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118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kumimoji="0"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80569535-1812-8343-B1F9-F137376BA50C}" type="slidenum">
              <a:rPr lang="zh-CN" altLang="en-US" sz="1200" b="0">
                <a:latin typeface="Times New Roman" charset="0"/>
              </a:rPr>
              <a:pPr/>
              <a:t>31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1249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kumimoji="0"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2540B59D-C987-164B-8B2D-0BA9FFED05FC}" type="slidenum">
              <a:rPr lang="zh-CN" altLang="en-US" sz="1200" b="0">
                <a:latin typeface="Times New Roman" charset="0"/>
              </a:rPr>
              <a:pPr/>
              <a:t>32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1269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kumimoji="0"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22DA7E7F-1191-3349-9AE8-EE6C8F81ACFA}" type="slidenum">
              <a:rPr lang="zh-CN" altLang="en-US" sz="1200" b="0">
                <a:latin typeface="Times New Roman" charset="0"/>
              </a:rPr>
              <a:pPr/>
              <a:t>33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kumimoji="0" lang="zh-CN" altLang="en-US">
              <a:latin typeface="Times New Roman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0905781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5D63B8CA-E412-EF49-A6CD-1CA6905441AB}" type="slidenum">
              <a:rPr lang="zh-CN" altLang="en-US" sz="1200" b="0">
                <a:latin typeface="Times New Roman" charset="0"/>
              </a:rPr>
              <a:pPr/>
              <a:t>34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1310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0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kumimoji="0" lang="zh-CN" altLang="en-US">
              <a:latin typeface="Times New Roman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2495001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D3FE6E2C-1170-AB41-89A1-17C69A542F4A}" type="slidenum">
              <a:rPr lang="zh-CN" altLang="en-US" sz="1200" b="0">
                <a:latin typeface="Times New Roman" charset="0"/>
              </a:rPr>
              <a:pPr/>
              <a:t>35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133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kumimoji="0" lang="zh-CN" altLang="en-US">
              <a:latin typeface="Times New Roman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5680308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78DC102B-E7A2-4F46-8DA2-BD06F9AFF49F}" type="slidenum">
              <a:rPr lang="zh-CN" altLang="en-US" sz="1200" b="0">
                <a:latin typeface="Times New Roman" charset="0"/>
              </a:rPr>
              <a:pPr/>
              <a:t>36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135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51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kumimoji="0" lang="zh-CN" altLang="en-US">
              <a:latin typeface="Times New Roman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3977722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AF2A28A4-590E-4946-81EF-F42B8741BC2B}" type="slidenum">
              <a:rPr lang="zh-CN" altLang="en-US" sz="1200" b="0">
                <a:latin typeface="Times New Roman" charset="0"/>
              </a:rPr>
              <a:pPr/>
              <a:t>43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96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kumimoji="0" lang="zh-CN" altLang="en-US">
              <a:latin typeface="Times New Roman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457623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69235B29-C1AC-1C4A-AD4D-7C8AE82EE803}" type="slidenum">
              <a:rPr lang="zh-CN" altLang="en-US" sz="1200" b="0">
                <a:latin typeface="Times New Roman" charset="0"/>
              </a:rPr>
              <a:pPr/>
              <a:t>46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1392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92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kumimoji="0"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529F7F00-3847-334C-BDC3-7F97939F3358}" type="slidenum">
              <a:rPr lang="zh-CN" altLang="en-US" sz="1200" b="0">
                <a:latin typeface="Times New Roman" charset="0"/>
              </a:rPr>
              <a:pPr/>
              <a:t>47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141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13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kumimoji="0"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B84C9A9E-6184-2747-820D-9409F3C87E44}" type="slidenum">
              <a:rPr lang="zh-CN" altLang="en-US" sz="1200" b="0">
                <a:latin typeface="Times New Roman" charset="0"/>
              </a:rPr>
              <a:pPr/>
              <a:t>55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143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kumimoji="0" lang="zh-CN" altLang="en-US">
              <a:latin typeface="Times New Roman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479157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0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6F230A94-027D-244B-93BA-0672D2F47580}" type="slidenum">
              <a:rPr lang="zh-CN" altLang="en-US" sz="1200" b="0">
                <a:latin typeface="Times New Roman" charset="0"/>
              </a:rPr>
              <a:pPr/>
              <a:t>56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145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54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kumimoji="0" lang="zh-CN" altLang="en-US">
              <a:latin typeface="Times New Roman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0140359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CBBC4B57-A885-BD43-BF61-A13C1D0C1230}" type="slidenum">
              <a:rPr lang="zh-CN" altLang="en-US" sz="1200" b="0">
                <a:latin typeface="Times New Roman" charset="0"/>
              </a:rPr>
              <a:pPr/>
              <a:t>57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147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74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kumimoji="0" lang="zh-CN" altLang="en-US">
              <a:latin typeface="Times New Roman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3626032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ED5B34BA-994D-014D-B7A6-EDBDF3281DFD}" type="slidenum">
              <a:rPr lang="zh-CN" altLang="en-US" sz="1200" b="0">
                <a:latin typeface="Times New Roman" charset="0"/>
              </a:rPr>
              <a:pPr/>
              <a:t>58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149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95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kumimoji="0"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214A432F-8E32-D848-A4DC-97D2E98B6BD1}" type="slidenum">
              <a:rPr lang="zh-CN" altLang="en-US" sz="1200" b="0">
                <a:latin typeface="Times New Roman" charset="0"/>
              </a:rPr>
              <a:pPr/>
              <a:t>59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151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15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kumimoji="0"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00431962-ADEB-0247-90EE-EBAE68F09092}" type="slidenum">
              <a:rPr lang="zh-CN" altLang="en-US" sz="1200" b="0">
                <a:latin typeface="Times New Roman" charset="0"/>
              </a:rPr>
              <a:pPr/>
              <a:t>60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153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kumimoji="0"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08219DE4-793D-0D44-8169-598607DF7892}" type="slidenum">
              <a:rPr lang="zh-CN" altLang="en-US" sz="1200" b="0">
                <a:latin typeface="Times New Roman" charset="0"/>
              </a:rPr>
              <a:pPr/>
              <a:t>61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155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56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kumimoji="0"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084051B7-969B-2744-84D9-ADE23D3EC63A}" type="slidenum">
              <a:rPr lang="zh-CN" altLang="en-US" sz="1200" b="0">
                <a:latin typeface="Times New Roman" charset="0"/>
              </a:rPr>
              <a:pPr/>
              <a:t>62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157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76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kumimoji="0"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4F564257-A212-A74B-8E2E-D8F7D7B7E518}" type="slidenum">
              <a:rPr lang="zh-CN" altLang="en-US" sz="1200" b="0">
                <a:latin typeface="Times New Roman" charset="0"/>
              </a:rPr>
              <a:pPr/>
              <a:t>63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159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97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kumimoji="0"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E01344DC-31EA-BF48-89FA-647D2CE8266D}" type="slidenum">
              <a:rPr lang="zh-CN" altLang="en-US" sz="1200" b="0">
                <a:latin typeface="Times New Roman" charset="0"/>
              </a:rPr>
              <a:pPr/>
              <a:t>64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161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1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kumimoji="0"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6B768E0D-2CC4-BC4C-87BA-6638C9DD1435}" type="slidenum">
              <a:rPr lang="zh-CN" altLang="en-US" sz="1200" b="0">
                <a:latin typeface="Times New Roman" charset="0"/>
              </a:rPr>
              <a:pPr/>
              <a:t>65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163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kumimoji="0"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2332F8F3-55CD-2845-819D-5C6E2E8D0184}" type="slidenum">
              <a:rPr lang="zh-CN" altLang="en-US" sz="1200" b="0">
                <a:latin typeface="Times New Roman" charset="0"/>
              </a:rPr>
              <a:pPr/>
              <a:t>66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165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58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kumimoji="0"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C3C607A3-D24B-8B4D-8641-448944908CC8}" type="slidenum">
              <a:rPr lang="zh-CN" altLang="en-US" sz="1200" b="0">
                <a:latin typeface="Times New Roman" charset="0"/>
              </a:rPr>
              <a:pPr/>
              <a:t>67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167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79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kumimoji="0"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AF2A28A4-590E-4946-81EF-F42B8741BC2B}" type="slidenum">
              <a:rPr lang="zh-CN" altLang="en-US" sz="1200" b="0">
                <a:latin typeface="Times New Roman" charset="0"/>
              </a:rPr>
              <a:pPr/>
              <a:t>78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96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kumimoji="0" lang="zh-CN" altLang="en-US">
              <a:latin typeface="Times New Roman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7926641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05CFEAFB-5213-A94C-82B9-202B0B3C4698}" type="slidenum">
              <a:rPr lang="zh-CN" altLang="en-US" sz="1200" b="0">
                <a:latin typeface="Times New Roman" charset="0"/>
              </a:rPr>
              <a:pPr/>
              <a:t>80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172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20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kumimoji="0" lang="zh-CN" altLang="en-US">
              <a:latin typeface="Times New Roman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2356364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D0E8DCBB-A2D5-1C4B-B526-BF1CD32B9AC2}" type="slidenum">
              <a:rPr lang="zh-CN" altLang="en-US" sz="1200" b="0">
                <a:latin typeface="Times New Roman" charset="0"/>
              </a:rPr>
              <a:pPr/>
              <a:t>87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174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0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kumimoji="0"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E55237BC-8593-814A-9138-F6B5E4E29F04}" type="slidenum">
              <a:rPr lang="zh-CN" altLang="en-US" sz="1200" b="0">
                <a:latin typeface="Times New Roman" charset="0"/>
              </a:rPr>
              <a:pPr/>
              <a:t>89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176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61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kumimoji="0"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16F6424F-4E42-7D4C-A84F-82A952738611}" type="slidenum">
              <a:rPr lang="zh-CN" altLang="en-US" sz="1200" b="0">
                <a:latin typeface="Times New Roman" charset="0"/>
              </a:rPr>
              <a:pPr/>
              <a:t>90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178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81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kumimoji="0"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2">
            <a:extLst>
              <a:ext uri="{FF2B5EF4-FFF2-40B4-BE49-F238E27FC236}">
                <a16:creationId xmlns:a16="http://schemas.microsoft.com/office/drawing/2014/main" id="{A8444500-B8D1-1645-B14D-6FDCEAB45B6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2" name="Rectangle 3">
            <a:extLst>
              <a:ext uri="{FF2B5EF4-FFF2-40B4-BE49-F238E27FC236}">
                <a16:creationId xmlns:a16="http://schemas.microsoft.com/office/drawing/2014/main" id="{805AB7A5-474F-C743-B7D2-DC455AA8CA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8028118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ext Box 1">
            <a:extLst>
              <a:ext uri="{FF2B5EF4-FFF2-40B4-BE49-F238E27FC236}">
                <a16:creationId xmlns:a16="http://schemas.microsoft.com/office/drawing/2014/main" id="{F71C0970-70E2-9443-AD06-6CB20AD65C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7788" y="725488"/>
            <a:ext cx="4608512" cy="3582987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lIns="99340" tIns="49670" rIns="99340" bIns="49670" anchor="ctr"/>
          <a:lstStyle>
            <a:lvl1pPr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endParaRPr lang="zh-CN" altLang="zh-CN"/>
          </a:p>
        </p:txBody>
      </p:sp>
      <p:sp>
        <p:nvSpPr>
          <p:cNvPr id="49155" name="Rectangle 2">
            <a:extLst>
              <a:ext uri="{FF2B5EF4-FFF2-40B4-BE49-F238E27FC236}">
                <a16:creationId xmlns:a16="http://schemas.microsoft.com/office/drawing/2014/main" id="{3D651A92-1832-A147-A9BA-E5C8A3AAA2C8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73138" y="4552950"/>
            <a:ext cx="5356225" cy="4318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8051838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ext Box 1">
            <a:extLst>
              <a:ext uri="{FF2B5EF4-FFF2-40B4-BE49-F238E27FC236}">
                <a16:creationId xmlns:a16="http://schemas.microsoft.com/office/drawing/2014/main" id="{41514CD1-994B-A345-80CF-4D107C7900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7788" y="725488"/>
            <a:ext cx="4608512" cy="3582987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lIns="99340" tIns="49670" rIns="99340" bIns="49670" anchor="ctr"/>
          <a:lstStyle>
            <a:lvl1pPr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endParaRPr lang="zh-CN" altLang="zh-CN"/>
          </a:p>
        </p:txBody>
      </p:sp>
      <p:sp>
        <p:nvSpPr>
          <p:cNvPr id="52227" name="Rectangle 2">
            <a:extLst>
              <a:ext uri="{FF2B5EF4-FFF2-40B4-BE49-F238E27FC236}">
                <a16:creationId xmlns:a16="http://schemas.microsoft.com/office/drawing/2014/main" id="{4764ED3C-FADF-0B46-81C0-2F840F4A9D98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73138" y="4552950"/>
            <a:ext cx="5356225" cy="4318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4094082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7">
            <a:extLst>
              <a:ext uri="{FF2B5EF4-FFF2-40B4-BE49-F238E27FC236}">
                <a16:creationId xmlns:a16="http://schemas.microsoft.com/office/drawing/2014/main" id="{8A2156FF-3091-0842-A663-BDC624C3997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fld id="{F3D6E4DB-0C86-DC4F-B1A7-9F8190DE8476}" type="slidenum">
              <a:rPr lang="zh-CN" altLang="en-US" sz="1200" b="0" smtClean="0">
                <a:latin typeface="Times New Roman" panose="02020603050405020304" pitchFamily="18" charset="0"/>
              </a:rPr>
              <a:pPr/>
              <a:t>106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55298" name="Rectangle 2">
            <a:extLst>
              <a:ext uri="{FF2B5EF4-FFF2-40B4-BE49-F238E27FC236}">
                <a16:creationId xmlns:a16="http://schemas.microsoft.com/office/drawing/2014/main" id="{246A7E8E-A96E-574F-B234-7ABB12B1CAA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957B1C91-B093-D743-9935-9610F9B7E4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kumimoji="0" lang="zh-CN" altLang="en-US"/>
          </a:p>
        </p:txBody>
      </p:sp>
    </p:spTree>
    <p:extLst>
      <p:ext uri="{BB962C8B-B14F-4D97-AF65-F5344CB8AC3E}">
        <p14:creationId xmlns:p14="http://schemas.microsoft.com/office/powerpoint/2010/main" val="27871193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7">
            <a:extLst>
              <a:ext uri="{FF2B5EF4-FFF2-40B4-BE49-F238E27FC236}">
                <a16:creationId xmlns:a16="http://schemas.microsoft.com/office/drawing/2014/main" id="{4CBBB3F1-1016-5642-8946-D3B7418C8DD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fld id="{7474DA59-3AA8-F443-8EDF-DBCE577B7766}" type="slidenum">
              <a:rPr lang="zh-CN" altLang="en-US" sz="1200" b="0" smtClean="0">
                <a:latin typeface="Times New Roman" panose="02020603050405020304" pitchFamily="18" charset="0"/>
              </a:rPr>
              <a:pPr/>
              <a:t>107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57346" name="Rectangle 2">
            <a:extLst>
              <a:ext uri="{FF2B5EF4-FFF2-40B4-BE49-F238E27FC236}">
                <a16:creationId xmlns:a16="http://schemas.microsoft.com/office/drawing/2014/main" id="{6D080A5D-5A6B-1248-8F6B-756D4BC2FCF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86E93A88-6FC7-924E-A1E8-5AED4653C1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kumimoji="0" lang="zh-CN" altLang="en-US"/>
          </a:p>
        </p:txBody>
      </p:sp>
    </p:spTree>
    <p:extLst>
      <p:ext uri="{BB962C8B-B14F-4D97-AF65-F5344CB8AC3E}">
        <p14:creationId xmlns:p14="http://schemas.microsoft.com/office/powerpoint/2010/main" val="26620138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7">
            <a:extLst>
              <a:ext uri="{FF2B5EF4-FFF2-40B4-BE49-F238E27FC236}">
                <a16:creationId xmlns:a16="http://schemas.microsoft.com/office/drawing/2014/main" id="{EDDDC169-4C87-6543-B1C1-082BFFD1F48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fld id="{F3BDDF80-20EC-E045-A641-D05F7F03319C}" type="slidenum">
              <a:rPr lang="zh-CN" altLang="en-US" sz="1200" b="0" smtClean="0">
                <a:latin typeface="Times New Roman" panose="02020603050405020304" pitchFamily="18" charset="0"/>
              </a:rPr>
              <a:pPr/>
              <a:t>108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59394" name="Rectangle 2">
            <a:extLst>
              <a:ext uri="{FF2B5EF4-FFF2-40B4-BE49-F238E27FC236}">
                <a16:creationId xmlns:a16="http://schemas.microsoft.com/office/drawing/2014/main" id="{92669569-94C3-DB46-9DFB-5D15228A293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5A2F9AC3-82FC-324A-9FDE-55B438B264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kumimoji="0" lang="zh-CN" altLang="en-US"/>
          </a:p>
        </p:txBody>
      </p:sp>
    </p:spTree>
    <p:extLst>
      <p:ext uri="{BB962C8B-B14F-4D97-AF65-F5344CB8AC3E}">
        <p14:creationId xmlns:p14="http://schemas.microsoft.com/office/powerpoint/2010/main" val="267987417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7">
            <a:extLst>
              <a:ext uri="{FF2B5EF4-FFF2-40B4-BE49-F238E27FC236}">
                <a16:creationId xmlns:a16="http://schemas.microsoft.com/office/drawing/2014/main" id="{1E38D2D5-694B-484F-8E68-1A61EFC4ACB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fld id="{2BFCEEA6-B2CC-A64B-A294-9889523FA8A8}" type="slidenum">
              <a:rPr lang="zh-CN" altLang="en-US" sz="1200" b="0" smtClean="0">
                <a:latin typeface="Times New Roman" panose="02020603050405020304" pitchFamily="18" charset="0"/>
              </a:rPr>
              <a:pPr/>
              <a:t>109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61442" name="Rectangle 2">
            <a:extLst>
              <a:ext uri="{FF2B5EF4-FFF2-40B4-BE49-F238E27FC236}">
                <a16:creationId xmlns:a16="http://schemas.microsoft.com/office/drawing/2014/main" id="{28C42C47-F9FA-E34F-B66D-866874B295D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D9136E15-ED7F-DE4C-B70C-5D0330FA34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kumimoji="0" lang="zh-CN" altLang="en-US"/>
          </a:p>
        </p:txBody>
      </p:sp>
    </p:spTree>
    <p:extLst>
      <p:ext uri="{BB962C8B-B14F-4D97-AF65-F5344CB8AC3E}">
        <p14:creationId xmlns:p14="http://schemas.microsoft.com/office/powerpoint/2010/main" val="31998773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026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altLang="zh-CN"/>
              <a:t>Click to edit Master title style</a:t>
            </a:r>
          </a:p>
        </p:txBody>
      </p:sp>
      <p:sp>
        <p:nvSpPr>
          <p:cNvPr id="4099" name="Rectangle 1027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 altLang="zh-CN"/>
              <a:t>Click to edit Master subtitle style</a:t>
            </a:r>
          </a:p>
        </p:txBody>
      </p:sp>
      <p:sp>
        <p:nvSpPr>
          <p:cNvPr id="4" name="Rectangle 1028"/>
          <p:cNvSpPr>
            <a:spLocks noGrp="1" noChangeArrowheads="1"/>
          </p:cNvSpPr>
          <p:nvPr>
            <p:ph type="dt" sz="half" idx="10"/>
          </p:nvPr>
        </p:nvSpPr>
        <p:spPr>
          <a:xfrm>
            <a:off x="5334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6A4D09CF-1C9E-0642-870F-CC6586760726}" type="datetime1">
              <a:rPr lang="zh-CN" altLang="en-US"/>
              <a:pPr/>
              <a:t>2021/11/6</a:t>
            </a:fld>
            <a:endParaRPr lang="en-US" altLang="zh-CN"/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1"/>
          </p:nvPr>
        </p:nvSpPr>
        <p:spPr>
          <a:xfrm>
            <a:off x="2514600" y="6248400"/>
            <a:ext cx="41148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7056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905379D9-9395-EE46-ACE7-7B37EC23CBC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23548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3E6C63E-0FBA-B54D-8CDD-8CAE90BE5D5E}" type="datetime1">
              <a:rPr lang="zh-CN" altLang="en-US"/>
              <a:pPr/>
              <a:t>2021/11/6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0B01C9-CC9E-4042-87A9-F49D20F0019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269007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B4AECA3-7E3E-0741-8773-C9F48DC0ADFA}" type="datetime1">
              <a:rPr lang="zh-CN" altLang="en-US"/>
              <a:pPr/>
              <a:t>2021/11/6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327609C-0355-7F41-BD5D-C8065EDFE37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794160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767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86300" y="1600200"/>
            <a:ext cx="40767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F14194-E26D-064C-A3C9-6A14E09CC501}" type="datetime1">
              <a:rPr lang="zh-CN" altLang="en-US"/>
              <a:pPr/>
              <a:t>2021/11/6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7D6D618-14FB-7B49-B5BE-D7F2661AA52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427052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5527B96-6341-C74B-8CD4-28BB59DA8A27}" type="datetime1">
              <a:rPr lang="zh-CN" altLang="en-US"/>
              <a:pPr/>
              <a:t>2021/11/6</a:t>
            </a:fld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6CAD880-F1A7-DC4B-827B-596F0470B4CB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94061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488279C-A77C-1E4E-B0D5-1C9559B93068}" type="datetime1">
              <a:rPr lang="zh-CN" altLang="en-US"/>
              <a:pPr/>
              <a:t>2021/11/6</a:t>
            </a:fld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B79E5F5-9F90-BB44-8BE1-DA3E621BD33B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31308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6174481-42BE-1D4C-B0FE-31C595C920A2}" type="datetime1">
              <a:rPr lang="zh-CN" altLang="en-US"/>
              <a:pPr/>
              <a:t>2021/11/6</a:t>
            </a:fld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A82E43B-562F-5C46-9929-D86253063752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522112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0AA78E5-81EC-4445-940A-79E697C1AD70}" type="datetime1">
              <a:rPr lang="zh-CN" altLang="en-US"/>
              <a:pPr/>
              <a:t>2021/11/6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A0C1142-1340-6A47-AFF6-3C8B2FA521C4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19183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FFB4B7-F71B-6E47-A5BA-732BD9C2DC94}" type="datetime1">
              <a:rPr lang="zh-CN" altLang="en-US"/>
              <a:pPr/>
              <a:t>2021/11/6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D76DB15-2F71-A941-AE6B-BD2965B14267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20941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A43075C-D138-BA4D-95F6-DC68E2011949}" type="datetime1">
              <a:rPr lang="zh-CN" altLang="en-US"/>
              <a:pPr/>
              <a:t>2021/11/6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B6FC2BC-30A9-2346-AD65-372C69F8D6DA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21358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86550" y="457200"/>
            <a:ext cx="2076450" cy="55626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76950" cy="55626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CA7CE61-4759-BD4A-932A-0F00D7E6D661}" type="datetime1">
              <a:rPr lang="zh-CN" altLang="en-US"/>
              <a:pPr/>
              <a:t>2021/11/6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C318BE0-1126-CD46-B5C1-5738878BC693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280418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077200" cy="9144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76700" cy="4419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86300" y="1600200"/>
            <a:ext cx="4076700" cy="4419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A669415-1DB3-684E-B538-DCF86F5D3E6B}" type="datetime1">
              <a:rPr lang="zh-CN" altLang="en-US"/>
              <a:pPr/>
              <a:t>2021/11/6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635C9DF-017C-6F45-AD87-9140F63E4B4A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707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0772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3058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172200"/>
            <a:ext cx="152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Times New Roman" charset="0"/>
              </a:defRPr>
            </a:lvl1pPr>
          </a:lstStyle>
          <a:p>
            <a:fld id="{44C98997-F6C5-F64D-9D3D-3300C17D9BB3}" type="datetime1">
              <a:rPr lang="zh-CN" altLang="en-US"/>
              <a:pPr/>
              <a:t>2021/11/6</a:t>
            </a:fld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590800" y="6172200"/>
            <a:ext cx="411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Times New Roman" charset="0"/>
              </a:defRPr>
            </a:lvl1pPr>
          </a:lstStyle>
          <a:p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34200" y="6172200"/>
            <a:ext cx="1295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Times New Roman" charset="0"/>
              </a:defRPr>
            </a:lvl1pPr>
          </a:lstStyle>
          <a:p>
            <a:fld id="{F8EEA136-A61B-D442-8B1B-5491C92D8425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1031" name="Line 7"/>
          <p:cNvSpPr>
            <a:spLocks noChangeShapeType="1"/>
          </p:cNvSpPr>
          <p:nvPr/>
        </p:nvSpPr>
        <p:spPr bwMode="auto">
          <a:xfrm>
            <a:off x="457200" y="1371600"/>
            <a:ext cx="80772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47" r:id="rId1"/>
    <p:sldLayoutId id="2147483936" r:id="rId2"/>
    <p:sldLayoutId id="2147483937" r:id="rId3"/>
    <p:sldLayoutId id="2147483938" r:id="rId4"/>
    <p:sldLayoutId id="2147483939" r:id="rId5"/>
    <p:sldLayoutId id="2147483940" r:id="rId6"/>
    <p:sldLayoutId id="2147483941" r:id="rId7"/>
    <p:sldLayoutId id="2147483942" r:id="rId8"/>
    <p:sldLayoutId id="2147483943" r:id="rId9"/>
    <p:sldLayoutId id="2147483944" r:id="rId10"/>
    <p:sldLayoutId id="2147483945" r:id="rId11"/>
    <p:sldLayoutId id="2147483946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+mj-lt"/>
          <a:ea typeface="宋体" charset="0"/>
          <a:cs typeface="宋体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  <a:ea typeface="宋体" charset="0"/>
          <a:cs typeface="宋体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  <a:ea typeface="宋体" charset="0"/>
          <a:cs typeface="宋体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  <a:ea typeface="宋体" charset="0"/>
          <a:cs typeface="宋体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  <a:ea typeface="宋体" charset="0"/>
          <a:cs typeface="宋体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2800">
          <a:solidFill>
            <a:schemeClr val="tx1"/>
          </a:solidFill>
          <a:latin typeface="+mn-lt"/>
          <a:ea typeface="宋体" charset="0"/>
          <a:cs typeface="宋体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400">
          <a:solidFill>
            <a:schemeClr val="tx1"/>
          </a:solidFill>
          <a:latin typeface="+mn-lt"/>
          <a:ea typeface="宋体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宋体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宋体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宋体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Rectangle 1030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E7B7DA43-96DB-7E4A-A97B-E0F2190F5788}" type="slidenum">
              <a:rPr lang="zh-CN" altLang="en-US" sz="1400" b="0">
                <a:latin typeface="Times New Roman" charset="0"/>
              </a:rPr>
              <a:pPr/>
              <a:t>1</a:t>
            </a:fld>
            <a:endParaRPr lang="en-US" altLang="zh-CN" sz="1400" b="0">
              <a:latin typeface="Times New Roman" charset="0"/>
            </a:endParaRPr>
          </a:p>
        </p:txBody>
      </p:sp>
      <p:sp>
        <p:nvSpPr>
          <p:cNvPr id="9523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3600"/>
            <a:ext cx="7772400" cy="1828800"/>
          </a:xfrm>
        </p:spPr>
        <p:txBody>
          <a:bodyPr/>
          <a:lstStyle/>
          <a:p>
            <a:r>
              <a:rPr lang="en-US" altLang="zh-CN" sz="3200" dirty="0">
                <a:ea typeface="宋体" charset="-122"/>
              </a:rPr>
              <a:t>Virtual Memory</a:t>
            </a:r>
            <a:r>
              <a:rPr lang="zh-CN" altLang="en-US" sz="3200" dirty="0">
                <a:ea typeface="宋体" charset="-122"/>
              </a:rPr>
              <a:t> </a:t>
            </a:r>
            <a:r>
              <a:rPr lang="en-US" altLang="zh-CN" sz="3200" dirty="0">
                <a:ea typeface="宋体" charset="-122"/>
              </a:rPr>
              <a:t>(II)</a:t>
            </a:r>
            <a:br>
              <a:rPr lang="en-US" altLang="zh-CN" sz="3200" dirty="0">
                <a:ea typeface="宋体" charset="-122"/>
              </a:rPr>
            </a:br>
            <a:br>
              <a:rPr lang="en-US" altLang="zh-CN" sz="3200" dirty="0">
                <a:ea typeface="宋体" charset="-122"/>
              </a:rPr>
            </a:br>
            <a:r>
              <a:rPr lang="en-US" altLang="zh-CN" sz="3200" dirty="0">
                <a:ea typeface="宋体" charset="-122"/>
              </a:rPr>
              <a:t>Address Translation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1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D9C8DFB4-20CD-734A-A7EC-400D8E9870DF}" type="slidenum">
              <a:rPr lang="zh-CN" altLang="en-US" sz="1400" b="0">
                <a:latin typeface="Times New Roman" charset="0"/>
              </a:rPr>
              <a:pPr/>
              <a:t>2</a:t>
            </a:fld>
            <a:endParaRPr lang="en-US" altLang="zh-CN" sz="1400" b="0">
              <a:latin typeface="Times New Roman" charset="0"/>
            </a:endParaRPr>
          </a:p>
        </p:txBody>
      </p:sp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Outline</a:t>
            </a:r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0" lang="en-US" altLang="zh-CN" dirty="0">
                <a:ea typeface="宋体" charset="-122"/>
              </a:rPr>
              <a:t>Overview</a:t>
            </a:r>
          </a:p>
          <a:p>
            <a:r>
              <a:rPr kumimoji="0" lang="en-US" altLang="zh-CN" dirty="0">
                <a:ea typeface="宋体" charset="-122"/>
              </a:rPr>
              <a:t>Paging: Introduction</a:t>
            </a:r>
          </a:p>
          <a:p>
            <a:r>
              <a:rPr kumimoji="0" lang="en-US" altLang="zh-CN" dirty="0">
                <a:ea typeface="宋体" charset="-122"/>
              </a:rPr>
              <a:t>Paging: Faster Translations (TLBs)</a:t>
            </a:r>
          </a:p>
          <a:p>
            <a:r>
              <a:rPr kumimoji="0" lang="en-US" altLang="zh-CN" dirty="0">
                <a:ea typeface="宋体" charset="-122"/>
              </a:rPr>
              <a:t>Paging: Smaller Tables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Overview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Address Translation</a:t>
            </a:r>
          </a:p>
          <a:p>
            <a:pPr lvl="1"/>
            <a:r>
              <a:rPr kumimoji="1" lang="en-US" altLang="zh-CN" dirty="0"/>
              <a:t>Process</a:t>
            </a:r>
            <a:r>
              <a:rPr kumimoji="1" lang="zh-CN" altLang="en-US" dirty="0"/>
              <a:t>看到、使用的地址都是</a:t>
            </a:r>
            <a:r>
              <a:rPr kumimoji="1" lang="en-US" altLang="zh-CN" dirty="0"/>
              <a:t>virtual address</a:t>
            </a:r>
          </a:p>
          <a:p>
            <a:pPr lvl="1"/>
            <a:r>
              <a:rPr lang="zh-CN" altLang="en-US" dirty="0"/>
              <a:t>真正访问硬件前，需要转化为</a:t>
            </a:r>
            <a:r>
              <a:rPr lang="en-US" altLang="zh-CN" dirty="0"/>
              <a:t>physical address</a:t>
            </a:r>
          </a:p>
          <a:p>
            <a:pPr lvl="1"/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B01C9-CC9E-4042-87A9-F49D20F0019F}" type="slidenum">
              <a:rPr lang="zh-CN" altLang="en-US" smtClean="0"/>
              <a:pPr/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553352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Overview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5791200" cy="4419600"/>
          </a:xfrm>
        </p:spPr>
        <p:txBody>
          <a:bodyPr/>
          <a:lstStyle/>
          <a:p>
            <a:r>
              <a:rPr kumimoji="1" lang="en-US" altLang="zh-CN"/>
              <a:t>An Example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B01C9-CC9E-4042-87A9-F49D20F0019F}" type="slidenum">
              <a:rPr lang="zh-CN" altLang="en-US" smtClean="0"/>
              <a:pPr/>
              <a:t>4</a:t>
            </a:fld>
            <a:endParaRPr lang="en-US" altLang="zh-CN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599" y="4178045"/>
            <a:ext cx="6627659" cy="85115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6258" y="0"/>
            <a:ext cx="2193823" cy="6858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599" y="2667000"/>
            <a:ext cx="7190377" cy="892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01768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Overview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305800" cy="2057400"/>
          </a:xfrm>
        </p:spPr>
        <p:txBody>
          <a:bodyPr/>
          <a:lstStyle/>
          <a:p>
            <a:r>
              <a:rPr kumimoji="1" lang="zh-CN" altLang="en-US" dirty="0"/>
              <a:t>进程看到的地址不是真实的</a:t>
            </a:r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B01C9-CC9E-4042-87A9-F49D20F0019F}" type="slidenum">
              <a:rPr lang="zh-CN" altLang="en-US" smtClean="0"/>
              <a:pPr/>
              <a:t>5</a:t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2279583"/>
            <a:ext cx="2984976" cy="4349817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8893" y="0"/>
            <a:ext cx="2193823" cy="685800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5750408" y="5728207"/>
            <a:ext cx="118974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Virtual </a:t>
            </a:r>
          </a:p>
          <a:p>
            <a:r>
              <a:rPr kumimoji="1" lang="en-US" altLang="zh-CN" dirty="0"/>
              <a:t>Address</a:t>
            </a:r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600951" y="5660028"/>
            <a:ext cx="118974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Physical</a:t>
            </a:r>
          </a:p>
          <a:p>
            <a:r>
              <a:rPr kumimoji="1" lang="en-US" altLang="zh-CN" dirty="0"/>
              <a:t>Address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1726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Overview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419600"/>
          </a:xfrm>
        </p:spPr>
        <p:txBody>
          <a:bodyPr/>
          <a:lstStyle/>
          <a:p>
            <a:r>
              <a:rPr kumimoji="1" lang="en-US" altLang="zh-CN" dirty="0"/>
              <a:t>Address Translation</a:t>
            </a:r>
            <a:r>
              <a:rPr kumimoji="1" lang="zh-CN" altLang="en-US" dirty="0"/>
              <a:t>背后的操作是什么？</a:t>
            </a:r>
            <a:endParaRPr kumimoji="1" lang="en-US" altLang="zh-CN" dirty="0"/>
          </a:p>
          <a:p>
            <a:pPr lvl="1"/>
            <a:r>
              <a:rPr lang="en-US" altLang="zh-CN" dirty="0"/>
              <a:t>Transparent</a:t>
            </a:r>
          </a:p>
          <a:p>
            <a:pPr lvl="2"/>
            <a:r>
              <a:rPr lang="zh-CN" altLang="en-US" dirty="0"/>
              <a:t>程序操作的地址，当作</a:t>
            </a:r>
            <a:r>
              <a:rPr lang="en-US" altLang="zh-CN" dirty="0" err="1"/>
              <a:t>va</a:t>
            </a:r>
            <a:r>
              <a:rPr lang="zh-CN" altLang="en-US" dirty="0"/>
              <a:t>或</a:t>
            </a:r>
            <a:r>
              <a:rPr lang="en-US" altLang="zh-CN" dirty="0"/>
              <a:t>pa</a:t>
            </a:r>
            <a:r>
              <a:rPr lang="zh-CN" altLang="en-US" dirty="0"/>
              <a:t>都能运行</a:t>
            </a:r>
            <a:endParaRPr lang="en-US" altLang="zh-CN" dirty="0"/>
          </a:p>
          <a:p>
            <a:pPr lvl="1"/>
            <a:r>
              <a:rPr kumimoji="1" lang="en-US" altLang="zh-CN" dirty="0"/>
              <a:t>Efficient </a:t>
            </a:r>
          </a:p>
          <a:p>
            <a:pPr lvl="2"/>
            <a:r>
              <a:rPr lang="zh-CN" altLang="en-US" dirty="0"/>
              <a:t>速度要很快，因为访存是个很常见的操作</a:t>
            </a:r>
            <a:endParaRPr lang="en-US" altLang="zh-CN" dirty="0"/>
          </a:p>
          <a:p>
            <a:pPr lvl="1"/>
            <a:r>
              <a:rPr kumimoji="1" lang="zh-CN" altLang="en-US" dirty="0"/>
              <a:t>所以，要借用快速的硬件</a:t>
            </a:r>
            <a:endParaRPr kumimoji="1" lang="en-US" altLang="zh-CN" dirty="0"/>
          </a:p>
          <a:p>
            <a:pPr lvl="2"/>
            <a:r>
              <a:rPr lang="en-US" altLang="zh-CN" dirty="0"/>
              <a:t>MMU</a:t>
            </a:r>
            <a:r>
              <a:rPr lang="zh-CN" altLang="en-US" dirty="0"/>
              <a:t>：</a:t>
            </a:r>
            <a:r>
              <a:rPr lang="en-US" altLang="zh-CN" dirty="0"/>
              <a:t>Memory Management Unit</a:t>
            </a:r>
          </a:p>
          <a:p>
            <a:pPr lvl="2"/>
            <a:r>
              <a:rPr kumimoji="1" lang="en-US" altLang="zh-CN" dirty="0"/>
              <a:t>Load/store</a:t>
            </a:r>
            <a:r>
              <a:rPr kumimoji="1" lang="zh-CN" altLang="en-US" dirty="0"/>
              <a:t>指令时，</a:t>
            </a:r>
            <a:r>
              <a:rPr kumimoji="1" lang="en-US" altLang="zh-CN" dirty="0"/>
              <a:t>CPU</a:t>
            </a:r>
            <a:r>
              <a:rPr kumimoji="1" lang="zh-CN" altLang="en-US" dirty="0"/>
              <a:t>利用</a:t>
            </a:r>
            <a:r>
              <a:rPr kumimoji="1" lang="en-US" altLang="zh-CN" dirty="0"/>
              <a:t>MMU</a:t>
            </a:r>
            <a:r>
              <a:rPr kumimoji="1" lang="zh-CN" altLang="en-US" dirty="0"/>
              <a:t>去做</a:t>
            </a:r>
            <a:r>
              <a:rPr kumimoji="1" lang="en-US" altLang="zh-CN" dirty="0"/>
              <a:t>address translation</a:t>
            </a:r>
          </a:p>
          <a:p>
            <a:pPr lvl="2"/>
            <a:r>
              <a:rPr lang="zh-CN" altLang="en-US" dirty="0"/>
              <a:t>但</a:t>
            </a:r>
            <a:r>
              <a:rPr lang="en-US" altLang="zh-CN" dirty="0"/>
              <a:t>OS</a:t>
            </a:r>
            <a:r>
              <a:rPr lang="zh-CN" altLang="en-US" dirty="0"/>
              <a:t>软件也有参与，因为</a:t>
            </a:r>
            <a:r>
              <a:rPr lang="en-US" altLang="zh-CN" dirty="0"/>
              <a:t>MMU</a:t>
            </a:r>
            <a:r>
              <a:rPr lang="zh-CN" altLang="en-US" dirty="0"/>
              <a:t>做地址翻译的元数据要放在内存里，这块内存空间是</a:t>
            </a:r>
            <a:r>
              <a:rPr lang="en-US" altLang="zh-CN" dirty="0"/>
              <a:t>OS</a:t>
            </a:r>
            <a:r>
              <a:rPr lang="zh-CN" altLang="en-US" dirty="0"/>
              <a:t>管理和提供的（</a:t>
            </a:r>
            <a:r>
              <a:rPr lang="en-US" altLang="zh-CN" dirty="0"/>
              <a:t>MMU</a:t>
            </a:r>
            <a:r>
              <a:rPr lang="zh-CN" altLang="en-US" dirty="0"/>
              <a:t>是</a:t>
            </a:r>
            <a:r>
              <a:rPr lang="en-US" altLang="zh-CN" dirty="0"/>
              <a:t>CPU</a:t>
            </a:r>
            <a:r>
              <a:rPr lang="zh-CN" altLang="en-US" dirty="0"/>
              <a:t>的一部分）</a:t>
            </a:r>
            <a:endParaRPr lang="en-US" altLang="zh-CN" dirty="0"/>
          </a:p>
          <a:p>
            <a:pPr lvl="1"/>
            <a:r>
              <a:rPr kumimoji="1" lang="zh-CN" altLang="en-US" dirty="0"/>
              <a:t>进程没有权限访问</a:t>
            </a:r>
            <a:r>
              <a:rPr kumimoji="1" lang="en-US" altLang="zh-CN" dirty="0"/>
              <a:t>PA</a:t>
            </a:r>
            <a:r>
              <a:rPr kumimoji="1" lang="zh-CN" altLang="en-US" dirty="0"/>
              <a:t>，但也不是借用</a:t>
            </a:r>
            <a:r>
              <a:rPr lang="en-US" altLang="zh-CN" dirty="0"/>
              <a:t>system call</a:t>
            </a:r>
            <a:r>
              <a:rPr lang="zh-CN" altLang="en-US" dirty="0"/>
              <a:t>陷入内核态获取权限（因为太慢），而是</a:t>
            </a:r>
            <a:r>
              <a:rPr lang="en-US" altLang="zh-CN" dirty="0"/>
              <a:t>CPU</a:t>
            </a:r>
            <a:r>
              <a:rPr lang="zh-CN" altLang="en-US" dirty="0"/>
              <a:t>直接用硬件解决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B01C9-CC9E-4042-87A9-F49D20F0019F}" type="slidenum">
              <a:rPr lang="zh-CN" altLang="en-US" smtClean="0"/>
              <a:pPr/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12070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Overview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077200" cy="4419600"/>
          </a:xfrm>
        </p:spPr>
        <p:txBody>
          <a:bodyPr/>
          <a:lstStyle/>
          <a:p>
            <a:r>
              <a:rPr lang="zh-CN" altLang="en-US" dirty="0"/>
              <a:t>具体的硬件解决方案</a:t>
            </a:r>
            <a:endParaRPr lang="en-US" altLang="zh-CN" dirty="0"/>
          </a:p>
          <a:p>
            <a:pPr lvl="1"/>
            <a:r>
              <a:rPr kumimoji="1" lang="en-US" altLang="zh-CN" dirty="0"/>
              <a:t>1950</a:t>
            </a:r>
            <a:r>
              <a:rPr lang="en-US" altLang="zh-CN" dirty="0"/>
              <a:t>’s</a:t>
            </a:r>
            <a:r>
              <a:rPr lang="zh-CN" altLang="en-US" dirty="0"/>
              <a:t>：</a:t>
            </a:r>
            <a:r>
              <a:rPr lang="en-US" altLang="zh-CN" dirty="0"/>
              <a:t>base and bounds/dynamic relocation</a:t>
            </a:r>
          </a:p>
          <a:p>
            <a:pPr lvl="1"/>
            <a:r>
              <a:rPr lang="zh-CN" altLang="en-US" dirty="0"/>
              <a:t>需要两个硬件寄存器：</a:t>
            </a:r>
            <a:endParaRPr lang="en-US" altLang="zh-CN" dirty="0"/>
          </a:p>
          <a:p>
            <a:pPr lvl="2"/>
            <a:r>
              <a:rPr kumimoji="1" lang="en-US" altLang="zh-CN" dirty="0"/>
              <a:t>Base</a:t>
            </a:r>
          </a:p>
          <a:p>
            <a:pPr lvl="2"/>
            <a:r>
              <a:rPr lang="en-US" altLang="zh-CN" dirty="0"/>
              <a:t>Bounds</a:t>
            </a:r>
          </a:p>
          <a:p>
            <a:pPr lvl="1"/>
            <a:r>
              <a:rPr lang="zh-CN" altLang="en-US" dirty="0"/>
              <a:t>因此，能够找到对应的物理内存，而且限制用户只能访问自己的内存空间（</a:t>
            </a:r>
            <a:r>
              <a:rPr lang="en-US" altLang="zh-CN" dirty="0"/>
              <a:t>bound</a:t>
            </a:r>
            <a:r>
              <a:rPr lang="zh-CN" altLang="en-US" dirty="0"/>
              <a:t>之内）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B01C9-CC9E-4042-87A9-F49D20F0019F}" type="slidenum">
              <a:rPr lang="zh-CN" altLang="en-US" smtClean="0"/>
              <a:pPr/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442221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Overview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An example</a:t>
            </a:r>
          </a:p>
          <a:p>
            <a:endParaRPr lang="en-US" altLang="zh-CN" dirty="0"/>
          </a:p>
          <a:p>
            <a:endParaRPr kumimoji="1" lang="en-US" altLang="zh-CN" dirty="0"/>
          </a:p>
          <a:p>
            <a:pPr lvl="1"/>
            <a:r>
              <a:rPr lang="en-US" altLang="zh-CN" dirty="0"/>
              <a:t>PC=128</a:t>
            </a:r>
          </a:p>
          <a:p>
            <a:pPr lvl="1"/>
            <a:r>
              <a:rPr lang="zh-CN" altLang="en-US" dirty="0"/>
              <a:t>取指令：</a:t>
            </a:r>
            <a:r>
              <a:rPr lang="en-US" altLang="zh-CN" dirty="0"/>
              <a:t>VA=</a:t>
            </a:r>
            <a:r>
              <a:rPr lang="en-US" altLang="zh-CN" dirty="0" err="1"/>
              <a:t>PC+base</a:t>
            </a:r>
            <a:r>
              <a:rPr lang="en-US" altLang="zh-CN" dirty="0"/>
              <a:t> = 128+32K = 32896</a:t>
            </a:r>
          </a:p>
          <a:p>
            <a:pPr lvl="1"/>
            <a:r>
              <a:rPr kumimoji="1" lang="zh-CN" altLang="en-US" dirty="0"/>
              <a:t>硬件按照</a:t>
            </a:r>
            <a:r>
              <a:rPr kumimoji="1" lang="en-US" altLang="zh-CN" dirty="0"/>
              <a:t>V</a:t>
            </a:r>
            <a:r>
              <a:rPr lang="en-US" altLang="zh-CN" dirty="0"/>
              <a:t>A</a:t>
            </a:r>
            <a:r>
              <a:rPr lang="zh-CN" altLang="en-US" dirty="0"/>
              <a:t>去取指令，放到</a:t>
            </a:r>
            <a:r>
              <a:rPr lang="en-US" altLang="zh-CN" dirty="0"/>
              <a:t>CPU</a:t>
            </a:r>
            <a:r>
              <a:rPr lang="zh-CN" altLang="en-US" dirty="0"/>
              <a:t>里的指令寄存器</a:t>
            </a:r>
            <a:endParaRPr lang="en-US" altLang="zh-CN" dirty="0"/>
          </a:p>
          <a:p>
            <a:pPr lvl="1"/>
            <a:r>
              <a:rPr kumimoji="1" lang="en-US" altLang="zh-CN" dirty="0"/>
              <a:t>CPU</a:t>
            </a:r>
            <a:r>
              <a:rPr kumimoji="1" lang="zh-CN" altLang="en-US" dirty="0"/>
              <a:t>执行该指令</a:t>
            </a:r>
            <a:endParaRPr kumimoji="1" lang="en-US" altLang="zh-CN" dirty="0"/>
          </a:p>
          <a:p>
            <a:pPr lvl="1"/>
            <a:r>
              <a:rPr lang="zh-CN" altLang="en-US" dirty="0"/>
              <a:t>取</a:t>
            </a:r>
            <a:r>
              <a:rPr kumimoji="1" lang="zh-CN" altLang="en-US" dirty="0"/>
              <a:t>数字的地址</a:t>
            </a:r>
            <a:r>
              <a:rPr kumimoji="1" lang="en-US" altLang="zh-CN" dirty="0"/>
              <a:t>=0+%</a:t>
            </a:r>
            <a:r>
              <a:rPr kumimoji="1" lang="en-US" altLang="zh-CN" dirty="0" err="1"/>
              <a:t>ebx+base</a:t>
            </a:r>
            <a:endParaRPr kumimoji="1" lang="en-US" altLang="zh-CN" dirty="0"/>
          </a:p>
          <a:p>
            <a:pPr lvl="1"/>
            <a:r>
              <a:rPr lang="mr-IN" altLang="zh-CN" dirty="0"/>
              <a:t>…</a:t>
            </a:r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B01C9-CC9E-4042-87A9-F49D20F0019F}" type="slidenum">
              <a:rPr lang="zh-CN" altLang="en-US" smtClean="0"/>
              <a:pPr/>
              <a:t>8</a:t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400" y="2286000"/>
            <a:ext cx="367030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8083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Overview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对于其中的</a:t>
            </a:r>
            <a:r>
              <a:rPr lang="en-US" altLang="zh-CN" dirty="0"/>
              <a:t>bounds</a:t>
            </a:r>
          </a:p>
          <a:p>
            <a:pPr lvl="1"/>
            <a:r>
              <a:rPr lang="zh-CN" altLang="en-US" dirty="0"/>
              <a:t>硬件在访问内存前，首先检查是否越界</a:t>
            </a:r>
            <a:endParaRPr lang="en-US" altLang="zh-CN" dirty="0"/>
          </a:p>
          <a:p>
            <a:pPr lvl="1"/>
            <a:r>
              <a:rPr kumimoji="1" lang="zh-CN" altLang="en-US" dirty="0"/>
              <a:t>如果不越界，正常访问</a:t>
            </a:r>
            <a:endParaRPr kumimoji="1" lang="en-US" altLang="zh-CN" dirty="0"/>
          </a:p>
          <a:p>
            <a:pPr lvl="1"/>
            <a:r>
              <a:rPr lang="zh-CN" altLang="en-US" dirty="0"/>
              <a:t>如果越界，则</a:t>
            </a:r>
            <a:r>
              <a:rPr lang="en-US" altLang="zh-CN" dirty="0"/>
              <a:t>CPU</a:t>
            </a:r>
            <a:r>
              <a:rPr lang="zh-CN" altLang="en-US" dirty="0"/>
              <a:t>会抛出</a:t>
            </a:r>
            <a:r>
              <a:rPr lang="en-US" altLang="zh-CN" dirty="0"/>
              <a:t>exception</a:t>
            </a:r>
            <a:r>
              <a:rPr lang="zh-CN" altLang="en-US" dirty="0"/>
              <a:t>，然后进入</a:t>
            </a:r>
            <a:r>
              <a:rPr lang="en-US" altLang="zh-CN" dirty="0"/>
              <a:t>exception</a:t>
            </a:r>
            <a:r>
              <a:rPr lang="zh-CN" altLang="en-US" dirty="0"/>
              <a:t> </a:t>
            </a:r>
            <a:r>
              <a:rPr lang="en-US" altLang="zh-CN" dirty="0"/>
              <a:t>handler</a:t>
            </a:r>
            <a:r>
              <a:rPr lang="zh-CN" altLang="en-US" dirty="0"/>
              <a:t>的代码</a:t>
            </a:r>
            <a:endParaRPr lang="en-US" altLang="zh-CN" dirty="0"/>
          </a:p>
          <a:p>
            <a:pPr lvl="1"/>
            <a:r>
              <a:rPr kumimoji="1" lang="zh-CN" altLang="en-US" dirty="0"/>
              <a:t>一般该进程会被终止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B01C9-CC9E-4042-87A9-F49D20F0019F}" type="slidenum">
              <a:rPr lang="zh-CN" altLang="en-US" smtClean="0"/>
              <a:pPr/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500596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Overview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Example Translations</a:t>
            </a:r>
          </a:p>
          <a:p>
            <a:pPr lvl="1"/>
            <a:r>
              <a:rPr lang="en-US" altLang="zh-CN" dirty="0"/>
              <a:t>process</a:t>
            </a:r>
            <a:r>
              <a:rPr lang="zh-CN" altLang="en-US" dirty="0"/>
              <a:t>的地址空间是</a:t>
            </a:r>
            <a:r>
              <a:rPr lang="en-US" altLang="zh-CN" dirty="0"/>
              <a:t>4KB</a:t>
            </a:r>
          </a:p>
          <a:p>
            <a:pPr lvl="1"/>
            <a:r>
              <a:rPr lang="zh-CN" altLang="en-US" dirty="0"/>
              <a:t>位于物理地址</a:t>
            </a:r>
            <a:r>
              <a:rPr lang="en-US" altLang="zh-CN" dirty="0"/>
              <a:t>16KB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B01C9-CC9E-4042-87A9-F49D20F0019F}" type="slidenum">
              <a:rPr lang="zh-CN" altLang="en-US" smtClean="0"/>
              <a:pPr/>
              <a:t>10</a:t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3581400"/>
            <a:ext cx="6362700" cy="149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5339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Rectangle 1030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E7B7DA43-96DB-7E4A-A97B-E0F2190F5788}" type="slidenum">
              <a:rPr lang="zh-CN" altLang="en-US" sz="1400" b="0">
                <a:latin typeface="Times New Roman" charset="0"/>
              </a:rPr>
              <a:pPr/>
              <a:t>11</a:t>
            </a:fld>
            <a:endParaRPr lang="en-US" altLang="zh-CN" sz="1400" b="0">
              <a:latin typeface="Times New Roman" charset="0"/>
            </a:endParaRPr>
          </a:p>
        </p:txBody>
      </p:sp>
      <p:sp>
        <p:nvSpPr>
          <p:cNvPr id="9523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3600"/>
            <a:ext cx="7772400" cy="1828800"/>
          </a:xfrm>
        </p:spPr>
        <p:txBody>
          <a:bodyPr/>
          <a:lstStyle/>
          <a:p>
            <a:r>
              <a:rPr lang="en-US" altLang="zh-CN" sz="3200" dirty="0">
                <a:ea typeface="宋体" charset="-122"/>
              </a:rPr>
              <a:t>Paging</a:t>
            </a:r>
            <a:r>
              <a:rPr lang="en-US" altLang="zh-CN" sz="3200">
                <a:ea typeface="宋体" charset="-122"/>
              </a:rPr>
              <a:t>: Introduction</a:t>
            </a:r>
            <a:endParaRPr lang="en-US" altLang="zh-CN" sz="3200" dirty="0"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914869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Paging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VA-&gt;PA</a:t>
            </a:r>
            <a:r>
              <a:rPr lang="zh-CN" altLang="en-US" dirty="0"/>
              <a:t>的另一种方式（</a:t>
            </a:r>
            <a:r>
              <a:rPr lang="en-US" altLang="zh-CN" dirty="0"/>
              <a:t>segmentation</a:t>
            </a:r>
            <a:r>
              <a:rPr lang="zh-CN" altLang="en-US" dirty="0"/>
              <a:t>之外）</a:t>
            </a:r>
            <a:endParaRPr lang="en-US" altLang="zh-CN" dirty="0"/>
          </a:p>
          <a:p>
            <a:r>
              <a:rPr kumimoji="1" lang="en-US" altLang="zh-CN" dirty="0"/>
              <a:t>Paging: </a:t>
            </a:r>
            <a:r>
              <a:rPr lang="zh-CN" altLang="en-US" dirty="0"/>
              <a:t>固定大小，映射的单位</a:t>
            </a:r>
            <a:endParaRPr lang="en-US" altLang="zh-CN" dirty="0"/>
          </a:p>
          <a:p>
            <a:r>
              <a:rPr lang="zh-CN" altLang="en-US" dirty="0"/>
              <a:t>早期计算机</a:t>
            </a:r>
            <a:r>
              <a:rPr lang="en-US" altLang="zh-CN" dirty="0"/>
              <a:t>Atlas</a:t>
            </a:r>
            <a:r>
              <a:rPr lang="zh-CN" altLang="en-US" dirty="0"/>
              <a:t>（</a:t>
            </a:r>
            <a:r>
              <a:rPr lang="en-US" altLang="zh-CN" dirty="0"/>
              <a:t>1962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kumimoji="1" lang="en-US" altLang="zh-CN" dirty="0"/>
              <a:t>e.g., 64B</a:t>
            </a:r>
            <a:r>
              <a:rPr kumimoji="1" lang="zh-CN" altLang="en-US" dirty="0"/>
              <a:t>的地址空间，</a:t>
            </a:r>
            <a:r>
              <a:rPr kumimoji="1" lang="en-US" altLang="zh-CN" dirty="0"/>
              <a:t>page</a:t>
            </a:r>
            <a:r>
              <a:rPr kumimoji="1" lang="zh-CN" altLang="en-US" dirty="0"/>
              <a:t>大小为</a:t>
            </a:r>
            <a:r>
              <a:rPr kumimoji="1" lang="en-US" altLang="zh-CN" dirty="0"/>
              <a:t>16B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B01C9-CC9E-4042-87A9-F49D20F0019F}" type="slidenum">
              <a:rPr lang="zh-CN" altLang="en-US" smtClean="0"/>
              <a:pPr/>
              <a:t>12</a:t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600" y="3824816"/>
            <a:ext cx="5448300" cy="2677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43675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Paging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 err="1"/>
              <a:t>Va</a:t>
            </a:r>
            <a:r>
              <a:rPr kumimoji="1" lang="zh-CN" altLang="en-US" dirty="0"/>
              <a:t>空间</a:t>
            </a:r>
            <a:r>
              <a:rPr kumimoji="1" lang="en-US" altLang="zh-CN" dirty="0"/>
              <a:t>64B</a:t>
            </a:r>
            <a:r>
              <a:rPr kumimoji="1" lang="zh-CN" altLang="en-US" dirty="0"/>
              <a:t>，</a:t>
            </a:r>
            <a:r>
              <a:rPr kumimoji="1" lang="en-US" altLang="zh-CN" dirty="0"/>
              <a:t>Pa</a:t>
            </a:r>
            <a:r>
              <a:rPr kumimoji="1" lang="zh-CN" altLang="en-US" dirty="0"/>
              <a:t>空间</a:t>
            </a:r>
            <a:r>
              <a:rPr kumimoji="1" lang="en-US" altLang="zh-CN" dirty="0"/>
              <a:t>128B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B01C9-CC9E-4042-87A9-F49D20F0019F}" type="slidenum">
              <a:rPr lang="zh-CN" altLang="en-US" smtClean="0"/>
              <a:pPr/>
              <a:t>13</a:t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1129" y="2209800"/>
            <a:ext cx="5109341" cy="432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6645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Paging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Paging</a:t>
            </a:r>
            <a:r>
              <a:rPr kumimoji="1" lang="zh-CN" altLang="en-US" dirty="0"/>
              <a:t>的优点：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#1.</a:t>
            </a:r>
            <a:r>
              <a:rPr kumimoji="1" lang="zh-CN" altLang="en-US" dirty="0"/>
              <a:t> </a:t>
            </a:r>
            <a:r>
              <a:rPr kumimoji="1" lang="en-US" altLang="zh-CN" dirty="0"/>
              <a:t>Flexibility</a:t>
            </a:r>
          </a:p>
          <a:p>
            <a:pPr lvl="2"/>
            <a:r>
              <a:rPr lang="zh-CN" altLang="en-US" dirty="0"/>
              <a:t>能够应对大块稀疏空间的问题（解决</a:t>
            </a:r>
            <a:r>
              <a:rPr lang="en-US" altLang="zh-CN" dirty="0"/>
              <a:t>segmentation</a:t>
            </a:r>
            <a:r>
              <a:rPr lang="zh-CN" altLang="en-US" dirty="0"/>
              <a:t>的问题）</a:t>
            </a:r>
            <a:endParaRPr lang="en-US" altLang="zh-CN" dirty="0"/>
          </a:p>
          <a:p>
            <a:pPr lvl="1"/>
            <a:r>
              <a:rPr kumimoji="1" lang="en-US" altLang="zh-CN" dirty="0"/>
              <a:t>#2. simplicity (free-space management)</a:t>
            </a:r>
          </a:p>
          <a:p>
            <a:pPr lvl="2"/>
            <a:r>
              <a:rPr lang="zh-CN" altLang="en-US" dirty="0"/>
              <a:t>对齐</a:t>
            </a:r>
            <a:endParaRPr lang="en-US" altLang="zh-CN" dirty="0"/>
          </a:p>
          <a:p>
            <a:pPr lvl="2"/>
            <a:r>
              <a:rPr lang="zh-CN" altLang="en-US" dirty="0"/>
              <a:t>连续的</a:t>
            </a:r>
            <a:r>
              <a:rPr lang="en-US" altLang="zh-CN" dirty="0"/>
              <a:t>VA</a:t>
            </a:r>
            <a:r>
              <a:rPr lang="zh-CN" altLang="en-US" dirty="0"/>
              <a:t>不需要对应连续的</a:t>
            </a:r>
            <a:r>
              <a:rPr lang="en-US" altLang="zh-CN" dirty="0"/>
              <a:t>PA</a:t>
            </a:r>
          </a:p>
          <a:p>
            <a:pPr lvl="2"/>
            <a:r>
              <a:rPr kumimoji="1" lang="zh-CN" altLang="en-US" dirty="0"/>
              <a:t>所以，只需要维护所有的</a:t>
            </a:r>
            <a:r>
              <a:rPr kumimoji="1" lang="en-US" altLang="zh-CN" dirty="0"/>
              <a:t>free page</a:t>
            </a:r>
            <a:r>
              <a:rPr kumimoji="1" lang="zh-CN" altLang="en-US" dirty="0"/>
              <a:t>，都可以分配出去，不需要凑成大块的连续空间（</a:t>
            </a:r>
            <a:r>
              <a:rPr kumimoji="1" lang="en-US" altLang="zh-CN" dirty="0"/>
              <a:t>compaction</a:t>
            </a:r>
            <a:r>
              <a:rPr kumimoji="1" lang="zh-CN" altLang="en-US" dirty="0"/>
              <a:t>）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B01C9-CC9E-4042-87A9-F49D20F0019F}" type="slidenum">
              <a:rPr lang="zh-CN" altLang="en-US" smtClean="0"/>
              <a:pPr/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337913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Paging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Paging</a:t>
            </a:r>
            <a:r>
              <a:rPr kumimoji="1" lang="zh-CN" altLang="en-US" dirty="0"/>
              <a:t>的缺点</a:t>
            </a:r>
            <a:endParaRPr kumimoji="1" lang="en-US" altLang="zh-CN" dirty="0"/>
          </a:p>
          <a:p>
            <a:pPr lvl="1"/>
            <a:r>
              <a:rPr lang="en-US" altLang="zh-CN" dirty="0"/>
              <a:t>VA-&gt;Pa</a:t>
            </a:r>
            <a:r>
              <a:rPr lang="zh-CN" altLang="en-US" dirty="0"/>
              <a:t>映射信息比较多（比</a:t>
            </a:r>
            <a:r>
              <a:rPr lang="en-US" altLang="zh-CN" dirty="0"/>
              <a:t>segmentation</a:t>
            </a:r>
            <a:r>
              <a:rPr lang="zh-CN" altLang="en-US" dirty="0"/>
              <a:t>多很多）</a:t>
            </a:r>
            <a:endParaRPr lang="en-US" altLang="zh-CN" dirty="0"/>
          </a:p>
          <a:p>
            <a:pPr lvl="1"/>
            <a:r>
              <a:rPr lang="en-US" altLang="zh-CN" dirty="0"/>
              <a:t>Page Table</a:t>
            </a:r>
          </a:p>
          <a:p>
            <a:pPr lvl="2"/>
            <a:r>
              <a:rPr lang="en-US" altLang="zh-CN" dirty="0"/>
              <a:t>(Virtual Page 0 → Physical Frame 3)</a:t>
            </a:r>
          </a:p>
          <a:p>
            <a:pPr lvl="2"/>
            <a:r>
              <a:rPr lang="en-US" altLang="zh-CN" dirty="0"/>
              <a:t>(VP 1 → PF 7)</a:t>
            </a:r>
          </a:p>
          <a:p>
            <a:pPr lvl="2"/>
            <a:r>
              <a:rPr lang="en-US" altLang="zh-CN" dirty="0"/>
              <a:t>(VP 2 → PF 5)</a:t>
            </a:r>
          </a:p>
          <a:p>
            <a:pPr lvl="2"/>
            <a:r>
              <a:rPr lang="en-US" altLang="zh-CN" dirty="0"/>
              <a:t>(VP 3 → PF 2). </a:t>
            </a:r>
          </a:p>
          <a:p>
            <a:pPr lvl="1"/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B01C9-CC9E-4042-87A9-F49D20F0019F}" type="slidenum">
              <a:rPr lang="zh-CN" altLang="en-US" smtClean="0"/>
              <a:pPr/>
              <a:t>15</a:t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200" y="3352800"/>
            <a:ext cx="3807372" cy="3223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4124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Paging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Page Table</a:t>
            </a:r>
          </a:p>
          <a:p>
            <a:pPr lvl="1"/>
            <a:r>
              <a:rPr lang="zh-CN" altLang="en-US" dirty="0"/>
              <a:t>每个进程一个</a:t>
            </a:r>
            <a:endParaRPr lang="en-US" altLang="zh-CN" dirty="0"/>
          </a:p>
          <a:p>
            <a:pPr lvl="1"/>
            <a:r>
              <a:rPr kumimoji="1" lang="zh-CN" altLang="en-US" dirty="0"/>
              <a:t>一个数组，</a:t>
            </a:r>
            <a:r>
              <a:rPr kumimoji="1" lang="en-US" altLang="zh-CN" dirty="0"/>
              <a:t>index</a:t>
            </a:r>
            <a:r>
              <a:rPr kumimoji="1" lang="zh-CN" altLang="en-US" dirty="0"/>
              <a:t>为</a:t>
            </a:r>
            <a:r>
              <a:rPr kumimoji="1" lang="en-US" altLang="zh-CN" dirty="0"/>
              <a:t>VPN</a:t>
            </a:r>
            <a:r>
              <a:rPr kumimoji="1" lang="zh-CN" altLang="en-US" dirty="0"/>
              <a:t>，</a:t>
            </a:r>
            <a:r>
              <a:rPr kumimoji="1" lang="en-US" altLang="zh-CN" dirty="0"/>
              <a:t>content</a:t>
            </a:r>
            <a:r>
              <a:rPr kumimoji="1" lang="zh-CN" altLang="en-US" dirty="0"/>
              <a:t>为</a:t>
            </a:r>
            <a:r>
              <a:rPr kumimoji="1" lang="en-US" altLang="zh-CN" dirty="0"/>
              <a:t>PA</a:t>
            </a:r>
            <a:r>
              <a:rPr kumimoji="1" lang="zh-CN" altLang="en-US" dirty="0"/>
              <a:t>（</a:t>
            </a:r>
            <a:r>
              <a:rPr lang="en-US" altLang="zh-CN" b="1" dirty="0"/>
              <a:t>linear page table</a:t>
            </a:r>
            <a:r>
              <a:rPr lang="zh-CN" altLang="en-US" b="1" dirty="0"/>
              <a:t>）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VPN</a:t>
            </a:r>
            <a:r>
              <a:rPr lang="en-US" altLang="zh-CN" dirty="0"/>
              <a:t>: virtual page number</a:t>
            </a:r>
          </a:p>
          <a:p>
            <a:pPr lvl="2"/>
            <a:r>
              <a:rPr lang="en-US" altLang="zh-CN" dirty="0"/>
              <a:t>E.g., VA</a:t>
            </a:r>
            <a:r>
              <a:rPr lang="zh-CN" altLang="en-US" dirty="0"/>
              <a:t>空间</a:t>
            </a:r>
            <a:r>
              <a:rPr lang="en-US" altLang="zh-CN" dirty="0"/>
              <a:t>64 bytes</a:t>
            </a:r>
            <a:r>
              <a:rPr lang="zh-CN" altLang="en-US" dirty="0"/>
              <a:t>，</a:t>
            </a:r>
            <a:r>
              <a:rPr lang="en-US" altLang="zh-CN" dirty="0"/>
              <a:t>VA</a:t>
            </a:r>
            <a:r>
              <a:rPr lang="zh-CN" altLang="en-US" dirty="0"/>
              <a:t> </a:t>
            </a:r>
            <a:r>
              <a:rPr lang="en-US" altLang="zh-CN" dirty="0"/>
              <a:t>6</a:t>
            </a:r>
            <a:r>
              <a:rPr lang="zh-CN" altLang="en-US" dirty="0"/>
              <a:t>位</a:t>
            </a:r>
            <a:endParaRPr lang="en-US" altLang="zh-CN" dirty="0"/>
          </a:p>
          <a:p>
            <a:pPr lvl="2"/>
            <a:r>
              <a:rPr lang="en-US" altLang="zh-CN" dirty="0"/>
              <a:t>Page</a:t>
            </a:r>
            <a:r>
              <a:rPr lang="zh-CN" altLang="en-US" dirty="0"/>
              <a:t>大小</a:t>
            </a:r>
            <a:r>
              <a:rPr lang="en-US" altLang="zh-CN" dirty="0"/>
              <a:t>16B</a:t>
            </a:r>
            <a:r>
              <a:rPr lang="zh-CN" altLang="en-US" dirty="0"/>
              <a:t>，</a:t>
            </a:r>
            <a:r>
              <a:rPr lang="en-US" altLang="zh-CN" dirty="0"/>
              <a:t>offset 4</a:t>
            </a:r>
            <a:r>
              <a:rPr lang="zh-CN" altLang="en-US" dirty="0"/>
              <a:t>位</a:t>
            </a:r>
            <a:endParaRPr lang="en-US" altLang="zh-CN" dirty="0"/>
          </a:p>
          <a:p>
            <a:pPr lvl="2"/>
            <a:r>
              <a:rPr lang="en-US" altLang="zh-CN" dirty="0"/>
              <a:t>VPN</a:t>
            </a:r>
            <a:r>
              <a:rPr lang="zh-CN" altLang="en-US" dirty="0"/>
              <a:t>：</a:t>
            </a:r>
            <a:r>
              <a:rPr lang="en-US" altLang="zh-CN" dirty="0"/>
              <a:t>2</a:t>
            </a:r>
            <a:r>
              <a:rPr lang="zh-CN" altLang="en-US" dirty="0"/>
              <a:t>位，一共</a:t>
            </a:r>
            <a:r>
              <a:rPr lang="en-US" altLang="zh-CN" dirty="0"/>
              <a:t>4</a:t>
            </a:r>
            <a:r>
              <a:rPr lang="zh-CN" altLang="en-US" dirty="0"/>
              <a:t>个</a:t>
            </a:r>
            <a:endParaRPr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B01C9-CC9E-4042-87A9-F49D20F0019F}" type="slidenum">
              <a:rPr lang="zh-CN" altLang="en-US" smtClean="0"/>
              <a:pPr/>
              <a:t>16</a:t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2950" y="4957388"/>
            <a:ext cx="3295650" cy="768634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5850" y="5726022"/>
            <a:ext cx="2609850" cy="1017678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2978" y="3937001"/>
            <a:ext cx="4238044" cy="2082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4092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Paging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Address translation</a:t>
            </a:r>
          </a:p>
          <a:p>
            <a:pPr lvl="1"/>
            <a:r>
              <a:rPr lang="en-US" altLang="zh-CN" dirty="0"/>
              <a:t>VPN -&gt; PFN (physical frame number)</a:t>
            </a:r>
          </a:p>
          <a:p>
            <a:pPr lvl="1"/>
            <a:r>
              <a:rPr kumimoji="1" lang="en-US" altLang="zh-CN" dirty="0"/>
              <a:t>Offset</a:t>
            </a:r>
            <a:r>
              <a:rPr kumimoji="1" lang="zh-CN" altLang="en-US" dirty="0"/>
              <a:t>不变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B01C9-CC9E-4042-87A9-F49D20F0019F}" type="slidenum">
              <a:rPr lang="zh-CN" altLang="en-US" smtClean="0"/>
              <a:pPr/>
              <a:t>17</a:t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5100" y="3170138"/>
            <a:ext cx="3810000" cy="3446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5232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9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3AA48E8F-D4D3-E642-855F-96E7E396CADF}" type="slidenum">
              <a:rPr lang="zh-CN" altLang="en-US" sz="1400" b="0">
                <a:latin typeface="Times New Roman" charset="0"/>
              </a:rPr>
              <a:pPr/>
              <a:t>18</a:t>
            </a:fld>
            <a:endParaRPr lang="en-US" altLang="zh-CN" sz="1400" b="0">
              <a:latin typeface="Times New Roman" charset="0"/>
            </a:endParaRPr>
          </a:p>
        </p:txBody>
      </p:sp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Address Translation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534400" cy="44196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kumimoji="0" lang="en-US" altLang="zh-CN" dirty="0">
                <a:solidFill>
                  <a:srgbClr val="FF0000"/>
                </a:solidFill>
                <a:ea typeface="宋体" charset="-122"/>
              </a:rPr>
              <a:t>V</a:t>
            </a:r>
            <a:r>
              <a:rPr kumimoji="0" lang="en-US" altLang="zh-CN" dirty="0">
                <a:ea typeface="宋体" charset="-122"/>
              </a:rPr>
              <a:t> = {0, 1, . . . , </a:t>
            </a:r>
            <a:r>
              <a:rPr kumimoji="0" lang="en-US" altLang="zh-CN" dirty="0">
                <a:solidFill>
                  <a:srgbClr val="FF0000"/>
                </a:solidFill>
                <a:ea typeface="宋体" charset="-122"/>
              </a:rPr>
              <a:t>N</a:t>
            </a:r>
            <a:r>
              <a:rPr kumimoji="0" lang="en-US" altLang="zh-CN" dirty="0">
                <a:ea typeface="宋体" charset="-122"/>
              </a:rPr>
              <a:t>–1}   </a:t>
            </a:r>
            <a:r>
              <a:rPr kumimoji="0" lang="en-US" altLang="zh-CN" dirty="0">
                <a:solidFill>
                  <a:srgbClr val="FF0000"/>
                </a:solidFill>
                <a:ea typeface="宋体" charset="-122"/>
              </a:rPr>
              <a:t>virtual </a:t>
            </a:r>
            <a:r>
              <a:rPr kumimoji="0" lang="en-US" altLang="zh-CN" dirty="0">
                <a:ea typeface="宋体" charset="-122"/>
              </a:rPr>
              <a:t>address space</a:t>
            </a:r>
          </a:p>
          <a:p>
            <a:pPr>
              <a:lnSpc>
                <a:spcPct val="90000"/>
              </a:lnSpc>
            </a:pPr>
            <a:r>
              <a:rPr kumimoji="0" lang="en-US" altLang="zh-CN" dirty="0">
                <a:solidFill>
                  <a:srgbClr val="9900CC"/>
                </a:solidFill>
                <a:ea typeface="宋体" charset="-122"/>
              </a:rPr>
              <a:t>P</a:t>
            </a:r>
            <a:r>
              <a:rPr kumimoji="0" lang="en-US" altLang="zh-CN" dirty="0">
                <a:ea typeface="宋体" charset="-122"/>
              </a:rPr>
              <a:t> = {0, 1, . . . , </a:t>
            </a:r>
            <a:r>
              <a:rPr kumimoji="0" lang="en-US" altLang="zh-CN" dirty="0">
                <a:solidFill>
                  <a:srgbClr val="9900CC"/>
                </a:solidFill>
                <a:ea typeface="宋体" charset="-122"/>
              </a:rPr>
              <a:t>M</a:t>
            </a:r>
            <a:r>
              <a:rPr kumimoji="0" lang="en-US" altLang="zh-CN" dirty="0">
                <a:ea typeface="宋体" charset="-122"/>
              </a:rPr>
              <a:t>–1}  </a:t>
            </a:r>
            <a:r>
              <a:rPr kumimoji="0" lang="en-US" altLang="zh-CN" dirty="0">
                <a:solidFill>
                  <a:srgbClr val="9900CC"/>
                </a:solidFill>
                <a:ea typeface="宋体" charset="-122"/>
              </a:rPr>
              <a:t>physical</a:t>
            </a:r>
            <a:r>
              <a:rPr kumimoji="0" lang="en-US" altLang="zh-CN" dirty="0">
                <a:solidFill>
                  <a:srgbClr val="FF0000"/>
                </a:solidFill>
                <a:ea typeface="宋体" charset="-122"/>
              </a:rPr>
              <a:t> </a:t>
            </a:r>
            <a:r>
              <a:rPr kumimoji="0" lang="en-US" altLang="zh-CN" dirty="0">
                <a:ea typeface="宋体" charset="-122"/>
              </a:rPr>
              <a:t>address space</a:t>
            </a:r>
            <a:endParaRPr kumimoji="0" lang="en-US" altLang="zh-CN" b="1" dirty="0">
              <a:ea typeface="宋体" charset="-122"/>
            </a:endParaRPr>
          </a:p>
          <a:p>
            <a:pPr>
              <a:lnSpc>
                <a:spcPct val="90000"/>
              </a:lnSpc>
            </a:pPr>
            <a:r>
              <a:rPr kumimoji="0" lang="en-US" altLang="zh-CN" dirty="0">
                <a:ea typeface="宋体" charset="-122"/>
              </a:rPr>
              <a:t>N &gt; M</a:t>
            </a:r>
          </a:p>
          <a:p>
            <a:pPr>
              <a:lnSpc>
                <a:spcPct val="90000"/>
              </a:lnSpc>
            </a:pPr>
            <a:r>
              <a:rPr kumimoji="0" lang="en-US" altLang="zh-CN" dirty="0">
                <a:ea typeface="宋体" charset="-122"/>
              </a:rPr>
              <a:t>Address Translation</a:t>
            </a:r>
          </a:p>
          <a:p>
            <a:pPr>
              <a:lnSpc>
                <a:spcPct val="90000"/>
              </a:lnSpc>
            </a:pPr>
            <a:r>
              <a:rPr kumimoji="0" lang="en-US" altLang="zh-CN" dirty="0">
                <a:ea typeface="宋体" charset="-122"/>
              </a:rPr>
              <a:t>MAP:  </a:t>
            </a:r>
            <a:r>
              <a:rPr kumimoji="0" lang="en-US" altLang="zh-CN" dirty="0">
                <a:solidFill>
                  <a:srgbClr val="FF0000"/>
                </a:solidFill>
                <a:ea typeface="宋体" charset="-122"/>
              </a:rPr>
              <a:t>V</a:t>
            </a:r>
            <a:r>
              <a:rPr kumimoji="0" lang="en-US" altLang="zh-CN" dirty="0">
                <a:ea typeface="宋体" charset="-122"/>
              </a:rPr>
              <a:t> </a:t>
            </a:r>
            <a:r>
              <a:rPr kumimoji="0" lang="en-US" altLang="zh-CN" dirty="0">
                <a:ea typeface="宋体" charset="-122"/>
                <a:sym typeface="Symbol" charset="2"/>
              </a:rPr>
              <a:t></a:t>
            </a:r>
            <a:r>
              <a:rPr kumimoji="0" lang="en-US" altLang="zh-CN" dirty="0">
                <a:ea typeface="宋体" charset="-122"/>
              </a:rPr>
              <a:t>  </a:t>
            </a:r>
            <a:r>
              <a:rPr kumimoji="0" lang="en-US" altLang="zh-CN" dirty="0">
                <a:solidFill>
                  <a:srgbClr val="9900CC"/>
                </a:solidFill>
                <a:ea typeface="宋体" charset="-122"/>
              </a:rPr>
              <a:t>P</a:t>
            </a:r>
            <a:r>
              <a:rPr kumimoji="0" lang="en-US" altLang="zh-CN" dirty="0">
                <a:ea typeface="宋体" charset="-122"/>
              </a:rPr>
              <a:t>  U  {</a:t>
            </a:r>
            <a:r>
              <a:rPr kumimoji="0"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宋体" charset="-122"/>
                <a:sym typeface="Symbol" charset="2"/>
              </a:rPr>
              <a:t></a:t>
            </a:r>
            <a:r>
              <a:rPr kumimoji="0" lang="en-US" altLang="zh-CN" dirty="0">
                <a:ea typeface="宋体" charset="-122"/>
              </a:rPr>
              <a:t>}  address mapping function</a:t>
            </a:r>
          </a:p>
          <a:p>
            <a:pPr>
              <a:lnSpc>
                <a:spcPct val="90000"/>
              </a:lnSpc>
            </a:pPr>
            <a:r>
              <a:rPr kumimoji="0" lang="en-US" altLang="zh-CN" dirty="0">
                <a:ea typeface="宋体" charset="-122"/>
              </a:rPr>
              <a:t>MAP(</a:t>
            </a:r>
            <a:r>
              <a:rPr kumimoji="0" lang="en-US" altLang="zh-CN" dirty="0">
                <a:solidFill>
                  <a:srgbClr val="FF0000"/>
                </a:solidFill>
                <a:ea typeface="宋体" charset="-122"/>
              </a:rPr>
              <a:t>a</a:t>
            </a:r>
            <a:r>
              <a:rPr kumimoji="0" lang="en-US" altLang="zh-CN" dirty="0">
                <a:ea typeface="宋体" charset="-122"/>
              </a:rPr>
              <a:t>)  	=  </a:t>
            </a:r>
            <a:r>
              <a:rPr kumimoji="0" lang="en-US" altLang="zh-CN" dirty="0">
                <a:solidFill>
                  <a:srgbClr val="9900CC"/>
                </a:solidFill>
                <a:ea typeface="宋体" charset="-122"/>
              </a:rPr>
              <a:t>a'</a:t>
            </a:r>
            <a:r>
              <a:rPr kumimoji="0" lang="en-US" altLang="zh-CN" dirty="0">
                <a:ea typeface="宋体" charset="-122"/>
              </a:rPr>
              <a:t> if data at virtual address </a:t>
            </a:r>
            <a:r>
              <a:rPr kumimoji="0" lang="en-US" altLang="zh-CN" dirty="0">
                <a:solidFill>
                  <a:srgbClr val="FF0000"/>
                </a:solidFill>
                <a:ea typeface="宋体" charset="-122"/>
              </a:rPr>
              <a:t>a</a:t>
            </a:r>
            <a:r>
              <a:rPr kumimoji="0" lang="en-US" altLang="zh-CN" dirty="0">
                <a:ea typeface="宋体" charset="-122"/>
              </a:rPr>
              <a:t> is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dirty="0">
                <a:ea typeface="宋体" charset="-122"/>
              </a:rPr>
              <a:t>			    present at physical address </a:t>
            </a:r>
            <a:r>
              <a:rPr kumimoji="0" lang="en-US" altLang="zh-CN" dirty="0">
                <a:solidFill>
                  <a:srgbClr val="9900CC"/>
                </a:solidFill>
                <a:ea typeface="宋体" charset="-122"/>
              </a:rPr>
              <a:t>a'</a:t>
            </a:r>
            <a:r>
              <a:rPr kumimoji="0" lang="en-US" altLang="zh-CN" dirty="0">
                <a:ea typeface="宋体" charset="-122"/>
              </a:rPr>
              <a:t> in P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dirty="0">
                <a:ea typeface="宋体" charset="-122"/>
              </a:rPr>
              <a:t>			= </a:t>
            </a:r>
            <a:r>
              <a:rPr kumimoji="0"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宋体" charset="-122"/>
                <a:sym typeface="Symbol" charset="2"/>
              </a:rPr>
              <a:t></a:t>
            </a:r>
            <a:r>
              <a:rPr kumimoji="0" lang="en-US" altLang="zh-CN" dirty="0">
                <a:ea typeface="宋体" charset="-122"/>
              </a:rPr>
              <a:t>  if data at virtual address </a:t>
            </a:r>
            <a:r>
              <a:rPr kumimoji="0" lang="en-US" altLang="zh-CN" dirty="0">
                <a:solidFill>
                  <a:srgbClr val="FF0000"/>
                </a:solidFill>
                <a:ea typeface="宋体" charset="-122"/>
              </a:rPr>
              <a:t>a</a:t>
            </a:r>
            <a:r>
              <a:rPr kumimoji="0" lang="en-US" altLang="zh-CN" dirty="0">
                <a:ea typeface="宋体" charset="-122"/>
              </a:rPr>
              <a:t> is </a:t>
            </a:r>
            <a:r>
              <a:rPr kumimoji="0" lang="en-US" altLang="zh-CN" dirty="0">
                <a:solidFill>
                  <a:srgbClr val="FF0000"/>
                </a:solidFill>
                <a:ea typeface="宋体" charset="-122"/>
              </a:rPr>
              <a:t>not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dirty="0">
                <a:ea typeface="宋体" charset="-122"/>
              </a:rPr>
              <a:t>			   present in P </a:t>
            </a:r>
            <a:r>
              <a:rPr kumimoji="0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ea typeface="宋体" charset="-122"/>
              </a:rPr>
              <a:t>(invalid or on disk)</a:t>
            </a:r>
            <a:endParaRPr kumimoji="0" lang="zh-CN" altLang="en-US" dirty="0">
              <a:effectLst>
                <a:outerShdw blurRad="38100" dist="38100" dir="2700000" algn="tl">
                  <a:srgbClr val="C0C0C0"/>
                </a:outerShdw>
              </a:effectLst>
              <a:ea typeface="宋体" charset="-122"/>
            </a:endParaRPr>
          </a:p>
        </p:txBody>
      </p:sp>
      <p:cxnSp>
        <p:nvCxnSpPr>
          <p:cNvPr id="8197" name="Straight Connector 2"/>
          <p:cNvCxnSpPr>
            <a:cxnSpLocks noChangeShapeType="1"/>
          </p:cNvCxnSpPr>
          <p:nvPr/>
        </p:nvCxnSpPr>
        <p:spPr bwMode="auto">
          <a:xfrm>
            <a:off x="762000" y="2743200"/>
            <a:ext cx="12954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C4D4BC38-9B98-C44C-9D36-609EFF6C247A}" type="slidenum">
              <a:rPr lang="zh-CN" altLang="en-US" sz="1400" b="0">
                <a:latin typeface="Times New Roman" charset="0"/>
              </a:rPr>
              <a:pPr/>
              <a:t>19</a:t>
            </a:fld>
            <a:endParaRPr lang="en-US" altLang="zh-CN" sz="1400" b="0">
              <a:latin typeface="Times New Roman" charset="0"/>
            </a:endParaRPr>
          </a:p>
        </p:txBody>
      </p:sp>
      <p:sp>
        <p:nvSpPr>
          <p:cNvPr id="1013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Address Translation</a:t>
            </a:r>
          </a:p>
        </p:txBody>
      </p:sp>
      <p:grpSp>
        <p:nvGrpSpPr>
          <p:cNvPr id="101379" name="Group 34"/>
          <p:cNvGrpSpPr>
            <a:grpSpLocks/>
          </p:cNvGrpSpPr>
          <p:nvPr/>
        </p:nvGrpSpPr>
        <p:grpSpPr bwMode="auto">
          <a:xfrm>
            <a:off x="609600" y="1524000"/>
            <a:ext cx="7937500" cy="4421188"/>
            <a:chOff x="384" y="1344"/>
            <a:chExt cx="5000" cy="1977"/>
          </a:xfrm>
        </p:grpSpPr>
        <p:sp>
          <p:nvSpPr>
            <p:cNvPr id="6149" name="Rectangle 5"/>
            <p:cNvSpPr>
              <a:spLocks noChangeArrowheads="1"/>
            </p:cNvSpPr>
            <p:nvPr/>
          </p:nvSpPr>
          <p:spPr bwMode="auto">
            <a:xfrm>
              <a:off x="544" y="1817"/>
              <a:ext cx="792" cy="141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63500" tIns="25400" rIns="63500" bIns="25400" anchor="ctr">
              <a:spAutoFit/>
            </a:bodyPr>
            <a:lstStyle/>
            <a:p>
              <a:pPr algn="ctr">
                <a:lnSpc>
                  <a:spcPct val="92000"/>
                </a:lnSpc>
                <a:defRPr/>
              </a:pPr>
              <a:r>
                <a:rPr lang="en-US" altLang="zh-CN" sz="1800">
                  <a:latin typeface="Helvetica" pitchFamily="34" charset="0"/>
                  <a:ea typeface="宋体" panose="02010600030101010101" pitchFamily="2" charset="-122"/>
                </a:rPr>
                <a:t>Processor</a:t>
              </a:r>
            </a:p>
          </p:txBody>
        </p:sp>
        <p:sp>
          <p:nvSpPr>
            <p:cNvPr id="101381" name="Rectangle 6"/>
            <p:cNvSpPr>
              <a:spLocks noChangeArrowheads="1"/>
            </p:cNvSpPr>
            <p:nvPr/>
          </p:nvSpPr>
          <p:spPr bwMode="auto">
            <a:xfrm>
              <a:off x="1732" y="2144"/>
              <a:ext cx="880" cy="352"/>
            </a:xfrm>
            <a:prstGeom prst="rect">
              <a:avLst/>
            </a:prstGeom>
            <a:solidFill>
              <a:srgbClr val="FFFF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3500" tIns="25400" rIns="63500" bIns="25400" anchor="ctr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lnSpc>
                  <a:spcPct val="88000"/>
                </a:lnSpc>
              </a:pPr>
              <a:r>
                <a:rPr lang="en-US" altLang="zh-CN" sz="1800">
                  <a:latin typeface="Helvetica" charset="0"/>
                </a:rPr>
                <a:t>Hardware</a:t>
              </a:r>
            </a:p>
            <a:p>
              <a:pPr algn="ctr">
                <a:lnSpc>
                  <a:spcPct val="88000"/>
                </a:lnSpc>
              </a:pPr>
              <a:r>
                <a:rPr lang="en-US" altLang="zh-CN" sz="1800">
                  <a:latin typeface="Helvetica" charset="0"/>
                </a:rPr>
                <a:t>Addr Trans</a:t>
              </a:r>
            </a:p>
            <a:p>
              <a:pPr algn="ctr">
                <a:lnSpc>
                  <a:spcPct val="88000"/>
                </a:lnSpc>
              </a:pPr>
              <a:r>
                <a:rPr lang="en-US" altLang="zh-CN" sz="1800">
                  <a:latin typeface="Helvetica" charset="0"/>
                </a:rPr>
                <a:t>Mechanism</a:t>
              </a:r>
            </a:p>
          </p:txBody>
        </p:sp>
        <p:sp>
          <p:nvSpPr>
            <p:cNvPr id="101382" name="Rectangle 7"/>
            <p:cNvSpPr>
              <a:spLocks noChangeArrowheads="1"/>
            </p:cNvSpPr>
            <p:nvPr/>
          </p:nvSpPr>
          <p:spPr bwMode="auto">
            <a:xfrm>
              <a:off x="3300" y="1622"/>
              <a:ext cx="608" cy="24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63500" tIns="25400" rIns="63500" bIns="25400" anchor="ctr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lnSpc>
                  <a:spcPct val="88000"/>
                </a:lnSpc>
              </a:pPr>
              <a:r>
                <a:rPr lang="en-US" altLang="zh-CN" sz="1800">
                  <a:latin typeface="Helvetica" charset="0"/>
                </a:rPr>
                <a:t>fault</a:t>
              </a:r>
            </a:p>
            <a:p>
              <a:pPr algn="ctr">
                <a:lnSpc>
                  <a:spcPct val="88000"/>
                </a:lnSpc>
              </a:pPr>
              <a:r>
                <a:rPr lang="en-US" altLang="zh-CN" sz="1800">
                  <a:latin typeface="Helvetica" charset="0"/>
                </a:rPr>
                <a:t>handler</a:t>
              </a:r>
            </a:p>
          </p:txBody>
        </p:sp>
        <p:sp>
          <p:nvSpPr>
            <p:cNvPr id="101383" name="Rectangle 8"/>
            <p:cNvSpPr>
              <a:spLocks noChangeArrowheads="1"/>
            </p:cNvSpPr>
            <p:nvPr/>
          </p:nvSpPr>
          <p:spPr bwMode="auto">
            <a:xfrm>
              <a:off x="3304" y="2214"/>
              <a:ext cx="640" cy="24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63500" tIns="25400" rIns="63500" bIns="25400" anchor="ctr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lnSpc>
                  <a:spcPct val="88000"/>
                </a:lnSpc>
              </a:pPr>
              <a:r>
                <a:rPr lang="en-US" altLang="zh-CN" sz="1800">
                  <a:latin typeface="Helvetica" charset="0"/>
                </a:rPr>
                <a:t>Main</a:t>
              </a:r>
            </a:p>
            <a:p>
              <a:pPr algn="ctr">
                <a:lnSpc>
                  <a:spcPct val="88000"/>
                </a:lnSpc>
              </a:pPr>
              <a:r>
                <a:rPr lang="en-US" altLang="zh-CN" sz="1800">
                  <a:latin typeface="Helvetica" charset="0"/>
                </a:rPr>
                <a:t>Memory</a:t>
              </a:r>
            </a:p>
          </p:txBody>
        </p:sp>
        <p:sp>
          <p:nvSpPr>
            <p:cNvPr id="101384" name="Rectangle 9"/>
            <p:cNvSpPr>
              <a:spLocks noChangeArrowheads="1"/>
            </p:cNvSpPr>
            <p:nvPr/>
          </p:nvSpPr>
          <p:spPr bwMode="auto">
            <a:xfrm>
              <a:off x="4420" y="2212"/>
              <a:ext cx="856" cy="24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3500" tIns="25400" rIns="63500" bIns="25400" anchor="ctr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lnSpc>
                  <a:spcPct val="88000"/>
                </a:lnSpc>
              </a:pPr>
              <a:r>
                <a:rPr lang="en-US" altLang="zh-CN" sz="1800">
                  <a:latin typeface="Helvetica" charset="0"/>
                </a:rPr>
                <a:t>Secondary memory</a:t>
              </a:r>
            </a:p>
          </p:txBody>
        </p:sp>
        <p:sp>
          <p:nvSpPr>
            <p:cNvPr id="101385" name="Rectangle 10"/>
            <p:cNvSpPr>
              <a:spLocks noChangeArrowheads="1"/>
            </p:cNvSpPr>
            <p:nvPr/>
          </p:nvSpPr>
          <p:spPr bwMode="auto">
            <a:xfrm>
              <a:off x="3172" y="2068"/>
              <a:ext cx="2176" cy="512"/>
            </a:xfrm>
            <a:prstGeom prst="rect">
              <a:avLst/>
            </a:prstGeom>
            <a:noFill/>
            <a:ln w="12700">
              <a:pattFill prst="dkUpDiag">
                <a:fgClr>
                  <a:schemeClr val="tx1"/>
                </a:fgClr>
                <a:bgClr>
                  <a:schemeClr val="bg1"/>
                </a:bgClr>
              </a:patt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1386" name="Line 11"/>
            <p:cNvSpPr>
              <a:spLocks noChangeShapeType="1"/>
            </p:cNvSpPr>
            <p:nvPr/>
          </p:nvSpPr>
          <p:spPr bwMode="auto">
            <a:xfrm>
              <a:off x="3964" y="2200"/>
              <a:ext cx="4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1387" name="Line 12"/>
            <p:cNvSpPr>
              <a:spLocks noChangeShapeType="1"/>
            </p:cNvSpPr>
            <p:nvPr/>
          </p:nvSpPr>
          <p:spPr bwMode="auto">
            <a:xfrm flipH="1">
              <a:off x="3952" y="2440"/>
              <a:ext cx="43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1388" name="Line 13"/>
            <p:cNvSpPr>
              <a:spLocks noChangeShapeType="1"/>
            </p:cNvSpPr>
            <p:nvPr/>
          </p:nvSpPr>
          <p:spPr bwMode="auto">
            <a:xfrm>
              <a:off x="2652" y="2440"/>
              <a:ext cx="63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1389" name="Line 14"/>
            <p:cNvSpPr>
              <a:spLocks noChangeShapeType="1"/>
            </p:cNvSpPr>
            <p:nvPr/>
          </p:nvSpPr>
          <p:spPr bwMode="auto">
            <a:xfrm>
              <a:off x="2652" y="2248"/>
              <a:ext cx="25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1390" name="Line 15"/>
            <p:cNvSpPr>
              <a:spLocks noChangeShapeType="1"/>
            </p:cNvSpPr>
            <p:nvPr/>
          </p:nvSpPr>
          <p:spPr bwMode="auto">
            <a:xfrm flipV="1">
              <a:off x="2904" y="1768"/>
              <a:ext cx="0" cy="4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1391" name="Line 16"/>
            <p:cNvSpPr>
              <a:spLocks noChangeShapeType="1"/>
            </p:cNvSpPr>
            <p:nvPr/>
          </p:nvSpPr>
          <p:spPr bwMode="auto">
            <a:xfrm>
              <a:off x="2904" y="1768"/>
              <a:ext cx="3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1392" name="Line 17"/>
            <p:cNvSpPr>
              <a:spLocks noChangeShapeType="1"/>
            </p:cNvSpPr>
            <p:nvPr/>
          </p:nvSpPr>
          <p:spPr bwMode="auto">
            <a:xfrm flipV="1">
              <a:off x="3940" y="1773"/>
              <a:ext cx="853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1393" name="Line 18"/>
            <p:cNvSpPr>
              <a:spLocks noChangeShapeType="1"/>
            </p:cNvSpPr>
            <p:nvPr/>
          </p:nvSpPr>
          <p:spPr bwMode="auto">
            <a:xfrm>
              <a:off x="4792" y="1777"/>
              <a:ext cx="0" cy="35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1394" name="Line 19"/>
            <p:cNvSpPr>
              <a:spLocks noChangeShapeType="1"/>
            </p:cNvSpPr>
            <p:nvPr/>
          </p:nvSpPr>
          <p:spPr bwMode="auto">
            <a:xfrm flipH="1">
              <a:off x="920" y="1992"/>
              <a:ext cx="0" cy="3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1395" name="Line 20"/>
            <p:cNvSpPr>
              <a:spLocks noChangeShapeType="1"/>
            </p:cNvSpPr>
            <p:nvPr/>
          </p:nvSpPr>
          <p:spPr bwMode="auto">
            <a:xfrm flipV="1">
              <a:off x="920" y="2320"/>
              <a:ext cx="81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1396" name="Rectangle 21"/>
            <p:cNvSpPr>
              <a:spLocks noChangeArrowheads="1"/>
            </p:cNvSpPr>
            <p:nvPr/>
          </p:nvSpPr>
          <p:spPr bwMode="auto">
            <a:xfrm>
              <a:off x="1144" y="2368"/>
              <a:ext cx="160" cy="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85000"/>
                </a:lnSpc>
              </a:pPr>
              <a:r>
                <a:rPr lang="en-US" altLang="zh-CN" sz="1800">
                  <a:solidFill>
                    <a:srgbClr val="FF0000"/>
                  </a:solidFill>
                  <a:latin typeface="Helvetica" charset="0"/>
                </a:rPr>
                <a:t>a</a:t>
              </a:r>
            </a:p>
          </p:txBody>
        </p:sp>
        <p:sp>
          <p:nvSpPr>
            <p:cNvPr id="101397" name="Rectangle 22"/>
            <p:cNvSpPr>
              <a:spLocks noChangeArrowheads="1"/>
            </p:cNvSpPr>
            <p:nvPr/>
          </p:nvSpPr>
          <p:spPr bwMode="auto">
            <a:xfrm>
              <a:off x="2836" y="2512"/>
              <a:ext cx="194" cy="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85000"/>
                </a:lnSpc>
              </a:pPr>
              <a:r>
                <a:rPr lang="en-US" altLang="zh-CN" sz="1800">
                  <a:solidFill>
                    <a:srgbClr val="9900CC"/>
                  </a:solidFill>
                  <a:latin typeface="Helvetica" charset="0"/>
                </a:rPr>
                <a:t>a'</a:t>
              </a:r>
            </a:p>
          </p:txBody>
        </p:sp>
        <p:sp>
          <p:nvSpPr>
            <p:cNvPr id="6167" name="Rectangle 23"/>
            <p:cNvSpPr>
              <a:spLocks noChangeArrowheads="1"/>
            </p:cNvSpPr>
            <p:nvPr/>
          </p:nvSpPr>
          <p:spPr bwMode="auto">
            <a:xfrm>
              <a:off x="2672" y="2056"/>
              <a:ext cx="199" cy="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85000"/>
                </a:lnSpc>
              </a:pPr>
              <a:r>
                <a:rPr lang="zh-CN" altLang="en-US" sz="1800">
                  <a:effectLst>
                    <a:outerShdw blurRad="38100" dist="38100" dir="2700000" algn="tl">
                      <a:srgbClr val="C0C0C0"/>
                    </a:outerShdw>
                  </a:effectLst>
                  <a:latin typeface="Helvetica" charset="0"/>
                  <a:sym typeface="Symbol" charset="2"/>
                </a:rPr>
                <a:t></a:t>
              </a:r>
            </a:p>
          </p:txBody>
        </p:sp>
        <p:sp>
          <p:nvSpPr>
            <p:cNvPr id="6168" name="Rectangle 24"/>
            <p:cNvSpPr>
              <a:spLocks noChangeArrowheads="1"/>
            </p:cNvSpPr>
            <p:nvPr/>
          </p:nvSpPr>
          <p:spPr bwMode="auto">
            <a:xfrm>
              <a:off x="3296" y="1344"/>
              <a:ext cx="843" cy="1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85000"/>
                </a:lnSpc>
              </a:pPr>
              <a:r>
                <a:rPr lang="en-US" altLang="zh-CN" i="1">
                  <a:effectLst>
                    <a:outerShdw blurRad="38100" dist="38100" dir="2700000" algn="tl">
                      <a:srgbClr val="C0C0C0"/>
                    </a:outerShdw>
                  </a:effectLst>
                  <a:latin typeface="Helvetica" charset="0"/>
                </a:rPr>
                <a:t>page fault</a:t>
              </a:r>
            </a:p>
          </p:txBody>
        </p:sp>
        <p:sp>
          <p:nvSpPr>
            <p:cNvPr id="101400" name="Line 25"/>
            <p:cNvSpPr>
              <a:spLocks noChangeShapeType="1"/>
            </p:cNvSpPr>
            <p:nvPr/>
          </p:nvSpPr>
          <p:spPr bwMode="auto">
            <a:xfrm flipH="1">
              <a:off x="3064" y="1468"/>
              <a:ext cx="248" cy="2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1401" name="Rectangle 26"/>
            <p:cNvSpPr>
              <a:spLocks noChangeArrowheads="1"/>
            </p:cNvSpPr>
            <p:nvPr/>
          </p:nvSpPr>
          <p:spPr bwMode="auto">
            <a:xfrm>
              <a:off x="2688" y="2912"/>
              <a:ext cx="1248" cy="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85000"/>
                </a:lnSpc>
              </a:pPr>
              <a:r>
                <a:rPr lang="en-US" altLang="zh-CN" sz="1800">
                  <a:solidFill>
                    <a:srgbClr val="9900CC"/>
                  </a:solidFill>
                  <a:latin typeface="Helvetica" charset="0"/>
                </a:rPr>
                <a:t>physical address</a:t>
              </a:r>
            </a:p>
          </p:txBody>
        </p:sp>
        <p:sp>
          <p:nvSpPr>
            <p:cNvPr id="101402" name="Line 27"/>
            <p:cNvSpPr>
              <a:spLocks noChangeShapeType="1"/>
            </p:cNvSpPr>
            <p:nvPr/>
          </p:nvSpPr>
          <p:spPr bwMode="auto">
            <a:xfrm flipH="1" flipV="1">
              <a:off x="3024" y="2676"/>
              <a:ext cx="260" cy="1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1403" name="Line 28"/>
            <p:cNvSpPr>
              <a:spLocks noChangeShapeType="1"/>
            </p:cNvSpPr>
            <p:nvPr/>
          </p:nvSpPr>
          <p:spPr bwMode="auto">
            <a:xfrm>
              <a:off x="4196" y="2468"/>
              <a:ext cx="240" cy="37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1404" name="Rectangle 29"/>
            <p:cNvSpPr>
              <a:spLocks noChangeArrowheads="1"/>
            </p:cNvSpPr>
            <p:nvPr/>
          </p:nvSpPr>
          <p:spPr bwMode="auto">
            <a:xfrm>
              <a:off x="4416" y="2809"/>
              <a:ext cx="968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85000"/>
                </a:lnSpc>
              </a:pPr>
              <a:r>
                <a:rPr lang="en-US" altLang="zh-CN" sz="1800">
                  <a:latin typeface="Helvetica" charset="0"/>
                </a:rPr>
                <a:t>OS performs</a:t>
              </a:r>
            </a:p>
            <a:p>
              <a:pPr>
                <a:lnSpc>
                  <a:spcPct val="85000"/>
                </a:lnSpc>
              </a:pPr>
              <a:r>
                <a:rPr lang="en-US" altLang="zh-CN" sz="1800">
                  <a:latin typeface="Helvetica" charset="0"/>
                </a:rPr>
                <a:t>this transfer</a:t>
              </a:r>
            </a:p>
            <a:p>
              <a:pPr>
                <a:lnSpc>
                  <a:spcPct val="85000"/>
                </a:lnSpc>
              </a:pPr>
              <a:r>
                <a:rPr lang="en-US" altLang="zh-CN" sz="1800">
                  <a:latin typeface="Helvetica" charset="0"/>
                </a:rPr>
                <a:t>(only if miss)</a:t>
              </a:r>
            </a:p>
          </p:txBody>
        </p:sp>
        <p:sp>
          <p:nvSpPr>
            <p:cNvPr id="101405" name="Rectangle 30"/>
            <p:cNvSpPr>
              <a:spLocks noChangeArrowheads="1"/>
            </p:cNvSpPr>
            <p:nvPr/>
          </p:nvSpPr>
          <p:spPr bwMode="auto">
            <a:xfrm>
              <a:off x="384" y="2856"/>
              <a:ext cx="1115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85000"/>
                </a:lnSpc>
              </a:pPr>
              <a:r>
                <a:rPr lang="en-US" altLang="zh-CN" sz="1800">
                  <a:solidFill>
                    <a:srgbClr val="FF0000"/>
                  </a:solidFill>
                  <a:latin typeface="Helvetica" charset="0"/>
                </a:rPr>
                <a:t>virtual address</a:t>
              </a:r>
            </a:p>
          </p:txBody>
        </p:sp>
        <p:sp>
          <p:nvSpPr>
            <p:cNvPr id="101406" name="Line 31"/>
            <p:cNvSpPr>
              <a:spLocks noChangeShapeType="1"/>
            </p:cNvSpPr>
            <p:nvPr/>
          </p:nvSpPr>
          <p:spPr bwMode="auto">
            <a:xfrm flipV="1">
              <a:off x="816" y="2544"/>
              <a:ext cx="336" cy="26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1407" name="Line 32"/>
            <p:cNvSpPr>
              <a:spLocks noChangeShapeType="1"/>
            </p:cNvSpPr>
            <p:nvPr/>
          </p:nvSpPr>
          <p:spPr bwMode="auto">
            <a:xfrm flipV="1">
              <a:off x="2112" y="2632"/>
              <a:ext cx="0" cy="28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487" tIns="44450" rIns="90487" bIns="44450" anchor="ctr"/>
            <a:lstStyle/>
            <a:p>
              <a:endParaRPr lang="zh-CN" altLang="en-US"/>
            </a:p>
          </p:txBody>
        </p:sp>
        <p:sp>
          <p:nvSpPr>
            <p:cNvPr id="6177" name="Rectangle 33"/>
            <p:cNvSpPr>
              <a:spLocks noChangeArrowheads="1"/>
            </p:cNvSpPr>
            <p:nvPr/>
          </p:nvSpPr>
          <p:spPr bwMode="auto">
            <a:xfrm>
              <a:off x="1656" y="2985"/>
              <a:ext cx="1856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  <a:defRPr/>
              </a:pPr>
              <a:r>
                <a:rPr lang="en-US" altLang="zh-CN" sz="1800" dirty="0">
                  <a:latin typeface="Helvetica" pitchFamily="34" charset="0"/>
                  <a:ea typeface="宋体" panose="02010600030101010101" pitchFamily="2" charset="-122"/>
                </a:rPr>
                <a:t>part of the </a:t>
              </a:r>
            </a:p>
            <a:p>
              <a:pPr>
                <a:lnSpc>
                  <a:spcPct val="85000"/>
                </a:lnSpc>
                <a:defRPr/>
              </a:pPr>
              <a:r>
                <a:rPr lang="en-US" altLang="zh-CN" sz="1800" dirty="0">
                  <a:latin typeface="Helvetica" pitchFamily="34" charset="0"/>
                  <a:ea typeface="宋体" panose="02010600030101010101" pitchFamily="2" charset="-122"/>
                </a:rPr>
                <a:t>on-chip</a:t>
              </a:r>
            </a:p>
            <a:p>
              <a:pPr>
                <a:lnSpc>
                  <a:spcPct val="85000"/>
                </a:lnSpc>
                <a:defRPr/>
              </a:pPr>
              <a:r>
                <a:rPr lang="en-US" altLang="zh-CN" sz="1800" dirty="0">
                  <a:latin typeface="Helvetica" pitchFamily="34" charset="0"/>
                  <a:ea typeface="宋体" panose="02010600030101010101" pitchFamily="2" charset="-122"/>
                </a:rPr>
                <a:t>memory </a:t>
              </a:r>
              <a:r>
                <a:rPr lang="en-US" altLang="zh-CN" sz="1800" dirty="0" err="1">
                  <a:latin typeface="Helvetica" pitchFamily="34" charset="0"/>
                  <a:ea typeface="宋体" panose="02010600030101010101" pitchFamily="2" charset="-122"/>
                </a:rPr>
                <a:t>mgmt</a:t>
              </a:r>
              <a:r>
                <a:rPr lang="en-US" altLang="zh-CN" sz="1800" dirty="0">
                  <a:latin typeface="Helvetica" pitchFamily="34" charset="0"/>
                  <a:ea typeface="宋体" panose="02010600030101010101" pitchFamily="2" charset="-122"/>
                </a:rPr>
                <a:t> unit </a:t>
              </a:r>
              <a:r>
                <a:rPr lang="en-US" altLang="zh-CN" sz="18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elvetica" pitchFamily="34" charset="0"/>
                  <a:ea typeface="宋体" panose="02010600030101010101" pitchFamily="2" charset="-122"/>
                </a:rPr>
                <a:t>(MMU</a:t>
              </a:r>
              <a:r>
                <a:rPr lang="en-US" altLang="zh-CN" sz="1800" dirty="0">
                  <a:latin typeface="Helvetica" pitchFamily="34" charset="0"/>
                  <a:ea typeface="宋体" panose="02010600030101010101" pitchFamily="2" charset="-122"/>
                </a:rPr>
                <a:t>)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5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FC4B6DE4-C1EA-4748-81EF-C35B90850274}" type="slidenum">
              <a:rPr lang="zh-CN" altLang="en-US" sz="1400" b="0">
                <a:latin typeface="Times New Roman" charset="0"/>
              </a:rPr>
              <a:pPr/>
              <a:t>20</a:t>
            </a:fld>
            <a:endParaRPr lang="en-US" altLang="zh-CN" sz="1400" b="0">
              <a:latin typeface="Times New Roman" charset="0"/>
            </a:endParaRPr>
          </a:p>
        </p:txBody>
      </p:sp>
      <p:sp>
        <p:nvSpPr>
          <p:cNvPr id="103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Address Translation</a:t>
            </a:r>
          </a:p>
        </p:txBody>
      </p:sp>
      <p:sp>
        <p:nvSpPr>
          <p:cNvPr id="1034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0" lang="en-US" altLang="zh-CN">
                <a:ea typeface="宋体" charset="-122"/>
              </a:rPr>
              <a:t>Basic Parameters</a:t>
            </a:r>
          </a:p>
          <a:p>
            <a:pPr lvl="1"/>
            <a:r>
              <a:rPr kumimoji="0" lang="en-US" altLang="zh-CN">
                <a:solidFill>
                  <a:srgbClr val="FF0000"/>
                </a:solidFill>
                <a:ea typeface="宋体" charset="-122"/>
              </a:rPr>
              <a:t>N</a:t>
            </a:r>
            <a:r>
              <a:rPr kumimoji="0" lang="en-US" altLang="zh-CN">
                <a:ea typeface="宋体" charset="-122"/>
              </a:rPr>
              <a:t> = 2</a:t>
            </a:r>
            <a:r>
              <a:rPr kumimoji="0" lang="en-US" altLang="zh-CN" baseline="30000">
                <a:solidFill>
                  <a:srgbClr val="FF0000"/>
                </a:solidFill>
                <a:ea typeface="宋体" charset="-122"/>
              </a:rPr>
              <a:t>n</a:t>
            </a:r>
            <a:r>
              <a:rPr kumimoji="0" lang="en-US" altLang="zh-CN">
                <a:solidFill>
                  <a:srgbClr val="FF0000"/>
                </a:solidFill>
                <a:ea typeface="宋体" charset="-122"/>
              </a:rPr>
              <a:t> </a:t>
            </a:r>
            <a:r>
              <a:rPr kumimoji="0" lang="en-US" altLang="zh-CN">
                <a:ea typeface="宋体" charset="-122"/>
              </a:rPr>
              <a:t>= Virtual address limit</a:t>
            </a:r>
          </a:p>
          <a:p>
            <a:pPr lvl="1"/>
            <a:r>
              <a:rPr kumimoji="0" lang="en-US" altLang="zh-CN">
                <a:solidFill>
                  <a:srgbClr val="9900CC"/>
                </a:solidFill>
                <a:ea typeface="宋体" charset="-122"/>
              </a:rPr>
              <a:t>M</a:t>
            </a:r>
            <a:r>
              <a:rPr kumimoji="0" lang="en-US" altLang="zh-CN">
                <a:ea typeface="宋体" charset="-122"/>
              </a:rPr>
              <a:t> = 2</a:t>
            </a:r>
            <a:r>
              <a:rPr kumimoji="0" lang="en-US" altLang="zh-CN" baseline="30000">
                <a:solidFill>
                  <a:srgbClr val="9900CC"/>
                </a:solidFill>
                <a:ea typeface="宋体" charset="-122"/>
              </a:rPr>
              <a:t>m</a:t>
            </a:r>
            <a:r>
              <a:rPr kumimoji="0" lang="en-US" altLang="zh-CN">
                <a:ea typeface="宋体" charset="-122"/>
              </a:rPr>
              <a:t> = Physical address limit</a:t>
            </a:r>
          </a:p>
          <a:p>
            <a:pPr lvl="1"/>
            <a:r>
              <a:rPr kumimoji="0" lang="en-US" altLang="zh-CN">
                <a:solidFill>
                  <a:srgbClr val="00B0F0"/>
                </a:solidFill>
                <a:ea typeface="宋体" charset="-122"/>
              </a:rPr>
              <a:t>P</a:t>
            </a:r>
            <a:r>
              <a:rPr kumimoji="0" lang="en-US" altLang="zh-CN">
                <a:solidFill>
                  <a:srgbClr val="000000"/>
                </a:solidFill>
                <a:ea typeface="宋体" charset="-122"/>
              </a:rPr>
              <a:t> = 2</a:t>
            </a:r>
            <a:r>
              <a:rPr kumimoji="0" lang="en-US" altLang="zh-CN" baseline="30000">
                <a:solidFill>
                  <a:srgbClr val="00B0F0"/>
                </a:solidFill>
                <a:ea typeface="宋体" charset="-122"/>
              </a:rPr>
              <a:t>p</a:t>
            </a:r>
            <a:r>
              <a:rPr kumimoji="0" lang="en-US" altLang="zh-CN">
                <a:solidFill>
                  <a:srgbClr val="000000"/>
                </a:solidFill>
                <a:ea typeface="宋体" charset="-122"/>
              </a:rPr>
              <a:t> = page size (bytes).  </a:t>
            </a:r>
          </a:p>
          <a:p>
            <a:pPr lvl="1"/>
            <a:endParaRPr kumimoji="0" lang="zh-CN" altLang="en-US" sz="2000">
              <a:ea typeface="宋体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3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136AEE8E-F7CE-9949-9DC0-B8E11E5E433A}" type="slidenum">
              <a:rPr lang="zh-CN" altLang="en-US" sz="1400" b="0">
                <a:latin typeface="Times New Roman" charset="0"/>
              </a:rPr>
              <a:pPr/>
              <a:t>21</a:t>
            </a:fld>
            <a:endParaRPr lang="en-US" altLang="zh-CN" sz="1400" b="0">
              <a:latin typeface="Times New Roman" charset="0"/>
            </a:endParaRPr>
          </a:p>
        </p:txBody>
      </p:sp>
      <p:sp>
        <p:nvSpPr>
          <p:cNvPr id="105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Address Translation</a:t>
            </a:r>
          </a:p>
        </p:txBody>
      </p:sp>
      <p:grpSp>
        <p:nvGrpSpPr>
          <p:cNvPr id="105475" name="Group 24"/>
          <p:cNvGrpSpPr>
            <a:grpSpLocks/>
          </p:cNvGrpSpPr>
          <p:nvPr/>
        </p:nvGrpSpPr>
        <p:grpSpPr bwMode="auto">
          <a:xfrm>
            <a:off x="442913" y="1770063"/>
            <a:ext cx="8320087" cy="4119562"/>
            <a:chOff x="279" y="1115"/>
            <a:chExt cx="5241" cy="2263"/>
          </a:xfrm>
        </p:grpSpPr>
        <p:sp>
          <p:nvSpPr>
            <p:cNvPr id="105476" name="Rectangle 5"/>
            <p:cNvSpPr>
              <a:spLocks noChangeArrowheads="1"/>
            </p:cNvSpPr>
            <p:nvPr/>
          </p:nvSpPr>
          <p:spPr bwMode="auto">
            <a:xfrm>
              <a:off x="436" y="1325"/>
              <a:ext cx="2008" cy="232"/>
            </a:xfrm>
            <a:prstGeom prst="rect">
              <a:avLst/>
            </a:prstGeom>
            <a:solidFill>
              <a:srgbClr val="FF99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/>
              <a:r>
                <a:rPr lang="en-US" altLang="zh-CN" sz="1800" b="0">
                  <a:latin typeface="Helvetica" charset="0"/>
                </a:rPr>
                <a:t>virtual page number</a:t>
              </a:r>
            </a:p>
          </p:txBody>
        </p:sp>
        <p:sp>
          <p:nvSpPr>
            <p:cNvPr id="105477" name="Rectangle 6"/>
            <p:cNvSpPr>
              <a:spLocks noChangeArrowheads="1"/>
            </p:cNvSpPr>
            <p:nvPr/>
          </p:nvSpPr>
          <p:spPr bwMode="auto">
            <a:xfrm>
              <a:off x="2452" y="1325"/>
              <a:ext cx="1384" cy="232"/>
            </a:xfrm>
            <a:prstGeom prst="rect">
              <a:avLst/>
            </a:prstGeom>
            <a:solidFill>
              <a:srgbClr val="66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/>
              <a:r>
                <a:rPr lang="en-US" altLang="zh-CN" sz="1800" b="0">
                  <a:latin typeface="Helvetica" charset="0"/>
                </a:rPr>
                <a:t>page offset</a:t>
              </a:r>
            </a:p>
          </p:txBody>
        </p:sp>
        <p:sp>
          <p:nvSpPr>
            <p:cNvPr id="105478" name="Rectangle 7"/>
            <p:cNvSpPr>
              <a:spLocks noChangeArrowheads="1"/>
            </p:cNvSpPr>
            <p:nvPr/>
          </p:nvSpPr>
          <p:spPr bwMode="auto">
            <a:xfrm>
              <a:off x="3895" y="1307"/>
              <a:ext cx="1149" cy="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r>
                <a:rPr lang="en-US" altLang="zh-CN" sz="1800">
                  <a:solidFill>
                    <a:srgbClr val="FF0000"/>
                  </a:solidFill>
                  <a:latin typeface="Helvetica" charset="0"/>
                </a:rPr>
                <a:t>virtual address</a:t>
              </a:r>
            </a:p>
          </p:txBody>
        </p:sp>
        <p:sp>
          <p:nvSpPr>
            <p:cNvPr id="105479" name="Rectangle 8"/>
            <p:cNvSpPr>
              <a:spLocks noChangeArrowheads="1"/>
            </p:cNvSpPr>
            <p:nvPr/>
          </p:nvSpPr>
          <p:spPr bwMode="auto">
            <a:xfrm>
              <a:off x="628" y="2717"/>
              <a:ext cx="1816" cy="232"/>
            </a:xfrm>
            <a:prstGeom prst="rect">
              <a:avLst/>
            </a:prstGeom>
            <a:solidFill>
              <a:srgbClr val="CC99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/>
              <a:r>
                <a:rPr lang="en-US" altLang="zh-CN" sz="1800" b="0">
                  <a:latin typeface="Helvetica" charset="0"/>
                </a:rPr>
                <a:t>physical page number</a:t>
              </a:r>
            </a:p>
          </p:txBody>
        </p:sp>
        <p:sp>
          <p:nvSpPr>
            <p:cNvPr id="105480" name="Rectangle 9"/>
            <p:cNvSpPr>
              <a:spLocks noChangeArrowheads="1"/>
            </p:cNvSpPr>
            <p:nvPr/>
          </p:nvSpPr>
          <p:spPr bwMode="auto">
            <a:xfrm>
              <a:off x="2452" y="2717"/>
              <a:ext cx="1384" cy="232"/>
            </a:xfrm>
            <a:prstGeom prst="rect">
              <a:avLst/>
            </a:prstGeom>
            <a:solidFill>
              <a:srgbClr val="66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/>
              <a:r>
                <a:rPr lang="en-US" altLang="zh-CN" sz="1800" b="0">
                  <a:latin typeface="Helvetica" charset="0"/>
                </a:rPr>
                <a:t>page offset</a:t>
              </a:r>
            </a:p>
          </p:txBody>
        </p:sp>
        <p:sp>
          <p:nvSpPr>
            <p:cNvPr id="105481" name="Rectangle 10"/>
            <p:cNvSpPr>
              <a:spLocks noChangeArrowheads="1"/>
            </p:cNvSpPr>
            <p:nvPr/>
          </p:nvSpPr>
          <p:spPr bwMode="auto">
            <a:xfrm>
              <a:off x="3943" y="2699"/>
              <a:ext cx="1295" cy="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r>
                <a:rPr lang="en-US" altLang="zh-CN" sz="1800">
                  <a:solidFill>
                    <a:srgbClr val="9900CC"/>
                  </a:solidFill>
                  <a:latin typeface="Helvetica" charset="0"/>
                </a:rPr>
                <a:t>physical address</a:t>
              </a:r>
            </a:p>
          </p:txBody>
        </p:sp>
        <p:sp>
          <p:nvSpPr>
            <p:cNvPr id="105482" name="Line 11"/>
            <p:cNvSpPr>
              <a:spLocks noChangeShapeType="1"/>
            </p:cNvSpPr>
            <p:nvPr/>
          </p:nvSpPr>
          <p:spPr bwMode="auto">
            <a:xfrm>
              <a:off x="3216" y="1565"/>
              <a:ext cx="0" cy="104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483" name="Rectangle 12"/>
            <p:cNvSpPr>
              <a:spLocks noChangeArrowheads="1"/>
            </p:cNvSpPr>
            <p:nvPr/>
          </p:nvSpPr>
          <p:spPr bwMode="auto">
            <a:xfrm>
              <a:off x="3735" y="2507"/>
              <a:ext cx="194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r>
                <a:rPr lang="en-US" altLang="zh-CN" sz="1800" b="0">
                  <a:latin typeface="Helvetica" charset="0"/>
                </a:rPr>
                <a:t>0</a:t>
              </a:r>
            </a:p>
          </p:txBody>
        </p:sp>
        <p:sp>
          <p:nvSpPr>
            <p:cNvPr id="105484" name="Rectangle 13"/>
            <p:cNvSpPr>
              <a:spLocks noChangeArrowheads="1"/>
            </p:cNvSpPr>
            <p:nvPr/>
          </p:nvSpPr>
          <p:spPr bwMode="auto">
            <a:xfrm>
              <a:off x="2439" y="2507"/>
              <a:ext cx="354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r>
                <a:rPr lang="en-US" altLang="zh-CN" sz="1800" b="0">
                  <a:solidFill>
                    <a:srgbClr val="00B0F0"/>
                  </a:solidFill>
                  <a:latin typeface="Helvetica" charset="0"/>
                </a:rPr>
                <a:t>p</a:t>
              </a:r>
              <a:r>
                <a:rPr lang="en-US" altLang="zh-CN" sz="1800" b="0">
                  <a:latin typeface="Helvetica" charset="0"/>
                </a:rPr>
                <a:t>–1</a:t>
              </a:r>
            </a:p>
          </p:txBody>
        </p:sp>
        <p:sp>
          <p:nvSpPr>
            <p:cNvPr id="105485" name="Oval 14"/>
            <p:cNvSpPr>
              <a:spLocks noChangeArrowheads="1"/>
            </p:cNvSpPr>
            <p:nvPr/>
          </p:nvSpPr>
          <p:spPr bwMode="auto">
            <a:xfrm>
              <a:off x="820" y="1997"/>
              <a:ext cx="1528" cy="280"/>
            </a:xfrm>
            <a:prstGeom prst="ellipse">
              <a:avLst/>
            </a:prstGeom>
            <a:solidFill>
              <a:srgbClr val="FFFF00">
                <a:alpha val="50195"/>
              </a:srgbClr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/>
              <a:r>
                <a:rPr lang="en-US" altLang="zh-CN" sz="1800" b="0">
                  <a:latin typeface="Helvetica" charset="0"/>
                </a:rPr>
                <a:t>address translation</a:t>
              </a:r>
            </a:p>
          </p:txBody>
        </p:sp>
        <p:sp>
          <p:nvSpPr>
            <p:cNvPr id="105486" name="Rectangle 15"/>
            <p:cNvSpPr>
              <a:spLocks noChangeArrowheads="1"/>
            </p:cNvSpPr>
            <p:nvPr/>
          </p:nvSpPr>
          <p:spPr bwMode="auto">
            <a:xfrm>
              <a:off x="2247" y="2507"/>
              <a:ext cx="194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r>
                <a:rPr lang="en-US" altLang="zh-CN" sz="1800" b="0">
                  <a:solidFill>
                    <a:srgbClr val="00B0F0"/>
                  </a:solidFill>
                  <a:latin typeface="Helvetica" charset="0"/>
                </a:rPr>
                <a:t>p</a:t>
              </a:r>
            </a:p>
          </p:txBody>
        </p:sp>
        <p:sp>
          <p:nvSpPr>
            <p:cNvPr id="105487" name="Rectangle 16"/>
            <p:cNvSpPr>
              <a:spLocks noChangeArrowheads="1"/>
            </p:cNvSpPr>
            <p:nvPr/>
          </p:nvSpPr>
          <p:spPr bwMode="auto">
            <a:xfrm>
              <a:off x="615" y="2507"/>
              <a:ext cx="394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r>
                <a:rPr lang="en-US" altLang="zh-CN" sz="1800" b="0">
                  <a:solidFill>
                    <a:srgbClr val="9900CC"/>
                  </a:solidFill>
                  <a:latin typeface="Helvetica" charset="0"/>
                </a:rPr>
                <a:t>m</a:t>
              </a:r>
              <a:r>
                <a:rPr lang="en-US" altLang="zh-CN" sz="1800" b="0">
                  <a:latin typeface="Helvetica" charset="0"/>
                </a:rPr>
                <a:t>–1</a:t>
              </a:r>
            </a:p>
          </p:txBody>
        </p:sp>
        <p:sp>
          <p:nvSpPr>
            <p:cNvPr id="105488" name="Rectangle 17"/>
            <p:cNvSpPr>
              <a:spLocks noChangeArrowheads="1"/>
            </p:cNvSpPr>
            <p:nvPr/>
          </p:nvSpPr>
          <p:spPr bwMode="auto">
            <a:xfrm>
              <a:off x="423" y="1115"/>
              <a:ext cx="354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r>
                <a:rPr lang="en-US" altLang="zh-CN" sz="1800" b="0">
                  <a:solidFill>
                    <a:srgbClr val="FF0000"/>
                  </a:solidFill>
                  <a:latin typeface="Helvetica" charset="0"/>
                </a:rPr>
                <a:t>n</a:t>
              </a:r>
              <a:r>
                <a:rPr lang="en-US" altLang="zh-CN" sz="1800" b="0">
                  <a:latin typeface="Helvetica" charset="0"/>
                </a:rPr>
                <a:t>–1</a:t>
              </a:r>
            </a:p>
          </p:txBody>
        </p:sp>
        <p:sp>
          <p:nvSpPr>
            <p:cNvPr id="105489" name="Rectangle 18"/>
            <p:cNvSpPr>
              <a:spLocks noChangeArrowheads="1"/>
            </p:cNvSpPr>
            <p:nvPr/>
          </p:nvSpPr>
          <p:spPr bwMode="auto">
            <a:xfrm>
              <a:off x="3645" y="1115"/>
              <a:ext cx="194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r>
                <a:rPr lang="en-US" altLang="zh-CN" sz="1800" b="0">
                  <a:latin typeface="Helvetica" charset="0"/>
                </a:rPr>
                <a:t>0</a:t>
              </a:r>
            </a:p>
          </p:txBody>
        </p:sp>
        <p:sp>
          <p:nvSpPr>
            <p:cNvPr id="105490" name="Rectangle 19"/>
            <p:cNvSpPr>
              <a:spLocks noChangeArrowheads="1"/>
            </p:cNvSpPr>
            <p:nvPr/>
          </p:nvSpPr>
          <p:spPr bwMode="auto">
            <a:xfrm>
              <a:off x="2397" y="1115"/>
              <a:ext cx="354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r>
                <a:rPr lang="en-US" altLang="zh-CN" sz="1800" b="0">
                  <a:solidFill>
                    <a:srgbClr val="00B0F0"/>
                  </a:solidFill>
                  <a:latin typeface="Helvetica" charset="0"/>
                </a:rPr>
                <a:t>p</a:t>
              </a:r>
              <a:r>
                <a:rPr lang="en-US" altLang="zh-CN" sz="1800" b="0">
                  <a:latin typeface="Helvetica" charset="0"/>
                </a:rPr>
                <a:t>–1</a:t>
              </a:r>
            </a:p>
          </p:txBody>
        </p:sp>
        <p:sp>
          <p:nvSpPr>
            <p:cNvPr id="105491" name="Rectangle 20"/>
            <p:cNvSpPr>
              <a:spLocks noChangeArrowheads="1"/>
            </p:cNvSpPr>
            <p:nvPr/>
          </p:nvSpPr>
          <p:spPr bwMode="auto">
            <a:xfrm>
              <a:off x="2199" y="1115"/>
              <a:ext cx="194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r>
                <a:rPr lang="en-US" altLang="zh-CN" sz="1800" b="0">
                  <a:solidFill>
                    <a:srgbClr val="00B0F0"/>
                  </a:solidFill>
                  <a:latin typeface="Helvetica" charset="0"/>
                </a:rPr>
                <a:t>p</a:t>
              </a:r>
            </a:p>
          </p:txBody>
        </p:sp>
        <p:sp>
          <p:nvSpPr>
            <p:cNvPr id="105492" name="Line 21"/>
            <p:cNvSpPr>
              <a:spLocks noChangeShapeType="1"/>
            </p:cNvSpPr>
            <p:nvPr/>
          </p:nvSpPr>
          <p:spPr bwMode="auto">
            <a:xfrm>
              <a:off x="1584" y="1565"/>
              <a:ext cx="0" cy="4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493" name="Line 22"/>
            <p:cNvSpPr>
              <a:spLocks noChangeShapeType="1"/>
            </p:cNvSpPr>
            <p:nvPr/>
          </p:nvSpPr>
          <p:spPr bwMode="auto">
            <a:xfrm>
              <a:off x="1584" y="2277"/>
              <a:ext cx="0" cy="4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494" name="Rectangle 23"/>
            <p:cNvSpPr>
              <a:spLocks noChangeArrowheads="1"/>
            </p:cNvSpPr>
            <p:nvPr/>
          </p:nvSpPr>
          <p:spPr bwMode="auto">
            <a:xfrm>
              <a:off x="279" y="3179"/>
              <a:ext cx="5241" cy="1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7" tIns="44450" rIns="90487" bIns="44450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r>
                <a:rPr lang="en-US" altLang="zh-CN" sz="1800">
                  <a:latin typeface="Helvetica" charset="0"/>
                </a:rPr>
                <a:t>Notice that the page offset bits don't change as a result of translation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90448078-B1DB-9341-81B9-B46AFE67B30C}" type="slidenum">
              <a:rPr lang="zh-CN" altLang="en-US" sz="1400" b="0">
                <a:latin typeface="Times New Roman" charset="0"/>
              </a:rPr>
              <a:pPr/>
              <a:t>22</a:t>
            </a:fld>
            <a:endParaRPr lang="en-US" altLang="zh-CN" sz="1400" b="0">
              <a:latin typeface="Times New Roman" charset="0"/>
            </a:endParaRPr>
          </a:p>
        </p:txBody>
      </p:sp>
      <p:sp>
        <p:nvSpPr>
          <p:cNvPr id="107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Address Translation</a:t>
            </a:r>
          </a:p>
        </p:txBody>
      </p:sp>
      <p:sp>
        <p:nvSpPr>
          <p:cNvPr id="1075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0" lang="en-US" altLang="zh-CN">
                <a:ea typeface="宋体" charset="-122"/>
              </a:rPr>
              <a:t>Basic Parameters</a:t>
            </a:r>
          </a:p>
          <a:p>
            <a:pPr lvl="1"/>
            <a:r>
              <a:rPr kumimoji="0" lang="en-US" altLang="zh-CN" b="1">
                <a:solidFill>
                  <a:srgbClr val="FF0000"/>
                </a:solidFill>
                <a:ea typeface="宋体" charset="-122"/>
              </a:rPr>
              <a:t>N</a:t>
            </a:r>
            <a:r>
              <a:rPr kumimoji="0" lang="en-US" altLang="zh-CN">
                <a:ea typeface="宋体" charset="-122"/>
              </a:rPr>
              <a:t> = 2</a:t>
            </a:r>
            <a:r>
              <a:rPr kumimoji="0" lang="en-US" altLang="zh-CN" baseline="30000">
                <a:solidFill>
                  <a:srgbClr val="FF0000"/>
                </a:solidFill>
                <a:ea typeface="宋体" charset="-122"/>
              </a:rPr>
              <a:t>n</a:t>
            </a:r>
            <a:r>
              <a:rPr kumimoji="0" lang="en-US" altLang="zh-CN">
                <a:solidFill>
                  <a:srgbClr val="FF0000"/>
                </a:solidFill>
                <a:ea typeface="宋体" charset="-122"/>
              </a:rPr>
              <a:t> </a:t>
            </a:r>
            <a:r>
              <a:rPr kumimoji="0" lang="en-US" altLang="zh-CN">
                <a:ea typeface="宋体" charset="-122"/>
              </a:rPr>
              <a:t>= Virtual address limit</a:t>
            </a:r>
          </a:p>
          <a:p>
            <a:pPr lvl="1"/>
            <a:r>
              <a:rPr kumimoji="0" lang="en-US" altLang="zh-CN" b="1">
                <a:solidFill>
                  <a:srgbClr val="9900CC"/>
                </a:solidFill>
                <a:ea typeface="宋体" charset="-122"/>
              </a:rPr>
              <a:t>M</a:t>
            </a:r>
            <a:r>
              <a:rPr kumimoji="0" lang="en-US" altLang="zh-CN">
                <a:ea typeface="宋体" charset="-122"/>
              </a:rPr>
              <a:t> = 2</a:t>
            </a:r>
            <a:r>
              <a:rPr kumimoji="0" lang="en-US" altLang="zh-CN" baseline="30000">
                <a:solidFill>
                  <a:srgbClr val="9900CC"/>
                </a:solidFill>
                <a:ea typeface="宋体" charset="-122"/>
              </a:rPr>
              <a:t>m</a:t>
            </a:r>
            <a:r>
              <a:rPr kumimoji="0" lang="en-US" altLang="zh-CN">
                <a:ea typeface="宋体" charset="-122"/>
              </a:rPr>
              <a:t> = Physical address limit</a:t>
            </a:r>
          </a:p>
          <a:p>
            <a:pPr lvl="1"/>
            <a:r>
              <a:rPr kumimoji="0" lang="en-US" altLang="zh-CN" b="1">
                <a:solidFill>
                  <a:srgbClr val="00B0F0"/>
                </a:solidFill>
                <a:ea typeface="宋体" charset="-122"/>
              </a:rPr>
              <a:t>P</a:t>
            </a:r>
            <a:r>
              <a:rPr kumimoji="0" lang="en-US" altLang="zh-CN">
                <a:solidFill>
                  <a:srgbClr val="000000"/>
                </a:solidFill>
                <a:ea typeface="宋体" charset="-122"/>
              </a:rPr>
              <a:t> = 2</a:t>
            </a:r>
            <a:r>
              <a:rPr kumimoji="0" lang="en-US" altLang="zh-CN" baseline="30000">
                <a:solidFill>
                  <a:srgbClr val="00B0F0"/>
                </a:solidFill>
                <a:ea typeface="宋体" charset="-122"/>
              </a:rPr>
              <a:t>p</a:t>
            </a:r>
            <a:r>
              <a:rPr kumimoji="0" lang="en-US" altLang="zh-CN">
                <a:solidFill>
                  <a:srgbClr val="000000"/>
                </a:solidFill>
                <a:ea typeface="宋体" charset="-122"/>
              </a:rPr>
              <a:t> = page size (bytes).  </a:t>
            </a:r>
          </a:p>
          <a:p>
            <a:r>
              <a:rPr kumimoji="0" lang="en-US" altLang="zh-CN">
                <a:ea typeface="宋体" charset="-122"/>
              </a:rPr>
              <a:t>Components of the virtual address (VA)</a:t>
            </a:r>
          </a:p>
          <a:p>
            <a:pPr lvl="1"/>
            <a:r>
              <a:rPr kumimoji="0" lang="en-US" altLang="zh-CN" b="1">
                <a:solidFill>
                  <a:srgbClr val="00B0F0"/>
                </a:solidFill>
                <a:ea typeface="宋体" charset="-122"/>
              </a:rPr>
              <a:t>VPO</a:t>
            </a:r>
            <a:r>
              <a:rPr kumimoji="0" lang="en-US" altLang="zh-CN">
                <a:ea typeface="宋体" charset="-122"/>
              </a:rPr>
              <a:t>: Virtual page offset </a:t>
            </a:r>
          </a:p>
          <a:p>
            <a:pPr lvl="1"/>
            <a:r>
              <a:rPr kumimoji="0" lang="en-US" altLang="zh-CN" b="1">
                <a:solidFill>
                  <a:srgbClr val="FF0000"/>
                </a:solidFill>
                <a:ea typeface="宋体" charset="-122"/>
              </a:rPr>
              <a:t>VPN</a:t>
            </a:r>
            <a:r>
              <a:rPr kumimoji="0" lang="en-US" altLang="zh-CN">
                <a:ea typeface="宋体" charset="-122"/>
              </a:rPr>
              <a:t>: Virtual page number </a:t>
            </a:r>
          </a:p>
          <a:p>
            <a:r>
              <a:rPr kumimoji="0" lang="en-US" altLang="zh-CN">
                <a:ea typeface="宋体" charset="-122"/>
              </a:rPr>
              <a:t>Components of the physical address (PA)</a:t>
            </a:r>
          </a:p>
          <a:p>
            <a:pPr lvl="1"/>
            <a:r>
              <a:rPr kumimoji="0" lang="en-US" altLang="zh-CN" b="1">
                <a:solidFill>
                  <a:srgbClr val="00B0F0"/>
                </a:solidFill>
                <a:ea typeface="宋体" charset="-122"/>
              </a:rPr>
              <a:t>PPO</a:t>
            </a:r>
            <a:r>
              <a:rPr kumimoji="0" lang="en-US" altLang="zh-CN">
                <a:ea typeface="宋体" charset="-122"/>
              </a:rPr>
              <a:t>: Physical page offset (same as VPO)</a:t>
            </a:r>
          </a:p>
          <a:p>
            <a:pPr lvl="1"/>
            <a:r>
              <a:rPr kumimoji="0" lang="en-US" altLang="zh-CN" b="1">
                <a:solidFill>
                  <a:srgbClr val="9900CC"/>
                </a:solidFill>
                <a:ea typeface="宋体" charset="-122"/>
              </a:rPr>
              <a:t>PPN</a:t>
            </a:r>
            <a:r>
              <a:rPr kumimoji="0" lang="en-US" altLang="zh-CN" b="1">
                <a:ea typeface="宋体" charset="-122"/>
              </a:rPr>
              <a:t>:</a:t>
            </a:r>
            <a:r>
              <a:rPr kumimoji="0" lang="en-US" altLang="zh-CN">
                <a:ea typeface="宋体" charset="-122"/>
              </a:rPr>
              <a:t> Physical page number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69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B2325D63-EBA1-084E-A8A0-DCBCE27EAEB7}" type="slidenum">
              <a:rPr lang="zh-CN" altLang="en-US" sz="1400" b="0">
                <a:latin typeface="Times New Roman" charset="0"/>
              </a:rPr>
              <a:pPr/>
              <a:t>23</a:t>
            </a:fld>
            <a:endParaRPr lang="en-US" altLang="zh-CN" sz="1400" b="0">
              <a:latin typeface="Times New Roman" charset="0"/>
            </a:endParaRPr>
          </a:p>
        </p:txBody>
      </p:sp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Address Translation via Page Table</a:t>
            </a:r>
          </a:p>
        </p:txBody>
      </p:sp>
      <p:grpSp>
        <p:nvGrpSpPr>
          <p:cNvPr id="109571" name="Group 66"/>
          <p:cNvGrpSpPr>
            <a:grpSpLocks/>
          </p:cNvGrpSpPr>
          <p:nvPr/>
        </p:nvGrpSpPr>
        <p:grpSpPr bwMode="auto">
          <a:xfrm>
            <a:off x="228600" y="1524000"/>
            <a:ext cx="8447088" cy="4843463"/>
            <a:chOff x="144" y="667"/>
            <a:chExt cx="5321" cy="3468"/>
          </a:xfrm>
        </p:grpSpPr>
        <p:sp>
          <p:nvSpPr>
            <p:cNvPr id="109572" name="Rectangle 23"/>
            <p:cNvSpPr>
              <a:spLocks noChangeArrowheads="1"/>
            </p:cNvSpPr>
            <p:nvPr/>
          </p:nvSpPr>
          <p:spPr bwMode="auto">
            <a:xfrm>
              <a:off x="2020" y="1252"/>
              <a:ext cx="2008" cy="232"/>
            </a:xfrm>
            <a:prstGeom prst="rect">
              <a:avLst/>
            </a:prstGeom>
            <a:solidFill>
              <a:srgbClr val="FF99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/>
              <a:r>
                <a:rPr lang="en-US" altLang="zh-CN" sz="1800" b="0">
                  <a:latin typeface="Helvetica" charset="0"/>
                </a:rPr>
                <a:t>virtual page number (VPN)</a:t>
              </a:r>
            </a:p>
          </p:txBody>
        </p:sp>
        <p:sp>
          <p:nvSpPr>
            <p:cNvPr id="109573" name="Rectangle 24"/>
            <p:cNvSpPr>
              <a:spLocks noChangeArrowheads="1"/>
            </p:cNvSpPr>
            <p:nvPr/>
          </p:nvSpPr>
          <p:spPr bwMode="auto">
            <a:xfrm>
              <a:off x="4036" y="1252"/>
              <a:ext cx="1384" cy="232"/>
            </a:xfrm>
            <a:prstGeom prst="rect">
              <a:avLst/>
            </a:prstGeom>
            <a:solidFill>
              <a:srgbClr val="66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/>
              <a:r>
                <a:rPr lang="en-US" altLang="zh-CN" sz="1800" b="0">
                  <a:latin typeface="Helvetica" charset="0"/>
                </a:rPr>
                <a:t>page offset</a:t>
              </a:r>
            </a:p>
          </p:txBody>
        </p:sp>
        <p:sp>
          <p:nvSpPr>
            <p:cNvPr id="109574" name="Rectangle 25"/>
            <p:cNvSpPr>
              <a:spLocks noChangeArrowheads="1"/>
            </p:cNvSpPr>
            <p:nvPr/>
          </p:nvSpPr>
          <p:spPr bwMode="auto">
            <a:xfrm>
              <a:off x="2983" y="802"/>
              <a:ext cx="1136" cy="2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r>
                <a:rPr lang="en-US" altLang="zh-CN" sz="1800">
                  <a:latin typeface="Helvetica" charset="0"/>
                </a:rPr>
                <a:t>virtual address</a:t>
              </a:r>
            </a:p>
          </p:txBody>
        </p:sp>
        <p:sp>
          <p:nvSpPr>
            <p:cNvPr id="109575" name="Rectangle 26"/>
            <p:cNvSpPr>
              <a:spLocks noChangeArrowheads="1"/>
            </p:cNvSpPr>
            <p:nvPr/>
          </p:nvSpPr>
          <p:spPr bwMode="auto">
            <a:xfrm>
              <a:off x="2020" y="3460"/>
              <a:ext cx="1960" cy="232"/>
            </a:xfrm>
            <a:prstGeom prst="rect">
              <a:avLst/>
            </a:prstGeom>
            <a:solidFill>
              <a:srgbClr val="CC99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/>
              <a:r>
                <a:rPr lang="en-US" altLang="zh-CN" sz="1800" b="0">
                  <a:latin typeface="Helvetica" charset="0"/>
                </a:rPr>
                <a:t>physical page number (PPN)</a:t>
              </a:r>
            </a:p>
          </p:txBody>
        </p:sp>
        <p:sp>
          <p:nvSpPr>
            <p:cNvPr id="109576" name="Rectangle 27"/>
            <p:cNvSpPr>
              <a:spLocks noChangeArrowheads="1"/>
            </p:cNvSpPr>
            <p:nvPr/>
          </p:nvSpPr>
          <p:spPr bwMode="auto">
            <a:xfrm>
              <a:off x="3988" y="3460"/>
              <a:ext cx="1384" cy="232"/>
            </a:xfrm>
            <a:prstGeom prst="rect">
              <a:avLst/>
            </a:prstGeom>
            <a:solidFill>
              <a:srgbClr val="66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/>
              <a:r>
                <a:rPr lang="en-US" altLang="zh-CN" sz="1800" b="0">
                  <a:latin typeface="Helvetica" charset="0"/>
                </a:rPr>
                <a:t>page offset</a:t>
              </a:r>
            </a:p>
          </p:txBody>
        </p:sp>
        <p:sp>
          <p:nvSpPr>
            <p:cNvPr id="109577" name="Rectangle 28"/>
            <p:cNvSpPr>
              <a:spLocks noChangeArrowheads="1"/>
            </p:cNvSpPr>
            <p:nvPr/>
          </p:nvSpPr>
          <p:spPr bwMode="auto">
            <a:xfrm>
              <a:off x="2887" y="3875"/>
              <a:ext cx="1282" cy="2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r>
                <a:rPr lang="en-US" altLang="zh-CN" sz="1800">
                  <a:latin typeface="Helvetica" charset="0"/>
                </a:rPr>
                <a:t>physical address</a:t>
              </a:r>
            </a:p>
          </p:txBody>
        </p:sp>
        <p:sp>
          <p:nvSpPr>
            <p:cNvPr id="109578" name="Line 29"/>
            <p:cNvSpPr>
              <a:spLocks noChangeShapeType="1"/>
            </p:cNvSpPr>
            <p:nvPr/>
          </p:nvSpPr>
          <p:spPr bwMode="auto">
            <a:xfrm>
              <a:off x="4800" y="1492"/>
              <a:ext cx="0" cy="19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579" name="Rectangle 30"/>
            <p:cNvSpPr>
              <a:spLocks noChangeArrowheads="1"/>
            </p:cNvSpPr>
            <p:nvPr/>
          </p:nvSpPr>
          <p:spPr bwMode="auto">
            <a:xfrm>
              <a:off x="5271" y="3251"/>
              <a:ext cx="194" cy="2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r>
                <a:rPr lang="en-US" altLang="zh-CN" sz="1800" b="0">
                  <a:latin typeface="Helvetica" charset="0"/>
                </a:rPr>
                <a:t>0</a:t>
              </a:r>
            </a:p>
          </p:txBody>
        </p:sp>
        <p:sp>
          <p:nvSpPr>
            <p:cNvPr id="109580" name="Rectangle 31"/>
            <p:cNvSpPr>
              <a:spLocks noChangeArrowheads="1"/>
            </p:cNvSpPr>
            <p:nvPr/>
          </p:nvSpPr>
          <p:spPr bwMode="auto">
            <a:xfrm>
              <a:off x="3975" y="3251"/>
              <a:ext cx="354" cy="2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r>
                <a:rPr lang="en-US" altLang="zh-CN" sz="1800" b="0">
                  <a:latin typeface="Helvetica" charset="0"/>
                </a:rPr>
                <a:t>p–1</a:t>
              </a:r>
            </a:p>
          </p:txBody>
        </p:sp>
        <p:sp>
          <p:nvSpPr>
            <p:cNvPr id="109581" name="Rectangle 32"/>
            <p:cNvSpPr>
              <a:spLocks noChangeArrowheads="1"/>
            </p:cNvSpPr>
            <p:nvPr/>
          </p:nvSpPr>
          <p:spPr bwMode="auto">
            <a:xfrm>
              <a:off x="3783" y="3251"/>
              <a:ext cx="194" cy="2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r>
                <a:rPr lang="en-US" altLang="zh-CN" sz="1800" b="0">
                  <a:latin typeface="Helvetica" charset="0"/>
                </a:rPr>
                <a:t>p</a:t>
              </a:r>
            </a:p>
          </p:txBody>
        </p:sp>
        <p:sp>
          <p:nvSpPr>
            <p:cNvPr id="109582" name="Rectangle 33"/>
            <p:cNvSpPr>
              <a:spLocks noChangeArrowheads="1"/>
            </p:cNvSpPr>
            <p:nvPr/>
          </p:nvSpPr>
          <p:spPr bwMode="auto">
            <a:xfrm>
              <a:off x="2151" y="3251"/>
              <a:ext cx="394" cy="2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r>
                <a:rPr lang="en-US" altLang="zh-CN" sz="1800" b="0">
                  <a:latin typeface="Helvetica" charset="0"/>
                </a:rPr>
                <a:t>m–1</a:t>
              </a:r>
            </a:p>
          </p:txBody>
        </p:sp>
        <p:sp>
          <p:nvSpPr>
            <p:cNvPr id="109583" name="Rectangle 34"/>
            <p:cNvSpPr>
              <a:spLocks noChangeArrowheads="1"/>
            </p:cNvSpPr>
            <p:nvPr/>
          </p:nvSpPr>
          <p:spPr bwMode="auto">
            <a:xfrm>
              <a:off x="2007" y="1042"/>
              <a:ext cx="354" cy="2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r>
                <a:rPr lang="en-US" altLang="zh-CN" sz="1800" b="0">
                  <a:latin typeface="Helvetica" charset="0"/>
                </a:rPr>
                <a:t>n–1</a:t>
              </a:r>
            </a:p>
          </p:txBody>
        </p:sp>
        <p:sp>
          <p:nvSpPr>
            <p:cNvPr id="109584" name="Rectangle 35"/>
            <p:cNvSpPr>
              <a:spLocks noChangeArrowheads="1"/>
            </p:cNvSpPr>
            <p:nvPr/>
          </p:nvSpPr>
          <p:spPr bwMode="auto">
            <a:xfrm>
              <a:off x="5229" y="1042"/>
              <a:ext cx="194" cy="2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r>
                <a:rPr lang="en-US" altLang="zh-CN" sz="1800" b="0">
                  <a:latin typeface="Helvetica" charset="0"/>
                </a:rPr>
                <a:t>0</a:t>
              </a:r>
            </a:p>
          </p:txBody>
        </p:sp>
        <p:sp>
          <p:nvSpPr>
            <p:cNvPr id="109585" name="Rectangle 36"/>
            <p:cNvSpPr>
              <a:spLocks noChangeArrowheads="1"/>
            </p:cNvSpPr>
            <p:nvPr/>
          </p:nvSpPr>
          <p:spPr bwMode="auto">
            <a:xfrm>
              <a:off x="3981" y="1042"/>
              <a:ext cx="354" cy="2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r>
                <a:rPr lang="en-US" altLang="zh-CN" sz="1800" b="0">
                  <a:latin typeface="Helvetica" charset="0"/>
                </a:rPr>
                <a:t>p–1</a:t>
              </a:r>
            </a:p>
          </p:txBody>
        </p:sp>
        <p:sp>
          <p:nvSpPr>
            <p:cNvPr id="109586" name="Rectangle 37"/>
            <p:cNvSpPr>
              <a:spLocks noChangeArrowheads="1"/>
            </p:cNvSpPr>
            <p:nvPr/>
          </p:nvSpPr>
          <p:spPr bwMode="auto">
            <a:xfrm>
              <a:off x="3783" y="1042"/>
              <a:ext cx="194" cy="2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r>
                <a:rPr lang="en-US" altLang="zh-CN" sz="1800" b="0">
                  <a:latin typeface="Helvetica" charset="0"/>
                </a:rPr>
                <a:t>p</a:t>
              </a:r>
            </a:p>
          </p:txBody>
        </p:sp>
        <p:sp>
          <p:nvSpPr>
            <p:cNvPr id="9236" name="Rectangle 38"/>
            <p:cNvSpPr>
              <a:spLocks noChangeArrowheads="1"/>
            </p:cNvSpPr>
            <p:nvPr/>
          </p:nvSpPr>
          <p:spPr bwMode="auto">
            <a:xfrm>
              <a:off x="144" y="667"/>
              <a:ext cx="1666" cy="466"/>
            </a:xfrm>
            <a:prstGeom prst="rect">
              <a:avLst/>
            </a:prstGeom>
            <a:solidFill>
              <a:srgbClr val="FFFF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90487" tIns="44450" rIns="90487" bIns="44450" anchor="ctr">
              <a:spAutoFit/>
            </a:bodyPr>
            <a:lstStyle/>
            <a:p>
              <a:pPr algn="ctr">
                <a:defRPr/>
              </a:pPr>
              <a:r>
                <a:rPr lang="en-US" altLang="zh-CN" sz="1800" b="0" dirty="0">
                  <a:latin typeface="Helvetica" pitchFamily="34" charset="0"/>
                  <a:ea typeface="宋体" panose="02010600030101010101" pitchFamily="2" charset="-122"/>
                </a:rPr>
                <a:t>page table base register</a:t>
              </a:r>
            </a:p>
            <a:p>
              <a:pPr algn="ctr">
                <a:defRPr/>
              </a:pPr>
              <a:r>
                <a:rPr lang="en-US" altLang="zh-CN" sz="1800" b="0" dirty="0">
                  <a:latin typeface="Helvetica" pitchFamily="34" charset="0"/>
                  <a:ea typeface="宋体" panose="02010600030101010101" pitchFamily="2" charset="-122"/>
                </a:rPr>
                <a:t>(</a:t>
              </a:r>
              <a:r>
                <a:rPr lang="en-US" altLang="zh-CN" sz="1800" b="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elvetica" pitchFamily="34" charset="0"/>
                  <a:ea typeface="宋体" panose="02010600030101010101" pitchFamily="2" charset="-122"/>
                </a:rPr>
                <a:t>PTBR</a:t>
              </a:r>
              <a:r>
                <a:rPr lang="en-US" altLang="zh-CN" sz="1800" b="0" dirty="0">
                  <a:latin typeface="Helvetica" pitchFamily="34" charset="0"/>
                  <a:ea typeface="宋体" panose="02010600030101010101" pitchFamily="2" charset="-122"/>
                </a:rPr>
                <a:t>)</a:t>
              </a:r>
            </a:p>
          </p:txBody>
        </p:sp>
        <p:sp>
          <p:nvSpPr>
            <p:cNvPr id="109588" name="Rectangle 39"/>
            <p:cNvSpPr>
              <a:spLocks noChangeArrowheads="1"/>
            </p:cNvSpPr>
            <p:nvPr/>
          </p:nvSpPr>
          <p:spPr bwMode="auto">
            <a:xfrm>
              <a:off x="2788" y="1924"/>
              <a:ext cx="1768" cy="1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9589" name="Rectangle 40"/>
            <p:cNvSpPr>
              <a:spLocks noChangeArrowheads="1"/>
            </p:cNvSpPr>
            <p:nvPr/>
          </p:nvSpPr>
          <p:spPr bwMode="auto">
            <a:xfrm>
              <a:off x="2788" y="2068"/>
              <a:ext cx="1768" cy="136"/>
            </a:xfrm>
            <a:prstGeom prst="rect">
              <a:avLst/>
            </a:prstGeom>
            <a:solidFill>
              <a:srgbClr val="FFFF00">
                <a:alpha val="50195"/>
              </a:srgb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9590" name="Rectangle 41"/>
            <p:cNvSpPr>
              <a:spLocks noChangeArrowheads="1"/>
            </p:cNvSpPr>
            <p:nvPr/>
          </p:nvSpPr>
          <p:spPr bwMode="auto">
            <a:xfrm>
              <a:off x="2788" y="2212"/>
              <a:ext cx="1768" cy="1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9591" name="Rectangle 42"/>
            <p:cNvSpPr>
              <a:spLocks noChangeArrowheads="1"/>
            </p:cNvSpPr>
            <p:nvPr/>
          </p:nvSpPr>
          <p:spPr bwMode="auto">
            <a:xfrm>
              <a:off x="2788" y="2356"/>
              <a:ext cx="1768" cy="1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9592" name="Oval 43"/>
            <p:cNvSpPr>
              <a:spLocks noChangeArrowheads="1"/>
            </p:cNvSpPr>
            <p:nvPr/>
          </p:nvSpPr>
          <p:spPr bwMode="auto">
            <a:xfrm>
              <a:off x="3220" y="2116"/>
              <a:ext cx="40" cy="40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9593" name="Line 44"/>
            <p:cNvSpPr>
              <a:spLocks noChangeShapeType="1"/>
            </p:cNvSpPr>
            <p:nvPr/>
          </p:nvSpPr>
          <p:spPr bwMode="auto">
            <a:xfrm>
              <a:off x="3240" y="2156"/>
              <a:ext cx="0" cy="12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594" name="Line 45"/>
            <p:cNvSpPr>
              <a:spLocks noChangeShapeType="1"/>
            </p:cNvSpPr>
            <p:nvPr/>
          </p:nvSpPr>
          <p:spPr bwMode="auto">
            <a:xfrm flipH="1">
              <a:off x="1728" y="3072"/>
              <a:ext cx="43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44" name="Rectangle 46"/>
            <p:cNvSpPr>
              <a:spLocks noChangeArrowheads="1"/>
            </p:cNvSpPr>
            <p:nvPr/>
          </p:nvSpPr>
          <p:spPr bwMode="auto">
            <a:xfrm>
              <a:off x="816" y="2880"/>
              <a:ext cx="1036" cy="6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/>
            <a:p>
              <a:pPr>
                <a:defRPr/>
              </a:pPr>
              <a:r>
                <a:rPr lang="en-US" altLang="zh-CN" sz="1800" b="0" dirty="0">
                  <a:latin typeface="Helvetica" pitchFamily="34" charset="0"/>
                  <a:ea typeface="宋体" panose="02010600030101010101" pitchFamily="2" charset="-122"/>
                </a:rPr>
                <a:t>if </a:t>
              </a:r>
              <a:r>
                <a:rPr lang="en-US" altLang="zh-CN" sz="1800" b="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elvetica" pitchFamily="34" charset="0"/>
                  <a:ea typeface="宋体" panose="02010600030101010101" pitchFamily="2" charset="-122"/>
                </a:rPr>
                <a:t>valid</a:t>
              </a:r>
              <a:r>
                <a:rPr lang="en-US" altLang="zh-CN" sz="1800" b="0" dirty="0">
                  <a:latin typeface="Helvetica" pitchFamily="34" charset="0"/>
                  <a:ea typeface="宋体" panose="02010600030101010101" pitchFamily="2" charset="-122"/>
                </a:rPr>
                <a:t>=0</a:t>
              </a:r>
            </a:p>
            <a:p>
              <a:pPr>
                <a:defRPr/>
              </a:pPr>
              <a:r>
                <a:rPr lang="en-US" altLang="zh-CN" sz="1800" b="0" dirty="0">
                  <a:latin typeface="Helvetica" pitchFamily="34" charset="0"/>
                  <a:ea typeface="宋体" panose="02010600030101010101" pitchFamily="2" charset="-122"/>
                </a:rPr>
                <a:t>then page</a:t>
              </a:r>
            </a:p>
            <a:p>
              <a:pPr>
                <a:defRPr/>
              </a:pPr>
              <a:r>
                <a:rPr lang="en-US" altLang="zh-CN" sz="1800" b="0" dirty="0">
                  <a:latin typeface="Helvetica" pitchFamily="34" charset="0"/>
                  <a:ea typeface="宋体" panose="02010600030101010101" pitchFamily="2" charset="-122"/>
                </a:rPr>
                <a:t>not in memory</a:t>
              </a:r>
            </a:p>
          </p:txBody>
        </p:sp>
        <p:sp>
          <p:nvSpPr>
            <p:cNvPr id="9245" name="Rectangle 47"/>
            <p:cNvSpPr>
              <a:spLocks noChangeArrowheads="1"/>
            </p:cNvSpPr>
            <p:nvPr/>
          </p:nvSpPr>
          <p:spPr bwMode="auto">
            <a:xfrm>
              <a:off x="1917" y="1693"/>
              <a:ext cx="414" cy="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r>
                <a:rPr lang="en-US" altLang="zh-CN" sz="1800" b="0">
                  <a:effectLst>
                    <a:outerShdw blurRad="38100" dist="38100" dir="2700000" algn="tl">
                      <a:srgbClr val="C0C0C0"/>
                    </a:outerShdw>
                  </a:effectLst>
                  <a:latin typeface="Helvetica" charset="0"/>
                </a:rPr>
                <a:t>valid</a:t>
              </a:r>
            </a:p>
          </p:txBody>
        </p:sp>
        <p:sp>
          <p:nvSpPr>
            <p:cNvPr id="109597" name="Rectangle 48"/>
            <p:cNvSpPr>
              <a:spLocks noChangeArrowheads="1"/>
            </p:cNvSpPr>
            <p:nvPr/>
          </p:nvSpPr>
          <p:spPr bwMode="auto">
            <a:xfrm>
              <a:off x="2832" y="1680"/>
              <a:ext cx="1973" cy="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r>
                <a:rPr lang="en-US" altLang="zh-CN" sz="1800" b="0">
                  <a:latin typeface="Helvetica" charset="0"/>
                </a:rPr>
                <a:t>physical page number (</a:t>
              </a:r>
              <a:r>
                <a:rPr lang="en-US" altLang="zh-CN" sz="1800" b="0">
                  <a:solidFill>
                    <a:srgbClr val="7030A0"/>
                  </a:solidFill>
                  <a:latin typeface="Helvetica" charset="0"/>
                </a:rPr>
                <a:t>PPN</a:t>
              </a:r>
              <a:r>
                <a:rPr lang="en-US" altLang="zh-CN" sz="1800" b="0">
                  <a:latin typeface="Helvetica" charset="0"/>
                </a:rPr>
                <a:t>)</a:t>
              </a:r>
            </a:p>
          </p:txBody>
        </p:sp>
        <p:sp>
          <p:nvSpPr>
            <p:cNvPr id="109598" name="Line 49"/>
            <p:cNvSpPr>
              <a:spLocks noChangeShapeType="1"/>
            </p:cNvSpPr>
            <p:nvPr/>
          </p:nvSpPr>
          <p:spPr bwMode="auto">
            <a:xfrm>
              <a:off x="960" y="1104"/>
              <a:ext cx="0" cy="13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599" name="Line 50"/>
            <p:cNvSpPr>
              <a:spLocks noChangeShapeType="1"/>
            </p:cNvSpPr>
            <p:nvPr/>
          </p:nvSpPr>
          <p:spPr bwMode="auto">
            <a:xfrm>
              <a:off x="960" y="2496"/>
              <a:ext cx="90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600" name="Rectangle 51"/>
            <p:cNvSpPr>
              <a:spLocks noChangeArrowheads="1"/>
            </p:cNvSpPr>
            <p:nvPr/>
          </p:nvSpPr>
          <p:spPr bwMode="auto">
            <a:xfrm>
              <a:off x="1924" y="1924"/>
              <a:ext cx="424" cy="1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9601" name="Rectangle 52"/>
            <p:cNvSpPr>
              <a:spLocks noChangeArrowheads="1"/>
            </p:cNvSpPr>
            <p:nvPr/>
          </p:nvSpPr>
          <p:spPr bwMode="auto">
            <a:xfrm>
              <a:off x="1924" y="2068"/>
              <a:ext cx="424" cy="136"/>
            </a:xfrm>
            <a:prstGeom prst="rect">
              <a:avLst/>
            </a:prstGeom>
            <a:solidFill>
              <a:srgbClr val="FFFF00">
                <a:alpha val="50195"/>
              </a:srgb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9602" name="Rectangle 53"/>
            <p:cNvSpPr>
              <a:spLocks noChangeArrowheads="1"/>
            </p:cNvSpPr>
            <p:nvPr/>
          </p:nvSpPr>
          <p:spPr bwMode="auto">
            <a:xfrm>
              <a:off x="1924" y="2212"/>
              <a:ext cx="424" cy="1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9603" name="Rectangle 54"/>
            <p:cNvSpPr>
              <a:spLocks noChangeArrowheads="1"/>
            </p:cNvSpPr>
            <p:nvPr/>
          </p:nvSpPr>
          <p:spPr bwMode="auto">
            <a:xfrm>
              <a:off x="1924" y="2356"/>
              <a:ext cx="424" cy="1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9604" name="Rectangle 55"/>
            <p:cNvSpPr>
              <a:spLocks noChangeArrowheads="1"/>
            </p:cNvSpPr>
            <p:nvPr/>
          </p:nvSpPr>
          <p:spPr bwMode="auto">
            <a:xfrm>
              <a:off x="2356" y="1924"/>
              <a:ext cx="424" cy="1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9605" name="Rectangle 56"/>
            <p:cNvSpPr>
              <a:spLocks noChangeArrowheads="1"/>
            </p:cNvSpPr>
            <p:nvPr/>
          </p:nvSpPr>
          <p:spPr bwMode="auto">
            <a:xfrm>
              <a:off x="2356" y="2068"/>
              <a:ext cx="424" cy="136"/>
            </a:xfrm>
            <a:prstGeom prst="rect">
              <a:avLst/>
            </a:prstGeom>
            <a:solidFill>
              <a:srgbClr val="FFFF00">
                <a:alpha val="50195"/>
              </a:srgb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9606" name="Rectangle 57"/>
            <p:cNvSpPr>
              <a:spLocks noChangeArrowheads="1"/>
            </p:cNvSpPr>
            <p:nvPr/>
          </p:nvSpPr>
          <p:spPr bwMode="auto">
            <a:xfrm>
              <a:off x="2356" y="2212"/>
              <a:ext cx="424" cy="1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9607" name="Rectangle 58"/>
            <p:cNvSpPr>
              <a:spLocks noChangeArrowheads="1"/>
            </p:cNvSpPr>
            <p:nvPr/>
          </p:nvSpPr>
          <p:spPr bwMode="auto">
            <a:xfrm>
              <a:off x="2356" y="2356"/>
              <a:ext cx="424" cy="1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9608" name="Line 59"/>
            <p:cNvSpPr>
              <a:spLocks noChangeShapeType="1"/>
            </p:cNvSpPr>
            <p:nvPr/>
          </p:nvSpPr>
          <p:spPr bwMode="auto">
            <a:xfrm>
              <a:off x="2160" y="2174"/>
              <a:ext cx="0" cy="89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609" name="Oval 60"/>
            <p:cNvSpPr>
              <a:spLocks noChangeArrowheads="1"/>
            </p:cNvSpPr>
            <p:nvPr/>
          </p:nvSpPr>
          <p:spPr bwMode="auto">
            <a:xfrm>
              <a:off x="2134" y="2116"/>
              <a:ext cx="40" cy="40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259" name="Rectangle 61"/>
            <p:cNvSpPr>
              <a:spLocks noChangeArrowheads="1"/>
            </p:cNvSpPr>
            <p:nvPr/>
          </p:nvSpPr>
          <p:spPr bwMode="auto">
            <a:xfrm>
              <a:off x="2304" y="1682"/>
              <a:ext cx="567" cy="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r>
                <a:rPr lang="en-US" altLang="zh-CN" sz="1800" b="0">
                  <a:effectLst>
                    <a:outerShdw blurRad="38100" dist="38100" dir="2700000" algn="tl">
                      <a:srgbClr val="C0C0C0"/>
                    </a:outerShdw>
                  </a:effectLst>
                  <a:latin typeface="Helvetica" charset="0"/>
                </a:rPr>
                <a:t>access</a:t>
              </a:r>
            </a:p>
          </p:txBody>
        </p:sp>
        <p:sp>
          <p:nvSpPr>
            <p:cNvPr id="109611" name="Text Box 62"/>
            <p:cNvSpPr txBox="1">
              <a:spLocks noChangeArrowheads="1"/>
            </p:cNvSpPr>
            <p:nvPr/>
          </p:nvSpPr>
          <p:spPr bwMode="auto">
            <a:xfrm>
              <a:off x="960" y="1248"/>
              <a:ext cx="912" cy="4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r>
                <a:rPr lang="en-US" altLang="zh-CN" sz="1800" b="0">
                  <a:solidFill>
                    <a:srgbClr val="FF0000"/>
                  </a:solidFill>
                  <a:latin typeface="Helvetica" charset="0"/>
                </a:rPr>
                <a:t>VPN</a:t>
              </a:r>
              <a:r>
                <a:rPr lang="en-US" altLang="zh-CN" sz="1800" b="0">
                  <a:latin typeface="Helvetica" charset="0"/>
                </a:rPr>
                <a:t> acts as</a:t>
              </a:r>
            </a:p>
            <a:p>
              <a:r>
                <a:rPr lang="en-US" altLang="zh-CN" sz="1800" b="0">
                  <a:latin typeface="Helvetica" charset="0"/>
                </a:rPr>
                <a:t>table index</a:t>
              </a:r>
            </a:p>
          </p:txBody>
        </p:sp>
        <p:sp>
          <p:nvSpPr>
            <p:cNvPr id="109612" name="Line 63"/>
            <p:cNvSpPr>
              <a:spLocks noChangeShapeType="1"/>
            </p:cNvSpPr>
            <p:nvPr/>
          </p:nvSpPr>
          <p:spPr bwMode="auto">
            <a:xfrm flipH="1">
              <a:off x="1345" y="1488"/>
              <a:ext cx="1016" cy="43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487" tIns="44450" rIns="90487" bIns="44450" anchor="ctr"/>
            <a:lstStyle/>
            <a:p>
              <a:endParaRPr lang="zh-CN" altLang="en-US"/>
            </a:p>
          </p:txBody>
        </p:sp>
        <p:sp>
          <p:nvSpPr>
            <p:cNvPr id="109613" name="Line 64"/>
            <p:cNvSpPr>
              <a:spLocks noChangeShapeType="1"/>
            </p:cNvSpPr>
            <p:nvPr/>
          </p:nvSpPr>
          <p:spPr bwMode="auto">
            <a:xfrm>
              <a:off x="1345" y="1911"/>
              <a:ext cx="0" cy="26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487" tIns="44450" rIns="90487" bIns="44450" anchor="ctr"/>
            <a:lstStyle/>
            <a:p>
              <a:endParaRPr lang="zh-CN" altLang="en-US"/>
            </a:p>
          </p:txBody>
        </p:sp>
        <p:sp>
          <p:nvSpPr>
            <p:cNvPr id="109614" name="Line 65"/>
            <p:cNvSpPr>
              <a:spLocks noChangeShapeType="1"/>
            </p:cNvSpPr>
            <p:nvPr/>
          </p:nvSpPr>
          <p:spPr bwMode="auto">
            <a:xfrm flipV="1">
              <a:off x="1345" y="2174"/>
              <a:ext cx="572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487" tIns="44450" rIns="90487" bIns="44450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7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2B6A051C-8BF2-7149-B351-84942997B361}" type="slidenum">
              <a:rPr lang="zh-CN" altLang="en-US" sz="1400" b="0">
                <a:latin typeface="Times New Roman" charset="0"/>
              </a:rPr>
              <a:pPr/>
              <a:t>24</a:t>
            </a:fld>
            <a:endParaRPr lang="en-US" altLang="zh-CN" sz="1400" b="0">
              <a:latin typeface="Times New Roman" charset="0"/>
            </a:endParaRPr>
          </a:p>
        </p:txBody>
      </p:sp>
      <p:sp>
        <p:nvSpPr>
          <p:cNvPr id="1116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Simple Memory System Example</a:t>
            </a:r>
          </a:p>
        </p:txBody>
      </p:sp>
      <p:sp>
        <p:nvSpPr>
          <p:cNvPr id="1116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305800" cy="1905000"/>
          </a:xfrm>
        </p:spPr>
        <p:txBody>
          <a:bodyPr/>
          <a:lstStyle/>
          <a:p>
            <a:r>
              <a:rPr kumimoji="0" lang="en-US" altLang="zh-CN">
                <a:ea typeface="宋体" charset="-122"/>
              </a:rPr>
              <a:t>Addressing</a:t>
            </a:r>
          </a:p>
          <a:p>
            <a:pPr lvl="1"/>
            <a:r>
              <a:rPr kumimoji="0" lang="en-US" altLang="zh-CN">
                <a:ea typeface="宋体" charset="-122"/>
              </a:rPr>
              <a:t>14-bit virtual addresses</a:t>
            </a:r>
          </a:p>
          <a:p>
            <a:pPr lvl="1"/>
            <a:r>
              <a:rPr kumimoji="0" lang="en-US" altLang="zh-CN">
                <a:ea typeface="宋体" charset="-122"/>
              </a:rPr>
              <a:t>12-bit physical address</a:t>
            </a:r>
          </a:p>
          <a:p>
            <a:pPr lvl="1"/>
            <a:r>
              <a:rPr kumimoji="0" lang="en-US" altLang="zh-CN">
                <a:ea typeface="宋体" charset="-122"/>
              </a:rPr>
              <a:t>Page size = 64 bits (6-bit)</a:t>
            </a:r>
            <a:endParaRPr kumimoji="0" lang="zh-CN" altLang="en-US">
              <a:ea typeface="宋体" charset="-122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960438" y="3702050"/>
            <a:ext cx="6840537" cy="2546350"/>
            <a:chOff x="605" y="1776"/>
            <a:chExt cx="4309" cy="2046"/>
          </a:xfrm>
        </p:grpSpPr>
        <p:grpSp>
          <p:nvGrpSpPr>
            <p:cNvPr id="111621" name="Group 5"/>
            <p:cNvGrpSpPr>
              <a:grpSpLocks/>
            </p:cNvGrpSpPr>
            <p:nvPr/>
          </p:nvGrpSpPr>
          <p:grpSpPr bwMode="auto">
            <a:xfrm>
              <a:off x="605" y="1776"/>
              <a:ext cx="4298" cy="384"/>
              <a:chOff x="605" y="1776"/>
              <a:chExt cx="4298" cy="384"/>
            </a:xfrm>
          </p:grpSpPr>
          <p:grpSp>
            <p:nvGrpSpPr>
              <p:cNvPr id="111675" name="Group 6"/>
              <p:cNvGrpSpPr>
                <a:grpSpLocks/>
              </p:cNvGrpSpPr>
              <p:nvPr/>
            </p:nvGrpSpPr>
            <p:grpSpPr bwMode="auto">
              <a:xfrm>
                <a:off x="605" y="1776"/>
                <a:ext cx="307" cy="384"/>
                <a:chOff x="605" y="1776"/>
                <a:chExt cx="307" cy="384"/>
              </a:xfrm>
            </p:grpSpPr>
            <p:sp>
              <p:nvSpPr>
                <p:cNvPr id="111715" name="Rectangle 7"/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FF99CC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11716" name="Rectangle 8"/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charset="0"/>
                    </a:rPr>
                    <a:t>13</a:t>
                  </a:r>
                </a:p>
              </p:txBody>
            </p:sp>
          </p:grpSp>
          <p:grpSp>
            <p:nvGrpSpPr>
              <p:cNvPr id="111676" name="Group 9"/>
              <p:cNvGrpSpPr>
                <a:grpSpLocks/>
              </p:cNvGrpSpPr>
              <p:nvPr/>
            </p:nvGrpSpPr>
            <p:grpSpPr bwMode="auto">
              <a:xfrm>
                <a:off x="912" y="1776"/>
                <a:ext cx="307" cy="384"/>
                <a:chOff x="605" y="1776"/>
                <a:chExt cx="307" cy="384"/>
              </a:xfrm>
            </p:grpSpPr>
            <p:sp>
              <p:nvSpPr>
                <p:cNvPr id="111713" name="Rectangle 10"/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FF99CC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11714" name="Rectangle 11"/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charset="0"/>
                    </a:rPr>
                    <a:t>12</a:t>
                  </a:r>
                </a:p>
              </p:txBody>
            </p:sp>
          </p:grpSp>
          <p:grpSp>
            <p:nvGrpSpPr>
              <p:cNvPr id="111677" name="Group 12"/>
              <p:cNvGrpSpPr>
                <a:grpSpLocks/>
              </p:cNvGrpSpPr>
              <p:nvPr/>
            </p:nvGrpSpPr>
            <p:grpSpPr bwMode="auto">
              <a:xfrm>
                <a:off x="1219" y="1776"/>
                <a:ext cx="307" cy="384"/>
                <a:chOff x="605" y="1776"/>
                <a:chExt cx="307" cy="384"/>
              </a:xfrm>
            </p:grpSpPr>
            <p:sp>
              <p:nvSpPr>
                <p:cNvPr id="111711" name="Rectangle 13"/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FF99CC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11712" name="Rectangle 14"/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charset="0"/>
                    </a:rPr>
                    <a:t>11</a:t>
                  </a:r>
                </a:p>
              </p:txBody>
            </p:sp>
          </p:grpSp>
          <p:grpSp>
            <p:nvGrpSpPr>
              <p:cNvPr id="111678" name="Group 15"/>
              <p:cNvGrpSpPr>
                <a:grpSpLocks/>
              </p:cNvGrpSpPr>
              <p:nvPr/>
            </p:nvGrpSpPr>
            <p:grpSpPr bwMode="auto">
              <a:xfrm>
                <a:off x="1526" y="1776"/>
                <a:ext cx="307" cy="384"/>
                <a:chOff x="605" y="1776"/>
                <a:chExt cx="307" cy="384"/>
              </a:xfrm>
            </p:grpSpPr>
            <p:sp>
              <p:nvSpPr>
                <p:cNvPr id="111709" name="Rectangle 16"/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FF99CC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11710" name="Rectangle 17"/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charset="0"/>
                    </a:rPr>
                    <a:t>10</a:t>
                  </a:r>
                </a:p>
              </p:txBody>
            </p:sp>
          </p:grpSp>
          <p:grpSp>
            <p:nvGrpSpPr>
              <p:cNvPr id="111679" name="Group 18"/>
              <p:cNvGrpSpPr>
                <a:grpSpLocks/>
              </p:cNvGrpSpPr>
              <p:nvPr/>
            </p:nvGrpSpPr>
            <p:grpSpPr bwMode="auto">
              <a:xfrm>
                <a:off x="1833" y="1776"/>
                <a:ext cx="307" cy="384"/>
                <a:chOff x="605" y="1776"/>
                <a:chExt cx="307" cy="384"/>
              </a:xfrm>
            </p:grpSpPr>
            <p:sp>
              <p:nvSpPr>
                <p:cNvPr id="111707" name="Rectangle 19"/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FF99CC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11708" name="Rectangle 20"/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charset="0"/>
                    </a:rPr>
                    <a:t>9</a:t>
                  </a:r>
                </a:p>
              </p:txBody>
            </p:sp>
          </p:grpSp>
          <p:grpSp>
            <p:nvGrpSpPr>
              <p:cNvPr id="111680" name="Group 21"/>
              <p:cNvGrpSpPr>
                <a:grpSpLocks/>
              </p:cNvGrpSpPr>
              <p:nvPr/>
            </p:nvGrpSpPr>
            <p:grpSpPr bwMode="auto">
              <a:xfrm>
                <a:off x="2140" y="1776"/>
                <a:ext cx="307" cy="384"/>
                <a:chOff x="605" y="1776"/>
                <a:chExt cx="307" cy="384"/>
              </a:xfrm>
            </p:grpSpPr>
            <p:sp>
              <p:nvSpPr>
                <p:cNvPr id="111705" name="Rectangle 22"/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FF99CC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11706" name="Rectangle 23"/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charset="0"/>
                    </a:rPr>
                    <a:t>8</a:t>
                  </a:r>
                </a:p>
              </p:txBody>
            </p:sp>
          </p:grpSp>
          <p:grpSp>
            <p:nvGrpSpPr>
              <p:cNvPr id="111681" name="Group 24"/>
              <p:cNvGrpSpPr>
                <a:grpSpLocks/>
              </p:cNvGrpSpPr>
              <p:nvPr/>
            </p:nvGrpSpPr>
            <p:grpSpPr bwMode="auto">
              <a:xfrm>
                <a:off x="2447" y="1776"/>
                <a:ext cx="307" cy="384"/>
                <a:chOff x="605" y="1776"/>
                <a:chExt cx="307" cy="384"/>
              </a:xfrm>
            </p:grpSpPr>
            <p:sp>
              <p:nvSpPr>
                <p:cNvPr id="111703" name="Rectangle 25"/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FF99CC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11704" name="Rectangle 26"/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charset="0"/>
                    </a:rPr>
                    <a:t>7</a:t>
                  </a:r>
                </a:p>
              </p:txBody>
            </p:sp>
          </p:grpSp>
          <p:grpSp>
            <p:nvGrpSpPr>
              <p:cNvPr id="111682" name="Group 27"/>
              <p:cNvGrpSpPr>
                <a:grpSpLocks/>
              </p:cNvGrpSpPr>
              <p:nvPr/>
            </p:nvGrpSpPr>
            <p:grpSpPr bwMode="auto">
              <a:xfrm>
                <a:off x="2754" y="1776"/>
                <a:ext cx="307" cy="384"/>
                <a:chOff x="605" y="1776"/>
                <a:chExt cx="307" cy="384"/>
              </a:xfrm>
            </p:grpSpPr>
            <p:sp>
              <p:nvSpPr>
                <p:cNvPr id="111701" name="Rectangle 28"/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FF99CC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11702" name="Rectangle 29"/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charset="0"/>
                    </a:rPr>
                    <a:t>6</a:t>
                  </a:r>
                </a:p>
              </p:txBody>
            </p:sp>
          </p:grpSp>
          <p:grpSp>
            <p:nvGrpSpPr>
              <p:cNvPr id="111683" name="Group 30"/>
              <p:cNvGrpSpPr>
                <a:grpSpLocks/>
              </p:cNvGrpSpPr>
              <p:nvPr/>
            </p:nvGrpSpPr>
            <p:grpSpPr bwMode="auto">
              <a:xfrm>
                <a:off x="3061" y="1776"/>
                <a:ext cx="307" cy="384"/>
                <a:chOff x="605" y="1776"/>
                <a:chExt cx="307" cy="384"/>
              </a:xfrm>
            </p:grpSpPr>
            <p:sp>
              <p:nvSpPr>
                <p:cNvPr id="111699" name="Rectangle 31"/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66FF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11700" name="Rectangle 32"/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charset="0"/>
                    </a:rPr>
                    <a:t>5</a:t>
                  </a:r>
                </a:p>
              </p:txBody>
            </p:sp>
          </p:grpSp>
          <p:grpSp>
            <p:nvGrpSpPr>
              <p:cNvPr id="111684" name="Group 33"/>
              <p:cNvGrpSpPr>
                <a:grpSpLocks/>
              </p:cNvGrpSpPr>
              <p:nvPr/>
            </p:nvGrpSpPr>
            <p:grpSpPr bwMode="auto">
              <a:xfrm>
                <a:off x="3368" y="1776"/>
                <a:ext cx="307" cy="384"/>
                <a:chOff x="605" y="1776"/>
                <a:chExt cx="307" cy="384"/>
              </a:xfrm>
            </p:grpSpPr>
            <p:sp>
              <p:nvSpPr>
                <p:cNvPr id="111697" name="Rectangle 34"/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66FF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11698" name="Rectangle 35"/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charset="0"/>
                    </a:rPr>
                    <a:t>4</a:t>
                  </a:r>
                </a:p>
              </p:txBody>
            </p:sp>
          </p:grpSp>
          <p:grpSp>
            <p:nvGrpSpPr>
              <p:cNvPr id="111685" name="Group 36"/>
              <p:cNvGrpSpPr>
                <a:grpSpLocks/>
              </p:cNvGrpSpPr>
              <p:nvPr/>
            </p:nvGrpSpPr>
            <p:grpSpPr bwMode="auto">
              <a:xfrm>
                <a:off x="3675" y="1776"/>
                <a:ext cx="307" cy="384"/>
                <a:chOff x="605" y="1776"/>
                <a:chExt cx="307" cy="384"/>
              </a:xfrm>
            </p:grpSpPr>
            <p:sp>
              <p:nvSpPr>
                <p:cNvPr id="111695" name="Rectangle 37"/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66FF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11696" name="Rectangle 38"/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charset="0"/>
                    </a:rPr>
                    <a:t>3</a:t>
                  </a:r>
                </a:p>
              </p:txBody>
            </p:sp>
          </p:grpSp>
          <p:grpSp>
            <p:nvGrpSpPr>
              <p:cNvPr id="111686" name="Group 39"/>
              <p:cNvGrpSpPr>
                <a:grpSpLocks/>
              </p:cNvGrpSpPr>
              <p:nvPr/>
            </p:nvGrpSpPr>
            <p:grpSpPr bwMode="auto">
              <a:xfrm>
                <a:off x="3982" y="1776"/>
                <a:ext cx="307" cy="384"/>
                <a:chOff x="605" y="1776"/>
                <a:chExt cx="307" cy="384"/>
              </a:xfrm>
            </p:grpSpPr>
            <p:sp>
              <p:nvSpPr>
                <p:cNvPr id="111693" name="Rectangle 40"/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66FF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11694" name="Rectangle 41"/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charset="0"/>
                    </a:rPr>
                    <a:t>2</a:t>
                  </a:r>
                </a:p>
              </p:txBody>
            </p:sp>
          </p:grpSp>
          <p:grpSp>
            <p:nvGrpSpPr>
              <p:cNvPr id="111687" name="Group 42"/>
              <p:cNvGrpSpPr>
                <a:grpSpLocks/>
              </p:cNvGrpSpPr>
              <p:nvPr/>
            </p:nvGrpSpPr>
            <p:grpSpPr bwMode="auto">
              <a:xfrm>
                <a:off x="4289" y="1776"/>
                <a:ext cx="307" cy="384"/>
                <a:chOff x="605" y="1776"/>
                <a:chExt cx="307" cy="384"/>
              </a:xfrm>
            </p:grpSpPr>
            <p:sp>
              <p:nvSpPr>
                <p:cNvPr id="111691" name="Rectangle 43"/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66FF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11692" name="Rectangle 44"/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charset="0"/>
                    </a:rPr>
                    <a:t>1</a:t>
                  </a:r>
                </a:p>
              </p:txBody>
            </p:sp>
          </p:grpSp>
          <p:grpSp>
            <p:nvGrpSpPr>
              <p:cNvPr id="111688" name="Group 45"/>
              <p:cNvGrpSpPr>
                <a:grpSpLocks/>
              </p:cNvGrpSpPr>
              <p:nvPr/>
            </p:nvGrpSpPr>
            <p:grpSpPr bwMode="auto">
              <a:xfrm>
                <a:off x="4596" y="1776"/>
                <a:ext cx="307" cy="384"/>
                <a:chOff x="605" y="1776"/>
                <a:chExt cx="307" cy="384"/>
              </a:xfrm>
            </p:grpSpPr>
            <p:sp>
              <p:nvSpPr>
                <p:cNvPr id="111689" name="Rectangle 46"/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66FF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11690" name="Rectangle 47"/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charset="0"/>
                    </a:rPr>
                    <a:t>0</a:t>
                  </a:r>
                </a:p>
              </p:txBody>
            </p:sp>
          </p:grpSp>
        </p:grpSp>
        <p:grpSp>
          <p:nvGrpSpPr>
            <p:cNvPr id="111622" name="Group 48"/>
            <p:cNvGrpSpPr>
              <a:grpSpLocks/>
            </p:cNvGrpSpPr>
            <p:nvPr/>
          </p:nvGrpSpPr>
          <p:grpSpPr bwMode="auto">
            <a:xfrm>
              <a:off x="1219" y="2880"/>
              <a:ext cx="3684" cy="384"/>
              <a:chOff x="1219" y="2880"/>
              <a:chExt cx="3684" cy="384"/>
            </a:xfrm>
          </p:grpSpPr>
          <p:grpSp>
            <p:nvGrpSpPr>
              <p:cNvPr id="111639" name="Group 49"/>
              <p:cNvGrpSpPr>
                <a:grpSpLocks/>
              </p:cNvGrpSpPr>
              <p:nvPr/>
            </p:nvGrpSpPr>
            <p:grpSpPr bwMode="auto">
              <a:xfrm>
                <a:off x="1219" y="2880"/>
                <a:ext cx="307" cy="384"/>
                <a:chOff x="605" y="1776"/>
                <a:chExt cx="307" cy="384"/>
              </a:xfrm>
            </p:grpSpPr>
            <p:sp>
              <p:nvSpPr>
                <p:cNvPr id="111673" name="Rectangle 50"/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CC99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11674" name="Rectangle 51"/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charset="0"/>
                    </a:rPr>
                    <a:t>11</a:t>
                  </a:r>
                </a:p>
              </p:txBody>
            </p:sp>
          </p:grpSp>
          <p:grpSp>
            <p:nvGrpSpPr>
              <p:cNvPr id="111640" name="Group 52"/>
              <p:cNvGrpSpPr>
                <a:grpSpLocks/>
              </p:cNvGrpSpPr>
              <p:nvPr/>
            </p:nvGrpSpPr>
            <p:grpSpPr bwMode="auto">
              <a:xfrm>
                <a:off x="1526" y="2880"/>
                <a:ext cx="307" cy="384"/>
                <a:chOff x="605" y="1776"/>
                <a:chExt cx="307" cy="384"/>
              </a:xfrm>
            </p:grpSpPr>
            <p:sp>
              <p:nvSpPr>
                <p:cNvPr id="111671" name="Rectangle 53"/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CC99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11672" name="Rectangle 54"/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charset="0"/>
                    </a:rPr>
                    <a:t>10</a:t>
                  </a:r>
                </a:p>
              </p:txBody>
            </p:sp>
          </p:grpSp>
          <p:grpSp>
            <p:nvGrpSpPr>
              <p:cNvPr id="111641" name="Group 55"/>
              <p:cNvGrpSpPr>
                <a:grpSpLocks/>
              </p:cNvGrpSpPr>
              <p:nvPr/>
            </p:nvGrpSpPr>
            <p:grpSpPr bwMode="auto">
              <a:xfrm>
                <a:off x="1833" y="2880"/>
                <a:ext cx="307" cy="384"/>
                <a:chOff x="605" y="1776"/>
                <a:chExt cx="307" cy="384"/>
              </a:xfrm>
            </p:grpSpPr>
            <p:sp>
              <p:nvSpPr>
                <p:cNvPr id="111669" name="Rectangle 56"/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CC99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11670" name="Rectangle 57"/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charset="0"/>
                    </a:rPr>
                    <a:t>9</a:t>
                  </a:r>
                </a:p>
              </p:txBody>
            </p:sp>
          </p:grpSp>
          <p:grpSp>
            <p:nvGrpSpPr>
              <p:cNvPr id="111642" name="Group 58"/>
              <p:cNvGrpSpPr>
                <a:grpSpLocks/>
              </p:cNvGrpSpPr>
              <p:nvPr/>
            </p:nvGrpSpPr>
            <p:grpSpPr bwMode="auto">
              <a:xfrm>
                <a:off x="2140" y="2880"/>
                <a:ext cx="307" cy="384"/>
                <a:chOff x="605" y="1776"/>
                <a:chExt cx="307" cy="384"/>
              </a:xfrm>
            </p:grpSpPr>
            <p:sp>
              <p:nvSpPr>
                <p:cNvPr id="111667" name="Rectangle 59"/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CC99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11668" name="Rectangle 60"/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charset="0"/>
                    </a:rPr>
                    <a:t>8</a:t>
                  </a:r>
                </a:p>
              </p:txBody>
            </p:sp>
          </p:grpSp>
          <p:grpSp>
            <p:nvGrpSpPr>
              <p:cNvPr id="111643" name="Group 61"/>
              <p:cNvGrpSpPr>
                <a:grpSpLocks/>
              </p:cNvGrpSpPr>
              <p:nvPr/>
            </p:nvGrpSpPr>
            <p:grpSpPr bwMode="auto">
              <a:xfrm>
                <a:off x="2447" y="2880"/>
                <a:ext cx="307" cy="384"/>
                <a:chOff x="605" y="1776"/>
                <a:chExt cx="307" cy="384"/>
              </a:xfrm>
            </p:grpSpPr>
            <p:sp>
              <p:nvSpPr>
                <p:cNvPr id="111665" name="Rectangle 62"/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CC99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11666" name="Rectangle 63"/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charset="0"/>
                    </a:rPr>
                    <a:t>7</a:t>
                  </a:r>
                </a:p>
              </p:txBody>
            </p:sp>
          </p:grpSp>
          <p:grpSp>
            <p:nvGrpSpPr>
              <p:cNvPr id="111644" name="Group 64"/>
              <p:cNvGrpSpPr>
                <a:grpSpLocks/>
              </p:cNvGrpSpPr>
              <p:nvPr/>
            </p:nvGrpSpPr>
            <p:grpSpPr bwMode="auto">
              <a:xfrm>
                <a:off x="2754" y="2880"/>
                <a:ext cx="307" cy="384"/>
                <a:chOff x="605" y="1776"/>
                <a:chExt cx="307" cy="384"/>
              </a:xfrm>
            </p:grpSpPr>
            <p:sp>
              <p:nvSpPr>
                <p:cNvPr id="111663" name="Rectangle 65"/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CC99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11664" name="Rectangle 66"/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charset="0"/>
                    </a:rPr>
                    <a:t>6</a:t>
                  </a:r>
                </a:p>
              </p:txBody>
            </p:sp>
          </p:grpSp>
          <p:grpSp>
            <p:nvGrpSpPr>
              <p:cNvPr id="111645" name="Group 67"/>
              <p:cNvGrpSpPr>
                <a:grpSpLocks/>
              </p:cNvGrpSpPr>
              <p:nvPr/>
            </p:nvGrpSpPr>
            <p:grpSpPr bwMode="auto">
              <a:xfrm>
                <a:off x="3061" y="2880"/>
                <a:ext cx="307" cy="384"/>
                <a:chOff x="605" y="1776"/>
                <a:chExt cx="307" cy="384"/>
              </a:xfrm>
            </p:grpSpPr>
            <p:sp>
              <p:nvSpPr>
                <p:cNvPr id="111661" name="Rectangle 68"/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66FF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11662" name="Rectangle 69"/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charset="0"/>
                    </a:rPr>
                    <a:t>5</a:t>
                  </a:r>
                </a:p>
              </p:txBody>
            </p:sp>
          </p:grpSp>
          <p:grpSp>
            <p:nvGrpSpPr>
              <p:cNvPr id="111646" name="Group 70"/>
              <p:cNvGrpSpPr>
                <a:grpSpLocks/>
              </p:cNvGrpSpPr>
              <p:nvPr/>
            </p:nvGrpSpPr>
            <p:grpSpPr bwMode="auto">
              <a:xfrm>
                <a:off x="3368" y="2880"/>
                <a:ext cx="307" cy="384"/>
                <a:chOff x="605" y="1776"/>
                <a:chExt cx="307" cy="384"/>
              </a:xfrm>
            </p:grpSpPr>
            <p:sp>
              <p:nvSpPr>
                <p:cNvPr id="111659" name="Rectangle 71"/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66FF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11660" name="Rectangle 72"/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charset="0"/>
                    </a:rPr>
                    <a:t>4</a:t>
                  </a:r>
                </a:p>
              </p:txBody>
            </p:sp>
          </p:grpSp>
          <p:grpSp>
            <p:nvGrpSpPr>
              <p:cNvPr id="111647" name="Group 73"/>
              <p:cNvGrpSpPr>
                <a:grpSpLocks/>
              </p:cNvGrpSpPr>
              <p:nvPr/>
            </p:nvGrpSpPr>
            <p:grpSpPr bwMode="auto">
              <a:xfrm>
                <a:off x="3675" y="2880"/>
                <a:ext cx="307" cy="384"/>
                <a:chOff x="605" y="1776"/>
                <a:chExt cx="307" cy="384"/>
              </a:xfrm>
            </p:grpSpPr>
            <p:sp>
              <p:nvSpPr>
                <p:cNvPr id="111657" name="Rectangle 74"/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66FF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11658" name="Rectangle 75"/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charset="0"/>
                    </a:rPr>
                    <a:t>3</a:t>
                  </a:r>
                </a:p>
              </p:txBody>
            </p:sp>
          </p:grpSp>
          <p:grpSp>
            <p:nvGrpSpPr>
              <p:cNvPr id="111648" name="Group 76"/>
              <p:cNvGrpSpPr>
                <a:grpSpLocks/>
              </p:cNvGrpSpPr>
              <p:nvPr/>
            </p:nvGrpSpPr>
            <p:grpSpPr bwMode="auto">
              <a:xfrm>
                <a:off x="3982" y="2880"/>
                <a:ext cx="307" cy="384"/>
                <a:chOff x="605" y="1776"/>
                <a:chExt cx="307" cy="384"/>
              </a:xfrm>
            </p:grpSpPr>
            <p:sp>
              <p:nvSpPr>
                <p:cNvPr id="111655" name="Rectangle 77"/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66FF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11656" name="Rectangle 78"/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charset="0"/>
                    </a:rPr>
                    <a:t>2</a:t>
                  </a:r>
                </a:p>
              </p:txBody>
            </p:sp>
          </p:grpSp>
          <p:grpSp>
            <p:nvGrpSpPr>
              <p:cNvPr id="111649" name="Group 79"/>
              <p:cNvGrpSpPr>
                <a:grpSpLocks/>
              </p:cNvGrpSpPr>
              <p:nvPr/>
            </p:nvGrpSpPr>
            <p:grpSpPr bwMode="auto">
              <a:xfrm>
                <a:off x="4289" y="2880"/>
                <a:ext cx="307" cy="384"/>
                <a:chOff x="605" y="1776"/>
                <a:chExt cx="307" cy="384"/>
              </a:xfrm>
            </p:grpSpPr>
            <p:sp>
              <p:nvSpPr>
                <p:cNvPr id="111653" name="Rectangle 80"/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66FF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11654" name="Rectangle 81"/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charset="0"/>
                    </a:rPr>
                    <a:t>1</a:t>
                  </a:r>
                </a:p>
              </p:txBody>
            </p:sp>
          </p:grpSp>
          <p:grpSp>
            <p:nvGrpSpPr>
              <p:cNvPr id="111650" name="Group 82"/>
              <p:cNvGrpSpPr>
                <a:grpSpLocks/>
              </p:cNvGrpSpPr>
              <p:nvPr/>
            </p:nvGrpSpPr>
            <p:grpSpPr bwMode="auto">
              <a:xfrm>
                <a:off x="4596" y="2880"/>
                <a:ext cx="307" cy="384"/>
                <a:chOff x="605" y="1776"/>
                <a:chExt cx="307" cy="384"/>
              </a:xfrm>
            </p:grpSpPr>
            <p:sp>
              <p:nvSpPr>
                <p:cNvPr id="111651" name="Rectangle 83"/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66FF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11652" name="Rectangle 84"/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charset="0"/>
                    </a:rPr>
                    <a:t>0</a:t>
                  </a:r>
                </a:p>
              </p:txBody>
            </p:sp>
          </p:grpSp>
        </p:grpSp>
        <p:grpSp>
          <p:nvGrpSpPr>
            <p:cNvPr id="111623" name="Group 85"/>
            <p:cNvGrpSpPr>
              <a:grpSpLocks/>
            </p:cNvGrpSpPr>
            <p:nvPr/>
          </p:nvGrpSpPr>
          <p:grpSpPr bwMode="auto">
            <a:xfrm>
              <a:off x="3061" y="2261"/>
              <a:ext cx="1842" cy="270"/>
              <a:chOff x="3061" y="2261"/>
              <a:chExt cx="1842" cy="270"/>
            </a:xfrm>
          </p:grpSpPr>
          <p:sp>
            <p:nvSpPr>
              <p:cNvPr id="111637" name="Line 86"/>
              <p:cNvSpPr>
                <a:spLocks noChangeShapeType="1"/>
              </p:cNvSpPr>
              <p:nvPr/>
            </p:nvSpPr>
            <p:spPr bwMode="auto">
              <a:xfrm>
                <a:off x="3061" y="2352"/>
                <a:ext cx="184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arrow" w="med" len="med"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487" tIns="44450" rIns="90487" bIns="44450"/>
              <a:lstStyle/>
              <a:p>
                <a:endParaRPr lang="zh-CN" altLang="en-US"/>
              </a:p>
            </p:txBody>
          </p:sp>
          <p:sp>
            <p:nvSpPr>
              <p:cNvPr id="111638" name="Text Box 87"/>
              <p:cNvSpPr txBox="1">
                <a:spLocks noChangeArrowheads="1"/>
              </p:cNvSpPr>
              <p:nvPr/>
            </p:nvSpPr>
            <p:spPr bwMode="auto">
              <a:xfrm>
                <a:off x="3770" y="2261"/>
                <a:ext cx="418" cy="27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>
                <a:spAutoFit/>
              </a:bodyPr>
              <a:lstStyle>
                <a:lvl1pPr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>
                  <a:lnSpc>
                    <a:spcPct val="90000"/>
                  </a:lnSpc>
                  <a:spcBef>
                    <a:spcPct val="30000"/>
                  </a:spcBef>
                </a:pPr>
                <a:r>
                  <a:rPr lang="en-US" altLang="zh-CN" sz="1800">
                    <a:solidFill>
                      <a:schemeClr val="tx2"/>
                    </a:solidFill>
                    <a:latin typeface="Helvetica" charset="0"/>
                  </a:rPr>
                  <a:t>VPO</a:t>
                </a:r>
              </a:p>
            </p:txBody>
          </p:sp>
        </p:grpSp>
        <p:grpSp>
          <p:nvGrpSpPr>
            <p:cNvPr id="111624" name="Group 88"/>
            <p:cNvGrpSpPr>
              <a:grpSpLocks/>
            </p:cNvGrpSpPr>
            <p:nvPr/>
          </p:nvGrpSpPr>
          <p:grpSpPr bwMode="auto">
            <a:xfrm>
              <a:off x="3072" y="3312"/>
              <a:ext cx="1842" cy="270"/>
              <a:chOff x="3061" y="2261"/>
              <a:chExt cx="1842" cy="270"/>
            </a:xfrm>
          </p:grpSpPr>
          <p:sp>
            <p:nvSpPr>
              <p:cNvPr id="111635" name="Line 89"/>
              <p:cNvSpPr>
                <a:spLocks noChangeShapeType="1"/>
              </p:cNvSpPr>
              <p:nvPr/>
            </p:nvSpPr>
            <p:spPr bwMode="auto">
              <a:xfrm>
                <a:off x="3061" y="2352"/>
                <a:ext cx="184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arrow" w="med" len="med"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487" tIns="44450" rIns="90487" bIns="44450"/>
              <a:lstStyle/>
              <a:p>
                <a:endParaRPr lang="zh-CN" altLang="en-US"/>
              </a:p>
            </p:txBody>
          </p:sp>
          <p:sp>
            <p:nvSpPr>
              <p:cNvPr id="111636" name="Text Box 90"/>
              <p:cNvSpPr txBox="1">
                <a:spLocks noChangeArrowheads="1"/>
              </p:cNvSpPr>
              <p:nvPr/>
            </p:nvSpPr>
            <p:spPr bwMode="auto">
              <a:xfrm>
                <a:off x="3770" y="2261"/>
                <a:ext cx="418" cy="27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>
                <a:spAutoFit/>
              </a:bodyPr>
              <a:lstStyle>
                <a:lvl1pPr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>
                  <a:lnSpc>
                    <a:spcPct val="90000"/>
                  </a:lnSpc>
                  <a:spcBef>
                    <a:spcPct val="30000"/>
                  </a:spcBef>
                </a:pPr>
                <a:r>
                  <a:rPr lang="en-US" altLang="zh-CN" sz="1800">
                    <a:solidFill>
                      <a:schemeClr val="tx2"/>
                    </a:solidFill>
                    <a:latin typeface="Helvetica" charset="0"/>
                  </a:rPr>
                  <a:t>PPO</a:t>
                </a:r>
              </a:p>
            </p:txBody>
          </p:sp>
        </p:grpSp>
        <p:grpSp>
          <p:nvGrpSpPr>
            <p:cNvPr id="111625" name="Group 91"/>
            <p:cNvGrpSpPr>
              <a:grpSpLocks/>
            </p:cNvGrpSpPr>
            <p:nvPr/>
          </p:nvGrpSpPr>
          <p:grpSpPr bwMode="auto">
            <a:xfrm>
              <a:off x="1248" y="3312"/>
              <a:ext cx="1842" cy="270"/>
              <a:chOff x="3061" y="2261"/>
              <a:chExt cx="1842" cy="270"/>
            </a:xfrm>
          </p:grpSpPr>
          <p:sp>
            <p:nvSpPr>
              <p:cNvPr id="111633" name="Line 92"/>
              <p:cNvSpPr>
                <a:spLocks noChangeShapeType="1"/>
              </p:cNvSpPr>
              <p:nvPr/>
            </p:nvSpPr>
            <p:spPr bwMode="auto">
              <a:xfrm>
                <a:off x="3061" y="2352"/>
                <a:ext cx="184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arrow" w="med" len="med"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487" tIns="44450" rIns="90487" bIns="44450"/>
              <a:lstStyle/>
              <a:p>
                <a:endParaRPr lang="zh-CN" altLang="en-US"/>
              </a:p>
            </p:txBody>
          </p:sp>
          <p:sp>
            <p:nvSpPr>
              <p:cNvPr id="111634" name="Text Box 93"/>
              <p:cNvSpPr txBox="1">
                <a:spLocks noChangeArrowheads="1"/>
              </p:cNvSpPr>
              <p:nvPr/>
            </p:nvSpPr>
            <p:spPr bwMode="auto">
              <a:xfrm>
                <a:off x="3770" y="2261"/>
                <a:ext cx="410" cy="27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>
                <a:spAutoFit/>
              </a:bodyPr>
              <a:lstStyle>
                <a:lvl1pPr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>
                  <a:lnSpc>
                    <a:spcPct val="90000"/>
                  </a:lnSpc>
                  <a:spcBef>
                    <a:spcPct val="30000"/>
                  </a:spcBef>
                </a:pPr>
                <a:r>
                  <a:rPr lang="en-US" altLang="zh-CN" sz="1800">
                    <a:solidFill>
                      <a:schemeClr val="tx2"/>
                    </a:solidFill>
                    <a:latin typeface="Helvetica" charset="0"/>
                  </a:rPr>
                  <a:t>PPN</a:t>
                </a:r>
              </a:p>
            </p:txBody>
          </p:sp>
        </p:grpSp>
        <p:grpSp>
          <p:nvGrpSpPr>
            <p:cNvPr id="111626" name="Group 94"/>
            <p:cNvGrpSpPr>
              <a:grpSpLocks/>
            </p:cNvGrpSpPr>
            <p:nvPr/>
          </p:nvGrpSpPr>
          <p:grpSpPr bwMode="auto">
            <a:xfrm>
              <a:off x="605" y="2256"/>
              <a:ext cx="2467" cy="270"/>
              <a:chOff x="3061" y="2261"/>
              <a:chExt cx="1842" cy="270"/>
            </a:xfrm>
          </p:grpSpPr>
          <p:sp>
            <p:nvSpPr>
              <p:cNvPr id="111631" name="Line 95"/>
              <p:cNvSpPr>
                <a:spLocks noChangeShapeType="1"/>
              </p:cNvSpPr>
              <p:nvPr/>
            </p:nvSpPr>
            <p:spPr bwMode="auto">
              <a:xfrm>
                <a:off x="3061" y="2352"/>
                <a:ext cx="184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arrow" w="med" len="med"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487" tIns="44450" rIns="90487" bIns="44450"/>
              <a:lstStyle/>
              <a:p>
                <a:endParaRPr lang="zh-CN" altLang="en-US"/>
              </a:p>
            </p:txBody>
          </p:sp>
          <p:sp>
            <p:nvSpPr>
              <p:cNvPr id="111632" name="Text Box 96"/>
              <p:cNvSpPr txBox="1">
                <a:spLocks noChangeArrowheads="1"/>
              </p:cNvSpPr>
              <p:nvPr/>
            </p:nvSpPr>
            <p:spPr bwMode="auto">
              <a:xfrm>
                <a:off x="3770" y="2261"/>
                <a:ext cx="306" cy="27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>
                <a:spAutoFit/>
              </a:bodyPr>
              <a:lstStyle>
                <a:lvl1pPr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>
                  <a:lnSpc>
                    <a:spcPct val="90000"/>
                  </a:lnSpc>
                  <a:spcBef>
                    <a:spcPct val="30000"/>
                  </a:spcBef>
                </a:pPr>
                <a:r>
                  <a:rPr lang="en-US" altLang="zh-CN" sz="1800">
                    <a:solidFill>
                      <a:schemeClr val="tx2"/>
                    </a:solidFill>
                    <a:latin typeface="Helvetica" charset="0"/>
                  </a:rPr>
                  <a:t>VPN</a:t>
                </a:r>
              </a:p>
            </p:txBody>
          </p:sp>
        </p:grpSp>
        <p:sp>
          <p:nvSpPr>
            <p:cNvPr id="111627" name="Text Box 97"/>
            <p:cNvSpPr txBox="1">
              <a:spLocks noChangeArrowheads="1"/>
            </p:cNvSpPr>
            <p:nvPr/>
          </p:nvSpPr>
          <p:spPr bwMode="auto">
            <a:xfrm>
              <a:off x="1020" y="2530"/>
              <a:ext cx="1546" cy="2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</a:pPr>
              <a:r>
                <a:rPr lang="en-US" altLang="zh-CN" sz="1800" b="0">
                  <a:solidFill>
                    <a:schemeClr val="tx2"/>
                  </a:solidFill>
                  <a:latin typeface="Helvetica" charset="0"/>
                </a:rPr>
                <a:t>(Virtual Page Number)</a:t>
              </a:r>
            </a:p>
          </p:txBody>
        </p:sp>
        <p:sp>
          <p:nvSpPr>
            <p:cNvPr id="111628" name="Text Box 98"/>
            <p:cNvSpPr txBox="1">
              <a:spLocks noChangeArrowheads="1"/>
            </p:cNvSpPr>
            <p:nvPr/>
          </p:nvSpPr>
          <p:spPr bwMode="auto">
            <a:xfrm>
              <a:off x="3158" y="2523"/>
              <a:ext cx="1418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</a:pPr>
              <a:r>
                <a:rPr lang="en-US" altLang="zh-CN" sz="1800" b="0">
                  <a:solidFill>
                    <a:schemeClr val="tx2"/>
                  </a:solidFill>
                  <a:latin typeface="Helvetica" charset="0"/>
                </a:rPr>
                <a:t>(Virtual Page Offset)</a:t>
              </a:r>
            </a:p>
          </p:txBody>
        </p:sp>
        <p:sp>
          <p:nvSpPr>
            <p:cNvPr id="111629" name="Text Box 99"/>
            <p:cNvSpPr txBox="1">
              <a:spLocks noChangeArrowheads="1"/>
            </p:cNvSpPr>
            <p:nvPr/>
          </p:nvSpPr>
          <p:spPr bwMode="auto">
            <a:xfrm>
              <a:off x="1344" y="3531"/>
              <a:ext cx="1671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</a:pPr>
              <a:r>
                <a:rPr lang="en-US" altLang="zh-CN" sz="1800" b="0">
                  <a:solidFill>
                    <a:schemeClr val="tx2"/>
                  </a:solidFill>
                  <a:latin typeface="Helvetica" charset="0"/>
                </a:rPr>
                <a:t>(Physical Page Number)</a:t>
              </a:r>
            </a:p>
          </p:txBody>
        </p:sp>
        <p:sp>
          <p:nvSpPr>
            <p:cNvPr id="111630" name="Text Box 100"/>
            <p:cNvSpPr txBox="1">
              <a:spLocks noChangeArrowheads="1"/>
            </p:cNvSpPr>
            <p:nvPr/>
          </p:nvSpPr>
          <p:spPr bwMode="auto">
            <a:xfrm>
              <a:off x="3191" y="3552"/>
              <a:ext cx="1543" cy="2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30000"/>
                </a:spcBef>
              </a:pPr>
              <a:r>
                <a:rPr lang="en-US" altLang="zh-CN" sz="1800" b="0">
                  <a:solidFill>
                    <a:schemeClr val="tx2"/>
                  </a:solidFill>
                  <a:latin typeface="Helvetica" charset="0"/>
                </a:rPr>
                <a:t>(Physical Page Offset)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5" name="灯片编号占位符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5313FA56-C49C-BE46-B6A1-8C003C913F75}" type="slidenum">
              <a:rPr lang="zh-CN" altLang="en-US" sz="1400" b="0">
                <a:latin typeface="Times New Roman" charset="0"/>
              </a:rPr>
              <a:pPr/>
              <a:t>25</a:t>
            </a:fld>
            <a:endParaRPr lang="en-US" altLang="zh-CN" sz="1400" b="0">
              <a:latin typeface="Times New Roman" charset="0"/>
            </a:endParaRPr>
          </a:p>
        </p:txBody>
      </p:sp>
      <p:sp>
        <p:nvSpPr>
          <p:cNvPr id="1136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Simple Memory System Page Table</a:t>
            </a:r>
          </a:p>
        </p:txBody>
      </p:sp>
      <p:sp>
        <p:nvSpPr>
          <p:cNvPr id="11366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7543800" cy="533400"/>
          </a:xfrm>
        </p:spPr>
        <p:txBody>
          <a:bodyPr/>
          <a:lstStyle/>
          <a:p>
            <a:r>
              <a:rPr kumimoji="0" lang="en-US" altLang="zh-CN" sz="2400">
                <a:ea typeface="宋体" charset="-122"/>
              </a:rPr>
              <a:t>Only show first 16 entries</a:t>
            </a:r>
            <a:endParaRPr kumimoji="0" lang="zh-CN" altLang="en-US" sz="2400">
              <a:ea typeface="宋体" charset="-122"/>
            </a:endParaRPr>
          </a:p>
        </p:txBody>
      </p:sp>
      <p:graphicFrame>
        <p:nvGraphicFramePr>
          <p:cNvPr id="1376433" name="Group 177"/>
          <p:cNvGraphicFramePr>
            <a:graphicFrameLocks noGrp="1"/>
          </p:cNvGraphicFramePr>
          <p:nvPr>
            <p:ph sz="half" idx="2"/>
          </p:nvPr>
        </p:nvGraphicFramePr>
        <p:xfrm>
          <a:off x="533400" y="2590800"/>
          <a:ext cx="3795713" cy="3378201"/>
        </p:xfrm>
        <a:graphic>
          <a:graphicData uri="http://schemas.openxmlformats.org/drawingml/2006/table">
            <a:tbl>
              <a:tblPr/>
              <a:tblGrid>
                <a:gridCol w="11604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62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90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3538"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宋体" charset="-122"/>
                      </a:endParaRPr>
                    </a:p>
                  </a:txBody>
                  <a:tcPr marL="90487" marR="90487" marT="44458" marB="4445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PPN</a:t>
                      </a:r>
                    </a:p>
                  </a:txBody>
                  <a:tcPr marL="90487" marR="90487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Valid</a:t>
                      </a:r>
                    </a:p>
                  </a:txBody>
                  <a:tcPr marL="90487" marR="90487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538"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00</a:t>
                      </a:r>
                    </a:p>
                  </a:txBody>
                  <a:tcPr marL="90487" marR="90487" marT="44458" marB="4445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28</a:t>
                      </a:r>
                    </a:p>
                  </a:txBody>
                  <a:tcPr marL="90487" marR="90487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1</a:t>
                      </a:r>
                    </a:p>
                  </a:txBody>
                  <a:tcPr marL="90487" marR="90487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01</a:t>
                      </a:r>
                    </a:p>
                  </a:txBody>
                  <a:tcPr marL="90487" marR="90487" marT="44458" marB="4445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–</a:t>
                      </a:r>
                    </a:p>
                  </a:txBody>
                  <a:tcPr marL="90487" marR="90487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</a:t>
                      </a:r>
                    </a:p>
                  </a:txBody>
                  <a:tcPr marL="90487" marR="90487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02</a:t>
                      </a:r>
                    </a:p>
                  </a:txBody>
                  <a:tcPr marL="90487" marR="90487" marT="44458" marB="4445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33</a:t>
                      </a:r>
                    </a:p>
                  </a:txBody>
                  <a:tcPr marL="90487" marR="90487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1</a:t>
                      </a:r>
                    </a:p>
                  </a:txBody>
                  <a:tcPr marL="90487" marR="90487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03</a:t>
                      </a:r>
                    </a:p>
                  </a:txBody>
                  <a:tcPr marL="90487" marR="90487" marT="44458" marB="4445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02</a:t>
                      </a:r>
                    </a:p>
                  </a:txBody>
                  <a:tcPr marL="90487" marR="90487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1</a:t>
                      </a:r>
                    </a:p>
                  </a:txBody>
                  <a:tcPr marL="90487" marR="90487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04</a:t>
                      </a:r>
                    </a:p>
                  </a:txBody>
                  <a:tcPr marL="90487" marR="90487" marT="44458" marB="4445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–</a:t>
                      </a:r>
                    </a:p>
                  </a:txBody>
                  <a:tcPr marL="90487" marR="90487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</a:t>
                      </a:r>
                    </a:p>
                  </a:txBody>
                  <a:tcPr marL="90487" marR="90487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05</a:t>
                      </a:r>
                    </a:p>
                  </a:txBody>
                  <a:tcPr marL="90487" marR="90487" marT="44458" marB="4445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16</a:t>
                      </a:r>
                    </a:p>
                  </a:txBody>
                  <a:tcPr marL="90487" marR="90487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1</a:t>
                      </a:r>
                    </a:p>
                  </a:txBody>
                  <a:tcPr marL="90487" marR="90487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06</a:t>
                      </a:r>
                    </a:p>
                  </a:txBody>
                  <a:tcPr marL="90487" marR="90487" marT="44458" marB="4445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–</a:t>
                      </a:r>
                    </a:p>
                  </a:txBody>
                  <a:tcPr marL="90487" marR="90487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</a:t>
                      </a:r>
                    </a:p>
                  </a:txBody>
                  <a:tcPr marL="90487" marR="90487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000"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07</a:t>
                      </a:r>
                    </a:p>
                  </a:txBody>
                  <a:tcPr marL="90487" marR="90487" marT="44458" marB="4445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–</a:t>
                      </a:r>
                    </a:p>
                  </a:txBody>
                  <a:tcPr marL="90487" marR="90487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</a:t>
                      </a:r>
                    </a:p>
                  </a:txBody>
                  <a:tcPr marL="90487" marR="90487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5199063" y="2590800"/>
          <a:ext cx="3563937" cy="3378201"/>
        </p:xfrm>
        <a:graphic>
          <a:graphicData uri="http://schemas.openxmlformats.org/drawingml/2006/table">
            <a:tbl>
              <a:tblPr/>
              <a:tblGrid>
                <a:gridCol w="9699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6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7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3538"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宋体" charset="-122"/>
                      </a:endParaRPr>
                    </a:p>
                  </a:txBody>
                  <a:tcPr marL="90499" marR="90499" marT="44458" marB="4445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PPN</a:t>
                      </a:r>
                    </a:p>
                  </a:txBody>
                  <a:tcPr marL="90499" marR="90499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Valid</a:t>
                      </a:r>
                    </a:p>
                  </a:txBody>
                  <a:tcPr marL="90499" marR="90499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538"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08</a:t>
                      </a:r>
                    </a:p>
                  </a:txBody>
                  <a:tcPr marL="90499" marR="90499" marT="44458" marB="4445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13</a:t>
                      </a:r>
                    </a:p>
                  </a:txBody>
                  <a:tcPr marL="90499" marR="90499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1</a:t>
                      </a:r>
                    </a:p>
                  </a:txBody>
                  <a:tcPr marL="90499" marR="90499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09</a:t>
                      </a:r>
                    </a:p>
                  </a:txBody>
                  <a:tcPr marL="90499" marR="90499" marT="44458" marB="4445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17</a:t>
                      </a:r>
                    </a:p>
                  </a:txBody>
                  <a:tcPr marL="90499" marR="90499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1</a:t>
                      </a:r>
                    </a:p>
                  </a:txBody>
                  <a:tcPr marL="90499" marR="90499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0A</a:t>
                      </a:r>
                    </a:p>
                  </a:txBody>
                  <a:tcPr marL="90499" marR="90499" marT="44458" marB="4445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09</a:t>
                      </a:r>
                    </a:p>
                  </a:txBody>
                  <a:tcPr marL="90499" marR="90499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1</a:t>
                      </a:r>
                    </a:p>
                  </a:txBody>
                  <a:tcPr marL="90499" marR="90499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0B</a:t>
                      </a:r>
                    </a:p>
                  </a:txBody>
                  <a:tcPr marL="90499" marR="90499" marT="44458" marB="4445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–</a:t>
                      </a:r>
                    </a:p>
                  </a:txBody>
                  <a:tcPr marL="90499" marR="90499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</a:t>
                      </a:r>
                    </a:p>
                  </a:txBody>
                  <a:tcPr marL="90499" marR="90499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0C</a:t>
                      </a:r>
                    </a:p>
                  </a:txBody>
                  <a:tcPr marL="90499" marR="90499" marT="44458" marB="4445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–</a:t>
                      </a:r>
                    </a:p>
                  </a:txBody>
                  <a:tcPr marL="90499" marR="90499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</a:t>
                      </a:r>
                    </a:p>
                  </a:txBody>
                  <a:tcPr marL="90499" marR="90499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0D</a:t>
                      </a:r>
                    </a:p>
                  </a:txBody>
                  <a:tcPr marL="90499" marR="90499" marT="44458" marB="4445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2D</a:t>
                      </a:r>
                    </a:p>
                  </a:txBody>
                  <a:tcPr marL="90499" marR="90499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1</a:t>
                      </a:r>
                    </a:p>
                  </a:txBody>
                  <a:tcPr marL="90499" marR="90499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0E</a:t>
                      </a:r>
                    </a:p>
                  </a:txBody>
                  <a:tcPr marL="90499" marR="90499" marT="44458" marB="4445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11</a:t>
                      </a:r>
                    </a:p>
                  </a:txBody>
                  <a:tcPr marL="90499" marR="90499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1</a:t>
                      </a:r>
                    </a:p>
                  </a:txBody>
                  <a:tcPr marL="90499" marR="90499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000"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0F</a:t>
                      </a:r>
                    </a:p>
                  </a:txBody>
                  <a:tcPr marL="90499" marR="90499" marT="44458" marB="4445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0D</a:t>
                      </a:r>
                    </a:p>
                  </a:txBody>
                  <a:tcPr marL="90499" marR="90499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1</a:t>
                      </a:r>
                    </a:p>
                  </a:txBody>
                  <a:tcPr marL="90499" marR="90499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3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88D54820-4502-E64C-A4F1-BB6359C4505A}" type="slidenum">
              <a:rPr lang="zh-CN" altLang="en-US" sz="1400" b="0">
                <a:latin typeface="Times New Roman" charset="0"/>
              </a:rPr>
              <a:pPr/>
              <a:t>26</a:t>
            </a:fld>
            <a:endParaRPr lang="en-US" altLang="zh-CN" sz="1400" b="0">
              <a:latin typeface="Times New Roman" charset="0"/>
            </a:endParaRPr>
          </a:p>
        </p:txBody>
      </p:sp>
      <p:sp>
        <p:nvSpPr>
          <p:cNvPr id="115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宋体" charset="-122"/>
              </a:rPr>
              <a:t>练习</a:t>
            </a:r>
            <a:r>
              <a:rPr lang="en-US" altLang="zh-CN">
                <a:ea typeface="宋体" charset="-122"/>
              </a:rPr>
              <a:t>4-2</a:t>
            </a:r>
            <a:r>
              <a:rPr lang="en-US" altLang="en-US">
                <a:ea typeface="宋体" charset="-122"/>
              </a:rPr>
              <a:t>：</a:t>
            </a:r>
            <a:r>
              <a:rPr lang="en-US" altLang="zh-CN">
                <a:ea typeface="宋体" charset="-122"/>
              </a:rPr>
              <a:t>Address Translation</a:t>
            </a:r>
          </a:p>
        </p:txBody>
      </p:sp>
      <p:sp>
        <p:nvSpPr>
          <p:cNvPr id="115715" name="Rectangle 102"/>
          <p:cNvSpPr>
            <a:spLocks noChangeArrowheads="1"/>
          </p:cNvSpPr>
          <p:nvPr/>
        </p:nvSpPr>
        <p:spPr bwMode="auto">
          <a:xfrm>
            <a:off x="644525" y="1524000"/>
            <a:ext cx="3200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r>
              <a:rPr lang="en-US" altLang="zh-CN" b="0"/>
              <a:t>Virtual Address: 0x</a:t>
            </a:r>
            <a:r>
              <a:rPr lang="en-US" altLang="zh-CN" b="0">
                <a:solidFill>
                  <a:srgbClr val="FF0000"/>
                </a:solidFill>
              </a:rPr>
              <a:t>0</a:t>
            </a:r>
            <a:r>
              <a:rPr lang="en-US" altLang="zh-CN" b="0">
                <a:solidFill>
                  <a:srgbClr val="00B0F0"/>
                </a:solidFill>
              </a:rPr>
              <a:t>3</a:t>
            </a:r>
            <a:r>
              <a:rPr lang="en-US" altLang="zh-CN" b="0">
                <a:solidFill>
                  <a:srgbClr val="FFC000"/>
                </a:solidFill>
              </a:rPr>
              <a:t>D</a:t>
            </a:r>
            <a:r>
              <a:rPr lang="en-US" altLang="zh-CN" b="0">
                <a:solidFill>
                  <a:srgbClr val="00B050"/>
                </a:solidFill>
              </a:rPr>
              <a:t>4</a:t>
            </a:r>
            <a:endParaRPr lang="zh-CN" altLang="en-US" b="0">
              <a:solidFill>
                <a:srgbClr val="00B050"/>
              </a:solidFill>
            </a:endParaRPr>
          </a:p>
        </p:txBody>
      </p:sp>
      <p:grpSp>
        <p:nvGrpSpPr>
          <p:cNvPr id="12373" name="Group 106"/>
          <p:cNvGrpSpPr>
            <a:grpSpLocks/>
          </p:cNvGrpSpPr>
          <p:nvPr/>
        </p:nvGrpSpPr>
        <p:grpSpPr bwMode="auto">
          <a:xfrm>
            <a:off x="796925" y="1941513"/>
            <a:ext cx="487363" cy="609600"/>
            <a:chOff x="629" y="1176"/>
            <a:chExt cx="307" cy="384"/>
          </a:xfrm>
          <a:noFill/>
        </p:grpSpPr>
        <p:sp>
          <p:nvSpPr>
            <p:cNvPr id="12413" name="Rectangle 107"/>
            <p:cNvSpPr>
              <a:spLocks noChangeArrowheads="1"/>
            </p:cNvSpPr>
            <p:nvPr/>
          </p:nvSpPr>
          <p:spPr bwMode="auto">
            <a:xfrm>
              <a:off x="629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90000"/>
                </a:lnSpc>
                <a:spcBef>
                  <a:spcPct val="30000"/>
                </a:spcBef>
                <a:defRPr/>
              </a:pPr>
              <a:endParaRPr lang="zh-CN" altLang="en-US" sz="1800">
                <a:solidFill>
                  <a:schemeClr val="tx2"/>
                </a:solidFill>
                <a:latin typeface="Helvetic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414" name="Rectangle 108"/>
            <p:cNvSpPr>
              <a:spLocks noChangeArrowheads="1"/>
            </p:cNvSpPr>
            <p:nvPr/>
          </p:nvSpPr>
          <p:spPr bwMode="auto">
            <a:xfrm>
              <a:off x="629" y="1176"/>
              <a:ext cx="307" cy="19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90000"/>
                </a:lnSpc>
                <a:spcBef>
                  <a:spcPct val="30000"/>
                </a:spcBef>
                <a:defRPr/>
              </a:pPr>
              <a:r>
                <a:rPr lang="en-US" altLang="zh-CN" sz="1400">
                  <a:solidFill>
                    <a:schemeClr val="tx2"/>
                  </a:solidFill>
                  <a:latin typeface="Helvetica" pitchFamily="34" charset="0"/>
                  <a:ea typeface="宋体" panose="02010600030101010101" pitchFamily="2" charset="-122"/>
                </a:rPr>
                <a:t>13</a:t>
              </a:r>
            </a:p>
          </p:txBody>
        </p:sp>
      </p:grpSp>
      <p:grpSp>
        <p:nvGrpSpPr>
          <p:cNvPr id="12374" name="Group 109"/>
          <p:cNvGrpSpPr>
            <a:grpSpLocks/>
          </p:cNvGrpSpPr>
          <p:nvPr/>
        </p:nvGrpSpPr>
        <p:grpSpPr bwMode="auto">
          <a:xfrm>
            <a:off x="1284288" y="1941513"/>
            <a:ext cx="487363" cy="609600"/>
            <a:chOff x="936" y="1176"/>
            <a:chExt cx="307" cy="384"/>
          </a:xfrm>
          <a:noFill/>
        </p:grpSpPr>
        <p:sp>
          <p:nvSpPr>
            <p:cNvPr id="12411" name="Rectangle 110"/>
            <p:cNvSpPr>
              <a:spLocks noChangeArrowheads="1"/>
            </p:cNvSpPr>
            <p:nvPr/>
          </p:nvSpPr>
          <p:spPr bwMode="auto">
            <a:xfrm>
              <a:off x="936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90000"/>
                </a:lnSpc>
                <a:spcBef>
                  <a:spcPct val="30000"/>
                </a:spcBef>
                <a:defRPr/>
              </a:pPr>
              <a:endParaRPr lang="zh-CN" altLang="en-US" sz="1800">
                <a:solidFill>
                  <a:schemeClr val="tx2"/>
                </a:solidFill>
                <a:latin typeface="Helvetic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412" name="Rectangle 111"/>
            <p:cNvSpPr>
              <a:spLocks noChangeArrowheads="1"/>
            </p:cNvSpPr>
            <p:nvPr/>
          </p:nvSpPr>
          <p:spPr bwMode="auto">
            <a:xfrm>
              <a:off x="936" y="1176"/>
              <a:ext cx="307" cy="19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90000"/>
                </a:lnSpc>
                <a:spcBef>
                  <a:spcPct val="30000"/>
                </a:spcBef>
                <a:defRPr/>
              </a:pPr>
              <a:r>
                <a:rPr lang="en-US" altLang="zh-CN" sz="1400">
                  <a:solidFill>
                    <a:schemeClr val="tx2"/>
                  </a:solidFill>
                  <a:latin typeface="Helvetica" pitchFamily="34" charset="0"/>
                  <a:ea typeface="宋体" panose="02010600030101010101" pitchFamily="2" charset="-122"/>
                </a:rPr>
                <a:t>12</a:t>
              </a:r>
            </a:p>
          </p:txBody>
        </p:sp>
      </p:grpSp>
      <p:grpSp>
        <p:nvGrpSpPr>
          <p:cNvPr id="12375" name="Group 112"/>
          <p:cNvGrpSpPr>
            <a:grpSpLocks/>
          </p:cNvGrpSpPr>
          <p:nvPr/>
        </p:nvGrpSpPr>
        <p:grpSpPr bwMode="auto">
          <a:xfrm>
            <a:off x="1771650" y="1941513"/>
            <a:ext cx="487363" cy="609600"/>
            <a:chOff x="1243" y="1176"/>
            <a:chExt cx="307" cy="384"/>
          </a:xfrm>
          <a:noFill/>
        </p:grpSpPr>
        <p:sp>
          <p:nvSpPr>
            <p:cNvPr id="12409" name="Rectangle 113"/>
            <p:cNvSpPr>
              <a:spLocks noChangeArrowheads="1"/>
            </p:cNvSpPr>
            <p:nvPr/>
          </p:nvSpPr>
          <p:spPr bwMode="auto">
            <a:xfrm>
              <a:off x="1243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90000"/>
                </a:lnSpc>
                <a:spcBef>
                  <a:spcPct val="30000"/>
                </a:spcBef>
                <a:defRPr/>
              </a:pPr>
              <a:endParaRPr lang="zh-CN" altLang="en-US" sz="1800">
                <a:solidFill>
                  <a:schemeClr val="tx2"/>
                </a:solidFill>
                <a:latin typeface="Helvetic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410" name="Rectangle 114"/>
            <p:cNvSpPr>
              <a:spLocks noChangeArrowheads="1"/>
            </p:cNvSpPr>
            <p:nvPr/>
          </p:nvSpPr>
          <p:spPr bwMode="auto">
            <a:xfrm>
              <a:off x="1243" y="1176"/>
              <a:ext cx="307" cy="19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90000"/>
                </a:lnSpc>
                <a:spcBef>
                  <a:spcPct val="30000"/>
                </a:spcBef>
                <a:defRPr/>
              </a:pPr>
              <a:r>
                <a:rPr lang="en-US" altLang="zh-CN" sz="1400">
                  <a:solidFill>
                    <a:schemeClr val="tx2"/>
                  </a:solidFill>
                  <a:latin typeface="Helvetica" pitchFamily="34" charset="0"/>
                  <a:ea typeface="宋体" panose="02010600030101010101" pitchFamily="2" charset="-122"/>
                </a:rPr>
                <a:t>11</a:t>
              </a:r>
            </a:p>
          </p:txBody>
        </p:sp>
      </p:grpSp>
      <p:grpSp>
        <p:nvGrpSpPr>
          <p:cNvPr id="12376" name="Group 115"/>
          <p:cNvGrpSpPr>
            <a:grpSpLocks/>
          </p:cNvGrpSpPr>
          <p:nvPr/>
        </p:nvGrpSpPr>
        <p:grpSpPr bwMode="auto">
          <a:xfrm>
            <a:off x="2259013" y="1941513"/>
            <a:ext cx="487363" cy="609600"/>
            <a:chOff x="1550" y="1176"/>
            <a:chExt cx="307" cy="384"/>
          </a:xfrm>
          <a:noFill/>
        </p:grpSpPr>
        <p:sp>
          <p:nvSpPr>
            <p:cNvPr id="12407" name="Rectangle 116"/>
            <p:cNvSpPr>
              <a:spLocks noChangeArrowheads="1"/>
            </p:cNvSpPr>
            <p:nvPr/>
          </p:nvSpPr>
          <p:spPr bwMode="auto">
            <a:xfrm>
              <a:off x="1550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>
                <a:defRPr/>
              </a:pPr>
              <a:endParaRPr lang="zh-CN" altLang="en-US"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408" name="Rectangle 117"/>
            <p:cNvSpPr>
              <a:spLocks noChangeArrowheads="1"/>
            </p:cNvSpPr>
            <p:nvPr/>
          </p:nvSpPr>
          <p:spPr bwMode="auto">
            <a:xfrm>
              <a:off x="1550" y="1176"/>
              <a:ext cx="307" cy="19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90000"/>
                </a:lnSpc>
                <a:spcBef>
                  <a:spcPct val="30000"/>
                </a:spcBef>
                <a:defRPr/>
              </a:pPr>
              <a:r>
                <a:rPr lang="en-US" altLang="zh-CN" sz="1400">
                  <a:solidFill>
                    <a:schemeClr val="tx2"/>
                  </a:solidFill>
                  <a:latin typeface="Helvetica" pitchFamily="34" charset="0"/>
                  <a:ea typeface="宋体" panose="02010600030101010101" pitchFamily="2" charset="-122"/>
                </a:rPr>
                <a:t>10</a:t>
              </a:r>
            </a:p>
          </p:txBody>
        </p:sp>
      </p:grpSp>
      <p:grpSp>
        <p:nvGrpSpPr>
          <p:cNvPr id="12377" name="Group 118"/>
          <p:cNvGrpSpPr>
            <a:grpSpLocks/>
          </p:cNvGrpSpPr>
          <p:nvPr/>
        </p:nvGrpSpPr>
        <p:grpSpPr bwMode="auto">
          <a:xfrm>
            <a:off x="2746375" y="1941513"/>
            <a:ext cx="487363" cy="609600"/>
            <a:chOff x="1857" y="1176"/>
            <a:chExt cx="307" cy="384"/>
          </a:xfrm>
          <a:noFill/>
        </p:grpSpPr>
        <p:sp>
          <p:nvSpPr>
            <p:cNvPr id="12405" name="Rectangle 119"/>
            <p:cNvSpPr>
              <a:spLocks noChangeArrowheads="1"/>
            </p:cNvSpPr>
            <p:nvPr/>
          </p:nvSpPr>
          <p:spPr bwMode="auto">
            <a:xfrm>
              <a:off x="1857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>
                <a:defRPr/>
              </a:pPr>
              <a:endParaRPr lang="zh-CN" altLang="en-US"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406" name="Rectangle 120"/>
            <p:cNvSpPr>
              <a:spLocks noChangeArrowheads="1"/>
            </p:cNvSpPr>
            <p:nvPr/>
          </p:nvSpPr>
          <p:spPr bwMode="auto">
            <a:xfrm>
              <a:off x="1857" y="1176"/>
              <a:ext cx="307" cy="19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90000"/>
                </a:lnSpc>
                <a:spcBef>
                  <a:spcPct val="30000"/>
                </a:spcBef>
                <a:defRPr/>
              </a:pPr>
              <a:r>
                <a:rPr lang="en-US" altLang="zh-CN" sz="1400">
                  <a:solidFill>
                    <a:schemeClr val="tx2"/>
                  </a:solidFill>
                  <a:latin typeface="Helvetica" pitchFamily="34" charset="0"/>
                  <a:ea typeface="宋体" panose="02010600030101010101" pitchFamily="2" charset="-122"/>
                </a:rPr>
                <a:t>9</a:t>
              </a:r>
            </a:p>
          </p:txBody>
        </p:sp>
      </p:grpSp>
      <p:grpSp>
        <p:nvGrpSpPr>
          <p:cNvPr id="12378" name="Group 121"/>
          <p:cNvGrpSpPr>
            <a:grpSpLocks/>
          </p:cNvGrpSpPr>
          <p:nvPr/>
        </p:nvGrpSpPr>
        <p:grpSpPr bwMode="auto">
          <a:xfrm>
            <a:off x="3233738" y="1941513"/>
            <a:ext cx="487363" cy="609600"/>
            <a:chOff x="2164" y="1176"/>
            <a:chExt cx="307" cy="384"/>
          </a:xfrm>
          <a:noFill/>
        </p:grpSpPr>
        <p:sp>
          <p:nvSpPr>
            <p:cNvPr id="12403" name="Rectangle 122"/>
            <p:cNvSpPr>
              <a:spLocks noChangeArrowheads="1"/>
            </p:cNvSpPr>
            <p:nvPr/>
          </p:nvSpPr>
          <p:spPr bwMode="auto">
            <a:xfrm>
              <a:off x="2164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>
                <a:defRPr/>
              </a:pPr>
              <a:endParaRPr lang="zh-CN" altLang="en-US"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404" name="Rectangle 123"/>
            <p:cNvSpPr>
              <a:spLocks noChangeArrowheads="1"/>
            </p:cNvSpPr>
            <p:nvPr/>
          </p:nvSpPr>
          <p:spPr bwMode="auto">
            <a:xfrm>
              <a:off x="2164" y="1176"/>
              <a:ext cx="307" cy="19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90000"/>
                </a:lnSpc>
                <a:spcBef>
                  <a:spcPct val="30000"/>
                </a:spcBef>
                <a:defRPr/>
              </a:pPr>
              <a:r>
                <a:rPr lang="en-US" altLang="zh-CN" sz="1400">
                  <a:solidFill>
                    <a:schemeClr val="tx2"/>
                  </a:solidFill>
                  <a:latin typeface="Helvetica" pitchFamily="34" charset="0"/>
                  <a:ea typeface="宋体" panose="02010600030101010101" pitchFamily="2" charset="-122"/>
                </a:rPr>
                <a:t>8</a:t>
              </a:r>
            </a:p>
          </p:txBody>
        </p:sp>
      </p:grpSp>
      <p:grpSp>
        <p:nvGrpSpPr>
          <p:cNvPr id="12379" name="Group 124"/>
          <p:cNvGrpSpPr>
            <a:grpSpLocks/>
          </p:cNvGrpSpPr>
          <p:nvPr/>
        </p:nvGrpSpPr>
        <p:grpSpPr bwMode="auto">
          <a:xfrm>
            <a:off x="3721100" y="1941513"/>
            <a:ext cx="487363" cy="609600"/>
            <a:chOff x="2471" y="1176"/>
            <a:chExt cx="307" cy="384"/>
          </a:xfrm>
          <a:noFill/>
        </p:grpSpPr>
        <p:sp>
          <p:nvSpPr>
            <p:cNvPr id="12401" name="Rectangle 125"/>
            <p:cNvSpPr>
              <a:spLocks noChangeArrowheads="1"/>
            </p:cNvSpPr>
            <p:nvPr/>
          </p:nvSpPr>
          <p:spPr bwMode="auto">
            <a:xfrm>
              <a:off x="2471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>
                <a:defRPr/>
              </a:pPr>
              <a:endParaRPr lang="zh-CN" altLang="en-US"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402" name="Rectangle 126"/>
            <p:cNvSpPr>
              <a:spLocks noChangeArrowheads="1"/>
            </p:cNvSpPr>
            <p:nvPr/>
          </p:nvSpPr>
          <p:spPr bwMode="auto">
            <a:xfrm>
              <a:off x="2471" y="1176"/>
              <a:ext cx="307" cy="19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90000"/>
                </a:lnSpc>
                <a:spcBef>
                  <a:spcPct val="30000"/>
                </a:spcBef>
                <a:defRPr/>
              </a:pPr>
              <a:r>
                <a:rPr lang="en-US" altLang="zh-CN" sz="1400">
                  <a:solidFill>
                    <a:schemeClr val="tx2"/>
                  </a:solidFill>
                  <a:latin typeface="Helvetica" pitchFamily="34" charset="0"/>
                  <a:ea typeface="宋体" panose="02010600030101010101" pitchFamily="2" charset="-122"/>
                </a:rPr>
                <a:t>7</a:t>
              </a:r>
            </a:p>
          </p:txBody>
        </p:sp>
      </p:grpSp>
      <p:grpSp>
        <p:nvGrpSpPr>
          <p:cNvPr id="12380" name="Group 127"/>
          <p:cNvGrpSpPr>
            <a:grpSpLocks/>
          </p:cNvGrpSpPr>
          <p:nvPr/>
        </p:nvGrpSpPr>
        <p:grpSpPr bwMode="auto">
          <a:xfrm>
            <a:off x="4208463" y="1941513"/>
            <a:ext cx="487363" cy="609600"/>
            <a:chOff x="2778" y="1176"/>
            <a:chExt cx="307" cy="384"/>
          </a:xfrm>
          <a:noFill/>
        </p:grpSpPr>
        <p:sp>
          <p:nvSpPr>
            <p:cNvPr id="12399" name="Rectangle 128"/>
            <p:cNvSpPr>
              <a:spLocks noChangeArrowheads="1"/>
            </p:cNvSpPr>
            <p:nvPr/>
          </p:nvSpPr>
          <p:spPr bwMode="auto">
            <a:xfrm>
              <a:off x="2778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>
                <a:defRPr/>
              </a:pPr>
              <a:endParaRPr lang="zh-CN" altLang="en-US"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400" name="Rectangle 129"/>
            <p:cNvSpPr>
              <a:spLocks noChangeArrowheads="1"/>
            </p:cNvSpPr>
            <p:nvPr/>
          </p:nvSpPr>
          <p:spPr bwMode="auto">
            <a:xfrm>
              <a:off x="2778" y="1176"/>
              <a:ext cx="307" cy="19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90000"/>
                </a:lnSpc>
                <a:spcBef>
                  <a:spcPct val="30000"/>
                </a:spcBef>
                <a:defRPr/>
              </a:pPr>
              <a:r>
                <a:rPr lang="en-US" altLang="zh-CN" sz="1400">
                  <a:solidFill>
                    <a:schemeClr val="tx2"/>
                  </a:solidFill>
                  <a:latin typeface="Helvetica" pitchFamily="34" charset="0"/>
                  <a:ea typeface="宋体" panose="02010600030101010101" pitchFamily="2" charset="-122"/>
                </a:rPr>
                <a:t>6</a:t>
              </a:r>
            </a:p>
          </p:txBody>
        </p:sp>
      </p:grpSp>
      <p:grpSp>
        <p:nvGrpSpPr>
          <p:cNvPr id="12381" name="Group 130"/>
          <p:cNvGrpSpPr>
            <a:grpSpLocks/>
          </p:cNvGrpSpPr>
          <p:nvPr/>
        </p:nvGrpSpPr>
        <p:grpSpPr bwMode="auto">
          <a:xfrm>
            <a:off x="4695825" y="1941513"/>
            <a:ext cx="487363" cy="609600"/>
            <a:chOff x="3085" y="1176"/>
            <a:chExt cx="307" cy="384"/>
          </a:xfrm>
          <a:noFill/>
        </p:grpSpPr>
        <p:sp>
          <p:nvSpPr>
            <p:cNvPr id="12397" name="Rectangle 131"/>
            <p:cNvSpPr>
              <a:spLocks noChangeArrowheads="1"/>
            </p:cNvSpPr>
            <p:nvPr/>
          </p:nvSpPr>
          <p:spPr bwMode="auto">
            <a:xfrm>
              <a:off x="3085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>
                <a:defRPr/>
              </a:pPr>
              <a:endParaRPr lang="zh-CN" altLang="en-US"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398" name="Rectangle 132"/>
            <p:cNvSpPr>
              <a:spLocks noChangeArrowheads="1"/>
            </p:cNvSpPr>
            <p:nvPr/>
          </p:nvSpPr>
          <p:spPr bwMode="auto">
            <a:xfrm>
              <a:off x="3085" y="1176"/>
              <a:ext cx="307" cy="19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90000"/>
                </a:lnSpc>
                <a:spcBef>
                  <a:spcPct val="30000"/>
                </a:spcBef>
                <a:defRPr/>
              </a:pPr>
              <a:r>
                <a:rPr lang="en-US" altLang="zh-CN" sz="1400">
                  <a:solidFill>
                    <a:schemeClr val="tx2"/>
                  </a:solidFill>
                  <a:latin typeface="Helvetica" pitchFamily="34" charset="0"/>
                  <a:ea typeface="宋体" panose="02010600030101010101" pitchFamily="2" charset="-122"/>
                </a:rPr>
                <a:t>5</a:t>
              </a:r>
            </a:p>
          </p:txBody>
        </p:sp>
      </p:grpSp>
      <p:grpSp>
        <p:nvGrpSpPr>
          <p:cNvPr id="12382" name="Group 133"/>
          <p:cNvGrpSpPr>
            <a:grpSpLocks/>
          </p:cNvGrpSpPr>
          <p:nvPr/>
        </p:nvGrpSpPr>
        <p:grpSpPr bwMode="auto">
          <a:xfrm>
            <a:off x="5183188" y="1941513"/>
            <a:ext cx="487363" cy="609600"/>
            <a:chOff x="3392" y="1176"/>
            <a:chExt cx="307" cy="384"/>
          </a:xfrm>
          <a:noFill/>
        </p:grpSpPr>
        <p:sp>
          <p:nvSpPr>
            <p:cNvPr id="12395" name="Rectangle 134"/>
            <p:cNvSpPr>
              <a:spLocks noChangeArrowheads="1"/>
            </p:cNvSpPr>
            <p:nvPr/>
          </p:nvSpPr>
          <p:spPr bwMode="auto">
            <a:xfrm>
              <a:off x="3392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>
                <a:defRPr/>
              </a:pPr>
              <a:endParaRPr lang="zh-CN" altLang="en-US"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396" name="Rectangle 135"/>
            <p:cNvSpPr>
              <a:spLocks noChangeArrowheads="1"/>
            </p:cNvSpPr>
            <p:nvPr/>
          </p:nvSpPr>
          <p:spPr bwMode="auto">
            <a:xfrm>
              <a:off x="3392" y="1176"/>
              <a:ext cx="307" cy="19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90000"/>
                </a:lnSpc>
                <a:spcBef>
                  <a:spcPct val="30000"/>
                </a:spcBef>
                <a:defRPr/>
              </a:pPr>
              <a:r>
                <a:rPr lang="en-US" altLang="zh-CN" sz="1400">
                  <a:solidFill>
                    <a:schemeClr val="tx2"/>
                  </a:solidFill>
                  <a:latin typeface="Helvetica" pitchFamily="34" charset="0"/>
                  <a:ea typeface="宋体" panose="02010600030101010101" pitchFamily="2" charset="-122"/>
                </a:rPr>
                <a:t>4</a:t>
              </a:r>
            </a:p>
          </p:txBody>
        </p:sp>
      </p:grpSp>
      <p:grpSp>
        <p:nvGrpSpPr>
          <p:cNvPr id="12383" name="Group 136"/>
          <p:cNvGrpSpPr>
            <a:grpSpLocks/>
          </p:cNvGrpSpPr>
          <p:nvPr/>
        </p:nvGrpSpPr>
        <p:grpSpPr bwMode="auto">
          <a:xfrm>
            <a:off x="5670550" y="1941513"/>
            <a:ext cx="487363" cy="609600"/>
            <a:chOff x="3699" y="1176"/>
            <a:chExt cx="307" cy="384"/>
          </a:xfrm>
          <a:noFill/>
        </p:grpSpPr>
        <p:sp>
          <p:nvSpPr>
            <p:cNvPr id="12393" name="Rectangle 137"/>
            <p:cNvSpPr>
              <a:spLocks noChangeArrowheads="1"/>
            </p:cNvSpPr>
            <p:nvPr/>
          </p:nvSpPr>
          <p:spPr bwMode="auto">
            <a:xfrm>
              <a:off x="3699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>
                <a:defRPr/>
              </a:pPr>
              <a:endParaRPr lang="zh-CN" altLang="en-US"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394" name="Rectangle 138"/>
            <p:cNvSpPr>
              <a:spLocks noChangeArrowheads="1"/>
            </p:cNvSpPr>
            <p:nvPr/>
          </p:nvSpPr>
          <p:spPr bwMode="auto">
            <a:xfrm>
              <a:off x="3699" y="1176"/>
              <a:ext cx="307" cy="19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90000"/>
                </a:lnSpc>
                <a:spcBef>
                  <a:spcPct val="30000"/>
                </a:spcBef>
                <a:defRPr/>
              </a:pPr>
              <a:r>
                <a:rPr lang="en-US" altLang="zh-CN" sz="1400">
                  <a:solidFill>
                    <a:schemeClr val="tx2"/>
                  </a:solidFill>
                  <a:latin typeface="Helvetica" pitchFamily="34" charset="0"/>
                  <a:ea typeface="宋体" panose="02010600030101010101" pitchFamily="2" charset="-122"/>
                </a:rPr>
                <a:t>3</a:t>
              </a:r>
            </a:p>
          </p:txBody>
        </p:sp>
      </p:grpSp>
      <p:grpSp>
        <p:nvGrpSpPr>
          <p:cNvPr id="12384" name="Group 139"/>
          <p:cNvGrpSpPr>
            <a:grpSpLocks/>
          </p:cNvGrpSpPr>
          <p:nvPr/>
        </p:nvGrpSpPr>
        <p:grpSpPr bwMode="auto">
          <a:xfrm>
            <a:off x="6157913" y="1941513"/>
            <a:ext cx="487363" cy="609600"/>
            <a:chOff x="4006" y="1176"/>
            <a:chExt cx="307" cy="384"/>
          </a:xfrm>
          <a:noFill/>
        </p:grpSpPr>
        <p:sp>
          <p:nvSpPr>
            <p:cNvPr id="12391" name="Rectangle 140"/>
            <p:cNvSpPr>
              <a:spLocks noChangeArrowheads="1"/>
            </p:cNvSpPr>
            <p:nvPr/>
          </p:nvSpPr>
          <p:spPr bwMode="auto">
            <a:xfrm>
              <a:off x="4006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>
                <a:defRPr/>
              </a:pPr>
              <a:endParaRPr lang="zh-CN" altLang="en-US"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392" name="Rectangle 141"/>
            <p:cNvSpPr>
              <a:spLocks noChangeArrowheads="1"/>
            </p:cNvSpPr>
            <p:nvPr/>
          </p:nvSpPr>
          <p:spPr bwMode="auto">
            <a:xfrm>
              <a:off x="4006" y="1176"/>
              <a:ext cx="307" cy="19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90000"/>
                </a:lnSpc>
                <a:spcBef>
                  <a:spcPct val="30000"/>
                </a:spcBef>
                <a:defRPr/>
              </a:pPr>
              <a:r>
                <a:rPr lang="en-US" altLang="zh-CN" sz="1400">
                  <a:solidFill>
                    <a:schemeClr val="tx2"/>
                  </a:solidFill>
                  <a:latin typeface="Helvetica" pitchFamily="34" charset="0"/>
                  <a:ea typeface="宋体" panose="02010600030101010101" pitchFamily="2" charset="-122"/>
                </a:rPr>
                <a:t>2</a:t>
              </a:r>
            </a:p>
          </p:txBody>
        </p:sp>
      </p:grpSp>
      <p:grpSp>
        <p:nvGrpSpPr>
          <p:cNvPr id="12385" name="Group 142"/>
          <p:cNvGrpSpPr>
            <a:grpSpLocks/>
          </p:cNvGrpSpPr>
          <p:nvPr/>
        </p:nvGrpSpPr>
        <p:grpSpPr bwMode="auto">
          <a:xfrm>
            <a:off x="6645275" y="1941513"/>
            <a:ext cx="487363" cy="609600"/>
            <a:chOff x="4313" y="1176"/>
            <a:chExt cx="307" cy="384"/>
          </a:xfrm>
          <a:noFill/>
        </p:grpSpPr>
        <p:sp>
          <p:nvSpPr>
            <p:cNvPr id="12389" name="Rectangle 143"/>
            <p:cNvSpPr>
              <a:spLocks noChangeArrowheads="1"/>
            </p:cNvSpPr>
            <p:nvPr/>
          </p:nvSpPr>
          <p:spPr bwMode="auto">
            <a:xfrm>
              <a:off x="4313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>
                <a:defRPr/>
              </a:pPr>
              <a:endParaRPr lang="zh-CN" altLang="en-US"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390" name="Rectangle 144"/>
            <p:cNvSpPr>
              <a:spLocks noChangeArrowheads="1"/>
            </p:cNvSpPr>
            <p:nvPr/>
          </p:nvSpPr>
          <p:spPr bwMode="auto">
            <a:xfrm>
              <a:off x="4313" y="1176"/>
              <a:ext cx="307" cy="19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90000"/>
                </a:lnSpc>
                <a:spcBef>
                  <a:spcPct val="30000"/>
                </a:spcBef>
                <a:defRPr/>
              </a:pPr>
              <a:r>
                <a:rPr lang="en-US" altLang="zh-CN" sz="1400">
                  <a:solidFill>
                    <a:schemeClr val="tx2"/>
                  </a:solidFill>
                  <a:latin typeface="Helvetica" pitchFamily="34" charset="0"/>
                  <a:ea typeface="宋体" panose="02010600030101010101" pitchFamily="2" charset="-122"/>
                </a:rPr>
                <a:t>1</a:t>
              </a:r>
            </a:p>
          </p:txBody>
        </p:sp>
      </p:grpSp>
      <p:grpSp>
        <p:nvGrpSpPr>
          <p:cNvPr id="12386" name="Group 145"/>
          <p:cNvGrpSpPr>
            <a:grpSpLocks/>
          </p:cNvGrpSpPr>
          <p:nvPr/>
        </p:nvGrpSpPr>
        <p:grpSpPr bwMode="auto">
          <a:xfrm>
            <a:off x="7132638" y="1941513"/>
            <a:ext cx="487363" cy="609600"/>
            <a:chOff x="4620" y="1176"/>
            <a:chExt cx="307" cy="384"/>
          </a:xfrm>
          <a:noFill/>
        </p:grpSpPr>
        <p:sp>
          <p:nvSpPr>
            <p:cNvPr id="12387" name="Rectangle 146"/>
            <p:cNvSpPr>
              <a:spLocks noChangeArrowheads="1"/>
            </p:cNvSpPr>
            <p:nvPr/>
          </p:nvSpPr>
          <p:spPr bwMode="auto">
            <a:xfrm>
              <a:off x="4620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>
                <a:defRPr/>
              </a:pPr>
              <a:endParaRPr lang="zh-CN" altLang="en-US"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388" name="Rectangle 147"/>
            <p:cNvSpPr>
              <a:spLocks noChangeArrowheads="1"/>
            </p:cNvSpPr>
            <p:nvPr/>
          </p:nvSpPr>
          <p:spPr bwMode="auto">
            <a:xfrm>
              <a:off x="4620" y="1176"/>
              <a:ext cx="307" cy="19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90000"/>
                </a:lnSpc>
                <a:spcBef>
                  <a:spcPct val="30000"/>
                </a:spcBef>
                <a:defRPr/>
              </a:pPr>
              <a:r>
                <a:rPr lang="en-US" altLang="zh-CN" sz="1400">
                  <a:solidFill>
                    <a:schemeClr val="tx2"/>
                  </a:solidFill>
                  <a:latin typeface="Helvetica" pitchFamily="34" charset="0"/>
                  <a:ea typeface="宋体" panose="02010600030101010101" pitchFamily="2" charset="-122"/>
                </a:rPr>
                <a:t>0</a:t>
              </a:r>
            </a:p>
          </p:txBody>
        </p:sp>
      </p:grpSp>
      <p:grpSp>
        <p:nvGrpSpPr>
          <p:cNvPr id="12353" name="Group 148"/>
          <p:cNvGrpSpPr>
            <a:grpSpLocks/>
          </p:cNvGrpSpPr>
          <p:nvPr/>
        </p:nvGrpSpPr>
        <p:grpSpPr bwMode="auto">
          <a:xfrm>
            <a:off x="4695825" y="2711450"/>
            <a:ext cx="2924175" cy="336550"/>
            <a:chOff x="3085" y="1661"/>
            <a:chExt cx="1842" cy="212"/>
          </a:xfrm>
          <a:noFill/>
        </p:grpSpPr>
        <p:sp>
          <p:nvSpPr>
            <p:cNvPr id="12371" name="Line 149"/>
            <p:cNvSpPr>
              <a:spLocks noChangeShapeType="1"/>
            </p:cNvSpPr>
            <p:nvPr/>
          </p:nvSpPr>
          <p:spPr bwMode="auto">
            <a:xfrm>
              <a:off x="3085" y="1752"/>
              <a:ext cx="1842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 type="arrow" w="med" len="med"/>
              <a:tailEnd type="arrow" w="med" len="med"/>
            </a:ln>
          </p:spPr>
          <p:txBody>
            <a:bodyPr wrap="none" lIns="90487" tIns="44450" rIns="90487" bIns="44450"/>
            <a:lstStyle/>
            <a:p>
              <a:pPr>
                <a:defRPr/>
              </a:pPr>
              <a:endParaRPr lang="zh-CN" altLang="en-US"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372" name="Text Box 150"/>
            <p:cNvSpPr txBox="1">
              <a:spLocks noChangeArrowheads="1"/>
            </p:cNvSpPr>
            <p:nvPr/>
          </p:nvSpPr>
          <p:spPr bwMode="auto">
            <a:xfrm>
              <a:off x="3794" y="1661"/>
              <a:ext cx="418" cy="2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defRPr/>
              </a:pPr>
              <a:r>
                <a:rPr lang="en-US" altLang="zh-CN" sz="1800">
                  <a:solidFill>
                    <a:schemeClr val="tx2"/>
                  </a:solidFill>
                  <a:latin typeface="Helvetica" pitchFamily="34" charset="0"/>
                </a:rPr>
                <a:t>VPO</a:t>
              </a:r>
            </a:p>
          </p:txBody>
        </p:sp>
      </p:grpSp>
      <p:grpSp>
        <p:nvGrpSpPr>
          <p:cNvPr id="12354" name="Group 151"/>
          <p:cNvGrpSpPr>
            <a:grpSpLocks/>
          </p:cNvGrpSpPr>
          <p:nvPr/>
        </p:nvGrpSpPr>
        <p:grpSpPr bwMode="auto">
          <a:xfrm>
            <a:off x="796925" y="2703513"/>
            <a:ext cx="3916363" cy="336550"/>
            <a:chOff x="629" y="1656"/>
            <a:chExt cx="2467" cy="212"/>
          </a:xfrm>
          <a:noFill/>
        </p:grpSpPr>
        <p:sp>
          <p:nvSpPr>
            <p:cNvPr id="12369" name="Line 152"/>
            <p:cNvSpPr>
              <a:spLocks noChangeShapeType="1"/>
            </p:cNvSpPr>
            <p:nvPr/>
          </p:nvSpPr>
          <p:spPr bwMode="auto">
            <a:xfrm>
              <a:off x="629" y="1747"/>
              <a:ext cx="2467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 type="arrow" w="med" len="med"/>
              <a:tailEnd type="arrow" w="med" len="med"/>
            </a:ln>
          </p:spPr>
          <p:txBody>
            <a:bodyPr wrap="none" lIns="90487" tIns="44450" rIns="90487" bIns="44450"/>
            <a:lstStyle/>
            <a:p>
              <a:pPr>
                <a:defRPr/>
              </a:pPr>
              <a:endParaRPr lang="zh-CN" altLang="en-US"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370" name="Text Box 153"/>
            <p:cNvSpPr txBox="1">
              <a:spLocks noChangeArrowheads="1"/>
            </p:cNvSpPr>
            <p:nvPr/>
          </p:nvSpPr>
          <p:spPr bwMode="auto">
            <a:xfrm>
              <a:off x="1579" y="1656"/>
              <a:ext cx="409" cy="2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defRPr/>
              </a:pPr>
              <a:r>
                <a:rPr lang="en-US" altLang="zh-CN" sz="1800" dirty="0">
                  <a:solidFill>
                    <a:schemeClr val="tx2"/>
                  </a:solidFill>
                  <a:latin typeface="Helvetica" pitchFamily="34" charset="0"/>
                </a:rPr>
                <a:t>VPN</a:t>
              </a:r>
            </a:p>
          </p:txBody>
        </p:sp>
      </p:grpSp>
      <p:sp>
        <p:nvSpPr>
          <p:cNvPr id="115732" name="Rectangle 175"/>
          <p:cNvSpPr>
            <a:spLocks noChangeArrowheads="1"/>
          </p:cNvSpPr>
          <p:nvPr/>
        </p:nvSpPr>
        <p:spPr bwMode="auto">
          <a:xfrm>
            <a:off x="685800" y="3336925"/>
            <a:ext cx="7848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lnSpc>
                <a:spcPct val="140000"/>
              </a:lnSpc>
            </a:pPr>
            <a:r>
              <a:rPr lang="en-US" altLang="zh-CN" b="0"/>
              <a:t>VPN: </a:t>
            </a:r>
            <a:r>
              <a:rPr lang="en-US" altLang="zh-CN" u="sng"/>
              <a:t>      </a:t>
            </a:r>
            <a:r>
              <a:rPr lang="en-US" altLang="zh-CN"/>
              <a:t>  </a:t>
            </a:r>
            <a:r>
              <a:rPr lang="en-US" altLang="zh-CN" b="0"/>
              <a:t>VPO: </a:t>
            </a:r>
            <a:r>
              <a:rPr lang="en-US" altLang="zh-CN" b="0" u="sng"/>
              <a:t>        </a:t>
            </a:r>
            <a:r>
              <a:rPr lang="en-US" altLang="zh-CN" b="0"/>
              <a:t>             	Page Fault? </a:t>
            </a:r>
            <a:r>
              <a:rPr lang="en-US" altLang="zh-CN" u="sng"/>
              <a:t>      </a:t>
            </a:r>
            <a:r>
              <a:rPr lang="en-US" altLang="zh-CN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15733" name="Rectangle 176"/>
          <p:cNvSpPr>
            <a:spLocks noChangeArrowheads="1"/>
          </p:cNvSpPr>
          <p:nvPr/>
        </p:nvSpPr>
        <p:spPr bwMode="auto">
          <a:xfrm>
            <a:off x="708025" y="5257800"/>
            <a:ext cx="61706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lnSpc>
                <a:spcPct val="140000"/>
              </a:lnSpc>
            </a:pPr>
            <a:r>
              <a:rPr lang="en-US" altLang="zh-CN" b="0"/>
              <a:t>PPN: </a:t>
            </a:r>
            <a:r>
              <a:rPr lang="en-US" altLang="zh-CN" u="sng"/>
              <a:t>     </a:t>
            </a:r>
            <a:r>
              <a:rPr lang="en-US" altLang="zh-CN" b="0"/>
              <a:t>    PPO: </a:t>
            </a:r>
            <a:r>
              <a:rPr lang="en-US" altLang="zh-CN" u="sng"/>
              <a:t>      </a:t>
            </a:r>
            <a:r>
              <a:rPr lang="en-US" altLang="zh-CN" b="0"/>
              <a:t>		PA: </a:t>
            </a:r>
            <a:r>
              <a:rPr lang="en-US" altLang="zh-CN" u="sng"/>
              <a:t>      </a:t>
            </a:r>
          </a:p>
        </p:txBody>
      </p:sp>
      <p:grpSp>
        <p:nvGrpSpPr>
          <p:cNvPr id="115734" name="Group 179"/>
          <p:cNvGrpSpPr>
            <a:grpSpLocks/>
          </p:cNvGrpSpPr>
          <p:nvPr/>
        </p:nvGrpSpPr>
        <p:grpSpPr bwMode="auto">
          <a:xfrm>
            <a:off x="1779588" y="4006850"/>
            <a:ext cx="5848350" cy="609600"/>
            <a:chOff x="1219" y="2880"/>
            <a:chExt cx="3684" cy="384"/>
          </a:xfrm>
        </p:grpSpPr>
        <p:grpSp>
          <p:nvGrpSpPr>
            <p:cNvPr id="115742" name="Group 180"/>
            <p:cNvGrpSpPr>
              <a:grpSpLocks/>
            </p:cNvGrpSpPr>
            <p:nvPr/>
          </p:nvGrpSpPr>
          <p:grpSpPr bwMode="auto">
            <a:xfrm>
              <a:off x="1219" y="2880"/>
              <a:ext cx="307" cy="384"/>
              <a:chOff x="605" y="1776"/>
              <a:chExt cx="307" cy="384"/>
            </a:xfrm>
          </p:grpSpPr>
          <p:sp>
            <p:nvSpPr>
              <p:cNvPr id="115776" name="Rectangle 181"/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487" tIns="44450" rIns="90487" bIns="44450" anchor="ctr"/>
              <a:lstStyle>
                <a:lvl1pPr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5777" name="Rectangle 182"/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 anchor="ctr"/>
              <a:lstStyle>
                <a:lvl1pPr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30000"/>
                  </a:spcBef>
                </a:pPr>
                <a:r>
                  <a:rPr lang="en-US" altLang="zh-CN" sz="1400">
                    <a:solidFill>
                      <a:schemeClr val="tx2"/>
                    </a:solidFill>
                    <a:latin typeface="Helvetica" charset="0"/>
                  </a:rPr>
                  <a:t>11</a:t>
                </a:r>
              </a:p>
            </p:txBody>
          </p:sp>
        </p:grpSp>
        <p:grpSp>
          <p:nvGrpSpPr>
            <p:cNvPr id="115743" name="Group 183"/>
            <p:cNvGrpSpPr>
              <a:grpSpLocks/>
            </p:cNvGrpSpPr>
            <p:nvPr/>
          </p:nvGrpSpPr>
          <p:grpSpPr bwMode="auto">
            <a:xfrm>
              <a:off x="1526" y="2880"/>
              <a:ext cx="307" cy="384"/>
              <a:chOff x="605" y="1776"/>
              <a:chExt cx="307" cy="384"/>
            </a:xfrm>
          </p:grpSpPr>
          <p:sp>
            <p:nvSpPr>
              <p:cNvPr id="115774" name="Rectangle 184"/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487" tIns="44450" rIns="90487" bIns="44450" anchor="ctr"/>
              <a:lstStyle>
                <a:lvl1pPr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5775" name="Rectangle 185"/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 anchor="ctr"/>
              <a:lstStyle>
                <a:lvl1pPr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30000"/>
                  </a:spcBef>
                </a:pPr>
                <a:r>
                  <a:rPr lang="en-US" altLang="zh-CN" sz="1400">
                    <a:solidFill>
                      <a:schemeClr val="tx2"/>
                    </a:solidFill>
                    <a:latin typeface="Helvetica" charset="0"/>
                  </a:rPr>
                  <a:t>10</a:t>
                </a:r>
              </a:p>
            </p:txBody>
          </p:sp>
        </p:grpSp>
        <p:grpSp>
          <p:nvGrpSpPr>
            <p:cNvPr id="115744" name="Group 186"/>
            <p:cNvGrpSpPr>
              <a:grpSpLocks/>
            </p:cNvGrpSpPr>
            <p:nvPr/>
          </p:nvGrpSpPr>
          <p:grpSpPr bwMode="auto">
            <a:xfrm>
              <a:off x="1833" y="2880"/>
              <a:ext cx="307" cy="384"/>
              <a:chOff x="605" y="1776"/>
              <a:chExt cx="307" cy="384"/>
            </a:xfrm>
          </p:grpSpPr>
          <p:sp>
            <p:nvSpPr>
              <p:cNvPr id="115772" name="Rectangle 187"/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487" tIns="44450" rIns="90487" bIns="44450" anchor="ctr"/>
              <a:lstStyle>
                <a:lvl1pPr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5773" name="Rectangle 188"/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 anchor="ctr"/>
              <a:lstStyle>
                <a:lvl1pPr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30000"/>
                  </a:spcBef>
                </a:pPr>
                <a:r>
                  <a:rPr lang="en-US" altLang="zh-CN" sz="1400">
                    <a:solidFill>
                      <a:schemeClr val="tx2"/>
                    </a:solidFill>
                    <a:latin typeface="Helvetica" charset="0"/>
                  </a:rPr>
                  <a:t>9</a:t>
                </a:r>
              </a:p>
            </p:txBody>
          </p:sp>
        </p:grpSp>
        <p:grpSp>
          <p:nvGrpSpPr>
            <p:cNvPr id="115745" name="Group 189"/>
            <p:cNvGrpSpPr>
              <a:grpSpLocks/>
            </p:cNvGrpSpPr>
            <p:nvPr/>
          </p:nvGrpSpPr>
          <p:grpSpPr bwMode="auto">
            <a:xfrm>
              <a:off x="2140" y="2880"/>
              <a:ext cx="307" cy="384"/>
              <a:chOff x="605" y="1776"/>
              <a:chExt cx="307" cy="384"/>
            </a:xfrm>
          </p:grpSpPr>
          <p:sp>
            <p:nvSpPr>
              <p:cNvPr id="115770" name="Rectangle 190"/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487" tIns="44450" rIns="90487" bIns="44450" anchor="ctr"/>
              <a:lstStyle>
                <a:lvl1pPr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5771" name="Rectangle 191"/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 anchor="ctr"/>
              <a:lstStyle>
                <a:lvl1pPr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30000"/>
                  </a:spcBef>
                </a:pPr>
                <a:r>
                  <a:rPr lang="en-US" altLang="zh-CN" sz="1400">
                    <a:solidFill>
                      <a:schemeClr val="tx2"/>
                    </a:solidFill>
                    <a:latin typeface="Helvetica" charset="0"/>
                  </a:rPr>
                  <a:t>8</a:t>
                </a:r>
              </a:p>
            </p:txBody>
          </p:sp>
        </p:grpSp>
        <p:grpSp>
          <p:nvGrpSpPr>
            <p:cNvPr id="115746" name="Group 192"/>
            <p:cNvGrpSpPr>
              <a:grpSpLocks/>
            </p:cNvGrpSpPr>
            <p:nvPr/>
          </p:nvGrpSpPr>
          <p:grpSpPr bwMode="auto">
            <a:xfrm>
              <a:off x="2447" y="2880"/>
              <a:ext cx="307" cy="384"/>
              <a:chOff x="605" y="1776"/>
              <a:chExt cx="307" cy="384"/>
            </a:xfrm>
          </p:grpSpPr>
          <p:sp>
            <p:nvSpPr>
              <p:cNvPr id="115768" name="Rectangle 193"/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487" tIns="44450" rIns="90487" bIns="44450" anchor="ctr"/>
              <a:lstStyle>
                <a:lvl1pPr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5769" name="Rectangle 194"/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 anchor="ctr"/>
              <a:lstStyle>
                <a:lvl1pPr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30000"/>
                  </a:spcBef>
                </a:pPr>
                <a:r>
                  <a:rPr lang="en-US" altLang="zh-CN" sz="1400">
                    <a:solidFill>
                      <a:schemeClr val="tx2"/>
                    </a:solidFill>
                    <a:latin typeface="Helvetica" charset="0"/>
                  </a:rPr>
                  <a:t>7</a:t>
                </a:r>
              </a:p>
            </p:txBody>
          </p:sp>
        </p:grpSp>
        <p:grpSp>
          <p:nvGrpSpPr>
            <p:cNvPr id="115747" name="Group 195"/>
            <p:cNvGrpSpPr>
              <a:grpSpLocks/>
            </p:cNvGrpSpPr>
            <p:nvPr/>
          </p:nvGrpSpPr>
          <p:grpSpPr bwMode="auto">
            <a:xfrm>
              <a:off x="2754" y="2880"/>
              <a:ext cx="307" cy="384"/>
              <a:chOff x="605" y="1776"/>
              <a:chExt cx="307" cy="384"/>
            </a:xfrm>
          </p:grpSpPr>
          <p:sp>
            <p:nvSpPr>
              <p:cNvPr id="115766" name="Rectangle 196"/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487" tIns="44450" rIns="90487" bIns="44450" anchor="ctr"/>
              <a:lstStyle>
                <a:lvl1pPr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5767" name="Rectangle 197"/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 anchor="ctr"/>
              <a:lstStyle>
                <a:lvl1pPr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30000"/>
                  </a:spcBef>
                </a:pPr>
                <a:r>
                  <a:rPr lang="en-US" altLang="zh-CN" sz="1400">
                    <a:solidFill>
                      <a:schemeClr val="tx2"/>
                    </a:solidFill>
                    <a:latin typeface="Helvetica" charset="0"/>
                  </a:rPr>
                  <a:t>6</a:t>
                </a:r>
              </a:p>
            </p:txBody>
          </p:sp>
        </p:grpSp>
        <p:grpSp>
          <p:nvGrpSpPr>
            <p:cNvPr id="115748" name="Group 198"/>
            <p:cNvGrpSpPr>
              <a:grpSpLocks/>
            </p:cNvGrpSpPr>
            <p:nvPr/>
          </p:nvGrpSpPr>
          <p:grpSpPr bwMode="auto">
            <a:xfrm>
              <a:off x="3061" y="2880"/>
              <a:ext cx="307" cy="384"/>
              <a:chOff x="605" y="1776"/>
              <a:chExt cx="307" cy="384"/>
            </a:xfrm>
          </p:grpSpPr>
          <p:sp>
            <p:nvSpPr>
              <p:cNvPr id="115764" name="Rectangle 199"/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487" tIns="44450" rIns="90487" bIns="44450" anchor="ctr"/>
              <a:lstStyle>
                <a:lvl1pPr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5765" name="Rectangle 200"/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 anchor="ctr"/>
              <a:lstStyle>
                <a:lvl1pPr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30000"/>
                  </a:spcBef>
                </a:pPr>
                <a:r>
                  <a:rPr lang="en-US" altLang="zh-CN" sz="1400">
                    <a:solidFill>
                      <a:schemeClr val="tx2"/>
                    </a:solidFill>
                    <a:latin typeface="Helvetica" charset="0"/>
                  </a:rPr>
                  <a:t>5</a:t>
                </a:r>
              </a:p>
            </p:txBody>
          </p:sp>
        </p:grpSp>
        <p:grpSp>
          <p:nvGrpSpPr>
            <p:cNvPr id="115749" name="Group 201"/>
            <p:cNvGrpSpPr>
              <a:grpSpLocks/>
            </p:cNvGrpSpPr>
            <p:nvPr/>
          </p:nvGrpSpPr>
          <p:grpSpPr bwMode="auto">
            <a:xfrm>
              <a:off x="3368" y="2880"/>
              <a:ext cx="307" cy="384"/>
              <a:chOff x="605" y="1776"/>
              <a:chExt cx="307" cy="384"/>
            </a:xfrm>
          </p:grpSpPr>
          <p:sp>
            <p:nvSpPr>
              <p:cNvPr id="115762" name="Rectangle 202"/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487" tIns="44450" rIns="90487" bIns="44450" anchor="ctr"/>
              <a:lstStyle>
                <a:lvl1pPr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5763" name="Rectangle 203"/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 anchor="ctr"/>
              <a:lstStyle>
                <a:lvl1pPr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30000"/>
                  </a:spcBef>
                </a:pPr>
                <a:r>
                  <a:rPr lang="en-US" altLang="zh-CN" sz="1400">
                    <a:solidFill>
                      <a:schemeClr val="tx2"/>
                    </a:solidFill>
                    <a:latin typeface="Helvetica" charset="0"/>
                  </a:rPr>
                  <a:t>4</a:t>
                </a:r>
              </a:p>
            </p:txBody>
          </p:sp>
        </p:grpSp>
        <p:grpSp>
          <p:nvGrpSpPr>
            <p:cNvPr id="115750" name="Group 204"/>
            <p:cNvGrpSpPr>
              <a:grpSpLocks/>
            </p:cNvGrpSpPr>
            <p:nvPr/>
          </p:nvGrpSpPr>
          <p:grpSpPr bwMode="auto">
            <a:xfrm>
              <a:off x="3675" y="2880"/>
              <a:ext cx="307" cy="384"/>
              <a:chOff x="605" y="1776"/>
              <a:chExt cx="307" cy="384"/>
            </a:xfrm>
          </p:grpSpPr>
          <p:sp>
            <p:nvSpPr>
              <p:cNvPr id="115760" name="Rectangle 205"/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487" tIns="44450" rIns="90487" bIns="44450" anchor="ctr"/>
              <a:lstStyle>
                <a:lvl1pPr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5761" name="Rectangle 206"/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 anchor="ctr"/>
              <a:lstStyle>
                <a:lvl1pPr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30000"/>
                  </a:spcBef>
                </a:pPr>
                <a:r>
                  <a:rPr lang="en-US" altLang="zh-CN" sz="1400">
                    <a:solidFill>
                      <a:schemeClr val="tx2"/>
                    </a:solidFill>
                    <a:latin typeface="Helvetica" charset="0"/>
                  </a:rPr>
                  <a:t>3</a:t>
                </a:r>
              </a:p>
            </p:txBody>
          </p:sp>
        </p:grpSp>
        <p:grpSp>
          <p:nvGrpSpPr>
            <p:cNvPr id="115751" name="Group 207"/>
            <p:cNvGrpSpPr>
              <a:grpSpLocks/>
            </p:cNvGrpSpPr>
            <p:nvPr/>
          </p:nvGrpSpPr>
          <p:grpSpPr bwMode="auto">
            <a:xfrm>
              <a:off x="3982" y="2880"/>
              <a:ext cx="307" cy="384"/>
              <a:chOff x="605" y="1776"/>
              <a:chExt cx="307" cy="384"/>
            </a:xfrm>
          </p:grpSpPr>
          <p:sp>
            <p:nvSpPr>
              <p:cNvPr id="115758" name="Rectangle 208"/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487" tIns="44450" rIns="90487" bIns="44450" anchor="ctr"/>
              <a:lstStyle>
                <a:lvl1pPr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5759" name="Rectangle 209"/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 anchor="ctr"/>
              <a:lstStyle>
                <a:lvl1pPr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30000"/>
                  </a:spcBef>
                </a:pPr>
                <a:r>
                  <a:rPr lang="en-US" altLang="zh-CN" sz="1400">
                    <a:solidFill>
                      <a:schemeClr val="tx2"/>
                    </a:solidFill>
                    <a:latin typeface="Helvetica" charset="0"/>
                  </a:rPr>
                  <a:t>2</a:t>
                </a:r>
              </a:p>
            </p:txBody>
          </p:sp>
        </p:grpSp>
        <p:grpSp>
          <p:nvGrpSpPr>
            <p:cNvPr id="115752" name="Group 210"/>
            <p:cNvGrpSpPr>
              <a:grpSpLocks/>
            </p:cNvGrpSpPr>
            <p:nvPr/>
          </p:nvGrpSpPr>
          <p:grpSpPr bwMode="auto">
            <a:xfrm>
              <a:off x="4289" y="2880"/>
              <a:ext cx="307" cy="384"/>
              <a:chOff x="605" y="1776"/>
              <a:chExt cx="307" cy="384"/>
            </a:xfrm>
          </p:grpSpPr>
          <p:sp>
            <p:nvSpPr>
              <p:cNvPr id="115756" name="Rectangle 211"/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487" tIns="44450" rIns="90487" bIns="44450" anchor="ctr"/>
              <a:lstStyle>
                <a:lvl1pPr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5757" name="Rectangle 212"/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 anchor="ctr"/>
              <a:lstStyle>
                <a:lvl1pPr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30000"/>
                  </a:spcBef>
                </a:pPr>
                <a:r>
                  <a:rPr lang="en-US" altLang="zh-CN" sz="1400">
                    <a:solidFill>
                      <a:schemeClr val="tx2"/>
                    </a:solidFill>
                    <a:latin typeface="Helvetica" charset="0"/>
                  </a:rPr>
                  <a:t>1</a:t>
                </a:r>
              </a:p>
            </p:txBody>
          </p:sp>
        </p:grpSp>
        <p:grpSp>
          <p:nvGrpSpPr>
            <p:cNvPr id="115753" name="Group 213"/>
            <p:cNvGrpSpPr>
              <a:grpSpLocks/>
            </p:cNvGrpSpPr>
            <p:nvPr/>
          </p:nvGrpSpPr>
          <p:grpSpPr bwMode="auto">
            <a:xfrm>
              <a:off x="4596" y="2880"/>
              <a:ext cx="307" cy="384"/>
              <a:chOff x="605" y="1776"/>
              <a:chExt cx="307" cy="384"/>
            </a:xfrm>
          </p:grpSpPr>
          <p:sp>
            <p:nvSpPr>
              <p:cNvPr id="115754" name="Rectangle 214"/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487" tIns="44450" rIns="90487" bIns="44450" anchor="ctr"/>
              <a:lstStyle>
                <a:lvl1pPr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5755" name="Rectangle 215"/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 anchor="ctr"/>
              <a:lstStyle>
                <a:lvl1pPr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30000"/>
                  </a:spcBef>
                </a:pPr>
                <a:r>
                  <a:rPr lang="en-US" altLang="zh-CN" sz="1400">
                    <a:solidFill>
                      <a:schemeClr val="tx2"/>
                    </a:solidFill>
                    <a:latin typeface="Helvetica" charset="0"/>
                  </a:rPr>
                  <a:t>0</a:t>
                </a:r>
              </a:p>
            </p:txBody>
          </p:sp>
        </p:grpSp>
      </p:grpSp>
      <p:grpSp>
        <p:nvGrpSpPr>
          <p:cNvPr id="115735" name="Group 216"/>
          <p:cNvGrpSpPr>
            <a:grpSpLocks/>
          </p:cNvGrpSpPr>
          <p:nvPr/>
        </p:nvGrpSpPr>
        <p:grpSpPr bwMode="auto">
          <a:xfrm>
            <a:off x="4721225" y="4692650"/>
            <a:ext cx="2924175" cy="336550"/>
            <a:chOff x="3061" y="2261"/>
            <a:chExt cx="1842" cy="212"/>
          </a:xfrm>
        </p:grpSpPr>
        <p:sp>
          <p:nvSpPr>
            <p:cNvPr id="115740" name="Line 217"/>
            <p:cNvSpPr>
              <a:spLocks noChangeShapeType="1"/>
            </p:cNvSpPr>
            <p:nvPr/>
          </p:nvSpPr>
          <p:spPr bwMode="auto">
            <a:xfrm>
              <a:off x="3061" y="2352"/>
              <a:ext cx="184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arrow" w="med" len="med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487" tIns="44450" rIns="90487" bIns="44450"/>
            <a:lstStyle/>
            <a:p>
              <a:endParaRPr lang="zh-CN" altLang="en-US"/>
            </a:p>
          </p:txBody>
        </p:sp>
        <p:sp>
          <p:nvSpPr>
            <p:cNvPr id="115741" name="Text Box 218"/>
            <p:cNvSpPr txBox="1">
              <a:spLocks noChangeArrowheads="1"/>
            </p:cNvSpPr>
            <p:nvPr/>
          </p:nvSpPr>
          <p:spPr bwMode="auto">
            <a:xfrm>
              <a:off x="3770" y="2261"/>
              <a:ext cx="418" cy="2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</a:pPr>
              <a:r>
                <a:rPr lang="en-US" altLang="zh-CN" sz="1800">
                  <a:solidFill>
                    <a:schemeClr val="tx2"/>
                  </a:solidFill>
                  <a:latin typeface="Helvetica" charset="0"/>
                </a:rPr>
                <a:t>PPO</a:t>
              </a:r>
            </a:p>
          </p:txBody>
        </p:sp>
      </p:grpSp>
      <p:grpSp>
        <p:nvGrpSpPr>
          <p:cNvPr id="115736" name="Group 219"/>
          <p:cNvGrpSpPr>
            <a:grpSpLocks/>
          </p:cNvGrpSpPr>
          <p:nvPr/>
        </p:nvGrpSpPr>
        <p:grpSpPr bwMode="auto">
          <a:xfrm>
            <a:off x="1825625" y="4692650"/>
            <a:ext cx="2924175" cy="336550"/>
            <a:chOff x="3061" y="2261"/>
            <a:chExt cx="1842" cy="212"/>
          </a:xfrm>
        </p:grpSpPr>
        <p:sp>
          <p:nvSpPr>
            <p:cNvPr id="115738" name="Line 220"/>
            <p:cNvSpPr>
              <a:spLocks noChangeShapeType="1"/>
            </p:cNvSpPr>
            <p:nvPr/>
          </p:nvSpPr>
          <p:spPr bwMode="auto">
            <a:xfrm>
              <a:off x="3061" y="2352"/>
              <a:ext cx="184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arrow" w="med" len="med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487" tIns="44450" rIns="90487" bIns="44450"/>
            <a:lstStyle/>
            <a:p>
              <a:endParaRPr lang="zh-CN" altLang="en-US"/>
            </a:p>
          </p:txBody>
        </p:sp>
        <p:sp>
          <p:nvSpPr>
            <p:cNvPr id="115739" name="Text Box 221"/>
            <p:cNvSpPr txBox="1">
              <a:spLocks noChangeArrowheads="1"/>
            </p:cNvSpPr>
            <p:nvPr/>
          </p:nvSpPr>
          <p:spPr bwMode="auto">
            <a:xfrm>
              <a:off x="3770" y="2261"/>
              <a:ext cx="410" cy="2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</a:pPr>
              <a:r>
                <a:rPr lang="en-US" altLang="zh-CN" sz="1800">
                  <a:solidFill>
                    <a:schemeClr val="tx2"/>
                  </a:solidFill>
                  <a:latin typeface="Helvetica" charset="0"/>
                </a:rPr>
                <a:t>PPN</a:t>
              </a:r>
            </a:p>
          </p:txBody>
        </p:sp>
      </p:grpSp>
      <p:cxnSp>
        <p:nvCxnSpPr>
          <p:cNvPr id="115737" name="Straight Connector 2"/>
          <p:cNvCxnSpPr>
            <a:cxnSpLocks noChangeShapeType="1"/>
          </p:cNvCxnSpPr>
          <p:nvPr/>
        </p:nvCxnSpPr>
        <p:spPr bwMode="auto">
          <a:xfrm>
            <a:off x="4695825" y="1724025"/>
            <a:ext cx="0" cy="368617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09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8ACEDDC3-0CEE-5B45-B92E-A3D3264BA092}" type="slidenum">
              <a:rPr lang="zh-CN" altLang="en-US" sz="1400" b="0">
                <a:latin typeface="Times New Roman" charset="0"/>
              </a:rPr>
              <a:pPr/>
              <a:t>27</a:t>
            </a:fld>
            <a:endParaRPr lang="en-US" altLang="zh-CN" sz="1400" b="0">
              <a:latin typeface="Times New Roman" charset="0"/>
            </a:endParaRPr>
          </a:p>
        </p:txBody>
      </p:sp>
      <p:sp>
        <p:nvSpPr>
          <p:cNvPr id="119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宋体" charset="-122"/>
              </a:rPr>
              <a:t>练习</a:t>
            </a:r>
            <a:r>
              <a:rPr lang="en-US" altLang="zh-CN">
                <a:ea typeface="宋体" charset="-122"/>
              </a:rPr>
              <a:t>4-2</a:t>
            </a:r>
            <a:r>
              <a:rPr lang="zh-CN" altLang="en-US">
                <a:ea typeface="宋体" charset="-122"/>
              </a:rPr>
              <a:t>答案</a:t>
            </a:r>
            <a:endParaRPr lang="en-US" altLang="zh-CN">
              <a:ea typeface="宋体" charset="-122"/>
            </a:endParaRPr>
          </a:p>
        </p:txBody>
      </p:sp>
      <p:sp>
        <p:nvSpPr>
          <p:cNvPr id="119811" name="Rectangle 102"/>
          <p:cNvSpPr>
            <a:spLocks noChangeArrowheads="1"/>
          </p:cNvSpPr>
          <p:nvPr/>
        </p:nvSpPr>
        <p:spPr bwMode="auto">
          <a:xfrm>
            <a:off x="644525" y="1524000"/>
            <a:ext cx="3200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r>
              <a:rPr lang="en-US" altLang="zh-CN" b="0"/>
              <a:t>Virtual Address: 0x</a:t>
            </a:r>
            <a:r>
              <a:rPr lang="en-US" altLang="zh-CN" b="0">
                <a:solidFill>
                  <a:srgbClr val="FF0000"/>
                </a:solidFill>
              </a:rPr>
              <a:t>0</a:t>
            </a:r>
            <a:r>
              <a:rPr lang="en-US" altLang="zh-CN" b="0">
                <a:solidFill>
                  <a:srgbClr val="00B0F0"/>
                </a:solidFill>
              </a:rPr>
              <a:t>3</a:t>
            </a:r>
            <a:r>
              <a:rPr lang="en-US" altLang="zh-CN" b="0">
                <a:solidFill>
                  <a:srgbClr val="FFC000"/>
                </a:solidFill>
              </a:rPr>
              <a:t>D</a:t>
            </a:r>
            <a:r>
              <a:rPr lang="en-US" altLang="zh-CN" b="0">
                <a:solidFill>
                  <a:srgbClr val="00B050"/>
                </a:solidFill>
              </a:rPr>
              <a:t>4</a:t>
            </a:r>
            <a:endParaRPr lang="zh-CN" altLang="en-US" b="0">
              <a:solidFill>
                <a:srgbClr val="00B050"/>
              </a:solidFill>
            </a:endParaRPr>
          </a:p>
        </p:txBody>
      </p:sp>
      <p:grpSp>
        <p:nvGrpSpPr>
          <p:cNvPr id="12373" name="Group 106"/>
          <p:cNvGrpSpPr>
            <a:grpSpLocks/>
          </p:cNvGrpSpPr>
          <p:nvPr/>
        </p:nvGrpSpPr>
        <p:grpSpPr bwMode="auto">
          <a:xfrm>
            <a:off x="796925" y="1941513"/>
            <a:ext cx="487363" cy="609600"/>
            <a:chOff x="629" y="1176"/>
            <a:chExt cx="307" cy="384"/>
          </a:xfrm>
          <a:noFill/>
        </p:grpSpPr>
        <p:sp>
          <p:nvSpPr>
            <p:cNvPr id="12413" name="Rectangle 107"/>
            <p:cNvSpPr>
              <a:spLocks noChangeArrowheads="1"/>
            </p:cNvSpPr>
            <p:nvPr/>
          </p:nvSpPr>
          <p:spPr bwMode="auto">
            <a:xfrm>
              <a:off x="629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90000"/>
                </a:lnSpc>
                <a:spcBef>
                  <a:spcPct val="30000"/>
                </a:spcBef>
                <a:defRPr/>
              </a:pPr>
              <a:endParaRPr lang="zh-CN" altLang="en-US" sz="1800">
                <a:solidFill>
                  <a:schemeClr val="tx2"/>
                </a:solidFill>
                <a:latin typeface="Helvetic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414" name="Rectangle 108"/>
            <p:cNvSpPr>
              <a:spLocks noChangeArrowheads="1"/>
            </p:cNvSpPr>
            <p:nvPr/>
          </p:nvSpPr>
          <p:spPr bwMode="auto">
            <a:xfrm>
              <a:off x="629" y="1176"/>
              <a:ext cx="307" cy="19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90000"/>
                </a:lnSpc>
                <a:spcBef>
                  <a:spcPct val="30000"/>
                </a:spcBef>
                <a:defRPr/>
              </a:pPr>
              <a:r>
                <a:rPr lang="en-US" altLang="zh-CN" sz="1400">
                  <a:solidFill>
                    <a:schemeClr val="tx2"/>
                  </a:solidFill>
                  <a:latin typeface="Helvetica" pitchFamily="34" charset="0"/>
                  <a:ea typeface="宋体" panose="02010600030101010101" pitchFamily="2" charset="-122"/>
                </a:rPr>
                <a:t>13</a:t>
              </a:r>
            </a:p>
          </p:txBody>
        </p:sp>
      </p:grpSp>
      <p:grpSp>
        <p:nvGrpSpPr>
          <p:cNvPr id="12374" name="Group 109"/>
          <p:cNvGrpSpPr>
            <a:grpSpLocks/>
          </p:cNvGrpSpPr>
          <p:nvPr/>
        </p:nvGrpSpPr>
        <p:grpSpPr bwMode="auto">
          <a:xfrm>
            <a:off x="1284288" y="1941513"/>
            <a:ext cx="487363" cy="609600"/>
            <a:chOff x="936" y="1176"/>
            <a:chExt cx="307" cy="384"/>
          </a:xfrm>
          <a:noFill/>
        </p:grpSpPr>
        <p:sp>
          <p:nvSpPr>
            <p:cNvPr id="12411" name="Rectangle 110"/>
            <p:cNvSpPr>
              <a:spLocks noChangeArrowheads="1"/>
            </p:cNvSpPr>
            <p:nvPr/>
          </p:nvSpPr>
          <p:spPr bwMode="auto">
            <a:xfrm>
              <a:off x="936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90000"/>
                </a:lnSpc>
                <a:spcBef>
                  <a:spcPct val="30000"/>
                </a:spcBef>
                <a:defRPr/>
              </a:pPr>
              <a:endParaRPr lang="zh-CN" altLang="en-US" sz="1800">
                <a:solidFill>
                  <a:schemeClr val="tx2"/>
                </a:solidFill>
                <a:latin typeface="Helvetic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412" name="Rectangle 111"/>
            <p:cNvSpPr>
              <a:spLocks noChangeArrowheads="1"/>
            </p:cNvSpPr>
            <p:nvPr/>
          </p:nvSpPr>
          <p:spPr bwMode="auto">
            <a:xfrm>
              <a:off x="936" y="1176"/>
              <a:ext cx="307" cy="19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90000"/>
                </a:lnSpc>
                <a:spcBef>
                  <a:spcPct val="30000"/>
                </a:spcBef>
                <a:defRPr/>
              </a:pPr>
              <a:r>
                <a:rPr lang="en-US" altLang="zh-CN" sz="1400">
                  <a:solidFill>
                    <a:schemeClr val="tx2"/>
                  </a:solidFill>
                  <a:latin typeface="Helvetica" pitchFamily="34" charset="0"/>
                  <a:ea typeface="宋体" panose="02010600030101010101" pitchFamily="2" charset="-122"/>
                </a:rPr>
                <a:t>12</a:t>
              </a:r>
            </a:p>
          </p:txBody>
        </p:sp>
      </p:grpSp>
      <p:grpSp>
        <p:nvGrpSpPr>
          <p:cNvPr id="12375" name="Group 112"/>
          <p:cNvGrpSpPr>
            <a:grpSpLocks/>
          </p:cNvGrpSpPr>
          <p:nvPr/>
        </p:nvGrpSpPr>
        <p:grpSpPr bwMode="auto">
          <a:xfrm>
            <a:off x="1771650" y="1941513"/>
            <a:ext cx="487363" cy="609600"/>
            <a:chOff x="1243" y="1176"/>
            <a:chExt cx="307" cy="384"/>
          </a:xfrm>
          <a:noFill/>
        </p:grpSpPr>
        <p:sp>
          <p:nvSpPr>
            <p:cNvPr id="12409" name="Rectangle 113"/>
            <p:cNvSpPr>
              <a:spLocks noChangeArrowheads="1"/>
            </p:cNvSpPr>
            <p:nvPr/>
          </p:nvSpPr>
          <p:spPr bwMode="auto">
            <a:xfrm>
              <a:off x="1243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90000"/>
                </a:lnSpc>
                <a:spcBef>
                  <a:spcPct val="30000"/>
                </a:spcBef>
                <a:defRPr/>
              </a:pPr>
              <a:endParaRPr lang="zh-CN" altLang="en-US" sz="1800">
                <a:solidFill>
                  <a:schemeClr val="tx2"/>
                </a:solidFill>
                <a:latin typeface="Helvetic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410" name="Rectangle 114"/>
            <p:cNvSpPr>
              <a:spLocks noChangeArrowheads="1"/>
            </p:cNvSpPr>
            <p:nvPr/>
          </p:nvSpPr>
          <p:spPr bwMode="auto">
            <a:xfrm>
              <a:off x="1243" y="1176"/>
              <a:ext cx="307" cy="19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90000"/>
                </a:lnSpc>
                <a:spcBef>
                  <a:spcPct val="30000"/>
                </a:spcBef>
                <a:defRPr/>
              </a:pPr>
              <a:r>
                <a:rPr lang="en-US" altLang="zh-CN" sz="1400">
                  <a:solidFill>
                    <a:schemeClr val="tx2"/>
                  </a:solidFill>
                  <a:latin typeface="Helvetica" pitchFamily="34" charset="0"/>
                  <a:ea typeface="宋体" panose="02010600030101010101" pitchFamily="2" charset="-122"/>
                </a:rPr>
                <a:t>11</a:t>
              </a:r>
            </a:p>
          </p:txBody>
        </p:sp>
      </p:grpSp>
      <p:grpSp>
        <p:nvGrpSpPr>
          <p:cNvPr id="12376" name="Group 115"/>
          <p:cNvGrpSpPr>
            <a:grpSpLocks/>
          </p:cNvGrpSpPr>
          <p:nvPr/>
        </p:nvGrpSpPr>
        <p:grpSpPr bwMode="auto">
          <a:xfrm>
            <a:off x="2259013" y="1941513"/>
            <a:ext cx="487363" cy="609600"/>
            <a:chOff x="1550" y="1176"/>
            <a:chExt cx="307" cy="384"/>
          </a:xfrm>
          <a:noFill/>
        </p:grpSpPr>
        <p:sp>
          <p:nvSpPr>
            <p:cNvPr id="12407" name="Rectangle 116"/>
            <p:cNvSpPr>
              <a:spLocks noChangeArrowheads="1"/>
            </p:cNvSpPr>
            <p:nvPr/>
          </p:nvSpPr>
          <p:spPr bwMode="auto">
            <a:xfrm>
              <a:off x="1550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>
                <a:defRPr/>
              </a:pPr>
              <a:endParaRPr lang="zh-CN" altLang="en-US"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408" name="Rectangle 117"/>
            <p:cNvSpPr>
              <a:spLocks noChangeArrowheads="1"/>
            </p:cNvSpPr>
            <p:nvPr/>
          </p:nvSpPr>
          <p:spPr bwMode="auto">
            <a:xfrm>
              <a:off x="1550" y="1176"/>
              <a:ext cx="307" cy="19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90000"/>
                </a:lnSpc>
                <a:spcBef>
                  <a:spcPct val="30000"/>
                </a:spcBef>
                <a:defRPr/>
              </a:pPr>
              <a:r>
                <a:rPr lang="en-US" altLang="zh-CN" sz="1400">
                  <a:solidFill>
                    <a:schemeClr val="tx2"/>
                  </a:solidFill>
                  <a:latin typeface="Helvetica" pitchFamily="34" charset="0"/>
                  <a:ea typeface="宋体" panose="02010600030101010101" pitchFamily="2" charset="-122"/>
                </a:rPr>
                <a:t>10</a:t>
              </a:r>
            </a:p>
          </p:txBody>
        </p:sp>
      </p:grpSp>
      <p:grpSp>
        <p:nvGrpSpPr>
          <p:cNvPr id="12377" name="Group 118"/>
          <p:cNvGrpSpPr>
            <a:grpSpLocks/>
          </p:cNvGrpSpPr>
          <p:nvPr/>
        </p:nvGrpSpPr>
        <p:grpSpPr bwMode="auto">
          <a:xfrm>
            <a:off x="2746375" y="1941513"/>
            <a:ext cx="487363" cy="609600"/>
            <a:chOff x="1857" y="1176"/>
            <a:chExt cx="307" cy="384"/>
          </a:xfrm>
          <a:noFill/>
        </p:grpSpPr>
        <p:sp>
          <p:nvSpPr>
            <p:cNvPr id="12405" name="Rectangle 119"/>
            <p:cNvSpPr>
              <a:spLocks noChangeArrowheads="1"/>
            </p:cNvSpPr>
            <p:nvPr/>
          </p:nvSpPr>
          <p:spPr bwMode="auto">
            <a:xfrm>
              <a:off x="1857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>
                <a:defRPr/>
              </a:pPr>
              <a:endParaRPr lang="zh-CN" altLang="en-US"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406" name="Rectangle 120"/>
            <p:cNvSpPr>
              <a:spLocks noChangeArrowheads="1"/>
            </p:cNvSpPr>
            <p:nvPr/>
          </p:nvSpPr>
          <p:spPr bwMode="auto">
            <a:xfrm>
              <a:off x="1857" y="1176"/>
              <a:ext cx="307" cy="19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90000"/>
                </a:lnSpc>
                <a:spcBef>
                  <a:spcPct val="30000"/>
                </a:spcBef>
                <a:defRPr/>
              </a:pPr>
              <a:r>
                <a:rPr lang="en-US" altLang="zh-CN" sz="1400">
                  <a:solidFill>
                    <a:schemeClr val="tx2"/>
                  </a:solidFill>
                  <a:latin typeface="Helvetica" pitchFamily="34" charset="0"/>
                  <a:ea typeface="宋体" panose="02010600030101010101" pitchFamily="2" charset="-122"/>
                </a:rPr>
                <a:t>9</a:t>
              </a:r>
            </a:p>
          </p:txBody>
        </p:sp>
      </p:grpSp>
      <p:grpSp>
        <p:nvGrpSpPr>
          <p:cNvPr id="12378" name="Group 121"/>
          <p:cNvGrpSpPr>
            <a:grpSpLocks/>
          </p:cNvGrpSpPr>
          <p:nvPr/>
        </p:nvGrpSpPr>
        <p:grpSpPr bwMode="auto">
          <a:xfrm>
            <a:off x="3233738" y="1941513"/>
            <a:ext cx="487363" cy="609600"/>
            <a:chOff x="2164" y="1176"/>
            <a:chExt cx="307" cy="384"/>
          </a:xfrm>
          <a:noFill/>
        </p:grpSpPr>
        <p:sp>
          <p:nvSpPr>
            <p:cNvPr id="12403" name="Rectangle 122"/>
            <p:cNvSpPr>
              <a:spLocks noChangeArrowheads="1"/>
            </p:cNvSpPr>
            <p:nvPr/>
          </p:nvSpPr>
          <p:spPr bwMode="auto">
            <a:xfrm>
              <a:off x="2164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>
                <a:defRPr/>
              </a:pPr>
              <a:endParaRPr lang="zh-CN" altLang="en-US"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404" name="Rectangle 123"/>
            <p:cNvSpPr>
              <a:spLocks noChangeArrowheads="1"/>
            </p:cNvSpPr>
            <p:nvPr/>
          </p:nvSpPr>
          <p:spPr bwMode="auto">
            <a:xfrm>
              <a:off x="2164" y="1176"/>
              <a:ext cx="307" cy="19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90000"/>
                </a:lnSpc>
                <a:spcBef>
                  <a:spcPct val="30000"/>
                </a:spcBef>
                <a:defRPr/>
              </a:pPr>
              <a:r>
                <a:rPr lang="en-US" altLang="zh-CN" sz="1400">
                  <a:solidFill>
                    <a:schemeClr val="tx2"/>
                  </a:solidFill>
                  <a:latin typeface="Helvetica" pitchFamily="34" charset="0"/>
                  <a:ea typeface="宋体" panose="02010600030101010101" pitchFamily="2" charset="-122"/>
                </a:rPr>
                <a:t>8</a:t>
              </a:r>
            </a:p>
          </p:txBody>
        </p:sp>
      </p:grpSp>
      <p:grpSp>
        <p:nvGrpSpPr>
          <p:cNvPr id="12379" name="Group 124"/>
          <p:cNvGrpSpPr>
            <a:grpSpLocks/>
          </p:cNvGrpSpPr>
          <p:nvPr/>
        </p:nvGrpSpPr>
        <p:grpSpPr bwMode="auto">
          <a:xfrm>
            <a:off x="3721100" y="1941513"/>
            <a:ext cx="487363" cy="609600"/>
            <a:chOff x="2471" y="1176"/>
            <a:chExt cx="307" cy="384"/>
          </a:xfrm>
          <a:noFill/>
        </p:grpSpPr>
        <p:sp>
          <p:nvSpPr>
            <p:cNvPr id="12401" name="Rectangle 125"/>
            <p:cNvSpPr>
              <a:spLocks noChangeArrowheads="1"/>
            </p:cNvSpPr>
            <p:nvPr/>
          </p:nvSpPr>
          <p:spPr bwMode="auto">
            <a:xfrm>
              <a:off x="2471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>
                <a:defRPr/>
              </a:pPr>
              <a:endParaRPr lang="zh-CN" altLang="en-US"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402" name="Rectangle 126"/>
            <p:cNvSpPr>
              <a:spLocks noChangeArrowheads="1"/>
            </p:cNvSpPr>
            <p:nvPr/>
          </p:nvSpPr>
          <p:spPr bwMode="auto">
            <a:xfrm>
              <a:off x="2471" y="1176"/>
              <a:ext cx="307" cy="19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90000"/>
                </a:lnSpc>
                <a:spcBef>
                  <a:spcPct val="30000"/>
                </a:spcBef>
                <a:defRPr/>
              </a:pPr>
              <a:r>
                <a:rPr lang="en-US" altLang="zh-CN" sz="1400">
                  <a:solidFill>
                    <a:schemeClr val="tx2"/>
                  </a:solidFill>
                  <a:latin typeface="Helvetica" pitchFamily="34" charset="0"/>
                  <a:ea typeface="宋体" panose="02010600030101010101" pitchFamily="2" charset="-122"/>
                </a:rPr>
                <a:t>7</a:t>
              </a:r>
            </a:p>
          </p:txBody>
        </p:sp>
      </p:grpSp>
      <p:grpSp>
        <p:nvGrpSpPr>
          <p:cNvPr id="12380" name="Group 127"/>
          <p:cNvGrpSpPr>
            <a:grpSpLocks/>
          </p:cNvGrpSpPr>
          <p:nvPr/>
        </p:nvGrpSpPr>
        <p:grpSpPr bwMode="auto">
          <a:xfrm>
            <a:off x="4208463" y="1941513"/>
            <a:ext cx="487363" cy="609600"/>
            <a:chOff x="2778" y="1176"/>
            <a:chExt cx="307" cy="384"/>
          </a:xfrm>
          <a:noFill/>
        </p:grpSpPr>
        <p:sp>
          <p:nvSpPr>
            <p:cNvPr id="12399" name="Rectangle 128"/>
            <p:cNvSpPr>
              <a:spLocks noChangeArrowheads="1"/>
            </p:cNvSpPr>
            <p:nvPr/>
          </p:nvSpPr>
          <p:spPr bwMode="auto">
            <a:xfrm>
              <a:off x="2778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>
                <a:defRPr/>
              </a:pPr>
              <a:endParaRPr lang="zh-CN" altLang="en-US"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400" name="Rectangle 129"/>
            <p:cNvSpPr>
              <a:spLocks noChangeArrowheads="1"/>
            </p:cNvSpPr>
            <p:nvPr/>
          </p:nvSpPr>
          <p:spPr bwMode="auto">
            <a:xfrm>
              <a:off x="2778" y="1176"/>
              <a:ext cx="307" cy="19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90000"/>
                </a:lnSpc>
                <a:spcBef>
                  <a:spcPct val="30000"/>
                </a:spcBef>
                <a:defRPr/>
              </a:pPr>
              <a:r>
                <a:rPr lang="en-US" altLang="zh-CN" sz="1400">
                  <a:solidFill>
                    <a:schemeClr val="tx2"/>
                  </a:solidFill>
                  <a:latin typeface="Helvetica" pitchFamily="34" charset="0"/>
                  <a:ea typeface="宋体" panose="02010600030101010101" pitchFamily="2" charset="-122"/>
                </a:rPr>
                <a:t>6</a:t>
              </a:r>
            </a:p>
          </p:txBody>
        </p:sp>
      </p:grpSp>
      <p:grpSp>
        <p:nvGrpSpPr>
          <p:cNvPr id="12381" name="Group 130"/>
          <p:cNvGrpSpPr>
            <a:grpSpLocks/>
          </p:cNvGrpSpPr>
          <p:nvPr/>
        </p:nvGrpSpPr>
        <p:grpSpPr bwMode="auto">
          <a:xfrm>
            <a:off x="4695825" y="1941513"/>
            <a:ext cx="487363" cy="609600"/>
            <a:chOff x="3085" y="1176"/>
            <a:chExt cx="307" cy="384"/>
          </a:xfrm>
          <a:noFill/>
        </p:grpSpPr>
        <p:sp>
          <p:nvSpPr>
            <p:cNvPr id="12397" name="Rectangle 131"/>
            <p:cNvSpPr>
              <a:spLocks noChangeArrowheads="1"/>
            </p:cNvSpPr>
            <p:nvPr/>
          </p:nvSpPr>
          <p:spPr bwMode="auto">
            <a:xfrm>
              <a:off x="3085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>
                <a:defRPr/>
              </a:pPr>
              <a:endParaRPr lang="zh-CN" altLang="en-US"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398" name="Rectangle 132"/>
            <p:cNvSpPr>
              <a:spLocks noChangeArrowheads="1"/>
            </p:cNvSpPr>
            <p:nvPr/>
          </p:nvSpPr>
          <p:spPr bwMode="auto">
            <a:xfrm>
              <a:off x="3085" y="1176"/>
              <a:ext cx="307" cy="19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90000"/>
                </a:lnSpc>
                <a:spcBef>
                  <a:spcPct val="30000"/>
                </a:spcBef>
                <a:defRPr/>
              </a:pPr>
              <a:r>
                <a:rPr lang="en-US" altLang="zh-CN" sz="1400">
                  <a:solidFill>
                    <a:schemeClr val="tx2"/>
                  </a:solidFill>
                  <a:latin typeface="Helvetica" pitchFamily="34" charset="0"/>
                  <a:ea typeface="宋体" panose="02010600030101010101" pitchFamily="2" charset="-122"/>
                </a:rPr>
                <a:t>5</a:t>
              </a:r>
            </a:p>
          </p:txBody>
        </p:sp>
      </p:grpSp>
      <p:grpSp>
        <p:nvGrpSpPr>
          <p:cNvPr id="12382" name="Group 133"/>
          <p:cNvGrpSpPr>
            <a:grpSpLocks/>
          </p:cNvGrpSpPr>
          <p:nvPr/>
        </p:nvGrpSpPr>
        <p:grpSpPr bwMode="auto">
          <a:xfrm>
            <a:off x="5183188" y="1941513"/>
            <a:ext cx="487363" cy="609600"/>
            <a:chOff x="3392" y="1176"/>
            <a:chExt cx="307" cy="384"/>
          </a:xfrm>
          <a:noFill/>
        </p:grpSpPr>
        <p:sp>
          <p:nvSpPr>
            <p:cNvPr id="12395" name="Rectangle 134"/>
            <p:cNvSpPr>
              <a:spLocks noChangeArrowheads="1"/>
            </p:cNvSpPr>
            <p:nvPr/>
          </p:nvSpPr>
          <p:spPr bwMode="auto">
            <a:xfrm>
              <a:off x="3392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>
                <a:defRPr/>
              </a:pPr>
              <a:endParaRPr lang="zh-CN" altLang="en-US"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396" name="Rectangle 135"/>
            <p:cNvSpPr>
              <a:spLocks noChangeArrowheads="1"/>
            </p:cNvSpPr>
            <p:nvPr/>
          </p:nvSpPr>
          <p:spPr bwMode="auto">
            <a:xfrm>
              <a:off x="3392" y="1176"/>
              <a:ext cx="307" cy="19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90000"/>
                </a:lnSpc>
                <a:spcBef>
                  <a:spcPct val="30000"/>
                </a:spcBef>
                <a:defRPr/>
              </a:pPr>
              <a:r>
                <a:rPr lang="en-US" altLang="zh-CN" sz="1400">
                  <a:solidFill>
                    <a:schemeClr val="tx2"/>
                  </a:solidFill>
                  <a:latin typeface="Helvetica" pitchFamily="34" charset="0"/>
                  <a:ea typeface="宋体" panose="02010600030101010101" pitchFamily="2" charset="-122"/>
                </a:rPr>
                <a:t>4</a:t>
              </a:r>
            </a:p>
          </p:txBody>
        </p:sp>
      </p:grpSp>
      <p:grpSp>
        <p:nvGrpSpPr>
          <p:cNvPr id="12383" name="Group 136"/>
          <p:cNvGrpSpPr>
            <a:grpSpLocks/>
          </p:cNvGrpSpPr>
          <p:nvPr/>
        </p:nvGrpSpPr>
        <p:grpSpPr bwMode="auto">
          <a:xfrm>
            <a:off x="5670550" y="1941513"/>
            <a:ext cx="487363" cy="609600"/>
            <a:chOff x="3699" y="1176"/>
            <a:chExt cx="307" cy="384"/>
          </a:xfrm>
          <a:noFill/>
        </p:grpSpPr>
        <p:sp>
          <p:nvSpPr>
            <p:cNvPr id="12393" name="Rectangle 137"/>
            <p:cNvSpPr>
              <a:spLocks noChangeArrowheads="1"/>
            </p:cNvSpPr>
            <p:nvPr/>
          </p:nvSpPr>
          <p:spPr bwMode="auto">
            <a:xfrm>
              <a:off x="3699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>
                <a:defRPr/>
              </a:pPr>
              <a:endParaRPr lang="zh-CN" altLang="en-US"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394" name="Rectangle 138"/>
            <p:cNvSpPr>
              <a:spLocks noChangeArrowheads="1"/>
            </p:cNvSpPr>
            <p:nvPr/>
          </p:nvSpPr>
          <p:spPr bwMode="auto">
            <a:xfrm>
              <a:off x="3699" y="1176"/>
              <a:ext cx="307" cy="19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90000"/>
                </a:lnSpc>
                <a:spcBef>
                  <a:spcPct val="30000"/>
                </a:spcBef>
                <a:defRPr/>
              </a:pPr>
              <a:r>
                <a:rPr lang="en-US" altLang="zh-CN" sz="1400">
                  <a:solidFill>
                    <a:schemeClr val="tx2"/>
                  </a:solidFill>
                  <a:latin typeface="Helvetica" pitchFamily="34" charset="0"/>
                  <a:ea typeface="宋体" panose="02010600030101010101" pitchFamily="2" charset="-122"/>
                </a:rPr>
                <a:t>3</a:t>
              </a:r>
            </a:p>
          </p:txBody>
        </p:sp>
      </p:grpSp>
      <p:grpSp>
        <p:nvGrpSpPr>
          <p:cNvPr id="12384" name="Group 139"/>
          <p:cNvGrpSpPr>
            <a:grpSpLocks/>
          </p:cNvGrpSpPr>
          <p:nvPr/>
        </p:nvGrpSpPr>
        <p:grpSpPr bwMode="auto">
          <a:xfrm>
            <a:off x="6157913" y="1941513"/>
            <a:ext cx="487363" cy="609600"/>
            <a:chOff x="4006" y="1176"/>
            <a:chExt cx="307" cy="384"/>
          </a:xfrm>
          <a:noFill/>
        </p:grpSpPr>
        <p:sp>
          <p:nvSpPr>
            <p:cNvPr id="12391" name="Rectangle 140"/>
            <p:cNvSpPr>
              <a:spLocks noChangeArrowheads="1"/>
            </p:cNvSpPr>
            <p:nvPr/>
          </p:nvSpPr>
          <p:spPr bwMode="auto">
            <a:xfrm>
              <a:off x="4006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>
                <a:defRPr/>
              </a:pPr>
              <a:endParaRPr lang="zh-CN" altLang="en-US"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392" name="Rectangle 141"/>
            <p:cNvSpPr>
              <a:spLocks noChangeArrowheads="1"/>
            </p:cNvSpPr>
            <p:nvPr/>
          </p:nvSpPr>
          <p:spPr bwMode="auto">
            <a:xfrm>
              <a:off x="4006" y="1176"/>
              <a:ext cx="307" cy="19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90000"/>
                </a:lnSpc>
                <a:spcBef>
                  <a:spcPct val="30000"/>
                </a:spcBef>
                <a:defRPr/>
              </a:pPr>
              <a:r>
                <a:rPr lang="en-US" altLang="zh-CN" sz="1400">
                  <a:solidFill>
                    <a:schemeClr val="tx2"/>
                  </a:solidFill>
                  <a:latin typeface="Helvetica" pitchFamily="34" charset="0"/>
                  <a:ea typeface="宋体" panose="02010600030101010101" pitchFamily="2" charset="-122"/>
                </a:rPr>
                <a:t>2</a:t>
              </a:r>
            </a:p>
          </p:txBody>
        </p:sp>
      </p:grpSp>
      <p:grpSp>
        <p:nvGrpSpPr>
          <p:cNvPr id="12385" name="Group 142"/>
          <p:cNvGrpSpPr>
            <a:grpSpLocks/>
          </p:cNvGrpSpPr>
          <p:nvPr/>
        </p:nvGrpSpPr>
        <p:grpSpPr bwMode="auto">
          <a:xfrm>
            <a:off x="6645275" y="1941513"/>
            <a:ext cx="487363" cy="609600"/>
            <a:chOff x="4313" y="1176"/>
            <a:chExt cx="307" cy="384"/>
          </a:xfrm>
          <a:noFill/>
        </p:grpSpPr>
        <p:sp>
          <p:nvSpPr>
            <p:cNvPr id="12389" name="Rectangle 143"/>
            <p:cNvSpPr>
              <a:spLocks noChangeArrowheads="1"/>
            </p:cNvSpPr>
            <p:nvPr/>
          </p:nvSpPr>
          <p:spPr bwMode="auto">
            <a:xfrm>
              <a:off x="4313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>
                <a:defRPr/>
              </a:pPr>
              <a:endParaRPr lang="zh-CN" altLang="en-US"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390" name="Rectangle 144"/>
            <p:cNvSpPr>
              <a:spLocks noChangeArrowheads="1"/>
            </p:cNvSpPr>
            <p:nvPr/>
          </p:nvSpPr>
          <p:spPr bwMode="auto">
            <a:xfrm>
              <a:off x="4313" y="1176"/>
              <a:ext cx="307" cy="19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90000"/>
                </a:lnSpc>
                <a:spcBef>
                  <a:spcPct val="30000"/>
                </a:spcBef>
                <a:defRPr/>
              </a:pPr>
              <a:r>
                <a:rPr lang="en-US" altLang="zh-CN" sz="1400">
                  <a:solidFill>
                    <a:schemeClr val="tx2"/>
                  </a:solidFill>
                  <a:latin typeface="Helvetica" pitchFamily="34" charset="0"/>
                  <a:ea typeface="宋体" panose="02010600030101010101" pitchFamily="2" charset="-122"/>
                </a:rPr>
                <a:t>1</a:t>
              </a:r>
            </a:p>
          </p:txBody>
        </p:sp>
      </p:grpSp>
      <p:grpSp>
        <p:nvGrpSpPr>
          <p:cNvPr id="12386" name="Group 145"/>
          <p:cNvGrpSpPr>
            <a:grpSpLocks/>
          </p:cNvGrpSpPr>
          <p:nvPr/>
        </p:nvGrpSpPr>
        <p:grpSpPr bwMode="auto">
          <a:xfrm>
            <a:off x="7132638" y="1941513"/>
            <a:ext cx="487363" cy="609600"/>
            <a:chOff x="4620" y="1176"/>
            <a:chExt cx="307" cy="384"/>
          </a:xfrm>
          <a:noFill/>
        </p:grpSpPr>
        <p:sp>
          <p:nvSpPr>
            <p:cNvPr id="12387" name="Rectangle 146"/>
            <p:cNvSpPr>
              <a:spLocks noChangeArrowheads="1"/>
            </p:cNvSpPr>
            <p:nvPr/>
          </p:nvSpPr>
          <p:spPr bwMode="auto">
            <a:xfrm>
              <a:off x="4620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>
                <a:defRPr/>
              </a:pPr>
              <a:endParaRPr lang="zh-CN" altLang="en-US"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388" name="Rectangle 147"/>
            <p:cNvSpPr>
              <a:spLocks noChangeArrowheads="1"/>
            </p:cNvSpPr>
            <p:nvPr/>
          </p:nvSpPr>
          <p:spPr bwMode="auto">
            <a:xfrm>
              <a:off x="4620" y="1176"/>
              <a:ext cx="307" cy="19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90000"/>
                </a:lnSpc>
                <a:spcBef>
                  <a:spcPct val="30000"/>
                </a:spcBef>
                <a:defRPr/>
              </a:pPr>
              <a:r>
                <a:rPr lang="en-US" altLang="zh-CN" sz="1400">
                  <a:solidFill>
                    <a:schemeClr val="tx2"/>
                  </a:solidFill>
                  <a:latin typeface="Helvetica" pitchFamily="34" charset="0"/>
                  <a:ea typeface="宋体" panose="02010600030101010101" pitchFamily="2" charset="-122"/>
                </a:rPr>
                <a:t>0</a:t>
              </a:r>
            </a:p>
          </p:txBody>
        </p:sp>
      </p:grpSp>
      <p:grpSp>
        <p:nvGrpSpPr>
          <p:cNvPr id="12353" name="Group 148"/>
          <p:cNvGrpSpPr>
            <a:grpSpLocks/>
          </p:cNvGrpSpPr>
          <p:nvPr/>
        </p:nvGrpSpPr>
        <p:grpSpPr bwMode="auto">
          <a:xfrm>
            <a:off x="4695825" y="2711450"/>
            <a:ext cx="2924175" cy="336550"/>
            <a:chOff x="3085" y="1661"/>
            <a:chExt cx="1842" cy="212"/>
          </a:xfrm>
          <a:noFill/>
        </p:grpSpPr>
        <p:sp>
          <p:nvSpPr>
            <p:cNvPr id="12371" name="Line 149"/>
            <p:cNvSpPr>
              <a:spLocks noChangeShapeType="1"/>
            </p:cNvSpPr>
            <p:nvPr/>
          </p:nvSpPr>
          <p:spPr bwMode="auto">
            <a:xfrm>
              <a:off x="3085" y="1752"/>
              <a:ext cx="1842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 type="arrow" w="med" len="med"/>
              <a:tailEnd type="arrow" w="med" len="med"/>
            </a:ln>
          </p:spPr>
          <p:txBody>
            <a:bodyPr wrap="none" lIns="90487" tIns="44450" rIns="90487" bIns="44450"/>
            <a:lstStyle/>
            <a:p>
              <a:pPr>
                <a:defRPr/>
              </a:pPr>
              <a:endParaRPr lang="zh-CN" altLang="en-US"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372" name="Text Box 150"/>
            <p:cNvSpPr txBox="1">
              <a:spLocks noChangeArrowheads="1"/>
            </p:cNvSpPr>
            <p:nvPr/>
          </p:nvSpPr>
          <p:spPr bwMode="auto">
            <a:xfrm>
              <a:off x="3794" y="1661"/>
              <a:ext cx="418" cy="2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defRPr/>
              </a:pPr>
              <a:r>
                <a:rPr lang="en-US" altLang="zh-CN" sz="1800">
                  <a:solidFill>
                    <a:schemeClr val="tx2"/>
                  </a:solidFill>
                  <a:latin typeface="Helvetica" pitchFamily="34" charset="0"/>
                </a:rPr>
                <a:t>VPO</a:t>
              </a:r>
            </a:p>
          </p:txBody>
        </p:sp>
      </p:grpSp>
      <p:grpSp>
        <p:nvGrpSpPr>
          <p:cNvPr id="12354" name="Group 151"/>
          <p:cNvGrpSpPr>
            <a:grpSpLocks/>
          </p:cNvGrpSpPr>
          <p:nvPr/>
        </p:nvGrpSpPr>
        <p:grpSpPr bwMode="auto">
          <a:xfrm>
            <a:off x="796925" y="2703513"/>
            <a:ext cx="3916363" cy="336550"/>
            <a:chOff x="629" y="1656"/>
            <a:chExt cx="2467" cy="212"/>
          </a:xfrm>
          <a:noFill/>
        </p:grpSpPr>
        <p:sp>
          <p:nvSpPr>
            <p:cNvPr id="12369" name="Line 152"/>
            <p:cNvSpPr>
              <a:spLocks noChangeShapeType="1"/>
            </p:cNvSpPr>
            <p:nvPr/>
          </p:nvSpPr>
          <p:spPr bwMode="auto">
            <a:xfrm>
              <a:off x="629" y="1747"/>
              <a:ext cx="2467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 type="arrow" w="med" len="med"/>
              <a:tailEnd type="arrow" w="med" len="med"/>
            </a:ln>
          </p:spPr>
          <p:txBody>
            <a:bodyPr wrap="none" lIns="90487" tIns="44450" rIns="90487" bIns="44450"/>
            <a:lstStyle/>
            <a:p>
              <a:pPr>
                <a:defRPr/>
              </a:pPr>
              <a:endParaRPr lang="zh-CN" altLang="en-US"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370" name="Text Box 153"/>
            <p:cNvSpPr txBox="1">
              <a:spLocks noChangeArrowheads="1"/>
            </p:cNvSpPr>
            <p:nvPr/>
          </p:nvSpPr>
          <p:spPr bwMode="auto">
            <a:xfrm>
              <a:off x="1579" y="1656"/>
              <a:ext cx="409" cy="2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defRPr/>
              </a:pPr>
              <a:r>
                <a:rPr lang="en-US" altLang="zh-CN" sz="1800" dirty="0">
                  <a:solidFill>
                    <a:schemeClr val="tx2"/>
                  </a:solidFill>
                  <a:latin typeface="Helvetica" pitchFamily="34" charset="0"/>
                </a:rPr>
                <a:t>VPN</a:t>
              </a:r>
            </a:p>
          </p:txBody>
        </p:sp>
      </p:grpSp>
      <p:sp>
        <p:nvSpPr>
          <p:cNvPr id="119828" name="Text Box 160"/>
          <p:cNvSpPr txBox="1">
            <a:spLocks noChangeArrowheads="1"/>
          </p:cNvSpPr>
          <p:nvPr/>
        </p:nvSpPr>
        <p:spPr bwMode="auto">
          <a:xfrm>
            <a:off x="7189788" y="2252663"/>
            <a:ext cx="381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ctr"/>
            <a:r>
              <a:rPr lang="zh-CN" altLang="en-US" sz="1600">
                <a:solidFill>
                  <a:srgbClr val="00B050"/>
                </a:solidFill>
                <a:latin typeface="Helvetica" charset="0"/>
              </a:rPr>
              <a:t>0</a:t>
            </a:r>
          </a:p>
        </p:txBody>
      </p:sp>
      <p:sp>
        <p:nvSpPr>
          <p:cNvPr id="119829" name="Text Box 161"/>
          <p:cNvSpPr txBox="1">
            <a:spLocks noChangeArrowheads="1"/>
          </p:cNvSpPr>
          <p:nvPr/>
        </p:nvSpPr>
        <p:spPr bwMode="auto">
          <a:xfrm>
            <a:off x="6656388" y="2252663"/>
            <a:ext cx="381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ctr"/>
            <a:r>
              <a:rPr lang="zh-CN" altLang="en-US" sz="1600">
                <a:solidFill>
                  <a:srgbClr val="00B050"/>
                </a:solidFill>
                <a:latin typeface="Helvetica" charset="0"/>
              </a:rPr>
              <a:t>0</a:t>
            </a:r>
          </a:p>
        </p:txBody>
      </p:sp>
      <p:sp>
        <p:nvSpPr>
          <p:cNvPr id="119830" name="Text Box 162"/>
          <p:cNvSpPr txBox="1">
            <a:spLocks noChangeArrowheads="1"/>
          </p:cNvSpPr>
          <p:nvPr/>
        </p:nvSpPr>
        <p:spPr bwMode="auto">
          <a:xfrm>
            <a:off x="6199188" y="2252663"/>
            <a:ext cx="381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ctr"/>
            <a:r>
              <a:rPr lang="zh-CN" altLang="en-US" sz="1600">
                <a:solidFill>
                  <a:srgbClr val="00B050"/>
                </a:solidFill>
                <a:latin typeface="Helvetica" charset="0"/>
              </a:rPr>
              <a:t>1</a:t>
            </a:r>
          </a:p>
        </p:txBody>
      </p:sp>
      <p:sp>
        <p:nvSpPr>
          <p:cNvPr id="119831" name="Text Box 163"/>
          <p:cNvSpPr txBox="1">
            <a:spLocks noChangeArrowheads="1"/>
          </p:cNvSpPr>
          <p:nvPr/>
        </p:nvSpPr>
        <p:spPr bwMode="auto">
          <a:xfrm>
            <a:off x="5741988" y="2252663"/>
            <a:ext cx="381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ctr"/>
            <a:r>
              <a:rPr lang="zh-CN" altLang="en-US" sz="1600">
                <a:solidFill>
                  <a:srgbClr val="00B050"/>
                </a:solidFill>
                <a:latin typeface="Helvetica" charset="0"/>
              </a:rPr>
              <a:t>0</a:t>
            </a:r>
          </a:p>
        </p:txBody>
      </p:sp>
      <p:sp>
        <p:nvSpPr>
          <p:cNvPr id="119832" name="Text Box 164"/>
          <p:cNvSpPr txBox="1">
            <a:spLocks noChangeArrowheads="1"/>
          </p:cNvSpPr>
          <p:nvPr/>
        </p:nvSpPr>
        <p:spPr bwMode="auto">
          <a:xfrm>
            <a:off x="5208588" y="2252663"/>
            <a:ext cx="381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ctr"/>
            <a:r>
              <a:rPr lang="zh-CN" altLang="en-US" sz="1600">
                <a:solidFill>
                  <a:srgbClr val="FFC000"/>
                </a:solidFill>
                <a:latin typeface="Helvetica" charset="0"/>
              </a:rPr>
              <a:t>1</a:t>
            </a:r>
          </a:p>
        </p:txBody>
      </p:sp>
      <p:sp>
        <p:nvSpPr>
          <p:cNvPr id="119833" name="Text Box 165"/>
          <p:cNvSpPr txBox="1">
            <a:spLocks noChangeArrowheads="1"/>
          </p:cNvSpPr>
          <p:nvPr/>
        </p:nvSpPr>
        <p:spPr bwMode="auto">
          <a:xfrm>
            <a:off x="4751388" y="2252663"/>
            <a:ext cx="381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ctr"/>
            <a:r>
              <a:rPr lang="zh-CN" altLang="en-US" sz="1600">
                <a:solidFill>
                  <a:srgbClr val="FFC000"/>
                </a:solidFill>
                <a:latin typeface="Helvetica" charset="0"/>
              </a:rPr>
              <a:t>0</a:t>
            </a:r>
          </a:p>
        </p:txBody>
      </p:sp>
      <p:sp>
        <p:nvSpPr>
          <p:cNvPr id="119834" name="Text Box 166"/>
          <p:cNvSpPr txBox="1">
            <a:spLocks noChangeArrowheads="1"/>
          </p:cNvSpPr>
          <p:nvPr/>
        </p:nvSpPr>
        <p:spPr bwMode="auto">
          <a:xfrm>
            <a:off x="4217988" y="2252663"/>
            <a:ext cx="381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ctr"/>
            <a:r>
              <a:rPr lang="zh-CN" altLang="en-US" sz="1600">
                <a:solidFill>
                  <a:srgbClr val="FFC000"/>
                </a:solidFill>
                <a:latin typeface="Helvetica" charset="0"/>
              </a:rPr>
              <a:t>1</a:t>
            </a:r>
          </a:p>
        </p:txBody>
      </p:sp>
      <p:sp>
        <p:nvSpPr>
          <p:cNvPr id="119835" name="Text Box 167"/>
          <p:cNvSpPr txBox="1">
            <a:spLocks noChangeArrowheads="1"/>
          </p:cNvSpPr>
          <p:nvPr/>
        </p:nvSpPr>
        <p:spPr bwMode="auto">
          <a:xfrm>
            <a:off x="3760788" y="2252663"/>
            <a:ext cx="381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ctr"/>
            <a:r>
              <a:rPr lang="zh-CN" altLang="en-US" sz="1600">
                <a:solidFill>
                  <a:srgbClr val="FFC000"/>
                </a:solidFill>
                <a:latin typeface="Helvetica" charset="0"/>
              </a:rPr>
              <a:t>1</a:t>
            </a:r>
          </a:p>
        </p:txBody>
      </p:sp>
      <p:sp>
        <p:nvSpPr>
          <p:cNvPr id="119836" name="Text Box 168"/>
          <p:cNvSpPr txBox="1">
            <a:spLocks noChangeArrowheads="1"/>
          </p:cNvSpPr>
          <p:nvPr/>
        </p:nvSpPr>
        <p:spPr bwMode="auto">
          <a:xfrm>
            <a:off x="3303588" y="2252663"/>
            <a:ext cx="381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ctr"/>
            <a:r>
              <a:rPr lang="zh-CN" altLang="en-US" sz="1600">
                <a:solidFill>
                  <a:srgbClr val="00B0F0"/>
                </a:solidFill>
                <a:latin typeface="Helvetica" charset="0"/>
              </a:rPr>
              <a:t>1</a:t>
            </a:r>
          </a:p>
        </p:txBody>
      </p:sp>
      <p:sp>
        <p:nvSpPr>
          <p:cNvPr id="119837" name="Text Box 169"/>
          <p:cNvSpPr txBox="1">
            <a:spLocks noChangeArrowheads="1"/>
          </p:cNvSpPr>
          <p:nvPr/>
        </p:nvSpPr>
        <p:spPr bwMode="auto">
          <a:xfrm>
            <a:off x="2770188" y="2252663"/>
            <a:ext cx="381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ctr"/>
            <a:r>
              <a:rPr lang="zh-CN" altLang="en-US" sz="1600">
                <a:solidFill>
                  <a:srgbClr val="00B0F0"/>
                </a:solidFill>
                <a:latin typeface="Helvetica" charset="0"/>
              </a:rPr>
              <a:t>1</a:t>
            </a:r>
          </a:p>
        </p:txBody>
      </p:sp>
      <p:sp>
        <p:nvSpPr>
          <p:cNvPr id="119838" name="Text Box 170"/>
          <p:cNvSpPr txBox="1">
            <a:spLocks noChangeArrowheads="1"/>
          </p:cNvSpPr>
          <p:nvPr/>
        </p:nvSpPr>
        <p:spPr bwMode="auto">
          <a:xfrm>
            <a:off x="2312988" y="2252663"/>
            <a:ext cx="381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ctr"/>
            <a:r>
              <a:rPr lang="zh-CN" altLang="en-US" sz="1600">
                <a:solidFill>
                  <a:srgbClr val="00B0F0"/>
                </a:solidFill>
                <a:latin typeface="Helvetica" charset="0"/>
              </a:rPr>
              <a:t>0</a:t>
            </a:r>
          </a:p>
        </p:txBody>
      </p:sp>
      <p:sp>
        <p:nvSpPr>
          <p:cNvPr id="119839" name="Text Box 171"/>
          <p:cNvSpPr txBox="1">
            <a:spLocks noChangeArrowheads="1"/>
          </p:cNvSpPr>
          <p:nvPr/>
        </p:nvSpPr>
        <p:spPr bwMode="auto">
          <a:xfrm>
            <a:off x="1779588" y="2252663"/>
            <a:ext cx="381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ctr"/>
            <a:r>
              <a:rPr lang="zh-CN" altLang="en-US" sz="1600">
                <a:solidFill>
                  <a:srgbClr val="00B0F0"/>
                </a:solidFill>
                <a:latin typeface="Helvetica" charset="0"/>
              </a:rPr>
              <a:t>0</a:t>
            </a:r>
          </a:p>
        </p:txBody>
      </p:sp>
      <p:sp>
        <p:nvSpPr>
          <p:cNvPr id="119840" name="Text Box 172"/>
          <p:cNvSpPr txBox="1">
            <a:spLocks noChangeArrowheads="1"/>
          </p:cNvSpPr>
          <p:nvPr/>
        </p:nvSpPr>
        <p:spPr bwMode="auto">
          <a:xfrm>
            <a:off x="1322388" y="2252663"/>
            <a:ext cx="381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ctr"/>
            <a:r>
              <a:rPr lang="zh-CN" altLang="en-US" sz="1600">
                <a:solidFill>
                  <a:srgbClr val="FF0000"/>
                </a:solidFill>
                <a:latin typeface="Helvetica" charset="0"/>
              </a:rPr>
              <a:t>0</a:t>
            </a:r>
          </a:p>
        </p:txBody>
      </p:sp>
      <p:sp>
        <p:nvSpPr>
          <p:cNvPr id="119841" name="Text Box 173"/>
          <p:cNvSpPr txBox="1">
            <a:spLocks noChangeArrowheads="1"/>
          </p:cNvSpPr>
          <p:nvPr/>
        </p:nvSpPr>
        <p:spPr bwMode="auto">
          <a:xfrm>
            <a:off x="865188" y="2252663"/>
            <a:ext cx="381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ctr"/>
            <a:r>
              <a:rPr lang="zh-CN" altLang="en-US" sz="1600">
                <a:solidFill>
                  <a:srgbClr val="FF0000"/>
                </a:solidFill>
                <a:latin typeface="Helvetica" charset="0"/>
              </a:rPr>
              <a:t>0</a:t>
            </a:r>
          </a:p>
        </p:txBody>
      </p:sp>
      <p:sp>
        <p:nvSpPr>
          <p:cNvPr id="119842" name="Rectangle 176"/>
          <p:cNvSpPr>
            <a:spLocks noChangeArrowheads="1"/>
          </p:cNvSpPr>
          <p:nvPr/>
        </p:nvSpPr>
        <p:spPr bwMode="auto">
          <a:xfrm>
            <a:off x="708025" y="5257800"/>
            <a:ext cx="6054725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lnSpc>
                <a:spcPct val="140000"/>
              </a:lnSpc>
            </a:pPr>
            <a:r>
              <a:rPr lang="en-US" altLang="zh-CN" b="0"/>
              <a:t>PPN: </a:t>
            </a:r>
            <a:r>
              <a:rPr lang="en-US" altLang="zh-CN" u="sng">
                <a:solidFill>
                  <a:srgbClr val="9900CC"/>
                </a:solidFill>
              </a:rPr>
              <a:t>0x0D</a:t>
            </a:r>
            <a:r>
              <a:rPr lang="en-US" altLang="zh-CN" b="0"/>
              <a:t>    VPO: </a:t>
            </a:r>
            <a:r>
              <a:rPr lang="en-US" altLang="zh-CN" u="sng"/>
              <a:t>0x14</a:t>
            </a:r>
            <a:r>
              <a:rPr lang="en-US" altLang="zh-CN" b="0"/>
              <a:t>          		PA: </a:t>
            </a:r>
            <a:r>
              <a:rPr lang="en-US" altLang="zh-CN" b="0" u="sng"/>
              <a:t>0x</a:t>
            </a:r>
            <a:r>
              <a:rPr lang="en-US" altLang="zh-CN" b="0" u="sng">
                <a:solidFill>
                  <a:srgbClr val="00B0F0"/>
                </a:solidFill>
              </a:rPr>
              <a:t>3</a:t>
            </a:r>
            <a:r>
              <a:rPr lang="en-US" altLang="zh-CN" b="0" u="sng">
                <a:solidFill>
                  <a:srgbClr val="FFC000"/>
                </a:solidFill>
              </a:rPr>
              <a:t>5</a:t>
            </a:r>
            <a:r>
              <a:rPr lang="en-US" altLang="zh-CN" b="0" u="sng">
                <a:solidFill>
                  <a:srgbClr val="00B050"/>
                </a:solidFill>
              </a:rPr>
              <a:t>4</a:t>
            </a:r>
          </a:p>
        </p:txBody>
      </p:sp>
      <p:grpSp>
        <p:nvGrpSpPr>
          <p:cNvPr id="119843" name="Group 179"/>
          <p:cNvGrpSpPr>
            <a:grpSpLocks/>
          </p:cNvGrpSpPr>
          <p:nvPr/>
        </p:nvGrpSpPr>
        <p:grpSpPr bwMode="auto">
          <a:xfrm>
            <a:off x="1779588" y="4006850"/>
            <a:ext cx="5848350" cy="609600"/>
            <a:chOff x="1219" y="2880"/>
            <a:chExt cx="3684" cy="384"/>
          </a:xfrm>
        </p:grpSpPr>
        <p:grpSp>
          <p:nvGrpSpPr>
            <p:cNvPr id="119864" name="Group 180"/>
            <p:cNvGrpSpPr>
              <a:grpSpLocks/>
            </p:cNvGrpSpPr>
            <p:nvPr/>
          </p:nvGrpSpPr>
          <p:grpSpPr bwMode="auto">
            <a:xfrm>
              <a:off x="1219" y="2880"/>
              <a:ext cx="307" cy="384"/>
              <a:chOff x="605" y="1776"/>
              <a:chExt cx="307" cy="384"/>
            </a:xfrm>
          </p:grpSpPr>
          <p:sp>
            <p:nvSpPr>
              <p:cNvPr id="119898" name="Rectangle 181"/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487" tIns="44450" rIns="90487" bIns="44450" anchor="ctr"/>
              <a:lstStyle>
                <a:lvl1pPr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9899" name="Rectangle 182"/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 anchor="ctr"/>
              <a:lstStyle>
                <a:lvl1pPr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30000"/>
                  </a:spcBef>
                </a:pPr>
                <a:r>
                  <a:rPr lang="en-US" altLang="zh-CN" sz="1400">
                    <a:solidFill>
                      <a:schemeClr val="tx2"/>
                    </a:solidFill>
                    <a:latin typeface="Helvetica" charset="0"/>
                  </a:rPr>
                  <a:t>11</a:t>
                </a:r>
              </a:p>
            </p:txBody>
          </p:sp>
        </p:grpSp>
        <p:grpSp>
          <p:nvGrpSpPr>
            <p:cNvPr id="119865" name="Group 183"/>
            <p:cNvGrpSpPr>
              <a:grpSpLocks/>
            </p:cNvGrpSpPr>
            <p:nvPr/>
          </p:nvGrpSpPr>
          <p:grpSpPr bwMode="auto">
            <a:xfrm>
              <a:off x="1526" y="2880"/>
              <a:ext cx="307" cy="384"/>
              <a:chOff x="605" y="1776"/>
              <a:chExt cx="307" cy="384"/>
            </a:xfrm>
          </p:grpSpPr>
          <p:sp>
            <p:nvSpPr>
              <p:cNvPr id="119896" name="Rectangle 184"/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487" tIns="44450" rIns="90487" bIns="44450" anchor="ctr"/>
              <a:lstStyle>
                <a:lvl1pPr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9897" name="Rectangle 185"/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 anchor="ctr"/>
              <a:lstStyle>
                <a:lvl1pPr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30000"/>
                  </a:spcBef>
                </a:pPr>
                <a:r>
                  <a:rPr lang="en-US" altLang="zh-CN" sz="1400">
                    <a:solidFill>
                      <a:schemeClr val="tx2"/>
                    </a:solidFill>
                    <a:latin typeface="Helvetica" charset="0"/>
                  </a:rPr>
                  <a:t>10</a:t>
                </a:r>
              </a:p>
            </p:txBody>
          </p:sp>
        </p:grpSp>
        <p:grpSp>
          <p:nvGrpSpPr>
            <p:cNvPr id="119866" name="Group 186"/>
            <p:cNvGrpSpPr>
              <a:grpSpLocks/>
            </p:cNvGrpSpPr>
            <p:nvPr/>
          </p:nvGrpSpPr>
          <p:grpSpPr bwMode="auto">
            <a:xfrm>
              <a:off x="1833" y="2880"/>
              <a:ext cx="307" cy="384"/>
              <a:chOff x="605" y="1776"/>
              <a:chExt cx="307" cy="384"/>
            </a:xfrm>
          </p:grpSpPr>
          <p:sp>
            <p:nvSpPr>
              <p:cNvPr id="119894" name="Rectangle 187"/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487" tIns="44450" rIns="90487" bIns="44450" anchor="ctr"/>
              <a:lstStyle>
                <a:lvl1pPr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9895" name="Rectangle 188"/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 anchor="ctr"/>
              <a:lstStyle>
                <a:lvl1pPr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30000"/>
                  </a:spcBef>
                </a:pPr>
                <a:r>
                  <a:rPr lang="en-US" altLang="zh-CN" sz="1400">
                    <a:solidFill>
                      <a:schemeClr val="tx2"/>
                    </a:solidFill>
                    <a:latin typeface="Helvetica" charset="0"/>
                  </a:rPr>
                  <a:t>9</a:t>
                </a:r>
              </a:p>
            </p:txBody>
          </p:sp>
        </p:grpSp>
        <p:grpSp>
          <p:nvGrpSpPr>
            <p:cNvPr id="119867" name="Group 189"/>
            <p:cNvGrpSpPr>
              <a:grpSpLocks/>
            </p:cNvGrpSpPr>
            <p:nvPr/>
          </p:nvGrpSpPr>
          <p:grpSpPr bwMode="auto">
            <a:xfrm>
              <a:off x="2140" y="2880"/>
              <a:ext cx="307" cy="384"/>
              <a:chOff x="605" y="1776"/>
              <a:chExt cx="307" cy="384"/>
            </a:xfrm>
          </p:grpSpPr>
          <p:sp>
            <p:nvSpPr>
              <p:cNvPr id="119892" name="Rectangle 190"/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487" tIns="44450" rIns="90487" bIns="44450" anchor="ctr"/>
              <a:lstStyle>
                <a:lvl1pPr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9893" name="Rectangle 191"/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 anchor="ctr"/>
              <a:lstStyle>
                <a:lvl1pPr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30000"/>
                  </a:spcBef>
                </a:pPr>
                <a:r>
                  <a:rPr lang="en-US" altLang="zh-CN" sz="1400">
                    <a:solidFill>
                      <a:schemeClr val="tx2"/>
                    </a:solidFill>
                    <a:latin typeface="Helvetica" charset="0"/>
                  </a:rPr>
                  <a:t>8</a:t>
                </a:r>
              </a:p>
            </p:txBody>
          </p:sp>
        </p:grpSp>
        <p:grpSp>
          <p:nvGrpSpPr>
            <p:cNvPr id="119868" name="Group 192"/>
            <p:cNvGrpSpPr>
              <a:grpSpLocks/>
            </p:cNvGrpSpPr>
            <p:nvPr/>
          </p:nvGrpSpPr>
          <p:grpSpPr bwMode="auto">
            <a:xfrm>
              <a:off x="2447" y="2880"/>
              <a:ext cx="307" cy="384"/>
              <a:chOff x="605" y="1776"/>
              <a:chExt cx="307" cy="384"/>
            </a:xfrm>
          </p:grpSpPr>
          <p:sp>
            <p:nvSpPr>
              <p:cNvPr id="119890" name="Rectangle 193"/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487" tIns="44450" rIns="90487" bIns="44450" anchor="ctr"/>
              <a:lstStyle>
                <a:lvl1pPr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9891" name="Rectangle 194"/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 anchor="ctr"/>
              <a:lstStyle>
                <a:lvl1pPr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30000"/>
                  </a:spcBef>
                </a:pPr>
                <a:r>
                  <a:rPr lang="en-US" altLang="zh-CN" sz="1400">
                    <a:solidFill>
                      <a:schemeClr val="tx2"/>
                    </a:solidFill>
                    <a:latin typeface="Helvetica" charset="0"/>
                  </a:rPr>
                  <a:t>7</a:t>
                </a:r>
              </a:p>
            </p:txBody>
          </p:sp>
        </p:grpSp>
        <p:grpSp>
          <p:nvGrpSpPr>
            <p:cNvPr id="119869" name="Group 195"/>
            <p:cNvGrpSpPr>
              <a:grpSpLocks/>
            </p:cNvGrpSpPr>
            <p:nvPr/>
          </p:nvGrpSpPr>
          <p:grpSpPr bwMode="auto">
            <a:xfrm>
              <a:off x="2754" y="2880"/>
              <a:ext cx="307" cy="384"/>
              <a:chOff x="605" y="1776"/>
              <a:chExt cx="307" cy="384"/>
            </a:xfrm>
          </p:grpSpPr>
          <p:sp>
            <p:nvSpPr>
              <p:cNvPr id="119888" name="Rectangle 196"/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487" tIns="44450" rIns="90487" bIns="44450" anchor="ctr"/>
              <a:lstStyle>
                <a:lvl1pPr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9889" name="Rectangle 197"/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 anchor="ctr"/>
              <a:lstStyle>
                <a:lvl1pPr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30000"/>
                  </a:spcBef>
                </a:pPr>
                <a:r>
                  <a:rPr lang="en-US" altLang="zh-CN" sz="1400">
                    <a:solidFill>
                      <a:schemeClr val="tx2"/>
                    </a:solidFill>
                    <a:latin typeface="Helvetica" charset="0"/>
                  </a:rPr>
                  <a:t>6</a:t>
                </a:r>
              </a:p>
            </p:txBody>
          </p:sp>
        </p:grpSp>
        <p:grpSp>
          <p:nvGrpSpPr>
            <p:cNvPr id="119870" name="Group 198"/>
            <p:cNvGrpSpPr>
              <a:grpSpLocks/>
            </p:cNvGrpSpPr>
            <p:nvPr/>
          </p:nvGrpSpPr>
          <p:grpSpPr bwMode="auto">
            <a:xfrm>
              <a:off x="3061" y="2880"/>
              <a:ext cx="307" cy="384"/>
              <a:chOff x="605" y="1776"/>
              <a:chExt cx="307" cy="384"/>
            </a:xfrm>
          </p:grpSpPr>
          <p:sp>
            <p:nvSpPr>
              <p:cNvPr id="119886" name="Rectangle 199"/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487" tIns="44450" rIns="90487" bIns="44450" anchor="ctr"/>
              <a:lstStyle>
                <a:lvl1pPr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9887" name="Rectangle 200"/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 anchor="ctr"/>
              <a:lstStyle>
                <a:lvl1pPr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30000"/>
                  </a:spcBef>
                </a:pPr>
                <a:r>
                  <a:rPr lang="en-US" altLang="zh-CN" sz="1400">
                    <a:solidFill>
                      <a:schemeClr val="tx2"/>
                    </a:solidFill>
                    <a:latin typeface="Helvetica" charset="0"/>
                  </a:rPr>
                  <a:t>5</a:t>
                </a:r>
              </a:p>
            </p:txBody>
          </p:sp>
        </p:grpSp>
        <p:grpSp>
          <p:nvGrpSpPr>
            <p:cNvPr id="119871" name="Group 201"/>
            <p:cNvGrpSpPr>
              <a:grpSpLocks/>
            </p:cNvGrpSpPr>
            <p:nvPr/>
          </p:nvGrpSpPr>
          <p:grpSpPr bwMode="auto">
            <a:xfrm>
              <a:off x="3368" y="2880"/>
              <a:ext cx="307" cy="384"/>
              <a:chOff x="605" y="1776"/>
              <a:chExt cx="307" cy="384"/>
            </a:xfrm>
          </p:grpSpPr>
          <p:sp>
            <p:nvSpPr>
              <p:cNvPr id="119884" name="Rectangle 202"/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487" tIns="44450" rIns="90487" bIns="44450" anchor="ctr"/>
              <a:lstStyle>
                <a:lvl1pPr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9885" name="Rectangle 203"/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 anchor="ctr"/>
              <a:lstStyle>
                <a:lvl1pPr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30000"/>
                  </a:spcBef>
                </a:pPr>
                <a:r>
                  <a:rPr lang="en-US" altLang="zh-CN" sz="1400">
                    <a:solidFill>
                      <a:schemeClr val="tx2"/>
                    </a:solidFill>
                    <a:latin typeface="Helvetica" charset="0"/>
                  </a:rPr>
                  <a:t>4</a:t>
                </a:r>
              </a:p>
            </p:txBody>
          </p:sp>
        </p:grpSp>
        <p:grpSp>
          <p:nvGrpSpPr>
            <p:cNvPr id="119872" name="Group 204"/>
            <p:cNvGrpSpPr>
              <a:grpSpLocks/>
            </p:cNvGrpSpPr>
            <p:nvPr/>
          </p:nvGrpSpPr>
          <p:grpSpPr bwMode="auto">
            <a:xfrm>
              <a:off x="3675" y="2880"/>
              <a:ext cx="307" cy="384"/>
              <a:chOff x="605" y="1776"/>
              <a:chExt cx="307" cy="384"/>
            </a:xfrm>
          </p:grpSpPr>
          <p:sp>
            <p:nvSpPr>
              <p:cNvPr id="119882" name="Rectangle 205"/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487" tIns="44450" rIns="90487" bIns="44450" anchor="ctr"/>
              <a:lstStyle>
                <a:lvl1pPr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9883" name="Rectangle 206"/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 anchor="ctr"/>
              <a:lstStyle>
                <a:lvl1pPr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30000"/>
                  </a:spcBef>
                </a:pPr>
                <a:r>
                  <a:rPr lang="en-US" altLang="zh-CN" sz="1400">
                    <a:solidFill>
                      <a:schemeClr val="tx2"/>
                    </a:solidFill>
                    <a:latin typeface="Helvetica" charset="0"/>
                  </a:rPr>
                  <a:t>3</a:t>
                </a:r>
              </a:p>
            </p:txBody>
          </p:sp>
        </p:grpSp>
        <p:grpSp>
          <p:nvGrpSpPr>
            <p:cNvPr id="119873" name="Group 207"/>
            <p:cNvGrpSpPr>
              <a:grpSpLocks/>
            </p:cNvGrpSpPr>
            <p:nvPr/>
          </p:nvGrpSpPr>
          <p:grpSpPr bwMode="auto">
            <a:xfrm>
              <a:off x="3982" y="2880"/>
              <a:ext cx="307" cy="384"/>
              <a:chOff x="605" y="1776"/>
              <a:chExt cx="307" cy="384"/>
            </a:xfrm>
          </p:grpSpPr>
          <p:sp>
            <p:nvSpPr>
              <p:cNvPr id="119880" name="Rectangle 208"/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487" tIns="44450" rIns="90487" bIns="44450" anchor="ctr"/>
              <a:lstStyle>
                <a:lvl1pPr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9881" name="Rectangle 209"/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 anchor="ctr"/>
              <a:lstStyle>
                <a:lvl1pPr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30000"/>
                  </a:spcBef>
                </a:pPr>
                <a:r>
                  <a:rPr lang="en-US" altLang="zh-CN" sz="1400">
                    <a:solidFill>
                      <a:schemeClr val="tx2"/>
                    </a:solidFill>
                    <a:latin typeface="Helvetica" charset="0"/>
                  </a:rPr>
                  <a:t>2</a:t>
                </a:r>
              </a:p>
            </p:txBody>
          </p:sp>
        </p:grpSp>
        <p:grpSp>
          <p:nvGrpSpPr>
            <p:cNvPr id="119874" name="Group 210"/>
            <p:cNvGrpSpPr>
              <a:grpSpLocks/>
            </p:cNvGrpSpPr>
            <p:nvPr/>
          </p:nvGrpSpPr>
          <p:grpSpPr bwMode="auto">
            <a:xfrm>
              <a:off x="4289" y="2880"/>
              <a:ext cx="307" cy="384"/>
              <a:chOff x="605" y="1776"/>
              <a:chExt cx="307" cy="384"/>
            </a:xfrm>
          </p:grpSpPr>
          <p:sp>
            <p:nvSpPr>
              <p:cNvPr id="119878" name="Rectangle 211"/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487" tIns="44450" rIns="90487" bIns="44450" anchor="ctr"/>
              <a:lstStyle>
                <a:lvl1pPr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9879" name="Rectangle 212"/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 anchor="ctr"/>
              <a:lstStyle>
                <a:lvl1pPr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30000"/>
                  </a:spcBef>
                </a:pPr>
                <a:r>
                  <a:rPr lang="en-US" altLang="zh-CN" sz="1400">
                    <a:solidFill>
                      <a:schemeClr val="tx2"/>
                    </a:solidFill>
                    <a:latin typeface="Helvetica" charset="0"/>
                  </a:rPr>
                  <a:t>1</a:t>
                </a:r>
              </a:p>
            </p:txBody>
          </p:sp>
        </p:grpSp>
        <p:grpSp>
          <p:nvGrpSpPr>
            <p:cNvPr id="119875" name="Group 213"/>
            <p:cNvGrpSpPr>
              <a:grpSpLocks/>
            </p:cNvGrpSpPr>
            <p:nvPr/>
          </p:nvGrpSpPr>
          <p:grpSpPr bwMode="auto">
            <a:xfrm>
              <a:off x="4596" y="2880"/>
              <a:ext cx="307" cy="384"/>
              <a:chOff x="605" y="1776"/>
              <a:chExt cx="307" cy="384"/>
            </a:xfrm>
          </p:grpSpPr>
          <p:sp>
            <p:nvSpPr>
              <p:cNvPr id="119876" name="Rectangle 214"/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487" tIns="44450" rIns="90487" bIns="44450" anchor="ctr"/>
              <a:lstStyle>
                <a:lvl1pPr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9877" name="Rectangle 215"/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 anchor="ctr"/>
              <a:lstStyle>
                <a:lvl1pPr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30000"/>
                  </a:spcBef>
                </a:pPr>
                <a:r>
                  <a:rPr lang="en-US" altLang="zh-CN" sz="1400">
                    <a:solidFill>
                      <a:schemeClr val="tx2"/>
                    </a:solidFill>
                    <a:latin typeface="Helvetica" charset="0"/>
                  </a:rPr>
                  <a:t>0</a:t>
                </a:r>
              </a:p>
            </p:txBody>
          </p:sp>
        </p:grpSp>
      </p:grpSp>
      <p:grpSp>
        <p:nvGrpSpPr>
          <p:cNvPr id="119844" name="Group 216"/>
          <p:cNvGrpSpPr>
            <a:grpSpLocks/>
          </p:cNvGrpSpPr>
          <p:nvPr/>
        </p:nvGrpSpPr>
        <p:grpSpPr bwMode="auto">
          <a:xfrm>
            <a:off x="4721225" y="4692650"/>
            <a:ext cx="2924175" cy="336550"/>
            <a:chOff x="3061" y="2261"/>
            <a:chExt cx="1842" cy="212"/>
          </a:xfrm>
        </p:grpSpPr>
        <p:sp>
          <p:nvSpPr>
            <p:cNvPr id="119862" name="Line 217"/>
            <p:cNvSpPr>
              <a:spLocks noChangeShapeType="1"/>
            </p:cNvSpPr>
            <p:nvPr/>
          </p:nvSpPr>
          <p:spPr bwMode="auto">
            <a:xfrm>
              <a:off x="3061" y="2352"/>
              <a:ext cx="184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arrow" w="med" len="med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487" tIns="44450" rIns="90487" bIns="44450"/>
            <a:lstStyle/>
            <a:p>
              <a:endParaRPr lang="zh-CN" altLang="en-US"/>
            </a:p>
          </p:txBody>
        </p:sp>
        <p:sp>
          <p:nvSpPr>
            <p:cNvPr id="119863" name="Text Box 218"/>
            <p:cNvSpPr txBox="1">
              <a:spLocks noChangeArrowheads="1"/>
            </p:cNvSpPr>
            <p:nvPr/>
          </p:nvSpPr>
          <p:spPr bwMode="auto">
            <a:xfrm>
              <a:off x="3770" y="2261"/>
              <a:ext cx="418" cy="2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</a:pPr>
              <a:r>
                <a:rPr lang="en-US" altLang="zh-CN" sz="1800">
                  <a:solidFill>
                    <a:schemeClr val="tx2"/>
                  </a:solidFill>
                  <a:latin typeface="Helvetica" charset="0"/>
                </a:rPr>
                <a:t>PPO</a:t>
              </a:r>
            </a:p>
          </p:txBody>
        </p:sp>
      </p:grpSp>
      <p:grpSp>
        <p:nvGrpSpPr>
          <p:cNvPr id="119845" name="Group 219"/>
          <p:cNvGrpSpPr>
            <a:grpSpLocks/>
          </p:cNvGrpSpPr>
          <p:nvPr/>
        </p:nvGrpSpPr>
        <p:grpSpPr bwMode="auto">
          <a:xfrm>
            <a:off x="1825625" y="4692650"/>
            <a:ext cx="2924175" cy="336550"/>
            <a:chOff x="3061" y="2261"/>
            <a:chExt cx="1842" cy="212"/>
          </a:xfrm>
        </p:grpSpPr>
        <p:sp>
          <p:nvSpPr>
            <p:cNvPr id="119860" name="Line 220"/>
            <p:cNvSpPr>
              <a:spLocks noChangeShapeType="1"/>
            </p:cNvSpPr>
            <p:nvPr/>
          </p:nvSpPr>
          <p:spPr bwMode="auto">
            <a:xfrm>
              <a:off x="3061" y="2352"/>
              <a:ext cx="184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arrow" w="med" len="med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487" tIns="44450" rIns="90487" bIns="44450"/>
            <a:lstStyle/>
            <a:p>
              <a:endParaRPr lang="zh-CN" altLang="en-US"/>
            </a:p>
          </p:txBody>
        </p:sp>
        <p:sp>
          <p:nvSpPr>
            <p:cNvPr id="119861" name="Text Box 221"/>
            <p:cNvSpPr txBox="1">
              <a:spLocks noChangeArrowheads="1"/>
            </p:cNvSpPr>
            <p:nvPr/>
          </p:nvSpPr>
          <p:spPr bwMode="auto">
            <a:xfrm>
              <a:off x="3770" y="2261"/>
              <a:ext cx="410" cy="2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</a:pPr>
              <a:r>
                <a:rPr lang="en-US" altLang="zh-CN" sz="1800">
                  <a:solidFill>
                    <a:schemeClr val="tx2"/>
                  </a:solidFill>
                  <a:latin typeface="Helvetica" charset="0"/>
                </a:rPr>
                <a:t>PPN</a:t>
              </a:r>
            </a:p>
          </p:txBody>
        </p:sp>
      </p:grpSp>
      <p:sp>
        <p:nvSpPr>
          <p:cNvPr id="119846" name="Text Box 231"/>
          <p:cNvSpPr txBox="1">
            <a:spLocks noChangeArrowheads="1"/>
          </p:cNvSpPr>
          <p:nvPr/>
        </p:nvSpPr>
        <p:spPr bwMode="auto">
          <a:xfrm>
            <a:off x="7265988" y="4311650"/>
            <a:ext cx="29686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ctr"/>
            <a:r>
              <a:rPr lang="zh-CN" altLang="en-US" sz="1600">
                <a:solidFill>
                  <a:srgbClr val="00B050"/>
                </a:solidFill>
                <a:latin typeface="Helvetica" charset="0"/>
              </a:rPr>
              <a:t>0</a:t>
            </a:r>
          </a:p>
        </p:txBody>
      </p:sp>
      <p:sp>
        <p:nvSpPr>
          <p:cNvPr id="119847" name="Text Box 232"/>
          <p:cNvSpPr txBox="1">
            <a:spLocks noChangeArrowheads="1"/>
          </p:cNvSpPr>
          <p:nvPr/>
        </p:nvSpPr>
        <p:spPr bwMode="auto">
          <a:xfrm>
            <a:off x="6732588" y="4311650"/>
            <a:ext cx="29686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ctr"/>
            <a:r>
              <a:rPr lang="zh-CN" altLang="en-US" sz="1600">
                <a:solidFill>
                  <a:srgbClr val="00B050"/>
                </a:solidFill>
                <a:latin typeface="Helvetica" charset="0"/>
              </a:rPr>
              <a:t>0</a:t>
            </a:r>
          </a:p>
        </p:txBody>
      </p:sp>
      <p:sp>
        <p:nvSpPr>
          <p:cNvPr id="119848" name="Text Box 233"/>
          <p:cNvSpPr txBox="1">
            <a:spLocks noChangeArrowheads="1"/>
          </p:cNvSpPr>
          <p:nvPr/>
        </p:nvSpPr>
        <p:spPr bwMode="auto">
          <a:xfrm>
            <a:off x="6275388" y="4311650"/>
            <a:ext cx="29686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ctr"/>
            <a:r>
              <a:rPr lang="zh-CN" altLang="en-US" sz="1600">
                <a:solidFill>
                  <a:srgbClr val="00B050"/>
                </a:solidFill>
                <a:latin typeface="Helvetica" charset="0"/>
              </a:rPr>
              <a:t>1</a:t>
            </a:r>
          </a:p>
        </p:txBody>
      </p:sp>
      <p:sp>
        <p:nvSpPr>
          <p:cNvPr id="119849" name="Text Box 234"/>
          <p:cNvSpPr txBox="1">
            <a:spLocks noChangeArrowheads="1"/>
          </p:cNvSpPr>
          <p:nvPr/>
        </p:nvSpPr>
        <p:spPr bwMode="auto">
          <a:xfrm>
            <a:off x="5749925" y="4311650"/>
            <a:ext cx="2968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ctr"/>
            <a:r>
              <a:rPr lang="zh-CN" altLang="en-US" sz="1600">
                <a:solidFill>
                  <a:srgbClr val="00B050"/>
                </a:solidFill>
                <a:latin typeface="Helvetica" charset="0"/>
              </a:rPr>
              <a:t>0</a:t>
            </a:r>
          </a:p>
        </p:txBody>
      </p:sp>
      <p:sp>
        <p:nvSpPr>
          <p:cNvPr id="119850" name="Text Box 235"/>
          <p:cNvSpPr txBox="1">
            <a:spLocks noChangeArrowheads="1"/>
          </p:cNvSpPr>
          <p:nvPr/>
        </p:nvSpPr>
        <p:spPr bwMode="auto">
          <a:xfrm>
            <a:off x="5284788" y="4311650"/>
            <a:ext cx="29686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ctr"/>
            <a:r>
              <a:rPr lang="zh-CN" altLang="en-US" sz="1600">
                <a:solidFill>
                  <a:srgbClr val="FFC000"/>
                </a:solidFill>
                <a:latin typeface="Helvetica" charset="0"/>
              </a:rPr>
              <a:t>1</a:t>
            </a:r>
          </a:p>
        </p:txBody>
      </p:sp>
      <p:sp>
        <p:nvSpPr>
          <p:cNvPr id="119851" name="Text Box 236"/>
          <p:cNvSpPr txBox="1">
            <a:spLocks noChangeArrowheads="1"/>
          </p:cNvSpPr>
          <p:nvPr/>
        </p:nvSpPr>
        <p:spPr bwMode="auto">
          <a:xfrm>
            <a:off x="4827588" y="4311650"/>
            <a:ext cx="29686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ctr"/>
            <a:r>
              <a:rPr lang="zh-CN" altLang="en-US" sz="1600">
                <a:solidFill>
                  <a:srgbClr val="FFC000"/>
                </a:solidFill>
                <a:latin typeface="Helvetica" charset="0"/>
              </a:rPr>
              <a:t>0</a:t>
            </a:r>
          </a:p>
        </p:txBody>
      </p:sp>
      <p:sp>
        <p:nvSpPr>
          <p:cNvPr id="119852" name="Text Box 237"/>
          <p:cNvSpPr txBox="1">
            <a:spLocks noChangeArrowheads="1"/>
          </p:cNvSpPr>
          <p:nvPr/>
        </p:nvSpPr>
        <p:spPr bwMode="auto">
          <a:xfrm>
            <a:off x="4294188" y="4311650"/>
            <a:ext cx="29686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ctr"/>
            <a:r>
              <a:rPr lang="zh-CN" altLang="en-US" sz="1600">
                <a:solidFill>
                  <a:srgbClr val="FFC000"/>
                </a:solidFill>
                <a:latin typeface="Helvetica" charset="0"/>
              </a:rPr>
              <a:t>1</a:t>
            </a:r>
          </a:p>
        </p:txBody>
      </p:sp>
      <p:sp>
        <p:nvSpPr>
          <p:cNvPr id="119853" name="Text Box 238"/>
          <p:cNvSpPr txBox="1">
            <a:spLocks noChangeArrowheads="1"/>
          </p:cNvSpPr>
          <p:nvPr/>
        </p:nvSpPr>
        <p:spPr bwMode="auto">
          <a:xfrm>
            <a:off x="3836988" y="4311650"/>
            <a:ext cx="29686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ctr"/>
            <a:r>
              <a:rPr lang="zh-CN" altLang="en-US" sz="1600">
                <a:solidFill>
                  <a:srgbClr val="FFC000"/>
                </a:solidFill>
                <a:latin typeface="Helvetica" charset="0"/>
              </a:rPr>
              <a:t>0</a:t>
            </a:r>
          </a:p>
        </p:txBody>
      </p:sp>
      <p:sp>
        <p:nvSpPr>
          <p:cNvPr id="119854" name="Text Box 239"/>
          <p:cNvSpPr txBox="1">
            <a:spLocks noChangeArrowheads="1"/>
          </p:cNvSpPr>
          <p:nvPr/>
        </p:nvSpPr>
        <p:spPr bwMode="auto">
          <a:xfrm>
            <a:off x="3311525" y="4311650"/>
            <a:ext cx="2968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ctr"/>
            <a:r>
              <a:rPr lang="zh-CN" altLang="en-US" sz="1600">
                <a:solidFill>
                  <a:srgbClr val="00B0F0"/>
                </a:solidFill>
                <a:latin typeface="Helvetica" charset="0"/>
              </a:rPr>
              <a:t>1</a:t>
            </a:r>
          </a:p>
        </p:txBody>
      </p:sp>
      <p:sp>
        <p:nvSpPr>
          <p:cNvPr id="119855" name="Text Box 240"/>
          <p:cNvSpPr txBox="1">
            <a:spLocks noChangeArrowheads="1"/>
          </p:cNvSpPr>
          <p:nvPr/>
        </p:nvSpPr>
        <p:spPr bwMode="auto">
          <a:xfrm>
            <a:off x="2846388" y="4311650"/>
            <a:ext cx="29686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ctr"/>
            <a:r>
              <a:rPr lang="zh-CN" altLang="en-US" sz="1600">
                <a:solidFill>
                  <a:srgbClr val="00B0F0"/>
                </a:solidFill>
                <a:latin typeface="Helvetica" charset="0"/>
              </a:rPr>
              <a:t>1</a:t>
            </a:r>
          </a:p>
        </p:txBody>
      </p:sp>
      <p:sp>
        <p:nvSpPr>
          <p:cNvPr id="119856" name="Text Box 241"/>
          <p:cNvSpPr txBox="1">
            <a:spLocks noChangeArrowheads="1"/>
          </p:cNvSpPr>
          <p:nvPr/>
        </p:nvSpPr>
        <p:spPr bwMode="auto">
          <a:xfrm>
            <a:off x="2389188" y="4311650"/>
            <a:ext cx="29686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ctr"/>
            <a:r>
              <a:rPr lang="zh-CN" altLang="en-US" sz="1600">
                <a:solidFill>
                  <a:srgbClr val="00B0F0"/>
                </a:solidFill>
                <a:latin typeface="Helvetica" charset="0"/>
              </a:rPr>
              <a:t>0</a:t>
            </a:r>
          </a:p>
        </p:txBody>
      </p:sp>
      <p:sp>
        <p:nvSpPr>
          <p:cNvPr id="119857" name="Text Box 242"/>
          <p:cNvSpPr txBox="1">
            <a:spLocks noChangeArrowheads="1"/>
          </p:cNvSpPr>
          <p:nvPr/>
        </p:nvSpPr>
        <p:spPr bwMode="auto">
          <a:xfrm>
            <a:off x="1855788" y="4311650"/>
            <a:ext cx="29686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ctr"/>
            <a:r>
              <a:rPr lang="zh-CN" altLang="en-US" sz="1600">
                <a:solidFill>
                  <a:srgbClr val="00B0F0"/>
                </a:solidFill>
                <a:latin typeface="Helvetica" charset="0"/>
              </a:rPr>
              <a:t>0</a:t>
            </a:r>
          </a:p>
        </p:txBody>
      </p:sp>
      <p:cxnSp>
        <p:nvCxnSpPr>
          <p:cNvPr id="119858" name="Straight Connector 2"/>
          <p:cNvCxnSpPr>
            <a:cxnSpLocks noChangeShapeType="1"/>
          </p:cNvCxnSpPr>
          <p:nvPr/>
        </p:nvCxnSpPr>
        <p:spPr bwMode="auto">
          <a:xfrm>
            <a:off x="4695825" y="1724025"/>
            <a:ext cx="0" cy="368617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9859" name="Rectangle 175"/>
          <p:cNvSpPr>
            <a:spLocks noChangeArrowheads="1"/>
          </p:cNvSpPr>
          <p:nvPr/>
        </p:nvSpPr>
        <p:spPr bwMode="auto">
          <a:xfrm>
            <a:off x="685800" y="3336925"/>
            <a:ext cx="7848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lnSpc>
                <a:spcPct val="140000"/>
              </a:lnSpc>
            </a:pPr>
            <a:r>
              <a:rPr lang="en-US" altLang="zh-CN" b="0"/>
              <a:t>VPN: </a:t>
            </a:r>
            <a:r>
              <a:rPr lang="en-US" altLang="zh-CN" u="sng">
                <a:solidFill>
                  <a:srgbClr val="FF0000"/>
                </a:solidFill>
              </a:rPr>
              <a:t>0x0f</a:t>
            </a:r>
            <a:r>
              <a:rPr lang="en-US" altLang="zh-CN"/>
              <a:t>  </a:t>
            </a:r>
            <a:r>
              <a:rPr lang="en-US" altLang="zh-CN" b="0"/>
              <a:t>VPO: </a:t>
            </a:r>
            <a:r>
              <a:rPr lang="en-US" altLang="zh-CN" u="sng"/>
              <a:t>0x14</a:t>
            </a:r>
            <a:r>
              <a:rPr lang="en-US" altLang="zh-CN" b="0"/>
              <a:t>                	Page Fault? </a:t>
            </a:r>
            <a:r>
              <a:rPr lang="en-US" altLang="zh-CN" u="sng"/>
              <a:t> No </a:t>
            </a:r>
            <a:r>
              <a:rPr lang="en-US" altLang="zh-CN">
                <a:solidFill>
                  <a:schemeClr val="bg1"/>
                </a:solidFill>
              </a:rPr>
              <a:t>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1" name="灯片编号占位符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F0279AAB-CCFA-224F-B487-C7D88B2744E8}" type="slidenum">
              <a:rPr lang="zh-CN" altLang="en-US" sz="1400" b="0">
                <a:latin typeface="Times New Roman" charset="0"/>
              </a:rPr>
              <a:pPr/>
              <a:t>28</a:t>
            </a:fld>
            <a:endParaRPr lang="en-US" altLang="zh-CN" sz="1400" b="0">
              <a:latin typeface="Times New Roman" charset="0"/>
            </a:endParaRPr>
          </a:p>
        </p:txBody>
      </p:sp>
      <p:sp>
        <p:nvSpPr>
          <p:cNvPr id="1177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Simple Memory System Page Table</a:t>
            </a:r>
          </a:p>
        </p:txBody>
      </p:sp>
      <p:sp>
        <p:nvSpPr>
          <p:cNvPr id="11776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7543800" cy="533400"/>
          </a:xfrm>
        </p:spPr>
        <p:txBody>
          <a:bodyPr/>
          <a:lstStyle/>
          <a:p>
            <a:r>
              <a:rPr kumimoji="0" lang="en-US" altLang="zh-CN" sz="2400">
                <a:ea typeface="宋体" charset="-122"/>
              </a:rPr>
              <a:t>Only show first 16 entries</a:t>
            </a:r>
            <a:endParaRPr kumimoji="0" lang="zh-CN" altLang="en-US" sz="2400">
              <a:ea typeface="宋体" charset="-122"/>
            </a:endParaRPr>
          </a:p>
        </p:txBody>
      </p:sp>
      <p:graphicFrame>
        <p:nvGraphicFramePr>
          <p:cNvPr id="1376433" name="Group 177"/>
          <p:cNvGraphicFramePr>
            <a:graphicFrameLocks noGrp="1"/>
          </p:cNvGraphicFramePr>
          <p:nvPr>
            <p:ph sz="half" idx="2"/>
          </p:nvPr>
        </p:nvGraphicFramePr>
        <p:xfrm>
          <a:off x="533400" y="2590800"/>
          <a:ext cx="3795713" cy="3378201"/>
        </p:xfrm>
        <a:graphic>
          <a:graphicData uri="http://schemas.openxmlformats.org/drawingml/2006/table">
            <a:tbl>
              <a:tblPr/>
              <a:tblGrid>
                <a:gridCol w="11604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62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90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3538"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宋体" charset="-122"/>
                      </a:endParaRPr>
                    </a:p>
                  </a:txBody>
                  <a:tcPr marL="90487" marR="90487" marT="44458" marB="4445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PPN</a:t>
                      </a:r>
                    </a:p>
                  </a:txBody>
                  <a:tcPr marL="90487" marR="90487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Valid</a:t>
                      </a:r>
                    </a:p>
                  </a:txBody>
                  <a:tcPr marL="90487" marR="90487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538"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00</a:t>
                      </a:r>
                    </a:p>
                  </a:txBody>
                  <a:tcPr marL="90487" marR="90487" marT="44458" marB="4445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28</a:t>
                      </a:r>
                    </a:p>
                  </a:txBody>
                  <a:tcPr marL="90487" marR="90487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1</a:t>
                      </a:r>
                    </a:p>
                  </a:txBody>
                  <a:tcPr marL="90487" marR="90487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01</a:t>
                      </a:r>
                    </a:p>
                  </a:txBody>
                  <a:tcPr marL="90487" marR="90487" marT="44458" marB="4445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–</a:t>
                      </a:r>
                    </a:p>
                  </a:txBody>
                  <a:tcPr marL="90487" marR="90487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</a:t>
                      </a:r>
                    </a:p>
                  </a:txBody>
                  <a:tcPr marL="90487" marR="90487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02</a:t>
                      </a:r>
                    </a:p>
                  </a:txBody>
                  <a:tcPr marL="90487" marR="90487" marT="44458" marB="4445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33</a:t>
                      </a:r>
                    </a:p>
                  </a:txBody>
                  <a:tcPr marL="90487" marR="90487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1</a:t>
                      </a:r>
                    </a:p>
                  </a:txBody>
                  <a:tcPr marL="90487" marR="90487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03</a:t>
                      </a:r>
                    </a:p>
                  </a:txBody>
                  <a:tcPr marL="90487" marR="90487" marT="44458" marB="4445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02</a:t>
                      </a:r>
                    </a:p>
                  </a:txBody>
                  <a:tcPr marL="90487" marR="90487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1</a:t>
                      </a:r>
                    </a:p>
                  </a:txBody>
                  <a:tcPr marL="90487" marR="90487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04</a:t>
                      </a:r>
                    </a:p>
                  </a:txBody>
                  <a:tcPr marL="90487" marR="90487" marT="44458" marB="4445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–</a:t>
                      </a:r>
                    </a:p>
                  </a:txBody>
                  <a:tcPr marL="90487" marR="90487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</a:t>
                      </a:r>
                    </a:p>
                  </a:txBody>
                  <a:tcPr marL="90487" marR="90487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05</a:t>
                      </a:r>
                    </a:p>
                  </a:txBody>
                  <a:tcPr marL="90487" marR="90487" marT="44458" marB="4445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16</a:t>
                      </a:r>
                    </a:p>
                  </a:txBody>
                  <a:tcPr marL="90487" marR="90487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1</a:t>
                      </a:r>
                    </a:p>
                  </a:txBody>
                  <a:tcPr marL="90487" marR="90487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06</a:t>
                      </a:r>
                    </a:p>
                  </a:txBody>
                  <a:tcPr marL="90487" marR="90487" marT="44458" marB="4445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–</a:t>
                      </a:r>
                    </a:p>
                  </a:txBody>
                  <a:tcPr marL="90487" marR="90487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</a:t>
                      </a:r>
                    </a:p>
                  </a:txBody>
                  <a:tcPr marL="90487" marR="90487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000"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07</a:t>
                      </a:r>
                    </a:p>
                  </a:txBody>
                  <a:tcPr marL="90487" marR="90487" marT="44458" marB="4445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–</a:t>
                      </a:r>
                    </a:p>
                  </a:txBody>
                  <a:tcPr marL="90487" marR="90487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</a:t>
                      </a:r>
                    </a:p>
                  </a:txBody>
                  <a:tcPr marL="90487" marR="90487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5199063" y="2590800"/>
          <a:ext cx="3563937" cy="3378201"/>
        </p:xfrm>
        <a:graphic>
          <a:graphicData uri="http://schemas.openxmlformats.org/drawingml/2006/table">
            <a:tbl>
              <a:tblPr/>
              <a:tblGrid>
                <a:gridCol w="9699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6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7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3538"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宋体" charset="-122"/>
                      </a:endParaRPr>
                    </a:p>
                  </a:txBody>
                  <a:tcPr marL="90499" marR="90499" marT="44458" marB="4445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PPN</a:t>
                      </a:r>
                    </a:p>
                  </a:txBody>
                  <a:tcPr marL="90499" marR="90499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Valid</a:t>
                      </a:r>
                    </a:p>
                  </a:txBody>
                  <a:tcPr marL="90499" marR="90499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538"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08</a:t>
                      </a:r>
                    </a:p>
                  </a:txBody>
                  <a:tcPr marL="90499" marR="90499" marT="44458" marB="4445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13</a:t>
                      </a:r>
                    </a:p>
                  </a:txBody>
                  <a:tcPr marL="90499" marR="90499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1</a:t>
                      </a:r>
                    </a:p>
                  </a:txBody>
                  <a:tcPr marL="90499" marR="90499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09</a:t>
                      </a:r>
                    </a:p>
                  </a:txBody>
                  <a:tcPr marL="90499" marR="90499" marT="44458" marB="4445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17</a:t>
                      </a:r>
                    </a:p>
                  </a:txBody>
                  <a:tcPr marL="90499" marR="90499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1</a:t>
                      </a:r>
                    </a:p>
                  </a:txBody>
                  <a:tcPr marL="90499" marR="90499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0A</a:t>
                      </a:r>
                    </a:p>
                  </a:txBody>
                  <a:tcPr marL="90499" marR="90499" marT="44458" marB="4445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09</a:t>
                      </a:r>
                    </a:p>
                  </a:txBody>
                  <a:tcPr marL="90499" marR="90499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1</a:t>
                      </a:r>
                    </a:p>
                  </a:txBody>
                  <a:tcPr marL="90499" marR="90499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0B</a:t>
                      </a:r>
                    </a:p>
                  </a:txBody>
                  <a:tcPr marL="90499" marR="90499" marT="44458" marB="4445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–</a:t>
                      </a:r>
                    </a:p>
                  </a:txBody>
                  <a:tcPr marL="90499" marR="90499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</a:t>
                      </a:r>
                    </a:p>
                  </a:txBody>
                  <a:tcPr marL="90499" marR="90499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0C</a:t>
                      </a:r>
                    </a:p>
                  </a:txBody>
                  <a:tcPr marL="90499" marR="90499" marT="44458" marB="4445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–</a:t>
                      </a:r>
                    </a:p>
                  </a:txBody>
                  <a:tcPr marL="90499" marR="90499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</a:t>
                      </a:r>
                    </a:p>
                  </a:txBody>
                  <a:tcPr marL="90499" marR="90499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0D</a:t>
                      </a:r>
                    </a:p>
                  </a:txBody>
                  <a:tcPr marL="90499" marR="90499" marT="44458" marB="4445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2D</a:t>
                      </a:r>
                    </a:p>
                  </a:txBody>
                  <a:tcPr marL="90499" marR="90499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1</a:t>
                      </a:r>
                    </a:p>
                  </a:txBody>
                  <a:tcPr marL="90499" marR="90499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0E</a:t>
                      </a:r>
                    </a:p>
                  </a:txBody>
                  <a:tcPr marL="90499" marR="90499" marT="44458" marB="4445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11</a:t>
                      </a:r>
                    </a:p>
                  </a:txBody>
                  <a:tcPr marL="90499" marR="90499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1</a:t>
                      </a:r>
                    </a:p>
                  </a:txBody>
                  <a:tcPr marL="90499" marR="90499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000"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0F</a:t>
                      </a:r>
                    </a:p>
                  </a:txBody>
                  <a:tcPr marL="90499" marR="90499" marT="44458" marB="4445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0D</a:t>
                      </a:r>
                    </a:p>
                  </a:txBody>
                  <a:tcPr marL="90499" marR="90499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Comic Sans MS" charset="0"/>
                          <a:ea typeface="宋体" charset="-122"/>
                        </a:rPr>
                        <a:t>1</a:t>
                      </a:r>
                    </a:p>
                  </a:txBody>
                  <a:tcPr marL="90499" marR="90499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ea typeface="宋体" charset="-122"/>
              </a:rPr>
              <a:t>练习</a:t>
            </a:r>
            <a:r>
              <a:rPr kumimoji="1" lang="en-US" altLang="zh-CN">
                <a:ea typeface="宋体" charset="-122"/>
              </a:rPr>
              <a:t>4-3</a:t>
            </a:r>
            <a:endParaRPr kumimoji="1" lang="zh-CN" altLang="en-US">
              <a:ea typeface="宋体" charset="-122"/>
            </a:endParaRPr>
          </a:p>
        </p:txBody>
      </p:sp>
      <p:sp>
        <p:nvSpPr>
          <p:cNvPr id="121858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>
                <a:ea typeface="宋体" charset="-122"/>
              </a:rPr>
              <a:t>给定一个</a:t>
            </a:r>
            <a:r>
              <a:rPr lang="en-US" altLang="zh-CN">
                <a:ea typeface="宋体" charset="-122"/>
              </a:rPr>
              <a:t>32</a:t>
            </a:r>
            <a:r>
              <a:rPr lang="zh-CN" altLang="en-US">
                <a:ea typeface="宋体" charset="-122"/>
              </a:rPr>
              <a:t>位的虚拟地址空间和一个</a:t>
            </a:r>
            <a:r>
              <a:rPr lang="en-US" altLang="zh-CN">
                <a:ea typeface="宋体" charset="-122"/>
              </a:rPr>
              <a:t>24</a:t>
            </a:r>
            <a:r>
              <a:rPr lang="zh-CN" altLang="en-US">
                <a:ea typeface="宋体" charset="-122"/>
              </a:rPr>
              <a:t>位的物理地址，当页面大小</a:t>
            </a:r>
            <a:r>
              <a:rPr lang="en-US" altLang="zh-CN">
                <a:ea typeface="宋体" charset="-122"/>
              </a:rPr>
              <a:t>P</a:t>
            </a:r>
            <a:r>
              <a:rPr lang="zh-CN" altLang="en-US">
                <a:ea typeface="宋体" charset="-122"/>
              </a:rPr>
              <a:t>分为别</a:t>
            </a:r>
            <a:r>
              <a:rPr lang="en-US" altLang="zh-CN">
                <a:ea typeface="宋体" charset="-122"/>
              </a:rPr>
              <a:t>1KB</a:t>
            </a:r>
            <a:r>
              <a:rPr lang="zh-CN" altLang="en-US">
                <a:ea typeface="宋体" charset="-122"/>
              </a:rPr>
              <a:t>，</a:t>
            </a:r>
            <a:r>
              <a:rPr lang="en-US" altLang="zh-CN">
                <a:ea typeface="宋体" charset="-122"/>
              </a:rPr>
              <a:t>2KB</a:t>
            </a:r>
            <a:r>
              <a:rPr lang="zh-CN" altLang="en-US">
                <a:ea typeface="宋体" charset="-122"/>
              </a:rPr>
              <a:t>，</a:t>
            </a:r>
            <a:r>
              <a:rPr lang="en-US" altLang="zh-CN">
                <a:ea typeface="宋体" charset="-122"/>
              </a:rPr>
              <a:t>4KB</a:t>
            </a:r>
            <a:r>
              <a:rPr lang="zh-CN" altLang="en-US">
                <a:ea typeface="宋体" charset="-122"/>
              </a:rPr>
              <a:t>，</a:t>
            </a:r>
            <a:r>
              <a:rPr lang="en-US" altLang="zh-CN">
                <a:ea typeface="宋体" charset="-122"/>
              </a:rPr>
              <a:t>8KB</a:t>
            </a:r>
            <a:r>
              <a:rPr lang="zh-CN" altLang="en-US">
                <a:ea typeface="宋体" charset="-122"/>
              </a:rPr>
              <a:t>时，请确定</a:t>
            </a:r>
            <a:r>
              <a:rPr lang="en-US" altLang="zh-CN">
                <a:ea typeface="宋体" charset="-122"/>
              </a:rPr>
              <a:t>VPN</a:t>
            </a:r>
            <a:r>
              <a:rPr lang="zh-CN" altLang="en-US">
                <a:ea typeface="宋体" charset="-122"/>
              </a:rPr>
              <a:t>、</a:t>
            </a:r>
            <a:r>
              <a:rPr lang="en-US" altLang="zh-CN">
                <a:ea typeface="宋体" charset="-122"/>
              </a:rPr>
              <a:t>VPO</a:t>
            </a:r>
            <a:r>
              <a:rPr lang="zh-CN" altLang="en-US">
                <a:ea typeface="宋体" charset="-122"/>
              </a:rPr>
              <a:t>、</a:t>
            </a:r>
            <a:r>
              <a:rPr lang="en-US" altLang="zh-CN">
                <a:ea typeface="宋体" charset="-122"/>
              </a:rPr>
              <a:t>PPN</a:t>
            </a:r>
            <a:r>
              <a:rPr lang="zh-CN" altLang="en-US">
                <a:ea typeface="宋体" charset="-122"/>
              </a:rPr>
              <a:t>、</a:t>
            </a:r>
            <a:r>
              <a:rPr lang="en-US" altLang="zh-CN">
                <a:ea typeface="宋体" charset="-122"/>
              </a:rPr>
              <a:t>PPO</a:t>
            </a:r>
            <a:r>
              <a:rPr lang="zh-CN" altLang="en-US">
                <a:ea typeface="宋体" charset="-122"/>
              </a:rPr>
              <a:t>的位数。</a:t>
            </a:r>
          </a:p>
        </p:txBody>
      </p:sp>
      <p:sp>
        <p:nvSpPr>
          <p:cNvPr id="121859" name="幻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06A7349A-5D0E-1D4C-9922-B7B061DB9023}" type="slidenum">
              <a:rPr lang="zh-CN" altLang="en-US" sz="1400" b="0">
                <a:latin typeface="Times New Roman" charset="0"/>
              </a:rPr>
              <a:pPr/>
              <a:t>29</a:t>
            </a:fld>
            <a:endParaRPr lang="en-US" altLang="zh-CN" sz="1400" b="0">
              <a:latin typeface="Times New Roman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1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ea typeface="宋体" charset="-122"/>
              </a:rPr>
              <a:t>练习</a:t>
            </a:r>
            <a:r>
              <a:rPr kumimoji="1" lang="en-US" altLang="zh-CN">
                <a:ea typeface="宋体" charset="-122"/>
              </a:rPr>
              <a:t>4-3</a:t>
            </a:r>
            <a:r>
              <a:rPr kumimoji="1" lang="zh-CN" altLang="en-US">
                <a:ea typeface="宋体" charset="-122"/>
              </a:rPr>
              <a:t>答案</a:t>
            </a:r>
          </a:p>
        </p:txBody>
      </p:sp>
      <p:sp>
        <p:nvSpPr>
          <p:cNvPr id="122882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P=1KB</a:t>
            </a:r>
          </a:p>
          <a:p>
            <a:pPr lvl="1"/>
            <a:r>
              <a:rPr lang="en-US" altLang="zh-CN">
                <a:ea typeface="宋体" charset="-122"/>
              </a:rPr>
              <a:t>VPN=22; VPO=10; PPN=14; PPO=10</a:t>
            </a:r>
          </a:p>
          <a:p>
            <a:r>
              <a:rPr lang="en-US" altLang="zh-CN">
                <a:ea typeface="宋体" charset="-122"/>
              </a:rPr>
              <a:t>P=2KB</a:t>
            </a:r>
          </a:p>
          <a:p>
            <a:pPr marL="742950" lvl="2" indent="-342900"/>
            <a:r>
              <a:rPr lang="en-US" altLang="zh-CN">
                <a:ea typeface="宋体" charset="-122"/>
              </a:rPr>
              <a:t>VPN=21; VPO=11; PPN=13; PPO=11</a:t>
            </a:r>
          </a:p>
          <a:p>
            <a:r>
              <a:rPr lang="en-US" altLang="zh-CN">
                <a:ea typeface="宋体" charset="-122"/>
              </a:rPr>
              <a:t>P=4KB</a:t>
            </a:r>
          </a:p>
          <a:p>
            <a:pPr marL="742950" lvl="2" indent="-342900"/>
            <a:r>
              <a:rPr lang="en-US" altLang="zh-CN">
                <a:ea typeface="宋体" charset="-122"/>
              </a:rPr>
              <a:t>VPN=20; VPO=12; PPN=12; PPO=12</a:t>
            </a:r>
          </a:p>
          <a:p>
            <a:r>
              <a:rPr lang="en-US" altLang="zh-CN">
                <a:ea typeface="宋体" charset="-122"/>
              </a:rPr>
              <a:t>P=8KB</a:t>
            </a:r>
          </a:p>
          <a:p>
            <a:pPr marL="742950" lvl="2" indent="-342900"/>
            <a:r>
              <a:rPr lang="en-US" altLang="zh-CN">
                <a:ea typeface="宋体" charset="-122"/>
              </a:rPr>
              <a:t>VPN=19; VPO=13; PPN=11; PPO=13</a:t>
            </a:r>
          </a:p>
          <a:p>
            <a:endParaRPr lang="zh-CN" altLang="en-US">
              <a:ea typeface="宋体" charset="-122"/>
            </a:endParaRPr>
          </a:p>
        </p:txBody>
      </p:sp>
      <p:sp>
        <p:nvSpPr>
          <p:cNvPr id="122883" name="幻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33D5A1B3-F385-3344-B064-3DD5A4F1AF44}" type="slidenum">
              <a:rPr lang="zh-CN" altLang="en-US" sz="1400" b="0">
                <a:latin typeface="Times New Roman" charset="0"/>
              </a:rPr>
              <a:pPr/>
              <a:t>30</a:t>
            </a:fld>
            <a:endParaRPr lang="en-US" altLang="zh-CN" sz="1400" b="0">
              <a:latin typeface="Times New Roman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5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F5E9C01E-50FB-824D-B39E-83442C04B3FB}" type="slidenum">
              <a:rPr lang="zh-CN" altLang="en-US" sz="1400" b="0">
                <a:latin typeface="Times New Roman" charset="0"/>
              </a:rPr>
              <a:pPr/>
              <a:t>31</a:t>
            </a:fld>
            <a:endParaRPr lang="en-US" altLang="zh-CN" sz="1400" b="0">
              <a:latin typeface="Times New Roman" charset="0"/>
            </a:endParaRPr>
          </a:p>
        </p:txBody>
      </p:sp>
      <p:sp>
        <p:nvSpPr>
          <p:cNvPr id="123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Page Hit</a:t>
            </a:r>
          </a:p>
        </p:txBody>
      </p:sp>
      <p:sp>
        <p:nvSpPr>
          <p:cNvPr id="7" name="Rectangle 7"/>
          <p:cNvSpPr>
            <a:spLocks noChangeArrowheads="1"/>
          </p:cNvSpPr>
          <p:nvPr/>
        </p:nvSpPr>
        <p:spPr bwMode="auto">
          <a:xfrm>
            <a:off x="4419600" y="233363"/>
            <a:ext cx="4560888" cy="1062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altLang="zh-CN" sz="1800">
                <a:latin typeface="Courier New" charset="0"/>
              </a:rPr>
              <a:t>  VA: virtual address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altLang="zh-CN" sz="1800">
                <a:latin typeface="Courier New" charset="0"/>
              </a:rPr>
              <a:t>PTEA: page table entry address 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altLang="zh-CN" sz="1800">
                <a:latin typeface="Courier New" charset="0"/>
              </a:rPr>
              <a:t> PTE: page table entry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altLang="zh-CN" sz="1800">
                <a:latin typeface="Courier New" charset="0"/>
              </a:rPr>
              <a:t>  PA: physical address</a:t>
            </a:r>
          </a:p>
        </p:txBody>
      </p:sp>
      <p:sp>
        <p:nvSpPr>
          <p:cNvPr id="123908" name="Rectangle 7"/>
          <p:cNvSpPr>
            <a:spLocks noChangeArrowheads="1"/>
          </p:cNvSpPr>
          <p:nvPr/>
        </p:nvSpPr>
        <p:spPr bwMode="auto">
          <a:xfrm>
            <a:off x="1384300" y="1776413"/>
            <a:ext cx="3749675" cy="1676400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round/>
                <a:headEnd/>
                <a:tailEnd type="arrow" w="med" len="med"/>
              </a14:hiddenLine>
            </a:ext>
          </a:extLst>
        </p:spPr>
        <p:txBody>
          <a:bodyPr anchor="ctr"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ctr"/>
            <a:endParaRPr lang="en-US" altLang="zh-CN"/>
          </a:p>
        </p:txBody>
      </p:sp>
      <p:sp>
        <p:nvSpPr>
          <p:cNvPr id="123909" name="Rectangle 10"/>
          <p:cNvSpPr>
            <a:spLocks noChangeArrowheads="1"/>
          </p:cNvSpPr>
          <p:nvPr/>
        </p:nvSpPr>
        <p:spPr bwMode="auto">
          <a:xfrm>
            <a:off x="3963988" y="2012950"/>
            <a:ext cx="1066800" cy="1236663"/>
          </a:xfrm>
          <a:prstGeom prst="rect">
            <a:avLst/>
          </a:prstGeom>
          <a:solidFill>
            <a:srgbClr val="D5F1CF"/>
          </a:solidFill>
          <a:ln w="1260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ctr">
              <a:lnSpc>
                <a:spcPct val="98000"/>
              </a:lnSpc>
            </a:pPr>
            <a:r>
              <a:rPr lang="en-GB" altLang="zh-CN" sz="1600">
                <a:latin typeface="Calibri" charset="0"/>
              </a:rPr>
              <a:t>MMU</a:t>
            </a:r>
          </a:p>
        </p:txBody>
      </p:sp>
      <p:sp>
        <p:nvSpPr>
          <p:cNvPr id="123910" name="Rectangle 17"/>
          <p:cNvSpPr>
            <a:spLocks noChangeArrowheads="1"/>
          </p:cNvSpPr>
          <p:nvPr/>
        </p:nvSpPr>
        <p:spPr bwMode="auto">
          <a:xfrm>
            <a:off x="6553200" y="1727200"/>
            <a:ext cx="914400" cy="2284413"/>
          </a:xfrm>
          <a:prstGeom prst="rect">
            <a:avLst/>
          </a:prstGeom>
          <a:solidFill>
            <a:srgbClr val="FFFFCC"/>
          </a:solidFill>
          <a:ln w="1908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r>
              <a:rPr lang="en-US" altLang="zh-CN" sz="1600">
                <a:latin typeface="Calibri" charset="0"/>
              </a:rPr>
              <a:t>Cache/</a:t>
            </a:r>
          </a:p>
          <a:p>
            <a:r>
              <a:rPr lang="en-US" altLang="zh-CN" sz="1600">
                <a:latin typeface="Calibri" charset="0"/>
              </a:rPr>
              <a:t>Memory</a:t>
            </a:r>
          </a:p>
        </p:txBody>
      </p:sp>
      <p:sp>
        <p:nvSpPr>
          <p:cNvPr id="11" name="Text Box 9"/>
          <p:cNvSpPr txBox="1">
            <a:spLocks noChangeArrowheads="1"/>
          </p:cNvSpPr>
          <p:nvPr/>
        </p:nvSpPr>
        <p:spPr bwMode="auto">
          <a:xfrm>
            <a:off x="5580063" y="2819400"/>
            <a:ext cx="428625" cy="33655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ctr">
              <a:lnSpc>
                <a:spcPct val="98000"/>
              </a:lnSpc>
            </a:pPr>
            <a:r>
              <a:rPr lang="en-GB" altLang="zh-CN" sz="1600"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</a:rPr>
              <a:t>PA</a:t>
            </a:r>
          </a:p>
        </p:txBody>
      </p:sp>
      <p:sp>
        <p:nvSpPr>
          <p:cNvPr id="12" name="Text Box 32"/>
          <p:cNvSpPr txBox="1">
            <a:spLocks noChangeArrowheads="1"/>
          </p:cNvSpPr>
          <p:nvPr/>
        </p:nvSpPr>
        <p:spPr bwMode="auto">
          <a:xfrm>
            <a:off x="3814763" y="3768725"/>
            <a:ext cx="676275" cy="3349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ctr">
              <a:lnSpc>
                <a:spcPct val="98000"/>
              </a:lnSpc>
            </a:pPr>
            <a:r>
              <a:rPr lang="en-GB" altLang="zh-CN" sz="1600"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</a:rPr>
              <a:t>Data</a:t>
            </a:r>
          </a:p>
        </p:txBody>
      </p:sp>
      <p:cxnSp>
        <p:nvCxnSpPr>
          <p:cNvPr id="13" name="Straight Arrow Connector 12"/>
          <p:cNvCxnSpPr>
            <a:cxnSpLocks noChangeShapeType="1"/>
          </p:cNvCxnSpPr>
          <p:nvPr/>
        </p:nvCxnSpPr>
        <p:spPr bwMode="auto">
          <a:xfrm flipV="1">
            <a:off x="5030788" y="3087688"/>
            <a:ext cx="1522412" cy="1587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3914" name="Rectangle 10"/>
          <p:cNvSpPr>
            <a:spLocks noChangeArrowheads="1"/>
          </p:cNvSpPr>
          <p:nvPr/>
        </p:nvSpPr>
        <p:spPr bwMode="auto">
          <a:xfrm>
            <a:off x="1525588" y="2365375"/>
            <a:ext cx="1066800" cy="533400"/>
          </a:xfrm>
          <a:prstGeom prst="rect">
            <a:avLst/>
          </a:prstGeom>
          <a:solidFill>
            <a:srgbClr val="F1C7C7"/>
          </a:solidFill>
          <a:ln w="1260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ctr">
              <a:lnSpc>
                <a:spcPct val="98000"/>
              </a:lnSpc>
            </a:pPr>
            <a:r>
              <a:rPr lang="en-GB" altLang="zh-CN" sz="1600">
                <a:latin typeface="Calibri" charset="0"/>
              </a:rPr>
              <a:t>CPU</a:t>
            </a:r>
          </a:p>
        </p:txBody>
      </p:sp>
      <p:cxnSp>
        <p:nvCxnSpPr>
          <p:cNvPr id="15" name="Straight Arrow Connector 14"/>
          <p:cNvCxnSpPr>
            <a:cxnSpLocks noChangeShapeType="1"/>
          </p:cNvCxnSpPr>
          <p:nvPr/>
        </p:nvCxnSpPr>
        <p:spPr bwMode="auto">
          <a:xfrm flipV="1">
            <a:off x="2592388" y="2692400"/>
            <a:ext cx="1371600" cy="1588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" name="Text Box 9"/>
          <p:cNvSpPr txBox="1">
            <a:spLocks noChangeArrowheads="1"/>
          </p:cNvSpPr>
          <p:nvPr/>
        </p:nvSpPr>
        <p:spPr bwMode="auto">
          <a:xfrm>
            <a:off x="3028950" y="2406650"/>
            <a:ext cx="428625" cy="33655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ctr">
              <a:lnSpc>
                <a:spcPct val="98000"/>
              </a:lnSpc>
            </a:pPr>
            <a:r>
              <a:rPr lang="en-GB" altLang="zh-CN" sz="1600"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</a:rPr>
              <a:t>VA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90650" y="1779588"/>
            <a:ext cx="1057275" cy="369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宋体" panose="02010600030101010101" pitchFamily="2" charset="-122"/>
              </a:rPr>
              <a:t>CPU Chip</a:t>
            </a:r>
          </a:p>
        </p:txBody>
      </p:sp>
      <p:sp>
        <p:nvSpPr>
          <p:cNvPr id="18" name="Text Box 9"/>
          <p:cNvSpPr txBox="1">
            <a:spLocks noChangeArrowheads="1"/>
          </p:cNvSpPr>
          <p:nvPr/>
        </p:nvSpPr>
        <p:spPr bwMode="auto">
          <a:xfrm>
            <a:off x="5456238" y="1905000"/>
            <a:ext cx="674687" cy="33655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ctr">
              <a:lnSpc>
                <a:spcPct val="98000"/>
              </a:lnSpc>
            </a:pPr>
            <a:r>
              <a:rPr lang="en-GB" altLang="zh-CN" sz="1600"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</a:rPr>
              <a:t>PTEA</a:t>
            </a:r>
          </a:p>
        </p:txBody>
      </p:sp>
      <p:cxnSp>
        <p:nvCxnSpPr>
          <p:cNvPr id="19" name="Straight Arrow Connector 18"/>
          <p:cNvCxnSpPr>
            <a:cxnSpLocks noChangeShapeType="1"/>
          </p:cNvCxnSpPr>
          <p:nvPr/>
        </p:nvCxnSpPr>
        <p:spPr bwMode="auto">
          <a:xfrm flipV="1">
            <a:off x="5030788" y="2173288"/>
            <a:ext cx="1522412" cy="1587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" name="Text Box 9"/>
          <p:cNvSpPr txBox="1">
            <a:spLocks noChangeArrowheads="1"/>
          </p:cNvSpPr>
          <p:nvPr/>
        </p:nvSpPr>
        <p:spPr bwMode="auto">
          <a:xfrm>
            <a:off x="5518150" y="2209800"/>
            <a:ext cx="550863" cy="33655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ctr">
              <a:lnSpc>
                <a:spcPct val="98000"/>
              </a:lnSpc>
            </a:pPr>
            <a:r>
              <a:rPr lang="en-GB" altLang="zh-CN" sz="1600"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</a:rPr>
              <a:t>PTE</a:t>
            </a:r>
          </a:p>
        </p:txBody>
      </p:sp>
      <p:cxnSp>
        <p:nvCxnSpPr>
          <p:cNvPr id="21" name="Straight Arrow Connector 20"/>
          <p:cNvCxnSpPr>
            <a:cxnSpLocks noChangeShapeType="1"/>
          </p:cNvCxnSpPr>
          <p:nvPr/>
        </p:nvCxnSpPr>
        <p:spPr bwMode="auto">
          <a:xfrm flipH="1" flipV="1">
            <a:off x="5030788" y="2478088"/>
            <a:ext cx="1522412" cy="1587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" name="Shape 49"/>
          <p:cNvCxnSpPr>
            <a:cxnSpLocks noChangeShapeType="1"/>
            <a:endCxn id="123914" idx="2"/>
          </p:cNvCxnSpPr>
          <p:nvPr/>
        </p:nvCxnSpPr>
        <p:spPr bwMode="auto">
          <a:xfrm rot="10800000">
            <a:off x="2058988" y="2898775"/>
            <a:ext cx="4494212" cy="884238"/>
          </a:xfrm>
          <a:prstGeom prst="bentConnector2">
            <a:avLst/>
          </a:prstGeom>
          <a:noFill/>
          <a:ln w="2540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" name="Oval 4"/>
          <p:cNvSpPr>
            <a:spLocks noChangeArrowheads="1"/>
          </p:cNvSpPr>
          <p:nvPr/>
        </p:nvSpPr>
        <p:spPr bwMode="auto">
          <a:xfrm>
            <a:off x="3106738" y="2185988"/>
            <a:ext cx="274637" cy="274637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GB" sz="1400" dirty="0">
                <a:solidFill>
                  <a:schemeClr val="bg1"/>
                </a:solidFill>
                <a:latin typeface="Calibri" pitchFamily="34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24" name="Oval 18"/>
          <p:cNvSpPr>
            <a:spLocks noChangeArrowheads="1"/>
          </p:cNvSpPr>
          <p:nvPr/>
        </p:nvSpPr>
        <p:spPr bwMode="auto">
          <a:xfrm>
            <a:off x="5656263" y="1673225"/>
            <a:ext cx="274637" cy="2746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GB" sz="1400" dirty="0">
                <a:solidFill>
                  <a:schemeClr val="bg1"/>
                </a:solidFill>
                <a:latin typeface="Calibri" pitchFamily="34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25" name="Oval 19"/>
          <p:cNvSpPr>
            <a:spLocks noChangeArrowheads="1"/>
          </p:cNvSpPr>
          <p:nvPr/>
        </p:nvSpPr>
        <p:spPr bwMode="auto">
          <a:xfrm>
            <a:off x="5656263" y="2527300"/>
            <a:ext cx="274637" cy="2746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GB" sz="1400" dirty="0">
                <a:solidFill>
                  <a:schemeClr val="bg1"/>
                </a:solidFill>
                <a:latin typeface="Calibri" pitchFamily="34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26" name="Oval 20"/>
          <p:cNvSpPr>
            <a:spLocks noChangeArrowheads="1"/>
          </p:cNvSpPr>
          <p:nvPr/>
        </p:nvSpPr>
        <p:spPr bwMode="auto">
          <a:xfrm>
            <a:off x="5656263" y="3154363"/>
            <a:ext cx="274637" cy="274637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GB" sz="1400" dirty="0">
                <a:solidFill>
                  <a:schemeClr val="bg1"/>
                </a:solidFill>
                <a:latin typeface="Calibri" pitchFamily="34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27" name="Oval 21"/>
          <p:cNvSpPr>
            <a:spLocks noChangeArrowheads="1"/>
          </p:cNvSpPr>
          <p:nvPr/>
        </p:nvSpPr>
        <p:spPr bwMode="auto">
          <a:xfrm>
            <a:off x="4021138" y="4068763"/>
            <a:ext cx="274637" cy="274637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GB" sz="1400" dirty="0">
                <a:solidFill>
                  <a:schemeClr val="bg1"/>
                </a:solidFill>
                <a:latin typeface="Calibri" pitchFamily="34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28" name="Rectangle 2"/>
          <p:cNvSpPr txBox="1">
            <a:spLocks noChangeArrowheads="1"/>
          </p:cNvSpPr>
          <p:nvPr/>
        </p:nvSpPr>
        <p:spPr bwMode="auto">
          <a:xfrm>
            <a:off x="457200" y="4419600"/>
            <a:ext cx="6781800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ts val="1250"/>
              </a:spcBef>
              <a:buFont typeface="Wingdings" charset="2"/>
              <a:buNone/>
            </a:pPr>
            <a:r>
              <a:rPr lang="en-GB" altLang="zh-CN" b="0" dirty="0"/>
              <a:t>1) Processor sends virtual address to MMU </a:t>
            </a:r>
          </a:p>
          <a:p>
            <a:pPr>
              <a:spcBef>
                <a:spcPts val="1250"/>
              </a:spcBef>
              <a:buFont typeface="Wingdings" charset="2"/>
              <a:buNone/>
            </a:pPr>
            <a:r>
              <a:rPr lang="en-GB" altLang="zh-CN" b="0" dirty="0"/>
              <a:t>2-3) MMU fetches PTE from page table in memory</a:t>
            </a:r>
          </a:p>
          <a:p>
            <a:pPr>
              <a:spcBef>
                <a:spcPts val="1250"/>
              </a:spcBef>
              <a:buFont typeface="Wingdings" charset="2"/>
              <a:buNone/>
            </a:pPr>
            <a:r>
              <a:rPr lang="en-GB" altLang="zh-CN" b="0" dirty="0"/>
              <a:t>4) MMU sends physical address to cache/memory</a:t>
            </a:r>
          </a:p>
          <a:p>
            <a:pPr>
              <a:spcBef>
                <a:spcPts val="1250"/>
              </a:spcBef>
              <a:buFont typeface="Wingdings" charset="2"/>
              <a:buNone/>
            </a:pPr>
            <a:r>
              <a:rPr lang="en-GB" altLang="zh-CN" b="0" dirty="0"/>
              <a:t>5) Cache/memory sends data word to processor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6" grpId="0"/>
      <p:bldP spid="18" grpId="0"/>
      <p:bldP spid="20" grpId="0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3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544234DA-7B08-0146-8731-F1FB3CD1F068}" type="slidenum">
              <a:rPr lang="zh-CN" altLang="en-US" sz="1400" b="0">
                <a:latin typeface="Times New Roman" charset="0"/>
              </a:rPr>
              <a:pPr/>
              <a:t>32</a:t>
            </a:fld>
            <a:endParaRPr lang="en-US" altLang="zh-CN" sz="1400" b="0">
              <a:latin typeface="Times New Roman" charset="0"/>
            </a:endParaRPr>
          </a:p>
        </p:txBody>
      </p:sp>
      <p:sp>
        <p:nvSpPr>
          <p:cNvPr id="125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Page Faults</a:t>
            </a:r>
          </a:p>
        </p:txBody>
      </p:sp>
      <p:sp>
        <p:nvSpPr>
          <p:cNvPr id="125955" name="Rectangle 5"/>
          <p:cNvSpPr>
            <a:spLocks noChangeArrowheads="1"/>
          </p:cNvSpPr>
          <p:nvPr/>
        </p:nvSpPr>
        <p:spPr bwMode="auto">
          <a:xfrm>
            <a:off x="609600" y="2462213"/>
            <a:ext cx="3749675" cy="1676400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round/>
                <a:headEnd/>
                <a:tailEnd type="arrow" w="med" len="med"/>
              </a14:hiddenLine>
            </a:ext>
          </a:extLst>
        </p:spPr>
        <p:txBody>
          <a:bodyPr anchor="ctr"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ctr"/>
            <a:endParaRPr lang="en-US" altLang="zh-CN"/>
          </a:p>
        </p:txBody>
      </p:sp>
      <p:sp>
        <p:nvSpPr>
          <p:cNvPr id="125956" name="Rectangle 10"/>
          <p:cNvSpPr>
            <a:spLocks noChangeArrowheads="1"/>
          </p:cNvSpPr>
          <p:nvPr/>
        </p:nvSpPr>
        <p:spPr bwMode="auto">
          <a:xfrm>
            <a:off x="3189288" y="2698750"/>
            <a:ext cx="1066800" cy="1236663"/>
          </a:xfrm>
          <a:prstGeom prst="rect">
            <a:avLst/>
          </a:prstGeom>
          <a:solidFill>
            <a:srgbClr val="D5F1CF"/>
          </a:solidFill>
          <a:ln w="1260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ctr">
              <a:lnSpc>
                <a:spcPct val="98000"/>
              </a:lnSpc>
            </a:pPr>
            <a:r>
              <a:rPr lang="en-GB" altLang="zh-CN" sz="1600">
                <a:latin typeface="Calibri" charset="0"/>
              </a:rPr>
              <a:t>MMU</a:t>
            </a:r>
          </a:p>
        </p:txBody>
      </p:sp>
      <p:sp>
        <p:nvSpPr>
          <p:cNvPr id="125957" name="Rectangle 17"/>
          <p:cNvSpPr>
            <a:spLocks noChangeArrowheads="1"/>
          </p:cNvSpPr>
          <p:nvPr/>
        </p:nvSpPr>
        <p:spPr bwMode="auto">
          <a:xfrm>
            <a:off x="5778500" y="2413000"/>
            <a:ext cx="914400" cy="1925638"/>
          </a:xfrm>
          <a:prstGeom prst="rect">
            <a:avLst/>
          </a:prstGeom>
          <a:solidFill>
            <a:srgbClr val="F5F5F5"/>
          </a:solidFill>
          <a:ln w="1908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r>
              <a:rPr lang="en-US" altLang="zh-CN" sz="1600">
                <a:latin typeface="Calibri" charset="0"/>
              </a:rPr>
              <a:t>Cache/</a:t>
            </a:r>
          </a:p>
          <a:p>
            <a:r>
              <a:rPr lang="en-US" altLang="zh-CN" sz="1600">
                <a:latin typeface="Calibri" charset="0"/>
              </a:rPr>
              <a:t>Memory</a:t>
            </a:r>
          </a:p>
        </p:txBody>
      </p:sp>
      <p:sp>
        <p:nvSpPr>
          <p:cNvPr id="125958" name="Rectangle 10"/>
          <p:cNvSpPr>
            <a:spLocks noChangeArrowheads="1"/>
          </p:cNvSpPr>
          <p:nvPr/>
        </p:nvSpPr>
        <p:spPr bwMode="auto">
          <a:xfrm>
            <a:off x="750888" y="3051175"/>
            <a:ext cx="1066800" cy="533400"/>
          </a:xfrm>
          <a:prstGeom prst="rect">
            <a:avLst/>
          </a:prstGeom>
          <a:solidFill>
            <a:srgbClr val="F1C7C7"/>
          </a:solidFill>
          <a:ln w="1260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ctr">
              <a:lnSpc>
                <a:spcPct val="98000"/>
              </a:lnSpc>
            </a:pPr>
            <a:r>
              <a:rPr lang="en-GB" altLang="zh-CN" sz="1600">
                <a:latin typeface="Calibri" charset="0"/>
              </a:rPr>
              <a:t>CPU</a:t>
            </a:r>
          </a:p>
        </p:txBody>
      </p:sp>
      <p:cxnSp>
        <p:nvCxnSpPr>
          <p:cNvPr id="125959" name="Straight Arrow Connector 9"/>
          <p:cNvCxnSpPr>
            <a:cxnSpLocks noChangeShapeType="1"/>
            <a:stCxn id="125958" idx="3"/>
            <a:endCxn id="125956" idx="1"/>
          </p:cNvCxnSpPr>
          <p:nvPr/>
        </p:nvCxnSpPr>
        <p:spPr bwMode="auto">
          <a:xfrm flipV="1">
            <a:off x="1817688" y="3317875"/>
            <a:ext cx="1371600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5960" name="Text Box 9"/>
          <p:cNvSpPr txBox="1">
            <a:spLocks noChangeArrowheads="1"/>
          </p:cNvSpPr>
          <p:nvPr/>
        </p:nvSpPr>
        <p:spPr bwMode="auto">
          <a:xfrm>
            <a:off x="2252663" y="3016250"/>
            <a:ext cx="4286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ctr">
              <a:lnSpc>
                <a:spcPct val="98000"/>
              </a:lnSpc>
            </a:pPr>
            <a:r>
              <a:rPr lang="en-GB" altLang="zh-CN" sz="1600">
                <a:latin typeface="Courier New" charset="0"/>
              </a:rPr>
              <a:t>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4363" y="2465388"/>
            <a:ext cx="1058862" cy="369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宋体" panose="02010600030101010101" pitchFamily="2" charset="-122"/>
              </a:rPr>
              <a:t>CPU Chip</a:t>
            </a:r>
          </a:p>
        </p:txBody>
      </p:sp>
      <p:sp>
        <p:nvSpPr>
          <p:cNvPr id="125962" name="Text Box 9"/>
          <p:cNvSpPr txBox="1">
            <a:spLocks noChangeArrowheads="1"/>
          </p:cNvSpPr>
          <p:nvPr/>
        </p:nvSpPr>
        <p:spPr bwMode="auto">
          <a:xfrm>
            <a:off x="4679950" y="2603500"/>
            <a:ext cx="6762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ctr">
              <a:lnSpc>
                <a:spcPct val="98000"/>
              </a:lnSpc>
            </a:pPr>
            <a:r>
              <a:rPr lang="en-GB" altLang="zh-CN" sz="1600">
                <a:latin typeface="Courier New" charset="0"/>
              </a:rPr>
              <a:t>PTEA</a:t>
            </a:r>
          </a:p>
        </p:txBody>
      </p:sp>
      <p:cxnSp>
        <p:nvCxnSpPr>
          <p:cNvPr id="125963" name="Straight Arrow Connector 13"/>
          <p:cNvCxnSpPr>
            <a:cxnSpLocks noChangeShapeType="1"/>
          </p:cNvCxnSpPr>
          <p:nvPr/>
        </p:nvCxnSpPr>
        <p:spPr bwMode="auto">
          <a:xfrm flipV="1">
            <a:off x="4256088" y="2871788"/>
            <a:ext cx="1522412" cy="1587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5964" name="Text Box 9"/>
          <p:cNvSpPr txBox="1">
            <a:spLocks noChangeArrowheads="1"/>
          </p:cNvSpPr>
          <p:nvPr/>
        </p:nvSpPr>
        <p:spPr bwMode="auto">
          <a:xfrm>
            <a:off x="4741863" y="3044825"/>
            <a:ext cx="5524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ctr">
              <a:lnSpc>
                <a:spcPct val="98000"/>
              </a:lnSpc>
            </a:pPr>
            <a:r>
              <a:rPr lang="en-GB" altLang="zh-CN" sz="1600">
                <a:latin typeface="Courier New" charset="0"/>
              </a:rPr>
              <a:t>PTE</a:t>
            </a:r>
          </a:p>
        </p:txBody>
      </p:sp>
      <p:cxnSp>
        <p:nvCxnSpPr>
          <p:cNvPr id="125965" name="Straight Arrow Connector 15"/>
          <p:cNvCxnSpPr>
            <a:cxnSpLocks noChangeShapeType="1"/>
          </p:cNvCxnSpPr>
          <p:nvPr/>
        </p:nvCxnSpPr>
        <p:spPr bwMode="auto">
          <a:xfrm flipH="1" flipV="1">
            <a:off x="4256088" y="3328988"/>
            <a:ext cx="1522412" cy="1587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" name="Oval 4"/>
          <p:cNvSpPr>
            <a:spLocks noChangeArrowheads="1"/>
          </p:cNvSpPr>
          <p:nvPr/>
        </p:nvSpPr>
        <p:spPr bwMode="auto">
          <a:xfrm>
            <a:off x="2330450" y="2797175"/>
            <a:ext cx="274638" cy="2746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GB" sz="1400" dirty="0">
                <a:solidFill>
                  <a:schemeClr val="bg1"/>
                </a:solidFill>
                <a:latin typeface="Calibri" pitchFamily="34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8" name="Oval 18"/>
          <p:cNvSpPr>
            <a:spLocks noChangeArrowheads="1"/>
          </p:cNvSpPr>
          <p:nvPr/>
        </p:nvSpPr>
        <p:spPr bwMode="auto">
          <a:xfrm>
            <a:off x="4881563" y="2371725"/>
            <a:ext cx="274637" cy="2746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GB" sz="1400" dirty="0">
                <a:solidFill>
                  <a:schemeClr val="bg1"/>
                </a:solidFill>
                <a:latin typeface="Calibri" pitchFamily="34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9" name="Oval 19"/>
          <p:cNvSpPr>
            <a:spLocks noChangeArrowheads="1"/>
          </p:cNvSpPr>
          <p:nvPr/>
        </p:nvSpPr>
        <p:spPr bwMode="auto">
          <a:xfrm>
            <a:off x="4881563" y="3378200"/>
            <a:ext cx="274637" cy="2746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GB" sz="1400" dirty="0">
                <a:solidFill>
                  <a:schemeClr val="bg1"/>
                </a:solidFill>
                <a:latin typeface="Calibri" pitchFamily="34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20" name="Oval 20"/>
          <p:cNvSpPr>
            <a:spLocks noChangeArrowheads="1"/>
          </p:cNvSpPr>
          <p:nvPr/>
        </p:nvSpPr>
        <p:spPr bwMode="auto">
          <a:xfrm>
            <a:off x="4564063" y="1778000"/>
            <a:ext cx="274637" cy="2746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GB" sz="1400" dirty="0">
                <a:solidFill>
                  <a:schemeClr val="bg1"/>
                </a:solidFill>
                <a:latin typeface="Calibri" pitchFamily="34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21" name="Oval 21"/>
          <p:cNvSpPr>
            <a:spLocks noChangeArrowheads="1"/>
          </p:cNvSpPr>
          <p:nvPr/>
        </p:nvSpPr>
        <p:spPr bwMode="auto">
          <a:xfrm>
            <a:off x="7192963" y="2925763"/>
            <a:ext cx="274637" cy="274637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GB" sz="1400" dirty="0">
                <a:solidFill>
                  <a:schemeClr val="bg1"/>
                </a:solidFill>
                <a:latin typeface="Calibri" pitchFamily="34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125971" name="Rectangle 17"/>
          <p:cNvSpPr>
            <a:spLocks noChangeArrowheads="1"/>
          </p:cNvSpPr>
          <p:nvPr/>
        </p:nvSpPr>
        <p:spPr bwMode="auto">
          <a:xfrm>
            <a:off x="7924800" y="2417763"/>
            <a:ext cx="914400" cy="1925637"/>
          </a:xfrm>
          <a:prstGeom prst="rect">
            <a:avLst/>
          </a:prstGeom>
          <a:solidFill>
            <a:srgbClr val="F5F5F5"/>
          </a:solidFill>
          <a:ln w="1908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ctr"/>
            <a:r>
              <a:rPr lang="en-US" altLang="zh-CN" sz="1800">
                <a:latin typeface="Calibri" charset="0"/>
              </a:rPr>
              <a:t>Disk</a:t>
            </a:r>
          </a:p>
        </p:txBody>
      </p:sp>
      <p:sp>
        <p:nvSpPr>
          <p:cNvPr id="23" name="Rectangle 10"/>
          <p:cNvSpPr>
            <a:spLocks noChangeArrowheads="1"/>
          </p:cNvSpPr>
          <p:nvPr/>
        </p:nvSpPr>
        <p:spPr bwMode="auto">
          <a:xfrm>
            <a:off x="5761038" y="1443038"/>
            <a:ext cx="2527300" cy="533400"/>
          </a:xfrm>
          <a:prstGeom prst="rect">
            <a:avLst/>
          </a:prstGeom>
          <a:solidFill>
            <a:srgbClr val="FFC000"/>
          </a:solidFill>
          <a:ln w="1260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ctr">
              <a:lnSpc>
                <a:spcPct val="98000"/>
              </a:lnSpc>
            </a:pPr>
            <a:r>
              <a:rPr lang="en-GB" altLang="zh-CN" sz="1800">
                <a:latin typeface="Calibri" charset="0"/>
              </a:rPr>
              <a:t>Page fault handler</a:t>
            </a:r>
          </a:p>
        </p:txBody>
      </p:sp>
      <p:cxnSp>
        <p:nvCxnSpPr>
          <p:cNvPr id="24" name="Shape 26"/>
          <p:cNvCxnSpPr>
            <a:cxnSpLocks noChangeShapeType="1"/>
            <a:stCxn id="125956" idx="0"/>
            <a:endCxn id="23" idx="1"/>
          </p:cNvCxnSpPr>
          <p:nvPr/>
        </p:nvCxnSpPr>
        <p:spPr bwMode="auto">
          <a:xfrm rot="5400000" flipH="1" flipV="1">
            <a:off x="4247357" y="1185069"/>
            <a:ext cx="989012" cy="2038350"/>
          </a:xfrm>
          <a:prstGeom prst="bentConnector2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" name="Straight Arrow Connector 24"/>
          <p:cNvCxnSpPr>
            <a:cxnSpLocks noChangeShapeType="1"/>
          </p:cNvCxnSpPr>
          <p:nvPr/>
        </p:nvCxnSpPr>
        <p:spPr bwMode="auto">
          <a:xfrm>
            <a:off x="6707188" y="2857500"/>
            <a:ext cx="1217612" cy="3175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" name="Straight Arrow Connector 25"/>
          <p:cNvCxnSpPr>
            <a:cxnSpLocks noChangeShapeType="1"/>
          </p:cNvCxnSpPr>
          <p:nvPr/>
        </p:nvCxnSpPr>
        <p:spPr bwMode="auto">
          <a:xfrm rot="10800000">
            <a:off x="6707188" y="3805238"/>
            <a:ext cx="1217612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7" name="Down Arrow 26"/>
          <p:cNvSpPr/>
          <p:nvPr/>
        </p:nvSpPr>
        <p:spPr bwMode="auto">
          <a:xfrm>
            <a:off x="7086600" y="1976438"/>
            <a:ext cx="457200" cy="628650"/>
          </a:xfrm>
          <a:prstGeom prst="downArrow">
            <a:avLst/>
          </a:prstGeom>
          <a:noFill/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>
              <a:defRPr/>
            </a:pPr>
            <a:endParaRPr lang="en-US" sz="1600" dirty="0">
              <a:latin typeface="+mn-lt"/>
              <a:ea typeface="宋体" panose="02010600030101010101" pitchFamily="2" charset="-122"/>
            </a:endParaRPr>
          </a:p>
        </p:txBody>
      </p:sp>
      <p:sp>
        <p:nvSpPr>
          <p:cNvPr id="28" name="Text Box 9"/>
          <p:cNvSpPr txBox="1">
            <a:spLocks noChangeArrowheads="1"/>
          </p:cNvSpPr>
          <p:nvPr/>
        </p:nvSpPr>
        <p:spPr bwMode="auto">
          <a:xfrm>
            <a:off x="6637338" y="2589213"/>
            <a:ext cx="1363662" cy="306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ctr">
              <a:lnSpc>
                <a:spcPct val="98000"/>
              </a:lnSpc>
            </a:pPr>
            <a:r>
              <a:rPr lang="en-GB" altLang="zh-CN" sz="1400">
                <a:latin typeface="Courier New" charset="0"/>
              </a:rPr>
              <a:t>Victim page</a:t>
            </a:r>
          </a:p>
        </p:txBody>
      </p:sp>
      <p:sp>
        <p:nvSpPr>
          <p:cNvPr id="29" name="Text Box 9"/>
          <p:cNvSpPr txBox="1">
            <a:spLocks noChangeArrowheads="1"/>
          </p:cNvSpPr>
          <p:nvPr/>
        </p:nvSpPr>
        <p:spPr bwMode="auto">
          <a:xfrm>
            <a:off x="6732588" y="3511550"/>
            <a:ext cx="116998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ctr">
              <a:lnSpc>
                <a:spcPct val="98000"/>
              </a:lnSpc>
            </a:pPr>
            <a:r>
              <a:rPr lang="en-GB" altLang="zh-CN" sz="1600">
                <a:latin typeface="Courier New" charset="0"/>
              </a:rPr>
              <a:t>New page</a:t>
            </a:r>
          </a:p>
        </p:txBody>
      </p:sp>
      <p:sp>
        <p:nvSpPr>
          <p:cNvPr id="30" name="Text Box 9"/>
          <p:cNvSpPr txBox="1">
            <a:spLocks noChangeArrowheads="1"/>
          </p:cNvSpPr>
          <p:nvPr/>
        </p:nvSpPr>
        <p:spPr bwMode="auto">
          <a:xfrm>
            <a:off x="4267200" y="1404938"/>
            <a:ext cx="9080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ctr">
              <a:lnSpc>
                <a:spcPct val="98000"/>
              </a:lnSpc>
            </a:pPr>
            <a:r>
              <a:rPr lang="en-GB" altLang="zh-CN" sz="1400">
                <a:latin typeface="Calibri" charset="0"/>
              </a:rPr>
              <a:t>Exception</a:t>
            </a:r>
          </a:p>
        </p:txBody>
      </p:sp>
      <p:sp>
        <p:nvSpPr>
          <p:cNvPr id="31" name="Oval 21"/>
          <p:cNvSpPr>
            <a:spLocks noChangeArrowheads="1"/>
          </p:cNvSpPr>
          <p:nvPr/>
        </p:nvSpPr>
        <p:spPr bwMode="auto">
          <a:xfrm>
            <a:off x="7205663" y="3886200"/>
            <a:ext cx="274637" cy="2746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GB" sz="1400" dirty="0">
                <a:solidFill>
                  <a:schemeClr val="bg1"/>
                </a:solidFill>
                <a:latin typeface="Calibri" pitchFamily="34" charset="0"/>
                <a:ea typeface="宋体" panose="02010600030101010101" pitchFamily="2" charset="-122"/>
              </a:rPr>
              <a:t>6</a:t>
            </a:r>
          </a:p>
        </p:txBody>
      </p:sp>
      <p:sp>
        <p:nvSpPr>
          <p:cNvPr id="32" name="Oval 21"/>
          <p:cNvSpPr>
            <a:spLocks noChangeArrowheads="1"/>
          </p:cNvSpPr>
          <p:nvPr/>
        </p:nvSpPr>
        <p:spPr bwMode="auto">
          <a:xfrm>
            <a:off x="2330450" y="3397250"/>
            <a:ext cx="274638" cy="2746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GB" sz="1400" dirty="0">
                <a:solidFill>
                  <a:schemeClr val="bg1"/>
                </a:solidFill>
                <a:latin typeface="Calibri" pitchFamily="34" charset="0"/>
                <a:ea typeface="宋体" panose="02010600030101010101" pitchFamily="2" charset="-122"/>
              </a:rPr>
              <a:t>7</a:t>
            </a:r>
          </a:p>
        </p:txBody>
      </p:sp>
      <p:sp>
        <p:nvSpPr>
          <p:cNvPr id="33" name="Rectangle 2"/>
          <p:cNvSpPr txBox="1">
            <a:spLocks noChangeArrowheads="1"/>
          </p:cNvSpPr>
          <p:nvPr/>
        </p:nvSpPr>
        <p:spPr bwMode="auto">
          <a:xfrm>
            <a:off x="304800" y="4419600"/>
            <a:ext cx="8534400" cy="20574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lnSpc>
                <a:spcPct val="73000"/>
              </a:lnSpc>
              <a:spcBef>
                <a:spcPts val="1250"/>
              </a:spcBef>
              <a:buFont typeface="Wingdings" charset="2"/>
              <a:buNone/>
            </a:pPr>
            <a:r>
              <a:rPr lang="en-GB" altLang="zh-CN" b="0"/>
              <a:t>1) Processor sends virtual address to MMU </a:t>
            </a:r>
          </a:p>
          <a:p>
            <a:pPr>
              <a:lnSpc>
                <a:spcPct val="73000"/>
              </a:lnSpc>
              <a:spcBef>
                <a:spcPts val="1250"/>
              </a:spcBef>
              <a:buFont typeface="Wingdings" charset="2"/>
              <a:buNone/>
            </a:pPr>
            <a:r>
              <a:rPr lang="en-GB" altLang="zh-CN" b="0"/>
              <a:t>2-3) MMU fetches PTE from page table in memory</a:t>
            </a:r>
          </a:p>
          <a:p>
            <a:pPr>
              <a:lnSpc>
                <a:spcPct val="73000"/>
              </a:lnSpc>
              <a:spcBef>
                <a:spcPts val="1250"/>
              </a:spcBef>
              <a:buFont typeface="Wingdings" charset="2"/>
              <a:buNone/>
            </a:pPr>
            <a:r>
              <a:rPr lang="en-GB" altLang="zh-CN" b="0"/>
              <a:t>4) Valid bit is zero, so MMU triggers page fault exception</a:t>
            </a:r>
          </a:p>
          <a:p>
            <a:pPr>
              <a:lnSpc>
                <a:spcPct val="73000"/>
              </a:lnSpc>
              <a:spcBef>
                <a:spcPts val="1250"/>
              </a:spcBef>
              <a:buFont typeface="Wingdings" charset="2"/>
              <a:buNone/>
            </a:pPr>
            <a:r>
              <a:rPr lang="en-GB" altLang="zh-CN" b="0"/>
              <a:t>5) Handler identifies victim (and, if dirty, pages it out to disk)</a:t>
            </a:r>
          </a:p>
          <a:p>
            <a:pPr>
              <a:lnSpc>
                <a:spcPct val="73000"/>
              </a:lnSpc>
              <a:spcBef>
                <a:spcPts val="1250"/>
              </a:spcBef>
              <a:buFont typeface="Wingdings" charset="2"/>
              <a:buNone/>
            </a:pPr>
            <a:r>
              <a:rPr lang="en-GB" altLang="zh-CN" b="0"/>
              <a:t>6) Handler pages in new page and updates PTE in memory</a:t>
            </a:r>
          </a:p>
          <a:p>
            <a:pPr>
              <a:lnSpc>
                <a:spcPct val="73000"/>
              </a:lnSpc>
              <a:spcBef>
                <a:spcPts val="1250"/>
              </a:spcBef>
              <a:buFont typeface="Wingdings" charset="2"/>
              <a:buNone/>
            </a:pPr>
            <a:r>
              <a:rPr lang="en-GB" altLang="zh-CN" b="0"/>
              <a:t>7) Handler returns to original process, restarting faulting instruction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3" grpId="0" animBg="1"/>
      <p:bldP spid="27" grpId="0" animBg="1"/>
      <p:bldP spid="28" grpId="0"/>
      <p:bldP spid="29" grpId="0"/>
      <p:bldP spid="30" grpId="0"/>
      <p:bldP spid="31" grpId="0" animBg="1"/>
      <p:bldP spid="32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1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2588E59D-BB79-A646-A46C-E1EF5CFD430E}" type="slidenum">
              <a:rPr lang="zh-CN" altLang="en-US" sz="1400" b="0">
                <a:latin typeface="Times New Roman" charset="0"/>
              </a:rPr>
              <a:pPr/>
              <a:t>33</a:t>
            </a:fld>
            <a:endParaRPr lang="en-US" altLang="zh-CN" sz="1400" b="0">
              <a:latin typeface="Times New Roman" charset="0"/>
            </a:endParaRPr>
          </a:p>
        </p:txBody>
      </p:sp>
      <p:sp>
        <p:nvSpPr>
          <p:cNvPr id="1280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Integrating Caches and VM</a:t>
            </a:r>
          </a:p>
        </p:txBody>
      </p:sp>
      <p:grpSp>
        <p:nvGrpSpPr>
          <p:cNvPr id="128003" name="Group 31"/>
          <p:cNvGrpSpPr>
            <a:grpSpLocks/>
          </p:cNvGrpSpPr>
          <p:nvPr/>
        </p:nvGrpSpPr>
        <p:grpSpPr bwMode="auto">
          <a:xfrm>
            <a:off x="638175" y="2759075"/>
            <a:ext cx="7772400" cy="1785938"/>
            <a:chOff x="656" y="1200"/>
            <a:chExt cx="4132" cy="956"/>
          </a:xfrm>
        </p:grpSpPr>
        <p:sp>
          <p:nvSpPr>
            <p:cNvPr id="128004" name="Line 5"/>
            <p:cNvSpPr>
              <a:spLocks noChangeShapeType="1"/>
            </p:cNvSpPr>
            <p:nvPr/>
          </p:nvSpPr>
          <p:spPr bwMode="auto">
            <a:xfrm>
              <a:off x="676" y="1272"/>
              <a:ext cx="62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8005" name="Line 6"/>
            <p:cNvSpPr>
              <a:spLocks noChangeShapeType="1"/>
            </p:cNvSpPr>
            <p:nvPr/>
          </p:nvSpPr>
          <p:spPr bwMode="auto">
            <a:xfrm>
              <a:off x="1304" y="1276"/>
              <a:ext cx="0" cy="5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8006" name="Line 7"/>
            <p:cNvSpPr>
              <a:spLocks noChangeShapeType="1"/>
            </p:cNvSpPr>
            <p:nvPr/>
          </p:nvSpPr>
          <p:spPr bwMode="auto">
            <a:xfrm flipH="1">
              <a:off x="656" y="1888"/>
              <a:ext cx="64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8007" name="Rectangle 8"/>
            <p:cNvSpPr>
              <a:spLocks noChangeArrowheads="1"/>
            </p:cNvSpPr>
            <p:nvPr/>
          </p:nvSpPr>
          <p:spPr bwMode="auto">
            <a:xfrm>
              <a:off x="808" y="1504"/>
              <a:ext cx="324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85000"/>
                </a:lnSpc>
              </a:pPr>
              <a:r>
                <a:rPr lang="en-US" altLang="zh-CN" sz="1800" b="0">
                  <a:latin typeface="Helvetica" charset="0"/>
                </a:rPr>
                <a:t>CPU</a:t>
              </a:r>
            </a:p>
          </p:txBody>
        </p:sp>
        <p:sp>
          <p:nvSpPr>
            <p:cNvPr id="128008" name="Rectangle 9"/>
            <p:cNvSpPr>
              <a:spLocks noChangeArrowheads="1"/>
            </p:cNvSpPr>
            <p:nvPr/>
          </p:nvSpPr>
          <p:spPr bwMode="auto">
            <a:xfrm>
              <a:off x="1716" y="1292"/>
              <a:ext cx="680" cy="576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/>
              <a:r>
                <a:rPr lang="en-US" altLang="zh-CN" sz="1800" b="0">
                  <a:latin typeface="Helvetica" charset="0"/>
                </a:rPr>
                <a:t>Trans-</a:t>
              </a:r>
            </a:p>
            <a:p>
              <a:pPr algn="ctr"/>
              <a:r>
                <a:rPr lang="en-US" altLang="zh-CN" sz="1800" b="0">
                  <a:latin typeface="Helvetica" charset="0"/>
                </a:rPr>
                <a:t>lation</a:t>
              </a:r>
            </a:p>
          </p:txBody>
        </p:sp>
        <p:sp>
          <p:nvSpPr>
            <p:cNvPr id="128009" name="Rectangle 10"/>
            <p:cNvSpPr>
              <a:spLocks noChangeArrowheads="1"/>
            </p:cNvSpPr>
            <p:nvPr/>
          </p:nvSpPr>
          <p:spPr bwMode="auto">
            <a:xfrm>
              <a:off x="2868" y="1292"/>
              <a:ext cx="680" cy="57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487" tIns="44450" rIns="90487" bIns="44450" anchor="ctr"/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/>
              <a:r>
                <a:rPr lang="en-US" altLang="zh-CN" sz="1800" b="0">
                  <a:latin typeface="Helvetica" charset="0"/>
                </a:rPr>
                <a:t>Cache</a:t>
              </a:r>
            </a:p>
          </p:txBody>
        </p:sp>
        <p:sp>
          <p:nvSpPr>
            <p:cNvPr id="128010" name="Rectangle 11"/>
            <p:cNvSpPr>
              <a:spLocks noChangeArrowheads="1"/>
            </p:cNvSpPr>
            <p:nvPr/>
          </p:nvSpPr>
          <p:spPr bwMode="auto">
            <a:xfrm>
              <a:off x="4108" y="1300"/>
              <a:ext cx="680" cy="57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487" tIns="44450" rIns="90487" bIns="44450" anchor="ctr"/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/>
              <a:r>
                <a:rPr lang="en-US" altLang="zh-CN" sz="1800" b="0">
                  <a:latin typeface="Helvetica" charset="0"/>
                </a:rPr>
                <a:t>Main</a:t>
              </a:r>
            </a:p>
            <a:p>
              <a:pPr algn="ctr"/>
              <a:r>
                <a:rPr lang="en-US" altLang="zh-CN" sz="1800" b="0">
                  <a:latin typeface="Helvetica" charset="0"/>
                </a:rPr>
                <a:t>Memory</a:t>
              </a:r>
            </a:p>
          </p:txBody>
        </p:sp>
        <p:sp>
          <p:nvSpPr>
            <p:cNvPr id="128011" name="Line 12"/>
            <p:cNvSpPr>
              <a:spLocks noChangeShapeType="1"/>
            </p:cNvSpPr>
            <p:nvPr/>
          </p:nvSpPr>
          <p:spPr bwMode="auto">
            <a:xfrm>
              <a:off x="1308" y="1384"/>
              <a:ext cx="4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8012" name="Line 13"/>
            <p:cNvSpPr>
              <a:spLocks noChangeShapeType="1"/>
            </p:cNvSpPr>
            <p:nvPr/>
          </p:nvSpPr>
          <p:spPr bwMode="auto">
            <a:xfrm>
              <a:off x="2388" y="1384"/>
              <a:ext cx="4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8013" name="Line 14"/>
            <p:cNvSpPr>
              <a:spLocks noChangeShapeType="1"/>
            </p:cNvSpPr>
            <p:nvPr/>
          </p:nvSpPr>
          <p:spPr bwMode="auto">
            <a:xfrm>
              <a:off x="3548" y="1368"/>
              <a:ext cx="55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8014" name="Line 15"/>
            <p:cNvSpPr>
              <a:spLocks noChangeShapeType="1"/>
            </p:cNvSpPr>
            <p:nvPr/>
          </p:nvSpPr>
          <p:spPr bwMode="auto">
            <a:xfrm flipH="1">
              <a:off x="3976" y="1776"/>
              <a:ext cx="1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8015" name="Line 16"/>
            <p:cNvSpPr>
              <a:spLocks noChangeShapeType="1"/>
            </p:cNvSpPr>
            <p:nvPr/>
          </p:nvSpPr>
          <p:spPr bwMode="auto">
            <a:xfrm>
              <a:off x="3976" y="1780"/>
              <a:ext cx="0" cy="36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8016" name="Line 17"/>
            <p:cNvSpPr>
              <a:spLocks noChangeShapeType="1"/>
            </p:cNvSpPr>
            <p:nvPr/>
          </p:nvSpPr>
          <p:spPr bwMode="auto">
            <a:xfrm flipH="1">
              <a:off x="1464" y="2152"/>
              <a:ext cx="251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8017" name="Line 18"/>
            <p:cNvSpPr>
              <a:spLocks noChangeShapeType="1"/>
            </p:cNvSpPr>
            <p:nvPr/>
          </p:nvSpPr>
          <p:spPr bwMode="auto">
            <a:xfrm flipV="1">
              <a:off x="1464" y="1816"/>
              <a:ext cx="0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8018" name="Line 19"/>
            <p:cNvSpPr>
              <a:spLocks noChangeShapeType="1"/>
            </p:cNvSpPr>
            <p:nvPr/>
          </p:nvSpPr>
          <p:spPr bwMode="auto">
            <a:xfrm flipH="1">
              <a:off x="1304" y="1816"/>
              <a:ext cx="16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8019" name="Line 20"/>
            <p:cNvSpPr>
              <a:spLocks noChangeShapeType="1"/>
            </p:cNvSpPr>
            <p:nvPr/>
          </p:nvSpPr>
          <p:spPr bwMode="auto">
            <a:xfrm flipV="1">
              <a:off x="3712" y="1792"/>
              <a:ext cx="0" cy="3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8020" name="Line 21"/>
            <p:cNvSpPr>
              <a:spLocks noChangeShapeType="1"/>
            </p:cNvSpPr>
            <p:nvPr/>
          </p:nvSpPr>
          <p:spPr bwMode="auto">
            <a:xfrm flipH="1">
              <a:off x="3552" y="1792"/>
              <a:ext cx="16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8021" name="Line 22"/>
            <p:cNvSpPr>
              <a:spLocks noChangeShapeType="1"/>
            </p:cNvSpPr>
            <p:nvPr/>
          </p:nvSpPr>
          <p:spPr bwMode="auto">
            <a:xfrm flipH="1">
              <a:off x="2712" y="1776"/>
              <a:ext cx="15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8022" name="Line 23"/>
            <p:cNvSpPr>
              <a:spLocks noChangeShapeType="1"/>
            </p:cNvSpPr>
            <p:nvPr/>
          </p:nvSpPr>
          <p:spPr bwMode="auto">
            <a:xfrm>
              <a:off x="2712" y="1780"/>
              <a:ext cx="0" cy="36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8023" name="Oval 24"/>
            <p:cNvSpPr>
              <a:spLocks noChangeArrowheads="1"/>
            </p:cNvSpPr>
            <p:nvPr/>
          </p:nvSpPr>
          <p:spPr bwMode="auto">
            <a:xfrm>
              <a:off x="3708" y="2124"/>
              <a:ext cx="24" cy="32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8024" name="Rectangle 25"/>
            <p:cNvSpPr>
              <a:spLocks noChangeArrowheads="1"/>
            </p:cNvSpPr>
            <p:nvPr/>
          </p:nvSpPr>
          <p:spPr bwMode="auto">
            <a:xfrm>
              <a:off x="1384" y="1216"/>
              <a:ext cx="229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85000"/>
                </a:lnSpc>
              </a:pPr>
              <a:r>
                <a:rPr lang="en-US" altLang="zh-CN" sz="1800" b="0">
                  <a:latin typeface="Helvetica" charset="0"/>
                </a:rPr>
                <a:t>VA</a:t>
              </a:r>
            </a:p>
          </p:txBody>
        </p:sp>
        <p:sp>
          <p:nvSpPr>
            <p:cNvPr id="128025" name="Rectangle 26"/>
            <p:cNvSpPr>
              <a:spLocks noChangeArrowheads="1"/>
            </p:cNvSpPr>
            <p:nvPr/>
          </p:nvSpPr>
          <p:spPr bwMode="auto">
            <a:xfrm>
              <a:off x="2408" y="1216"/>
              <a:ext cx="230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85000"/>
                </a:lnSpc>
              </a:pPr>
              <a:r>
                <a:rPr lang="en-US" altLang="zh-CN" sz="1800" b="0">
                  <a:latin typeface="Helvetica" charset="0"/>
                </a:rPr>
                <a:t>PA</a:t>
              </a:r>
            </a:p>
          </p:txBody>
        </p:sp>
        <p:sp>
          <p:nvSpPr>
            <p:cNvPr id="128026" name="Rectangle 27"/>
            <p:cNvSpPr>
              <a:spLocks noChangeArrowheads="1"/>
            </p:cNvSpPr>
            <p:nvPr/>
          </p:nvSpPr>
          <p:spPr bwMode="auto">
            <a:xfrm>
              <a:off x="3584" y="1200"/>
              <a:ext cx="317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85000"/>
                </a:lnSpc>
              </a:pPr>
              <a:r>
                <a:rPr lang="en-US" altLang="zh-CN" sz="1800" b="0">
                  <a:latin typeface="Helvetica" charset="0"/>
                </a:rPr>
                <a:t>miss</a:t>
              </a:r>
            </a:p>
          </p:txBody>
        </p:sp>
        <p:sp>
          <p:nvSpPr>
            <p:cNvPr id="128027" name="Rectangle 28"/>
            <p:cNvSpPr>
              <a:spLocks noChangeArrowheads="1"/>
            </p:cNvSpPr>
            <p:nvPr/>
          </p:nvSpPr>
          <p:spPr bwMode="auto">
            <a:xfrm>
              <a:off x="2456" y="1824"/>
              <a:ext cx="196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85000"/>
                </a:lnSpc>
              </a:pPr>
              <a:r>
                <a:rPr lang="en-US" altLang="zh-CN" sz="1800" b="0">
                  <a:latin typeface="Helvetica" charset="0"/>
                </a:rPr>
                <a:t>hit</a:t>
              </a:r>
            </a:p>
          </p:txBody>
        </p:sp>
        <p:sp>
          <p:nvSpPr>
            <p:cNvPr id="128028" name="Rectangle 29"/>
            <p:cNvSpPr>
              <a:spLocks noChangeArrowheads="1"/>
            </p:cNvSpPr>
            <p:nvPr/>
          </p:nvSpPr>
          <p:spPr bwMode="auto">
            <a:xfrm>
              <a:off x="1864" y="2000"/>
              <a:ext cx="304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85000"/>
                </a:lnSpc>
              </a:pPr>
              <a:r>
                <a:rPr lang="en-US" altLang="zh-CN" sz="1800" b="0">
                  <a:latin typeface="Helvetica" charset="0"/>
                </a:rPr>
                <a:t>data</a:t>
              </a:r>
            </a:p>
          </p:txBody>
        </p:sp>
        <p:sp>
          <p:nvSpPr>
            <p:cNvPr id="128029" name="Line 30"/>
            <p:cNvSpPr>
              <a:spLocks noChangeShapeType="1"/>
            </p:cNvSpPr>
            <p:nvPr/>
          </p:nvSpPr>
          <p:spPr bwMode="auto">
            <a:xfrm flipV="1">
              <a:off x="672" y="1264"/>
              <a:ext cx="0" cy="6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77697445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49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9E606EBE-5F31-8441-956B-06F8365A326A}" type="slidenum">
              <a:rPr lang="zh-CN" altLang="en-US" sz="1400" b="0">
                <a:latin typeface="Times New Roman" charset="0"/>
              </a:rPr>
              <a:pPr/>
              <a:t>34</a:t>
            </a:fld>
            <a:endParaRPr lang="en-US" altLang="zh-CN" sz="1400" b="0">
              <a:latin typeface="Times New Roman" charset="0"/>
            </a:endParaRPr>
          </a:p>
        </p:txBody>
      </p:sp>
      <p:sp>
        <p:nvSpPr>
          <p:cNvPr id="1300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Integrating Caches and VM</a:t>
            </a:r>
          </a:p>
        </p:txBody>
      </p:sp>
      <p:sp>
        <p:nvSpPr>
          <p:cNvPr id="1300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0" lang="en-US" altLang="zh-CN">
                <a:ea typeface="宋体" charset="-122"/>
              </a:rPr>
              <a:t>Most Caches “Physically Addressed”</a:t>
            </a:r>
          </a:p>
          <a:p>
            <a:pPr lvl="1"/>
            <a:r>
              <a:rPr kumimoji="0" lang="en-US" altLang="zh-CN">
                <a:ea typeface="宋体" charset="-122"/>
              </a:rPr>
              <a:t>Accessed by physical addresses</a:t>
            </a:r>
          </a:p>
          <a:p>
            <a:pPr lvl="1"/>
            <a:r>
              <a:rPr kumimoji="0" lang="en-US" altLang="zh-CN">
                <a:ea typeface="宋体" charset="-122"/>
              </a:rPr>
              <a:t>Allows multiple processes to have blocks in cache at same time</a:t>
            </a:r>
            <a:r>
              <a:rPr kumimoji="0" lang="zh-CN" altLang="en-US">
                <a:ea typeface="宋体" charset="-122"/>
              </a:rPr>
              <a:t> </a:t>
            </a:r>
            <a:r>
              <a:rPr kumimoji="0" lang="en-US" altLang="zh-CN">
                <a:ea typeface="宋体" charset="-122"/>
              </a:rPr>
              <a:t>(</a:t>
            </a:r>
            <a:r>
              <a:rPr kumimoji="0" lang="zh-CN" altLang="en-US">
                <a:ea typeface="宋体" charset="-122"/>
              </a:rPr>
              <a:t>如果</a:t>
            </a:r>
            <a:r>
              <a:rPr kumimoji="0" lang="en-US" altLang="zh-CN">
                <a:ea typeface="宋体" charset="-122"/>
              </a:rPr>
              <a:t>cache</a:t>
            </a:r>
            <a:r>
              <a:rPr kumimoji="0" lang="zh-CN" altLang="en-US">
                <a:ea typeface="宋体" charset="-122"/>
              </a:rPr>
              <a:t>用</a:t>
            </a:r>
            <a:r>
              <a:rPr kumimoji="0" lang="en-US" altLang="zh-CN">
                <a:ea typeface="宋体" charset="-122"/>
              </a:rPr>
              <a:t>VA</a:t>
            </a:r>
            <a:r>
              <a:rPr kumimoji="0" lang="zh-CN" altLang="en-US">
                <a:ea typeface="宋体" charset="-122"/>
              </a:rPr>
              <a:t>呢？</a:t>
            </a:r>
            <a:r>
              <a:rPr kumimoji="0" lang="en-US" altLang="zh-CN">
                <a:ea typeface="宋体" charset="-122"/>
              </a:rPr>
              <a:t>)</a:t>
            </a:r>
          </a:p>
          <a:p>
            <a:pPr lvl="1"/>
            <a:r>
              <a:rPr kumimoji="0" lang="en-US" altLang="zh-CN">
                <a:ea typeface="宋体" charset="-122"/>
              </a:rPr>
              <a:t>Allows </a:t>
            </a:r>
            <a:r>
              <a:rPr kumimoji="0" lang="en-US" altLang="zh-CN">
                <a:solidFill>
                  <a:srgbClr val="FF0000"/>
                </a:solidFill>
                <a:ea typeface="宋体" charset="-122"/>
              </a:rPr>
              <a:t>multiple </a:t>
            </a:r>
            <a:r>
              <a:rPr kumimoji="0" lang="en-US" altLang="zh-CN">
                <a:ea typeface="宋体" charset="-122"/>
              </a:rPr>
              <a:t>processes to </a:t>
            </a:r>
            <a:r>
              <a:rPr kumimoji="0" lang="en-US" altLang="zh-CN">
                <a:solidFill>
                  <a:srgbClr val="FF0000"/>
                </a:solidFill>
                <a:ea typeface="宋体" charset="-122"/>
              </a:rPr>
              <a:t>share</a:t>
            </a:r>
            <a:r>
              <a:rPr kumimoji="0" lang="en-US" altLang="zh-CN">
                <a:ea typeface="宋体" charset="-122"/>
              </a:rPr>
              <a:t> pages</a:t>
            </a:r>
          </a:p>
          <a:p>
            <a:pPr lvl="2"/>
            <a:r>
              <a:rPr kumimoji="0" lang="en-US" altLang="zh-CN">
                <a:ea typeface="宋体" charset="-122"/>
              </a:rPr>
              <a:t>Cache</a:t>
            </a:r>
            <a:r>
              <a:rPr kumimoji="0" lang="zh-CN" altLang="en-US">
                <a:ea typeface="宋体" charset="-122"/>
              </a:rPr>
              <a:t> </a:t>
            </a:r>
            <a:r>
              <a:rPr kumimoji="0" lang="en-US" altLang="zh-CN">
                <a:ea typeface="宋体" charset="-122"/>
              </a:rPr>
              <a:t>Coherence</a:t>
            </a:r>
          </a:p>
          <a:p>
            <a:pPr lvl="1"/>
            <a:r>
              <a:rPr kumimoji="0" lang="en-US" altLang="zh-CN">
                <a:ea typeface="宋体" charset="-122"/>
              </a:rPr>
              <a:t>Cache doesn’t need to be concerned with protection issues</a:t>
            </a:r>
          </a:p>
          <a:p>
            <a:pPr lvl="2"/>
            <a:r>
              <a:rPr kumimoji="0" lang="en-US" altLang="zh-CN" sz="2400">
                <a:solidFill>
                  <a:srgbClr val="FF0000"/>
                </a:solidFill>
                <a:ea typeface="宋体" charset="-122"/>
              </a:rPr>
              <a:t>Access rights </a:t>
            </a:r>
            <a:r>
              <a:rPr kumimoji="0" lang="en-US" altLang="zh-CN" sz="2400">
                <a:ea typeface="宋体" charset="-122"/>
              </a:rPr>
              <a:t>checked as part of address translation</a:t>
            </a:r>
          </a:p>
        </p:txBody>
      </p:sp>
    </p:spTree>
    <p:extLst>
      <p:ext uri="{BB962C8B-B14F-4D97-AF65-F5344CB8AC3E}">
        <p14:creationId xmlns:p14="http://schemas.microsoft.com/office/powerpoint/2010/main" val="21289432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7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1D25C9A3-EB0C-964B-9844-A9741B1080AC}" type="slidenum">
              <a:rPr lang="zh-CN" altLang="en-US" sz="1400" b="0">
                <a:latin typeface="Times New Roman" charset="0"/>
              </a:rPr>
              <a:pPr/>
              <a:t>35</a:t>
            </a:fld>
            <a:endParaRPr lang="en-US" altLang="zh-CN" sz="1400" b="0">
              <a:latin typeface="Times New Roman" charset="0"/>
            </a:endParaRPr>
          </a:p>
        </p:txBody>
      </p:sp>
      <p:sp>
        <p:nvSpPr>
          <p:cNvPr id="132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Integrating Caches and VM</a:t>
            </a:r>
          </a:p>
        </p:txBody>
      </p:sp>
      <p:sp>
        <p:nvSpPr>
          <p:cNvPr id="132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0" lang="en-US" altLang="zh-CN">
                <a:ea typeface="宋体" charset="-122"/>
              </a:rPr>
              <a:t>Perform Address Translation Before Cache Lookup</a:t>
            </a:r>
          </a:p>
          <a:p>
            <a:pPr lvl="1"/>
            <a:r>
              <a:rPr kumimoji="0" lang="en-US" altLang="zh-CN">
                <a:ea typeface="宋体" charset="-122"/>
              </a:rPr>
              <a:t>But this could involve a memory access itself </a:t>
            </a:r>
            <a:br>
              <a:rPr kumimoji="0" lang="en-US" altLang="zh-CN">
                <a:ea typeface="宋体" charset="-122"/>
              </a:rPr>
            </a:br>
            <a:r>
              <a:rPr kumimoji="0" lang="en-US" altLang="zh-CN">
                <a:ea typeface="宋体" charset="-122"/>
              </a:rPr>
              <a:t>(of the </a:t>
            </a:r>
            <a:r>
              <a:rPr kumimoji="0" lang="en-US" altLang="zh-CN">
                <a:solidFill>
                  <a:srgbClr val="FF0000"/>
                </a:solidFill>
                <a:ea typeface="宋体" charset="-122"/>
              </a:rPr>
              <a:t>PTE</a:t>
            </a:r>
            <a:r>
              <a:rPr kumimoji="0" lang="en-US" altLang="zh-CN">
                <a:ea typeface="宋体" charset="-122"/>
              </a:rPr>
              <a:t>)</a:t>
            </a:r>
          </a:p>
          <a:p>
            <a:pPr lvl="1"/>
            <a:r>
              <a:rPr kumimoji="0" lang="en-US" altLang="zh-CN">
                <a:ea typeface="宋体" charset="-122"/>
              </a:rPr>
              <a:t>Of course, page table entries can also become cached</a:t>
            </a:r>
            <a:endParaRPr kumimoji="0" lang="zh-CN" altLang="en-US"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9370962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5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1E007FF8-5431-0B4A-B3D7-0D967384A6C1}" type="slidenum">
              <a:rPr lang="zh-CN" altLang="en-US" sz="1400" b="0">
                <a:latin typeface="Times New Roman" charset="0"/>
              </a:rPr>
              <a:pPr/>
              <a:t>36</a:t>
            </a:fld>
            <a:endParaRPr lang="en-US" altLang="zh-CN" sz="1400" b="0">
              <a:latin typeface="Times New Roman" charset="0"/>
            </a:endParaRPr>
          </a:p>
        </p:txBody>
      </p:sp>
      <p:sp>
        <p:nvSpPr>
          <p:cNvPr id="4" name="Rectangle 79"/>
          <p:cNvSpPr>
            <a:spLocks noChangeArrowheads="1"/>
          </p:cNvSpPr>
          <p:nvPr/>
        </p:nvSpPr>
        <p:spPr bwMode="auto">
          <a:xfrm>
            <a:off x="690563" y="2346325"/>
            <a:ext cx="3646487" cy="2438400"/>
          </a:xfrm>
          <a:prstGeom prst="rect">
            <a:avLst/>
          </a:prstGeom>
          <a:solidFill>
            <a:srgbClr val="FFFFCC"/>
          </a:solidFill>
          <a:ln w="12700" cap="flat" cmpd="sng" algn="ctr">
            <a:noFill/>
            <a:prstDash val="dash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latin typeface="+mn-lt"/>
              <a:ea typeface="宋体" panose="02010600030101010101" pitchFamily="2" charset="-122"/>
            </a:endParaRPr>
          </a:p>
        </p:txBody>
      </p:sp>
      <p:sp>
        <p:nvSpPr>
          <p:cNvPr id="134147" name="Rectangle 66"/>
          <p:cNvSpPr>
            <a:spLocks noChangeArrowheads="1"/>
          </p:cNvSpPr>
          <p:nvPr/>
        </p:nvSpPr>
        <p:spPr bwMode="auto">
          <a:xfrm>
            <a:off x="2378075" y="3535363"/>
            <a:ext cx="404813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lnSpc>
                <a:spcPct val="85000"/>
              </a:lnSpc>
            </a:pPr>
            <a:r>
              <a:rPr lang="en-US" altLang="zh-CN" sz="1800">
                <a:latin typeface="Courier New" charset="0"/>
              </a:rPr>
              <a:t>VA</a:t>
            </a:r>
          </a:p>
        </p:txBody>
      </p:sp>
      <p:sp>
        <p:nvSpPr>
          <p:cNvPr id="6" name="Rectangle 67"/>
          <p:cNvSpPr>
            <a:spLocks noChangeArrowheads="1"/>
          </p:cNvSpPr>
          <p:nvPr/>
        </p:nvSpPr>
        <p:spPr bwMode="auto">
          <a:xfrm>
            <a:off x="892175" y="3306763"/>
            <a:ext cx="1230313" cy="457200"/>
          </a:xfrm>
          <a:prstGeom prst="rect">
            <a:avLst/>
          </a:prstGeom>
          <a:solidFill>
            <a:srgbClr val="F6D2D2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800" b="0" dirty="0">
                <a:latin typeface="+mn-lt"/>
                <a:ea typeface="宋体" panose="02010600030101010101" pitchFamily="2" charset="-122"/>
              </a:rPr>
              <a:t>CPU</a:t>
            </a:r>
          </a:p>
        </p:txBody>
      </p:sp>
      <p:sp>
        <p:nvSpPr>
          <p:cNvPr id="7" name="Rectangle 68"/>
          <p:cNvSpPr>
            <a:spLocks noChangeArrowheads="1"/>
          </p:cNvSpPr>
          <p:nvPr/>
        </p:nvSpPr>
        <p:spPr bwMode="auto">
          <a:xfrm>
            <a:off x="3130550" y="2544763"/>
            <a:ext cx="1022350" cy="2119312"/>
          </a:xfrm>
          <a:prstGeom prst="rect">
            <a:avLst/>
          </a:prstGeom>
          <a:solidFill>
            <a:srgbClr val="DBF2DA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800" b="0" dirty="0">
                <a:latin typeface="+mn-lt"/>
                <a:ea typeface="宋体" panose="02010600030101010101" pitchFamily="2" charset="-122"/>
              </a:rPr>
              <a:t>MMU</a:t>
            </a:r>
          </a:p>
        </p:txBody>
      </p:sp>
      <p:sp>
        <p:nvSpPr>
          <p:cNvPr id="8" name="Rectangle 69"/>
          <p:cNvSpPr>
            <a:spLocks noChangeArrowheads="1"/>
          </p:cNvSpPr>
          <p:nvPr/>
        </p:nvSpPr>
        <p:spPr bwMode="auto">
          <a:xfrm>
            <a:off x="5311775" y="2544763"/>
            <a:ext cx="925513" cy="2119312"/>
          </a:xfrm>
          <a:prstGeom prst="rect">
            <a:avLst/>
          </a:prstGeom>
          <a:solidFill>
            <a:srgbClr val="F5F5F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600" b="0">
              <a:latin typeface="+mn-lt"/>
              <a:ea typeface="宋体" panose="02010600030101010101" pitchFamily="2" charset="-122"/>
            </a:endParaRPr>
          </a:p>
        </p:txBody>
      </p:sp>
      <p:sp>
        <p:nvSpPr>
          <p:cNvPr id="9" name="Line 70"/>
          <p:cNvSpPr>
            <a:spLocks noChangeShapeType="1"/>
          </p:cNvSpPr>
          <p:nvPr/>
        </p:nvSpPr>
        <p:spPr bwMode="auto">
          <a:xfrm flipV="1">
            <a:off x="2122488" y="3535363"/>
            <a:ext cx="1001712" cy="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+mn-lt"/>
              <a:ea typeface="宋体" panose="02010600030101010101" pitchFamily="2" charset="-122"/>
            </a:endParaRPr>
          </a:p>
        </p:txBody>
      </p:sp>
      <p:sp>
        <p:nvSpPr>
          <p:cNvPr id="10" name="Line 71"/>
          <p:cNvSpPr>
            <a:spLocks noChangeShapeType="1"/>
          </p:cNvSpPr>
          <p:nvPr/>
        </p:nvSpPr>
        <p:spPr bwMode="auto">
          <a:xfrm flipV="1">
            <a:off x="1501775" y="3763963"/>
            <a:ext cx="0" cy="1249362"/>
          </a:xfrm>
          <a:prstGeom prst="line">
            <a:avLst/>
          </a:prstGeom>
          <a:noFill/>
          <a:ln w="12700">
            <a:solidFill>
              <a:srgbClr val="7030A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+mn-lt"/>
              <a:ea typeface="宋体" panose="02010600030101010101" pitchFamily="2" charset="-122"/>
            </a:endParaRPr>
          </a:p>
        </p:txBody>
      </p:sp>
      <p:sp>
        <p:nvSpPr>
          <p:cNvPr id="134153" name="Rectangle 72"/>
          <p:cNvSpPr>
            <a:spLocks noChangeArrowheads="1"/>
          </p:cNvSpPr>
          <p:nvPr/>
        </p:nvSpPr>
        <p:spPr bwMode="auto">
          <a:xfrm>
            <a:off x="4389438" y="3046413"/>
            <a:ext cx="681037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lnSpc>
                <a:spcPct val="85000"/>
              </a:lnSpc>
            </a:pPr>
            <a:r>
              <a:rPr lang="en-US" altLang="zh-CN" sz="1800">
                <a:latin typeface="Courier New" charset="0"/>
              </a:rPr>
              <a:t>PTEA</a:t>
            </a:r>
          </a:p>
        </p:txBody>
      </p:sp>
      <p:sp>
        <p:nvSpPr>
          <p:cNvPr id="134154" name="Text Box 73"/>
          <p:cNvSpPr txBox="1">
            <a:spLocks noChangeArrowheads="1"/>
          </p:cNvSpPr>
          <p:nvPr/>
        </p:nvSpPr>
        <p:spPr bwMode="auto">
          <a:xfrm>
            <a:off x="4111625" y="1873250"/>
            <a:ext cx="5984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r>
              <a:rPr lang="en-US" altLang="zh-CN" sz="1800">
                <a:latin typeface="Courier New" charset="0"/>
              </a:rPr>
              <a:t>PTE</a:t>
            </a:r>
          </a:p>
        </p:txBody>
      </p:sp>
      <p:sp>
        <p:nvSpPr>
          <p:cNvPr id="13" name="Line 74"/>
          <p:cNvSpPr>
            <a:spLocks noChangeShapeType="1"/>
          </p:cNvSpPr>
          <p:nvPr/>
        </p:nvSpPr>
        <p:spPr bwMode="auto">
          <a:xfrm flipV="1">
            <a:off x="4111625" y="3333750"/>
            <a:ext cx="1189038" cy="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+mn-lt"/>
              <a:ea typeface="宋体" panose="02010600030101010101" pitchFamily="2" charset="-122"/>
            </a:endParaRPr>
          </a:p>
        </p:txBody>
      </p:sp>
      <p:sp>
        <p:nvSpPr>
          <p:cNvPr id="134156" name="Rectangle 75"/>
          <p:cNvSpPr>
            <a:spLocks noChangeArrowheads="1"/>
          </p:cNvSpPr>
          <p:nvPr/>
        </p:nvSpPr>
        <p:spPr bwMode="auto">
          <a:xfrm>
            <a:off x="4518025" y="3687763"/>
            <a:ext cx="404813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lnSpc>
                <a:spcPct val="85000"/>
              </a:lnSpc>
            </a:pPr>
            <a:r>
              <a:rPr lang="en-US" altLang="zh-CN" sz="1800">
                <a:latin typeface="Courier New" charset="0"/>
              </a:rPr>
              <a:t>PA</a:t>
            </a:r>
          </a:p>
        </p:txBody>
      </p:sp>
      <p:sp>
        <p:nvSpPr>
          <p:cNvPr id="15" name="Line 76"/>
          <p:cNvSpPr>
            <a:spLocks noChangeShapeType="1"/>
          </p:cNvSpPr>
          <p:nvPr/>
        </p:nvSpPr>
        <p:spPr bwMode="auto">
          <a:xfrm flipH="1">
            <a:off x="1501775" y="5013325"/>
            <a:ext cx="3568700" cy="0"/>
          </a:xfrm>
          <a:prstGeom prst="line">
            <a:avLst/>
          </a:prstGeom>
          <a:noFill/>
          <a:ln w="12700">
            <a:solidFill>
              <a:srgbClr val="7030A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+mn-lt"/>
              <a:ea typeface="宋体" panose="02010600030101010101" pitchFamily="2" charset="-122"/>
            </a:endParaRPr>
          </a:p>
        </p:txBody>
      </p:sp>
      <p:sp>
        <p:nvSpPr>
          <p:cNvPr id="134158" name="Text Box 77"/>
          <p:cNvSpPr txBox="1">
            <a:spLocks noChangeArrowheads="1"/>
          </p:cNvSpPr>
          <p:nvPr/>
        </p:nvSpPr>
        <p:spPr bwMode="auto">
          <a:xfrm>
            <a:off x="3063875" y="4937125"/>
            <a:ext cx="7366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r>
              <a:rPr lang="en-US" altLang="zh-CN" sz="1800">
                <a:latin typeface="Courier New" charset="0"/>
              </a:rPr>
              <a:t>Data</a:t>
            </a:r>
          </a:p>
        </p:txBody>
      </p:sp>
      <p:sp>
        <p:nvSpPr>
          <p:cNvPr id="17" name="Line 78"/>
          <p:cNvSpPr>
            <a:spLocks noChangeShapeType="1"/>
          </p:cNvSpPr>
          <p:nvPr/>
        </p:nvSpPr>
        <p:spPr bwMode="auto">
          <a:xfrm flipV="1">
            <a:off x="4168775" y="3946525"/>
            <a:ext cx="1162050" cy="0"/>
          </a:xfrm>
          <a:prstGeom prst="line">
            <a:avLst/>
          </a:prstGeom>
          <a:noFill/>
          <a:ln w="12700">
            <a:solidFill>
              <a:srgbClr val="7030A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+mn-lt"/>
              <a:ea typeface="宋体" panose="02010600030101010101" pitchFamily="2" charset="-122"/>
            </a:endParaRPr>
          </a:p>
        </p:txBody>
      </p:sp>
      <p:sp>
        <p:nvSpPr>
          <p:cNvPr id="18" name="Rectangle 81"/>
          <p:cNvSpPr>
            <a:spLocks noChangeArrowheads="1"/>
          </p:cNvSpPr>
          <p:nvPr/>
        </p:nvSpPr>
        <p:spPr bwMode="auto">
          <a:xfrm>
            <a:off x="7396163" y="2544763"/>
            <a:ext cx="1077912" cy="2119312"/>
          </a:xfrm>
          <a:prstGeom prst="rect">
            <a:avLst/>
          </a:prstGeom>
          <a:solidFill>
            <a:srgbClr val="F5F5F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sz="1800" b="0">
                <a:latin typeface="+mn-lt"/>
                <a:ea typeface="宋体" panose="02010600030101010101" pitchFamily="2" charset="-122"/>
              </a:rPr>
              <a:t>Memory</a:t>
            </a:r>
          </a:p>
        </p:txBody>
      </p:sp>
      <p:sp>
        <p:nvSpPr>
          <p:cNvPr id="19" name="Line 82"/>
          <p:cNvSpPr>
            <a:spLocks noChangeShapeType="1"/>
          </p:cNvSpPr>
          <p:nvPr/>
        </p:nvSpPr>
        <p:spPr bwMode="auto">
          <a:xfrm>
            <a:off x="6237288" y="3946525"/>
            <a:ext cx="1177925" cy="0"/>
          </a:xfrm>
          <a:prstGeom prst="line">
            <a:avLst/>
          </a:prstGeom>
          <a:noFill/>
          <a:ln w="12700">
            <a:solidFill>
              <a:srgbClr val="7030A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+mn-lt"/>
              <a:ea typeface="宋体" panose="02010600030101010101" pitchFamily="2" charset="-122"/>
            </a:endParaRPr>
          </a:p>
        </p:txBody>
      </p:sp>
      <p:sp>
        <p:nvSpPr>
          <p:cNvPr id="134162" name="Text Box 83"/>
          <p:cNvSpPr txBox="1">
            <a:spLocks noChangeArrowheads="1"/>
          </p:cNvSpPr>
          <p:nvPr/>
        </p:nvSpPr>
        <p:spPr bwMode="auto">
          <a:xfrm>
            <a:off x="6575425" y="3625850"/>
            <a:ext cx="4619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r>
              <a:rPr lang="en-US" altLang="zh-CN" sz="1800">
                <a:latin typeface="Courier New" charset="0"/>
              </a:rPr>
              <a:t>PA</a:t>
            </a:r>
          </a:p>
        </p:txBody>
      </p:sp>
      <p:sp>
        <p:nvSpPr>
          <p:cNvPr id="134163" name="Text Box 84"/>
          <p:cNvSpPr txBox="1">
            <a:spLocks noChangeArrowheads="1"/>
          </p:cNvSpPr>
          <p:nvPr/>
        </p:nvSpPr>
        <p:spPr bwMode="auto">
          <a:xfrm>
            <a:off x="5711825" y="3668713"/>
            <a:ext cx="6127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r"/>
            <a:r>
              <a:rPr lang="en-US" altLang="zh-CN" sz="1400">
                <a:latin typeface="Courier New" charset="0"/>
              </a:rPr>
              <a:t>PA</a:t>
            </a:r>
          </a:p>
          <a:p>
            <a:pPr algn="r"/>
            <a:r>
              <a:rPr lang="en-US" altLang="zh-CN" sz="1400">
                <a:latin typeface="Courier New" charset="0"/>
              </a:rPr>
              <a:t>miss</a:t>
            </a:r>
          </a:p>
        </p:txBody>
      </p:sp>
      <p:sp>
        <p:nvSpPr>
          <p:cNvPr id="134164" name="Rectangle 85"/>
          <p:cNvSpPr>
            <a:spLocks noChangeArrowheads="1"/>
          </p:cNvSpPr>
          <p:nvPr/>
        </p:nvSpPr>
        <p:spPr bwMode="auto">
          <a:xfrm>
            <a:off x="6473825" y="2986088"/>
            <a:ext cx="681038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lnSpc>
                <a:spcPct val="85000"/>
              </a:lnSpc>
            </a:pPr>
            <a:r>
              <a:rPr lang="en-US" altLang="zh-CN" sz="1800">
                <a:latin typeface="Courier New" charset="0"/>
              </a:rPr>
              <a:t>PTEA</a:t>
            </a:r>
          </a:p>
        </p:txBody>
      </p:sp>
      <p:sp>
        <p:nvSpPr>
          <p:cNvPr id="134165" name="Text Box 86"/>
          <p:cNvSpPr txBox="1">
            <a:spLocks noChangeArrowheads="1"/>
          </p:cNvSpPr>
          <p:nvPr/>
        </p:nvSpPr>
        <p:spPr bwMode="auto">
          <a:xfrm>
            <a:off x="5689600" y="2998788"/>
            <a:ext cx="6127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r"/>
            <a:r>
              <a:rPr lang="en-US" altLang="zh-CN" sz="1400">
                <a:latin typeface="Courier New" charset="0"/>
              </a:rPr>
              <a:t>PTEA</a:t>
            </a:r>
          </a:p>
          <a:p>
            <a:pPr algn="r"/>
            <a:r>
              <a:rPr lang="en-US" altLang="zh-CN" sz="1400">
                <a:latin typeface="Courier New" charset="0"/>
              </a:rPr>
              <a:t>miss</a:t>
            </a:r>
          </a:p>
        </p:txBody>
      </p:sp>
      <p:sp>
        <p:nvSpPr>
          <p:cNvPr id="24" name="Line 87"/>
          <p:cNvSpPr>
            <a:spLocks noChangeShapeType="1"/>
          </p:cNvSpPr>
          <p:nvPr/>
        </p:nvSpPr>
        <p:spPr bwMode="auto">
          <a:xfrm flipH="1">
            <a:off x="3627438" y="2195513"/>
            <a:ext cx="1443037" cy="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+mn-lt"/>
              <a:ea typeface="宋体" panose="02010600030101010101" pitchFamily="2" charset="-122"/>
            </a:endParaRPr>
          </a:p>
        </p:txBody>
      </p:sp>
      <p:sp>
        <p:nvSpPr>
          <p:cNvPr id="25" name="Line 88"/>
          <p:cNvSpPr>
            <a:spLocks noChangeShapeType="1"/>
          </p:cNvSpPr>
          <p:nvPr/>
        </p:nvSpPr>
        <p:spPr bwMode="auto">
          <a:xfrm flipV="1">
            <a:off x="3627438" y="2195513"/>
            <a:ext cx="0" cy="34925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+mn-lt"/>
              <a:ea typeface="宋体" panose="02010600030101010101" pitchFamily="2" charset="-122"/>
            </a:endParaRPr>
          </a:p>
        </p:txBody>
      </p:sp>
      <p:sp>
        <p:nvSpPr>
          <p:cNvPr id="26" name="Line 89"/>
          <p:cNvSpPr>
            <a:spLocks noChangeShapeType="1"/>
          </p:cNvSpPr>
          <p:nvPr/>
        </p:nvSpPr>
        <p:spPr bwMode="auto">
          <a:xfrm flipH="1">
            <a:off x="5070475" y="2727325"/>
            <a:ext cx="241300" cy="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+mn-lt"/>
              <a:ea typeface="宋体" panose="02010600030101010101" pitchFamily="2" charset="-122"/>
            </a:endParaRPr>
          </a:p>
        </p:txBody>
      </p:sp>
      <p:sp>
        <p:nvSpPr>
          <p:cNvPr id="27" name="Line 90"/>
          <p:cNvSpPr>
            <a:spLocks noChangeShapeType="1"/>
          </p:cNvSpPr>
          <p:nvPr/>
        </p:nvSpPr>
        <p:spPr bwMode="auto">
          <a:xfrm flipV="1">
            <a:off x="5070475" y="2195513"/>
            <a:ext cx="0" cy="531812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+mn-lt"/>
              <a:ea typeface="宋体" panose="02010600030101010101" pitchFamily="2" charset="-122"/>
            </a:endParaRPr>
          </a:p>
        </p:txBody>
      </p:sp>
      <p:sp>
        <p:nvSpPr>
          <p:cNvPr id="134170" name="Text Box 91"/>
          <p:cNvSpPr txBox="1">
            <a:spLocks noChangeArrowheads="1"/>
          </p:cNvSpPr>
          <p:nvPr/>
        </p:nvSpPr>
        <p:spPr bwMode="auto">
          <a:xfrm>
            <a:off x="5314950" y="2495550"/>
            <a:ext cx="7207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r>
              <a:rPr lang="en-US" altLang="zh-CN" sz="1400">
                <a:latin typeface="Courier New" charset="0"/>
              </a:rPr>
              <a:t>PTEA </a:t>
            </a:r>
          </a:p>
          <a:p>
            <a:r>
              <a:rPr lang="en-US" altLang="zh-CN" sz="1400">
                <a:latin typeface="Courier New" charset="0"/>
              </a:rPr>
              <a:t>hit</a:t>
            </a:r>
          </a:p>
        </p:txBody>
      </p:sp>
      <p:sp>
        <p:nvSpPr>
          <p:cNvPr id="29" name="Line 92"/>
          <p:cNvSpPr>
            <a:spLocks noChangeShapeType="1"/>
          </p:cNvSpPr>
          <p:nvPr/>
        </p:nvSpPr>
        <p:spPr bwMode="auto">
          <a:xfrm flipH="1">
            <a:off x="5070475" y="4479925"/>
            <a:ext cx="241300" cy="0"/>
          </a:xfrm>
          <a:prstGeom prst="line">
            <a:avLst/>
          </a:prstGeom>
          <a:noFill/>
          <a:ln w="12700">
            <a:solidFill>
              <a:srgbClr val="7030A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+mn-lt"/>
              <a:ea typeface="宋体" panose="02010600030101010101" pitchFamily="2" charset="-122"/>
            </a:endParaRPr>
          </a:p>
        </p:txBody>
      </p:sp>
      <p:sp>
        <p:nvSpPr>
          <p:cNvPr id="30" name="Line 93"/>
          <p:cNvSpPr>
            <a:spLocks noChangeShapeType="1"/>
          </p:cNvSpPr>
          <p:nvPr/>
        </p:nvSpPr>
        <p:spPr bwMode="auto">
          <a:xfrm flipH="1" flipV="1">
            <a:off x="5070475" y="4479925"/>
            <a:ext cx="0" cy="533400"/>
          </a:xfrm>
          <a:prstGeom prst="line">
            <a:avLst/>
          </a:prstGeom>
          <a:noFill/>
          <a:ln w="12700">
            <a:solidFill>
              <a:srgbClr val="7030A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+mn-lt"/>
              <a:ea typeface="宋体" panose="02010600030101010101" pitchFamily="2" charset="-122"/>
            </a:endParaRPr>
          </a:p>
        </p:txBody>
      </p:sp>
      <p:sp>
        <p:nvSpPr>
          <p:cNvPr id="134173" name="Text Box 94"/>
          <p:cNvSpPr txBox="1">
            <a:spLocks noChangeArrowheads="1"/>
          </p:cNvSpPr>
          <p:nvPr/>
        </p:nvSpPr>
        <p:spPr bwMode="auto">
          <a:xfrm>
            <a:off x="5300663" y="4162425"/>
            <a:ext cx="5064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r>
              <a:rPr lang="en-US" altLang="zh-CN" sz="1400">
                <a:latin typeface="Courier New" charset="0"/>
              </a:rPr>
              <a:t>PA </a:t>
            </a:r>
          </a:p>
          <a:p>
            <a:r>
              <a:rPr lang="en-US" altLang="zh-CN" sz="1400">
                <a:latin typeface="Courier New" charset="0"/>
              </a:rPr>
              <a:t>hit</a:t>
            </a:r>
          </a:p>
        </p:txBody>
      </p:sp>
      <p:sp>
        <p:nvSpPr>
          <p:cNvPr id="32" name="Line 95"/>
          <p:cNvSpPr>
            <a:spLocks noChangeShapeType="1"/>
          </p:cNvSpPr>
          <p:nvPr/>
        </p:nvSpPr>
        <p:spPr bwMode="auto">
          <a:xfrm flipV="1">
            <a:off x="6253163" y="3333750"/>
            <a:ext cx="1143000" cy="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+mn-lt"/>
              <a:ea typeface="宋体" panose="02010600030101010101" pitchFamily="2" charset="-122"/>
            </a:endParaRPr>
          </a:p>
        </p:txBody>
      </p:sp>
      <p:sp>
        <p:nvSpPr>
          <p:cNvPr id="33" name="Line 96"/>
          <p:cNvSpPr>
            <a:spLocks noChangeShapeType="1"/>
          </p:cNvSpPr>
          <p:nvPr/>
        </p:nvSpPr>
        <p:spPr bwMode="auto">
          <a:xfrm flipH="1">
            <a:off x="6237288" y="4479925"/>
            <a:ext cx="1171575" cy="0"/>
          </a:xfrm>
          <a:prstGeom prst="line">
            <a:avLst/>
          </a:prstGeom>
          <a:noFill/>
          <a:ln w="12700">
            <a:solidFill>
              <a:srgbClr val="7030A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+mn-lt"/>
              <a:ea typeface="宋体" panose="02010600030101010101" pitchFamily="2" charset="-122"/>
            </a:endParaRPr>
          </a:p>
        </p:txBody>
      </p:sp>
      <p:sp>
        <p:nvSpPr>
          <p:cNvPr id="134176" name="Text Box 97"/>
          <p:cNvSpPr txBox="1">
            <a:spLocks noChangeArrowheads="1"/>
          </p:cNvSpPr>
          <p:nvPr/>
        </p:nvSpPr>
        <p:spPr bwMode="auto">
          <a:xfrm>
            <a:off x="6497638" y="4159250"/>
            <a:ext cx="7366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r>
              <a:rPr lang="en-US" altLang="zh-CN" sz="1800">
                <a:latin typeface="Courier New" charset="0"/>
              </a:rPr>
              <a:t>Data</a:t>
            </a:r>
          </a:p>
        </p:txBody>
      </p:sp>
      <p:sp>
        <p:nvSpPr>
          <p:cNvPr id="35" name="Line 98"/>
          <p:cNvSpPr>
            <a:spLocks noChangeShapeType="1"/>
          </p:cNvSpPr>
          <p:nvPr/>
        </p:nvSpPr>
        <p:spPr bwMode="auto">
          <a:xfrm flipH="1">
            <a:off x="6224588" y="2727325"/>
            <a:ext cx="1171575" cy="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+mn-lt"/>
              <a:ea typeface="宋体" panose="02010600030101010101" pitchFamily="2" charset="-122"/>
            </a:endParaRPr>
          </a:p>
        </p:txBody>
      </p:sp>
      <p:sp>
        <p:nvSpPr>
          <p:cNvPr id="134178" name="Text Box 99"/>
          <p:cNvSpPr txBox="1">
            <a:spLocks noChangeArrowheads="1"/>
          </p:cNvSpPr>
          <p:nvPr/>
        </p:nvSpPr>
        <p:spPr bwMode="auto">
          <a:xfrm>
            <a:off x="6515100" y="2374900"/>
            <a:ext cx="5984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r>
              <a:rPr lang="en-US" altLang="zh-CN" sz="1800">
                <a:latin typeface="Courier New" charset="0"/>
              </a:rPr>
              <a:t>PTE</a:t>
            </a:r>
          </a:p>
        </p:txBody>
      </p:sp>
      <p:sp>
        <p:nvSpPr>
          <p:cNvPr id="37" name="Text Box 100"/>
          <p:cNvSpPr txBox="1">
            <a:spLocks noChangeArrowheads="1"/>
          </p:cNvSpPr>
          <p:nvPr/>
        </p:nvSpPr>
        <p:spPr bwMode="auto">
          <a:xfrm>
            <a:off x="5367338" y="4691063"/>
            <a:ext cx="812800" cy="6461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defRPr/>
            </a:pPr>
            <a:r>
              <a:rPr lang="en-US" sz="1800" b="0" dirty="0">
                <a:latin typeface="+mn-lt"/>
                <a:ea typeface="宋体" panose="02010600030101010101" pitchFamily="2" charset="-122"/>
              </a:rPr>
              <a:t>L1</a:t>
            </a:r>
          </a:p>
          <a:p>
            <a:pPr algn="ctr">
              <a:defRPr/>
            </a:pPr>
            <a:r>
              <a:rPr lang="en-US" sz="1800" b="0" dirty="0">
                <a:latin typeface="+mn-lt"/>
                <a:ea typeface="宋体" panose="02010600030101010101" pitchFamily="2" charset="-122"/>
              </a:rPr>
              <a:t>cache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1675" y="2346325"/>
            <a:ext cx="1249363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宋体" panose="02010600030101010101" pitchFamily="2" charset="-122"/>
              </a:rPr>
              <a:t>CPU Chip</a:t>
            </a:r>
          </a:p>
        </p:txBody>
      </p:sp>
      <p:sp>
        <p:nvSpPr>
          <p:cNvPr id="134181" name="Rectangle 2"/>
          <p:cNvSpPr txBox="1">
            <a:spLocks noChangeArrowheads="1"/>
          </p:cNvSpPr>
          <p:nvPr/>
        </p:nvSpPr>
        <p:spPr bwMode="auto">
          <a:xfrm>
            <a:off x="457200" y="457200"/>
            <a:ext cx="80772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r>
              <a:rPr lang="en-US" altLang="zh-CN" sz="2800" dirty="0">
                <a:solidFill>
                  <a:schemeClr val="tx2"/>
                </a:solidFill>
              </a:rPr>
              <a:t>Integrating Caches and VM</a:t>
            </a:r>
          </a:p>
        </p:txBody>
      </p:sp>
      <p:sp>
        <p:nvSpPr>
          <p:cNvPr id="2" name="矩形 1"/>
          <p:cNvSpPr/>
          <p:nvPr/>
        </p:nvSpPr>
        <p:spPr>
          <a:xfrm>
            <a:off x="1527442" y="5693809"/>
            <a:ext cx="69894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tx2"/>
                </a:solidFill>
              </a:rPr>
              <a:t>实际系统，有</a:t>
            </a:r>
            <a:r>
              <a:rPr lang="en-US" altLang="zh-CN" dirty="0">
                <a:solidFill>
                  <a:schemeClr val="tx2"/>
                </a:solidFill>
              </a:rPr>
              <a:t>TLB</a:t>
            </a:r>
            <a:r>
              <a:rPr lang="zh-CN" altLang="en-US" dirty="0">
                <a:solidFill>
                  <a:schemeClr val="tx2"/>
                </a:solidFill>
              </a:rPr>
              <a:t>专门作为</a:t>
            </a:r>
            <a:r>
              <a:rPr lang="en-US" altLang="zh-CN" dirty="0">
                <a:solidFill>
                  <a:schemeClr val="tx2"/>
                </a:solidFill>
              </a:rPr>
              <a:t>page table</a:t>
            </a:r>
            <a:r>
              <a:rPr lang="zh-CN" altLang="en-US" dirty="0">
                <a:solidFill>
                  <a:schemeClr val="tx2"/>
                </a:solidFill>
              </a:rPr>
              <a:t>的缓存（后续介绍）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710819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Paging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Page table</a:t>
            </a:r>
            <a:r>
              <a:rPr lang="zh-CN" altLang="en-US" dirty="0"/>
              <a:t>开销计算</a:t>
            </a:r>
            <a:endParaRPr lang="en-US" altLang="zh-CN" dirty="0"/>
          </a:p>
          <a:p>
            <a:pPr lvl="1"/>
            <a:r>
              <a:rPr kumimoji="1" lang="zh-CN" altLang="en-US" dirty="0"/>
              <a:t>例如</a:t>
            </a:r>
            <a:r>
              <a:rPr lang="en-US" altLang="zh-CN" dirty="0"/>
              <a:t>32</a:t>
            </a:r>
            <a:r>
              <a:rPr lang="zh-CN" altLang="en-US" dirty="0"/>
              <a:t>位计算机，</a:t>
            </a:r>
            <a:r>
              <a:rPr lang="en-US" altLang="zh-CN" dirty="0"/>
              <a:t>page</a:t>
            </a:r>
            <a:r>
              <a:rPr lang="zh-CN" altLang="en-US" dirty="0"/>
              <a:t>大小为</a:t>
            </a:r>
            <a:r>
              <a:rPr lang="en-US" altLang="zh-CN" dirty="0"/>
              <a:t>4KB</a:t>
            </a:r>
          </a:p>
          <a:p>
            <a:pPr lvl="1"/>
            <a:r>
              <a:rPr lang="zh-CN" altLang="en-US" dirty="0"/>
              <a:t>所以</a:t>
            </a:r>
            <a:r>
              <a:rPr lang="en-US" altLang="zh-CN" dirty="0"/>
              <a:t>VPN 20</a:t>
            </a:r>
            <a:r>
              <a:rPr lang="zh-CN" altLang="en-US" dirty="0"/>
              <a:t>位，</a:t>
            </a:r>
            <a:r>
              <a:rPr lang="en-US" altLang="zh-CN" dirty="0"/>
              <a:t>offset 12</a:t>
            </a:r>
            <a:r>
              <a:rPr lang="zh-CN" altLang="en-US" dirty="0"/>
              <a:t>位</a:t>
            </a:r>
            <a:endParaRPr lang="en-US" altLang="zh-CN" dirty="0"/>
          </a:p>
          <a:p>
            <a:pPr lvl="1"/>
            <a:r>
              <a:rPr kumimoji="1" lang="zh-CN" altLang="en-US" dirty="0"/>
              <a:t>每个</a:t>
            </a:r>
            <a:r>
              <a:rPr kumimoji="1" lang="en-US" altLang="zh-CN" dirty="0"/>
              <a:t>page table entry (PTE)</a:t>
            </a:r>
            <a:r>
              <a:rPr kumimoji="1" lang="zh-CN" altLang="en-US" dirty="0"/>
              <a:t>是</a:t>
            </a:r>
            <a:r>
              <a:rPr kumimoji="1" lang="en-US" altLang="zh-CN" dirty="0"/>
              <a:t>4B</a:t>
            </a:r>
          </a:p>
          <a:p>
            <a:pPr lvl="1"/>
            <a:r>
              <a:rPr lang="zh-CN" altLang="en-US" dirty="0"/>
              <a:t>假设有</a:t>
            </a:r>
            <a:r>
              <a:rPr lang="en-US" altLang="zh-CN" dirty="0"/>
              <a:t>100</a:t>
            </a:r>
            <a:r>
              <a:rPr lang="zh-CN" altLang="en-US" dirty="0"/>
              <a:t>个进程同时在运行</a:t>
            </a:r>
            <a:endParaRPr lang="en-US" altLang="zh-CN" dirty="0"/>
          </a:p>
          <a:p>
            <a:pPr lvl="1"/>
            <a:r>
              <a:rPr lang="zh-CN" altLang="en-US" dirty="0"/>
              <a:t>则</a:t>
            </a:r>
            <a:r>
              <a:rPr lang="en-US" altLang="zh-CN" dirty="0"/>
              <a:t>page</a:t>
            </a:r>
            <a:r>
              <a:rPr lang="zh-CN" altLang="en-US" dirty="0"/>
              <a:t> </a:t>
            </a:r>
            <a:r>
              <a:rPr lang="en-US" altLang="zh-CN" dirty="0"/>
              <a:t>table</a:t>
            </a:r>
            <a:r>
              <a:rPr lang="zh-CN" altLang="en-US" dirty="0"/>
              <a:t>总大小为</a:t>
            </a:r>
            <a:r>
              <a:rPr lang="en-US" altLang="zh-CN" dirty="0"/>
              <a:t>100</a:t>
            </a:r>
            <a:r>
              <a:rPr lang="zh-CN" altLang="en-US" dirty="0"/>
              <a:t>*</a:t>
            </a:r>
            <a:r>
              <a:rPr lang="en-US" altLang="zh-CN" dirty="0"/>
              <a:t>4B*2</a:t>
            </a:r>
            <a:r>
              <a:rPr lang="en-US" altLang="zh-CN" baseline="30000" dirty="0"/>
              <a:t>20</a:t>
            </a:r>
            <a:r>
              <a:rPr lang="en-US" altLang="zh-CN" dirty="0"/>
              <a:t>=400MB</a:t>
            </a:r>
          </a:p>
          <a:p>
            <a:pPr lvl="1"/>
            <a:r>
              <a:rPr lang="zh-CN" altLang="en-US" dirty="0"/>
              <a:t>非常</a:t>
            </a:r>
            <a:r>
              <a:rPr kumimoji="1" lang="zh-CN" altLang="en-US" dirty="0"/>
              <a:t>庞大！</a:t>
            </a:r>
            <a:endParaRPr kumimoji="1" lang="en-US" alt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B01C9-CC9E-4042-87A9-F49D20F0019F}" type="slidenum">
              <a:rPr lang="zh-CN" altLang="en-US" smtClean="0"/>
              <a:pPr/>
              <a:t>37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3741029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Paging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1" indent="-342900">
              <a:buFontTx/>
              <a:buChar char="•"/>
            </a:pPr>
            <a:r>
              <a:rPr lang="en-US" altLang="zh-CN" dirty="0"/>
              <a:t>Page Table</a:t>
            </a:r>
          </a:p>
          <a:p>
            <a:pPr marL="742950" lvl="2" indent="-342900"/>
            <a:r>
              <a:rPr lang="zh-CN" altLang="en-US" dirty="0"/>
              <a:t>没办法在</a:t>
            </a:r>
            <a:r>
              <a:rPr lang="en-US" altLang="zh-CN" dirty="0"/>
              <a:t>MMU</a:t>
            </a:r>
            <a:r>
              <a:rPr lang="zh-CN" altLang="en-US" dirty="0"/>
              <a:t>硬件上存储，只能放在</a:t>
            </a:r>
            <a:r>
              <a:rPr lang="en-US" altLang="zh-CN" dirty="0"/>
              <a:t>main memory</a:t>
            </a:r>
            <a:r>
              <a:rPr lang="zh-CN" altLang="en-US" dirty="0"/>
              <a:t>中</a:t>
            </a:r>
          </a:p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B01C9-CC9E-4042-87A9-F49D20F0019F}" type="slidenum">
              <a:rPr lang="zh-CN" altLang="en-US" smtClean="0"/>
              <a:pPr/>
              <a:t>38</a:t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4999" y="2394987"/>
            <a:ext cx="5061131" cy="4234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9820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Paging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真实的</a:t>
            </a:r>
            <a:r>
              <a:rPr lang="en-US" altLang="zh-CN" dirty="0"/>
              <a:t>page table entry (PTE)</a:t>
            </a:r>
          </a:p>
          <a:p>
            <a:pPr lvl="1"/>
            <a:r>
              <a:rPr lang="en-US" altLang="zh-CN" dirty="0"/>
              <a:t>valid bit </a:t>
            </a:r>
          </a:p>
          <a:p>
            <a:pPr lvl="1"/>
            <a:r>
              <a:rPr lang="en-US" altLang="zh-CN" dirty="0"/>
              <a:t>protection bits (R/W) </a:t>
            </a:r>
            <a:r>
              <a:rPr lang="zh-CN" altLang="en-US" dirty="0"/>
              <a:t>（</a:t>
            </a:r>
            <a:r>
              <a:rPr lang="en-US" altLang="zh-CN" dirty="0"/>
              <a:t>r/w/e</a:t>
            </a:r>
            <a:r>
              <a:rPr lang="zh-CN" altLang="en-US" dirty="0"/>
              <a:t>权限）</a:t>
            </a:r>
            <a:endParaRPr lang="en-US" altLang="zh-CN" dirty="0"/>
          </a:p>
          <a:p>
            <a:pPr lvl="1"/>
            <a:r>
              <a:rPr lang="en-US" altLang="zh-CN" dirty="0"/>
              <a:t>present bit (P) </a:t>
            </a:r>
            <a:r>
              <a:rPr lang="zh-CN" altLang="en-US" dirty="0"/>
              <a:t>（</a:t>
            </a:r>
            <a:r>
              <a:rPr lang="en-US" altLang="zh-CN" dirty="0"/>
              <a:t>on disk/</a:t>
            </a:r>
            <a:r>
              <a:rPr lang="zh-CN" altLang="en-US" dirty="0"/>
              <a:t> </a:t>
            </a:r>
            <a:r>
              <a:rPr lang="en-US" altLang="zh-CN" dirty="0"/>
              <a:t>in physical memory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en-US" altLang="zh-CN" dirty="0"/>
              <a:t>dirty bit (D)</a:t>
            </a:r>
            <a:r>
              <a:rPr lang="zh-CN" altLang="en-US" dirty="0"/>
              <a:t>（与</a:t>
            </a:r>
            <a:r>
              <a:rPr lang="en-US" altLang="zh-CN" dirty="0"/>
              <a:t>disk</a:t>
            </a:r>
            <a:r>
              <a:rPr lang="zh-CN" altLang="en-US" dirty="0"/>
              <a:t>版本是否一致）</a:t>
            </a:r>
            <a:endParaRPr lang="en-US" altLang="zh-CN" dirty="0"/>
          </a:p>
          <a:p>
            <a:pPr lvl="1"/>
            <a:r>
              <a:rPr lang="en-US" altLang="zh-CN" dirty="0"/>
              <a:t>reference bit/accessed bit (A)</a:t>
            </a:r>
            <a:r>
              <a:rPr lang="zh-CN" altLang="en-US" dirty="0"/>
              <a:t>（体现</a:t>
            </a:r>
            <a:r>
              <a:rPr lang="en-US" altLang="zh-CN" dirty="0"/>
              <a:t>page</a:t>
            </a:r>
            <a:r>
              <a:rPr lang="zh-CN" altLang="en-US" dirty="0"/>
              <a:t>的流行度，与</a:t>
            </a:r>
            <a:r>
              <a:rPr lang="en-US" altLang="zh-CN" dirty="0"/>
              <a:t>replacement</a:t>
            </a:r>
            <a:r>
              <a:rPr lang="zh-CN" altLang="en-US" dirty="0"/>
              <a:t>有关）</a:t>
            </a:r>
            <a:endParaRPr lang="en-US" altLang="zh-CN" dirty="0"/>
          </a:p>
          <a:p>
            <a:pPr lvl="1"/>
            <a:r>
              <a:rPr lang="en-US" altLang="zh-CN" dirty="0"/>
              <a:t>U/S: user/supervisor</a:t>
            </a:r>
            <a:r>
              <a:rPr lang="zh-CN" altLang="en-US" dirty="0"/>
              <a:t>，用户态是否可以访问</a:t>
            </a:r>
            <a:endParaRPr lang="en-US" altLang="zh-CN" dirty="0"/>
          </a:p>
          <a:p>
            <a:pPr lvl="1"/>
            <a:r>
              <a:rPr lang="en-US" altLang="zh-CN" dirty="0"/>
              <a:t>PAT/PWT/PCD/G: </a:t>
            </a:r>
            <a:r>
              <a:rPr lang="zh-CN" altLang="en-US" dirty="0"/>
              <a:t>与硬件</a:t>
            </a:r>
            <a:r>
              <a:rPr lang="en-US" altLang="zh-CN" dirty="0"/>
              <a:t>cache</a:t>
            </a:r>
            <a:r>
              <a:rPr lang="zh-CN" altLang="en-US" dirty="0"/>
              <a:t>相关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B01C9-CC9E-4042-87A9-F49D20F0019F}" type="slidenum">
              <a:rPr lang="zh-CN" altLang="en-US" smtClean="0"/>
              <a:pPr/>
              <a:t>39</a:t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250" y="5759231"/>
            <a:ext cx="8547100" cy="90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77151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Paging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地址翻译实例</a:t>
            </a:r>
            <a:endParaRPr kumimoji="1" lang="en-US" altLang="zh-CN" dirty="0"/>
          </a:p>
          <a:p>
            <a:pPr lvl="1"/>
            <a:r>
              <a:rPr lang="en-US" altLang="zh-CN" dirty="0" err="1"/>
              <a:t>Movl</a:t>
            </a:r>
            <a:r>
              <a:rPr lang="en-US" altLang="zh-CN" dirty="0"/>
              <a:t> 21, %</a:t>
            </a:r>
            <a:r>
              <a:rPr lang="en-US" altLang="zh-CN" dirty="0" err="1"/>
              <a:t>eax</a:t>
            </a:r>
            <a:r>
              <a:rPr lang="zh-CN" altLang="en-US" dirty="0"/>
              <a:t>（直接寻址</a:t>
            </a:r>
            <a:r>
              <a:rPr lang="en-US" altLang="zh-CN" dirty="0"/>
              <a:t>21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kumimoji="1" lang="zh-CN" altLang="en-US" dirty="0"/>
              <a:t>假设有</a:t>
            </a:r>
            <a:r>
              <a:rPr kumimoji="1" lang="en-US" altLang="zh-CN" dirty="0"/>
              <a:t>page-table base register</a:t>
            </a:r>
            <a:r>
              <a:rPr kumimoji="1" lang="zh-CN" altLang="en-US" dirty="0"/>
              <a:t>，存储当前进程</a:t>
            </a:r>
            <a:r>
              <a:rPr kumimoji="1" lang="en-US" altLang="zh-CN" dirty="0"/>
              <a:t>page table</a:t>
            </a:r>
            <a:r>
              <a:rPr kumimoji="1" lang="zh-CN" altLang="en-US" dirty="0"/>
              <a:t>首</a:t>
            </a:r>
            <a:r>
              <a:rPr lang="zh-CN" altLang="en-US" dirty="0"/>
              <a:t>地址</a:t>
            </a:r>
            <a:endParaRPr lang="en-US" altLang="zh-CN" dirty="0"/>
          </a:p>
          <a:p>
            <a:pPr lvl="1"/>
            <a:r>
              <a:rPr lang="zh-CN" altLang="en-US" dirty="0"/>
              <a:t>获取</a:t>
            </a:r>
            <a:r>
              <a:rPr lang="en-US" altLang="zh-CN" dirty="0"/>
              <a:t>PTE</a:t>
            </a:r>
            <a:r>
              <a:rPr lang="zh-CN" altLang="en-US" dirty="0"/>
              <a:t>地址</a:t>
            </a:r>
            <a:endParaRPr lang="en-US" altLang="zh-CN" dirty="0"/>
          </a:p>
          <a:p>
            <a:pPr lvl="2"/>
            <a:r>
              <a:rPr lang="en-US" altLang="zh-CN" dirty="0"/>
              <a:t>VPN_MASK = 0x30 (hex 30, or binary 110000) </a:t>
            </a:r>
          </a:p>
          <a:p>
            <a:pPr lvl="2"/>
            <a:r>
              <a:rPr lang="en-US" altLang="zh-CN" dirty="0"/>
              <a:t>SHIFT = 4</a:t>
            </a:r>
          </a:p>
          <a:p>
            <a:pPr lvl="2"/>
            <a:r>
              <a:rPr lang="zh-CN" altLang="en-US" dirty="0"/>
              <a:t>（虚存空间</a:t>
            </a:r>
            <a:r>
              <a:rPr lang="en-US" altLang="zh-CN" dirty="0"/>
              <a:t>64B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B01C9-CC9E-4042-87A9-F49D20F0019F}" type="slidenum">
              <a:rPr lang="zh-CN" altLang="en-US" smtClean="0"/>
              <a:pPr/>
              <a:t>40</a:t>
            </a:fld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300" y="4953000"/>
            <a:ext cx="7747000" cy="71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8494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Paging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地址翻译实例</a:t>
            </a:r>
            <a:endParaRPr lang="en-US" altLang="zh-CN" dirty="0"/>
          </a:p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B01C9-CC9E-4042-87A9-F49D20F0019F}" type="slidenum">
              <a:rPr lang="zh-CN" altLang="en-US" smtClean="0"/>
              <a:pPr/>
              <a:t>41</a:t>
            </a:fld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299"/>
          <a:stretch/>
        </p:blipFill>
        <p:spPr>
          <a:xfrm>
            <a:off x="843118" y="2132149"/>
            <a:ext cx="7470703" cy="4533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88651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Paging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Page table</a:t>
            </a:r>
            <a:r>
              <a:rPr kumimoji="1" lang="zh-CN" altLang="en-US" dirty="0"/>
              <a:t>的两个没有解决的问题：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运行太慢（两次访问内存）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占用内存空间太大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B01C9-CC9E-4042-87A9-F49D20F0019F}" type="slidenum">
              <a:rPr lang="zh-CN" altLang="en-US" smtClean="0"/>
              <a:pPr/>
              <a:t>42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1226583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Rectangle 1030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E7B7DA43-96DB-7E4A-A97B-E0F2190F5788}" type="slidenum">
              <a:rPr lang="zh-CN" altLang="en-US" sz="1400" b="0">
                <a:latin typeface="Times New Roman" charset="0"/>
              </a:rPr>
              <a:pPr/>
              <a:t>43</a:t>
            </a:fld>
            <a:endParaRPr lang="en-US" altLang="zh-CN" sz="1400" b="0">
              <a:latin typeface="Times New Roman" charset="0"/>
            </a:endParaRPr>
          </a:p>
        </p:txBody>
      </p:sp>
      <p:sp>
        <p:nvSpPr>
          <p:cNvPr id="9523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3600"/>
            <a:ext cx="7772400" cy="1828800"/>
          </a:xfrm>
        </p:spPr>
        <p:txBody>
          <a:bodyPr/>
          <a:lstStyle/>
          <a:p>
            <a:r>
              <a:rPr lang="en-US" altLang="zh-CN" sz="3200" dirty="0">
                <a:ea typeface="宋体" charset="-122"/>
              </a:rPr>
              <a:t>Paging: Faster Translations (TLBs)</a:t>
            </a:r>
          </a:p>
        </p:txBody>
      </p:sp>
    </p:spTree>
    <p:extLst>
      <p:ext uri="{BB962C8B-B14F-4D97-AF65-F5344CB8AC3E}">
        <p14:creationId xmlns:p14="http://schemas.microsoft.com/office/powerpoint/2010/main" val="213319652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charset="-122"/>
              </a:rPr>
              <a:t>Paging: Faster Translations (TLBs)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目标：</a:t>
            </a:r>
            <a:endParaRPr kumimoji="1" lang="en-US" altLang="zh-CN" dirty="0"/>
          </a:p>
          <a:p>
            <a:pPr lvl="1"/>
            <a:r>
              <a:rPr lang="zh-CN" altLang="en-US" dirty="0"/>
              <a:t>怎么加速</a:t>
            </a:r>
            <a:r>
              <a:rPr lang="en-US" altLang="zh-CN" dirty="0"/>
              <a:t>paging</a:t>
            </a:r>
            <a:r>
              <a:rPr lang="zh-CN" altLang="en-US" dirty="0"/>
              <a:t>方案的内存访问？</a:t>
            </a:r>
            <a:endParaRPr lang="en-US" altLang="zh-CN" dirty="0"/>
          </a:p>
          <a:p>
            <a:r>
              <a:rPr kumimoji="1" lang="zh-CN" altLang="en-US" dirty="0"/>
              <a:t>思考：</a:t>
            </a:r>
            <a:endParaRPr kumimoji="1" lang="en-US" altLang="zh-CN" dirty="0"/>
          </a:p>
          <a:p>
            <a:pPr lvl="1"/>
            <a:r>
              <a:rPr lang="zh-CN" altLang="en-US" dirty="0"/>
              <a:t>用什么思路来加速？</a:t>
            </a:r>
            <a:endParaRPr lang="en-US" altLang="zh-CN" dirty="0"/>
          </a:p>
          <a:p>
            <a:pPr lvl="1"/>
            <a:r>
              <a:rPr kumimoji="1" lang="zh-CN" altLang="en-US" dirty="0"/>
              <a:t>需要</a:t>
            </a:r>
            <a:r>
              <a:rPr kumimoji="1" lang="en-US" altLang="zh-CN" dirty="0"/>
              <a:t>hardware</a:t>
            </a:r>
            <a:r>
              <a:rPr kumimoji="1" lang="zh-CN" altLang="en-US" dirty="0"/>
              <a:t>提供什么支持？</a:t>
            </a:r>
            <a:endParaRPr kumimoji="1" lang="en-US" altLang="zh-CN" dirty="0"/>
          </a:p>
          <a:p>
            <a:pPr lvl="1"/>
            <a:r>
              <a:rPr lang="zh-CN" altLang="en-US" dirty="0"/>
              <a:t>需要</a:t>
            </a:r>
            <a:r>
              <a:rPr lang="en-US" altLang="zh-CN" dirty="0"/>
              <a:t>OS</a:t>
            </a:r>
            <a:r>
              <a:rPr lang="zh-CN" altLang="en-US" dirty="0"/>
              <a:t>提供什么支持？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B01C9-CC9E-4042-87A9-F49D20F0019F}" type="slidenum">
              <a:rPr lang="zh-CN" altLang="en-US" smtClean="0"/>
              <a:pPr/>
              <a:t>44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4382801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charset="-122"/>
              </a:rPr>
              <a:t>Paging: Faster Translations (TLBs)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/>
              <a:t>Translation-Lookaside Buffer</a:t>
            </a:r>
            <a:r>
              <a:rPr lang="zh-CN" altLang="en-US" dirty="0"/>
              <a:t> </a:t>
            </a:r>
            <a:r>
              <a:rPr lang="en-US" altLang="zh-CN" dirty="0"/>
              <a:t>(TLB)</a:t>
            </a:r>
          </a:p>
          <a:p>
            <a:pPr lvl="1"/>
            <a:r>
              <a:rPr lang="en-US" altLang="zh-CN" dirty="0"/>
              <a:t>Hardware support (old friend of OS)</a:t>
            </a:r>
          </a:p>
          <a:p>
            <a:pPr lvl="1"/>
            <a:r>
              <a:rPr lang="en-US" altLang="zh-CN" dirty="0"/>
              <a:t>Part of </a:t>
            </a:r>
            <a:r>
              <a:rPr lang="en-US" altLang="zh-CN" b="1" dirty="0"/>
              <a:t>memory-management unit </a:t>
            </a:r>
            <a:r>
              <a:rPr lang="en-US" altLang="zh-CN" dirty="0"/>
              <a:t>(</a:t>
            </a:r>
            <a:r>
              <a:rPr lang="en-US" altLang="zh-CN" b="1" dirty="0"/>
              <a:t>MMU</a:t>
            </a:r>
            <a:r>
              <a:rPr lang="en-US" altLang="zh-CN" dirty="0"/>
              <a:t>) </a:t>
            </a:r>
          </a:p>
          <a:p>
            <a:pPr lvl="1"/>
            <a:r>
              <a:rPr lang="en-US" altLang="zh-CN" dirty="0"/>
              <a:t>hardware </a:t>
            </a:r>
            <a:r>
              <a:rPr lang="en-US" altLang="zh-CN" b="1" dirty="0"/>
              <a:t>cache </a:t>
            </a:r>
            <a:r>
              <a:rPr lang="en-US" altLang="zh-CN" dirty="0"/>
              <a:t>of popular virtual-to-physical address translations (VPN-&gt;PPN) (</a:t>
            </a:r>
            <a:r>
              <a:rPr lang="en-US" altLang="zh-CN" b="1" dirty="0"/>
              <a:t>address-translation cache</a:t>
            </a:r>
            <a:r>
              <a:rPr lang="en-US" altLang="zh-CN" dirty="0"/>
              <a:t>)</a:t>
            </a:r>
          </a:p>
          <a:p>
            <a:pPr lvl="1"/>
            <a:r>
              <a:rPr lang="zh-CN" altLang="en-US" dirty="0"/>
              <a:t>没有</a:t>
            </a:r>
            <a:r>
              <a:rPr lang="en-US" altLang="zh-CN" dirty="0"/>
              <a:t>TLB</a:t>
            </a:r>
            <a:r>
              <a:rPr lang="zh-CN" altLang="en-US" dirty="0"/>
              <a:t>，</a:t>
            </a:r>
            <a:r>
              <a:rPr lang="en-US" altLang="zh-CN" dirty="0"/>
              <a:t>paging</a:t>
            </a:r>
            <a:r>
              <a:rPr lang="zh-CN" altLang="en-US" dirty="0"/>
              <a:t>的</a:t>
            </a:r>
            <a:r>
              <a:rPr lang="en-US" altLang="zh-CN" dirty="0"/>
              <a:t>virtual address</a:t>
            </a:r>
            <a:r>
              <a:rPr lang="zh-CN" altLang="en-US" dirty="0"/>
              <a:t>方案就是不实用的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B01C9-CC9E-4042-87A9-F49D20F0019F}" type="slidenum">
              <a:rPr lang="zh-CN" altLang="en-US" smtClean="0"/>
              <a:pPr/>
              <a:t>45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878946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1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F41984A2-E0B8-3A4D-B8BB-66F005C14673}" type="slidenum">
              <a:rPr lang="zh-CN" altLang="en-US" sz="1400" b="0">
                <a:latin typeface="Times New Roman" charset="0"/>
              </a:rPr>
              <a:pPr/>
              <a:t>46</a:t>
            </a:fld>
            <a:endParaRPr lang="en-US" altLang="zh-CN" sz="1400" b="0">
              <a:latin typeface="Times New Roman" charset="0"/>
            </a:endParaRPr>
          </a:p>
        </p:txBody>
      </p:sp>
      <p:sp>
        <p:nvSpPr>
          <p:cNvPr id="138242" name="Rectangle 3"/>
          <p:cNvSpPr>
            <a:spLocks noChangeArrowheads="1"/>
          </p:cNvSpPr>
          <p:nvPr/>
        </p:nvSpPr>
        <p:spPr bwMode="auto">
          <a:xfrm>
            <a:off x="1384300" y="1752600"/>
            <a:ext cx="3749675" cy="2695575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round/>
                <a:headEnd/>
                <a:tailEnd type="arrow" w="med" len="med"/>
              </a14:hiddenLine>
            </a:ext>
          </a:extLst>
        </p:spPr>
        <p:txBody>
          <a:bodyPr anchor="ctr"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ctr"/>
            <a:endParaRPr lang="en-US" altLang="zh-CN"/>
          </a:p>
        </p:txBody>
      </p:sp>
      <p:sp>
        <p:nvSpPr>
          <p:cNvPr id="138243" name="Rectangle 10"/>
          <p:cNvSpPr>
            <a:spLocks noChangeArrowheads="1"/>
          </p:cNvSpPr>
          <p:nvPr/>
        </p:nvSpPr>
        <p:spPr bwMode="auto">
          <a:xfrm>
            <a:off x="3963988" y="3006725"/>
            <a:ext cx="1066800" cy="1238250"/>
          </a:xfrm>
          <a:prstGeom prst="rect">
            <a:avLst/>
          </a:prstGeom>
          <a:solidFill>
            <a:srgbClr val="DBF2DA"/>
          </a:solidFill>
          <a:ln w="1260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ctr">
              <a:lnSpc>
                <a:spcPct val="98000"/>
              </a:lnSpc>
            </a:pPr>
            <a:r>
              <a:rPr lang="en-GB" altLang="zh-CN" sz="1600">
                <a:latin typeface="Calibri" charset="0"/>
              </a:rPr>
              <a:t>MMU</a:t>
            </a:r>
          </a:p>
        </p:txBody>
      </p:sp>
      <p:sp>
        <p:nvSpPr>
          <p:cNvPr id="138244" name="Rectangle 17"/>
          <p:cNvSpPr>
            <a:spLocks noChangeArrowheads="1"/>
          </p:cNvSpPr>
          <p:nvPr/>
        </p:nvSpPr>
        <p:spPr bwMode="auto">
          <a:xfrm>
            <a:off x="6553200" y="2722563"/>
            <a:ext cx="914400" cy="2284412"/>
          </a:xfrm>
          <a:prstGeom prst="rect">
            <a:avLst/>
          </a:prstGeom>
          <a:solidFill>
            <a:srgbClr val="EBEBEB"/>
          </a:solidFill>
          <a:ln w="1908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r>
              <a:rPr lang="en-US" altLang="zh-CN" sz="1600">
                <a:latin typeface="Calibri" charset="0"/>
              </a:rPr>
              <a:t>Cache/</a:t>
            </a:r>
          </a:p>
          <a:p>
            <a:r>
              <a:rPr lang="en-US" altLang="zh-CN" sz="1600">
                <a:latin typeface="Calibri" charset="0"/>
              </a:rPr>
              <a:t>Memory</a:t>
            </a:r>
          </a:p>
        </p:txBody>
      </p:sp>
      <p:sp>
        <p:nvSpPr>
          <p:cNvPr id="7" name="Text Box 9"/>
          <p:cNvSpPr txBox="1">
            <a:spLocks noChangeArrowheads="1"/>
          </p:cNvSpPr>
          <p:nvPr/>
        </p:nvSpPr>
        <p:spPr bwMode="auto">
          <a:xfrm>
            <a:off x="5580063" y="3338513"/>
            <a:ext cx="428625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ctr">
              <a:lnSpc>
                <a:spcPct val="98000"/>
              </a:lnSpc>
            </a:pPr>
            <a:r>
              <a:rPr lang="en-GB" altLang="zh-CN" sz="1600">
                <a:latin typeface="Courier New" charset="0"/>
              </a:rPr>
              <a:t>PA</a:t>
            </a:r>
          </a:p>
        </p:txBody>
      </p:sp>
      <p:sp>
        <p:nvSpPr>
          <p:cNvPr id="8" name="Text Box 32"/>
          <p:cNvSpPr txBox="1">
            <a:spLocks noChangeArrowheads="1"/>
          </p:cNvSpPr>
          <p:nvPr/>
        </p:nvSpPr>
        <p:spPr bwMode="auto">
          <a:xfrm>
            <a:off x="3814763" y="4762500"/>
            <a:ext cx="6762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ctr">
              <a:lnSpc>
                <a:spcPct val="98000"/>
              </a:lnSpc>
            </a:pPr>
            <a:r>
              <a:rPr lang="en-GB" altLang="zh-CN" sz="1600">
                <a:latin typeface="Courier New" charset="0"/>
              </a:rPr>
              <a:t>Data</a:t>
            </a:r>
          </a:p>
        </p:txBody>
      </p:sp>
      <p:cxnSp>
        <p:nvCxnSpPr>
          <p:cNvPr id="9" name="Straight Arrow Connector 8"/>
          <p:cNvCxnSpPr>
            <a:cxnSpLocks noChangeShapeType="1"/>
          </p:cNvCxnSpPr>
          <p:nvPr/>
        </p:nvCxnSpPr>
        <p:spPr bwMode="auto">
          <a:xfrm flipV="1">
            <a:off x="5030788" y="3605213"/>
            <a:ext cx="1522412" cy="1587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8248" name="Rectangle 10"/>
          <p:cNvSpPr>
            <a:spLocks noChangeArrowheads="1"/>
          </p:cNvSpPr>
          <p:nvPr/>
        </p:nvSpPr>
        <p:spPr bwMode="auto">
          <a:xfrm>
            <a:off x="1525588" y="3359150"/>
            <a:ext cx="1066800" cy="533400"/>
          </a:xfrm>
          <a:prstGeom prst="rect">
            <a:avLst/>
          </a:prstGeom>
          <a:solidFill>
            <a:srgbClr val="F6D2D2"/>
          </a:solidFill>
          <a:ln w="1260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ctr">
              <a:lnSpc>
                <a:spcPct val="98000"/>
              </a:lnSpc>
            </a:pPr>
            <a:r>
              <a:rPr lang="en-GB" altLang="zh-CN" sz="1600">
                <a:latin typeface="Calibri" charset="0"/>
              </a:rPr>
              <a:t>CPU</a:t>
            </a:r>
          </a:p>
        </p:txBody>
      </p:sp>
      <p:cxnSp>
        <p:nvCxnSpPr>
          <p:cNvPr id="138249" name="Straight Arrow Connector 10"/>
          <p:cNvCxnSpPr>
            <a:cxnSpLocks noChangeShapeType="1"/>
            <a:stCxn id="138248" idx="3"/>
            <a:endCxn id="138243" idx="1"/>
          </p:cNvCxnSpPr>
          <p:nvPr/>
        </p:nvCxnSpPr>
        <p:spPr bwMode="auto">
          <a:xfrm flipV="1">
            <a:off x="2592388" y="3625850"/>
            <a:ext cx="1371600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8250" name="Text Box 9"/>
          <p:cNvSpPr txBox="1">
            <a:spLocks noChangeArrowheads="1"/>
          </p:cNvSpPr>
          <p:nvPr/>
        </p:nvSpPr>
        <p:spPr bwMode="auto">
          <a:xfrm>
            <a:off x="3028950" y="3340100"/>
            <a:ext cx="428625" cy="334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ctr">
              <a:lnSpc>
                <a:spcPct val="98000"/>
              </a:lnSpc>
            </a:pPr>
            <a:r>
              <a:rPr lang="en-GB" altLang="zh-CN" sz="1600">
                <a:latin typeface="Courier New" charset="0"/>
              </a:rPr>
              <a:t>VA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90650" y="1752600"/>
            <a:ext cx="115570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宋体" panose="02010600030101010101" pitchFamily="2" charset="-122"/>
              </a:rPr>
              <a:t>CPU Chip</a:t>
            </a:r>
          </a:p>
        </p:txBody>
      </p:sp>
      <p:sp>
        <p:nvSpPr>
          <p:cNvPr id="14" name="Text Box 9"/>
          <p:cNvSpPr txBox="1">
            <a:spLocks noChangeArrowheads="1"/>
          </p:cNvSpPr>
          <p:nvPr/>
        </p:nvSpPr>
        <p:spPr bwMode="auto">
          <a:xfrm>
            <a:off x="4598988" y="2297113"/>
            <a:ext cx="552450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ctr">
              <a:lnSpc>
                <a:spcPct val="98000"/>
              </a:lnSpc>
            </a:pPr>
            <a:r>
              <a:rPr lang="en-GB" altLang="zh-CN" sz="1600">
                <a:latin typeface="Courier New" charset="0"/>
              </a:rPr>
              <a:t>PTE</a:t>
            </a:r>
          </a:p>
        </p:txBody>
      </p:sp>
      <p:cxnSp>
        <p:nvCxnSpPr>
          <p:cNvPr id="15" name="Shape 49"/>
          <p:cNvCxnSpPr>
            <a:cxnSpLocks noChangeShapeType="1"/>
            <a:endCxn id="138248" idx="2"/>
          </p:cNvCxnSpPr>
          <p:nvPr/>
        </p:nvCxnSpPr>
        <p:spPr bwMode="auto">
          <a:xfrm rot="10800000">
            <a:off x="2058988" y="3892550"/>
            <a:ext cx="4494212" cy="885825"/>
          </a:xfrm>
          <a:prstGeom prst="bentConnector2">
            <a:avLst/>
          </a:prstGeom>
          <a:noFill/>
          <a:ln w="2540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" name="Oval 4"/>
          <p:cNvSpPr>
            <a:spLocks noChangeArrowheads="1"/>
          </p:cNvSpPr>
          <p:nvPr/>
        </p:nvSpPr>
        <p:spPr bwMode="auto">
          <a:xfrm>
            <a:off x="3106738" y="3119438"/>
            <a:ext cx="274637" cy="274637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GB" sz="1400" dirty="0">
                <a:solidFill>
                  <a:schemeClr val="bg1"/>
                </a:solidFill>
                <a:latin typeface="Calibri" pitchFamily="34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7" name="Oval 18"/>
          <p:cNvSpPr>
            <a:spLocks noChangeArrowheads="1"/>
          </p:cNvSpPr>
          <p:nvPr/>
        </p:nvSpPr>
        <p:spPr bwMode="auto">
          <a:xfrm>
            <a:off x="4038600" y="2362200"/>
            <a:ext cx="274638" cy="2746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GB" sz="1400" dirty="0">
                <a:solidFill>
                  <a:schemeClr val="bg1"/>
                </a:solidFill>
                <a:latin typeface="Calibri" pitchFamily="34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8" name="Oval 20"/>
          <p:cNvSpPr>
            <a:spLocks noChangeArrowheads="1"/>
          </p:cNvSpPr>
          <p:nvPr/>
        </p:nvSpPr>
        <p:spPr bwMode="auto">
          <a:xfrm>
            <a:off x="5656263" y="3671888"/>
            <a:ext cx="274637" cy="274637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GB" sz="1400" dirty="0">
                <a:solidFill>
                  <a:schemeClr val="bg1"/>
                </a:solidFill>
                <a:latin typeface="Calibri" pitchFamily="34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19" name="Oval 21"/>
          <p:cNvSpPr>
            <a:spLocks noChangeArrowheads="1"/>
          </p:cNvSpPr>
          <p:nvPr/>
        </p:nvSpPr>
        <p:spPr bwMode="auto">
          <a:xfrm>
            <a:off x="4021138" y="5062538"/>
            <a:ext cx="274637" cy="274637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GB" sz="1400" dirty="0">
                <a:solidFill>
                  <a:schemeClr val="bg1"/>
                </a:solidFill>
                <a:latin typeface="Calibri" pitchFamily="34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20" name="Rectangle 10"/>
          <p:cNvSpPr>
            <a:spLocks noChangeArrowheads="1"/>
          </p:cNvSpPr>
          <p:nvPr/>
        </p:nvSpPr>
        <p:spPr bwMode="auto">
          <a:xfrm>
            <a:off x="3962400" y="1905000"/>
            <a:ext cx="1066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6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GB" sz="1600" dirty="0">
                <a:latin typeface="Calibri" pitchFamily="34" charset="0"/>
                <a:ea typeface="宋体" panose="02010600030101010101" pitchFamily="2" charset="-122"/>
              </a:rPr>
              <a:t>TLB</a:t>
            </a:r>
          </a:p>
        </p:txBody>
      </p:sp>
      <p:cxnSp>
        <p:nvCxnSpPr>
          <p:cNvPr id="21" name="Straight Arrow Connector 20"/>
          <p:cNvCxnSpPr>
            <a:cxnSpLocks noChangeShapeType="1"/>
          </p:cNvCxnSpPr>
          <p:nvPr/>
        </p:nvCxnSpPr>
        <p:spPr bwMode="auto">
          <a:xfrm rot="16200000" flipV="1">
            <a:off x="4058444" y="2645569"/>
            <a:ext cx="720725" cy="1587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" name="Straight Arrow Connector 21"/>
          <p:cNvCxnSpPr>
            <a:cxnSpLocks noChangeShapeType="1"/>
          </p:cNvCxnSpPr>
          <p:nvPr/>
        </p:nvCxnSpPr>
        <p:spPr bwMode="auto">
          <a:xfrm rot="5400000">
            <a:off x="4287044" y="2645569"/>
            <a:ext cx="720725" cy="1587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" name="Text Box 9"/>
          <p:cNvSpPr txBox="1">
            <a:spLocks noChangeArrowheads="1"/>
          </p:cNvSpPr>
          <p:nvPr/>
        </p:nvSpPr>
        <p:spPr bwMode="auto">
          <a:xfrm>
            <a:off x="3903663" y="2651125"/>
            <a:ext cx="5524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ctr">
              <a:lnSpc>
                <a:spcPct val="98000"/>
              </a:lnSpc>
            </a:pPr>
            <a:r>
              <a:rPr lang="en-GB" altLang="zh-CN" sz="1600">
                <a:latin typeface="Courier New" charset="0"/>
              </a:rPr>
              <a:t>VPN</a:t>
            </a:r>
          </a:p>
        </p:txBody>
      </p:sp>
      <p:sp>
        <p:nvSpPr>
          <p:cNvPr id="24" name="Oval 19"/>
          <p:cNvSpPr>
            <a:spLocks noChangeArrowheads="1"/>
          </p:cNvSpPr>
          <p:nvPr/>
        </p:nvSpPr>
        <p:spPr bwMode="auto">
          <a:xfrm>
            <a:off x="4737100" y="2633663"/>
            <a:ext cx="274638" cy="274637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GB" sz="1400" dirty="0">
                <a:solidFill>
                  <a:schemeClr val="bg1"/>
                </a:solidFill>
                <a:latin typeface="Calibri" pitchFamily="34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138263" name="Rectangle 2"/>
          <p:cNvSpPr txBox="1">
            <a:spLocks noChangeArrowheads="1"/>
          </p:cNvSpPr>
          <p:nvPr/>
        </p:nvSpPr>
        <p:spPr bwMode="auto">
          <a:xfrm>
            <a:off x="457200" y="457200"/>
            <a:ext cx="80772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r>
              <a:rPr lang="en-US" altLang="zh-CN" sz="2800">
                <a:solidFill>
                  <a:schemeClr val="tx2"/>
                </a:solidFill>
              </a:rPr>
              <a:t>TLB Hit</a:t>
            </a:r>
          </a:p>
        </p:txBody>
      </p:sp>
      <p:sp>
        <p:nvSpPr>
          <p:cNvPr id="27" name="Rectangle 2"/>
          <p:cNvSpPr txBox="1">
            <a:spLocks noChangeArrowheads="1"/>
          </p:cNvSpPr>
          <p:nvPr/>
        </p:nvSpPr>
        <p:spPr bwMode="auto">
          <a:xfrm>
            <a:off x="506413" y="5822950"/>
            <a:ext cx="7189787" cy="577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Clr>
                <a:srgbClr val="990000"/>
              </a:buClr>
              <a:buSzPct val="60000"/>
              <a:buFont typeface="Wingdings" pitchFamily="2" charset="2"/>
              <a:buNone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  <a:defRPr/>
            </a:pPr>
            <a:r>
              <a:rPr lang="en-GB" sz="2400" kern="0" dirty="0">
                <a:latin typeface="+mj-lt"/>
                <a:ea typeface="+mn-ea"/>
              </a:rPr>
              <a:t>A TLB hit eliminates a memory access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4" grpId="0"/>
      <p:bldP spid="17" grpId="0" animBg="1"/>
      <p:bldP spid="18" grpId="0" animBg="1"/>
      <p:bldP spid="19" grpId="0" animBg="1"/>
      <p:bldP spid="23" grpId="0"/>
      <p:bldP spid="24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89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13633230-2529-6049-965A-091C10B5E791}" type="slidenum">
              <a:rPr lang="zh-CN" altLang="en-US" sz="1400" b="0">
                <a:latin typeface="Times New Roman" charset="0"/>
              </a:rPr>
              <a:pPr/>
              <a:t>47</a:t>
            </a:fld>
            <a:endParaRPr lang="en-US" altLang="zh-CN" sz="1400" b="0">
              <a:latin typeface="Times New Roman" charset="0"/>
            </a:endParaRPr>
          </a:p>
        </p:txBody>
      </p:sp>
      <p:sp>
        <p:nvSpPr>
          <p:cNvPr id="140290" name="Rectangle 2"/>
          <p:cNvSpPr txBox="1">
            <a:spLocks noChangeArrowheads="1"/>
          </p:cNvSpPr>
          <p:nvPr/>
        </p:nvSpPr>
        <p:spPr bwMode="auto">
          <a:xfrm>
            <a:off x="457200" y="457200"/>
            <a:ext cx="80772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r>
              <a:rPr lang="en-US" altLang="zh-CN" sz="2800">
                <a:solidFill>
                  <a:schemeClr val="tx2"/>
                </a:solidFill>
              </a:rPr>
              <a:t>TLB Miss</a:t>
            </a:r>
          </a:p>
        </p:txBody>
      </p:sp>
      <p:sp>
        <p:nvSpPr>
          <p:cNvPr id="140291" name="Rectangle 27"/>
          <p:cNvSpPr>
            <a:spLocks noChangeArrowheads="1"/>
          </p:cNvSpPr>
          <p:nvPr/>
        </p:nvSpPr>
        <p:spPr bwMode="auto">
          <a:xfrm>
            <a:off x="1384300" y="1724025"/>
            <a:ext cx="3749675" cy="2695575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round/>
                <a:headEnd/>
                <a:tailEnd type="arrow" w="med" len="med"/>
              </a14:hiddenLine>
            </a:ext>
          </a:extLst>
        </p:spPr>
        <p:txBody>
          <a:bodyPr anchor="ctr"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ctr"/>
            <a:endParaRPr lang="en-US" altLang="zh-CN"/>
          </a:p>
        </p:txBody>
      </p:sp>
      <p:sp>
        <p:nvSpPr>
          <p:cNvPr id="140292" name="Rectangle 10"/>
          <p:cNvSpPr>
            <a:spLocks noChangeArrowheads="1"/>
          </p:cNvSpPr>
          <p:nvPr/>
        </p:nvSpPr>
        <p:spPr bwMode="auto">
          <a:xfrm>
            <a:off x="3963988" y="3006725"/>
            <a:ext cx="1066800" cy="1238250"/>
          </a:xfrm>
          <a:prstGeom prst="rect">
            <a:avLst/>
          </a:prstGeom>
          <a:solidFill>
            <a:srgbClr val="D5F1CF"/>
          </a:solidFill>
          <a:ln w="1260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ctr">
              <a:lnSpc>
                <a:spcPct val="98000"/>
              </a:lnSpc>
            </a:pPr>
            <a:r>
              <a:rPr lang="en-GB" altLang="zh-CN" sz="1600">
                <a:latin typeface="Calibri" charset="0"/>
              </a:rPr>
              <a:t>MMU</a:t>
            </a:r>
          </a:p>
        </p:txBody>
      </p:sp>
      <p:sp>
        <p:nvSpPr>
          <p:cNvPr id="140293" name="Rectangle 17"/>
          <p:cNvSpPr>
            <a:spLocks noChangeArrowheads="1"/>
          </p:cNvSpPr>
          <p:nvPr/>
        </p:nvSpPr>
        <p:spPr bwMode="auto">
          <a:xfrm>
            <a:off x="6553200" y="2722563"/>
            <a:ext cx="914400" cy="2284412"/>
          </a:xfrm>
          <a:prstGeom prst="rect">
            <a:avLst/>
          </a:prstGeom>
          <a:solidFill>
            <a:srgbClr val="EBEBEB"/>
          </a:solidFill>
          <a:ln w="1908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r>
              <a:rPr lang="en-US" altLang="zh-CN" sz="1600">
                <a:latin typeface="Calibri" charset="0"/>
              </a:rPr>
              <a:t>Cache/</a:t>
            </a:r>
          </a:p>
          <a:p>
            <a:r>
              <a:rPr lang="en-US" altLang="zh-CN" sz="1600">
                <a:latin typeface="Calibri" charset="0"/>
              </a:rPr>
              <a:t>Memory</a:t>
            </a:r>
          </a:p>
        </p:txBody>
      </p:sp>
      <p:sp>
        <p:nvSpPr>
          <p:cNvPr id="31" name="Text Box 9"/>
          <p:cNvSpPr txBox="1">
            <a:spLocks noChangeArrowheads="1"/>
          </p:cNvSpPr>
          <p:nvPr/>
        </p:nvSpPr>
        <p:spPr bwMode="auto">
          <a:xfrm>
            <a:off x="5549900" y="3795713"/>
            <a:ext cx="428625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ctr">
              <a:lnSpc>
                <a:spcPct val="98000"/>
              </a:lnSpc>
            </a:pPr>
            <a:r>
              <a:rPr lang="en-GB" altLang="zh-CN" sz="1600">
                <a:latin typeface="Courier New" charset="0"/>
              </a:rPr>
              <a:t>PA</a:t>
            </a:r>
          </a:p>
        </p:txBody>
      </p:sp>
      <p:sp>
        <p:nvSpPr>
          <p:cNvPr id="32" name="Text Box 32"/>
          <p:cNvSpPr txBox="1">
            <a:spLocks noChangeArrowheads="1"/>
          </p:cNvSpPr>
          <p:nvPr/>
        </p:nvSpPr>
        <p:spPr bwMode="auto">
          <a:xfrm>
            <a:off x="3814763" y="4762500"/>
            <a:ext cx="6762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ctr">
              <a:lnSpc>
                <a:spcPct val="98000"/>
              </a:lnSpc>
            </a:pPr>
            <a:r>
              <a:rPr lang="en-GB" altLang="zh-CN" sz="1600">
                <a:latin typeface="Courier New" charset="0"/>
              </a:rPr>
              <a:t>Data</a:t>
            </a:r>
          </a:p>
        </p:txBody>
      </p:sp>
      <p:cxnSp>
        <p:nvCxnSpPr>
          <p:cNvPr id="33" name="Straight Arrow Connector 32"/>
          <p:cNvCxnSpPr>
            <a:cxnSpLocks noChangeShapeType="1"/>
          </p:cNvCxnSpPr>
          <p:nvPr/>
        </p:nvCxnSpPr>
        <p:spPr bwMode="auto">
          <a:xfrm flipV="1">
            <a:off x="5030788" y="4062413"/>
            <a:ext cx="1522412" cy="1587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0297" name="Rectangle 10"/>
          <p:cNvSpPr>
            <a:spLocks noChangeArrowheads="1"/>
          </p:cNvSpPr>
          <p:nvPr/>
        </p:nvSpPr>
        <p:spPr bwMode="auto">
          <a:xfrm>
            <a:off x="1525588" y="3359150"/>
            <a:ext cx="1066800" cy="533400"/>
          </a:xfrm>
          <a:prstGeom prst="rect">
            <a:avLst/>
          </a:prstGeom>
          <a:solidFill>
            <a:srgbClr val="F1C7C7"/>
          </a:solidFill>
          <a:ln w="1260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ctr">
              <a:lnSpc>
                <a:spcPct val="98000"/>
              </a:lnSpc>
            </a:pPr>
            <a:r>
              <a:rPr lang="en-GB" altLang="zh-CN" sz="1600">
                <a:latin typeface="Calibri" charset="0"/>
              </a:rPr>
              <a:t>CPU</a:t>
            </a:r>
          </a:p>
        </p:txBody>
      </p:sp>
      <p:cxnSp>
        <p:nvCxnSpPr>
          <p:cNvPr id="140298" name="Straight Arrow Connector 34"/>
          <p:cNvCxnSpPr>
            <a:cxnSpLocks noChangeShapeType="1"/>
            <a:stCxn id="140297" idx="3"/>
          </p:cNvCxnSpPr>
          <p:nvPr/>
        </p:nvCxnSpPr>
        <p:spPr bwMode="auto">
          <a:xfrm flipV="1">
            <a:off x="2592388" y="3621088"/>
            <a:ext cx="1370012" cy="4762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0299" name="Text Box 9"/>
          <p:cNvSpPr txBox="1">
            <a:spLocks noChangeArrowheads="1"/>
          </p:cNvSpPr>
          <p:nvPr/>
        </p:nvSpPr>
        <p:spPr bwMode="auto">
          <a:xfrm>
            <a:off x="3028950" y="3340100"/>
            <a:ext cx="428625" cy="334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ctr">
              <a:lnSpc>
                <a:spcPct val="98000"/>
              </a:lnSpc>
            </a:pPr>
            <a:r>
              <a:rPr lang="en-GB" altLang="zh-CN" sz="1600">
                <a:latin typeface="Courier New" charset="0"/>
              </a:rPr>
              <a:t>VA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90650" y="1752600"/>
            <a:ext cx="115570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宋体" panose="02010600030101010101" pitchFamily="2" charset="-122"/>
              </a:rPr>
              <a:t>CPU Chip</a:t>
            </a:r>
          </a:p>
        </p:txBody>
      </p:sp>
      <p:sp>
        <p:nvSpPr>
          <p:cNvPr id="38" name="Text Box 9"/>
          <p:cNvSpPr txBox="1">
            <a:spLocks noChangeArrowheads="1"/>
          </p:cNvSpPr>
          <p:nvPr/>
        </p:nvSpPr>
        <p:spPr bwMode="auto">
          <a:xfrm>
            <a:off x="5487988" y="2346325"/>
            <a:ext cx="552450" cy="334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ctr">
              <a:lnSpc>
                <a:spcPct val="98000"/>
              </a:lnSpc>
            </a:pPr>
            <a:r>
              <a:rPr lang="en-GB" altLang="zh-CN" sz="1600">
                <a:latin typeface="Courier New" charset="0"/>
              </a:rPr>
              <a:t>PTE</a:t>
            </a:r>
          </a:p>
        </p:txBody>
      </p:sp>
      <p:cxnSp>
        <p:nvCxnSpPr>
          <p:cNvPr id="39" name="Shape 49"/>
          <p:cNvCxnSpPr>
            <a:cxnSpLocks noChangeShapeType="1"/>
            <a:endCxn id="140297" idx="2"/>
          </p:cNvCxnSpPr>
          <p:nvPr/>
        </p:nvCxnSpPr>
        <p:spPr bwMode="auto">
          <a:xfrm rot="10800000">
            <a:off x="2058988" y="3892550"/>
            <a:ext cx="4494212" cy="885825"/>
          </a:xfrm>
          <a:prstGeom prst="bentConnector2">
            <a:avLst/>
          </a:prstGeom>
          <a:noFill/>
          <a:ln w="2540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0" name="Oval 4"/>
          <p:cNvSpPr>
            <a:spLocks noChangeArrowheads="1"/>
          </p:cNvSpPr>
          <p:nvPr/>
        </p:nvSpPr>
        <p:spPr bwMode="auto">
          <a:xfrm>
            <a:off x="3106738" y="3119438"/>
            <a:ext cx="274637" cy="274637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GB" sz="1400" dirty="0">
                <a:solidFill>
                  <a:schemeClr val="bg1"/>
                </a:solidFill>
                <a:latin typeface="Calibri" pitchFamily="34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41" name="Oval 18"/>
          <p:cNvSpPr>
            <a:spLocks noChangeArrowheads="1"/>
          </p:cNvSpPr>
          <p:nvPr/>
        </p:nvSpPr>
        <p:spPr bwMode="auto">
          <a:xfrm>
            <a:off x="4038600" y="2362200"/>
            <a:ext cx="274638" cy="2746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GB" sz="1400" dirty="0">
                <a:solidFill>
                  <a:schemeClr val="bg1"/>
                </a:solidFill>
                <a:latin typeface="Calibri" pitchFamily="34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42" name="Oval 20"/>
          <p:cNvSpPr>
            <a:spLocks noChangeArrowheads="1"/>
          </p:cNvSpPr>
          <p:nvPr/>
        </p:nvSpPr>
        <p:spPr bwMode="auto">
          <a:xfrm>
            <a:off x="5626100" y="4129088"/>
            <a:ext cx="274638" cy="274637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GB" sz="1400" dirty="0">
                <a:solidFill>
                  <a:schemeClr val="bg1"/>
                </a:solidFill>
                <a:latin typeface="Calibri" pitchFamily="34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43" name="Oval 21"/>
          <p:cNvSpPr>
            <a:spLocks noChangeArrowheads="1"/>
          </p:cNvSpPr>
          <p:nvPr/>
        </p:nvSpPr>
        <p:spPr bwMode="auto">
          <a:xfrm>
            <a:off x="4021138" y="5062538"/>
            <a:ext cx="274637" cy="274637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GB" sz="1400" dirty="0">
                <a:solidFill>
                  <a:schemeClr val="bg1"/>
                </a:solidFill>
                <a:latin typeface="Calibri" pitchFamily="34" charset="0"/>
                <a:ea typeface="宋体" panose="02010600030101010101" pitchFamily="2" charset="-122"/>
              </a:rPr>
              <a:t>6</a:t>
            </a:r>
          </a:p>
        </p:txBody>
      </p:sp>
      <p:sp>
        <p:nvSpPr>
          <p:cNvPr id="44" name="Rectangle 10"/>
          <p:cNvSpPr>
            <a:spLocks noChangeArrowheads="1"/>
          </p:cNvSpPr>
          <p:nvPr/>
        </p:nvSpPr>
        <p:spPr bwMode="auto">
          <a:xfrm>
            <a:off x="3962400" y="1905000"/>
            <a:ext cx="1066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6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GB" sz="1600" dirty="0">
                <a:latin typeface="Calibri" pitchFamily="34" charset="0"/>
                <a:ea typeface="宋体" panose="02010600030101010101" pitchFamily="2" charset="-122"/>
              </a:rPr>
              <a:t>TLB</a:t>
            </a:r>
          </a:p>
        </p:txBody>
      </p:sp>
      <p:cxnSp>
        <p:nvCxnSpPr>
          <p:cNvPr id="140308" name="Straight Arrow Connector 44"/>
          <p:cNvCxnSpPr>
            <a:cxnSpLocks noChangeShapeType="1"/>
          </p:cNvCxnSpPr>
          <p:nvPr/>
        </p:nvCxnSpPr>
        <p:spPr bwMode="auto">
          <a:xfrm rot="16200000" flipV="1">
            <a:off x="4058444" y="2645569"/>
            <a:ext cx="720725" cy="1587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" name="Straight Arrow Connector 45"/>
          <p:cNvCxnSpPr>
            <a:cxnSpLocks noChangeShapeType="1"/>
          </p:cNvCxnSpPr>
          <p:nvPr/>
        </p:nvCxnSpPr>
        <p:spPr bwMode="auto">
          <a:xfrm rot="5400000">
            <a:off x="4287044" y="2645569"/>
            <a:ext cx="720725" cy="1587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0310" name="Text Box 9"/>
          <p:cNvSpPr txBox="1">
            <a:spLocks noChangeArrowheads="1"/>
          </p:cNvSpPr>
          <p:nvPr/>
        </p:nvSpPr>
        <p:spPr bwMode="auto">
          <a:xfrm>
            <a:off x="3903663" y="2651125"/>
            <a:ext cx="5524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ctr">
              <a:lnSpc>
                <a:spcPct val="98000"/>
              </a:lnSpc>
            </a:pPr>
            <a:r>
              <a:rPr lang="en-GB" altLang="zh-CN" sz="1600">
                <a:latin typeface="Courier New" charset="0"/>
              </a:rPr>
              <a:t>VPN</a:t>
            </a:r>
          </a:p>
        </p:txBody>
      </p:sp>
      <p:sp>
        <p:nvSpPr>
          <p:cNvPr id="48" name="Oval 19"/>
          <p:cNvSpPr>
            <a:spLocks noChangeArrowheads="1"/>
          </p:cNvSpPr>
          <p:nvPr/>
        </p:nvSpPr>
        <p:spPr bwMode="auto">
          <a:xfrm>
            <a:off x="5626100" y="2120900"/>
            <a:ext cx="274638" cy="2746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GB" sz="1400" dirty="0">
                <a:solidFill>
                  <a:schemeClr val="bg1"/>
                </a:solidFill>
                <a:latin typeface="Calibri" pitchFamily="34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49" name="Text Box 9"/>
          <p:cNvSpPr txBox="1">
            <a:spLocks noChangeArrowheads="1"/>
          </p:cNvSpPr>
          <p:nvPr/>
        </p:nvSpPr>
        <p:spPr bwMode="auto">
          <a:xfrm>
            <a:off x="5456238" y="3355975"/>
            <a:ext cx="67468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ctr">
              <a:lnSpc>
                <a:spcPct val="98000"/>
              </a:lnSpc>
            </a:pPr>
            <a:r>
              <a:rPr lang="en-GB" altLang="zh-CN" sz="1600">
                <a:latin typeface="Courier New" charset="0"/>
              </a:rPr>
              <a:t>PTEA</a:t>
            </a:r>
          </a:p>
        </p:txBody>
      </p:sp>
      <p:cxnSp>
        <p:nvCxnSpPr>
          <p:cNvPr id="50" name="Straight Arrow Connector 49"/>
          <p:cNvCxnSpPr>
            <a:cxnSpLocks noChangeShapeType="1"/>
          </p:cNvCxnSpPr>
          <p:nvPr/>
        </p:nvCxnSpPr>
        <p:spPr bwMode="auto">
          <a:xfrm flipV="1">
            <a:off x="5030788" y="3624263"/>
            <a:ext cx="1522412" cy="1587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1" name="Oval 18"/>
          <p:cNvSpPr>
            <a:spLocks noChangeArrowheads="1"/>
          </p:cNvSpPr>
          <p:nvPr/>
        </p:nvSpPr>
        <p:spPr bwMode="auto">
          <a:xfrm>
            <a:off x="5626100" y="3124200"/>
            <a:ext cx="274638" cy="2746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GB" sz="1400" dirty="0">
                <a:solidFill>
                  <a:schemeClr val="bg1"/>
                </a:solidFill>
                <a:latin typeface="Calibri" pitchFamily="34" charset="0"/>
                <a:ea typeface="宋体" panose="02010600030101010101" pitchFamily="2" charset="-122"/>
              </a:rPr>
              <a:t>3</a:t>
            </a:r>
          </a:p>
        </p:txBody>
      </p:sp>
      <p:cxnSp>
        <p:nvCxnSpPr>
          <p:cNvPr id="52" name="Elbow Connector 51"/>
          <p:cNvCxnSpPr>
            <a:cxnSpLocks noChangeShapeType="1"/>
          </p:cNvCxnSpPr>
          <p:nvPr/>
        </p:nvCxnSpPr>
        <p:spPr bwMode="auto">
          <a:xfrm rot="10800000">
            <a:off x="4648200" y="2636838"/>
            <a:ext cx="1905000" cy="482600"/>
          </a:xfrm>
          <a:prstGeom prst="bentConnector3">
            <a:avLst>
              <a:gd name="adj1" fmla="val 21556"/>
            </a:avLst>
          </a:prstGeom>
          <a:noFill/>
          <a:ln w="2540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0316" name="Rectangle 2"/>
          <p:cNvSpPr txBox="1">
            <a:spLocks noChangeArrowheads="1"/>
          </p:cNvSpPr>
          <p:nvPr/>
        </p:nvSpPr>
        <p:spPr bwMode="auto">
          <a:xfrm>
            <a:off x="519113" y="5715000"/>
            <a:ext cx="8396287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tabLst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tabLst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tabLst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tabLst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990000"/>
              </a:buClr>
              <a:buSzPct val="60000"/>
              <a:buFont typeface="Wingdings" charset="2"/>
              <a:buNone/>
            </a:pPr>
            <a:r>
              <a:rPr lang="en-GB" altLang="zh-CN" sz="2400"/>
              <a:t>A TLB miss incurs an additional memory access (PTE)</a:t>
            </a:r>
            <a:br>
              <a:rPr lang="en-US" altLang="zh-CN" sz="2400"/>
            </a:br>
            <a:r>
              <a:rPr lang="en-GB" altLang="zh-CN" b="0"/>
              <a:t>Fortunately, TLB misses are rare. Why?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8" grpId="0"/>
      <p:bldP spid="42" grpId="0" animBg="1"/>
      <p:bldP spid="43" grpId="0" animBg="1"/>
      <p:bldP spid="48" grpId="0" animBg="1"/>
      <p:bldP spid="49" grpId="0"/>
      <p:bldP spid="51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charset="-122"/>
              </a:rPr>
              <a:t>Paging: Faster Translations (TLBs)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400" dirty="0"/>
              <a:t>TLB</a:t>
            </a:r>
            <a:r>
              <a:rPr lang="zh-CN" altLang="en-US" sz="2400" dirty="0"/>
              <a:t> </a:t>
            </a:r>
            <a:r>
              <a:rPr lang="en-US" altLang="zh-CN" sz="2400" dirty="0"/>
              <a:t>Control Flow Algorithm</a:t>
            </a:r>
          </a:p>
          <a:p>
            <a:pPr lvl="1"/>
            <a:r>
              <a:rPr lang="en-US" altLang="zh-CN" sz="2000" dirty="0"/>
              <a:t>hardware-managed TLB, linear page table </a:t>
            </a:r>
          </a:p>
          <a:p>
            <a:endParaRPr lang="en-US" altLang="zh-CN" sz="240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B01C9-CC9E-4042-87A9-F49D20F0019F}" type="slidenum">
              <a:rPr lang="zh-CN" altLang="en-US" smtClean="0"/>
              <a:pPr/>
              <a:t>48</a:t>
            </a:fld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2421466"/>
            <a:ext cx="6477000" cy="4360334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 bwMode="auto">
          <a:xfrm>
            <a:off x="1905000" y="6477000"/>
            <a:ext cx="2362200" cy="228600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宋体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403826" y="6457890"/>
            <a:ext cx="291137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重试指令，总会</a:t>
            </a:r>
            <a:r>
              <a:rPr lang="en-US" altLang="zh-CN" dirty="0"/>
              <a:t>TLB</a:t>
            </a:r>
            <a:r>
              <a:rPr lang="zh-CN" altLang="en-US" dirty="0"/>
              <a:t> </a:t>
            </a:r>
            <a:r>
              <a:rPr lang="en-US" altLang="zh-CN" dirty="0"/>
              <a:t>hit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257256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9709" y="2438400"/>
            <a:ext cx="3121591" cy="44196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charset="-122"/>
              </a:rPr>
              <a:t>Paging: Faster Translations (TLBs)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Tiny Address Space Example</a:t>
            </a:r>
          </a:p>
          <a:p>
            <a:pPr lvl="1"/>
            <a:r>
              <a:rPr kumimoji="1" lang="en-US" altLang="zh-CN" dirty="0"/>
              <a:t>VA space: 8-bit, one page: 16B</a:t>
            </a:r>
          </a:p>
          <a:p>
            <a:pPr lvl="1"/>
            <a:r>
              <a:rPr kumimoji="1" lang="en-US" altLang="zh-CN" dirty="0"/>
              <a:t>Array: starting at VA=100 (VPN=6)</a:t>
            </a:r>
          </a:p>
          <a:p>
            <a:pPr lvl="1"/>
            <a:r>
              <a:rPr lang="en-US" altLang="zh-CN" dirty="0"/>
              <a:t>VPN: 4-bit, VPO: 4-bit</a:t>
            </a:r>
          </a:p>
          <a:p>
            <a:pPr lvl="1"/>
            <a:r>
              <a:rPr lang="zh-CN" altLang="en-US" dirty="0"/>
              <a:t>计算下列代码的</a:t>
            </a:r>
            <a:r>
              <a:rPr lang="en-US" altLang="zh-CN" dirty="0"/>
              <a:t>TLB</a:t>
            </a:r>
            <a:r>
              <a:rPr lang="zh-CN" altLang="en-US" dirty="0"/>
              <a:t>命中率：</a:t>
            </a:r>
            <a:endParaRPr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B01C9-CC9E-4042-87A9-F49D20F0019F}" type="slidenum">
              <a:rPr lang="zh-CN" altLang="en-US" smtClean="0"/>
              <a:pPr/>
              <a:t>49</a:t>
            </a:fld>
            <a:endParaRPr lang="en-US" altLang="zh-CN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0" y="4114800"/>
            <a:ext cx="4013200" cy="140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73168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9709" y="2438400"/>
            <a:ext cx="3121591" cy="44196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charset="-122"/>
              </a:rPr>
              <a:t>Paging: Faster Translations (TLBs)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305800" cy="2743200"/>
          </a:xfrm>
        </p:spPr>
        <p:txBody>
          <a:bodyPr/>
          <a:lstStyle/>
          <a:p>
            <a:r>
              <a:rPr lang="en-US" altLang="zh-CN" dirty="0"/>
              <a:t>Tiny Address Space Example</a:t>
            </a:r>
          </a:p>
          <a:p>
            <a:pPr lvl="1"/>
            <a:r>
              <a:rPr kumimoji="1" lang="en-US" altLang="zh-CN" dirty="0"/>
              <a:t>VA space: 8-bit, one page: 16B</a:t>
            </a:r>
          </a:p>
          <a:p>
            <a:pPr lvl="1"/>
            <a:r>
              <a:rPr kumimoji="1" lang="en-US" altLang="zh-CN" dirty="0"/>
              <a:t>Array: starting at VA=100 (VPN=6)</a:t>
            </a:r>
          </a:p>
          <a:p>
            <a:pPr lvl="1"/>
            <a:r>
              <a:rPr lang="en-US" altLang="zh-CN" dirty="0"/>
              <a:t>VPN: 4-bit, VPO: 4-bit</a:t>
            </a:r>
          </a:p>
          <a:p>
            <a:pPr lvl="1"/>
            <a:r>
              <a:rPr lang="zh-CN" altLang="en-US" dirty="0"/>
              <a:t>计算下列代码的</a:t>
            </a:r>
            <a:r>
              <a:rPr lang="en-US" altLang="zh-CN" dirty="0"/>
              <a:t>TLB</a:t>
            </a:r>
            <a:r>
              <a:rPr lang="zh-CN" altLang="en-US" dirty="0"/>
              <a:t>命中率：</a:t>
            </a:r>
            <a:endParaRPr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B01C9-CC9E-4042-87A9-F49D20F0019F}" type="slidenum">
              <a:rPr lang="zh-CN" altLang="en-US" smtClean="0"/>
              <a:pPr/>
              <a:t>50</a:t>
            </a:fld>
            <a:endParaRPr lang="en-US" altLang="zh-CN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0" y="4114800"/>
            <a:ext cx="4013200" cy="140970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444500" y="5524500"/>
            <a:ext cx="2845651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a[0], a[3], a[7] miss;</a:t>
            </a:r>
          </a:p>
          <a:p>
            <a:r>
              <a:rPr lang="zh-CN" altLang="en-US" dirty="0"/>
              <a:t>其余</a:t>
            </a:r>
            <a:r>
              <a:rPr lang="en-US" altLang="zh-CN" dirty="0"/>
              <a:t>hit</a:t>
            </a:r>
            <a:r>
              <a:rPr lang="zh-CN" altLang="en-US" dirty="0"/>
              <a:t>。命中率</a:t>
            </a:r>
            <a:r>
              <a:rPr lang="en-US" altLang="zh-CN" dirty="0"/>
              <a:t>=70%</a:t>
            </a:r>
          </a:p>
          <a:p>
            <a:r>
              <a:rPr lang="zh-CN" altLang="en-US" dirty="0"/>
              <a:t>即使</a:t>
            </a:r>
            <a:r>
              <a:rPr lang="en-US" altLang="zh-CN" dirty="0"/>
              <a:t>TLB</a:t>
            </a:r>
            <a:r>
              <a:rPr lang="zh-CN" altLang="en-US" dirty="0"/>
              <a:t>大小为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3497317" y="5664368"/>
            <a:ext cx="2370083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(Spatial locality)</a:t>
            </a:r>
          </a:p>
          <a:p>
            <a:r>
              <a:rPr lang="en-US" altLang="zh-CN" dirty="0"/>
              <a:t>Page</a:t>
            </a:r>
            <a:r>
              <a:rPr lang="zh-CN" altLang="en-US" dirty="0"/>
              <a:t>增大，命中率进一步提升</a:t>
            </a:r>
          </a:p>
        </p:txBody>
      </p:sp>
    </p:spTree>
    <p:extLst>
      <p:ext uri="{BB962C8B-B14F-4D97-AF65-F5344CB8AC3E}">
        <p14:creationId xmlns:p14="http://schemas.microsoft.com/office/powerpoint/2010/main" val="135166143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Paging: Faster Translations (TLBs)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Who Handles The TLB Miss? </a:t>
            </a:r>
          </a:p>
          <a:p>
            <a:pPr lvl="1"/>
            <a:r>
              <a:rPr kumimoji="1" lang="en-US" altLang="zh-CN" dirty="0"/>
              <a:t>Hardware, or OS?</a:t>
            </a:r>
          </a:p>
          <a:p>
            <a:pPr lvl="1"/>
            <a:r>
              <a:rPr lang="zh-CN" altLang="en-US" dirty="0"/>
              <a:t>早期，都是</a:t>
            </a:r>
            <a:r>
              <a:rPr lang="en-US" altLang="zh-CN" dirty="0"/>
              <a:t>hardware</a:t>
            </a:r>
            <a:r>
              <a:rPr lang="zh-CN" altLang="en-US" dirty="0"/>
              <a:t>处理（不信任</a:t>
            </a:r>
            <a:r>
              <a:rPr lang="en-US" altLang="zh-CN" dirty="0"/>
              <a:t>OS</a:t>
            </a:r>
            <a:r>
              <a:rPr lang="zh-CN" altLang="en-US" dirty="0"/>
              <a:t>），</a:t>
            </a:r>
            <a:r>
              <a:rPr lang="en-US" altLang="zh-CN" dirty="0"/>
              <a:t>TLB</a:t>
            </a:r>
            <a:r>
              <a:rPr lang="zh-CN" altLang="en-US" dirty="0"/>
              <a:t>需要知道</a:t>
            </a:r>
            <a:r>
              <a:rPr lang="en-US" altLang="zh-CN" dirty="0"/>
              <a:t>page table</a:t>
            </a:r>
            <a:r>
              <a:rPr lang="zh-CN" altLang="en-US" dirty="0"/>
              <a:t>的物理地址</a:t>
            </a:r>
            <a:endParaRPr lang="en-US" altLang="zh-CN" dirty="0"/>
          </a:p>
          <a:p>
            <a:pPr lvl="2"/>
            <a:r>
              <a:rPr kumimoji="1" lang="en-US" altLang="zh-CN" dirty="0"/>
              <a:t>E.g., intel x86 architecture</a:t>
            </a:r>
          </a:p>
          <a:p>
            <a:pPr lvl="1"/>
            <a:r>
              <a:rPr lang="zh-CN" altLang="en-US" dirty="0"/>
              <a:t>现代，</a:t>
            </a:r>
            <a:r>
              <a:rPr lang="en-US" altLang="zh-CN" dirty="0"/>
              <a:t>software-managed TLB </a:t>
            </a:r>
          </a:p>
          <a:p>
            <a:pPr lvl="2"/>
            <a:r>
              <a:rPr lang="zh-CN" altLang="en-US" dirty="0"/>
              <a:t>当</a:t>
            </a:r>
            <a:r>
              <a:rPr lang="en-US" altLang="zh-CN" dirty="0"/>
              <a:t>TLB miss</a:t>
            </a:r>
            <a:r>
              <a:rPr lang="zh-CN" altLang="en-US" dirty="0"/>
              <a:t>时，抛出一个</a:t>
            </a:r>
            <a:r>
              <a:rPr lang="en-US" altLang="zh-CN" dirty="0"/>
              <a:t>exception</a:t>
            </a:r>
          </a:p>
          <a:p>
            <a:pPr lvl="2"/>
            <a:r>
              <a:rPr lang="zh-CN" altLang="en-US" dirty="0"/>
              <a:t>陷入</a:t>
            </a:r>
            <a:r>
              <a:rPr lang="en-US" altLang="zh-CN" dirty="0"/>
              <a:t>kernel mode</a:t>
            </a:r>
            <a:r>
              <a:rPr lang="zh-CN" altLang="en-US" dirty="0"/>
              <a:t>，在</a:t>
            </a:r>
            <a:r>
              <a:rPr lang="en-US" altLang="zh-CN" dirty="0"/>
              <a:t>handler</a:t>
            </a:r>
            <a:r>
              <a:rPr lang="zh-CN" altLang="en-US" dirty="0"/>
              <a:t>处理</a:t>
            </a:r>
            <a:r>
              <a:rPr lang="en-US" altLang="zh-CN" dirty="0"/>
              <a:t>TLB</a:t>
            </a:r>
            <a:r>
              <a:rPr lang="zh-CN" altLang="en-US" dirty="0"/>
              <a:t> </a:t>
            </a:r>
            <a:r>
              <a:rPr lang="en-US" altLang="zh-CN" dirty="0"/>
              <a:t>miss</a:t>
            </a:r>
          </a:p>
          <a:p>
            <a:pPr lvl="2"/>
            <a:r>
              <a:rPr lang="zh-CN" altLang="en-US" dirty="0"/>
              <a:t>之后回到原指令流，重试指令，</a:t>
            </a:r>
            <a:r>
              <a:rPr lang="en-US" altLang="zh-CN" dirty="0"/>
              <a:t>TLB hit</a:t>
            </a:r>
          </a:p>
          <a:p>
            <a:pPr lvl="2"/>
            <a:r>
              <a:rPr kumimoji="1" lang="en-US" altLang="zh-CN" dirty="0"/>
              <a:t>E.g., MIPS R10k, Sun SPARK v9 (RISC)</a:t>
            </a:r>
          </a:p>
          <a:p>
            <a:pPr lvl="1"/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B01C9-CC9E-4042-87A9-F49D20F0019F}" type="slidenum">
              <a:rPr lang="zh-CN" altLang="en-US" smtClean="0"/>
              <a:pPr/>
              <a:t>51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1073963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Paging: Faster Translations (TLBs)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400" dirty="0"/>
              <a:t>TLB Control Flow Algorithm (OS Handled) </a:t>
            </a:r>
          </a:p>
          <a:p>
            <a:endParaRPr kumimoji="1" lang="zh-CN" altLang="en-US" sz="240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B01C9-CC9E-4042-87A9-F49D20F0019F}" type="slidenum">
              <a:rPr lang="zh-CN" altLang="en-US" smtClean="0"/>
              <a:pPr/>
              <a:t>52</a:t>
            </a:fld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0" y="2438400"/>
            <a:ext cx="7899400" cy="311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07419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Paging: Faster Translations (TLBs)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软件处理</a:t>
            </a:r>
            <a:r>
              <a:rPr lang="en-US" altLang="zh-CN" dirty="0"/>
              <a:t>TLB</a:t>
            </a:r>
            <a:r>
              <a:rPr lang="zh-CN" altLang="en-US" dirty="0"/>
              <a:t> </a:t>
            </a:r>
            <a:r>
              <a:rPr lang="en-US" altLang="zh-CN" dirty="0"/>
              <a:t>miss</a:t>
            </a:r>
            <a:r>
              <a:rPr lang="zh-CN" altLang="en-US" dirty="0"/>
              <a:t>方式的优点：</a:t>
            </a:r>
            <a:endParaRPr lang="en-US" altLang="zh-CN" dirty="0"/>
          </a:p>
          <a:p>
            <a:pPr lvl="1"/>
            <a:r>
              <a:rPr lang="en-US" altLang="zh-CN" b="1" dirty="0"/>
              <a:t>Flexibility</a:t>
            </a:r>
            <a:r>
              <a:rPr lang="en-US" altLang="zh-CN" dirty="0"/>
              <a:t>: OS can use any data structure it wants to implement the page table, without necessitating hardware change. </a:t>
            </a:r>
          </a:p>
          <a:p>
            <a:pPr lvl="1"/>
            <a:r>
              <a:rPr lang="en-US" altLang="zh-CN" b="1" dirty="0"/>
              <a:t>Simplicity</a:t>
            </a:r>
            <a:r>
              <a:rPr lang="en-US" altLang="zh-CN" dirty="0"/>
              <a:t>: hardware doesn’t have to do much on a miss </a:t>
            </a:r>
          </a:p>
          <a:p>
            <a:pPr lvl="2"/>
            <a:endParaRPr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B01C9-CC9E-4042-87A9-F49D20F0019F}" type="slidenum">
              <a:rPr lang="zh-CN" altLang="en-US" smtClean="0"/>
              <a:pPr/>
              <a:t>53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563484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Paging: Faster Translations (TLBs)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TLB Contents: What’s In There? </a:t>
            </a:r>
          </a:p>
          <a:p>
            <a:pPr lvl="1"/>
            <a:r>
              <a:rPr lang="zh-CN" altLang="en-US" dirty="0"/>
              <a:t>典型</a:t>
            </a:r>
            <a:r>
              <a:rPr lang="en-US" altLang="zh-CN" dirty="0"/>
              <a:t>TLB</a:t>
            </a:r>
            <a:r>
              <a:rPr lang="zh-CN" altLang="en-US" dirty="0"/>
              <a:t>：</a:t>
            </a:r>
            <a:r>
              <a:rPr lang="en-US" altLang="zh-CN" dirty="0"/>
              <a:t>32, 64</a:t>
            </a:r>
            <a:r>
              <a:rPr lang="zh-CN" altLang="en-US" dirty="0"/>
              <a:t>或</a:t>
            </a:r>
            <a:r>
              <a:rPr lang="en-US" altLang="zh-CN" dirty="0"/>
              <a:t>128</a:t>
            </a:r>
            <a:r>
              <a:rPr lang="zh-CN" altLang="en-US" dirty="0"/>
              <a:t> </a:t>
            </a:r>
            <a:r>
              <a:rPr lang="en-US" altLang="zh-CN" dirty="0"/>
              <a:t>entries</a:t>
            </a:r>
            <a:r>
              <a:rPr lang="zh-CN" altLang="en-US" dirty="0"/>
              <a:t>，</a:t>
            </a:r>
            <a:r>
              <a:rPr lang="en-US" altLang="zh-CN" dirty="0"/>
              <a:t>fully associative (</a:t>
            </a:r>
            <a:r>
              <a:rPr lang="zh-CN" altLang="en-US" dirty="0"/>
              <a:t>全相连</a:t>
            </a:r>
            <a:r>
              <a:rPr lang="en-US" altLang="zh-CN" dirty="0"/>
              <a:t>)</a:t>
            </a:r>
            <a:r>
              <a:rPr lang="zh-CN" altLang="en-US" dirty="0"/>
              <a:t> </a:t>
            </a:r>
            <a:endParaRPr lang="en-US" altLang="zh-CN" dirty="0"/>
          </a:p>
          <a:p>
            <a:pPr lvl="1"/>
            <a:r>
              <a:rPr lang="zh-CN" altLang="en-US" dirty="0"/>
              <a:t>格式：</a:t>
            </a:r>
            <a:endParaRPr lang="en-US" altLang="zh-CN" dirty="0"/>
          </a:p>
          <a:p>
            <a:pPr lvl="2"/>
            <a:r>
              <a:rPr lang="en-US" altLang="zh-CN" dirty="0"/>
              <a:t>VPN |</a:t>
            </a:r>
            <a:r>
              <a:rPr lang="zh-CN" altLang="en-US" dirty="0"/>
              <a:t> </a:t>
            </a:r>
            <a:r>
              <a:rPr lang="en-US" altLang="zh-CN" dirty="0"/>
              <a:t>PFN |</a:t>
            </a:r>
            <a:r>
              <a:rPr lang="zh-CN" altLang="en-US" dirty="0"/>
              <a:t> </a:t>
            </a:r>
            <a:r>
              <a:rPr lang="en-US" altLang="zh-CN" dirty="0"/>
              <a:t>other bits </a:t>
            </a:r>
          </a:p>
          <a:p>
            <a:pPr lvl="1"/>
            <a:r>
              <a:rPr lang="en-US" altLang="zh-CN" dirty="0"/>
              <a:t>Other bits:</a:t>
            </a:r>
          </a:p>
          <a:p>
            <a:pPr lvl="2"/>
            <a:r>
              <a:rPr lang="en-US" altLang="zh-CN" dirty="0"/>
              <a:t>A Valid bit: </a:t>
            </a:r>
            <a:r>
              <a:rPr lang="zh-CN" altLang="en-US" dirty="0"/>
              <a:t>该</a:t>
            </a:r>
            <a:r>
              <a:rPr lang="en-US" altLang="zh-CN" dirty="0"/>
              <a:t>entry</a:t>
            </a:r>
            <a:r>
              <a:rPr lang="zh-CN" altLang="en-US" dirty="0"/>
              <a:t>是否为有效的地址翻译</a:t>
            </a:r>
            <a:endParaRPr lang="en-US" altLang="zh-CN" dirty="0"/>
          </a:p>
          <a:p>
            <a:pPr lvl="2"/>
            <a:r>
              <a:rPr lang="en-US" altLang="zh-CN" dirty="0"/>
              <a:t>Protection bits</a:t>
            </a:r>
          </a:p>
          <a:p>
            <a:pPr lvl="2"/>
            <a:r>
              <a:rPr lang="en-US" altLang="zh-CN" dirty="0"/>
              <a:t>A Dirty bit</a:t>
            </a:r>
          </a:p>
          <a:p>
            <a:pPr lvl="1"/>
            <a:endParaRPr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B01C9-CC9E-4042-87A9-F49D20F0019F}" type="slidenum">
              <a:rPr lang="zh-CN" altLang="en-US" smtClean="0"/>
              <a:pPr/>
              <a:t>54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840688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7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3A5A9046-9F83-354D-9FBA-AE3330FC9D73}" type="slidenum">
              <a:rPr lang="zh-CN" altLang="en-US" sz="1400" b="0">
                <a:latin typeface="Times New Roman" charset="0"/>
              </a:rPr>
              <a:pPr/>
              <a:t>55</a:t>
            </a:fld>
            <a:endParaRPr lang="en-US" altLang="zh-CN" sz="1400" b="0">
              <a:latin typeface="Times New Roman" charset="0"/>
            </a:endParaRPr>
          </a:p>
        </p:txBody>
      </p:sp>
      <p:sp>
        <p:nvSpPr>
          <p:cNvPr id="142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charset="-122"/>
              </a:rPr>
              <a:t>Paging: Faster Translations (TLBs)</a:t>
            </a:r>
          </a:p>
        </p:txBody>
      </p:sp>
      <p:sp>
        <p:nvSpPr>
          <p:cNvPr id="142339" name="Rectangle 5"/>
          <p:cNvSpPr>
            <a:spLocks noChangeArrowheads="1"/>
          </p:cNvSpPr>
          <p:nvPr/>
        </p:nvSpPr>
        <p:spPr bwMode="auto">
          <a:xfrm>
            <a:off x="692150" y="2012950"/>
            <a:ext cx="3200400" cy="422275"/>
          </a:xfrm>
          <a:prstGeom prst="rect">
            <a:avLst/>
          </a:prstGeom>
          <a:solidFill>
            <a:srgbClr val="FF99CC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0487" tIns="44450" rIns="90487" bIns="44450" anchor="ctr"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ctr"/>
            <a:r>
              <a:rPr lang="en-US" altLang="zh-CN" sz="1800" b="0">
                <a:latin typeface="Helvetica" charset="0"/>
              </a:rPr>
              <a:t>virtual page number</a:t>
            </a:r>
          </a:p>
        </p:txBody>
      </p:sp>
      <p:sp>
        <p:nvSpPr>
          <p:cNvPr id="142340" name="Rectangle 6"/>
          <p:cNvSpPr>
            <a:spLocks noChangeArrowheads="1"/>
          </p:cNvSpPr>
          <p:nvPr/>
        </p:nvSpPr>
        <p:spPr bwMode="auto">
          <a:xfrm>
            <a:off x="3892550" y="2012950"/>
            <a:ext cx="2197100" cy="422275"/>
          </a:xfrm>
          <a:prstGeom prst="rect">
            <a:avLst/>
          </a:prstGeom>
          <a:solidFill>
            <a:srgbClr val="66FF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0487" tIns="44450" rIns="90487" bIns="44450" anchor="ctr"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ctr"/>
            <a:r>
              <a:rPr lang="en-US" altLang="zh-CN" sz="1800" b="0">
                <a:latin typeface="Helvetica" charset="0"/>
              </a:rPr>
              <a:t>page offset</a:t>
            </a:r>
          </a:p>
        </p:txBody>
      </p:sp>
      <p:sp>
        <p:nvSpPr>
          <p:cNvPr id="142341" name="Rectangle 7"/>
          <p:cNvSpPr>
            <a:spLocks noChangeArrowheads="1"/>
          </p:cNvSpPr>
          <p:nvPr/>
        </p:nvSpPr>
        <p:spPr bwMode="auto">
          <a:xfrm>
            <a:off x="6183313" y="1979613"/>
            <a:ext cx="182403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r>
              <a:rPr lang="en-US" altLang="zh-CN" sz="1800">
                <a:solidFill>
                  <a:srgbClr val="FF0000"/>
                </a:solidFill>
                <a:latin typeface="Helvetica" charset="0"/>
              </a:rPr>
              <a:t>virtual address</a:t>
            </a:r>
          </a:p>
        </p:txBody>
      </p:sp>
      <p:sp>
        <p:nvSpPr>
          <p:cNvPr id="142342" name="Rectangle 8"/>
          <p:cNvSpPr>
            <a:spLocks noChangeArrowheads="1"/>
          </p:cNvSpPr>
          <p:nvPr/>
        </p:nvSpPr>
        <p:spPr bwMode="auto">
          <a:xfrm>
            <a:off x="996950" y="5022850"/>
            <a:ext cx="2895600" cy="422275"/>
          </a:xfrm>
          <a:prstGeom prst="rect">
            <a:avLst/>
          </a:prstGeom>
          <a:solidFill>
            <a:srgbClr val="CC99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0487" tIns="44450" rIns="90487" bIns="44450" anchor="ctr"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ctr"/>
            <a:r>
              <a:rPr lang="en-US" altLang="zh-CN" sz="1800" b="0">
                <a:latin typeface="Helvetica" charset="0"/>
              </a:rPr>
              <a:t>physical page number</a:t>
            </a:r>
          </a:p>
        </p:txBody>
      </p:sp>
      <p:sp>
        <p:nvSpPr>
          <p:cNvPr id="142343" name="Rectangle 9"/>
          <p:cNvSpPr>
            <a:spLocks noChangeArrowheads="1"/>
          </p:cNvSpPr>
          <p:nvPr/>
        </p:nvSpPr>
        <p:spPr bwMode="auto">
          <a:xfrm>
            <a:off x="3892550" y="5022850"/>
            <a:ext cx="2197100" cy="422275"/>
          </a:xfrm>
          <a:prstGeom prst="rect">
            <a:avLst/>
          </a:prstGeom>
          <a:solidFill>
            <a:srgbClr val="66FF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0487" tIns="44450" rIns="90487" bIns="44450" anchor="ctr"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ctr"/>
            <a:r>
              <a:rPr lang="en-US" altLang="zh-CN" sz="1800" b="0">
                <a:latin typeface="Helvetica" charset="0"/>
              </a:rPr>
              <a:t>page offset</a:t>
            </a:r>
          </a:p>
        </p:txBody>
      </p:sp>
      <p:sp>
        <p:nvSpPr>
          <p:cNvPr id="142344" name="Rectangle 10"/>
          <p:cNvSpPr>
            <a:spLocks noChangeArrowheads="1"/>
          </p:cNvSpPr>
          <p:nvPr/>
        </p:nvSpPr>
        <p:spPr bwMode="auto">
          <a:xfrm>
            <a:off x="6259513" y="4989513"/>
            <a:ext cx="205581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r>
              <a:rPr lang="en-US" altLang="zh-CN" sz="1800">
                <a:solidFill>
                  <a:srgbClr val="9900CC"/>
                </a:solidFill>
                <a:latin typeface="Helvetica" charset="0"/>
              </a:rPr>
              <a:t>physical address</a:t>
            </a:r>
          </a:p>
        </p:txBody>
      </p:sp>
      <p:sp>
        <p:nvSpPr>
          <p:cNvPr id="142345" name="Line 11"/>
          <p:cNvSpPr>
            <a:spLocks noChangeShapeType="1"/>
          </p:cNvSpPr>
          <p:nvPr/>
        </p:nvSpPr>
        <p:spPr bwMode="auto">
          <a:xfrm>
            <a:off x="5105400" y="2590800"/>
            <a:ext cx="0" cy="21986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2346" name="Rectangle 12"/>
          <p:cNvSpPr>
            <a:spLocks noChangeArrowheads="1"/>
          </p:cNvSpPr>
          <p:nvPr/>
        </p:nvSpPr>
        <p:spPr bwMode="auto">
          <a:xfrm>
            <a:off x="5929313" y="4606925"/>
            <a:ext cx="307975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r>
              <a:rPr lang="en-US" altLang="zh-CN" sz="1800" b="0">
                <a:latin typeface="Helvetica" charset="0"/>
              </a:rPr>
              <a:t>0</a:t>
            </a:r>
          </a:p>
        </p:txBody>
      </p:sp>
      <p:sp>
        <p:nvSpPr>
          <p:cNvPr id="142347" name="Rectangle 13"/>
          <p:cNvSpPr>
            <a:spLocks noChangeArrowheads="1"/>
          </p:cNvSpPr>
          <p:nvPr/>
        </p:nvSpPr>
        <p:spPr bwMode="auto">
          <a:xfrm>
            <a:off x="3871913" y="4606925"/>
            <a:ext cx="561975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r>
              <a:rPr lang="en-US" altLang="zh-CN" sz="1800" b="0">
                <a:latin typeface="Helvetica" charset="0"/>
              </a:rPr>
              <a:t>p–1</a:t>
            </a:r>
          </a:p>
        </p:txBody>
      </p:sp>
      <p:sp>
        <p:nvSpPr>
          <p:cNvPr id="142348" name="Oval 14"/>
          <p:cNvSpPr>
            <a:spLocks noChangeArrowheads="1"/>
          </p:cNvSpPr>
          <p:nvPr/>
        </p:nvSpPr>
        <p:spPr bwMode="auto">
          <a:xfrm>
            <a:off x="1301750" y="3698875"/>
            <a:ext cx="2425700" cy="509588"/>
          </a:xfrm>
          <a:prstGeom prst="ellipse">
            <a:avLst/>
          </a:prstGeom>
          <a:solidFill>
            <a:srgbClr val="FFFF00">
              <a:alpha val="50195"/>
            </a:srgb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0487" tIns="44450" rIns="90487" bIns="44450" anchor="ctr"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ctr"/>
            <a:r>
              <a:rPr lang="en-US" altLang="zh-CN" sz="1800" b="0">
                <a:latin typeface="Helvetica" charset="0"/>
              </a:rPr>
              <a:t>address translation</a:t>
            </a:r>
          </a:p>
        </p:txBody>
      </p:sp>
      <p:sp>
        <p:nvSpPr>
          <p:cNvPr id="142349" name="Rectangle 15"/>
          <p:cNvSpPr>
            <a:spLocks noChangeArrowheads="1"/>
          </p:cNvSpPr>
          <p:nvPr/>
        </p:nvSpPr>
        <p:spPr bwMode="auto">
          <a:xfrm>
            <a:off x="3567113" y="4606925"/>
            <a:ext cx="307975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r>
              <a:rPr lang="en-US" altLang="zh-CN" sz="1800" b="0">
                <a:latin typeface="Helvetica" charset="0"/>
              </a:rPr>
              <a:t>p</a:t>
            </a:r>
          </a:p>
        </p:txBody>
      </p:sp>
      <p:sp>
        <p:nvSpPr>
          <p:cNvPr id="142350" name="Rectangle 16"/>
          <p:cNvSpPr>
            <a:spLocks noChangeArrowheads="1"/>
          </p:cNvSpPr>
          <p:nvPr/>
        </p:nvSpPr>
        <p:spPr bwMode="auto">
          <a:xfrm>
            <a:off x="976313" y="4606925"/>
            <a:ext cx="625475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r>
              <a:rPr lang="en-US" altLang="zh-CN" sz="1800" b="0">
                <a:latin typeface="Helvetica" charset="0"/>
              </a:rPr>
              <a:t>m–1</a:t>
            </a:r>
          </a:p>
        </p:txBody>
      </p:sp>
      <p:sp>
        <p:nvSpPr>
          <p:cNvPr id="142351" name="Rectangle 17"/>
          <p:cNvSpPr>
            <a:spLocks noChangeArrowheads="1"/>
          </p:cNvSpPr>
          <p:nvPr/>
        </p:nvSpPr>
        <p:spPr bwMode="auto">
          <a:xfrm>
            <a:off x="671513" y="1630363"/>
            <a:ext cx="561975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r>
              <a:rPr lang="en-US" altLang="zh-CN" sz="1800" b="0">
                <a:latin typeface="Helvetica" charset="0"/>
              </a:rPr>
              <a:t>n–1</a:t>
            </a:r>
          </a:p>
        </p:txBody>
      </p:sp>
      <p:sp>
        <p:nvSpPr>
          <p:cNvPr id="142352" name="Rectangle 18"/>
          <p:cNvSpPr>
            <a:spLocks noChangeArrowheads="1"/>
          </p:cNvSpPr>
          <p:nvPr/>
        </p:nvSpPr>
        <p:spPr bwMode="auto">
          <a:xfrm>
            <a:off x="5786438" y="1630363"/>
            <a:ext cx="307975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r>
              <a:rPr lang="en-US" altLang="zh-CN" sz="1800" b="0">
                <a:latin typeface="Helvetica" charset="0"/>
              </a:rPr>
              <a:t>0</a:t>
            </a:r>
          </a:p>
        </p:txBody>
      </p:sp>
      <p:sp>
        <p:nvSpPr>
          <p:cNvPr id="142353" name="Rectangle 19"/>
          <p:cNvSpPr>
            <a:spLocks noChangeArrowheads="1"/>
          </p:cNvSpPr>
          <p:nvPr/>
        </p:nvSpPr>
        <p:spPr bwMode="auto">
          <a:xfrm>
            <a:off x="3805238" y="1630363"/>
            <a:ext cx="561975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r>
              <a:rPr lang="en-US" altLang="zh-CN" sz="1800" b="0">
                <a:latin typeface="Helvetica" charset="0"/>
              </a:rPr>
              <a:t>p–1</a:t>
            </a:r>
          </a:p>
        </p:txBody>
      </p:sp>
      <p:sp>
        <p:nvSpPr>
          <p:cNvPr id="142354" name="Rectangle 20"/>
          <p:cNvSpPr>
            <a:spLocks noChangeArrowheads="1"/>
          </p:cNvSpPr>
          <p:nvPr/>
        </p:nvSpPr>
        <p:spPr bwMode="auto">
          <a:xfrm>
            <a:off x="3490913" y="1630363"/>
            <a:ext cx="307975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r>
              <a:rPr lang="en-US" altLang="zh-CN" sz="1800" b="0">
                <a:latin typeface="Helvetica" charset="0"/>
              </a:rPr>
              <a:t>p</a:t>
            </a:r>
          </a:p>
        </p:txBody>
      </p:sp>
      <p:sp>
        <p:nvSpPr>
          <p:cNvPr id="142355" name="Line 21"/>
          <p:cNvSpPr>
            <a:spLocks noChangeShapeType="1"/>
          </p:cNvSpPr>
          <p:nvPr/>
        </p:nvSpPr>
        <p:spPr bwMode="auto">
          <a:xfrm>
            <a:off x="2514600" y="2909888"/>
            <a:ext cx="0" cy="765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2356" name="Line 22"/>
          <p:cNvSpPr>
            <a:spLocks noChangeShapeType="1"/>
          </p:cNvSpPr>
          <p:nvPr/>
        </p:nvSpPr>
        <p:spPr bwMode="auto">
          <a:xfrm>
            <a:off x="2514600" y="4225925"/>
            <a:ext cx="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2357" name="Rectangle 5"/>
          <p:cNvSpPr>
            <a:spLocks noChangeArrowheads="1"/>
          </p:cNvSpPr>
          <p:nvPr/>
        </p:nvSpPr>
        <p:spPr bwMode="auto">
          <a:xfrm>
            <a:off x="692150" y="2435225"/>
            <a:ext cx="1898650" cy="422275"/>
          </a:xfrm>
          <a:prstGeom prst="rect">
            <a:avLst/>
          </a:prstGeom>
          <a:solidFill>
            <a:srgbClr val="FFCC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0487" tIns="44450" rIns="90487" bIns="44450" anchor="ctr"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ctr"/>
            <a:r>
              <a:rPr lang="en-US" altLang="zh-CN" sz="1800" b="0">
                <a:latin typeface="Helvetica" charset="0"/>
              </a:rPr>
              <a:t>TLBT (tag)</a:t>
            </a:r>
          </a:p>
        </p:txBody>
      </p:sp>
      <p:sp>
        <p:nvSpPr>
          <p:cNvPr id="142358" name="Rectangle 5"/>
          <p:cNvSpPr>
            <a:spLocks noChangeArrowheads="1"/>
          </p:cNvSpPr>
          <p:nvPr/>
        </p:nvSpPr>
        <p:spPr bwMode="auto">
          <a:xfrm>
            <a:off x="2590800" y="2435225"/>
            <a:ext cx="1301750" cy="422275"/>
          </a:xfrm>
          <a:prstGeom prst="rect">
            <a:avLst/>
          </a:prstGeom>
          <a:solidFill>
            <a:srgbClr val="FFCC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0487" tIns="44450" rIns="90487" bIns="44450" anchor="ctr"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ctr"/>
            <a:r>
              <a:rPr lang="en-US" altLang="zh-CN" sz="1800" b="0">
                <a:latin typeface="Helvetica" charset="0"/>
              </a:rPr>
              <a:t>TLBI (index) </a:t>
            </a:r>
          </a:p>
        </p:txBody>
      </p:sp>
      <p:sp>
        <p:nvSpPr>
          <p:cNvPr id="142359" name="Rectangle 5"/>
          <p:cNvSpPr>
            <a:spLocks noChangeArrowheads="1"/>
          </p:cNvSpPr>
          <p:nvPr/>
        </p:nvSpPr>
        <p:spPr bwMode="auto">
          <a:xfrm>
            <a:off x="1003300" y="5445125"/>
            <a:ext cx="1587500" cy="422275"/>
          </a:xfrm>
          <a:prstGeom prst="rect">
            <a:avLst/>
          </a:prstGeom>
          <a:solidFill>
            <a:srgbClr val="CCFFCC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0487" tIns="44450" rIns="90487" bIns="44450" anchor="ctr"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ctr"/>
            <a:r>
              <a:rPr lang="en-US" altLang="zh-CN" sz="1800" b="0">
                <a:latin typeface="Helvetica" charset="0"/>
              </a:rPr>
              <a:t>Cache tag</a:t>
            </a:r>
          </a:p>
        </p:txBody>
      </p:sp>
      <p:sp>
        <p:nvSpPr>
          <p:cNvPr id="142360" name="Rectangle 5"/>
          <p:cNvSpPr>
            <a:spLocks noChangeArrowheads="1"/>
          </p:cNvSpPr>
          <p:nvPr/>
        </p:nvSpPr>
        <p:spPr bwMode="auto">
          <a:xfrm>
            <a:off x="2597150" y="5445125"/>
            <a:ext cx="1836738" cy="422275"/>
          </a:xfrm>
          <a:prstGeom prst="rect">
            <a:avLst/>
          </a:prstGeom>
          <a:solidFill>
            <a:srgbClr val="CCFFCC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0487" tIns="44450" rIns="90487" bIns="44450" anchor="ctr"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ctr"/>
            <a:r>
              <a:rPr lang="en-US" altLang="zh-CN" sz="1800" b="0">
                <a:latin typeface="Helvetica" charset="0"/>
              </a:rPr>
              <a:t>Cache index </a:t>
            </a:r>
          </a:p>
        </p:txBody>
      </p:sp>
      <p:sp>
        <p:nvSpPr>
          <p:cNvPr id="142361" name="Rectangle 5"/>
          <p:cNvSpPr>
            <a:spLocks noChangeArrowheads="1"/>
          </p:cNvSpPr>
          <p:nvPr/>
        </p:nvSpPr>
        <p:spPr bwMode="auto">
          <a:xfrm>
            <a:off x="4433888" y="5445125"/>
            <a:ext cx="1660525" cy="422275"/>
          </a:xfrm>
          <a:prstGeom prst="rect">
            <a:avLst/>
          </a:prstGeom>
          <a:solidFill>
            <a:srgbClr val="CCFFCC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0487" tIns="44450" rIns="90487" bIns="44450" anchor="ctr"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ctr"/>
            <a:r>
              <a:rPr lang="en-US" altLang="zh-CN" sz="1800" b="0">
                <a:latin typeface="Helvetica" charset="0"/>
              </a:rPr>
              <a:t>Cache offset </a:t>
            </a:r>
          </a:p>
        </p:txBody>
      </p:sp>
      <p:sp>
        <p:nvSpPr>
          <p:cNvPr id="2" name="矩形 1"/>
          <p:cNvSpPr/>
          <p:nvPr/>
        </p:nvSpPr>
        <p:spPr>
          <a:xfrm>
            <a:off x="5786437" y="2808357"/>
            <a:ext cx="290036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组相连</a:t>
            </a:r>
            <a:r>
              <a:rPr lang="en-US" altLang="zh-CN" dirty="0"/>
              <a:t>TLB</a:t>
            </a:r>
            <a:r>
              <a:rPr lang="zh-CN" altLang="en-US" dirty="0"/>
              <a:t>：</a:t>
            </a:r>
            <a:endParaRPr lang="en-US" altLang="zh-CN" dirty="0"/>
          </a:p>
          <a:p>
            <a:r>
              <a:rPr lang="zh-CN" altLang="en-US" dirty="0"/>
              <a:t>    </a:t>
            </a:r>
            <a:r>
              <a:rPr lang="en-US" altLang="zh-CN" dirty="0"/>
              <a:t>TLBT</a:t>
            </a:r>
            <a:r>
              <a:rPr lang="zh-CN" altLang="en-US" dirty="0"/>
              <a:t>为组编号</a:t>
            </a:r>
          </a:p>
        </p:txBody>
      </p:sp>
    </p:spTree>
    <p:extLst>
      <p:ext uri="{BB962C8B-B14F-4D97-AF65-F5344CB8AC3E}">
        <p14:creationId xmlns:p14="http://schemas.microsoft.com/office/powerpoint/2010/main" val="125320487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5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646F7A26-7416-7547-9528-F4E20B7AD800}" type="slidenum">
              <a:rPr lang="zh-CN" altLang="en-US" sz="1400" b="0">
                <a:latin typeface="Times New Roman" charset="0"/>
              </a:rPr>
              <a:pPr/>
              <a:t>56</a:t>
            </a:fld>
            <a:endParaRPr lang="en-US" altLang="zh-CN" sz="1400" b="0">
              <a:latin typeface="Times New Roman" charset="0"/>
            </a:endParaRPr>
          </a:p>
        </p:txBody>
      </p:sp>
      <p:sp>
        <p:nvSpPr>
          <p:cNvPr id="144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Address Translation</a:t>
            </a:r>
          </a:p>
        </p:txBody>
      </p:sp>
      <p:sp>
        <p:nvSpPr>
          <p:cNvPr id="144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305800" cy="5029200"/>
          </a:xfrm>
        </p:spPr>
        <p:txBody>
          <a:bodyPr/>
          <a:lstStyle/>
          <a:p>
            <a:r>
              <a:rPr kumimoji="0" lang="en-US" altLang="zh-CN">
                <a:ea typeface="宋体" charset="-122"/>
              </a:rPr>
              <a:t>Components of the virtual address (VA)</a:t>
            </a:r>
          </a:p>
          <a:p>
            <a:pPr lvl="1"/>
            <a:r>
              <a:rPr kumimoji="0" lang="en-US" altLang="zh-CN" b="1">
                <a:ea typeface="宋体" charset="-122"/>
              </a:rPr>
              <a:t>VPO</a:t>
            </a:r>
            <a:r>
              <a:rPr kumimoji="0" lang="en-US" altLang="zh-CN">
                <a:ea typeface="宋体" charset="-122"/>
              </a:rPr>
              <a:t>: Virtual page offset </a:t>
            </a:r>
          </a:p>
          <a:p>
            <a:pPr lvl="1"/>
            <a:r>
              <a:rPr kumimoji="0" lang="en-US" altLang="zh-CN" b="1">
                <a:ea typeface="宋体" charset="-122"/>
              </a:rPr>
              <a:t>VPN</a:t>
            </a:r>
            <a:r>
              <a:rPr kumimoji="0" lang="en-US" altLang="zh-CN">
                <a:ea typeface="宋体" charset="-122"/>
              </a:rPr>
              <a:t>: Virtual page number </a:t>
            </a:r>
          </a:p>
          <a:p>
            <a:pPr lvl="1"/>
            <a:r>
              <a:rPr kumimoji="0" lang="en-US" altLang="zh-CN" b="1">
                <a:ea typeface="宋体" charset="-122"/>
              </a:rPr>
              <a:t>TLBI</a:t>
            </a:r>
            <a:r>
              <a:rPr kumimoji="0" lang="en-US" altLang="zh-CN">
                <a:ea typeface="宋体" charset="-122"/>
              </a:rPr>
              <a:t>: TLB index</a:t>
            </a:r>
          </a:p>
          <a:p>
            <a:pPr lvl="1"/>
            <a:r>
              <a:rPr kumimoji="0" lang="en-US" altLang="zh-CN" b="1">
                <a:ea typeface="宋体" charset="-122"/>
              </a:rPr>
              <a:t>TLBT</a:t>
            </a:r>
            <a:r>
              <a:rPr kumimoji="0" lang="en-US" altLang="zh-CN">
                <a:ea typeface="宋体" charset="-122"/>
              </a:rPr>
              <a:t>: TLB tag</a:t>
            </a:r>
          </a:p>
          <a:p>
            <a:r>
              <a:rPr kumimoji="0" lang="en-US" altLang="zh-CN">
                <a:ea typeface="宋体" charset="-122"/>
              </a:rPr>
              <a:t>Components of the physical address (PA)</a:t>
            </a:r>
          </a:p>
          <a:p>
            <a:pPr lvl="1"/>
            <a:r>
              <a:rPr kumimoji="0" lang="en-US" altLang="zh-CN" b="1">
                <a:ea typeface="宋体" charset="-122"/>
              </a:rPr>
              <a:t>PPO</a:t>
            </a:r>
            <a:r>
              <a:rPr kumimoji="0" lang="en-US" altLang="zh-CN">
                <a:ea typeface="宋体" charset="-122"/>
              </a:rPr>
              <a:t>: Physical page offset (same as VPO)</a:t>
            </a:r>
          </a:p>
          <a:p>
            <a:pPr lvl="1"/>
            <a:r>
              <a:rPr kumimoji="0" lang="en-US" altLang="zh-CN" b="1">
                <a:ea typeface="宋体" charset="-122"/>
              </a:rPr>
              <a:t>PPN:</a:t>
            </a:r>
            <a:r>
              <a:rPr kumimoji="0" lang="en-US" altLang="zh-CN">
                <a:ea typeface="宋体" charset="-122"/>
              </a:rPr>
              <a:t> Physical page number</a:t>
            </a:r>
          </a:p>
          <a:p>
            <a:pPr lvl="1"/>
            <a:r>
              <a:rPr kumimoji="0" lang="en-US" altLang="zh-CN" b="1">
                <a:ea typeface="宋体" charset="-122"/>
              </a:rPr>
              <a:t>CO</a:t>
            </a:r>
            <a:r>
              <a:rPr kumimoji="0" lang="en-US" altLang="zh-CN">
                <a:ea typeface="宋体" charset="-122"/>
              </a:rPr>
              <a:t>: Byte offset within cache line</a:t>
            </a:r>
          </a:p>
          <a:p>
            <a:pPr lvl="1"/>
            <a:r>
              <a:rPr kumimoji="0" lang="en-US" altLang="zh-CN" b="1">
                <a:ea typeface="宋体" charset="-122"/>
              </a:rPr>
              <a:t>CI:</a:t>
            </a:r>
            <a:r>
              <a:rPr kumimoji="0" lang="en-US" altLang="zh-CN">
                <a:ea typeface="宋体" charset="-122"/>
              </a:rPr>
              <a:t> Cache index</a:t>
            </a:r>
          </a:p>
          <a:p>
            <a:pPr lvl="1"/>
            <a:r>
              <a:rPr kumimoji="0" lang="en-US" altLang="zh-CN" b="1">
                <a:ea typeface="宋体" charset="-122"/>
              </a:rPr>
              <a:t>CT</a:t>
            </a:r>
            <a:r>
              <a:rPr kumimoji="0" lang="en-US" altLang="zh-CN">
                <a:ea typeface="宋体" charset="-122"/>
              </a:rPr>
              <a:t>: Cache tag</a:t>
            </a:r>
          </a:p>
        </p:txBody>
      </p:sp>
    </p:spTree>
    <p:extLst>
      <p:ext uri="{BB962C8B-B14F-4D97-AF65-F5344CB8AC3E}">
        <p14:creationId xmlns:p14="http://schemas.microsoft.com/office/powerpoint/2010/main" val="187665221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3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27F513BC-77C6-5B47-9F5F-9E4D3AF35FE6}" type="slidenum">
              <a:rPr lang="zh-CN" altLang="en-US" sz="1400" b="0">
                <a:latin typeface="Times New Roman" charset="0"/>
              </a:rPr>
              <a:pPr/>
              <a:t>57</a:t>
            </a:fld>
            <a:endParaRPr lang="en-US" altLang="zh-CN" sz="1400" b="0">
              <a:latin typeface="Times New Roman" charset="0"/>
            </a:endParaRPr>
          </a:p>
        </p:txBody>
      </p:sp>
      <p:sp>
        <p:nvSpPr>
          <p:cNvPr id="146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charset="-122"/>
              </a:rPr>
              <a:t>Paging: Faster Translations (TLBs)</a:t>
            </a:r>
          </a:p>
        </p:txBody>
      </p:sp>
      <p:sp>
        <p:nvSpPr>
          <p:cNvPr id="146435" name="Rectangle 101"/>
          <p:cNvSpPr>
            <a:spLocks noChangeArrowheads="1"/>
          </p:cNvSpPr>
          <p:nvPr/>
        </p:nvSpPr>
        <p:spPr bwMode="auto">
          <a:xfrm>
            <a:off x="5618163" y="1711325"/>
            <a:ext cx="1550987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46037" tIns="23812" rIns="46037" bIns="23812">
            <a:spAutoFit/>
          </a:bodyPr>
          <a:lstStyle>
            <a:lvl1pPr defTabSz="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 defTabSz="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 defTabSz="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 defTabSz="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 defTabSz="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r>
              <a:rPr lang="en-US" altLang="zh-CN" sz="1400">
                <a:latin typeface="Helvetica" charset="0"/>
              </a:rPr>
              <a:t>virtual address</a:t>
            </a:r>
          </a:p>
        </p:txBody>
      </p:sp>
      <p:sp>
        <p:nvSpPr>
          <p:cNvPr id="146436" name="Rectangle 102"/>
          <p:cNvSpPr>
            <a:spLocks noChangeArrowheads="1"/>
          </p:cNvSpPr>
          <p:nvPr/>
        </p:nvSpPr>
        <p:spPr bwMode="auto">
          <a:xfrm>
            <a:off x="2451100" y="1752600"/>
            <a:ext cx="1936750" cy="228600"/>
          </a:xfrm>
          <a:prstGeom prst="rect">
            <a:avLst/>
          </a:prstGeom>
          <a:solidFill>
            <a:srgbClr val="FF99CC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46037" tIns="23812" rIns="46037" bIns="23812" anchor="ctr"/>
          <a:lstStyle>
            <a:lvl1pPr defTabSz="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 defTabSz="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 defTabSz="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 defTabSz="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 defTabSz="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ctr"/>
            <a:r>
              <a:rPr lang="en-US" altLang="zh-CN" sz="1400">
                <a:latin typeface="Helvetica" charset="0"/>
              </a:rPr>
              <a:t>virtual page number</a:t>
            </a:r>
          </a:p>
        </p:txBody>
      </p:sp>
      <p:sp>
        <p:nvSpPr>
          <p:cNvPr id="146437" name="Rectangle 103"/>
          <p:cNvSpPr>
            <a:spLocks noChangeArrowheads="1"/>
          </p:cNvSpPr>
          <p:nvPr/>
        </p:nvSpPr>
        <p:spPr bwMode="auto">
          <a:xfrm>
            <a:off x="4387850" y="1752600"/>
            <a:ext cx="1100138" cy="223838"/>
          </a:xfrm>
          <a:prstGeom prst="rect">
            <a:avLst/>
          </a:prstGeom>
          <a:solidFill>
            <a:srgbClr val="66FF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46037" tIns="23812" rIns="46037" bIns="23812" anchor="ctr"/>
          <a:lstStyle>
            <a:lvl1pPr defTabSz="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 defTabSz="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 defTabSz="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 defTabSz="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 defTabSz="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ctr"/>
            <a:r>
              <a:rPr lang="en-US" altLang="zh-CN" sz="1400">
                <a:latin typeface="Helvetica" charset="0"/>
              </a:rPr>
              <a:t>page offset</a:t>
            </a:r>
          </a:p>
        </p:txBody>
      </p:sp>
      <p:sp>
        <p:nvSpPr>
          <p:cNvPr id="146438" name="Line 105"/>
          <p:cNvSpPr>
            <a:spLocks noChangeShapeType="1"/>
          </p:cNvSpPr>
          <p:nvPr/>
        </p:nvSpPr>
        <p:spPr bwMode="auto">
          <a:xfrm>
            <a:off x="5029200" y="1981200"/>
            <a:ext cx="0" cy="20145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6439" name="Rectangle 106"/>
          <p:cNvSpPr>
            <a:spLocks noChangeArrowheads="1"/>
          </p:cNvSpPr>
          <p:nvPr/>
        </p:nvSpPr>
        <p:spPr bwMode="auto">
          <a:xfrm>
            <a:off x="2362200" y="1524000"/>
            <a:ext cx="396875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46037" tIns="23812" rIns="46037" bIns="23812">
            <a:spAutoFit/>
          </a:bodyPr>
          <a:lstStyle>
            <a:lvl1pPr defTabSz="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 defTabSz="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 defTabSz="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 defTabSz="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 defTabSz="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r>
              <a:rPr lang="en-US" altLang="zh-CN" sz="1400">
                <a:latin typeface="Helvetica" charset="0"/>
              </a:rPr>
              <a:t>n–1</a:t>
            </a:r>
          </a:p>
        </p:txBody>
      </p:sp>
      <p:sp>
        <p:nvSpPr>
          <p:cNvPr id="146440" name="Rectangle 107"/>
          <p:cNvSpPr>
            <a:spLocks noChangeArrowheads="1"/>
          </p:cNvSpPr>
          <p:nvPr/>
        </p:nvSpPr>
        <p:spPr bwMode="auto">
          <a:xfrm>
            <a:off x="5330825" y="1524000"/>
            <a:ext cx="19050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46037" tIns="23812" rIns="46037" bIns="23812">
            <a:spAutoFit/>
          </a:bodyPr>
          <a:lstStyle>
            <a:lvl1pPr defTabSz="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 defTabSz="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 defTabSz="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 defTabSz="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 defTabSz="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r>
              <a:rPr lang="en-US" altLang="zh-CN" sz="1400">
                <a:latin typeface="Helvetica" charset="0"/>
              </a:rPr>
              <a:t>0</a:t>
            </a:r>
          </a:p>
        </p:txBody>
      </p:sp>
      <p:sp>
        <p:nvSpPr>
          <p:cNvPr id="146441" name="Rectangle 108"/>
          <p:cNvSpPr>
            <a:spLocks noChangeArrowheads="1"/>
          </p:cNvSpPr>
          <p:nvPr/>
        </p:nvSpPr>
        <p:spPr bwMode="auto">
          <a:xfrm>
            <a:off x="4340225" y="1524000"/>
            <a:ext cx="396875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46037" tIns="23812" rIns="46037" bIns="23812">
            <a:spAutoFit/>
          </a:bodyPr>
          <a:lstStyle>
            <a:lvl1pPr defTabSz="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 defTabSz="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 defTabSz="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 defTabSz="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 defTabSz="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r>
              <a:rPr lang="en-US" altLang="zh-CN" sz="1400">
                <a:latin typeface="Helvetica" charset="0"/>
              </a:rPr>
              <a:t>p–1</a:t>
            </a:r>
          </a:p>
        </p:txBody>
      </p:sp>
      <p:sp>
        <p:nvSpPr>
          <p:cNvPr id="146442" name="Rectangle 109"/>
          <p:cNvSpPr>
            <a:spLocks noChangeArrowheads="1"/>
          </p:cNvSpPr>
          <p:nvPr/>
        </p:nvSpPr>
        <p:spPr bwMode="auto">
          <a:xfrm>
            <a:off x="4106863" y="1524000"/>
            <a:ext cx="200025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46037" tIns="23812" rIns="46037" bIns="23812">
            <a:spAutoFit/>
          </a:bodyPr>
          <a:lstStyle>
            <a:lvl1pPr defTabSz="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 defTabSz="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 defTabSz="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 defTabSz="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 defTabSz="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r>
              <a:rPr lang="en-US" altLang="zh-CN" sz="1400">
                <a:latin typeface="Helvetica" charset="0"/>
              </a:rPr>
              <a:t>p</a:t>
            </a:r>
          </a:p>
        </p:txBody>
      </p:sp>
      <p:sp>
        <p:nvSpPr>
          <p:cNvPr id="146443" name="Rectangle 110"/>
          <p:cNvSpPr>
            <a:spLocks noChangeArrowheads="1"/>
          </p:cNvSpPr>
          <p:nvPr/>
        </p:nvSpPr>
        <p:spPr bwMode="auto">
          <a:xfrm>
            <a:off x="3016250" y="2552700"/>
            <a:ext cx="1708150" cy="14287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endParaRPr lang="zh-CN" altLang="en-US"/>
          </a:p>
        </p:txBody>
      </p:sp>
      <p:sp>
        <p:nvSpPr>
          <p:cNvPr id="146444" name="Line 111"/>
          <p:cNvSpPr>
            <a:spLocks noChangeShapeType="1"/>
          </p:cNvSpPr>
          <p:nvPr/>
        </p:nvSpPr>
        <p:spPr bwMode="auto">
          <a:xfrm>
            <a:off x="3429000" y="1905000"/>
            <a:ext cx="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6445" name="Rectangle 112"/>
          <p:cNvSpPr>
            <a:spLocks noChangeArrowheads="1"/>
          </p:cNvSpPr>
          <p:nvPr/>
        </p:nvSpPr>
        <p:spPr bwMode="auto">
          <a:xfrm>
            <a:off x="2049463" y="2324100"/>
            <a:ext cx="492125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46037" tIns="23812" rIns="46037" bIns="23812">
            <a:spAutoFit/>
          </a:bodyPr>
          <a:lstStyle>
            <a:lvl1pPr defTabSz="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 defTabSz="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 defTabSz="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 defTabSz="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 defTabSz="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r>
              <a:rPr lang="en-US" altLang="zh-CN" sz="1400">
                <a:latin typeface="Helvetica" charset="0"/>
              </a:rPr>
              <a:t>valid</a:t>
            </a:r>
          </a:p>
        </p:txBody>
      </p:sp>
      <p:sp>
        <p:nvSpPr>
          <p:cNvPr id="146446" name="Rectangle 113"/>
          <p:cNvSpPr>
            <a:spLocks noChangeArrowheads="1"/>
          </p:cNvSpPr>
          <p:nvPr/>
        </p:nvSpPr>
        <p:spPr bwMode="auto">
          <a:xfrm>
            <a:off x="3065463" y="2324100"/>
            <a:ext cx="196215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46037" tIns="23812" rIns="46037" bIns="23812">
            <a:spAutoFit/>
          </a:bodyPr>
          <a:lstStyle>
            <a:lvl1pPr defTabSz="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 defTabSz="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 defTabSz="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 defTabSz="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 defTabSz="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r>
              <a:rPr lang="en-US" altLang="zh-CN" sz="1400">
                <a:latin typeface="Helvetica" charset="0"/>
              </a:rPr>
              <a:t>physical page number</a:t>
            </a:r>
          </a:p>
        </p:txBody>
      </p:sp>
      <p:sp>
        <p:nvSpPr>
          <p:cNvPr id="146447" name="Rectangle 114"/>
          <p:cNvSpPr>
            <a:spLocks noChangeArrowheads="1"/>
          </p:cNvSpPr>
          <p:nvPr/>
        </p:nvSpPr>
        <p:spPr bwMode="auto">
          <a:xfrm>
            <a:off x="2482850" y="2552700"/>
            <a:ext cx="565150" cy="14287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endParaRPr lang="zh-CN" altLang="en-US"/>
          </a:p>
        </p:txBody>
      </p:sp>
      <p:sp>
        <p:nvSpPr>
          <p:cNvPr id="146448" name="Rectangle 115"/>
          <p:cNvSpPr>
            <a:spLocks noChangeArrowheads="1"/>
          </p:cNvSpPr>
          <p:nvPr/>
        </p:nvSpPr>
        <p:spPr bwMode="auto">
          <a:xfrm>
            <a:off x="2101850" y="2552700"/>
            <a:ext cx="412750" cy="14287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endParaRPr lang="zh-CN" altLang="en-US"/>
          </a:p>
        </p:txBody>
      </p:sp>
      <p:sp>
        <p:nvSpPr>
          <p:cNvPr id="146449" name="Rectangle 116"/>
          <p:cNvSpPr>
            <a:spLocks noChangeArrowheads="1"/>
          </p:cNvSpPr>
          <p:nvPr/>
        </p:nvSpPr>
        <p:spPr bwMode="auto">
          <a:xfrm>
            <a:off x="2659063" y="2324100"/>
            <a:ext cx="357187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46037" tIns="23812" rIns="46037" bIns="23812">
            <a:spAutoFit/>
          </a:bodyPr>
          <a:lstStyle>
            <a:lvl1pPr defTabSz="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 defTabSz="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 defTabSz="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 defTabSz="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 defTabSz="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r>
              <a:rPr lang="en-US" altLang="zh-CN" sz="1400">
                <a:latin typeface="Helvetica" charset="0"/>
              </a:rPr>
              <a:t>tag</a:t>
            </a:r>
          </a:p>
        </p:txBody>
      </p:sp>
      <p:sp>
        <p:nvSpPr>
          <p:cNvPr id="146450" name="Rectangle 117"/>
          <p:cNvSpPr>
            <a:spLocks noChangeArrowheads="1"/>
          </p:cNvSpPr>
          <p:nvPr/>
        </p:nvSpPr>
        <p:spPr bwMode="auto">
          <a:xfrm>
            <a:off x="3016250" y="2705100"/>
            <a:ext cx="1708150" cy="142875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endParaRPr lang="zh-CN" altLang="en-US"/>
          </a:p>
        </p:txBody>
      </p:sp>
      <p:sp>
        <p:nvSpPr>
          <p:cNvPr id="146451" name="Rectangle 118"/>
          <p:cNvSpPr>
            <a:spLocks noChangeArrowheads="1"/>
          </p:cNvSpPr>
          <p:nvPr/>
        </p:nvSpPr>
        <p:spPr bwMode="auto">
          <a:xfrm>
            <a:off x="2482850" y="2705100"/>
            <a:ext cx="565150" cy="142875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endParaRPr lang="zh-CN" altLang="en-US"/>
          </a:p>
        </p:txBody>
      </p:sp>
      <p:sp>
        <p:nvSpPr>
          <p:cNvPr id="146452" name="Rectangle 119"/>
          <p:cNvSpPr>
            <a:spLocks noChangeArrowheads="1"/>
          </p:cNvSpPr>
          <p:nvPr/>
        </p:nvSpPr>
        <p:spPr bwMode="auto">
          <a:xfrm>
            <a:off x="2101850" y="2705100"/>
            <a:ext cx="412750" cy="142875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endParaRPr lang="zh-CN" altLang="en-US"/>
          </a:p>
        </p:txBody>
      </p:sp>
      <p:sp>
        <p:nvSpPr>
          <p:cNvPr id="146453" name="Rectangle 120"/>
          <p:cNvSpPr>
            <a:spLocks noChangeArrowheads="1"/>
          </p:cNvSpPr>
          <p:nvPr/>
        </p:nvSpPr>
        <p:spPr bwMode="auto">
          <a:xfrm>
            <a:off x="3016250" y="2857500"/>
            <a:ext cx="1708150" cy="14287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endParaRPr lang="zh-CN" altLang="en-US"/>
          </a:p>
        </p:txBody>
      </p:sp>
      <p:sp>
        <p:nvSpPr>
          <p:cNvPr id="146454" name="Rectangle 121"/>
          <p:cNvSpPr>
            <a:spLocks noChangeArrowheads="1"/>
          </p:cNvSpPr>
          <p:nvPr/>
        </p:nvSpPr>
        <p:spPr bwMode="auto">
          <a:xfrm>
            <a:off x="2482850" y="2857500"/>
            <a:ext cx="565150" cy="14287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endParaRPr lang="zh-CN" altLang="en-US"/>
          </a:p>
        </p:txBody>
      </p:sp>
      <p:sp>
        <p:nvSpPr>
          <p:cNvPr id="146455" name="Rectangle 122"/>
          <p:cNvSpPr>
            <a:spLocks noChangeArrowheads="1"/>
          </p:cNvSpPr>
          <p:nvPr/>
        </p:nvSpPr>
        <p:spPr bwMode="auto">
          <a:xfrm>
            <a:off x="2101850" y="2857500"/>
            <a:ext cx="412750" cy="14287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endParaRPr lang="zh-CN" altLang="en-US"/>
          </a:p>
        </p:txBody>
      </p:sp>
      <p:sp>
        <p:nvSpPr>
          <p:cNvPr id="146456" name="Rectangle 123"/>
          <p:cNvSpPr>
            <a:spLocks noChangeArrowheads="1"/>
          </p:cNvSpPr>
          <p:nvPr/>
        </p:nvSpPr>
        <p:spPr bwMode="auto">
          <a:xfrm>
            <a:off x="3016250" y="3009900"/>
            <a:ext cx="1708150" cy="14287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endParaRPr lang="zh-CN" altLang="en-US"/>
          </a:p>
        </p:txBody>
      </p:sp>
      <p:sp>
        <p:nvSpPr>
          <p:cNvPr id="146457" name="Rectangle 124"/>
          <p:cNvSpPr>
            <a:spLocks noChangeArrowheads="1"/>
          </p:cNvSpPr>
          <p:nvPr/>
        </p:nvSpPr>
        <p:spPr bwMode="auto">
          <a:xfrm>
            <a:off x="2482850" y="3009900"/>
            <a:ext cx="565150" cy="14287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endParaRPr lang="zh-CN" altLang="en-US"/>
          </a:p>
        </p:txBody>
      </p:sp>
      <p:sp>
        <p:nvSpPr>
          <p:cNvPr id="146458" name="Rectangle 125"/>
          <p:cNvSpPr>
            <a:spLocks noChangeArrowheads="1"/>
          </p:cNvSpPr>
          <p:nvPr/>
        </p:nvSpPr>
        <p:spPr bwMode="auto">
          <a:xfrm>
            <a:off x="2101850" y="3009900"/>
            <a:ext cx="412750" cy="14287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endParaRPr lang="zh-CN" altLang="en-US"/>
          </a:p>
        </p:txBody>
      </p:sp>
      <p:sp>
        <p:nvSpPr>
          <p:cNvPr id="146459" name="Line 126"/>
          <p:cNvSpPr>
            <a:spLocks noChangeShapeType="1"/>
          </p:cNvSpPr>
          <p:nvPr/>
        </p:nvSpPr>
        <p:spPr bwMode="auto">
          <a:xfrm flipH="1">
            <a:off x="1301750" y="2286000"/>
            <a:ext cx="2133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6460" name="Line 127"/>
          <p:cNvSpPr>
            <a:spLocks noChangeShapeType="1"/>
          </p:cNvSpPr>
          <p:nvPr/>
        </p:nvSpPr>
        <p:spPr bwMode="auto">
          <a:xfrm flipH="1">
            <a:off x="1295400" y="2286000"/>
            <a:ext cx="0" cy="11699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6461" name="Oval 128"/>
          <p:cNvSpPr>
            <a:spLocks noChangeArrowheads="1"/>
          </p:cNvSpPr>
          <p:nvPr/>
        </p:nvSpPr>
        <p:spPr bwMode="auto">
          <a:xfrm>
            <a:off x="1916113" y="6178550"/>
            <a:ext cx="279400" cy="19685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endParaRPr lang="zh-CN" altLang="en-US"/>
          </a:p>
        </p:txBody>
      </p:sp>
      <p:sp>
        <p:nvSpPr>
          <p:cNvPr id="146462" name="Rectangle 129"/>
          <p:cNvSpPr>
            <a:spLocks noChangeArrowheads="1"/>
          </p:cNvSpPr>
          <p:nvPr/>
        </p:nvSpPr>
        <p:spPr bwMode="auto">
          <a:xfrm>
            <a:off x="2076450" y="6172200"/>
            <a:ext cx="168275" cy="2095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endParaRPr lang="zh-CN" altLang="en-US"/>
          </a:p>
        </p:txBody>
      </p:sp>
      <p:sp>
        <p:nvSpPr>
          <p:cNvPr id="146463" name="Line 130"/>
          <p:cNvSpPr>
            <a:spLocks noChangeShapeType="1"/>
          </p:cNvSpPr>
          <p:nvPr/>
        </p:nvSpPr>
        <p:spPr bwMode="auto">
          <a:xfrm flipV="1">
            <a:off x="2076450" y="6172200"/>
            <a:ext cx="0" cy="2095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6464" name="Rectangle 131"/>
          <p:cNvSpPr>
            <a:spLocks noChangeArrowheads="1"/>
          </p:cNvSpPr>
          <p:nvPr/>
        </p:nvSpPr>
        <p:spPr bwMode="auto">
          <a:xfrm>
            <a:off x="3505200" y="4972050"/>
            <a:ext cx="1497013" cy="1127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endParaRPr lang="zh-CN" altLang="en-US"/>
          </a:p>
        </p:txBody>
      </p:sp>
      <p:sp>
        <p:nvSpPr>
          <p:cNvPr id="146465" name="Rectangle 132"/>
          <p:cNvSpPr>
            <a:spLocks noChangeArrowheads="1"/>
          </p:cNvSpPr>
          <p:nvPr/>
        </p:nvSpPr>
        <p:spPr bwMode="auto">
          <a:xfrm>
            <a:off x="3505200" y="5097463"/>
            <a:ext cx="1497013" cy="1127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endParaRPr lang="zh-CN" altLang="en-US"/>
          </a:p>
        </p:txBody>
      </p:sp>
      <p:sp>
        <p:nvSpPr>
          <p:cNvPr id="146466" name="Rectangle 133"/>
          <p:cNvSpPr>
            <a:spLocks noChangeArrowheads="1"/>
          </p:cNvSpPr>
          <p:nvPr/>
        </p:nvSpPr>
        <p:spPr bwMode="auto">
          <a:xfrm>
            <a:off x="3505200" y="5222875"/>
            <a:ext cx="1497013" cy="114300"/>
          </a:xfrm>
          <a:prstGeom prst="rect">
            <a:avLst/>
          </a:prstGeom>
          <a:solidFill>
            <a:srgbClr val="7030A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endParaRPr lang="zh-CN" altLang="en-US"/>
          </a:p>
        </p:txBody>
      </p:sp>
      <p:sp>
        <p:nvSpPr>
          <p:cNvPr id="146467" name="Rectangle 134"/>
          <p:cNvSpPr>
            <a:spLocks noChangeArrowheads="1"/>
          </p:cNvSpPr>
          <p:nvPr/>
        </p:nvSpPr>
        <p:spPr bwMode="auto">
          <a:xfrm>
            <a:off x="3505200" y="5475288"/>
            <a:ext cx="1497013" cy="1127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endParaRPr lang="zh-CN" altLang="en-US"/>
          </a:p>
        </p:txBody>
      </p:sp>
      <p:sp>
        <p:nvSpPr>
          <p:cNvPr id="146468" name="Rectangle 135"/>
          <p:cNvSpPr>
            <a:spLocks noChangeArrowheads="1"/>
          </p:cNvSpPr>
          <p:nvPr/>
        </p:nvSpPr>
        <p:spPr bwMode="auto">
          <a:xfrm>
            <a:off x="3505200" y="5349875"/>
            <a:ext cx="1497013" cy="1127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endParaRPr lang="zh-CN" altLang="en-US"/>
          </a:p>
        </p:txBody>
      </p:sp>
      <p:sp>
        <p:nvSpPr>
          <p:cNvPr id="146469" name="Rectangle 136"/>
          <p:cNvSpPr>
            <a:spLocks noChangeArrowheads="1"/>
          </p:cNvSpPr>
          <p:nvPr/>
        </p:nvSpPr>
        <p:spPr bwMode="auto">
          <a:xfrm>
            <a:off x="3505200" y="5600700"/>
            <a:ext cx="1497013" cy="1127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endParaRPr lang="zh-CN" altLang="en-US"/>
          </a:p>
        </p:txBody>
      </p:sp>
      <p:sp>
        <p:nvSpPr>
          <p:cNvPr id="146470" name="Rectangle 137"/>
          <p:cNvSpPr>
            <a:spLocks noChangeArrowheads="1"/>
          </p:cNvSpPr>
          <p:nvPr/>
        </p:nvSpPr>
        <p:spPr bwMode="auto">
          <a:xfrm>
            <a:off x="2751138" y="4972050"/>
            <a:ext cx="741362" cy="1127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endParaRPr lang="zh-CN" altLang="en-US"/>
          </a:p>
        </p:txBody>
      </p:sp>
      <p:sp>
        <p:nvSpPr>
          <p:cNvPr id="146471" name="Rectangle 138"/>
          <p:cNvSpPr>
            <a:spLocks noChangeArrowheads="1"/>
          </p:cNvSpPr>
          <p:nvPr/>
        </p:nvSpPr>
        <p:spPr bwMode="auto">
          <a:xfrm>
            <a:off x="2751138" y="5097463"/>
            <a:ext cx="741362" cy="1127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endParaRPr lang="zh-CN" altLang="en-US"/>
          </a:p>
        </p:txBody>
      </p:sp>
      <p:sp>
        <p:nvSpPr>
          <p:cNvPr id="146472" name="Rectangle 139"/>
          <p:cNvSpPr>
            <a:spLocks noChangeArrowheads="1"/>
          </p:cNvSpPr>
          <p:nvPr/>
        </p:nvSpPr>
        <p:spPr bwMode="auto">
          <a:xfrm>
            <a:off x="2751138" y="5222875"/>
            <a:ext cx="741362" cy="114300"/>
          </a:xfrm>
          <a:prstGeom prst="rect">
            <a:avLst/>
          </a:prstGeom>
          <a:solidFill>
            <a:srgbClr val="7030A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endParaRPr lang="zh-CN" altLang="en-US"/>
          </a:p>
        </p:txBody>
      </p:sp>
      <p:sp>
        <p:nvSpPr>
          <p:cNvPr id="146473" name="Rectangle 140"/>
          <p:cNvSpPr>
            <a:spLocks noChangeArrowheads="1"/>
          </p:cNvSpPr>
          <p:nvPr/>
        </p:nvSpPr>
        <p:spPr bwMode="auto">
          <a:xfrm>
            <a:off x="2751138" y="5349875"/>
            <a:ext cx="741362" cy="1127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endParaRPr lang="zh-CN" altLang="en-US"/>
          </a:p>
        </p:txBody>
      </p:sp>
      <p:sp>
        <p:nvSpPr>
          <p:cNvPr id="146474" name="Rectangle 141"/>
          <p:cNvSpPr>
            <a:spLocks noChangeArrowheads="1"/>
          </p:cNvSpPr>
          <p:nvPr/>
        </p:nvSpPr>
        <p:spPr bwMode="auto">
          <a:xfrm>
            <a:off x="2751138" y="5475288"/>
            <a:ext cx="741362" cy="1127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endParaRPr lang="zh-CN" altLang="en-US"/>
          </a:p>
        </p:txBody>
      </p:sp>
      <p:sp>
        <p:nvSpPr>
          <p:cNvPr id="146475" name="Rectangle 142"/>
          <p:cNvSpPr>
            <a:spLocks noChangeArrowheads="1"/>
          </p:cNvSpPr>
          <p:nvPr/>
        </p:nvSpPr>
        <p:spPr bwMode="auto">
          <a:xfrm>
            <a:off x="2751138" y="5600700"/>
            <a:ext cx="741362" cy="1127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endParaRPr lang="zh-CN" altLang="en-US"/>
          </a:p>
        </p:txBody>
      </p:sp>
      <p:sp>
        <p:nvSpPr>
          <p:cNvPr id="146476" name="Rectangle 143"/>
          <p:cNvSpPr>
            <a:spLocks noChangeArrowheads="1"/>
          </p:cNvSpPr>
          <p:nvPr/>
        </p:nvSpPr>
        <p:spPr bwMode="auto">
          <a:xfrm>
            <a:off x="2457450" y="4972050"/>
            <a:ext cx="280988" cy="1127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endParaRPr lang="zh-CN" altLang="en-US"/>
          </a:p>
        </p:txBody>
      </p:sp>
      <p:sp>
        <p:nvSpPr>
          <p:cNvPr id="146477" name="Rectangle 144"/>
          <p:cNvSpPr>
            <a:spLocks noChangeArrowheads="1"/>
          </p:cNvSpPr>
          <p:nvPr/>
        </p:nvSpPr>
        <p:spPr bwMode="auto">
          <a:xfrm>
            <a:off x="2457450" y="5097463"/>
            <a:ext cx="280988" cy="1127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endParaRPr lang="zh-CN" altLang="en-US"/>
          </a:p>
        </p:txBody>
      </p:sp>
      <p:sp>
        <p:nvSpPr>
          <p:cNvPr id="146478" name="Rectangle 145"/>
          <p:cNvSpPr>
            <a:spLocks noChangeArrowheads="1"/>
          </p:cNvSpPr>
          <p:nvPr/>
        </p:nvSpPr>
        <p:spPr bwMode="auto">
          <a:xfrm>
            <a:off x="2457450" y="5222875"/>
            <a:ext cx="280988" cy="114300"/>
          </a:xfrm>
          <a:prstGeom prst="rect">
            <a:avLst/>
          </a:prstGeom>
          <a:solidFill>
            <a:srgbClr val="7030A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endParaRPr lang="zh-CN" altLang="en-US"/>
          </a:p>
        </p:txBody>
      </p:sp>
      <p:sp>
        <p:nvSpPr>
          <p:cNvPr id="146479" name="Rectangle 146"/>
          <p:cNvSpPr>
            <a:spLocks noChangeArrowheads="1"/>
          </p:cNvSpPr>
          <p:nvPr/>
        </p:nvSpPr>
        <p:spPr bwMode="auto">
          <a:xfrm>
            <a:off x="2457450" y="5349875"/>
            <a:ext cx="280988" cy="1127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endParaRPr lang="zh-CN" altLang="en-US"/>
          </a:p>
        </p:txBody>
      </p:sp>
      <p:sp>
        <p:nvSpPr>
          <p:cNvPr id="146480" name="Rectangle 147"/>
          <p:cNvSpPr>
            <a:spLocks noChangeArrowheads="1"/>
          </p:cNvSpPr>
          <p:nvPr/>
        </p:nvSpPr>
        <p:spPr bwMode="auto">
          <a:xfrm>
            <a:off x="2457450" y="5475288"/>
            <a:ext cx="280988" cy="1127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endParaRPr lang="zh-CN" altLang="en-US"/>
          </a:p>
        </p:txBody>
      </p:sp>
      <p:sp>
        <p:nvSpPr>
          <p:cNvPr id="146481" name="Rectangle 148"/>
          <p:cNvSpPr>
            <a:spLocks noChangeArrowheads="1"/>
          </p:cNvSpPr>
          <p:nvPr/>
        </p:nvSpPr>
        <p:spPr bwMode="auto">
          <a:xfrm>
            <a:off x="2457450" y="5600700"/>
            <a:ext cx="280988" cy="1127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endParaRPr lang="zh-CN" altLang="en-US"/>
          </a:p>
        </p:txBody>
      </p:sp>
      <p:sp>
        <p:nvSpPr>
          <p:cNvPr id="146482" name="Rectangle 149"/>
          <p:cNvSpPr>
            <a:spLocks noChangeArrowheads="1"/>
          </p:cNvSpPr>
          <p:nvPr/>
        </p:nvSpPr>
        <p:spPr bwMode="auto">
          <a:xfrm>
            <a:off x="2362200" y="4737100"/>
            <a:ext cx="501650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50800" tIns="26987" rIns="50800" bIns="26987">
            <a:spAutoFit/>
          </a:bodyPr>
          <a:lstStyle>
            <a:lvl1pPr defTabSz="276225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 defTabSz="276225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 defTabSz="276225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 defTabSz="276225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 defTabSz="276225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defTabSz="276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defTabSz="276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defTabSz="276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defTabSz="276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r>
              <a:rPr lang="en-US" altLang="zh-CN" sz="1400">
                <a:latin typeface="Helvetica" charset="0"/>
              </a:rPr>
              <a:t>valid</a:t>
            </a:r>
          </a:p>
        </p:txBody>
      </p:sp>
      <p:sp>
        <p:nvSpPr>
          <p:cNvPr id="146483" name="Rectangle 150"/>
          <p:cNvSpPr>
            <a:spLocks noChangeArrowheads="1"/>
          </p:cNvSpPr>
          <p:nvPr/>
        </p:nvSpPr>
        <p:spPr bwMode="auto">
          <a:xfrm>
            <a:off x="2916238" y="4737100"/>
            <a:ext cx="366712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50800" tIns="26987" rIns="50800" bIns="26987">
            <a:spAutoFit/>
          </a:bodyPr>
          <a:lstStyle>
            <a:lvl1pPr defTabSz="276225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 defTabSz="276225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 defTabSz="276225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 defTabSz="276225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 defTabSz="276225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defTabSz="276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defTabSz="276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defTabSz="276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defTabSz="276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r>
              <a:rPr lang="en-US" altLang="zh-CN" sz="1400">
                <a:latin typeface="Helvetica" charset="0"/>
              </a:rPr>
              <a:t>tag</a:t>
            </a:r>
          </a:p>
        </p:txBody>
      </p:sp>
      <p:sp>
        <p:nvSpPr>
          <p:cNvPr id="146484" name="Rectangle 151"/>
          <p:cNvSpPr>
            <a:spLocks noChangeArrowheads="1"/>
          </p:cNvSpPr>
          <p:nvPr/>
        </p:nvSpPr>
        <p:spPr bwMode="auto">
          <a:xfrm>
            <a:off x="3895725" y="4737100"/>
            <a:ext cx="465138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50800" tIns="26987" rIns="50800" bIns="26987">
            <a:spAutoFit/>
          </a:bodyPr>
          <a:lstStyle>
            <a:lvl1pPr defTabSz="276225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 defTabSz="276225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 defTabSz="276225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 defTabSz="276225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 defTabSz="276225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defTabSz="276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defTabSz="276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defTabSz="276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defTabSz="276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r>
              <a:rPr lang="en-US" altLang="zh-CN" sz="1400">
                <a:latin typeface="Helvetica" charset="0"/>
              </a:rPr>
              <a:t>data</a:t>
            </a:r>
          </a:p>
        </p:txBody>
      </p:sp>
      <p:sp>
        <p:nvSpPr>
          <p:cNvPr id="146485" name="Line 152"/>
          <p:cNvSpPr>
            <a:spLocks noChangeShapeType="1"/>
          </p:cNvSpPr>
          <p:nvPr/>
        </p:nvSpPr>
        <p:spPr bwMode="auto">
          <a:xfrm flipH="1">
            <a:off x="5035550" y="5292725"/>
            <a:ext cx="533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6486" name="Line 153"/>
          <p:cNvSpPr>
            <a:spLocks noChangeShapeType="1"/>
          </p:cNvSpPr>
          <p:nvPr/>
        </p:nvSpPr>
        <p:spPr bwMode="auto">
          <a:xfrm>
            <a:off x="4273550" y="5299075"/>
            <a:ext cx="0" cy="9779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6487" name="Rectangle 154"/>
          <p:cNvSpPr>
            <a:spLocks noChangeArrowheads="1"/>
          </p:cNvSpPr>
          <p:nvPr/>
        </p:nvSpPr>
        <p:spPr bwMode="auto">
          <a:xfrm>
            <a:off x="4362450" y="6049963"/>
            <a:ext cx="571500" cy="328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50800" tIns="26987" rIns="50800" bIns="26987">
            <a:spAutoFit/>
          </a:bodyPr>
          <a:lstStyle>
            <a:lvl1pPr defTabSz="276225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 defTabSz="276225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 defTabSz="276225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 defTabSz="276225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 defTabSz="276225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defTabSz="276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defTabSz="276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defTabSz="276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defTabSz="276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r>
              <a:rPr lang="en-US" altLang="zh-CN" sz="1800">
                <a:latin typeface="Helvetica" charset="0"/>
              </a:rPr>
              <a:t>data</a:t>
            </a:r>
          </a:p>
        </p:txBody>
      </p:sp>
      <p:sp>
        <p:nvSpPr>
          <p:cNvPr id="146488" name="Line 155"/>
          <p:cNvSpPr>
            <a:spLocks noChangeShapeType="1"/>
          </p:cNvSpPr>
          <p:nvPr/>
        </p:nvSpPr>
        <p:spPr bwMode="auto">
          <a:xfrm>
            <a:off x="2589213" y="5299075"/>
            <a:ext cx="0" cy="9191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6489" name="Line 156"/>
          <p:cNvSpPr>
            <a:spLocks noChangeShapeType="1"/>
          </p:cNvSpPr>
          <p:nvPr/>
        </p:nvSpPr>
        <p:spPr bwMode="auto">
          <a:xfrm>
            <a:off x="3003550" y="5307013"/>
            <a:ext cx="0" cy="6159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6490" name="Line 157"/>
          <p:cNvSpPr>
            <a:spLocks noChangeShapeType="1"/>
          </p:cNvSpPr>
          <p:nvPr/>
        </p:nvSpPr>
        <p:spPr bwMode="auto">
          <a:xfrm>
            <a:off x="2146300" y="5978525"/>
            <a:ext cx="749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6491" name="Oval 158"/>
          <p:cNvSpPr>
            <a:spLocks noChangeArrowheads="1"/>
          </p:cNvSpPr>
          <p:nvPr/>
        </p:nvSpPr>
        <p:spPr bwMode="auto">
          <a:xfrm>
            <a:off x="2917825" y="5935663"/>
            <a:ext cx="155575" cy="15557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50800" tIns="26987" rIns="50800" bIns="26987" anchor="ctr"/>
          <a:lstStyle>
            <a:lvl1pPr defTabSz="276225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 defTabSz="276225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 defTabSz="276225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 defTabSz="276225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 defTabSz="276225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defTabSz="276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defTabSz="276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defTabSz="276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defTabSz="276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ctr"/>
            <a:r>
              <a:rPr lang="en-US" altLang="zh-CN" sz="1000">
                <a:latin typeface="Helvetica" charset="0"/>
              </a:rPr>
              <a:t>=</a:t>
            </a:r>
          </a:p>
        </p:txBody>
      </p:sp>
      <p:sp>
        <p:nvSpPr>
          <p:cNvPr id="146492" name="Line 159"/>
          <p:cNvSpPr>
            <a:spLocks noChangeShapeType="1"/>
          </p:cNvSpPr>
          <p:nvPr/>
        </p:nvSpPr>
        <p:spPr bwMode="auto">
          <a:xfrm>
            <a:off x="2995613" y="6103938"/>
            <a:ext cx="0" cy="2238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6493" name="Line 160"/>
          <p:cNvSpPr>
            <a:spLocks noChangeShapeType="1"/>
          </p:cNvSpPr>
          <p:nvPr/>
        </p:nvSpPr>
        <p:spPr bwMode="auto">
          <a:xfrm flipH="1">
            <a:off x="2097088" y="6334125"/>
            <a:ext cx="8985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6494" name="Oval 161"/>
          <p:cNvSpPr>
            <a:spLocks noChangeArrowheads="1"/>
          </p:cNvSpPr>
          <p:nvPr/>
        </p:nvSpPr>
        <p:spPr bwMode="auto">
          <a:xfrm>
            <a:off x="2576513" y="5272088"/>
            <a:ext cx="30162" cy="30162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endParaRPr lang="zh-CN" altLang="en-US"/>
          </a:p>
        </p:txBody>
      </p:sp>
      <p:sp>
        <p:nvSpPr>
          <p:cNvPr id="146495" name="Oval 162"/>
          <p:cNvSpPr>
            <a:spLocks noChangeArrowheads="1"/>
          </p:cNvSpPr>
          <p:nvPr/>
        </p:nvSpPr>
        <p:spPr bwMode="auto">
          <a:xfrm>
            <a:off x="2987675" y="5272088"/>
            <a:ext cx="30163" cy="30162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endParaRPr lang="zh-CN" altLang="en-US"/>
          </a:p>
        </p:txBody>
      </p:sp>
      <p:sp>
        <p:nvSpPr>
          <p:cNvPr id="146496" name="Oval 163"/>
          <p:cNvSpPr>
            <a:spLocks noChangeArrowheads="1"/>
          </p:cNvSpPr>
          <p:nvPr/>
        </p:nvSpPr>
        <p:spPr bwMode="auto">
          <a:xfrm>
            <a:off x="4257675" y="5272088"/>
            <a:ext cx="30163" cy="30162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endParaRPr lang="zh-CN" altLang="en-US"/>
          </a:p>
        </p:txBody>
      </p:sp>
      <p:sp>
        <p:nvSpPr>
          <p:cNvPr id="146497" name="Line 164"/>
          <p:cNvSpPr>
            <a:spLocks noChangeShapeType="1"/>
          </p:cNvSpPr>
          <p:nvPr/>
        </p:nvSpPr>
        <p:spPr bwMode="auto">
          <a:xfrm flipH="1">
            <a:off x="2089150" y="6224588"/>
            <a:ext cx="5000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6498" name="Line 165"/>
          <p:cNvSpPr>
            <a:spLocks noChangeShapeType="1"/>
          </p:cNvSpPr>
          <p:nvPr/>
        </p:nvSpPr>
        <p:spPr bwMode="auto">
          <a:xfrm flipH="1">
            <a:off x="1403350" y="6291263"/>
            <a:ext cx="4905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6499" name="Rectangle 166"/>
          <p:cNvSpPr>
            <a:spLocks noChangeArrowheads="1"/>
          </p:cNvSpPr>
          <p:nvPr/>
        </p:nvSpPr>
        <p:spPr bwMode="auto">
          <a:xfrm>
            <a:off x="292100" y="6096000"/>
            <a:ext cx="1171575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r>
              <a:rPr lang="en-US" altLang="zh-CN" sz="1800">
                <a:latin typeface="Helvetica" charset="0"/>
              </a:rPr>
              <a:t>cache hit</a:t>
            </a:r>
          </a:p>
        </p:txBody>
      </p:sp>
      <p:sp>
        <p:nvSpPr>
          <p:cNvPr id="146500" name="Line 167"/>
          <p:cNvSpPr>
            <a:spLocks noChangeShapeType="1"/>
          </p:cNvSpPr>
          <p:nvPr/>
        </p:nvSpPr>
        <p:spPr bwMode="auto">
          <a:xfrm>
            <a:off x="4044950" y="4232275"/>
            <a:ext cx="0" cy="3683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6501" name="Line 168"/>
          <p:cNvSpPr>
            <a:spLocks noChangeShapeType="1"/>
          </p:cNvSpPr>
          <p:nvPr/>
        </p:nvSpPr>
        <p:spPr bwMode="auto">
          <a:xfrm flipH="1">
            <a:off x="2139950" y="4606925"/>
            <a:ext cx="1905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6502" name="Line 169"/>
          <p:cNvSpPr>
            <a:spLocks noChangeShapeType="1"/>
          </p:cNvSpPr>
          <p:nvPr/>
        </p:nvSpPr>
        <p:spPr bwMode="auto">
          <a:xfrm>
            <a:off x="2139950" y="4613275"/>
            <a:ext cx="0" cy="13589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6503" name="Rectangle 170"/>
          <p:cNvSpPr>
            <a:spLocks noChangeArrowheads="1"/>
          </p:cNvSpPr>
          <p:nvPr/>
        </p:nvSpPr>
        <p:spPr bwMode="auto">
          <a:xfrm>
            <a:off x="2582863" y="4325938"/>
            <a:ext cx="446087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r>
              <a:rPr lang="en-US" altLang="zh-CN" sz="1400">
                <a:latin typeface="Helvetica" charset="0"/>
              </a:rPr>
              <a:t>tag</a:t>
            </a:r>
          </a:p>
        </p:txBody>
      </p:sp>
      <p:sp>
        <p:nvSpPr>
          <p:cNvPr id="146504" name="Line 173"/>
          <p:cNvSpPr>
            <a:spLocks noChangeShapeType="1"/>
          </p:cNvSpPr>
          <p:nvPr/>
        </p:nvSpPr>
        <p:spPr bwMode="auto">
          <a:xfrm>
            <a:off x="5568950" y="4232275"/>
            <a:ext cx="0" cy="3683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6505" name="Line 174"/>
          <p:cNvSpPr>
            <a:spLocks noChangeShapeType="1"/>
          </p:cNvSpPr>
          <p:nvPr/>
        </p:nvSpPr>
        <p:spPr bwMode="auto">
          <a:xfrm>
            <a:off x="5568950" y="4613275"/>
            <a:ext cx="0" cy="673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6506" name="Rectangle 175"/>
          <p:cNvSpPr>
            <a:spLocks noChangeArrowheads="1"/>
          </p:cNvSpPr>
          <p:nvPr/>
        </p:nvSpPr>
        <p:spPr bwMode="auto">
          <a:xfrm>
            <a:off x="4995863" y="4402138"/>
            <a:ext cx="927100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r>
              <a:rPr lang="en-US" altLang="zh-CN" sz="1400">
                <a:latin typeface="Helvetica" charset="0"/>
              </a:rPr>
              <a:t>index</a:t>
            </a:r>
          </a:p>
        </p:txBody>
      </p:sp>
      <p:sp>
        <p:nvSpPr>
          <p:cNvPr id="146507" name="Oval 176"/>
          <p:cNvSpPr>
            <a:spLocks noChangeArrowheads="1"/>
          </p:cNvSpPr>
          <p:nvPr/>
        </p:nvSpPr>
        <p:spPr bwMode="auto">
          <a:xfrm>
            <a:off x="1687513" y="3663950"/>
            <a:ext cx="279400" cy="19685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endParaRPr lang="zh-CN" altLang="en-US"/>
          </a:p>
        </p:txBody>
      </p:sp>
      <p:sp>
        <p:nvSpPr>
          <p:cNvPr id="146508" name="Rectangle 177"/>
          <p:cNvSpPr>
            <a:spLocks noChangeArrowheads="1"/>
          </p:cNvSpPr>
          <p:nvPr/>
        </p:nvSpPr>
        <p:spPr bwMode="auto">
          <a:xfrm>
            <a:off x="1847850" y="3657600"/>
            <a:ext cx="168275" cy="2095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endParaRPr lang="zh-CN" altLang="en-US"/>
          </a:p>
        </p:txBody>
      </p:sp>
      <p:sp>
        <p:nvSpPr>
          <p:cNvPr id="146509" name="Line 178"/>
          <p:cNvSpPr>
            <a:spLocks noChangeShapeType="1"/>
          </p:cNvSpPr>
          <p:nvPr/>
        </p:nvSpPr>
        <p:spPr bwMode="auto">
          <a:xfrm flipV="1">
            <a:off x="1847850" y="3657600"/>
            <a:ext cx="0" cy="2095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6510" name="Line 179"/>
          <p:cNvSpPr>
            <a:spLocks noChangeShapeType="1"/>
          </p:cNvSpPr>
          <p:nvPr/>
        </p:nvSpPr>
        <p:spPr bwMode="auto">
          <a:xfrm>
            <a:off x="1273175" y="3463925"/>
            <a:ext cx="13938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6511" name="Oval 180"/>
          <p:cNvSpPr>
            <a:spLocks noChangeArrowheads="1"/>
          </p:cNvSpPr>
          <p:nvPr/>
        </p:nvSpPr>
        <p:spPr bwMode="auto">
          <a:xfrm>
            <a:off x="2689225" y="3421063"/>
            <a:ext cx="155575" cy="15557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50800" tIns="26987" rIns="50800" bIns="26987" anchor="ctr"/>
          <a:lstStyle>
            <a:lvl1pPr defTabSz="276225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 defTabSz="276225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 defTabSz="276225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 defTabSz="276225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 defTabSz="276225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defTabSz="276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defTabSz="276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defTabSz="276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defTabSz="276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ctr"/>
            <a:r>
              <a:rPr lang="en-US" altLang="zh-CN" sz="1000">
                <a:latin typeface="Helvetica" charset="0"/>
              </a:rPr>
              <a:t>=</a:t>
            </a:r>
          </a:p>
        </p:txBody>
      </p:sp>
      <p:sp>
        <p:nvSpPr>
          <p:cNvPr id="146512" name="Line 181"/>
          <p:cNvSpPr>
            <a:spLocks noChangeShapeType="1"/>
          </p:cNvSpPr>
          <p:nvPr/>
        </p:nvSpPr>
        <p:spPr bwMode="auto">
          <a:xfrm>
            <a:off x="2767013" y="3589338"/>
            <a:ext cx="0" cy="2238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6513" name="Line 182"/>
          <p:cNvSpPr>
            <a:spLocks noChangeShapeType="1"/>
          </p:cNvSpPr>
          <p:nvPr/>
        </p:nvSpPr>
        <p:spPr bwMode="auto">
          <a:xfrm flipH="1">
            <a:off x="1868488" y="3819525"/>
            <a:ext cx="8985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6514" name="Line 183"/>
          <p:cNvSpPr>
            <a:spLocks noChangeShapeType="1"/>
          </p:cNvSpPr>
          <p:nvPr/>
        </p:nvSpPr>
        <p:spPr bwMode="auto">
          <a:xfrm flipH="1">
            <a:off x="1852613" y="3703638"/>
            <a:ext cx="509587" cy="4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6515" name="Line 184"/>
          <p:cNvSpPr>
            <a:spLocks noChangeShapeType="1"/>
          </p:cNvSpPr>
          <p:nvPr/>
        </p:nvSpPr>
        <p:spPr bwMode="auto">
          <a:xfrm flipH="1">
            <a:off x="1174750" y="3776663"/>
            <a:ext cx="4905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6516" name="Rectangle 185"/>
          <p:cNvSpPr>
            <a:spLocks noChangeArrowheads="1"/>
          </p:cNvSpPr>
          <p:nvPr/>
        </p:nvSpPr>
        <p:spPr bwMode="auto">
          <a:xfrm>
            <a:off x="304800" y="3632200"/>
            <a:ext cx="968375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r>
              <a:rPr lang="en-US" altLang="zh-CN" sz="1800">
                <a:latin typeface="Helvetica" charset="0"/>
              </a:rPr>
              <a:t>TLB hit</a:t>
            </a:r>
          </a:p>
        </p:txBody>
      </p:sp>
      <p:sp>
        <p:nvSpPr>
          <p:cNvPr id="146517" name="Line 186"/>
          <p:cNvSpPr>
            <a:spLocks noChangeShapeType="1"/>
          </p:cNvSpPr>
          <p:nvPr/>
        </p:nvSpPr>
        <p:spPr bwMode="auto">
          <a:xfrm>
            <a:off x="2781300" y="2768600"/>
            <a:ext cx="0" cy="6207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6518" name="Line 187"/>
          <p:cNvSpPr>
            <a:spLocks noChangeShapeType="1"/>
          </p:cNvSpPr>
          <p:nvPr/>
        </p:nvSpPr>
        <p:spPr bwMode="auto">
          <a:xfrm>
            <a:off x="2362200" y="2784475"/>
            <a:ext cx="0" cy="9191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6519" name="Line 188"/>
          <p:cNvSpPr>
            <a:spLocks noChangeShapeType="1"/>
          </p:cNvSpPr>
          <p:nvPr/>
        </p:nvSpPr>
        <p:spPr bwMode="auto">
          <a:xfrm flipH="1">
            <a:off x="3886200" y="2792413"/>
            <a:ext cx="0" cy="11699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6520" name="AutoShape 189"/>
          <p:cNvSpPr>
            <a:spLocks/>
          </p:cNvSpPr>
          <p:nvPr/>
        </p:nvSpPr>
        <p:spPr bwMode="auto">
          <a:xfrm>
            <a:off x="7162800" y="1828800"/>
            <a:ext cx="304800" cy="1905000"/>
          </a:xfrm>
          <a:prstGeom prst="rightBrace">
            <a:avLst>
              <a:gd name="adj1" fmla="val 52083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endParaRPr lang="zh-CN" altLang="en-US"/>
          </a:p>
        </p:txBody>
      </p:sp>
      <p:sp>
        <p:nvSpPr>
          <p:cNvPr id="146521" name="AutoShape 190"/>
          <p:cNvSpPr>
            <a:spLocks/>
          </p:cNvSpPr>
          <p:nvPr/>
        </p:nvSpPr>
        <p:spPr bwMode="auto">
          <a:xfrm>
            <a:off x="7620000" y="3962400"/>
            <a:ext cx="228600" cy="2286000"/>
          </a:xfrm>
          <a:prstGeom prst="rightBrace">
            <a:avLst>
              <a:gd name="adj1" fmla="val 83333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endParaRPr lang="zh-CN" altLang="en-US"/>
          </a:p>
        </p:txBody>
      </p:sp>
      <p:sp>
        <p:nvSpPr>
          <p:cNvPr id="146522" name="Text Box 191"/>
          <p:cNvSpPr txBox="1">
            <a:spLocks noChangeArrowheads="1"/>
          </p:cNvSpPr>
          <p:nvPr/>
        </p:nvSpPr>
        <p:spPr bwMode="auto">
          <a:xfrm>
            <a:off x="7467600" y="2528888"/>
            <a:ext cx="6286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r>
              <a:rPr lang="en-US" altLang="zh-CN" sz="1800">
                <a:latin typeface="Helvetica" charset="0"/>
              </a:rPr>
              <a:t>TLB</a:t>
            </a:r>
          </a:p>
        </p:txBody>
      </p:sp>
      <p:sp>
        <p:nvSpPr>
          <p:cNvPr id="146523" name="Text Box 192"/>
          <p:cNvSpPr txBox="1">
            <a:spLocks noChangeArrowheads="1"/>
          </p:cNvSpPr>
          <p:nvPr/>
        </p:nvSpPr>
        <p:spPr bwMode="auto">
          <a:xfrm>
            <a:off x="7924800" y="4876800"/>
            <a:ext cx="869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r>
              <a:rPr lang="en-US" altLang="zh-CN" sz="1800">
                <a:latin typeface="Helvetica" charset="0"/>
              </a:rPr>
              <a:t>Cache</a:t>
            </a:r>
          </a:p>
        </p:txBody>
      </p:sp>
      <p:sp>
        <p:nvSpPr>
          <p:cNvPr id="146524" name="Text Box 193"/>
          <p:cNvSpPr txBox="1">
            <a:spLocks noChangeArrowheads="1"/>
          </p:cNvSpPr>
          <p:nvPr/>
        </p:nvSpPr>
        <p:spPr bwMode="auto">
          <a:xfrm>
            <a:off x="2230438" y="2490788"/>
            <a:ext cx="265112" cy="417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</a:pPr>
            <a:r>
              <a:rPr lang="en-US" altLang="zh-CN" sz="2400">
                <a:solidFill>
                  <a:schemeClr val="tx2"/>
                </a:solidFill>
                <a:latin typeface="Helvetica" charset="0"/>
              </a:rPr>
              <a:t>.</a:t>
            </a:r>
          </a:p>
        </p:txBody>
      </p:sp>
      <p:sp>
        <p:nvSpPr>
          <p:cNvPr id="146525" name="Text Box 194"/>
          <p:cNvSpPr txBox="1">
            <a:spLocks noChangeArrowheads="1"/>
          </p:cNvSpPr>
          <p:nvPr/>
        </p:nvSpPr>
        <p:spPr bwMode="auto">
          <a:xfrm>
            <a:off x="3754438" y="2497138"/>
            <a:ext cx="265112" cy="417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</a:pPr>
            <a:r>
              <a:rPr lang="en-US" altLang="zh-CN" sz="2400">
                <a:solidFill>
                  <a:schemeClr val="tx2"/>
                </a:solidFill>
                <a:latin typeface="Helvetica" charset="0"/>
              </a:rPr>
              <a:t>.</a:t>
            </a:r>
          </a:p>
        </p:txBody>
      </p:sp>
      <p:sp>
        <p:nvSpPr>
          <p:cNvPr id="146526" name="Text Box 195"/>
          <p:cNvSpPr txBox="1">
            <a:spLocks noChangeArrowheads="1"/>
          </p:cNvSpPr>
          <p:nvPr/>
        </p:nvSpPr>
        <p:spPr bwMode="auto">
          <a:xfrm>
            <a:off x="2649538" y="2497138"/>
            <a:ext cx="265112" cy="417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</a:pPr>
            <a:r>
              <a:rPr lang="en-US" altLang="zh-CN" sz="2400">
                <a:solidFill>
                  <a:schemeClr val="tx2"/>
                </a:solidFill>
                <a:latin typeface="Helvetica" charset="0"/>
              </a:rPr>
              <a:t>.</a:t>
            </a:r>
          </a:p>
        </p:txBody>
      </p:sp>
      <p:sp>
        <p:nvSpPr>
          <p:cNvPr id="146527" name="Rectangle 2"/>
          <p:cNvSpPr>
            <a:spLocks noChangeArrowheads="1"/>
          </p:cNvSpPr>
          <p:nvPr/>
        </p:nvSpPr>
        <p:spPr bwMode="auto">
          <a:xfrm>
            <a:off x="5922963" y="3968750"/>
            <a:ext cx="1635125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ctr"/>
            <a:r>
              <a:rPr lang="en-US" altLang="zh-CN" sz="1400">
                <a:solidFill>
                  <a:srgbClr val="000000"/>
                </a:solidFill>
                <a:latin typeface="Helvetica" charset="0"/>
              </a:rPr>
              <a:t>physical address</a:t>
            </a:r>
          </a:p>
        </p:txBody>
      </p:sp>
      <p:sp>
        <p:nvSpPr>
          <p:cNvPr id="146528" name="Rectangle 102"/>
          <p:cNvSpPr>
            <a:spLocks noChangeArrowheads="1"/>
          </p:cNvSpPr>
          <p:nvPr/>
        </p:nvSpPr>
        <p:spPr bwMode="auto">
          <a:xfrm>
            <a:off x="2613025" y="4008438"/>
            <a:ext cx="2090738" cy="228600"/>
          </a:xfrm>
          <a:prstGeom prst="rect">
            <a:avLst/>
          </a:prstGeom>
          <a:solidFill>
            <a:srgbClr val="CC99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46037" tIns="23812" rIns="46037" bIns="23812" anchor="ctr"/>
          <a:lstStyle>
            <a:lvl1pPr defTabSz="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 defTabSz="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 defTabSz="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 defTabSz="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 defTabSz="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ctr"/>
            <a:r>
              <a:rPr lang="en-US" altLang="zh-CN" sz="1400">
                <a:latin typeface="Helvetica" charset="0"/>
              </a:rPr>
              <a:t>physical page number</a:t>
            </a:r>
          </a:p>
        </p:txBody>
      </p:sp>
      <p:sp>
        <p:nvSpPr>
          <p:cNvPr id="146529" name="Rectangle 103"/>
          <p:cNvSpPr>
            <a:spLocks noChangeArrowheads="1"/>
          </p:cNvSpPr>
          <p:nvPr/>
        </p:nvSpPr>
        <p:spPr bwMode="auto">
          <a:xfrm>
            <a:off x="4703763" y="4008438"/>
            <a:ext cx="1100137" cy="228600"/>
          </a:xfrm>
          <a:prstGeom prst="rect">
            <a:avLst/>
          </a:prstGeom>
          <a:solidFill>
            <a:srgbClr val="66FF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46037" tIns="23812" rIns="46037" bIns="23812" anchor="ctr"/>
          <a:lstStyle>
            <a:lvl1pPr defTabSz="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 defTabSz="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 defTabSz="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 defTabSz="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 defTabSz="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ctr"/>
            <a:r>
              <a:rPr lang="en-US" altLang="zh-CN" sz="1400">
                <a:latin typeface="Helvetica" charset="0"/>
              </a:rPr>
              <a:t>page offset</a:t>
            </a:r>
          </a:p>
        </p:txBody>
      </p:sp>
    </p:spTree>
    <p:extLst>
      <p:ext uri="{BB962C8B-B14F-4D97-AF65-F5344CB8AC3E}">
        <p14:creationId xmlns:p14="http://schemas.microsoft.com/office/powerpoint/2010/main" val="17278718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647" name="Group 54"/>
          <p:cNvGrpSpPr>
            <a:grpSpLocks/>
          </p:cNvGrpSpPr>
          <p:nvPr/>
        </p:nvGrpSpPr>
        <p:grpSpPr bwMode="auto">
          <a:xfrm>
            <a:off x="3911600" y="3028950"/>
            <a:ext cx="992188" cy="309563"/>
            <a:chOff x="2445" y="1645"/>
            <a:chExt cx="625" cy="195"/>
          </a:xfrm>
        </p:grpSpPr>
        <p:sp>
          <p:nvSpPr>
            <p:cNvPr id="148624" name="Line 55"/>
            <p:cNvSpPr>
              <a:spLocks noChangeShapeType="1"/>
            </p:cNvSpPr>
            <p:nvPr/>
          </p:nvSpPr>
          <p:spPr bwMode="auto">
            <a:xfrm>
              <a:off x="2445" y="1705"/>
              <a:ext cx="6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arrow" w="med" len="med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487" tIns="44450" rIns="90487" bIns="44450"/>
            <a:lstStyle/>
            <a:p>
              <a:endParaRPr lang="zh-CN" altLang="en-US"/>
            </a:p>
          </p:txBody>
        </p:sp>
        <p:sp>
          <p:nvSpPr>
            <p:cNvPr id="148625" name="Text Box 56"/>
            <p:cNvSpPr txBox="1">
              <a:spLocks noChangeArrowheads="1"/>
            </p:cNvSpPr>
            <p:nvPr/>
          </p:nvSpPr>
          <p:spPr bwMode="auto">
            <a:xfrm>
              <a:off x="2586" y="1645"/>
              <a:ext cx="398" cy="19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30000"/>
                </a:spcBef>
              </a:pPr>
              <a:r>
                <a:rPr lang="en-US" altLang="zh-CN" sz="1600">
                  <a:solidFill>
                    <a:schemeClr val="tx2"/>
                  </a:solidFill>
                  <a:latin typeface="Helvetica" charset="0"/>
                </a:rPr>
                <a:t>TLBI</a:t>
              </a:r>
            </a:p>
          </p:txBody>
        </p:sp>
      </p:grpSp>
      <p:sp>
        <p:nvSpPr>
          <p:cNvPr id="14848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277DE12B-F1DC-1042-8618-F9162CB566DA}" type="slidenum">
              <a:rPr lang="zh-CN" altLang="en-US" sz="1400" b="0">
                <a:latin typeface="Times New Roman" charset="0"/>
              </a:rPr>
              <a:pPr/>
              <a:t>58</a:t>
            </a:fld>
            <a:endParaRPr lang="en-US" altLang="zh-CN" sz="1400" b="0">
              <a:latin typeface="Times New Roman" charset="0"/>
            </a:endParaRP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524000"/>
            <a:ext cx="4111625" cy="1143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kumimoji="0" lang="en-US" altLang="zh-CN" sz="2400">
                <a:ea typeface="宋体" charset="-122"/>
              </a:rPr>
              <a:t>TLB</a:t>
            </a:r>
          </a:p>
          <a:p>
            <a:pPr lvl="1">
              <a:lnSpc>
                <a:spcPct val="90000"/>
              </a:lnSpc>
            </a:pPr>
            <a:r>
              <a:rPr kumimoji="0" lang="en-US" altLang="zh-CN" sz="2000">
                <a:ea typeface="宋体" charset="-122"/>
              </a:rPr>
              <a:t>16 entries</a:t>
            </a:r>
          </a:p>
          <a:p>
            <a:pPr lvl="1">
              <a:lnSpc>
                <a:spcPct val="90000"/>
              </a:lnSpc>
            </a:pPr>
            <a:r>
              <a:rPr kumimoji="0" lang="en-US" altLang="zh-CN" sz="2000">
                <a:ea typeface="宋体" charset="-122"/>
              </a:rPr>
              <a:t>4-way associative (2-bit)</a:t>
            </a:r>
            <a:endParaRPr kumimoji="0" lang="zh-CN" altLang="en-US" sz="2000">
              <a:ea typeface="宋体" charset="-122"/>
            </a:endParaRPr>
          </a:p>
        </p:txBody>
      </p:sp>
      <p:grpSp>
        <p:nvGrpSpPr>
          <p:cNvPr id="148484" name="Group 5"/>
          <p:cNvGrpSpPr>
            <a:grpSpLocks/>
          </p:cNvGrpSpPr>
          <p:nvPr/>
        </p:nvGrpSpPr>
        <p:grpSpPr bwMode="auto">
          <a:xfrm>
            <a:off x="990600" y="3236913"/>
            <a:ext cx="6823075" cy="609600"/>
            <a:chOff x="605" y="1776"/>
            <a:chExt cx="4298" cy="384"/>
          </a:xfrm>
        </p:grpSpPr>
        <p:grpSp>
          <p:nvGrpSpPr>
            <p:cNvPr id="148582" name="Group 6"/>
            <p:cNvGrpSpPr>
              <a:grpSpLocks/>
            </p:cNvGrpSpPr>
            <p:nvPr/>
          </p:nvGrpSpPr>
          <p:grpSpPr bwMode="auto">
            <a:xfrm>
              <a:off x="605" y="1776"/>
              <a:ext cx="307" cy="384"/>
              <a:chOff x="605" y="1776"/>
              <a:chExt cx="307" cy="384"/>
            </a:xfrm>
          </p:grpSpPr>
          <p:sp>
            <p:nvSpPr>
              <p:cNvPr id="148622" name="Rectangle 7"/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487" tIns="44450" rIns="90487" bIns="44450" anchor="ctr"/>
              <a:lstStyle>
                <a:lvl1pPr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8623" name="Rectangle 8"/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 anchor="ctr"/>
              <a:lstStyle>
                <a:lvl1pPr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30000"/>
                  </a:spcBef>
                </a:pPr>
                <a:r>
                  <a:rPr lang="en-US" altLang="zh-CN" sz="1400">
                    <a:solidFill>
                      <a:schemeClr val="tx2"/>
                    </a:solidFill>
                    <a:latin typeface="Helvetica" charset="0"/>
                  </a:rPr>
                  <a:t>13</a:t>
                </a:r>
              </a:p>
            </p:txBody>
          </p:sp>
        </p:grpSp>
        <p:grpSp>
          <p:nvGrpSpPr>
            <p:cNvPr id="148583" name="Group 9"/>
            <p:cNvGrpSpPr>
              <a:grpSpLocks/>
            </p:cNvGrpSpPr>
            <p:nvPr/>
          </p:nvGrpSpPr>
          <p:grpSpPr bwMode="auto">
            <a:xfrm>
              <a:off x="912" y="1776"/>
              <a:ext cx="307" cy="384"/>
              <a:chOff x="605" y="1776"/>
              <a:chExt cx="307" cy="384"/>
            </a:xfrm>
          </p:grpSpPr>
          <p:sp>
            <p:nvSpPr>
              <p:cNvPr id="148620" name="Rectangle 10"/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487" tIns="44450" rIns="90487" bIns="44450" anchor="ctr"/>
              <a:lstStyle>
                <a:lvl1pPr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8621" name="Rectangle 11"/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 anchor="ctr"/>
              <a:lstStyle>
                <a:lvl1pPr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30000"/>
                  </a:spcBef>
                </a:pPr>
                <a:r>
                  <a:rPr lang="en-US" altLang="zh-CN" sz="1400">
                    <a:solidFill>
                      <a:schemeClr val="tx2"/>
                    </a:solidFill>
                    <a:latin typeface="Helvetica" charset="0"/>
                  </a:rPr>
                  <a:t>12</a:t>
                </a:r>
              </a:p>
            </p:txBody>
          </p:sp>
        </p:grpSp>
        <p:grpSp>
          <p:nvGrpSpPr>
            <p:cNvPr id="148584" name="Group 12"/>
            <p:cNvGrpSpPr>
              <a:grpSpLocks/>
            </p:cNvGrpSpPr>
            <p:nvPr/>
          </p:nvGrpSpPr>
          <p:grpSpPr bwMode="auto">
            <a:xfrm>
              <a:off x="1219" y="1776"/>
              <a:ext cx="307" cy="384"/>
              <a:chOff x="605" y="1776"/>
              <a:chExt cx="307" cy="384"/>
            </a:xfrm>
          </p:grpSpPr>
          <p:sp>
            <p:nvSpPr>
              <p:cNvPr id="148618" name="Rectangle 13"/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487" tIns="44450" rIns="90487" bIns="44450" anchor="ctr"/>
              <a:lstStyle>
                <a:lvl1pPr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8619" name="Rectangle 14"/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 anchor="ctr"/>
              <a:lstStyle>
                <a:lvl1pPr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30000"/>
                  </a:spcBef>
                </a:pPr>
                <a:r>
                  <a:rPr lang="en-US" altLang="zh-CN" sz="1400">
                    <a:solidFill>
                      <a:schemeClr val="tx2"/>
                    </a:solidFill>
                    <a:latin typeface="Helvetica" charset="0"/>
                  </a:rPr>
                  <a:t>11</a:t>
                </a:r>
              </a:p>
            </p:txBody>
          </p:sp>
        </p:grpSp>
        <p:grpSp>
          <p:nvGrpSpPr>
            <p:cNvPr id="148585" name="Group 15"/>
            <p:cNvGrpSpPr>
              <a:grpSpLocks/>
            </p:cNvGrpSpPr>
            <p:nvPr/>
          </p:nvGrpSpPr>
          <p:grpSpPr bwMode="auto">
            <a:xfrm>
              <a:off x="1526" y="1776"/>
              <a:ext cx="307" cy="384"/>
              <a:chOff x="605" y="1776"/>
              <a:chExt cx="307" cy="384"/>
            </a:xfrm>
          </p:grpSpPr>
          <p:sp>
            <p:nvSpPr>
              <p:cNvPr id="148616" name="Rectangle 16"/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487" tIns="44450" rIns="90487" bIns="44450" anchor="ctr"/>
              <a:lstStyle>
                <a:lvl1pPr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8617" name="Rectangle 17"/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 anchor="ctr"/>
              <a:lstStyle>
                <a:lvl1pPr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30000"/>
                  </a:spcBef>
                </a:pPr>
                <a:r>
                  <a:rPr lang="en-US" altLang="zh-CN" sz="1400">
                    <a:solidFill>
                      <a:schemeClr val="tx2"/>
                    </a:solidFill>
                    <a:latin typeface="Helvetica" charset="0"/>
                  </a:rPr>
                  <a:t>10</a:t>
                </a:r>
              </a:p>
            </p:txBody>
          </p:sp>
        </p:grpSp>
        <p:grpSp>
          <p:nvGrpSpPr>
            <p:cNvPr id="148586" name="Group 18"/>
            <p:cNvGrpSpPr>
              <a:grpSpLocks/>
            </p:cNvGrpSpPr>
            <p:nvPr/>
          </p:nvGrpSpPr>
          <p:grpSpPr bwMode="auto">
            <a:xfrm>
              <a:off x="1833" y="1776"/>
              <a:ext cx="307" cy="384"/>
              <a:chOff x="605" y="1776"/>
              <a:chExt cx="307" cy="384"/>
            </a:xfrm>
          </p:grpSpPr>
          <p:sp>
            <p:nvSpPr>
              <p:cNvPr id="148614" name="Rectangle 19"/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487" tIns="44450" rIns="90487" bIns="44450" anchor="ctr"/>
              <a:lstStyle>
                <a:lvl1pPr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8615" name="Rectangle 20"/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 anchor="ctr"/>
              <a:lstStyle>
                <a:lvl1pPr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30000"/>
                  </a:spcBef>
                </a:pPr>
                <a:r>
                  <a:rPr lang="en-US" altLang="zh-CN" sz="1400">
                    <a:solidFill>
                      <a:schemeClr val="tx2"/>
                    </a:solidFill>
                    <a:latin typeface="Helvetica" charset="0"/>
                  </a:rPr>
                  <a:t>9</a:t>
                </a:r>
              </a:p>
            </p:txBody>
          </p:sp>
        </p:grpSp>
        <p:grpSp>
          <p:nvGrpSpPr>
            <p:cNvPr id="148587" name="Group 21"/>
            <p:cNvGrpSpPr>
              <a:grpSpLocks/>
            </p:cNvGrpSpPr>
            <p:nvPr/>
          </p:nvGrpSpPr>
          <p:grpSpPr bwMode="auto">
            <a:xfrm>
              <a:off x="2140" y="1776"/>
              <a:ext cx="307" cy="384"/>
              <a:chOff x="605" y="1776"/>
              <a:chExt cx="307" cy="384"/>
            </a:xfrm>
          </p:grpSpPr>
          <p:sp>
            <p:nvSpPr>
              <p:cNvPr id="148612" name="Rectangle 22"/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487" tIns="44450" rIns="90487" bIns="44450" anchor="ctr"/>
              <a:lstStyle>
                <a:lvl1pPr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8613" name="Rectangle 23"/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 anchor="ctr"/>
              <a:lstStyle>
                <a:lvl1pPr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30000"/>
                  </a:spcBef>
                </a:pPr>
                <a:r>
                  <a:rPr lang="en-US" altLang="zh-CN" sz="1400">
                    <a:solidFill>
                      <a:schemeClr val="tx2"/>
                    </a:solidFill>
                    <a:latin typeface="Helvetica" charset="0"/>
                  </a:rPr>
                  <a:t>8</a:t>
                </a:r>
              </a:p>
            </p:txBody>
          </p:sp>
        </p:grpSp>
        <p:grpSp>
          <p:nvGrpSpPr>
            <p:cNvPr id="148588" name="Group 24"/>
            <p:cNvGrpSpPr>
              <a:grpSpLocks/>
            </p:cNvGrpSpPr>
            <p:nvPr/>
          </p:nvGrpSpPr>
          <p:grpSpPr bwMode="auto">
            <a:xfrm>
              <a:off x="2447" y="1776"/>
              <a:ext cx="307" cy="384"/>
              <a:chOff x="605" y="1776"/>
              <a:chExt cx="307" cy="384"/>
            </a:xfrm>
          </p:grpSpPr>
          <p:sp>
            <p:nvSpPr>
              <p:cNvPr id="148610" name="Rectangle 25"/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487" tIns="44450" rIns="90487" bIns="44450" anchor="ctr"/>
              <a:lstStyle>
                <a:lvl1pPr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8611" name="Rectangle 26"/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 anchor="ctr"/>
              <a:lstStyle>
                <a:lvl1pPr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30000"/>
                  </a:spcBef>
                </a:pPr>
                <a:r>
                  <a:rPr lang="en-US" altLang="zh-CN" sz="1400">
                    <a:solidFill>
                      <a:schemeClr val="tx2"/>
                    </a:solidFill>
                    <a:latin typeface="Helvetica" charset="0"/>
                  </a:rPr>
                  <a:t>7</a:t>
                </a:r>
              </a:p>
            </p:txBody>
          </p:sp>
        </p:grpSp>
        <p:grpSp>
          <p:nvGrpSpPr>
            <p:cNvPr id="148589" name="Group 27"/>
            <p:cNvGrpSpPr>
              <a:grpSpLocks/>
            </p:cNvGrpSpPr>
            <p:nvPr/>
          </p:nvGrpSpPr>
          <p:grpSpPr bwMode="auto">
            <a:xfrm>
              <a:off x="2754" y="1776"/>
              <a:ext cx="307" cy="384"/>
              <a:chOff x="605" y="1776"/>
              <a:chExt cx="307" cy="384"/>
            </a:xfrm>
          </p:grpSpPr>
          <p:sp>
            <p:nvSpPr>
              <p:cNvPr id="148608" name="Rectangle 28"/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487" tIns="44450" rIns="90487" bIns="44450" anchor="ctr"/>
              <a:lstStyle>
                <a:lvl1pPr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8609" name="Rectangle 29"/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 anchor="ctr"/>
              <a:lstStyle>
                <a:lvl1pPr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30000"/>
                  </a:spcBef>
                </a:pPr>
                <a:r>
                  <a:rPr lang="en-US" altLang="zh-CN" sz="1400">
                    <a:solidFill>
                      <a:schemeClr val="tx2"/>
                    </a:solidFill>
                    <a:latin typeface="Helvetica" charset="0"/>
                  </a:rPr>
                  <a:t>6</a:t>
                </a:r>
              </a:p>
            </p:txBody>
          </p:sp>
        </p:grpSp>
        <p:grpSp>
          <p:nvGrpSpPr>
            <p:cNvPr id="148590" name="Group 30"/>
            <p:cNvGrpSpPr>
              <a:grpSpLocks/>
            </p:cNvGrpSpPr>
            <p:nvPr/>
          </p:nvGrpSpPr>
          <p:grpSpPr bwMode="auto">
            <a:xfrm>
              <a:off x="3061" y="1776"/>
              <a:ext cx="307" cy="384"/>
              <a:chOff x="605" y="1776"/>
              <a:chExt cx="307" cy="384"/>
            </a:xfrm>
          </p:grpSpPr>
          <p:sp>
            <p:nvSpPr>
              <p:cNvPr id="148606" name="Rectangle 31"/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487" tIns="44450" rIns="90487" bIns="44450" anchor="ctr"/>
              <a:lstStyle>
                <a:lvl1pPr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8607" name="Rectangle 32"/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 anchor="ctr"/>
              <a:lstStyle>
                <a:lvl1pPr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30000"/>
                  </a:spcBef>
                </a:pPr>
                <a:r>
                  <a:rPr lang="en-US" altLang="zh-CN" sz="1400">
                    <a:solidFill>
                      <a:schemeClr val="tx2"/>
                    </a:solidFill>
                    <a:latin typeface="Helvetica" charset="0"/>
                  </a:rPr>
                  <a:t>5</a:t>
                </a:r>
              </a:p>
            </p:txBody>
          </p:sp>
        </p:grpSp>
        <p:grpSp>
          <p:nvGrpSpPr>
            <p:cNvPr id="148591" name="Group 33"/>
            <p:cNvGrpSpPr>
              <a:grpSpLocks/>
            </p:cNvGrpSpPr>
            <p:nvPr/>
          </p:nvGrpSpPr>
          <p:grpSpPr bwMode="auto">
            <a:xfrm>
              <a:off x="3368" y="1776"/>
              <a:ext cx="307" cy="384"/>
              <a:chOff x="605" y="1776"/>
              <a:chExt cx="307" cy="384"/>
            </a:xfrm>
          </p:grpSpPr>
          <p:sp>
            <p:nvSpPr>
              <p:cNvPr id="148604" name="Rectangle 34"/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487" tIns="44450" rIns="90487" bIns="44450" anchor="ctr"/>
              <a:lstStyle>
                <a:lvl1pPr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8605" name="Rectangle 35"/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 anchor="ctr"/>
              <a:lstStyle>
                <a:lvl1pPr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30000"/>
                  </a:spcBef>
                </a:pPr>
                <a:r>
                  <a:rPr lang="en-US" altLang="zh-CN" sz="1400">
                    <a:solidFill>
                      <a:schemeClr val="tx2"/>
                    </a:solidFill>
                    <a:latin typeface="Helvetica" charset="0"/>
                  </a:rPr>
                  <a:t>4</a:t>
                </a:r>
              </a:p>
            </p:txBody>
          </p:sp>
        </p:grpSp>
        <p:grpSp>
          <p:nvGrpSpPr>
            <p:cNvPr id="148592" name="Group 36"/>
            <p:cNvGrpSpPr>
              <a:grpSpLocks/>
            </p:cNvGrpSpPr>
            <p:nvPr/>
          </p:nvGrpSpPr>
          <p:grpSpPr bwMode="auto">
            <a:xfrm>
              <a:off x="3675" y="1776"/>
              <a:ext cx="307" cy="384"/>
              <a:chOff x="605" y="1776"/>
              <a:chExt cx="307" cy="384"/>
            </a:xfrm>
          </p:grpSpPr>
          <p:sp>
            <p:nvSpPr>
              <p:cNvPr id="148602" name="Rectangle 37"/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487" tIns="44450" rIns="90487" bIns="44450" anchor="ctr"/>
              <a:lstStyle>
                <a:lvl1pPr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8603" name="Rectangle 38"/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 anchor="ctr"/>
              <a:lstStyle>
                <a:lvl1pPr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30000"/>
                  </a:spcBef>
                </a:pPr>
                <a:r>
                  <a:rPr lang="en-US" altLang="zh-CN" sz="1400">
                    <a:solidFill>
                      <a:schemeClr val="tx2"/>
                    </a:solidFill>
                    <a:latin typeface="Helvetica" charset="0"/>
                  </a:rPr>
                  <a:t>3</a:t>
                </a:r>
              </a:p>
            </p:txBody>
          </p:sp>
        </p:grpSp>
        <p:grpSp>
          <p:nvGrpSpPr>
            <p:cNvPr id="148593" name="Group 39"/>
            <p:cNvGrpSpPr>
              <a:grpSpLocks/>
            </p:cNvGrpSpPr>
            <p:nvPr/>
          </p:nvGrpSpPr>
          <p:grpSpPr bwMode="auto">
            <a:xfrm>
              <a:off x="3982" y="1776"/>
              <a:ext cx="307" cy="384"/>
              <a:chOff x="605" y="1776"/>
              <a:chExt cx="307" cy="384"/>
            </a:xfrm>
          </p:grpSpPr>
          <p:sp>
            <p:nvSpPr>
              <p:cNvPr id="148600" name="Rectangle 40"/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487" tIns="44450" rIns="90487" bIns="44450" anchor="ctr"/>
              <a:lstStyle>
                <a:lvl1pPr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8601" name="Rectangle 41"/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 anchor="ctr"/>
              <a:lstStyle>
                <a:lvl1pPr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30000"/>
                  </a:spcBef>
                </a:pPr>
                <a:r>
                  <a:rPr lang="en-US" altLang="zh-CN" sz="1400">
                    <a:solidFill>
                      <a:schemeClr val="tx2"/>
                    </a:solidFill>
                    <a:latin typeface="Helvetica" charset="0"/>
                  </a:rPr>
                  <a:t>2</a:t>
                </a:r>
              </a:p>
            </p:txBody>
          </p:sp>
        </p:grpSp>
        <p:grpSp>
          <p:nvGrpSpPr>
            <p:cNvPr id="148594" name="Group 42"/>
            <p:cNvGrpSpPr>
              <a:grpSpLocks/>
            </p:cNvGrpSpPr>
            <p:nvPr/>
          </p:nvGrpSpPr>
          <p:grpSpPr bwMode="auto">
            <a:xfrm>
              <a:off x="4289" y="1776"/>
              <a:ext cx="307" cy="384"/>
              <a:chOff x="605" y="1776"/>
              <a:chExt cx="307" cy="384"/>
            </a:xfrm>
          </p:grpSpPr>
          <p:sp>
            <p:nvSpPr>
              <p:cNvPr id="148598" name="Rectangle 43"/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487" tIns="44450" rIns="90487" bIns="44450" anchor="ctr"/>
              <a:lstStyle>
                <a:lvl1pPr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8599" name="Rectangle 44"/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 anchor="ctr"/>
              <a:lstStyle>
                <a:lvl1pPr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30000"/>
                  </a:spcBef>
                </a:pPr>
                <a:r>
                  <a:rPr lang="en-US" altLang="zh-CN" sz="1400">
                    <a:solidFill>
                      <a:schemeClr val="tx2"/>
                    </a:solidFill>
                    <a:latin typeface="Helvetica" charset="0"/>
                  </a:rPr>
                  <a:t>1</a:t>
                </a:r>
              </a:p>
            </p:txBody>
          </p:sp>
        </p:grpSp>
        <p:grpSp>
          <p:nvGrpSpPr>
            <p:cNvPr id="148595" name="Group 45"/>
            <p:cNvGrpSpPr>
              <a:grpSpLocks/>
            </p:cNvGrpSpPr>
            <p:nvPr/>
          </p:nvGrpSpPr>
          <p:grpSpPr bwMode="auto">
            <a:xfrm>
              <a:off x="4596" y="1776"/>
              <a:ext cx="307" cy="384"/>
              <a:chOff x="605" y="1776"/>
              <a:chExt cx="307" cy="384"/>
            </a:xfrm>
          </p:grpSpPr>
          <p:sp>
            <p:nvSpPr>
              <p:cNvPr id="148596" name="Rectangle 46"/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487" tIns="44450" rIns="90487" bIns="44450" anchor="ctr"/>
              <a:lstStyle>
                <a:lvl1pPr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8597" name="Rectangle 47"/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 anchor="ctr"/>
              <a:lstStyle>
                <a:lvl1pPr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30000"/>
                  </a:spcBef>
                </a:pPr>
                <a:r>
                  <a:rPr lang="en-US" altLang="zh-CN" sz="1400">
                    <a:solidFill>
                      <a:schemeClr val="tx2"/>
                    </a:solidFill>
                    <a:latin typeface="Helvetica" charset="0"/>
                  </a:rPr>
                  <a:t>0</a:t>
                </a:r>
              </a:p>
            </p:txBody>
          </p:sp>
        </p:grpSp>
      </p:grpSp>
      <p:grpSp>
        <p:nvGrpSpPr>
          <p:cNvPr id="148485" name="Group 48"/>
          <p:cNvGrpSpPr>
            <a:grpSpLocks/>
          </p:cNvGrpSpPr>
          <p:nvPr/>
        </p:nvGrpSpPr>
        <p:grpSpPr bwMode="auto">
          <a:xfrm>
            <a:off x="4889500" y="4006850"/>
            <a:ext cx="2924175" cy="336550"/>
            <a:chOff x="3061" y="2261"/>
            <a:chExt cx="1842" cy="212"/>
          </a:xfrm>
        </p:grpSpPr>
        <p:sp>
          <p:nvSpPr>
            <p:cNvPr id="148580" name="Line 49"/>
            <p:cNvSpPr>
              <a:spLocks noChangeShapeType="1"/>
            </p:cNvSpPr>
            <p:nvPr/>
          </p:nvSpPr>
          <p:spPr bwMode="auto">
            <a:xfrm>
              <a:off x="3061" y="2352"/>
              <a:ext cx="184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arrow" w="med" len="med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487" tIns="44450" rIns="90487" bIns="44450"/>
            <a:lstStyle/>
            <a:p>
              <a:endParaRPr lang="zh-CN" altLang="en-US"/>
            </a:p>
          </p:txBody>
        </p:sp>
        <p:sp>
          <p:nvSpPr>
            <p:cNvPr id="148581" name="Text Box 50"/>
            <p:cNvSpPr txBox="1">
              <a:spLocks noChangeArrowheads="1"/>
            </p:cNvSpPr>
            <p:nvPr/>
          </p:nvSpPr>
          <p:spPr bwMode="auto">
            <a:xfrm>
              <a:off x="3770" y="2261"/>
              <a:ext cx="418" cy="2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</a:pPr>
              <a:r>
                <a:rPr lang="en-US" altLang="zh-CN" sz="1800">
                  <a:solidFill>
                    <a:schemeClr val="tx2"/>
                  </a:solidFill>
                  <a:latin typeface="Helvetica" charset="0"/>
                </a:rPr>
                <a:t>VPO</a:t>
              </a:r>
            </a:p>
          </p:txBody>
        </p:sp>
      </p:grpSp>
      <p:grpSp>
        <p:nvGrpSpPr>
          <p:cNvPr id="148486" name="Group 51"/>
          <p:cNvGrpSpPr>
            <a:grpSpLocks/>
          </p:cNvGrpSpPr>
          <p:nvPr/>
        </p:nvGrpSpPr>
        <p:grpSpPr bwMode="auto">
          <a:xfrm>
            <a:off x="990600" y="3998913"/>
            <a:ext cx="3916363" cy="336550"/>
            <a:chOff x="3061" y="2261"/>
            <a:chExt cx="1842" cy="212"/>
          </a:xfrm>
        </p:grpSpPr>
        <p:sp>
          <p:nvSpPr>
            <p:cNvPr id="148578" name="Line 52"/>
            <p:cNvSpPr>
              <a:spLocks noChangeShapeType="1"/>
            </p:cNvSpPr>
            <p:nvPr/>
          </p:nvSpPr>
          <p:spPr bwMode="auto">
            <a:xfrm>
              <a:off x="3061" y="2352"/>
              <a:ext cx="184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arrow" w="med" len="med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487" tIns="44450" rIns="90487" bIns="44450"/>
            <a:lstStyle/>
            <a:p>
              <a:endParaRPr lang="zh-CN" altLang="en-US"/>
            </a:p>
          </p:txBody>
        </p:sp>
        <p:sp>
          <p:nvSpPr>
            <p:cNvPr id="148579" name="Text Box 53"/>
            <p:cNvSpPr txBox="1">
              <a:spLocks noChangeArrowheads="1"/>
            </p:cNvSpPr>
            <p:nvPr/>
          </p:nvSpPr>
          <p:spPr bwMode="auto">
            <a:xfrm>
              <a:off x="3770" y="2261"/>
              <a:ext cx="306" cy="2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</a:pPr>
              <a:r>
                <a:rPr lang="en-US" altLang="zh-CN" sz="1800">
                  <a:solidFill>
                    <a:schemeClr val="tx2"/>
                  </a:solidFill>
                  <a:latin typeface="Helvetica" charset="0"/>
                </a:rPr>
                <a:t>VPN</a:t>
              </a:r>
            </a:p>
          </p:txBody>
        </p:sp>
      </p:grpSp>
      <p:grpSp>
        <p:nvGrpSpPr>
          <p:cNvPr id="23648" name="Group 57"/>
          <p:cNvGrpSpPr>
            <a:grpSpLocks/>
          </p:cNvGrpSpPr>
          <p:nvPr/>
        </p:nvGrpSpPr>
        <p:grpSpPr bwMode="auto">
          <a:xfrm>
            <a:off x="990600" y="3008313"/>
            <a:ext cx="2927350" cy="309562"/>
            <a:chOff x="2445" y="1645"/>
            <a:chExt cx="625" cy="195"/>
          </a:xfrm>
        </p:grpSpPr>
        <p:sp>
          <p:nvSpPr>
            <p:cNvPr id="148576" name="Line 58"/>
            <p:cNvSpPr>
              <a:spLocks noChangeShapeType="1"/>
            </p:cNvSpPr>
            <p:nvPr/>
          </p:nvSpPr>
          <p:spPr bwMode="auto">
            <a:xfrm>
              <a:off x="2445" y="1718"/>
              <a:ext cx="6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arrow" w="med" len="med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487" tIns="44450" rIns="90487" bIns="44450"/>
            <a:lstStyle/>
            <a:p>
              <a:endParaRPr lang="zh-CN" altLang="en-US"/>
            </a:p>
          </p:txBody>
        </p:sp>
        <p:sp>
          <p:nvSpPr>
            <p:cNvPr id="148577" name="Text Box 59"/>
            <p:cNvSpPr txBox="1">
              <a:spLocks noChangeArrowheads="1"/>
            </p:cNvSpPr>
            <p:nvPr/>
          </p:nvSpPr>
          <p:spPr bwMode="auto">
            <a:xfrm>
              <a:off x="2710" y="1645"/>
              <a:ext cx="150" cy="19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30000"/>
                </a:spcBef>
              </a:pPr>
              <a:r>
                <a:rPr lang="en-US" altLang="zh-CN" sz="1600">
                  <a:solidFill>
                    <a:schemeClr val="tx2"/>
                  </a:solidFill>
                  <a:latin typeface="Helvetica" charset="0"/>
                </a:rPr>
                <a:t>TLBT</a:t>
              </a:r>
            </a:p>
          </p:txBody>
        </p:sp>
      </p:grpSp>
      <p:graphicFrame>
        <p:nvGraphicFramePr>
          <p:cNvPr id="1350716" name="Group 60"/>
          <p:cNvGraphicFramePr>
            <a:graphicFrameLocks noGrp="1"/>
          </p:cNvGraphicFramePr>
          <p:nvPr/>
        </p:nvGraphicFramePr>
        <p:xfrm>
          <a:off x="304800" y="4813300"/>
          <a:ext cx="8458200" cy="1666875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33375"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宋体" charset="-122"/>
                      </a:endParaRPr>
                    </a:p>
                  </a:txBody>
                  <a:tcPr marL="90487" marR="90487" marT="44450" marB="44450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Tag</a:t>
                      </a:r>
                    </a:p>
                  </a:txBody>
                  <a:tcPr marL="90487" marR="90487" marT="44450" marB="4445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PPN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Valid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Tag</a:t>
                      </a:r>
                    </a:p>
                  </a:txBody>
                  <a:tcPr marL="90487" marR="90487" marT="44450" marB="4445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PPN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Valid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Tag</a:t>
                      </a:r>
                    </a:p>
                  </a:txBody>
                  <a:tcPr marL="90487" marR="90487" marT="44450" marB="4445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PPN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Valid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Tag</a:t>
                      </a:r>
                    </a:p>
                  </a:txBody>
                  <a:tcPr marL="90487" marR="90487" marT="44450" marB="4445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PPN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Valid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375"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</a:t>
                      </a:r>
                    </a:p>
                  </a:txBody>
                  <a:tcPr marL="90487" marR="90487" marT="44450" marB="44450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03</a:t>
                      </a:r>
                    </a:p>
                  </a:txBody>
                  <a:tcPr marL="90487" marR="90487" marT="44450" marB="4445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–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09</a:t>
                      </a:r>
                    </a:p>
                  </a:txBody>
                  <a:tcPr marL="90487" marR="90487" marT="44450" marB="4445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0D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1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00</a:t>
                      </a:r>
                    </a:p>
                  </a:txBody>
                  <a:tcPr marL="90487" marR="90487" marT="44450" marB="4445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–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07</a:t>
                      </a:r>
                    </a:p>
                  </a:txBody>
                  <a:tcPr marL="90487" marR="90487" marT="44450" marB="4445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02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1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375"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1</a:t>
                      </a:r>
                    </a:p>
                  </a:txBody>
                  <a:tcPr marL="90487" marR="90487" marT="44450" marB="44450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03</a:t>
                      </a:r>
                    </a:p>
                  </a:txBody>
                  <a:tcPr marL="90487" marR="90487" marT="44450" marB="4445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2D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1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02</a:t>
                      </a:r>
                    </a:p>
                  </a:txBody>
                  <a:tcPr marL="90487" marR="90487" marT="44450" marB="4445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–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04</a:t>
                      </a:r>
                    </a:p>
                  </a:txBody>
                  <a:tcPr marL="90487" marR="90487" marT="44450" marB="4445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–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0A</a:t>
                      </a:r>
                    </a:p>
                  </a:txBody>
                  <a:tcPr marL="90487" marR="90487" marT="44450" marB="4445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–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375"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2</a:t>
                      </a:r>
                    </a:p>
                  </a:txBody>
                  <a:tcPr marL="90487" marR="90487" marT="44450" marB="44450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02</a:t>
                      </a:r>
                    </a:p>
                  </a:txBody>
                  <a:tcPr marL="90487" marR="90487" marT="44450" marB="4445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–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08</a:t>
                      </a:r>
                    </a:p>
                  </a:txBody>
                  <a:tcPr marL="90487" marR="90487" marT="44450" marB="4445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–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06</a:t>
                      </a:r>
                    </a:p>
                  </a:txBody>
                  <a:tcPr marL="90487" marR="90487" marT="44450" marB="4445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–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03</a:t>
                      </a:r>
                    </a:p>
                  </a:txBody>
                  <a:tcPr marL="90487" marR="90487" marT="44450" marB="4445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–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375"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3</a:t>
                      </a:r>
                    </a:p>
                  </a:txBody>
                  <a:tcPr marL="90487" marR="90487" marT="44450" marB="44450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07</a:t>
                      </a:r>
                    </a:p>
                  </a:txBody>
                  <a:tcPr marL="90487" marR="90487" marT="44450" marB="4445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–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03</a:t>
                      </a:r>
                    </a:p>
                  </a:txBody>
                  <a:tcPr marL="90487" marR="90487" marT="44450" marB="4445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0D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1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0A</a:t>
                      </a:r>
                    </a:p>
                  </a:txBody>
                  <a:tcPr marL="90487" marR="90487" marT="44450" marB="4445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34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1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02</a:t>
                      </a:r>
                    </a:p>
                  </a:txBody>
                  <a:tcPr marL="90487" marR="90487" marT="44450" marB="4445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–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8573" name="Rectangle 146"/>
          <p:cNvSpPr>
            <a:spLocks noChangeArrowheads="1"/>
          </p:cNvSpPr>
          <p:nvPr/>
        </p:nvSpPr>
        <p:spPr bwMode="auto">
          <a:xfrm>
            <a:off x="457200" y="457200"/>
            <a:ext cx="80772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r>
              <a:rPr lang="en-US" altLang="zh-CN" sz="2800">
                <a:solidFill>
                  <a:schemeClr val="tx2"/>
                </a:solidFill>
              </a:rPr>
              <a:t>Simple Memory System TLB</a:t>
            </a:r>
          </a:p>
        </p:txBody>
      </p:sp>
      <p:cxnSp>
        <p:nvCxnSpPr>
          <p:cNvPr id="4" name="Straight Connector 3"/>
          <p:cNvCxnSpPr>
            <a:cxnSpLocks noChangeShapeType="1"/>
          </p:cNvCxnSpPr>
          <p:nvPr/>
        </p:nvCxnSpPr>
        <p:spPr bwMode="auto">
          <a:xfrm>
            <a:off x="4889500" y="2819400"/>
            <a:ext cx="0" cy="1676400"/>
          </a:xfrm>
          <a:prstGeom prst="line">
            <a:avLst/>
          </a:prstGeom>
          <a:noFill/>
          <a:ln w="9525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8575" name="Rectangle 3"/>
          <p:cNvSpPr txBox="1">
            <a:spLocks noChangeArrowheads="1"/>
          </p:cNvSpPr>
          <p:nvPr/>
        </p:nvSpPr>
        <p:spPr bwMode="auto">
          <a:xfrm>
            <a:off x="4867275" y="1524000"/>
            <a:ext cx="4276725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20000"/>
              </a:spcBef>
              <a:buFontTx/>
              <a:buChar char="•"/>
            </a:pPr>
            <a:r>
              <a:rPr lang="en-US" altLang="zh-CN" sz="2400" b="0"/>
              <a:t>Addressing</a:t>
            </a:r>
          </a:p>
          <a:p>
            <a:pPr lvl="1">
              <a:spcBef>
                <a:spcPct val="20000"/>
              </a:spcBef>
              <a:buFontTx/>
              <a:buChar char="–"/>
            </a:pPr>
            <a:r>
              <a:rPr lang="en-US" altLang="zh-CN" b="0"/>
              <a:t>14-bit virtual addresses</a:t>
            </a:r>
          </a:p>
          <a:p>
            <a:pPr lvl="1">
              <a:spcBef>
                <a:spcPct val="20000"/>
              </a:spcBef>
              <a:buFontTx/>
              <a:buChar char="–"/>
            </a:pPr>
            <a:r>
              <a:rPr lang="en-US" altLang="zh-CN" b="0"/>
              <a:t>12-bit physical address</a:t>
            </a:r>
          </a:p>
          <a:p>
            <a:pPr lvl="1">
              <a:spcBef>
                <a:spcPct val="20000"/>
              </a:spcBef>
              <a:buFontTx/>
              <a:buChar char="–"/>
            </a:pPr>
            <a:r>
              <a:rPr lang="en-US" altLang="zh-CN" b="0"/>
              <a:t>Page size = 64 B</a:t>
            </a:r>
            <a:r>
              <a:rPr lang="zh-CN" altLang="en-US" b="0">
                <a:solidFill>
                  <a:srgbClr val="FF0000"/>
                </a:solidFill>
              </a:rPr>
              <a:t> </a:t>
            </a:r>
            <a:r>
              <a:rPr lang="en-US" altLang="zh-CN" b="0"/>
              <a:t>(6-bit)</a:t>
            </a:r>
            <a:endParaRPr lang="zh-CN" altLang="en-US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0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5" grpId="0" build="p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29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45B1673E-5E7C-5D4D-966D-F837B473038E}" type="slidenum">
              <a:rPr lang="zh-CN" altLang="en-US" sz="1400" b="0">
                <a:latin typeface="Times New Roman" charset="0"/>
              </a:rPr>
              <a:pPr/>
              <a:t>59</a:t>
            </a:fld>
            <a:endParaRPr lang="en-US" altLang="zh-CN" sz="1400" b="0">
              <a:latin typeface="Times New Roman" charset="0"/>
            </a:endParaRPr>
          </a:p>
        </p:txBody>
      </p:sp>
      <p:sp>
        <p:nvSpPr>
          <p:cNvPr id="150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宋体" charset="-122"/>
              </a:rPr>
              <a:t>练习</a:t>
            </a:r>
            <a:r>
              <a:rPr lang="en-US" altLang="zh-CN">
                <a:ea typeface="宋体" charset="-122"/>
              </a:rPr>
              <a:t>2-4</a:t>
            </a:r>
          </a:p>
        </p:txBody>
      </p:sp>
      <p:sp>
        <p:nvSpPr>
          <p:cNvPr id="150531" name="Rectangle 3"/>
          <p:cNvSpPr>
            <a:spLocks noChangeArrowheads="1"/>
          </p:cNvSpPr>
          <p:nvPr/>
        </p:nvSpPr>
        <p:spPr bwMode="auto">
          <a:xfrm>
            <a:off x="533400" y="1614488"/>
            <a:ext cx="30940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r>
              <a:rPr lang="en-US" altLang="zh-CN" b="0"/>
              <a:t>Virtual Address 0x03D4</a:t>
            </a:r>
            <a:endParaRPr lang="zh-CN" altLang="en-US" b="0"/>
          </a:p>
        </p:txBody>
      </p:sp>
      <p:grpSp>
        <p:nvGrpSpPr>
          <p:cNvPr id="150532" name="Group 4"/>
          <p:cNvGrpSpPr>
            <a:grpSpLocks/>
          </p:cNvGrpSpPr>
          <p:nvPr/>
        </p:nvGrpSpPr>
        <p:grpSpPr bwMode="auto">
          <a:xfrm>
            <a:off x="685800" y="2032000"/>
            <a:ext cx="6823075" cy="1106488"/>
            <a:chOff x="432" y="1415"/>
            <a:chExt cx="4298" cy="697"/>
          </a:xfrm>
        </p:grpSpPr>
        <p:grpSp>
          <p:nvGrpSpPr>
            <p:cNvPr id="150593" name="Group 5"/>
            <p:cNvGrpSpPr>
              <a:grpSpLocks/>
            </p:cNvGrpSpPr>
            <p:nvPr/>
          </p:nvGrpSpPr>
          <p:grpSpPr bwMode="auto">
            <a:xfrm>
              <a:off x="432" y="1415"/>
              <a:ext cx="4298" cy="384"/>
              <a:chOff x="629" y="1176"/>
              <a:chExt cx="4298" cy="384"/>
            </a:xfrm>
          </p:grpSpPr>
          <p:grpSp>
            <p:nvGrpSpPr>
              <p:cNvPr id="150614" name="Group 6"/>
              <p:cNvGrpSpPr>
                <a:grpSpLocks/>
              </p:cNvGrpSpPr>
              <p:nvPr/>
            </p:nvGrpSpPr>
            <p:grpSpPr bwMode="auto">
              <a:xfrm>
                <a:off x="629" y="1176"/>
                <a:ext cx="307" cy="384"/>
                <a:chOff x="629" y="1176"/>
                <a:chExt cx="307" cy="384"/>
              </a:xfrm>
            </p:grpSpPr>
            <p:sp>
              <p:nvSpPr>
                <p:cNvPr id="150654" name="Rectangle 7"/>
                <p:cNvSpPr>
                  <a:spLocks noChangeArrowheads="1"/>
                </p:cNvSpPr>
                <p:nvPr/>
              </p:nvSpPr>
              <p:spPr bwMode="auto">
                <a:xfrm>
                  <a:off x="629" y="13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endParaRPr lang="zh-CN" altLang="en-US" sz="1800">
                    <a:solidFill>
                      <a:schemeClr val="tx2"/>
                    </a:solidFill>
                    <a:latin typeface="Helvetica" charset="0"/>
                  </a:endParaRPr>
                </a:p>
              </p:txBody>
            </p:sp>
            <p:sp>
              <p:nvSpPr>
                <p:cNvPr id="150655" name="Rectangle 8"/>
                <p:cNvSpPr>
                  <a:spLocks noChangeArrowheads="1"/>
                </p:cNvSpPr>
                <p:nvPr/>
              </p:nvSpPr>
              <p:spPr bwMode="auto">
                <a:xfrm>
                  <a:off x="629" y="11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charset="0"/>
                    </a:rPr>
                    <a:t>13</a:t>
                  </a:r>
                </a:p>
              </p:txBody>
            </p:sp>
          </p:grpSp>
          <p:grpSp>
            <p:nvGrpSpPr>
              <p:cNvPr id="150615" name="Group 9"/>
              <p:cNvGrpSpPr>
                <a:grpSpLocks/>
              </p:cNvGrpSpPr>
              <p:nvPr/>
            </p:nvGrpSpPr>
            <p:grpSpPr bwMode="auto">
              <a:xfrm>
                <a:off x="936" y="1176"/>
                <a:ext cx="307" cy="384"/>
                <a:chOff x="936" y="1176"/>
                <a:chExt cx="307" cy="384"/>
              </a:xfrm>
            </p:grpSpPr>
            <p:sp>
              <p:nvSpPr>
                <p:cNvPr id="150652" name="Rectangle 10"/>
                <p:cNvSpPr>
                  <a:spLocks noChangeArrowheads="1"/>
                </p:cNvSpPr>
                <p:nvPr/>
              </p:nvSpPr>
              <p:spPr bwMode="auto">
                <a:xfrm>
                  <a:off x="936" y="13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endParaRPr lang="zh-CN" altLang="en-US" sz="1800">
                    <a:solidFill>
                      <a:schemeClr val="tx2"/>
                    </a:solidFill>
                    <a:latin typeface="Helvetica" charset="0"/>
                  </a:endParaRPr>
                </a:p>
              </p:txBody>
            </p:sp>
            <p:sp>
              <p:nvSpPr>
                <p:cNvPr id="150653" name="Rectangle 11"/>
                <p:cNvSpPr>
                  <a:spLocks noChangeArrowheads="1"/>
                </p:cNvSpPr>
                <p:nvPr/>
              </p:nvSpPr>
              <p:spPr bwMode="auto">
                <a:xfrm>
                  <a:off x="936" y="11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charset="0"/>
                    </a:rPr>
                    <a:t>12</a:t>
                  </a:r>
                </a:p>
              </p:txBody>
            </p:sp>
          </p:grpSp>
          <p:grpSp>
            <p:nvGrpSpPr>
              <p:cNvPr id="150616" name="Group 12"/>
              <p:cNvGrpSpPr>
                <a:grpSpLocks/>
              </p:cNvGrpSpPr>
              <p:nvPr/>
            </p:nvGrpSpPr>
            <p:grpSpPr bwMode="auto">
              <a:xfrm>
                <a:off x="1243" y="1176"/>
                <a:ext cx="307" cy="384"/>
                <a:chOff x="1243" y="1176"/>
                <a:chExt cx="307" cy="384"/>
              </a:xfrm>
            </p:grpSpPr>
            <p:sp>
              <p:nvSpPr>
                <p:cNvPr id="150650" name="Rectangle 13"/>
                <p:cNvSpPr>
                  <a:spLocks noChangeArrowheads="1"/>
                </p:cNvSpPr>
                <p:nvPr/>
              </p:nvSpPr>
              <p:spPr bwMode="auto">
                <a:xfrm>
                  <a:off x="1243" y="13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endParaRPr lang="zh-CN" altLang="en-US" sz="1800">
                    <a:solidFill>
                      <a:schemeClr val="tx2"/>
                    </a:solidFill>
                    <a:latin typeface="Helvetica" charset="0"/>
                  </a:endParaRPr>
                </a:p>
              </p:txBody>
            </p:sp>
            <p:sp>
              <p:nvSpPr>
                <p:cNvPr id="150651" name="Rectangle 14"/>
                <p:cNvSpPr>
                  <a:spLocks noChangeArrowheads="1"/>
                </p:cNvSpPr>
                <p:nvPr/>
              </p:nvSpPr>
              <p:spPr bwMode="auto">
                <a:xfrm>
                  <a:off x="1243" y="11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charset="0"/>
                    </a:rPr>
                    <a:t>11</a:t>
                  </a:r>
                </a:p>
              </p:txBody>
            </p:sp>
          </p:grpSp>
          <p:grpSp>
            <p:nvGrpSpPr>
              <p:cNvPr id="150617" name="Group 15"/>
              <p:cNvGrpSpPr>
                <a:grpSpLocks/>
              </p:cNvGrpSpPr>
              <p:nvPr/>
            </p:nvGrpSpPr>
            <p:grpSpPr bwMode="auto">
              <a:xfrm>
                <a:off x="1550" y="1176"/>
                <a:ext cx="307" cy="384"/>
                <a:chOff x="1550" y="1176"/>
                <a:chExt cx="307" cy="384"/>
              </a:xfrm>
            </p:grpSpPr>
            <p:sp>
              <p:nvSpPr>
                <p:cNvPr id="150648" name="Rectangle 16"/>
                <p:cNvSpPr>
                  <a:spLocks noChangeArrowheads="1"/>
                </p:cNvSpPr>
                <p:nvPr/>
              </p:nvSpPr>
              <p:spPr bwMode="auto">
                <a:xfrm>
                  <a:off x="1550" y="13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50649" name="Rectangle 17"/>
                <p:cNvSpPr>
                  <a:spLocks noChangeArrowheads="1"/>
                </p:cNvSpPr>
                <p:nvPr/>
              </p:nvSpPr>
              <p:spPr bwMode="auto">
                <a:xfrm>
                  <a:off x="1550" y="11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charset="0"/>
                    </a:rPr>
                    <a:t>10</a:t>
                  </a:r>
                </a:p>
              </p:txBody>
            </p:sp>
          </p:grpSp>
          <p:grpSp>
            <p:nvGrpSpPr>
              <p:cNvPr id="150618" name="Group 18"/>
              <p:cNvGrpSpPr>
                <a:grpSpLocks/>
              </p:cNvGrpSpPr>
              <p:nvPr/>
            </p:nvGrpSpPr>
            <p:grpSpPr bwMode="auto">
              <a:xfrm>
                <a:off x="1857" y="1176"/>
                <a:ext cx="307" cy="384"/>
                <a:chOff x="1857" y="1176"/>
                <a:chExt cx="307" cy="384"/>
              </a:xfrm>
            </p:grpSpPr>
            <p:sp>
              <p:nvSpPr>
                <p:cNvPr id="150646" name="Rectangle 19"/>
                <p:cNvSpPr>
                  <a:spLocks noChangeArrowheads="1"/>
                </p:cNvSpPr>
                <p:nvPr/>
              </p:nvSpPr>
              <p:spPr bwMode="auto">
                <a:xfrm>
                  <a:off x="1857" y="13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50647" name="Rectangle 20"/>
                <p:cNvSpPr>
                  <a:spLocks noChangeArrowheads="1"/>
                </p:cNvSpPr>
                <p:nvPr/>
              </p:nvSpPr>
              <p:spPr bwMode="auto">
                <a:xfrm>
                  <a:off x="1857" y="11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charset="0"/>
                    </a:rPr>
                    <a:t>9</a:t>
                  </a:r>
                </a:p>
              </p:txBody>
            </p:sp>
          </p:grpSp>
          <p:grpSp>
            <p:nvGrpSpPr>
              <p:cNvPr id="150619" name="Group 21"/>
              <p:cNvGrpSpPr>
                <a:grpSpLocks/>
              </p:cNvGrpSpPr>
              <p:nvPr/>
            </p:nvGrpSpPr>
            <p:grpSpPr bwMode="auto">
              <a:xfrm>
                <a:off x="2164" y="1176"/>
                <a:ext cx="307" cy="384"/>
                <a:chOff x="2164" y="1176"/>
                <a:chExt cx="307" cy="384"/>
              </a:xfrm>
            </p:grpSpPr>
            <p:sp>
              <p:nvSpPr>
                <p:cNvPr id="150644" name="Rectangle 22"/>
                <p:cNvSpPr>
                  <a:spLocks noChangeArrowheads="1"/>
                </p:cNvSpPr>
                <p:nvPr/>
              </p:nvSpPr>
              <p:spPr bwMode="auto">
                <a:xfrm>
                  <a:off x="2164" y="13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50645" name="Rectangle 23"/>
                <p:cNvSpPr>
                  <a:spLocks noChangeArrowheads="1"/>
                </p:cNvSpPr>
                <p:nvPr/>
              </p:nvSpPr>
              <p:spPr bwMode="auto">
                <a:xfrm>
                  <a:off x="2164" y="11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charset="0"/>
                    </a:rPr>
                    <a:t>8</a:t>
                  </a:r>
                </a:p>
              </p:txBody>
            </p:sp>
          </p:grpSp>
          <p:grpSp>
            <p:nvGrpSpPr>
              <p:cNvPr id="150620" name="Group 24"/>
              <p:cNvGrpSpPr>
                <a:grpSpLocks/>
              </p:cNvGrpSpPr>
              <p:nvPr/>
            </p:nvGrpSpPr>
            <p:grpSpPr bwMode="auto">
              <a:xfrm>
                <a:off x="2471" y="1176"/>
                <a:ext cx="307" cy="384"/>
                <a:chOff x="2471" y="1176"/>
                <a:chExt cx="307" cy="384"/>
              </a:xfrm>
            </p:grpSpPr>
            <p:sp>
              <p:nvSpPr>
                <p:cNvPr id="150642" name="Rectangle 25"/>
                <p:cNvSpPr>
                  <a:spLocks noChangeArrowheads="1"/>
                </p:cNvSpPr>
                <p:nvPr/>
              </p:nvSpPr>
              <p:spPr bwMode="auto">
                <a:xfrm>
                  <a:off x="2471" y="13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50643" name="Rectangle 26"/>
                <p:cNvSpPr>
                  <a:spLocks noChangeArrowheads="1"/>
                </p:cNvSpPr>
                <p:nvPr/>
              </p:nvSpPr>
              <p:spPr bwMode="auto">
                <a:xfrm>
                  <a:off x="2471" y="11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charset="0"/>
                    </a:rPr>
                    <a:t>7</a:t>
                  </a:r>
                </a:p>
              </p:txBody>
            </p:sp>
          </p:grpSp>
          <p:grpSp>
            <p:nvGrpSpPr>
              <p:cNvPr id="150621" name="Group 27"/>
              <p:cNvGrpSpPr>
                <a:grpSpLocks/>
              </p:cNvGrpSpPr>
              <p:nvPr/>
            </p:nvGrpSpPr>
            <p:grpSpPr bwMode="auto">
              <a:xfrm>
                <a:off x="2778" y="1176"/>
                <a:ext cx="307" cy="384"/>
                <a:chOff x="2778" y="1176"/>
                <a:chExt cx="307" cy="384"/>
              </a:xfrm>
            </p:grpSpPr>
            <p:sp>
              <p:nvSpPr>
                <p:cNvPr id="150640" name="Rectangle 28"/>
                <p:cNvSpPr>
                  <a:spLocks noChangeArrowheads="1"/>
                </p:cNvSpPr>
                <p:nvPr/>
              </p:nvSpPr>
              <p:spPr bwMode="auto">
                <a:xfrm>
                  <a:off x="2778" y="13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50641" name="Rectangle 29"/>
                <p:cNvSpPr>
                  <a:spLocks noChangeArrowheads="1"/>
                </p:cNvSpPr>
                <p:nvPr/>
              </p:nvSpPr>
              <p:spPr bwMode="auto">
                <a:xfrm>
                  <a:off x="2778" y="11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charset="0"/>
                    </a:rPr>
                    <a:t>6</a:t>
                  </a:r>
                </a:p>
              </p:txBody>
            </p:sp>
          </p:grpSp>
          <p:grpSp>
            <p:nvGrpSpPr>
              <p:cNvPr id="150622" name="Group 30"/>
              <p:cNvGrpSpPr>
                <a:grpSpLocks/>
              </p:cNvGrpSpPr>
              <p:nvPr/>
            </p:nvGrpSpPr>
            <p:grpSpPr bwMode="auto">
              <a:xfrm>
                <a:off x="3085" y="1176"/>
                <a:ext cx="307" cy="384"/>
                <a:chOff x="3085" y="1176"/>
                <a:chExt cx="307" cy="384"/>
              </a:xfrm>
            </p:grpSpPr>
            <p:sp>
              <p:nvSpPr>
                <p:cNvPr id="150638" name="Rectangle 31"/>
                <p:cNvSpPr>
                  <a:spLocks noChangeArrowheads="1"/>
                </p:cNvSpPr>
                <p:nvPr/>
              </p:nvSpPr>
              <p:spPr bwMode="auto">
                <a:xfrm>
                  <a:off x="3085" y="13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50639" name="Rectangle 32"/>
                <p:cNvSpPr>
                  <a:spLocks noChangeArrowheads="1"/>
                </p:cNvSpPr>
                <p:nvPr/>
              </p:nvSpPr>
              <p:spPr bwMode="auto">
                <a:xfrm>
                  <a:off x="3085" y="11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charset="0"/>
                    </a:rPr>
                    <a:t>5</a:t>
                  </a:r>
                </a:p>
              </p:txBody>
            </p:sp>
          </p:grpSp>
          <p:grpSp>
            <p:nvGrpSpPr>
              <p:cNvPr id="150623" name="Group 33"/>
              <p:cNvGrpSpPr>
                <a:grpSpLocks/>
              </p:cNvGrpSpPr>
              <p:nvPr/>
            </p:nvGrpSpPr>
            <p:grpSpPr bwMode="auto">
              <a:xfrm>
                <a:off x="3392" y="1176"/>
                <a:ext cx="307" cy="384"/>
                <a:chOff x="3392" y="1176"/>
                <a:chExt cx="307" cy="384"/>
              </a:xfrm>
            </p:grpSpPr>
            <p:sp>
              <p:nvSpPr>
                <p:cNvPr id="150636" name="Rectangle 34"/>
                <p:cNvSpPr>
                  <a:spLocks noChangeArrowheads="1"/>
                </p:cNvSpPr>
                <p:nvPr/>
              </p:nvSpPr>
              <p:spPr bwMode="auto">
                <a:xfrm>
                  <a:off x="3392" y="13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50637" name="Rectangle 35"/>
                <p:cNvSpPr>
                  <a:spLocks noChangeArrowheads="1"/>
                </p:cNvSpPr>
                <p:nvPr/>
              </p:nvSpPr>
              <p:spPr bwMode="auto">
                <a:xfrm>
                  <a:off x="3392" y="11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charset="0"/>
                    </a:rPr>
                    <a:t>4</a:t>
                  </a:r>
                </a:p>
              </p:txBody>
            </p:sp>
          </p:grpSp>
          <p:grpSp>
            <p:nvGrpSpPr>
              <p:cNvPr id="150624" name="Group 36"/>
              <p:cNvGrpSpPr>
                <a:grpSpLocks/>
              </p:cNvGrpSpPr>
              <p:nvPr/>
            </p:nvGrpSpPr>
            <p:grpSpPr bwMode="auto">
              <a:xfrm>
                <a:off x="3699" y="1176"/>
                <a:ext cx="307" cy="384"/>
                <a:chOff x="3699" y="1176"/>
                <a:chExt cx="307" cy="384"/>
              </a:xfrm>
            </p:grpSpPr>
            <p:sp>
              <p:nvSpPr>
                <p:cNvPr id="150634" name="Rectangle 37"/>
                <p:cNvSpPr>
                  <a:spLocks noChangeArrowheads="1"/>
                </p:cNvSpPr>
                <p:nvPr/>
              </p:nvSpPr>
              <p:spPr bwMode="auto">
                <a:xfrm>
                  <a:off x="3699" y="13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50635" name="Rectangle 38"/>
                <p:cNvSpPr>
                  <a:spLocks noChangeArrowheads="1"/>
                </p:cNvSpPr>
                <p:nvPr/>
              </p:nvSpPr>
              <p:spPr bwMode="auto">
                <a:xfrm>
                  <a:off x="3699" y="11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charset="0"/>
                    </a:rPr>
                    <a:t>3</a:t>
                  </a:r>
                </a:p>
              </p:txBody>
            </p:sp>
          </p:grpSp>
          <p:grpSp>
            <p:nvGrpSpPr>
              <p:cNvPr id="150625" name="Group 39"/>
              <p:cNvGrpSpPr>
                <a:grpSpLocks/>
              </p:cNvGrpSpPr>
              <p:nvPr/>
            </p:nvGrpSpPr>
            <p:grpSpPr bwMode="auto">
              <a:xfrm>
                <a:off x="4006" y="1176"/>
                <a:ext cx="307" cy="384"/>
                <a:chOff x="4006" y="1176"/>
                <a:chExt cx="307" cy="384"/>
              </a:xfrm>
            </p:grpSpPr>
            <p:sp>
              <p:nvSpPr>
                <p:cNvPr id="150632" name="Rectangle 40"/>
                <p:cNvSpPr>
                  <a:spLocks noChangeArrowheads="1"/>
                </p:cNvSpPr>
                <p:nvPr/>
              </p:nvSpPr>
              <p:spPr bwMode="auto">
                <a:xfrm>
                  <a:off x="4006" y="13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50633" name="Rectangle 41"/>
                <p:cNvSpPr>
                  <a:spLocks noChangeArrowheads="1"/>
                </p:cNvSpPr>
                <p:nvPr/>
              </p:nvSpPr>
              <p:spPr bwMode="auto">
                <a:xfrm>
                  <a:off x="4006" y="11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charset="0"/>
                    </a:rPr>
                    <a:t>2</a:t>
                  </a:r>
                </a:p>
              </p:txBody>
            </p:sp>
          </p:grpSp>
          <p:grpSp>
            <p:nvGrpSpPr>
              <p:cNvPr id="150626" name="Group 42"/>
              <p:cNvGrpSpPr>
                <a:grpSpLocks/>
              </p:cNvGrpSpPr>
              <p:nvPr/>
            </p:nvGrpSpPr>
            <p:grpSpPr bwMode="auto">
              <a:xfrm>
                <a:off x="4313" y="1176"/>
                <a:ext cx="307" cy="384"/>
                <a:chOff x="4313" y="1176"/>
                <a:chExt cx="307" cy="384"/>
              </a:xfrm>
            </p:grpSpPr>
            <p:sp>
              <p:nvSpPr>
                <p:cNvPr id="150630" name="Rectangle 43"/>
                <p:cNvSpPr>
                  <a:spLocks noChangeArrowheads="1"/>
                </p:cNvSpPr>
                <p:nvPr/>
              </p:nvSpPr>
              <p:spPr bwMode="auto">
                <a:xfrm>
                  <a:off x="4313" y="13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50631" name="Rectangle 44"/>
                <p:cNvSpPr>
                  <a:spLocks noChangeArrowheads="1"/>
                </p:cNvSpPr>
                <p:nvPr/>
              </p:nvSpPr>
              <p:spPr bwMode="auto">
                <a:xfrm>
                  <a:off x="4313" y="11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charset="0"/>
                    </a:rPr>
                    <a:t>1</a:t>
                  </a:r>
                </a:p>
              </p:txBody>
            </p:sp>
          </p:grpSp>
          <p:grpSp>
            <p:nvGrpSpPr>
              <p:cNvPr id="150627" name="Group 45"/>
              <p:cNvGrpSpPr>
                <a:grpSpLocks/>
              </p:cNvGrpSpPr>
              <p:nvPr/>
            </p:nvGrpSpPr>
            <p:grpSpPr bwMode="auto">
              <a:xfrm>
                <a:off x="4620" y="1176"/>
                <a:ext cx="307" cy="384"/>
                <a:chOff x="4620" y="1176"/>
                <a:chExt cx="307" cy="384"/>
              </a:xfrm>
            </p:grpSpPr>
            <p:sp>
              <p:nvSpPr>
                <p:cNvPr id="150628" name="Rectangle 46"/>
                <p:cNvSpPr>
                  <a:spLocks noChangeArrowheads="1"/>
                </p:cNvSpPr>
                <p:nvPr/>
              </p:nvSpPr>
              <p:spPr bwMode="auto">
                <a:xfrm>
                  <a:off x="4620" y="13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50629" name="Rectangle 47"/>
                <p:cNvSpPr>
                  <a:spLocks noChangeArrowheads="1"/>
                </p:cNvSpPr>
                <p:nvPr/>
              </p:nvSpPr>
              <p:spPr bwMode="auto">
                <a:xfrm>
                  <a:off x="4620" y="11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charset="0"/>
                    </a:rPr>
                    <a:t>0</a:t>
                  </a:r>
                </a:p>
              </p:txBody>
            </p:sp>
          </p:grpSp>
        </p:grpSp>
        <p:grpSp>
          <p:nvGrpSpPr>
            <p:cNvPr id="150594" name="Group 48"/>
            <p:cNvGrpSpPr>
              <a:grpSpLocks/>
            </p:cNvGrpSpPr>
            <p:nvPr/>
          </p:nvGrpSpPr>
          <p:grpSpPr bwMode="auto">
            <a:xfrm>
              <a:off x="2888" y="1900"/>
              <a:ext cx="1842" cy="212"/>
              <a:chOff x="3085" y="1661"/>
              <a:chExt cx="1842" cy="212"/>
            </a:xfrm>
          </p:grpSpPr>
          <p:sp>
            <p:nvSpPr>
              <p:cNvPr id="150612" name="Line 49"/>
              <p:cNvSpPr>
                <a:spLocks noChangeShapeType="1"/>
              </p:cNvSpPr>
              <p:nvPr/>
            </p:nvSpPr>
            <p:spPr bwMode="auto">
              <a:xfrm>
                <a:off x="3085" y="1752"/>
                <a:ext cx="184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arrow" w="med" len="med"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487" tIns="44450" rIns="90487" bIns="44450"/>
              <a:lstStyle/>
              <a:p>
                <a:endParaRPr lang="zh-CN" altLang="en-US"/>
              </a:p>
            </p:txBody>
          </p:sp>
          <p:sp>
            <p:nvSpPr>
              <p:cNvPr id="150613" name="Text Box 50"/>
              <p:cNvSpPr txBox="1">
                <a:spLocks noChangeArrowheads="1"/>
              </p:cNvSpPr>
              <p:nvPr/>
            </p:nvSpPr>
            <p:spPr bwMode="auto">
              <a:xfrm>
                <a:off x="3794" y="1661"/>
                <a:ext cx="418" cy="21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>
                <a:spAutoFit/>
              </a:bodyPr>
              <a:lstStyle>
                <a:lvl1pPr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>
                  <a:lnSpc>
                    <a:spcPct val="90000"/>
                  </a:lnSpc>
                  <a:spcBef>
                    <a:spcPct val="30000"/>
                  </a:spcBef>
                </a:pPr>
                <a:r>
                  <a:rPr lang="en-US" altLang="zh-CN" sz="1800">
                    <a:solidFill>
                      <a:schemeClr val="tx2"/>
                    </a:solidFill>
                    <a:latin typeface="Helvetica" charset="0"/>
                  </a:rPr>
                  <a:t>VPO</a:t>
                </a:r>
              </a:p>
            </p:txBody>
          </p:sp>
        </p:grpSp>
        <p:grpSp>
          <p:nvGrpSpPr>
            <p:cNvPr id="150595" name="Group 51"/>
            <p:cNvGrpSpPr>
              <a:grpSpLocks/>
            </p:cNvGrpSpPr>
            <p:nvPr/>
          </p:nvGrpSpPr>
          <p:grpSpPr bwMode="auto">
            <a:xfrm>
              <a:off x="432" y="1895"/>
              <a:ext cx="2467" cy="212"/>
              <a:chOff x="629" y="1656"/>
              <a:chExt cx="2467" cy="212"/>
            </a:xfrm>
          </p:grpSpPr>
          <p:sp>
            <p:nvSpPr>
              <p:cNvPr id="150610" name="Line 52"/>
              <p:cNvSpPr>
                <a:spLocks noChangeShapeType="1"/>
              </p:cNvSpPr>
              <p:nvPr/>
            </p:nvSpPr>
            <p:spPr bwMode="auto">
              <a:xfrm>
                <a:off x="629" y="1747"/>
                <a:ext cx="246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arrow" w="med" len="med"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487" tIns="44450" rIns="90487" bIns="44450"/>
              <a:lstStyle/>
              <a:p>
                <a:endParaRPr lang="zh-CN" altLang="en-US"/>
              </a:p>
            </p:txBody>
          </p:sp>
          <p:sp>
            <p:nvSpPr>
              <p:cNvPr id="150611" name="Text Box 53"/>
              <p:cNvSpPr txBox="1">
                <a:spLocks noChangeArrowheads="1"/>
              </p:cNvSpPr>
              <p:nvPr/>
            </p:nvSpPr>
            <p:spPr bwMode="auto">
              <a:xfrm>
                <a:off x="1579" y="1656"/>
                <a:ext cx="409" cy="21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>
                <a:spAutoFit/>
              </a:bodyPr>
              <a:lstStyle>
                <a:lvl1pPr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>
                  <a:lnSpc>
                    <a:spcPct val="90000"/>
                  </a:lnSpc>
                  <a:spcBef>
                    <a:spcPct val="30000"/>
                  </a:spcBef>
                </a:pPr>
                <a:r>
                  <a:rPr lang="en-US" altLang="zh-CN" sz="1800">
                    <a:solidFill>
                      <a:schemeClr val="tx2"/>
                    </a:solidFill>
                    <a:latin typeface="Helvetica" charset="0"/>
                  </a:rPr>
                  <a:t>VPN</a:t>
                </a:r>
              </a:p>
            </p:txBody>
          </p:sp>
        </p:grpSp>
        <p:sp>
          <p:nvSpPr>
            <p:cNvPr id="150596" name="Text Box 54"/>
            <p:cNvSpPr txBox="1">
              <a:spLocks noChangeArrowheads="1"/>
            </p:cNvSpPr>
            <p:nvPr/>
          </p:nvSpPr>
          <p:spPr bwMode="auto">
            <a:xfrm>
              <a:off x="4459" y="1611"/>
              <a:ext cx="24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charset="0"/>
                </a:rPr>
                <a:t>0</a:t>
              </a:r>
            </a:p>
          </p:txBody>
        </p:sp>
        <p:sp>
          <p:nvSpPr>
            <p:cNvPr id="150597" name="Text Box 55"/>
            <p:cNvSpPr txBox="1">
              <a:spLocks noChangeArrowheads="1"/>
            </p:cNvSpPr>
            <p:nvPr/>
          </p:nvSpPr>
          <p:spPr bwMode="auto">
            <a:xfrm>
              <a:off x="4123" y="1611"/>
              <a:ext cx="24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charset="0"/>
                </a:rPr>
                <a:t>0</a:t>
              </a:r>
            </a:p>
          </p:txBody>
        </p:sp>
        <p:sp>
          <p:nvSpPr>
            <p:cNvPr id="150598" name="Text Box 56"/>
            <p:cNvSpPr txBox="1">
              <a:spLocks noChangeArrowheads="1"/>
            </p:cNvSpPr>
            <p:nvPr/>
          </p:nvSpPr>
          <p:spPr bwMode="auto">
            <a:xfrm>
              <a:off x="3835" y="1611"/>
              <a:ext cx="24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charset="0"/>
                </a:rPr>
                <a:t>1</a:t>
              </a:r>
            </a:p>
          </p:txBody>
        </p:sp>
        <p:sp>
          <p:nvSpPr>
            <p:cNvPr id="150599" name="Text Box 57"/>
            <p:cNvSpPr txBox="1">
              <a:spLocks noChangeArrowheads="1"/>
            </p:cNvSpPr>
            <p:nvPr/>
          </p:nvSpPr>
          <p:spPr bwMode="auto">
            <a:xfrm>
              <a:off x="3547" y="1611"/>
              <a:ext cx="24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charset="0"/>
                </a:rPr>
                <a:t>0</a:t>
              </a:r>
            </a:p>
          </p:txBody>
        </p:sp>
        <p:sp>
          <p:nvSpPr>
            <p:cNvPr id="150600" name="Text Box 58"/>
            <p:cNvSpPr txBox="1">
              <a:spLocks noChangeArrowheads="1"/>
            </p:cNvSpPr>
            <p:nvPr/>
          </p:nvSpPr>
          <p:spPr bwMode="auto">
            <a:xfrm>
              <a:off x="3211" y="1611"/>
              <a:ext cx="24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charset="0"/>
                </a:rPr>
                <a:t>1</a:t>
              </a:r>
            </a:p>
          </p:txBody>
        </p:sp>
        <p:sp>
          <p:nvSpPr>
            <p:cNvPr id="150601" name="Text Box 59"/>
            <p:cNvSpPr txBox="1">
              <a:spLocks noChangeArrowheads="1"/>
            </p:cNvSpPr>
            <p:nvPr/>
          </p:nvSpPr>
          <p:spPr bwMode="auto">
            <a:xfrm>
              <a:off x="2923" y="1611"/>
              <a:ext cx="24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charset="0"/>
                </a:rPr>
                <a:t>0</a:t>
              </a:r>
            </a:p>
          </p:txBody>
        </p:sp>
        <p:sp>
          <p:nvSpPr>
            <p:cNvPr id="150602" name="Text Box 60"/>
            <p:cNvSpPr txBox="1">
              <a:spLocks noChangeArrowheads="1"/>
            </p:cNvSpPr>
            <p:nvPr/>
          </p:nvSpPr>
          <p:spPr bwMode="auto">
            <a:xfrm>
              <a:off x="2587" y="1611"/>
              <a:ext cx="24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charset="0"/>
                </a:rPr>
                <a:t>1</a:t>
              </a:r>
            </a:p>
          </p:txBody>
        </p:sp>
        <p:sp>
          <p:nvSpPr>
            <p:cNvPr id="150603" name="Text Box 61"/>
            <p:cNvSpPr txBox="1">
              <a:spLocks noChangeArrowheads="1"/>
            </p:cNvSpPr>
            <p:nvPr/>
          </p:nvSpPr>
          <p:spPr bwMode="auto">
            <a:xfrm>
              <a:off x="2299" y="1611"/>
              <a:ext cx="24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charset="0"/>
                </a:rPr>
                <a:t>1</a:t>
              </a:r>
            </a:p>
          </p:txBody>
        </p:sp>
        <p:sp>
          <p:nvSpPr>
            <p:cNvPr id="150604" name="Text Box 62"/>
            <p:cNvSpPr txBox="1">
              <a:spLocks noChangeArrowheads="1"/>
            </p:cNvSpPr>
            <p:nvPr/>
          </p:nvSpPr>
          <p:spPr bwMode="auto">
            <a:xfrm>
              <a:off x="2011" y="1611"/>
              <a:ext cx="24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charset="0"/>
                </a:rPr>
                <a:t>1</a:t>
              </a:r>
            </a:p>
          </p:txBody>
        </p:sp>
        <p:sp>
          <p:nvSpPr>
            <p:cNvPr id="150605" name="Text Box 63"/>
            <p:cNvSpPr txBox="1">
              <a:spLocks noChangeArrowheads="1"/>
            </p:cNvSpPr>
            <p:nvPr/>
          </p:nvSpPr>
          <p:spPr bwMode="auto">
            <a:xfrm>
              <a:off x="1675" y="1611"/>
              <a:ext cx="24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charset="0"/>
                </a:rPr>
                <a:t>1</a:t>
              </a:r>
            </a:p>
          </p:txBody>
        </p:sp>
        <p:sp>
          <p:nvSpPr>
            <p:cNvPr id="150606" name="Text Box 64"/>
            <p:cNvSpPr txBox="1">
              <a:spLocks noChangeArrowheads="1"/>
            </p:cNvSpPr>
            <p:nvPr/>
          </p:nvSpPr>
          <p:spPr bwMode="auto">
            <a:xfrm>
              <a:off x="1387" y="1611"/>
              <a:ext cx="24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charset="0"/>
                </a:rPr>
                <a:t>0</a:t>
              </a:r>
            </a:p>
          </p:txBody>
        </p:sp>
        <p:sp>
          <p:nvSpPr>
            <p:cNvPr id="150607" name="Text Box 65"/>
            <p:cNvSpPr txBox="1">
              <a:spLocks noChangeArrowheads="1"/>
            </p:cNvSpPr>
            <p:nvPr/>
          </p:nvSpPr>
          <p:spPr bwMode="auto">
            <a:xfrm>
              <a:off x="1051" y="1611"/>
              <a:ext cx="24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charset="0"/>
                </a:rPr>
                <a:t>0</a:t>
              </a:r>
            </a:p>
          </p:txBody>
        </p:sp>
        <p:sp>
          <p:nvSpPr>
            <p:cNvPr id="150608" name="Text Box 66"/>
            <p:cNvSpPr txBox="1">
              <a:spLocks noChangeArrowheads="1"/>
            </p:cNvSpPr>
            <p:nvPr/>
          </p:nvSpPr>
          <p:spPr bwMode="auto">
            <a:xfrm>
              <a:off x="763" y="1611"/>
              <a:ext cx="24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charset="0"/>
                </a:rPr>
                <a:t>0</a:t>
              </a:r>
            </a:p>
          </p:txBody>
        </p:sp>
        <p:sp>
          <p:nvSpPr>
            <p:cNvPr id="150609" name="Text Box 67"/>
            <p:cNvSpPr txBox="1">
              <a:spLocks noChangeArrowheads="1"/>
            </p:cNvSpPr>
            <p:nvPr/>
          </p:nvSpPr>
          <p:spPr bwMode="auto">
            <a:xfrm>
              <a:off x="475" y="1611"/>
              <a:ext cx="24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charset="0"/>
                </a:rPr>
                <a:t>0</a:t>
              </a:r>
            </a:p>
          </p:txBody>
        </p:sp>
      </p:grpSp>
      <p:sp>
        <p:nvSpPr>
          <p:cNvPr id="150533" name="Rectangle 68"/>
          <p:cNvSpPr>
            <a:spLocks noChangeArrowheads="1"/>
          </p:cNvSpPr>
          <p:nvPr/>
        </p:nvSpPr>
        <p:spPr bwMode="auto">
          <a:xfrm>
            <a:off x="685800" y="3305175"/>
            <a:ext cx="84582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lnSpc>
                <a:spcPct val="140000"/>
              </a:lnSpc>
            </a:pPr>
            <a:r>
              <a:rPr lang="en-US" altLang="zh-CN" b="0"/>
              <a:t>VPN: </a:t>
            </a:r>
            <a:r>
              <a:rPr lang="zh-CN" altLang="zh-CN" u="sng"/>
              <a:t> </a:t>
            </a:r>
            <a:r>
              <a:rPr lang="zh-CN" altLang="en-US" u="sng"/>
              <a:t>   </a:t>
            </a:r>
            <a:r>
              <a:rPr lang="en-US" altLang="zh-CN" b="0"/>
              <a:t> TLBI: </a:t>
            </a:r>
            <a:r>
              <a:rPr lang="zh-CN" altLang="zh-CN" u="sng"/>
              <a:t> </a:t>
            </a:r>
            <a:r>
              <a:rPr lang="zh-CN" altLang="en-US" u="sng"/>
              <a:t>    </a:t>
            </a:r>
            <a:r>
              <a:rPr lang="en-US" altLang="zh-CN" b="0"/>
              <a:t>TLBT: </a:t>
            </a:r>
            <a:r>
              <a:rPr lang="en-US" altLang="zh-CN" u="sng"/>
              <a:t>    </a:t>
            </a:r>
            <a:r>
              <a:rPr lang="en-US" altLang="zh-CN"/>
              <a:t> </a:t>
            </a:r>
            <a:r>
              <a:rPr lang="en-US" altLang="zh-CN" b="0"/>
              <a:t>TLB Hit? </a:t>
            </a:r>
            <a:r>
              <a:rPr lang="en-US" altLang="zh-CN" u="sng"/>
              <a:t>    </a:t>
            </a:r>
            <a:r>
              <a:rPr lang="en-US" altLang="zh-CN"/>
              <a:t> </a:t>
            </a:r>
            <a:r>
              <a:rPr lang="en-US" altLang="zh-CN" b="0"/>
              <a:t>Page Fault? </a:t>
            </a:r>
            <a:r>
              <a:rPr lang="en-US" altLang="zh-CN" u="sng"/>
              <a:t>   </a:t>
            </a:r>
            <a:r>
              <a:rPr lang="en-US" altLang="zh-CN" u="sng">
                <a:solidFill>
                  <a:schemeClr val="bg1"/>
                </a:solidFill>
              </a:rPr>
              <a:t>O</a:t>
            </a:r>
            <a:r>
              <a:rPr lang="en-US" altLang="zh-CN" u="sng"/>
              <a:t> </a:t>
            </a:r>
          </a:p>
        </p:txBody>
      </p:sp>
      <p:sp>
        <p:nvSpPr>
          <p:cNvPr id="150534" name="Rectangle 69"/>
          <p:cNvSpPr>
            <a:spLocks noChangeArrowheads="1"/>
          </p:cNvSpPr>
          <p:nvPr/>
        </p:nvSpPr>
        <p:spPr bwMode="auto">
          <a:xfrm>
            <a:off x="784225" y="5348288"/>
            <a:ext cx="68627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lnSpc>
                <a:spcPct val="140000"/>
              </a:lnSpc>
            </a:pPr>
            <a:r>
              <a:rPr lang="en-US" altLang="zh-CN" b="0"/>
              <a:t>PPN: </a:t>
            </a:r>
            <a:r>
              <a:rPr lang="en-US" altLang="zh-CN" u="sng"/>
              <a:t>      </a:t>
            </a:r>
            <a:r>
              <a:rPr lang="en-US" altLang="zh-CN" b="0"/>
              <a:t>   PPO: </a:t>
            </a:r>
            <a:r>
              <a:rPr lang="en-US" altLang="zh-CN" u="sng"/>
              <a:t>       </a:t>
            </a:r>
            <a:r>
              <a:rPr lang="en-US" altLang="zh-CN" b="0"/>
              <a:t>	   		PA: </a:t>
            </a:r>
            <a:r>
              <a:rPr lang="en-US" altLang="zh-CN" u="sng"/>
              <a:t>      </a:t>
            </a:r>
          </a:p>
        </p:txBody>
      </p:sp>
      <p:grpSp>
        <p:nvGrpSpPr>
          <p:cNvPr id="150535" name="Group 70"/>
          <p:cNvGrpSpPr>
            <a:grpSpLocks/>
          </p:cNvGrpSpPr>
          <p:nvPr/>
        </p:nvGrpSpPr>
        <p:grpSpPr bwMode="auto">
          <a:xfrm>
            <a:off x="1677988" y="4097338"/>
            <a:ext cx="5865812" cy="1022350"/>
            <a:chOff x="672" y="2780"/>
            <a:chExt cx="3695" cy="644"/>
          </a:xfrm>
        </p:grpSpPr>
        <p:grpSp>
          <p:nvGrpSpPr>
            <p:cNvPr id="150538" name="Group 71"/>
            <p:cNvGrpSpPr>
              <a:grpSpLocks/>
            </p:cNvGrpSpPr>
            <p:nvPr/>
          </p:nvGrpSpPr>
          <p:grpSpPr bwMode="auto">
            <a:xfrm>
              <a:off x="672" y="2780"/>
              <a:ext cx="3684" cy="384"/>
              <a:chOff x="1219" y="2880"/>
              <a:chExt cx="3684" cy="384"/>
            </a:xfrm>
          </p:grpSpPr>
          <p:grpSp>
            <p:nvGrpSpPr>
              <p:cNvPr id="150557" name="Group 72"/>
              <p:cNvGrpSpPr>
                <a:grpSpLocks/>
              </p:cNvGrpSpPr>
              <p:nvPr/>
            </p:nvGrpSpPr>
            <p:grpSpPr bwMode="auto">
              <a:xfrm>
                <a:off x="1219" y="2880"/>
                <a:ext cx="307" cy="384"/>
                <a:chOff x="605" y="1776"/>
                <a:chExt cx="307" cy="384"/>
              </a:xfrm>
            </p:grpSpPr>
            <p:sp>
              <p:nvSpPr>
                <p:cNvPr id="150591" name="Rectangle 73"/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50592" name="Rectangle 74"/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charset="0"/>
                    </a:rPr>
                    <a:t>11</a:t>
                  </a:r>
                </a:p>
              </p:txBody>
            </p:sp>
          </p:grpSp>
          <p:grpSp>
            <p:nvGrpSpPr>
              <p:cNvPr id="150558" name="Group 75"/>
              <p:cNvGrpSpPr>
                <a:grpSpLocks/>
              </p:cNvGrpSpPr>
              <p:nvPr/>
            </p:nvGrpSpPr>
            <p:grpSpPr bwMode="auto">
              <a:xfrm>
                <a:off x="1526" y="2880"/>
                <a:ext cx="307" cy="384"/>
                <a:chOff x="605" y="1776"/>
                <a:chExt cx="307" cy="384"/>
              </a:xfrm>
            </p:grpSpPr>
            <p:sp>
              <p:nvSpPr>
                <p:cNvPr id="150589" name="Rectangle 76"/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50590" name="Rectangle 77"/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charset="0"/>
                    </a:rPr>
                    <a:t>10</a:t>
                  </a:r>
                </a:p>
              </p:txBody>
            </p:sp>
          </p:grpSp>
          <p:grpSp>
            <p:nvGrpSpPr>
              <p:cNvPr id="150559" name="Group 78"/>
              <p:cNvGrpSpPr>
                <a:grpSpLocks/>
              </p:cNvGrpSpPr>
              <p:nvPr/>
            </p:nvGrpSpPr>
            <p:grpSpPr bwMode="auto">
              <a:xfrm>
                <a:off x="1833" y="2880"/>
                <a:ext cx="307" cy="384"/>
                <a:chOff x="605" y="1776"/>
                <a:chExt cx="307" cy="384"/>
              </a:xfrm>
            </p:grpSpPr>
            <p:sp>
              <p:nvSpPr>
                <p:cNvPr id="150587" name="Rectangle 79"/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50588" name="Rectangle 80"/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charset="0"/>
                    </a:rPr>
                    <a:t>9</a:t>
                  </a:r>
                </a:p>
              </p:txBody>
            </p:sp>
          </p:grpSp>
          <p:grpSp>
            <p:nvGrpSpPr>
              <p:cNvPr id="150560" name="Group 81"/>
              <p:cNvGrpSpPr>
                <a:grpSpLocks/>
              </p:cNvGrpSpPr>
              <p:nvPr/>
            </p:nvGrpSpPr>
            <p:grpSpPr bwMode="auto">
              <a:xfrm>
                <a:off x="2140" y="2880"/>
                <a:ext cx="307" cy="384"/>
                <a:chOff x="605" y="1776"/>
                <a:chExt cx="307" cy="384"/>
              </a:xfrm>
            </p:grpSpPr>
            <p:sp>
              <p:nvSpPr>
                <p:cNvPr id="150585" name="Rectangle 82"/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50586" name="Rectangle 83"/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charset="0"/>
                    </a:rPr>
                    <a:t>8</a:t>
                  </a:r>
                </a:p>
              </p:txBody>
            </p:sp>
          </p:grpSp>
          <p:grpSp>
            <p:nvGrpSpPr>
              <p:cNvPr id="150561" name="Group 84"/>
              <p:cNvGrpSpPr>
                <a:grpSpLocks/>
              </p:cNvGrpSpPr>
              <p:nvPr/>
            </p:nvGrpSpPr>
            <p:grpSpPr bwMode="auto">
              <a:xfrm>
                <a:off x="2447" y="2880"/>
                <a:ext cx="307" cy="384"/>
                <a:chOff x="605" y="1776"/>
                <a:chExt cx="307" cy="384"/>
              </a:xfrm>
            </p:grpSpPr>
            <p:sp>
              <p:nvSpPr>
                <p:cNvPr id="150583" name="Rectangle 85"/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50584" name="Rectangle 86"/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charset="0"/>
                    </a:rPr>
                    <a:t>7</a:t>
                  </a:r>
                </a:p>
              </p:txBody>
            </p:sp>
          </p:grpSp>
          <p:grpSp>
            <p:nvGrpSpPr>
              <p:cNvPr id="150562" name="Group 87"/>
              <p:cNvGrpSpPr>
                <a:grpSpLocks/>
              </p:cNvGrpSpPr>
              <p:nvPr/>
            </p:nvGrpSpPr>
            <p:grpSpPr bwMode="auto">
              <a:xfrm>
                <a:off x="2754" y="2880"/>
                <a:ext cx="307" cy="384"/>
                <a:chOff x="605" y="1776"/>
                <a:chExt cx="307" cy="384"/>
              </a:xfrm>
            </p:grpSpPr>
            <p:sp>
              <p:nvSpPr>
                <p:cNvPr id="150581" name="Rectangle 88"/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50582" name="Rectangle 89"/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charset="0"/>
                    </a:rPr>
                    <a:t>6</a:t>
                  </a:r>
                </a:p>
              </p:txBody>
            </p:sp>
          </p:grpSp>
          <p:grpSp>
            <p:nvGrpSpPr>
              <p:cNvPr id="150563" name="Group 90"/>
              <p:cNvGrpSpPr>
                <a:grpSpLocks/>
              </p:cNvGrpSpPr>
              <p:nvPr/>
            </p:nvGrpSpPr>
            <p:grpSpPr bwMode="auto">
              <a:xfrm>
                <a:off x="3061" y="2880"/>
                <a:ext cx="307" cy="384"/>
                <a:chOff x="605" y="1776"/>
                <a:chExt cx="307" cy="384"/>
              </a:xfrm>
            </p:grpSpPr>
            <p:sp>
              <p:nvSpPr>
                <p:cNvPr id="150579" name="Rectangle 91"/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50580" name="Rectangle 92"/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charset="0"/>
                    </a:rPr>
                    <a:t>5</a:t>
                  </a:r>
                </a:p>
              </p:txBody>
            </p:sp>
          </p:grpSp>
          <p:grpSp>
            <p:nvGrpSpPr>
              <p:cNvPr id="150564" name="Group 93"/>
              <p:cNvGrpSpPr>
                <a:grpSpLocks/>
              </p:cNvGrpSpPr>
              <p:nvPr/>
            </p:nvGrpSpPr>
            <p:grpSpPr bwMode="auto">
              <a:xfrm>
                <a:off x="3368" y="2880"/>
                <a:ext cx="307" cy="384"/>
                <a:chOff x="605" y="1776"/>
                <a:chExt cx="307" cy="384"/>
              </a:xfrm>
            </p:grpSpPr>
            <p:sp>
              <p:nvSpPr>
                <p:cNvPr id="150577" name="Rectangle 94"/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50578" name="Rectangle 95"/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charset="0"/>
                    </a:rPr>
                    <a:t>4</a:t>
                  </a:r>
                </a:p>
              </p:txBody>
            </p:sp>
          </p:grpSp>
          <p:grpSp>
            <p:nvGrpSpPr>
              <p:cNvPr id="150565" name="Group 96"/>
              <p:cNvGrpSpPr>
                <a:grpSpLocks/>
              </p:cNvGrpSpPr>
              <p:nvPr/>
            </p:nvGrpSpPr>
            <p:grpSpPr bwMode="auto">
              <a:xfrm>
                <a:off x="3675" y="2880"/>
                <a:ext cx="307" cy="384"/>
                <a:chOff x="605" y="1776"/>
                <a:chExt cx="307" cy="384"/>
              </a:xfrm>
            </p:grpSpPr>
            <p:sp>
              <p:nvSpPr>
                <p:cNvPr id="150575" name="Rectangle 97"/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50576" name="Rectangle 98"/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charset="0"/>
                    </a:rPr>
                    <a:t>3</a:t>
                  </a:r>
                </a:p>
              </p:txBody>
            </p:sp>
          </p:grpSp>
          <p:grpSp>
            <p:nvGrpSpPr>
              <p:cNvPr id="150566" name="Group 99"/>
              <p:cNvGrpSpPr>
                <a:grpSpLocks/>
              </p:cNvGrpSpPr>
              <p:nvPr/>
            </p:nvGrpSpPr>
            <p:grpSpPr bwMode="auto">
              <a:xfrm>
                <a:off x="3982" y="2880"/>
                <a:ext cx="307" cy="384"/>
                <a:chOff x="605" y="1776"/>
                <a:chExt cx="307" cy="384"/>
              </a:xfrm>
            </p:grpSpPr>
            <p:sp>
              <p:nvSpPr>
                <p:cNvPr id="150573" name="Rectangle 100"/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50574" name="Rectangle 101"/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charset="0"/>
                    </a:rPr>
                    <a:t>2</a:t>
                  </a:r>
                </a:p>
              </p:txBody>
            </p:sp>
          </p:grpSp>
          <p:grpSp>
            <p:nvGrpSpPr>
              <p:cNvPr id="150567" name="Group 102"/>
              <p:cNvGrpSpPr>
                <a:grpSpLocks/>
              </p:cNvGrpSpPr>
              <p:nvPr/>
            </p:nvGrpSpPr>
            <p:grpSpPr bwMode="auto">
              <a:xfrm>
                <a:off x="4289" y="2880"/>
                <a:ext cx="307" cy="384"/>
                <a:chOff x="605" y="1776"/>
                <a:chExt cx="307" cy="384"/>
              </a:xfrm>
            </p:grpSpPr>
            <p:sp>
              <p:nvSpPr>
                <p:cNvPr id="150571" name="Rectangle 103"/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50572" name="Rectangle 104"/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charset="0"/>
                    </a:rPr>
                    <a:t>1</a:t>
                  </a:r>
                </a:p>
              </p:txBody>
            </p:sp>
          </p:grpSp>
          <p:grpSp>
            <p:nvGrpSpPr>
              <p:cNvPr id="150568" name="Group 105"/>
              <p:cNvGrpSpPr>
                <a:grpSpLocks/>
              </p:cNvGrpSpPr>
              <p:nvPr/>
            </p:nvGrpSpPr>
            <p:grpSpPr bwMode="auto">
              <a:xfrm>
                <a:off x="4596" y="2880"/>
                <a:ext cx="307" cy="384"/>
                <a:chOff x="605" y="1776"/>
                <a:chExt cx="307" cy="384"/>
              </a:xfrm>
            </p:grpSpPr>
            <p:sp>
              <p:nvSpPr>
                <p:cNvPr id="150569" name="Rectangle 106"/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50570" name="Rectangle 107"/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charset="0"/>
                    </a:rPr>
                    <a:t>0</a:t>
                  </a:r>
                </a:p>
              </p:txBody>
            </p:sp>
          </p:grpSp>
        </p:grpSp>
        <p:grpSp>
          <p:nvGrpSpPr>
            <p:cNvPr id="150539" name="Group 108"/>
            <p:cNvGrpSpPr>
              <a:grpSpLocks/>
            </p:cNvGrpSpPr>
            <p:nvPr/>
          </p:nvGrpSpPr>
          <p:grpSpPr bwMode="auto">
            <a:xfrm>
              <a:off x="2525" y="3212"/>
              <a:ext cx="1842" cy="212"/>
              <a:chOff x="3061" y="2261"/>
              <a:chExt cx="1842" cy="212"/>
            </a:xfrm>
          </p:grpSpPr>
          <p:sp>
            <p:nvSpPr>
              <p:cNvPr id="150555" name="Line 109"/>
              <p:cNvSpPr>
                <a:spLocks noChangeShapeType="1"/>
              </p:cNvSpPr>
              <p:nvPr/>
            </p:nvSpPr>
            <p:spPr bwMode="auto">
              <a:xfrm>
                <a:off x="3061" y="2352"/>
                <a:ext cx="184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arrow" w="med" len="med"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487" tIns="44450" rIns="90487" bIns="44450"/>
              <a:lstStyle/>
              <a:p>
                <a:endParaRPr lang="zh-CN" altLang="en-US"/>
              </a:p>
            </p:txBody>
          </p:sp>
          <p:sp>
            <p:nvSpPr>
              <p:cNvPr id="150556" name="Text Box 110"/>
              <p:cNvSpPr txBox="1">
                <a:spLocks noChangeArrowheads="1"/>
              </p:cNvSpPr>
              <p:nvPr/>
            </p:nvSpPr>
            <p:spPr bwMode="auto">
              <a:xfrm>
                <a:off x="3770" y="2261"/>
                <a:ext cx="418" cy="21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>
                <a:spAutoFit/>
              </a:bodyPr>
              <a:lstStyle>
                <a:lvl1pPr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>
                  <a:lnSpc>
                    <a:spcPct val="90000"/>
                  </a:lnSpc>
                  <a:spcBef>
                    <a:spcPct val="30000"/>
                  </a:spcBef>
                </a:pPr>
                <a:r>
                  <a:rPr lang="en-US" altLang="zh-CN" sz="1800">
                    <a:solidFill>
                      <a:schemeClr val="tx2"/>
                    </a:solidFill>
                    <a:latin typeface="Helvetica" charset="0"/>
                  </a:rPr>
                  <a:t>PPO</a:t>
                </a:r>
              </a:p>
            </p:txBody>
          </p:sp>
        </p:grpSp>
        <p:grpSp>
          <p:nvGrpSpPr>
            <p:cNvPr id="150540" name="Group 111"/>
            <p:cNvGrpSpPr>
              <a:grpSpLocks/>
            </p:cNvGrpSpPr>
            <p:nvPr/>
          </p:nvGrpSpPr>
          <p:grpSpPr bwMode="auto">
            <a:xfrm>
              <a:off x="701" y="3212"/>
              <a:ext cx="1842" cy="212"/>
              <a:chOff x="3061" y="2261"/>
              <a:chExt cx="1842" cy="212"/>
            </a:xfrm>
          </p:grpSpPr>
          <p:sp>
            <p:nvSpPr>
              <p:cNvPr id="150553" name="Line 112"/>
              <p:cNvSpPr>
                <a:spLocks noChangeShapeType="1"/>
              </p:cNvSpPr>
              <p:nvPr/>
            </p:nvSpPr>
            <p:spPr bwMode="auto">
              <a:xfrm>
                <a:off x="3061" y="2352"/>
                <a:ext cx="184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arrow" w="med" len="med"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487" tIns="44450" rIns="90487" bIns="44450"/>
              <a:lstStyle/>
              <a:p>
                <a:endParaRPr lang="zh-CN" altLang="en-US"/>
              </a:p>
            </p:txBody>
          </p:sp>
          <p:sp>
            <p:nvSpPr>
              <p:cNvPr id="150554" name="Text Box 113"/>
              <p:cNvSpPr txBox="1">
                <a:spLocks noChangeArrowheads="1"/>
              </p:cNvSpPr>
              <p:nvPr/>
            </p:nvSpPr>
            <p:spPr bwMode="auto">
              <a:xfrm>
                <a:off x="3770" y="2261"/>
                <a:ext cx="410" cy="21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>
                <a:spAutoFit/>
              </a:bodyPr>
              <a:lstStyle>
                <a:lvl1pPr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>
                  <a:lnSpc>
                    <a:spcPct val="90000"/>
                  </a:lnSpc>
                  <a:spcBef>
                    <a:spcPct val="30000"/>
                  </a:spcBef>
                </a:pPr>
                <a:r>
                  <a:rPr lang="en-US" altLang="zh-CN" sz="1800">
                    <a:solidFill>
                      <a:schemeClr val="tx2"/>
                    </a:solidFill>
                    <a:latin typeface="Helvetica" charset="0"/>
                  </a:rPr>
                  <a:t>PPN</a:t>
                </a:r>
              </a:p>
            </p:txBody>
          </p:sp>
        </p:grpSp>
        <p:sp>
          <p:nvSpPr>
            <p:cNvPr id="150541" name="Text Box 114"/>
            <p:cNvSpPr txBox="1">
              <a:spLocks noChangeArrowheads="1"/>
            </p:cNvSpPr>
            <p:nvPr/>
          </p:nvSpPr>
          <p:spPr bwMode="auto">
            <a:xfrm>
              <a:off x="4128" y="2972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charset="0"/>
                </a:rPr>
                <a:t>0</a:t>
              </a:r>
            </a:p>
          </p:txBody>
        </p:sp>
        <p:sp>
          <p:nvSpPr>
            <p:cNvPr id="150542" name="Text Box 115"/>
            <p:cNvSpPr txBox="1">
              <a:spLocks noChangeArrowheads="1"/>
            </p:cNvSpPr>
            <p:nvPr/>
          </p:nvSpPr>
          <p:spPr bwMode="auto">
            <a:xfrm>
              <a:off x="3792" y="2972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charset="0"/>
                </a:rPr>
                <a:t>0</a:t>
              </a:r>
            </a:p>
          </p:txBody>
        </p:sp>
        <p:sp>
          <p:nvSpPr>
            <p:cNvPr id="150543" name="Text Box 116"/>
            <p:cNvSpPr txBox="1">
              <a:spLocks noChangeArrowheads="1"/>
            </p:cNvSpPr>
            <p:nvPr/>
          </p:nvSpPr>
          <p:spPr bwMode="auto">
            <a:xfrm>
              <a:off x="3504" y="2972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charset="0"/>
                </a:rPr>
                <a:t>1</a:t>
              </a:r>
            </a:p>
          </p:txBody>
        </p:sp>
        <p:sp>
          <p:nvSpPr>
            <p:cNvPr id="150544" name="Text Box 117"/>
            <p:cNvSpPr txBox="1">
              <a:spLocks noChangeArrowheads="1"/>
            </p:cNvSpPr>
            <p:nvPr/>
          </p:nvSpPr>
          <p:spPr bwMode="auto">
            <a:xfrm>
              <a:off x="3173" y="2972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charset="0"/>
                </a:rPr>
                <a:t>0</a:t>
              </a:r>
            </a:p>
          </p:txBody>
        </p:sp>
        <p:sp>
          <p:nvSpPr>
            <p:cNvPr id="150545" name="Text Box 118"/>
            <p:cNvSpPr txBox="1">
              <a:spLocks noChangeArrowheads="1"/>
            </p:cNvSpPr>
            <p:nvPr/>
          </p:nvSpPr>
          <p:spPr bwMode="auto">
            <a:xfrm>
              <a:off x="2880" y="2972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charset="0"/>
                </a:rPr>
                <a:t>1</a:t>
              </a:r>
            </a:p>
          </p:txBody>
        </p:sp>
        <p:sp>
          <p:nvSpPr>
            <p:cNvPr id="150546" name="Text Box 119"/>
            <p:cNvSpPr txBox="1">
              <a:spLocks noChangeArrowheads="1"/>
            </p:cNvSpPr>
            <p:nvPr/>
          </p:nvSpPr>
          <p:spPr bwMode="auto">
            <a:xfrm>
              <a:off x="2592" y="2972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charset="0"/>
                </a:rPr>
                <a:t>0</a:t>
              </a:r>
            </a:p>
          </p:txBody>
        </p:sp>
        <p:sp>
          <p:nvSpPr>
            <p:cNvPr id="150547" name="Text Box 120"/>
            <p:cNvSpPr txBox="1">
              <a:spLocks noChangeArrowheads="1"/>
            </p:cNvSpPr>
            <p:nvPr/>
          </p:nvSpPr>
          <p:spPr bwMode="auto">
            <a:xfrm>
              <a:off x="2256" y="2972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charset="0"/>
                </a:rPr>
                <a:t>1</a:t>
              </a:r>
            </a:p>
          </p:txBody>
        </p:sp>
        <p:sp>
          <p:nvSpPr>
            <p:cNvPr id="150548" name="Text Box 121"/>
            <p:cNvSpPr txBox="1">
              <a:spLocks noChangeArrowheads="1"/>
            </p:cNvSpPr>
            <p:nvPr/>
          </p:nvSpPr>
          <p:spPr bwMode="auto">
            <a:xfrm>
              <a:off x="1968" y="2972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charset="0"/>
                </a:rPr>
                <a:t>0</a:t>
              </a:r>
            </a:p>
          </p:txBody>
        </p:sp>
        <p:sp>
          <p:nvSpPr>
            <p:cNvPr id="150549" name="Text Box 122"/>
            <p:cNvSpPr txBox="1">
              <a:spLocks noChangeArrowheads="1"/>
            </p:cNvSpPr>
            <p:nvPr/>
          </p:nvSpPr>
          <p:spPr bwMode="auto">
            <a:xfrm>
              <a:off x="1637" y="2972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charset="0"/>
                </a:rPr>
                <a:t>1</a:t>
              </a:r>
            </a:p>
          </p:txBody>
        </p:sp>
        <p:sp>
          <p:nvSpPr>
            <p:cNvPr id="150550" name="Text Box 123"/>
            <p:cNvSpPr txBox="1">
              <a:spLocks noChangeArrowheads="1"/>
            </p:cNvSpPr>
            <p:nvPr/>
          </p:nvSpPr>
          <p:spPr bwMode="auto">
            <a:xfrm>
              <a:off x="1344" y="2972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charset="0"/>
                </a:rPr>
                <a:t>1</a:t>
              </a:r>
            </a:p>
          </p:txBody>
        </p:sp>
        <p:sp>
          <p:nvSpPr>
            <p:cNvPr id="150551" name="Text Box 124"/>
            <p:cNvSpPr txBox="1">
              <a:spLocks noChangeArrowheads="1"/>
            </p:cNvSpPr>
            <p:nvPr/>
          </p:nvSpPr>
          <p:spPr bwMode="auto">
            <a:xfrm>
              <a:off x="1056" y="2972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charset="0"/>
                </a:rPr>
                <a:t>0</a:t>
              </a:r>
            </a:p>
          </p:txBody>
        </p:sp>
        <p:sp>
          <p:nvSpPr>
            <p:cNvPr id="150552" name="Text Box 125"/>
            <p:cNvSpPr txBox="1">
              <a:spLocks noChangeArrowheads="1"/>
            </p:cNvSpPr>
            <p:nvPr/>
          </p:nvSpPr>
          <p:spPr bwMode="auto">
            <a:xfrm>
              <a:off x="720" y="2972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charset="0"/>
                </a:rPr>
                <a:t>0</a:t>
              </a:r>
            </a:p>
          </p:txBody>
        </p:sp>
      </p:grpSp>
      <p:cxnSp>
        <p:nvCxnSpPr>
          <p:cNvPr id="150536" name="Straight Connector 2"/>
          <p:cNvCxnSpPr>
            <a:cxnSpLocks noChangeShapeType="1"/>
          </p:cNvCxnSpPr>
          <p:nvPr/>
        </p:nvCxnSpPr>
        <p:spPr bwMode="auto">
          <a:xfrm flipH="1">
            <a:off x="4584700" y="1828800"/>
            <a:ext cx="0" cy="3505200"/>
          </a:xfrm>
          <a:prstGeom prst="line">
            <a:avLst/>
          </a:prstGeom>
          <a:noFill/>
          <a:ln w="9525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0537" name="Straight Connector 131"/>
          <p:cNvCxnSpPr>
            <a:cxnSpLocks noChangeShapeType="1"/>
          </p:cNvCxnSpPr>
          <p:nvPr/>
        </p:nvCxnSpPr>
        <p:spPr bwMode="auto">
          <a:xfrm flipH="1">
            <a:off x="3609975" y="1981200"/>
            <a:ext cx="0" cy="957263"/>
          </a:xfrm>
          <a:prstGeom prst="line">
            <a:avLst/>
          </a:prstGeom>
          <a:noFill/>
          <a:ln w="9525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7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A7175905-0DA5-3646-9689-11C6F93B1EE5}" type="slidenum">
              <a:rPr lang="zh-CN" altLang="en-US" sz="1400" b="0">
                <a:latin typeface="Times New Roman" charset="0"/>
              </a:rPr>
              <a:pPr/>
              <a:t>60</a:t>
            </a:fld>
            <a:endParaRPr lang="en-US" altLang="zh-CN" sz="1400" b="0">
              <a:latin typeface="Times New Roman" charset="0"/>
            </a:endParaRPr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宋体" charset="-122"/>
              </a:rPr>
              <a:t>练习</a:t>
            </a:r>
            <a:r>
              <a:rPr lang="en-US" altLang="zh-CN">
                <a:ea typeface="宋体" charset="-122"/>
              </a:rPr>
              <a:t>2-4</a:t>
            </a:r>
            <a:r>
              <a:rPr lang="zh-CN" altLang="en-US">
                <a:ea typeface="宋体" charset="-122"/>
              </a:rPr>
              <a:t>答案</a:t>
            </a:r>
            <a:endParaRPr lang="en-US" altLang="zh-CN">
              <a:ea typeface="宋体" charset="-122"/>
            </a:endParaRPr>
          </a:p>
        </p:txBody>
      </p:sp>
      <p:sp>
        <p:nvSpPr>
          <p:cNvPr id="152579" name="Rectangle 3"/>
          <p:cNvSpPr>
            <a:spLocks noChangeArrowheads="1"/>
          </p:cNvSpPr>
          <p:nvPr/>
        </p:nvSpPr>
        <p:spPr bwMode="auto">
          <a:xfrm>
            <a:off x="533400" y="1614488"/>
            <a:ext cx="30940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r>
              <a:rPr lang="en-US" altLang="zh-CN" b="0"/>
              <a:t>Virtual Address 0x03D4</a:t>
            </a:r>
            <a:endParaRPr lang="zh-CN" altLang="en-US" b="0"/>
          </a:p>
        </p:txBody>
      </p:sp>
      <p:grpSp>
        <p:nvGrpSpPr>
          <p:cNvPr id="152580" name="Group 4"/>
          <p:cNvGrpSpPr>
            <a:grpSpLocks/>
          </p:cNvGrpSpPr>
          <p:nvPr/>
        </p:nvGrpSpPr>
        <p:grpSpPr bwMode="auto">
          <a:xfrm>
            <a:off x="685800" y="2032000"/>
            <a:ext cx="6823075" cy="1106488"/>
            <a:chOff x="432" y="1415"/>
            <a:chExt cx="4298" cy="697"/>
          </a:xfrm>
        </p:grpSpPr>
        <p:grpSp>
          <p:nvGrpSpPr>
            <p:cNvPr id="152641" name="Group 5"/>
            <p:cNvGrpSpPr>
              <a:grpSpLocks/>
            </p:cNvGrpSpPr>
            <p:nvPr/>
          </p:nvGrpSpPr>
          <p:grpSpPr bwMode="auto">
            <a:xfrm>
              <a:off x="432" y="1415"/>
              <a:ext cx="4298" cy="384"/>
              <a:chOff x="629" y="1176"/>
              <a:chExt cx="4298" cy="384"/>
            </a:xfrm>
          </p:grpSpPr>
          <p:grpSp>
            <p:nvGrpSpPr>
              <p:cNvPr id="152662" name="Group 6"/>
              <p:cNvGrpSpPr>
                <a:grpSpLocks/>
              </p:cNvGrpSpPr>
              <p:nvPr/>
            </p:nvGrpSpPr>
            <p:grpSpPr bwMode="auto">
              <a:xfrm>
                <a:off x="629" y="1176"/>
                <a:ext cx="307" cy="384"/>
                <a:chOff x="629" y="1176"/>
                <a:chExt cx="307" cy="384"/>
              </a:xfrm>
            </p:grpSpPr>
            <p:sp>
              <p:nvSpPr>
                <p:cNvPr id="152702" name="Rectangle 7"/>
                <p:cNvSpPr>
                  <a:spLocks noChangeArrowheads="1"/>
                </p:cNvSpPr>
                <p:nvPr/>
              </p:nvSpPr>
              <p:spPr bwMode="auto">
                <a:xfrm>
                  <a:off x="629" y="13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endParaRPr lang="zh-CN" altLang="en-US" sz="1800">
                    <a:solidFill>
                      <a:schemeClr val="tx2"/>
                    </a:solidFill>
                    <a:latin typeface="Helvetica" charset="0"/>
                  </a:endParaRPr>
                </a:p>
              </p:txBody>
            </p:sp>
            <p:sp>
              <p:nvSpPr>
                <p:cNvPr id="152703" name="Rectangle 8"/>
                <p:cNvSpPr>
                  <a:spLocks noChangeArrowheads="1"/>
                </p:cNvSpPr>
                <p:nvPr/>
              </p:nvSpPr>
              <p:spPr bwMode="auto">
                <a:xfrm>
                  <a:off x="629" y="11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charset="0"/>
                    </a:rPr>
                    <a:t>13</a:t>
                  </a:r>
                </a:p>
              </p:txBody>
            </p:sp>
          </p:grpSp>
          <p:grpSp>
            <p:nvGrpSpPr>
              <p:cNvPr id="152663" name="Group 9"/>
              <p:cNvGrpSpPr>
                <a:grpSpLocks/>
              </p:cNvGrpSpPr>
              <p:nvPr/>
            </p:nvGrpSpPr>
            <p:grpSpPr bwMode="auto">
              <a:xfrm>
                <a:off x="936" y="1176"/>
                <a:ext cx="307" cy="384"/>
                <a:chOff x="936" y="1176"/>
                <a:chExt cx="307" cy="384"/>
              </a:xfrm>
            </p:grpSpPr>
            <p:sp>
              <p:nvSpPr>
                <p:cNvPr id="152700" name="Rectangle 10"/>
                <p:cNvSpPr>
                  <a:spLocks noChangeArrowheads="1"/>
                </p:cNvSpPr>
                <p:nvPr/>
              </p:nvSpPr>
              <p:spPr bwMode="auto">
                <a:xfrm>
                  <a:off x="936" y="13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endParaRPr lang="zh-CN" altLang="en-US" sz="1800">
                    <a:solidFill>
                      <a:schemeClr val="tx2"/>
                    </a:solidFill>
                    <a:latin typeface="Helvetica" charset="0"/>
                  </a:endParaRPr>
                </a:p>
              </p:txBody>
            </p:sp>
            <p:sp>
              <p:nvSpPr>
                <p:cNvPr id="152701" name="Rectangle 11"/>
                <p:cNvSpPr>
                  <a:spLocks noChangeArrowheads="1"/>
                </p:cNvSpPr>
                <p:nvPr/>
              </p:nvSpPr>
              <p:spPr bwMode="auto">
                <a:xfrm>
                  <a:off x="936" y="11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charset="0"/>
                    </a:rPr>
                    <a:t>12</a:t>
                  </a:r>
                </a:p>
              </p:txBody>
            </p:sp>
          </p:grpSp>
          <p:grpSp>
            <p:nvGrpSpPr>
              <p:cNvPr id="152664" name="Group 12"/>
              <p:cNvGrpSpPr>
                <a:grpSpLocks/>
              </p:cNvGrpSpPr>
              <p:nvPr/>
            </p:nvGrpSpPr>
            <p:grpSpPr bwMode="auto">
              <a:xfrm>
                <a:off x="1243" y="1176"/>
                <a:ext cx="307" cy="384"/>
                <a:chOff x="1243" y="1176"/>
                <a:chExt cx="307" cy="384"/>
              </a:xfrm>
            </p:grpSpPr>
            <p:sp>
              <p:nvSpPr>
                <p:cNvPr id="152698" name="Rectangle 13"/>
                <p:cNvSpPr>
                  <a:spLocks noChangeArrowheads="1"/>
                </p:cNvSpPr>
                <p:nvPr/>
              </p:nvSpPr>
              <p:spPr bwMode="auto">
                <a:xfrm>
                  <a:off x="1243" y="13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endParaRPr lang="zh-CN" altLang="en-US" sz="1800">
                    <a:solidFill>
                      <a:schemeClr val="tx2"/>
                    </a:solidFill>
                    <a:latin typeface="Helvetica" charset="0"/>
                  </a:endParaRPr>
                </a:p>
              </p:txBody>
            </p:sp>
            <p:sp>
              <p:nvSpPr>
                <p:cNvPr id="152699" name="Rectangle 14"/>
                <p:cNvSpPr>
                  <a:spLocks noChangeArrowheads="1"/>
                </p:cNvSpPr>
                <p:nvPr/>
              </p:nvSpPr>
              <p:spPr bwMode="auto">
                <a:xfrm>
                  <a:off x="1243" y="11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charset="0"/>
                    </a:rPr>
                    <a:t>11</a:t>
                  </a:r>
                </a:p>
              </p:txBody>
            </p:sp>
          </p:grpSp>
          <p:grpSp>
            <p:nvGrpSpPr>
              <p:cNvPr id="152665" name="Group 15"/>
              <p:cNvGrpSpPr>
                <a:grpSpLocks/>
              </p:cNvGrpSpPr>
              <p:nvPr/>
            </p:nvGrpSpPr>
            <p:grpSpPr bwMode="auto">
              <a:xfrm>
                <a:off x="1550" y="1176"/>
                <a:ext cx="307" cy="384"/>
                <a:chOff x="1550" y="1176"/>
                <a:chExt cx="307" cy="384"/>
              </a:xfrm>
            </p:grpSpPr>
            <p:sp>
              <p:nvSpPr>
                <p:cNvPr id="152696" name="Rectangle 16"/>
                <p:cNvSpPr>
                  <a:spLocks noChangeArrowheads="1"/>
                </p:cNvSpPr>
                <p:nvPr/>
              </p:nvSpPr>
              <p:spPr bwMode="auto">
                <a:xfrm>
                  <a:off x="1550" y="13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52697" name="Rectangle 17"/>
                <p:cNvSpPr>
                  <a:spLocks noChangeArrowheads="1"/>
                </p:cNvSpPr>
                <p:nvPr/>
              </p:nvSpPr>
              <p:spPr bwMode="auto">
                <a:xfrm>
                  <a:off x="1550" y="11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charset="0"/>
                    </a:rPr>
                    <a:t>10</a:t>
                  </a:r>
                </a:p>
              </p:txBody>
            </p:sp>
          </p:grpSp>
          <p:grpSp>
            <p:nvGrpSpPr>
              <p:cNvPr id="152666" name="Group 18"/>
              <p:cNvGrpSpPr>
                <a:grpSpLocks/>
              </p:cNvGrpSpPr>
              <p:nvPr/>
            </p:nvGrpSpPr>
            <p:grpSpPr bwMode="auto">
              <a:xfrm>
                <a:off x="1857" y="1176"/>
                <a:ext cx="307" cy="384"/>
                <a:chOff x="1857" y="1176"/>
                <a:chExt cx="307" cy="384"/>
              </a:xfrm>
            </p:grpSpPr>
            <p:sp>
              <p:nvSpPr>
                <p:cNvPr id="152694" name="Rectangle 19"/>
                <p:cNvSpPr>
                  <a:spLocks noChangeArrowheads="1"/>
                </p:cNvSpPr>
                <p:nvPr/>
              </p:nvSpPr>
              <p:spPr bwMode="auto">
                <a:xfrm>
                  <a:off x="1857" y="13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52695" name="Rectangle 20"/>
                <p:cNvSpPr>
                  <a:spLocks noChangeArrowheads="1"/>
                </p:cNvSpPr>
                <p:nvPr/>
              </p:nvSpPr>
              <p:spPr bwMode="auto">
                <a:xfrm>
                  <a:off x="1857" y="11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charset="0"/>
                    </a:rPr>
                    <a:t>9</a:t>
                  </a:r>
                </a:p>
              </p:txBody>
            </p:sp>
          </p:grpSp>
          <p:grpSp>
            <p:nvGrpSpPr>
              <p:cNvPr id="152667" name="Group 21"/>
              <p:cNvGrpSpPr>
                <a:grpSpLocks/>
              </p:cNvGrpSpPr>
              <p:nvPr/>
            </p:nvGrpSpPr>
            <p:grpSpPr bwMode="auto">
              <a:xfrm>
                <a:off x="2164" y="1176"/>
                <a:ext cx="307" cy="384"/>
                <a:chOff x="2164" y="1176"/>
                <a:chExt cx="307" cy="384"/>
              </a:xfrm>
            </p:grpSpPr>
            <p:sp>
              <p:nvSpPr>
                <p:cNvPr id="152692" name="Rectangle 22"/>
                <p:cNvSpPr>
                  <a:spLocks noChangeArrowheads="1"/>
                </p:cNvSpPr>
                <p:nvPr/>
              </p:nvSpPr>
              <p:spPr bwMode="auto">
                <a:xfrm>
                  <a:off x="2164" y="13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52693" name="Rectangle 23"/>
                <p:cNvSpPr>
                  <a:spLocks noChangeArrowheads="1"/>
                </p:cNvSpPr>
                <p:nvPr/>
              </p:nvSpPr>
              <p:spPr bwMode="auto">
                <a:xfrm>
                  <a:off x="2164" y="11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charset="0"/>
                    </a:rPr>
                    <a:t>8</a:t>
                  </a:r>
                </a:p>
              </p:txBody>
            </p:sp>
          </p:grpSp>
          <p:grpSp>
            <p:nvGrpSpPr>
              <p:cNvPr id="152668" name="Group 24"/>
              <p:cNvGrpSpPr>
                <a:grpSpLocks/>
              </p:cNvGrpSpPr>
              <p:nvPr/>
            </p:nvGrpSpPr>
            <p:grpSpPr bwMode="auto">
              <a:xfrm>
                <a:off x="2471" y="1176"/>
                <a:ext cx="307" cy="384"/>
                <a:chOff x="2471" y="1176"/>
                <a:chExt cx="307" cy="384"/>
              </a:xfrm>
            </p:grpSpPr>
            <p:sp>
              <p:nvSpPr>
                <p:cNvPr id="152690" name="Rectangle 25"/>
                <p:cNvSpPr>
                  <a:spLocks noChangeArrowheads="1"/>
                </p:cNvSpPr>
                <p:nvPr/>
              </p:nvSpPr>
              <p:spPr bwMode="auto">
                <a:xfrm>
                  <a:off x="2471" y="13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52691" name="Rectangle 26"/>
                <p:cNvSpPr>
                  <a:spLocks noChangeArrowheads="1"/>
                </p:cNvSpPr>
                <p:nvPr/>
              </p:nvSpPr>
              <p:spPr bwMode="auto">
                <a:xfrm>
                  <a:off x="2471" y="11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charset="0"/>
                    </a:rPr>
                    <a:t>7</a:t>
                  </a:r>
                </a:p>
              </p:txBody>
            </p:sp>
          </p:grpSp>
          <p:grpSp>
            <p:nvGrpSpPr>
              <p:cNvPr id="152669" name="Group 27"/>
              <p:cNvGrpSpPr>
                <a:grpSpLocks/>
              </p:cNvGrpSpPr>
              <p:nvPr/>
            </p:nvGrpSpPr>
            <p:grpSpPr bwMode="auto">
              <a:xfrm>
                <a:off x="2778" y="1176"/>
                <a:ext cx="307" cy="384"/>
                <a:chOff x="2778" y="1176"/>
                <a:chExt cx="307" cy="384"/>
              </a:xfrm>
            </p:grpSpPr>
            <p:sp>
              <p:nvSpPr>
                <p:cNvPr id="152688" name="Rectangle 28"/>
                <p:cNvSpPr>
                  <a:spLocks noChangeArrowheads="1"/>
                </p:cNvSpPr>
                <p:nvPr/>
              </p:nvSpPr>
              <p:spPr bwMode="auto">
                <a:xfrm>
                  <a:off x="2778" y="13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52689" name="Rectangle 29"/>
                <p:cNvSpPr>
                  <a:spLocks noChangeArrowheads="1"/>
                </p:cNvSpPr>
                <p:nvPr/>
              </p:nvSpPr>
              <p:spPr bwMode="auto">
                <a:xfrm>
                  <a:off x="2778" y="11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charset="0"/>
                    </a:rPr>
                    <a:t>6</a:t>
                  </a:r>
                </a:p>
              </p:txBody>
            </p:sp>
          </p:grpSp>
          <p:grpSp>
            <p:nvGrpSpPr>
              <p:cNvPr id="152670" name="Group 30"/>
              <p:cNvGrpSpPr>
                <a:grpSpLocks/>
              </p:cNvGrpSpPr>
              <p:nvPr/>
            </p:nvGrpSpPr>
            <p:grpSpPr bwMode="auto">
              <a:xfrm>
                <a:off x="3085" y="1176"/>
                <a:ext cx="307" cy="384"/>
                <a:chOff x="3085" y="1176"/>
                <a:chExt cx="307" cy="384"/>
              </a:xfrm>
            </p:grpSpPr>
            <p:sp>
              <p:nvSpPr>
                <p:cNvPr id="152686" name="Rectangle 31"/>
                <p:cNvSpPr>
                  <a:spLocks noChangeArrowheads="1"/>
                </p:cNvSpPr>
                <p:nvPr/>
              </p:nvSpPr>
              <p:spPr bwMode="auto">
                <a:xfrm>
                  <a:off x="3085" y="13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52687" name="Rectangle 32"/>
                <p:cNvSpPr>
                  <a:spLocks noChangeArrowheads="1"/>
                </p:cNvSpPr>
                <p:nvPr/>
              </p:nvSpPr>
              <p:spPr bwMode="auto">
                <a:xfrm>
                  <a:off x="3085" y="11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charset="0"/>
                    </a:rPr>
                    <a:t>5</a:t>
                  </a:r>
                </a:p>
              </p:txBody>
            </p:sp>
          </p:grpSp>
          <p:grpSp>
            <p:nvGrpSpPr>
              <p:cNvPr id="152671" name="Group 33"/>
              <p:cNvGrpSpPr>
                <a:grpSpLocks/>
              </p:cNvGrpSpPr>
              <p:nvPr/>
            </p:nvGrpSpPr>
            <p:grpSpPr bwMode="auto">
              <a:xfrm>
                <a:off x="3392" y="1176"/>
                <a:ext cx="307" cy="384"/>
                <a:chOff x="3392" y="1176"/>
                <a:chExt cx="307" cy="384"/>
              </a:xfrm>
            </p:grpSpPr>
            <p:sp>
              <p:nvSpPr>
                <p:cNvPr id="152684" name="Rectangle 34"/>
                <p:cNvSpPr>
                  <a:spLocks noChangeArrowheads="1"/>
                </p:cNvSpPr>
                <p:nvPr/>
              </p:nvSpPr>
              <p:spPr bwMode="auto">
                <a:xfrm>
                  <a:off x="3392" y="13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52685" name="Rectangle 35"/>
                <p:cNvSpPr>
                  <a:spLocks noChangeArrowheads="1"/>
                </p:cNvSpPr>
                <p:nvPr/>
              </p:nvSpPr>
              <p:spPr bwMode="auto">
                <a:xfrm>
                  <a:off x="3392" y="11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charset="0"/>
                    </a:rPr>
                    <a:t>4</a:t>
                  </a:r>
                </a:p>
              </p:txBody>
            </p:sp>
          </p:grpSp>
          <p:grpSp>
            <p:nvGrpSpPr>
              <p:cNvPr id="152672" name="Group 36"/>
              <p:cNvGrpSpPr>
                <a:grpSpLocks/>
              </p:cNvGrpSpPr>
              <p:nvPr/>
            </p:nvGrpSpPr>
            <p:grpSpPr bwMode="auto">
              <a:xfrm>
                <a:off x="3699" y="1176"/>
                <a:ext cx="307" cy="384"/>
                <a:chOff x="3699" y="1176"/>
                <a:chExt cx="307" cy="384"/>
              </a:xfrm>
            </p:grpSpPr>
            <p:sp>
              <p:nvSpPr>
                <p:cNvPr id="152682" name="Rectangle 37"/>
                <p:cNvSpPr>
                  <a:spLocks noChangeArrowheads="1"/>
                </p:cNvSpPr>
                <p:nvPr/>
              </p:nvSpPr>
              <p:spPr bwMode="auto">
                <a:xfrm>
                  <a:off x="3699" y="13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52683" name="Rectangle 38"/>
                <p:cNvSpPr>
                  <a:spLocks noChangeArrowheads="1"/>
                </p:cNvSpPr>
                <p:nvPr/>
              </p:nvSpPr>
              <p:spPr bwMode="auto">
                <a:xfrm>
                  <a:off x="3699" y="11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charset="0"/>
                    </a:rPr>
                    <a:t>3</a:t>
                  </a:r>
                </a:p>
              </p:txBody>
            </p:sp>
          </p:grpSp>
          <p:grpSp>
            <p:nvGrpSpPr>
              <p:cNvPr id="152673" name="Group 39"/>
              <p:cNvGrpSpPr>
                <a:grpSpLocks/>
              </p:cNvGrpSpPr>
              <p:nvPr/>
            </p:nvGrpSpPr>
            <p:grpSpPr bwMode="auto">
              <a:xfrm>
                <a:off x="4006" y="1176"/>
                <a:ext cx="307" cy="384"/>
                <a:chOff x="4006" y="1176"/>
                <a:chExt cx="307" cy="384"/>
              </a:xfrm>
            </p:grpSpPr>
            <p:sp>
              <p:nvSpPr>
                <p:cNvPr id="152680" name="Rectangle 40"/>
                <p:cNvSpPr>
                  <a:spLocks noChangeArrowheads="1"/>
                </p:cNvSpPr>
                <p:nvPr/>
              </p:nvSpPr>
              <p:spPr bwMode="auto">
                <a:xfrm>
                  <a:off x="4006" y="13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52681" name="Rectangle 41"/>
                <p:cNvSpPr>
                  <a:spLocks noChangeArrowheads="1"/>
                </p:cNvSpPr>
                <p:nvPr/>
              </p:nvSpPr>
              <p:spPr bwMode="auto">
                <a:xfrm>
                  <a:off x="4006" y="11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charset="0"/>
                    </a:rPr>
                    <a:t>2</a:t>
                  </a:r>
                </a:p>
              </p:txBody>
            </p:sp>
          </p:grpSp>
          <p:grpSp>
            <p:nvGrpSpPr>
              <p:cNvPr id="152674" name="Group 42"/>
              <p:cNvGrpSpPr>
                <a:grpSpLocks/>
              </p:cNvGrpSpPr>
              <p:nvPr/>
            </p:nvGrpSpPr>
            <p:grpSpPr bwMode="auto">
              <a:xfrm>
                <a:off x="4313" y="1176"/>
                <a:ext cx="307" cy="384"/>
                <a:chOff x="4313" y="1176"/>
                <a:chExt cx="307" cy="384"/>
              </a:xfrm>
            </p:grpSpPr>
            <p:sp>
              <p:nvSpPr>
                <p:cNvPr id="152678" name="Rectangle 43"/>
                <p:cNvSpPr>
                  <a:spLocks noChangeArrowheads="1"/>
                </p:cNvSpPr>
                <p:nvPr/>
              </p:nvSpPr>
              <p:spPr bwMode="auto">
                <a:xfrm>
                  <a:off x="4313" y="13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52679" name="Rectangle 44"/>
                <p:cNvSpPr>
                  <a:spLocks noChangeArrowheads="1"/>
                </p:cNvSpPr>
                <p:nvPr/>
              </p:nvSpPr>
              <p:spPr bwMode="auto">
                <a:xfrm>
                  <a:off x="4313" y="11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charset="0"/>
                    </a:rPr>
                    <a:t>1</a:t>
                  </a:r>
                </a:p>
              </p:txBody>
            </p:sp>
          </p:grpSp>
          <p:grpSp>
            <p:nvGrpSpPr>
              <p:cNvPr id="152675" name="Group 45"/>
              <p:cNvGrpSpPr>
                <a:grpSpLocks/>
              </p:cNvGrpSpPr>
              <p:nvPr/>
            </p:nvGrpSpPr>
            <p:grpSpPr bwMode="auto">
              <a:xfrm>
                <a:off x="4620" y="1176"/>
                <a:ext cx="307" cy="384"/>
                <a:chOff x="4620" y="1176"/>
                <a:chExt cx="307" cy="384"/>
              </a:xfrm>
            </p:grpSpPr>
            <p:sp>
              <p:nvSpPr>
                <p:cNvPr id="152676" name="Rectangle 46"/>
                <p:cNvSpPr>
                  <a:spLocks noChangeArrowheads="1"/>
                </p:cNvSpPr>
                <p:nvPr/>
              </p:nvSpPr>
              <p:spPr bwMode="auto">
                <a:xfrm>
                  <a:off x="4620" y="13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52677" name="Rectangle 47"/>
                <p:cNvSpPr>
                  <a:spLocks noChangeArrowheads="1"/>
                </p:cNvSpPr>
                <p:nvPr/>
              </p:nvSpPr>
              <p:spPr bwMode="auto">
                <a:xfrm>
                  <a:off x="4620" y="11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charset="0"/>
                    </a:rPr>
                    <a:t>0</a:t>
                  </a:r>
                </a:p>
              </p:txBody>
            </p:sp>
          </p:grpSp>
        </p:grpSp>
        <p:grpSp>
          <p:nvGrpSpPr>
            <p:cNvPr id="152642" name="Group 48"/>
            <p:cNvGrpSpPr>
              <a:grpSpLocks/>
            </p:cNvGrpSpPr>
            <p:nvPr/>
          </p:nvGrpSpPr>
          <p:grpSpPr bwMode="auto">
            <a:xfrm>
              <a:off x="2888" y="1900"/>
              <a:ext cx="1842" cy="212"/>
              <a:chOff x="3085" y="1661"/>
              <a:chExt cx="1842" cy="212"/>
            </a:xfrm>
          </p:grpSpPr>
          <p:sp>
            <p:nvSpPr>
              <p:cNvPr id="152660" name="Line 49"/>
              <p:cNvSpPr>
                <a:spLocks noChangeShapeType="1"/>
              </p:cNvSpPr>
              <p:nvPr/>
            </p:nvSpPr>
            <p:spPr bwMode="auto">
              <a:xfrm>
                <a:off x="3085" y="1752"/>
                <a:ext cx="184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arrow" w="med" len="med"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487" tIns="44450" rIns="90487" bIns="44450"/>
              <a:lstStyle/>
              <a:p>
                <a:endParaRPr lang="zh-CN" altLang="en-US"/>
              </a:p>
            </p:txBody>
          </p:sp>
          <p:sp>
            <p:nvSpPr>
              <p:cNvPr id="152661" name="Text Box 50"/>
              <p:cNvSpPr txBox="1">
                <a:spLocks noChangeArrowheads="1"/>
              </p:cNvSpPr>
              <p:nvPr/>
            </p:nvSpPr>
            <p:spPr bwMode="auto">
              <a:xfrm>
                <a:off x="3794" y="1661"/>
                <a:ext cx="418" cy="21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>
                <a:spAutoFit/>
              </a:bodyPr>
              <a:lstStyle>
                <a:lvl1pPr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>
                  <a:lnSpc>
                    <a:spcPct val="90000"/>
                  </a:lnSpc>
                  <a:spcBef>
                    <a:spcPct val="30000"/>
                  </a:spcBef>
                </a:pPr>
                <a:r>
                  <a:rPr lang="en-US" altLang="zh-CN" sz="1800">
                    <a:solidFill>
                      <a:schemeClr val="tx2"/>
                    </a:solidFill>
                    <a:latin typeface="Helvetica" charset="0"/>
                  </a:rPr>
                  <a:t>VPO</a:t>
                </a:r>
              </a:p>
            </p:txBody>
          </p:sp>
        </p:grpSp>
        <p:grpSp>
          <p:nvGrpSpPr>
            <p:cNvPr id="152643" name="Group 51"/>
            <p:cNvGrpSpPr>
              <a:grpSpLocks/>
            </p:cNvGrpSpPr>
            <p:nvPr/>
          </p:nvGrpSpPr>
          <p:grpSpPr bwMode="auto">
            <a:xfrm>
              <a:off x="432" y="1895"/>
              <a:ext cx="2467" cy="212"/>
              <a:chOff x="629" y="1656"/>
              <a:chExt cx="2467" cy="212"/>
            </a:xfrm>
          </p:grpSpPr>
          <p:sp>
            <p:nvSpPr>
              <p:cNvPr id="152658" name="Line 52"/>
              <p:cNvSpPr>
                <a:spLocks noChangeShapeType="1"/>
              </p:cNvSpPr>
              <p:nvPr/>
            </p:nvSpPr>
            <p:spPr bwMode="auto">
              <a:xfrm>
                <a:off x="629" y="1747"/>
                <a:ext cx="246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arrow" w="med" len="med"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487" tIns="44450" rIns="90487" bIns="44450"/>
              <a:lstStyle/>
              <a:p>
                <a:endParaRPr lang="zh-CN" altLang="en-US"/>
              </a:p>
            </p:txBody>
          </p:sp>
          <p:sp>
            <p:nvSpPr>
              <p:cNvPr id="152659" name="Text Box 53"/>
              <p:cNvSpPr txBox="1">
                <a:spLocks noChangeArrowheads="1"/>
              </p:cNvSpPr>
              <p:nvPr/>
            </p:nvSpPr>
            <p:spPr bwMode="auto">
              <a:xfrm>
                <a:off x="1579" y="1656"/>
                <a:ext cx="409" cy="21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>
                <a:spAutoFit/>
              </a:bodyPr>
              <a:lstStyle>
                <a:lvl1pPr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>
                  <a:lnSpc>
                    <a:spcPct val="90000"/>
                  </a:lnSpc>
                  <a:spcBef>
                    <a:spcPct val="30000"/>
                  </a:spcBef>
                </a:pPr>
                <a:r>
                  <a:rPr lang="en-US" altLang="zh-CN" sz="1800">
                    <a:solidFill>
                      <a:schemeClr val="tx2"/>
                    </a:solidFill>
                    <a:latin typeface="Helvetica" charset="0"/>
                  </a:rPr>
                  <a:t>VPN</a:t>
                </a:r>
              </a:p>
            </p:txBody>
          </p:sp>
        </p:grpSp>
        <p:sp>
          <p:nvSpPr>
            <p:cNvPr id="152644" name="Text Box 54"/>
            <p:cNvSpPr txBox="1">
              <a:spLocks noChangeArrowheads="1"/>
            </p:cNvSpPr>
            <p:nvPr/>
          </p:nvSpPr>
          <p:spPr bwMode="auto">
            <a:xfrm>
              <a:off x="4459" y="1611"/>
              <a:ext cx="24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charset="0"/>
                </a:rPr>
                <a:t>0</a:t>
              </a:r>
            </a:p>
          </p:txBody>
        </p:sp>
        <p:sp>
          <p:nvSpPr>
            <p:cNvPr id="152645" name="Text Box 55"/>
            <p:cNvSpPr txBox="1">
              <a:spLocks noChangeArrowheads="1"/>
            </p:cNvSpPr>
            <p:nvPr/>
          </p:nvSpPr>
          <p:spPr bwMode="auto">
            <a:xfrm>
              <a:off x="4123" y="1611"/>
              <a:ext cx="24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charset="0"/>
                </a:rPr>
                <a:t>0</a:t>
              </a:r>
            </a:p>
          </p:txBody>
        </p:sp>
        <p:sp>
          <p:nvSpPr>
            <p:cNvPr id="152646" name="Text Box 56"/>
            <p:cNvSpPr txBox="1">
              <a:spLocks noChangeArrowheads="1"/>
            </p:cNvSpPr>
            <p:nvPr/>
          </p:nvSpPr>
          <p:spPr bwMode="auto">
            <a:xfrm>
              <a:off x="3835" y="1611"/>
              <a:ext cx="24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charset="0"/>
                </a:rPr>
                <a:t>1</a:t>
              </a:r>
            </a:p>
          </p:txBody>
        </p:sp>
        <p:sp>
          <p:nvSpPr>
            <p:cNvPr id="152647" name="Text Box 57"/>
            <p:cNvSpPr txBox="1">
              <a:spLocks noChangeArrowheads="1"/>
            </p:cNvSpPr>
            <p:nvPr/>
          </p:nvSpPr>
          <p:spPr bwMode="auto">
            <a:xfrm>
              <a:off x="3547" y="1611"/>
              <a:ext cx="24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charset="0"/>
                </a:rPr>
                <a:t>0</a:t>
              </a:r>
            </a:p>
          </p:txBody>
        </p:sp>
        <p:sp>
          <p:nvSpPr>
            <p:cNvPr id="152648" name="Text Box 58"/>
            <p:cNvSpPr txBox="1">
              <a:spLocks noChangeArrowheads="1"/>
            </p:cNvSpPr>
            <p:nvPr/>
          </p:nvSpPr>
          <p:spPr bwMode="auto">
            <a:xfrm>
              <a:off x="3211" y="1611"/>
              <a:ext cx="24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charset="0"/>
                </a:rPr>
                <a:t>1</a:t>
              </a:r>
            </a:p>
          </p:txBody>
        </p:sp>
        <p:sp>
          <p:nvSpPr>
            <p:cNvPr id="152649" name="Text Box 59"/>
            <p:cNvSpPr txBox="1">
              <a:spLocks noChangeArrowheads="1"/>
            </p:cNvSpPr>
            <p:nvPr/>
          </p:nvSpPr>
          <p:spPr bwMode="auto">
            <a:xfrm>
              <a:off x="2923" y="1611"/>
              <a:ext cx="24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charset="0"/>
                </a:rPr>
                <a:t>0</a:t>
              </a:r>
            </a:p>
          </p:txBody>
        </p:sp>
        <p:sp>
          <p:nvSpPr>
            <p:cNvPr id="152650" name="Text Box 60"/>
            <p:cNvSpPr txBox="1">
              <a:spLocks noChangeArrowheads="1"/>
            </p:cNvSpPr>
            <p:nvPr/>
          </p:nvSpPr>
          <p:spPr bwMode="auto">
            <a:xfrm>
              <a:off x="2587" y="1611"/>
              <a:ext cx="24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charset="0"/>
                </a:rPr>
                <a:t>1</a:t>
              </a:r>
            </a:p>
          </p:txBody>
        </p:sp>
        <p:sp>
          <p:nvSpPr>
            <p:cNvPr id="152651" name="Text Box 61"/>
            <p:cNvSpPr txBox="1">
              <a:spLocks noChangeArrowheads="1"/>
            </p:cNvSpPr>
            <p:nvPr/>
          </p:nvSpPr>
          <p:spPr bwMode="auto">
            <a:xfrm>
              <a:off x="2299" y="1611"/>
              <a:ext cx="24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charset="0"/>
                </a:rPr>
                <a:t>1</a:t>
              </a:r>
            </a:p>
          </p:txBody>
        </p:sp>
        <p:sp>
          <p:nvSpPr>
            <p:cNvPr id="152652" name="Text Box 62"/>
            <p:cNvSpPr txBox="1">
              <a:spLocks noChangeArrowheads="1"/>
            </p:cNvSpPr>
            <p:nvPr/>
          </p:nvSpPr>
          <p:spPr bwMode="auto">
            <a:xfrm>
              <a:off x="2011" y="1611"/>
              <a:ext cx="24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charset="0"/>
                </a:rPr>
                <a:t>1</a:t>
              </a:r>
            </a:p>
          </p:txBody>
        </p:sp>
        <p:sp>
          <p:nvSpPr>
            <p:cNvPr id="152653" name="Text Box 63"/>
            <p:cNvSpPr txBox="1">
              <a:spLocks noChangeArrowheads="1"/>
            </p:cNvSpPr>
            <p:nvPr/>
          </p:nvSpPr>
          <p:spPr bwMode="auto">
            <a:xfrm>
              <a:off x="1675" y="1611"/>
              <a:ext cx="24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charset="0"/>
                </a:rPr>
                <a:t>1</a:t>
              </a:r>
            </a:p>
          </p:txBody>
        </p:sp>
        <p:sp>
          <p:nvSpPr>
            <p:cNvPr id="152654" name="Text Box 64"/>
            <p:cNvSpPr txBox="1">
              <a:spLocks noChangeArrowheads="1"/>
            </p:cNvSpPr>
            <p:nvPr/>
          </p:nvSpPr>
          <p:spPr bwMode="auto">
            <a:xfrm>
              <a:off x="1387" y="1611"/>
              <a:ext cx="24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charset="0"/>
                </a:rPr>
                <a:t>0</a:t>
              </a:r>
            </a:p>
          </p:txBody>
        </p:sp>
        <p:sp>
          <p:nvSpPr>
            <p:cNvPr id="152655" name="Text Box 65"/>
            <p:cNvSpPr txBox="1">
              <a:spLocks noChangeArrowheads="1"/>
            </p:cNvSpPr>
            <p:nvPr/>
          </p:nvSpPr>
          <p:spPr bwMode="auto">
            <a:xfrm>
              <a:off x="1051" y="1611"/>
              <a:ext cx="24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charset="0"/>
                </a:rPr>
                <a:t>0</a:t>
              </a:r>
            </a:p>
          </p:txBody>
        </p:sp>
        <p:sp>
          <p:nvSpPr>
            <p:cNvPr id="152656" name="Text Box 66"/>
            <p:cNvSpPr txBox="1">
              <a:spLocks noChangeArrowheads="1"/>
            </p:cNvSpPr>
            <p:nvPr/>
          </p:nvSpPr>
          <p:spPr bwMode="auto">
            <a:xfrm>
              <a:off x="763" y="1611"/>
              <a:ext cx="24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charset="0"/>
                </a:rPr>
                <a:t>0</a:t>
              </a:r>
            </a:p>
          </p:txBody>
        </p:sp>
        <p:sp>
          <p:nvSpPr>
            <p:cNvPr id="152657" name="Text Box 67"/>
            <p:cNvSpPr txBox="1">
              <a:spLocks noChangeArrowheads="1"/>
            </p:cNvSpPr>
            <p:nvPr/>
          </p:nvSpPr>
          <p:spPr bwMode="auto">
            <a:xfrm>
              <a:off x="475" y="1611"/>
              <a:ext cx="24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charset="0"/>
                </a:rPr>
                <a:t>0</a:t>
              </a:r>
            </a:p>
          </p:txBody>
        </p:sp>
      </p:grpSp>
      <p:sp>
        <p:nvSpPr>
          <p:cNvPr id="152581" name="Rectangle 68"/>
          <p:cNvSpPr>
            <a:spLocks noChangeArrowheads="1"/>
          </p:cNvSpPr>
          <p:nvPr/>
        </p:nvSpPr>
        <p:spPr bwMode="auto">
          <a:xfrm>
            <a:off x="685800" y="3305175"/>
            <a:ext cx="84582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lnSpc>
                <a:spcPct val="140000"/>
              </a:lnSpc>
            </a:pPr>
            <a:r>
              <a:rPr lang="en-US" altLang="zh-CN" b="0"/>
              <a:t>VPN: </a:t>
            </a:r>
            <a:r>
              <a:rPr lang="en-US" altLang="zh-CN" u="sng"/>
              <a:t>0x</a:t>
            </a:r>
            <a:r>
              <a:rPr lang="en-US" altLang="zh-CN" u="sng">
                <a:solidFill>
                  <a:srgbClr val="FF0000"/>
                </a:solidFill>
              </a:rPr>
              <a:t>0f</a:t>
            </a:r>
            <a:r>
              <a:rPr lang="en-US" altLang="zh-CN" b="0"/>
              <a:t> TLBI: </a:t>
            </a:r>
            <a:r>
              <a:rPr lang="en-US" altLang="zh-CN" u="sng"/>
              <a:t>0x03</a:t>
            </a:r>
            <a:r>
              <a:rPr lang="en-US" altLang="zh-CN" b="0"/>
              <a:t>   TLBT: </a:t>
            </a:r>
            <a:r>
              <a:rPr lang="en-US" altLang="zh-CN" u="sng"/>
              <a:t>0x03</a:t>
            </a:r>
            <a:r>
              <a:rPr lang="en-US" altLang="zh-CN"/>
              <a:t> </a:t>
            </a:r>
            <a:r>
              <a:rPr lang="en-US" altLang="zh-CN" b="0"/>
              <a:t>TLB Hit? </a:t>
            </a:r>
            <a:r>
              <a:rPr lang="en-US" altLang="zh-CN" u="sng"/>
              <a:t>    </a:t>
            </a:r>
            <a:r>
              <a:rPr lang="en-US" altLang="zh-CN"/>
              <a:t> </a:t>
            </a:r>
            <a:r>
              <a:rPr lang="en-US" altLang="zh-CN" b="0"/>
              <a:t>Page Fault? </a:t>
            </a:r>
            <a:r>
              <a:rPr lang="en-US" altLang="zh-CN" u="sng"/>
              <a:t>   </a:t>
            </a:r>
            <a:r>
              <a:rPr lang="en-US" altLang="zh-CN" u="sng">
                <a:solidFill>
                  <a:schemeClr val="bg1"/>
                </a:solidFill>
              </a:rPr>
              <a:t>O</a:t>
            </a:r>
            <a:r>
              <a:rPr lang="en-US" altLang="zh-CN" u="sng"/>
              <a:t> </a:t>
            </a:r>
          </a:p>
        </p:txBody>
      </p:sp>
      <p:sp>
        <p:nvSpPr>
          <p:cNvPr id="152582" name="Rectangle 69"/>
          <p:cNvSpPr>
            <a:spLocks noChangeArrowheads="1"/>
          </p:cNvSpPr>
          <p:nvPr/>
        </p:nvSpPr>
        <p:spPr bwMode="auto">
          <a:xfrm>
            <a:off x="784225" y="5348288"/>
            <a:ext cx="68627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lnSpc>
                <a:spcPct val="140000"/>
              </a:lnSpc>
            </a:pPr>
            <a:r>
              <a:rPr lang="en-US" altLang="zh-CN" b="0"/>
              <a:t>PPN: </a:t>
            </a:r>
            <a:r>
              <a:rPr lang="en-US" altLang="zh-CN" u="sng"/>
              <a:t>      </a:t>
            </a:r>
            <a:r>
              <a:rPr lang="en-US" altLang="zh-CN" b="0"/>
              <a:t>   PPO: </a:t>
            </a:r>
            <a:r>
              <a:rPr lang="en-US" altLang="zh-CN" u="sng"/>
              <a:t>       </a:t>
            </a:r>
            <a:r>
              <a:rPr lang="en-US" altLang="zh-CN" b="0"/>
              <a:t>	   		PA: </a:t>
            </a:r>
            <a:r>
              <a:rPr lang="en-US" altLang="zh-CN" u="sng"/>
              <a:t>      </a:t>
            </a:r>
          </a:p>
        </p:txBody>
      </p:sp>
      <p:grpSp>
        <p:nvGrpSpPr>
          <p:cNvPr id="152583" name="Group 70"/>
          <p:cNvGrpSpPr>
            <a:grpSpLocks/>
          </p:cNvGrpSpPr>
          <p:nvPr/>
        </p:nvGrpSpPr>
        <p:grpSpPr bwMode="auto">
          <a:xfrm>
            <a:off x="1677988" y="4097338"/>
            <a:ext cx="5865812" cy="1022350"/>
            <a:chOff x="672" y="2780"/>
            <a:chExt cx="3695" cy="644"/>
          </a:xfrm>
        </p:grpSpPr>
        <p:grpSp>
          <p:nvGrpSpPr>
            <p:cNvPr id="152586" name="Group 71"/>
            <p:cNvGrpSpPr>
              <a:grpSpLocks/>
            </p:cNvGrpSpPr>
            <p:nvPr/>
          </p:nvGrpSpPr>
          <p:grpSpPr bwMode="auto">
            <a:xfrm>
              <a:off x="672" y="2780"/>
              <a:ext cx="3684" cy="384"/>
              <a:chOff x="1219" y="2880"/>
              <a:chExt cx="3684" cy="384"/>
            </a:xfrm>
          </p:grpSpPr>
          <p:grpSp>
            <p:nvGrpSpPr>
              <p:cNvPr id="152605" name="Group 72"/>
              <p:cNvGrpSpPr>
                <a:grpSpLocks/>
              </p:cNvGrpSpPr>
              <p:nvPr/>
            </p:nvGrpSpPr>
            <p:grpSpPr bwMode="auto">
              <a:xfrm>
                <a:off x="1219" y="2880"/>
                <a:ext cx="307" cy="384"/>
                <a:chOff x="605" y="1776"/>
                <a:chExt cx="307" cy="384"/>
              </a:xfrm>
            </p:grpSpPr>
            <p:sp>
              <p:nvSpPr>
                <p:cNvPr id="152639" name="Rectangle 73"/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52640" name="Rectangle 74"/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charset="0"/>
                    </a:rPr>
                    <a:t>11</a:t>
                  </a:r>
                </a:p>
              </p:txBody>
            </p:sp>
          </p:grpSp>
          <p:grpSp>
            <p:nvGrpSpPr>
              <p:cNvPr id="152606" name="Group 75"/>
              <p:cNvGrpSpPr>
                <a:grpSpLocks/>
              </p:cNvGrpSpPr>
              <p:nvPr/>
            </p:nvGrpSpPr>
            <p:grpSpPr bwMode="auto">
              <a:xfrm>
                <a:off x="1526" y="2880"/>
                <a:ext cx="307" cy="384"/>
                <a:chOff x="605" y="1776"/>
                <a:chExt cx="307" cy="384"/>
              </a:xfrm>
            </p:grpSpPr>
            <p:sp>
              <p:nvSpPr>
                <p:cNvPr id="152637" name="Rectangle 76"/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52638" name="Rectangle 77"/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charset="0"/>
                    </a:rPr>
                    <a:t>10</a:t>
                  </a:r>
                </a:p>
              </p:txBody>
            </p:sp>
          </p:grpSp>
          <p:grpSp>
            <p:nvGrpSpPr>
              <p:cNvPr id="152607" name="Group 78"/>
              <p:cNvGrpSpPr>
                <a:grpSpLocks/>
              </p:cNvGrpSpPr>
              <p:nvPr/>
            </p:nvGrpSpPr>
            <p:grpSpPr bwMode="auto">
              <a:xfrm>
                <a:off x="1833" y="2880"/>
                <a:ext cx="307" cy="384"/>
                <a:chOff x="605" y="1776"/>
                <a:chExt cx="307" cy="384"/>
              </a:xfrm>
            </p:grpSpPr>
            <p:sp>
              <p:nvSpPr>
                <p:cNvPr id="152635" name="Rectangle 79"/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52636" name="Rectangle 80"/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charset="0"/>
                    </a:rPr>
                    <a:t>9</a:t>
                  </a:r>
                </a:p>
              </p:txBody>
            </p:sp>
          </p:grpSp>
          <p:grpSp>
            <p:nvGrpSpPr>
              <p:cNvPr id="152608" name="Group 81"/>
              <p:cNvGrpSpPr>
                <a:grpSpLocks/>
              </p:cNvGrpSpPr>
              <p:nvPr/>
            </p:nvGrpSpPr>
            <p:grpSpPr bwMode="auto">
              <a:xfrm>
                <a:off x="2140" y="2880"/>
                <a:ext cx="307" cy="384"/>
                <a:chOff x="605" y="1776"/>
                <a:chExt cx="307" cy="384"/>
              </a:xfrm>
            </p:grpSpPr>
            <p:sp>
              <p:nvSpPr>
                <p:cNvPr id="152633" name="Rectangle 82"/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52634" name="Rectangle 83"/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charset="0"/>
                    </a:rPr>
                    <a:t>8</a:t>
                  </a:r>
                </a:p>
              </p:txBody>
            </p:sp>
          </p:grpSp>
          <p:grpSp>
            <p:nvGrpSpPr>
              <p:cNvPr id="152609" name="Group 84"/>
              <p:cNvGrpSpPr>
                <a:grpSpLocks/>
              </p:cNvGrpSpPr>
              <p:nvPr/>
            </p:nvGrpSpPr>
            <p:grpSpPr bwMode="auto">
              <a:xfrm>
                <a:off x="2447" y="2880"/>
                <a:ext cx="307" cy="384"/>
                <a:chOff x="605" y="1776"/>
                <a:chExt cx="307" cy="384"/>
              </a:xfrm>
            </p:grpSpPr>
            <p:sp>
              <p:nvSpPr>
                <p:cNvPr id="152631" name="Rectangle 85"/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52632" name="Rectangle 86"/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charset="0"/>
                    </a:rPr>
                    <a:t>7</a:t>
                  </a:r>
                </a:p>
              </p:txBody>
            </p:sp>
          </p:grpSp>
          <p:grpSp>
            <p:nvGrpSpPr>
              <p:cNvPr id="152610" name="Group 87"/>
              <p:cNvGrpSpPr>
                <a:grpSpLocks/>
              </p:cNvGrpSpPr>
              <p:nvPr/>
            </p:nvGrpSpPr>
            <p:grpSpPr bwMode="auto">
              <a:xfrm>
                <a:off x="2754" y="2880"/>
                <a:ext cx="307" cy="384"/>
                <a:chOff x="605" y="1776"/>
                <a:chExt cx="307" cy="384"/>
              </a:xfrm>
            </p:grpSpPr>
            <p:sp>
              <p:nvSpPr>
                <p:cNvPr id="152629" name="Rectangle 88"/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52630" name="Rectangle 89"/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charset="0"/>
                    </a:rPr>
                    <a:t>6</a:t>
                  </a:r>
                </a:p>
              </p:txBody>
            </p:sp>
          </p:grpSp>
          <p:grpSp>
            <p:nvGrpSpPr>
              <p:cNvPr id="152611" name="Group 90"/>
              <p:cNvGrpSpPr>
                <a:grpSpLocks/>
              </p:cNvGrpSpPr>
              <p:nvPr/>
            </p:nvGrpSpPr>
            <p:grpSpPr bwMode="auto">
              <a:xfrm>
                <a:off x="3061" y="2880"/>
                <a:ext cx="307" cy="384"/>
                <a:chOff x="605" y="1776"/>
                <a:chExt cx="307" cy="384"/>
              </a:xfrm>
            </p:grpSpPr>
            <p:sp>
              <p:nvSpPr>
                <p:cNvPr id="152627" name="Rectangle 91"/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52628" name="Rectangle 92"/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charset="0"/>
                    </a:rPr>
                    <a:t>5</a:t>
                  </a:r>
                </a:p>
              </p:txBody>
            </p:sp>
          </p:grpSp>
          <p:grpSp>
            <p:nvGrpSpPr>
              <p:cNvPr id="152612" name="Group 93"/>
              <p:cNvGrpSpPr>
                <a:grpSpLocks/>
              </p:cNvGrpSpPr>
              <p:nvPr/>
            </p:nvGrpSpPr>
            <p:grpSpPr bwMode="auto">
              <a:xfrm>
                <a:off x="3368" y="2880"/>
                <a:ext cx="307" cy="384"/>
                <a:chOff x="605" y="1776"/>
                <a:chExt cx="307" cy="384"/>
              </a:xfrm>
            </p:grpSpPr>
            <p:sp>
              <p:nvSpPr>
                <p:cNvPr id="152625" name="Rectangle 94"/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52626" name="Rectangle 95"/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charset="0"/>
                    </a:rPr>
                    <a:t>4</a:t>
                  </a:r>
                </a:p>
              </p:txBody>
            </p:sp>
          </p:grpSp>
          <p:grpSp>
            <p:nvGrpSpPr>
              <p:cNvPr id="152613" name="Group 96"/>
              <p:cNvGrpSpPr>
                <a:grpSpLocks/>
              </p:cNvGrpSpPr>
              <p:nvPr/>
            </p:nvGrpSpPr>
            <p:grpSpPr bwMode="auto">
              <a:xfrm>
                <a:off x="3675" y="2880"/>
                <a:ext cx="307" cy="384"/>
                <a:chOff x="605" y="1776"/>
                <a:chExt cx="307" cy="384"/>
              </a:xfrm>
            </p:grpSpPr>
            <p:sp>
              <p:nvSpPr>
                <p:cNvPr id="152623" name="Rectangle 97"/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52624" name="Rectangle 98"/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charset="0"/>
                    </a:rPr>
                    <a:t>3</a:t>
                  </a:r>
                </a:p>
              </p:txBody>
            </p:sp>
          </p:grpSp>
          <p:grpSp>
            <p:nvGrpSpPr>
              <p:cNvPr id="152614" name="Group 99"/>
              <p:cNvGrpSpPr>
                <a:grpSpLocks/>
              </p:cNvGrpSpPr>
              <p:nvPr/>
            </p:nvGrpSpPr>
            <p:grpSpPr bwMode="auto">
              <a:xfrm>
                <a:off x="3982" y="2880"/>
                <a:ext cx="307" cy="384"/>
                <a:chOff x="605" y="1776"/>
                <a:chExt cx="307" cy="384"/>
              </a:xfrm>
            </p:grpSpPr>
            <p:sp>
              <p:nvSpPr>
                <p:cNvPr id="152621" name="Rectangle 100"/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52622" name="Rectangle 101"/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charset="0"/>
                    </a:rPr>
                    <a:t>2</a:t>
                  </a:r>
                </a:p>
              </p:txBody>
            </p:sp>
          </p:grpSp>
          <p:grpSp>
            <p:nvGrpSpPr>
              <p:cNvPr id="152615" name="Group 102"/>
              <p:cNvGrpSpPr>
                <a:grpSpLocks/>
              </p:cNvGrpSpPr>
              <p:nvPr/>
            </p:nvGrpSpPr>
            <p:grpSpPr bwMode="auto">
              <a:xfrm>
                <a:off x="4289" y="2880"/>
                <a:ext cx="307" cy="384"/>
                <a:chOff x="605" y="1776"/>
                <a:chExt cx="307" cy="384"/>
              </a:xfrm>
            </p:grpSpPr>
            <p:sp>
              <p:nvSpPr>
                <p:cNvPr id="152619" name="Rectangle 103"/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52620" name="Rectangle 104"/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charset="0"/>
                    </a:rPr>
                    <a:t>1</a:t>
                  </a:r>
                </a:p>
              </p:txBody>
            </p:sp>
          </p:grpSp>
          <p:grpSp>
            <p:nvGrpSpPr>
              <p:cNvPr id="152616" name="Group 105"/>
              <p:cNvGrpSpPr>
                <a:grpSpLocks/>
              </p:cNvGrpSpPr>
              <p:nvPr/>
            </p:nvGrpSpPr>
            <p:grpSpPr bwMode="auto">
              <a:xfrm>
                <a:off x="4596" y="2880"/>
                <a:ext cx="307" cy="384"/>
                <a:chOff x="605" y="1776"/>
                <a:chExt cx="307" cy="384"/>
              </a:xfrm>
            </p:grpSpPr>
            <p:sp>
              <p:nvSpPr>
                <p:cNvPr id="152617" name="Rectangle 106"/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52618" name="Rectangle 107"/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charset="0"/>
                    </a:rPr>
                    <a:t>0</a:t>
                  </a:r>
                </a:p>
              </p:txBody>
            </p:sp>
          </p:grpSp>
        </p:grpSp>
        <p:grpSp>
          <p:nvGrpSpPr>
            <p:cNvPr id="152587" name="Group 108"/>
            <p:cNvGrpSpPr>
              <a:grpSpLocks/>
            </p:cNvGrpSpPr>
            <p:nvPr/>
          </p:nvGrpSpPr>
          <p:grpSpPr bwMode="auto">
            <a:xfrm>
              <a:off x="2525" y="3212"/>
              <a:ext cx="1842" cy="212"/>
              <a:chOff x="3061" y="2261"/>
              <a:chExt cx="1842" cy="212"/>
            </a:xfrm>
          </p:grpSpPr>
          <p:sp>
            <p:nvSpPr>
              <p:cNvPr id="152603" name="Line 109"/>
              <p:cNvSpPr>
                <a:spLocks noChangeShapeType="1"/>
              </p:cNvSpPr>
              <p:nvPr/>
            </p:nvSpPr>
            <p:spPr bwMode="auto">
              <a:xfrm>
                <a:off x="3061" y="2352"/>
                <a:ext cx="184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arrow" w="med" len="med"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487" tIns="44450" rIns="90487" bIns="44450"/>
              <a:lstStyle/>
              <a:p>
                <a:endParaRPr lang="zh-CN" altLang="en-US"/>
              </a:p>
            </p:txBody>
          </p:sp>
          <p:sp>
            <p:nvSpPr>
              <p:cNvPr id="152604" name="Text Box 110"/>
              <p:cNvSpPr txBox="1">
                <a:spLocks noChangeArrowheads="1"/>
              </p:cNvSpPr>
              <p:nvPr/>
            </p:nvSpPr>
            <p:spPr bwMode="auto">
              <a:xfrm>
                <a:off x="3770" y="2261"/>
                <a:ext cx="418" cy="21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>
                <a:spAutoFit/>
              </a:bodyPr>
              <a:lstStyle>
                <a:lvl1pPr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>
                  <a:lnSpc>
                    <a:spcPct val="90000"/>
                  </a:lnSpc>
                  <a:spcBef>
                    <a:spcPct val="30000"/>
                  </a:spcBef>
                </a:pPr>
                <a:r>
                  <a:rPr lang="en-US" altLang="zh-CN" sz="1800">
                    <a:solidFill>
                      <a:schemeClr val="tx2"/>
                    </a:solidFill>
                    <a:latin typeface="Helvetica" charset="0"/>
                  </a:rPr>
                  <a:t>PPO</a:t>
                </a:r>
              </a:p>
            </p:txBody>
          </p:sp>
        </p:grpSp>
        <p:grpSp>
          <p:nvGrpSpPr>
            <p:cNvPr id="152588" name="Group 111"/>
            <p:cNvGrpSpPr>
              <a:grpSpLocks/>
            </p:cNvGrpSpPr>
            <p:nvPr/>
          </p:nvGrpSpPr>
          <p:grpSpPr bwMode="auto">
            <a:xfrm>
              <a:off x="701" y="3212"/>
              <a:ext cx="1842" cy="212"/>
              <a:chOff x="3061" y="2261"/>
              <a:chExt cx="1842" cy="212"/>
            </a:xfrm>
          </p:grpSpPr>
          <p:sp>
            <p:nvSpPr>
              <p:cNvPr id="152601" name="Line 112"/>
              <p:cNvSpPr>
                <a:spLocks noChangeShapeType="1"/>
              </p:cNvSpPr>
              <p:nvPr/>
            </p:nvSpPr>
            <p:spPr bwMode="auto">
              <a:xfrm>
                <a:off x="3061" y="2352"/>
                <a:ext cx="184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arrow" w="med" len="med"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487" tIns="44450" rIns="90487" bIns="44450"/>
              <a:lstStyle/>
              <a:p>
                <a:endParaRPr lang="zh-CN" altLang="en-US"/>
              </a:p>
            </p:txBody>
          </p:sp>
          <p:sp>
            <p:nvSpPr>
              <p:cNvPr id="152602" name="Text Box 113"/>
              <p:cNvSpPr txBox="1">
                <a:spLocks noChangeArrowheads="1"/>
              </p:cNvSpPr>
              <p:nvPr/>
            </p:nvSpPr>
            <p:spPr bwMode="auto">
              <a:xfrm>
                <a:off x="3770" y="2261"/>
                <a:ext cx="410" cy="21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>
                <a:spAutoFit/>
              </a:bodyPr>
              <a:lstStyle>
                <a:lvl1pPr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>
                  <a:lnSpc>
                    <a:spcPct val="90000"/>
                  </a:lnSpc>
                  <a:spcBef>
                    <a:spcPct val="30000"/>
                  </a:spcBef>
                </a:pPr>
                <a:r>
                  <a:rPr lang="en-US" altLang="zh-CN" sz="1800">
                    <a:solidFill>
                      <a:schemeClr val="tx2"/>
                    </a:solidFill>
                    <a:latin typeface="Helvetica" charset="0"/>
                  </a:rPr>
                  <a:t>PPN</a:t>
                </a:r>
              </a:p>
            </p:txBody>
          </p:sp>
        </p:grpSp>
        <p:sp>
          <p:nvSpPr>
            <p:cNvPr id="152589" name="Text Box 114"/>
            <p:cNvSpPr txBox="1">
              <a:spLocks noChangeArrowheads="1"/>
            </p:cNvSpPr>
            <p:nvPr/>
          </p:nvSpPr>
          <p:spPr bwMode="auto">
            <a:xfrm>
              <a:off x="4128" y="2972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charset="0"/>
                </a:rPr>
                <a:t>0</a:t>
              </a:r>
            </a:p>
          </p:txBody>
        </p:sp>
        <p:sp>
          <p:nvSpPr>
            <p:cNvPr id="152590" name="Text Box 115"/>
            <p:cNvSpPr txBox="1">
              <a:spLocks noChangeArrowheads="1"/>
            </p:cNvSpPr>
            <p:nvPr/>
          </p:nvSpPr>
          <p:spPr bwMode="auto">
            <a:xfrm>
              <a:off x="3792" y="2972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charset="0"/>
                </a:rPr>
                <a:t>0</a:t>
              </a:r>
            </a:p>
          </p:txBody>
        </p:sp>
        <p:sp>
          <p:nvSpPr>
            <p:cNvPr id="152591" name="Text Box 116"/>
            <p:cNvSpPr txBox="1">
              <a:spLocks noChangeArrowheads="1"/>
            </p:cNvSpPr>
            <p:nvPr/>
          </p:nvSpPr>
          <p:spPr bwMode="auto">
            <a:xfrm>
              <a:off x="3504" y="2972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charset="0"/>
                </a:rPr>
                <a:t>1</a:t>
              </a:r>
            </a:p>
          </p:txBody>
        </p:sp>
        <p:sp>
          <p:nvSpPr>
            <p:cNvPr id="152592" name="Text Box 117"/>
            <p:cNvSpPr txBox="1">
              <a:spLocks noChangeArrowheads="1"/>
            </p:cNvSpPr>
            <p:nvPr/>
          </p:nvSpPr>
          <p:spPr bwMode="auto">
            <a:xfrm>
              <a:off x="3173" y="2972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charset="0"/>
                </a:rPr>
                <a:t>0</a:t>
              </a:r>
            </a:p>
          </p:txBody>
        </p:sp>
        <p:sp>
          <p:nvSpPr>
            <p:cNvPr id="152593" name="Text Box 118"/>
            <p:cNvSpPr txBox="1">
              <a:spLocks noChangeArrowheads="1"/>
            </p:cNvSpPr>
            <p:nvPr/>
          </p:nvSpPr>
          <p:spPr bwMode="auto">
            <a:xfrm>
              <a:off x="2880" y="2972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charset="0"/>
                </a:rPr>
                <a:t>1</a:t>
              </a:r>
            </a:p>
          </p:txBody>
        </p:sp>
        <p:sp>
          <p:nvSpPr>
            <p:cNvPr id="152594" name="Text Box 119"/>
            <p:cNvSpPr txBox="1">
              <a:spLocks noChangeArrowheads="1"/>
            </p:cNvSpPr>
            <p:nvPr/>
          </p:nvSpPr>
          <p:spPr bwMode="auto">
            <a:xfrm>
              <a:off x="2592" y="2972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charset="0"/>
                </a:rPr>
                <a:t>0</a:t>
              </a:r>
            </a:p>
          </p:txBody>
        </p:sp>
        <p:sp>
          <p:nvSpPr>
            <p:cNvPr id="152595" name="Text Box 120"/>
            <p:cNvSpPr txBox="1">
              <a:spLocks noChangeArrowheads="1"/>
            </p:cNvSpPr>
            <p:nvPr/>
          </p:nvSpPr>
          <p:spPr bwMode="auto">
            <a:xfrm>
              <a:off x="2256" y="2972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charset="0"/>
                </a:rPr>
                <a:t>1</a:t>
              </a:r>
            </a:p>
          </p:txBody>
        </p:sp>
        <p:sp>
          <p:nvSpPr>
            <p:cNvPr id="152596" name="Text Box 121"/>
            <p:cNvSpPr txBox="1">
              <a:spLocks noChangeArrowheads="1"/>
            </p:cNvSpPr>
            <p:nvPr/>
          </p:nvSpPr>
          <p:spPr bwMode="auto">
            <a:xfrm>
              <a:off x="1968" y="2972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charset="0"/>
                </a:rPr>
                <a:t>0</a:t>
              </a:r>
            </a:p>
          </p:txBody>
        </p:sp>
        <p:sp>
          <p:nvSpPr>
            <p:cNvPr id="152597" name="Text Box 122"/>
            <p:cNvSpPr txBox="1">
              <a:spLocks noChangeArrowheads="1"/>
            </p:cNvSpPr>
            <p:nvPr/>
          </p:nvSpPr>
          <p:spPr bwMode="auto">
            <a:xfrm>
              <a:off x="1637" y="2972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charset="0"/>
                </a:rPr>
                <a:t>1</a:t>
              </a:r>
            </a:p>
          </p:txBody>
        </p:sp>
        <p:sp>
          <p:nvSpPr>
            <p:cNvPr id="152598" name="Text Box 123"/>
            <p:cNvSpPr txBox="1">
              <a:spLocks noChangeArrowheads="1"/>
            </p:cNvSpPr>
            <p:nvPr/>
          </p:nvSpPr>
          <p:spPr bwMode="auto">
            <a:xfrm>
              <a:off x="1344" y="2972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charset="0"/>
                </a:rPr>
                <a:t>1</a:t>
              </a:r>
            </a:p>
          </p:txBody>
        </p:sp>
        <p:sp>
          <p:nvSpPr>
            <p:cNvPr id="152599" name="Text Box 124"/>
            <p:cNvSpPr txBox="1">
              <a:spLocks noChangeArrowheads="1"/>
            </p:cNvSpPr>
            <p:nvPr/>
          </p:nvSpPr>
          <p:spPr bwMode="auto">
            <a:xfrm>
              <a:off x="1056" y="2972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charset="0"/>
                </a:rPr>
                <a:t>0</a:t>
              </a:r>
            </a:p>
          </p:txBody>
        </p:sp>
        <p:sp>
          <p:nvSpPr>
            <p:cNvPr id="152600" name="Text Box 125"/>
            <p:cNvSpPr txBox="1">
              <a:spLocks noChangeArrowheads="1"/>
            </p:cNvSpPr>
            <p:nvPr/>
          </p:nvSpPr>
          <p:spPr bwMode="auto">
            <a:xfrm>
              <a:off x="720" y="2972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charset="0"/>
                </a:rPr>
                <a:t>0</a:t>
              </a:r>
            </a:p>
          </p:txBody>
        </p:sp>
      </p:grpSp>
      <p:cxnSp>
        <p:nvCxnSpPr>
          <p:cNvPr id="152584" name="Straight Connector 2"/>
          <p:cNvCxnSpPr>
            <a:cxnSpLocks noChangeShapeType="1"/>
          </p:cNvCxnSpPr>
          <p:nvPr/>
        </p:nvCxnSpPr>
        <p:spPr bwMode="auto">
          <a:xfrm flipH="1">
            <a:off x="4584700" y="1828800"/>
            <a:ext cx="0" cy="3505200"/>
          </a:xfrm>
          <a:prstGeom prst="line">
            <a:avLst/>
          </a:prstGeom>
          <a:noFill/>
          <a:ln w="9525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2585" name="Straight Connector 131"/>
          <p:cNvCxnSpPr>
            <a:cxnSpLocks noChangeShapeType="1"/>
          </p:cNvCxnSpPr>
          <p:nvPr/>
        </p:nvCxnSpPr>
        <p:spPr bwMode="auto">
          <a:xfrm flipH="1">
            <a:off x="3609975" y="1981200"/>
            <a:ext cx="0" cy="957263"/>
          </a:xfrm>
          <a:prstGeom prst="line">
            <a:avLst/>
          </a:prstGeom>
          <a:noFill/>
          <a:ln w="9525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625" name="Group 54"/>
          <p:cNvGrpSpPr>
            <a:grpSpLocks/>
          </p:cNvGrpSpPr>
          <p:nvPr/>
        </p:nvGrpSpPr>
        <p:grpSpPr bwMode="auto">
          <a:xfrm>
            <a:off x="3911600" y="3333750"/>
            <a:ext cx="992188" cy="309563"/>
            <a:chOff x="2445" y="1645"/>
            <a:chExt cx="625" cy="195"/>
          </a:xfrm>
        </p:grpSpPr>
        <p:sp>
          <p:nvSpPr>
            <p:cNvPr id="154768" name="Line 55"/>
            <p:cNvSpPr>
              <a:spLocks noChangeShapeType="1"/>
            </p:cNvSpPr>
            <p:nvPr/>
          </p:nvSpPr>
          <p:spPr bwMode="auto">
            <a:xfrm>
              <a:off x="2445" y="1705"/>
              <a:ext cx="6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arrow" w="med" len="med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487" tIns="44450" rIns="90487" bIns="44450"/>
            <a:lstStyle/>
            <a:p>
              <a:endParaRPr lang="zh-CN" altLang="en-US"/>
            </a:p>
          </p:txBody>
        </p:sp>
        <p:sp>
          <p:nvSpPr>
            <p:cNvPr id="154769" name="Text Box 56"/>
            <p:cNvSpPr txBox="1">
              <a:spLocks noChangeArrowheads="1"/>
            </p:cNvSpPr>
            <p:nvPr/>
          </p:nvSpPr>
          <p:spPr bwMode="auto">
            <a:xfrm>
              <a:off x="2586" y="1645"/>
              <a:ext cx="398" cy="19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30000"/>
                </a:spcBef>
              </a:pPr>
              <a:r>
                <a:rPr lang="en-US" altLang="zh-CN" sz="1600">
                  <a:solidFill>
                    <a:schemeClr val="tx2"/>
                  </a:solidFill>
                  <a:latin typeface="Helvetica" charset="0"/>
                </a:rPr>
                <a:t>TLBI</a:t>
              </a:r>
            </a:p>
          </p:txBody>
        </p:sp>
      </p:grpSp>
      <p:sp>
        <p:nvSpPr>
          <p:cNvPr id="15462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77D2BAF9-8C3E-0847-9F35-59FA33F899E6}" type="slidenum">
              <a:rPr lang="zh-CN" altLang="en-US" sz="1400" b="0">
                <a:latin typeface="Times New Roman" charset="0"/>
              </a:rPr>
              <a:pPr/>
              <a:t>61</a:t>
            </a:fld>
            <a:endParaRPr lang="en-US" altLang="zh-CN" sz="1400" b="0">
              <a:latin typeface="Times New Roman" charset="0"/>
            </a:endParaRPr>
          </a:p>
        </p:txBody>
      </p:sp>
      <p:sp>
        <p:nvSpPr>
          <p:cNvPr id="154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399" y="1524000"/>
            <a:ext cx="4843463" cy="1143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kumimoji="0" lang="en-US" altLang="zh-CN" sz="2400" dirty="0">
                <a:ea typeface="宋体" charset="-122"/>
              </a:rPr>
              <a:t>TLB</a:t>
            </a:r>
          </a:p>
          <a:p>
            <a:pPr lvl="1">
              <a:lnSpc>
                <a:spcPct val="90000"/>
              </a:lnSpc>
            </a:pPr>
            <a:r>
              <a:rPr kumimoji="0" lang="en-US" altLang="zh-CN" sz="2000" dirty="0">
                <a:ea typeface="宋体" charset="-122"/>
              </a:rPr>
              <a:t>16 entries</a:t>
            </a:r>
          </a:p>
          <a:p>
            <a:pPr lvl="1">
              <a:lnSpc>
                <a:spcPct val="90000"/>
              </a:lnSpc>
            </a:pPr>
            <a:r>
              <a:rPr kumimoji="0" lang="en-US" altLang="zh-CN" sz="2000" dirty="0">
                <a:ea typeface="宋体" charset="-122"/>
              </a:rPr>
              <a:t>4-way associative (2-bit)</a:t>
            </a:r>
          </a:p>
          <a:p>
            <a:pPr lvl="2">
              <a:lnSpc>
                <a:spcPct val="90000"/>
              </a:lnSpc>
            </a:pPr>
            <a:r>
              <a:rPr kumimoji="0" lang="zh-CN" altLang="en-US" sz="1600" dirty="0">
                <a:ea typeface="宋体" charset="-122"/>
              </a:rPr>
              <a:t>四路指每组</a:t>
            </a:r>
            <a:r>
              <a:rPr kumimoji="0" lang="en-US" altLang="zh-CN" sz="1600" dirty="0">
                <a:ea typeface="宋体" charset="-122"/>
              </a:rPr>
              <a:t>(set)</a:t>
            </a:r>
            <a:r>
              <a:rPr kumimoji="0" lang="zh-CN" altLang="en-US" sz="1600" dirty="0">
                <a:ea typeface="宋体" charset="-122"/>
              </a:rPr>
              <a:t>四项，并发查找</a:t>
            </a:r>
            <a:endParaRPr kumimoji="0" lang="en-US" altLang="zh-CN" sz="1600" dirty="0">
              <a:ea typeface="宋体" charset="-122"/>
            </a:endParaRPr>
          </a:p>
          <a:p>
            <a:pPr lvl="2">
              <a:lnSpc>
                <a:spcPct val="90000"/>
              </a:lnSpc>
            </a:pPr>
            <a:r>
              <a:rPr kumimoji="0" lang="en-US" altLang="zh-CN" sz="1600" dirty="0">
                <a:ea typeface="宋体" charset="-122"/>
              </a:rPr>
              <a:t>16/4</a:t>
            </a:r>
            <a:r>
              <a:rPr kumimoji="0" lang="zh-CN" altLang="en-US" sz="1600" dirty="0">
                <a:ea typeface="宋体" charset="-122"/>
              </a:rPr>
              <a:t> </a:t>
            </a:r>
            <a:r>
              <a:rPr kumimoji="0" lang="en-US" altLang="zh-CN" sz="1600" dirty="0">
                <a:ea typeface="宋体" charset="-122"/>
              </a:rPr>
              <a:t>=</a:t>
            </a:r>
            <a:r>
              <a:rPr kumimoji="0" lang="zh-CN" altLang="en-US" sz="1600" dirty="0">
                <a:ea typeface="宋体" charset="-122"/>
              </a:rPr>
              <a:t> </a:t>
            </a:r>
            <a:r>
              <a:rPr kumimoji="0" lang="en-US" altLang="zh-CN" sz="1600" dirty="0">
                <a:ea typeface="宋体" charset="-122"/>
              </a:rPr>
              <a:t>4</a:t>
            </a:r>
            <a:r>
              <a:rPr kumimoji="0" lang="zh-CN" altLang="en-US" sz="1600" dirty="0">
                <a:ea typeface="宋体" charset="-122"/>
              </a:rPr>
              <a:t> </a:t>
            </a:r>
            <a:r>
              <a:rPr kumimoji="0" lang="en-US" altLang="zh-CN" sz="1600" dirty="0">
                <a:ea typeface="宋体" charset="-122"/>
              </a:rPr>
              <a:t>(</a:t>
            </a:r>
            <a:r>
              <a:rPr kumimoji="0" lang="zh-CN" altLang="en-US" sz="1600" dirty="0">
                <a:ea typeface="宋体" charset="-122"/>
              </a:rPr>
              <a:t>一共四组，所以</a:t>
            </a:r>
            <a:r>
              <a:rPr kumimoji="0" lang="en-US" altLang="zh-CN" sz="1600" dirty="0">
                <a:ea typeface="宋体" charset="-122"/>
              </a:rPr>
              <a:t>TLBI 2-bit)</a:t>
            </a:r>
            <a:endParaRPr kumimoji="0" lang="zh-CN" altLang="en-US" sz="1600" dirty="0">
              <a:ea typeface="宋体" charset="-122"/>
            </a:endParaRPr>
          </a:p>
        </p:txBody>
      </p:sp>
      <p:grpSp>
        <p:nvGrpSpPr>
          <p:cNvPr id="154628" name="Group 5"/>
          <p:cNvGrpSpPr>
            <a:grpSpLocks/>
          </p:cNvGrpSpPr>
          <p:nvPr/>
        </p:nvGrpSpPr>
        <p:grpSpPr bwMode="auto">
          <a:xfrm>
            <a:off x="990600" y="3541713"/>
            <a:ext cx="6823075" cy="609600"/>
            <a:chOff x="605" y="1776"/>
            <a:chExt cx="4298" cy="384"/>
          </a:xfrm>
        </p:grpSpPr>
        <p:grpSp>
          <p:nvGrpSpPr>
            <p:cNvPr id="154726" name="Group 6"/>
            <p:cNvGrpSpPr>
              <a:grpSpLocks/>
            </p:cNvGrpSpPr>
            <p:nvPr/>
          </p:nvGrpSpPr>
          <p:grpSpPr bwMode="auto">
            <a:xfrm>
              <a:off x="605" y="1776"/>
              <a:ext cx="307" cy="384"/>
              <a:chOff x="605" y="1776"/>
              <a:chExt cx="307" cy="384"/>
            </a:xfrm>
          </p:grpSpPr>
          <p:sp>
            <p:nvSpPr>
              <p:cNvPr id="154766" name="Rectangle 7"/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487" tIns="44450" rIns="90487" bIns="44450" anchor="ctr"/>
              <a:lstStyle>
                <a:lvl1pPr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4767" name="Rectangle 8"/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 anchor="ctr"/>
              <a:lstStyle>
                <a:lvl1pPr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30000"/>
                  </a:spcBef>
                </a:pPr>
                <a:r>
                  <a:rPr lang="en-US" altLang="zh-CN" sz="1400">
                    <a:solidFill>
                      <a:schemeClr val="tx2"/>
                    </a:solidFill>
                    <a:latin typeface="Helvetica" charset="0"/>
                  </a:rPr>
                  <a:t>13</a:t>
                </a:r>
              </a:p>
            </p:txBody>
          </p:sp>
        </p:grpSp>
        <p:grpSp>
          <p:nvGrpSpPr>
            <p:cNvPr id="154727" name="Group 9"/>
            <p:cNvGrpSpPr>
              <a:grpSpLocks/>
            </p:cNvGrpSpPr>
            <p:nvPr/>
          </p:nvGrpSpPr>
          <p:grpSpPr bwMode="auto">
            <a:xfrm>
              <a:off x="912" y="1776"/>
              <a:ext cx="307" cy="384"/>
              <a:chOff x="605" y="1776"/>
              <a:chExt cx="307" cy="384"/>
            </a:xfrm>
          </p:grpSpPr>
          <p:sp>
            <p:nvSpPr>
              <p:cNvPr id="154764" name="Rectangle 10"/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487" tIns="44450" rIns="90487" bIns="44450" anchor="ctr"/>
              <a:lstStyle>
                <a:lvl1pPr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4765" name="Rectangle 11"/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 anchor="ctr"/>
              <a:lstStyle>
                <a:lvl1pPr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30000"/>
                  </a:spcBef>
                </a:pPr>
                <a:r>
                  <a:rPr lang="en-US" altLang="zh-CN" sz="1400">
                    <a:solidFill>
                      <a:schemeClr val="tx2"/>
                    </a:solidFill>
                    <a:latin typeface="Helvetica" charset="0"/>
                  </a:rPr>
                  <a:t>12</a:t>
                </a:r>
              </a:p>
            </p:txBody>
          </p:sp>
        </p:grpSp>
        <p:grpSp>
          <p:nvGrpSpPr>
            <p:cNvPr id="154728" name="Group 12"/>
            <p:cNvGrpSpPr>
              <a:grpSpLocks/>
            </p:cNvGrpSpPr>
            <p:nvPr/>
          </p:nvGrpSpPr>
          <p:grpSpPr bwMode="auto">
            <a:xfrm>
              <a:off x="1219" y="1776"/>
              <a:ext cx="307" cy="384"/>
              <a:chOff x="605" y="1776"/>
              <a:chExt cx="307" cy="384"/>
            </a:xfrm>
          </p:grpSpPr>
          <p:sp>
            <p:nvSpPr>
              <p:cNvPr id="154762" name="Rectangle 13"/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487" tIns="44450" rIns="90487" bIns="44450" anchor="ctr"/>
              <a:lstStyle>
                <a:lvl1pPr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4763" name="Rectangle 14"/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 anchor="ctr"/>
              <a:lstStyle>
                <a:lvl1pPr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30000"/>
                  </a:spcBef>
                </a:pPr>
                <a:r>
                  <a:rPr lang="en-US" altLang="zh-CN" sz="1400">
                    <a:solidFill>
                      <a:schemeClr val="tx2"/>
                    </a:solidFill>
                    <a:latin typeface="Helvetica" charset="0"/>
                  </a:rPr>
                  <a:t>11</a:t>
                </a:r>
              </a:p>
            </p:txBody>
          </p:sp>
        </p:grpSp>
        <p:grpSp>
          <p:nvGrpSpPr>
            <p:cNvPr id="154729" name="Group 15"/>
            <p:cNvGrpSpPr>
              <a:grpSpLocks/>
            </p:cNvGrpSpPr>
            <p:nvPr/>
          </p:nvGrpSpPr>
          <p:grpSpPr bwMode="auto">
            <a:xfrm>
              <a:off x="1526" y="1776"/>
              <a:ext cx="307" cy="384"/>
              <a:chOff x="605" y="1776"/>
              <a:chExt cx="307" cy="384"/>
            </a:xfrm>
          </p:grpSpPr>
          <p:sp>
            <p:nvSpPr>
              <p:cNvPr id="154760" name="Rectangle 16"/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487" tIns="44450" rIns="90487" bIns="44450" anchor="ctr"/>
              <a:lstStyle>
                <a:lvl1pPr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4761" name="Rectangle 17"/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 anchor="ctr"/>
              <a:lstStyle>
                <a:lvl1pPr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30000"/>
                  </a:spcBef>
                </a:pPr>
                <a:r>
                  <a:rPr lang="en-US" altLang="zh-CN" sz="1400">
                    <a:solidFill>
                      <a:schemeClr val="tx2"/>
                    </a:solidFill>
                    <a:latin typeface="Helvetica" charset="0"/>
                  </a:rPr>
                  <a:t>10</a:t>
                </a:r>
              </a:p>
            </p:txBody>
          </p:sp>
        </p:grpSp>
        <p:grpSp>
          <p:nvGrpSpPr>
            <p:cNvPr id="154730" name="Group 18"/>
            <p:cNvGrpSpPr>
              <a:grpSpLocks/>
            </p:cNvGrpSpPr>
            <p:nvPr/>
          </p:nvGrpSpPr>
          <p:grpSpPr bwMode="auto">
            <a:xfrm>
              <a:off x="1833" y="1776"/>
              <a:ext cx="307" cy="384"/>
              <a:chOff x="605" y="1776"/>
              <a:chExt cx="307" cy="384"/>
            </a:xfrm>
          </p:grpSpPr>
          <p:sp>
            <p:nvSpPr>
              <p:cNvPr id="154758" name="Rectangle 19"/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487" tIns="44450" rIns="90487" bIns="44450" anchor="ctr"/>
              <a:lstStyle>
                <a:lvl1pPr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4759" name="Rectangle 20"/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 anchor="ctr"/>
              <a:lstStyle>
                <a:lvl1pPr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30000"/>
                  </a:spcBef>
                </a:pPr>
                <a:r>
                  <a:rPr lang="en-US" altLang="zh-CN" sz="1400">
                    <a:solidFill>
                      <a:schemeClr val="tx2"/>
                    </a:solidFill>
                    <a:latin typeface="Helvetica" charset="0"/>
                  </a:rPr>
                  <a:t>9</a:t>
                </a:r>
              </a:p>
            </p:txBody>
          </p:sp>
        </p:grpSp>
        <p:grpSp>
          <p:nvGrpSpPr>
            <p:cNvPr id="154731" name="Group 21"/>
            <p:cNvGrpSpPr>
              <a:grpSpLocks/>
            </p:cNvGrpSpPr>
            <p:nvPr/>
          </p:nvGrpSpPr>
          <p:grpSpPr bwMode="auto">
            <a:xfrm>
              <a:off x="2140" y="1776"/>
              <a:ext cx="307" cy="384"/>
              <a:chOff x="605" y="1776"/>
              <a:chExt cx="307" cy="384"/>
            </a:xfrm>
          </p:grpSpPr>
          <p:sp>
            <p:nvSpPr>
              <p:cNvPr id="154756" name="Rectangle 22"/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487" tIns="44450" rIns="90487" bIns="44450" anchor="ctr"/>
              <a:lstStyle>
                <a:lvl1pPr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4757" name="Rectangle 23"/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 anchor="ctr"/>
              <a:lstStyle>
                <a:lvl1pPr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30000"/>
                  </a:spcBef>
                </a:pPr>
                <a:r>
                  <a:rPr lang="en-US" altLang="zh-CN" sz="1400">
                    <a:solidFill>
                      <a:schemeClr val="tx2"/>
                    </a:solidFill>
                    <a:latin typeface="Helvetica" charset="0"/>
                  </a:rPr>
                  <a:t>8</a:t>
                </a:r>
              </a:p>
            </p:txBody>
          </p:sp>
        </p:grpSp>
        <p:grpSp>
          <p:nvGrpSpPr>
            <p:cNvPr id="154732" name="Group 24"/>
            <p:cNvGrpSpPr>
              <a:grpSpLocks/>
            </p:cNvGrpSpPr>
            <p:nvPr/>
          </p:nvGrpSpPr>
          <p:grpSpPr bwMode="auto">
            <a:xfrm>
              <a:off x="2447" y="1776"/>
              <a:ext cx="307" cy="384"/>
              <a:chOff x="605" y="1776"/>
              <a:chExt cx="307" cy="384"/>
            </a:xfrm>
          </p:grpSpPr>
          <p:sp>
            <p:nvSpPr>
              <p:cNvPr id="154754" name="Rectangle 25"/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487" tIns="44450" rIns="90487" bIns="44450" anchor="ctr"/>
              <a:lstStyle>
                <a:lvl1pPr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4755" name="Rectangle 26"/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 anchor="ctr"/>
              <a:lstStyle>
                <a:lvl1pPr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30000"/>
                  </a:spcBef>
                </a:pPr>
                <a:r>
                  <a:rPr lang="en-US" altLang="zh-CN" sz="1400">
                    <a:solidFill>
                      <a:schemeClr val="tx2"/>
                    </a:solidFill>
                    <a:latin typeface="Helvetica" charset="0"/>
                  </a:rPr>
                  <a:t>7</a:t>
                </a:r>
              </a:p>
            </p:txBody>
          </p:sp>
        </p:grpSp>
        <p:grpSp>
          <p:nvGrpSpPr>
            <p:cNvPr id="154733" name="Group 27"/>
            <p:cNvGrpSpPr>
              <a:grpSpLocks/>
            </p:cNvGrpSpPr>
            <p:nvPr/>
          </p:nvGrpSpPr>
          <p:grpSpPr bwMode="auto">
            <a:xfrm>
              <a:off x="2754" y="1776"/>
              <a:ext cx="307" cy="384"/>
              <a:chOff x="605" y="1776"/>
              <a:chExt cx="307" cy="384"/>
            </a:xfrm>
          </p:grpSpPr>
          <p:sp>
            <p:nvSpPr>
              <p:cNvPr id="154752" name="Rectangle 28"/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487" tIns="44450" rIns="90487" bIns="44450" anchor="ctr"/>
              <a:lstStyle>
                <a:lvl1pPr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4753" name="Rectangle 29"/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 anchor="ctr"/>
              <a:lstStyle>
                <a:lvl1pPr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30000"/>
                  </a:spcBef>
                </a:pPr>
                <a:r>
                  <a:rPr lang="en-US" altLang="zh-CN" sz="1400">
                    <a:solidFill>
                      <a:schemeClr val="tx2"/>
                    </a:solidFill>
                    <a:latin typeface="Helvetica" charset="0"/>
                  </a:rPr>
                  <a:t>6</a:t>
                </a:r>
              </a:p>
            </p:txBody>
          </p:sp>
        </p:grpSp>
        <p:grpSp>
          <p:nvGrpSpPr>
            <p:cNvPr id="154734" name="Group 30"/>
            <p:cNvGrpSpPr>
              <a:grpSpLocks/>
            </p:cNvGrpSpPr>
            <p:nvPr/>
          </p:nvGrpSpPr>
          <p:grpSpPr bwMode="auto">
            <a:xfrm>
              <a:off x="3061" y="1776"/>
              <a:ext cx="307" cy="384"/>
              <a:chOff x="605" y="1776"/>
              <a:chExt cx="307" cy="384"/>
            </a:xfrm>
          </p:grpSpPr>
          <p:sp>
            <p:nvSpPr>
              <p:cNvPr id="154750" name="Rectangle 31"/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487" tIns="44450" rIns="90487" bIns="44450" anchor="ctr"/>
              <a:lstStyle>
                <a:lvl1pPr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4751" name="Rectangle 32"/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 anchor="ctr"/>
              <a:lstStyle>
                <a:lvl1pPr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30000"/>
                  </a:spcBef>
                </a:pPr>
                <a:r>
                  <a:rPr lang="en-US" altLang="zh-CN" sz="1400">
                    <a:solidFill>
                      <a:schemeClr val="tx2"/>
                    </a:solidFill>
                    <a:latin typeface="Helvetica" charset="0"/>
                  </a:rPr>
                  <a:t>5</a:t>
                </a:r>
              </a:p>
            </p:txBody>
          </p:sp>
        </p:grpSp>
        <p:grpSp>
          <p:nvGrpSpPr>
            <p:cNvPr id="154735" name="Group 33"/>
            <p:cNvGrpSpPr>
              <a:grpSpLocks/>
            </p:cNvGrpSpPr>
            <p:nvPr/>
          </p:nvGrpSpPr>
          <p:grpSpPr bwMode="auto">
            <a:xfrm>
              <a:off x="3368" y="1776"/>
              <a:ext cx="307" cy="384"/>
              <a:chOff x="605" y="1776"/>
              <a:chExt cx="307" cy="384"/>
            </a:xfrm>
          </p:grpSpPr>
          <p:sp>
            <p:nvSpPr>
              <p:cNvPr id="154748" name="Rectangle 34"/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487" tIns="44450" rIns="90487" bIns="44450" anchor="ctr"/>
              <a:lstStyle>
                <a:lvl1pPr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4749" name="Rectangle 35"/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 anchor="ctr"/>
              <a:lstStyle>
                <a:lvl1pPr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30000"/>
                  </a:spcBef>
                </a:pPr>
                <a:r>
                  <a:rPr lang="en-US" altLang="zh-CN" sz="1400">
                    <a:solidFill>
                      <a:schemeClr val="tx2"/>
                    </a:solidFill>
                    <a:latin typeface="Helvetica" charset="0"/>
                  </a:rPr>
                  <a:t>4</a:t>
                </a:r>
              </a:p>
            </p:txBody>
          </p:sp>
        </p:grpSp>
        <p:grpSp>
          <p:nvGrpSpPr>
            <p:cNvPr id="154736" name="Group 36"/>
            <p:cNvGrpSpPr>
              <a:grpSpLocks/>
            </p:cNvGrpSpPr>
            <p:nvPr/>
          </p:nvGrpSpPr>
          <p:grpSpPr bwMode="auto">
            <a:xfrm>
              <a:off x="3675" y="1776"/>
              <a:ext cx="307" cy="384"/>
              <a:chOff x="605" y="1776"/>
              <a:chExt cx="307" cy="384"/>
            </a:xfrm>
          </p:grpSpPr>
          <p:sp>
            <p:nvSpPr>
              <p:cNvPr id="154746" name="Rectangle 37"/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487" tIns="44450" rIns="90487" bIns="44450" anchor="ctr"/>
              <a:lstStyle>
                <a:lvl1pPr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4747" name="Rectangle 38"/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 anchor="ctr"/>
              <a:lstStyle>
                <a:lvl1pPr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30000"/>
                  </a:spcBef>
                </a:pPr>
                <a:r>
                  <a:rPr lang="en-US" altLang="zh-CN" sz="1400">
                    <a:solidFill>
                      <a:schemeClr val="tx2"/>
                    </a:solidFill>
                    <a:latin typeface="Helvetica" charset="0"/>
                  </a:rPr>
                  <a:t>3</a:t>
                </a:r>
              </a:p>
            </p:txBody>
          </p:sp>
        </p:grpSp>
        <p:grpSp>
          <p:nvGrpSpPr>
            <p:cNvPr id="154737" name="Group 39"/>
            <p:cNvGrpSpPr>
              <a:grpSpLocks/>
            </p:cNvGrpSpPr>
            <p:nvPr/>
          </p:nvGrpSpPr>
          <p:grpSpPr bwMode="auto">
            <a:xfrm>
              <a:off x="3982" y="1776"/>
              <a:ext cx="307" cy="384"/>
              <a:chOff x="605" y="1776"/>
              <a:chExt cx="307" cy="384"/>
            </a:xfrm>
          </p:grpSpPr>
          <p:sp>
            <p:nvSpPr>
              <p:cNvPr id="154744" name="Rectangle 40"/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487" tIns="44450" rIns="90487" bIns="44450" anchor="ctr"/>
              <a:lstStyle>
                <a:lvl1pPr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4745" name="Rectangle 41"/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 anchor="ctr"/>
              <a:lstStyle>
                <a:lvl1pPr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30000"/>
                  </a:spcBef>
                </a:pPr>
                <a:r>
                  <a:rPr lang="en-US" altLang="zh-CN" sz="1400">
                    <a:solidFill>
                      <a:schemeClr val="tx2"/>
                    </a:solidFill>
                    <a:latin typeface="Helvetica" charset="0"/>
                  </a:rPr>
                  <a:t>2</a:t>
                </a:r>
              </a:p>
            </p:txBody>
          </p:sp>
        </p:grpSp>
        <p:grpSp>
          <p:nvGrpSpPr>
            <p:cNvPr id="154738" name="Group 42"/>
            <p:cNvGrpSpPr>
              <a:grpSpLocks/>
            </p:cNvGrpSpPr>
            <p:nvPr/>
          </p:nvGrpSpPr>
          <p:grpSpPr bwMode="auto">
            <a:xfrm>
              <a:off x="4289" y="1776"/>
              <a:ext cx="307" cy="384"/>
              <a:chOff x="605" y="1776"/>
              <a:chExt cx="307" cy="384"/>
            </a:xfrm>
          </p:grpSpPr>
          <p:sp>
            <p:nvSpPr>
              <p:cNvPr id="154742" name="Rectangle 43"/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487" tIns="44450" rIns="90487" bIns="44450" anchor="ctr"/>
              <a:lstStyle>
                <a:lvl1pPr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4743" name="Rectangle 44"/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 anchor="ctr"/>
              <a:lstStyle>
                <a:lvl1pPr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30000"/>
                  </a:spcBef>
                </a:pPr>
                <a:r>
                  <a:rPr lang="en-US" altLang="zh-CN" sz="1400">
                    <a:solidFill>
                      <a:schemeClr val="tx2"/>
                    </a:solidFill>
                    <a:latin typeface="Helvetica" charset="0"/>
                  </a:rPr>
                  <a:t>1</a:t>
                </a:r>
              </a:p>
            </p:txBody>
          </p:sp>
        </p:grpSp>
        <p:grpSp>
          <p:nvGrpSpPr>
            <p:cNvPr id="154739" name="Group 45"/>
            <p:cNvGrpSpPr>
              <a:grpSpLocks/>
            </p:cNvGrpSpPr>
            <p:nvPr/>
          </p:nvGrpSpPr>
          <p:grpSpPr bwMode="auto">
            <a:xfrm>
              <a:off x="4596" y="1776"/>
              <a:ext cx="307" cy="384"/>
              <a:chOff x="605" y="1776"/>
              <a:chExt cx="307" cy="384"/>
            </a:xfrm>
          </p:grpSpPr>
          <p:sp>
            <p:nvSpPr>
              <p:cNvPr id="154740" name="Rectangle 46"/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487" tIns="44450" rIns="90487" bIns="44450" anchor="ctr"/>
              <a:lstStyle>
                <a:lvl1pPr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4741" name="Rectangle 47"/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 anchor="ctr"/>
              <a:lstStyle>
                <a:lvl1pPr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30000"/>
                  </a:spcBef>
                </a:pPr>
                <a:r>
                  <a:rPr lang="en-US" altLang="zh-CN" sz="1400">
                    <a:solidFill>
                      <a:schemeClr val="tx2"/>
                    </a:solidFill>
                    <a:latin typeface="Helvetica" charset="0"/>
                  </a:rPr>
                  <a:t>0</a:t>
                </a:r>
              </a:p>
            </p:txBody>
          </p:sp>
        </p:grpSp>
      </p:grpSp>
      <p:grpSp>
        <p:nvGrpSpPr>
          <p:cNvPr id="154629" name="Group 48"/>
          <p:cNvGrpSpPr>
            <a:grpSpLocks/>
          </p:cNvGrpSpPr>
          <p:nvPr/>
        </p:nvGrpSpPr>
        <p:grpSpPr bwMode="auto">
          <a:xfrm>
            <a:off x="4889500" y="4311650"/>
            <a:ext cx="2924175" cy="336550"/>
            <a:chOff x="3061" y="2261"/>
            <a:chExt cx="1842" cy="212"/>
          </a:xfrm>
        </p:grpSpPr>
        <p:sp>
          <p:nvSpPr>
            <p:cNvPr id="154724" name="Line 49"/>
            <p:cNvSpPr>
              <a:spLocks noChangeShapeType="1"/>
            </p:cNvSpPr>
            <p:nvPr/>
          </p:nvSpPr>
          <p:spPr bwMode="auto">
            <a:xfrm>
              <a:off x="3061" y="2352"/>
              <a:ext cx="184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arrow" w="med" len="med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487" tIns="44450" rIns="90487" bIns="44450"/>
            <a:lstStyle/>
            <a:p>
              <a:endParaRPr lang="zh-CN" altLang="en-US"/>
            </a:p>
          </p:txBody>
        </p:sp>
        <p:sp>
          <p:nvSpPr>
            <p:cNvPr id="154725" name="Text Box 50"/>
            <p:cNvSpPr txBox="1">
              <a:spLocks noChangeArrowheads="1"/>
            </p:cNvSpPr>
            <p:nvPr/>
          </p:nvSpPr>
          <p:spPr bwMode="auto">
            <a:xfrm>
              <a:off x="3770" y="2261"/>
              <a:ext cx="418" cy="2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</a:pPr>
              <a:r>
                <a:rPr lang="en-US" altLang="zh-CN" sz="1800">
                  <a:solidFill>
                    <a:schemeClr val="tx2"/>
                  </a:solidFill>
                  <a:latin typeface="Helvetica" charset="0"/>
                </a:rPr>
                <a:t>VPO</a:t>
              </a:r>
            </a:p>
          </p:txBody>
        </p:sp>
      </p:grpSp>
      <p:grpSp>
        <p:nvGrpSpPr>
          <p:cNvPr id="154630" name="Group 51"/>
          <p:cNvGrpSpPr>
            <a:grpSpLocks/>
          </p:cNvGrpSpPr>
          <p:nvPr/>
        </p:nvGrpSpPr>
        <p:grpSpPr bwMode="auto">
          <a:xfrm>
            <a:off x="990600" y="4303713"/>
            <a:ext cx="3916363" cy="336550"/>
            <a:chOff x="3061" y="2261"/>
            <a:chExt cx="1842" cy="212"/>
          </a:xfrm>
        </p:grpSpPr>
        <p:sp>
          <p:nvSpPr>
            <p:cNvPr id="154722" name="Line 52"/>
            <p:cNvSpPr>
              <a:spLocks noChangeShapeType="1"/>
            </p:cNvSpPr>
            <p:nvPr/>
          </p:nvSpPr>
          <p:spPr bwMode="auto">
            <a:xfrm>
              <a:off x="3061" y="2352"/>
              <a:ext cx="184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arrow" w="med" len="med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487" tIns="44450" rIns="90487" bIns="44450"/>
            <a:lstStyle/>
            <a:p>
              <a:endParaRPr lang="zh-CN" altLang="en-US"/>
            </a:p>
          </p:txBody>
        </p:sp>
        <p:sp>
          <p:nvSpPr>
            <p:cNvPr id="154723" name="Text Box 53"/>
            <p:cNvSpPr txBox="1">
              <a:spLocks noChangeArrowheads="1"/>
            </p:cNvSpPr>
            <p:nvPr/>
          </p:nvSpPr>
          <p:spPr bwMode="auto">
            <a:xfrm>
              <a:off x="3770" y="2261"/>
              <a:ext cx="306" cy="2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</a:pPr>
              <a:r>
                <a:rPr lang="en-US" altLang="zh-CN" sz="1800">
                  <a:solidFill>
                    <a:schemeClr val="tx2"/>
                  </a:solidFill>
                  <a:latin typeface="Helvetica" charset="0"/>
                </a:rPr>
                <a:t>VPN</a:t>
              </a:r>
            </a:p>
          </p:txBody>
        </p:sp>
      </p:grpSp>
      <p:grpSp>
        <p:nvGrpSpPr>
          <p:cNvPr id="154631" name="Group 57"/>
          <p:cNvGrpSpPr>
            <a:grpSpLocks/>
          </p:cNvGrpSpPr>
          <p:nvPr/>
        </p:nvGrpSpPr>
        <p:grpSpPr bwMode="auto">
          <a:xfrm>
            <a:off x="990600" y="3313113"/>
            <a:ext cx="2927350" cy="309562"/>
            <a:chOff x="2445" y="1645"/>
            <a:chExt cx="625" cy="195"/>
          </a:xfrm>
        </p:grpSpPr>
        <p:sp>
          <p:nvSpPr>
            <p:cNvPr id="154720" name="Line 58"/>
            <p:cNvSpPr>
              <a:spLocks noChangeShapeType="1"/>
            </p:cNvSpPr>
            <p:nvPr/>
          </p:nvSpPr>
          <p:spPr bwMode="auto">
            <a:xfrm>
              <a:off x="2445" y="1718"/>
              <a:ext cx="6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arrow" w="med" len="med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487" tIns="44450" rIns="90487" bIns="44450"/>
            <a:lstStyle/>
            <a:p>
              <a:endParaRPr lang="zh-CN" altLang="en-US"/>
            </a:p>
          </p:txBody>
        </p:sp>
        <p:sp>
          <p:nvSpPr>
            <p:cNvPr id="154721" name="Text Box 59"/>
            <p:cNvSpPr txBox="1">
              <a:spLocks noChangeArrowheads="1"/>
            </p:cNvSpPr>
            <p:nvPr/>
          </p:nvSpPr>
          <p:spPr bwMode="auto">
            <a:xfrm>
              <a:off x="2710" y="1645"/>
              <a:ext cx="150" cy="19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30000"/>
                </a:spcBef>
              </a:pPr>
              <a:r>
                <a:rPr lang="en-US" altLang="zh-CN" sz="1600">
                  <a:solidFill>
                    <a:schemeClr val="tx2"/>
                  </a:solidFill>
                  <a:latin typeface="Helvetica" charset="0"/>
                </a:rPr>
                <a:t>TLBT</a:t>
              </a:r>
            </a:p>
          </p:txBody>
        </p:sp>
      </p:grpSp>
      <p:graphicFrame>
        <p:nvGraphicFramePr>
          <p:cNvPr id="1350716" name="Group 60"/>
          <p:cNvGraphicFramePr>
            <a:graphicFrameLocks noGrp="1"/>
          </p:cNvGraphicFramePr>
          <p:nvPr/>
        </p:nvGraphicFramePr>
        <p:xfrm>
          <a:off x="304800" y="4813300"/>
          <a:ext cx="8458200" cy="1666875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33375"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宋体" charset="-122"/>
                      </a:endParaRPr>
                    </a:p>
                  </a:txBody>
                  <a:tcPr marL="90487" marR="90487" marT="44450" marB="44450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Tag</a:t>
                      </a:r>
                    </a:p>
                  </a:txBody>
                  <a:tcPr marL="90487" marR="90487" marT="44450" marB="4445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PPN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Valid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Tag</a:t>
                      </a:r>
                    </a:p>
                  </a:txBody>
                  <a:tcPr marL="90487" marR="90487" marT="44450" marB="4445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PPN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Valid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Tag</a:t>
                      </a:r>
                    </a:p>
                  </a:txBody>
                  <a:tcPr marL="90487" marR="90487" marT="44450" marB="4445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PPN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Valid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Tag</a:t>
                      </a:r>
                    </a:p>
                  </a:txBody>
                  <a:tcPr marL="90487" marR="90487" marT="44450" marB="4445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PPN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Valid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375"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</a:t>
                      </a:r>
                    </a:p>
                  </a:txBody>
                  <a:tcPr marL="90487" marR="90487" marT="44450" marB="44450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03</a:t>
                      </a:r>
                    </a:p>
                  </a:txBody>
                  <a:tcPr marL="90487" marR="90487" marT="44450" marB="4445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–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09</a:t>
                      </a:r>
                    </a:p>
                  </a:txBody>
                  <a:tcPr marL="90487" marR="90487" marT="44450" marB="4445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0D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1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00</a:t>
                      </a:r>
                    </a:p>
                  </a:txBody>
                  <a:tcPr marL="90487" marR="90487" marT="44450" marB="4445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–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07</a:t>
                      </a:r>
                    </a:p>
                  </a:txBody>
                  <a:tcPr marL="90487" marR="90487" marT="44450" marB="4445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02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1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375"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1</a:t>
                      </a:r>
                    </a:p>
                  </a:txBody>
                  <a:tcPr marL="90487" marR="90487" marT="44450" marB="44450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03</a:t>
                      </a:r>
                    </a:p>
                  </a:txBody>
                  <a:tcPr marL="90487" marR="90487" marT="44450" marB="4445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2D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1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02</a:t>
                      </a:r>
                    </a:p>
                  </a:txBody>
                  <a:tcPr marL="90487" marR="90487" marT="44450" marB="4445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–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04</a:t>
                      </a:r>
                    </a:p>
                  </a:txBody>
                  <a:tcPr marL="90487" marR="90487" marT="44450" marB="4445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–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0A</a:t>
                      </a:r>
                    </a:p>
                  </a:txBody>
                  <a:tcPr marL="90487" marR="90487" marT="44450" marB="4445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–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375"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2</a:t>
                      </a:r>
                    </a:p>
                  </a:txBody>
                  <a:tcPr marL="90487" marR="90487" marT="44450" marB="44450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02</a:t>
                      </a:r>
                    </a:p>
                  </a:txBody>
                  <a:tcPr marL="90487" marR="90487" marT="44450" marB="4445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–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08</a:t>
                      </a:r>
                    </a:p>
                  </a:txBody>
                  <a:tcPr marL="90487" marR="90487" marT="44450" marB="4445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–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06</a:t>
                      </a:r>
                    </a:p>
                  </a:txBody>
                  <a:tcPr marL="90487" marR="90487" marT="44450" marB="4445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–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03</a:t>
                      </a:r>
                    </a:p>
                  </a:txBody>
                  <a:tcPr marL="90487" marR="90487" marT="44450" marB="4445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–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375"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3</a:t>
                      </a:r>
                    </a:p>
                  </a:txBody>
                  <a:tcPr marL="90487" marR="90487" marT="44450" marB="44450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07</a:t>
                      </a:r>
                    </a:p>
                  </a:txBody>
                  <a:tcPr marL="90487" marR="90487" marT="44450" marB="4445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–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03</a:t>
                      </a:r>
                    </a:p>
                  </a:txBody>
                  <a:tcPr marL="90487" marR="90487" marT="44450" marB="4445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9900CC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0D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1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0A</a:t>
                      </a:r>
                    </a:p>
                  </a:txBody>
                  <a:tcPr marL="90487" marR="90487" marT="44450" marB="4445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34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1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02</a:t>
                      </a:r>
                    </a:p>
                  </a:txBody>
                  <a:tcPr marL="90487" marR="90487" marT="44450" marB="4445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–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4717" name="Rectangle 146"/>
          <p:cNvSpPr>
            <a:spLocks noChangeArrowheads="1"/>
          </p:cNvSpPr>
          <p:nvPr/>
        </p:nvSpPr>
        <p:spPr bwMode="auto">
          <a:xfrm>
            <a:off x="457200" y="457200"/>
            <a:ext cx="80772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r>
              <a:rPr lang="zh-CN" altLang="en-US" sz="2800"/>
              <a:t>练习</a:t>
            </a:r>
            <a:r>
              <a:rPr lang="en-US" altLang="zh-CN" sz="2800"/>
              <a:t>2-4</a:t>
            </a:r>
            <a:r>
              <a:rPr lang="zh-CN" altLang="en-US" sz="2800"/>
              <a:t>答案</a:t>
            </a:r>
            <a:endParaRPr lang="en-US" altLang="zh-CN" sz="2800">
              <a:solidFill>
                <a:schemeClr val="tx2"/>
              </a:solidFill>
            </a:endParaRPr>
          </a:p>
        </p:txBody>
      </p:sp>
      <p:cxnSp>
        <p:nvCxnSpPr>
          <p:cNvPr id="154718" name="Straight Connector 3"/>
          <p:cNvCxnSpPr>
            <a:cxnSpLocks noChangeShapeType="1"/>
          </p:cNvCxnSpPr>
          <p:nvPr/>
        </p:nvCxnSpPr>
        <p:spPr bwMode="auto">
          <a:xfrm>
            <a:off x="4889500" y="3048000"/>
            <a:ext cx="0" cy="1676400"/>
          </a:xfrm>
          <a:prstGeom prst="line">
            <a:avLst/>
          </a:prstGeom>
          <a:noFill/>
          <a:ln w="9525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4719" name="Rectangle 3"/>
          <p:cNvSpPr txBox="1">
            <a:spLocks noChangeArrowheads="1"/>
          </p:cNvSpPr>
          <p:nvPr/>
        </p:nvSpPr>
        <p:spPr bwMode="auto">
          <a:xfrm>
            <a:off x="5113337" y="1524000"/>
            <a:ext cx="4030663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20000"/>
              </a:spcBef>
              <a:buFontTx/>
              <a:buChar char="•"/>
            </a:pPr>
            <a:r>
              <a:rPr lang="en-US" altLang="zh-CN" sz="2400" b="0" dirty="0"/>
              <a:t>Addressing</a:t>
            </a:r>
          </a:p>
          <a:p>
            <a:pPr lvl="1">
              <a:spcBef>
                <a:spcPct val="20000"/>
              </a:spcBef>
              <a:buFontTx/>
              <a:buChar char="–"/>
            </a:pPr>
            <a:r>
              <a:rPr lang="en-US" altLang="zh-CN" b="0" dirty="0"/>
              <a:t>14-bit virtual addresses</a:t>
            </a:r>
          </a:p>
          <a:p>
            <a:pPr lvl="1">
              <a:spcBef>
                <a:spcPct val="20000"/>
              </a:spcBef>
              <a:buFontTx/>
              <a:buChar char="–"/>
            </a:pPr>
            <a:r>
              <a:rPr lang="en-US" altLang="zh-CN" b="0" dirty="0"/>
              <a:t>12-bit physical address</a:t>
            </a:r>
          </a:p>
          <a:p>
            <a:pPr lvl="1">
              <a:spcBef>
                <a:spcPct val="20000"/>
              </a:spcBef>
              <a:buFontTx/>
              <a:buChar char="–"/>
            </a:pPr>
            <a:r>
              <a:rPr lang="en-US" altLang="zh-CN" b="0" dirty="0"/>
              <a:t>Page size = 64 B</a:t>
            </a:r>
            <a:r>
              <a:rPr lang="zh-CN" altLang="en-US" b="0" dirty="0"/>
              <a:t> </a:t>
            </a:r>
            <a:r>
              <a:rPr lang="en-US" altLang="zh-CN" b="0" dirty="0"/>
              <a:t>(6-bit)</a:t>
            </a:r>
            <a:endParaRPr lang="zh-CN" altLang="en-US" b="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3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07D36DFC-1D06-874E-8508-35F37347ACBE}" type="slidenum">
              <a:rPr lang="zh-CN" altLang="en-US" sz="1400" b="0">
                <a:latin typeface="Times New Roman" charset="0"/>
              </a:rPr>
              <a:pPr/>
              <a:t>62</a:t>
            </a:fld>
            <a:endParaRPr lang="en-US" altLang="zh-CN" sz="1400" b="0">
              <a:latin typeface="Times New Roman" charset="0"/>
            </a:endParaRPr>
          </a:p>
        </p:txBody>
      </p:sp>
      <p:sp>
        <p:nvSpPr>
          <p:cNvPr id="156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宋体" charset="-122"/>
              </a:rPr>
              <a:t>练习</a:t>
            </a:r>
            <a:r>
              <a:rPr lang="en-US" altLang="zh-CN">
                <a:ea typeface="宋体" charset="-122"/>
              </a:rPr>
              <a:t>2-4</a:t>
            </a:r>
            <a:r>
              <a:rPr lang="zh-CN" altLang="en-US">
                <a:ea typeface="宋体" charset="-122"/>
              </a:rPr>
              <a:t>答案</a:t>
            </a:r>
            <a:endParaRPr lang="en-US" altLang="zh-CN">
              <a:ea typeface="宋体" charset="-122"/>
            </a:endParaRPr>
          </a:p>
        </p:txBody>
      </p:sp>
      <p:sp>
        <p:nvSpPr>
          <p:cNvPr id="156675" name="Rectangle 3"/>
          <p:cNvSpPr>
            <a:spLocks noChangeArrowheads="1"/>
          </p:cNvSpPr>
          <p:nvPr/>
        </p:nvSpPr>
        <p:spPr bwMode="auto">
          <a:xfrm>
            <a:off x="533400" y="1614488"/>
            <a:ext cx="30940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r>
              <a:rPr lang="en-US" altLang="zh-CN" b="0"/>
              <a:t>Virtual Address 0x03D4</a:t>
            </a:r>
            <a:endParaRPr lang="zh-CN" altLang="en-US" b="0"/>
          </a:p>
        </p:txBody>
      </p:sp>
      <p:grpSp>
        <p:nvGrpSpPr>
          <p:cNvPr id="156676" name="Group 4"/>
          <p:cNvGrpSpPr>
            <a:grpSpLocks/>
          </p:cNvGrpSpPr>
          <p:nvPr/>
        </p:nvGrpSpPr>
        <p:grpSpPr bwMode="auto">
          <a:xfrm>
            <a:off x="685800" y="2032000"/>
            <a:ext cx="6823075" cy="1106488"/>
            <a:chOff x="432" y="1415"/>
            <a:chExt cx="4298" cy="697"/>
          </a:xfrm>
        </p:grpSpPr>
        <p:grpSp>
          <p:nvGrpSpPr>
            <p:cNvPr id="156736" name="Group 5"/>
            <p:cNvGrpSpPr>
              <a:grpSpLocks/>
            </p:cNvGrpSpPr>
            <p:nvPr/>
          </p:nvGrpSpPr>
          <p:grpSpPr bwMode="auto">
            <a:xfrm>
              <a:off x="432" y="1415"/>
              <a:ext cx="4298" cy="384"/>
              <a:chOff x="629" y="1176"/>
              <a:chExt cx="4298" cy="384"/>
            </a:xfrm>
          </p:grpSpPr>
          <p:grpSp>
            <p:nvGrpSpPr>
              <p:cNvPr id="156757" name="Group 6"/>
              <p:cNvGrpSpPr>
                <a:grpSpLocks/>
              </p:cNvGrpSpPr>
              <p:nvPr/>
            </p:nvGrpSpPr>
            <p:grpSpPr bwMode="auto">
              <a:xfrm>
                <a:off x="629" y="1176"/>
                <a:ext cx="307" cy="384"/>
                <a:chOff x="629" y="1176"/>
                <a:chExt cx="307" cy="384"/>
              </a:xfrm>
            </p:grpSpPr>
            <p:sp>
              <p:nvSpPr>
                <p:cNvPr id="156797" name="Rectangle 7"/>
                <p:cNvSpPr>
                  <a:spLocks noChangeArrowheads="1"/>
                </p:cNvSpPr>
                <p:nvPr/>
              </p:nvSpPr>
              <p:spPr bwMode="auto">
                <a:xfrm>
                  <a:off x="629" y="13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endParaRPr lang="zh-CN" altLang="en-US" sz="1800">
                    <a:solidFill>
                      <a:schemeClr val="tx2"/>
                    </a:solidFill>
                    <a:latin typeface="Helvetica" charset="0"/>
                  </a:endParaRPr>
                </a:p>
              </p:txBody>
            </p:sp>
            <p:sp>
              <p:nvSpPr>
                <p:cNvPr id="156798" name="Rectangle 8"/>
                <p:cNvSpPr>
                  <a:spLocks noChangeArrowheads="1"/>
                </p:cNvSpPr>
                <p:nvPr/>
              </p:nvSpPr>
              <p:spPr bwMode="auto">
                <a:xfrm>
                  <a:off x="629" y="11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charset="0"/>
                    </a:rPr>
                    <a:t>13</a:t>
                  </a:r>
                </a:p>
              </p:txBody>
            </p:sp>
          </p:grpSp>
          <p:grpSp>
            <p:nvGrpSpPr>
              <p:cNvPr id="156758" name="Group 9"/>
              <p:cNvGrpSpPr>
                <a:grpSpLocks/>
              </p:cNvGrpSpPr>
              <p:nvPr/>
            </p:nvGrpSpPr>
            <p:grpSpPr bwMode="auto">
              <a:xfrm>
                <a:off x="936" y="1176"/>
                <a:ext cx="307" cy="384"/>
                <a:chOff x="936" y="1176"/>
                <a:chExt cx="307" cy="384"/>
              </a:xfrm>
            </p:grpSpPr>
            <p:sp>
              <p:nvSpPr>
                <p:cNvPr id="156795" name="Rectangle 10"/>
                <p:cNvSpPr>
                  <a:spLocks noChangeArrowheads="1"/>
                </p:cNvSpPr>
                <p:nvPr/>
              </p:nvSpPr>
              <p:spPr bwMode="auto">
                <a:xfrm>
                  <a:off x="936" y="13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endParaRPr lang="zh-CN" altLang="en-US" sz="1800">
                    <a:solidFill>
                      <a:schemeClr val="tx2"/>
                    </a:solidFill>
                    <a:latin typeface="Helvetica" charset="0"/>
                  </a:endParaRPr>
                </a:p>
              </p:txBody>
            </p:sp>
            <p:sp>
              <p:nvSpPr>
                <p:cNvPr id="156796" name="Rectangle 11"/>
                <p:cNvSpPr>
                  <a:spLocks noChangeArrowheads="1"/>
                </p:cNvSpPr>
                <p:nvPr/>
              </p:nvSpPr>
              <p:spPr bwMode="auto">
                <a:xfrm>
                  <a:off x="936" y="11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charset="0"/>
                    </a:rPr>
                    <a:t>12</a:t>
                  </a:r>
                </a:p>
              </p:txBody>
            </p:sp>
          </p:grpSp>
          <p:grpSp>
            <p:nvGrpSpPr>
              <p:cNvPr id="156759" name="Group 12"/>
              <p:cNvGrpSpPr>
                <a:grpSpLocks/>
              </p:cNvGrpSpPr>
              <p:nvPr/>
            </p:nvGrpSpPr>
            <p:grpSpPr bwMode="auto">
              <a:xfrm>
                <a:off x="1243" y="1176"/>
                <a:ext cx="307" cy="384"/>
                <a:chOff x="1243" y="1176"/>
                <a:chExt cx="307" cy="384"/>
              </a:xfrm>
            </p:grpSpPr>
            <p:sp>
              <p:nvSpPr>
                <p:cNvPr id="156793" name="Rectangle 13"/>
                <p:cNvSpPr>
                  <a:spLocks noChangeArrowheads="1"/>
                </p:cNvSpPr>
                <p:nvPr/>
              </p:nvSpPr>
              <p:spPr bwMode="auto">
                <a:xfrm>
                  <a:off x="1243" y="13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endParaRPr lang="zh-CN" altLang="en-US" sz="1800">
                    <a:solidFill>
                      <a:schemeClr val="tx2"/>
                    </a:solidFill>
                    <a:latin typeface="Helvetica" charset="0"/>
                  </a:endParaRPr>
                </a:p>
              </p:txBody>
            </p:sp>
            <p:sp>
              <p:nvSpPr>
                <p:cNvPr id="156794" name="Rectangle 14"/>
                <p:cNvSpPr>
                  <a:spLocks noChangeArrowheads="1"/>
                </p:cNvSpPr>
                <p:nvPr/>
              </p:nvSpPr>
              <p:spPr bwMode="auto">
                <a:xfrm>
                  <a:off x="1243" y="11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charset="0"/>
                    </a:rPr>
                    <a:t>11</a:t>
                  </a:r>
                </a:p>
              </p:txBody>
            </p:sp>
          </p:grpSp>
          <p:grpSp>
            <p:nvGrpSpPr>
              <p:cNvPr id="156760" name="Group 15"/>
              <p:cNvGrpSpPr>
                <a:grpSpLocks/>
              </p:cNvGrpSpPr>
              <p:nvPr/>
            </p:nvGrpSpPr>
            <p:grpSpPr bwMode="auto">
              <a:xfrm>
                <a:off x="1550" y="1176"/>
                <a:ext cx="307" cy="384"/>
                <a:chOff x="1550" y="1176"/>
                <a:chExt cx="307" cy="384"/>
              </a:xfrm>
            </p:grpSpPr>
            <p:sp>
              <p:nvSpPr>
                <p:cNvPr id="156791" name="Rectangle 16"/>
                <p:cNvSpPr>
                  <a:spLocks noChangeArrowheads="1"/>
                </p:cNvSpPr>
                <p:nvPr/>
              </p:nvSpPr>
              <p:spPr bwMode="auto">
                <a:xfrm>
                  <a:off x="1550" y="13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56792" name="Rectangle 17"/>
                <p:cNvSpPr>
                  <a:spLocks noChangeArrowheads="1"/>
                </p:cNvSpPr>
                <p:nvPr/>
              </p:nvSpPr>
              <p:spPr bwMode="auto">
                <a:xfrm>
                  <a:off x="1550" y="11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charset="0"/>
                    </a:rPr>
                    <a:t>10</a:t>
                  </a:r>
                </a:p>
              </p:txBody>
            </p:sp>
          </p:grpSp>
          <p:grpSp>
            <p:nvGrpSpPr>
              <p:cNvPr id="156761" name="Group 18"/>
              <p:cNvGrpSpPr>
                <a:grpSpLocks/>
              </p:cNvGrpSpPr>
              <p:nvPr/>
            </p:nvGrpSpPr>
            <p:grpSpPr bwMode="auto">
              <a:xfrm>
                <a:off x="1857" y="1176"/>
                <a:ext cx="307" cy="384"/>
                <a:chOff x="1857" y="1176"/>
                <a:chExt cx="307" cy="384"/>
              </a:xfrm>
            </p:grpSpPr>
            <p:sp>
              <p:nvSpPr>
                <p:cNvPr id="156789" name="Rectangle 19"/>
                <p:cNvSpPr>
                  <a:spLocks noChangeArrowheads="1"/>
                </p:cNvSpPr>
                <p:nvPr/>
              </p:nvSpPr>
              <p:spPr bwMode="auto">
                <a:xfrm>
                  <a:off x="1857" y="13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56790" name="Rectangle 20"/>
                <p:cNvSpPr>
                  <a:spLocks noChangeArrowheads="1"/>
                </p:cNvSpPr>
                <p:nvPr/>
              </p:nvSpPr>
              <p:spPr bwMode="auto">
                <a:xfrm>
                  <a:off x="1857" y="11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charset="0"/>
                    </a:rPr>
                    <a:t>9</a:t>
                  </a:r>
                </a:p>
              </p:txBody>
            </p:sp>
          </p:grpSp>
          <p:grpSp>
            <p:nvGrpSpPr>
              <p:cNvPr id="156762" name="Group 21"/>
              <p:cNvGrpSpPr>
                <a:grpSpLocks/>
              </p:cNvGrpSpPr>
              <p:nvPr/>
            </p:nvGrpSpPr>
            <p:grpSpPr bwMode="auto">
              <a:xfrm>
                <a:off x="2164" y="1176"/>
                <a:ext cx="307" cy="384"/>
                <a:chOff x="2164" y="1176"/>
                <a:chExt cx="307" cy="384"/>
              </a:xfrm>
            </p:grpSpPr>
            <p:sp>
              <p:nvSpPr>
                <p:cNvPr id="156787" name="Rectangle 22"/>
                <p:cNvSpPr>
                  <a:spLocks noChangeArrowheads="1"/>
                </p:cNvSpPr>
                <p:nvPr/>
              </p:nvSpPr>
              <p:spPr bwMode="auto">
                <a:xfrm>
                  <a:off x="2164" y="13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56788" name="Rectangle 23"/>
                <p:cNvSpPr>
                  <a:spLocks noChangeArrowheads="1"/>
                </p:cNvSpPr>
                <p:nvPr/>
              </p:nvSpPr>
              <p:spPr bwMode="auto">
                <a:xfrm>
                  <a:off x="2164" y="11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charset="0"/>
                    </a:rPr>
                    <a:t>8</a:t>
                  </a:r>
                </a:p>
              </p:txBody>
            </p:sp>
          </p:grpSp>
          <p:grpSp>
            <p:nvGrpSpPr>
              <p:cNvPr id="156763" name="Group 24"/>
              <p:cNvGrpSpPr>
                <a:grpSpLocks/>
              </p:cNvGrpSpPr>
              <p:nvPr/>
            </p:nvGrpSpPr>
            <p:grpSpPr bwMode="auto">
              <a:xfrm>
                <a:off x="2471" y="1176"/>
                <a:ext cx="307" cy="384"/>
                <a:chOff x="2471" y="1176"/>
                <a:chExt cx="307" cy="384"/>
              </a:xfrm>
            </p:grpSpPr>
            <p:sp>
              <p:nvSpPr>
                <p:cNvPr id="156785" name="Rectangle 25"/>
                <p:cNvSpPr>
                  <a:spLocks noChangeArrowheads="1"/>
                </p:cNvSpPr>
                <p:nvPr/>
              </p:nvSpPr>
              <p:spPr bwMode="auto">
                <a:xfrm>
                  <a:off x="2471" y="13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56786" name="Rectangle 26"/>
                <p:cNvSpPr>
                  <a:spLocks noChangeArrowheads="1"/>
                </p:cNvSpPr>
                <p:nvPr/>
              </p:nvSpPr>
              <p:spPr bwMode="auto">
                <a:xfrm>
                  <a:off x="2471" y="11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charset="0"/>
                    </a:rPr>
                    <a:t>7</a:t>
                  </a:r>
                </a:p>
              </p:txBody>
            </p:sp>
          </p:grpSp>
          <p:grpSp>
            <p:nvGrpSpPr>
              <p:cNvPr id="156764" name="Group 27"/>
              <p:cNvGrpSpPr>
                <a:grpSpLocks/>
              </p:cNvGrpSpPr>
              <p:nvPr/>
            </p:nvGrpSpPr>
            <p:grpSpPr bwMode="auto">
              <a:xfrm>
                <a:off x="2778" y="1176"/>
                <a:ext cx="307" cy="384"/>
                <a:chOff x="2778" y="1176"/>
                <a:chExt cx="307" cy="384"/>
              </a:xfrm>
            </p:grpSpPr>
            <p:sp>
              <p:nvSpPr>
                <p:cNvPr id="156783" name="Rectangle 28"/>
                <p:cNvSpPr>
                  <a:spLocks noChangeArrowheads="1"/>
                </p:cNvSpPr>
                <p:nvPr/>
              </p:nvSpPr>
              <p:spPr bwMode="auto">
                <a:xfrm>
                  <a:off x="2778" y="13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56784" name="Rectangle 29"/>
                <p:cNvSpPr>
                  <a:spLocks noChangeArrowheads="1"/>
                </p:cNvSpPr>
                <p:nvPr/>
              </p:nvSpPr>
              <p:spPr bwMode="auto">
                <a:xfrm>
                  <a:off x="2778" y="11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charset="0"/>
                    </a:rPr>
                    <a:t>6</a:t>
                  </a:r>
                </a:p>
              </p:txBody>
            </p:sp>
          </p:grpSp>
          <p:grpSp>
            <p:nvGrpSpPr>
              <p:cNvPr id="156765" name="Group 30"/>
              <p:cNvGrpSpPr>
                <a:grpSpLocks/>
              </p:cNvGrpSpPr>
              <p:nvPr/>
            </p:nvGrpSpPr>
            <p:grpSpPr bwMode="auto">
              <a:xfrm>
                <a:off x="3085" y="1176"/>
                <a:ext cx="307" cy="384"/>
                <a:chOff x="3085" y="1176"/>
                <a:chExt cx="307" cy="384"/>
              </a:xfrm>
            </p:grpSpPr>
            <p:sp>
              <p:nvSpPr>
                <p:cNvPr id="156781" name="Rectangle 31"/>
                <p:cNvSpPr>
                  <a:spLocks noChangeArrowheads="1"/>
                </p:cNvSpPr>
                <p:nvPr/>
              </p:nvSpPr>
              <p:spPr bwMode="auto">
                <a:xfrm>
                  <a:off x="3085" y="13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56782" name="Rectangle 32"/>
                <p:cNvSpPr>
                  <a:spLocks noChangeArrowheads="1"/>
                </p:cNvSpPr>
                <p:nvPr/>
              </p:nvSpPr>
              <p:spPr bwMode="auto">
                <a:xfrm>
                  <a:off x="3085" y="11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charset="0"/>
                    </a:rPr>
                    <a:t>5</a:t>
                  </a:r>
                </a:p>
              </p:txBody>
            </p:sp>
          </p:grpSp>
          <p:grpSp>
            <p:nvGrpSpPr>
              <p:cNvPr id="156766" name="Group 33"/>
              <p:cNvGrpSpPr>
                <a:grpSpLocks/>
              </p:cNvGrpSpPr>
              <p:nvPr/>
            </p:nvGrpSpPr>
            <p:grpSpPr bwMode="auto">
              <a:xfrm>
                <a:off x="3392" y="1176"/>
                <a:ext cx="307" cy="384"/>
                <a:chOff x="3392" y="1176"/>
                <a:chExt cx="307" cy="384"/>
              </a:xfrm>
            </p:grpSpPr>
            <p:sp>
              <p:nvSpPr>
                <p:cNvPr id="156779" name="Rectangle 34"/>
                <p:cNvSpPr>
                  <a:spLocks noChangeArrowheads="1"/>
                </p:cNvSpPr>
                <p:nvPr/>
              </p:nvSpPr>
              <p:spPr bwMode="auto">
                <a:xfrm>
                  <a:off x="3392" y="13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56780" name="Rectangle 35"/>
                <p:cNvSpPr>
                  <a:spLocks noChangeArrowheads="1"/>
                </p:cNvSpPr>
                <p:nvPr/>
              </p:nvSpPr>
              <p:spPr bwMode="auto">
                <a:xfrm>
                  <a:off x="3392" y="11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charset="0"/>
                    </a:rPr>
                    <a:t>4</a:t>
                  </a:r>
                </a:p>
              </p:txBody>
            </p:sp>
          </p:grpSp>
          <p:grpSp>
            <p:nvGrpSpPr>
              <p:cNvPr id="156767" name="Group 36"/>
              <p:cNvGrpSpPr>
                <a:grpSpLocks/>
              </p:cNvGrpSpPr>
              <p:nvPr/>
            </p:nvGrpSpPr>
            <p:grpSpPr bwMode="auto">
              <a:xfrm>
                <a:off x="3699" y="1176"/>
                <a:ext cx="307" cy="384"/>
                <a:chOff x="3699" y="1176"/>
                <a:chExt cx="307" cy="384"/>
              </a:xfrm>
            </p:grpSpPr>
            <p:sp>
              <p:nvSpPr>
                <p:cNvPr id="156777" name="Rectangle 37"/>
                <p:cNvSpPr>
                  <a:spLocks noChangeArrowheads="1"/>
                </p:cNvSpPr>
                <p:nvPr/>
              </p:nvSpPr>
              <p:spPr bwMode="auto">
                <a:xfrm>
                  <a:off x="3699" y="13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56778" name="Rectangle 38"/>
                <p:cNvSpPr>
                  <a:spLocks noChangeArrowheads="1"/>
                </p:cNvSpPr>
                <p:nvPr/>
              </p:nvSpPr>
              <p:spPr bwMode="auto">
                <a:xfrm>
                  <a:off x="3699" y="11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charset="0"/>
                    </a:rPr>
                    <a:t>3</a:t>
                  </a:r>
                </a:p>
              </p:txBody>
            </p:sp>
          </p:grpSp>
          <p:grpSp>
            <p:nvGrpSpPr>
              <p:cNvPr id="156768" name="Group 39"/>
              <p:cNvGrpSpPr>
                <a:grpSpLocks/>
              </p:cNvGrpSpPr>
              <p:nvPr/>
            </p:nvGrpSpPr>
            <p:grpSpPr bwMode="auto">
              <a:xfrm>
                <a:off x="4006" y="1176"/>
                <a:ext cx="307" cy="384"/>
                <a:chOff x="4006" y="1176"/>
                <a:chExt cx="307" cy="384"/>
              </a:xfrm>
            </p:grpSpPr>
            <p:sp>
              <p:nvSpPr>
                <p:cNvPr id="156775" name="Rectangle 40"/>
                <p:cNvSpPr>
                  <a:spLocks noChangeArrowheads="1"/>
                </p:cNvSpPr>
                <p:nvPr/>
              </p:nvSpPr>
              <p:spPr bwMode="auto">
                <a:xfrm>
                  <a:off x="4006" y="13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56776" name="Rectangle 41"/>
                <p:cNvSpPr>
                  <a:spLocks noChangeArrowheads="1"/>
                </p:cNvSpPr>
                <p:nvPr/>
              </p:nvSpPr>
              <p:spPr bwMode="auto">
                <a:xfrm>
                  <a:off x="4006" y="11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charset="0"/>
                    </a:rPr>
                    <a:t>2</a:t>
                  </a:r>
                </a:p>
              </p:txBody>
            </p:sp>
          </p:grpSp>
          <p:grpSp>
            <p:nvGrpSpPr>
              <p:cNvPr id="156769" name="Group 42"/>
              <p:cNvGrpSpPr>
                <a:grpSpLocks/>
              </p:cNvGrpSpPr>
              <p:nvPr/>
            </p:nvGrpSpPr>
            <p:grpSpPr bwMode="auto">
              <a:xfrm>
                <a:off x="4313" y="1176"/>
                <a:ext cx="307" cy="384"/>
                <a:chOff x="4313" y="1176"/>
                <a:chExt cx="307" cy="384"/>
              </a:xfrm>
            </p:grpSpPr>
            <p:sp>
              <p:nvSpPr>
                <p:cNvPr id="156773" name="Rectangle 43"/>
                <p:cNvSpPr>
                  <a:spLocks noChangeArrowheads="1"/>
                </p:cNvSpPr>
                <p:nvPr/>
              </p:nvSpPr>
              <p:spPr bwMode="auto">
                <a:xfrm>
                  <a:off x="4313" y="13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56774" name="Rectangle 44"/>
                <p:cNvSpPr>
                  <a:spLocks noChangeArrowheads="1"/>
                </p:cNvSpPr>
                <p:nvPr/>
              </p:nvSpPr>
              <p:spPr bwMode="auto">
                <a:xfrm>
                  <a:off x="4313" y="11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charset="0"/>
                    </a:rPr>
                    <a:t>1</a:t>
                  </a:r>
                </a:p>
              </p:txBody>
            </p:sp>
          </p:grpSp>
          <p:grpSp>
            <p:nvGrpSpPr>
              <p:cNvPr id="156770" name="Group 45"/>
              <p:cNvGrpSpPr>
                <a:grpSpLocks/>
              </p:cNvGrpSpPr>
              <p:nvPr/>
            </p:nvGrpSpPr>
            <p:grpSpPr bwMode="auto">
              <a:xfrm>
                <a:off x="4620" y="1176"/>
                <a:ext cx="307" cy="384"/>
                <a:chOff x="4620" y="1176"/>
                <a:chExt cx="307" cy="384"/>
              </a:xfrm>
            </p:grpSpPr>
            <p:sp>
              <p:nvSpPr>
                <p:cNvPr id="156771" name="Rectangle 46"/>
                <p:cNvSpPr>
                  <a:spLocks noChangeArrowheads="1"/>
                </p:cNvSpPr>
                <p:nvPr/>
              </p:nvSpPr>
              <p:spPr bwMode="auto">
                <a:xfrm>
                  <a:off x="4620" y="13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56772" name="Rectangle 47"/>
                <p:cNvSpPr>
                  <a:spLocks noChangeArrowheads="1"/>
                </p:cNvSpPr>
                <p:nvPr/>
              </p:nvSpPr>
              <p:spPr bwMode="auto">
                <a:xfrm>
                  <a:off x="4620" y="11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charset="0"/>
                    </a:rPr>
                    <a:t>0</a:t>
                  </a:r>
                </a:p>
              </p:txBody>
            </p:sp>
          </p:grpSp>
        </p:grpSp>
        <p:grpSp>
          <p:nvGrpSpPr>
            <p:cNvPr id="156737" name="Group 48"/>
            <p:cNvGrpSpPr>
              <a:grpSpLocks/>
            </p:cNvGrpSpPr>
            <p:nvPr/>
          </p:nvGrpSpPr>
          <p:grpSpPr bwMode="auto">
            <a:xfrm>
              <a:off x="2888" y="1900"/>
              <a:ext cx="1842" cy="212"/>
              <a:chOff x="3085" y="1661"/>
              <a:chExt cx="1842" cy="212"/>
            </a:xfrm>
          </p:grpSpPr>
          <p:sp>
            <p:nvSpPr>
              <p:cNvPr id="156755" name="Line 49"/>
              <p:cNvSpPr>
                <a:spLocks noChangeShapeType="1"/>
              </p:cNvSpPr>
              <p:nvPr/>
            </p:nvSpPr>
            <p:spPr bwMode="auto">
              <a:xfrm>
                <a:off x="3085" y="1752"/>
                <a:ext cx="184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arrow" w="med" len="med"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487" tIns="44450" rIns="90487" bIns="44450"/>
              <a:lstStyle/>
              <a:p>
                <a:endParaRPr lang="zh-CN" altLang="en-US"/>
              </a:p>
            </p:txBody>
          </p:sp>
          <p:sp>
            <p:nvSpPr>
              <p:cNvPr id="156756" name="Text Box 50"/>
              <p:cNvSpPr txBox="1">
                <a:spLocks noChangeArrowheads="1"/>
              </p:cNvSpPr>
              <p:nvPr/>
            </p:nvSpPr>
            <p:spPr bwMode="auto">
              <a:xfrm>
                <a:off x="3794" y="1661"/>
                <a:ext cx="418" cy="21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>
                <a:spAutoFit/>
              </a:bodyPr>
              <a:lstStyle>
                <a:lvl1pPr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>
                  <a:lnSpc>
                    <a:spcPct val="90000"/>
                  </a:lnSpc>
                  <a:spcBef>
                    <a:spcPct val="30000"/>
                  </a:spcBef>
                </a:pPr>
                <a:r>
                  <a:rPr lang="en-US" altLang="zh-CN" sz="1800">
                    <a:solidFill>
                      <a:schemeClr val="tx2"/>
                    </a:solidFill>
                    <a:latin typeface="Helvetica" charset="0"/>
                  </a:rPr>
                  <a:t>VPO</a:t>
                </a:r>
              </a:p>
            </p:txBody>
          </p:sp>
        </p:grpSp>
        <p:grpSp>
          <p:nvGrpSpPr>
            <p:cNvPr id="156738" name="Group 51"/>
            <p:cNvGrpSpPr>
              <a:grpSpLocks/>
            </p:cNvGrpSpPr>
            <p:nvPr/>
          </p:nvGrpSpPr>
          <p:grpSpPr bwMode="auto">
            <a:xfrm>
              <a:off x="432" y="1895"/>
              <a:ext cx="2467" cy="212"/>
              <a:chOff x="629" y="1656"/>
              <a:chExt cx="2467" cy="212"/>
            </a:xfrm>
          </p:grpSpPr>
          <p:sp>
            <p:nvSpPr>
              <p:cNvPr id="156753" name="Line 52"/>
              <p:cNvSpPr>
                <a:spLocks noChangeShapeType="1"/>
              </p:cNvSpPr>
              <p:nvPr/>
            </p:nvSpPr>
            <p:spPr bwMode="auto">
              <a:xfrm>
                <a:off x="629" y="1747"/>
                <a:ext cx="246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arrow" w="med" len="med"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487" tIns="44450" rIns="90487" bIns="44450"/>
              <a:lstStyle/>
              <a:p>
                <a:endParaRPr lang="zh-CN" altLang="en-US"/>
              </a:p>
            </p:txBody>
          </p:sp>
          <p:sp>
            <p:nvSpPr>
              <p:cNvPr id="156754" name="Text Box 53"/>
              <p:cNvSpPr txBox="1">
                <a:spLocks noChangeArrowheads="1"/>
              </p:cNvSpPr>
              <p:nvPr/>
            </p:nvSpPr>
            <p:spPr bwMode="auto">
              <a:xfrm>
                <a:off x="1579" y="1656"/>
                <a:ext cx="409" cy="21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>
                <a:spAutoFit/>
              </a:bodyPr>
              <a:lstStyle>
                <a:lvl1pPr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>
                  <a:lnSpc>
                    <a:spcPct val="90000"/>
                  </a:lnSpc>
                  <a:spcBef>
                    <a:spcPct val="30000"/>
                  </a:spcBef>
                </a:pPr>
                <a:r>
                  <a:rPr lang="en-US" altLang="zh-CN" sz="1800">
                    <a:solidFill>
                      <a:schemeClr val="tx2"/>
                    </a:solidFill>
                    <a:latin typeface="Helvetica" charset="0"/>
                  </a:rPr>
                  <a:t>VPN</a:t>
                </a:r>
              </a:p>
            </p:txBody>
          </p:sp>
        </p:grpSp>
        <p:sp>
          <p:nvSpPr>
            <p:cNvPr id="156739" name="Text Box 54"/>
            <p:cNvSpPr txBox="1">
              <a:spLocks noChangeArrowheads="1"/>
            </p:cNvSpPr>
            <p:nvPr/>
          </p:nvSpPr>
          <p:spPr bwMode="auto">
            <a:xfrm>
              <a:off x="4459" y="1611"/>
              <a:ext cx="24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charset="0"/>
                </a:rPr>
                <a:t>0</a:t>
              </a:r>
            </a:p>
          </p:txBody>
        </p:sp>
        <p:sp>
          <p:nvSpPr>
            <p:cNvPr id="156740" name="Text Box 55"/>
            <p:cNvSpPr txBox="1">
              <a:spLocks noChangeArrowheads="1"/>
            </p:cNvSpPr>
            <p:nvPr/>
          </p:nvSpPr>
          <p:spPr bwMode="auto">
            <a:xfrm>
              <a:off x="4123" y="1611"/>
              <a:ext cx="24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charset="0"/>
                </a:rPr>
                <a:t>0</a:t>
              </a:r>
            </a:p>
          </p:txBody>
        </p:sp>
        <p:sp>
          <p:nvSpPr>
            <p:cNvPr id="156741" name="Text Box 56"/>
            <p:cNvSpPr txBox="1">
              <a:spLocks noChangeArrowheads="1"/>
            </p:cNvSpPr>
            <p:nvPr/>
          </p:nvSpPr>
          <p:spPr bwMode="auto">
            <a:xfrm>
              <a:off x="3835" y="1611"/>
              <a:ext cx="24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charset="0"/>
                </a:rPr>
                <a:t>1</a:t>
              </a:r>
            </a:p>
          </p:txBody>
        </p:sp>
        <p:sp>
          <p:nvSpPr>
            <p:cNvPr id="156742" name="Text Box 57"/>
            <p:cNvSpPr txBox="1">
              <a:spLocks noChangeArrowheads="1"/>
            </p:cNvSpPr>
            <p:nvPr/>
          </p:nvSpPr>
          <p:spPr bwMode="auto">
            <a:xfrm>
              <a:off x="3547" y="1611"/>
              <a:ext cx="24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charset="0"/>
                </a:rPr>
                <a:t>0</a:t>
              </a:r>
            </a:p>
          </p:txBody>
        </p:sp>
        <p:sp>
          <p:nvSpPr>
            <p:cNvPr id="156743" name="Text Box 58"/>
            <p:cNvSpPr txBox="1">
              <a:spLocks noChangeArrowheads="1"/>
            </p:cNvSpPr>
            <p:nvPr/>
          </p:nvSpPr>
          <p:spPr bwMode="auto">
            <a:xfrm>
              <a:off x="3211" y="1611"/>
              <a:ext cx="24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charset="0"/>
                </a:rPr>
                <a:t>1</a:t>
              </a:r>
            </a:p>
          </p:txBody>
        </p:sp>
        <p:sp>
          <p:nvSpPr>
            <p:cNvPr id="156744" name="Text Box 59"/>
            <p:cNvSpPr txBox="1">
              <a:spLocks noChangeArrowheads="1"/>
            </p:cNvSpPr>
            <p:nvPr/>
          </p:nvSpPr>
          <p:spPr bwMode="auto">
            <a:xfrm>
              <a:off x="2923" y="1611"/>
              <a:ext cx="24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charset="0"/>
                </a:rPr>
                <a:t>0</a:t>
              </a:r>
            </a:p>
          </p:txBody>
        </p:sp>
        <p:sp>
          <p:nvSpPr>
            <p:cNvPr id="156745" name="Text Box 60"/>
            <p:cNvSpPr txBox="1">
              <a:spLocks noChangeArrowheads="1"/>
            </p:cNvSpPr>
            <p:nvPr/>
          </p:nvSpPr>
          <p:spPr bwMode="auto">
            <a:xfrm>
              <a:off x="2587" y="1611"/>
              <a:ext cx="24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charset="0"/>
                </a:rPr>
                <a:t>1</a:t>
              </a:r>
            </a:p>
          </p:txBody>
        </p:sp>
        <p:sp>
          <p:nvSpPr>
            <p:cNvPr id="156746" name="Text Box 61"/>
            <p:cNvSpPr txBox="1">
              <a:spLocks noChangeArrowheads="1"/>
            </p:cNvSpPr>
            <p:nvPr/>
          </p:nvSpPr>
          <p:spPr bwMode="auto">
            <a:xfrm>
              <a:off x="2299" y="1611"/>
              <a:ext cx="24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charset="0"/>
                </a:rPr>
                <a:t>1</a:t>
              </a:r>
            </a:p>
          </p:txBody>
        </p:sp>
        <p:sp>
          <p:nvSpPr>
            <p:cNvPr id="156747" name="Text Box 62"/>
            <p:cNvSpPr txBox="1">
              <a:spLocks noChangeArrowheads="1"/>
            </p:cNvSpPr>
            <p:nvPr/>
          </p:nvSpPr>
          <p:spPr bwMode="auto">
            <a:xfrm>
              <a:off x="2011" y="1611"/>
              <a:ext cx="24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charset="0"/>
                </a:rPr>
                <a:t>1</a:t>
              </a:r>
            </a:p>
          </p:txBody>
        </p:sp>
        <p:sp>
          <p:nvSpPr>
            <p:cNvPr id="156748" name="Text Box 63"/>
            <p:cNvSpPr txBox="1">
              <a:spLocks noChangeArrowheads="1"/>
            </p:cNvSpPr>
            <p:nvPr/>
          </p:nvSpPr>
          <p:spPr bwMode="auto">
            <a:xfrm>
              <a:off x="1675" y="1611"/>
              <a:ext cx="24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charset="0"/>
                </a:rPr>
                <a:t>1</a:t>
              </a:r>
            </a:p>
          </p:txBody>
        </p:sp>
        <p:sp>
          <p:nvSpPr>
            <p:cNvPr id="156749" name="Text Box 64"/>
            <p:cNvSpPr txBox="1">
              <a:spLocks noChangeArrowheads="1"/>
            </p:cNvSpPr>
            <p:nvPr/>
          </p:nvSpPr>
          <p:spPr bwMode="auto">
            <a:xfrm>
              <a:off x="1387" y="1611"/>
              <a:ext cx="24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charset="0"/>
                </a:rPr>
                <a:t>0</a:t>
              </a:r>
            </a:p>
          </p:txBody>
        </p:sp>
        <p:sp>
          <p:nvSpPr>
            <p:cNvPr id="156750" name="Text Box 65"/>
            <p:cNvSpPr txBox="1">
              <a:spLocks noChangeArrowheads="1"/>
            </p:cNvSpPr>
            <p:nvPr/>
          </p:nvSpPr>
          <p:spPr bwMode="auto">
            <a:xfrm>
              <a:off x="1051" y="1611"/>
              <a:ext cx="24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charset="0"/>
                </a:rPr>
                <a:t>0</a:t>
              </a:r>
            </a:p>
          </p:txBody>
        </p:sp>
        <p:sp>
          <p:nvSpPr>
            <p:cNvPr id="156751" name="Text Box 66"/>
            <p:cNvSpPr txBox="1">
              <a:spLocks noChangeArrowheads="1"/>
            </p:cNvSpPr>
            <p:nvPr/>
          </p:nvSpPr>
          <p:spPr bwMode="auto">
            <a:xfrm>
              <a:off x="763" y="1611"/>
              <a:ext cx="24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charset="0"/>
                </a:rPr>
                <a:t>0</a:t>
              </a:r>
            </a:p>
          </p:txBody>
        </p:sp>
        <p:sp>
          <p:nvSpPr>
            <p:cNvPr id="156752" name="Text Box 67"/>
            <p:cNvSpPr txBox="1">
              <a:spLocks noChangeArrowheads="1"/>
            </p:cNvSpPr>
            <p:nvPr/>
          </p:nvSpPr>
          <p:spPr bwMode="auto">
            <a:xfrm>
              <a:off x="475" y="1611"/>
              <a:ext cx="24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charset="0"/>
                </a:rPr>
                <a:t>0</a:t>
              </a:r>
            </a:p>
          </p:txBody>
        </p:sp>
      </p:grpSp>
      <p:sp>
        <p:nvSpPr>
          <p:cNvPr id="156677" name="Rectangle 68"/>
          <p:cNvSpPr>
            <a:spLocks noChangeArrowheads="1"/>
          </p:cNvSpPr>
          <p:nvPr/>
        </p:nvSpPr>
        <p:spPr bwMode="auto">
          <a:xfrm>
            <a:off x="685800" y="3305175"/>
            <a:ext cx="8305800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lnSpc>
                <a:spcPct val="140000"/>
              </a:lnSpc>
            </a:pPr>
            <a:r>
              <a:rPr lang="en-US" altLang="zh-CN" b="0"/>
              <a:t>VPN: </a:t>
            </a:r>
            <a:r>
              <a:rPr lang="en-US" altLang="zh-CN" u="sng"/>
              <a:t>0x0f</a:t>
            </a:r>
            <a:r>
              <a:rPr lang="en-US" altLang="zh-CN" b="0"/>
              <a:t> TLBI: </a:t>
            </a:r>
            <a:r>
              <a:rPr lang="en-US" altLang="zh-CN" u="sng"/>
              <a:t>0x03</a:t>
            </a:r>
            <a:r>
              <a:rPr lang="en-US" altLang="zh-CN" b="0"/>
              <a:t>   TLBT: </a:t>
            </a:r>
            <a:r>
              <a:rPr lang="en-US" altLang="zh-CN" u="sng"/>
              <a:t>0x03</a:t>
            </a:r>
            <a:r>
              <a:rPr lang="en-US" altLang="zh-CN"/>
              <a:t> </a:t>
            </a:r>
            <a:r>
              <a:rPr lang="en-US" altLang="zh-CN" b="0"/>
              <a:t>TLB Hit? </a:t>
            </a:r>
            <a:r>
              <a:rPr lang="en-US" altLang="zh-CN" u="sng"/>
              <a:t>Yes</a:t>
            </a:r>
            <a:r>
              <a:rPr lang="en-US" altLang="zh-CN"/>
              <a:t> </a:t>
            </a:r>
            <a:r>
              <a:rPr lang="en-US" altLang="zh-CN" b="0"/>
              <a:t>Page Fault? </a:t>
            </a:r>
            <a:r>
              <a:rPr lang="en-US" altLang="zh-CN" u="sng"/>
              <a:t>No</a:t>
            </a:r>
          </a:p>
        </p:txBody>
      </p:sp>
      <p:sp>
        <p:nvSpPr>
          <p:cNvPr id="156678" name="Rectangle 69"/>
          <p:cNvSpPr>
            <a:spLocks noChangeArrowheads="1"/>
          </p:cNvSpPr>
          <p:nvPr/>
        </p:nvSpPr>
        <p:spPr bwMode="auto">
          <a:xfrm>
            <a:off x="784225" y="5348288"/>
            <a:ext cx="69786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lnSpc>
                <a:spcPct val="140000"/>
              </a:lnSpc>
            </a:pPr>
            <a:r>
              <a:rPr lang="en-US" altLang="zh-CN" b="0"/>
              <a:t>PPN: </a:t>
            </a:r>
            <a:r>
              <a:rPr lang="en-US" altLang="zh-CN" u="sng"/>
              <a:t>0x</a:t>
            </a:r>
            <a:r>
              <a:rPr lang="en-US" altLang="zh-CN" u="sng">
                <a:solidFill>
                  <a:srgbClr val="9900CC"/>
                </a:solidFill>
              </a:rPr>
              <a:t>0D</a:t>
            </a:r>
            <a:r>
              <a:rPr lang="en-US" altLang="zh-CN" b="0"/>
              <a:t>    PPO: </a:t>
            </a:r>
            <a:r>
              <a:rPr lang="en-US" altLang="zh-CN" u="sng"/>
              <a:t>0x14</a:t>
            </a:r>
            <a:r>
              <a:rPr lang="en-US" altLang="zh-CN" b="0"/>
              <a:t>          			PA: </a:t>
            </a:r>
            <a:r>
              <a:rPr lang="en-US" altLang="zh-CN" u="sng"/>
              <a:t>0x354</a:t>
            </a:r>
          </a:p>
        </p:txBody>
      </p:sp>
      <p:grpSp>
        <p:nvGrpSpPr>
          <p:cNvPr id="156679" name="Group 70"/>
          <p:cNvGrpSpPr>
            <a:grpSpLocks/>
          </p:cNvGrpSpPr>
          <p:nvPr/>
        </p:nvGrpSpPr>
        <p:grpSpPr bwMode="auto">
          <a:xfrm>
            <a:off x="1677988" y="4097338"/>
            <a:ext cx="5865812" cy="1022350"/>
            <a:chOff x="672" y="2780"/>
            <a:chExt cx="3695" cy="644"/>
          </a:xfrm>
        </p:grpSpPr>
        <p:grpSp>
          <p:nvGrpSpPr>
            <p:cNvPr id="156681" name="Group 71"/>
            <p:cNvGrpSpPr>
              <a:grpSpLocks/>
            </p:cNvGrpSpPr>
            <p:nvPr/>
          </p:nvGrpSpPr>
          <p:grpSpPr bwMode="auto">
            <a:xfrm>
              <a:off x="672" y="2780"/>
              <a:ext cx="3684" cy="384"/>
              <a:chOff x="1219" y="2880"/>
              <a:chExt cx="3684" cy="384"/>
            </a:xfrm>
          </p:grpSpPr>
          <p:grpSp>
            <p:nvGrpSpPr>
              <p:cNvPr id="156700" name="Group 72"/>
              <p:cNvGrpSpPr>
                <a:grpSpLocks/>
              </p:cNvGrpSpPr>
              <p:nvPr/>
            </p:nvGrpSpPr>
            <p:grpSpPr bwMode="auto">
              <a:xfrm>
                <a:off x="1219" y="2880"/>
                <a:ext cx="307" cy="384"/>
                <a:chOff x="605" y="1776"/>
                <a:chExt cx="307" cy="384"/>
              </a:xfrm>
            </p:grpSpPr>
            <p:sp>
              <p:nvSpPr>
                <p:cNvPr id="156734" name="Rectangle 73"/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56735" name="Rectangle 74"/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charset="0"/>
                    </a:rPr>
                    <a:t>11</a:t>
                  </a:r>
                </a:p>
              </p:txBody>
            </p:sp>
          </p:grpSp>
          <p:grpSp>
            <p:nvGrpSpPr>
              <p:cNvPr id="156701" name="Group 75"/>
              <p:cNvGrpSpPr>
                <a:grpSpLocks/>
              </p:cNvGrpSpPr>
              <p:nvPr/>
            </p:nvGrpSpPr>
            <p:grpSpPr bwMode="auto">
              <a:xfrm>
                <a:off x="1526" y="2880"/>
                <a:ext cx="307" cy="384"/>
                <a:chOff x="605" y="1776"/>
                <a:chExt cx="307" cy="384"/>
              </a:xfrm>
            </p:grpSpPr>
            <p:sp>
              <p:nvSpPr>
                <p:cNvPr id="156732" name="Rectangle 76"/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56733" name="Rectangle 77"/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charset="0"/>
                    </a:rPr>
                    <a:t>10</a:t>
                  </a:r>
                </a:p>
              </p:txBody>
            </p:sp>
          </p:grpSp>
          <p:grpSp>
            <p:nvGrpSpPr>
              <p:cNvPr id="156702" name="Group 78"/>
              <p:cNvGrpSpPr>
                <a:grpSpLocks/>
              </p:cNvGrpSpPr>
              <p:nvPr/>
            </p:nvGrpSpPr>
            <p:grpSpPr bwMode="auto">
              <a:xfrm>
                <a:off x="1833" y="2880"/>
                <a:ext cx="307" cy="384"/>
                <a:chOff x="605" y="1776"/>
                <a:chExt cx="307" cy="384"/>
              </a:xfrm>
            </p:grpSpPr>
            <p:sp>
              <p:nvSpPr>
                <p:cNvPr id="156730" name="Rectangle 79"/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56731" name="Rectangle 80"/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charset="0"/>
                    </a:rPr>
                    <a:t>9</a:t>
                  </a:r>
                </a:p>
              </p:txBody>
            </p:sp>
          </p:grpSp>
          <p:grpSp>
            <p:nvGrpSpPr>
              <p:cNvPr id="156703" name="Group 81"/>
              <p:cNvGrpSpPr>
                <a:grpSpLocks/>
              </p:cNvGrpSpPr>
              <p:nvPr/>
            </p:nvGrpSpPr>
            <p:grpSpPr bwMode="auto">
              <a:xfrm>
                <a:off x="2140" y="2880"/>
                <a:ext cx="307" cy="384"/>
                <a:chOff x="605" y="1776"/>
                <a:chExt cx="307" cy="384"/>
              </a:xfrm>
            </p:grpSpPr>
            <p:sp>
              <p:nvSpPr>
                <p:cNvPr id="156728" name="Rectangle 82"/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56729" name="Rectangle 83"/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charset="0"/>
                    </a:rPr>
                    <a:t>8</a:t>
                  </a:r>
                </a:p>
              </p:txBody>
            </p:sp>
          </p:grpSp>
          <p:grpSp>
            <p:nvGrpSpPr>
              <p:cNvPr id="156704" name="Group 84"/>
              <p:cNvGrpSpPr>
                <a:grpSpLocks/>
              </p:cNvGrpSpPr>
              <p:nvPr/>
            </p:nvGrpSpPr>
            <p:grpSpPr bwMode="auto">
              <a:xfrm>
                <a:off x="2447" y="2880"/>
                <a:ext cx="307" cy="384"/>
                <a:chOff x="605" y="1776"/>
                <a:chExt cx="307" cy="384"/>
              </a:xfrm>
            </p:grpSpPr>
            <p:sp>
              <p:nvSpPr>
                <p:cNvPr id="156726" name="Rectangle 85"/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56727" name="Rectangle 86"/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charset="0"/>
                    </a:rPr>
                    <a:t>7</a:t>
                  </a:r>
                </a:p>
              </p:txBody>
            </p:sp>
          </p:grpSp>
          <p:grpSp>
            <p:nvGrpSpPr>
              <p:cNvPr id="156705" name="Group 87"/>
              <p:cNvGrpSpPr>
                <a:grpSpLocks/>
              </p:cNvGrpSpPr>
              <p:nvPr/>
            </p:nvGrpSpPr>
            <p:grpSpPr bwMode="auto">
              <a:xfrm>
                <a:off x="2754" y="2880"/>
                <a:ext cx="307" cy="384"/>
                <a:chOff x="605" y="1776"/>
                <a:chExt cx="307" cy="384"/>
              </a:xfrm>
            </p:grpSpPr>
            <p:sp>
              <p:nvSpPr>
                <p:cNvPr id="156724" name="Rectangle 88"/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56725" name="Rectangle 89"/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charset="0"/>
                    </a:rPr>
                    <a:t>6</a:t>
                  </a:r>
                </a:p>
              </p:txBody>
            </p:sp>
          </p:grpSp>
          <p:grpSp>
            <p:nvGrpSpPr>
              <p:cNvPr id="156706" name="Group 90"/>
              <p:cNvGrpSpPr>
                <a:grpSpLocks/>
              </p:cNvGrpSpPr>
              <p:nvPr/>
            </p:nvGrpSpPr>
            <p:grpSpPr bwMode="auto">
              <a:xfrm>
                <a:off x="3061" y="2880"/>
                <a:ext cx="307" cy="384"/>
                <a:chOff x="605" y="1776"/>
                <a:chExt cx="307" cy="384"/>
              </a:xfrm>
            </p:grpSpPr>
            <p:sp>
              <p:nvSpPr>
                <p:cNvPr id="156722" name="Rectangle 91"/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56723" name="Rectangle 92"/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charset="0"/>
                    </a:rPr>
                    <a:t>5</a:t>
                  </a:r>
                </a:p>
              </p:txBody>
            </p:sp>
          </p:grpSp>
          <p:grpSp>
            <p:nvGrpSpPr>
              <p:cNvPr id="156707" name="Group 93"/>
              <p:cNvGrpSpPr>
                <a:grpSpLocks/>
              </p:cNvGrpSpPr>
              <p:nvPr/>
            </p:nvGrpSpPr>
            <p:grpSpPr bwMode="auto">
              <a:xfrm>
                <a:off x="3368" y="2880"/>
                <a:ext cx="307" cy="384"/>
                <a:chOff x="605" y="1776"/>
                <a:chExt cx="307" cy="384"/>
              </a:xfrm>
            </p:grpSpPr>
            <p:sp>
              <p:nvSpPr>
                <p:cNvPr id="156720" name="Rectangle 94"/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56721" name="Rectangle 95"/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charset="0"/>
                    </a:rPr>
                    <a:t>4</a:t>
                  </a:r>
                </a:p>
              </p:txBody>
            </p:sp>
          </p:grpSp>
          <p:grpSp>
            <p:nvGrpSpPr>
              <p:cNvPr id="156708" name="Group 96"/>
              <p:cNvGrpSpPr>
                <a:grpSpLocks/>
              </p:cNvGrpSpPr>
              <p:nvPr/>
            </p:nvGrpSpPr>
            <p:grpSpPr bwMode="auto">
              <a:xfrm>
                <a:off x="3675" y="2880"/>
                <a:ext cx="307" cy="384"/>
                <a:chOff x="605" y="1776"/>
                <a:chExt cx="307" cy="384"/>
              </a:xfrm>
            </p:grpSpPr>
            <p:sp>
              <p:nvSpPr>
                <p:cNvPr id="156718" name="Rectangle 97"/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56719" name="Rectangle 98"/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charset="0"/>
                    </a:rPr>
                    <a:t>3</a:t>
                  </a:r>
                </a:p>
              </p:txBody>
            </p:sp>
          </p:grpSp>
          <p:grpSp>
            <p:nvGrpSpPr>
              <p:cNvPr id="156709" name="Group 99"/>
              <p:cNvGrpSpPr>
                <a:grpSpLocks/>
              </p:cNvGrpSpPr>
              <p:nvPr/>
            </p:nvGrpSpPr>
            <p:grpSpPr bwMode="auto">
              <a:xfrm>
                <a:off x="3982" y="2880"/>
                <a:ext cx="307" cy="384"/>
                <a:chOff x="605" y="1776"/>
                <a:chExt cx="307" cy="384"/>
              </a:xfrm>
            </p:grpSpPr>
            <p:sp>
              <p:nvSpPr>
                <p:cNvPr id="156716" name="Rectangle 100"/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56717" name="Rectangle 101"/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charset="0"/>
                    </a:rPr>
                    <a:t>2</a:t>
                  </a:r>
                </a:p>
              </p:txBody>
            </p:sp>
          </p:grpSp>
          <p:grpSp>
            <p:nvGrpSpPr>
              <p:cNvPr id="156710" name="Group 102"/>
              <p:cNvGrpSpPr>
                <a:grpSpLocks/>
              </p:cNvGrpSpPr>
              <p:nvPr/>
            </p:nvGrpSpPr>
            <p:grpSpPr bwMode="auto">
              <a:xfrm>
                <a:off x="4289" y="2880"/>
                <a:ext cx="307" cy="384"/>
                <a:chOff x="605" y="1776"/>
                <a:chExt cx="307" cy="384"/>
              </a:xfrm>
            </p:grpSpPr>
            <p:sp>
              <p:nvSpPr>
                <p:cNvPr id="156714" name="Rectangle 103"/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56715" name="Rectangle 104"/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charset="0"/>
                    </a:rPr>
                    <a:t>1</a:t>
                  </a:r>
                </a:p>
              </p:txBody>
            </p:sp>
          </p:grpSp>
          <p:grpSp>
            <p:nvGrpSpPr>
              <p:cNvPr id="156711" name="Group 105"/>
              <p:cNvGrpSpPr>
                <a:grpSpLocks/>
              </p:cNvGrpSpPr>
              <p:nvPr/>
            </p:nvGrpSpPr>
            <p:grpSpPr bwMode="auto">
              <a:xfrm>
                <a:off x="4596" y="2880"/>
                <a:ext cx="307" cy="384"/>
                <a:chOff x="605" y="1776"/>
                <a:chExt cx="307" cy="384"/>
              </a:xfrm>
            </p:grpSpPr>
            <p:sp>
              <p:nvSpPr>
                <p:cNvPr id="156712" name="Rectangle 106"/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56713" name="Rectangle 107"/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charset="0"/>
                    </a:rPr>
                    <a:t>0</a:t>
                  </a:r>
                </a:p>
              </p:txBody>
            </p:sp>
          </p:grpSp>
        </p:grpSp>
        <p:grpSp>
          <p:nvGrpSpPr>
            <p:cNvPr id="156682" name="Group 108"/>
            <p:cNvGrpSpPr>
              <a:grpSpLocks/>
            </p:cNvGrpSpPr>
            <p:nvPr/>
          </p:nvGrpSpPr>
          <p:grpSpPr bwMode="auto">
            <a:xfrm>
              <a:off x="2525" y="3212"/>
              <a:ext cx="1842" cy="212"/>
              <a:chOff x="3061" y="2261"/>
              <a:chExt cx="1842" cy="212"/>
            </a:xfrm>
          </p:grpSpPr>
          <p:sp>
            <p:nvSpPr>
              <p:cNvPr id="156698" name="Line 109"/>
              <p:cNvSpPr>
                <a:spLocks noChangeShapeType="1"/>
              </p:cNvSpPr>
              <p:nvPr/>
            </p:nvSpPr>
            <p:spPr bwMode="auto">
              <a:xfrm>
                <a:off x="3061" y="2352"/>
                <a:ext cx="184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arrow" w="med" len="med"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487" tIns="44450" rIns="90487" bIns="44450"/>
              <a:lstStyle/>
              <a:p>
                <a:endParaRPr lang="zh-CN" altLang="en-US"/>
              </a:p>
            </p:txBody>
          </p:sp>
          <p:sp>
            <p:nvSpPr>
              <p:cNvPr id="156699" name="Text Box 110"/>
              <p:cNvSpPr txBox="1">
                <a:spLocks noChangeArrowheads="1"/>
              </p:cNvSpPr>
              <p:nvPr/>
            </p:nvSpPr>
            <p:spPr bwMode="auto">
              <a:xfrm>
                <a:off x="3770" y="2261"/>
                <a:ext cx="418" cy="21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>
                <a:spAutoFit/>
              </a:bodyPr>
              <a:lstStyle>
                <a:lvl1pPr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>
                  <a:lnSpc>
                    <a:spcPct val="90000"/>
                  </a:lnSpc>
                  <a:spcBef>
                    <a:spcPct val="30000"/>
                  </a:spcBef>
                </a:pPr>
                <a:r>
                  <a:rPr lang="en-US" altLang="zh-CN" sz="1800">
                    <a:solidFill>
                      <a:schemeClr val="tx2"/>
                    </a:solidFill>
                    <a:latin typeface="Helvetica" charset="0"/>
                  </a:rPr>
                  <a:t>PPO</a:t>
                </a:r>
              </a:p>
            </p:txBody>
          </p:sp>
        </p:grpSp>
        <p:grpSp>
          <p:nvGrpSpPr>
            <p:cNvPr id="156683" name="Group 111"/>
            <p:cNvGrpSpPr>
              <a:grpSpLocks/>
            </p:cNvGrpSpPr>
            <p:nvPr/>
          </p:nvGrpSpPr>
          <p:grpSpPr bwMode="auto">
            <a:xfrm>
              <a:off x="701" y="3212"/>
              <a:ext cx="1842" cy="212"/>
              <a:chOff x="3061" y="2261"/>
              <a:chExt cx="1842" cy="212"/>
            </a:xfrm>
          </p:grpSpPr>
          <p:sp>
            <p:nvSpPr>
              <p:cNvPr id="156696" name="Line 112"/>
              <p:cNvSpPr>
                <a:spLocks noChangeShapeType="1"/>
              </p:cNvSpPr>
              <p:nvPr/>
            </p:nvSpPr>
            <p:spPr bwMode="auto">
              <a:xfrm>
                <a:off x="3061" y="2352"/>
                <a:ext cx="184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arrow" w="med" len="med"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487" tIns="44450" rIns="90487" bIns="44450"/>
              <a:lstStyle/>
              <a:p>
                <a:endParaRPr lang="zh-CN" altLang="en-US"/>
              </a:p>
            </p:txBody>
          </p:sp>
          <p:sp>
            <p:nvSpPr>
              <p:cNvPr id="156697" name="Text Box 113"/>
              <p:cNvSpPr txBox="1">
                <a:spLocks noChangeArrowheads="1"/>
              </p:cNvSpPr>
              <p:nvPr/>
            </p:nvSpPr>
            <p:spPr bwMode="auto">
              <a:xfrm>
                <a:off x="3770" y="2261"/>
                <a:ext cx="410" cy="21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>
                <a:spAutoFit/>
              </a:bodyPr>
              <a:lstStyle>
                <a:lvl1pPr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>
                  <a:lnSpc>
                    <a:spcPct val="90000"/>
                  </a:lnSpc>
                  <a:spcBef>
                    <a:spcPct val="30000"/>
                  </a:spcBef>
                </a:pPr>
                <a:r>
                  <a:rPr lang="en-US" altLang="zh-CN" sz="1800">
                    <a:solidFill>
                      <a:schemeClr val="tx2"/>
                    </a:solidFill>
                    <a:latin typeface="Helvetica" charset="0"/>
                  </a:rPr>
                  <a:t>PPN</a:t>
                </a:r>
              </a:p>
            </p:txBody>
          </p:sp>
        </p:grpSp>
        <p:sp>
          <p:nvSpPr>
            <p:cNvPr id="156684" name="Text Box 114"/>
            <p:cNvSpPr txBox="1">
              <a:spLocks noChangeArrowheads="1"/>
            </p:cNvSpPr>
            <p:nvPr/>
          </p:nvSpPr>
          <p:spPr bwMode="auto">
            <a:xfrm>
              <a:off x="4128" y="2972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charset="0"/>
                </a:rPr>
                <a:t>0</a:t>
              </a:r>
            </a:p>
          </p:txBody>
        </p:sp>
        <p:sp>
          <p:nvSpPr>
            <p:cNvPr id="156685" name="Text Box 115"/>
            <p:cNvSpPr txBox="1">
              <a:spLocks noChangeArrowheads="1"/>
            </p:cNvSpPr>
            <p:nvPr/>
          </p:nvSpPr>
          <p:spPr bwMode="auto">
            <a:xfrm>
              <a:off x="3792" y="2972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charset="0"/>
                </a:rPr>
                <a:t>0</a:t>
              </a:r>
            </a:p>
          </p:txBody>
        </p:sp>
        <p:sp>
          <p:nvSpPr>
            <p:cNvPr id="156686" name="Text Box 116"/>
            <p:cNvSpPr txBox="1">
              <a:spLocks noChangeArrowheads="1"/>
            </p:cNvSpPr>
            <p:nvPr/>
          </p:nvSpPr>
          <p:spPr bwMode="auto">
            <a:xfrm>
              <a:off x="3504" y="2972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charset="0"/>
                </a:rPr>
                <a:t>1</a:t>
              </a:r>
            </a:p>
          </p:txBody>
        </p:sp>
        <p:sp>
          <p:nvSpPr>
            <p:cNvPr id="156687" name="Text Box 117"/>
            <p:cNvSpPr txBox="1">
              <a:spLocks noChangeArrowheads="1"/>
            </p:cNvSpPr>
            <p:nvPr/>
          </p:nvSpPr>
          <p:spPr bwMode="auto">
            <a:xfrm>
              <a:off x="3173" y="2972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charset="0"/>
                </a:rPr>
                <a:t>0</a:t>
              </a:r>
            </a:p>
          </p:txBody>
        </p:sp>
        <p:sp>
          <p:nvSpPr>
            <p:cNvPr id="156688" name="Text Box 118"/>
            <p:cNvSpPr txBox="1">
              <a:spLocks noChangeArrowheads="1"/>
            </p:cNvSpPr>
            <p:nvPr/>
          </p:nvSpPr>
          <p:spPr bwMode="auto">
            <a:xfrm>
              <a:off x="2880" y="2972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charset="0"/>
                </a:rPr>
                <a:t>1</a:t>
              </a:r>
            </a:p>
          </p:txBody>
        </p:sp>
        <p:sp>
          <p:nvSpPr>
            <p:cNvPr id="156689" name="Text Box 119"/>
            <p:cNvSpPr txBox="1">
              <a:spLocks noChangeArrowheads="1"/>
            </p:cNvSpPr>
            <p:nvPr/>
          </p:nvSpPr>
          <p:spPr bwMode="auto">
            <a:xfrm>
              <a:off x="2592" y="2972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charset="0"/>
                </a:rPr>
                <a:t>0</a:t>
              </a:r>
            </a:p>
          </p:txBody>
        </p:sp>
        <p:sp>
          <p:nvSpPr>
            <p:cNvPr id="156690" name="Text Box 120"/>
            <p:cNvSpPr txBox="1">
              <a:spLocks noChangeArrowheads="1"/>
            </p:cNvSpPr>
            <p:nvPr/>
          </p:nvSpPr>
          <p:spPr bwMode="auto">
            <a:xfrm>
              <a:off x="2256" y="2972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charset="0"/>
                </a:rPr>
                <a:t>1</a:t>
              </a:r>
            </a:p>
          </p:txBody>
        </p:sp>
        <p:sp>
          <p:nvSpPr>
            <p:cNvPr id="156691" name="Text Box 121"/>
            <p:cNvSpPr txBox="1">
              <a:spLocks noChangeArrowheads="1"/>
            </p:cNvSpPr>
            <p:nvPr/>
          </p:nvSpPr>
          <p:spPr bwMode="auto">
            <a:xfrm>
              <a:off x="1968" y="2972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charset="0"/>
                </a:rPr>
                <a:t>0</a:t>
              </a:r>
            </a:p>
          </p:txBody>
        </p:sp>
        <p:sp>
          <p:nvSpPr>
            <p:cNvPr id="156692" name="Text Box 122"/>
            <p:cNvSpPr txBox="1">
              <a:spLocks noChangeArrowheads="1"/>
            </p:cNvSpPr>
            <p:nvPr/>
          </p:nvSpPr>
          <p:spPr bwMode="auto">
            <a:xfrm>
              <a:off x="1637" y="2972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charset="0"/>
                </a:rPr>
                <a:t>1</a:t>
              </a:r>
            </a:p>
          </p:txBody>
        </p:sp>
        <p:sp>
          <p:nvSpPr>
            <p:cNvPr id="156693" name="Text Box 123"/>
            <p:cNvSpPr txBox="1">
              <a:spLocks noChangeArrowheads="1"/>
            </p:cNvSpPr>
            <p:nvPr/>
          </p:nvSpPr>
          <p:spPr bwMode="auto">
            <a:xfrm>
              <a:off x="1344" y="2972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charset="0"/>
                </a:rPr>
                <a:t>1</a:t>
              </a:r>
            </a:p>
          </p:txBody>
        </p:sp>
        <p:sp>
          <p:nvSpPr>
            <p:cNvPr id="156694" name="Text Box 124"/>
            <p:cNvSpPr txBox="1">
              <a:spLocks noChangeArrowheads="1"/>
            </p:cNvSpPr>
            <p:nvPr/>
          </p:nvSpPr>
          <p:spPr bwMode="auto">
            <a:xfrm>
              <a:off x="1056" y="2972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charset="0"/>
                </a:rPr>
                <a:t>0</a:t>
              </a:r>
            </a:p>
          </p:txBody>
        </p:sp>
        <p:sp>
          <p:nvSpPr>
            <p:cNvPr id="156695" name="Text Box 125"/>
            <p:cNvSpPr txBox="1">
              <a:spLocks noChangeArrowheads="1"/>
            </p:cNvSpPr>
            <p:nvPr/>
          </p:nvSpPr>
          <p:spPr bwMode="auto">
            <a:xfrm>
              <a:off x="720" y="2972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charset="0"/>
                </a:rPr>
                <a:t>0</a:t>
              </a:r>
            </a:p>
          </p:txBody>
        </p:sp>
      </p:grpSp>
      <p:cxnSp>
        <p:nvCxnSpPr>
          <p:cNvPr id="156680" name="Straight Connector 126"/>
          <p:cNvCxnSpPr>
            <a:cxnSpLocks noChangeShapeType="1"/>
          </p:cNvCxnSpPr>
          <p:nvPr/>
        </p:nvCxnSpPr>
        <p:spPr bwMode="auto">
          <a:xfrm flipH="1">
            <a:off x="4584700" y="1828800"/>
            <a:ext cx="0" cy="3505200"/>
          </a:xfrm>
          <a:prstGeom prst="line">
            <a:avLst/>
          </a:prstGeom>
          <a:noFill/>
          <a:ln w="9525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1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B7FDC7E6-8592-E14B-88B9-E05B6AA79264}" type="slidenum">
              <a:rPr lang="zh-CN" altLang="en-US" sz="1400" b="0">
                <a:latin typeface="Times New Roman" charset="0"/>
              </a:rPr>
              <a:pPr/>
              <a:t>63</a:t>
            </a:fld>
            <a:endParaRPr lang="en-US" altLang="zh-CN" sz="1400" b="0">
              <a:latin typeface="Times New Roman" charset="0"/>
            </a:endParaRPr>
          </a:p>
        </p:txBody>
      </p:sp>
      <p:sp>
        <p:nvSpPr>
          <p:cNvPr id="158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Simple Memory System Cache</a:t>
            </a:r>
          </a:p>
        </p:txBody>
      </p:sp>
      <p:grpSp>
        <p:nvGrpSpPr>
          <p:cNvPr id="158723" name="Group 5"/>
          <p:cNvGrpSpPr>
            <a:grpSpLocks/>
          </p:cNvGrpSpPr>
          <p:nvPr/>
        </p:nvGrpSpPr>
        <p:grpSpPr bwMode="auto">
          <a:xfrm>
            <a:off x="2973388" y="1760538"/>
            <a:ext cx="5865812" cy="1363662"/>
            <a:chOff x="1078" y="1791"/>
            <a:chExt cx="3695" cy="859"/>
          </a:xfrm>
        </p:grpSpPr>
        <p:grpSp>
          <p:nvGrpSpPr>
            <p:cNvPr id="158886" name="Group 6"/>
            <p:cNvGrpSpPr>
              <a:grpSpLocks/>
            </p:cNvGrpSpPr>
            <p:nvPr/>
          </p:nvGrpSpPr>
          <p:grpSpPr bwMode="auto">
            <a:xfrm>
              <a:off x="1078" y="2012"/>
              <a:ext cx="3684" cy="384"/>
              <a:chOff x="1219" y="2880"/>
              <a:chExt cx="3684" cy="384"/>
            </a:xfrm>
          </p:grpSpPr>
          <p:grpSp>
            <p:nvGrpSpPr>
              <p:cNvPr id="158902" name="Group 7"/>
              <p:cNvGrpSpPr>
                <a:grpSpLocks/>
              </p:cNvGrpSpPr>
              <p:nvPr/>
            </p:nvGrpSpPr>
            <p:grpSpPr bwMode="auto">
              <a:xfrm>
                <a:off x="1219" y="2880"/>
                <a:ext cx="307" cy="384"/>
                <a:chOff x="605" y="1776"/>
                <a:chExt cx="307" cy="384"/>
              </a:xfrm>
            </p:grpSpPr>
            <p:sp>
              <p:nvSpPr>
                <p:cNvPr id="158936" name="Rectangle 8"/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58937" name="Rectangle 9"/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charset="0"/>
                    </a:rPr>
                    <a:t>11</a:t>
                  </a:r>
                </a:p>
              </p:txBody>
            </p:sp>
          </p:grpSp>
          <p:grpSp>
            <p:nvGrpSpPr>
              <p:cNvPr id="158903" name="Group 10"/>
              <p:cNvGrpSpPr>
                <a:grpSpLocks/>
              </p:cNvGrpSpPr>
              <p:nvPr/>
            </p:nvGrpSpPr>
            <p:grpSpPr bwMode="auto">
              <a:xfrm>
                <a:off x="1526" y="2880"/>
                <a:ext cx="307" cy="384"/>
                <a:chOff x="605" y="1776"/>
                <a:chExt cx="307" cy="384"/>
              </a:xfrm>
            </p:grpSpPr>
            <p:sp>
              <p:nvSpPr>
                <p:cNvPr id="158934" name="Rectangle 11"/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58935" name="Rectangle 12"/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charset="0"/>
                    </a:rPr>
                    <a:t>10</a:t>
                  </a:r>
                </a:p>
              </p:txBody>
            </p:sp>
          </p:grpSp>
          <p:grpSp>
            <p:nvGrpSpPr>
              <p:cNvPr id="158904" name="Group 13"/>
              <p:cNvGrpSpPr>
                <a:grpSpLocks/>
              </p:cNvGrpSpPr>
              <p:nvPr/>
            </p:nvGrpSpPr>
            <p:grpSpPr bwMode="auto">
              <a:xfrm>
                <a:off x="1833" y="2880"/>
                <a:ext cx="307" cy="384"/>
                <a:chOff x="605" y="1776"/>
                <a:chExt cx="307" cy="384"/>
              </a:xfrm>
            </p:grpSpPr>
            <p:sp>
              <p:nvSpPr>
                <p:cNvPr id="158932" name="Rectangle 14"/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58933" name="Rectangle 15"/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charset="0"/>
                    </a:rPr>
                    <a:t>9</a:t>
                  </a:r>
                </a:p>
              </p:txBody>
            </p:sp>
          </p:grpSp>
          <p:grpSp>
            <p:nvGrpSpPr>
              <p:cNvPr id="158905" name="Group 16"/>
              <p:cNvGrpSpPr>
                <a:grpSpLocks/>
              </p:cNvGrpSpPr>
              <p:nvPr/>
            </p:nvGrpSpPr>
            <p:grpSpPr bwMode="auto">
              <a:xfrm>
                <a:off x="2140" y="2880"/>
                <a:ext cx="307" cy="384"/>
                <a:chOff x="605" y="1776"/>
                <a:chExt cx="307" cy="384"/>
              </a:xfrm>
            </p:grpSpPr>
            <p:sp>
              <p:nvSpPr>
                <p:cNvPr id="158930" name="Rectangle 17"/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58931" name="Rectangle 18"/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charset="0"/>
                    </a:rPr>
                    <a:t>8</a:t>
                  </a:r>
                </a:p>
              </p:txBody>
            </p:sp>
          </p:grpSp>
          <p:grpSp>
            <p:nvGrpSpPr>
              <p:cNvPr id="158906" name="Group 19"/>
              <p:cNvGrpSpPr>
                <a:grpSpLocks/>
              </p:cNvGrpSpPr>
              <p:nvPr/>
            </p:nvGrpSpPr>
            <p:grpSpPr bwMode="auto">
              <a:xfrm>
                <a:off x="2447" y="2880"/>
                <a:ext cx="307" cy="384"/>
                <a:chOff x="605" y="1776"/>
                <a:chExt cx="307" cy="384"/>
              </a:xfrm>
            </p:grpSpPr>
            <p:sp>
              <p:nvSpPr>
                <p:cNvPr id="158928" name="Rectangle 20"/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58929" name="Rectangle 21"/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charset="0"/>
                    </a:rPr>
                    <a:t>7</a:t>
                  </a:r>
                </a:p>
              </p:txBody>
            </p:sp>
          </p:grpSp>
          <p:grpSp>
            <p:nvGrpSpPr>
              <p:cNvPr id="158907" name="Group 22"/>
              <p:cNvGrpSpPr>
                <a:grpSpLocks/>
              </p:cNvGrpSpPr>
              <p:nvPr/>
            </p:nvGrpSpPr>
            <p:grpSpPr bwMode="auto">
              <a:xfrm>
                <a:off x="2754" y="2880"/>
                <a:ext cx="307" cy="384"/>
                <a:chOff x="605" y="1776"/>
                <a:chExt cx="307" cy="384"/>
              </a:xfrm>
            </p:grpSpPr>
            <p:sp>
              <p:nvSpPr>
                <p:cNvPr id="158926" name="Rectangle 23"/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58927" name="Rectangle 24"/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charset="0"/>
                    </a:rPr>
                    <a:t>6</a:t>
                  </a:r>
                </a:p>
              </p:txBody>
            </p:sp>
          </p:grpSp>
          <p:grpSp>
            <p:nvGrpSpPr>
              <p:cNvPr id="158908" name="Group 25"/>
              <p:cNvGrpSpPr>
                <a:grpSpLocks/>
              </p:cNvGrpSpPr>
              <p:nvPr/>
            </p:nvGrpSpPr>
            <p:grpSpPr bwMode="auto">
              <a:xfrm>
                <a:off x="3061" y="2880"/>
                <a:ext cx="307" cy="384"/>
                <a:chOff x="605" y="1776"/>
                <a:chExt cx="307" cy="384"/>
              </a:xfrm>
            </p:grpSpPr>
            <p:sp>
              <p:nvSpPr>
                <p:cNvPr id="158924" name="Rectangle 26"/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58925" name="Rectangle 27"/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charset="0"/>
                    </a:rPr>
                    <a:t>5</a:t>
                  </a:r>
                </a:p>
              </p:txBody>
            </p:sp>
          </p:grpSp>
          <p:grpSp>
            <p:nvGrpSpPr>
              <p:cNvPr id="158909" name="Group 28"/>
              <p:cNvGrpSpPr>
                <a:grpSpLocks/>
              </p:cNvGrpSpPr>
              <p:nvPr/>
            </p:nvGrpSpPr>
            <p:grpSpPr bwMode="auto">
              <a:xfrm>
                <a:off x="3368" y="2880"/>
                <a:ext cx="307" cy="384"/>
                <a:chOff x="605" y="1776"/>
                <a:chExt cx="307" cy="384"/>
              </a:xfrm>
            </p:grpSpPr>
            <p:sp>
              <p:nvSpPr>
                <p:cNvPr id="158922" name="Rectangle 29"/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58923" name="Rectangle 30"/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charset="0"/>
                    </a:rPr>
                    <a:t>4</a:t>
                  </a:r>
                </a:p>
              </p:txBody>
            </p:sp>
          </p:grpSp>
          <p:grpSp>
            <p:nvGrpSpPr>
              <p:cNvPr id="158910" name="Group 31"/>
              <p:cNvGrpSpPr>
                <a:grpSpLocks/>
              </p:cNvGrpSpPr>
              <p:nvPr/>
            </p:nvGrpSpPr>
            <p:grpSpPr bwMode="auto">
              <a:xfrm>
                <a:off x="3675" y="2880"/>
                <a:ext cx="307" cy="384"/>
                <a:chOff x="605" y="1776"/>
                <a:chExt cx="307" cy="384"/>
              </a:xfrm>
            </p:grpSpPr>
            <p:sp>
              <p:nvSpPr>
                <p:cNvPr id="158920" name="Rectangle 32"/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58921" name="Rectangle 33"/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charset="0"/>
                    </a:rPr>
                    <a:t>3</a:t>
                  </a:r>
                </a:p>
              </p:txBody>
            </p:sp>
          </p:grpSp>
          <p:grpSp>
            <p:nvGrpSpPr>
              <p:cNvPr id="158911" name="Group 34"/>
              <p:cNvGrpSpPr>
                <a:grpSpLocks/>
              </p:cNvGrpSpPr>
              <p:nvPr/>
            </p:nvGrpSpPr>
            <p:grpSpPr bwMode="auto">
              <a:xfrm>
                <a:off x="3982" y="2880"/>
                <a:ext cx="307" cy="384"/>
                <a:chOff x="605" y="1776"/>
                <a:chExt cx="307" cy="384"/>
              </a:xfrm>
            </p:grpSpPr>
            <p:sp>
              <p:nvSpPr>
                <p:cNvPr id="158918" name="Rectangle 35"/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58919" name="Rectangle 36"/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charset="0"/>
                    </a:rPr>
                    <a:t>2</a:t>
                  </a:r>
                </a:p>
              </p:txBody>
            </p:sp>
          </p:grpSp>
          <p:grpSp>
            <p:nvGrpSpPr>
              <p:cNvPr id="158912" name="Group 37"/>
              <p:cNvGrpSpPr>
                <a:grpSpLocks/>
              </p:cNvGrpSpPr>
              <p:nvPr/>
            </p:nvGrpSpPr>
            <p:grpSpPr bwMode="auto">
              <a:xfrm>
                <a:off x="4289" y="2880"/>
                <a:ext cx="307" cy="384"/>
                <a:chOff x="605" y="1776"/>
                <a:chExt cx="307" cy="384"/>
              </a:xfrm>
            </p:grpSpPr>
            <p:sp>
              <p:nvSpPr>
                <p:cNvPr id="158916" name="Rectangle 38"/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58917" name="Rectangle 39"/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charset="0"/>
                    </a:rPr>
                    <a:t>1</a:t>
                  </a:r>
                </a:p>
              </p:txBody>
            </p:sp>
          </p:grpSp>
          <p:grpSp>
            <p:nvGrpSpPr>
              <p:cNvPr id="158913" name="Group 40"/>
              <p:cNvGrpSpPr>
                <a:grpSpLocks/>
              </p:cNvGrpSpPr>
              <p:nvPr/>
            </p:nvGrpSpPr>
            <p:grpSpPr bwMode="auto">
              <a:xfrm>
                <a:off x="4596" y="2880"/>
                <a:ext cx="307" cy="384"/>
                <a:chOff x="605" y="1776"/>
                <a:chExt cx="307" cy="384"/>
              </a:xfrm>
            </p:grpSpPr>
            <p:sp>
              <p:nvSpPr>
                <p:cNvPr id="158914" name="Rectangle 41"/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58915" name="Rectangle 42"/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charset="0"/>
                    </a:rPr>
                    <a:t>0</a:t>
                  </a:r>
                </a:p>
              </p:txBody>
            </p:sp>
          </p:grpSp>
        </p:grpSp>
        <p:grpSp>
          <p:nvGrpSpPr>
            <p:cNvPr id="158887" name="Group 43"/>
            <p:cNvGrpSpPr>
              <a:grpSpLocks/>
            </p:cNvGrpSpPr>
            <p:nvPr/>
          </p:nvGrpSpPr>
          <p:grpSpPr bwMode="auto">
            <a:xfrm>
              <a:off x="2931" y="2473"/>
              <a:ext cx="1842" cy="177"/>
              <a:chOff x="3061" y="2290"/>
              <a:chExt cx="1842" cy="177"/>
            </a:xfrm>
          </p:grpSpPr>
          <p:sp>
            <p:nvSpPr>
              <p:cNvPr id="158900" name="Line 44"/>
              <p:cNvSpPr>
                <a:spLocks noChangeShapeType="1"/>
              </p:cNvSpPr>
              <p:nvPr/>
            </p:nvSpPr>
            <p:spPr bwMode="auto">
              <a:xfrm>
                <a:off x="3061" y="2352"/>
                <a:ext cx="184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arrow" w="med" len="med"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487" tIns="44450" rIns="90487" bIns="44450"/>
              <a:lstStyle/>
              <a:p>
                <a:endParaRPr lang="zh-CN" altLang="en-US"/>
              </a:p>
            </p:txBody>
          </p:sp>
          <p:sp>
            <p:nvSpPr>
              <p:cNvPr id="158901" name="Text Box 45"/>
              <p:cNvSpPr txBox="1">
                <a:spLocks noChangeArrowheads="1"/>
              </p:cNvSpPr>
              <p:nvPr/>
            </p:nvSpPr>
            <p:spPr bwMode="auto">
              <a:xfrm>
                <a:off x="3770" y="2290"/>
                <a:ext cx="351" cy="17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>
                <a:spAutoFit/>
              </a:bodyPr>
              <a:lstStyle>
                <a:lvl1pPr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>
                  <a:lnSpc>
                    <a:spcPct val="90000"/>
                  </a:lnSpc>
                  <a:spcBef>
                    <a:spcPct val="30000"/>
                  </a:spcBef>
                </a:pPr>
                <a:r>
                  <a:rPr lang="en-US" altLang="zh-CN" sz="1400">
                    <a:solidFill>
                      <a:schemeClr val="tx2"/>
                    </a:solidFill>
                    <a:latin typeface="Helvetica" charset="0"/>
                  </a:rPr>
                  <a:t>PPO</a:t>
                </a:r>
              </a:p>
            </p:txBody>
          </p:sp>
        </p:grpSp>
        <p:grpSp>
          <p:nvGrpSpPr>
            <p:cNvPr id="158888" name="Group 46"/>
            <p:cNvGrpSpPr>
              <a:grpSpLocks/>
            </p:cNvGrpSpPr>
            <p:nvPr/>
          </p:nvGrpSpPr>
          <p:grpSpPr bwMode="auto">
            <a:xfrm>
              <a:off x="1107" y="2473"/>
              <a:ext cx="1842" cy="177"/>
              <a:chOff x="3061" y="2290"/>
              <a:chExt cx="1842" cy="177"/>
            </a:xfrm>
          </p:grpSpPr>
          <p:sp>
            <p:nvSpPr>
              <p:cNvPr id="158898" name="Line 47"/>
              <p:cNvSpPr>
                <a:spLocks noChangeShapeType="1"/>
              </p:cNvSpPr>
              <p:nvPr/>
            </p:nvSpPr>
            <p:spPr bwMode="auto">
              <a:xfrm>
                <a:off x="3061" y="2352"/>
                <a:ext cx="184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arrow" w="med" len="med"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487" tIns="44450" rIns="90487" bIns="44450"/>
              <a:lstStyle/>
              <a:p>
                <a:endParaRPr lang="zh-CN" altLang="en-US"/>
              </a:p>
            </p:txBody>
          </p:sp>
          <p:sp>
            <p:nvSpPr>
              <p:cNvPr id="158899" name="Text Box 48"/>
              <p:cNvSpPr txBox="1">
                <a:spLocks noChangeArrowheads="1"/>
              </p:cNvSpPr>
              <p:nvPr/>
            </p:nvSpPr>
            <p:spPr bwMode="auto">
              <a:xfrm>
                <a:off x="3770" y="2290"/>
                <a:ext cx="345" cy="17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>
                <a:spAutoFit/>
              </a:bodyPr>
              <a:lstStyle>
                <a:lvl1pPr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>
                  <a:lnSpc>
                    <a:spcPct val="90000"/>
                  </a:lnSpc>
                  <a:spcBef>
                    <a:spcPct val="30000"/>
                  </a:spcBef>
                </a:pPr>
                <a:r>
                  <a:rPr lang="en-US" altLang="zh-CN" sz="1400">
                    <a:solidFill>
                      <a:schemeClr val="tx2"/>
                    </a:solidFill>
                    <a:latin typeface="Helvetica" charset="0"/>
                  </a:rPr>
                  <a:t>PPN</a:t>
                </a:r>
              </a:p>
            </p:txBody>
          </p:sp>
        </p:grpSp>
        <p:grpSp>
          <p:nvGrpSpPr>
            <p:cNvPr id="158889" name="Group 49"/>
            <p:cNvGrpSpPr>
              <a:grpSpLocks/>
            </p:cNvGrpSpPr>
            <p:nvPr/>
          </p:nvGrpSpPr>
          <p:grpSpPr bwMode="auto">
            <a:xfrm>
              <a:off x="4130" y="1804"/>
              <a:ext cx="625" cy="177"/>
              <a:chOff x="2445" y="1660"/>
              <a:chExt cx="625" cy="177"/>
            </a:xfrm>
          </p:grpSpPr>
          <p:sp>
            <p:nvSpPr>
              <p:cNvPr id="158896" name="Line 50"/>
              <p:cNvSpPr>
                <a:spLocks noChangeShapeType="1"/>
              </p:cNvSpPr>
              <p:nvPr/>
            </p:nvSpPr>
            <p:spPr bwMode="auto">
              <a:xfrm>
                <a:off x="2445" y="1723"/>
                <a:ext cx="62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arrow" w="med" len="med"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487" tIns="44450" rIns="90487" bIns="44450"/>
              <a:lstStyle/>
              <a:p>
                <a:endParaRPr lang="zh-CN" altLang="en-US"/>
              </a:p>
            </p:txBody>
          </p:sp>
          <p:sp>
            <p:nvSpPr>
              <p:cNvPr id="158897" name="Text Box 51"/>
              <p:cNvSpPr txBox="1">
                <a:spLocks noChangeArrowheads="1"/>
              </p:cNvSpPr>
              <p:nvPr/>
            </p:nvSpPr>
            <p:spPr bwMode="auto">
              <a:xfrm>
                <a:off x="2644" y="1660"/>
                <a:ext cx="282" cy="17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>
                <a:spAutoFit/>
              </a:bodyPr>
              <a:lstStyle>
                <a:lvl1pPr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30000"/>
                  </a:spcBef>
                </a:pPr>
                <a:r>
                  <a:rPr lang="en-US" altLang="zh-CN" sz="1400">
                    <a:solidFill>
                      <a:schemeClr val="tx2"/>
                    </a:solidFill>
                    <a:latin typeface="Helvetica" charset="0"/>
                  </a:rPr>
                  <a:t>CO</a:t>
                </a:r>
              </a:p>
            </p:txBody>
          </p:sp>
        </p:grpSp>
        <p:grpSp>
          <p:nvGrpSpPr>
            <p:cNvPr id="158890" name="Group 52"/>
            <p:cNvGrpSpPr>
              <a:grpSpLocks/>
            </p:cNvGrpSpPr>
            <p:nvPr/>
          </p:nvGrpSpPr>
          <p:grpSpPr bwMode="auto">
            <a:xfrm>
              <a:off x="2920" y="1791"/>
              <a:ext cx="1214" cy="177"/>
              <a:chOff x="2445" y="1660"/>
              <a:chExt cx="625" cy="177"/>
            </a:xfrm>
          </p:grpSpPr>
          <p:sp>
            <p:nvSpPr>
              <p:cNvPr id="158894" name="Line 53"/>
              <p:cNvSpPr>
                <a:spLocks noChangeShapeType="1"/>
              </p:cNvSpPr>
              <p:nvPr/>
            </p:nvSpPr>
            <p:spPr bwMode="auto">
              <a:xfrm>
                <a:off x="2445" y="1723"/>
                <a:ext cx="62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arrow" w="med" len="med"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487" tIns="44450" rIns="90487" bIns="44450"/>
              <a:lstStyle/>
              <a:p>
                <a:endParaRPr lang="zh-CN" altLang="en-US"/>
              </a:p>
            </p:txBody>
          </p:sp>
          <p:sp>
            <p:nvSpPr>
              <p:cNvPr id="158895" name="Text Box 54"/>
              <p:cNvSpPr txBox="1">
                <a:spLocks noChangeArrowheads="1"/>
              </p:cNvSpPr>
              <p:nvPr/>
            </p:nvSpPr>
            <p:spPr bwMode="auto">
              <a:xfrm>
                <a:off x="2727" y="1660"/>
                <a:ext cx="116" cy="17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>
                <a:spAutoFit/>
              </a:bodyPr>
              <a:lstStyle>
                <a:lvl1pPr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30000"/>
                  </a:spcBef>
                </a:pPr>
                <a:r>
                  <a:rPr lang="en-US" altLang="zh-CN" sz="1400">
                    <a:solidFill>
                      <a:schemeClr val="tx2"/>
                    </a:solidFill>
                    <a:latin typeface="Helvetica" charset="0"/>
                  </a:rPr>
                  <a:t>CI</a:t>
                </a:r>
              </a:p>
            </p:txBody>
          </p:sp>
        </p:grpSp>
        <p:grpSp>
          <p:nvGrpSpPr>
            <p:cNvPr id="158891" name="Group 55"/>
            <p:cNvGrpSpPr>
              <a:grpSpLocks/>
            </p:cNvGrpSpPr>
            <p:nvPr/>
          </p:nvGrpSpPr>
          <p:grpSpPr bwMode="auto">
            <a:xfrm>
              <a:off x="1078" y="1804"/>
              <a:ext cx="1824" cy="177"/>
              <a:chOff x="2445" y="1660"/>
              <a:chExt cx="625" cy="177"/>
            </a:xfrm>
          </p:grpSpPr>
          <p:sp>
            <p:nvSpPr>
              <p:cNvPr id="158892" name="Line 56"/>
              <p:cNvSpPr>
                <a:spLocks noChangeShapeType="1"/>
              </p:cNvSpPr>
              <p:nvPr/>
            </p:nvSpPr>
            <p:spPr bwMode="auto">
              <a:xfrm>
                <a:off x="2445" y="1723"/>
                <a:ext cx="62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arrow" w="med" len="med"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487" tIns="44450" rIns="90487" bIns="44450"/>
              <a:lstStyle/>
              <a:p>
                <a:endParaRPr lang="zh-CN" altLang="en-US"/>
              </a:p>
            </p:txBody>
          </p:sp>
          <p:sp>
            <p:nvSpPr>
              <p:cNvPr id="158893" name="Text Box 57"/>
              <p:cNvSpPr txBox="1">
                <a:spLocks noChangeArrowheads="1"/>
              </p:cNvSpPr>
              <p:nvPr/>
            </p:nvSpPr>
            <p:spPr bwMode="auto">
              <a:xfrm>
                <a:off x="2740" y="1660"/>
                <a:ext cx="91" cy="17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>
                <a:spAutoFit/>
              </a:bodyPr>
              <a:lstStyle>
                <a:lvl1pPr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30000"/>
                  </a:spcBef>
                </a:pPr>
                <a:r>
                  <a:rPr lang="en-US" altLang="zh-CN" sz="1400">
                    <a:solidFill>
                      <a:schemeClr val="tx2"/>
                    </a:solidFill>
                    <a:latin typeface="Helvetica" charset="0"/>
                  </a:rPr>
                  <a:t>CT</a:t>
                </a:r>
              </a:p>
            </p:txBody>
          </p:sp>
        </p:grpSp>
      </p:grpSp>
      <p:graphicFrame>
        <p:nvGraphicFramePr>
          <p:cNvPr id="1391674" name="Group 58"/>
          <p:cNvGraphicFramePr>
            <a:graphicFrameLocks noGrp="1"/>
          </p:cNvGraphicFramePr>
          <p:nvPr/>
        </p:nvGraphicFramePr>
        <p:xfrm>
          <a:off x="228600" y="3352800"/>
          <a:ext cx="8686800" cy="3276604"/>
        </p:xfrm>
        <a:graphic>
          <a:graphicData uri="http://schemas.openxmlformats.org/drawingml/2006/table">
            <a:tbl>
              <a:tblPr/>
              <a:tblGrid>
                <a:gridCol w="6207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9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07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2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07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91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207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2071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191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2071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223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2071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1912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20712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363538"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Idx</a:t>
                      </a:r>
                    </a:p>
                  </a:txBody>
                  <a:tcPr marL="90487" marR="90487" marT="44450" marB="4445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Tag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Valid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B0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B1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B2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B3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Idx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Tag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Valid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B0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B1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B2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B3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538"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</a:t>
                      </a:r>
                    </a:p>
                  </a:txBody>
                  <a:tcPr marL="90487" marR="90487" marT="44450" marB="4445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19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1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99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11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23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11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8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24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1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3A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00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51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89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538"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1</a:t>
                      </a:r>
                    </a:p>
                  </a:txBody>
                  <a:tcPr marL="90487" marR="90487" marT="44450" marB="4445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15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–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–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–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–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9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2D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–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–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–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–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3538"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2</a:t>
                      </a:r>
                    </a:p>
                  </a:txBody>
                  <a:tcPr marL="90487" marR="90487" marT="44450" marB="4445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1B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1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00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02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04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08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A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2D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1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93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15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DA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3B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3538"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3</a:t>
                      </a:r>
                    </a:p>
                  </a:txBody>
                  <a:tcPr marL="90487" marR="90487" marT="44450" marB="4445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36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–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–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–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–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B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0B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–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–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–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–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8300"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4</a:t>
                      </a:r>
                    </a:p>
                  </a:txBody>
                  <a:tcPr marL="90487" marR="90487" marT="44450" marB="4445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32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1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43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6D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8F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09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C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12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–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–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–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–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3538"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5</a:t>
                      </a:r>
                    </a:p>
                  </a:txBody>
                  <a:tcPr marL="90487" marR="90487" marT="44450" marB="4445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0D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1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36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72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F0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1D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D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16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1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04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96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34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15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3538"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6</a:t>
                      </a:r>
                    </a:p>
                  </a:txBody>
                  <a:tcPr marL="90487" marR="90487" marT="44450" marB="4445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31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–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–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–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–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E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13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1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83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77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1B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D3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3538"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7</a:t>
                      </a:r>
                    </a:p>
                  </a:txBody>
                  <a:tcPr marL="90487" marR="90487" marT="44450" marB="4445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16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1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11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C2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DF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03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F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14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–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–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–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–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58885" name="Rectangle 3"/>
          <p:cNvSpPr txBox="1">
            <a:spLocks noChangeArrowheads="1"/>
          </p:cNvSpPr>
          <p:nvPr/>
        </p:nvSpPr>
        <p:spPr bwMode="auto">
          <a:xfrm>
            <a:off x="152400" y="1447800"/>
            <a:ext cx="2667000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66700" indent="-2667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533400" indent="-2667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20000"/>
              </a:spcBef>
              <a:buFontTx/>
              <a:buChar char="•"/>
            </a:pPr>
            <a:r>
              <a:rPr lang="en-US" altLang="zh-CN" sz="2400" b="0"/>
              <a:t>Cache</a:t>
            </a:r>
          </a:p>
          <a:p>
            <a:pPr lvl="1">
              <a:spcBef>
                <a:spcPct val="20000"/>
              </a:spcBef>
              <a:buFontTx/>
              <a:buChar char="–"/>
            </a:pPr>
            <a:r>
              <a:rPr lang="en-US" altLang="zh-CN" b="0"/>
              <a:t>16 lines</a:t>
            </a:r>
          </a:p>
          <a:p>
            <a:pPr lvl="1">
              <a:spcBef>
                <a:spcPct val="20000"/>
              </a:spcBef>
              <a:buFontTx/>
              <a:buChar char="–"/>
            </a:pPr>
            <a:r>
              <a:rPr lang="en-US" altLang="zh-CN" b="0"/>
              <a:t>4-byte line size</a:t>
            </a:r>
          </a:p>
          <a:p>
            <a:pPr lvl="1">
              <a:spcBef>
                <a:spcPct val="20000"/>
              </a:spcBef>
              <a:buFontTx/>
              <a:buChar char="–"/>
            </a:pPr>
            <a:r>
              <a:rPr lang="en-US" altLang="zh-CN" b="0"/>
              <a:t>Direct mapped</a:t>
            </a:r>
            <a:endParaRPr lang="zh-CN" altLang="en-US" b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69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9CFE52E9-ADB6-D049-AFDE-417D85A5E0C0}" type="slidenum">
              <a:rPr lang="zh-CN" altLang="en-US" sz="1400" b="0">
                <a:latin typeface="Times New Roman" charset="0"/>
              </a:rPr>
              <a:pPr/>
              <a:t>64</a:t>
            </a:fld>
            <a:endParaRPr lang="en-US" altLang="zh-CN" sz="1400" b="0">
              <a:latin typeface="Times New Roman" charset="0"/>
            </a:endParaRPr>
          </a:p>
        </p:txBody>
      </p:sp>
      <p:sp>
        <p:nvSpPr>
          <p:cNvPr id="160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宋体" charset="-122"/>
              </a:rPr>
              <a:t>练习</a:t>
            </a:r>
            <a:r>
              <a:rPr lang="en-US" altLang="zh-CN">
                <a:ea typeface="宋体" charset="-122"/>
              </a:rPr>
              <a:t>2-5</a:t>
            </a:r>
          </a:p>
        </p:txBody>
      </p:sp>
      <p:sp>
        <p:nvSpPr>
          <p:cNvPr id="160771" name="Rectangle 69"/>
          <p:cNvSpPr>
            <a:spLocks noChangeArrowheads="1"/>
          </p:cNvSpPr>
          <p:nvPr/>
        </p:nvSpPr>
        <p:spPr bwMode="auto">
          <a:xfrm>
            <a:off x="457200" y="1447800"/>
            <a:ext cx="14255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lnSpc>
                <a:spcPct val="140000"/>
              </a:lnSpc>
            </a:pPr>
            <a:r>
              <a:rPr lang="en-US" altLang="zh-CN" b="0"/>
              <a:t>PA: </a:t>
            </a:r>
            <a:r>
              <a:rPr lang="en-US" altLang="zh-CN" u="sng"/>
              <a:t>0x354</a:t>
            </a:r>
          </a:p>
        </p:txBody>
      </p:sp>
      <p:grpSp>
        <p:nvGrpSpPr>
          <p:cNvPr id="160772" name="Group 126"/>
          <p:cNvGrpSpPr>
            <a:grpSpLocks/>
          </p:cNvGrpSpPr>
          <p:nvPr/>
        </p:nvGrpSpPr>
        <p:grpSpPr bwMode="auto">
          <a:xfrm>
            <a:off x="609600" y="1905000"/>
            <a:ext cx="5865813" cy="1397000"/>
            <a:chOff x="1248" y="2624"/>
            <a:chExt cx="3695" cy="880"/>
          </a:xfrm>
        </p:grpSpPr>
        <p:grpSp>
          <p:nvGrpSpPr>
            <p:cNvPr id="160774" name="Group 127"/>
            <p:cNvGrpSpPr>
              <a:grpSpLocks/>
            </p:cNvGrpSpPr>
            <p:nvPr/>
          </p:nvGrpSpPr>
          <p:grpSpPr bwMode="auto">
            <a:xfrm>
              <a:off x="1248" y="2624"/>
              <a:ext cx="3695" cy="880"/>
              <a:chOff x="1078" y="1776"/>
              <a:chExt cx="3695" cy="880"/>
            </a:xfrm>
          </p:grpSpPr>
          <p:grpSp>
            <p:nvGrpSpPr>
              <p:cNvPr id="160787" name="Group 128"/>
              <p:cNvGrpSpPr>
                <a:grpSpLocks/>
              </p:cNvGrpSpPr>
              <p:nvPr/>
            </p:nvGrpSpPr>
            <p:grpSpPr bwMode="auto">
              <a:xfrm>
                <a:off x="1078" y="2012"/>
                <a:ext cx="3684" cy="384"/>
                <a:chOff x="1219" y="2880"/>
                <a:chExt cx="3684" cy="384"/>
              </a:xfrm>
            </p:grpSpPr>
            <p:grpSp>
              <p:nvGrpSpPr>
                <p:cNvPr id="160803" name="Group 129"/>
                <p:cNvGrpSpPr>
                  <a:grpSpLocks/>
                </p:cNvGrpSpPr>
                <p:nvPr/>
              </p:nvGrpSpPr>
              <p:grpSpPr bwMode="auto">
                <a:xfrm>
                  <a:off x="1219" y="2880"/>
                  <a:ext cx="307" cy="384"/>
                  <a:chOff x="605" y="1776"/>
                  <a:chExt cx="307" cy="384"/>
                </a:xfrm>
              </p:grpSpPr>
              <p:sp>
                <p:nvSpPr>
                  <p:cNvPr id="160837" name="Rectangle 130"/>
                  <p:cNvSpPr>
                    <a:spLocks noChangeArrowheads="1"/>
                  </p:cNvSpPr>
                  <p:nvPr/>
                </p:nvSpPr>
                <p:spPr bwMode="auto">
                  <a:xfrm>
                    <a:off x="605" y="1968"/>
                    <a:ext cx="307" cy="192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1pPr>
                    <a:lvl2pPr marL="742950" indent="-28575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2pPr>
                    <a:lvl3pPr marL="11430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3pPr>
                    <a:lvl4pPr marL="16002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4pPr>
                    <a:lvl5pPr marL="20574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9pPr>
                  </a:lstStyle>
                  <a:p>
                    <a:endParaRPr lang="zh-CN" altLang="en-US"/>
                  </a:p>
                </p:txBody>
              </p:sp>
              <p:sp>
                <p:nvSpPr>
                  <p:cNvPr id="160838" name="Rectangle 131"/>
                  <p:cNvSpPr>
                    <a:spLocks noChangeArrowheads="1"/>
                  </p:cNvSpPr>
                  <p:nvPr/>
                </p:nvSpPr>
                <p:spPr bwMode="auto">
                  <a:xfrm>
                    <a:off x="605" y="1776"/>
                    <a:ext cx="307" cy="19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1pPr>
                    <a:lvl2pPr marL="742950" indent="-28575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2pPr>
                    <a:lvl3pPr marL="11430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3pPr>
                    <a:lvl4pPr marL="16002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4pPr>
                    <a:lvl5pPr marL="20574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9pPr>
                  </a:lstStyle>
                  <a:p>
                    <a:pPr algn="ctr">
                      <a:lnSpc>
                        <a:spcPct val="90000"/>
                      </a:lnSpc>
                      <a:spcBef>
                        <a:spcPct val="30000"/>
                      </a:spcBef>
                    </a:pPr>
                    <a:r>
                      <a:rPr lang="en-US" altLang="zh-CN" sz="1400">
                        <a:solidFill>
                          <a:schemeClr val="tx2"/>
                        </a:solidFill>
                        <a:latin typeface="Helvetica" charset="0"/>
                      </a:rPr>
                      <a:t>11</a:t>
                    </a:r>
                  </a:p>
                </p:txBody>
              </p:sp>
            </p:grpSp>
            <p:grpSp>
              <p:nvGrpSpPr>
                <p:cNvPr id="160804" name="Group 132"/>
                <p:cNvGrpSpPr>
                  <a:grpSpLocks/>
                </p:cNvGrpSpPr>
                <p:nvPr/>
              </p:nvGrpSpPr>
              <p:grpSpPr bwMode="auto">
                <a:xfrm>
                  <a:off x="1526" y="2880"/>
                  <a:ext cx="307" cy="384"/>
                  <a:chOff x="605" y="1776"/>
                  <a:chExt cx="307" cy="384"/>
                </a:xfrm>
              </p:grpSpPr>
              <p:sp>
                <p:nvSpPr>
                  <p:cNvPr id="160835" name="Rectangle 133"/>
                  <p:cNvSpPr>
                    <a:spLocks noChangeArrowheads="1"/>
                  </p:cNvSpPr>
                  <p:nvPr/>
                </p:nvSpPr>
                <p:spPr bwMode="auto">
                  <a:xfrm>
                    <a:off x="605" y="1968"/>
                    <a:ext cx="307" cy="192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1pPr>
                    <a:lvl2pPr marL="742950" indent="-28575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2pPr>
                    <a:lvl3pPr marL="11430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3pPr>
                    <a:lvl4pPr marL="16002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4pPr>
                    <a:lvl5pPr marL="20574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9pPr>
                  </a:lstStyle>
                  <a:p>
                    <a:endParaRPr lang="zh-CN" altLang="en-US"/>
                  </a:p>
                </p:txBody>
              </p:sp>
              <p:sp>
                <p:nvSpPr>
                  <p:cNvPr id="160836" name="Rectangle 134"/>
                  <p:cNvSpPr>
                    <a:spLocks noChangeArrowheads="1"/>
                  </p:cNvSpPr>
                  <p:nvPr/>
                </p:nvSpPr>
                <p:spPr bwMode="auto">
                  <a:xfrm>
                    <a:off x="605" y="1776"/>
                    <a:ext cx="307" cy="19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1pPr>
                    <a:lvl2pPr marL="742950" indent="-28575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2pPr>
                    <a:lvl3pPr marL="11430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3pPr>
                    <a:lvl4pPr marL="16002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4pPr>
                    <a:lvl5pPr marL="20574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9pPr>
                  </a:lstStyle>
                  <a:p>
                    <a:pPr algn="ctr">
                      <a:lnSpc>
                        <a:spcPct val="90000"/>
                      </a:lnSpc>
                      <a:spcBef>
                        <a:spcPct val="30000"/>
                      </a:spcBef>
                    </a:pPr>
                    <a:r>
                      <a:rPr lang="en-US" altLang="zh-CN" sz="1400">
                        <a:solidFill>
                          <a:schemeClr val="tx2"/>
                        </a:solidFill>
                        <a:latin typeface="Helvetica" charset="0"/>
                      </a:rPr>
                      <a:t>10</a:t>
                    </a:r>
                  </a:p>
                </p:txBody>
              </p:sp>
            </p:grpSp>
            <p:grpSp>
              <p:nvGrpSpPr>
                <p:cNvPr id="160805" name="Group 135"/>
                <p:cNvGrpSpPr>
                  <a:grpSpLocks/>
                </p:cNvGrpSpPr>
                <p:nvPr/>
              </p:nvGrpSpPr>
              <p:grpSpPr bwMode="auto">
                <a:xfrm>
                  <a:off x="1833" y="2880"/>
                  <a:ext cx="307" cy="384"/>
                  <a:chOff x="605" y="1776"/>
                  <a:chExt cx="307" cy="384"/>
                </a:xfrm>
              </p:grpSpPr>
              <p:sp>
                <p:nvSpPr>
                  <p:cNvPr id="160833" name="Rectangle 136"/>
                  <p:cNvSpPr>
                    <a:spLocks noChangeArrowheads="1"/>
                  </p:cNvSpPr>
                  <p:nvPr/>
                </p:nvSpPr>
                <p:spPr bwMode="auto">
                  <a:xfrm>
                    <a:off x="605" y="1968"/>
                    <a:ext cx="307" cy="192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1pPr>
                    <a:lvl2pPr marL="742950" indent="-28575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2pPr>
                    <a:lvl3pPr marL="11430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3pPr>
                    <a:lvl4pPr marL="16002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4pPr>
                    <a:lvl5pPr marL="20574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9pPr>
                  </a:lstStyle>
                  <a:p>
                    <a:endParaRPr lang="zh-CN" altLang="en-US"/>
                  </a:p>
                </p:txBody>
              </p:sp>
              <p:sp>
                <p:nvSpPr>
                  <p:cNvPr id="160834" name="Rectangle 137"/>
                  <p:cNvSpPr>
                    <a:spLocks noChangeArrowheads="1"/>
                  </p:cNvSpPr>
                  <p:nvPr/>
                </p:nvSpPr>
                <p:spPr bwMode="auto">
                  <a:xfrm>
                    <a:off x="605" y="1776"/>
                    <a:ext cx="307" cy="19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1pPr>
                    <a:lvl2pPr marL="742950" indent="-28575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2pPr>
                    <a:lvl3pPr marL="11430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3pPr>
                    <a:lvl4pPr marL="16002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4pPr>
                    <a:lvl5pPr marL="20574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9pPr>
                  </a:lstStyle>
                  <a:p>
                    <a:pPr algn="ctr">
                      <a:lnSpc>
                        <a:spcPct val="90000"/>
                      </a:lnSpc>
                      <a:spcBef>
                        <a:spcPct val="30000"/>
                      </a:spcBef>
                    </a:pPr>
                    <a:r>
                      <a:rPr lang="en-US" altLang="zh-CN" sz="1400">
                        <a:solidFill>
                          <a:schemeClr val="tx2"/>
                        </a:solidFill>
                        <a:latin typeface="Helvetica" charset="0"/>
                      </a:rPr>
                      <a:t>9</a:t>
                    </a:r>
                  </a:p>
                </p:txBody>
              </p:sp>
            </p:grpSp>
            <p:grpSp>
              <p:nvGrpSpPr>
                <p:cNvPr id="160806" name="Group 138"/>
                <p:cNvGrpSpPr>
                  <a:grpSpLocks/>
                </p:cNvGrpSpPr>
                <p:nvPr/>
              </p:nvGrpSpPr>
              <p:grpSpPr bwMode="auto">
                <a:xfrm>
                  <a:off x="2140" y="2880"/>
                  <a:ext cx="307" cy="384"/>
                  <a:chOff x="605" y="1776"/>
                  <a:chExt cx="307" cy="384"/>
                </a:xfrm>
              </p:grpSpPr>
              <p:sp>
                <p:nvSpPr>
                  <p:cNvPr id="160831" name="Rectangle 139"/>
                  <p:cNvSpPr>
                    <a:spLocks noChangeArrowheads="1"/>
                  </p:cNvSpPr>
                  <p:nvPr/>
                </p:nvSpPr>
                <p:spPr bwMode="auto">
                  <a:xfrm>
                    <a:off x="605" y="1968"/>
                    <a:ext cx="307" cy="192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1pPr>
                    <a:lvl2pPr marL="742950" indent="-28575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2pPr>
                    <a:lvl3pPr marL="11430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3pPr>
                    <a:lvl4pPr marL="16002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4pPr>
                    <a:lvl5pPr marL="20574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9pPr>
                  </a:lstStyle>
                  <a:p>
                    <a:endParaRPr lang="zh-CN" altLang="en-US"/>
                  </a:p>
                </p:txBody>
              </p:sp>
              <p:sp>
                <p:nvSpPr>
                  <p:cNvPr id="160832" name="Rectangle 140"/>
                  <p:cNvSpPr>
                    <a:spLocks noChangeArrowheads="1"/>
                  </p:cNvSpPr>
                  <p:nvPr/>
                </p:nvSpPr>
                <p:spPr bwMode="auto">
                  <a:xfrm>
                    <a:off x="605" y="1776"/>
                    <a:ext cx="307" cy="19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1pPr>
                    <a:lvl2pPr marL="742950" indent="-28575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2pPr>
                    <a:lvl3pPr marL="11430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3pPr>
                    <a:lvl4pPr marL="16002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4pPr>
                    <a:lvl5pPr marL="20574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9pPr>
                  </a:lstStyle>
                  <a:p>
                    <a:pPr algn="ctr">
                      <a:lnSpc>
                        <a:spcPct val="90000"/>
                      </a:lnSpc>
                      <a:spcBef>
                        <a:spcPct val="30000"/>
                      </a:spcBef>
                    </a:pPr>
                    <a:r>
                      <a:rPr lang="en-US" altLang="zh-CN" sz="1400">
                        <a:solidFill>
                          <a:schemeClr val="tx2"/>
                        </a:solidFill>
                        <a:latin typeface="Helvetica" charset="0"/>
                      </a:rPr>
                      <a:t>8</a:t>
                    </a:r>
                  </a:p>
                </p:txBody>
              </p:sp>
            </p:grpSp>
            <p:grpSp>
              <p:nvGrpSpPr>
                <p:cNvPr id="160807" name="Group 141"/>
                <p:cNvGrpSpPr>
                  <a:grpSpLocks/>
                </p:cNvGrpSpPr>
                <p:nvPr/>
              </p:nvGrpSpPr>
              <p:grpSpPr bwMode="auto">
                <a:xfrm>
                  <a:off x="2447" y="2880"/>
                  <a:ext cx="307" cy="384"/>
                  <a:chOff x="605" y="1776"/>
                  <a:chExt cx="307" cy="384"/>
                </a:xfrm>
              </p:grpSpPr>
              <p:sp>
                <p:nvSpPr>
                  <p:cNvPr id="160829" name="Rectangle 142"/>
                  <p:cNvSpPr>
                    <a:spLocks noChangeArrowheads="1"/>
                  </p:cNvSpPr>
                  <p:nvPr/>
                </p:nvSpPr>
                <p:spPr bwMode="auto">
                  <a:xfrm>
                    <a:off x="605" y="1968"/>
                    <a:ext cx="307" cy="192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1pPr>
                    <a:lvl2pPr marL="742950" indent="-28575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2pPr>
                    <a:lvl3pPr marL="11430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3pPr>
                    <a:lvl4pPr marL="16002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4pPr>
                    <a:lvl5pPr marL="20574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9pPr>
                  </a:lstStyle>
                  <a:p>
                    <a:endParaRPr lang="zh-CN" altLang="en-US"/>
                  </a:p>
                </p:txBody>
              </p:sp>
              <p:sp>
                <p:nvSpPr>
                  <p:cNvPr id="160830" name="Rectangle 143"/>
                  <p:cNvSpPr>
                    <a:spLocks noChangeArrowheads="1"/>
                  </p:cNvSpPr>
                  <p:nvPr/>
                </p:nvSpPr>
                <p:spPr bwMode="auto">
                  <a:xfrm>
                    <a:off x="605" y="1776"/>
                    <a:ext cx="307" cy="19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1pPr>
                    <a:lvl2pPr marL="742950" indent="-28575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2pPr>
                    <a:lvl3pPr marL="11430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3pPr>
                    <a:lvl4pPr marL="16002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4pPr>
                    <a:lvl5pPr marL="20574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9pPr>
                  </a:lstStyle>
                  <a:p>
                    <a:pPr algn="ctr">
                      <a:lnSpc>
                        <a:spcPct val="90000"/>
                      </a:lnSpc>
                      <a:spcBef>
                        <a:spcPct val="30000"/>
                      </a:spcBef>
                    </a:pPr>
                    <a:r>
                      <a:rPr lang="en-US" altLang="zh-CN" sz="1400">
                        <a:solidFill>
                          <a:schemeClr val="tx2"/>
                        </a:solidFill>
                        <a:latin typeface="Helvetica" charset="0"/>
                      </a:rPr>
                      <a:t>7</a:t>
                    </a:r>
                  </a:p>
                </p:txBody>
              </p:sp>
            </p:grpSp>
            <p:grpSp>
              <p:nvGrpSpPr>
                <p:cNvPr id="160808" name="Group 144"/>
                <p:cNvGrpSpPr>
                  <a:grpSpLocks/>
                </p:cNvGrpSpPr>
                <p:nvPr/>
              </p:nvGrpSpPr>
              <p:grpSpPr bwMode="auto">
                <a:xfrm>
                  <a:off x="2754" y="2880"/>
                  <a:ext cx="307" cy="384"/>
                  <a:chOff x="605" y="1776"/>
                  <a:chExt cx="307" cy="384"/>
                </a:xfrm>
              </p:grpSpPr>
              <p:sp>
                <p:nvSpPr>
                  <p:cNvPr id="160827" name="Rectangle 145"/>
                  <p:cNvSpPr>
                    <a:spLocks noChangeArrowheads="1"/>
                  </p:cNvSpPr>
                  <p:nvPr/>
                </p:nvSpPr>
                <p:spPr bwMode="auto">
                  <a:xfrm>
                    <a:off x="605" y="1968"/>
                    <a:ext cx="307" cy="192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1pPr>
                    <a:lvl2pPr marL="742950" indent="-28575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2pPr>
                    <a:lvl3pPr marL="11430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3pPr>
                    <a:lvl4pPr marL="16002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4pPr>
                    <a:lvl5pPr marL="20574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9pPr>
                  </a:lstStyle>
                  <a:p>
                    <a:endParaRPr lang="zh-CN" altLang="en-US"/>
                  </a:p>
                </p:txBody>
              </p:sp>
              <p:sp>
                <p:nvSpPr>
                  <p:cNvPr id="160828" name="Rectangle 146"/>
                  <p:cNvSpPr>
                    <a:spLocks noChangeArrowheads="1"/>
                  </p:cNvSpPr>
                  <p:nvPr/>
                </p:nvSpPr>
                <p:spPr bwMode="auto">
                  <a:xfrm>
                    <a:off x="605" y="1776"/>
                    <a:ext cx="307" cy="19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1pPr>
                    <a:lvl2pPr marL="742950" indent="-28575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2pPr>
                    <a:lvl3pPr marL="11430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3pPr>
                    <a:lvl4pPr marL="16002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4pPr>
                    <a:lvl5pPr marL="20574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9pPr>
                  </a:lstStyle>
                  <a:p>
                    <a:pPr algn="ctr">
                      <a:lnSpc>
                        <a:spcPct val="90000"/>
                      </a:lnSpc>
                      <a:spcBef>
                        <a:spcPct val="30000"/>
                      </a:spcBef>
                    </a:pPr>
                    <a:r>
                      <a:rPr lang="en-US" altLang="zh-CN" sz="1400">
                        <a:solidFill>
                          <a:schemeClr val="tx2"/>
                        </a:solidFill>
                        <a:latin typeface="Helvetica" charset="0"/>
                      </a:rPr>
                      <a:t>6</a:t>
                    </a:r>
                  </a:p>
                </p:txBody>
              </p:sp>
            </p:grpSp>
            <p:grpSp>
              <p:nvGrpSpPr>
                <p:cNvPr id="160809" name="Group 147"/>
                <p:cNvGrpSpPr>
                  <a:grpSpLocks/>
                </p:cNvGrpSpPr>
                <p:nvPr/>
              </p:nvGrpSpPr>
              <p:grpSpPr bwMode="auto">
                <a:xfrm>
                  <a:off x="3061" y="2880"/>
                  <a:ext cx="307" cy="384"/>
                  <a:chOff x="605" y="1776"/>
                  <a:chExt cx="307" cy="384"/>
                </a:xfrm>
              </p:grpSpPr>
              <p:sp>
                <p:nvSpPr>
                  <p:cNvPr id="160825" name="Rectangle 148"/>
                  <p:cNvSpPr>
                    <a:spLocks noChangeArrowheads="1"/>
                  </p:cNvSpPr>
                  <p:nvPr/>
                </p:nvSpPr>
                <p:spPr bwMode="auto">
                  <a:xfrm>
                    <a:off x="605" y="1968"/>
                    <a:ext cx="307" cy="192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1pPr>
                    <a:lvl2pPr marL="742950" indent="-28575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2pPr>
                    <a:lvl3pPr marL="11430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3pPr>
                    <a:lvl4pPr marL="16002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4pPr>
                    <a:lvl5pPr marL="20574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9pPr>
                  </a:lstStyle>
                  <a:p>
                    <a:endParaRPr lang="zh-CN" altLang="en-US"/>
                  </a:p>
                </p:txBody>
              </p:sp>
              <p:sp>
                <p:nvSpPr>
                  <p:cNvPr id="160826" name="Rectangle 149"/>
                  <p:cNvSpPr>
                    <a:spLocks noChangeArrowheads="1"/>
                  </p:cNvSpPr>
                  <p:nvPr/>
                </p:nvSpPr>
                <p:spPr bwMode="auto">
                  <a:xfrm>
                    <a:off x="605" y="1776"/>
                    <a:ext cx="307" cy="19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1pPr>
                    <a:lvl2pPr marL="742950" indent="-28575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2pPr>
                    <a:lvl3pPr marL="11430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3pPr>
                    <a:lvl4pPr marL="16002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4pPr>
                    <a:lvl5pPr marL="20574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9pPr>
                  </a:lstStyle>
                  <a:p>
                    <a:pPr algn="ctr">
                      <a:lnSpc>
                        <a:spcPct val="90000"/>
                      </a:lnSpc>
                      <a:spcBef>
                        <a:spcPct val="30000"/>
                      </a:spcBef>
                    </a:pPr>
                    <a:r>
                      <a:rPr lang="en-US" altLang="zh-CN" sz="1400">
                        <a:solidFill>
                          <a:schemeClr val="tx2"/>
                        </a:solidFill>
                        <a:latin typeface="Helvetica" charset="0"/>
                      </a:rPr>
                      <a:t>5</a:t>
                    </a:r>
                  </a:p>
                </p:txBody>
              </p:sp>
            </p:grpSp>
            <p:grpSp>
              <p:nvGrpSpPr>
                <p:cNvPr id="160810" name="Group 150"/>
                <p:cNvGrpSpPr>
                  <a:grpSpLocks/>
                </p:cNvGrpSpPr>
                <p:nvPr/>
              </p:nvGrpSpPr>
              <p:grpSpPr bwMode="auto">
                <a:xfrm>
                  <a:off x="3368" y="2880"/>
                  <a:ext cx="307" cy="384"/>
                  <a:chOff x="605" y="1776"/>
                  <a:chExt cx="307" cy="384"/>
                </a:xfrm>
              </p:grpSpPr>
              <p:sp>
                <p:nvSpPr>
                  <p:cNvPr id="160823" name="Rectangle 151"/>
                  <p:cNvSpPr>
                    <a:spLocks noChangeArrowheads="1"/>
                  </p:cNvSpPr>
                  <p:nvPr/>
                </p:nvSpPr>
                <p:spPr bwMode="auto">
                  <a:xfrm>
                    <a:off x="605" y="1968"/>
                    <a:ext cx="307" cy="192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1pPr>
                    <a:lvl2pPr marL="742950" indent="-28575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2pPr>
                    <a:lvl3pPr marL="11430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3pPr>
                    <a:lvl4pPr marL="16002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4pPr>
                    <a:lvl5pPr marL="20574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9pPr>
                  </a:lstStyle>
                  <a:p>
                    <a:endParaRPr lang="zh-CN" altLang="en-US"/>
                  </a:p>
                </p:txBody>
              </p:sp>
              <p:sp>
                <p:nvSpPr>
                  <p:cNvPr id="160824" name="Rectangle 152"/>
                  <p:cNvSpPr>
                    <a:spLocks noChangeArrowheads="1"/>
                  </p:cNvSpPr>
                  <p:nvPr/>
                </p:nvSpPr>
                <p:spPr bwMode="auto">
                  <a:xfrm>
                    <a:off x="605" y="1776"/>
                    <a:ext cx="307" cy="19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1pPr>
                    <a:lvl2pPr marL="742950" indent="-28575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2pPr>
                    <a:lvl3pPr marL="11430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3pPr>
                    <a:lvl4pPr marL="16002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4pPr>
                    <a:lvl5pPr marL="20574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9pPr>
                  </a:lstStyle>
                  <a:p>
                    <a:pPr algn="ctr">
                      <a:lnSpc>
                        <a:spcPct val="90000"/>
                      </a:lnSpc>
                      <a:spcBef>
                        <a:spcPct val="30000"/>
                      </a:spcBef>
                    </a:pPr>
                    <a:r>
                      <a:rPr lang="en-US" altLang="zh-CN" sz="1400">
                        <a:solidFill>
                          <a:schemeClr val="tx2"/>
                        </a:solidFill>
                        <a:latin typeface="Helvetica" charset="0"/>
                      </a:rPr>
                      <a:t>4</a:t>
                    </a:r>
                  </a:p>
                </p:txBody>
              </p:sp>
            </p:grpSp>
            <p:grpSp>
              <p:nvGrpSpPr>
                <p:cNvPr id="160811" name="Group 153"/>
                <p:cNvGrpSpPr>
                  <a:grpSpLocks/>
                </p:cNvGrpSpPr>
                <p:nvPr/>
              </p:nvGrpSpPr>
              <p:grpSpPr bwMode="auto">
                <a:xfrm>
                  <a:off x="3675" y="2880"/>
                  <a:ext cx="307" cy="384"/>
                  <a:chOff x="605" y="1776"/>
                  <a:chExt cx="307" cy="384"/>
                </a:xfrm>
              </p:grpSpPr>
              <p:sp>
                <p:nvSpPr>
                  <p:cNvPr id="160821" name="Rectangle 154"/>
                  <p:cNvSpPr>
                    <a:spLocks noChangeArrowheads="1"/>
                  </p:cNvSpPr>
                  <p:nvPr/>
                </p:nvSpPr>
                <p:spPr bwMode="auto">
                  <a:xfrm>
                    <a:off x="605" y="1968"/>
                    <a:ext cx="307" cy="192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1pPr>
                    <a:lvl2pPr marL="742950" indent="-28575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2pPr>
                    <a:lvl3pPr marL="11430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3pPr>
                    <a:lvl4pPr marL="16002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4pPr>
                    <a:lvl5pPr marL="20574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9pPr>
                  </a:lstStyle>
                  <a:p>
                    <a:endParaRPr lang="zh-CN" altLang="en-US"/>
                  </a:p>
                </p:txBody>
              </p:sp>
              <p:sp>
                <p:nvSpPr>
                  <p:cNvPr id="160822" name="Rectangle 155"/>
                  <p:cNvSpPr>
                    <a:spLocks noChangeArrowheads="1"/>
                  </p:cNvSpPr>
                  <p:nvPr/>
                </p:nvSpPr>
                <p:spPr bwMode="auto">
                  <a:xfrm>
                    <a:off x="605" y="1776"/>
                    <a:ext cx="307" cy="19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1pPr>
                    <a:lvl2pPr marL="742950" indent="-28575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2pPr>
                    <a:lvl3pPr marL="11430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3pPr>
                    <a:lvl4pPr marL="16002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4pPr>
                    <a:lvl5pPr marL="20574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9pPr>
                  </a:lstStyle>
                  <a:p>
                    <a:pPr algn="ctr">
                      <a:lnSpc>
                        <a:spcPct val="90000"/>
                      </a:lnSpc>
                      <a:spcBef>
                        <a:spcPct val="30000"/>
                      </a:spcBef>
                    </a:pPr>
                    <a:r>
                      <a:rPr lang="en-US" altLang="zh-CN" sz="1400">
                        <a:solidFill>
                          <a:schemeClr val="tx2"/>
                        </a:solidFill>
                        <a:latin typeface="Helvetica" charset="0"/>
                      </a:rPr>
                      <a:t>3</a:t>
                    </a:r>
                  </a:p>
                </p:txBody>
              </p:sp>
            </p:grpSp>
            <p:grpSp>
              <p:nvGrpSpPr>
                <p:cNvPr id="160812" name="Group 156"/>
                <p:cNvGrpSpPr>
                  <a:grpSpLocks/>
                </p:cNvGrpSpPr>
                <p:nvPr/>
              </p:nvGrpSpPr>
              <p:grpSpPr bwMode="auto">
                <a:xfrm>
                  <a:off x="3982" y="2880"/>
                  <a:ext cx="307" cy="384"/>
                  <a:chOff x="605" y="1776"/>
                  <a:chExt cx="307" cy="384"/>
                </a:xfrm>
              </p:grpSpPr>
              <p:sp>
                <p:nvSpPr>
                  <p:cNvPr id="160819" name="Rectangle 157"/>
                  <p:cNvSpPr>
                    <a:spLocks noChangeArrowheads="1"/>
                  </p:cNvSpPr>
                  <p:nvPr/>
                </p:nvSpPr>
                <p:spPr bwMode="auto">
                  <a:xfrm>
                    <a:off x="605" y="1968"/>
                    <a:ext cx="307" cy="192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1pPr>
                    <a:lvl2pPr marL="742950" indent="-28575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2pPr>
                    <a:lvl3pPr marL="11430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3pPr>
                    <a:lvl4pPr marL="16002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4pPr>
                    <a:lvl5pPr marL="20574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9pPr>
                  </a:lstStyle>
                  <a:p>
                    <a:endParaRPr lang="zh-CN" altLang="en-US"/>
                  </a:p>
                </p:txBody>
              </p:sp>
              <p:sp>
                <p:nvSpPr>
                  <p:cNvPr id="160820" name="Rectangle 158"/>
                  <p:cNvSpPr>
                    <a:spLocks noChangeArrowheads="1"/>
                  </p:cNvSpPr>
                  <p:nvPr/>
                </p:nvSpPr>
                <p:spPr bwMode="auto">
                  <a:xfrm>
                    <a:off x="605" y="1776"/>
                    <a:ext cx="307" cy="19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1pPr>
                    <a:lvl2pPr marL="742950" indent="-28575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2pPr>
                    <a:lvl3pPr marL="11430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3pPr>
                    <a:lvl4pPr marL="16002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4pPr>
                    <a:lvl5pPr marL="20574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9pPr>
                  </a:lstStyle>
                  <a:p>
                    <a:pPr algn="ctr">
                      <a:lnSpc>
                        <a:spcPct val="90000"/>
                      </a:lnSpc>
                      <a:spcBef>
                        <a:spcPct val="30000"/>
                      </a:spcBef>
                    </a:pPr>
                    <a:r>
                      <a:rPr lang="en-US" altLang="zh-CN" sz="1400">
                        <a:solidFill>
                          <a:schemeClr val="tx2"/>
                        </a:solidFill>
                        <a:latin typeface="Helvetica" charset="0"/>
                      </a:rPr>
                      <a:t>2</a:t>
                    </a:r>
                  </a:p>
                </p:txBody>
              </p:sp>
            </p:grpSp>
            <p:grpSp>
              <p:nvGrpSpPr>
                <p:cNvPr id="160813" name="Group 159"/>
                <p:cNvGrpSpPr>
                  <a:grpSpLocks/>
                </p:cNvGrpSpPr>
                <p:nvPr/>
              </p:nvGrpSpPr>
              <p:grpSpPr bwMode="auto">
                <a:xfrm>
                  <a:off x="4289" y="2880"/>
                  <a:ext cx="307" cy="384"/>
                  <a:chOff x="605" y="1776"/>
                  <a:chExt cx="307" cy="384"/>
                </a:xfrm>
              </p:grpSpPr>
              <p:sp>
                <p:nvSpPr>
                  <p:cNvPr id="160817" name="Rectangle 160"/>
                  <p:cNvSpPr>
                    <a:spLocks noChangeArrowheads="1"/>
                  </p:cNvSpPr>
                  <p:nvPr/>
                </p:nvSpPr>
                <p:spPr bwMode="auto">
                  <a:xfrm>
                    <a:off x="605" y="1968"/>
                    <a:ext cx="307" cy="192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1pPr>
                    <a:lvl2pPr marL="742950" indent="-28575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2pPr>
                    <a:lvl3pPr marL="11430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3pPr>
                    <a:lvl4pPr marL="16002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4pPr>
                    <a:lvl5pPr marL="20574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9pPr>
                  </a:lstStyle>
                  <a:p>
                    <a:endParaRPr lang="zh-CN" altLang="en-US"/>
                  </a:p>
                </p:txBody>
              </p:sp>
              <p:sp>
                <p:nvSpPr>
                  <p:cNvPr id="160818" name="Rectangle 161"/>
                  <p:cNvSpPr>
                    <a:spLocks noChangeArrowheads="1"/>
                  </p:cNvSpPr>
                  <p:nvPr/>
                </p:nvSpPr>
                <p:spPr bwMode="auto">
                  <a:xfrm>
                    <a:off x="605" y="1776"/>
                    <a:ext cx="307" cy="19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1pPr>
                    <a:lvl2pPr marL="742950" indent="-28575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2pPr>
                    <a:lvl3pPr marL="11430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3pPr>
                    <a:lvl4pPr marL="16002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4pPr>
                    <a:lvl5pPr marL="20574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9pPr>
                  </a:lstStyle>
                  <a:p>
                    <a:pPr algn="ctr">
                      <a:lnSpc>
                        <a:spcPct val="90000"/>
                      </a:lnSpc>
                      <a:spcBef>
                        <a:spcPct val="30000"/>
                      </a:spcBef>
                    </a:pPr>
                    <a:r>
                      <a:rPr lang="en-US" altLang="zh-CN" sz="1400">
                        <a:solidFill>
                          <a:schemeClr val="tx2"/>
                        </a:solidFill>
                        <a:latin typeface="Helvetica" charset="0"/>
                      </a:rPr>
                      <a:t>1</a:t>
                    </a:r>
                  </a:p>
                </p:txBody>
              </p:sp>
            </p:grpSp>
            <p:grpSp>
              <p:nvGrpSpPr>
                <p:cNvPr id="160814" name="Group 162"/>
                <p:cNvGrpSpPr>
                  <a:grpSpLocks/>
                </p:cNvGrpSpPr>
                <p:nvPr/>
              </p:nvGrpSpPr>
              <p:grpSpPr bwMode="auto">
                <a:xfrm>
                  <a:off x="4596" y="2880"/>
                  <a:ext cx="307" cy="384"/>
                  <a:chOff x="605" y="1776"/>
                  <a:chExt cx="307" cy="384"/>
                </a:xfrm>
              </p:grpSpPr>
              <p:sp>
                <p:nvSpPr>
                  <p:cNvPr id="160815" name="Rectangle 163"/>
                  <p:cNvSpPr>
                    <a:spLocks noChangeArrowheads="1"/>
                  </p:cNvSpPr>
                  <p:nvPr/>
                </p:nvSpPr>
                <p:spPr bwMode="auto">
                  <a:xfrm>
                    <a:off x="605" y="1968"/>
                    <a:ext cx="307" cy="192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1pPr>
                    <a:lvl2pPr marL="742950" indent="-28575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2pPr>
                    <a:lvl3pPr marL="11430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3pPr>
                    <a:lvl4pPr marL="16002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4pPr>
                    <a:lvl5pPr marL="20574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9pPr>
                  </a:lstStyle>
                  <a:p>
                    <a:endParaRPr lang="zh-CN" altLang="en-US"/>
                  </a:p>
                </p:txBody>
              </p:sp>
              <p:sp>
                <p:nvSpPr>
                  <p:cNvPr id="160816" name="Rectangle 164"/>
                  <p:cNvSpPr>
                    <a:spLocks noChangeArrowheads="1"/>
                  </p:cNvSpPr>
                  <p:nvPr/>
                </p:nvSpPr>
                <p:spPr bwMode="auto">
                  <a:xfrm>
                    <a:off x="605" y="1776"/>
                    <a:ext cx="307" cy="19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1pPr>
                    <a:lvl2pPr marL="742950" indent="-28575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2pPr>
                    <a:lvl3pPr marL="11430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3pPr>
                    <a:lvl4pPr marL="16002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4pPr>
                    <a:lvl5pPr marL="20574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9pPr>
                  </a:lstStyle>
                  <a:p>
                    <a:pPr algn="ctr">
                      <a:lnSpc>
                        <a:spcPct val="90000"/>
                      </a:lnSpc>
                      <a:spcBef>
                        <a:spcPct val="30000"/>
                      </a:spcBef>
                    </a:pPr>
                    <a:r>
                      <a:rPr lang="en-US" altLang="zh-CN" sz="1400">
                        <a:solidFill>
                          <a:schemeClr val="tx2"/>
                        </a:solidFill>
                        <a:latin typeface="Helvetica" charset="0"/>
                      </a:rPr>
                      <a:t>0</a:t>
                    </a:r>
                  </a:p>
                </p:txBody>
              </p:sp>
            </p:grpSp>
          </p:grpSp>
          <p:grpSp>
            <p:nvGrpSpPr>
              <p:cNvPr id="160788" name="Group 165"/>
              <p:cNvGrpSpPr>
                <a:grpSpLocks/>
              </p:cNvGrpSpPr>
              <p:nvPr/>
            </p:nvGrpSpPr>
            <p:grpSpPr bwMode="auto">
              <a:xfrm>
                <a:off x="2931" y="2444"/>
                <a:ext cx="1842" cy="212"/>
                <a:chOff x="3061" y="2261"/>
                <a:chExt cx="1842" cy="212"/>
              </a:xfrm>
            </p:grpSpPr>
            <p:sp>
              <p:nvSpPr>
                <p:cNvPr id="160801" name="Line 166"/>
                <p:cNvSpPr>
                  <a:spLocks noChangeShapeType="1"/>
                </p:cNvSpPr>
                <p:nvPr/>
              </p:nvSpPr>
              <p:spPr bwMode="auto">
                <a:xfrm>
                  <a:off x="3061" y="2352"/>
                  <a:ext cx="184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arrow" w="med" len="med"/>
                  <a:tailEnd type="arrow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90487" tIns="44450" rIns="90487" bIns="44450"/>
                <a:lstStyle/>
                <a:p>
                  <a:endParaRPr lang="zh-CN" altLang="en-US"/>
                </a:p>
              </p:txBody>
            </p:sp>
            <p:sp>
              <p:nvSpPr>
                <p:cNvPr id="160802" name="Text Box 167"/>
                <p:cNvSpPr txBox="1">
                  <a:spLocks noChangeArrowheads="1"/>
                </p:cNvSpPr>
                <p:nvPr/>
              </p:nvSpPr>
              <p:spPr bwMode="auto">
                <a:xfrm>
                  <a:off x="3770" y="2261"/>
                  <a:ext cx="418" cy="21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>
                  <a:spAutoFit/>
                </a:bodyPr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800">
                      <a:solidFill>
                        <a:schemeClr val="tx2"/>
                      </a:solidFill>
                      <a:latin typeface="Helvetica" charset="0"/>
                    </a:rPr>
                    <a:t>PPO</a:t>
                  </a:r>
                </a:p>
              </p:txBody>
            </p:sp>
          </p:grpSp>
          <p:grpSp>
            <p:nvGrpSpPr>
              <p:cNvPr id="160789" name="Group 168"/>
              <p:cNvGrpSpPr>
                <a:grpSpLocks/>
              </p:cNvGrpSpPr>
              <p:nvPr/>
            </p:nvGrpSpPr>
            <p:grpSpPr bwMode="auto">
              <a:xfrm>
                <a:off x="1107" y="2444"/>
                <a:ext cx="1842" cy="212"/>
                <a:chOff x="3061" y="2261"/>
                <a:chExt cx="1842" cy="212"/>
              </a:xfrm>
            </p:grpSpPr>
            <p:sp>
              <p:nvSpPr>
                <p:cNvPr id="160799" name="Line 169"/>
                <p:cNvSpPr>
                  <a:spLocks noChangeShapeType="1"/>
                </p:cNvSpPr>
                <p:nvPr/>
              </p:nvSpPr>
              <p:spPr bwMode="auto">
                <a:xfrm>
                  <a:off x="3061" y="2352"/>
                  <a:ext cx="184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arrow" w="med" len="med"/>
                  <a:tailEnd type="arrow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90487" tIns="44450" rIns="90487" bIns="44450"/>
                <a:lstStyle/>
                <a:p>
                  <a:endParaRPr lang="zh-CN" altLang="en-US"/>
                </a:p>
              </p:txBody>
            </p:sp>
            <p:sp>
              <p:nvSpPr>
                <p:cNvPr id="160800" name="Text Box 170"/>
                <p:cNvSpPr txBox="1">
                  <a:spLocks noChangeArrowheads="1"/>
                </p:cNvSpPr>
                <p:nvPr/>
              </p:nvSpPr>
              <p:spPr bwMode="auto">
                <a:xfrm>
                  <a:off x="3770" y="2261"/>
                  <a:ext cx="410" cy="21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>
                  <a:spAutoFit/>
                </a:bodyPr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800">
                      <a:solidFill>
                        <a:schemeClr val="tx2"/>
                      </a:solidFill>
                      <a:latin typeface="Helvetica" charset="0"/>
                    </a:rPr>
                    <a:t>PPN</a:t>
                  </a:r>
                </a:p>
              </p:txBody>
            </p:sp>
          </p:grpSp>
          <p:grpSp>
            <p:nvGrpSpPr>
              <p:cNvPr id="160790" name="Group 171"/>
              <p:cNvGrpSpPr>
                <a:grpSpLocks/>
              </p:cNvGrpSpPr>
              <p:nvPr/>
            </p:nvGrpSpPr>
            <p:grpSpPr bwMode="auto">
              <a:xfrm>
                <a:off x="4130" y="1789"/>
                <a:ext cx="625" cy="195"/>
                <a:chOff x="2445" y="1645"/>
                <a:chExt cx="625" cy="195"/>
              </a:xfrm>
            </p:grpSpPr>
            <p:sp>
              <p:nvSpPr>
                <p:cNvPr id="160797" name="Line 172"/>
                <p:cNvSpPr>
                  <a:spLocks noChangeShapeType="1"/>
                </p:cNvSpPr>
                <p:nvPr/>
              </p:nvSpPr>
              <p:spPr bwMode="auto">
                <a:xfrm>
                  <a:off x="2445" y="1723"/>
                  <a:ext cx="625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arrow" w="med" len="med"/>
                  <a:tailEnd type="arrow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90487" tIns="44450" rIns="90487" bIns="44450"/>
                <a:lstStyle/>
                <a:p>
                  <a:endParaRPr lang="zh-CN" altLang="en-US"/>
                </a:p>
              </p:txBody>
            </p:sp>
            <p:sp>
              <p:nvSpPr>
                <p:cNvPr id="160798" name="Text Box 173"/>
                <p:cNvSpPr txBox="1">
                  <a:spLocks noChangeArrowheads="1"/>
                </p:cNvSpPr>
                <p:nvPr/>
              </p:nvSpPr>
              <p:spPr bwMode="auto">
                <a:xfrm>
                  <a:off x="2632" y="1645"/>
                  <a:ext cx="306" cy="19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>
                  <a:spAutoFit/>
                </a:bodyPr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600">
                      <a:solidFill>
                        <a:schemeClr val="tx2"/>
                      </a:solidFill>
                      <a:latin typeface="Helvetica" charset="0"/>
                    </a:rPr>
                    <a:t>CO</a:t>
                  </a:r>
                </a:p>
              </p:txBody>
            </p:sp>
          </p:grpSp>
          <p:grpSp>
            <p:nvGrpSpPr>
              <p:cNvPr id="160791" name="Group 174"/>
              <p:cNvGrpSpPr>
                <a:grpSpLocks/>
              </p:cNvGrpSpPr>
              <p:nvPr/>
            </p:nvGrpSpPr>
            <p:grpSpPr bwMode="auto">
              <a:xfrm>
                <a:off x="2920" y="1776"/>
                <a:ext cx="1214" cy="195"/>
                <a:chOff x="2445" y="1645"/>
                <a:chExt cx="625" cy="195"/>
              </a:xfrm>
            </p:grpSpPr>
            <p:sp>
              <p:nvSpPr>
                <p:cNvPr id="160795" name="Line 175"/>
                <p:cNvSpPr>
                  <a:spLocks noChangeShapeType="1"/>
                </p:cNvSpPr>
                <p:nvPr/>
              </p:nvSpPr>
              <p:spPr bwMode="auto">
                <a:xfrm>
                  <a:off x="2445" y="1723"/>
                  <a:ext cx="625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arrow" w="med" len="med"/>
                  <a:tailEnd type="arrow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90487" tIns="44450" rIns="90487" bIns="44450"/>
                <a:lstStyle/>
                <a:p>
                  <a:endParaRPr lang="zh-CN" altLang="en-US"/>
                </a:p>
              </p:txBody>
            </p:sp>
            <p:sp>
              <p:nvSpPr>
                <p:cNvPr id="160796" name="Text Box 176"/>
                <p:cNvSpPr txBox="1">
                  <a:spLocks noChangeArrowheads="1"/>
                </p:cNvSpPr>
                <p:nvPr/>
              </p:nvSpPr>
              <p:spPr bwMode="auto">
                <a:xfrm>
                  <a:off x="2723" y="1645"/>
                  <a:ext cx="125" cy="19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>
                  <a:spAutoFit/>
                </a:bodyPr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600">
                      <a:solidFill>
                        <a:schemeClr val="tx2"/>
                      </a:solidFill>
                      <a:latin typeface="Helvetica" charset="0"/>
                    </a:rPr>
                    <a:t>CI</a:t>
                  </a:r>
                </a:p>
              </p:txBody>
            </p:sp>
          </p:grpSp>
          <p:grpSp>
            <p:nvGrpSpPr>
              <p:cNvPr id="160792" name="Group 177"/>
              <p:cNvGrpSpPr>
                <a:grpSpLocks/>
              </p:cNvGrpSpPr>
              <p:nvPr/>
            </p:nvGrpSpPr>
            <p:grpSpPr bwMode="auto">
              <a:xfrm>
                <a:off x="1078" y="1789"/>
                <a:ext cx="1824" cy="195"/>
                <a:chOff x="2445" y="1645"/>
                <a:chExt cx="625" cy="195"/>
              </a:xfrm>
            </p:grpSpPr>
            <p:sp>
              <p:nvSpPr>
                <p:cNvPr id="160793" name="Line 178"/>
                <p:cNvSpPr>
                  <a:spLocks noChangeShapeType="1"/>
                </p:cNvSpPr>
                <p:nvPr/>
              </p:nvSpPr>
              <p:spPr bwMode="auto">
                <a:xfrm>
                  <a:off x="2445" y="1723"/>
                  <a:ext cx="625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arrow" w="med" len="med"/>
                  <a:tailEnd type="arrow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90487" tIns="44450" rIns="90487" bIns="44450"/>
                <a:lstStyle/>
                <a:p>
                  <a:endParaRPr lang="zh-CN" altLang="en-US"/>
                </a:p>
              </p:txBody>
            </p:sp>
            <p:sp>
              <p:nvSpPr>
                <p:cNvPr id="160794" name="Text Box 179"/>
                <p:cNvSpPr txBox="1">
                  <a:spLocks noChangeArrowheads="1"/>
                </p:cNvSpPr>
                <p:nvPr/>
              </p:nvSpPr>
              <p:spPr bwMode="auto">
                <a:xfrm>
                  <a:off x="2737" y="1645"/>
                  <a:ext cx="97" cy="19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>
                  <a:spAutoFit/>
                </a:bodyPr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600">
                      <a:solidFill>
                        <a:schemeClr val="tx2"/>
                      </a:solidFill>
                      <a:latin typeface="Helvetica" charset="0"/>
                    </a:rPr>
                    <a:t>CT</a:t>
                  </a:r>
                </a:p>
              </p:txBody>
            </p:sp>
          </p:grpSp>
        </p:grpSp>
        <p:sp>
          <p:nvSpPr>
            <p:cNvPr id="160775" name="Text Box 180"/>
            <p:cNvSpPr txBox="1">
              <a:spLocks noChangeArrowheads="1"/>
            </p:cNvSpPr>
            <p:nvPr/>
          </p:nvSpPr>
          <p:spPr bwMode="auto">
            <a:xfrm>
              <a:off x="4704" y="3052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charset="0"/>
                </a:rPr>
                <a:t>0</a:t>
              </a:r>
            </a:p>
          </p:txBody>
        </p:sp>
        <p:sp>
          <p:nvSpPr>
            <p:cNvPr id="160776" name="Text Box 181"/>
            <p:cNvSpPr txBox="1">
              <a:spLocks noChangeArrowheads="1"/>
            </p:cNvSpPr>
            <p:nvPr/>
          </p:nvSpPr>
          <p:spPr bwMode="auto">
            <a:xfrm>
              <a:off x="4368" y="3052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charset="0"/>
                </a:rPr>
                <a:t>0</a:t>
              </a:r>
            </a:p>
          </p:txBody>
        </p:sp>
        <p:sp>
          <p:nvSpPr>
            <p:cNvPr id="160777" name="Text Box 182"/>
            <p:cNvSpPr txBox="1">
              <a:spLocks noChangeArrowheads="1"/>
            </p:cNvSpPr>
            <p:nvPr/>
          </p:nvSpPr>
          <p:spPr bwMode="auto">
            <a:xfrm>
              <a:off x="4080" y="3052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charset="0"/>
                </a:rPr>
                <a:t>1</a:t>
              </a:r>
            </a:p>
          </p:txBody>
        </p:sp>
        <p:sp>
          <p:nvSpPr>
            <p:cNvPr id="160778" name="Text Box 183"/>
            <p:cNvSpPr txBox="1">
              <a:spLocks noChangeArrowheads="1"/>
            </p:cNvSpPr>
            <p:nvPr/>
          </p:nvSpPr>
          <p:spPr bwMode="auto">
            <a:xfrm>
              <a:off x="3749" y="3052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charset="0"/>
                </a:rPr>
                <a:t>0</a:t>
              </a:r>
            </a:p>
          </p:txBody>
        </p:sp>
        <p:sp>
          <p:nvSpPr>
            <p:cNvPr id="160779" name="Text Box 184"/>
            <p:cNvSpPr txBox="1">
              <a:spLocks noChangeArrowheads="1"/>
            </p:cNvSpPr>
            <p:nvPr/>
          </p:nvSpPr>
          <p:spPr bwMode="auto">
            <a:xfrm>
              <a:off x="3456" y="3052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charset="0"/>
                </a:rPr>
                <a:t>1</a:t>
              </a:r>
            </a:p>
          </p:txBody>
        </p:sp>
        <p:sp>
          <p:nvSpPr>
            <p:cNvPr id="160780" name="Text Box 185"/>
            <p:cNvSpPr txBox="1">
              <a:spLocks noChangeArrowheads="1"/>
            </p:cNvSpPr>
            <p:nvPr/>
          </p:nvSpPr>
          <p:spPr bwMode="auto">
            <a:xfrm>
              <a:off x="3168" y="3052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charset="0"/>
                </a:rPr>
                <a:t>0</a:t>
              </a:r>
            </a:p>
          </p:txBody>
        </p:sp>
        <p:sp>
          <p:nvSpPr>
            <p:cNvPr id="160781" name="Text Box 186"/>
            <p:cNvSpPr txBox="1">
              <a:spLocks noChangeArrowheads="1"/>
            </p:cNvSpPr>
            <p:nvPr/>
          </p:nvSpPr>
          <p:spPr bwMode="auto">
            <a:xfrm>
              <a:off x="2832" y="3052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charset="0"/>
                </a:rPr>
                <a:t>1</a:t>
              </a:r>
            </a:p>
          </p:txBody>
        </p:sp>
        <p:sp>
          <p:nvSpPr>
            <p:cNvPr id="160782" name="Text Box 187"/>
            <p:cNvSpPr txBox="1">
              <a:spLocks noChangeArrowheads="1"/>
            </p:cNvSpPr>
            <p:nvPr/>
          </p:nvSpPr>
          <p:spPr bwMode="auto">
            <a:xfrm>
              <a:off x="2544" y="3052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charset="0"/>
                </a:rPr>
                <a:t>0</a:t>
              </a:r>
            </a:p>
          </p:txBody>
        </p:sp>
        <p:sp>
          <p:nvSpPr>
            <p:cNvPr id="160783" name="Text Box 188"/>
            <p:cNvSpPr txBox="1">
              <a:spLocks noChangeArrowheads="1"/>
            </p:cNvSpPr>
            <p:nvPr/>
          </p:nvSpPr>
          <p:spPr bwMode="auto">
            <a:xfrm>
              <a:off x="2213" y="3052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charset="0"/>
                </a:rPr>
                <a:t>1</a:t>
              </a:r>
            </a:p>
          </p:txBody>
        </p:sp>
        <p:sp>
          <p:nvSpPr>
            <p:cNvPr id="160784" name="Text Box 189"/>
            <p:cNvSpPr txBox="1">
              <a:spLocks noChangeArrowheads="1"/>
            </p:cNvSpPr>
            <p:nvPr/>
          </p:nvSpPr>
          <p:spPr bwMode="auto">
            <a:xfrm>
              <a:off x="1920" y="3052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charset="0"/>
                </a:rPr>
                <a:t>1</a:t>
              </a:r>
            </a:p>
          </p:txBody>
        </p:sp>
        <p:sp>
          <p:nvSpPr>
            <p:cNvPr id="160785" name="Text Box 190"/>
            <p:cNvSpPr txBox="1">
              <a:spLocks noChangeArrowheads="1"/>
            </p:cNvSpPr>
            <p:nvPr/>
          </p:nvSpPr>
          <p:spPr bwMode="auto">
            <a:xfrm>
              <a:off x="1632" y="3052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charset="0"/>
                </a:rPr>
                <a:t>0</a:t>
              </a:r>
            </a:p>
          </p:txBody>
        </p:sp>
        <p:sp>
          <p:nvSpPr>
            <p:cNvPr id="160786" name="Text Box 191"/>
            <p:cNvSpPr txBox="1">
              <a:spLocks noChangeArrowheads="1"/>
            </p:cNvSpPr>
            <p:nvPr/>
          </p:nvSpPr>
          <p:spPr bwMode="auto">
            <a:xfrm>
              <a:off x="1296" y="3052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charset="0"/>
                </a:rPr>
                <a:t>0</a:t>
              </a:r>
            </a:p>
          </p:txBody>
        </p:sp>
      </p:grpSp>
      <p:sp>
        <p:nvSpPr>
          <p:cNvPr id="160773" name="Rectangle 192"/>
          <p:cNvSpPr>
            <a:spLocks noChangeArrowheads="1"/>
          </p:cNvSpPr>
          <p:nvPr/>
        </p:nvSpPr>
        <p:spPr bwMode="auto">
          <a:xfrm>
            <a:off x="490538" y="3595688"/>
            <a:ext cx="7283450" cy="37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179388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lvl="1">
              <a:lnSpc>
                <a:spcPct val="90000"/>
              </a:lnSpc>
              <a:spcBef>
                <a:spcPct val="20000"/>
              </a:spcBef>
            </a:pPr>
            <a:r>
              <a:rPr lang="en-US" altLang="zh-CN" b="0"/>
              <a:t>Offset: </a:t>
            </a:r>
            <a:r>
              <a:rPr lang="en-US" altLang="zh-CN" u="sng"/>
              <a:t>     </a:t>
            </a:r>
            <a:r>
              <a:rPr lang="en-US" altLang="zh-CN" b="0"/>
              <a:t>	 CI: </a:t>
            </a:r>
            <a:r>
              <a:rPr lang="zh-CN" altLang="zh-CN" u="sng"/>
              <a:t> </a:t>
            </a:r>
            <a:r>
              <a:rPr lang="zh-CN" altLang="en-US" u="sng"/>
              <a:t>    </a:t>
            </a:r>
            <a:r>
              <a:rPr lang="en-US" altLang="zh-CN" b="0"/>
              <a:t>    CT: </a:t>
            </a:r>
            <a:r>
              <a:rPr lang="zh-CN" altLang="zh-CN" u="sng"/>
              <a:t> </a:t>
            </a:r>
            <a:r>
              <a:rPr lang="zh-CN" altLang="en-US" u="sng"/>
              <a:t>    </a:t>
            </a:r>
            <a:r>
              <a:rPr lang="en-US" altLang="zh-CN" b="0"/>
              <a:t>	  Hit? </a:t>
            </a:r>
            <a:r>
              <a:rPr lang="en-US" altLang="zh-CN" u="sng"/>
              <a:t>    </a:t>
            </a:r>
            <a:r>
              <a:rPr lang="en-US" altLang="zh-CN" b="0"/>
              <a:t>  Byte: </a:t>
            </a:r>
            <a:r>
              <a:rPr lang="en-US" altLang="zh-CN" u="sng"/>
              <a:t>    </a:t>
            </a:r>
            <a:r>
              <a:rPr lang="en-US" altLang="zh-CN" u="sng">
                <a:solidFill>
                  <a:schemeClr val="bg1"/>
                </a:solidFill>
              </a:rPr>
              <a:t>6</a:t>
            </a:r>
            <a:endParaRPr lang="zh-CN" altLang="en-US" u="sng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7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788D468A-1675-4C48-BFDA-8CE5411CAD8D}" type="slidenum">
              <a:rPr lang="zh-CN" altLang="en-US" sz="1400" b="0">
                <a:latin typeface="Times New Roman" charset="0"/>
              </a:rPr>
              <a:pPr/>
              <a:t>65</a:t>
            </a:fld>
            <a:endParaRPr lang="en-US" altLang="zh-CN" sz="1400" b="0">
              <a:latin typeface="Times New Roman" charset="0"/>
            </a:endParaRPr>
          </a:p>
        </p:txBody>
      </p:sp>
      <p:sp>
        <p:nvSpPr>
          <p:cNvPr id="162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宋体" charset="-122"/>
              </a:rPr>
              <a:t>练习</a:t>
            </a:r>
            <a:r>
              <a:rPr lang="en-US" altLang="zh-CN">
                <a:ea typeface="宋体" charset="-122"/>
              </a:rPr>
              <a:t>2-5</a:t>
            </a:r>
            <a:r>
              <a:rPr lang="zh-CN" altLang="en-US">
                <a:ea typeface="宋体" charset="-122"/>
              </a:rPr>
              <a:t>答案</a:t>
            </a:r>
            <a:endParaRPr lang="en-US" altLang="zh-CN">
              <a:ea typeface="宋体" charset="-122"/>
            </a:endParaRPr>
          </a:p>
        </p:txBody>
      </p:sp>
      <p:sp>
        <p:nvSpPr>
          <p:cNvPr id="162819" name="Rectangle 69"/>
          <p:cNvSpPr>
            <a:spLocks noChangeArrowheads="1"/>
          </p:cNvSpPr>
          <p:nvPr/>
        </p:nvSpPr>
        <p:spPr bwMode="auto">
          <a:xfrm>
            <a:off x="457200" y="1447800"/>
            <a:ext cx="14255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lnSpc>
                <a:spcPct val="140000"/>
              </a:lnSpc>
            </a:pPr>
            <a:r>
              <a:rPr lang="en-US" altLang="zh-CN" b="0"/>
              <a:t>PA: </a:t>
            </a:r>
            <a:r>
              <a:rPr lang="en-US" altLang="zh-CN" u="sng"/>
              <a:t>0x354</a:t>
            </a:r>
          </a:p>
        </p:txBody>
      </p:sp>
      <p:grpSp>
        <p:nvGrpSpPr>
          <p:cNvPr id="162820" name="Group 126"/>
          <p:cNvGrpSpPr>
            <a:grpSpLocks/>
          </p:cNvGrpSpPr>
          <p:nvPr/>
        </p:nvGrpSpPr>
        <p:grpSpPr bwMode="auto">
          <a:xfrm>
            <a:off x="609600" y="1905000"/>
            <a:ext cx="5865813" cy="1397000"/>
            <a:chOff x="1248" y="2624"/>
            <a:chExt cx="3695" cy="880"/>
          </a:xfrm>
        </p:grpSpPr>
        <p:grpSp>
          <p:nvGrpSpPr>
            <p:cNvPr id="162822" name="Group 127"/>
            <p:cNvGrpSpPr>
              <a:grpSpLocks/>
            </p:cNvGrpSpPr>
            <p:nvPr/>
          </p:nvGrpSpPr>
          <p:grpSpPr bwMode="auto">
            <a:xfrm>
              <a:off x="1248" y="2624"/>
              <a:ext cx="3695" cy="880"/>
              <a:chOff x="1078" y="1776"/>
              <a:chExt cx="3695" cy="880"/>
            </a:xfrm>
          </p:grpSpPr>
          <p:grpSp>
            <p:nvGrpSpPr>
              <p:cNvPr id="162835" name="Group 128"/>
              <p:cNvGrpSpPr>
                <a:grpSpLocks/>
              </p:cNvGrpSpPr>
              <p:nvPr/>
            </p:nvGrpSpPr>
            <p:grpSpPr bwMode="auto">
              <a:xfrm>
                <a:off x="1078" y="2012"/>
                <a:ext cx="3684" cy="384"/>
                <a:chOff x="1219" y="2880"/>
                <a:chExt cx="3684" cy="384"/>
              </a:xfrm>
            </p:grpSpPr>
            <p:grpSp>
              <p:nvGrpSpPr>
                <p:cNvPr id="162851" name="Group 129"/>
                <p:cNvGrpSpPr>
                  <a:grpSpLocks/>
                </p:cNvGrpSpPr>
                <p:nvPr/>
              </p:nvGrpSpPr>
              <p:grpSpPr bwMode="auto">
                <a:xfrm>
                  <a:off x="1219" y="2880"/>
                  <a:ext cx="307" cy="384"/>
                  <a:chOff x="605" y="1776"/>
                  <a:chExt cx="307" cy="384"/>
                </a:xfrm>
              </p:grpSpPr>
              <p:sp>
                <p:nvSpPr>
                  <p:cNvPr id="162885" name="Rectangle 130"/>
                  <p:cNvSpPr>
                    <a:spLocks noChangeArrowheads="1"/>
                  </p:cNvSpPr>
                  <p:nvPr/>
                </p:nvSpPr>
                <p:spPr bwMode="auto">
                  <a:xfrm>
                    <a:off x="605" y="1968"/>
                    <a:ext cx="307" cy="192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1pPr>
                    <a:lvl2pPr marL="742950" indent="-28575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2pPr>
                    <a:lvl3pPr marL="11430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3pPr>
                    <a:lvl4pPr marL="16002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4pPr>
                    <a:lvl5pPr marL="20574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9pPr>
                  </a:lstStyle>
                  <a:p>
                    <a:endParaRPr lang="zh-CN" altLang="en-US"/>
                  </a:p>
                </p:txBody>
              </p:sp>
              <p:sp>
                <p:nvSpPr>
                  <p:cNvPr id="162886" name="Rectangle 131"/>
                  <p:cNvSpPr>
                    <a:spLocks noChangeArrowheads="1"/>
                  </p:cNvSpPr>
                  <p:nvPr/>
                </p:nvSpPr>
                <p:spPr bwMode="auto">
                  <a:xfrm>
                    <a:off x="605" y="1776"/>
                    <a:ext cx="307" cy="19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1pPr>
                    <a:lvl2pPr marL="742950" indent="-28575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2pPr>
                    <a:lvl3pPr marL="11430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3pPr>
                    <a:lvl4pPr marL="16002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4pPr>
                    <a:lvl5pPr marL="20574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9pPr>
                  </a:lstStyle>
                  <a:p>
                    <a:pPr algn="ctr">
                      <a:lnSpc>
                        <a:spcPct val="90000"/>
                      </a:lnSpc>
                      <a:spcBef>
                        <a:spcPct val="30000"/>
                      </a:spcBef>
                    </a:pPr>
                    <a:r>
                      <a:rPr lang="en-US" altLang="zh-CN" sz="1400">
                        <a:solidFill>
                          <a:schemeClr val="tx2"/>
                        </a:solidFill>
                        <a:latin typeface="Helvetica" charset="0"/>
                      </a:rPr>
                      <a:t>11</a:t>
                    </a:r>
                  </a:p>
                </p:txBody>
              </p:sp>
            </p:grpSp>
            <p:grpSp>
              <p:nvGrpSpPr>
                <p:cNvPr id="162852" name="Group 132"/>
                <p:cNvGrpSpPr>
                  <a:grpSpLocks/>
                </p:cNvGrpSpPr>
                <p:nvPr/>
              </p:nvGrpSpPr>
              <p:grpSpPr bwMode="auto">
                <a:xfrm>
                  <a:off x="1526" y="2880"/>
                  <a:ext cx="307" cy="384"/>
                  <a:chOff x="605" y="1776"/>
                  <a:chExt cx="307" cy="384"/>
                </a:xfrm>
              </p:grpSpPr>
              <p:sp>
                <p:nvSpPr>
                  <p:cNvPr id="162883" name="Rectangle 133"/>
                  <p:cNvSpPr>
                    <a:spLocks noChangeArrowheads="1"/>
                  </p:cNvSpPr>
                  <p:nvPr/>
                </p:nvSpPr>
                <p:spPr bwMode="auto">
                  <a:xfrm>
                    <a:off x="605" y="1968"/>
                    <a:ext cx="307" cy="192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1pPr>
                    <a:lvl2pPr marL="742950" indent="-28575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2pPr>
                    <a:lvl3pPr marL="11430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3pPr>
                    <a:lvl4pPr marL="16002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4pPr>
                    <a:lvl5pPr marL="20574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9pPr>
                  </a:lstStyle>
                  <a:p>
                    <a:endParaRPr lang="zh-CN" altLang="en-US"/>
                  </a:p>
                </p:txBody>
              </p:sp>
              <p:sp>
                <p:nvSpPr>
                  <p:cNvPr id="162884" name="Rectangle 134"/>
                  <p:cNvSpPr>
                    <a:spLocks noChangeArrowheads="1"/>
                  </p:cNvSpPr>
                  <p:nvPr/>
                </p:nvSpPr>
                <p:spPr bwMode="auto">
                  <a:xfrm>
                    <a:off x="605" y="1776"/>
                    <a:ext cx="307" cy="19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1pPr>
                    <a:lvl2pPr marL="742950" indent="-28575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2pPr>
                    <a:lvl3pPr marL="11430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3pPr>
                    <a:lvl4pPr marL="16002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4pPr>
                    <a:lvl5pPr marL="20574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9pPr>
                  </a:lstStyle>
                  <a:p>
                    <a:pPr algn="ctr">
                      <a:lnSpc>
                        <a:spcPct val="90000"/>
                      </a:lnSpc>
                      <a:spcBef>
                        <a:spcPct val="30000"/>
                      </a:spcBef>
                    </a:pPr>
                    <a:r>
                      <a:rPr lang="en-US" altLang="zh-CN" sz="1400">
                        <a:solidFill>
                          <a:schemeClr val="tx2"/>
                        </a:solidFill>
                        <a:latin typeface="Helvetica" charset="0"/>
                      </a:rPr>
                      <a:t>10</a:t>
                    </a:r>
                  </a:p>
                </p:txBody>
              </p:sp>
            </p:grpSp>
            <p:grpSp>
              <p:nvGrpSpPr>
                <p:cNvPr id="162853" name="Group 135"/>
                <p:cNvGrpSpPr>
                  <a:grpSpLocks/>
                </p:cNvGrpSpPr>
                <p:nvPr/>
              </p:nvGrpSpPr>
              <p:grpSpPr bwMode="auto">
                <a:xfrm>
                  <a:off x="1833" y="2880"/>
                  <a:ext cx="307" cy="384"/>
                  <a:chOff x="605" y="1776"/>
                  <a:chExt cx="307" cy="384"/>
                </a:xfrm>
              </p:grpSpPr>
              <p:sp>
                <p:nvSpPr>
                  <p:cNvPr id="162881" name="Rectangle 136"/>
                  <p:cNvSpPr>
                    <a:spLocks noChangeArrowheads="1"/>
                  </p:cNvSpPr>
                  <p:nvPr/>
                </p:nvSpPr>
                <p:spPr bwMode="auto">
                  <a:xfrm>
                    <a:off x="605" y="1968"/>
                    <a:ext cx="307" cy="192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1pPr>
                    <a:lvl2pPr marL="742950" indent="-28575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2pPr>
                    <a:lvl3pPr marL="11430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3pPr>
                    <a:lvl4pPr marL="16002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4pPr>
                    <a:lvl5pPr marL="20574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9pPr>
                  </a:lstStyle>
                  <a:p>
                    <a:endParaRPr lang="zh-CN" altLang="en-US"/>
                  </a:p>
                </p:txBody>
              </p:sp>
              <p:sp>
                <p:nvSpPr>
                  <p:cNvPr id="162882" name="Rectangle 137"/>
                  <p:cNvSpPr>
                    <a:spLocks noChangeArrowheads="1"/>
                  </p:cNvSpPr>
                  <p:nvPr/>
                </p:nvSpPr>
                <p:spPr bwMode="auto">
                  <a:xfrm>
                    <a:off x="605" y="1776"/>
                    <a:ext cx="307" cy="19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1pPr>
                    <a:lvl2pPr marL="742950" indent="-28575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2pPr>
                    <a:lvl3pPr marL="11430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3pPr>
                    <a:lvl4pPr marL="16002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4pPr>
                    <a:lvl5pPr marL="20574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9pPr>
                  </a:lstStyle>
                  <a:p>
                    <a:pPr algn="ctr">
                      <a:lnSpc>
                        <a:spcPct val="90000"/>
                      </a:lnSpc>
                      <a:spcBef>
                        <a:spcPct val="30000"/>
                      </a:spcBef>
                    </a:pPr>
                    <a:r>
                      <a:rPr lang="en-US" altLang="zh-CN" sz="1400">
                        <a:solidFill>
                          <a:schemeClr val="tx2"/>
                        </a:solidFill>
                        <a:latin typeface="Helvetica" charset="0"/>
                      </a:rPr>
                      <a:t>9</a:t>
                    </a:r>
                  </a:p>
                </p:txBody>
              </p:sp>
            </p:grpSp>
            <p:grpSp>
              <p:nvGrpSpPr>
                <p:cNvPr id="162854" name="Group 138"/>
                <p:cNvGrpSpPr>
                  <a:grpSpLocks/>
                </p:cNvGrpSpPr>
                <p:nvPr/>
              </p:nvGrpSpPr>
              <p:grpSpPr bwMode="auto">
                <a:xfrm>
                  <a:off x="2140" y="2880"/>
                  <a:ext cx="307" cy="384"/>
                  <a:chOff x="605" y="1776"/>
                  <a:chExt cx="307" cy="384"/>
                </a:xfrm>
              </p:grpSpPr>
              <p:sp>
                <p:nvSpPr>
                  <p:cNvPr id="162879" name="Rectangle 139"/>
                  <p:cNvSpPr>
                    <a:spLocks noChangeArrowheads="1"/>
                  </p:cNvSpPr>
                  <p:nvPr/>
                </p:nvSpPr>
                <p:spPr bwMode="auto">
                  <a:xfrm>
                    <a:off x="605" y="1968"/>
                    <a:ext cx="307" cy="192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1pPr>
                    <a:lvl2pPr marL="742950" indent="-28575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2pPr>
                    <a:lvl3pPr marL="11430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3pPr>
                    <a:lvl4pPr marL="16002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4pPr>
                    <a:lvl5pPr marL="20574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9pPr>
                  </a:lstStyle>
                  <a:p>
                    <a:endParaRPr lang="zh-CN" altLang="en-US"/>
                  </a:p>
                </p:txBody>
              </p:sp>
              <p:sp>
                <p:nvSpPr>
                  <p:cNvPr id="162880" name="Rectangle 140"/>
                  <p:cNvSpPr>
                    <a:spLocks noChangeArrowheads="1"/>
                  </p:cNvSpPr>
                  <p:nvPr/>
                </p:nvSpPr>
                <p:spPr bwMode="auto">
                  <a:xfrm>
                    <a:off x="605" y="1776"/>
                    <a:ext cx="307" cy="19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1pPr>
                    <a:lvl2pPr marL="742950" indent="-28575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2pPr>
                    <a:lvl3pPr marL="11430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3pPr>
                    <a:lvl4pPr marL="16002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4pPr>
                    <a:lvl5pPr marL="20574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9pPr>
                  </a:lstStyle>
                  <a:p>
                    <a:pPr algn="ctr">
                      <a:lnSpc>
                        <a:spcPct val="90000"/>
                      </a:lnSpc>
                      <a:spcBef>
                        <a:spcPct val="30000"/>
                      </a:spcBef>
                    </a:pPr>
                    <a:r>
                      <a:rPr lang="en-US" altLang="zh-CN" sz="1400">
                        <a:solidFill>
                          <a:schemeClr val="tx2"/>
                        </a:solidFill>
                        <a:latin typeface="Helvetica" charset="0"/>
                      </a:rPr>
                      <a:t>8</a:t>
                    </a:r>
                  </a:p>
                </p:txBody>
              </p:sp>
            </p:grpSp>
            <p:grpSp>
              <p:nvGrpSpPr>
                <p:cNvPr id="162855" name="Group 141"/>
                <p:cNvGrpSpPr>
                  <a:grpSpLocks/>
                </p:cNvGrpSpPr>
                <p:nvPr/>
              </p:nvGrpSpPr>
              <p:grpSpPr bwMode="auto">
                <a:xfrm>
                  <a:off x="2447" y="2880"/>
                  <a:ext cx="307" cy="384"/>
                  <a:chOff x="605" y="1776"/>
                  <a:chExt cx="307" cy="384"/>
                </a:xfrm>
              </p:grpSpPr>
              <p:sp>
                <p:nvSpPr>
                  <p:cNvPr id="162877" name="Rectangle 142"/>
                  <p:cNvSpPr>
                    <a:spLocks noChangeArrowheads="1"/>
                  </p:cNvSpPr>
                  <p:nvPr/>
                </p:nvSpPr>
                <p:spPr bwMode="auto">
                  <a:xfrm>
                    <a:off x="605" y="1968"/>
                    <a:ext cx="307" cy="192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1pPr>
                    <a:lvl2pPr marL="742950" indent="-28575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2pPr>
                    <a:lvl3pPr marL="11430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3pPr>
                    <a:lvl4pPr marL="16002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4pPr>
                    <a:lvl5pPr marL="20574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9pPr>
                  </a:lstStyle>
                  <a:p>
                    <a:endParaRPr lang="zh-CN" altLang="en-US"/>
                  </a:p>
                </p:txBody>
              </p:sp>
              <p:sp>
                <p:nvSpPr>
                  <p:cNvPr id="162878" name="Rectangle 143"/>
                  <p:cNvSpPr>
                    <a:spLocks noChangeArrowheads="1"/>
                  </p:cNvSpPr>
                  <p:nvPr/>
                </p:nvSpPr>
                <p:spPr bwMode="auto">
                  <a:xfrm>
                    <a:off x="605" y="1776"/>
                    <a:ext cx="307" cy="19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1pPr>
                    <a:lvl2pPr marL="742950" indent="-28575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2pPr>
                    <a:lvl3pPr marL="11430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3pPr>
                    <a:lvl4pPr marL="16002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4pPr>
                    <a:lvl5pPr marL="20574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9pPr>
                  </a:lstStyle>
                  <a:p>
                    <a:pPr algn="ctr">
                      <a:lnSpc>
                        <a:spcPct val="90000"/>
                      </a:lnSpc>
                      <a:spcBef>
                        <a:spcPct val="30000"/>
                      </a:spcBef>
                    </a:pPr>
                    <a:r>
                      <a:rPr lang="en-US" altLang="zh-CN" sz="1400">
                        <a:solidFill>
                          <a:schemeClr val="tx2"/>
                        </a:solidFill>
                        <a:latin typeface="Helvetica" charset="0"/>
                      </a:rPr>
                      <a:t>7</a:t>
                    </a:r>
                  </a:p>
                </p:txBody>
              </p:sp>
            </p:grpSp>
            <p:grpSp>
              <p:nvGrpSpPr>
                <p:cNvPr id="162856" name="Group 144"/>
                <p:cNvGrpSpPr>
                  <a:grpSpLocks/>
                </p:cNvGrpSpPr>
                <p:nvPr/>
              </p:nvGrpSpPr>
              <p:grpSpPr bwMode="auto">
                <a:xfrm>
                  <a:off x="2754" y="2880"/>
                  <a:ext cx="307" cy="384"/>
                  <a:chOff x="605" y="1776"/>
                  <a:chExt cx="307" cy="384"/>
                </a:xfrm>
              </p:grpSpPr>
              <p:sp>
                <p:nvSpPr>
                  <p:cNvPr id="162875" name="Rectangle 145"/>
                  <p:cNvSpPr>
                    <a:spLocks noChangeArrowheads="1"/>
                  </p:cNvSpPr>
                  <p:nvPr/>
                </p:nvSpPr>
                <p:spPr bwMode="auto">
                  <a:xfrm>
                    <a:off x="605" y="1968"/>
                    <a:ext cx="307" cy="192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1pPr>
                    <a:lvl2pPr marL="742950" indent="-28575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2pPr>
                    <a:lvl3pPr marL="11430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3pPr>
                    <a:lvl4pPr marL="16002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4pPr>
                    <a:lvl5pPr marL="20574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9pPr>
                  </a:lstStyle>
                  <a:p>
                    <a:endParaRPr lang="zh-CN" altLang="en-US"/>
                  </a:p>
                </p:txBody>
              </p:sp>
              <p:sp>
                <p:nvSpPr>
                  <p:cNvPr id="162876" name="Rectangle 146"/>
                  <p:cNvSpPr>
                    <a:spLocks noChangeArrowheads="1"/>
                  </p:cNvSpPr>
                  <p:nvPr/>
                </p:nvSpPr>
                <p:spPr bwMode="auto">
                  <a:xfrm>
                    <a:off x="605" y="1776"/>
                    <a:ext cx="307" cy="19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1pPr>
                    <a:lvl2pPr marL="742950" indent="-28575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2pPr>
                    <a:lvl3pPr marL="11430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3pPr>
                    <a:lvl4pPr marL="16002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4pPr>
                    <a:lvl5pPr marL="20574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9pPr>
                  </a:lstStyle>
                  <a:p>
                    <a:pPr algn="ctr">
                      <a:lnSpc>
                        <a:spcPct val="90000"/>
                      </a:lnSpc>
                      <a:spcBef>
                        <a:spcPct val="30000"/>
                      </a:spcBef>
                    </a:pPr>
                    <a:r>
                      <a:rPr lang="en-US" altLang="zh-CN" sz="1400">
                        <a:solidFill>
                          <a:schemeClr val="tx2"/>
                        </a:solidFill>
                        <a:latin typeface="Helvetica" charset="0"/>
                      </a:rPr>
                      <a:t>6</a:t>
                    </a:r>
                  </a:p>
                </p:txBody>
              </p:sp>
            </p:grpSp>
            <p:grpSp>
              <p:nvGrpSpPr>
                <p:cNvPr id="162857" name="Group 147"/>
                <p:cNvGrpSpPr>
                  <a:grpSpLocks/>
                </p:cNvGrpSpPr>
                <p:nvPr/>
              </p:nvGrpSpPr>
              <p:grpSpPr bwMode="auto">
                <a:xfrm>
                  <a:off x="3061" y="2880"/>
                  <a:ext cx="307" cy="384"/>
                  <a:chOff x="605" y="1776"/>
                  <a:chExt cx="307" cy="384"/>
                </a:xfrm>
              </p:grpSpPr>
              <p:sp>
                <p:nvSpPr>
                  <p:cNvPr id="162873" name="Rectangle 148"/>
                  <p:cNvSpPr>
                    <a:spLocks noChangeArrowheads="1"/>
                  </p:cNvSpPr>
                  <p:nvPr/>
                </p:nvSpPr>
                <p:spPr bwMode="auto">
                  <a:xfrm>
                    <a:off x="605" y="1968"/>
                    <a:ext cx="307" cy="192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1pPr>
                    <a:lvl2pPr marL="742950" indent="-28575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2pPr>
                    <a:lvl3pPr marL="11430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3pPr>
                    <a:lvl4pPr marL="16002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4pPr>
                    <a:lvl5pPr marL="20574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9pPr>
                  </a:lstStyle>
                  <a:p>
                    <a:endParaRPr lang="zh-CN" altLang="en-US"/>
                  </a:p>
                </p:txBody>
              </p:sp>
              <p:sp>
                <p:nvSpPr>
                  <p:cNvPr id="162874" name="Rectangle 149"/>
                  <p:cNvSpPr>
                    <a:spLocks noChangeArrowheads="1"/>
                  </p:cNvSpPr>
                  <p:nvPr/>
                </p:nvSpPr>
                <p:spPr bwMode="auto">
                  <a:xfrm>
                    <a:off x="605" y="1776"/>
                    <a:ext cx="307" cy="19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1pPr>
                    <a:lvl2pPr marL="742950" indent="-28575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2pPr>
                    <a:lvl3pPr marL="11430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3pPr>
                    <a:lvl4pPr marL="16002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4pPr>
                    <a:lvl5pPr marL="20574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9pPr>
                  </a:lstStyle>
                  <a:p>
                    <a:pPr algn="ctr">
                      <a:lnSpc>
                        <a:spcPct val="90000"/>
                      </a:lnSpc>
                      <a:spcBef>
                        <a:spcPct val="30000"/>
                      </a:spcBef>
                    </a:pPr>
                    <a:r>
                      <a:rPr lang="en-US" altLang="zh-CN" sz="1400">
                        <a:solidFill>
                          <a:schemeClr val="tx2"/>
                        </a:solidFill>
                        <a:latin typeface="Helvetica" charset="0"/>
                      </a:rPr>
                      <a:t>5</a:t>
                    </a:r>
                  </a:p>
                </p:txBody>
              </p:sp>
            </p:grpSp>
            <p:grpSp>
              <p:nvGrpSpPr>
                <p:cNvPr id="162858" name="Group 150"/>
                <p:cNvGrpSpPr>
                  <a:grpSpLocks/>
                </p:cNvGrpSpPr>
                <p:nvPr/>
              </p:nvGrpSpPr>
              <p:grpSpPr bwMode="auto">
                <a:xfrm>
                  <a:off x="3368" y="2880"/>
                  <a:ext cx="307" cy="384"/>
                  <a:chOff x="605" y="1776"/>
                  <a:chExt cx="307" cy="384"/>
                </a:xfrm>
              </p:grpSpPr>
              <p:sp>
                <p:nvSpPr>
                  <p:cNvPr id="162871" name="Rectangle 151"/>
                  <p:cNvSpPr>
                    <a:spLocks noChangeArrowheads="1"/>
                  </p:cNvSpPr>
                  <p:nvPr/>
                </p:nvSpPr>
                <p:spPr bwMode="auto">
                  <a:xfrm>
                    <a:off x="605" y="1968"/>
                    <a:ext cx="307" cy="192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1pPr>
                    <a:lvl2pPr marL="742950" indent="-28575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2pPr>
                    <a:lvl3pPr marL="11430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3pPr>
                    <a:lvl4pPr marL="16002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4pPr>
                    <a:lvl5pPr marL="20574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9pPr>
                  </a:lstStyle>
                  <a:p>
                    <a:endParaRPr lang="zh-CN" altLang="en-US"/>
                  </a:p>
                </p:txBody>
              </p:sp>
              <p:sp>
                <p:nvSpPr>
                  <p:cNvPr id="162872" name="Rectangle 152"/>
                  <p:cNvSpPr>
                    <a:spLocks noChangeArrowheads="1"/>
                  </p:cNvSpPr>
                  <p:nvPr/>
                </p:nvSpPr>
                <p:spPr bwMode="auto">
                  <a:xfrm>
                    <a:off x="605" y="1776"/>
                    <a:ext cx="307" cy="19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1pPr>
                    <a:lvl2pPr marL="742950" indent="-28575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2pPr>
                    <a:lvl3pPr marL="11430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3pPr>
                    <a:lvl4pPr marL="16002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4pPr>
                    <a:lvl5pPr marL="20574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9pPr>
                  </a:lstStyle>
                  <a:p>
                    <a:pPr algn="ctr">
                      <a:lnSpc>
                        <a:spcPct val="90000"/>
                      </a:lnSpc>
                      <a:spcBef>
                        <a:spcPct val="30000"/>
                      </a:spcBef>
                    </a:pPr>
                    <a:r>
                      <a:rPr lang="en-US" altLang="zh-CN" sz="1400">
                        <a:solidFill>
                          <a:schemeClr val="tx2"/>
                        </a:solidFill>
                        <a:latin typeface="Helvetica" charset="0"/>
                      </a:rPr>
                      <a:t>4</a:t>
                    </a:r>
                  </a:p>
                </p:txBody>
              </p:sp>
            </p:grpSp>
            <p:grpSp>
              <p:nvGrpSpPr>
                <p:cNvPr id="162859" name="Group 153"/>
                <p:cNvGrpSpPr>
                  <a:grpSpLocks/>
                </p:cNvGrpSpPr>
                <p:nvPr/>
              </p:nvGrpSpPr>
              <p:grpSpPr bwMode="auto">
                <a:xfrm>
                  <a:off x="3675" y="2880"/>
                  <a:ext cx="307" cy="384"/>
                  <a:chOff x="605" y="1776"/>
                  <a:chExt cx="307" cy="384"/>
                </a:xfrm>
              </p:grpSpPr>
              <p:sp>
                <p:nvSpPr>
                  <p:cNvPr id="162869" name="Rectangle 154"/>
                  <p:cNvSpPr>
                    <a:spLocks noChangeArrowheads="1"/>
                  </p:cNvSpPr>
                  <p:nvPr/>
                </p:nvSpPr>
                <p:spPr bwMode="auto">
                  <a:xfrm>
                    <a:off x="605" y="1968"/>
                    <a:ext cx="307" cy="192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1pPr>
                    <a:lvl2pPr marL="742950" indent="-28575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2pPr>
                    <a:lvl3pPr marL="11430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3pPr>
                    <a:lvl4pPr marL="16002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4pPr>
                    <a:lvl5pPr marL="20574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9pPr>
                  </a:lstStyle>
                  <a:p>
                    <a:endParaRPr lang="zh-CN" altLang="en-US"/>
                  </a:p>
                </p:txBody>
              </p:sp>
              <p:sp>
                <p:nvSpPr>
                  <p:cNvPr id="162870" name="Rectangle 155"/>
                  <p:cNvSpPr>
                    <a:spLocks noChangeArrowheads="1"/>
                  </p:cNvSpPr>
                  <p:nvPr/>
                </p:nvSpPr>
                <p:spPr bwMode="auto">
                  <a:xfrm>
                    <a:off x="605" y="1776"/>
                    <a:ext cx="307" cy="19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1pPr>
                    <a:lvl2pPr marL="742950" indent="-28575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2pPr>
                    <a:lvl3pPr marL="11430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3pPr>
                    <a:lvl4pPr marL="16002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4pPr>
                    <a:lvl5pPr marL="20574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9pPr>
                  </a:lstStyle>
                  <a:p>
                    <a:pPr algn="ctr">
                      <a:lnSpc>
                        <a:spcPct val="90000"/>
                      </a:lnSpc>
                      <a:spcBef>
                        <a:spcPct val="30000"/>
                      </a:spcBef>
                    </a:pPr>
                    <a:r>
                      <a:rPr lang="en-US" altLang="zh-CN" sz="1400">
                        <a:solidFill>
                          <a:schemeClr val="tx2"/>
                        </a:solidFill>
                        <a:latin typeface="Helvetica" charset="0"/>
                      </a:rPr>
                      <a:t>3</a:t>
                    </a:r>
                  </a:p>
                </p:txBody>
              </p:sp>
            </p:grpSp>
            <p:grpSp>
              <p:nvGrpSpPr>
                <p:cNvPr id="162860" name="Group 156"/>
                <p:cNvGrpSpPr>
                  <a:grpSpLocks/>
                </p:cNvGrpSpPr>
                <p:nvPr/>
              </p:nvGrpSpPr>
              <p:grpSpPr bwMode="auto">
                <a:xfrm>
                  <a:off x="3982" y="2880"/>
                  <a:ext cx="307" cy="384"/>
                  <a:chOff x="605" y="1776"/>
                  <a:chExt cx="307" cy="384"/>
                </a:xfrm>
              </p:grpSpPr>
              <p:sp>
                <p:nvSpPr>
                  <p:cNvPr id="162867" name="Rectangle 157"/>
                  <p:cNvSpPr>
                    <a:spLocks noChangeArrowheads="1"/>
                  </p:cNvSpPr>
                  <p:nvPr/>
                </p:nvSpPr>
                <p:spPr bwMode="auto">
                  <a:xfrm>
                    <a:off x="605" y="1968"/>
                    <a:ext cx="307" cy="192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1pPr>
                    <a:lvl2pPr marL="742950" indent="-28575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2pPr>
                    <a:lvl3pPr marL="11430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3pPr>
                    <a:lvl4pPr marL="16002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4pPr>
                    <a:lvl5pPr marL="20574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9pPr>
                  </a:lstStyle>
                  <a:p>
                    <a:endParaRPr lang="zh-CN" altLang="en-US"/>
                  </a:p>
                </p:txBody>
              </p:sp>
              <p:sp>
                <p:nvSpPr>
                  <p:cNvPr id="162868" name="Rectangle 158"/>
                  <p:cNvSpPr>
                    <a:spLocks noChangeArrowheads="1"/>
                  </p:cNvSpPr>
                  <p:nvPr/>
                </p:nvSpPr>
                <p:spPr bwMode="auto">
                  <a:xfrm>
                    <a:off x="605" y="1776"/>
                    <a:ext cx="307" cy="19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1pPr>
                    <a:lvl2pPr marL="742950" indent="-28575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2pPr>
                    <a:lvl3pPr marL="11430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3pPr>
                    <a:lvl4pPr marL="16002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4pPr>
                    <a:lvl5pPr marL="20574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9pPr>
                  </a:lstStyle>
                  <a:p>
                    <a:pPr algn="ctr">
                      <a:lnSpc>
                        <a:spcPct val="90000"/>
                      </a:lnSpc>
                      <a:spcBef>
                        <a:spcPct val="30000"/>
                      </a:spcBef>
                    </a:pPr>
                    <a:r>
                      <a:rPr lang="en-US" altLang="zh-CN" sz="1400">
                        <a:solidFill>
                          <a:schemeClr val="tx2"/>
                        </a:solidFill>
                        <a:latin typeface="Helvetica" charset="0"/>
                      </a:rPr>
                      <a:t>2</a:t>
                    </a:r>
                  </a:p>
                </p:txBody>
              </p:sp>
            </p:grpSp>
            <p:grpSp>
              <p:nvGrpSpPr>
                <p:cNvPr id="162861" name="Group 159"/>
                <p:cNvGrpSpPr>
                  <a:grpSpLocks/>
                </p:cNvGrpSpPr>
                <p:nvPr/>
              </p:nvGrpSpPr>
              <p:grpSpPr bwMode="auto">
                <a:xfrm>
                  <a:off x="4289" y="2880"/>
                  <a:ext cx="307" cy="384"/>
                  <a:chOff x="605" y="1776"/>
                  <a:chExt cx="307" cy="384"/>
                </a:xfrm>
              </p:grpSpPr>
              <p:sp>
                <p:nvSpPr>
                  <p:cNvPr id="162865" name="Rectangle 160"/>
                  <p:cNvSpPr>
                    <a:spLocks noChangeArrowheads="1"/>
                  </p:cNvSpPr>
                  <p:nvPr/>
                </p:nvSpPr>
                <p:spPr bwMode="auto">
                  <a:xfrm>
                    <a:off x="605" y="1968"/>
                    <a:ext cx="307" cy="192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1pPr>
                    <a:lvl2pPr marL="742950" indent="-28575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2pPr>
                    <a:lvl3pPr marL="11430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3pPr>
                    <a:lvl4pPr marL="16002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4pPr>
                    <a:lvl5pPr marL="20574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9pPr>
                  </a:lstStyle>
                  <a:p>
                    <a:endParaRPr lang="zh-CN" altLang="en-US"/>
                  </a:p>
                </p:txBody>
              </p:sp>
              <p:sp>
                <p:nvSpPr>
                  <p:cNvPr id="162866" name="Rectangle 161"/>
                  <p:cNvSpPr>
                    <a:spLocks noChangeArrowheads="1"/>
                  </p:cNvSpPr>
                  <p:nvPr/>
                </p:nvSpPr>
                <p:spPr bwMode="auto">
                  <a:xfrm>
                    <a:off x="605" y="1776"/>
                    <a:ext cx="307" cy="19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1pPr>
                    <a:lvl2pPr marL="742950" indent="-28575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2pPr>
                    <a:lvl3pPr marL="11430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3pPr>
                    <a:lvl4pPr marL="16002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4pPr>
                    <a:lvl5pPr marL="20574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9pPr>
                  </a:lstStyle>
                  <a:p>
                    <a:pPr algn="ctr">
                      <a:lnSpc>
                        <a:spcPct val="90000"/>
                      </a:lnSpc>
                      <a:spcBef>
                        <a:spcPct val="30000"/>
                      </a:spcBef>
                    </a:pPr>
                    <a:r>
                      <a:rPr lang="en-US" altLang="zh-CN" sz="1400">
                        <a:solidFill>
                          <a:schemeClr val="tx2"/>
                        </a:solidFill>
                        <a:latin typeface="Helvetica" charset="0"/>
                      </a:rPr>
                      <a:t>1</a:t>
                    </a:r>
                  </a:p>
                </p:txBody>
              </p:sp>
            </p:grpSp>
            <p:grpSp>
              <p:nvGrpSpPr>
                <p:cNvPr id="162862" name="Group 162"/>
                <p:cNvGrpSpPr>
                  <a:grpSpLocks/>
                </p:cNvGrpSpPr>
                <p:nvPr/>
              </p:nvGrpSpPr>
              <p:grpSpPr bwMode="auto">
                <a:xfrm>
                  <a:off x="4596" y="2880"/>
                  <a:ext cx="307" cy="384"/>
                  <a:chOff x="605" y="1776"/>
                  <a:chExt cx="307" cy="384"/>
                </a:xfrm>
              </p:grpSpPr>
              <p:sp>
                <p:nvSpPr>
                  <p:cNvPr id="162863" name="Rectangle 163"/>
                  <p:cNvSpPr>
                    <a:spLocks noChangeArrowheads="1"/>
                  </p:cNvSpPr>
                  <p:nvPr/>
                </p:nvSpPr>
                <p:spPr bwMode="auto">
                  <a:xfrm>
                    <a:off x="605" y="1968"/>
                    <a:ext cx="307" cy="192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1pPr>
                    <a:lvl2pPr marL="742950" indent="-28575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2pPr>
                    <a:lvl3pPr marL="11430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3pPr>
                    <a:lvl4pPr marL="16002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4pPr>
                    <a:lvl5pPr marL="20574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9pPr>
                  </a:lstStyle>
                  <a:p>
                    <a:endParaRPr lang="zh-CN" altLang="en-US"/>
                  </a:p>
                </p:txBody>
              </p:sp>
              <p:sp>
                <p:nvSpPr>
                  <p:cNvPr id="162864" name="Rectangle 164"/>
                  <p:cNvSpPr>
                    <a:spLocks noChangeArrowheads="1"/>
                  </p:cNvSpPr>
                  <p:nvPr/>
                </p:nvSpPr>
                <p:spPr bwMode="auto">
                  <a:xfrm>
                    <a:off x="605" y="1776"/>
                    <a:ext cx="307" cy="19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1pPr>
                    <a:lvl2pPr marL="742950" indent="-28575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2pPr>
                    <a:lvl3pPr marL="11430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3pPr>
                    <a:lvl4pPr marL="16002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4pPr>
                    <a:lvl5pPr marL="20574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9pPr>
                  </a:lstStyle>
                  <a:p>
                    <a:pPr algn="ctr">
                      <a:lnSpc>
                        <a:spcPct val="90000"/>
                      </a:lnSpc>
                      <a:spcBef>
                        <a:spcPct val="30000"/>
                      </a:spcBef>
                    </a:pPr>
                    <a:r>
                      <a:rPr lang="en-US" altLang="zh-CN" sz="1400">
                        <a:solidFill>
                          <a:schemeClr val="tx2"/>
                        </a:solidFill>
                        <a:latin typeface="Helvetica" charset="0"/>
                      </a:rPr>
                      <a:t>0</a:t>
                    </a:r>
                  </a:p>
                </p:txBody>
              </p:sp>
            </p:grpSp>
          </p:grpSp>
          <p:grpSp>
            <p:nvGrpSpPr>
              <p:cNvPr id="162836" name="Group 165"/>
              <p:cNvGrpSpPr>
                <a:grpSpLocks/>
              </p:cNvGrpSpPr>
              <p:nvPr/>
            </p:nvGrpSpPr>
            <p:grpSpPr bwMode="auto">
              <a:xfrm>
                <a:off x="2931" y="2444"/>
                <a:ext cx="1842" cy="212"/>
                <a:chOff x="3061" y="2261"/>
                <a:chExt cx="1842" cy="212"/>
              </a:xfrm>
            </p:grpSpPr>
            <p:sp>
              <p:nvSpPr>
                <p:cNvPr id="162849" name="Line 166"/>
                <p:cNvSpPr>
                  <a:spLocks noChangeShapeType="1"/>
                </p:cNvSpPr>
                <p:nvPr/>
              </p:nvSpPr>
              <p:spPr bwMode="auto">
                <a:xfrm>
                  <a:off x="3061" y="2352"/>
                  <a:ext cx="184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arrow" w="med" len="med"/>
                  <a:tailEnd type="arrow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90487" tIns="44450" rIns="90487" bIns="44450"/>
                <a:lstStyle/>
                <a:p>
                  <a:endParaRPr lang="zh-CN" altLang="en-US"/>
                </a:p>
              </p:txBody>
            </p:sp>
            <p:sp>
              <p:nvSpPr>
                <p:cNvPr id="162850" name="Text Box 167"/>
                <p:cNvSpPr txBox="1">
                  <a:spLocks noChangeArrowheads="1"/>
                </p:cNvSpPr>
                <p:nvPr/>
              </p:nvSpPr>
              <p:spPr bwMode="auto">
                <a:xfrm>
                  <a:off x="3770" y="2261"/>
                  <a:ext cx="418" cy="21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>
                  <a:spAutoFit/>
                </a:bodyPr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800">
                      <a:solidFill>
                        <a:schemeClr val="tx2"/>
                      </a:solidFill>
                      <a:latin typeface="Helvetica" charset="0"/>
                    </a:rPr>
                    <a:t>PPO</a:t>
                  </a:r>
                </a:p>
              </p:txBody>
            </p:sp>
          </p:grpSp>
          <p:grpSp>
            <p:nvGrpSpPr>
              <p:cNvPr id="162837" name="Group 168"/>
              <p:cNvGrpSpPr>
                <a:grpSpLocks/>
              </p:cNvGrpSpPr>
              <p:nvPr/>
            </p:nvGrpSpPr>
            <p:grpSpPr bwMode="auto">
              <a:xfrm>
                <a:off x="1107" y="2444"/>
                <a:ext cx="1842" cy="212"/>
                <a:chOff x="3061" y="2261"/>
                <a:chExt cx="1842" cy="212"/>
              </a:xfrm>
            </p:grpSpPr>
            <p:sp>
              <p:nvSpPr>
                <p:cNvPr id="162847" name="Line 169"/>
                <p:cNvSpPr>
                  <a:spLocks noChangeShapeType="1"/>
                </p:cNvSpPr>
                <p:nvPr/>
              </p:nvSpPr>
              <p:spPr bwMode="auto">
                <a:xfrm>
                  <a:off x="3061" y="2352"/>
                  <a:ext cx="184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arrow" w="med" len="med"/>
                  <a:tailEnd type="arrow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90487" tIns="44450" rIns="90487" bIns="44450"/>
                <a:lstStyle/>
                <a:p>
                  <a:endParaRPr lang="zh-CN" altLang="en-US"/>
                </a:p>
              </p:txBody>
            </p:sp>
            <p:sp>
              <p:nvSpPr>
                <p:cNvPr id="162848" name="Text Box 170"/>
                <p:cNvSpPr txBox="1">
                  <a:spLocks noChangeArrowheads="1"/>
                </p:cNvSpPr>
                <p:nvPr/>
              </p:nvSpPr>
              <p:spPr bwMode="auto">
                <a:xfrm>
                  <a:off x="3770" y="2261"/>
                  <a:ext cx="410" cy="21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>
                  <a:spAutoFit/>
                </a:bodyPr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800">
                      <a:solidFill>
                        <a:schemeClr val="tx2"/>
                      </a:solidFill>
                      <a:latin typeface="Helvetica" charset="0"/>
                    </a:rPr>
                    <a:t>PPN</a:t>
                  </a:r>
                </a:p>
              </p:txBody>
            </p:sp>
          </p:grpSp>
          <p:grpSp>
            <p:nvGrpSpPr>
              <p:cNvPr id="162838" name="Group 171"/>
              <p:cNvGrpSpPr>
                <a:grpSpLocks/>
              </p:cNvGrpSpPr>
              <p:nvPr/>
            </p:nvGrpSpPr>
            <p:grpSpPr bwMode="auto">
              <a:xfrm>
                <a:off x="4130" y="1789"/>
                <a:ext cx="625" cy="195"/>
                <a:chOff x="2445" y="1645"/>
                <a:chExt cx="625" cy="195"/>
              </a:xfrm>
            </p:grpSpPr>
            <p:sp>
              <p:nvSpPr>
                <p:cNvPr id="162845" name="Line 172"/>
                <p:cNvSpPr>
                  <a:spLocks noChangeShapeType="1"/>
                </p:cNvSpPr>
                <p:nvPr/>
              </p:nvSpPr>
              <p:spPr bwMode="auto">
                <a:xfrm>
                  <a:off x="2445" y="1723"/>
                  <a:ext cx="625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arrow" w="med" len="med"/>
                  <a:tailEnd type="arrow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90487" tIns="44450" rIns="90487" bIns="44450"/>
                <a:lstStyle/>
                <a:p>
                  <a:endParaRPr lang="zh-CN" altLang="en-US"/>
                </a:p>
              </p:txBody>
            </p:sp>
            <p:sp>
              <p:nvSpPr>
                <p:cNvPr id="162846" name="Text Box 173"/>
                <p:cNvSpPr txBox="1">
                  <a:spLocks noChangeArrowheads="1"/>
                </p:cNvSpPr>
                <p:nvPr/>
              </p:nvSpPr>
              <p:spPr bwMode="auto">
                <a:xfrm>
                  <a:off x="2632" y="1645"/>
                  <a:ext cx="306" cy="19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>
                  <a:spAutoFit/>
                </a:bodyPr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600">
                      <a:solidFill>
                        <a:schemeClr val="tx2"/>
                      </a:solidFill>
                      <a:latin typeface="Helvetica" charset="0"/>
                    </a:rPr>
                    <a:t>CO</a:t>
                  </a:r>
                </a:p>
              </p:txBody>
            </p:sp>
          </p:grpSp>
          <p:grpSp>
            <p:nvGrpSpPr>
              <p:cNvPr id="162839" name="Group 174"/>
              <p:cNvGrpSpPr>
                <a:grpSpLocks/>
              </p:cNvGrpSpPr>
              <p:nvPr/>
            </p:nvGrpSpPr>
            <p:grpSpPr bwMode="auto">
              <a:xfrm>
                <a:off x="2920" y="1776"/>
                <a:ext cx="1214" cy="195"/>
                <a:chOff x="2445" y="1645"/>
                <a:chExt cx="625" cy="195"/>
              </a:xfrm>
            </p:grpSpPr>
            <p:sp>
              <p:nvSpPr>
                <p:cNvPr id="162843" name="Line 175"/>
                <p:cNvSpPr>
                  <a:spLocks noChangeShapeType="1"/>
                </p:cNvSpPr>
                <p:nvPr/>
              </p:nvSpPr>
              <p:spPr bwMode="auto">
                <a:xfrm>
                  <a:off x="2445" y="1723"/>
                  <a:ext cx="625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arrow" w="med" len="med"/>
                  <a:tailEnd type="arrow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90487" tIns="44450" rIns="90487" bIns="44450"/>
                <a:lstStyle/>
                <a:p>
                  <a:endParaRPr lang="zh-CN" altLang="en-US"/>
                </a:p>
              </p:txBody>
            </p:sp>
            <p:sp>
              <p:nvSpPr>
                <p:cNvPr id="162844" name="Text Box 176"/>
                <p:cNvSpPr txBox="1">
                  <a:spLocks noChangeArrowheads="1"/>
                </p:cNvSpPr>
                <p:nvPr/>
              </p:nvSpPr>
              <p:spPr bwMode="auto">
                <a:xfrm>
                  <a:off x="2723" y="1645"/>
                  <a:ext cx="125" cy="19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>
                  <a:spAutoFit/>
                </a:bodyPr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600">
                      <a:solidFill>
                        <a:schemeClr val="tx2"/>
                      </a:solidFill>
                      <a:latin typeface="Helvetica" charset="0"/>
                    </a:rPr>
                    <a:t>CI</a:t>
                  </a:r>
                </a:p>
              </p:txBody>
            </p:sp>
          </p:grpSp>
          <p:grpSp>
            <p:nvGrpSpPr>
              <p:cNvPr id="162840" name="Group 177"/>
              <p:cNvGrpSpPr>
                <a:grpSpLocks/>
              </p:cNvGrpSpPr>
              <p:nvPr/>
            </p:nvGrpSpPr>
            <p:grpSpPr bwMode="auto">
              <a:xfrm>
                <a:off x="1078" y="1789"/>
                <a:ext cx="1824" cy="195"/>
                <a:chOff x="2445" y="1645"/>
                <a:chExt cx="625" cy="195"/>
              </a:xfrm>
            </p:grpSpPr>
            <p:sp>
              <p:nvSpPr>
                <p:cNvPr id="162841" name="Line 178"/>
                <p:cNvSpPr>
                  <a:spLocks noChangeShapeType="1"/>
                </p:cNvSpPr>
                <p:nvPr/>
              </p:nvSpPr>
              <p:spPr bwMode="auto">
                <a:xfrm>
                  <a:off x="2445" y="1723"/>
                  <a:ext cx="625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arrow" w="med" len="med"/>
                  <a:tailEnd type="arrow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90487" tIns="44450" rIns="90487" bIns="44450"/>
                <a:lstStyle/>
                <a:p>
                  <a:endParaRPr lang="zh-CN" altLang="en-US"/>
                </a:p>
              </p:txBody>
            </p:sp>
            <p:sp>
              <p:nvSpPr>
                <p:cNvPr id="162842" name="Text Box 179"/>
                <p:cNvSpPr txBox="1">
                  <a:spLocks noChangeArrowheads="1"/>
                </p:cNvSpPr>
                <p:nvPr/>
              </p:nvSpPr>
              <p:spPr bwMode="auto">
                <a:xfrm>
                  <a:off x="2737" y="1645"/>
                  <a:ext cx="97" cy="19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>
                  <a:spAutoFit/>
                </a:bodyPr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600">
                      <a:solidFill>
                        <a:schemeClr val="tx2"/>
                      </a:solidFill>
                      <a:latin typeface="Helvetica" charset="0"/>
                    </a:rPr>
                    <a:t>CT</a:t>
                  </a:r>
                </a:p>
              </p:txBody>
            </p:sp>
          </p:grpSp>
        </p:grpSp>
        <p:sp>
          <p:nvSpPr>
            <p:cNvPr id="162823" name="Text Box 180"/>
            <p:cNvSpPr txBox="1">
              <a:spLocks noChangeArrowheads="1"/>
            </p:cNvSpPr>
            <p:nvPr/>
          </p:nvSpPr>
          <p:spPr bwMode="auto">
            <a:xfrm>
              <a:off x="4704" y="3052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charset="0"/>
                </a:rPr>
                <a:t>0</a:t>
              </a:r>
            </a:p>
          </p:txBody>
        </p:sp>
        <p:sp>
          <p:nvSpPr>
            <p:cNvPr id="162824" name="Text Box 181"/>
            <p:cNvSpPr txBox="1">
              <a:spLocks noChangeArrowheads="1"/>
            </p:cNvSpPr>
            <p:nvPr/>
          </p:nvSpPr>
          <p:spPr bwMode="auto">
            <a:xfrm>
              <a:off x="4368" y="3052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charset="0"/>
                </a:rPr>
                <a:t>0</a:t>
              </a:r>
            </a:p>
          </p:txBody>
        </p:sp>
        <p:sp>
          <p:nvSpPr>
            <p:cNvPr id="162825" name="Text Box 182"/>
            <p:cNvSpPr txBox="1">
              <a:spLocks noChangeArrowheads="1"/>
            </p:cNvSpPr>
            <p:nvPr/>
          </p:nvSpPr>
          <p:spPr bwMode="auto">
            <a:xfrm>
              <a:off x="4080" y="3052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charset="0"/>
                </a:rPr>
                <a:t>1</a:t>
              </a:r>
            </a:p>
          </p:txBody>
        </p:sp>
        <p:sp>
          <p:nvSpPr>
            <p:cNvPr id="162826" name="Text Box 183"/>
            <p:cNvSpPr txBox="1">
              <a:spLocks noChangeArrowheads="1"/>
            </p:cNvSpPr>
            <p:nvPr/>
          </p:nvSpPr>
          <p:spPr bwMode="auto">
            <a:xfrm>
              <a:off x="3749" y="3052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charset="0"/>
                </a:rPr>
                <a:t>0</a:t>
              </a:r>
            </a:p>
          </p:txBody>
        </p:sp>
        <p:sp>
          <p:nvSpPr>
            <p:cNvPr id="162827" name="Text Box 184"/>
            <p:cNvSpPr txBox="1">
              <a:spLocks noChangeArrowheads="1"/>
            </p:cNvSpPr>
            <p:nvPr/>
          </p:nvSpPr>
          <p:spPr bwMode="auto">
            <a:xfrm>
              <a:off x="3456" y="3052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charset="0"/>
                </a:rPr>
                <a:t>1</a:t>
              </a:r>
            </a:p>
          </p:txBody>
        </p:sp>
        <p:sp>
          <p:nvSpPr>
            <p:cNvPr id="162828" name="Text Box 185"/>
            <p:cNvSpPr txBox="1">
              <a:spLocks noChangeArrowheads="1"/>
            </p:cNvSpPr>
            <p:nvPr/>
          </p:nvSpPr>
          <p:spPr bwMode="auto">
            <a:xfrm>
              <a:off x="3168" y="3052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charset="0"/>
                </a:rPr>
                <a:t>0</a:t>
              </a:r>
            </a:p>
          </p:txBody>
        </p:sp>
        <p:sp>
          <p:nvSpPr>
            <p:cNvPr id="162829" name="Text Box 186"/>
            <p:cNvSpPr txBox="1">
              <a:spLocks noChangeArrowheads="1"/>
            </p:cNvSpPr>
            <p:nvPr/>
          </p:nvSpPr>
          <p:spPr bwMode="auto">
            <a:xfrm>
              <a:off x="2832" y="3052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charset="0"/>
                </a:rPr>
                <a:t>1</a:t>
              </a:r>
            </a:p>
          </p:txBody>
        </p:sp>
        <p:sp>
          <p:nvSpPr>
            <p:cNvPr id="162830" name="Text Box 187"/>
            <p:cNvSpPr txBox="1">
              <a:spLocks noChangeArrowheads="1"/>
            </p:cNvSpPr>
            <p:nvPr/>
          </p:nvSpPr>
          <p:spPr bwMode="auto">
            <a:xfrm>
              <a:off x="2544" y="3052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charset="0"/>
                </a:rPr>
                <a:t>0</a:t>
              </a:r>
            </a:p>
          </p:txBody>
        </p:sp>
        <p:sp>
          <p:nvSpPr>
            <p:cNvPr id="162831" name="Text Box 188"/>
            <p:cNvSpPr txBox="1">
              <a:spLocks noChangeArrowheads="1"/>
            </p:cNvSpPr>
            <p:nvPr/>
          </p:nvSpPr>
          <p:spPr bwMode="auto">
            <a:xfrm>
              <a:off x="2213" y="3052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charset="0"/>
                </a:rPr>
                <a:t>1</a:t>
              </a:r>
            </a:p>
          </p:txBody>
        </p:sp>
        <p:sp>
          <p:nvSpPr>
            <p:cNvPr id="162832" name="Text Box 189"/>
            <p:cNvSpPr txBox="1">
              <a:spLocks noChangeArrowheads="1"/>
            </p:cNvSpPr>
            <p:nvPr/>
          </p:nvSpPr>
          <p:spPr bwMode="auto">
            <a:xfrm>
              <a:off x="1920" y="3052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charset="0"/>
                </a:rPr>
                <a:t>1</a:t>
              </a:r>
            </a:p>
          </p:txBody>
        </p:sp>
        <p:sp>
          <p:nvSpPr>
            <p:cNvPr id="162833" name="Text Box 190"/>
            <p:cNvSpPr txBox="1">
              <a:spLocks noChangeArrowheads="1"/>
            </p:cNvSpPr>
            <p:nvPr/>
          </p:nvSpPr>
          <p:spPr bwMode="auto">
            <a:xfrm>
              <a:off x="1632" y="3052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charset="0"/>
                </a:rPr>
                <a:t>0</a:t>
              </a:r>
            </a:p>
          </p:txBody>
        </p:sp>
        <p:sp>
          <p:nvSpPr>
            <p:cNvPr id="162834" name="Text Box 191"/>
            <p:cNvSpPr txBox="1">
              <a:spLocks noChangeArrowheads="1"/>
            </p:cNvSpPr>
            <p:nvPr/>
          </p:nvSpPr>
          <p:spPr bwMode="auto">
            <a:xfrm>
              <a:off x="1296" y="3052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charset="0"/>
                </a:rPr>
                <a:t>0</a:t>
              </a:r>
            </a:p>
          </p:txBody>
        </p:sp>
      </p:grpSp>
      <p:sp>
        <p:nvSpPr>
          <p:cNvPr id="162821" name="Rectangle 192"/>
          <p:cNvSpPr>
            <a:spLocks noChangeArrowheads="1"/>
          </p:cNvSpPr>
          <p:nvPr/>
        </p:nvSpPr>
        <p:spPr bwMode="auto">
          <a:xfrm>
            <a:off x="490538" y="3595688"/>
            <a:ext cx="79073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179388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lvl="1">
              <a:lnSpc>
                <a:spcPct val="90000"/>
              </a:lnSpc>
              <a:spcBef>
                <a:spcPct val="20000"/>
              </a:spcBef>
            </a:pPr>
            <a:r>
              <a:rPr lang="en-US" altLang="zh-CN" b="0" dirty="0"/>
              <a:t>Offset: </a:t>
            </a:r>
            <a:r>
              <a:rPr lang="en-US" altLang="zh-CN" u="sng" dirty="0">
                <a:solidFill>
                  <a:srgbClr val="FF0000"/>
                </a:solidFill>
              </a:rPr>
              <a:t>0x0</a:t>
            </a:r>
            <a:r>
              <a:rPr lang="en-US" altLang="zh-CN" b="0" dirty="0"/>
              <a:t>	 CI: </a:t>
            </a:r>
            <a:r>
              <a:rPr lang="en-US" altLang="zh-CN" u="sng" dirty="0">
                <a:solidFill>
                  <a:srgbClr val="FF0000"/>
                </a:solidFill>
              </a:rPr>
              <a:t>0x05</a:t>
            </a:r>
            <a:r>
              <a:rPr lang="en-US" altLang="zh-CN" b="0" dirty="0"/>
              <a:t>    CT: </a:t>
            </a:r>
            <a:r>
              <a:rPr lang="en-US" altLang="zh-CN" u="sng" dirty="0">
                <a:solidFill>
                  <a:srgbClr val="FF0000"/>
                </a:solidFill>
              </a:rPr>
              <a:t>0x0D</a:t>
            </a:r>
            <a:r>
              <a:rPr lang="en-US" altLang="zh-CN" b="0" dirty="0"/>
              <a:t>	  Hit? </a:t>
            </a:r>
            <a:r>
              <a:rPr lang="en-US" altLang="zh-CN" u="sng" dirty="0"/>
              <a:t>    </a:t>
            </a:r>
            <a:r>
              <a:rPr lang="en-US" altLang="zh-CN" b="0" dirty="0"/>
              <a:t>  Byte: </a:t>
            </a:r>
            <a:r>
              <a:rPr lang="en-US" altLang="zh-CN" u="sng" dirty="0"/>
              <a:t>0x    </a:t>
            </a:r>
            <a:r>
              <a:rPr lang="en-US" altLang="zh-CN" u="sng" dirty="0">
                <a:solidFill>
                  <a:schemeClr val="bg1"/>
                </a:solidFill>
              </a:rPr>
              <a:t>6</a:t>
            </a:r>
            <a:endParaRPr lang="zh-CN" altLang="en-US" u="sng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5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04D22609-CCE9-694C-8D83-505229EEC26B}" type="slidenum">
              <a:rPr lang="zh-CN" altLang="en-US" sz="1400" b="0">
                <a:latin typeface="Times New Roman" charset="0"/>
              </a:rPr>
              <a:pPr/>
              <a:t>66</a:t>
            </a:fld>
            <a:endParaRPr lang="en-US" altLang="zh-CN" sz="1400" b="0">
              <a:latin typeface="Times New Roman" charset="0"/>
            </a:endParaRPr>
          </a:p>
        </p:txBody>
      </p:sp>
      <p:sp>
        <p:nvSpPr>
          <p:cNvPr id="164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Simple Memory System Cache</a:t>
            </a:r>
          </a:p>
        </p:txBody>
      </p:sp>
      <p:grpSp>
        <p:nvGrpSpPr>
          <p:cNvPr id="164867" name="Group 5"/>
          <p:cNvGrpSpPr>
            <a:grpSpLocks/>
          </p:cNvGrpSpPr>
          <p:nvPr/>
        </p:nvGrpSpPr>
        <p:grpSpPr bwMode="auto">
          <a:xfrm>
            <a:off x="2973388" y="1760538"/>
            <a:ext cx="5865812" cy="1363662"/>
            <a:chOff x="1078" y="1791"/>
            <a:chExt cx="3695" cy="859"/>
          </a:xfrm>
        </p:grpSpPr>
        <p:grpSp>
          <p:nvGrpSpPr>
            <p:cNvPr id="165030" name="Group 6"/>
            <p:cNvGrpSpPr>
              <a:grpSpLocks/>
            </p:cNvGrpSpPr>
            <p:nvPr/>
          </p:nvGrpSpPr>
          <p:grpSpPr bwMode="auto">
            <a:xfrm>
              <a:off x="1078" y="2012"/>
              <a:ext cx="3684" cy="384"/>
              <a:chOff x="1219" y="2880"/>
              <a:chExt cx="3684" cy="384"/>
            </a:xfrm>
          </p:grpSpPr>
          <p:grpSp>
            <p:nvGrpSpPr>
              <p:cNvPr id="165046" name="Group 7"/>
              <p:cNvGrpSpPr>
                <a:grpSpLocks/>
              </p:cNvGrpSpPr>
              <p:nvPr/>
            </p:nvGrpSpPr>
            <p:grpSpPr bwMode="auto">
              <a:xfrm>
                <a:off x="1219" y="2880"/>
                <a:ext cx="307" cy="384"/>
                <a:chOff x="605" y="1776"/>
                <a:chExt cx="307" cy="384"/>
              </a:xfrm>
            </p:grpSpPr>
            <p:sp>
              <p:nvSpPr>
                <p:cNvPr id="165080" name="Rectangle 8"/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65081" name="Rectangle 9"/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charset="0"/>
                    </a:rPr>
                    <a:t>11</a:t>
                  </a:r>
                </a:p>
              </p:txBody>
            </p:sp>
          </p:grpSp>
          <p:grpSp>
            <p:nvGrpSpPr>
              <p:cNvPr id="165047" name="Group 10"/>
              <p:cNvGrpSpPr>
                <a:grpSpLocks/>
              </p:cNvGrpSpPr>
              <p:nvPr/>
            </p:nvGrpSpPr>
            <p:grpSpPr bwMode="auto">
              <a:xfrm>
                <a:off x="1526" y="2880"/>
                <a:ext cx="307" cy="384"/>
                <a:chOff x="605" y="1776"/>
                <a:chExt cx="307" cy="384"/>
              </a:xfrm>
            </p:grpSpPr>
            <p:sp>
              <p:nvSpPr>
                <p:cNvPr id="165078" name="Rectangle 11"/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65079" name="Rectangle 12"/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charset="0"/>
                    </a:rPr>
                    <a:t>10</a:t>
                  </a:r>
                </a:p>
              </p:txBody>
            </p:sp>
          </p:grpSp>
          <p:grpSp>
            <p:nvGrpSpPr>
              <p:cNvPr id="165048" name="Group 13"/>
              <p:cNvGrpSpPr>
                <a:grpSpLocks/>
              </p:cNvGrpSpPr>
              <p:nvPr/>
            </p:nvGrpSpPr>
            <p:grpSpPr bwMode="auto">
              <a:xfrm>
                <a:off x="1833" y="2880"/>
                <a:ext cx="307" cy="384"/>
                <a:chOff x="605" y="1776"/>
                <a:chExt cx="307" cy="384"/>
              </a:xfrm>
            </p:grpSpPr>
            <p:sp>
              <p:nvSpPr>
                <p:cNvPr id="165076" name="Rectangle 14"/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65077" name="Rectangle 15"/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charset="0"/>
                    </a:rPr>
                    <a:t>9</a:t>
                  </a:r>
                </a:p>
              </p:txBody>
            </p:sp>
          </p:grpSp>
          <p:grpSp>
            <p:nvGrpSpPr>
              <p:cNvPr id="165049" name="Group 16"/>
              <p:cNvGrpSpPr>
                <a:grpSpLocks/>
              </p:cNvGrpSpPr>
              <p:nvPr/>
            </p:nvGrpSpPr>
            <p:grpSpPr bwMode="auto">
              <a:xfrm>
                <a:off x="2140" y="2880"/>
                <a:ext cx="307" cy="384"/>
                <a:chOff x="605" y="1776"/>
                <a:chExt cx="307" cy="384"/>
              </a:xfrm>
            </p:grpSpPr>
            <p:sp>
              <p:nvSpPr>
                <p:cNvPr id="165074" name="Rectangle 17"/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65075" name="Rectangle 18"/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charset="0"/>
                    </a:rPr>
                    <a:t>8</a:t>
                  </a:r>
                </a:p>
              </p:txBody>
            </p:sp>
          </p:grpSp>
          <p:grpSp>
            <p:nvGrpSpPr>
              <p:cNvPr id="165050" name="Group 19"/>
              <p:cNvGrpSpPr>
                <a:grpSpLocks/>
              </p:cNvGrpSpPr>
              <p:nvPr/>
            </p:nvGrpSpPr>
            <p:grpSpPr bwMode="auto">
              <a:xfrm>
                <a:off x="2447" y="2880"/>
                <a:ext cx="307" cy="384"/>
                <a:chOff x="605" y="1776"/>
                <a:chExt cx="307" cy="384"/>
              </a:xfrm>
            </p:grpSpPr>
            <p:sp>
              <p:nvSpPr>
                <p:cNvPr id="165072" name="Rectangle 20"/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65073" name="Rectangle 21"/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charset="0"/>
                    </a:rPr>
                    <a:t>7</a:t>
                  </a:r>
                </a:p>
              </p:txBody>
            </p:sp>
          </p:grpSp>
          <p:grpSp>
            <p:nvGrpSpPr>
              <p:cNvPr id="165051" name="Group 22"/>
              <p:cNvGrpSpPr>
                <a:grpSpLocks/>
              </p:cNvGrpSpPr>
              <p:nvPr/>
            </p:nvGrpSpPr>
            <p:grpSpPr bwMode="auto">
              <a:xfrm>
                <a:off x="2754" y="2880"/>
                <a:ext cx="307" cy="384"/>
                <a:chOff x="605" y="1776"/>
                <a:chExt cx="307" cy="384"/>
              </a:xfrm>
            </p:grpSpPr>
            <p:sp>
              <p:nvSpPr>
                <p:cNvPr id="165070" name="Rectangle 23"/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65071" name="Rectangle 24"/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charset="0"/>
                    </a:rPr>
                    <a:t>6</a:t>
                  </a:r>
                </a:p>
              </p:txBody>
            </p:sp>
          </p:grpSp>
          <p:grpSp>
            <p:nvGrpSpPr>
              <p:cNvPr id="165052" name="Group 25"/>
              <p:cNvGrpSpPr>
                <a:grpSpLocks/>
              </p:cNvGrpSpPr>
              <p:nvPr/>
            </p:nvGrpSpPr>
            <p:grpSpPr bwMode="auto">
              <a:xfrm>
                <a:off x="3061" y="2880"/>
                <a:ext cx="307" cy="384"/>
                <a:chOff x="605" y="1776"/>
                <a:chExt cx="307" cy="384"/>
              </a:xfrm>
            </p:grpSpPr>
            <p:sp>
              <p:nvSpPr>
                <p:cNvPr id="165068" name="Rectangle 26"/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65069" name="Rectangle 27"/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charset="0"/>
                    </a:rPr>
                    <a:t>5</a:t>
                  </a:r>
                </a:p>
              </p:txBody>
            </p:sp>
          </p:grpSp>
          <p:grpSp>
            <p:nvGrpSpPr>
              <p:cNvPr id="165053" name="Group 28"/>
              <p:cNvGrpSpPr>
                <a:grpSpLocks/>
              </p:cNvGrpSpPr>
              <p:nvPr/>
            </p:nvGrpSpPr>
            <p:grpSpPr bwMode="auto">
              <a:xfrm>
                <a:off x="3368" y="2880"/>
                <a:ext cx="307" cy="384"/>
                <a:chOff x="605" y="1776"/>
                <a:chExt cx="307" cy="384"/>
              </a:xfrm>
            </p:grpSpPr>
            <p:sp>
              <p:nvSpPr>
                <p:cNvPr id="165066" name="Rectangle 29"/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65067" name="Rectangle 30"/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charset="0"/>
                    </a:rPr>
                    <a:t>4</a:t>
                  </a:r>
                </a:p>
              </p:txBody>
            </p:sp>
          </p:grpSp>
          <p:grpSp>
            <p:nvGrpSpPr>
              <p:cNvPr id="165054" name="Group 31"/>
              <p:cNvGrpSpPr>
                <a:grpSpLocks/>
              </p:cNvGrpSpPr>
              <p:nvPr/>
            </p:nvGrpSpPr>
            <p:grpSpPr bwMode="auto">
              <a:xfrm>
                <a:off x="3675" y="2880"/>
                <a:ext cx="307" cy="384"/>
                <a:chOff x="605" y="1776"/>
                <a:chExt cx="307" cy="384"/>
              </a:xfrm>
            </p:grpSpPr>
            <p:sp>
              <p:nvSpPr>
                <p:cNvPr id="165064" name="Rectangle 32"/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65065" name="Rectangle 33"/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charset="0"/>
                    </a:rPr>
                    <a:t>3</a:t>
                  </a:r>
                </a:p>
              </p:txBody>
            </p:sp>
          </p:grpSp>
          <p:grpSp>
            <p:nvGrpSpPr>
              <p:cNvPr id="165055" name="Group 34"/>
              <p:cNvGrpSpPr>
                <a:grpSpLocks/>
              </p:cNvGrpSpPr>
              <p:nvPr/>
            </p:nvGrpSpPr>
            <p:grpSpPr bwMode="auto">
              <a:xfrm>
                <a:off x="3982" y="2880"/>
                <a:ext cx="307" cy="384"/>
                <a:chOff x="605" y="1776"/>
                <a:chExt cx="307" cy="384"/>
              </a:xfrm>
            </p:grpSpPr>
            <p:sp>
              <p:nvSpPr>
                <p:cNvPr id="165062" name="Rectangle 35"/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65063" name="Rectangle 36"/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charset="0"/>
                    </a:rPr>
                    <a:t>2</a:t>
                  </a:r>
                </a:p>
              </p:txBody>
            </p:sp>
          </p:grpSp>
          <p:grpSp>
            <p:nvGrpSpPr>
              <p:cNvPr id="165056" name="Group 37"/>
              <p:cNvGrpSpPr>
                <a:grpSpLocks/>
              </p:cNvGrpSpPr>
              <p:nvPr/>
            </p:nvGrpSpPr>
            <p:grpSpPr bwMode="auto">
              <a:xfrm>
                <a:off x="4289" y="2880"/>
                <a:ext cx="307" cy="384"/>
                <a:chOff x="605" y="1776"/>
                <a:chExt cx="307" cy="384"/>
              </a:xfrm>
            </p:grpSpPr>
            <p:sp>
              <p:nvSpPr>
                <p:cNvPr id="165060" name="Rectangle 38"/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65061" name="Rectangle 39"/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charset="0"/>
                    </a:rPr>
                    <a:t>1</a:t>
                  </a:r>
                </a:p>
              </p:txBody>
            </p:sp>
          </p:grpSp>
          <p:grpSp>
            <p:nvGrpSpPr>
              <p:cNvPr id="165057" name="Group 40"/>
              <p:cNvGrpSpPr>
                <a:grpSpLocks/>
              </p:cNvGrpSpPr>
              <p:nvPr/>
            </p:nvGrpSpPr>
            <p:grpSpPr bwMode="auto">
              <a:xfrm>
                <a:off x="4596" y="2880"/>
                <a:ext cx="307" cy="384"/>
                <a:chOff x="605" y="1776"/>
                <a:chExt cx="307" cy="384"/>
              </a:xfrm>
            </p:grpSpPr>
            <p:sp>
              <p:nvSpPr>
                <p:cNvPr id="165058" name="Rectangle 41"/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65059" name="Rectangle 42"/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charset="0"/>
                    </a:rPr>
                    <a:t>0</a:t>
                  </a:r>
                </a:p>
              </p:txBody>
            </p:sp>
          </p:grpSp>
        </p:grpSp>
        <p:grpSp>
          <p:nvGrpSpPr>
            <p:cNvPr id="165031" name="Group 43"/>
            <p:cNvGrpSpPr>
              <a:grpSpLocks/>
            </p:cNvGrpSpPr>
            <p:nvPr/>
          </p:nvGrpSpPr>
          <p:grpSpPr bwMode="auto">
            <a:xfrm>
              <a:off x="2931" y="2473"/>
              <a:ext cx="1842" cy="177"/>
              <a:chOff x="3061" y="2290"/>
              <a:chExt cx="1842" cy="177"/>
            </a:xfrm>
          </p:grpSpPr>
          <p:sp>
            <p:nvSpPr>
              <p:cNvPr id="165044" name="Line 44"/>
              <p:cNvSpPr>
                <a:spLocks noChangeShapeType="1"/>
              </p:cNvSpPr>
              <p:nvPr/>
            </p:nvSpPr>
            <p:spPr bwMode="auto">
              <a:xfrm>
                <a:off x="3061" y="2352"/>
                <a:ext cx="184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arrow" w="med" len="med"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487" tIns="44450" rIns="90487" bIns="44450"/>
              <a:lstStyle/>
              <a:p>
                <a:endParaRPr lang="zh-CN" altLang="en-US"/>
              </a:p>
            </p:txBody>
          </p:sp>
          <p:sp>
            <p:nvSpPr>
              <p:cNvPr id="165045" name="Text Box 45"/>
              <p:cNvSpPr txBox="1">
                <a:spLocks noChangeArrowheads="1"/>
              </p:cNvSpPr>
              <p:nvPr/>
            </p:nvSpPr>
            <p:spPr bwMode="auto">
              <a:xfrm>
                <a:off x="3770" y="2290"/>
                <a:ext cx="351" cy="17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>
                <a:spAutoFit/>
              </a:bodyPr>
              <a:lstStyle>
                <a:lvl1pPr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>
                  <a:lnSpc>
                    <a:spcPct val="90000"/>
                  </a:lnSpc>
                  <a:spcBef>
                    <a:spcPct val="30000"/>
                  </a:spcBef>
                </a:pPr>
                <a:r>
                  <a:rPr lang="en-US" altLang="zh-CN" sz="1400">
                    <a:solidFill>
                      <a:schemeClr val="tx2"/>
                    </a:solidFill>
                    <a:latin typeface="Helvetica" charset="0"/>
                  </a:rPr>
                  <a:t>PPO</a:t>
                </a:r>
              </a:p>
            </p:txBody>
          </p:sp>
        </p:grpSp>
        <p:grpSp>
          <p:nvGrpSpPr>
            <p:cNvPr id="165032" name="Group 46"/>
            <p:cNvGrpSpPr>
              <a:grpSpLocks/>
            </p:cNvGrpSpPr>
            <p:nvPr/>
          </p:nvGrpSpPr>
          <p:grpSpPr bwMode="auto">
            <a:xfrm>
              <a:off x="1107" y="2473"/>
              <a:ext cx="1842" cy="177"/>
              <a:chOff x="3061" y="2290"/>
              <a:chExt cx="1842" cy="177"/>
            </a:xfrm>
          </p:grpSpPr>
          <p:sp>
            <p:nvSpPr>
              <p:cNvPr id="165042" name="Line 47"/>
              <p:cNvSpPr>
                <a:spLocks noChangeShapeType="1"/>
              </p:cNvSpPr>
              <p:nvPr/>
            </p:nvSpPr>
            <p:spPr bwMode="auto">
              <a:xfrm>
                <a:off x="3061" y="2352"/>
                <a:ext cx="184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arrow" w="med" len="med"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487" tIns="44450" rIns="90487" bIns="44450"/>
              <a:lstStyle/>
              <a:p>
                <a:endParaRPr lang="zh-CN" altLang="en-US"/>
              </a:p>
            </p:txBody>
          </p:sp>
          <p:sp>
            <p:nvSpPr>
              <p:cNvPr id="165043" name="Text Box 48"/>
              <p:cNvSpPr txBox="1">
                <a:spLocks noChangeArrowheads="1"/>
              </p:cNvSpPr>
              <p:nvPr/>
            </p:nvSpPr>
            <p:spPr bwMode="auto">
              <a:xfrm>
                <a:off x="3770" y="2290"/>
                <a:ext cx="345" cy="17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>
                <a:spAutoFit/>
              </a:bodyPr>
              <a:lstStyle>
                <a:lvl1pPr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>
                  <a:lnSpc>
                    <a:spcPct val="90000"/>
                  </a:lnSpc>
                  <a:spcBef>
                    <a:spcPct val="30000"/>
                  </a:spcBef>
                </a:pPr>
                <a:r>
                  <a:rPr lang="en-US" altLang="zh-CN" sz="1400">
                    <a:solidFill>
                      <a:schemeClr val="tx2"/>
                    </a:solidFill>
                    <a:latin typeface="Helvetica" charset="0"/>
                  </a:rPr>
                  <a:t>PPN</a:t>
                </a:r>
              </a:p>
            </p:txBody>
          </p:sp>
        </p:grpSp>
        <p:grpSp>
          <p:nvGrpSpPr>
            <p:cNvPr id="165033" name="Group 49"/>
            <p:cNvGrpSpPr>
              <a:grpSpLocks/>
            </p:cNvGrpSpPr>
            <p:nvPr/>
          </p:nvGrpSpPr>
          <p:grpSpPr bwMode="auto">
            <a:xfrm>
              <a:off x="4130" y="1804"/>
              <a:ext cx="625" cy="177"/>
              <a:chOff x="2445" y="1660"/>
              <a:chExt cx="625" cy="177"/>
            </a:xfrm>
          </p:grpSpPr>
          <p:sp>
            <p:nvSpPr>
              <p:cNvPr id="165040" name="Line 50"/>
              <p:cNvSpPr>
                <a:spLocks noChangeShapeType="1"/>
              </p:cNvSpPr>
              <p:nvPr/>
            </p:nvSpPr>
            <p:spPr bwMode="auto">
              <a:xfrm>
                <a:off x="2445" y="1723"/>
                <a:ext cx="62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arrow" w="med" len="med"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487" tIns="44450" rIns="90487" bIns="44450"/>
              <a:lstStyle/>
              <a:p>
                <a:endParaRPr lang="zh-CN" altLang="en-US"/>
              </a:p>
            </p:txBody>
          </p:sp>
          <p:sp>
            <p:nvSpPr>
              <p:cNvPr id="165041" name="Text Box 51"/>
              <p:cNvSpPr txBox="1">
                <a:spLocks noChangeArrowheads="1"/>
              </p:cNvSpPr>
              <p:nvPr/>
            </p:nvSpPr>
            <p:spPr bwMode="auto">
              <a:xfrm>
                <a:off x="2644" y="1660"/>
                <a:ext cx="282" cy="17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>
                <a:spAutoFit/>
              </a:bodyPr>
              <a:lstStyle>
                <a:lvl1pPr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30000"/>
                  </a:spcBef>
                </a:pPr>
                <a:r>
                  <a:rPr lang="en-US" altLang="zh-CN" sz="1400">
                    <a:solidFill>
                      <a:schemeClr val="tx2"/>
                    </a:solidFill>
                    <a:latin typeface="Helvetica" charset="0"/>
                  </a:rPr>
                  <a:t>CO</a:t>
                </a:r>
              </a:p>
            </p:txBody>
          </p:sp>
        </p:grpSp>
        <p:grpSp>
          <p:nvGrpSpPr>
            <p:cNvPr id="165034" name="Group 52"/>
            <p:cNvGrpSpPr>
              <a:grpSpLocks/>
            </p:cNvGrpSpPr>
            <p:nvPr/>
          </p:nvGrpSpPr>
          <p:grpSpPr bwMode="auto">
            <a:xfrm>
              <a:off x="2920" y="1791"/>
              <a:ext cx="1214" cy="177"/>
              <a:chOff x="2445" y="1660"/>
              <a:chExt cx="625" cy="177"/>
            </a:xfrm>
          </p:grpSpPr>
          <p:sp>
            <p:nvSpPr>
              <p:cNvPr id="165038" name="Line 53"/>
              <p:cNvSpPr>
                <a:spLocks noChangeShapeType="1"/>
              </p:cNvSpPr>
              <p:nvPr/>
            </p:nvSpPr>
            <p:spPr bwMode="auto">
              <a:xfrm>
                <a:off x="2445" y="1723"/>
                <a:ext cx="62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arrow" w="med" len="med"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487" tIns="44450" rIns="90487" bIns="44450"/>
              <a:lstStyle/>
              <a:p>
                <a:endParaRPr lang="zh-CN" altLang="en-US"/>
              </a:p>
            </p:txBody>
          </p:sp>
          <p:sp>
            <p:nvSpPr>
              <p:cNvPr id="165039" name="Text Box 54"/>
              <p:cNvSpPr txBox="1">
                <a:spLocks noChangeArrowheads="1"/>
              </p:cNvSpPr>
              <p:nvPr/>
            </p:nvSpPr>
            <p:spPr bwMode="auto">
              <a:xfrm>
                <a:off x="2727" y="1660"/>
                <a:ext cx="116" cy="17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>
                <a:spAutoFit/>
              </a:bodyPr>
              <a:lstStyle>
                <a:lvl1pPr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30000"/>
                  </a:spcBef>
                </a:pPr>
                <a:r>
                  <a:rPr lang="en-US" altLang="zh-CN" sz="1400">
                    <a:solidFill>
                      <a:schemeClr val="tx2"/>
                    </a:solidFill>
                    <a:latin typeface="Helvetica" charset="0"/>
                  </a:rPr>
                  <a:t>CI</a:t>
                </a:r>
              </a:p>
            </p:txBody>
          </p:sp>
        </p:grpSp>
        <p:grpSp>
          <p:nvGrpSpPr>
            <p:cNvPr id="165035" name="Group 55"/>
            <p:cNvGrpSpPr>
              <a:grpSpLocks/>
            </p:cNvGrpSpPr>
            <p:nvPr/>
          </p:nvGrpSpPr>
          <p:grpSpPr bwMode="auto">
            <a:xfrm>
              <a:off x="1078" y="1804"/>
              <a:ext cx="1824" cy="177"/>
              <a:chOff x="2445" y="1660"/>
              <a:chExt cx="625" cy="177"/>
            </a:xfrm>
          </p:grpSpPr>
          <p:sp>
            <p:nvSpPr>
              <p:cNvPr id="165036" name="Line 56"/>
              <p:cNvSpPr>
                <a:spLocks noChangeShapeType="1"/>
              </p:cNvSpPr>
              <p:nvPr/>
            </p:nvSpPr>
            <p:spPr bwMode="auto">
              <a:xfrm>
                <a:off x="2445" y="1723"/>
                <a:ext cx="62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arrow" w="med" len="med"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487" tIns="44450" rIns="90487" bIns="44450"/>
              <a:lstStyle/>
              <a:p>
                <a:endParaRPr lang="zh-CN" altLang="en-US"/>
              </a:p>
            </p:txBody>
          </p:sp>
          <p:sp>
            <p:nvSpPr>
              <p:cNvPr id="165037" name="Text Box 57"/>
              <p:cNvSpPr txBox="1">
                <a:spLocks noChangeArrowheads="1"/>
              </p:cNvSpPr>
              <p:nvPr/>
            </p:nvSpPr>
            <p:spPr bwMode="auto">
              <a:xfrm>
                <a:off x="2740" y="1660"/>
                <a:ext cx="91" cy="17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>
                <a:spAutoFit/>
              </a:bodyPr>
              <a:lstStyle>
                <a:lvl1pPr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30000"/>
                  </a:spcBef>
                </a:pPr>
                <a:r>
                  <a:rPr lang="en-US" altLang="zh-CN" sz="1400">
                    <a:solidFill>
                      <a:schemeClr val="tx2"/>
                    </a:solidFill>
                    <a:latin typeface="Helvetica" charset="0"/>
                  </a:rPr>
                  <a:t>CT</a:t>
                </a:r>
              </a:p>
            </p:txBody>
          </p:sp>
        </p:grpSp>
      </p:grpSp>
      <p:graphicFrame>
        <p:nvGraphicFramePr>
          <p:cNvPr id="1391674" name="Group 58"/>
          <p:cNvGraphicFramePr>
            <a:graphicFrameLocks noGrp="1"/>
          </p:cNvGraphicFramePr>
          <p:nvPr/>
        </p:nvGraphicFramePr>
        <p:xfrm>
          <a:off x="228600" y="3352800"/>
          <a:ext cx="8686800" cy="3276604"/>
        </p:xfrm>
        <a:graphic>
          <a:graphicData uri="http://schemas.openxmlformats.org/drawingml/2006/table">
            <a:tbl>
              <a:tblPr/>
              <a:tblGrid>
                <a:gridCol w="6207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9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07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2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07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91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207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2071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191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2071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223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2071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1912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20712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363538"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宋体" charset="-122"/>
                      </a:endParaRPr>
                    </a:p>
                  </a:txBody>
                  <a:tcPr marL="90487" marR="90487" marT="44450" marB="4445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Tag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Valid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B0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B1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B2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B3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宋体" charset="-122"/>
                      </a:endParaRPr>
                    </a:p>
                  </a:txBody>
                  <a:tcPr marL="90487" marR="90487" marT="44450" marB="4445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Tag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Valid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B0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B1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B2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B3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538"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</a:t>
                      </a:r>
                    </a:p>
                  </a:txBody>
                  <a:tcPr marL="90487" marR="90487" marT="44450" marB="4445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19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1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99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11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23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11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8</a:t>
                      </a:r>
                    </a:p>
                  </a:txBody>
                  <a:tcPr marL="90487" marR="90487" marT="44450" marB="4445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24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1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3A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00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51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89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538"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1</a:t>
                      </a:r>
                    </a:p>
                  </a:txBody>
                  <a:tcPr marL="90487" marR="90487" marT="44450" marB="4445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15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–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–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–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–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9</a:t>
                      </a:r>
                    </a:p>
                  </a:txBody>
                  <a:tcPr marL="90487" marR="90487" marT="44450" marB="4445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2D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–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–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–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–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3538"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2</a:t>
                      </a:r>
                    </a:p>
                  </a:txBody>
                  <a:tcPr marL="90487" marR="90487" marT="44450" marB="4445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1B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1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00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02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04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08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A</a:t>
                      </a:r>
                    </a:p>
                  </a:txBody>
                  <a:tcPr marL="90487" marR="90487" marT="44450" marB="4445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2D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1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93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15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DA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3B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3538"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3</a:t>
                      </a:r>
                    </a:p>
                  </a:txBody>
                  <a:tcPr marL="90487" marR="90487" marT="44450" marB="4445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36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–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–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–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–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B</a:t>
                      </a:r>
                    </a:p>
                  </a:txBody>
                  <a:tcPr marL="90487" marR="90487" marT="44450" marB="4445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0B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–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–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–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–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8300"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4</a:t>
                      </a:r>
                    </a:p>
                  </a:txBody>
                  <a:tcPr marL="90487" marR="90487" marT="44450" marB="4445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32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1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43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6D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8F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09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C</a:t>
                      </a:r>
                    </a:p>
                  </a:txBody>
                  <a:tcPr marL="90487" marR="90487" marT="44450" marB="4445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12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–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–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–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–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3538"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5</a:t>
                      </a:r>
                    </a:p>
                  </a:txBody>
                  <a:tcPr marL="90487" marR="90487" marT="44450" marB="4445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0D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1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36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72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F0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1D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D</a:t>
                      </a:r>
                    </a:p>
                  </a:txBody>
                  <a:tcPr marL="90487" marR="90487" marT="44450" marB="4445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16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1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04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96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34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15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3538"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6</a:t>
                      </a:r>
                    </a:p>
                  </a:txBody>
                  <a:tcPr marL="90487" marR="90487" marT="44450" marB="4445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31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–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–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–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–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E</a:t>
                      </a:r>
                    </a:p>
                  </a:txBody>
                  <a:tcPr marL="90487" marR="90487" marT="44450" marB="4445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13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1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83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77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1B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D3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3538"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7</a:t>
                      </a:r>
                    </a:p>
                  </a:txBody>
                  <a:tcPr marL="90487" marR="90487" marT="44450" marB="4445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16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1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11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C2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DF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03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F</a:t>
                      </a:r>
                    </a:p>
                  </a:txBody>
                  <a:tcPr marL="90487" marR="90487" marT="44450" marB="4445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14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0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–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–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–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defTabSz="8953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–</a:t>
                      </a:r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65029" name="Rectangle 3"/>
          <p:cNvSpPr txBox="1">
            <a:spLocks noChangeArrowheads="1"/>
          </p:cNvSpPr>
          <p:nvPr/>
        </p:nvSpPr>
        <p:spPr bwMode="auto">
          <a:xfrm>
            <a:off x="152400" y="1447800"/>
            <a:ext cx="2667000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66700" indent="-2667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533400" indent="-2667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20000"/>
              </a:spcBef>
              <a:buFontTx/>
              <a:buChar char="•"/>
            </a:pPr>
            <a:r>
              <a:rPr lang="en-US" altLang="zh-CN" sz="2400" b="0"/>
              <a:t>Cache</a:t>
            </a:r>
          </a:p>
          <a:p>
            <a:pPr lvl="1">
              <a:spcBef>
                <a:spcPct val="20000"/>
              </a:spcBef>
              <a:buFontTx/>
              <a:buChar char="–"/>
            </a:pPr>
            <a:r>
              <a:rPr lang="en-US" altLang="zh-CN" b="0"/>
              <a:t>16 lines</a:t>
            </a:r>
          </a:p>
          <a:p>
            <a:pPr lvl="1">
              <a:spcBef>
                <a:spcPct val="20000"/>
              </a:spcBef>
              <a:buFontTx/>
              <a:buChar char="–"/>
            </a:pPr>
            <a:r>
              <a:rPr lang="en-US" altLang="zh-CN" b="0"/>
              <a:t>4-byte line size</a:t>
            </a:r>
          </a:p>
          <a:p>
            <a:pPr lvl="1">
              <a:spcBef>
                <a:spcPct val="20000"/>
              </a:spcBef>
              <a:buFontTx/>
              <a:buChar char="–"/>
            </a:pPr>
            <a:r>
              <a:rPr lang="en-US" altLang="zh-CN" b="0"/>
              <a:t>Direct mapped</a:t>
            </a:r>
            <a:endParaRPr lang="zh-CN" altLang="en-US" b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3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98593FF2-7FEA-AD4C-9E81-F1340CCEEDBD}" type="slidenum">
              <a:rPr lang="zh-CN" altLang="en-US" sz="1400" b="0">
                <a:latin typeface="Times New Roman" charset="0"/>
              </a:rPr>
              <a:pPr/>
              <a:t>67</a:t>
            </a:fld>
            <a:endParaRPr lang="en-US" altLang="zh-CN" sz="1400" b="0">
              <a:latin typeface="Times New Roman" charset="0"/>
            </a:endParaRPr>
          </a:p>
        </p:txBody>
      </p:sp>
      <p:sp>
        <p:nvSpPr>
          <p:cNvPr id="166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Address Translation Example</a:t>
            </a:r>
          </a:p>
        </p:txBody>
      </p:sp>
      <p:sp>
        <p:nvSpPr>
          <p:cNvPr id="166915" name="Rectangle 69"/>
          <p:cNvSpPr>
            <a:spLocks noChangeArrowheads="1"/>
          </p:cNvSpPr>
          <p:nvPr/>
        </p:nvSpPr>
        <p:spPr bwMode="auto">
          <a:xfrm>
            <a:off x="457200" y="1447800"/>
            <a:ext cx="14255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lnSpc>
                <a:spcPct val="140000"/>
              </a:lnSpc>
            </a:pPr>
            <a:r>
              <a:rPr lang="en-US" altLang="zh-CN" b="0"/>
              <a:t>PA: </a:t>
            </a:r>
            <a:r>
              <a:rPr lang="en-US" altLang="zh-CN" u="sng"/>
              <a:t>0x354</a:t>
            </a:r>
          </a:p>
        </p:txBody>
      </p:sp>
      <p:grpSp>
        <p:nvGrpSpPr>
          <p:cNvPr id="166916" name="Group 126"/>
          <p:cNvGrpSpPr>
            <a:grpSpLocks/>
          </p:cNvGrpSpPr>
          <p:nvPr/>
        </p:nvGrpSpPr>
        <p:grpSpPr bwMode="auto">
          <a:xfrm>
            <a:off x="609600" y="1905000"/>
            <a:ext cx="5865813" cy="1397000"/>
            <a:chOff x="1248" y="2624"/>
            <a:chExt cx="3695" cy="880"/>
          </a:xfrm>
        </p:grpSpPr>
        <p:grpSp>
          <p:nvGrpSpPr>
            <p:cNvPr id="166918" name="Group 127"/>
            <p:cNvGrpSpPr>
              <a:grpSpLocks/>
            </p:cNvGrpSpPr>
            <p:nvPr/>
          </p:nvGrpSpPr>
          <p:grpSpPr bwMode="auto">
            <a:xfrm>
              <a:off x="1248" y="2624"/>
              <a:ext cx="3695" cy="880"/>
              <a:chOff x="1078" y="1776"/>
              <a:chExt cx="3695" cy="880"/>
            </a:xfrm>
          </p:grpSpPr>
          <p:grpSp>
            <p:nvGrpSpPr>
              <p:cNvPr id="166931" name="Group 128"/>
              <p:cNvGrpSpPr>
                <a:grpSpLocks/>
              </p:cNvGrpSpPr>
              <p:nvPr/>
            </p:nvGrpSpPr>
            <p:grpSpPr bwMode="auto">
              <a:xfrm>
                <a:off x="1078" y="2012"/>
                <a:ext cx="3684" cy="384"/>
                <a:chOff x="1219" y="2880"/>
                <a:chExt cx="3684" cy="384"/>
              </a:xfrm>
            </p:grpSpPr>
            <p:grpSp>
              <p:nvGrpSpPr>
                <p:cNvPr id="166947" name="Group 129"/>
                <p:cNvGrpSpPr>
                  <a:grpSpLocks/>
                </p:cNvGrpSpPr>
                <p:nvPr/>
              </p:nvGrpSpPr>
              <p:grpSpPr bwMode="auto">
                <a:xfrm>
                  <a:off x="1219" y="2880"/>
                  <a:ext cx="307" cy="384"/>
                  <a:chOff x="605" y="1776"/>
                  <a:chExt cx="307" cy="384"/>
                </a:xfrm>
              </p:grpSpPr>
              <p:sp>
                <p:nvSpPr>
                  <p:cNvPr id="166981" name="Rectangle 130"/>
                  <p:cNvSpPr>
                    <a:spLocks noChangeArrowheads="1"/>
                  </p:cNvSpPr>
                  <p:nvPr/>
                </p:nvSpPr>
                <p:spPr bwMode="auto">
                  <a:xfrm>
                    <a:off x="605" y="1968"/>
                    <a:ext cx="307" cy="192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1pPr>
                    <a:lvl2pPr marL="742950" indent="-28575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2pPr>
                    <a:lvl3pPr marL="11430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3pPr>
                    <a:lvl4pPr marL="16002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4pPr>
                    <a:lvl5pPr marL="20574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9pPr>
                  </a:lstStyle>
                  <a:p>
                    <a:endParaRPr lang="zh-CN" altLang="en-US"/>
                  </a:p>
                </p:txBody>
              </p:sp>
              <p:sp>
                <p:nvSpPr>
                  <p:cNvPr id="166982" name="Rectangle 131"/>
                  <p:cNvSpPr>
                    <a:spLocks noChangeArrowheads="1"/>
                  </p:cNvSpPr>
                  <p:nvPr/>
                </p:nvSpPr>
                <p:spPr bwMode="auto">
                  <a:xfrm>
                    <a:off x="605" y="1776"/>
                    <a:ext cx="307" cy="19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1pPr>
                    <a:lvl2pPr marL="742950" indent="-28575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2pPr>
                    <a:lvl3pPr marL="11430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3pPr>
                    <a:lvl4pPr marL="16002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4pPr>
                    <a:lvl5pPr marL="20574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9pPr>
                  </a:lstStyle>
                  <a:p>
                    <a:pPr algn="ctr">
                      <a:lnSpc>
                        <a:spcPct val="90000"/>
                      </a:lnSpc>
                      <a:spcBef>
                        <a:spcPct val="30000"/>
                      </a:spcBef>
                    </a:pPr>
                    <a:r>
                      <a:rPr lang="en-US" altLang="zh-CN" sz="1400">
                        <a:solidFill>
                          <a:schemeClr val="tx2"/>
                        </a:solidFill>
                        <a:latin typeface="Helvetica" charset="0"/>
                      </a:rPr>
                      <a:t>11</a:t>
                    </a:r>
                  </a:p>
                </p:txBody>
              </p:sp>
            </p:grpSp>
            <p:grpSp>
              <p:nvGrpSpPr>
                <p:cNvPr id="166948" name="Group 132"/>
                <p:cNvGrpSpPr>
                  <a:grpSpLocks/>
                </p:cNvGrpSpPr>
                <p:nvPr/>
              </p:nvGrpSpPr>
              <p:grpSpPr bwMode="auto">
                <a:xfrm>
                  <a:off x="1526" y="2880"/>
                  <a:ext cx="307" cy="384"/>
                  <a:chOff x="605" y="1776"/>
                  <a:chExt cx="307" cy="384"/>
                </a:xfrm>
              </p:grpSpPr>
              <p:sp>
                <p:nvSpPr>
                  <p:cNvPr id="166979" name="Rectangle 133"/>
                  <p:cNvSpPr>
                    <a:spLocks noChangeArrowheads="1"/>
                  </p:cNvSpPr>
                  <p:nvPr/>
                </p:nvSpPr>
                <p:spPr bwMode="auto">
                  <a:xfrm>
                    <a:off x="605" y="1968"/>
                    <a:ext cx="307" cy="192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1pPr>
                    <a:lvl2pPr marL="742950" indent="-28575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2pPr>
                    <a:lvl3pPr marL="11430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3pPr>
                    <a:lvl4pPr marL="16002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4pPr>
                    <a:lvl5pPr marL="20574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9pPr>
                  </a:lstStyle>
                  <a:p>
                    <a:endParaRPr lang="zh-CN" altLang="en-US"/>
                  </a:p>
                </p:txBody>
              </p:sp>
              <p:sp>
                <p:nvSpPr>
                  <p:cNvPr id="166980" name="Rectangle 134"/>
                  <p:cNvSpPr>
                    <a:spLocks noChangeArrowheads="1"/>
                  </p:cNvSpPr>
                  <p:nvPr/>
                </p:nvSpPr>
                <p:spPr bwMode="auto">
                  <a:xfrm>
                    <a:off x="605" y="1776"/>
                    <a:ext cx="307" cy="19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1pPr>
                    <a:lvl2pPr marL="742950" indent="-28575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2pPr>
                    <a:lvl3pPr marL="11430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3pPr>
                    <a:lvl4pPr marL="16002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4pPr>
                    <a:lvl5pPr marL="20574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9pPr>
                  </a:lstStyle>
                  <a:p>
                    <a:pPr algn="ctr">
                      <a:lnSpc>
                        <a:spcPct val="90000"/>
                      </a:lnSpc>
                      <a:spcBef>
                        <a:spcPct val="30000"/>
                      </a:spcBef>
                    </a:pPr>
                    <a:r>
                      <a:rPr lang="en-US" altLang="zh-CN" sz="1400">
                        <a:solidFill>
                          <a:schemeClr val="tx2"/>
                        </a:solidFill>
                        <a:latin typeface="Helvetica" charset="0"/>
                      </a:rPr>
                      <a:t>10</a:t>
                    </a:r>
                  </a:p>
                </p:txBody>
              </p:sp>
            </p:grpSp>
            <p:grpSp>
              <p:nvGrpSpPr>
                <p:cNvPr id="166949" name="Group 135"/>
                <p:cNvGrpSpPr>
                  <a:grpSpLocks/>
                </p:cNvGrpSpPr>
                <p:nvPr/>
              </p:nvGrpSpPr>
              <p:grpSpPr bwMode="auto">
                <a:xfrm>
                  <a:off x="1833" y="2880"/>
                  <a:ext cx="307" cy="384"/>
                  <a:chOff x="605" y="1776"/>
                  <a:chExt cx="307" cy="384"/>
                </a:xfrm>
              </p:grpSpPr>
              <p:sp>
                <p:nvSpPr>
                  <p:cNvPr id="166977" name="Rectangle 136"/>
                  <p:cNvSpPr>
                    <a:spLocks noChangeArrowheads="1"/>
                  </p:cNvSpPr>
                  <p:nvPr/>
                </p:nvSpPr>
                <p:spPr bwMode="auto">
                  <a:xfrm>
                    <a:off x="605" y="1968"/>
                    <a:ext cx="307" cy="192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1pPr>
                    <a:lvl2pPr marL="742950" indent="-28575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2pPr>
                    <a:lvl3pPr marL="11430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3pPr>
                    <a:lvl4pPr marL="16002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4pPr>
                    <a:lvl5pPr marL="20574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9pPr>
                  </a:lstStyle>
                  <a:p>
                    <a:endParaRPr lang="zh-CN" altLang="en-US"/>
                  </a:p>
                </p:txBody>
              </p:sp>
              <p:sp>
                <p:nvSpPr>
                  <p:cNvPr id="166978" name="Rectangle 137"/>
                  <p:cNvSpPr>
                    <a:spLocks noChangeArrowheads="1"/>
                  </p:cNvSpPr>
                  <p:nvPr/>
                </p:nvSpPr>
                <p:spPr bwMode="auto">
                  <a:xfrm>
                    <a:off x="605" y="1776"/>
                    <a:ext cx="307" cy="19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1pPr>
                    <a:lvl2pPr marL="742950" indent="-28575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2pPr>
                    <a:lvl3pPr marL="11430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3pPr>
                    <a:lvl4pPr marL="16002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4pPr>
                    <a:lvl5pPr marL="20574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9pPr>
                  </a:lstStyle>
                  <a:p>
                    <a:pPr algn="ctr">
                      <a:lnSpc>
                        <a:spcPct val="90000"/>
                      </a:lnSpc>
                      <a:spcBef>
                        <a:spcPct val="30000"/>
                      </a:spcBef>
                    </a:pPr>
                    <a:r>
                      <a:rPr lang="en-US" altLang="zh-CN" sz="1400">
                        <a:solidFill>
                          <a:schemeClr val="tx2"/>
                        </a:solidFill>
                        <a:latin typeface="Helvetica" charset="0"/>
                      </a:rPr>
                      <a:t>9</a:t>
                    </a:r>
                  </a:p>
                </p:txBody>
              </p:sp>
            </p:grpSp>
            <p:grpSp>
              <p:nvGrpSpPr>
                <p:cNvPr id="166950" name="Group 138"/>
                <p:cNvGrpSpPr>
                  <a:grpSpLocks/>
                </p:cNvGrpSpPr>
                <p:nvPr/>
              </p:nvGrpSpPr>
              <p:grpSpPr bwMode="auto">
                <a:xfrm>
                  <a:off x="2140" y="2880"/>
                  <a:ext cx="307" cy="384"/>
                  <a:chOff x="605" y="1776"/>
                  <a:chExt cx="307" cy="384"/>
                </a:xfrm>
              </p:grpSpPr>
              <p:sp>
                <p:nvSpPr>
                  <p:cNvPr id="166975" name="Rectangle 139"/>
                  <p:cNvSpPr>
                    <a:spLocks noChangeArrowheads="1"/>
                  </p:cNvSpPr>
                  <p:nvPr/>
                </p:nvSpPr>
                <p:spPr bwMode="auto">
                  <a:xfrm>
                    <a:off x="605" y="1968"/>
                    <a:ext cx="307" cy="192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1pPr>
                    <a:lvl2pPr marL="742950" indent="-28575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2pPr>
                    <a:lvl3pPr marL="11430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3pPr>
                    <a:lvl4pPr marL="16002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4pPr>
                    <a:lvl5pPr marL="20574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9pPr>
                  </a:lstStyle>
                  <a:p>
                    <a:endParaRPr lang="zh-CN" altLang="en-US"/>
                  </a:p>
                </p:txBody>
              </p:sp>
              <p:sp>
                <p:nvSpPr>
                  <p:cNvPr id="166976" name="Rectangle 140"/>
                  <p:cNvSpPr>
                    <a:spLocks noChangeArrowheads="1"/>
                  </p:cNvSpPr>
                  <p:nvPr/>
                </p:nvSpPr>
                <p:spPr bwMode="auto">
                  <a:xfrm>
                    <a:off x="605" y="1776"/>
                    <a:ext cx="307" cy="19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1pPr>
                    <a:lvl2pPr marL="742950" indent="-28575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2pPr>
                    <a:lvl3pPr marL="11430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3pPr>
                    <a:lvl4pPr marL="16002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4pPr>
                    <a:lvl5pPr marL="20574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9pPr>
                  </a:lstStyle>
                  <a:p>
                    <a:pPr algn="ctr">
                      <a:lnSpc>
                        <a:spcPct val="90000"/>
                      </a:lnSpc>
                      <a:spcBef>
                        <a:spcPct val="30000"/>
                      </a:spcBef>
                    </a:pPr>
                    <a:r>
                      <a:rPr lang="en-US" altLang="zh-CN" sz="1400">
                        <a:solidFill>
                          <a:schemeClr val="tx2"/>
                        </a:solidFill>
                        <a:latin typeface="Helvetica" charset="0"/>
                      </a:rPr>
                      <a:t>8</a:t>
                    </a:r>
                  </a:p>
                </p:txBody>
              </p:sp>
            </p:grpSp>
            <p:grpSp>
              <p:nvGrpSpPr>
                <p:cNvPr id="166951" name="Group 141"/>
                <p:cNvGrpSpPr>
                  <a:grpSpLocks/>
                </p:cNvGrpSpPr>
                <p:nvPr/>
              </p:nvGrpSpPr>
              <p:grpSpPr bwMode="auto">
                <a:xfrm>
                  <a:off x="2447" y="2880"/>
                  <a:ext cx="307" cy="384"/>
                  <a:chOff x="605" y="1776"/>
                  <a:chExt cx="307" cy="384"/>
                </a:xfrm>
              </p:grpSpPr>
              <p:sp>
                <p:nvSpPr>
                  <p:cNvPr id="166973" name="Rectangle 142"/>
                  <p:cNvSpPr>
                    <a:spLocks noChangeArrowheads="1"/>
                  </p:cNvSpPr>
                  <p:nvPr/>
                </p:nvSpPr>
                <p:spPr bwMode="auto">
                  <a:xfrm>
                    <a:off x="605" y="1968"/>
                    <a:ext cx="307" cy="192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1pPr>
                    <a:lvl2pPr marL="742950" indent="-28575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2pPr>
                    <a:lvl3pPr marL="11430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3pPr>
                    <a:lvl4pPr marL="16002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4pPr>
                    <a:lvl5pPr marL="20574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9pPr>
                  </a:lstStyle>
                  <a:p>
                    <a:endParaRPr lang="zh-CN" altLang="en-US"/>
                  </a:p>
                </p:txBody>
              </p:sp>
              <p:sp>
                <p:nvSpPr>
                  <p:cNvPr id="166974" name="Rectangle 143"/>
                  <p:cNvSpPr>
                    <a:spLocks noChangeArrowheads="1"/>
                  </p:cNvSpPr>
                  <p:nvPr/>
                </p:nvSpPr>
                <p:spPr bwMode="auto">
                  <a:xfrm>
                    <a:off x="605" y="1776"/>
                    <a:ext cx="307" cy="19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1pPr>
                    <a:lvl2pPr marL="742950" indent="-28575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2pPr>
                    <a:lvl3pPr marL="11430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3pPr>
                    <a:lvl4pPr marL="16002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4pPr>
                    <a:lvl5pPr marL="20574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9pPr>
                  </a:lstStyle>
                  <a:p>
                    <a:pPr algn="ctr">
                      <a:lnSpc>
                        <a:spcPct val="90000"/>
                      </a:lnSpc>
                      <a:spcBef>
                        <a:spcPct val="30000"/>
                      </a:spcBef>
                    </a:pPr>
                    <a:r>
                      <a:rPr lang="en-US" altLang="zh-CN" sz="1400">
                        <a:solidFill>
                          <a:schemeClr val="tx2"/>
                        </a:solidFill>
                        <a:latin typeface="Helvetica" charset="0"/>
                      </a:rPr>
                      <a:t>7</a:t>
                    </a:r>
                  </a:p>
                </p:txBody>
              </p:sp>
            </p:grpSp>
            <p:grpSp>
              <p:nvGrpSpPr>
                <p:cNvPr id="166952" name="Group 144"/>
                <p:cNvGrpSpPr>
                  <a:grpSpLocks/>
                </p:cNvGrpSpPr>
                <p:nvPr/>
              </p:nvGrpSpPr>
              <p:grpSpPr bwMode="auto">
                <a:xfrm>
                  <a:off x="2754" y="2880"/>
                  <a:ext cx="307" cy="384"/>
                  <a:chOff x="605" y="1776"/>
                  <a:chExt cx="307" cy="384"/>
                </a:xfrm>
              </p:grpSpPr>
              <p:sp>
                <p:nvSpPr>
                  <p:cNvPr id="166971" name="Rectangle 145"/>
                  <p:cNvSpPr>
                    <a:spLocks noChangeArrowheads="1"/>
                  </p:cNvSpPr>
                  <p:nvPr/>
                </p:nvSpPr>
                <p:spPr bwMode="auto">
                  <a:xfrm>
                    <a:off x="605" y="1968"/>
                    <a:ext cx="307" cy="192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1pPr>
                    <a:lvl2pPr marL="742950" indent="-28575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2pPr>
                    <a:lvl3pPr marL="11430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3pPr>
                    <a:lvl4pPr marL="16002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4pPr>
                    <a:lvl5pPr marL="20574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9pPr>
                  </a:lstStyle>
                  <a:p>
                    <a:endParaRPr lang="zh-CN" altLang="en-US"/>
                  </a:p>
                </p:txBody>
              </p:sp>
              <p:sp>
                <p:nvSpPr>
                  <p:cNvPr id="166972" name="Rectangle 146"/>
                  <p:cNvSpPr>
                    <a:spLocks noChangeArrowheads="1"/>
                  </p:cNvSpPr>
                  <p:nvPr/>
                </p:nvSpPr>
                <p:spPr bwMode="auto">
                  <a:xfrm>
                    <a:off x="605" y="1776"/>
                    <a:ext cx="307" cy="19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1pPr>
                    <a:lvl2pPr marL="742950" indent="-28575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2pPr>
                    <a:lvl3pPr marL="11430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3pPr>
                    <a:lvl4pPr marL="16002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4pPr>
                    <a:lvl5pPr marL="20574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9pPr>
                  </a:lstStyle>
                  <a:p>
                    <a:pPr algn="ctr">
                      <a:lnSpc>
                        <a:spcPct val="90000"/>
                      </a:lnSpc>
                      <a:spcBef>
                        <a:spcPct val="30000"/>
                      </a:spcBef>
                    </a:pPr>
                    <a:r>
                      <a:rPr lang="en-US" altLang="zh-CN" sz="1400">
                        <a:solidFill>
                          <a:schemeClr val="tx2"/>
                        </a:solidFill>
                        <a:latin typeface="Helvetica" charset="0"/>
                      </a:rPr>
                      <a:t>6</a:t>
                    </a:r>
                  </a:p>
                </p:txBody>
              </p:sp>
            </p:grpSp>
            <p:grpSp>
              <p:nvGrpSpPr>
                <p:cNvPr id="166953" name="Group 147"/>
                <p:cNvGrpSpPr>
                  <a:grpSpLocks/>
                </p:cNvGrpSpPr>
                <p:nvPr/>
              </p:nvGrpSpPr>
              <p:grpSpPr bwMode="auto">
                <a:xfrm>
                  <a:off x="3061" y="2880"/>
                  <a:ext cx="307" cy="384"/>
                  <a:chOff x="605" y="1776"/>
                  <a:chExt cx="307" cy="384"/>
                </a:xfrm>
              </p:grpSpPr>
              <p:sp>
                <p:nvSpPr>
                  <p:cNvPr id="166969" name="Rectangle 148"/>
                  <p:cNvSpPr>
                    <a:spLocks noChangeArrowheads="1"/>
                  </p:cNvSpPr>
                  <p:nvPr/>
                </p:nvSpPr>
                <p:spPr bwMode="auto">
                  <a:xfrm>
                    <a:off x="605" y="1968"/>
                    <a:ext cx="307" cy="192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1pPr>
                    <a:lvl2pPr marL="742950" indent="-28575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2pPr>
                    <a:lvl3pPr marL="11430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3pPr>
                    <a:lvl4pPr marL="16002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4pPr>
                    <a:lvl5pPr marL="20574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9pPr>
                  </a:lstStyle>
                  <a:p>
                    <a:endParaRPr lang="zh-CN" altLang="en-US"/>
                  </a:p>
                </p:txBody>
              </p:sp>
              <p:sp>
                <p:nvSpPr>
                  <p:cNvPr id="166970" name="Rectangle 149"/>
                  <p:cNvSpPr>
                    <a:spLocks noChangeArrowheads="1"/>
                  </p:cNvSpPr>
                  <p:nvPr/>
                </p:nvSpPr>
                <p:spPr bwMode="auto">
                  <a:xfrm>
                    <a:off x="605" y="1776"/>
                    <a:ext cx="307" cy="19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1pPr>
                    <a:lvl2pPr marL="742950" indent="-28575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2pPr>
                    <a:lvl3pPr marL="11430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3pPr>
                    <a:lvl4pPr marL="16002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4pPr>
                    <a:lvl5pPr marL="20574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9pPr>
                  </a:lstStyle>
                  <a:p>
                    <a:pPr algn="ctr">
                      <a:lnSpc>
                        <a:spcPct val="90000"/>
                      </a:lnSpc>
                      <a:spcBef>
                        <a:spcPct val="30000"/>
                      </a:spcBef>
                    </a:pPr>
                    <a:r>
                      <a:rPr lang="en-US" altLang="zh-CN" sz="1400">
                        <a:solidFill>
                          <a:schemeClr val="tx2"/>
                        </a:solidFill>
                        <a:latin typeface="Helvetica" charset="0"/>
                      </a:rPr>
                      <a:t>5</a:t>
                    </a:r>
                  </a:p>
                </p:txBody>
              </p:sp>
            </p:grpSp>
            <p:grpSp>
              <p:nvGrpSpPr>
                <p:cNvPr id="166954" name="Group 150"/>
                <p:cNvGrpSpPr>
                  <a:grpSpLocks/>
                </p:cNvGrpSpPr>
                <p:nvPr/>
              </p:nvGrpSpPr>
              <p:grpSpPr bwMode="auto">
                <a:xfrm>
                  <a:off x="3368" y="2880"/>
                  <a:ext cx="307" cy="384"/>
                  <a:chOff x="605" y="1776"/>
                  <a:chExt cx="307" cy="384"/>
                </a:xfrm>
              </p:grpSpPr>
              <p:sp>
                <p:nvSpPr>
                  <p:cNvPr id="166967" name="Rectangle 151"/>
                  <p:cNvSpPr>
                    <a:spLocks noChangeArrowheads="1"/>
                  </p:cNvSpPr>
                  <p:nvPr/>
                </p:nvSpPr>
                <p:spPr bwMode="auto">
                  <a:xfrm>
                    <a:off x="605" y="1968"/>
                    <a:ext cx="307" cy="192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1pPr>
                    <a:lvl2pPr marL="742950" indent="-28575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2pPr>
                    <a:lvl3pPr marL="11430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3pPr>
                    <a:lvl4pPr marL="16002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4pPr>
                    <a:lvl5pPr marL="20574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9pPr>
                  </a:lstStyle>
                  <a:p>
                    <a:endParaRPr lang="zh-CN" altLang="en-US"/>
                  </a:p>
                </p:txBody>
              </p:sp>
              <p:sp>
                <p:nvSpPr>
                  <p:cNvPr id="166968" name="Rectangle 152"/>
                  <p:cNvSpPr>
                    <a:spLocks noChangeArrowheads="1"/>
                  </p:cNvSpPr>
                  <p:nvPr/>
                </p:nvSpPr>
                <p:spPr bwMode="auto">
                  <a:xfrm>
                    <a:off x="605" y="1776"/>
                    <a:ext cx="307" cy="19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1pPr>
                    <a:lvl2pPr marL="742950" indent="-28575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2pPr>
                    <a:lvl3pPr marL="11430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3pPr>
                    <a:lvl4pPr marL="16002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4pPr>
                    <a:lvl5pPr marL="20574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9pPr>
                  </a:lstStyle>
                  <a:p>
                    <a:pPr algn="ctr">
                      <a:lnSpc>
                        <a:spcPct val="90000"/>
                      </a:lnSpc>
                      <a:spcBef>
                        <a:spcPct val="30000"/>
                      </a:spcBef>
                    </a:pPr>
                    <a:r>
                      <a:rPr lang="en-US" altLang="zh-CN" sz="1400">
                        <a:solidFill>
                          <a:schemeClr val="tx2"/>
                        </a:solidFill>
                        <a:latin typeface="Helvetica" charset="0"/>
                      </a:rPr>
                      <a:t>4</a:t>
                    </a:r>
                  </a:p>
                </p:txBody>
              </p:sp>
            </p:grpSp>
            <p:grpSp>
              <p:nvGrpSpPr>
                <p:cNvPr id="166955" name="Group 153"/>
                <p:cNvGrpSpPr>
                  <a:grpSpLocks/>
                </p:cNvGrpSpPr>
                <p:nvPr/>
              </p:nvGrpSpPr>
              <p:grpSpPr bwMode="auto">
                <a:xfrm>
                  <a:off x="3675" y="2880"/>
                  <a:ext cx="307" cy="384"/>
                  <a:chOff x="605" y="1776"/>
                  <a:chExt cx="307" cy="384"/>
                </a:xfrm>
              </p:grpSpPr>
              <p:sp>
                <p:nvSpPr>
                  <p:cNvPr id="166965" name="Rectangle 154"/>
                  <p:cNvSpPr>
                    <a:spLocks noChangeArrowheads="1"/>
                  </p:cNvSpPr>
                  <p:nvPr/>
                </p:nvSpPr>
                <p:spPr bwMode="auto">
                  <a:xfrm>
                    <a:off x="605" y="1968"/>
                    <a:ext cx="307" cy="192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1pPr>
                    <a:lvl2pPr marL="742950" indent="-28575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2pPr>
                    <a:lvl3pPr marL="11430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3pPr>
                    <a:lvl4pPr marL="16002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4pPr>
                    <a:lvl5pPr marL="20574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9pPr>
                  </a:lstStyle>
                  <a:p>
                    <a:endParaRPr lang="zh-CN" altLang="en-US"/>
                  </a:p>
                </p:txBody>
              </p:sp>
              <p:sp>
                <p:nvSpPr>
                  <p:cNvPr id="166966" name="Rectangle 155"/>
                  <p:cNvSpPr>
                    <a:spLocks noChangeArrowheads="1"/>
                  </p:cNvSpPr>
                  <p:nvPr/>
                </p:nvSpPr>
                <p:spPr bwMode="auto">
                  <a:xfrm>
                    <a:off x="605" y="1776"/>
                    <a:ext cx="307" cy="19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1pPr>
                    <a:lvl2pPr marL="742950" indent="-28575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2pPr>
                    <a:lvl3pPr marL="11430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3pPr>
                    <a:lvl4pPr marL="16002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4pPr>
                    <a:lvl5pPr marL="20574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9pPr>
                  </a:lstStyle>
                  <a:p>
                    <a:pPr algn="ctr">
                      <a:lnSpc>
                        <a:spcPct val="90000"/>
                      </a:lnSpc>
                      <a:spcBef>
                        <a:spcPct val="30000"/>
                      </a:spcBef>
                    </a:pPr>
                    <a:r>
                      <a:rPr lang="en-US" altLang="zh-CN" sz="1400">
                        <a:solidFill>
                          <a:schemeClr val="tx2"/>
                        </a:solidFill>
                        <a:latin typeface="Helvetica" charset="0"/>
                      </a:rPr>
                      <a:t>3</a:t>
                    </a:r>
                  </a:p>
                </p:txBody>
              </p:sp>
            </p:grpSp>
            <p:grpSp>
              <p:nvGrpSpPr>
                <p:cNvPr id="166956" name="Group 156"/>
                <p:cNvGrpSpPr>
                  <a:grpSpLocks/>
                </p:cNvGrpSpPr>
                <p:nvPr/>
              </p:nvGrpSpPr>
              <p:grpSpPr bwMode="auto">
                <a:xfrm>
                  <a:off x="3982" y="2880"/>
                  <a:ext cx="307" cy="384"/>
                  <a:chOff x="605" y="1776"/>
                  <a:chExt cx="307" cy="384"/>
                </a:xfrm>
              </p:grpSpPr>
              <p:sp>
                <p:nvSpPr>
                  <p:cNvPr id="166963" name="Rectangle 157"/>
                  <p:cNvSpPr>
                    <a:spLocks noChangeArrowheads="1"/>
                  </p:cNvSpPr>
                  <p:nvPr/>
                </p:nvSpPr>
                <p:spPr bwMode="auto">
                  <a:xfrm>
                    <a:off x="605" y="1968"/>
                    <a:ext cx="307" cy="192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1pPr>
                    <a:lvl2pPr marL="742950" indent="-28575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2pPr>
                    <a:lvl3pPr marL="11430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3pPr>
                    <a:lvl4pPr marL="16002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4pPr>
                    <a:lvl5pPr marL="20574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9pPr>
                  </a:lstStyle>
                  <a:p>
                    <a:endParaRPr lang="zh-CN" altLang="en-US"/>
                  </a:p>
                </p:txBody>
              </p:sp>
              <p:sp>
                <p:nvSpPr>
                  <p:cNvPr id="166964" name="Rectangle 158"/>
                  <p:cNvSpPr>
                    <a:spLocks noChangeArrowheads="1"/>
                  </p:cNvSpPr>
                  <p:nvPr/>
                </p:nvSpPr>
                <p:spPr bwMode="auto">
                  <a:xfrm>
                    <a:off x="605" y="1776"/>
                    <a:ext cx="307" cy="19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1pPr>
                    <a:lvl2pPr marL="742950" indent="-28575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2pPr>
                    <a:lvl3pPr marL="11430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3pPr>
                    <a:lvl4pPr marL="16002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4pPr>
                    <a:lvl5pPr marL="20574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9pPr>
                  </a:lstStyle>
                  <a:p>
                    <a:pPr algn="ctr">
                      <a:lnSpc>
                        <a:spcPct val="90000"/>
                      </a:lnSpc>
                      <a:spcBef>
                        <a:spcPct val="30000"/>
                      </a:spcBef>
                    </a:pPr>
                    <a:r>
                      <a:rPr lang="en-US" altLang="zh-CN" sz="1400">
                        <a:solidFill>
                          <a:schemeClr val="tx2"/>
                        </a:solidFill>
                        <a:latin typeface="Helvetica" charset="0"/>
                      </a:rPr>
                      <a:t>2</a:t>
                    </a:r>
                  </a:p>
                </p:txBody>
              </p:sp>
            </p:grpSp>
            <p:grpSp>
              <p:nvGrpSpPr>
                <p:cNvPr id="166957" name="Group 159"/>
                <p:cNvGrpSpPr>
                  <a:grpSpLocks/>
                </p:cNvGrpSpPr>
                <p:nvPr/>
              </p:nvGrpSpPr>
              <p:grpSpPr bwMode="auto">
                <a:xfrm>
                  <a:off x="4289" y="2880"/>
                  <a:ext cx="307" cy="384"/>
                  <a:chOff x="605" y="1776"/>
                  <a:chExt cx="307" cy="384"/>
                </a:xfrm>
              </p:grpSpPr>
              <p:sp>
                <p:nvSpPr>
                  <p:cNvPr id="166961" name="Rectangle 160"/>
                  <p:cNvSpPr>
                    <a:spLocks noChangeArrowheads="1"/>
                  </p:cNvSpPr>
                  <p:nvPr/>
                </p:nvSpPr>
                <p:spPr bwMode="auto">
                  <a:xfrm>
                    <a:off x="605" y="1968"/>
                    <a:ext cx="307" cy="192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1pPr>
                    <a:lvl2pPr marL="742950" indent="-28575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2pPr>
                    <a:lvl3pPr marL="11430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3pPr>
                    <a:lvl4pPr marL="16002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4pPr>
                    <a:lvl5pPr marL="20574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9pPr>
                  </a:lstStyle>
                  <a:p>
                    <a:endParaRPr lang="zh-CN" altLang="en-US"/>
                  </a:p>
                </p:txBody>
              </p:sp>
              <p:sp>
                <p:nvSpPr>
                  <p:cNvPr id="166962" name="Rectangle 161"/>
                  <p:cNvSpPr>
                    <a:spLocks noChangeArrowheads="1"/>
                  </p:cNvSpPr>
                  <p:nvPr/>
                </p:nvSpPr>
                <p:spPr bwMode="auto">
                  <a:xfrm>
                    <a:off x="605" y="1776"/>
                    <a:ext cx="307" cy="19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1pPr>
                    <a:lvl2pPr marL="742950" indent="-28575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2pPr>
                    <a:lvl3pPr marL="11430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3pPr>
                    <a:lvl4pPr marL="16002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4pPr>
                    <a:lvl5pPr marL="20574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9pPr>
                  </a:lstStyle>
                  <a:p>
                    <a:pPr algn="ctr">
                      <a:lnSpc>
                        <a:spcPct val="90000"/>
                      </a:lnSpc>
                      <a:spcBef>
                        <a:spcPct val="30000"/>
                      </a:spcBef>
                    </a:pPr>
                    <a:r>
                      <a:rPr lang="en-US" altLang="zh-CN" sz="1400">
                        <a:solidFill>
                          <a:schemeClr val="tx2"/>
                        </a:solidFill>
                        <a:latin typeface="Helvetica" charset="0"/>
                      </a:rPr>
                      <a:t>1</a:t>
                    </a:r>
                  </a:p>
                </p:txBody>
              </p:sp>
            </p:grpSp>
            <p:grpSp>
              <p:nvGrpSpPr>
                <p:cNvPr id="166958" name="Group 162"/>
                <p:cNvGrpSpPr>
                  <a:grpSpLocks/>
                </p:cNvGrpSpPr>
                <p:nvPr/>
              </p:nvGrpSpPr>
              <p:grpSpPr bwMode="auto">
                <a:xfrm>
                  <a:off x="4596" y="2880"/>
                  <a:ext cx="307" cy="384"/>
                  <a:chOff x="605" y="1776"/>
                  <a:chExt cx="307" cy="384"/>
                </a:xfrm>
              </p:grpSpPr>
              <p:sp>
                <p:nvSpPr>
                  <p:cNvPr id="166959" name="Rectangle 163"/>
                  <p:cNvSpPr>
                    <a:spLocks noChangeArrowheads="1"/>
                  </p:cNvSpPr>
                  <p:nvPr/>
                </p:nvSpPr>
                <p:spPr bwMode="auto">
                  <a:xfrm>
                    <a:off x="605" y="1968"/>
                    <a:ext cx="307" cy="192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1pPr>
                    <a:lvl2pPr marL="742950" indent="-28575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2pPr>
                    <a:lvl3pPr marL="11430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3pPr>
                    <a:lvl4pPr marL="16002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4pPr>
                    <a:lvl5pPr marL="20574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9pPr>
                  </a:lstStyle>
                  <a:p>
                    <a:endParaRPr lang="zh-CN" altLang="en-US"/>
                  </a:p>
                </p:txBody>
              </p:sp>
              <p:sp>
                <p:nvSpPr>
                  <p:cNvPr id="166960" name="Rectangle 164"/>
                  <p:cNvSpPr>
                    <a:spLocks noChangeArrowheads="1"/>
                  </p:cNvSpPr>
                  <p:nvPr/>
                </p:nvSpPr>
                <p:spPr bwMode="auto">
                  <a:xfrm>
                    <a:off x="605" y="1776"/>
                    <a:ext cx="307" cy="19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1pPr>
                    <a:lvl2pPr marL="742950" indent="-28575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2pPr>
                    <a:lvl3pPr marL="11430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3pPr>
                    <a:lvl4pPr marL="16002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4pPr>
                    <a:lvl5pPr marL="2057400" indent="-228600"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charset="0"/>
                        <a:ea typeface="宋体" charset="-122"/>
                      </a:defRPr>
                    </a:lvl9pPr>
                  </a:lstStyle>
                  <a:p>
                    <a:pPr algn="ctr">
                      <a:lnSpc>
                        <a:spcPct val="90000"/>
                      </a:lnSpc>
                      <a:spcBef>
                        <a:spcPct val="30000"/>
                      </a:spcBef>
                    </a:pPr>
                    <a:r>
                      <a:rPr lang="en-US" altLang="zh-CN" sz="1400">
                        <a:solidFill>
                          <a:schemeClr val="tx2"/>
                        </a:solidFill>
                        <a:latin typeface="Helvetica" charset="0"/>
                      </a:rPr>
                      <a:t>0</a:t>
                    </a:r>
                  </a:p>
                </p:txBody>
              </p:sp>
            </p:grpSp>
          </p:grpSp>
          <p:grpSp>
            <p:nvGrpSpPr>
              <p:cNvPr id="166932" name="Group 165"/>
              <p:cNvGrpSpPr>
                <a:grpSpLocks/>
              </p:cNvGrpSpPr>
              <p:nvPr/>
            </p:nvGrpSpPr>
            <p:grpSpPr bwMode="auto">
              <a:xfrm>
                <a:off x="2931" y="2444"/>
                <a:ext cx="1842" cy="212"/>
                <a:chOff x="3061" y="2261"/>
                <a:chExt cx="1842" cy="212"/>
              </a:xfrm>
            </p:grpSpPr>
            <p:sp>
              <p:nvSpPr>
                <p:cNvPr id="166945" name="Line 166"/>
                <p:cNvSpPr>
                  <a:spLocks noChangeShapeType="1"/>
                </p:cNvSpPr>
                <p:nvPr/>
              </p:nvSpPr>
              <p:spPr bwMode="auto">
                <a:xfrm>
                  <a:off x="3061" y="2352"/>
                  <a:ext cx="184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arrow" w="med" len="med"/>
                  <a:tailEnd type="arrow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90487" tIns="44450" rIns="90487" bIns="44450"/>
                <a:lstStyle/>
                <a:p>
                  <a:endParaRPr lang="zh-CN" altLang="en-US"/>
                </a:p>
              </p:txBody>
            </p:sp>
            <p:sp>
              <p:nvSpPr>
                <p:cNvPr id="166946" name="Text Box 167"/>
                <p:cNvSpPr txBox="1">
                  <a:spLocks noChangeArrowheads="1"/>
                </p:cNvSpPr>
                <p:nvPr/>
              </p:nvSpPr>
              <p:spPr bwMode="auto">
                <a:xfrm>
                  <a:off x="3770" y="2261"/>
                  <a:ext cx="418" cy="21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>
                  <a:spAutoFit/>
                </a:bodyPr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800">
                      <a:solidFill>
                        <a:schemeClr val="tx2"/>
                      </a:solidFill>
                      <a:latin typeface="Helvetica" charset="0"/>
                    </a:rPr>
                    <a:t>PPO</a:t>
                  </a:r>
                </a:p>
              </p:txBody>
            </p:sp>
          </p:grpSp>
          <p:grpSp>
            <p:nvGrpSpPr>
              <p:cNvPr id="166933" name="Group 168"/>
              <p:cNvGrpSpPr>
                <a:grpSpLocks/>
              </p:cNvGrpSpPr>
              <p:nvPr/>
            </p:nvGrpSpPr>
            <p:grpSpPr bwMode="auto">
              <a:xfrm>
                <a:off x="1107" y="2444"/>
                <a:ext cx="1842" cy="212"/>
                <a:chOff x="3061" y="2261"/>
                <a:chExt cx="1842" cy="212"/>
              </a:xfrm>
            </p:grpSpPr>
            <p:sp>
              <p:nvSpPr>
                <p:cNvPr id="166943" name="Line 169"/>
                <p:cNvSpPr>
                  <a:spLocks noChangeShapeType="1"/>
                </p:cNvSpPr>
                <p:nvPr/>
              </p:nvSpPr>
              <p:spPr bwMode="auto">
                <a:xfrm>
                  <a:off x="3061" y="2352"/>
                  <a:ext cx="184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arrow" w="med" len="med"/>
                  <a:tailEnd type="arrow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90487" tIns="44450" rIns="90487" bIns="44450"/>
                <a:lstStyle/>
                <a:p>
                  <a:endParaRPr lang="zh-CN" altLang="en-US"/>
                </a:p>
              </p:txBody>
            </p:sp>
            <p:sp>
              <p:nvSpPr>
                <p:cNvPr id="166944" name="Text Box 170"/>
                <p:cNvSpPr txBox="1">
                  <a:spLocks noChangeArrowheads="1"/>
                </p:cNvSpPr>
                <p:nvPr/>
              </p:nvSpPr>
              <p:spPr bwMode="auto">
                <a:xfrm>
                  <a:off x="3770" y="2261"/>
                  <a:ext cx="410" cy="21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>
                  <a:spAutoFit/>
                </a:bodyPr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800">
                      <a:solidFill>
                        <a:schemeClr val="tx2"/>
                      </a:solidFill>
                      <a:latin typeface="Helvetica" charset="0"/>
                    </a:rPr>
                    <a:t>PPN</a:t>
                  </a:r>
                </a:p>
              </p:txBody>
            </p:sp>
          </p:grpSp>
          <p:grpSp>
            <p:nvGrpSpPr>
              <p:cNvPr id="166934" name="Group 171"/>
              <p:cNvGrpSpPr>
                <a:grpSpLocks/>
              </p:cNvGrpSpPr>
              <p:nvPr/>
            </p:nvGrpSpPr>
            <p:grpSpPr bwMode="auto">
              <a:xfrm>
                <a:off x="4130" y="1789"/>
                <a:ext cx="625" cy="195"/>
                <a:chOff x="2445" y="1645"/>
                <a:chExt cx="625" cy="195"/>
              </a:xfrm>
            </p:grpSpPr>
            <p:sp>
              <p:nvSpPr>
                <p:cNvPr id="166941" name="Line 172"/>
                <p:cNvSpPr>
                  <a:spLocks noChangeShapeType="1"/>
                </p:cNvSpPr>
                <p:nvPr/>
              </p:nvSpPr>
              <p:spPr bwMode="auto">
                <a:xfrm>
                  <a:off x="2445" y="1723"/>
                  <a:ext cx="625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arrow" w="med" len="med"/>
                  <a:tailEnd type="arrow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90487" tIns="44450" rIns="90487" bIns="44450"/>
                <a:lstStyle/>
                <a:p>
                  <a:endParaRPr lang="zh-CN" altLang="en-US"/>
                </a:p>
              </p:txBody>
            </p:sp>
            <p:sp>
              <p:nvSpPr>
                <p:cNvPr id="166942" name="Text Box 173"/>
                <p:cNvSpPr txBox="1">
                  <a:spLocks noChangeArrowheads="1"/>
                </p:cNvSpPr>
                <p:nvPr/>
              </p:nvSpPr>
              <p:spPr bwMode="auto">
                <a:xfrm>
                  <a:off x="2632" y="1645"/>
                  <a:ext cx="306" cy="19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>
                  <a:spAutoFit/>
                </a:bodyPr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600">
                      <a:solidFill>
                        <a:schemeClr val="tx2"/>
                      </a:solidFill>
                      <a:latin typeface="Helvetica" charset="0"/>
                    </a:rPr>
                    <a:t>CO</a:t>
                  </a:r>
                </a:p>
              </p:txBody>
            </p:sp>
          </p:grpSp>
          <p:grpSp>
            <p:nvGrpSpPr>
              <p:cNvPr id="166935" name="Group 174"/>
              <p:cNvGrpSpPr>
                <a:grpSpLocks/>
              </p:cNvGrpSpPr>
              <p:nvPr/>
            </p:nvGrpSpPr>
            <p:grpSpPr bwMode="auto">
              <a:xfrm>
                <a:off x="2920" y="1776"/>
                <a:ext cx="1214" cy="195"/>
                <a:chOff x="2445" y="1645"/>
                <a:chExt cx="625" cy="195"/>
              </a:xfrm>
            </p:grpSpPr>
            <p:sp>
              <p:nvSpPr>
                <p:cNvPr id="166939" name="Line 175"/>
                <p:cNvSpPr>
                  <a:spLocks noChangeShapeType="1"/>
                </p:cNvSpPr>
                <p:nvPr/>
              </p:nvSpPr>
              <p:spPr bwMode="auto">
                <a:xfrm>
                  <a:off x="2445" y="1723"/>
                  <a:ext cx="625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arrow" w="med" len="med"/>
                  <a:tailEnd type="arrow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90487" tIns="44450" rIns="90487" bIns="44450"/>
                <a:lstStyle/>
                <a:p>
                  <a:endParaRPr lang="zh-CN" altLang="en-US"/>
                </a:p>
              </p:txBody>
            </p:sp>
            <p:sp>
              <p:nvSpPr>
                <p:cNvPr id="166940" name="Text Box 176"/>
                <p:cNvSpPr txBox="1">
                  <a:spLocks noChangeArrowheads="1"/>
                </p:cNvSpPr>
                <p:nvPr/>
              </p:nvSpPr>
              <p:spPr bwMode="auto">
                <a:xfrm>
                  <a:off x="2723" y="1645"/>
                  <a:ext cx="125" cy="19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>
                  <a:spAutoFit/>
                </a:bodyPr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600">
                      <a:solidFill>
                        <a:schemeClr val="tx2"/>
                      </a:solidFill>
                      <a:latin typeface="Helvetica" charset="0"/>
                    </a:rPr>
                    <a:t>CI</a:t>
                  </a:r>
                </a:p>
              </p:txBody>
            </p:sp>
          </p:grpSp>
          <p:grpSp>
            <p:nvGrpSpPr>
              <p:cNvPr id="166936" name="Group 177"/>
              <p:cNvGrpSpPr>
                <a:grpSpLocks/>
              </p:cNvGrpSpPr>
              <p:nvPr/>
            </p:nvGrpSpPr>
            <p:grpSpPr bwMode="auto">
              <a:xfrm>
                <a:off x="1078" y="1789"/>
                <a:ext cx="1824" cy="195"/>
                <a:chOff x="2445" y="1645"/>
                <a:chExt cx="625" cy="195"/>
              </a:xfrm>
            </p:grpSpPr>
            <p:sp>
              <p:nvSpPr>
                <p:cNvPr id="166937" name="Line 178"/>
                <p:cNvSpPr>
                  <a:spLocks noChangeShapeType="1"/>
                </p:cNvSpPr>
                <p:nvPr/>
              </p:nvSpPr>
              <p:spPr bwMode="auto">
                <a:xfrm>
                  <a:off x="2445" y="1723"/>
                  <a:ext cx="625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arrow" w="med" len="med"/>
                  <a:tailEnd type="arrow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90487" tIns="44450" rIns="90487" bIns="44450"/>
                <a:lstStyle/>
                <a:p>
                  <a:endParaRPr lang="zh-CN" altLang="en-US"/>
                </a:p>
              </p:txBody>
            </p:sp>
            <p:sp>
              <p:nvSpPr>
                <p:cNvPr id="166938" name="Text Box 179"/>
                <p:cNvSpPr txBox="1">
                  <a:spLocks noChangeArrowheads="1"/>
                </p:cNvSpPr>
                <p:nvPr/>
              </p:nvSpPr>
              <p:spPr bwMode="auto">
                <a:xfrm>
                  <a:off x="2737" y="1645"/>
                  <a:ext cx="97" cy="19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7" tIns="44450" rIns="90487" bIns="44450">
                  <a:spAutoFit/>
                </a:bodyPr>
                <a:lstStyle>
                  <a:lvl1pPr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600">
                      <a:solidFill>
                        <a:schemeClr val="tx2"/>
                      </a:solidFill>
                      <a:latin typeface="Helvetica" charset="0"/>
                    </a:rPr>
                    <a:t>CT</a:t>
                  </a:r>
                </a:p>
              </p:txBody>
            </p:sp>
          </p:grpSp>
        </p:grpSp>
        <p:sp>
          <p:nvSpPr>
            <p:cNvPr id="166919" name="Text Box 180"/>
            <p:cNvSpPr txBox="1">
              <a:spLocks noChangeArrowheads="1"/>
            </p:cNvSpPr>
            <p:nvPr/>
          </p:nvSpPr>
          <p:spPr bwMode="auto">
            <a:xfrm>
              <a:off x="4704" y="3052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charset="0"/>
                </a:rPr>
                <a:t>0</a:t>
              </a:r>
            </a:p>
          </p:txBody>
        </p:sp>
        <p:sp>
          <p:nvSpPr>
            <p:cNvPr id="166920" name="Text Box 181"/>
            <p:cNvSpPr txBox="1">
              <a:spLocks noChangeArrowheads="1"/>
            </p:cNvSpPr>
            <p:nvPr/>
          </p:nvSpPr>
          <p:spPr bwMode="auto">
            <a:xfrm>
              <a:off x="4368" y="3052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charset="0"/>
                </a:rPr>
                <a:t>0</a:t>
              </a:r>
            </a:p>
          </p:txBody>
        </p:sp>
        <p:sp>
          <p:nvSpPr>
            <p:cNvPr id="166921" name="Text Box 182"/>
            <p:cNvSpPr txBox="1">
              <a:spLocks noChangeArrowheads="1"/>
            </p:cNvSpPr>
            <p:nvPr/>
          </p:nvSpPr>
          <p:spPr bwMode="auto">
            <a:xfrm>
              <a:off x="4080" y="3052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charset="0"/>
                </a:rPr>
                <a:t>1</a:t>
              </a:r>
            </a:p>
          </p:txBody>
        </p:sp>
        <p:sp>
          <p:nvSpPr>
            <p:cNvPr id="166922" name="Text Box 183"/>
            <p:cNvSpPr txBox="1">
              <a:spLocks noChangeArrowheads="1"/>
            </p:cNvSpPr>
            <p:nvPr/>
          </p:nvSpPr>
          <p:spPr bwMode="auto">
            <a:xfrm>
              <a:off x="3749" y="3052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charset="0"/>
                </a:rPr>
                <a:t>0</a:t>
              </a:r>
            </a:p>
          </p:txBody>
        </p:sp>
        <p:sp>
          <p:nvSpPr>
            <p:cNvPr id="166923" name="Text Box 184"/>
            <p:cNvSpPr txBox="1">
              <a:spLocks noChangeArrowheads="1"/>
            </p:cNvSpPr>
            <p:nvPr/>
          </p:nvSpPr>
          <p:spPr bwMode="auto">
            <a:xfrm>
              <a:off x="3456" y="3052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charset="0"/>
                </a:rPr>
                <a:t>1</a:t>
              </a:r>
            </a:p>
          </p:txBody>
        </p:sp>
        <p:sp>
          <p:nvSpPr>
            <p:cNvPr id="166924" name="Text Box 185"/>
            <p:cNvSpPr txBox="1">
              <a:spLocks noChangeArrowheads="1"/>
            </p:cNvSpPr>
            <p:nvPr/>
          </p:nvSpPr>
          <p:spPr bwMode="auto">
            <a:xfrm>
              <a:off x="3168" y="3052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charset="0"/>
                </a:rPr>
                <a:t>0</a:t>
              </a:r>
            </a:p>
          </p:txBody>
        </p:sp>
        <p:sp>
          <p:nvSpPr>
            <p:cNvPr id="166925" name="Text Box 186"/>
            <p:cNvSpPr txBox="1">
              <a:spLocks noChangeArrowheads="1"/>
            </p:cNvSpPr>
            <p:nvPr/>
          </p:nvSpPr>
          <p:spPr bwMode="auto">
            <a:xfrm>
              <a:off x="2832" y="3052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charset="0"/>
                </a:rPr>
                <a:t>1</a:t>
              </a:r>
            </a:p>
          </p:txBody>
        </p:sp>
        <p:sp>
          <p:nvSpPr>
            <p:cNvPr id="166926" name="Text Box 187"/>
            <p:cNvSpPr txBox="1">
              <a:spLocks noChangeArrowheads="1"/>
            </p:cNvSpPr>
            <p:nvPr/>
          </p:nvSpPr>
          <p:spPr bwMode="auto">
            <a:xfrm>
              <a:off x="2544" y="3052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charset="0"/>
                </a:rPr>
                <a:t>0</a:t>
              </a:r>
            </a:p>
          </p:txBody>
        </p:sp>
        <p:sp>
          <p:nvSpPr>
            <p:cNvPr id="166927" name="Text Box 188"/>
            <p:cNvSpPr txBox="1">
              <a:spLocks noChangeArrowheads="1"/>
            </p:cNvSpPr>
            <p:nvPr/>
          </p:nvSpPr>
          <p:spPr bwMode="auto">
            <a:xfrm>
              <a:off x="2213" y="3052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charset="0"/>
                </a:rPr>
                <a:t>1</a:t>
              </a:r>
            </a:p>
          </p:txBody>
        </p:sp>
        <p:sp>
          <p:nvSpPr>
            <p:cNvPr id="166928" name="Text Box 189"/>
            <p:cNvSpPr txBox="1">
              <a:spLocks noChangeArrowheads="1"/>
            </p:cNvSpPr>
            <p:nvPr/>
          </p:nvSpPr>
          <p:spPr bwMode="auto">
            <a:xfrm>
              <a:off x="1920" y="3052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charset="0"/>
                </a:rPr>
                <a:t>1</a:t>
              </a:r>
            </a:p>
          </p:txBody>
        </p:sp>
        <p:sp>
          <p:nvSpPr>
            <p:cNvPr id="166929" name="Text Box 190"/>
            <p:cNvSpPr txBox="1">
              <a:spLocks noChangeArrowheads="1"/>
            </p:cNvSpPr>
            <p:nvPr/>
          </p:nvSpPr>
          <p:spPr bwMode="auto">
            <a:xfrm>
              <a:off x="1632" y="3052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charset="0"/>
                </a:rPr>
                <a:t>0</a:t>
              </a:r>
            </a:p>
          </p:txBody>
        </p:sp>
        <p:sp>
          <p:nvSpPr>
            <p:cNvPr id="166930" name="Text Box 191"/>
            <p:cNvSpPr txBox="1">
              <a:spLocks noChangeArrowheads="1"/>
            </p:cNvSpPr>
            <p:nvPr/>
          </p:nvSpPr>
          <p:spPr bwMode="auto">
            <a:xfrm>
              <a:off x="1296" y="3052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charset="0"/>
                </a:rPr>
                <a:t>0</a:t>
              </a:r>
            </a:p>
          </p:txBody>
        </p:sp>
      </p:grpSp>
      <p:sp>
        <p:nvSpPr>
          <p:cNvPr id="166917" name="Rectangle 192"/>
          <p:cNvSpPr>
            <a:spLocks noChangeArrowheads="1"/>
          </p:cNvSpPr>
          <p:nvPr/>
        </p:nvSpPr>
        <p:spPr bwMode="auto">
          <a:xfrm>
            <a:off x="490538" y="3595688"/>
            <a:ext cx="74739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179388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lvl="1">
              <a:lnSpc>
                <a:spcPct val="90000"/>
              </a:lnSpc>
              <a:spcBef>
                <a:spcPct val="20000"/>
              </a:spcBef>
            </a:pPr>
            <a:r>
              <a:rPr lang="en-US" altLang="zh-CN" b="0"/>
              <a:t>Offset: </a:t>
            </a:r>
            <a:r>
              <a:rPr lang="en-US" altLang="zh-CN" u="sng"/>
              <a:t>0x0</a:t>
            </a:r>
            <a:r>
              <a:rPr lang="en-US" altLang="zh-CN" b="0"/>
              <a:t>	 CI: </a:t>
            </a:r>
            <a:r>
              <a:rPr lang="en-US" altLang="zh-CN" u="sng"/>
              <a:t>0x05</a:t>
            </a:r>
            <a:r>
              <a:rPr lang="en-US" altLang="zh-CN" b="0"/>
              <a:t>    CT: </a:t>
            </a:r>
            <a:r>
              <a:rPr lang="en-US" altLang="zh-CN" u="sng"/>
              <a:t>0x0D</a:t>
            </a:r>
            <a:r>
              <a:rPr lang="en-US" altLang="zh-CN" b="0"/>
              <a:t>	  Hit? </a:t>
            </a:r>
            <a:r>
              <a:rPr lang="en-US" altLang="zh-CN" u="sng">
                <a:solidFill>
                  <a:srgbClr val="FF0000"/>
                </a:solidFill>
              </a:rPr>
              <a:t>Yes</a:t>
            </a:r>
            <a:r>
              <a:rPr lang="en-US" altLang="zh-CN" b="0">
                <a:solidFill>
                  <a:srgbClr val="FF0000"/>
                </a:solidFill>
              </a:rPr>
              <a:t>  </a:t>
            </a:r>
            <a:r>
              <a:rPr lang="en-US" altLang="zh-CN" b="0"/>
              <a:t>Byte: </a:t>
            </a:r>
            <a:r>
              <a:rPr lang="en-US" altLang="zh-CN" u="sng">
                <a:solidFill>
                  <a:srgbClr val="FF0000"/>
                </a:solidFill>
              </a:rPr>
              <a:t>0x36</a:t>
            </a:r>
            <a:endParaRPr lang="zh-CN" altLang="en-US" u="sng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charset="-122"/>
              </a:rPr>
              <a:t>Paging: Faster Translations (TLBs)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TLB Issue: Context Switches</a:t>
            </a:r>
          </a:p>
          <a:p>
            <a:pPr lvl="1"/>
            <a:r>
              <a:rPr lang="en-US" altLang="zh-CN" dirty="0"/>
              <a:t>TLB</a:t>
            </a:r>
            <a:r>
              <a:rPr lang="zh-CN" altLang="en-US" dirty="0"/>
              <a:t>中存储的是当前</a:t>
            </a:r>
            <a:r>
              <a:rPr lang="en-US" altLang="zh-CN" dirty="0"/>
              <a:t>process</a:t>
            </a:r>
            <a:r>
              <a:rPr lang="zh-CN" altLang="en-US" dirty="0"/>
              <a:t>的</a:t>
            </a:r>
            <a:r>
              <a:rPr lang="en-US" altLang="zh-CN" dirty="0"/>
              <a:t>page</a:t>
            </a:r>
            <a:r>
              <a:rPr lang="zh-CN" altLang="en-US" dirty="0"/>
              <a:t> </a:t>
            </a:r>
            <a:r>
              <a:rPr lang="en-US" altLang="zh-CN" dirty="0"/>
              <a:t>table </a:t>
            </a:r>
          </a:p>
          <a:p>
            <a:pPr lvl="1"/>
            <a:r>
              <a:rPr lang="zh-CN" altLang="en-US" dirty="0"/>
              <a:t>当发生</a:t>
            </a:r>
            <a:r>
              <a:rPr lang="en-US" altLang="zh-CN" dirty="0"/>
              <a:t>context switch</a:t>
            </a:r>
            <a:r>
              <a:rPr lang="zh-CN" altLang="en-US" dirty="0"/>
              <a:t>的时候，旧的缓存项可能干扰</a:t>
            </a:r>
            <a:endParaRPr lang="en-US" altLang="zh-CN" dirty="0"/>
          </a:p>
          <a:p>
            <a:pPr lvl="1"/>
            <a:r>
              <a:rPr lang="en-US" altLang="zh-CN" dirty="0"/>
              <a:t>E.g., </a:t>
            </a:r>
            <a:r>
              <a:rPr lang="zh-CN" altLang="en-US" dirty="0"/>
              <a:t>进程从</a:t>
            </a:r>
            <a:r>
              <a:rPr lang="en-US" altLang="zh-CN" dirty="0"/>
              <a:t>P1</a:t>
            </a:r>
            <a:r>
              <a:rPr lang="zh-CN" altLang="en-US" dirty="0"/>
              <a:t>切换到</a:t>
            </a:r>
            <a:r>
              <a:rPr lang="en-US" altLang="zh-CN" dirty="0"/>
              <a:t>P2</a:t>
            </a:r>
            <a:r>
              <a:rPr lang="zh-CN" altLang="en-US" dirty="0"/>
              <a:t>，</a:t>
            </a:r>
            <a:r>
              <a:rPr lang="en-US" altLang="zh-CN" dirty="0"/>
              <a:t>VPN=10</a:t>
            </a:r>
            <a:r>
              <a:rPr lang="zh-CN" altLang="en-US" dirty="0"/>
              <a:t>可能有两个</a:t>
            </a:r>
            <a:r>
              <a:rPr lang="en-US" altLang="zh-CN" dirty="0"/>
              <a:t>entry</a:t>
            </a:r>
          </a:p>
          <a:p>
            <a:pPr lvl="1"/>
            <a:r>
              <a:rPr lang="zh-CN" altLang="en-US" dirty="0"/>
              <a:t>具体应该如何在</a:t>
            </a:r>
            <a:r>
              <a:rPr lang="en-US" altLang="zh-CN" dirty="0"/>
              <a:t>context</a:t>
            </a:r>
            <a:r>
              <a:rPr lang="zh-CN" altLang="en-US" dirty="0"/>
              <a:t> </a:t>
            </a:r>
            <a:r>
              <a:rPr lang="en-US" altLang="zh-CN" dirty="0"/>
              <a:t>switch</a:t>
            </a:r>
            <a:r>
              <a:rPr lang="zh-CN" altLang="en-US" dirty="0"/>
              <a:t>时处理</a:t>
            </a:r>
            <a:r>
              <a:rPr lang="en-US" altLang="zh-CN" dirty="0"/>
              <a:t>TLB</a:t>
            </a:r>
            <a:r>
              <a:rPr lang="zh-CN" altLang="en-US" dirty="0"/>
              <a:t>？</a:t>
            </a:r>
            <a:endParaRPr lang="en-US" alt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B01C9-CC9E-4042-87A9-F49D20F0019F}" type="slidenum">
              <a:rPr lang="zh-CN" altLang="en-US" smtClean="0"/>
              <a:pPr/>
              <a:t>68</a:t>
            </a:fld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4267200"/>
            <a:ext cx="4013200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20087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Paging: Faster Translations (TLBs)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TLB Issue: Context Switches</a:t>
            </a:r>
          </a:p>
          <a:p>
            <a:pPr lvl="1"/>
            <a:r>
              <a:rPr kumimoji="1" lang="en-US" altLang="zh-CN" dirty="0"/>
              <a:t>#1.</a:t>
            </a:r>
            <a:r>
              <a:rPr kumimoji="1" lang="zh-CN" altLang="en-US" dirty="0"/>
              <a:t> 简单地清空</a:t>
            </a:r>
            <a:r>
              <a:rPr lang="en-US" altLang="zh-CN" dirty="0"/>
              <a:t>TLB</a:t>
            </a:r>
            <a:r>
              <a:rPr lang="zh-CN" altLang="en-US" dirty="0"/>
              <a:t>，重新开始</a:t>
            </a:r>
            <a:endParaRPr lang="en-US" altLang="zh-CN" dirty="0"/>
          </a:p>
          <a:p>
            <a:pPr lvl="2"/>
            <a:r>
              <a:rPr lang="en-US" altLang="zh-CN" dirty="0"/>
              <a:t>OS</a:t>
            </a:r>
            <a:r>
              <a:rPr lang="zh-CN" altLang="en-US" dirty="0"/>
              <a:t>：利用特权指令来控制硬件</a:t>
            </a:r>
            <a:endParaRPr lang="en-US" altLang="zh-CN" dirty="0"/>
          </a:p>
          <a:p>
            <a:pPr lvl="2"/>
            <a:r>
              <a:rPr lang="zh-CN" altLang="en-US" dirty="0"/>
              <a:t>硬件：直接将</a:t>
            </a:r>
            <a:r>
              <a:rPr lang="en-US" altLang="zh-CN" dirty="0"/>
              <a:t>TLB</a:t>
            </a:r>
            <a:r>
              <a:rPr lang="zh-CN" altLang="en-US" dirty="0"/>
              <a:t>所有位清零</a:t>
            </a:r>
            <a:endParaRPr lang="en-US" altLang="zh-CN" dirty="0"/>
          </a:p>
          <a:p>
            <a:pPr lvl="2"/>
            <a:r>
              <a:rPr lang="zh-CN" altLang="en-US" dirty="0"/>
              <a:t>问题：</a:t>
            </a:r>
            <a:r>
              <a:rPr lang="en-US" altLang="zh-CN" dirty="0"/>
              <a:t>TLB</a:t>
            </a:r>
            <a:r>
              <a:rPr lang="zh-CN" altLang="en-US" dirty="0"/>
              <a:t>命中率回到</a:t>
            </a:r>
            <a:r>
              <a:rPr lang="en-US" altLang="zh-CN" dirty="0"/>
              <a:t>0</a:t>
            </a:r>
            <a:r>
              <a:rPr lang="zh-CN" altLang="en-US" dirty="0"/>
              <a:t>，性能较差</a:t>
            </a:r>
            <a:endParaRPr lang="en-US" altLang="zh-CN" dirty="0"/>
          </a:p>
          <a:p>
            <a:pPr lvl="1"/>
            <a:r>
              <a:rPr lang="en-US" altLang="zh-CN" dirty="0"/>
              <a:t>#2.</a:t>
            </a:r>
            <a:r>
              <a:rPr lang="zh-CN" altLang="en-US" dirty="0"/>
              <a:t> </a:t>
            </a:r>
            <a:r>
              <a:rPr lang="en-US" altLang="zh-CN" b="1" dirty="0"/>
              <a:t>address space identifier </a:t>
            </a:r>
            <a:r>
              <a:rPr lang="en-US" altLang="zh-CN" dirty="0"/>
              <a:t>(</a:t>
            </a:r>
            <a:r>
              <a:rPr lang="en-US" altLang="zh-CN" b="1" dirty="0"/>
              <a:t>ASID</a:t>
            </a:r>
            <a:r>
              <a:rPr lang="en-US" altLang="zh-CN" dirty="0"/>
              <a:t>) </a:t>
            </a:r>
          </a:p>
          <a:p>
            <a:pPr lvl="2"/>
            <a:r>
              <a:rPr lang="zh-CN" altLang="en-US" dirty="0"/>
              <a:t>可以按照</a:t>
            </a:r>
            <a:r>
              <a:rPr lang="en-US" altLang="zh-CN" dirty="0"/>
              <a:t>PID</a:t>
            </a:r>
            <a:r>
              <a:rPr lang="zh-CN" altLang="en-US" dirty="0"/>
              <a:t>来理解</a:t>
            </a:r>
            <a:endParaRPr lang="en-US" altLang="zh-CN" dirty="0"/>
          </a:p>
          <a:p>
            <a:pPr lvl="2"/>
            <a:r>
              <a:rPr lang="zh-CN" altLang="en-US" dirty="0"/>
              <a:t>可以区分不同</a:t>
            </a:r>
            <a:r>
              <a:rPr lang="en-US" altLang="zh-CN" dirty="0"/>
              <a:t>VA</a:t>
            </a:r>
            <a:r>
              <a:rPr lang="zh-CN" altLang="en-US" dirty="0"/>
              <a:t>空间，不必清空</a:t>
            </a:r>
            <a:r>
              <a:rPr lang="en-US" altLang="zh-CN" dirty="0"/>
              <a:t>TLB</a:t>
            </a:r>
            <a:r>
              <a:rPr lang="zh-CN" altLang="en-US" dirty="0"/>
              <a:t>，也不会发生错误</a:t>
            </a:r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B01C9-CC9E-4042-87A9-F49D20F0019F}" type="slidenum">
              <a:rPr lang="zh-CN" altLang="en-US" smtClean="0"/>
              <a:pPr/>
              <a:t>69</a:t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4831087"/>
            <a:ext cx="4899969" cy="1819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06784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Paging: Faster Translations (TLBs)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TLB Issue: Context Switches</a:t>
            </a:r>
          </a:p>
          <a:p>
            <a:pPr lvl="1"/>
            <a:r>
              <a:rPr lang="zh-CN" altLang="en-US" dirty="0"/>
              <a:t>两个</a:t>
            </a:r>
            <a:r>
              <a:rPr lang="en-US" altLang="zh-CN" dirty="0"/>
              <a:t>VPN</a:t>
            </a:r>
            <a:r>
              <a:rPr lang="zh-CN" altLang="en-US" dirty="0"/>
              <a:t>指向同一个</a:t>
            </a:r>
            <a:r>
              <a:rPr lang="en-US" altLang="zh-CN" dirty="0"/>
              <a:t>PFN (PPN)</a:t>
            </a:r>
          </a:p>
          <a:p>
            <a:pPr lvl="1"/>
            <a:r>
              <a:rPr lang="zh-CN" altLang="en-US" dirty="0"/>
              <a:t>合理，因为两个进程进行了内存共享</a:t>
            </a:r>
            <a:endParaRPr lang="en-US" altLang="zh-CN" dirty="0"/>
          </a:p>
          <a:p>
            <a:pPr lvl="2"/>
            <a:r>
              <a:rPr lang="en-US" altLang="zh-CN" dirty="0"/>
              <a:t>Fork</a:t>
            </a:r>
          </a:p>
          <a:p>
            <a:pPr lvl="2"/>
            <a:r>
              <a:rPr lang="zh-CN" altLang="en-US" dirty="0"/>
              <a:t>进程间通信</a:t>
            </a:r>
            <a:r>
              <a:rPr lang="en-US" altLang="zh-CN" dirty="0"/>
              <a:t>-&gt;</a:t>
            </a:r>
            <a:r>
              <a:rPr lang="zh-CN" altLang="en-US" dirty="0"/>
              <a:t>共享内存</a:t>
            </a:r>
            <a:endParaRPr lang="en-US" alt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B01C9-CC9E-4042-87A9-F49D20F0019F}" type="slidenum">
              <a:rPr lang="zh-CN" altLang="en-US" smtClean="0"/>
              <a:pPr/>
              <a:t>70</a:t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4140200"/>
            <a:ext cx="5308600" cy="187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25561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Paging: Faster Translations (TLBs)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Issue: Replacement Policy</a:t>
            </a:r>
          </a:p>
          <a:p>
            <a:pPr lvl="1"/>
            <a:r>
              <a:rPr lang="en-US" altLang="zh-CN" b="1" dirty="0"/>
              <a:t>least-recently-used (LRU)</a:t>
            </a:r>
            <a:endParaRPr lang="en-US" altLang="zh-CN" dirty="0"/>
          </a:p>
          <a:p>
            <a:pPr lvl="1"/>
            <a:r>
              <a:rPr lang="en-US" altLang="zh-CN" b="1" dirty="0"/>
              <a:t>random</a:t>
            </a:r>
          </a:p>
          <a:p>
            <a:pPr lvl="1"/>
            <a:r>
              <a:rPr kumimoji="1" lang="en-US" altLang="zh-CN" dirty="0"/>
              <a:t>LRU</a:t>
            </a:r>
            <a:r>
              <a:rPr lang="zh-CN" altLang="en-US" dirty="0"/>
              <a:t>未必命中率比</a:t>
            </a:r>
            <a:r>
              <a:rPr lang="en-US" altLang="zh-CN" dirty="0"/>
              <a:t>random</a:t>
            </a:r>
            <a:r>
              <a:rPr lang="zh-CN" altLang="en-US" dirty="0"/>
              <a:t>高</a:t>
            </a:r>
            <a:endParaRPr lang="en-US" altLang="zh-CN" dirty="0"/>
          </a:p>
          <a:p>
            <a:pPr lvl="2"/>
            <a:r>
              <a:rPr kumimoji="1" lang="zh-CN" altLang="en-US" dirty="0"/>
              <a:t>例如进程间规律</a:t>
            </a:r>
            <a:r>
              <a:rPr kumimoji="1" lang="en-US" altLang="zh-CN" dirty="0"/>
              <a:t>switch</a:t>
            </a:r>
            <a:r>
              <a:rPr kumimoji="1" lang="zh-CN" altLang="en-US" dirty="0"/>
              <a:t>，</a:t>
            </a:r>
            <a:r>
              <a:rPr kumimoji="1" lang="en-US" altLang="zh-CN" dirty="0"/>
              <a:t>LRU</a:t>
            </a:r>
            <a:r>
              <a:rPr kumimoji="1" lang="zh-CN" altLang="en-US" dirty="0"/>
              <a:t>导致每个进程初始命中率很低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B01C9-CC9E-4042-87A9-F49D20F0019F}" type="slidenum">
              <a:rPr lang="zh-CN" altLang="en-US" smtClean="0"/>
              <a:pPr/>
              <a:t>71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87325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Paging: Faster Translations (TLBs)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 Real TLB Entry</a:t>
            </a:r>
          </a:p>
          <a:p>
            <a:pPr lvl="1"/>
            <a:r>
              <a:rPr lang="en-US" altLang="zh-CN" dirty="0"/>
              <a:t>MIPS</a:t>
            </a:r>
            <a:r>
              <a:rPr lang="zh-CN" altLang="en-US" dirty="0"/>
              <a:t> </a:t>
            </a:r>
            <a:r>
              <a:rPr lang="en-US" altLang="zh-CN" dirty="0"/>
              <a:t>R4000: 32-bit address space, 4KB pages</a:t>
            </a:r>
          </a:p>
          <a:p>
            <a:pPr lvl="1"/>
            <a:r>
              <a:rPr lang="en-US" altLang="zh-CN" dirty="0"/>
              <a:t>Software-managed TLB</a:t>
            </a:r>
          </a:p>
          <a:p>
            <a:pPr lvl="1"/>
            <a:r>
              <a:rPr lang="en-US" altLang="zh-CN" dirty="0"/>
              <a:t>A TLB entry: 64 bits</a:t>
            </a:r>
          </a:p>
          <a:p>
            <a:pPr lvl="1"/>
            <a:r>
              <a:rPr lang="en-US" altLang="zh-CN" dirty="0"/>
              <a:t>VPN: 20-bit, offset: 12-bit</a:t>
            </a:r>
          </a:p>
          <a:p>
            <a:pPr lvl="1"/>
            <a:r>
              <a:rPr lang="zh-CN" altLang="en-US" dirty="0"/>
              <a:t>实际</a:t>
            </a:r>
            <a:r>
              <a:rPr lang="en-US" altLang="zh-CN" dirty="0"/>
              <a:t>VPN 19</a:t>
            </a:r>
            <a:r>
              <a:rPr lang="zh-CN" altLang="en-US" dirty="0"/>
              <a:t>位，因为用户只能用一半，另一半留给</a:t>
            </a:r>
            <a:r>
              <a:rPr lang="en-US" altLang="zh-CN" dirty="0"/>
              <a:t>kernel</a:t>
            </a:r>
          </a:p>
          <a:p>
            <a:pPr lvl="1"/>
            <a:r>
              <a:rPr lang="en-US" altLang="zh-CN" dirty="0"/>
              <a:t>PFN: 24-bit</a:t>
            </a:r>
            <a:r>
              <a:rPr lang="zh-CN" altLang="en-US" dirty="0"/>
              <a:t>，物理内存支持到</a:t>
            </a:r>
            <a:r>
              <a:rPr lang="en-US" altLang="zh-CN" dirty="0"/>
              <a:t>64GB (2</a:t>
            </a:r>
            <a:r>
              <a:rPr lang="en-US" altLang="zh-CN" baseline="30000" dirty="0"/>
              <a:t>24</a:t>
            </a:r>
            <a:r>
              <a:rPr lang="en-US" altLang="zh-CN" dirty="0"/>
              <a:t>B)</a:t>
            </a:r>
          </a:p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B01C9-CC9E-4042-87A9-F49D20F0019F}" type="slidenum">
              <a:rPr lang="zh-CN" altLang="en-US" smtClean="0"/>
              <a:pPr/>
              <a:t>72</a:t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128" y="5346151"/>
            <a:ext cx="7747000" cy="826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81228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Paging: Faster Translations (TLBs)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 Real TLB Entry</a:t>
            </a:r>
          </a:p>
          <a:p>
            <a:pPr lvl="1"/>
            <a:r>
              <a:rPr lang="en-US" altLang="zh-CN" dirty="0"/>
              <a:t>ASID: 8-bit</a:t>
            </a:r>
            <a:r>
              <a:rPr lang="zh-CN" altLang="en-US" dirty="0"/>
              <a:t>，最多</a:t>
            </a:r>
            <a:r>
              <a:rPr lang="en-US" altLang="zh-CN" dirty="0"/>
              <a:t>256</a:t>
            </a:r>
            <a:r>
              <a:rPr lang="zh-CN" altLang="en-US" dirty="0"/>
              <a:t>个进程</a:t>
            </a:r>
            <a:endParaRPr lang="en-US" altLang="zh-CN" dirty="0"/>
          </a:p>
          <a:p>
            <a:pPr lvl="1"/>
            <a:r>
              <a:rPr lang="en-US" altLang="zh-CN" dirty="0"/>
              <a:t>A global bit (G): </a:t>
            </a:r>
            <a:r>
              <a:rPr lang="zh-CN" altLang="en-US" dirty="0"/>
              <a:t>全局共享给所有进程，如果设置，</a:t>
            </a:r>
            <a:r>
              <a:rPr lang="en-US" altLang="zh-CN" dirty="0"/>
              <a:t>ASID</a:t>
            </a:r>
            <a:r>
              <a:rPr lang="zh-CN" altLang="en-US" dirty="0"/>
              <a:t>被忽略</a:t>
            </a:r>
            <a:endParaRPr lang="en-US" altLang="zh-CN" dirty="0"/>
          </a:p>
          <a:p>
            <a:pPr lvl="1"/>
            <a:r>
              <a:rPr lang="en-US" altLang="zh-CN" dirty="0"/>
              <a:t>Coherence bit (C): </a:t>
            </a:r>
            <a:r>
              <a:rPr lang="zh-CN" altLang="en-US" dirty="0"/>
              <a:t>硬件</a:t>
            </a:r>
            <a:r>
              <a:rPr lang="en-US" altLang="zh-CN" dirty="0"/>
              <a:t>cache</a:t>
            </a:r>
            <a:r>
              <a:rPr lang="zh-CN" altLang="en-US" dirty="0"/>
              <a:t>相关</a:t>
            </a:r>
            <a:endParaRPr lang="en-US" altLang="zh-CN" dirty="0"/>
          </a:p>
          <a:p>
            <a:pPr lvl="1"/>
            <a:r>
              <a:rPr lang="en-US" altLang="zh-CN" dirty="0"/>
              <a:t>Dirty bit (D)</a:t>
            </a:r>
          </a:p>
          <a:p>
            <a:pPr lvl="1"/>
            <a:r>
              <a:rPr lang="en-US" altLang="zh-CN" dirty="0"/>
              <a:t>Valid bit (V)</a:t>
            </a:r>
          </a:p>
          <a:p>
            <a:pPr lvl="1"/>
            <a:r>
              <a:rPr lang="zh-CN" altLang="en-US" dirty="0"/>
              <a:t>一般有</a:t>
            </a:r>
            <a:r>
              <a:rPr lang="en-US" altLang="zh-CN" dirty="0"/>
              <a:t>32</a:t>
            </a:r>
            <a:r>
              <a:rPr lang="zh-CN" altLang="en-US" dirty="0"/>
              <a:t>或</a:t>
            </a:r>
            <a:r>
              <a:rPr lang="en-US" altLang="zh-CN" dirty="0"/>
              <a:t>64</a:t>
            </a:r>
            <a:r>
              <a:rPr lang="zh-CN" altLang="en-US" dirty="0"/>
              <a:t>个</a:t>
            </a:r>
            <a:r>
              <a:rPr lang="en-US" altLang="zh-CN" dirty="0"/>
              <a:t>entry</a:t>
            </a:r>
            <a:r>
              <a:rPr lang="zh-CN" altLang="en-US" dirty="0"/>
              <a:t>，少量预留给</a:t>
            </a:r>
            <a:r>
              <a:rPr lang="en-US" altLang="zh-CN" dirty="0"/>
              <a:t>OS</a:t>
            </a:r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B01C9-CC9E-4042-87A9-F49D20F0019F}" type="slidenum">
              <a:rPr lang="zh-CN" altLang="en-US" smtClean="0"/>
              <a:pPr/>
              <a:t>73</a:t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128" y="5346151"/>
            <a:ext cx="7747000" cy="826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96677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charset="-122"/>
              </a:rPr>
              <a:t>Paging: Faster Translations (TLBs)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 Real TLB Entry</a:t>
            </a:r>
          </a:p>
          <a:p>
            <a:pPr lvl="1"/>
            <a:r>
              <a:rPr lang="zh-CN" altLang="en-US" dirty="0"/>
              <a:t>特权指令，操作</a:t>
            </a:r>
            <a:r>
              <a:rPr lang="en-US" altLang="zh-CN" dirty="0"/>
              <a:t>TLB</a:t>
            </a:r>
          </a:p>
          <a:p>
            <a:pPr lvl="2"/>
            <a:r>
              <a:rPr lang="en-US" altLang="zh-CN" dirty="0"/>
              <a:t>TLBP: </a:t>
            </a:r>
            <a:r>
              <a:rPr lang="zh-CN" altLang="en-US" dirty="0"/>
              <a:t>看</a:t>
            </a:r>
            <a:r>
              <a:rPr lang="en-US" altLang="zh-CN" dirty="0"/>
              <a:t>TLB</a:t>
            </a:r>
            <a:r>
              <a:rPr lang="zh-CN" altLang="en-US" dirty="0"/>
              <a:t>中是否存在一个特定的</a:t>
            </a:r>
            <a:r>
              <a:rPr lang="en-US" altLang="zh-CN"/>
              <a:t>translation</a:t>
            </a:r>
            <a:endParaRPr lang="en-US" altLang="zh-CN" dirty="0"/>
          </a:p>
          <a:p>
            <a:pPr lvl="2"/>
            <a:r>
              <a:rPr lang="en-US" altLang="zh-CN" dirty="0"/>
              <a:t>TLBR: </a:t>
            </a:r>
            <a:r>
              <a:rPr lang="zh-CN" altLang="en-US" dirty="0"/>
              <a:t>将一个</a:t>
            </a:r>
            <a:r>
              <a:rPr lang="en-US" altLang="zh-CN" dirty="0"/>
              <a:t>TLB</a:t>
            </a:r>
            <a:r>
              <a:rPr lang="zh-CN" altLang="en-US" dirty="0"/>
              <a:t> </a:t>
            </a:r>
            <a:r>
              <a:rPr lang="en-US" altLang="zh-CN" dirty="0"/>
              <a:t>entry</a:t>
            </a:r>
            <a:r>
              <a:rPr lang="zh-CN" altLang="en-US" dirty="0"/>
              <a:t>读到寄存器</a:t>
            </a:r>
            <a:endParaRPr lang="en-US" altLang="zh-CN" dirty="0"/>
          </a:p>
          <a:p>
            <a:pPr lvl="2"/>
            <a:r>
              <a:rPr lang="en-US" altLang="zh-CN" dirty="0"/>
              <a:t>TLBWI: </a:t>
            </a:r>
            <a:r>
              <a:rPr lang="zh-CN" altLang="en-US" dirty="0"/>
              <a:t>写入一个</a:t>
            </a:r>
            <a:r>
              <a:rPr lang="en-US" altLang="zh-CN" dirty="0"/>
              <a:t>TLB entry</a:t>
            </a:r>
          </a:p>
          <a:p>
            <a:pPr lvl="2"/>
            <a:r>
              <a:rPr lang="en-US" altLang="zh-CN" dirty="0"/>
              <a:t>TLBWR: </a:t>
            </a:r>
            <a:r>
              <a:rPr lang="zh-CN" altLang="en-US" dirty="0"/>
              <a:t>随机替换一个</a:t>
            </a:r>
            <a:r>
              <a:rPr lang="en-US" altLang="zh-CN" dirty="0"/>
              <a:t>TLB entry</a:t>
            </a:r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B01C9-CC9E-4042-87A9-F49D20F0019F}" type="slidenum">
              <a:rPr lang="zh-CN" altLang="en-US" smtClean="0"/>
              <a:pPr/>
              <a:t>74</a:t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128" y="5346151"/>
            <a:ext cx="7747000" cy="826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3127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charset="-122"/>
              </a:rPr>
              <a:t>Paging: Faster Translations (TLBs)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altLang="zh-CN" dirty="0"/>
              <a:t>RAM ISN’T ALWAYS RAM (CULLER’S LAW)</a:t>
            </a:r>
          </a:p>
          <a:p>
            <a:pPr lvl="1"/>
            <a:r>
              <a:rPr lang="tr-TR" altLang="zh-CN" dirty="0"/>
              <a:t>R</a:t>
            </a:r>
            <a:r>
              <a:rPr lang="en-US" altLang="zh-CN" dirty="0" err="1"/>
              <a:t>andom</a:t>
            </a:r>
            <a:r>
              <a:rPr lang="en-US" altLang="zh-CN" dirty="0"/>
              <a:t>-access memory (RAM)</a:t>
            </a:r>
            <a:r>
              <a:rPr lang="zh-CN" altLang="en-US" dirty="0"/>
              <a:t>，理论上访问各地址的速度一样</a:t>
            </a:r>
            <a:endParaRPr lang="en-US" altLang="zh-CN" dirty="0"/>
          </a:p>
          <a:p>
            <a:pPr lvl="1"/>
            <a:r>
              <a:rPr lang="zh-CN" altLang="en-US" dirty="0"/>
              <a:t>但实际上因为有</a:t>
            </a:r>
            <a:r>
              <a:rPr lang="en-US" altLang="zh-CN" dirty="0"/>
              <a:t>cache</a:t>
            </a:r>
            <a:r>
              <a:rPr lang="zh-CN" altLang="en-US" dirty="0"/>
              <a:t>、</a:t>
            </a:r>
            <a:r>
              <a:rPr lang="en-US" altLang="zh-CN" dirty="0"/>
              <a:t>TLB</a:t>
            </a:r>
            <a:r>
              <a:rPr lang="zh-CN" altLang="en-US" dirty="0"/>
              <a:t>的存在，访问不同地址的速度差距可能很大</a:t>
            </a:r>
            <a:endParaRPr lang="tr-TR" altLang="zh-CN" dirty="0"/>
          </a:p>
          <a:p>
            <a:pPr lvl="1"/>
            <a:r>
              <a:rPr kumimoji="1" lang="zh-CN" altLang="en-US" dirty="0"/>
              <a:t>所以，</a:t>
            </a:r>
            <a:r>
              <a:rPr lang="en-US" altLang="zh-CN" b="1" dirty="0"/>
              <a:t>RAM isn’t always RAM </a:t>
            </a:r>
            <a:endParaRPr lang="en-US" alt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B01C9-CC9E-4042-87A9-F49D20F0019F}" type="slidenum">
              <a:rPr lang="zh-CN" altLang="en-US" smtClean="0"/>
              <a:pPr/>
              <a:t>75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009226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1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ea typeface="宋体" charset="-122"/>
              </a:rPr>
              <a:t>进程与地址翻译</a:t>
            </a:r>
          </a:p>
        </p:txBody>
      </p:sp>
      <p:sp>
        <p:nvSpPr>
          <p:cNvPr id="168962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400">
                <a:ea typeface="宋体" charset="-122"/>
              </a:rPr>
              <a:t>(Linux)</a:t>
            </a:r>
            <a:r>
              <a:rPr lang="zh-CN" altLang="en-US" sz="2400">
                <a:ea typeface="宋体" charset="-122"/>
              </a:rPr>
              <a:t>每个进程有自己的虚拟地址空间</a:t>
            </a:r>
            <a:endParaRPr lang="en-US" altLang="zh-CN" sz="2400">
              <a:ea typeface="宋体" charset="-122"/>
            </a:endParaRPr>
          </a:p>
          <a:p>
            <a:pPr lvl="1"/>
            <a:r>
              <a:rPr lang="zh-CN" altLang="en-US" sz="2000">
                <a:ea typeface="宋体" charset="-122"/>
              </a:rPr>
              <a:t>两个进程可能同一个虚拟地址</a:t>
            </a:r>
            <a:endParaRPr lang="en-US" altLang="zh-CN" sz="2000">
              <a:ea typeface="宋体" charset="-122"/>
            </a:endParaRPr>
          </a:p>
          <a:p>
            <a:r>
              <a:rPr lang="zh-CN" altLang="en-US" sz="2400">
                <a:ea typeface="宋体" charset="-122"/>
              </a:rPr>
              <a:t>页表</a:t>
            </a:r>
            <a:endParaRPr lang="en-US" altLang="zh-CN" sz="2400">
              <a:ea typeface="宋体" charset="-122"/>
            </a:endParaRPr>
          </a:p>
          <a:p>
            <a:pPr lvl="1"/>
            <a:r>
              <a:rPr lang="zh-CN" altLang="en-US" sz="2000">
                <a:ea typeface="宋体" charset="-122"/>
              </a:rPr>
              <a:t>每个进程自己独立的页表（不同的内存区域）</a:t>
            </a:r>
            <a:endParaRPr lang="en-US" altLang="zh-CN" sz="2000">
              <a:ea typeface="宋体" charset="-122"/>
            </a:endParaRPr>
          </a:p>
          <a:p>
            <a:pPr lvl="1"/>
            <a:r>
              <a:rPr lang="en-US" altLang="zh-CN" sz="2000">
                <a:ea typeface="宋体" charset="-122"/>
              </a:rPr>
              <a:t>MMU</a:t>
            </a:r>
            <a:r>
              <a:rPr lang="zh-CN" altLang="en-US" sz="2000">
                <a:ea typeface="宋体" charset="-122"/>
              </a:rPr>
              <a:t>要知道进程号</a:t>
            </a:r>
            <a:r>
              <a:rPr lang="en-US" altLang="zh-CN" sz="2000">
                <a:ea typeface="宋体" charset="-122"/>
              </a:rPr>
              <a:t>(PID)</a:t>
            </a:r>
            <a:r>
              <a:rPr lang="zh-CN" altLang="en-US" sz="2000">
                <a:ea typeface="宋体" charset="-122"/>
              </a:rPr>
              <a:t>，才能找到对应的页表</a:t>
            </a:r>
            <a:endParaRPr lang="en-US" altLang="zh-CN" sz="2000">
              <a:ea typeface="宋体" charset="-122"/>
            </a:endParaRPr>
          </a:p>
          <a:p>
            <a:pPr lvl="1"/>
            <a:r>
              <a:rPr lang="zh-CN" altLang="en-US" sz="2000">
                <a:ea typeface="宋体" charset="-122"/>
              </a:rPr>
              <a:t>所以</a:t>
            </a:r>
            <a:r>
              <a:rPr lang="en-US" altLang="zh-CN" sz="2000">
                <a:ea typeface="宋体" charset="-122"/>
              </a:rPr>
              <a:t>MMU</a:t>
            </a:r>
            <a:r>
              <a:rPr lang="zh-CN" altLang="en-US" sz="2000">
                <a:ea typeface="宋体" charset="-122"/>
              </a:rPr>
              <a:t>是硬件加速页表的访问，但页表内存需要</a:t>
            </a:r>
            <a:r>
              <a:rPr lang="en-US" altLang="zh-CN" sz="2000">
                <a:ea typeface="宋体" charset="-122"/>
              </a:rPr>
              <a:t>OS</a:t>
            </a:r>
            <a:r>
              <a:rPr lang="zh-CN" altLang="en-US" sz="2000">
                <a:ea typeface="宋体" charset="-122"/>
              </a:rPr>
              <a:t>去管理，因为进程是</a:t>
            </a:r>
            <a:r>
              <a:rPr lang="en-US" altLang="zh-CN" sz="2000">
                <a:ea typeface="宋体" charset="-122"/>
              </a:rPr>
              <a:t>OS</a:t>
            </a:r>
            <a:r>
              <a:rPr lang="zh-CN" altLang="en-US" sz="2000">
                <a:ea typeface="宋体" charset="-122"/>
              </a:rPr>
              <a:t>下才有的概念（对于</a:t>
            </a:r>
            <a:r>
              <a:rPr lang="en-US" altLang="zh-CN" sz="2000">
                <a:ea typeface="宋体" charset="-122"/>
              </a:rPr>
              <a:t>MMU</a:t>
            </a:r>
            <a:r>
              <a:rPr lang="zh-CN" altLang="en-US" sz="2000">
                <a:ea typeface="宋体" charset="-122"/>
              </a:rPr>
              <a:t>只是</a:t>
            </a:r>
            <a:r>
              <a:rPr lang="en-US" altLang="zh-CN" sz="2000">
                <a:ea typeface="宋体" charset="-122"/>
              </a:rPr>
              <a:t>ID-&gt;</a:t>
            </a:r>
            <a:r>
              <a:rPr lang="zh-CN" altLang="en-US" sz="2000">
                <a:ea typeface="宋体" charset="-122"/>
              </a:rPr>
              <a:t>页表这样多个页表的行为模式，不需要知道进程的概念）</a:t>
            </a:r>
            <a:endParaRPr lang="en-US" altLang="zh-CN" sz="2000">
              <a:ea typeface="宋体" charset="-122"/>
            </a:endParaRPr>
          </a:p>
        </p:txBody>
      </p:sp>
      <p:sp>
        <p:nvSpPr>
          <p:cNvPr id="168963" name="幻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3A59284E-4989-734F-AAB0-5151EEA48615}" type="slidenum">
              <a:rPr lang="zh-CN" altLang="en-US" sz="1400" b="0">
                <a:latin typeface="Times New Roman" charset="0"/>
              </a:rPr>
              <a:pPr/>
              <a:t>76</a:t>
            </a:fld>
            <a:endParaRPr lang="en-US" altLang="zh-CN" sz="1400" b="0">
              <a:latin typeface="Times New Roman" charset="0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5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ea typeface="宋体" charset="-122"/>
              </a:rPr>
              <a:t>进程与地址翻译</a:t>
            </a:r>
          </a:p>
        </p:txBody>
      </p:sp>
      <p:sp>
        <p:nvSpPr>
          <p:cNvPr id="169986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TLB</a:t>
            </a:r>
          </a:p>
          <a:p>
            <a:pPr lvl="1"/>
            <a:r>
              <a:rPr lang="zh-CN" altLang="en-US">
                <a:ea typeface="宋体" charset="-122"/>
              </a:rPr>
              <a:t>两个进程可能在有冲突：</a:t>
            </a:r>
            <a:r>
              <a:rPr lang="en-US" altLang="zh-CN">
                <a:ea typeface="宋体" charset="-122"/>
              </a:rPr>
              <a:t>Va-&gt;Pa,</a:t>
            </a:r>
            <a:r>
              <a:rPr lang="zh-CN" altLang="en-US">
                <a:ea typeface="宋体" charset="-122"/>
              </a:rPr>
              <a:t> </a:t>
            </a:r>
            <a:r>
              <a:rPr lang="en-US" altLang="zh-CN">
                <a:ea typeface="宋体" charset="-122"/>
              </a:rPr>
              <a:t>Va-&gt;Pb</a:t>
            </a:r>
            <a:r>
              <a:rPr lang="zh-CN" altLang="en-US">
                <a:ea typeface="宋体" charset="-122"/>
              </a:rPr>
              <a:t>（不同进程的虚拟地址都是</a:t>
            </a:r>
            <a:r>
              <a:rPr lang="en-US" altLang="zh-CN">
                <a:ea typeface="宋体" charset="-122"/>
              </a:rPr>
              <a:t>Va</a:t>
            </a:r>
            <a:r>
              <a:rPr lang="zh-CN" altLang="en-US">
                <a:ea typeface="宋体" charset="-122"/>
              </a:rPr>
              <a:t>，但对应的物理地址不同）</a:t>
            </a:r>
            <a:endParaRPr lang="en-US" altLang="zh-CN">
              <a:ea typeface="宋体" charset="-122"/>
            </a:endParaRPr>
          </a:p>
          <a:p>
            <a:pPr lvl="1"/>
            <a:r>
              <a:rPr lang="zh-CN" altLang="en-US">
                <a:ea typeface="宋体" charset="-122"/>
              </a:rPr>
              <a:t>没问题，但性能不佳的方案</a:t>
            </a:r>
            <a:endParaRPr lang="en-US" altLang="zh-CN">
              <a:ea typeface="宋体" charset="-122"/>
            </a:endParaRPr>
          </a:p>
          <a:p>
            <a:pPr lvl="2"/>
            <a:r>
              <a:rPr lang="zh-CN" altLang="en-US">
                <a:ea typeface="宋体" charset="-122"/>
              </a:rPr>
              <a:t>进程</a:t>
            </a:r>
            <a:r>
              <a:rPr lang="en-US" altLang="zh-CN">
                <a:ea typeface="宋体" charset="-122"/>
              </a:rPr>
              <a:t>B</a:t>
            </a:r>
            <a:r>
              <a:rPr lang="zh-CN" altLang="en-US">
                <a:ea typeface="宋体" charset="-122"/>
              </a:rPr>
              <a:t>切到进程</a:t>
            </a:r>
            <a:r>
              <a:rPr lang="en-US" altLang="zh-CN">
                <a:ea typeface="宋体" charset="-122"/>
              </a:rPr>
              <a:t>A</a:t>
            </a:r>
            <a:r>
              <a:rPr lang="zh-CN" altLang="en-US">
                <a:ea typeface="宋体" charset="-122"/>
              </a:rPr>
              <a:t>，</a:t>
            </a:r>
            <a:r>
              <a:rPr lang="en-US" altLang="zh-CN">
                <a:ea typeface="宋体" charset="-122"/>
              </a:rPr>
              <a:t>invalidate</a:t>
            </a:r>
            <a:r>
              <a:rPr lang="zh-CN" altLang="en-US">
                <a:ea typeface="宋体" charset="-122"/>
              </a:rPr>
              <a:t> </a:t>
            </a:r>
            <a:r>
              <a:rPr lang="en-US" altLang="zh-CN">
                <a:ea typeface="宋体" charset="-122"/>
              </a:rPr>
              <a:t>TLB</a:t>
            </a:r>
            <a:r>
              <a:rPr lang="zh-CN" altLang="en-US">
                <a:ea typeface="宋体" charset="-122"/>
              </a:rPr>
              <a:t>中所有条目，从头开始</a:t>
            </a:r>
            <a:endParaRPr lang="en-US" altLang="zh-CN">
              <a:ea typeface="宋体" charset="-122"/>
            </a:endParaRPr>
          </a:p>
          <a:p>
            <a:pPr lvl="2"/>
            <a:r>
              <a:rPr lang="zh-CN" altLang="en-US">
                <a:ea typeface="宋体" charset="-122"/>
              </a:rPr>
              <a:t>再换回</a:t>
            </a:r>
            <a:r>
              <a:rPr lang="en-US" altLang="zh-CN">
                <a:ea typeface="宋体" charset="-122"/>
              </a:rPr>
              <a:t>B</a:t>
            </a:r>
            <a:r>
              <a:rPr lang="zh-CN" altLang="en-US">
                <a:ea typeface="宋体" charset="-122"/>
              </a:rPr>
              <a:t>，没有</a:t>
            </a:r>
            <a:r>
              <a:rPr lang="en-US" altLang="zh-CN">
                <a:ea typeface="宋体" charset="-122"/>
              </a:rPr>
              <a:t>cache</a:t>
            </a:r>
            <a:r>
              <a:rPr lang="zh-CN" altLang="en-US">
                <a:ea typeface="宋体" charset="-122"/>
              </a:rPr>
              <a:t>，实际映射关系不变</a:t>
            </a:r>
            <a:endParaRPr lang="en-US" altLang="zh-CN">
              <a:ea typeface="宋体" charset="-122"/>
            </a:endParaRPr>
          </a:p>
          <a:p>
            <a:pPr lvl="1"/>
            <a:r>
              <a:rPr lang="en-US" altLang="zh-CN">
                <a:ea typeface="宋体" charset="-122"/>
              </a:rPr>
              <a:t>ASID</a:t>
            </a:r>
            <a:r>
              <a:rPr lang="zh-CN" altLang="en-US">
                <a:ea typeface="宋体" charset="-122"/>
              </a:rPr>
              <a:t>（</a:t>
            </a:r>
            <a:r>
              <a:rPr lang="en-US" altLang="zh-CN">
                <a:ea typeface="宋体" charset="-122"/>
              </a:rPr>
              <a:t>Address</a:t>
            </a:r>
            <a:r>
              <a:rPr lang="zh-CN" altLang="en-US">
                <a:ea typeface="宋体" charset="-122"/>
              </a:rPr>
              <a:t> </a:t>
            </a:r>
            <a:r>
              <a:rPr lang="en-US" altLang="zh-CN">
                <a:ea typeface="宋体" charset="-122"/>
              </a:rPr>
              <a:t>Space</a:t>
            </a:r>
            <a:r>
              <a:rPr lang="zh-CN" altLang="en-US">
                <a:ea typeface="宋体" charset="-122"/>
              </a:rPr>
              <a:t> </a:t>
            </a:r>
            <a:r>
              <a:rPr lang="en-US" altLang="zh-CN">
                <a:ea typeface="宋体" charset="-122"/>
              </a:rPr>
              <a:t>ID</a:t>
            </a:r>
            <a:r>
              <a:rPr lang="zh-CN" altLang="en-US">
                <a:ea typeface="宋体" charset="-122"/>
              </a:rPr>
              <a:t>）</a:t>
            </a:r>
          </a:p>
          <a:p>
            <a:pPr lvl="2"/>
            <a:r>
              <a:rPr lang="zh-CN" altLang="en-US">
                <a:ea typeface="宋体" charset="-122"/>
              </a:rPr>
              <a:t>每个进程一个</a:t>
            </a:r>
            <a:r>
              <a:rPr lang="en-US" altLang="zh-CN">
                <a:ea typeface="宋体" charset="-122"/>
              </a:rPr>
              <a:t>ASID</a:t>
            </a:r>
            <a:r>
              <a:rPr lang="zh-CN" altLang="en-US">
                <a:ea typeface="宋体" charset="-122"/>
              </a:rPr>
              <a:t>，真的索引信息是</a:t>
            </a:r>
            <a:r>
              <a:rPr lang="en-US" altLang="zh-CN">
                <a:ea typeface="宋体" charset="-122"/>
              </a:rPr>
              <a:t>ASID+VPN</a:t>
            </a:r>
            <a:r>
              <a:rPr lang="zh-CN" altLang="en-US">
                <a:ea typeface="宋体" charset="-122"/>
              </a:rPr>
              <a:t>  </a:t>
            </a:r>
          </a:p>
        </p:txBody>
      </p:sp>
      <p:sp>
        <p:nvSpPr>
          <p:cNvPr id="169987" name="幻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61728BAE-3CB7-CA46-856F-B2B7BAE9B923}" type="slidenum">
              <a:rPr lang="zh-CN" altLang="en-US" sz="1400" b="0">
                <a:latin typeface="Times New Roman" charset="0"/>
              </a:rPr>
              <a:pPr/>
              <a:t>77</a:t>
            </a:fld>
            <a:endParaRPr lang="en-US" altLang="zh-CN" sz="1400" b="0">
              <a:latin typeface="Times New Roman" charset="0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Rectangle 1030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E7B7DA43-96DB-7E4A-A97B-E0F2190F5788}" type="slidenum">
              <a:rPr lang="zh-CN" altLang="en-US" sz="1400" b="0">
                <a:latin typeface="Times New Roman" charset="0"/>
              </a:rPr>
              <a:pPr/>
              <a:t>78</a:t>
            </a:fld>
            <a:endParaRPr lang="en-US" altLang="zh-CN" sz="1400" b="0">
              <a:latin typeface="Times New Roman" charset="0"/>
            </a:endParaRPr>
          </a:p>
        </p:txBody>
      </p:sp>
      <p:sp>
        <p:nvSpPr>
          <p:cNvPr id="9523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3600"/>
            <a:ext cx="7772400" cy="1828800"/>
          </a:xfrm>
        </p:spPr>
        <p:txBody>
          <a:bodyPr/>
          <a:lstStyle/>
          <a:p>
            <a:r>
              <a:rPr lang="en-US" altLang="zh-CN" sz="3200" dirty="0"/>
              <a:t>Paging: Smaller Tables </a:t>
            </a:r>
            <a:endParaRPr lang="en-US" altLang="zh-CN" sz="3200" dirty="0"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149616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Paging: Smaller Tables 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回顾</a:t>
            </a:r>
            <a:r>
              <a:rPr lang="en-US" altLang="zh-CN" dirty="0"/>
              <a:t>Paging</a:t>
            </a:r>
            <a:r>
              <a:rPr lang="zh-CN" altLang="en-US" dirty="0"/>
              <a:t>方案的两个问题：</a:t>
            </a:r>
            <a:endParaRPr lang="en-US" altLang="zh-CN" dirty="0"/>
          </a:p>
          <a:p>
            <a:pPr lvl="1"/>
            <a:r>
              <a:rPr kumimoji="1" lang="zh-CN" altLang="en-US" dirty="0"/>
              <a:t>速度慢（</a:t>
            </a:r>
            <a:r>
              <a:rPr kumimoji="1" lang="en-US" altLang="zh-CN" dirty="0"/>
              <a:t>TLB</a:t>
            </a:r>
            <a:r>
              <a:rPr kumimoji="1" lang="zh-CN" altLang="en-US" dirty="0"/>
              <a:t>加速）</a:t>
            </a:r>
            <a:endParaRPr kumimoji="1" lang="en-US" altLang="zh-CN" dirty="0"/>
          </a:p>
          <a:p>
            <a:pPr lvl="1"/>
            <a:r>
              <a:rPr lang="zh-CN" altLang="en-US" dirty="0"/>
              <a:t>占用内存空间大（？）</a:t>
            </a:r>
            <a:endParaRPr lang="en-US" altLang="zh-CN" dirty="0"/>
          </a:p>
          <a:p>
            <a:pPr lvl="2"/>
            <a:r>
              <a:rPr kumimoji="1" lang="en-US" altLang="zh-CN" dirty="0"/>
              <a:t>32-bit address space, 4KB pages, 4-byte page-table entry</a:t>
            </a:r>
          </a:p>
          <a:p>
            <a:pPr lvl="2"/>
            <a:r>
              <a:rPr lang="zh-CN" altLang="en-US" dirty="0"/>
              <a:t>一个进程：</a:t>
            </a:r>
            <a:r>
              <a:rPr lang="en-US" altLang="zh-CN" dirty="0"/>
              <a:t>1M</a:t>
            </a:r>
            <a:r>
              <a:rPr lang="zh-CN" altLang="en-US" dirty="0"/>
              <a:t>*</a:t>
            </a:r>
            <a:r>
              <a:rPr lang="en-US" altLang="zh-CN" dirty="0"/>
              <a:t>4B=4MB</a:t>
            </a:r>
          </a:p>
          <a:p>
            <a:pPr lvl="2"/>
            <a:r>
              <a:rPr kumimoji="1" lang="en-US" altLang="zh-CN" dirty="0"/>
              <a:t>100</a:t>
            </a:r>
            <a:r>
              <a:rPr kumimoji="1" lang="zh-CN" altLang="en-US" dirty="0"/>
              <a:t>个并发进程：</a:t>
            </a:r>
            <a:r>
              <a:rPr kumimoji="1" lang="en-US" altLang="zh-CN" dirty="0"/>
              <a:t>400MB</a:t>
            </a:r>
          </a:p>
          <a:p>
            <a:pPr lvl="2"/>
            <a:endParaRPr lang="en-US" altLang="zh-CN" dirty="0"/>
          </a:p>
          <a:p>
            <a:pPr lvl="2"/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B01C9-CC9E-4042-87A9-F49D20F0019F}" type="slidenum">
              <a:rPr lang="zh-CN" altLang="en-US" smtClean="0"/>
              <a:pPr/>
              <a:t>79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84232198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09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E959981D-49FA-104F-A3AC-F6D15E349F9E}" type="slidenum">
              <a:rPr lang="zh-CN" altLang="en-US" sz="1400" b="0">
                <a:latin typeface="Times New Roman" charset="0"/>
              </a:rPr>
              <a:pPr/>
              <a:t>80</a:t>
            </a:fld>
            <a:endParaRPr lang="en-US" altLang="zh-CN" sz="1400" b="0">
              <a:latin typeface="Times New Roman" charset="0"/>
            </a:endParaRPr>
          </a:p>
        </p:txBody>
      </p:sp>
      <p:sp>
        <p:nvSpPr>
          <p:cNvPr id="171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Paging: Smaller Tables </a:t>
            </a:r>
            <a:endParaRPr lang="en-US" altLang="zh-CN" dirty="0">
              <a:ea typeface="宋体" charset="-122"/>
            </a:endParaRPr>
          </a:p>
        </p:txBody>
      </p:sp>
      <p:sp>
        <p:nvSpPr>
          <p:cNvPr id="171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7620000" cy="4419600"/>
          </a:xfrm>
        </p:spPr>
        <p:txBody>
          <a:bodyPr/>
          <a:lstStyle/>
          <a:p>
            <a:r>
              <a:rPr kumimoji="0" lang="en-US" altLang="zh-CN" dirty="0">
                <a:ea typeface="宋体" charset="-122"/>
              </a:rPr>
              <a:t>Given:</a:t>
            </a:r>
          </a:p>
          <a:p>
            <a:pPr lvl="1"/>
            <a:r>
              <a:rPr kumimoji="0" lang="en-US" altLang="zh-CN" dirty="0">
                <a:ea typeface="宋体" charset="-122"/>
              </a:rPr>
              <a:t>X86: 32-bit address space </a:t>
            </a:r>
            <a:br>
              <a:rPr kumimoji="0" lang="en-US" altLang="zh-CN" dirty="0">
                <a:ea typeface="宋体" charset="-122"/>
              </a:rPr>
            </a:br>
            <a:r>
              <a:rPr kumimoji="0" lang="en-US" altLang="zh-CN" dirty="0">
                <a:ea typeface="宋体" charset="-122"/>
              </a:rPr>
              <a:t>         4KB (2</a:t>
            </a:r>
            <a:r>
              <a:rPr kumimoji="0" lang="en-US" altLang="zh-CN" baseline="30000" dirty="0">
                <a:ea typeface="宋体" charset="-122"/>
              </a:rPr>
              <a:t>12</a:t>
            </a:r>
            <a:r>
              <a:rPr kumimoji="0" lang="en-US" altLang="zh-CN" dirty="0">
                <a:ea typeface="宋体" charset="-122"/>
              </a:rPr>
              <a:t>) page size, 4-byte PTE </a:t>
            </a:r>
          </a:p>
          <a:p>
            <a:pPr lvl="1"/>
            <a:r>
              <a:rPr kumimoji="0" lang="en-US" altLang="zh-CN" dirty="0">
                <a:ea typeface="宋体" charset="-122"/>
              </a:rPr>
              <a:t>X86-64: 48-bit address space </a:t>
            </a:r>
            <a:br>
              <a:rPr kumimoji="0" lang="en-US" altLang="zh-CN" dirty="0">
                <a:ea typeface="宋体" charset="-122"/>
              </a:rPr>
            </a:br>
            <a:r>
              <a:rPr kumimoji="0" lang="en-US" altLang="zh-CN" dirty="0">
                <a:ea typeface="宋体" charset="-122"/>
              </a:rPr>
              <a:t>              4KB (2</a:t>
            </a:r>
            <a:r>
              <a:rPr kumimoji="0" lang="en-US" altLang="zh-CN" baseline="30000" dirty="0">
                <a:ea typeface="宋体" charset="-122"/>
              </a:rPr>
              <a:t>12</a:t>
            </a:r>
            <a:r>
              <a:rPr kumimoji="0" lang="en-US" altLang="zh-CN" dirty="0">
                <a:ea typeface="宋体" charset="-122"/>
              </a:rPr>
              <a:t>) page size,  8-byte PTE</a:t>
            </a:r>
            <a:endParaRPr kumimoji="0" lang="en-US" altLang="zh-CN" sz="2000" dirty="0">
              <a:ea typeface="宋体" charset="-122"/>
            </a:endParaRPr>
          </a:p>
          <a:p>
            <a:r>
              <a:rPr kumimoji="0" lang="en-US" altLang="zh-CN" dirty="0">
                <a:ea typeface="宋体" charset="-122"/>
              </a:rPr>
              <a:t>Problem:</a:t>
            </a:r>
          </a:p>
          <a:p>
            <a:pPr lvl="1"/>
            <a:r>
              <a:rPr kumimoji="0" lang="en-US" altLang="zh-CN" dirty="0">
                <a:ea typeface="宋体" charset="-122"/>
              </a:rPr>
              <a:t>X86: Would need a </a:t>
            </a:r>
            <a:r>
              <a:rPr kumimoji="0" lang="en-US" altLang="zh-CN" dirty="0">
                <a:solidFill>
                  <a:srgbClr val="FF0000"/>
                </a:solidFill>
                <a:ea typeface="宋体" charset="-122"/>
              </a:rPr>
              <a:t>4 MB </a:t>
            </a:r>
            <a:r>
              <a:rPr kumimoji="0" lang="en-US" altLang="zh-CN" dirty="0">
                <a:ea typeface="宋体" charset="-122"/>
              </a:rPr>
              <a:t>page table!</a:t>
            </a:r>
          </a:p>
          <a:p>
            <a:pPr lvl="2"/>
            <a:r>
              <a:rPr kumimoji="0" lang="en-US" altLang="zh-CN" dirty="0">
                <a:ea typeface="宋体" charset="-122"/>
              </a:rPr>
              <a:t>2</a:t>
            </a:r>
            <a:r>
              <a:rPr kumimoji="0" lang="en-US" altLang="zh-CN" b="1" baseline="30000" dirty="0">
                <a:ea typeface="宋体" charset="-122"/>
              </a:rPr>
              <a:t>20 </a:t>
            </a:r>
            <a:r>
              <a:rPr kumimoji="0" lang="en-US" altLang="zh-CN" dirty="0">
                <a:ea typeface="宋体" charset="-122"/>
              </a:rPr>
              <a:t>*4 bytes (20bit = 32bit – 12bit)</a:t>
            </a:r>
          </a:p>
          <a:p>
            <a:pPr lvl="1"/>
            <a:r>
              <a:rPr kumimoji="0" lang="en-US" altLang="zh-CN" dirty="0">
                <a:ea typeface="宋体" charset="-122"/>
              </a:rPr>
              <a:t>X86-64: Would need a </a:t>
            </a:r>
            <a:r>
              <a:rPr kumimoji="0" lang="en-US" altLang="zh-CN" dirty="0">
                <a:solidFill>
                  <a:srgbClr val="FF0000"/>
                </a:solidFill>
                <a:ea typeface="宋体" charset="-122"/>
              </a:rPr>
              <a:t>512 GB </a:t>
            </a:r>
            <a:r>
              <a:rPr kumimoji="0" lang="en-US" altLang="zh-CN" dirty="0">
                <a:ea typeface="宋体" charset="-122"/>
              </a:rPr>
              <a:t>page table!</a:t>
            </a:r>
          </a:p>
          <a:p>
            <a:pPr lvl="2"/>
            <a:r>
              <a:rPr kumimoji="0" lang="en-US" altLang="zh-CN" dirty="0">
                <a:ea typeface="宋体" charset="-122"/>
              </a:rPr>
              <a:t>2</a:t>
            </a:r>
            <a:r>
              <a:rPr kumimoji="0" lang="en-US" altLang="zh-CN" b="1" baseline="30000" dirty="0">
                <a:ea typeface="宋体" charset="-122"/>
              </a:rPr>
              <a:t>36 </a:t>
            </a:r>
            <a:r>
              <a:rPr kumimoji="0" lang="en-US" altLang="zh-CN" dirty="0">
                <a:ea typeface="宋体" charset="-122"/>
              </a:rPr>
              <a:t>*8 bytes (36bit = 48bit – 12bit)</a:t>
            </a:r>
          </a:p>
          <a:p>
            <a:pPr lvl="2"/>
            <a:endParaRPr kumimoji="0" lang="en-US" altLang="zh-CN" dirty="0"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5937731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Paging: Smaller Tables 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Simple Solution : </a:t>
            </a:r>
            <a:r>
              <a:rPr kumimoji="1" lang="en-US" altLang="zh-CN" dirty="0"/>
              <a:t>Bigger Pages</a:t>
            </a:r>
          </a:p>
          <a:p>
            <a:pPr lvl="1"/>
            <a:r>
              <a:rPr lang="en-US" altLang="zh-CN" dirty="0"/>
              <a:t>Page size: 4KB -&gt; 16KB</a:t>
            </a:r>
          </a:p>
          <a:p>
            <a:pPr lvl="1"/>
            <a:r>
              <a:rPr lang="zh-CN" altLang="en-US" dirty="0"/>
              <a:t>一个进程：</a:t>
            </a:r>
            <a:r>
              <a:rPr lang="en-US" altLang="zh-CN" dirty="0"/>
              <a:t>2</a:t>
            </a:r>
            <a:r>
              <a:rPr lang="en-US" altLang="zh-CN" baseline="30000" dirty="0"/>
              <a:t>32</a:t>
            </a:r>
            <a:r>
              <a:rPr lang="en-US" altLang="zh-CN" dirty="0"/>
              <a:t>/2</a:t>
            </a:r>
            <a:r>
              <a:rPr lang="en-US" altLang="zh-CN" baseline="30000" dirty="0"/>
              <a:t>14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2</a:t>
            </a:r>
            <a:r>
              <a:rPr lang="en-US" altLang="zh-CN" baseline="30000" dirty="0"/>
              <a:t>18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256K</a:t>
            </a:r>
            <a:r>
              <a:rPr lang="zh-CN" altLang="en-US" dirty="0"/>
              <a:t>个</a:t>
            </a:r>
            <a:r>
              <a:rPr lang="en-US" altLang="zh-CN" dirty="0"/>
              <a:t>entry</a:t>
            </a:r>
            <a:r>
              <a:rPr lang="zh-CN" altLang="en-US" dirty="0"/>
              <a:t>，</a:t>
            </a:r>
            <a:r>
              <a:rPr lang="en-US" altLang="zh-CN" dirty="0"/>
              <a:t>1MB</a:t>
            </a:r>
            <a:r>
              <a:rPr lang="zh-CN" altLang="en-US" dirty="0"/>
              <a:t>空间</a:t>
            </a:r>
            <a:endParaRPr lang="en-US" altLang="zh-CN" dirty="0"/>
          </a:p>
          <a:p>
            <a:pPr lvl="1"/>
            <a:r>
              <a:rPr kumimoji="1" lang="en-US" altLang="zh-CN" dirty="0"/>
              <a:t>100</a:t>
            </a:r>
            <a:r>
              <a:rPr kumimoji="1" lang="zh-CN" altLang="en-US" dirty="0"/>
              <a:t>个进程：</a:t>
            </a:r>
            <a:r>
              <a:rPr kumimoji="1" lang="en-US" altLang="zh-CN" dirty="0"/>
              <a:t>100MB</a:t>
            </a:r>
          </a:p>
          <a:p>
            <a:pPr lvl="1"/>
            <a:r>
              <a:rPr lang="zh-CN" altLang="en-US" dirty="0"/>
              <a:t>问题：</a:t>
            </a:r>
            <a:r>
              <a:rPr lang="en-US" altLang="zh-CN" dirty="0"/>
              <a:t>internal fragmentation</a:t>
            </a:r>
          </a:p>
          <a:p>
            <a:pPr lvl="2"/>
            <a:r>
              <a:rPr lang="zh-CN" altLang="en-US" dirty="0"/>
              <a:t>用户至少分配一个</a:t>
            </a:r>
            <a:r>
              <a:rPr lang="en-US" altLang="zh-CN" dirty="0"/>
              <a:t>page</a:t>
            </a:r>
            <a:r>
              <a:rPr lang="zh-CN" altLang="en-US" dirty="0"/>
              <a:t>，但可能只用了其中的一小部分，浪费空间</a:t>
            </a:r>
            <a:endParaRPr lang="en-US" altLang="zh-CN" dirty="0"/>
          </a:p>
          <a:p>
            <a:pPr lvl="2"/>
            <a:r>
              <a:rPr kumimoji="1" lang="en-US" altLang="zh-CN" dirty="0"/>
              <a:t>Page</a:t>
            </a:r>
            <a:r>
              <a:rPr kumimoji="1" lang="zh-CN" altLang="en-US" dirty="0"/>
              <a:t>变大，削弱</a:t>
            </a:r>
            <a:r>
              <a:rPr kumimoji="1" lang="en-US" altLang="zh-CN" dirty="0"/>
              <a:t>paging</a:t>
            </a:r>
            <a:r>
              <a:rPr lang="zh-CN" altLang="en-US" dirty="0"/>
              <a:t>方案的</a:t>
            </a:r>
            <a:r>
              <a:rPr lang="en-US" altLang="zh-CN" dirty="0"/>
              <a:t>flexibility</a:t>
            </a:r>
            <a:r>
              <a:rPr lang="zh-CN" altLang="en-US" dirty="0"/>
              <a:t>优势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B01C9-CC9E-4042-87A9-F49D20F0019F}" type="slidenum">
              <a:rPr lang="zh-CN" altLang="en-US" smtClean="0"/>
              <a:pPr/>
              <a:t>81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93983855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Paging: Smaller Tables 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Hybrid Approach: Paging and Segments </a:t>
            </a:r>
          </a:p>
          <a:p>
            <a:pPr lvl="1"/>
            <a:r>
              <a:rPr kumimoji="1" lang="en-US" altLang="zh-CN" dirty="0"/>
              <a:t>Paging: </a:t>
            </a:r>
            <a:r>
              <a:rPr lang="zh-CN" altLang="en-US" dirty="0"/>
              <a:t>细粒度，空间开销大，适合稠密地址空间</a:t>
            </a:r>
            <a:endParaRPr lang="en-US" altLang="zh-CN" dirty="0"/>
          </a:p>
          <a:p>
            <a:pPr lvl="1"/>
            <a:r>
              <a:rPr kumimoji="1" lang="en-US" altLang="zh-CN" dirty="0"/>
              <a:t>Segment</a:t>
            </a:r>
            <a:r>
              <a:rPr kumimoji="1" lang="zh-CN" altLang="en-US" dirty="0"/>
              <a:t>：粗粒度，空间开销小，适合稀疏地址空间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Hybrid: </a:t>
            </a:r>
            <a:r>
              <a:rPr kumimoji="1" lang="zh-CN" altLang="en-US" dirty="0"/>
              <a:t>利用二者优势</a:t>
            </a:r>
            <a:endParaRPr kumimoji="1" lang="en-US" altLang="zh-CN" dirty="0"/>
          </a:p>
          <a:p>
            <a:pPr lvl="1"/>
            <a:r>
              <a:rPr lang="zh-CN" altLang="en-US" dirty="0"/>
              <a:t>最早是</a:t>
            </a:r>
            <a:r>
              <a:rPr lang="en-US" altLang="zh-CN" dirty="0" err="1"/>
              <a:t>multics</a:t>
            </a:r>
            <a:r>
              <a:rPr lang="zh-CN" altLang="en-US" dirty="0"/>
              <a:t>作者之一</a:t>
            </a:r>
            <a:r>
              <a:rPr lang="en-US" altLang="zh-CN" dirty="0"/>
              <a:t>Jack Dennis</a:t>
            </a:r>
            <a:r>
              <a:rPr lang="zh-CN" altLang="en-US" dirty="0"/>
              <a:t>提出</a:t>
            </a:r>
            <a:endParaRPr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B01C9-CC9E-4042-87A9-F49D20F0019F}" type="slidenum">
              <a:rPr lang="zh-CN" altLang="en-US" smtClean="0"/>
              <a:pPr/>
              <a:t>82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52583595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Paging: Smaller Tables 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Hybrid Approach: Paging and Segments </a:t>
            </a:r>
          </a:p>
          <a:p>
            <a:pPr lvl="1"/>
            <a:r>
              <a:rPr kumimoji="1" lang="en-US" altLang="zh-CN" dirty="0"/>
              <a:t>E.g., 16KB address space, 1KB pages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B01C9-CC9E-4042-87A9-F49D20F0019F}" type="slidenum">
              <a:rPr lang="zh-CN" altLang="en-US" smtClean="0"/>
              <a:pPr/>
              <a:t>83</a:t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9019" y="2654300"/>
            <a:ext cx="4423981" cy="42037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705100"/>
            <a:ext cx="3831066" cy="392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048779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Paging: Smaller Tables 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Hybrid Approach: Paging and Segments</a:t>
            </a:r>
          </a:p>
          <a:p>
            <a:pPr lvl="1"/>
            <a:r>
              <a:rPr kumimoji="1" lang="en-US" altLang="zh-CN" dirty="0"/>
              <a:t>Segmentation: </a:t>
            </a:r>
            <a:r>
              <a:rPr kumimoji="1" lang="en-US" altLang="zh-CN" dirty="0" err="1"/>
              <a:t>base+bound</a:t>
            </a:r>
            <a:r>
              <a:rPr kumimoji="1" lang="zh-CN" altLang="en-US" dirty="0"/>
              <a:t>，放在专门的寄存器中</a:t>
            </a:r>
            <a:endParaRPr kumimoji="1" lang="en-US" altLang="zh-CN" dirty="0"/>
          </a:p>
          <a:p>
            <a:pPr lvl="2"/>
            <a:r>
              <a:rPr lang="en-US" altLang="zh-CN" dirty="0"/>
              <a:t>Code, heap, stack</a:t>
            </a:r>
            <a:r>
              <a:rPr lang="zh-CN" altLang="en-US" dirty="0"/>
              <a:t>三个</a:t>
            </a:r>
            <a:r>
              <a:rPr lang="en-US" altLang="zh-CN" dirty="0"/>
              <a:t>segment</a:t>
            </a:r>
            <a:r>
              <a:rPr lang="zh-CN" altLang="en-US" dirty="0"/>
              <a:t>，因此有三对</a:t>
            </a:r>
            <a:r>
              <a:rPr lang="en-US" altLang="zh-CN" dirty="0" err="1"/>
              <a:t>base+bound</a:t>
            </a:r>
            <a:r>
              <a:rPr lang="zh-CN" altLang="en-US" dirty="0"/>
              <a:t>寄存器</a:t>
            </a:r>
            <a:endParaRPr lang="en-US" altLang="zh-CN" dirty="0"/>
          </a:p>
          <a:p>
            <a:pPr lvl="2"/>
            <a:r>
              <a:rPr lang="zh-CN" altLang="en-US" dirty="0"/>
              <a:t>存放当前活跃进程的三个</a:t>
            </a:r>
            <a:r>
              <a:rPr lang="en-US" altLang="zh-CN" dirty="0"/>
              <a:t>segment</a:t>
            </a:r>
            <a:r>
              <a:rPr lang="zh-CN" altLang="en-US" dirty="0"/>
              <a:t>信息</a:t>
            </a:r>
            <a:endParaRPr kumimoji="1" lang="en-US" altLang="zh-CN" dirty="0"/>
          </a:p>
          <a:p>
            <a:pPr lvl="1"/>
            <a:r>
              <a:rPr lang="zh-CN" altLang="en-US" dirty="0"/>
              <a:t>每个</a:t>
            </a:r>
            <a:r>
              <a:rPr lang="en-US" altLang="zh-CN" dirty="0"/>
              <a:t>segment</a:t>
            </a:r>
            <a:r>
              <a:rPr lang="zh-CN" altLang="en-US" dirty="0"/>
              <a:t>建立一张页表，</a:t>
            </a:r>
            <a:r>
              <a:rPr lang="en-US" altLang="zh-CN" dirty="0"/>
              <a:t>bound</a:t>
            </a:r>
            <a:r>
              <a:rPr lang="zh-CN" altLang="en-US" dirty="0"/>
              <a:t>为段内已使用的最大内存</a:t>
            </a:r>
            <a:endParaRPr lang="en-US" altLang="zh-CN" dirty="0"/>
          </a:p>
          <a:p>
            <a:pPr lvl="2"/>
            <a:r>
              <a:rPr lang="zh-CN" altLang="en-US" dirty="0"/>
              <a:t>后面没有分配的空间不计入</a:t>
            </a:r>
            <a:r>
              <a:rPr lang="en-US" altLang="zh-CN" dirty="0"/>
              <a:t>page table</a:t>
            </a:r>
            <a:r>
              <a:rPr lang="zh-CN" altLang="en-US" dirty="0"/>
              <a:t>，可以节省空间</a:t>
            </a:r>
            <a:endParaRPr lang="en-US" altLang="zh-CN" dirty="0"/>
          </a:p>
          <a:p>
            <a:pPr lvl="2"/>
            <a:r>
              <a:rPr lang="zh-CN" altLang="en-US" dirty="0"/>
              <a:t>假设</a:t>
            </a:r>
            <a:r>
              <a:rPr lang="en-US" altLang="zh-CN" dirty="0"/>
              <a:t>code</a:t>
            </a:r>
            <a:r>
              <a:rPr lang="zh-CN" altLang="en-US" dirty="0"/>
              <a:t> </a:t>
            </a:r>
            <a:r>
              <a:rPr lang="en-US" altLang="zh-CN" dirty="0"/>
              <a:t>segment</a:t>
            </a:r>
            <a:r>
              <a:rPr lang="zh-CN" altLang="en-US" dirty="0"/>
              <a:t>只使用了前三个</a:t>
            </a:r>
            <a:r>
              <a:rPr lang="en-US" altLang="zh-CN" dirty="0"/>
              <a:t>page (0, 1, 2)</a:t>
            </a:r>
            <a:r>
              <a:rPr lang="zh-CN" altLang="en-US" dirty="0"/>
              <a:t>，那么</a:t>
            </a:r>
            <a:r>
              <a:rPr lang="en-US" altLang="zh-CN" dirty="0"/>
              <a:t>code segment page table</a:t>
            </a:r>
            <a:r>
              <a:rPr lang="zh-CN" altLang="en-US" dirty="0"/>
              <a:t>只记录三个</a:t>
            </a:r>
            <a:r>
              <a:rPr lang="en-US" altLang="zh-CN" dirty="0"/>
              <a:t>entry</a:t>
            </a:r>
            <a:r>
              <a:rPr lang="zh-CN" altLang="en-US" dirty="0"/>
              <a:t>，</a:t>
            </a:r>
            <a:r>
              <a:rPr lang="en-US" altLang="zh-CN" dirty="0"/>
              <a:t>bound=3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B01C9-CC9E-4042-87A9-F49D20F0019F}" type="slidenum">
              <a:rPr lang="zh-CN" altLang="en-US" smtClean="0"/>
              <a:pPr/>
              <a:t>84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8319501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Paging: Smaller Tables 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Hybrid Approach: Paging and Segments</a:t>
            </a:r>
          </a:p>
          <a:p>
            <a:pPr lvl="1"/>
            <a:r>
              <a:rPr lang="zh-CN" altLang="en-US" dirty="0"/>
              <a:t>段页式内存管理</a:t>
            </a:r>
            <a:endParaRPr lang="en-US" altLang="zh-CN" dirty="0"/>
          </a:p>
          <a:p>
            <a:pPr lvl="1"/>
            <a:r>
              <a:rPr kumimoji="1" lang="zh-CN" altLang="en-US" dirty="0"/>
              <a:t>也存在问题：</a:t>
            </a:r>
            <a:endParaRPr kumimoji="1" lang="en-US" altLang="zh-CN" dirty="0"/>
          </a:p>
          <a:p>
            <a:pPr lvl="2"/>
            <a:r>
              <a:rPr lang="zh-CN" altLang="en-US" dirty="0"/>
              <a:t>如果空间稀疏（内部空，而不是后面空），效率也不高</a:t>
            </a:r>
            <a:endParaRPr lang="en-US" altLang="zh-CN" dirty="0"/>
          </a:p>
          <a:p>
            <a:pPr lvl="2"/>
            <a:r>
              <a:rPr kumimoji="1" lang="zh-CN" altLang="en-US" dirty="0"/>
              <a:t>两种方式，导致额外的</a:t>
            </a:r>
            <a:r>
              <a:rPr lang="en-US" altLang="zh-CN" dirty="0"/>
              <a:t>fragmentation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B01C9-CC9E-4042-87A9-F49D20F0019F}" type="slidenum">
              <a:rPr lang="zh-CN" altLang="en-US" smtClean="0"/>
              <a:pPr/>
              <a:t>85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46315613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Paging: Smaller Tables 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为什么</a:t>
            </a:r>
            <a:r>
              <a:rPr kumimoji="1" lang="en-US" altLang="zh-CN" dirty="0"/>
              <a:t>Page Table</a:t>
            </a:r>
            <a:r>
              <a:rPr kumimoji="1" lang="zh-CN" altLang="en-US" dirty="0"/>
              <a:t>占用空间会大？</a:t>
            </a:r>
            <a:endParaRPr kumimoji="1" lang="en-US" altLang="zh-CN" dirty="0"/>
          </a:p>
          <a:p>
            <a:pPr lvl="1"/>
            <a:r>
              <a:rPr lang="zh-CN" altLang="en-US" dirty="0"/>
              <a:t>每个</a:t>
            </a:r>
            <a:r>
              <a:rPr lang="en-US" altLang="zh-CN" dirty="0"/>
              <a:t>VPN</a:t>
            </a:r>
            <a:r>
              <a:rPr lang="zh-CN" altLang="en-US" dirty="0"/>
              <a:t>都需要一个</a:t>
            </a:r>
            <a:r>
              <a:rPr lang="en-US" altLang="zh-CN" dirty="0"/>
              <a:t>entry</a:t>
            </a:r>
          </a:p>
          <a:p>
            <a:pPr lvl="1"/>
            <a:r>
              <a:rPr kumimoji="1" lang="zh-CN" altLang="en-US" dirty="0"/>
              <a:t>但实际上多数进程并没有真正利用多少</a:t>
            </a:r>
            <a:r>
              <a:rPr kumimoji="1" lang="en-US" altLang="zh-CN" dirty="0"/>
              <a:t>VPN</a:t>
            </a:r>
            <a:r>
              <a:rPr kumimoji="1" lang="zh-CN" altLang="en-US" dirty="0"/>
              <a:t>，占用多少</a:t>
            </a:r>
            <a:r>
              <a:rPr kumimoji="1" lang="en-US" altLang="zh-CN" dirty="0"/>
              <a:t>PPN</a:t>
            </a:r>
          </a:p>
          <a:p>
            <a:pPr lvl="1"/>
            <a:r>
              <a:rPr lang="en-US" altLang="zh-CN" dirty="0"/>
              <a:t>i.e., Page Table</a:t>
            </a:r>
            <a:r>
              <a:rPr lang="zh-CN" altLang="en-US" dirty="0"/>
              <a:t>往往是稀疏的，有很多</a:t>
            </a:r>
            <a:r>
              <a:rPr lang="en-US" altLang="zh-CN" dirty="0"/>
              <a:t>entry</a:t>
            </a:r>
            <a:r>
              <a:rPr lang="zh-CN" altLang="en-US" dirty="0"/>
              <a:t>是空的，却占用了大量空间</a:t>
            </a:r>
            <a:endParaRPr lang="en-US" altLang="zh-CN" dirty="0"/>
          </a:p>
          <a:p>
            <a:pPr lvl="1"/>
            <a:r>
              <a:rPr kumimoji="1" lang="en-US" altLang="zh-CN" dirty="0"/>
              <a:t>Solution: </a:t>
            </a:r>
            <a:r>
              <a:rPr lang="zh-CN" altLang="en-US" dirty="0"/>
              <a:t>多级页表，压缩空白</a:t>
            </a:r>
            <a:r>
              <a:rPr lang="en-US" altLang="zh-CN" dirty="0"/>
              <a:t>entry</a:t>
            </a:r>
            <a:r>
              <a:rPr lang="zh-CN" altLang="en-US" dirty="0"/>
              <a:t>所占的空间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B01C9-CC9E-4042-87A9-F49D20F0019F}" type="slidenum">
              <a:rPr lang="zh-CN" altLang="en-US" smtClean="0"/>
              <a:pPr/>
              <a:t>86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56341839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7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87B339CB-2B43-CA45-95AB-413B57B44FDD}" type="slidenum">
              <a:rPr lang="zh-CN" altLang="en-US" sz="1400" b="0">
                <a:latin typeface="Times New Roman" charset="0"/>
              </a:rPr>
              <a:pPr/>
              <a:t>87</a:t>
            </a:fld>
            <a:endParaRPr lang="en-US" altLang="zh-CN" sz="1400" b="0">
              <a:latin typeface="Times New Roman" charset="0"/>
            </a:endParaRPr>
          </a:p>
        </p:txBody>
      </p:sp>
      <p:sp>
        <p:nvSpPr>
          <p:cNvPr id="173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Paging: Smaller Tables </a:t>
            </a:r>
            <a:endParaRPr lang="en-US" altLang="zh-CN" dirty="0">
              <a:ea typeface="宋体" charset="-122"/>
            </a:endParaRPr>
          </a:p>
        </p:txBody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4876800" cy="4419600"/>
          </a:xfrm>
        </p:spPr>
        <p:txBody>
          <a:bodyPr/>
          <a:lstStyle/>
          <a:p>
            <a:pPr>
              <a:lnSpc>
                <a:spcPct val="130000"/>
              </a:lnSpc>
              <a:defRPr/>
            </a:pPr>
            <a:r>
              <a:rPr kumimoji="0" lang="en-US" altLang="zh-CN" dirty="0">
                <a:ea typeface="宋体" pitchFamily="2" charset="-122"/>
                <a:cs typeface="+mn-cs"/>
              </a:rPr>
              <a:t>Common solution</a:t>
            </a:r>
          </a:p>
          <a:p>
            <a:pPr lvl="1">
              <a:lnSpc>
                <a:spcPct val="130000"/>
              </a:lnSpc>
              <a:defRPr/>
            </a:pPr>
            <a:r>
              <a:rPr kumimoji="0" lang="en-US" altLang="zh-CN" dirty="0">
                <a:ea typeface="宋体" pitchFamily="2" charset="-122"/>
              </a:rPr>
              <a:t>multi-level page tables</a:t>
            </a:r>
          </a:p>
          <a:p>
            <a:pPr lvl="1">
              <a:lnSpc>
                <a:spcPct val="130000"/>
              </a:lnSpc>
              <a:defRPr/>
            </a:pPr>
            <a:r>
              <a:rPr kumimoji="0" lang="en-US" altLang="zh-CN" dirty="0">
                <a:ea typeface="宋体" pitchFamily="2" charset="-122"/>
              </a:rPr>
              <a:t>e.g., 2-level page table</a:t>
            </a:r>
          </a:p>
          <a:p>
            <a:pPr lvl="2">
              <a:lnSpc>
                <a:spcPct val="130000"/>
              </a:lnSpc>
              <a:defRPr/>
            </a:pPr>
            <a:r>
              <a:rPr kumimoji="0"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itchFamily="2" charset="-122"/>
              </a:rPr>
              <a:t>Level 1 table</a:t>
            </a:r>
            <a:r>
              <a:rPr kumimoji="0" lang="en-US" altLang="zh-CN" dirty="0">
                <a:ea typeface="宋体" pitchFamily="2" charset="-122"/>
              </a:rPr>
              <a:t>: 1024 entries, each of which points to a Level 2 page table.</a:t>
            </a:r>
          </a:p>
          <a:p>
            <a:pPr lvl="2">
              <a:lnSpc>
                <a:spcPct val="130000"/>
              </a:lnSpc>
              <a:defRPr/>
            </a:pPr>
            <a:r>
              <a:rPr kumimoji="0"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itchFamily="2" charset="-122"/>
              </a:rPr>
              <a:t>Level 2 table</a:t>
            </a:r>
            <a:r>
              <a:rPr kumimoji="0" lang="en-US" altLang="zh-CN" dirty="0">
                <a:ea typeface="宋体" pitchFamily="2" charset="-122"/>
              </a:rPr>
              <a:t>:  1024 entries, each of which points to a page</a:t>
            </a:r>
          </a:p>
        </p:txBody>
      </p:sp>
      <p:grpSp>
        <p:nvGrpSpPr>
          <p:cNvPr id="173060" name="Group 14"/>
          <p:cNvGrpSpPr>
            <a:grpSpLocks/>
          </p:cNvGrpSpPr>
          <p:nvPr/>
        </p:nvGrpSpPr>
        <p:grpSpPr bwMode="auto">
          <a:xfrm>
            <a:off x="5334000" y="1676400"/>
            <a:ext cx="2740025" cy="4572000"/>
            <a:chOff x="3457" y="912"/>
            <a:chExt cx="1726" cy="3072"/>
          </a:xfrm>
        </p:grpSpPr>
        <p:sp>
          <p:nvSpPr>
            <p:cNvPr id="173064" name="Text Box 4"/>
            <p:cNvSpPr txBox="1">
              <a:spLocks noChangeArrowheads="1"/>
            </p:cNvSpPr>
            <p:nvPr/>
          </p:nvSpPr>
          <p:spPr bwMode="auto">
            <a:xfrm>
              <a:off x="3457" y="1872"/>
              <a:ext cx="600" cy="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30000"/>
                </a:spcBef>
              </a:pPr>
              <a:r>
                <a:rPr lang="en-US" altLang="zh-CN" sz="1800">
                  <a:solidFill>
                    <a:schemeClr val="tx2"/>
                  </a:solidFill>
                  <a:latin typeface="Helvetica" charset="0"/>
                </a:rPr>
                <a:t>Level 1</a:t>
              </a:r>
            </a:p>
            <a:p>
              <a:pPr algn="ctr">
                <a:lnSpc>
                  <a:spcPct val="90000"/>
                </a:lnSpc>
                <a:spcBef>
                  <a:spcPct val="30000"/>
                </a:spcBef>
              </a:pPr>
              <a:r>
                <a:rPr lang="en-US" altLang="zh-CN" sz="1800">
                  <a:solidFill>
                    <a:schemeClr val="tx2"/>
                  </a:solidFill>
                  <a:latin typeface="Helvetica" charset="0"/>
                </a:rPr>
                <a:t>Table</a:t>
              </a:r>
            </a:p>
          </p:txBody>
        </p:sp>
        <p:sp>
          <p:nvSpPr>
            <p:cNvPr id="173065" name="Rectangle 5"/>
            <p:cNvSpPr>
              <a:spLocks noChangeArrowheads="1"/>
            </p:cNvSpPr>
            <p:nvPr/>
          </p:nvSpPr>
          <p:spPr bwMode="auto">
            <a:xfrm>
              <a:off x="3553" y="2304"/>
              <a:ext cx="441" cy="72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73066" name="Rectangle 6"/>
            <p:cNvSpPr>
              <a:spLocks noChangeArrowheads="1"/>
            </p:cNvSpPr>
            <p:nvPr/>
          </p:nvSpPr>
          <p:spPr bwMode="auto">
            <a:xfrm>
              <a:off x="4704" y="1440"/>
              <a:ext cx="441" cy="720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73067" name="Rectangle 7"/>
            <p:cNvSpPr>
              <a:spLocks noChangeArrowheads="1"/>
            </p:cNvSpPr>
            <p:nvPr/>
          </p:nvSpPr>
          <p:spPr bwMode="auto">
            <a:xfrm>
              <a:off x="4704" y="2304"/>
              <a:ext cx="441" cy="720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73068" name="Rectangle 8"/>
            <p:cNvSpPr>
              <a:spLocks noChangeArrowheads="1"/>
            </p:cNvSpPr>
            <p:nvPr/>
          </p:nvSpPr>
          <p:spPr bwMode="auto">
            <a:xfrm>
              <a:off x="4704" y="3264"/>
              <a:ext cx="441" cy="720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73069" name="Text Box 9"/>
            <p:cNvSpPr txBox="1">
              <a:spLocks noChangeArrowheads="1"/>
            </p:cNvSpPr>
            <p:nvPr/>
          </p:nvSpPr>
          <p:spPr bwMode="auto">
            <a:xfrm>
              <a:off x="4815" y="3013"/>
              <a:ext cx="234" cy="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</a:pPr>
              <a:r>
                <a:rPr lang="en-US" altLang="zh-CN" sz="1800">
                  <a:solidFill>
                    <a:schemeClr val="tx2"/>
                  </a:solidFill>
                  <a:latin typeface="Helvetica" charset="0"/>
                </a:rPr>
                <a:t>...</a:t>
              </a:r>
            </a:p>
          </p:txBody>
        </p:sp>
        <p:sp>
          <p:nvSpPr>
            <p:cNvPr id="173070" name="Text Box 10"/>
            <p:cNvSpPr txBox="1">
              <a:spLocks noChangeArrowheads="1"/>
            </p:cNvSpPr>
            <p:nvPr/>
          </p:nvSpPr>
          <p:spPr bwMode="auto">
            <a:xfrm>
              <a:off x="4583" y="912"/>
              <a:ext cx="600" cy="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30000"/>
                </a:spcBef>
              </a:pPr>
              <a:r>
                <a:rPr lang="en-US" altLang="zh-CN" sz="1800">
                  <a:solidFill>
                    <a:schemeClr val="tx2"/>
                  </a:solidFill>
                  <a:latin typeface="Helvetica" charset="0"/>
                </a:rPr>
                <a:t>Level 2</a:t>
              </a:r>
            </a:p>
            <a:p>
              <a:pPr algn="ctr">
                <a:lnSpc>
                  <a:spcPct val="90000"/>
                </a:lnSpc>
                <a:spcBef>
                  <a:spcPct val="30000"/>
                </a:spcBef>
              </a:pPr>
              <a:r>
                <a:rPr lang="en-US" altLang="zh-CN" sz="1800">
                  <a:solidFill>
                    <a:schemeClr val="tx2"/>
                  </a:solidFill>
                  <a:latin typeface="Helvetica" charset="0"/>
                </a:rPr>
                <a:t>Tables</a:t>
              </a:r>
            </a:p>
          </p:txBody>
        </p:sp>
        <p:sp>
          <p:nvSpPr>
            <p:cNvPr id="173071" name="Line 11"/>
            <p:cNvSpPr>
              <a:spLocks noChangeShapeType="1"/>
            </p:cNvSpPr>
            <p:nvPr/>
          </p:nvSpPr>
          <p:spPr bwMode="auto">
            <a:xfrm flipV="1">
              <a:off x="3994" y="1440"/>
              <a:ext cx="710" cy="93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487" tIns="44450" rIns="90487" bIns="44450" anchor="ctr"/>
            <a:lstStyle/>
            <a:p>
              <a:endParaRPr lang="zh-CN" altLang="en-US"/>
            </a:p>
          </p:txBody>
        </p:sp>
        <p:sp>
          <p:nvSpPr>
            <p:cNvPr id="173072" name="Line 12"/>
            <p:cNvSpPr>
              <a:spLocks noChangeShapeType="1"/>
            </p:cNvSpPr>
            <p:nvPr/>
          </p:nvSpPr>
          <p:spPr bwMode="auto">
            <a:xfrm flipV="1">
              <a:off x="3994" y="2304"/>
              <a:ext cx="710" cy="1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487" tIns="44450" rIns="90487" bIns="44450" anchor="ctr"/>
            <a:lstStyle/>
            <a:p>
              <a:endParaRPr lang="zh-CN" altLang="en-US"/>
            </a:p>
          </p:txBody>
        </p:sp>
        <p:sp>
          <p:nvSpPr>
            <p:cNvPr id="173073" name="Line 13"/>
            <p:cNvSpPr>
              <a:spLocks noChangeShapeType="1"/>
            </p:cNvSpPr>
            <p:nvPr/>
          </p:nvSpPr>
          <p:spPr bwMode="auto">
            <a:xfrm>
              <a:off x="3984" y="2936"/>
              <a:ext cx="720" cy="32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487" tIns="44450" rIns="90487" bIns="44450" anchor="ctr"/>
            <a:lstStyle/>
            <a:p>
              <a:endParaRPr lang="zh-CN" altLang="en-US"/>
            </a:p>
          </p:txBody>
        </p:sp>
      </p:grpSp>
      <p:sp>
        <p:nvSpPr>
          <p:cNvPr id="173061" name="Rectangle 5"/>
          <p:cNvSpPr>
            <a:spLocks noChangeArrowheads="1"/>
          </p:cNvSpPr>
          <p:nvPr/>
        </p:nvSpPr>
        <p:spPr bwMode="auto">
          <a:xfrm>
            <a:off x="5486400" y="3810000"/>
            <a:ext cx="700088" cy="80963"/>
          </a:xfrm>
          <a:prstGeom prst="rect">
            <a:avLst/>
          </a:prstGeom>
          <a:solidFill>
            <a:srgbClr val="FFC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lIns="90487" tIns="44450" rIns="90487" bIns="44450" anchor="ctr"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endParaRPr lang="zh-CN" altLang="en-US"/>
          </a:p>
        </p:txBody>
      </p:sp>
      <p:sp>
        <p:nvSpPr>
          <p:cNvPr id="173062" name="Rectangle 5"/>
          <p:cNvSpPr>
            <a:spLocks noChangeArrowheads="1"/>
          </p:cNvSpPr>
          <p:nvPr/>
        </p:nvSpPr>
        <p:spPr bwMode="auto">
          <a:xfrm>
            <a:off x="5486400" y="3886200"/>
            <a:ext cx="700088" cy="80963"/>
          </a:xfrm>
          <a:prstGeom prst="rect">
            <a:avLst/>
          </a:prstGeom>
          <a:solidFill>
            <a:srgbClr val="FFC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lIns="90487" tIns="44450" rIns="90487" bIns="44450" anchor="ctr"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endParaRPr lang="zh-CN" altLang="en-US"/>
          </a:p>
        </p:txBody>
      </p:sp>
      <p:sp>
        <p:nvSpPr>
          <p:cNvPr id="173063" name="Rectangle 5"/>
          <p:cNvSpPr>
            <a:spLocks noChangeArrowheads="1"/>
          </p:cNvSpPr>
          <p:nvPr/>
        </p:nvSpPr>
        <p:spPr bwMode="auto">
          <a:xfrm>
            <a:off x="5486400" y="4648200"/>
            <a:ext cx="700088" cy="80963"/>
          </a:xfrm>
          <a:prstGeom prst="rect">
            <a:avLst/>
          </a:prstGeom>
          <a:solidFill>
            <a:srgbClr val="FFC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lIns="90487" tIns="44450" rIns="90487" bIns="44450" anchor="ctr"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endParaRPr lang="zh-CN" altLang="en-US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Paging: Smaller Tables 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Multi-level Page Tables </a:t>
            </a:r>
          </a:p>
          <a:p>
            <a:pPr lvl="1"/>
            <a:endParaRPr lang="en-US" alt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B01C9-CC9E-4042-87A9-F49D20F0019F}" type="slidenum">
              <a:rPr lang="zh-CN" altLang="en-US" smtClean="0"/>
              <a:pPr/>
              <a:t>88</a:t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" y="2209800"/>
            <a:ext cx="9144000" cy="4788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916766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934200" y="6229350"/>
            <a:ext cx="12954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D3361F4B-F718-044D-AC0A-B9312ABE6EF2}" type="slidenum">
              <a:rPr lang="zh-CN" altLang="en-US" sz="1400" b="0">
                <a:latin typeface="Times New Roman" charset="0"/>
              </a:rPr>
              <a:pPr/>
              <a:t>89</a:t>
            </a:fld>
            <a:endParaRPr lang="en-US" altLang="zh-CN" sz="1400" b="0">
              <a:latin typeface="Times New Roman" charset="0"/>
            </a:endParaRPr>
          </a:p>
        </p:txBody>
      </p:sp>
      <p:sp>
        <p:nvSpPr>
          <p:cNvPr id="175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Multi-Level Page Tables:</a:t>
            </a:r>
            <a:r>
              <a:rPr lang="zh-CN" altLang="en-US">
                <a:ea typeface="宋体" charset="-122"/>
              </a:rPr>
              <a:t> 中间可以有空洞</a:t>
            </a:r>
            <a:endParaRPr lang="en-US" altLang="zh-CN">
              <a:ea typeface="宋体" charset="-122"/>
            </a:endParaRPr>
          </a:p>
        </p:txBody>
      </p:sp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800100" y="1454150"/>
            <a:ext cx="1206500" cy="65405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GB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宋体" panose="02010600030101010101" pitchFamily="2" charset="-122"/>
              </a:rPr>
              <a:t>Level 1</a:t>
            </a:r>
          </a:p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GB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宋体" panose="02010600030101010101" pitchFamily="2" charset="-122"/>
              </a:rPr>
              <a:t>page table</a:t>
            </a:r>
          </a:p>
        </p:txBody>
      </p:sp>
      <p:sp>
        <p:nvSpPr>
          <p:cNvPr id="175108" name="Text Box 3"/>
          <p:cNvSpPr txBox="1">
            <a:spLocks noChangeArrowheads="1"/>
          </p:cNvSpPr>
          <p:nvPr/>
        </p:nvSpPr>
        <p:spPr bwMode="auto">
          <a:xfrm>
            <a:off x="5859463" y="6483350"/>
            <a:ext cx="506412" cy="334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eaVert" wrap="none" lIns="90360" tIns="44280" rIns="90360" bIns="4428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rtl="1">
              <a:lnSpc>
                <a:spcPct val="88000"/>
              </a:lnSpc>
              <a:spcBef>
                <a:spcPts val="900"/>
              </a:spcBef>
            </a:pPr>
            <a:r>
              <a:rPr lang="en-GB" altLang="zh-CN">
                <a:latin typeface="Calibri" charset="0"/>
              </a:rPr>
              <a:t>...</a:t>
            </a:r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3121025" y="1460500"/>
            <a:ext cx="1296988" cy="65405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GB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宋体" panose="02010600030101010101" pitchFamily="2" charset="-122"/>
              </a:rPr>
              <a:t>Level 2</a:t>
            </a:r>
          </a:p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GB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宋体" panose="02010600030101010101" pitchFamily="2" charset="-122"/>
              </a:rPr>
              <a:t>page tables</a:t>
            </a:r>
          </a:p>
        </p:txBody>
      </p:sp>
      <p:sp>
        <p:nvSpPr>
          <p:cNvPr id="175110" name="Rectangle 5"/>
          <p:cNvSpPr>
            <a:spLocks noChangeArrowheads="1"/>
          </p:cNvSpPr>
          <p:nvPr/>
        </p:nvSpPr>
        <p:spPr bwMode="auto">
          <a:xfrm>
            <a:off x="5538788" y="1836738"/>
            <a:ext cx="990600" cy="304800"/>
          </a:xfrm>
          <a:prstGeom prst="rect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ctr">
              <a:lnSpc>
                <a:spcPct val="98000"/>
              </a:lnSpc>
            </a:pPr>
            <a:r>
              <a:rPr lang="en-GB" altLang="zh-CN" sz="1400">
                <a:latin typeface="Calibri" charset="0"/>
              </a:rPr>
              <a:t>VP 0</a:t>
            </a:r>
          </a:p>
        </p:txBody>
      </p:sp>
      <p:sp>
        <p:nvSpPr>
          <p:cNvPr id="175111" name="Rectangle 6"/>
          <p:cNvSpPr>
            <a:spLocks noChangeArrowheads="1"/>
          </p:cNvSpPr>
          <p:nvPr/>
        </p:nvSpPr>
        <p:spPr bwMode="auto">
          <a:xfrm>
            <a:off x="5538788" y="2141538"/>
            <a:ext cx="990600" cy="3048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66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ctr">
              <a:lnSpc>
                <a:spcPct val="98000"/>
              </a:lnSpc>
            </a:pPr>
            <a:r>
              <a:rPr lang="en-GB" altLang="zh-CN" sz="1400">
                <a:latin typeface="Calibri" charset="0"/>
              </a:rPr>
              <a:t>...</a:t>
            </a:r>
          </a:p>
        </p:txBody>
      </p:sp>
      <p:sp>
        <p:nvSpPr>
          <p:cNvPr id="175112" name="Rectangle 7"/>
          <p:cNvSpPr>
            <a:spLocks noChangeArrowheads="1"/>
          </p:cNvSpPr>
          <p:nvPr/>
        </p:nvSpPr>
        <p:spPr bwMode="auto">
          <a:xfrm>
            <a:off x="5538788" y="2446338"/>
            <a:ext cx="990600" cy="304800"/>
          </a:xfrm>
          <a:prstGeom prst="rect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ctr">
              <a:lnSpc>
                <a:spcPct val="98000"/>
              </a:lnSpc>
            </a:pPr>
            <a:r>
              <a:rPr lang="en-GB" altLang="zh-CN" sz="1400">
                <a:latin typeface="Calibri" charset="0"/>
              </a:rPr>
              <a:t>VP 1023</a:t>
            </a:r>
          </a:p>
        </p:txBody>
      </p:sp>
      <p:sp>
        <p:nvSpPr>
          <p:cNvPr id="175113" name="Rectangle 8"/>
          <p:cNvSpPr>
            <a:spLocks noChangeArrowheads="1"/>
          </p:cNvSpPr>
          <p:nvPr/>
        </p:nvSpPr>
        <p:spPr bwMode="auto">
          <a:xfrm>
            <a:off x="5538788" y="2751138"/>
            <a:ext cx="990600" cy="304800"/>
          </a:xfrm>
          <a:prstGeom prst="rect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ctr">
              <a:lnSpc>
                <a:spcPct val="98000"/>
              </a:lnSpc>
            </a:pPr>
            <a:r>
              <a:rPr lang="en-GB" altLang="zh-CN" sz="1400">
                <a:latin typeface="Calibri" charset="0"/>
              </a:rPr>
              <a:t>VP 1024</a:t>
            </a:r>
          </a:p>
        </p:txBody>
      </p:sp>
      <p:sp>
        <p:nvSpPr>
          <p:cNvPr id="175114" name="Rectangle 9"/>
          <p:cNvSpPr>
            <a:spLocks noChangeArrowheads="1"/>
          </p:cNvSpPr>
          <p:nvPr/>
        </p:nvSpPr>
        <p:spPr bwMode="auto">
          <a:xfrm>
            <a:off x="5538788" y="3055938"/>
            <a:ext cx="990600" cy="3048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66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ctr">
              <a:lnSpc>
                <a:spcPct val="98000"/>
              </a:lnSpc>
            </a:pPr>
            <a:r>
              <a:rPr lang="en-GB" altLang="zh-CN" sz="1400">
                <a:latin typeface="Calibri" charset="0"/>
              </a:rPr>
              <a:t>...</a:t>
            </a:r>
          </a:p>
        </p:txBody>
      </p:sp>
      <p:sp>
        <p:nvSpPr>
          <p:cNvPr id="175115" name="Rectangle 10"/>
          <p:cNvSpPr>
            <a:spLocks noChangeArrowheads="1"/>
          </p:cNvSpPr>
          <p:nvPr/>
        </p:nvSpPr>
        <p:spPr bwMode="auto">
          <a:xfrm>
            <a:off x="5538788" y="3360738"/>
            <a:ext cx="990600" cy="304800"/>
          </a:xfrm>
          <a:prstGeom prst="rect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ctr">
              <a:lnSpc>
                <a:spcPct val="98000"/>
              </a:lnSpc>
            </a:pPr>
            <a:r>
              <a:rPr lang="en-GB" altLang="zh-CN" sz="1400">
                <a:latin typeface="Calibri" charset="0"/>
              </a:rPr>
              <a:t>VP 2047</a:t>
            </a:r>
          </a:p>
        </p:txBody>
      </p:sp>
      <p:sp>
        <p:nvSpPr>
          <p:cNvPr id="175116" name="Rectangle 11"/>
          <p:cNvSpPr>
            <a:spLocks noChangeArrowheads="1"/>
          </p:cNvSpPr>
          <p:nvPr/>
        </p:nvSpPr>
        <p:spPr bwMode="auto">
          <a:xfrm>
            <a:off x="5538788" y="1836738"/>
            <a:ext cx="990600" cy="914400"/>
          </a:xfrm>
          <a:prstGeom prst="rect">
            <a:avLst/>
          </a:prstGeom>
          <a:noFill/>
          <a:ln w="28575">
            <a:solidFill>
              <a:srgbClr val="0000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endParaRPr lang="en-US" altLang="zh-CN"/>
          </a:p>
        </p:txBody>
      </p:sp>
      <p:sp>
        <p:nvSpPr>
          <p:cNvPr id="175117" name="Rectangle 12"/>
          <p:cNvSpPr>
            <a:spLocks noChangeArrowheads="1"/>
          </p:cNvSpPr>
          <p:nvPr/>
        </p:nvSpPr>
        <p:spPr bwMode="auto">
          <a:xfrm>
            <a:off x="5538788" y="2751138"/>
            <a:ext cx="990600" cy="914400"/>
          </a:xfrm>
          <a:prstGeom prst="rect">
            <a:avLst/>
          </a:prstGeom>
          <a:noFill/>
          <a:ln w="28575">
            <a:solidFill>
              <a:srgbClr val="0000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endParaRPr lang="en-US" altLang="zh-CN"/>
          </a:p>
        </p:txBody>
      </p:sp>
      <p:sp>
        <p:nvSpPr>
          <p:cNvPr id="175118" name="Rectangle 13"/>
          <p:cNvSpPr>
            <a:spLocks noChangeArrowheads="1"/>
          </p:cNvSpPr>
          <p:nvPr/>
        </p:nvSpPr>
        <p:spPr bwMode="auto">
          <a:xfrm>
            <a:off x="5538788" y="3665538"/>
            <a:ext cx="990600" cy="1841500"/>
          </a:xfrm>
          <a:prstGeom prst="rect">
            <a:avLst/>
          </a:prstGeom>
          <a:solidFill>
            <a:srgbClr val="F6F5BD"/>
          </a:solidFill>
          <a:ln w="28575">
            <a:solidFill>
              <a:srgbClr val="000066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ctr">
              <a:lnSpc>
                <a:spcPct val="98000"/>
              </a:lnSpc>
            </a:pPr>
            <a:r>
              <a:rPr lang="en-GB" altLang="zh-CN" sz="1400">
                <a:latin typeface="Calibri" charset="0"/>
              </a:rPr>
              <a:t>Gap</a:t>
            </a:r>
          </a:p>
        </p:txBody>
      </p:sp>
      <p:sp>
        <p:nvSpPr>
          <p:cNvPr id="175119" name="Text Box 14"/>
          <p:cNvSpPr txBox="1">
            <a:spLocks noChangeArrowheads="1"/>
          </p:cNvSpPr>
          <p:nvPr/>
        </p:nvSpPr>
        <p:spPr bwMode="auto">
          <a:xfrm>
            <a:off x="6473825" y="1698625"/>
            <a:ext cx="2667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ctr">
              <a:lnSpc>
                <a:spcPct val="98000"/>
              </a:lnSpc>
            </a:pPr>
            <a:r>
              <a:rPr lang="en-GB" altLang="zh-CN" sz="1200">
                <a:latin typeface="Calibri" charset="0"/>
              </a:rPr>
              <a:t>0</a:t>
            </a:r>
          </a:p>
        </p:txBody>
      </p:sp>
      <p:sp>
        <p:nvSpPr>
          <p:cNvPr id="175120" name="Rectangle 15"/>
          <p:cNvSpPr>
            <a:spLocks noChangeArrowheads="1"/>
          </p:cNvSpPr>
          <p:nvPr/>
        </p:nvSpPr>
        <p:spPr bwMode="auto">
          <a:xfrm>
            <a:off x="3252788" y="2230438"/>
            <a:ext cx="990600" cy="304800"/>
          </a:xfrm>
          <a:prstGeom prst="rect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ctr">
              <a:lnSpc>
                <a:spcPct val="98000"/>
              </a:lnSpc>
            </a:pPr>
            <a:r>
              <a:rPr lang="en-GB" altLang="zh-CN" sz="1400">
                <a:latin typeface="Calibri" charset="0"/>
              </a:rPr>
              <a:t>PTE 0</a:t>
            </a:r>
          </a:p>
        </p:txBody>
      </p:sp>
      <p:sp>
        <p:nvSpPr>
          <p:cNvPr id="175121" name="Rectangle 16"/>
          <p:cNvSpPr>
            <a:spLocks noChangeArrowheads="1"/>
          </p:cNvSpPr>
          <p:nvPr/>
        </p:nvSpPr>
        <p:spPr bwMode="auto">
          <a:xfrm>
            <a:off x="3252788" y="2535238"/>
            <a:ext cx="990600" cy="3048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66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ctr">
              <a:lnSpc>
                <a:spcPct val="98000"/>
              </a:lnSpc>
            </a:pPr>
            <a:r>
              <a:rPr lang="en-GB" altLang="zh-CN" sz="1400">
                <a:latin typeface="Calibri" charset="0"/>
              </a:rPr>
              <a:t>...</a:t>
            </a:r>
          </a:p>
        </p:txBody>
      </p:sp>
      <p:sp>
        <p:nvSpPr>
          <p:cNvPr id="175122" name="Rectangle 17"/>
          <p:cNvSpPr>
            <a:spLocks noChangeArrowheads="1"/>
          </p:cNvSpPr>
          <p:nvPr/>
        </p:nvSpPr>
        <p:spPr bwMode="auto">
          <a:xfrm>
            <a:off x="3252788" y="2840038"/>
            <a:ext cx="990600" cy="304800"/>
          </a:xfrm>
          <a:prstGeom prst="rect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ctr">
              <a:lnSpc>
                <a:spcPct val="98000"/>
              </a:lnSpc>
            </a:pPr>
            <a:r>
              <a:rPr lang="en-GB" altLang="zh-CN" sz="1400">
                <a:latin typeface="Calibri" charset="0"/>
              </a:rPr>
              <a:t>PTE 1023</a:t>
            </a:r>
          </a:p>
        </p:txBody>
      </p:sp>
      <p:sp>
        <p:nvSpPr>
          <p:cNvPr id="175123" name="Rectangle 18"/>
          <p:cNvSpPr>
            <a:spLocks noChangeArrowheads="1"/>
          </p:cNvSpPr>
          <p:nvPr/>
        </p:nvSpPr>
        <p:spPr bwMode="auto">
          <a:xfrm>
            <a:off x="3252788" y="2230438"/>
            <a:ext cx="990600" cy="914400"/>
          </a:xfrm>
          <a:prstGeom prst="rect">
            <a:avLst/>
          </a:prstGeom>
          <a:noFill/>
          <a:ln w="28575">
            <a:solidFill>
              <a:srgbClr val="0000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endParaRPr lang="en-US" altLang="zh-CN"/>
          </a:p>
        </p:txBody>
      </p:sp>
      <p:sp>
        <p:nvSpPr>
          <p:cNvPr id="175124" name="Rectangle 19"/>
          <p:cNvSpPr>
            <a:spLocks noChangeArrowheads="1"/>
          </p:cNvSpPr>
          <p:nvPr/>
        </p:nvSpPr>
        <p:spPr bwMode="auto">
          <a:xfrm>
            <a:off x="3252788" y="3602038"/>
            <a:ext cx="990600" cy="304800"/>
          </a:xfrm>
          <a:prstGeom prst="rect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ctr">
              <a:lnSpc>
                <a:spcPct val="98000"/>
              </a:lnSpc>
            </a:pPr>
            <a:r>
              <a:rPr lang="en-GB" altLang="zh-CN" sz="1400">
                <a:latin typeface="Calibri" charset="0"/>
              </a:rPr>
              <a:t>PTE 0</a:t>
            </a:r>
          </a:p>
        </p:txBody>
      </p:sp>
      <p:sp>
        <p:nvSpPr>
          <p:cNvPr id="175125" name="Rectangle 20"/>
          <p:cNvSpPr>
            <a:spLocks noChangeArrowheads="1"/>
          </p:cNvSpPr>
          <p:nvPr/>
        </p:nvSpPr>
        <p:spPr bwMode="auto">
          <a:xfrm>
            <a:off x="3252788" y="3906838"/>
            <a:ext cx="990600" cy="3048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66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ctr">
              <a:lnSpc>
                <a:spcPct val="98000"/>
              </a:lnSpc>
            </a:pPr>
            <a:r>
              <a:rPr lang="en-GB" altLang="zh-CN" sz="1400">
                <a:latin typeface="Calibri" charset="0"/>
              </a:rPr>
              <a:t>...</a:t>
            </a:r>
          </a:p>
        </p:txBody>
      </p:sp>
      <p:sp>
        <p:nvSpPr>
          <p:cNvPr id="175126" name="Rectangle 21"/>
          <p:cNvSpPr>
            <a:spLocks noChangeArrowheads="1"/>
          </p:cNvSpPr>
          <p:nvPr/>
        </p:nvSpPr>
        <p:spPr bwMode="auto">
          <a:xfrm>
            <a:off x="3252788" y="4211638"/>
            <a:ext cx="990600" cy="304800"/>
          </a:xfrm>
          <a:prstGeom prst="rect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ctr">
              <a:lnSpc>
                <a:spcPct val="98000"/>
              </a:lnSpc>
            </a:pPr>
            <a:r>
              <a:rPr lang="en-GB" altLang="zh-CN" sz="1400">
                <a:latin typeface="Calibri" charset="0"/>
              </a:rPr>
              <a:t>PTE 1023</a:t>
            </a:r>
          </a:p>
        </p:txBody>
      </p:sp>
      <p:sp>
        <p:nvSpPr>
          <p:cNvPr id="175127" name="Rectangle 22"/>
          <p:cNvSpPr>
            <a:spLocks noChangeArrowheads="1"/>
          </p:cNvSpPr>
          <p:nvPr/>
        </p:nvSpPr>
        <p:spPr bwMode="auto">
          <a:xfrm>
            <a:off x="3252788" y="3602038"/>
            <a:ext cx="990600" cy="914400"/>
          </a:xfrm>
          <a:prstGeom prst="rect">
            <a:avLst/>
          </a:prstGeom>
          <a:noFill/>
          <a:ln w="28575">
            <a:solidFill>
              <a:srgbClr val="0000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endParaRPr lang="en-US" altLang="zh-CN"/>
          </a:p>
        </p:txBody>
      </p:sp>
      <p:sp>
        <p:nvSpPr>
          <p:cNvPr id="175128" name="Rectangle 23"/>
          <p:cNvSpPr>
            <a:spLocks noChangeArrowheads="1"/>
          </p:cNvSpPr>
          <p:nvPr/>
        </p:nvSpPr>
        <p:spPr bwMode="auto">
          <a:xfrm>
            <a:off x="3252788" y="4897438"/>
            <a:ext cx="990600" cy="609600"/>
          </a:xfrm>
          <a:prstGeom prst="rect">
            <a:avLst/>
          </a:prstGeom>
          <a:solidFill>
            <a:srgbClr val="F1C7C7"/>
          </a:solidFill>
          <a:ln w="28575">
            <a:solidFill>
              <a:srgbClr val="000066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ctr">
              <a:lnSpc>
                <a:spcPct val="98000"/>
              </a:lnSpc>
            </a:pPr>
            <a:r>
              <a:rPr lang="en-GB" altLang="zh-CN" sz="1400">
                <a:latin typeface="Calibri" charset="0"/>
              </a:rPr>
              <a:t>1023 null</a:t>
            </a:r>
          </a:p>
          <a:p>
            <a:pPr algn="ctr">
              <a:lnSpc>
                <a:spcPct val="98000"/>
              </a:lnSpc>
            </a:pPr>
            <a:r>
              <a:rPr lang="en-GB" altLang="zh-CN" sz="1400">
                <a:latin typeface="Calibri" charset="0"/>
              </a:rPr>
              <a:t>PTEs</a:t>
            </a:r>
          </a:p>
        </p:txBody>
      </p:sp>
      <p:sp>
        <p:nvSpPr>
          <p:cNvPr id="175129" name="Rectangle 24"/>
          <p:cNvSpPr>
            <a:spLocks noChangeArrowheads="1"/>
          </p:cNvSpPr>
          <p:nvPr/>
        </p:nvSpPr>
        <p:spPr bwMode="auto">
          <a:xfrm>
            <a:off x="3252788" y="5507038"/>
            <a:ext cx="990600" cy="304800"/>
          </a:xfrm>
          <a:prstGeom prst="rect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ctr">
              <a:lnSpc>
                <a:spcPct val="98000"/>
              </a:lnSpc>
            </a:pPr>
            <a:r>
              <a:rPr lang="en-GB" altLang="zh-CN" sz="1400">
                <a:latin typeface="Calibri" charset="0"/>
              </a:rPr>
              <a:t>PTE 1023</a:t>
            </a:r>
          </a:p>
        </p:txBody>
      </p:sp>
      <p:sp>
        <p:nvSpPr>
          <p:cNvPr id="175130" name="Rectangle 25"/>
          <p:cNvSpPr>
            <a:spLocks noChangeArrowheads="1"/>
          </p:cNvSpPr>
          <p:nvPr/>
        </p:nvSpPr>
        <p:spPr bwMode="auto">
          <a:xfrm>
            <a:off x="3252788" y="4897438"/>
            <a:ext cx="990600" cy="914400"/>
          </a:xfrm>
          <a:prstGeom prst="rect">
            <a:avLst/>
          </a:prstGeom>
          <a:noFill/>
          <a:ln w="28575">
            <a:solidFill>
              <a:srgbClr val="0000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endParaRPr lang="en-US" altLang="zh-CN"/>
          </a:p>
        </p:txBody>
      </p:sp>
      <p:sp>
        <p:nvSpPr>
          <p:cNvPr id="175131" name="Rectangle 26"/>
          <p:cNvSpPr>
            <a:spLocks noChangeArrowheads="1"/>
          </p:cNvSpPr>
          <p:nvPr/>
        </p:nvSpPr>
        <p:spPr bwMode="auto">
          <a:xfrm>
            <a:off x="5538788" y="5507038"/>
            <a:ext cx="990600" cy="609600"/>
          </a:xfrm>
          <a:prstGeom prst="rect">
            <a:avLst/>
          </a:prstGeom>
          <a:solidFill>
            <a:srgbClr val="DEDFF5"/>
          </a:solidFill>
          <a:ln w="12600">
            <a:solidFill>
              <a:srgbClr val="DEDFF5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ctr">
              <a:lnSpc>
                <a:spcPct val="98000"/>
              </a:lnSpc>
            </a:pPr>
            <a:r>
              <a:rPr lang="en-GB" altLang="zh-CN" sz="1400">
                <a:latin typeface="Calibri" charset="0"/>
              </a:rPr>
              <a:t>1023 </a:t>
            </a:r>
          </a:p>
          <a:p>
            <a:pPr algn="ctr">
              <a:lnSpc>
                <a:spcPct val="98000"/>
              </a:lnSpc>
            </a:pPr>
            <a:r>
              <a:rPr lang="en-GB" altLang="zh-CN" sz="1400">
                <a:latin typeface="Calibri" charset="0"/>
              </a:rPr>
              <a:t>unallocated</a:t>
            </a:r>
          </a:p>
          <a:p>
            <a:pPr algn="ctr">
              <a:lnSpc>
                <a:spcPct val="98000"/>
              </a:lnSpc>
            </a:pPr>
            <a:r>
              <a:rPr lang="en-GB" altLang="zh-CN" sz="1400">
                <a:latin typeface="Calibri" charset="0"/>
              </a:rPr>
              <a:t>pages</a:t>
            </a:r>
          </a:p>
        </p:txBody>
      </p:sp>
      <p:sp>
        <p:nvSpPr>
          <p:cNvPr id="175132" name="Rectangle 27"/>
          <p:cNvSpPr>
            <a:spLocks noChangeArrowheads="1"/>
          </p:cNvSpPr>
          <p:nvPr/>
        </p:nvSpPr>
        <p:spPr bwMode="auto">
          <a:xfrm>
            <a:off x="5538788" y="6116638"/>
            <a:ext cx="990600" cy="304800"/>
          </a:xfrm>
          <a:prstGeom prst="rect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ctr">
              <a:lnSpc>
                <a:spcPct val="98000"/>
              </a:lnSpc>
            </a:pPr>
            <a:r>
              <a:rPr lang="en-GB" altLang="zh-CN" sz="1400">
                <a:latin typeface="Calibri" charset="0"/>
              </a:rPr>
              <a:t>VP 9215</a:t>
            </a:r>
          </a:p>
        </p:txBody>
      </p:sp>
      <p:sp>
        <p:nvSpPr>
          <p:cNvPr id="175133" name="Rectangle 28"/>
          <p:cNvSpPr>
            <a:spLocks noChangeArrowheads="1"/>
          </p:cNvSpPr>
          <p:nvPr/>
        </p:nvSpPr>
        <p:spPr bwMode="auto">
          <a:xfrm>
            <a:off x="5538788" y="5507038"/>
            <a:ext cx="990600" cy="914400"/>
          </a:xfrm>
          <a:prstGeom prst="rect">
            <a:avLst/>
          </a:prstGeom>
          <a:noFill/>
          <a:ln w="28575">
            <a:solidFill>
              <a:srgbClr val="0000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endParaRPr lang="en-US" altLang="zh-CN"/>
          </a:p>
        </p:txBody>
      </p:sp>
      <p:sp>
        <p:nvSpPr>
          <p:cNvPr id="33" name="Text Box 29"/>
          <p:cNvSpPr txBox="1">
            <a:spLocks noChangeArrowheads="1"/>
          </p:cNvSpPr>
          <p:nvPr/>
        </p:nvSpPr>
        <p:spPr bwMode="auto">
          <a:xfrm>
            <a:off x="5262563" y="1447800"/>
            <a:ext cx="1701800" cy="3333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>
            <a:spAutoFit/>
          </a:bodyPr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GB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宋体" panose="02010600030101010101" pitchFamily="2" charset="-122"/>
              </a:rPr>
              <a:t>Virtual memory</a:t>
            </a:r>
          </a:p>
        </p:txBody>
      </p:sp>
      <p:sp>
        <p:nvSpPr>
          <p:cNvPr id="175135" name="Line 30"/>
          <p:cNvSpPr>
            <a:spLocks noChangeShapeType="1"/>
          </p:cNvSpPr>
          <p:nvPr/>
        </p:nvSpPr>
        <p:spPr bwMode="auto">
          <a:xfrm flipV="1">
            <a:off x="4243388" y="1847850"/>
            <a:ext cx="1295400" cy="536575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5136" name="Line 31"/>
          <p:cNvSpPr>
            <a:spLocks noChangeShapeType="1"/>
          </p:cNvSpPr>
          <p:nvPr/>
        </p:nvSpPr>
        <p:spPr bwMode="auto">
          <a:xfrm flipV="1">
            <a:off x="4243388" y="2457450"/>
            <a:ext cx="1295400" cy="536575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5137" name="Line 32"/>
          <p:cNvSpPr>
            <a:spLocks noChangeShapeType="1"/>
          </p:cNvSpPr>
          <p:nvPr/>
        </p:nvSpPr>
        <p:spPr bwMode="auto">
          <a:xfrm flipV="1">
            <a:off x="4243388" y="2762250"/>
            <a:ext cx="1295400" cy="993775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5138" name="Line 33"/>
          <p:cNvSpPr>
            <a:spLocks noChangeShapeType="1"/>
          </p:cNvSpPr>
          <p:nvPr/>
        </p:nvSpPr>
        <p:spPr bwMode="auto">
          <a:xfrm flipV="1">
            <a:off x="4243388" y="3371850"/>
            <a:ext cx="1295400" cy="993775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5139" name="Line 34"/>
          <p:cNvSpPr>
            <a:spLocks noChangeShapeType="1"/>
          </p:cNvSpPr>
          <p:nvPr/>
        </p:nvSpPr>
        <p:spPr bwMode="auto">
          <a:xfrm>
            <a:off x="4243388" y="5659438"/>
            <a:ext cx="1219200" cy="457200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5140" name="Line 35"/>
          <p:cNvSpPr>
            <a:spLocks noChangeShapeType="1"/>
          </p:cNvSpPr>
          <p:nvPr/>
        </p:nvSpPr>
        <p:spPr bwMode="auto">
          <a:xfrm flipV="1">
            <a:off x="1957388" y="2228850"/>
            <a:ext cx="1243012" cy="231775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5141" name="Line 36"/>
          <p:cNvSpPr>
            <a:spLocks noChangeShapeType="1"/>
          </p:cNvSpPr>
          <p:nvPr/>
        </p:nvSpPr>
        <p:spPr bwMode="auto">
          <a:xfrm>
            <a:off x="1957388" y="2763838"/>
            <a:ext cx="1295400" cy="838200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5142" name="Line 37"/>
          <p:cNvSpPr>
            <a:spLocks noChangeShapeType="1"/>
          </p:cNvSpPr>
          <p:nvPr/>
        </p:nvSpPr>
        <p:spPr bwMode="auto">
          <a:xfrm>
            <a:off x="1957388" y="4897438"/>
            <a:ext cx="1295400" cy="1587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5143" name="Rectangle 38"/>
          <p:cNvSpPr>
            <a:spLocks noChangeArrowheads="1"/>
          </p:cNvSpPr>
          <p:nvPr/>
        </p:nvSpPr>
        <p:spPr bwMode="auto">
          <a:xfrm>
            <a:off x="838200" y="5049838"/>
            <a:ext cx="1119188" cy="838200"/>
          </a:xfrm>
          <a:prstGeom prst="rect">
            <a:avLst/>
          </a:prstGeom>
          <a:solidFill>
            <a:srgbClr val="F1C7C7"/>
          </a:solidFill>
          <a:ln w="12600">
            <a:solidFill>
              <a:srgbClr val="000066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ctr">
              <a:lnSpc>
                <a:spcPct val="98000"/>
              </a:lnSpc>
            </a:pPr>
            <a:r>
              <a:rPr lang="en-GB" altLang="zh-CN" sz="1400">
                <a:latin typeface="Calibri" charset="0"/>
              </a:rPr>
              <a:t>(1K - 9)</a:t>
            </a:r>
          </a:p>
          <a:p>
            <a:pPr algn="ctr">
              <a:lnSpc>
                <a:spcPct val="98000"/>
              </a:lnSpc>
            </a:pPr>
            <a:r>
              <a:rPr lang="en-GB" altLang="zh-CN" sz="1400">
                <a:latin typeface="Calibri" charset="0"/>
              </a:rPr>
              <a:t>null PTEs </a:t>
            </a:r>
          </a:p>
        </p:txBody>
      </p:sp>
      <p:sp>
        <p:nvSpPr>
          <p:cNvPr id="175144" name="Rectangle 39"/>
          <p:cNvSpPr>
            <a:spLocks noChangeArrowheads="1"/>
          </p:cNvSpPr>
          <p:nvPr/>
        </p:nvSpPr>
        <p:spPr bwMode="auto">
          <a:xfrm>
            <a:off x="838200" y="2306638"/>
            <a:ext cx="1119188" cy="304800"/>
          </a:xfrm>
          <a:prstGeom prst="rect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ctr">
              <a:lnSpc>
                <a:spcPct val="98000"/>
              </a:lnSpc>
            </a:pPr>
            <a:r>
              <a:rPr lang="en-GB" altLang="zh-CN" sz="1400">
                <a:latin typeface="Calibri" charset="0"/>
              </a:rPr>
              <a:t>PTE 0</a:t>
            </a:r>
          </a:p>
        </p:txBody>
      </p:sp>
      <p:sp>
        <p:nvSpPr>
          <p:cNvPr id="175145" name="Rectangle 40"/>
          <p:cNvSpPr>
            <a:spLocks noChangeArrowheads="1"/>
          </p:cNvSpPr>
          <p:nvPr/>
        </p:nvSpPr>
        <p:spPr bwMode="auto">
          <a:xfrm>
            <a:off x="838200" y="2611438"/>
            <a:ext cx="1119188" cy="304800"/>
          </a:xfrm>
          <a:prstGeom prst="rect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ctr">
              <a:lnSpc>
                <a:spcPct val="98000"/>
              </a:lnSpc>
            </a:pPr>
            <a:r>
              <a:rPr lang="en-GB" altLang="zh-CN" sz="1400">
                <a:latin typeface="Calibri" charset="0"/>
              </a:rPr>
              <a:t>PTE 1</a:t>
            </a:r>
          </a:p>
        </p:txBody>
      </p:sp>
      <p:sp>
        <p:nvSpPr>
          <p:cNvPr id="175146" name="Rectangle 41"/>
          <p:cNvSpPr>
            <a:spLocks noChangeArrowheads="1"/>
          </p:cNvSpPr>
          <p:nvPr/>
        </p:nvSpPr>
        <p:spPr bwMode="auto">
          <a:xfrm>
            <a:off x="838200" y="2916238"/>
            <a:ext cx="1119188" cy="304800"/>
          </a:xfrm>
          <a:prstGeom prst="rect">
            <a:avLst/>
          </a:prstGeom>
          <a:solidFill>
            <a:srgbClr val="F1C7C7"/>
          </a:solidFill>
          <a:ln w="12600">
            <a:solidFill>
              <a:srgbClr val="000066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ctr">
              <a:lnSpc>
                <a:spcPct val="98000"/>
              </a:lnSpc>
            </a:pPr>
            <a:r>
              <a:rPr lang="en-GB" altLang="zh-CN" sz="1400">
                <a:latin typeface="Calibri" charset="0"/>
              </a:rPr>
              <a:t>PTE 2 (null)</a:t>
            </a:r>
          </a:p>
        </p:txBody>
      </p:sp>
      <p:sp>
        <p:nvSpPr>
          <p:cNvPr id="175147" name="Rectangle 42"/>
          <p:cNvSpPr>
            <a:spLocks noChangeArrowheads="1"/>
          </p:cNvSpPr>
          <p:nvPr/>
        </p:nvSpPr>
        <p:spPr bwMode="auto">
          <a:xfrm>
            <a:off x="838200" y="3221038"/>
            <a:ext cx="1119188" cy="304800"/>
          </a:xfrm>
          <a:prstGeom prst="rect">
            <a:avLst/>
          </a:prstGeom>
          <a:solidFill>
            <a:srgbClr val="F1C7C7"/>
          </a:solidFill>
          <a:ln w="12600">
            <a:solidFill>
              <a:srgbClr val="000066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ctr">
              <a:lnSpc>
                <a:spcPct val="98000"/>
              </a:lnSpc>
            </a:pPr>
            <a:r>
              <a:rPr lang="en-GB" altLang="zh-CN" sz="1400">
                <a:latin typeface="Calibri" charset="0"/>
              </a:rPr>
              <a:t>PTE 3 (null)</a:t>
            </a:r>
          </a:p>
        </p:txBody>
      </p:sp>
      <p:sp>
        <p:nvSpPr>
          <p:cNvPr id="175148" name="Rectangle 43"/>
          <p:cNvSpPr>
            <a:spLocks noChangeArrowheads="1"/>
          </p:cNvSpPr>
          <p:nvPr/>
        </p:nvSpPr>
        <p:spPr bwMode="auto">
          <a:xfrm>
            <a:off x="838200" y="3525838"/>
            <a:ext cx="1119188" cy="304800"/>
          </a:xfrm>
          <a:prstGeom prst="rect">
            <a:avLst/>
          </a:prstGeom>
          <a:solidFill>
            <a:srgbClr val="F1C7C7"/>
          </a:solidFill>
          <a:ln w="12600">
            <a:solidFill>
              <a:srgbClr val="000066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ctr">
              <a:lnSpc>
                <a:spcPct val="98000"/>
              </a:lnSpc>
            </a:pPr>
            <a:r>
              <a:rPr lang="en-GB" altLang="zh-CN" sz="1400">
                <a:latin typeface="Calibri" charset="0"/>
              </a:rPr>
              <a:t>PTE 4 (null)</a:t>
            </a:r>
          </a:p>
        </p:txBody>
      </p:sp>
      <p:sp>
        <p:nvSpPr>
          <p:cNvPr id="175149" name="Rectangle 44"/>
          <p:cNvSpPr>
            <a:spLocks noChangeArrowheads="1"/>
          </p:cNvSpPr>
          <p:nvPr/>
        </p:nvSpPr>
        <p:spPr bwMode="auto">
          <a:xfrm>
            <a:off x="838200" y="3830638"/>
            <a:ext cx="1119188" cy="304800"/>
          </a:xfrm>
          <a:prstGeom prst="rect">
            <a:avLst/>
          </a:prstGeom>
          <a:solidFill>
            <a:srgbClr val="F1C7C7"/>
          </a:solidFill>
          <a:ln w="12600">
            <a:solidFill>
              <a:srgbClr val="000066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ctr">
              <a:lnSpc>
                <a:spcPct val="98000"/>
              </a:lnSpc>
            </a:pPr>
            <a:r>
              <a:rPr lang="en-GB" altLang="zh-CN" sz="1400">
                <a:latin typeface="Calibri" charset="0"/>
              </a:rPr>
              <a:t>PTE 5 (null)</a:t>
            </a:r>
          </a:p>
        </p:txBody>
      </p:sp>
      <p:sp>
        <p:nvSpPr>
          <p:cNvPr id="175150" name="Rectangle 45"/>
          <p:cNvSpPr>
            <a:spLocks noChangeArrowheads="1"/>
          </p:cNvSpPr>
          <p:nvPr/>
        </p:nvSpPr>
        <p:spPr bwMode="auto">
          <a:xfrm>
            <a:off x="838200" y="4135438"/>
            <a:ext cx="1119188" cy="304800"/>
          </a:xfrm>
          <a:prstGeom prst="rect">
            <a:avLst/>
          </a:prstGeom>
          <a:solidFill>
            <a:srgbClr val="F1C7C7"/>
          </a:solidFill>
          <a:ln w="12600">
            <a:solidFill>
              <a:srgbClr val="000066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ctr">
              <a:lnSpc>
                <a:spcPct val="98000"/>
              </a:lnSpc>
            </a:pPr>
            <a:r>
              <a:rPr lang="en-GB" altLang="zh-CN" sz="1400">
                <a:latin typeface="Calibri" charset="0"/>
              </a:rPr>
              <a:t>PTE 6 (null)</a:t>
            </a:r>
          </a:p>
        </p:txBody>
      </p:sp>
      <p:sp>
        <p:nvSpPr>
          <p:cNvPr id="175151" name="Rectangle 46"/>
          <p:cNvSpPr>
            <a:spLocks noChangeArrowheads="1"/>
          </p:cNvSpPr>
          <p:nvPr/>
        </p:nvSpPr>
        <p:spPr bwMode="auto">
          <a:xfrm>
            <a:off x="838200" y="4440238"/>
            <a:ext cx="1119188" cy="304800"/>
          </a:xfrm>
          <a:prstGeom prst="rect">
            <a:avLst/>
          </a:prstGeom>
          <a:solidFill>
            <a:srgbClr val="F1C7C7"/>
          </a:solidFill>
          <a:ln w="12600">
            <a:solidFill>
              <a:srgbClr val="000066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ctr">
              <a:lnSpc>
                <a:spcPct val="98000"/>
              </a:lnSpc>
            </a:pPr>
            <a:r>
              <a:rPr lang="en-GB" altLang="zh-CN" sz="1400">
                <a:latin typeface="Calibri" charset="0"/>
              </a:rPr>
              <a:t>PTE 7 (null)</a:t>
            </a:r>
          </a:p>
        </p:txBody>
      </p:sp>
      <p:sp>
        <p:nvSpPr>
          <p:cNvPr id="175152" name="Rectangle 47"/>
          <p:cNvSpPr>
            <a:spLocks noChangeArrowheads="1"/>
          </p:cNvSpPr>
          <p:nvPr/>
        </p:nvSpPr>
        <p:spPr bwMode="auto">
          <a:xfrm>
            <a:off x="838200" y="4745038"/>
            <a:ext cx="1119188" cy="304800"/>
          </a:xfrm>
          <a:prstGeom prst="rect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ctr">
              <a:lnSpc>
                <a:spcPct val="98000"/>
              </a:lnSpc>
            </a:pPr>
            <a:r>
              <a:rPr lang="en-GB" altLang="zh-CN" sz="1400">
                <a:latin typeface="Calibri" charset="0"/>
              </a:rPr>
              <a:t>PTE 8</a:t>
            </a:r>
          </a:p>
        </p:txBody>
      </p:sp>
      <p:sp>
        <p:nvSpPr>
          <p:cNvPr id="175153" name="Rectangle 48"/>
          <p:cNvSpPr>
            <a:spLocks noChangeArrowheads="1"/>
          </p:cNvSpPr>
          <p:nvPr/>
        </p:nvSpPr>
        <p:spPr bwMode="auto">
          <a:xfrm>
            <a:off x="838200" y="2306638"/>
            <a:ext cx="1119188" cy="3581400"/>
          </a:xfrm>
          <a:prstGeom prst="rect">
            <a:avLst/>
          </a:prstGeom>
          <a:noFill/>
          <a:ln w="28575">
            <a:solidFill>
              <a:srgbClr val="0000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endParaRPr lang="en-US" altLang="zh-CN"/>
          </a:p>
        </p:txBody>
      </p:sp>
      <p:sp>
        <p:nvSpPr>
          <p:cNvPr id="175154" name="AutoShape 49"/>
          <p:cNvSpPr>
            <a:spLocks/>
          </p:cNvSpPr>
          <p:nvPr/>
        </p:nvSpPr>
        <p:spPr bwMode="auto">
          <a:xfrm>
            <a:off x="6665913" y="1849438"/>
            <a:ext cx="228600" cy="1752600"/>
          </a:xfrm>
          <a:prstGeom prst="rightBrace">
            <a:avLst>
              <a:gd name="adj1" fmla="val 63889"/>
              <a:gd name="adj2" fmla="val 50000"/>
            </a:avLst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endParaRPr lang="en-US" altLang="zh-CN"/>
          </a:p>
        </p:txBody>
      </p:sp>
      <p:sp>
        <p:nvSpPr>
          <p:cNvPr id="175155" name="Text Box 50"/>
          <p:cNvSpPr txBox="1">
            <a:spLocks noChangeArrowheads="1"/>
          </p:cNvSpPr>
          <p:nvPr/>
        </p:nvSpPr>
        <p:spPr bwMode="auto">
          <a:xfrm>
            <a:off x="6918325" y="2460625"/>
            <a:ext cx="1885950" cy="51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lnSpc>
                <a:spcPct val="98000"/>
              </a:lnSpc>
            </a:pPr>
            <a:r>
              <a:rPr lang="en-GB" altLang="zh-CN" sz="1400" i="1">
                <a:latin typeface="Calibri" charset="0"/>
              </a:rPr>
              <a:t>2K allocated VM pages</a:t>
            </a:r>
          </a:p>
          <a:p>
            <a:pPr>
              <a:lnSpc>
                <a:spcPct val="98000"/>
              </a:lnSpc>
            </a:pPr>
            <a:r>
              <a:rPr lang="en-GB" altLang="zh-CN" sz="1400" i="1">
                <a:latin typeface="Calibri" charset="0"/>
              </a:rPr>
              <a:t>for code and data</a:t>
            </a:r>
          </a:p>
        </p:txBody>
      </p:sp>
      <p:sp>
        <p:nvSpPr>
          <p:cNvPr id="175156" name="AutoShape 51"/>
          <p:cNvSpPr>
            <a:spLocks/>
          </p:cNvSpPr>
          <p:nvPr/>
        </p:nvSpPr>
        <p:spPr bwMode="auto">
          <a:xfrm>
            <a:off x="6665913" y="3678238"/>
            <a:ext cx="228600" cy="1752600"/>
          </a:xfrm>
          <a:prstGeom prst="rightBrace">
            <a:avLst>
              <a:gd name="adj1" fmla="val 63889"/>
              <a:gd name="adj2" fmla="val 50000"/>
            </a:avLst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endParaRPr lang="en-US" altLang="zh-CN"/>
          </a:p>
        </p:txBody>
      </p:sp>
      <p:sp>
        <p:nvSpPr>
          <p:cNvPr id="175157" name="Text Box 52"/>
          <p:cNvSpPr txBox="1">
            <a:spLocks noChangeArrowheads="1"/>
          </p:cNvSpPr>
          <p:nvPr/>
        </p:nvSpPr>
        <p:spPr bwMode="auto">
          <a:xfrm>
            <a:off x="6916738" y="4364038"/>
            <a:ext cx="207486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lnSpc>
                <a:spcPct val="98000"/>
              </a:lnSpc>
            </a:pPr>
            <a:r>
              <a:rPr lang="en-GB" altLang="zh-CN" sz="1400" i="1">
                <a:latin typeface="Calibri" charset="0"/>
              </a:rPr>
              <a:t>6K unallocated VM pages</a:t>
            </a:r>
          </a:p>
        </p:txBody>
      </p:sp>
      <p:sp>
        <p:nvSpPr>
          <p:cNvPr id="175158" name="AutoShape 53"/>
          <p:cNvSpPr>
            <a:spLocks/>
          </p:cNvSpPr>
          <p:nvPr/>
        </p:nvSpPr>
        <p:spPr bwMode="auto">
          <a:xfrm>
            <a:off x="6589713" y="5507038"/>
            <a:ext cx="304800" cy="609600"/>
          </a:xfrm>
          <a:prstGeom prst="rightBrace">
            <a:avLst>
              <a:gd name="adj1" fmla="val 16667"/>
              <a:gd name="adj2" fmla="val 50000"/>
            </a:avLst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endParaRPr lang="en-US" altLang="zh-CN"/>
          </a:p>
        </p:txBody>
      </p:sp>
      <p:sp>
        <p:nvSpPr>
          <p:cNvPr id="175159" name="Text Box 54"/>
          <p:cNvSpPr txBox="1">
            <a:spLocks noChangeArrowheads="1"/>
          </p:cNvSpPr>
          <p:nvPr/>
        </p:nvSpPr>
        <p:spPr bwMode="auto">
          <a:xfrm>
            <a:off x="6916738" y="5645150"/>
            <a:ext cx="19875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lnSpc>
                <a:spcPct val="98000"/>
              </a:lnSpc>
            </a:pPr>
            <a:r>
              <a:rPr lang="en-GB" altLang="zh-CN" sz="1400" i="1">
                <a:latin typeface="Calibri" charset="0"/>
              </a:rPr>
              <a:t>1023 unallocated  pages</a:t>
            </a:r>
          </a:p>
        </p:txBody>
      </p:sp>
      <p:sp>
        <p:nvSpPr>
          <p:cNvPr id="175160" name="AutoShape 55"/>
          <p:cNvSpPr>
            <a:spLocks/>
          </p:cNvSpPr>
          <p:nvPr/>
        </p:nvSpPr>
        <p:spPr bwMode="auto">
          <a:xfrm>
            <a:off x="6589713" y="6116638"/>
            <a:ext cx="304800" cy="304800"/>
          </a:xfrm>
          <a:prstGeom prst="rightBrace">
            <a:avLst>
              <a:gd name="adj1" fmla="val 8333"/>
              <a:gd name="adj2" fmla="val 50000"/>
            </a:avLst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endParaRPr lang="en-US" altLang="zh-CN"/>
          </a:p>
        </p:txBody>
      </p:sp>
      <p:sp>
        <p:nvSpPr>
          <p:cNvPr id="175161" name="Text Box 56"/>
          <p:cNvSpPr txBox="1">
            <a:spLocks noChangeArrowheads="1"/>
          </p:cNvSpPr>
          <p:nvPr/>
        </p:nvSpPr>
        <p:spPr bwMode="auto">
          <a:xfrm>
            <a:off x="6918325" y="6057900"/>
            <a:ext cx="1717675" cy="5159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lnSpc>
                <a:spcPct val="98000"/>
              </a:lnSpc>
            </a:pPr>
            <a:r>
              <a:rPr lang="en-GB" altLang="zh-CN" sz="1400" i="1">
                <a:latin typeface="Calibri" charset="0"/>
              </a:rPr>
              <a:t>1 allocated VM page</a:t>
            </a:r>
          </a:p>
          <a:p>
            <a:pPr>
              <a:lnSpc>
                <a:spcPct val="98000"/>
              </a:lnSpc>
            </a:pPr>
            <a:r>
              <a:rPr lang="en-GB" altLang="zh-CN" sz="1400" i="1">
                <a:latin typeface="Calibri" charset="0"/>
              </a:rPr>
              <a:t>for the stack</a:t>
            </a:r>
          </a:p>
        </p:txBody>
      </p:sp>
      <p:sp>
        <p:nvSpPr>
          <p:cNvPr id="175162" name="TextBox 60"/>
          <p:cNvSpPr txBox="1">
            <a:spLocks noChangeArrowheads="1"/>
          </p:cNvSpPr>
          <p:nvPr/>
        </p:nvSpPr>
        <p:spPr bwMode="auto">
          <a:xfrm>
            <a:off x="381000" y="6153150"/>
            <a:ext cx="41052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r>
              <a:rPr lang="en-US" altLang="zh-CN" sz="1800" i="1">
                <a:latin typeface="Calibri" charset="0"/>
              </a:rPr>
              <a:t>32 bit addresses, 4KB pages, 4-byte PTEs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3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FB61DDBE-A39D-1947-B004-E0DB0B96851C}" type="slidenum">
              <a:rPr lang="zh-CN" altLang="en-US" sz="1400" b="0">
                <a:latin typeface="Times New Roman" charset="0"/>
              </a:rPr>
              <a:pPr/>
              <a:t>90</a:t>
            </a:fld>
            <a:endParaRPr lang="en-US" altLang="zh-CN" sz="1400" b="0">
              <a:latin typeface="Times New Roman" charset="0"/>
            </a:endParaRPr>
          </a:p>
        </p:txBody>
      </p:sp>
      <p:sp>
        <p:nvSpPr>
          <p:cNvPr id="177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Paging: Smaller Tables </a:t>
            </a:r>
            <a:endParaRPr lang="en-US" altLang="zh-CN" dirty="0">
              <a:ea typeface="宋体" charset="-122"/>
            </a:endParaRPr>
          </a:p>
        </p:txBody>
      </p:sp>
      <p:pic>
        <p:nvPicPr>
          <p:cNvPr id="177155" name="Picture 5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2000" y="2117725"/>
            <a:ext cx="7467600" cy="3895725"/>
          </a:xfrm>
          <a:noFill/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Paging: Smaller Tables 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/>
              <a:t>A Detailed Multi-Level Example </a:t>
            </a:r>
            <a:endParaRPr lang="en-US" altLang="zh-CN" dirty="0"/>
          </a:p>
          <a:p>
            <a:pPr lvl="1"/>
            <a:r>
              <a:rPr kumimoji="1" lang="en-US" altLang="zh-CN" dirty="0"/>
              <a:t>14-</a:t>
            </a:r>
            <a:r>
              <a:rPr lang="en-US" altLang="zh-CN" dirty="0"/>
              <a:t>bit virtual address space</a:t>
            </a:r>
          </a:p>
          <a:p>
            <a:pPr lvl="1"/>
            <a:r>
              <a:rPr lang="en-US" altLang="zh-CN" dirty="0"/>
              <a:t>8-bit for VPN, 6-bit for offset</a:t>
            </a:r>
          </a:p>
          <a:p>
            <a:pPr lvl="1"/>
            <a:r>
              <a:rPr lang="en-US" altLang="zh-CN" dirty="0"/>
              <a:t>4-byte PTE</a:t>
            </a:r>
          </a:p>
          <a:p>
            <a:pPr lvl="1"/>
            <a:r>
              <a:rPr kumimoji="1" lang="en-US" altLang="zh-CN" dirty="0"/>
              <a:t>A linear page table: 256 entries</a:t>
            </a:r>
          </a:p>
          <a:p>
            <a:pPr lvl="1"/>
            <a:r>
              <a:rPr lang="en-US" altLang="zh-CN" dirty="0"/>
              <a:t>Page table: 1KB (256*4B)</a:t>
            </a:r>
            <a:endParaRPr kumimoji="1" lang="en-US" altLang="zh-CN" dirty="0"/>
          </a:p>
          <a:p>
            <a:pPr lvl="1"/>
            <a:r>
              <a:rPr lang="en-US" altLang="zh-CN" dirty="0"/>
              <a:t>Page 0, 1 -&gt; code</a:t>
            </a:r>
          </a:p>
          <a:p>
            <a:pPr lvl="1"/>
            <a:r>
              <a:rPr kumimoji="1" lang="en-US" altLang="zh-CN" dirty="0"/>
              <a:t>Page 4, 5 -&gt; heap</a:t>
            </a:r>
          </a:p>
          <a:p>
            <a:pPr lvl="1"/>
            <a:r>
              <a:rPr lang="en-US" altLang="zh-CN" dirty="0"/>
              <a:t>Page 254, 255 -&gt; stack</a:t>
            </a:r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B01C9-CC9E-4042-87A9-F49D20F0019F}" type="slidenum">
              <a:rPr lang="zh-CN" altLang="en-US" smtClean="0"/>
              <a:pPr/>
              <a:t>91</a:t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0" y="2387600"/>
            <a:ext cx="3035300" cy="378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911788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Paging: Smaller Tables 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/>
              <a:t>A Detailed Multi-Level Example </a:t>
            </a:r>
            <a:endParaRPr lang="en-US" altLang="zh-CN" dirty="0"/>
          </a:p>
          <a:p>
            <a:pPr lvl="1"/>
            <a:r>
              <a:rPr lang="zh-CN" altLang="en-US" dirty="0"/>
              <a:t>一个</a:t>
            </a:r>
            <a:r>
              <a:rPr lang="en-US" altLang="zh-CN" dirty="0"/>
              <a:t>page</a:t>
            </a:r>
            <a:r>
              <a:rPr lang="zh-CN" altLang="en-US" dirty="0"/>
              <a:t>是</a:t>
            </a:r>
            <a:r>
              <a:rPr lang="en-US" altLang="zh-CN" dirty="0"/>
              <a:t>64B</a:t>
            </a:r>
            <a:r>
              <a:rPr lang="zh-CN" altLang="en-US" dirty="0"/>
              <a:t>，能放</a:t>
            </a:r>
            <a:r>
              <a:rPr lang="en-US" altLang="zh-CN" dirty="0"/>
              <a:t>16</a:t>
            </a:r>
            <a:r>
              <a:rPr lang="zh-CN" altLang="en-US" dirty="0"/>
              <a:t>个</a:t>
            </a:r>
            <a:r>
              <a:rPr lang="en-US" altLang="zh-CN" dirty="0"/>
              <a:t>PTE</a:t>
            </a:r>
          </a:p>
          <a:p>
            <a:pPr lvl="1"/>
            <a:r>
              <a:rPr lang="zh-CN" altLang="en-US" dirty="0"/>
              <a:t>所以一级页表是</a:t>
            </a:r>
            <a:r>
              <a:rPr lang="en-US" altLang="zh-CN" dirty="0"/>
              <a:t>16</a:t>
            </a:r>
            <a:r>
              <a:rPr lang="zh-CN" altLang="en-US" dirty="0"/>
              <a:t>个</a:t>
            </a:r>
            <a:r>
              <a:rPr lang="en-US" altLang="zh-CN" dirty="0"/>
              <a:t>entry</a:t>
            </a:r>
            <a:r>
              <a:rPr lang="zh-CN" altLang="en-US" dirty="0"/>
              <a:t>，各负责</a:t>
            </a:r>
            <a:r>
              <a:rPr lang="en-US" altLang="zh-CN" dirty="0"/>
              <a:t>16(=256/16)</a:t>
            </a:r>
            <a:r>
              <a:rPr lang="zh-CN" altLang="en-US" dirty="0"/>
              <a:t>个</a:t>
            </a:r>
            <a:r>
              <a:rPr lang="en-US" altLang="zh-CN" dirty="0"/>
              <a:t>VPN</a:t>
            </a:r>
          </a:p>
          <a:p>
            <a:pPr lvl="1"/>
            <a:r>
              <a:rPr kumimoji="1" lang="en-US" altLang="zh-CN" dirty="0"/>
              <a:t>Page-directory index (</a:t>
            </a:r>
            <a:r>
              <a:rPr kumimoji="1" lang="en-US" altLang="zh-CN" dirty="0" err="1"/>
              <a:t>PDIndex</a:t>
            </a:r>
            <a:r>
              <a:rPr kumimoji="1" lang="en-US" altLang="zh-CN" dirty="0"/>
              <a:t>)</a:t>
            </a:r>
            <a:r>
              <a:rPr kumimoji="1" lang="zh-CN" altLang="en-US" dirty="0"/>
              <a:t>为</a:t>
            </a:r>
            <a:r>
              <a:rPr lang="en-US" altLang="zh-CN" dirty="0"/>
              <a:t>VPN</a:t>
            </a:r>
            <a:r>
              <a:rPr lang="zh-CN" altLang="en-US" dirty="0"/>
              <a:t>的前</a:t>
            </a:r>
            <a:r>
              <a:rPr lang="en-US" altLang="zh-CN" dirty="0"/>
              <a:t>4</a:t>
            </a:r>
            <a:r>
              <a:rPr lang="zh-CN" altLang="en-US" dirty="0"/>
              <a:t>位，用来定位是属于一级页表中的哪个</a:t>
            </a:r>
            <a:r>
              <a:rPr lang="en-US" altLang="zh-CN" dirty="0"/>
              <a:t>entry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B01C9-CC9E-4042-87A9-F49D20F0019F}" type="slidenum">
              <a:rPr lang="zh-CN" altLang="en-US" smtClean="0"/>
              <a:pPr/>
              <a:t>92</a:t>
            </a:fld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1100" y="4622800"/>
            <a:ext cx="6629400" cy="154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445885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Paging: Smaller Tables 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Page table index (</a:t>
            </a:r>
            <a:r>
              <a:rPr kumimoji="1" lang="en-US" altLang="zh-CN" dirty="0" err="1"/>
              <a:t>PTIndex</a:t>
            </a:r>
            <a:r>
              <a:rPr kumimoji="1" lang="en-US" altLang="zh-CN" dirty="0"/>
              <a:t>)</a:t>
            </a:r>
          </a:p>
          <a:p>
            <a:pPr lvl="1"/>
            <a:r>
              <a:rPr kumimoji="1" lang="en-US" altLang="zh-CN" dirty="0"/>
              <a:t>VPN</a:t>
            </a:r>
            <a:r>
              <a:rPr kumimoji="1" lang="zh-CN" altLang="en-US" dirty="0"/>
              <a:t>的后四位，是二级页表的</a:t>
            </a:r>
            <a:r>
              <a:rPr kumimoji="1" lang="en-US" altLang="zh-CN" dirty="0"/>
              <a:t>index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B01C9-CC9E-4042-87A9-F49D20F0019F}" type="slidenum">
              <a:rPr lang="zh-CN" altLang="en-US" smtClean="0"/>
              <a:pPr/>
              <a:t>93</a:t>
            </a:fld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85"/>
          <a:stretch/>
        </p:blipFill>
        <p:spPr>
          <a:xfrm>
            <a:off x="1016000" y="3657600"/>
            <a:ext cx="6565900" cy="144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327151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Paging: Smaller Tables 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二级页表结果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B01C9-CC9E-4042-87A9-F49D20F0019F}" type="slidenum">
              <a:rPr lang="zh-CN" altLang="en-US" smtClean="0"/>
              <a:pPr/>
              <a:t>94</a:t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578" y="2056795"/>
            <a:ext cx="6845822" cy="4786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265063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Paging: Smaller Tables 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/>
              <a:t>More Than Two Levels </a:t>
            </a:r>
            <a:endParaRPr lang="en-US" altLang="zh-CN" dirty="0"/>
          </a:p>
          <a:p>
            <a:pPr lvl="1"/>
            <a:r>
              <a:rPr kumimoji="1" lang="zh-CN" altLang="en-US" dirty="0"/>
              <a:t>在</a:t>
            </a:r>
            <a:r>
              <a:rPr kumimoji="1" lang="en-US" altLang="zh-CN" dirty="0"/>
              <a:t>VPN</a:t>
            </a:r>
            <a:r>
              <a:rPr lang="zh-CN" altLang="en-US" dirty="0"/>
              <a:t>前面划分多个</a:t>
            </a:r>
            <a:r>
              <a:rPr lang="en-US" altLang="zh-CN" dirty="0"/>
              <a:t>PD</a:t>
            </a:r>
            <a:r>
              <a:rPr lang="zh-CN" altLang="en-US" dirty="0"/>
              <a:t> </a:t>
            </a:r>
            <a:r>
              <a:rPr lang="en-US" altLang="zh-CN" dirty="0"/>
              <a:t>Index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B01C9-CC9E-4042-87A9-F49D20F0019F}" type="slidenum">
              <a:rPr lang="zh-CN" altLang="en-US" smtClean="0"/>
              <a:pPr/>
              <a:t>95</a:t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3581400"/>
            <a:ext cx="8458200" cy="1880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99046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Paging: Smaller Tables 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Inverted Page Tables </a:t>
            </a:r>
          </a:p>
          <a:p>
            <a:pPr lvl="1"/>
            <a:r>
              <a:rPr kumimoji="1" lang="en-US" altLang="zh-CN" dirty="0"/>
              <a:t>VPN -&gt; PPN</a:t>
            </a:r>
            <a:r>
              <a:rPr lang="zh-CN" altLang="en-US" dirty="0"/>
              <a:t>，比较稀疏，多个进程</a:t>
            </a:r>
            <a:r>
              <a:rPr lang="en-US" altLang="zh-CN" dirty="0"/>
              <a:t>=&gt;</a:t>
            </a:r>
            <a:r>
              <a:rPr lang="zh-CN" altLang="en-US" dirty="0"/>
              <a:t>空间开销大</a:t>
            </a:r>
            <a:endParaRPr lang="en-US" altLang="zh-CN" dirty="0"/>
          </a:p>
          <a:p>
            <a:pPr lvl="1"/>
            <a:r>
              <a:rPr kumimoji="1" lang="zh-CN" altLang="en-US" dirty="0"/>
              <a:t>但</a:t>
            </a:r>
            <a:r>
              <a:rPr kumimoji="1" lang="en-US" altLang="zh-CN" dirty="0"/>
              <a:t>Pa</a:t>
            </a:r>
            <a:r>
              <a:rPr kumimoji="1" lang="zh-CN" altLang="en-US" dirty="0"/>
              <a:t>有效，利用率高，比较稠密</a:t>
            </a:r>
            <a:r>
              <a:rPr kumimoji="1" lang="en-US" altLang="zh-CN" dirty="0"/>
              <a:t>=&gt; </a:t>
            </a:r>
          </a:p>
          <a:p>
            <a:pPr lvl="1"/>
            <a:r>
              <a:rPr lang="en-US" altLang="zh-CN" dirty="0"/>
              <a:t>Inverted page tables (PPN-&gt;VPN)</a:t>
            </a:r>
          </a:p>
          <a:p>
            <a:pPr lvl="1"/>
            <a:r>
              <a:rPr lang="zh-CN" altLang="en-US" dirty="0"/>
              <a:t>缺点是用户需求是</a:t>
            </a:r>
            <a:r>
              <a:rPr lang="en-US" altLang="zh-CN" dirty="0"/>
              <a:t>VPN-&gt;PPN</a:t>
            </a:r>
            <a:r>
              <a:rPr lang="zh-CN" altLang="en-US" dirty="0"/>
              <a:t>的查找</a:t>
            </a:r>
            <a:endParaRPr lang="en-US" altLang="zh-CN" dirty="0"/>
          </a:p>
          <a:p>
            <a:pPr lvl="1"/>
            <a:r>
              <a:rPr lang="zh-CN" altLang="en-US" dirty="0"/>
              <a:t>线性搜索开销太大，所以需要有额外的结构来加速搜索，例如</a:t>
            </a:r>
            <a:r>
              <a:rPr lang="en-US" altLang="zh-CN" dirty="0"/>
              <a:t>hash</a:t>
            </a:r>
            <a:r>
              <a:rPr lang="zh-CN" altLang="en-US" dirty="0"/>
              <a:t>结构</a:t>
            </a:r>
            <a:endParaRPr lang="en-US" altLang="zh-CN" dirty="0"/>
          </a:p>
          <a:p>
            <a:pPr lvl="2"/>
            <a:r>
              <a:rPr kumimoji="1" lang="en-US" altLang="zh-CN" dirty="0"/>
              <a:t>e</a:t>
            </a:r>
            <a:r>
              <a:rPr lang="en-US" altLang="zh-CN" dirty="0"/>
              <a:t>.g., IBM PowerPC</a:t>
            </a:r>
          </a:p>
          <a:p>
            <a:pPr lvl="1"/>
            <a:r>
              <a:rPr kumimoji="1" lang="en-US" altLang="zh-CN" dirty="0"/>
              <a:t>Page table are just data structure. You can do lots of crazy things on it.</a:t>
            </a:r>
          </a:p>
          <a:p>
            <a:pPr lvl="2"/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B01C9-CC9E-4042-87A9-F49D20F0019F}" type="slidenum">
              <a:rPr lang="zh-CN" altLang="en-US" smtClean="0"/>
              <a:pPr/>
              <a:t>96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68274944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课堂练习</a:t>
            </a:r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4980" y="71667"/>
            <a:ext cx="6022820" cy="4792549"/>
          </a:xfrm>
        </p:spPr>
      </p:pic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B01C9-CC9E-4042-87A9-F49D20F0019F}" type="slidenum">
              <a:rPr lang="zh-CN" altLang="en-US" smtClean="0"/>
              <a:pPr/>
              <a:t>97</a:t>
            </a:fld>
            <a:endParaRPr lang="en-US" altLang="zh-CN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0368" y="4845340"/>
            <a:ext cx="6022820" cy="1860260"/>
          </a:xfrm>
          <a:prstGeom prst="rect">
            <a:avLst/>
          </a:prstGeom>
        </p:spPr>
      </p:pic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227012" y="1524000"/>
            <a:ext cx="8307388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800">
                <a:solidFill>
                  <a:schemeClr val="tx1"/>
                </a:solidFill>
                <a:latin typeface="+mn-lt"/>
                <a:ea typeface="宋体" charset="0"/>
                <a:cs typeface="宋体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+mn-lt"/>
                <a:ea typeface="宋体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+mn-lt"/>
                <a:ea typeface="宋体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宋体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宋体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kumimoji="0" lang="en-US" altLang="zh-CN" sz="2400" b="0" kern="0" dirty="0">
                <a:ea typeface="宋体" charset="-122"/>
              </a:rPr>
              <a:t>Page:64B</a:t>
            </a:r>
          </a:p>
          <a:p>
            <a:pPr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kumimoji="0" lang="en-US" altLang="zh-CN" sz="2400" b="0" kern="0" dirty="0">
                <a:ea typeface="宋体" charset="-122"/>
              </a:rPr>
              <a:t>VA:14-bit</a:t>
            </a:r>
          </a:p>
          <a:p>
            <a:pPr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kumimoji="0" lang="en-US" altLang="zh-CN" sz="2400" b="0" kern="0" dirty="0">
                <a:ea typeface="宋体" charset="-122"/>
              </a:rPr>
              <a:t>PA:12-bit</a:t>
            </a:r>
          </a:p>
          <a:p>
            <a:pPr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kumimoji="0" lang="en-US" altLang="zh-CN" sz="2400" b="0" kern="0" dirty="0">
                <a:ea typeface="宋体" charset="-122"/>
              </a:rPr>
              <a:t>TLB:</a:t>
            </a:r>
            <a:r>
              <a:rPr kumimoji="0" lang="zh-CN" altLang="en-US" sz="2400" b="0" kern="0" dirty="0">
                <a:ea typeface="宋体" charset="-122"/>
              </a:rPr>
              <a:t>四路组</a:t>
            </a:r>
            <a:endParaRPr kumimoji="0" lang="en-US" altLang="zh-CN" sz="2400" b="0" kern="0" dirty="0">
              <a:ea typeface="宋体" charset="-122"/>
            </a:endParaRPr>
          </a:p>
          <a:p>
            <a:pPr marL="0" indent="0">
              <a:buNone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kumimoji="0" lang="zh-CN" altLang="en-US" sz="2400" b="0" kern="0" dirty="0">
                <a:ea typeface="宋体" charset="-122"/>
              </a:rPr>
              <a:t>相连，</a:t>
            </a:r>
            <a:r>
              <a:rPr kumimoji="0" lang="en-US" altLang="zh-CN" sz="2400" b="0" kern="0" dirty="0">
                <a:ea typeface="宋体" charset="-122"/>
              </a:rPr>
              <a:t>16</a:t>
            </a:r>
            <a:r>
              <a:rPr kumimoji="0" lang="zh-CN" altLang="en-US" sz="2400" b="0" kern="0" dirty="0">
                <a:ea typeface="宋体" charset="-122"/>
              </a:rPr>
              <a:t> </a:t>
            </a:r>
            <a:r>
              <a:rPr kumimoji="0" lang="en-US" altLang="zh-CN" sz="2400" b="0" kern="0" dirty="0">
                <a:ea typeface="宋体" charset="-122"/>
              </a:rPr>
              <a:t>items</a:t>
            </a:r>
          </a:p>
          <a:p>
            <a:pPr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kumimoji="0" lang="en-US" altLang="zh-CN" sz="2400" b="0" kern="0" dirty="0">
                <a:ea typeface="宋体" charset="-122"/>
              </a:rPr>
              <a:t>Cache:</a:t>
            </a:r>
            <a:r>
              <a:rPr kumimoji="0" lang="zh-CN" altLang="en-US" sz="2400" b="0" kern="0" dirty="0">
                <a:ea typeface="宋体" charset="-122"/>
              </a:rPr>
              <a:t>直接映射，</a:t>
            </a:r>
            <a:endParaRPr kumimoji="0" lang="en-US" altLang="zh-CN" sz="2400" b="0" kern="0" dirty="0">
              <a:ea typeface="宋体" charset="-122"/>
            </a:endParaRPr>
          </a:p>
          <a:p>
            <a:pPr marL="0" indent="0">
              <a:buNone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kumimoji="0" lang="en-US" altLang="zh-CN" sz="2400" b="0" kern="0" dirty="0">
                <a:ea typeface="宋体" charset="-122"/>
              </a:rPr>
              <a:t>16</a:t>
            </a:r>
            <a:r>
              <a:rPr kumimoji="0" lang="zh-CN" altLang="en-US" sz="2400" b="0" kern="0" dirty="0">
                <a:ea typeface="宋体" charset="-122"/>
              </a:rPr>
              <a:t>个组，</a:t>
            </a:r>
            <a:r>
              <a:rPr kumimoji="0" lang="en-US" altLang="zh-CN" sz="2400" b="0" kern="0" dirty="0" err="1">
                <a:ea typeface="宋体" charset="-122"/>
              </a:rPr>
              <a:t>cacheline</a:t>
            </a:r>
            <a:endParaRPr kumimoji="0" lang="en-US" altLang="zh-CN" sz="2400" b="0" kern="0" dirty="0">
              <a:ea typeface="宋体" charset="-122"/>
            </a:endParaRPr>
          </a:p>
          <a:p>
            <a:pPr marL="0" indent="0">
              <a:buNone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kumimoji="0" lang="en-US" altLang="zh-CN" sz="2400" b="0" kern="0" dirty="0">
                <a:ea typeface="宋体" charset="-122"/>
              </a:rPr>
              <a:t>4B</a:t>
            </a:r>
          </a:p>
          <a:p>
            <a:pPr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kumimoji="0" lang="en-GB" altLang="zh-CN" sz="2000" b="0" kern="0" dirty="0"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83625004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练习答案</a:t>
            </a:r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4562" y="1600200"/>
            <a:ext cx="3971076" cy="4419600"/>
          </a:xfrm>
        </p:spPr>
      </p:pic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B01C9-CC9E-4042-87A9-F49D20F0019F}" type="slidenum">
              <a:rPr lang="zh-CN" altLang="en-US" smtClean="0"/>
              <a:pPr/>
              <a:t>98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97505400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Title 1">
            <a:extLst>
              <a:ext uri="{FF2B5EF4-FFF2-40B4-BE49-F238E27FC236}">
                <a16:creationId xmlns:a16="http://schemas.microsoft.com/office/drawing/2014/main" id="{A63DE951-467A-B143-9918-78F96BC06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250" y="92075"/>
            <a:ext cx="8077200" cy="9144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Intel Core i7 Memory System</a:t>
            </a:r>
          </a:p>
        </p:txBody>
      </p:sp>
      <p:sp>
        <p:nvSpPr>
          <p:cNvPr id="43" name="Rectangle 406">
            <a:extLst>
              <a:ext uri="{FF2B5EF4-FFF2-40B4-BE49-F238E27FC236}">
                <a16:creationId xmlns:a16="http://schemas.microsoft.com/office/drawing/2014/main" id="{F8041171-0704-7D47-B745-5F1CAE30FC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763" y="2600325"/>
            <a:ext cx="1481137" cy="469900"/>
          </a:xfrm>
          <a:prstGeom prst="rect">
            <a:avLst/>
          </a:prstGeom>
          <a:solidFill>
            <a:srgbClr val="F7F5CD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blurRad="50800" dist="38100" dir="2700000" rotWithShape="0">
              <a:srgbClr val="808080">
                <a:alpha val="42998"/>
              </a:srgbClr>
            </a:outerShdw>
          </a:effectLst>
        </p:spPr>
        <p:txBody>
          <a:bodyPr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kern="0" dirty="0">
                <a:solidFill>
                  <a:sysClr val="windowText" lastClr="000000"/>
                </a:solidFill>
                <a:latin typeface="+mn-lt"/>
                <a:ea typeface="宋体" charset="-122"/>
              </a:rPr>
              <a:t>L1 </a:t>
            </a:r>
            <a:r>
              <a:rPr lang="en-US" sz="1600" kern="0" dirty="0" err="1">
                <a:solidFill>
                  <a:sysClr val="windowText" lastClr="000000"/>
                </a:solidFill>
                <a:latin typeface="+mn-lt"/>
                <a:ea typeface="宋体" charset="-122"/>
              </a:rPr>
              <a:t>d</a:t>
            </a:r>
            <a:r>
              <a:rPr lang="en-US" sz="1600" kern="0" dirty="0">
                <a:solidFill>
                  <a:sysClr val="windowText" lastClr="000000"/>
                </a:solidFill>
                <a:latin typeface="+mn-lt"/>
                <a:ea typeface="宋体" charset="-122"/>
              </a:rPr>
              <a:t>-cache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kern="0" dirty="0">
                <a:solidFill>
                  <a:sysClr val="windowText" lastClr="000000"/>
                </a:solidFill>
                <a:latin typeface="+mn-lt"/>
                <a:ea typeface="宋体" charset="-122"/>
              </a:rPr>
              <a:t>32 KB, 8-way</a:t>
            </a:r>
          </a:p>
        </p:txBody>
      </p:sp>
      <p:sp>
        <p:nvSpPr>
          <p:cNvPr id="44" name="Rectangle 408">
            <a:extLst>
              <a:ext uri="{FF2B5EF4-FFF2-40B4-BE49-F238E27FC236}">
                <a16:creationId xmlns:a16="http://schemas.microsoft.com/office/drawing/2014/main" id="{8A188D39-7513-6540-AF4B-B7D2AD4222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3352800"/>
            <a:ext cx="2578100" cy="471488"/>
          </a:xfrm>
          <a:prstGeom prst="rect">
            <a:avLst/>
          </a:prstGeom>
          <a:solidFill>
            <a:srgbClr val="F7F5CD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blurRad="50800" dist="38100" dir="2700000" rotWithShape="0">
              <a:srgbClr val="808080">
                <a:alpha val="42998"/>
              </a:srgb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kern="0" dirty="0">
                <a:solidFill>
                  <a:sysClr val="windowText" lastClr="000000"/>
                </a:solidFill>
                <a:latin typeface="+mn-lt"/>
                <a:ea typeface="宋体" charset="-122"/>
              </a:rPr>
              <a:t>L2 unified cache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kern="0" dirty="0">
                <a:solidFill>
                  <a:sysClr val="windowText" lastClr="000000"/>
                </a:solidFill>
                <a:latin typeface="+mn-lt"/>
                <a:ea typeface="宋体" charset="-122"/>
              </a:rPr>
              <a:t>256 KB, 8-way</a:t>
            </a:r>
          </a:p>
        </p:txBody>
      </p:sp>
      <p:sp>
        <p:nvSpPr>
          <p:cNvPr id="45" name="Line 409">
            <a:extLst>
              <a:ext uri="{FF2B5EF4-FFF2-40B4-BE49-F238E27FC236}">
                <a16:creationId xmlns:a16="http://schemas.microsoft.com/office/drawing/2014/main" id="{CEF953C9-21D0-314B-8B93-ED055CCD8664}"/>
              </a:ext>
            </a:extLst>
          </p:cNvPr>
          <p:cNvSpPr>
            <a:spLocks noChangeShapeType="1"/>
          </p:cNvSpPr>
          <p:nvPr/>
        </p:nvSpPr>
        <p:spPr bwMode="auto">
          <a:xfrm>
            <a:off x="1257300" y="2301875"/>
            <a:ext cx="0" cy="28257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600" kern="0">
              <a:solidFill>
                <a:sysClr val="windowText" lastClr="000000"/>
              </a:solidFill>
              <a:latin typeface="+mn-lt"/>
              <a:ea typeface="宋体" charset="-122"/>
            </a:endParaRPr>
          </a:p>
        </p:txBody>
      </p:sp>
      <p:sp>
        <p:nvSpPr>
          <p:cNvPr id="46" name="Line 410">
            <a:extLst>
              <a:ext uri="{FF2B5EF4-FFF2-40B4-BE49-F238E27FC236}">
                <a16:creationId xmlns:a16="http://schemas.microsoft.com/office/drawing/2014/main" id="{27701052-173C-4848-B510-C09266B07D84}"/>
              </a:ext>
            </a:extLst>
          </p:cNvPr>
          <p:cNvSpPr>
            <a:spLocks noChangeShapeType="1"/>
          </p:cNvSpPr>
          <p:nvPr/>
        </p:nvSpPr>
        <p:spPr bwMode="auto">
          <a:xfrm>
            <a:off x="1244600" y="3070225"/>
            <a:ext cx="0" cy="28257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600" kern="0">
              <a:solidFill>
                <a:sysClr val="windowText" lastClr="000000"/>
              </a:solidFill>
              <a:latin typeface="+mn-lt"/>
              <a:ea typeface="宋体" charset="-122"/>
            </a:endParaRPr>
          </a:p>
        </p:txBody>
      </p:sp>
      <p:sp>
        <p:nvSpPr>
          <p:cNvPr id="47" name="Line 411">
            <a:extLst>
              <a:ext uri="{FF2B5EF4-FFF2-40B4-BE49-F238E27FC236}">
                <a16:creationId xmlns:a16="http://schemas.microsoft.com/office/drawing/2014/main" id="{9DA3D547-CAE7-514F-A453-EEE6269DD307}"/>
              </a:ext>
            </a:extLst>
          </p:cNvPr>
          <p:cNvSpPr>
            <a:spLocks noChangeShapeType="1"/>
          </p:cNvSpPr>
          <p:nvPr/>
        </p:nvSpPr>
        <p:spPr bwMode="auto">
          <a:xfrm>
            <a:off x="2938463" y="3070225"/>
            <a:ext cx="0" cy="28257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600" kern="0">
              <a:solidFill>
                <a:sysClr val="windowText" lastClr="000000"/>
              </a:solidFill>
              <a:latin typeface="+mn-lt"/>
              <a:ea typeface="宋体" charset="-122"/>
            </a:endParaRPr>
          </a:p>
        </p:txBody>
      </p:sp>
      <p:sp>
        <p:nvSpPr>
          <p:cNvPr id="48" name="Rectangle 426">
            <a:extLst>
              <a:ext uri="{FF2B5EF4-FFF2-40B4-BE49-F238E27FC236}">
                <a16:creationId xmlns:a16="http://schemas.microsoft.com/office/drawing/2014/main" id="{E7761718-B8E4-9645-9901-284A0744F3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8063" y="5059363"/>
            <a:ext cx="2166937" cy="755650"/>
          </a:xfrm>
          <a:prstGeom prst="rect">
            <a:avLst/>
          </a:prstGeom>
          <a:solidFill>
            <a:srgbClr val="F7F5CD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blurRad="50800" dist="38100" dir="2700000" rotWithShape="0">
              <a:srgbClr val="808080">
                <a:alpha val="42998"/>
              </a:srgb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kern="0" dirty="0">
                <a:solidFill>
                  <a:sysClr val="windowText" lastClr="000000"/>
                </a:solidFill>
                <a:latin typeface="+mn-lt"/>
                <a:ea typeface="宋体" charset="-122"/>
              </a:rPr>
              <a:t>L3 unified cache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kern="0" dirty="0">
                <a:solidFill>
                  <a:sysClr val="windowText" lastClr="000000"/>
                </a:solidFill>
                <a:latin typeface="+mn-lt"/>
                <a:ea typeface="宋体" charset="-122"/>
              </a:rPr>
              <a:t>8 MB, 16-way 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kern="0" dirty="0">
                <a:solidFill>
                  <a:sysClr val="windowText" lastClr="000000"/>
                </a:solidFill>
                <a:latin typeface="+mn-lt"/>
                <a:ea typeface="宋体" charset="-122"/>
              </a:rPr>
              <a:t>(shared by all cores)</a:t>
            </a:r>
          </a:p>
        </p:txBody>
      </p:sp>
      <p:sp>
        <p:nvSpPr>
          <p:cNvPr id="49" name="Rectangle 427">
            <a:extLst>
              <a:ext uri="{FF2B5EF4-FFF2-40B4-BE49-F238E27FC236}">
                <a16:creationId xmlns:a16="http://schemas.microsoft.com/office/drawing/2014/main" id="{B174863F-1B46-2641-B6B3-9816A07138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33900" y="6227763"/>
            <a:ext cx="2781300" cy="554037"/>
          </a:xfrm>
          <a:prstGeom prst="rect">
            <a:avLst/>
          </a:prstGeom>
          <a:solidFill>
            <a:srgbClr val="E5E6F6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blurRad="50800" dist="38100" dir="2700000" rotWithShape="0">
              <a:srgbClr val="808080">
                <a:alpha val="42998"/>
              </a:srgb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kern="0">
                <a:solidFill>
                  <a:sysClr val="windowText" lastClr="000000"/>
                </a:solidFill>
                <a:latin typeface="+mn-lt"/>
                <a:ea typeface="宋体" charset="-122"/>
              </a:rPr>
              <a:t>Main memory</a:t>
            </a:r>
          </a:p>
        </p:txBody>
      </p:sp>
      <p:sp>
        <p:nvSpPr>
          <p:cNvPr id="50" name="Line 432">
            <a:extLst>
              <a:ext uri="{FF2B5EF4-FFF2-40B4-BE49-F238E27FC236}">
                <a16:creationId xmlns:a16="http://schemas.microsoft.com/office/drawing/2014/main" id="{3D0D50F0-48DA-B544-8FA7-7D0596656C96}"/>
              </a:ext>
            </a:extLst>
          </p:cNvPr>
          <p:cNvSpPr>
            <a:spLocks noChangeShapeType="1"/>
          </p:cNvSpPr>
          <p:nvPr/>
        </p:nvSpPr>
        <p:spPr bwMode="auto">
          <a:xfrm>
            <a:off x="2938463" y="2317750"/>
            <a:ext cx="0" cy="28257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600" kern="0">
              <a:solidFill>
                <a:sysClr val="windowText" lastClr="000000"/>
              </a:solidFill>
              <a:latin typeface="+mn-lt"/>
              <a:ea typeface="宋体" charset="-122"/>
            </a:endParaRPr>
          </a:p>
        </p:txBody>
      </p:sp>
      <p:sp>
        <p:nvSpPr>
          <p:cNvPr id="51" name="Rectangle 434">
            <a:extLst>
              <a:ext uri="{FF2B5EF4-FFF2-40B4-BE49-F238E27FC236}">
                <a16:creationId xmlns:a16="http://schemas.microsoft.com/office/drawing/2014/main" id="{04C2D9B2-ACC7-CD45-979D-C97AA30038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063" y="1836738"/>
            <a:ext cx="1054100" cy="471487"/>
          </a:xfrm>
          <a:prstGeom prst="rect">
            <a:avLst/>
          </a:prstGeom>
          <a:solidFill>
            <a:srgbClr val="DBF2DA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blurRad="50800" dist="38100" dir="2700000" rotWithShape="0">
              <a:srgbClr val="808080">
                <a:alpha val="42998"/>
              </a:srgbClr>
            </a:outerShdw>
          </a:effectLst>
        </p:spPr>
        <p:txBody>
          <a:bodyPr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kern="0" dirty="0">
                <a:solidFill>
                  <a:sysClr val="windowText" lastClr="000000"/>
                </a:solidFill>
                <a:latin typeface="+mn-lt"/>
                <a:ea typeface="宋体" charset="-122"/>
              </a:rPr>
              <a:t>Registers</a:t>
            </a:r>
          </a:p>
        </p:txBody>
      </p:sp>
      <p:sp>
        <p:nvSpPr>
          <p:cNvPr id="52" name="Rectangle 435">
            <a:extLst>
              <a:ext uri="{FF2B5EF4-FFF2-40B4-BE49-F238E27FC236}">
                <a16:creationId xmlns:a16="http://schemas.microsoft.com/office/drawing/2014/main" id="{DA4EF86B-2C77-F746-9DD5-93FB54677E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4000" y="2600325"/>
            <a:ext cx="1824038" cy="469900"/>
          </a:xfrm>
          <a:prstGeom prst="rect">
            <a:avLst/>
          </a:prstGeom>
          <a:solidFill>
            <a:srgbClr val="F6D2D2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blurRad="50800" dist="38100" dir="2700000" rotWithShape="0">
              <a:srgbClr val="808080">
                <a:alpha val="42998"/>
              </a:srgbClr>
            </a:outerShdw>
          </a:effectLst>
        </p:spPr>
        <p:txBody>
          <a:bodyPr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kern="0" dirty="0">
                <a:solidFill>
                  <a:sysClr val="windowText" lastClr="000000"/>
                </a:solidFill>
                <a:latin typeface="+mn-lt"/>
                <a:ea typeface="宋体" charset="-122"/>
              </a:rPr>
              <a:t>L1 </a:t>
            </a:r>
            <a:r>
              <a:rPr lang="en-US" sz="1400" kern="0" dirty="0" err="1">
                <a:solidFill>
                  <a:sysClr val="windowText" lastClr="000000"/>
                </a:solidFill>
                <a:latin typeface="+mn-lt"/>
                <a:ea typeface="宋体" charset="-122"/>
              </a:rPr>
              <a:t>d</a:t>
            </a:r>
            <a:r>
              <a:rPr lang="en-US" sz="1400" kern="0" dirty="0">
                <a:solidFill>
                  <a:sysClr val="windowText" lastClr="000000"/>
                </a:solidFill>
                <a:latin typeface="+mn-lt"/>
                <a:ea typeface="宋体" charset="-122"/>
              </a:rPr>
              <a:t>-TLB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kern="0" dirty="0">
                <a:solidFill>
                  <a:sysClr val="windowText" lastClr="000000"/>
                </a:solidFill>
                <a:latin typeface="+mn-lt"/>
                <a:ea typeface="宋体" charset="-122"/>
              </a:rPr>
              <a:t>64 entries, 4-way</a:t>
            </a:r>
          </a:p>
        </p:txBody>
      </p:sp>
      <p:sp>
        <p:nvSpPr>
          <p:cNvPr id="53" name="Rectangle 436">
            <a:extLst>
              <a:ext uri="{FF2B5EF4-FFF2-40B4-BE49-F238E27FC236}">
                <a16:creationId xmlns:a16="http://schemas.microsoft.com/office/drawing/2014/main" id="{85E2B7EB-6965-674A-B899-3B92CB1E47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5200" y="2600325"/>
            <a:ext cx="1824038" cy="469900"/>
          </a:xfrm>
          <a:prstGeom prst="rect">
            <a:avLst/>
          </a:prstGeom>
          <a:solidFill>
            <a:srgbClr val="F6D2D2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blurRad="50800" dist="38100" dir="2700000" rotWithShape="0">
              <a:srgbClr val="808080">
                <a:alpha val="42998"/>
              </a:srgbClr>
            </a:outerShdw>
          </a:effectLst>
        </p:spPr>
        <p:txBody>
          <a:bodyPr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kern="0" dirty="0">
                <a:solidFill>
                  <a:sysClr val="windowText" lastClr="000000"/>
                </a:solidFill>
                <a:latin typeface="+mn-lt"/>
                <a:ea typeface="宋体" charset="-122"/>
              </a:rPr>
              <a:t>L1 </a:t>
            </a:r>
            <a:r>
              <a:rPr lang="en-US" sz="1400" kern="0" dirty="0" err="1">
                <a:solidFill>
                  <a:sysClr val="windowText" lastClr="000000"/>
                </a:solidFill>
                <a:latin typeface="+mn-lt"/>
                <a:ea typeface="宋体" charset="-122"/>
              </a:rPr>
              <a:t>i</a:t>
            </a:r>
            <a:r>
              <a:rPr lang="en-US" sz="1400" kern="0" dirty="0">
                <a:solidFill>
                  <a:sysClr val="windowText" lastClr="000000"/>
                </a:solidFill>
                <a:latin typeface="+mn-lt"/>
                <a:ea typeface="宋体" charset="-122"/>
              </a:rPr>
              <a:t>-TLB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kern="0" dirty="0">
                <a:solidFill>
                  <a:sysClr val="windowText" lastClr="000000"/>
                </a:solidFill>
                <a:latin typeface="+mn-lt"/>
                <a:ea typeface="宋体" charset="-122"/>
              </a:rPr>
              <a:t>128 entries, 4-way</a:t>
            </a:r>
          </a:p>
        </p:txBody>
      </p:sp>
      <p:sp>
        <p:nvSpPr>
          <p:cNvPr id="54" name="Rectangle 438">
            <a:extLst>
              <a:ext uri="{FF2B5EF4-FFF2-40B4-BE49-F238E27FC236}">
                <a16:creationId xmlns:a16="http://schemas.microsoft.com/office/drawing/2014/main" id="{9630FBE7-D118-3C42-89D1-43964821C5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4200" y="3363913"/>
            <a:ext cx="3157538" cy="469900"/>
          </a:xfrm>
          <a:prstGeom prst="rect">
            <a:avLst/>
          </a:prstGeom>
          <a:solidFill>
            <a:srgbClr val="F6D2D2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blurRad="50800" dist="38100" dir="2700000" rotWithShape="0">
              <a:srgbClr val="808080">
                <a:alpha val="42998"/>
              </a:srgbClr>
            </a:outerShdw>
          </a:effectLst>
        </p:spPr>
        <p:txBody>
          <a:bodyPr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kern="0" dirty="0">
                <a:solidFill>
                  <a:sysClr val="windowText" lastClr="000000"/>
                </a:solidFill>
                <a:latin typeface="+mn-lt"/>
                <a:ea typeface="宋体" charset="-122"/>
              </a:rPr>
              <a:t>L2  unified TLB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kern="0" dirty="0">
                <a:solidFill>
                  <a:sysClr val="windowText" lastClr="000000"/>
                </a:solidFill>
                <a:latin typeface="+mn-lt"/>
                <a:ea typeface="宋体" charset="-122"/>
              </a:rPr>
              <a:t>512 entries, 4-way</a:t>
            </a:r>
          </a:p>
        </p:txBody>
      </p:sp>
      <p:sp>
        <p:nvSpPr>
          <p:cNvPr id="55" name="Line 439">
            <a:extLst>
              <a:ext uri="{FF2B5EF4-FFF2-40B4-BE49-F238E27FC236}">
                <a16:creationId xmlns:a16="http://schemas.microsoft.com/office/drawing/2014/main" id="{835ADB18-D973-914F-8D41-C53C296747E3}"/>
              </a:ext>
            </a:extLst>
          </p:cNvPr>
          <p:cNvSpPr>
            <a:spLocks noChangeShapeType="1"/>
          </p:cNvSpPr>
          <p:nvPr/>
        </p:nvSpPr>
        <p:spPr bwMode="auto">
          <a:xfrm>
            <a:off x="4983163" y="3076575"/>
            <a:ext cx="0" cy="28257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600" kern="0">
              <a:solidFill>
                <a:sysClr val="windowText" lastClr="000000"/>
              </a:solidFill>
              <a:latin typeface="+mn-lt"/>
              <a:ea typeface="宋体" charset="-122"/>
            </a:endParaRPr>
          </a:p>
        </p:txBody>
      </p:sp>
      <p:sp>
        <p:nvSpPr>
          <p:cNvPr id="56" name="Line 440">
            <a:extLst>
              <a:ext uri="{FF2B5EF4-FFF2-40B4-BE49-F238E27FC236}">
                <a16:creationId xmlns:a16="http://schemas.microsoft.com/office/drawing/2014/main" id="{10E0E964-F735-2A41-9271-D95A25ED01F7}"/>
              </a:ext>
            </a:extLst>
          </p:cNvPr>
          <p:cNvSpPr>
            <a:spLocks noChangeShapeType="1"/>
          </p:cNvSpPr>
          <p:nvPr/>
        </p:nvSpPr>
        <p:spPr bwMode="auto">
          <a:xfrm>
            <a:off x="6964363" y="3081338"/>
            <a:ext cx="0" cy="28257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600" kern="0">
              <a:solidFill>
                <a:sysClr val="windowText" lastClr="000000"/>
              </a:solidFill>
              <a:latin typeface="+mn-lt"/>
              <a:ea typeface="宋体" charset="-122"/>
            </a:endParaRPr>
          </a:p>
        </p:txBody>
      </p:sp>
      <p:sp>
        <p:nvSpPr>
          <p:cNvPr id="57" name="Rectangle 441">
            <a:extLst>
              <a:ext uri="{FF2B5EF4-FFF2-40B4-BE49-F238E27FC236}">
                <a16:creationId xmlns:a16="http://schemas.microsoft.com/office/drawing/2014/main" id="{542E2F7B-8882-CE4F-9784-0DB484FEAB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1863" y="2611438"/>
            <a:ext cx="1481137" cy="469900"/>
          </a:xfrm>
          <a:prstGeom prst="rect">
            <a:avLst/>
          </a:prstGeom>
          <a:solidFill>
            <a:srgbClr val="F7F5CD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blurRad="50800" dist="38100" dir="2700000" rotWithShape="0">
              <a:srgbClr val="808080">
                <a:alpha val="42998"/>
              </a:srgbClr>
            </a:outerShdw>
          </a:effectLst>
        </p:spPr>
        <p:txBody>
          <a:bodyPr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kern="0">
                <a:solidFill>
                  <a:sysClr val="windowText" lastClr="000000"/>
                </a:solidFill>
                <a:latin typeface="+mn-lt"/>
                <a:ea typeface="宋体" charset="-122"/>
              </a:rPr>
              <a:t>L1 i-cache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kern="0">
                <a:solidFill>
                  <a:sysClr val="windowText" lastClr="000000"/>
                </a:solidFill>
                <a:latin typeface="+mn-lt"/>
                <a:ea typeface="宋体" charset="-122"/>
              </a:rPr>
              <a:t>32 KB, 8-way</a:t>
            </a:r>
          </a:p>
        </p:txBody>
      </p:sp>
      <p:sp>
        <p:nvSpPr>
          <p:cNvPr id="58" name="Line 442">
            <a:extLst>
              <a:ext uri="{FF2B5EF4-FFF2-40B4-BE49-F238E27FC236}">
                <a16:creationId xmlns:a16="http://schemas.microsoft.com/office/drawing/2014/main" id="{C2DDE6AA-A5C6-2E43-9D44-2C41A6D06F82}"/>
              </a:ext>
            </a:extLst>
          </p:cNvPr>
          <p:cNvSpPr>
            <a:spLocks noChangeShapeType="1"/>
          </p:cNvSpPr>
          <p:nvPr/>
        </p:nvSpPr>
        <p:spPr bwMode="auto">
          <a:xfrm>
            <a:off x="4995863" y="2301875"/>
            <a:ext cx="0" cy="28257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600" kern="0">
              <a:solidFill>
                <a:sysClr val="windowText" lastClr="000000"/>
              </a:solidFill>
              <a:latin typeface="+mn-lt"/>
              <a:ea typeface="宋体" charset="-122"/>
            </a:endParaRPr>
          </a:p>
        </p:txBody>
      </p:sp>
      <p:sp>
        <p:nvSpPr>
          <p:cNvPr id="59" name="Line 444">
            <a:extLst>
              <a:ext uri="{FF2B5EF4-FFF2-40B4-BE49-F238E27FC236}">
                <a16:creationId xmlns:a16="http://schemas.microsoft.com/office/drawing/2014/main" id="{656A4C1C-82E5-8A44-B4E6-099588516A4B}"/>
              </a:ext>
            </a:extLst>
          </p:cNvPr>
          <p:cNvSpPr>
            <a:spLocks noChangeShapeType="1"/>
          </p:cNvSpPr>
          <p:nvPr/>
        </p:nvSpPr>
        <p:spPr bwMode="auto">
          <a:xfrm>
            <a:off x="6964363" y="2317750"/>
            <a:ext cx="0" cy="28257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600" kern="0">
              <a:solidFill>
                <a:sysClr val="windowText" lastClr="000000"/>
              </a:solidFill>
              <a:latin typeface="+mn-lt"/>
              <a:ea typeface="宋体" charset="-122"/>
            </a:endParaRPr>
          </a:p>
        </p:txBody>
      </p:sp>
      <p:sp>
        <p:nvSpPr>
          <p:cNvPr id="60" name="Rectangle 445">
            <a:extLst>
              <a:ext uri="{FF2B5EF4-FFF2-40B4-BE49-F238E27FC236}">
                <a16:creationId xmlns:a16="http://schemas.microsoft.com/office/drawing/2014/main" id="{866F292F-7353-8641-B37E-BD6DC5B475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3300" y="1847850"/>
            <a:ext cx="2336800" cy="469900"/>
          </a:xfrm>
          <a:prstGeom prst="rect">
            <a:avLst/>
          </a:prstGeom>
          <a:solidFill>
            <a:srgbClr val="E0E0E0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blurRad="50800" dist="38100" dir="2700000" rotWithShape="0">
              <a:srgbClr val="808080">
                <a:alpha val="42998"/>
              </a:srgbClr>
            </a:outerShdw>
          </a:effectLst>
        </p:spPr>
        <p:txBody>
          <a:bodyPr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kern="0" dirty="0">
                <a:solidFill>
                  <a:sysClr val="windowText" lastClr="000000"/>
                </a:solidFill>
                <a:latin typeface="+mn-lt"/>
                <a:ea typeface="宋体" charset="-122"/>
              </a:rPr>
              <a:t>MMU 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kern="0" dirty="0">
                <a:solidFill>
                  <a:sysClr val="windowText" lastClr="000000"/>
                </a:solidFill>
                <a:latin typeface="+mn-lt"/>
                <a:ea typeface="宋体" charset="-122"/>
              </a:rPr>
              <a:t>(</a:t>
            </a:r>
            <a:r>
              <a:rPr lang="en-US" sz="1400" kern="0" dirty="0" err="1">
                <a:solidFill>
                  <a:sysClr val="windowText" lastClr="000000"/>
                </a:solidFill>
                <a:latin typeface="+mn-lt"/>
                <a:ea typeface="宋体" charset="-122"/>
              </a:rPr>
              <a:t>addr</a:t>
            </a:r>
            <a:r>
              <a:rPr lang="en-US" sz="1400" kern="0" dirty="0">
                <a:solidFill>
                  <a:sysClr val="windowText" lastClr="000000"/>
                </a:solidFill>
                <a:latin typeface="+mn-lt"/>
                <a:ea typeface="宋体" charset="-122"/>
              </a:rPr>
              <a:t> translation)</a:t>
            </a:r>
          </a:p>
        </p:txBody>
      </p:sp>
      <p:sp>
        <p:nvSpPr>
          <p:cNvPr id="61" name="Rectangle 450">
            <a:extLst>
              <a:ext uri="{FF2B5EF4-FFF2-40B4-BE49-F238E27FC236}">
                <a16:creationId xmlns:a16="http://schemas.microsoft.com/office/drawing/2014/main" id="{AE641576-1BF2-0C49-9C8B-8014D5C496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5063" y="1836738"/>
            <a:ext cx="1054100" cy="471487"/>
          </a:xfrm>
          <a:prstGeom prst="rect">
            <a:avLst/>
          </a:prstGeom>
          <a:solidFill>
            <a:srgbClr val="E0E0E0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blurRad="50800" dist="38100" dir="2700000" rotWithShape="0">
              <a:srgbClr val="808080">
                <a:alpha val="42998"/>
              </a:srgbClr>
            </a:outerShdw>
          </a:effectLst>
        </p:spPr>
        <p:txBody>
          <a:bodyPr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kern="0" dirty="0">
                <a:solidFill>
                  <a:sysClr val="windowText" lastClr="000000"/>
                </a:solidFill>
                <a:latin typeface="+mn-lt"/>
                <a:ea typeface="宋体" charset="-122"/>
              </a:rPr>
              <a:t>Instruction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kern="0" dirty="0">
                <a:solidFill>
                  <a:sysClr val="windowText" lastClr="000000"/>
                </a:solidFill>
                <a:latin typeface="+mn-lt"/>
                <a:ea typeface="宋体" charset="-122"/>
              </a:rPr>
              <a:t>fetch</a:t>
            </a:r>
          </a:p>
        </p:txBody>
      </p:sp>
      <p:sp>
        <p:nvSpPr>
          <p:cNvPr id="62" name="Rectangle 452">
            <a:extLst>
              <a:ext uri="{FF2B5EF4-FFF2-40B4-BE49-F238E27FC236}">
                <a16:creationId xmlns:a16="http://schemas.microsoft.com/office/drawing/2014/main" id="{A6EAE482-9AFD-A345-AF1F-ECAE2B43B5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300" y="1763713"/>
            <a:ext cx="7607300" cy="3116262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600" kern="0">
              <a:solidFill>
                <a:sysClr val="windowText" lastClr="000000"/>
              </a:solidFill>
              <a:latin typeface="+mn-lt"/>
              <a:ea typeface="宋体" charset="-122"/>
            </a:endParaRPr>
          </a:p>
        </p:txBody>
      </p:sp>
      <p:sp>
        <p:nvSpPr>
          <p:cNvPr id="63" name="Text Box 458">
            <a:extLst>
              <a:ext uri="{FF2B5EF4-FFF2-40B4-BE49-F238E27FC236}">
                <a16:creationId xmlns:a16="http://schemas.microsoft.com/office/drawing/2014/main" id="{FC218DCC-0E3B-C541-B532-3899DEF38E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447800"/>
            <a:ext cx="1196975" cy="3381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kern="0" dirty="0">
                <a:solidFill>
                  <a:sysClr val="windowText" lastClr="000000"/>
                </a:solidFill>
                <a:latin typeface="+mn-lt"/>
                <a:ea typeface="宋体" charset="-122"/>
              </a:rPr>
              <a:t>Core x4</a:t>
            </a:r>
          </a:p>
        </p:txBody>
      </p:sp>
      <p:sp>
        <p:nvSpPr>
          <p:cNvPr id="64" name="Rectangle 459">
            <a:extLst>
              <a:ext uri="{FF2B5EF4-FFF2-40B4-BE49-F238E27FC236}">
                <a16:creationId xmlns:a16="http://schemas.microsoft.com/office/drawing/2014/main" id="{FB80F3C3-C3B2-184D-AF59-EFE7B8BA79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6400" y="5059363"/>
            <a:ext cx="3441700" cy="755650"/>
          </a:xfrm>
          <a:prstGeom prst="rect">
            <a:avLst/>
          </a:prstGeom>
          <a:solidFill>
            <a:srgbClr val="E0E0E0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blurRad="50800" dist="38100" dir="2700000" rotWithShape="0">
              <a:srgbClr val="808080">
                <a:alpha val="42998"/>
              </a:srgb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kern="0" dirty="0">
                <a:solidFill>
                  <a:sysClr val="windowText" lastClr="000000"/>
                </a:solidFill>
                <a:latin typeface="+mn-lt"/>
                <a:ea typeface="宋体" charset="-122"/>
              </a:rPr>
              <a:t>DDR3 Memory controller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kern="0" dirty="0">
                <a:solidFill>
                  <a:sysClr val="windowText" lastClr="000000"/>
                </a:solidFill>
                <a:latin typeface="+mn-lt"/>
                <a:ea typeface="宋体" charset="-122"/>
              </a:rPr>
              <a:t>3 </a:t>
            </a:r>
            <a:r>
              <a:rPr lang="en-US" sz="1400" kern="0" dirty="0" err="1">
                <a:solidFill>
                  <a:sysClr val="windowText" lastClr="000000"/>
                </a:solidFill>
                <a:latin typeface="+mn-lt"/>
                <a:ea typeface="宋体" charset="-122"/>
              </a:rPr>
              <a:t>x</a:t>
            </a:r>
            <a:r>
              <a:rPr lang="en-US" sz="1400" kern="0" dirty="0">
                <a:solidFill>
                  <a:sysClr val="windowText" lastClr="000000"/>
                </a:solidFill>
                <a:latin typeface="+mn-lt"/>
                <a:ea typeface="宋体" charset="-122"/>
              </a:rPr>
              <a:t> 64 bit @ 10.66 GB/</a:t>
            </a:r>
            <a:r>
              <a:rPr lang="en-US" sz="1400" kern="0" dirty="0" err="1">
                <a:solidFill>
                  <a:sysClr val="windowText" lastClr="000000"/>
                </a:solidFill>
                <a:latin typeface="+mn-lt"/>
                <a:ea typeface="宋体" charset="-122"/>
              </a:rPr>
              <a:t>s</a:t>
            </a:r>
            <a:endParaRPr lang="en-US" sz="1400" kern="0" dirty="0">
              <a:solidFill>
                <a:sysClr val="windowText" lastClr="000000"/>
              </a:solidFill>
              <a:latin typeface="+mn-lt"/>
              <a:ea typeface="宋体" charset="-122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kern="0" dirty="0">
                <a:solidFill>
                  <a:sysClr val="windowText" lastClr="000000"/>
                </a:solidFill>
                <a:latin typeface="+mn-lt"/>
                <a:ea typeface="宋体" charset="-122"/>
              </a:rPr>
              <a:t>32 GB/</a:t>
            </a:r>
            <a:r>
              <a:rPr lang="en-US" sz="1400" kern="0" dirty="0" err="1">
                <a:solidFill>
                  <a:sysClr val="windowText" lastClr="000000"/>
                </a:solidFill>
                <a:latin typeface="+mn-lt"/>
                <a:ea typeface="宋体" charset="-122"/>
              </a:rPr>
              <a:t>s</a:t>
            </a:r>
            <a:r>
              <a:rPr lang="en-US" sz="1400" kern="0" dirty="0">
                <a:solidFill>
                  <a:sysClr val="windowText" lastClr="000000"/>
                </a:solidFill>
                <a:latin typeface="+mn-lt"/>
                <a:ea typeface="宋体" charset="-122"/>
              </a:rPr>
              <a:t> total (shared by all cores)</a:t>
            </a:r>
          </a:p>
        </p:txBody>
      </p:sp>
      <p:sp>
        <p:nvSpPr>
          <p:cNvPr id="65" name="Rectangle 460">
            <a:extLst>
              <a:ext uri="{FF2B5EF4-FFF2-40B4-BE49-F238E27FC236}">
                <a16:creationId xmlns:a16="http://schemas.microsoft.com/office/drawing/2014/main" id="{D069FAFF-BAAE-A749-A367-9D898D4E73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700" y="1471613"/>
            <a:ext cx="8064500" cy="4548187"/>
          </a:xfrm>
          <a:prstGeom prst="rect">
            <a:avLst/>
          </a:prstGeom>
          <a:noFill/>
          <a:ln w="12700">
            <a:solidFill>
              <a:srgbClr val="000000"/>
            </a:solidFill>
            <a:prstDash val="dash"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600" kern="0">
              <a:solidFill>
                <a:sysClr val="windowText" lastClr="000000"/>
              </a:solidFill>
              <a:latin typeface="+mn-lt"/>
              <a:ea typeface="宋体" charset="-122"/>
            </a:endParaRPr>
          </a:p>
        </p:txBody>
      </p:sp>
      <p:sp>
        <p:nvSpPr>
          <p:cNvPr id="66" name="Text Box 461">
            <a:extLst>
              <a:ext uri="{FF2B5EF4-FFF2-40B4-BE49-F238E27FC236}">
                <a16:creationId xmlns:a16="http://schemas.microsoft.com/office/drawing/2014/main" id="{E5853901-848C-5D4D-B948-87250CC599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033463"/>
            <a:ext cx="2936875" cy="3381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kern="0" dirty="0">
                <a:solidFill>
                  <a:sysClr val="windowText" lastClr="000000"/>
                </a:solidFill>
                <a:latin typeface="+mn-lt"/>
                <a:ea typeface="宋体" charset="-122"/>
              </a:rPr>
              <a:t>Processor package</a:t>
            </a:r>
          </a:p>
        </p:txBody>
      </p:sp>
      <p:sp>
        <p:nvSpPr>
          <p:cNvPr id="67" name="Rectangle 462">
            <a:extLst>
              <a:ext uri="{FF2B5EF4-FFF2-40B4-BE49-F238E27FC236}">
                <a16:creationId xmlns:a16="http://schemas.microsoft.com/office/drawing/2014/main" id="{DBC92CA1-B4C9-BC49-9123-C6AA3521A9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2900" y="4054475"/>
            <a:ext cx="2328863" cy="647700"/>
          </a:xfrm>
          <a:prstGeom prst="rect">
            <a:avLst/>
          </a:prstGeom>
          <a:solidFill>
            <a:srgbClr val="E0E0E0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blurRad="50800" dist="38100" dir="2700000" rotWithShape="0">
              <a:srgbClr val="808080">
                <a:alpha val="42998"/>
              </a:srgb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kern="0" dirty="0" err="1">
                <a:solidFill>
                  <a:sysClr val="windowText" lastClr="000000"/>
                </a:solidFill>
                <a:latin typeface="+mn-lt"/>
                <a:ea typeface="宋体" charset="-122"/>
              </a:rPr>
              <a:t>QuickPath</a:t>
            </a:r>
            <a:r>
              <a:rPr lang="en-US" sz="1400" kern="0" dirty="0">
                <a:solidFill>
                  <a:sysClr val="windowText" lastClr="000000"/>
                </a:solidFill>
                <a:latin typeface="+mn-lt"/>
                <a:ea typeface="宋体" charset="-122"/>
              </a:rPr>
              <a:t> interconnect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kern="0" dirty="0">
                <a:solidFill>
                  <a:sysClr val="windowText" lastClr="000000"/>
                </a:solidFill>
                <a:latin typeface="+mn-lt"/>
                <a:ea typeface="宋体" charset="-122"/>
              </a:rPr>
              <a:t>4 links @ 25.6 GB/</a:t>
            </a:r>
            <a:r>
              <a:rPr lang="en-US" sz="1400" kern="0" dirty="0" err="1">
                <a:solidFill>
                  <a:sysClr val="windowText" lastClr="000000"/>
                </a:solidFill>
                <a:latin typeface="+mn-lt"/>
                <a:ea typeface="宋体" charset="-122"/>
              </a:rPr>
              <a:t>s</a:t>
            </a:r>
            <a:r>
              <a:rPr lang="en-US" sz="1400" kern="0" dirty="0">
                <a:solidFill>
                  <a:sysClr val="windowText" lastClr="000000"/>
                </a:solidFill>
                <a:latin typeface="+mn-lt"/>
                <a:ea typeface="宋体" charset="-122"/>
              </a:rPr>
              <a:t> each</a:t>
            </a:r>
          </a:p>
        </p:txBody>
      </p:sp>
      <p:sp>
        <p:nvSpPr>
          <p:cNvPr id="68" name="Line 464">
            <a:extLst>
              <a:ext uri="{FF2B5EF4-FFF2-40B4-BE49-F238E27FC236}">
                <a16:creationId xmlns:a16="http://schemas.microsoft.com/office/drawing/2014/main" id="{E0A72A61-3926-4B40-8C9F-17FCC9F22076}"/>
              </a:ext>
            </a:extLst>
          </p:cNvPr>
          <p:cNvSpPr>
            <a:spLocks noChangeShapeType="1"/>
          </p:cNvSpPr>
          <p:nvPr/>
        </p:nvSpPr>
        <p:spPr bwMode="auto">
          <a:xfrm>
            <a:off x="2074863" y="3813175"/>
            <a:ext cx="0" cy="12334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600" kern="0">
              <a:solidFill>
                <a:sysClr val="windowText" lastClr="000000"/>
              </a:solidFill>
              <a:latin typeface="+mn-lt"/>
              <a:ea typeface="宋体" charset="-122"/>
            </a:endParaRPr>
          </a:p>
        </p:txBody>
      </p:sp>
      <p:sp>
        <p:nvSpPr>
          <p:cNvPr id="69" name="Line 474">
            <a:extLst>
              <a:ext uri="{FF2B5EF4-FFF2-40B4-BE49-F238E27FC236}">
                <a16:creationId xmlns:a16="http://schemas.microsoft.com/office/drawing/2014/main" id="{B92024C4-5597-A743-A761-BF8C8519455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805488" y="5815013"/>
            <a:ext cx="7937" cy="4333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600" kern="0">
              <a:solidFill>
                <a:sysClr val="windowText" lastClr="000000"/>
              </a:solidFill>
              <a:latin typeface="+mn-lt"/>
              <a:ea typeface="宋体" charset="-122"/>
            </a:endParaRPr>
          </a:p>
        </p:txBody>
      </p:sp>
      <p:sp>
        <p:nvSpPr>
          <p:cNvPr id="70" name="Line 475">
            <a:extLst>
              <a:ext uri="{FF2B5EF4-FFF2-40B4-BE49-F238E27FC236}">
                <a16:creationId xmlns:a16="http://schemas.microsoft.com/office/drawing/2014/main" id="{C3A8F8B0-4E5D-AB46-AA06-909B9E5924CA}"/>
              </a:ext>
            </a:extLst>
          </p:cNvPr>
          <p:cNvSpPr>
            <a:spLocks noChangeShapeType="1"/>
          </p:cNvSpPr>
          <p:nvPr/>
        </p:nvSpPr>
        <p:spPr bwMode="auto">
          <a:xfrm>
            <a:off x="5965825" y="5815013"/>
            <a:ext cx="0" cy="4333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600" kern="0">
              <a:solidFill>
                <a:sysClr val="windowText" lastClr="000000"/>
              </a:solidFill>
              <a:latin typeface="+mn-lt"/>
              <a:ea typeface="宋体" charset="-122"/>
            </a:endParaRPr>
          </a:p>
        </p:txBody>
      </p:sp>
      <p:sp>
        <p:nvSpPr>
          <p:cNvPr id="71" name="Line 476">
            <a:extLst>
              <a:ext uri="{FF2B5EF4-FFF2-40B4-BE49-F238E27FC236}">
                <a16:creationId xmlns:a16="http://schemas.microsoft.com/office/drawing/2014/main" id="{B59CCE88-9E60-BB40-BCF4-95F67B916634}"/>
              </a:ext>
            </a:extLst>
          </p:cNvPr>
          <p:cNvSpPr>
            <a:spLocks noChangeShapeType="1"/>
          </p:cNvSpPr>
          <p:nvPr/>
        </p:nvSpPr>
        <p:spPr bwMode="auto">
          <a:xfrm>
            <a:off x="6118225" y="5807075"/>
            <a:ext cx="0" cy="44132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600" kern="0">
              <a:solidFill>
                <a:sysClr val="windowText" lastClr="000000"/>
              </a:solidFill>
              <a:latin typeface="+mn-lt"/>
              <a:ea typeface="宋体" charset="-122"/>
            </a:endParaRPr>
          </a:p>
        </p:txBody>
      </p:sp>
      <p:sp>
        <p:nvSpPr>
          <p:cNvPr id="72" name="Line 479">
            <a:extLst>
              <a:ext uri="{FF2B5EF4-FFF2-40B4-BE49-F238E27FC236}">
                <a16:creationId xmlns:a16="http://schemas.microsoft.com/office/drawing/2014/main" id="{55FDCF6D-FFE1-BA43-8C11-8B3C1861A131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7763" y="3833813"/>
            <a:ext cx="0" cy="122396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600" kern="0">
              <a:solidFill>
                <a:sysClr val="windowText" lastClr="000000"/>
              </a:solidFill>
              <a:latin typeface="+mn-lt"/>
              <a:ea typeface="宋体" charset="-122"/>
            </a:endParaRPr>
          </a:p>
        </p:txBody>
      </p:sp>
      <p:sp>
        <p:nvSpPr>
          <p:cNvPr id="73" name="Text Box 497">
            <a:extLst>
              <a:ext uri="{FF2B5EF4-FFF2-40B4-BE49-F238E27FC236}">
                <a16:creationId xmlns:a16="http://schemas.microsoft.com/office/drawing/2014/main" id="{D3DE8811-8161-A04D-95B8-547F21F8A2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3886200"/>
            <a:ext cx="965200" cy="5238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kern="0" dirty="0">
                <a:solidFill>
                  <a:sysClr val="windowText" lastClr="000000"/>
                </a:solidFill>
                <a:latin typeface="+mn-lt"/>
                <a:ea typeface="宋体" charset="-122"/>
              </a:rPr>
              <a:t>To other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kern="0" dirty="0">
                <a:solidFill>
                  <a:sysClr val="windowText" lastClr="000000"/>
                </a:solidFill>
                <a:latin typeface="+mn-lt"/>
                <a:ea typeface="宋体" charset="-122"/>
              </a:rPr>
              <a:t>cores</a:t>
            </a:r>
          </a:p>
        </p:txBody>
      </p:sp>
      <p:grpSp>
        <p:nvGrpSpPr>
          <p:cNvPr id="44065" name="Group 501">
            <a:extLst>
              <a:ext uri="{FF2B5EF4-FFF2-40B4-BE49-F238E27FC236}">
                <a16:creationId xmlns:a16="http://schemas.microsoft.com/office/drawing/2014/main" id="{511A0103-F255-B44E-99AC-4140AD0F8C73}"/>
              </a:ext>
            </a:extLst>
          </p:cNvPr>
          <p:cNvGrpSpPr>
            <a:grpSpLocks/>
          </p:cNvGrpSpPr>
          <p:nvPr/>
        </p:nvGrpSpPr>
        <p:grpSpPr bwMode="auto">
          <a:xfrm>
            <a:off x="7735888" y="4111625"/>
            <a:ext cx="595312" cy="501650"/>
            <a:chOff x="4785" y="2300"/>
            <a:chExt cx="343" cy="384"/>
          </a:xfrm>
        </p:grpSpPr>
        <p:sp>
          <p:nvSpPr>
            <p:cNvPr id="75" name="Line 480">
              <a:extLst>
                <a:ext uri="{FF2B5EF4-FFF2-40B4-BE49-F238E27FC236}">
                  <a16:creationId xmlns:a16="http://schemas.microsoft.com/office/drawing/2014/main" id="{2EA1E99A-8E04-354D-91B3-B38DF98C1D8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951" y="2135"/>
              <a:ext cx="0" cy="33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600" kern="0">
                <a:solidFill>
                  <a:sysClr val="windowText" lastClr="000000"/>
                </a:solidFill>
                <a:latin typeface="+mn-lt"/>
                <a:ea typeface="宋体" charset="-122"/>
              </a:endParaRPr>
            </a:p>
          </p:txBody>
        </p:sp>
        <p:sp>
          <p:nvSpPr>
            <p:cNvPr id="76" name="Line 495">
              <a:extLst>
                <a:ext uri="{FF2B5EF4-FFF2-40B4-BE49-F238E27FC236}">
                  <a16:creationId xmlns:a16="http://schemas.microsoft.com/office/drawing/2014/main" id="{59FF30FC-2C54-414A-B20A-36DA37311CE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951" y="2209"/>
              <a:ext cx="0" cy="33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600" kern="0">
                <a:solidFill>
                  <a:sysClr val="windowText" lastClr="000000"/>
                </a:solidFill>
                <a:latin typeface="+mn-lt"/>
                <a:ea typeface="宋体" charset="-122"/>
              </a:endParaRPr>
            </a:p>
          </p:txBody>
        </p:sp>
        <p:sp>
          <p:nvSpPr>
            <p:cNvPr id="77" name="Line 496">
              <a:extLst>
                <a:ext uri="{FF2B5EF4-FFF2-40B4-BE49-F238E27FC236}">
                  <a16:creationId xmlns:a16="http://schemas.microsoft.com/office/drawing/2014/main" id="{66E5E139-D32D-3543-9234-55E66BB78A2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951" y="2288"/>
              <a:ext cx="0" cy="33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600" kern="0">
                <a:solidFill>
                  <a:sysClr val="windowText" lastClr="000000"/>
                </a:solidFill>
                <a:latin typeface="+mn-lt"/>
                <a:ea typeface="宋体" charset="-122"/>
              </a:endParaRPr>
            </a:p>
          </p:txBody>
        </p:sp>
        <p:sp>
          <p:nvSpPr>
            <p:cNvPr id="78" name="Line 498">
              <a:extLst>
                <a:ext uri="{FF2B5EF4-FFF2-40B4-BE49-F238E27FC236}">
                  <a16:creationId xmlns:a16="http://schemas.microsoft.com/office/drawing/2014/main" id="{FB7F615A-A395-DA48-A78B-66406318D50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961" y="2519"/>
              <a:ext cx="0" cy="33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600" kern="0">
                <a:solidFill>
                  <a:sysClr val="windowText" lastClr="000000"/>
                </a:solidFill>
                <a:latin typeface="+mn-lt"/>
                <a:ea typeface="宋体" charset="-122"/>
              </a:endParaRPr>
            </a:p>
          </p:txBody>
        </p:sp>
      </p:grpSp>
      <p:sp>
        <p:nvSpPr>
          <p:cNvPr id="79" name="Text Box 499">
            <a:extLst>
              <a:ext uri="{FF2B5EF4-FFF2-40B4-BE49-F238E27FC236}">
                <a16:creationId xmlns:a16="http://schemas.microsoft.com/office/drawing/2014/main" id="{20E45349-FE6B-5C41-B714-F9DA1591F6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5163" y="4418013"/>
            <a:ext cx="935037" cy="5238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kern="0" dirty="0">
                <a:solidFill>
                  <a:sysClr val="windowText" lastClr="000000"/>
                </a:solidFill>
                <a:latin typeface="+mn-lt"/>
                <a:ea typeface="宋体" charset="-122"/>
              </a:rPr>
              <a:t>To I/O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kern="0" dirty="0">
                <a:solidFill>
                  <a:sysClr val="windowText" lastClr="000000"/>
                </a:solidFill>
                <a:latin typeface="+mn-lt"/>
                <a:ea typeface="宋体" charset="-122"/>
              </a:rPr>
              <a:t>bridge</a:t>
            </a:r>
          </a:p>
        </p:txBody>
      </p:sp>
      <p:sp>
        <p:nvSpPr>
          <p:cNvPr id="80" name="Line 500">
            <a:extLst>
              <a:ext uri="{FF2B5EF4-FFF2-40B4-BE49-F238E27FC236}">
                <a16:creationId xmlns:a16="http://schemas.microsoft.com/office/drawing/2014/main" id="{54889E2F-B9C6-334E-AC85-0CBCFA56F120}"/>
              </a:ext>
            </a:extLst>
          </p:cNvPr>
          <p:cNvSpPr>
            <a:spLocks noChangeShapeType="1"/>
          </p:cNvSpPr>
          <p:nvPr/>
        </p:nvSpPr>
        <p:spPr bwMode="auto">
          <a:xfrm>
            <a:off x="6565900" y="4691063"/>
            <a:ext cx="0" cy="3556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600" kern="0">
              <a:solidFill>
                <a:sysClr val="windowText" lastClr="000000"/>
              </a:solidFill>
              <a:latin typeface="+mn-lt"/>
              <a:ea typeface="宋体" charset="-122"/>
            </a:endParaRPr>
          </a:p>
        </p:txBody>
      </p:sp>
      <p:sp>
        <p:nvSpPr>
          <p:cNvPr id="81" name="Line 502">
            <a:extLst>
              <a:ext uri="{FF2B5EF4-FFF2-40B4-BE49-F238E27FC236}">
                <a16:creationId xmlns:a16="http://schemas.microsoft.com/office/drawing/2014/main" id="{2F16ACCD-F8EB-C348-B26A-B40AF439B26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75000" y="5381625"/>
            <a:ext cx="10414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600" kern="0">
              <a:solidFill>
                <a:sysClr val="windowText" lastClr="000000"/>
              </a:solidFill>
              <a:latin typeface="+mn-lt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50255876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>
            <a:extLst>
              <a:ext uri="{FF2B5EF4-FFF2-40B4-BE49-F238E27FC236}">
                <a16:creationId xmlns:a16="http://schemas.microsoft.com/office/drawing/2014/main" id="{B0FB388F-AE00-C941-A923-D41092F3E1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Review of Symbols</a:t>
            </a:r>
          </a:p>
        </p:txBody>
      </p:sp>
      <p:sp>
        <p:nvSpPr>
          <p:cNvPr id="593923" name="Rectangle 3">
            <a:extLst>
              <a:ext uri="{FF2B5EF4-FFF2-40B4-BE49-F238E27FC236}">
                <a16:creationId xmlns:a16="http://schemas.microsoft.com/office/drawing/2014/main" id="{F579449C-B812-9F4A-835C-BDF6FB4C58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6875" y="1438275"/>
            <a:ext cx="7896225" cy="5267325"/>
          </a:xfrm>
        </p:spPr>
        <p:txBody>
          <a:bodyPr>
            <a:normAutofit fontScale="85000" lnSpcReduction="10000"/>
          </a:bodyPr>
          <a:lstStyle/>
          <a:p>
            <a:pPr>
              <a:defRPr/>
            </a:pPr>
            <a:r>
              <a:rPr lang="en-US" dirty="0"/>
              <a:t>Basic Parameters</a:t>
            </a:r>
          </a:p>
          <a:p>
            <a:pPr lvl="1">
              <a:defRPr/>
            </a:pPr>
            <a:r>
              <a:rPr lang="en-US" b="1" dirty="0"/>
              <a:t>N = 2</a:t>
            </a:r>
            <a:r>
              <a:rPr lang="en-US" b="1" baseline="30000" dirty="0"/>
              <a:t>n </a:t>
            </a:r>
            <a:r>
              <a:rPr lang="en-US" dirty="0"/>
              <a:t>: Number of addresses in virtual address space</a:t>
            </a:r>
            <a:endParaRPr lang="en-US" baseline="30000" dirty="0"/>
          </a:p>
          <a:p>
            <a:pPr lvl="1">
              <a:defRPr/>
            </a:pPr>
            <a:r>
              <a:rPr lang="en-US" b="1" dirty="0"/>
              <a:t>M = 2</a:t>
            </a:r>
            <a:r>
              <a:rPr lang="en-US" b="1" baseline="30000" dirty="0"/>
              <a:t>m </a:t>
            </a:r>
            <a:r>
              <a:rPr lang="en-US" dirty="0"/>
              <a:t>: Number of addresses in physical address space</a:t>
            </a:r>
            <a:endParaRPr lang="en-US" baseline="30000" dirty="0"/>
          </a:p>
          <a:p>
            <a:pPr lvl="1">
              <a:defRPr/>
            </a:pPr>
            <a:r>
              <a:rPr lang="en-US" b="1" dirty="0"/>
              <a:t>P = 2</a:t>
            </a:r>
            <a:r>
              <a:rPr lang="en-US" b="1" baseline="30000" dirty="0"/>
              <a:t>p </a:t>
            </a:r>
            <a:r>
              <a:rPr lang="en-US" b="1" dirty="0"/>
              <a:t> </a:t>
            </a:r>
            <a:r>
              <a:rPr lang="en-US" dirty="0"/>
              <a:t>: Page size (bytes)</a:t>
            </a:r>
            <a:endParaRPr lang="en-US" baseline="30000" dirty="0"/>
          </a:p>
          <a:p>
            <a:pPr>
              <a:defRPr/>
            </a:pPr>
            <a:r>
              <a:rPr lang="en-US" dirty="0"/>
              <a:t>Components of the virtual address (VA)</a:t>
            </a:r>
          </a:p>
          <a:p>
            <a:pPr lvl="1">
              <a:defRPr/>
            </a:pPr>
            <a:r>
              <a:rPr lang="en-US" b="1" dirty="0"/>
              <a:t>TLBI</a:t>
            </a:r>
            <a:r>
              <a:rPr lang="en-US" dirty="0"/>
              <a:t>: TLB index</a:t>
            </a:r>
          </a:p>
          <a:p>
            <a:pPr lvl="1">
              <a:defRPr/>
            </a:pPr>
            <a:r>
              <a:rPr lang="en-US" b="1" dirty="0"/>
              <a:t>TLBT</a:t>
            </a:r>
            <a:r>
              <a:rPr lang="en-US" dirty="0"/>
              <a:t>: TLB tag</a:t>
            </a:r>
          </a:p>
          <a:p>
            <a:pPr lvl="1">
              <a:defRPr/>
            </a:pPr>
            <a:r>
              <a:rPr lang="en-US" b="1" dirty="0"/>
              <a:t>VPO</a:t>
            </a:r>
            <a:r>
              <a:rPr lang="en-US" dirty="0"/>
              <a:t>: Virtual page offset </a:t>
            </a:r>
          </a:p>
          <a:p>
            <a:pPr lvl="1">
              <a:defRPr/>
            </a:pPr>
            <a:r>
              <a:rPr lang="en-US" b="1" dirty="0"/>
              <a:t>VPN</a:t>
            </a:r>
            <a:r>
              <a:rPr lang="en-US" dirty="0"/>
              <a:t>: Virtual page number </a:t>
            </a:r>
          </a:p>
          <a:p>
            <a:pPr>
              <a:defRPr/>
            </a:pPr>
            <a:r>
              <a:rPr lang="en-US" dirty="0"/>
              <a:t>Components of the physical address (PA)</a:t>
            </a:r>
          </a:p>
          <a:p>
            <a:pPr lvl="1">
              <a:defRPr/>
            </a:pPr>
            <a:r>
              <a:rPr lang="en-US" b="1" dirty="0"/>
              <a:t>PPO</a:t>
            </a:r>
            <a:r>
              <a:rPr lang="en-US" dirty="0"/>
              <a:t>: Physical page offset (same as VPO)</a:t>
            </a:r>
          </a:p>
          <a:p>
            <a:pPr lvl="1">
              <a:defRPr/>
            </a:pPr>
            <a:r>
              <a:rPr lang="en-US" b="1" dirty="0"/>
              <a:t>PPN:</a:t>
            </a:r>
            <a:r>
              <a:rPr lang="en-US" dirty="0"/>
              <a:t> Physical page number</a:t>
            </a:r>
          </a:p>
          <a:p>
            <a:pPr lvl="1">
              <a:defRPr/>
            </a:pPr>
            <a:r>
              <a:rPr lang="en-US" b="1" dirty="0"/>
              <a:t>CO</a:t>
            </a:r>
            <a:r>
              <a:rPr lang="en-US" dirty="0"/>
              <a:t>: Byte offset within cache line</a:t>
            </a:r>
          </a:p>
          <a:p>
            <a:pPr lvl="1">
              <a:defRPr/>
            </a:pPr>
            <a:r>
              <a:rPr lang="en-US" b="1" dirty="0"/>
              <a:t>CI:</a:t>
            </a:r>
            <a:r>
              <a:rPr lang="en-US" dirty="0"/>
              <a:t> Cache index</a:t>
            </a:r>
          </a:p>
          <a:p>
            <a:pPr lvl="1">
              <a:defRPr/>
            </a:pPr>
            <a:r>
              <a:rPr lang="en-US" b="1" dirty="0"/>
              <a:t>CT</a:t>
            </a:r>
            <a:r>
              <a:rPr lang="en-US" dirty="0"/>
              <a:t>: Cache tag</a:t>
            </a:r>
          </a:p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8881514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Title 1">
            <a:extLst>
              <a:ext uri="{FF2B5EF4-FFF2-40B4-BE49-F238E27FC236}">
                <a16:creationId xmlns:a16="http://schemas.microsoft.com/office/drawing/2014/main" id="{DF78A472-CC6A-7F40-AA60-9CDF5CB8B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188" y="228600"/>
            <a:ext cx="7935912" cy="7620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End-to-end Core i7 Address Translation</a:t>
            </a:r>
          </a:p>
        </p:txBody>
      </p:sp>
      <p:sp>
        <p:nvSpPr>
          <p:cNvPr id="4" name="Rectangle 379">
            <a:extLst>
              <a:ext uri="{FF2B5EF4-FFF2-40B4-BE49-F238E27FC236}">
                <a16:creationId xmlns:a16="http://schemas.microsoft.com/office/drawing/2014/main" id="{4E109FBA-6D5D-464B-8A32-4D36ECECE7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7925" y="1066800"/>
            <a:ext cx="609600" cy="457200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 algn="ctr"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600">
                <a:solidFill>
                  <a:schemeClr val="tx2"/>
                </a:solidFill>
                <a:latin typeface="+mn-lt"/>
                <a:ea typeface="宋体" charset="-122"/>
              </a:rPr>
              <a:t>CPU</a:t>
            </a:r>
          </a:p>
        </p:txBody>
      </p:sp>
      <p:sp>
        <p:nvSpPr>
          <p:cNvPr id="5" name="Rectangle 380">
            <a:extLst>
              <a:ext uri="{FF2B5EF4-FFF2-40B4-BE49-F238E27FC236}">
                <a16:creationId xmlns:a16="http://schemas.microsoft.com/office/drawing/2014/main" id="{EAD9537D-E7E8-0B4E-AD1F-C104B173A7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325" y="1981200"/>
            <a:ext cx="10668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 algn="ctr"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600">
                <a:solidFill>
                  <a:schemeClr val="tx2"/>
                </a:solidFill>
                <a:latin typeface="+mn-lt"/>
                <a:ea typeface="宋体" charset="-122"/>
              </a:rPr>
              <a:t>VPN</a:t>
            </a:r>
          </a:p>
        </p:txBody>
      </p:sp>
      <p:sp>
        <p:nvSpPr>
          <p:cNvPr id="6" name="Rectangle 381">
            <a:extLst>
              <a:ext uri="{FF2B5EF4-FFF2-40B4-BE49-F238E27FC236}">
                <a16:creationId xmlns:a16="http://schemas.microsoft.com/office/drawing/2014/main" id="{0519A35B-14C8-1743-A7AC-4652305C77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5125" y="1981200"/>
            <a:ext cx="5334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 algn="ctr"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600">
                <a:solidFill>
                  <a:schemeClr val="tx2"/>
                </a:solidFill>
                <a:latin typeface="+mn-lt"/>
                <a:ea typeface="宋体" charset="-122"/>
              </a:rPr>
              <a:t>VPO</a:t>
            </a:r>
          </a:p>
        </p:txBody>
      </p:sp>
      <p:sp>
        <p:nvSpPr>
          <p:cNvPr id="7" name="Text Box 382">
            <a:extLst>
              <a:ext uri="{FF2B5EF4-FFF2-40B4-BE49-F238E27FC236}">
                <a16:creationId xmlns:a16="http://schemas.microsoft.com/office/drawing/2014/main" id="{DE3926BE-9CCD-6145-AA8C-EE9275A100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6300" y="1752600"/>
            <a:ext cx="338138" cy="258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200" dirty="0">
                <a:solidFill>
                  <a:schemeClr val="tx2"/>
                </a:solidFill>
                <a:latin typeface="+mn-lt"/>
                <a:ea typeface="宋体" charset="-122"/>
              </a:rPr>
              <a:t>36</a:t>
            </a:r>
          </a:p>
        </p:txBody>
      </p:sp>
      <p:sp>
        <p:nvSpPr>
          <p:cNvPr id="8" name="Text Box 383">
            <a:extLst>
              <a:ext uri="{FF2B5EF4-FFF2-40B4-BE49-F238E27FC236}">
                <a16:creationId xmlns:a16="http://schemas.microsoft.com/office/drawing/2014/main" id="{4B0FD6AE-D3B2-F24D-9BED-AF26F23E83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4500" y="1752600"/>
            <a:ext cx="338138" cy="258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200">
                <a:solidFill>
                  <a:schemeClr val="tx2"/>
                </a:solidFill>
                <a:latin typeface="+mn-lt"/>
                <a:ea typeface="宋体" charset="-122"/>
              </a:rPr>
              <a:t>12</a:t>
            </a:r>
          </a:p>
        </p:txBody>
      </p:sp>
      <p:sp>
        <p:nvSpPr>
          <p:cNvPr id="9" name="Line 384">
            <a:extLst>
              <a:ext uri="{FF2B5EF4-FFF2-40B4-BE49-F238E27FC236}">
                <a16:creationId xmlns:a16="http://schemas.microsoft.com/office/drawing/2014/main" id="{6298ED40-412A-4A47-B6E0-78ED5F12BEC0}"/>
              </a:ext>
            </a:extLst>
          </p:cNvPr>
          <p:cNvSpPr>
            <a:spLocks noChangeShapeType="1"/>
          </p:cNvSpPr>
          <p:nvPr/>
        </p:nvSpPr>
        <p:spPr bwMode="auto">
          <a:xfrm>
            <a:off x="1406525" y="2286000"/>
            <a:ext cx="0" cy="381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10" name="Rectangle 385">
            <a:extLst>
              <a:ext uri="{FF2B5EF4-FFF2-40B4-BE49-F238E27FC236}">
                <a16:creationId xmlns:a16="http://schemas.microsoft.com/office/drawing/2014/main" id="{C27FF60D-B62C-0F47-8753-E404970C33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9325" y="2667000"/>
            <a:ext cx="5334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 algn="ctr"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600" dirty="0">
                <a:solidFill>
                  <a:schemeClr val="tx2"/>
                </a:solidFill>
                <a:latin typeface="+mn-lt"/>
                <a:ea typeface="宋体" charset="-122"/>
              </a:rPr>
              <a:t>TLBT</a:t>
            </a:r>
          </a:p>
        </p:txBody>
      </p:sp>
      <p:sp>
        <p:nvSpPr>
          <p:cNvPr id="11" name="Rectangle 386">
            <a:extLst>
              <a:ext uri="{FF2B5EF4-FFF2-40B4-BE49-F238E27FC236}">
                <a16:creationId xmlns:a16="http://schemas.microsoft.com/office/drawing/2014/main" id="{C7A7A154-D29C-BD4D-8ADD-8C50C2BB59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2725" y="2667000"/>
            <a:ext cx="5334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 algn="ctr"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600">
                <a:solidFill>
                  <a:schemeClr val="tx2"/>
                </a:solidFill>
                <a:latin typeface="+mn-lt"/>
                <a:ea typeface="宋体" charset="-122"/>
              </a:rPr>
              <a:t>TLBI</a:t>
            </a:r>
          </a:p>
        </p:txBody>
      </p:sp>
      <p:sp>
        <p:nvSpPr>
          <p:cNvPr id="12" name="Text Box 387">
            <a:extLst>
              <a:ext uri="{FF2B5EF4-FFF2-40B4-BE49-F238E27FC236}">
                <a16:creationId xmlns:a16="http://schemas.microsoft.com/office/drawing/2014/main" id="{ABD5B81E-C238-3D4A-9E2F-A9DA42446E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5125" y="2438400"/>
            <a:ext cx="260350" cy="258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200" dirty="0">
                <a:solidFill>
                  <a:schemeClr val="tx2"/>
                </a:solidFill>
                <a:latin typeface="+mn-lt"/>
                <a:ea typeface="宋体" charset="-122"/>
              </a:rPr>
              <a:t>4</a:t>
            </a:r>
          </a:p>
        </p:txBody>
      </p:sp>
      <p:sp>
        <p:nvSpPr>
          <p:cNvPr id="13" name="Text Box 388">
            <a:extLst>
              <a:ext uri="{FF2B5EF4-FFF2-40B4-BE49-F238E27FC236}">
                <a16:creationId xmlns:a16="http://schemas.microsoft.com/office/drawing/2014/main" id="{3D1645CC-788F-EA4C-B5FA-ECEFC3E286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5525" y="2438400"/>
            <a:ext cx="338138" cy="258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200">
                <a:solidFill>
                  <a:schemeClr val="tx2"/>
                </a:solidFill>
                <a:latin typeface="+mn-lt"/>
                <a:ea typeface="宋体" charset="-122"/>
              </a:rPr>
              <a:t>32</a:t>
            </a:r>
          </a:p>
        </p:txBody>
      </p:sp>
      <p:sp>
        <p:nvSpPr>
          <p:cNvPr id="14" name="Rectangle 390">
            <a:extLst>
              <a:ext uri="{FF2B5EF4-FFF2-40B4-BE49-F238E27FC236}">
                <a16:creationId xmlns:a16="http://schemas.microsoft.com/office/drawing/2014/main" id="{108C7887-FDF4-3A45-9C04-C1E473A60A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4725" y="3429000"/>
            <a:ext cx="533400" cy="152400"/>
          </a:xfrm>
          <a:prstGeom prst="rect">
            <a:avLst/>
          </a:prstGeom>
          <a:solidFill>
            <a:srgbClr val="F6D2D2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lnSpc>
                <a:spcPct val="90000"/>
              </a:lnSpc>
              <a:spcBef>
                <a:spcPct val="30000"/>
              </a:spcBef>
              <a:defRPr/>
            </a:pPr>
            <a:endParaRPr lang="en-US" sz="1600">
              <a:solidFill>
                <a:schemeClr val="tx2"/>
              </a:solidFill>
              <a:latin typeface="+mn-lt"/>
              <a:ea typeface="宋体" charset="-122"/>
            </a:endParaRPr>
          </a:p>
        </p:txBody>
      </p:sp>
      <p:sp>
        <p:nvSpPr>
          <p:cNvPr id="15" name="Rectangle 391">
            <a:extLst>
              <a:ext uri="{FF2B5EF4-FFF2-40B4-BE49-F238E27FC236}">
                <a16:creationId xmlns:a16="http://schemas.microsoft.com/office/drawing/2014/main" id="{073CC43F-43DC-A24B-A29D-1D2442701A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8125" y="3429000"/>
            <a:ext cx="533400" cy="152400"/>
          </a:xfrm>
          <a:prstGeom prst="rect">
            <a:avLst/>
          </a:prstGeom>
          <a:solidFill>
            <a:srgbClr val="F6D2D2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lnSpc>
                <a:spcPct val="90000"/>
              </a:lnSpc>
              <a:spcBef>
                <a:spcPct val="30000"/>
              </a:spcBef>
              <a:defRPr/>
            </a:pPr>
            <a:endParaRPr lang="en-US" sz="1600">
              <a:solidFill>
                <a:schemeClr val="tx2"/>
              </a:solidFill>
              <a:latin typeface="+mn-lt"/>
              <a:ea typeface="宋体" charset="-122"/>
            </a:endParaRPr>
          </a:p>
        </p:txBody>
      </p:sp>
      <p:sp>
        <p:nvSpPr>
          <p:cNvPr id="16" name="Rectangle 392">
            <a:extLst>
              <a:ext uri="{FF2B5EF4-FFF2-40B4-BE49-F238E27FC236}">
                <a16:creationId xmlns:a16="http://schemas.microsoft.com/office/drawing/2014/main" id="{28BE965A-C2FE-6C49-9E13-D6F05500E3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1525" y="3429000"/>
            <a:ext cx="533400" cy="152400"/>
          </a:xfrm>
          <a:prstGeom prst="rect">
            <a:avLst/>
          </a:prstGeom>
          <a:solidFill>
            <a:srgbClr val="F6D2D2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lnSpc>
                <a:spcPct val="90000"/>
              </a:lnSpc>
              <a:spcBef>
                <a:spcPct val="30000"/>
              </a:spcBef>
              <a:defRPr/>
            </a:pPr>
            <a:endParaRPr lang="en-US" sz="1600">
              <a:solidFill>
                <a:schemeClr val="tx2"/>
              </a:solidFill>
              <a:latin typeface="+mn-lt"/>
              <a:ea typeface="宋体" charset="-122"/>
            </a:endParaRPr>
          </a:p>
        </p:txBody>
      </p:sp>
      <p:sp>
        <p:nvSpPr>
          <p:cNvPr id="17" name="Rectangle 393">
            <a:extLst>
              <a:ext uri="{FF2B5EF4-FFF2-40B4-BE49-F238E27FC236}">
                <a16:creationId xmlns:a16="http://schemas.microsoft.com/office/drawing/2014/main" id="{8ECB1F3D-E67F-B448-B288-B61826241F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4925" y="3429000"/>
            <a:ext cx="533400" cy="152400"/>
          </a:xfrm>
          <a:prstGeom prst="rect">
            <a:avLst/>
          </a:prstGeom>
          <a:solidFill>
            <a:srgbClr val="F6D2D2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lnSpc>
                <a:spcPct val="90000"/>
              </a:lnSpc>
              <a:spcBef>
                <a:spcPct val="30000"/>
              </a:spcBef>
              <a:defRPr/>
            </a:pPr>
            <a:endParaRPr lang="en-US" sz="1600">
              <a:solidFill>
                <a:schemeClr val="tx2"/>
              </a:solidFill>
              <a:latin typeface="+mn-lt"/>
              <a:ea typeface="宋体" charset="-122"/>
            </a:endParaRPr>
          </a:p>
        </p:txBody>
      </p:sp>
      <p:sp>
        <p:nvSpPr>
          <p:cNvPr id="18" name="Rectangle 394">
            <a:extLst>
              <a:ext uri="{FF2B5EF4-FFF2-40B4-BE49-F238E27FC236}">
                <a16:creationId xmlns:a16="http://schemas.microsoft.com/office/drawing/2014/main" id="{70C1A85D-C15A-DA43-82A0-1F631CA84D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4725" y="3581400"/>
            <a:ext cx="533400" cy="152400"/>
          </a:xfrm>
          <a:prstGeom prst="rect">
            <a:avLst/>
          </a:prstGeom>
          <a:solidFill>
            <a:srgbClr val="F6D2D2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lnSpc>
                <a:spcPct val="90000"/>
              </a:lnSpc>
              <a:spcBef>
                <a:spcPct val="30000"/>
              </a:spcBef>
              <a:defRPr/>
            </a:pPr>
            <a:endParaRPr lang="en-US" sz="1600">
              <a:solidFill>
                <a:schemeClr val="tx2"/>
              </a:solidFill>
              <a:latin typeface="+mn-lt"/>
              <a:ea typeface="宋体" charset="-122"/>
            </a:endParaRPr>
          </a:p>
        </p:txBody>
      </p:sp>
      <p:sp>
        <p:nvSpPr>
          <p:cNvPr id="19" name="Rectangle 395">
            <a:extLst>
              <a:ext uri="{FF2B5EF4-FFF2-40B4-BE49-F238E27FC236}">
                <a16:creationId xmlns:a16="http://schemas.microsoft.com/office/drawing/2014/main" id="{EFF3204D-42F3-A949-A69C-E1647A3881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8125" y="3581400"/>
            <a:ext cx="533400" cy="152400"/>
          </a:xfrm>
          <a:prstGeom prst="rect">
            <a:avLst/>
          </a:prstGeom>
          <a:solidFill>
            <a:srgbClr val="F6D2D2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lnSpc>
                <a:spcPct val="90000"/>
              </a:lnSpc>
              <a:spcBef>
                <a:spcPct val="30000"/>
              </a:spcBef>
              <a:defRPr/>
            </a:pPr>
            <a:endParaRPr lang="en-US" sz="1600">
              <a:solidFill>
                <a:schemeClr val="tx2"/>
              </a:solidFill>
              <a:latin typeface="+mn-lt"/>
              <a:ea typeface="宋体" charset="-122"/>
            </a:endParaRPr>
          </a:p>
        </p:txBody>
      </p:sp>
      <p:sp>
        <p:nvSpPr>
          <p:cNvPr id="20" name="Rectangle 396">
            <a:extLst>
              <a:ext uri="{FF2B5EF4-FFF2-40B4-BE49-F238E27FC236}">
                <a16:creationId xmlns:a16="http://schemas.microsoft.com/office/drawing/2014/main" id="{863EE38A-0626-004C-8AA5-8F13F7D210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1525" y="3581400"/>
            <a:ext cx="533400" cy="152400"/>
          </a:xfrm>
          <a:prstGeom prst="rect">
            <a:avLst/>
          </a:prstGeom>
          <a:solidFill>
            <a:srgbClr val="F6D2D2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lnSpc>
                <a:spcPct val="90000"/>
              </a:lnSpc>
              <a:spcBef>
                <a:spcPct val="30000"/>
              </a:spcBef>
              <a:defRPr/>
            </a:pPr>
            <a:endParaRPr lang="en-US" sz="1600">
              <a:solidFill>
                <a:schemeClr val="tx2"/>
              </a:solidFill>
              <a:latin typeface="+mn-lt"/>
              <a:ea typeface="宋体" charset="-122"/>
            </a:endParaRPr>
          </a:p>
        </p:txBody>
      </p:sp>
      <p:sp>
        <p:nvSpPr>
          <p:cNvPr id="21" name="Rectangle 397">
            <a:extLst>
              <a:ext uri="{FF2B5EF4-FFF2-40B4-BE49-F238E27FC236}">
                <a16:creationId xmlns:a16="http://schemas.microsoft.com/office/drawing/2014/main" id="{5675A159-6F46-E244-BEEB-6A8DDAA45F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4925" y="3581400"/>
            <a:ext cx="533400" cy="152400"/>
          </a:xfrm>
          <a:prstGeom prst="rect">
            <a:avLst/>
          </a:prstGeom>
          <a:solidFill>
            <a:srgbClr val="F6D2D2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lnSpc>
                <a:spcPct val="90000"/>
              </a:lnSpc>
              <a:spcBef>
                <a:spcPct val="30000"/>
              </a:spcBef>
              <a:defRPr/>
            </a:pPr>
            <a:endParaRPr lang="en-US" sz="1600">
              <a:solidFill>
                <a:schemeClr val="tx2"/>
              </a:solidFill>
              <a:latin typeface="+mn-lt"/>
              <a:ea typeface="宋体" charset="-122"/>
            </a:endParaRPr>
          </a:p>
        </p:txBody>
      </p:sp>
      <p:sp>
        <p:nvSpPr>
          <p:cNvPr id="22" name="Rectangle 398">
            <a:extLst>
              <a:ext uri="{FF2B5EF4-FFF2-40B4-BE49-F238E27FC236}">
                <a16:creationId xmlns:a16="http://schemas.microsoft.com/office/drawing/2014/main" id="{463B79EA-9511-AD49-893B-E126B908E7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4725" y="3733800"/>
            <a:ext cx="533400" cy="152400"/>
          </a:xfrm>
          <a:prstGeom prst="rect">
            <a:avLst/>
          </a:prstGeom>
          <a:solidFill>
            <a:srgbClr val="F6D2D2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lnSpc>
                <a:spcPct val="90000"/>
              </a:lnSpc>
              <a:spcBef>
                <a:spcPct val="30000"/>
              </a:spcBef>
              <a:defRPr/>
            </a:pPr>
            <a:endParaRPr lang="en-US" sz="1600">
              <a:solidFill>
                <a:schemeClr val="tx2"/>
              </a:solidFill>
              <a:latin typeface="+mn-lt"/>
              <a:ea typeface="宋体" charset="-122"/>
            </a:endParaRPr>
          </a:p>
        </p:txBody>
      </p:sp>
      <p:sp>
        <p:nvSpPr>
          <p:cNvPr id="23" name="Rectangle 399">
            <a:extLst>
              <a:ext uri="{FF2B5EF4-FFF2-40B4-BE49-F238E27FC236}">
                <a16:creationId xmlns:a16="http://schemas.microsoft.com/office/drawing/2014/main" id="{CB216448-244A-B14E-B1BD-ABFE912AC4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8125" y="3733800"/>
            <a:ext cx="533400" cy="152400"/>
          </a:xfrm>
          <a:prstGeom prst="rect">
            <a:avLst/>
          </a:prstGeom>
          <a:solidFill>
            <a:srgbClr val="F6D2D2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lnSpc>
                <a:spcPct val="90000"/>
              </a:lnSpc>
              <a:spcBef>
                <a:spcPct val="30000"/>
              </a:spcBef>
              <a:defRPr/>
            </a:pPr>
            <a:endParaRPr lang="en-US" sz="1600">
              <a:solidFill>
                <a:schemeClr val="tx2"/>
              </a:solidFill>
              <a:latin typeface="+mn-lt"/>
              <a:ea typeface="宋体" charset="-122"/>
            </a:endParaRPr>
          </a:p>
        </p:txBody>
      </p:sp>
      <p:sp>
        <p:nvSpPr>
          <p:cNvPr id="24" name="Rectangle 400">
            <a:extLst>
              <a:ext uri="{FF2B5EF4-FFF2-40B4-BE49-F238E27FC236}">
                <a16:creationId xmlns:a16="http://schemas.microsoft.com/office/drawing/2014/main" id="{3304FEFC-93A9-CD4C-8C11-7DCDEC9A12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1525" y="3733800"/>
            <a:ext cx="533400" cy="152400"/>
          </a:xfrm>
          <a:prstGeom prst="rect">
            <a:avLst/>
          </a:prstGeom>
          <a:solidFill>
            <a:srgbClr val="F6D2D2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lnSpc>
                <a:spcPct val="90000"/>
              </a:lnSpc>
              <a:spcBef>
                <a:spcPct val="30000"/>
              </a:spcBef>
              <a:defRPr/>
            </a:pPr>
            <a:endParaRPr lang="en-US" sz="1600">
              <a:solidFill>
                <a:schemeClr val="tx2"/>
              </a:solidFill>
              <a:latin typeface="+mn-lt"/>
              <a:ea typeface="宋体" charset="-122"/>
            </a:endParaRPr>
          </a:p>
        </p:txBody>
      </p:sp>
      <p:sp>
        <p:nvSpPr>
          <p:cNvPr id="25" name="Rectangle 401">
            <a:extLst>
              <a:ext uri="{FF2B5EF4-FFF2-40B4-BE49-F238E27FC236}">
                <a16:creationId xmlns:a16="http://schemas.microsoft.com/office/drawing/2014/main" id="{14C7EE11-DCFD-3447-BF9D-01DA85D36A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4925" y="3733800"/>
            <a:ext cx="533400" cy="152400"/>
          </a:xfrm>
          <a:prstGeom prst="rect">
            <a:avLst/>
          </a:prstGeom>
          <a:solidFill>
            <a:srgbClr val="F6D2D2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lnSpc>
                <a:spcPct val="90000"/>
              </a:lnSpc>
              <a:spcBef>
                <a:spcPct val="30000"/>
              </a:spcBef>
              <a:defRPr/>
            </a:pPr>
            <a:endParaRPr lang="en-US" sz="1600">
              <a:solidFill>
                <a:schemeClr val="tx2"/>
              </a:solidFill>
              <a:latin typeface="+mn-lt"/>
              <a:ea typeface="宋体" charset="-122"/>
            </a:endParaRPr>
          </a:p>
        </p:txBody>
      </p:sp>
      <p:sp>
        <p:nvSpPr>
          <p:cNvPr id="26" name="Rectangle 402">
            <a:extLst>
              <a:ext uri="{FF2B5EF4-FFF2-40B4-BE49-F238E27FC236}">
                <a16:creationId xmlns:a16="http://schemas.microsoft.com/office/drawing/2014/main" id="{215FC645-5F43-5E44-B333-8E5FE4A74B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4725" y="4114800"/>
            <a:ext cx="533400" cy="152400"/>
          </a:xfrm>
          <a:prstGeom prst="rect">
            <a:avLst/>
          </a:prstGeom>
          <a:solidFill>
            <a:srgbClr val="F6D2D2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lnSpc>
                <a:spcPct val="90000"/>
              </a:lnSpc>
              <a:spcBef>
                <a:spcPct val="30000"/>
              </a:spcBef>
              <a:defRPr/>
            </a:pPr>
            <a:endParaRPr lang="en-US" sz="1600">
              <a:solidFill>
                <a:schemeClr val="tx2"/>
              </a:solidFill>
              <a:latin typeface="+mn-lt"/>
              <a:ea typeface="宋体" charset="-122"/>
            </a:endParaRPr>
          </a:p>
        </p:txBody>
      </p:sp>
      <p:sp>
        <p:nvSpPr>
          <p:cNvPr id="27" name="Rectangle 403">
            <a:extLst>
              <a:ext uri="{FF2B5EF4-FFF2-40B4-BE49-F238E27FC236}">
                <a16:creationId xmlns:a16="http://schemas.microsoft.com/office/drawing/2014/main" id="{9CAC0191-4753-7F48-A141-E7FB786BAF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8125" y="4114800"/>
            <a:ext cx="533400" cy="152400"/>
          </a:xfrm>
          <a:prstGeom prst="rect">
            <a:avLst/>
          </a:prstGeom>
          <a:solidFill>
            <a:srgbClr val="F6D2D2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lnSpc>
                <a:spcPct val="90000"/>
              </a:lnSpc>
              <a:spcBef>
                <a:spcPct val="30000"/>
              </a:spcBef>
              <a:defRPr/>
            </a:pPr>
            <a:endParaRPr lang="en-US" sz="1600">
              <a:solidFill>
                <a:schemeClr val="tx2"/>
              </a:solidFill>
              <a:latin typeface="+mn-lt"/>
              <a:ea typeface="宋体" charset="-122"/>
            </a:endParaRPr>
          </a:p>
        </p:txBody>
      </p:sp>
      <p:sp>
        <p:nvSpPr>
          <p:cNvPr id="28" name="Rectangle 404">
            <a:extLst>
              <a:ext uri="{FF2B5EF4-FFF2-40B4-BE49-F238E27FC236}">
                <a16:creationId xmlns:a16="http://schemas.microsoft.com/office/drawing/2014/main" id="{55361958-9A8C-0E4D-A8E4-7C3BB318A5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1525" y="4114800"/>
            <a:ext cx="533400" cy="152400"/>
          </a:xfrm>
          <a:prstGeom prst="rect">
            <a:avLst/>
          </a:prstGeom>
          <a:solidFill>
            <a:srgbClr val="F6D2D2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lnSpc>
                <a:spcPct val="90000"/>
              </a:lnSpc>
              <a:spcBef>
                <a:spcPct val="30000"/>
              </a:spcBef>
              <a:defRPr/>
            </a:pPr>
            <a:endParaRPr lang="en-US" sz="1600">
              <a:solidFill>
                <a:schemeClr val="tx2"/>
              </a:solidFill>
              <a:latin typeface="+mn-lt"/>
              <a:ea typeface="宋体" charset="-122"/>
            </a:endParaRPr>
          </a:p>
        </p:txBody>
      </p:sp>
      <p:sp>
        <p:nvSpPr>
          <p:cNvPr id="29" name="Rectangle 405">
            <a:extLst>
              <a:ext uri="{FF2B5EF4-FFF2-40B4-BE49-F238E27FC236}">
                <a16:creationId xmlns:a16="http://schemas.microsoft.com/office/drawing/2014/main" id="{954120B5-4D10-E845-8AC7-D0689CD174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4925" y="4114800"/>
            <a:ext cx="533400" cy="152400"/>
          </a:xfrm>
          <a:prstGeom prst="rect">
            <a:avLst/>
          </a:prstGeom>
          <a:solidFill>
            <a:srgbClr val="F6D2D2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lnSpc>
                <a:spcPct val="90000"/>
              </a:lnSpc>
              <a:spcBef>
                <a:spcPct val="30000"/>
              </a:spcBef>
              <a:defRPr/>
            </a:pPr>
            <a:endParaRPr lang="en-US" sz="1600">
              <a:solidFill>
                <a:schemeClr val="tx2"/>
              </a:solidFill>
              <a:latin typeface="+mn-lt"/>
              <a:ea typeface="宋体" charset="-122"/>
            </a:endParaRPr>
          </a:p>
        </p:txBody>
      </p:sp>
      <p:sp>
        <p:nvSpPr>
          <p:cNvPr id="30" name="Text Box 406">
            <a:extLst>
              <a:ext uri="{FF2B5EF4-FFF2-40B4-BE49-F238E27FC236}">
                <a16:creationId xmlns:a16="http://schemas.microsoft.com/office/drawing/2014/main" id="{CEA632A7-B79E-344C-B765-87D0968ABB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4688" y="3863975"/>
            <a:ext cx="407987" cy="257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eaVert" wrap="none" lIns="90487" tIns="44450" rIns="90487" bIns="44450">
            <a:spAutoFit/>
          </a:bodyPr>
          <a:lstStyle/>
          <a:p>
            <a:pPr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600">
                <a:solidFill>
                  <a:schemeClr val="tx2"/>
                </a:solidFill>
                <a:latin typeface="+mn-lt"/>
                <a:ea typeface="宋体" charset="-122"/>
              </a:rPr>
              <a:t>...</a:t>
            </a:r>
          </a:p>
        </p:txBody>
      </p:sp>
      <p:sp>
        <p:nvSpPr>
          <p:cNvPr id="31" name="Line 407">
            <a:extLst>
              <a:ext uri="{FF2B5EF4-FFF2-40B4-BE49-F238E27FC236}">
                <a16:creationId xmlns:a16="http://schemas.microsoft.com/office/drawing/2014/main" id="{A1D3323F-D6D5-104C-B60F-71BEB6A59977}"/>
              </a:ext>
            </a:extLst>
          </p:cNvPr>
          <p:cNvSpPr>
            <a:spLocks noChangeShapeType="1"/>
          </p:cNvSpPr>
          <p:nvPr/>
        </p:nvSpPr>
        <p:spPr bwMode="auto">
          <a:xfrm>
            <a:off x="1787525" y="2971800"/>
            <a:ext cx="0" cy="12192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32" name="Line 408">
            <a:extLst>
              <a:ext uri="{FF2B5EF4-FFF2-40B4-BE49-F238E27FC236}">
                <a16:creationId xmlns:a16="http://schemas.microsoft.com/office/drawing/2014/main" id="{4BB15559-FABD-864E-A690-7A993EAF8169}"/>
              </a:ext>
            </a:extLst>
          </p:cNvPr>
          <p:cNvSpPr>
            <a:spLocks noChangeShapeType="1"/>
          </p:cNvSpPr>
          <p:nvPr/>
        </p:nvSpPr>
        <p:spPr bwMode="auto">
          <a:xfrm>
            <a:off x="1787525" y="3505200"/>
            <a:ext cx="4572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33" name="Line 409">
            <a:extLst>
              <a:ext uri="{FF2B5EF4-FFF2-40B4-BE49-F238E27FC236}">
                <a16:creationId xmlns:a16="http://schemas.microsoft.com/office/drawing/2014/main" id="{FC959E06-51AF-8243-A335-396F6C493D73}"/>
              </a:ext>
            </a:extLst>
          </p:cNvPr>
          <p:cNvSpPr>
            <a:spLocks noChangeShapeType="1"/>
          </p:cNvSpPr>
          <p:nvPr/>
        </p:nvSpPr>
        <p:spPr bwMode="auto">
          <a:xfrm>
            <a:off x="1787525" y="4191000"/>
            <a:ext cx="4572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34" name="Line 410">
            <a:extLst>
              <a:ext uri="{FF2B5EF4-FFF2-40B4-BE49-F238E27FC236}">
                <a16:creationId xmlns:a16="http://schemas.microsoft.com/office/drawing/2014/main" id="{1D127A2C-A3D2-CD4A-A540-79660C3660A9}"/>
              </a:ext>
            </a:extLst>
          </p:cNvPr>
          <p:cNvSpPr>
            <a:spLocks noChangeShapeType="1"/>
          </p:cNvSpPr>
          <p:nvPr/>
        </p:nvSpPr>
        <p:spPr bwMode="auto">
          <a:xfrm>
            <a:off x="1787525" y="3657600"/>
            <a:ext cx="4572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35" name="Line 411">
            <a:extLst>
              <a:ext uri="{FF2B5EF4-FFF2-40B4-BE49-F238E27FC236}">
                <a16:creationId xmlns:a16="http://schemas.microsoft.com/office/drawing/2014/main" id="{4A88BF17-DFCD-BF41-BEC8-DAA5D879735A}"/>
              </a:ext>
            </a:extLst>
          </p:cNvPr>
          <p:cNvSpPr>
            <a:spLocks noChangeShapeType="1"/>
          </p:cNvSpPr>
          <p:nvPr/>
        </p:nvSpPr>
        <p:spPr bwMode="auto">
          <a:xfrm>
            <a:off x="1787525" y="3810000"/>
            <a:ext cx="4572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36" name="Line 412">
            <a:extLst>
              <a:ext uri="{FF2B5EF4-FFF2-40B4-BE49-F238E27FC236}">
                <a16:creationId xmlns:a16="http://schemas.microsoft.com/office/drawing/2014/main" id="{42938DDF-3F22-3549-A766-952F9EEA7612}"/>
              </a:ext>
            </a:extLst>
          </p:cNvPr>
          <p:cNvSpPr>
            <a:spLocks noChangeShapeType="1"/>
          </p:cNvSpPr>
          <p:nvPr/>
        </p:nvSpPr>
        <p:spPr bwMode="auto">
          <a:xfrm>
            <a:off x="1254125" y="2971800"/>
            <a:ext cx="0" cy="152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37" name="Line 413">
            <a:extLst>
              <a:ext uri="{FF2B5EF4-FFF2-40B4-BE49-F238E27FC236}">
                <a16:creationId xmlns:a16="http://schemas.microsoft.com/office/drawing/2014/main" id="{14F5CC51-97F4-AC41-B3D9-5B46DD7E5906}"/>
              </a:ext>
            </a:extLst>
          </p:cNvPr>
          <p:cNvSpPr>
            <a:spLocks noChangeShapeType="1"/>
          </p:cNvSpPr>
          <p:nvPr/>
        </p:nvSpPr>
        <p:spPr bwMode="auto">
          <a:xfrm>
            <a:off x="1254125" y="3124200"/>
            <a:ext cx="28956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38" name="Line 414">
            <a:extLst>
              <a:ext uri="{FF2B5EF4-FFF2-40B4-BE49-F238E27FC236}">
                <a16:creationId xmlns:a16="http://schemas.microsoft.com/office/drawing/2014/main" id="{73C6A62C-5C21-FA4E-BDED-ADDB059DEFBE}"/>
              </a:ext>
            </a:extLst>
          </p:cNvPr>
          <p:cNvSpPr>
            <a:spLocks noChangeShapeType="1"/>
          </p:cNvSpPr>
          <p:nvPr/>
        </p:nvSpPr>
        <p:spPr bwMode="auto">
          <a:xfrm>
            <a:off x="2549525" y="3124200"/>
            <a:ext cx="0" cy="3048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39" name="Line 415">
            <a:extLst>
              <a:ext uri="{FF2B5EF4-FFF2-40B4-BE49-F238E27FC236}">
                <a16:creationId xmlns:a16="http://schemas.microsoft.com/office/drawing/2014/main" id="{0D71C294-31EF-7141-B513-1B1405DFF84A}"/>
              </a:ext>
            </a:extLst>
          </p:cNvPr>
          <p:cNvSpPr>
            <a:spLocks noChangeShapeType="1"/>
          </p:cNvSpPr>
          <p:nvPr/>
        </p:nvSpPr>
        <p:spPr bwMode="auto">
          <a:xfrm>
            <a:off x="3082925" y="3124200"/>
            <a:ext cx="0" cy="3048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40" name="Line 416">
            <a:extLst>
              <a:ext uri="{FF2B5EF4-FFF2-40B4-BE49-F238E27FC236}">
                <a16:creationId xmlns:a16="http://schemas.microsoft.com/office/drawing/2014/main" id="{7AAD2061-23B6-0743-95E4-071558D5D7D1}"/>
              </a:ext>
            </a:extLst>
          </p:cNvPr>
          <p:cNvSpPr>
            <a:spLocks noChangeShapeType="1"/>
          </p:cNvSpPr>
          <p:nvPr/>
        </p:nvSpPr>
        <p:spPr bwMode="auto">
          <a:xfrm>
            <a:off x="3616325" y="3124200"/>
            <a:ext cx="0" cy="3048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41" name="Line 417">
            <a:extLst>
              <a:ext uri="{FF2B5EF4-FFF2-40B4-BE49-F238E27FC236}">
                <a16:creationId xmlns:a16="http://schemas.microsoft.com/office/drawing/2014/main" id="{78A19B66-E532-F84A-8B68-CD107CBF2A63}"/>
              </a:ext>
            </a:extLst>
          </p:cNvPr>
          <p:cNvSpPr>
            <a:spLocks noChangeShapeType="1"/>
          </p:cNvSpPr>
          <p:nvPr/>
        </p:nvSpPr>
        <p:spPr bwMode="auto">
          <a:xfrm>
            <a:off x="4149725" y="3124200"/>
            <a:ext cx="0" cy="3048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42" name="Line 418">
            <a:extLst>
              <a:ext uri="{FF2B5EF4-FFF2-40B4-BE49-F238E27FC236}">
                <a16:creationId xmlns:a16="http://schemas.microsoft.com/office/drawing/2014/main" id="{0F04F351-779C-4140-8BF0-CAA2A009D742}"/>
              </a:ext>
            </a:extLst>
          </p:cNvPr>
          <p:cNvSpPr>
            <a:spLocks noChangeShapeType="1"/>
          </p:cNvSpPr>
          <p:nvPr/>
        </p:nvSpPr>
        <p:spPr bwMode="auto">
          <a:xfrm>
            <a:off x="720725" y="2286000"/>
            <a:ext cx="0" cy="26543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43" name="Line 419">
            <a:extLst>
              <a:ext uri="{FF2B5EF4-FFF2-40B4-BE49-F238E27FC236}">
                <a16:creationId xmlns:a16="http://schemas.microsoft.com/office/drawing/2014/main" id="{B4617EDE-A079-2F40-949A-86CD72941CEA}"/>
              </a:ext>
            </a:extLst>
          </p:cNvPr>
          <p:cNvSpPr>
            <a:spLocks noChangeShapeType="1"/>
          </p:cNvSpPr>
          <p:nvPr/>
        </p:nvSpPr>
        <p:spPr bwMode="auto">
          <a:xfrm>
            <a:off x="1482725" y="1524000"/>
            <a:ext cx="0" cy="4572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44" name="Text Box 420">
            <a:extLst>
              <a:ext uri="{FF2B5EF4-FFF2-40B4-BE49-F238E27FC236}">
                <a16:creationId xmlns:a16="http://schemas.microsoft.com/office/drawing/2014/main" id="{D98402A8-BFF9-E041-BFAD-FD5BFDED77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2913" y="4311650"/>
            <a:ext cx="3078162" cy="315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600" dirty="0">
                <a:solidFill>
                  <a:schemeClr val="tx2"/>
                </a:solidFill>
                <a:latin typeface="+mn-lt"/>
                <a:ea typeface="宋体" charset="-122"/>
              </a:rPr>
              <a:t>L1 TLB (16 sets, 4 entries/set)</a:t>
            </a:r>
          </a:p>
        </p:txBody>
      </p:sp>
      <p:sp>
        <p:nvSpPr>
          <p:cNvPr id="45" name="Rectangle 421">
            <a:extLst>
              <a:ext uri="{FF2B5EF4-FFF2-40B4-BE49-F238E27FC236}">
                <a16:creationId xmlns:a16="http://schemas.microsoft.com/office/drawing/2014/main" id="{D9DA6B32-34D2-E244-AF36-6819E48E92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325" y="4940300"/>
            <a:ext cx="5334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 algn="ctr"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400" dirty="0">
                <a:solidFill>
                  <a:schemeClr val="tx2"/>
                </a:solidFill>
                <a:latin typeface="+mn-lt"/>
                <a:ea typeface="宋体" charset="-122"/>
              </a:rPr>
              <a:t>VPN1</a:t>
            </a:r>
          </a:p>
        </p:txBody>
      </p:sp>
      <p:sp>
        <p:nvSpPr>
          <p:cNvPr id="46" name="Rectangle 422">
            <a:extLst>
              <a:ext uri="{FF2B5EF4-FFF2-40B4-BE49-F238E27FC236}">
                <a16:creationId xmlns:a16="http://schemas.microsoft.com/office/drawing/2014/main" id="{0FB8003D-CAF7-3940-B253-B5FAB83B7F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1725" y="4940300"/>
            <a:ext cx="5334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 algn="ctr"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400">
                <a:solidFill>
                  <a:schemeClr val="tx2"/>
                </a:solidFill>
                <a:latin typeface="+mn-lt"/>
                <a:ea typeface="宋体" charset="-122"/>
              </a:rPr>
              <a:t>VPN2</a:t>
            </a:r>
          </a:p>
        </p:txBody>
      </p:sp>
      <p:sp>
        <p:nvSpPr>
          <p:cNvPr id="47" name="Text Box 423">
            <a:extLst>
              <a:ext uri="{FF2B5EF4-FFF2-40B4-BE49-F238E27FC236}">
                <a16:creationId xmlns:a16="http://schemas.microsoft.com/office/drawing/2014/main" id="{E5A4F91C-15FF-354D-90E9-17570898F8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1100" y="4724400"/>
            <a:ext cx="260350" cy="258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200">
                <a:solidFill>
                  <a:schemeClr val="tx2"/>
                </a:solidFill>
                <a:latin typeface="+mn-lt"/>
                <a:ea typeface="宋体" charset="-122"/>
              </a:rPr>
              <a:t>9</a:t>
            </a:r>
          </a:p>
        </p:txBody>
      </p:sp>
      <p:sp>
        <p:nvSpPr>
          <p:cNvPr id="48" name="Text Box 424">
            <a:extLst>
              <a:ext uri="{FF2B5EF4-FFF2-40B4-BE49-F238E27FC236}">
                <a16:creationId xmlns:a16="http://schemas.microsoft.com/office/drawing/2014/main" id="{5F99D4BF-256E-CB4D-BE2B-1B62C18028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0725" y="4724400"/>
            <a:ext cx="260350" cy="258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200">
                <a:solidFill>
                  <a:schemeClr val="tx2"/>
                </a:solidFill>
                <a:latin typeface="+mn-lt"/>
                <a:ea typeface="宋体" charset="-122"/>
              </a:rPr>
              <a:t>9</a:t>
            </a:r>
          </a:p>
        </p:txBody>
      </p:sp>
      <p:sp>
        <p:nvSpPr>
          <p:cNvPr id="50" name="Rectangle 425">
            <a:extLst>
              <a:ext uri="{FF2B5EF4-FFF2-40B4-BE49-F238E27FC236}">
                <a16:creationId xmlns:a16="http://schemas.microsoft.com/office/drawing/2014/main" id="{6BC52778-5CC3-674D-948B-ABAE1CFA9F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163" y="5626100"/>
            <a:ext cx="315912" cy="914400"/>
          </a:xfrm>
          <a:prstGeom prst="rect">
            <a:avLst/>
          </a:prstGeom>
          <a:solidFill>
            <a:srgbClr val="DEDFF5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51" name="Rectangle 426">
            <a:extLst>
              <a:ext uri="{FF2B5EF4-FFF2-40B4-BE49-F238E27FC236}">
                <a16:creationId xmlns:a16="http://schemas.microsoft.com/office/drawing/2014/main" id="{B969A41B-38A3-AC42-85C0-C24BA330D7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163" y="5905500"/>
            <a:ext cx="315912" cy="254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 algn="ctr"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400" dirty="0">
                <a:solidFill>
                  <a:schemeClr val="tx2"/>
                </a:solidFill>
                <a:latin typeface="+mn-lt"/>
                <a:ea typeface="宋体" charset="-122"/>
              </a:rPr>
              <a:t>PTE</a:t>
            </a:r>
          </a:p>
        </p:txBody>
      </p:sp>
      <p:sp>
        <p:nvSpPr>
          <p:cNvPr id="52" name="Text Box 431">
            <a:extLst>
              <a:ext uri="{FF2B5EF4-FFF2-40B4-BE49-F238E27FC236}">
                <a16:creationId xmlns:a16="http://schemas.microsoft.com/office/drawing/2014/main" id="{8FB97A8F-1E4D-254F-9013-919E60DC65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5497513"/>
            <a:ext cx="646113" cy="315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600" dirty="0">
                <a:solidFill>
                  <a:schemeClr val="tx2"/>
                </a:solidFill>
                <a:latin typeface="+mn-lt"/>
                <a:ea typeface="宋体" charset="-122"/>
              </a:rPr>
              <a:t>CR3</a:t>
            </a:r>
          </a:p>
        </p:txBody>
      </p:sp>
      <p:sp>
        <p:nvSpPr>
          <p:cNvPr id="53" name="Rectangle 436">
            <a:extLst>
              <a:ext uri="{FF2B5EF4-FFF2-40B4-BE49-F238E27FC236}">
                <a16:creationId xmlns:a16="http://schemas.microsoft.com/office/drawing/2014/main" id="{604C579C-7903-1B42-9C98-37A19EF23D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2125" y="5040313"/>
            <a:ext cx="10668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 algn="ctr"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600">
                <a:solidFill>
                  <a:schemeClr val="tx2"/>
                </a:solidFill>
                <a:latin typeface="+mn-lt"/>
                <a:ea typeface="宋体" charset="-122"/>
              </a:rPr>
              <a:t>PPN</a:t>
            </a:r>
          </a:p>
        </p:txBody>
      </p:sp>
      <p:sp>
        <p:nvSpPr>
          <p:cNvPr id="54" name="Rectangle 437">
            <a:extLst>
              <a:ext uri="{FF2B5EF4-FFF2-40B4-BE49-F238E27FC236}">
                <a16:creationId xmlns:a16="http://schemas.microsoft.com/office/drawing/2014/main" id="{4847F37F-D110-174B-947B-FD44103B82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8925" y="5040313"/>
            <a:ext cx="5334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 algn="ctr"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600">
                <a:solidFill>
                  <a:schemeClr val="tx2"/>
                </a:solidFill>
                <a:latin typeface="+mn-lt"/>
                <a:ea typeface="宋体" charset="-122"/>
              </a:rPr>
              <a:t>PPO</a:t>
            </a:r>
          </a:p>
        </p:txBody>
      </p:sp>
      <p:sp>
        <p:nvSpPr>
          <p:cNvPr id="55" name="Text Box 438">
            <a:extLst>
              <a:ext uri="{FF2B5EF4-FFF2-40B4-BE49-F238E27FC236}">
                <a16:creationId xmlns:a16="http://schemas.microsoft.com/office/drawing/2014/main" id="{32355011-C2B4-C647-BB84-5E261CCE3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10100" y="4800600"/>
            <a:ext cx="338138" cy="258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200" dirty="0">
                <a:solidFill>
                  <a:schemeClr val="tx2"/>
                </a:solidFill>
                <a:latin typeface="+mn-lt"/>
                <a:ea typeface="宋体" charset="-122"/>
              </a:rPr>
              <a:t>40</a:t>
            </a:r>
          </a:p>
        </p:txBody>
      </p:sp>
      <p:sp>
        <p:nvSpPr>
          <p:cNvPr id="56" name="Text Box 439">
            <a:extLst>
              <a:ext uri="{FF2B5EF4-FFF2-40B4-BE49-F238E27FC236}">
                <a16:creationId xmlns:a16="http://schemas.microsoft.com/office/drawing/2014/main" id="{CA9A506F-0660-724E-91A8-A4EB098F0B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4800600"/>
            <a:ext cx="338138" cy="258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200">
                <a:solidFill>
                  <a:schemeClr val="tx2"/>
                </a:solidFill>
                <a:latin typeface="+mn-lt"/>
                <a:ea typeface="宋体" charset="-122"/>
              </a:rPr>
              <a:t>12</a:t>
            </a:r>
          </a:p>
        </p:txBody>
      </p:sp>
      <p:sp>
        <p:nvSpPr>
          <p:cNvPr id="57" name="Line 440">
            <a:extLst>
              <a:ext uri="{FF2B5EF4-FFF2-40B4-BE49-F238E27FC236}">
                <a16:creationId xmlns:a16="http://schemas.microsoft.com/office/drawing/2014/main" id="{EF7DB946-6C77-2B40-B188-1598372A3423}"/>
              </a:ext>
            </a:extLst>
          </p:cNvPr>
          <p:cNvSpPr>
            <a:spLocks noChangeShapeType="1"/>
          </p:cNvSpPr>
          <p:nvPr/>
        </p:nvSpPr>
        <p:spPr bwMode="auto">
          <a:xfrm>
            <a:off x="4378325" y="3762375"/>
            <a:ext cx="6096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58" name="Line 441">
            <a:extLst>
              <a:ext uri="{FF2B5EF4-FFF2-40B4-BE49-F238E27FC236}">
                <a16:creationId xmlns:a16="http://schemas.microsoft.com/office/drawing/2014/main" id="{F77820A8-CE1D-B84A-9D54-E2816EBF65C7}"/>
              </a:ext>
            </a:extLst>
          </p:cNvPr>
          <p:cNvSpPr>
            <a:spLocks noChangeShapeType="1"/>
          </p:cNvSpPr>
          <p:nvPr/>
        </p:nvSpPr>
        <p:spPr bwMode="auto">
          <a:xfrm>
            <a:off x="4987925" y="3759200"/>
            <a:ext cx="0" cy="1270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59" name="Line 442">
            <a:extLst>
              <a:ext uri="{FF2B5EF4-FFF2-40B4-BE49-F238E27FC236}">
                <a16:creationId xmlns:a16="http://schemas.microsoft.com/office/drawing/2014/main" id="{0B1A035C-48C4-004B-B440-AE85D78C7D71}"/>
              </a:ext>
            </a:extLst>
          </p:cNvPr>
          <p:cNvSpPr>
            <a:spLocks noChangeShapeType="1"/>
          </p:cNvSpPr>
          <p:nvPr/>
        </p:nvSpPr>
        <p:spPr bwMode="auto">
          <a:xfrm>
            <a:off x="3035300" y="6083300"/>
            <a:ext cx="19526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60" name="Line 443">
            <a:extLst>
              <a:ext uri="{FF2B5EF4-FFF2-40B4-BE49-F238E27FC236}">
                <a16:creationId xmlns:a16="http://schemas.microsoft.com/office/drawing/2014/main" id="{94FA1F22-1F4B-8C48-AD69-2D9D8B4F29E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978400" y="5349875"/>
            <a:ext cx="9525" cy="7334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61" name="Text Box 448">
            <a:extLst>
              <a:ext uri="{FF2B5EF4-FFF2-40B4-BE49-F238E27FC236}">
                <a16:creationId xmlns:a16="http://schemas.microsoft.com/office/drawing/2014/main" id="{F43135AA-EDE1-154E-9CE3-9FDA00D1B1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4600" y="6477000"/>
            <a:ext cx="1149350" cy="315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600" dirty="0">
                <a:solidFill>
                  <a:schemeClr val="tx2"/>
                </a:solidFill>
                <a:latin typeface="+mn-lt"/>
                <a:ea typeface="宋体" charset="-122"/>
              </a:rPr>
              <a:t>Page tables</a:t>
            </a:r>
          </a:p>
        </p:txBody>
      </p:sp>
      <p:sp>
        <p:nvSpPr>
          <p:cNvPr id="62" name="Text Box 449">
            <a:extLst>
              <a:ext uri="{FF2B5EF4-FFF2-40B4-BE49-F238E27FC236}">
                <a16:creationId xmlns:a16="http://schemas.microsoft.com/office/drawing/2014/main" id="{15A482EB-C07B-F848-9444-A2795B2970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3613150"/>
            <a:ext cx="606425" cy="611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600" i="1" dirty="0">
                <a:solidFill>
                  <a:schemeClr val="tx2"/>
                </a:solidFill>
                <a:latin typeface="+mn-lt"/>
                <a:ea typeface="宋体" charset="-122"/>
              </a:rPr>
              <a:t>TLB</a:t>
            </a:r>
          </a:p>
          <a:p>
            <a:pPr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600" i="1" dirty="0">
                <a:solidFill>
                  <a:schemeClr val="tx2"/>
                </a:solidFill>
                <a:latin typeface="+mn-lt"/>
                <a:ea typeface="宋体" charset="-122"/>
              </a:rPr>
              <a:t>miss</a:t>
            </a:r>
          </a:p>
        </p:txBody>
      </p:sp>
      <p:sp>
        <p:nvSpPr>
          <p:cNvPr id="63" name="Text Box 450">
            <a:extLst>
              <a:ext uri="{FF2B5EF4-FFF2-40B4-BE49-F238E27FC236}">
                <a16:creationId xmlns:a16="http://schemas.microsoft.com/office/drawing/2014/main" id="{8E7DD8DC-05EC-8E4D-B102-D8969EA5EA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14850" y="3175000"/>
            <a:ext cx="549275" cy="611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600" i="1" dirty="0">
                <a:solidFill>
                  <a:schemeClr val="tx2"/>
                </a:solidFill>
                <a:latin typeface="+mn-lt"/>
                <a:ea typeface="宋体" charset="-122"/>
              </a:rPr>
              <a:t>TLB</a:t>
            </a:r>
          </a:p>
          <a:p>
            <a:pPr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600" i="1" dirty="0">
                <a:solidFill>
                  <a:schemeClr val="tx2"/>
                </a:solidFill>
                <a:latin typeface="+mn-lt"/>
                <a:ea typeface="宋体" charset="-122"/>
              </a:rPr>
              <a:t>hit</a:t>
            </a:r>
          </a:p>
        </p:txBody>
      </p:sp>
      <p:sp>
        <p:nvSpPr>
          <p:cNvPr id="64" name="Line 451">
            <a:extLst>
              <a:ext uri="{FF2B5EF4-FFF2-40B4-BE49-F238E27FC236}">
                <a16:creationId xmlns:a16="http://schemas.microsoft.com/office/drawing/2014/main" id="{D7FBD158-9D68-2642-AF35-07017249B259}"/>
              </a:ext>
            </a:extLst>
          </p:cNvPr>
          <p:cNvSpPr>
            <a:spLocks noChangeShapeType="1"/>
          </p:cNvSpPr>
          <p:nvPr/>
        </p:nvSpPr>
        <p:spPr bwMode="auto">
          <a:xfrm>
            <a:off x="2168525" y="2209800"/>
            <a:ext cx="32766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65" name="Line 452">
            <a:extLst>
              <a:ext uri="{FF2B5EF4-FFF2-40B4-BE49-F238E27FC236}">
                <a16:creationId xmlns:a16="http://schemas.microsoft.com/office/drawing/2014/main" id="{BD594F13-4F3D-B54C-A033-ED483FD7A590}"/>
              </a:ext>
            </a:extLst>
          </p:cNvPr>
          <p:cNvSpPr>
            <a:spLocks noChangeShapeType="1"/>
          </p:cNvSpPr>
          <p:nvPr/>
        </p:nvSpPr>
        <p:spPr bwMode="auto">
          <a:xfrm>
            <a:off x="5445125" y="2209800"/>
            <a:ext cx="0" cy="2819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66" name="Text Box 453">
            <a:extLst>
              <a:ext uri="{FF2B5EF4-FFF2-40B4-BE49-F238E27FC236}">
                <a16:creationId xmlns:a16="http://schemas.microsoft.com/office/drawing/2014/main" id="{2F8120D9-6E24-824F-9098-6A1855E530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15025" y="5283200"/>
            <a:ext cx="865188" cy="906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600" dirty="0">
                <a:solidFill>
                  <a:schemeClr val="tx2"/>
                </a:solidFill>
                <a:latin typeface="+mn-lt"/>
                <a:ea typeface="宋体" charset="-122"/>
              </a:rPr>
              <a:t>Physical</a:t>
            </a:r>
          </a:p>
          <a:p>
            <a:pPr algn="ctr"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600" dirty="0">
                <a:solidFill>
                  <a:schemeClr val="tx2"/>
                </a:solidFill>
                <a:latin typeface="+mn-lt"/>
                <a:ea typeface="宋体" charset="-122"/>
              </a:rPr>
              <a:t>address </a:t>
            </a:r>
          </a:p>
          <a:p>
            <a:pPr algn="ctr"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600" dirty="0">
                <a:solidFill>
                  <a:schemeClr val="tx2"/>
                </a:solidFill>
                <a:latin typeface="+mn-lt"/>
                <a:ea typeface="宋体" charset="-122"/>
              </a:rPr>
              <a:t>(PA)</a:t>
            </a:r>
          </a:p>
        </p:txBody>
      </p:sp>
      <p:sp>
        <p:nvSpPr>
          <p:cNvPr id="67" name="Rectangle 454">
            <a:extLst>
              <a:ext uri="{FF2B5EF4-FFF2-40B4-BE49-F238E27FC236}">
                <a16:creationId xmlns:a16="http://schemas.microsoft.com/office/drawing/2014/main" id="{EEEA6811-67A3-D449-9F6C-8AA4361C67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5125" y="1295400"/>
            <a:ext cx="10668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 algn="ctr"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600">
                <a:solidFill>
                  <a:schemeClr val="tx2"/>
                </a:solidFill>
                <a:latin typeface="+mn-lt"/>
                <a:ea typeface="宋体" charset="-122"/>
              </a:rPr>
              <a:t>Result</a:t>
            </a:r>
          </a:p>
        </p:txBody>
      </p:sp>
      <p:sp>
        <p:nvSpPr>
          <p:cNvPr id="68" name="Text Box 455">
            <a:extLst>
              <a:ext uri="{FF2B5EF4-FFF2-40B4-BE49-F238E27FC236}">
                <a16:creationId xmlns:a16="http://schemas.microsoft.com/office/drawing/2014/main" id="{65D8460C-ECBF-484E-A761-189C64FFB4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0250" y="1066800"/>
            <a:ext cx="560388" cy="258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200" dirty="0">
                <a:solidFill>
                  <a:schemeClr val="tx2"/>
                </a:solidFill>
                <a:latin typeface="+mn-lt"/>
                <a:ea typeface="宋体" charset="-122"/>
              </a:rPr>
              <a:t>32/64</a:t>
            </a:r>
          </a:p>
        </p:txBody>
      </p:sp>
      <p:sp>
        <p:nvSpPr>
          <p:cNvPr id="69" name="Rectangle 456">
            <a:extLst>
              <a:ext uri="{FF2B5EF4-FFF2-40B4-BE49-F238E27FC236}">
                <a16:creationId xmlns:a16="http://schemas.microsoft.com/office/drawing/2014/main" id="{A7DBD771-FF9E-6D47-BF06-E05AC9AD4A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9925" y="3429000"/>
            <a:ext cx="533400" cy="152400"/>
          </a:xfrm>
          <a:prstGeom prst="rect">
            <a:avLst/>
          </a:prstGeom>
          <a:solidFill>
            <a:srgbClr val="F6F5BD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lnSpc>
                <a:spcPct val="90000"/>
              </a:lnSpc>
              <a:spcBef>
                <a:spcPct val="30000"/>
              </a:spcBef>
              <a:defRPr/>
            </a:pPr>
            <a:endParaRPr lang="en-US" sz="1600">
              <a:solidFill>
                <a:schemeClr val="tx2"/>
              </a:solidFill>
              <a:latin typeface="+mn-lt"/>
              <a:ea typeface="宋体" charset="-122"/>
            </a:endParaRPr>
          </a:p>
        </p:txBody>
      </p:sp>
      <p:sp>
        <p:nvSpPr>
          <p:cNvPr id="70" name="Rectangle 457">
            <a:extLst>
              <a:ext uri="{FF2B5EF4-FFF2-40B4-BE49-F238E27FC236}">
                <a16:creationId xmlns:a16="http://schemas.microsoft.com/office/drawing/2014/main" id="{51497862-12E8-564B-943A-6AFE90FBE3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3325" y="3429000"/>
            <a:ext cx="533400" cy="152400"/>
          </a:xfrm>
          <a:prstGeom prst="rect">
            <a:avLst/>
          </a:prstGeom>
          <a:solidFill>
            <a:srgbClr val="F6F5BD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lnSpc>
                <a:spcPct val="90000"/>
              </a:lnSpc>
              <a:spcBef>
                <a:spcPct val="30000"/>
              </a:spcBef>
              <a:defRPr/>
            </a:pPr>
            <a:endParaRPr lang="en-US" sz="1600">
              <a:solidFill>
                <a:schemeClr val="tx2"/>
              </a:solidFill>
              <a:latin typeface="+mn-lt"/>
              <a:ea typeface="宋体" charset="-122"/>
            </a:endParaRPr>
          </a:p>
        </p:txBody>
      </p:sp>
      <p:sp>
        <p:nvSpPr>
          <p:cNvPr id="71" name="Rectangle 458">
            <a:extLst>
              <a:ext uri="{FF2B5EF4-FFF2-40B4-BE49-F238E27FC236}">
                <a16:creationId xmlns:a16="http://schemas.microsoft.com/office/drawing/2014/main" id="{4AE68855-EE31-5649-8890-E09BEC6D2A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6725" y="3429000"/>
            <a:ext cx="533400" cy="152400"/>
          </a:xfrm>
          <a:prstGeom prst="rect">
            <a:avLst/>
          </a:prstGeom>
          <a:solidFill>
            <a:srgbClr val="F6F5BD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lnSpc>
                <a:spcPct val="90000"/>
              </a:lnSpc>
              <a:spcBef>
                <a:spcPct val="30000"/>
              </a:spcBef>
              <a:defRPr/>
            </a:pPr>
            <a:endParaRPr lang="en-US" sz="1600">
              <a:solidFill>
                <a:schemeClr val="tx2"/>
              </a:solidFill>
              <a:latin typeface="+mn-lt"/>
              <a:ea typeface="宋体" charset="-122"/>
            </a:endParaRPr>
          </a:p>
        </p:txBody>
      </p:sp>
      <p:sp>
        <p:nvSpPr>
          <p:cNvPr id="72" name="Rectangle 459">
            <a:extLst>
              <a:ext uri="{FF2B5EF4-FFF2-40B4-BE49-F238E27FC236}">
                <a16:creationId xmlns:a16="http://schemas.microsoft.com/office/drawing/2014/main" id="{CEAA2151-7EC1-474A-B688-7D9E241EC8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0125" y="3429000"/>
            <a:ext cx="533400" cy="152400"/>
          </a:xfrm>
          <a:prstGeom prst="rect">
            <a:avLst/>
          </a:prstGeom>
          <a:solidFill>
            <a:srgbClr val="F6F5BD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lnSpc>
                <a:spcPct val="90000"/>
              </a:lnSpc>
              <a:spcBef>
                <a:spcPct val="30000"/>
              </a:spcBef>
              <a:defRPr/>
            </a:pPr>
            <a:endParaRPr lang="en-US" sz="1600">
              <a:solidFill>
                <a:schemeClr val="tx2"/>
              </a:solidFill>
              <a:latin typeface="+mn-lt"/>
              <a:ea typeface="宋体" charset="-122"/>
            </a:endParaRPr>
          </a:p>
        </p:txBody>
      </p:sp>
      <p:sp>
        <p:nvSpPr>
          <p:cNvPr id="73" name="Rectangle 460">
            <a:extLst>
              <a:ext uri="{FF2B5EF4-FFF2-40B4-BE49-F238E27FC236}">
                <a16:creationId xmlns:a16="http://schemas.microsoft.com/office/drawing/2014/main" id="{35213262-0BDC-AC48-8DDF-1DDBC14A9B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9925" y="3581400"/>
            <a:ext cx="533400" cy="152400"/>
          </a:xfrm>
          <a:prstGeom prst="rect">
            <a:avLst/>
          </a:prstGeom>
          <a:solidFill>
            <a:srgbClr val="F6F5BD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lnSpc>
                <a:spcPct val="90000"/>
              </a:lnSpc>
              <a:spcBef>
                <a:spcPct val="30000"/>
              </a:spcBef>
              <a:defRPr/>
            </a:pPr>
            <a:endParaRPr lang="en-US" sz="1600">
              <a:solidFill>
                <a:schemeClr val="tx2"/>
              </a:solidFill>
              <a:latin typeface="+mn-lt"/>
              <a:ea typeface="宋体" charset="-122"/>
            </a:endParaRPr>
          </a:p>
        </p:txBody>
      </p:sp>
      <p:sp>
        <p:nvSpPr>
          <p:cNvPr id="74" name="Rectangle 461">
            <a:extLst>
              <a:ext uri="{FF2B5EF4-FFF2-40B4-BE49-F238E27FC236}">
                <a16:creationId xmlns:a16="http://schemas.microsoft.com/office/drawing/2014/main" id="{7C00E634-D93D-B343-9FA7-5B97F4EE8E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3325" y="3581400"/>
            <a:ext cx="533400" cy="152400"/>
          </a:xfrm>
          <a:prstGeom prst="rect">
            <a:avLst/>
          </a:prstGeom>
          <a:solidFill>
            <a:srgbClr val="F6F5BD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lnSpc>
                <a:spcPct val="90000"/>
              </a:lnSpc>
              <a:spcBef>
                <a:spcPct val="30000"/>
              </a:spcBef>
              <a:defRPr/>
            </a:pPr>
            <a:endParaRPr lang="en-US" sz="1600">
              <a:solidFill>
                <a:schemeClr val="tx2"/>
              </a:solidFill>
              <a:latin typeface="+mn-lt"/>
              <a:ea typeface="宋体" charset="-122"/>
            </a:endParaRPr>
          </a:p>
        </p:txBody>
      </p:sp>
      <p:sp>
        <p:nvSpPr>
          <p:cNvPr id="75" name="Rectangle 462">
            <a:extLst>
              <a:ext uri="{FF2B5EF4-FFF2-40B4-BE49-F238E27FC236}">
                <a16:creationId xmlns:a16="http://schemas.microsoft.com/office/drawing/2014/main" id="{7E8434CF-D491-574E-8239-5933142037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6725" y="3581400"/>
            <a:ext cx="533400" cy="152400"/>
          </a:xfrm>
          <a:prstGeom prst="rect">
            <a:avLst/>
          </a:prstGeom>
          <a:solidFill>
            <a:srgbClr val="F6F5BD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lnSpc>
                <a:spcPct val="90000"/>
              </a:lnSpc>
              <a:spcBef>
                <a:spcPct val="30000"/>
              </a:spcBef>
              <a:defRPr/>
            </a:pPr>
            <a:endParaRPr lang="en-US" sz="1600">
              <a:solidFill>
                <a:schemeClr val="tx2"/>
              </a:solidFill>
              <a:latin typeface="+mn-lt"/>
              <a:ea typeface="宋体" charset="-122"/>
            </a:endParaRPr>
          </a:p>
        </p:txBody>
      </p:sp>
      <p:sp>
        <p:nvSpPr>
          <p:cNvPr id="76" name="Rectangle 463">
            <a:extLst>
              <a:ext uri="{FF2B5EF4-FFF2-40B4-BE49-F238E27FC236}">
                <a16:creationId xmlns:a16="http://schemas.microsoft.com/office/drawing/2014/main" id="{604C3D78-CFE9-DB48-9D86-ADB9B4773A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0125" y="3581400"/>
            <a:ext cx="533400" cy="152400"/>
          </a:xfrm>
          <a:prstGeom prst="rect">
            <a:avLst/>
          </a:prstGeom>
          <a:solidFill>
            <a:srgbClr val="F6F5BD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lnSpc>
                <a:spcPct val="90000"/>
              </a:lnSpc>
              <a:spcBef>
                <a:spcPct val="30000"/>
              </a:spcBef>
              <a:defRPr/>
            </a:pPr>
            <a:endParaRPr lang="en-US" sz="1600">
              <a:solidFill>
                <a:schemeClr val="tx2"/>
              </a:solidFill>
              <a:latin typeface="+mn-lt"/>
              <a:ea typeface="宋体" charset="-122"/>
            </a:endParaRPr>
          </a:p>
        </p:txBody>
      </p:sp>
      <p:sp>
        <p:nvSpPr>
          <p:cNvPr id="77" name="Rectangle 464">
            <a:extLst>
              <a:ext uri="{FF2B5EF4-FFF2-40B4-BE49-F238E27FC236}">
                <a16:creationId xmlns:a16="http://schemas.microsoft.com/office/drawing/2014/main" id="{85F9E233-D924-BE46-B122-3BAD06872A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9925" y="3733800"/>
            <a:ext cx="533400" cy="152400"/>
          </a:xfrm>
          <a:prstGeom prst="rect">
            <a:avLst/>
          </a:prstGeom>
          <a:solidFill>
            <a:srgbClr val="F6F5BD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lnSpc>
                <a:spcPct val="90000"/>
              </a:lnSpc>
              <a:spcBef>
                <a:spcPct val="30000"/>
              </a:spcBef>
              <a:defRPr/>
            </a:pPr>
            <a:endParaRPr lang="en-US" sz="1600">
              <a:solidFill>
                <a:schemeClr val="tx2"/>
              </a:solidFill>
              <a:latin typeface="+mn-lt"/>
              <a:ea typeface="宋体" charset="-122"/>
            </a:endParaRPr>
          </a:p>
        </p:txBody>
      </p:sp>
      <p:sp>
        <p:nvSpPr>
          <p:cNvPr id="78" name="Rectangle 465">
            <a:extLst>
              <a:ext uri="{FF2B5EF4-FFF2-40B4-BE49-F238E27FC236}">
                <a16:creationId xmlns:a16="http://schemas.microsoft.com/office/drawing/2014/main" id="{3706FF59-694E-704B-A568-014A4E369B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3325" y="3733800"/>
            <a:ext cx="533400" cy="152400"/>
          </a:xfrm>
          <a:prstGeom prst="rect">
            <a:avLst/>
          </a:prstGeom>
          <a:solidFill>
            <a:srgbClr val="F6F5BD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lnSpc>
                <a:spcPct val="90000"/>
              </a:lnSpc>
              <a:spcBef>
                <a:spcPct val="30000"/>
              </a:spcBef>
              <a:defRPr/>
            </a:pPr>
            <a:endParaRPr lang="en-US" sz="1600">
              <a:solidFill>
                <a:schemeClr val="tx2"/>
              </a:solidFill>
              <a:latin typeface="+mn-lt"/>
              <a:ea typeface="宋体" charset="-122"/>
            </a:endParaRPr>
          </a:p>
        </p:txBody>
      </p:sp>
      <p:sp>
        <p:nvSpPr>
          <p:cNvPr id="79" name="Rectangle 466">
            <a:extLst>
              <a:ext uri="{FF2B5EF4-FFF2-40B4-BE49-F238E27FC236}">
                <a16:creationId xmlns:a16="http://schemas.microsoft.com/office/drawing/2014/main" id="{76F41359-7CA9-644A-9501-8C820CEFFB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6725" y="3733800"/>
            <a:ext cx="533400" cy="152400"/>
          </a:xfrm>
          <a:prstGeom prst="rect">
            <a:avLst/>
          </a:prstGeom>
          <a:solidFill>
            <a:srgbClr val="F6F5BD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lnSpc>
                <a:spcPct val="90000"/>
              </a:lnSpc>
              <a:spcBef>
                <a:spcPct val="30000"/>
              </a:spcBef>
              <a:defRPr/>
            </a:pPr>
            <a:endParaRPr lang="en-US" sz="1600">
              <a:solidFill>
                <a:schemeClr val="tx2"/>
              </a:solidFill>
              <a:latin typeface="+mn-lt"/>
              <a:ea typeface="宋体" charset="-122"/>
            </a:endParaRPr>
          </a:p>
        </p:txBody>
      </p:sp>
      <p:sp>
        <p:nvSpPr>
          <p:cNvPr id="80" name="Rectangle 467">
            <a:extLst>
              <a:ext uri="{FF2B5EF4-FFF2-40B4-BE49-F238E27FC236}">
                <a16:creationId xmlns:a16="http://schemas.microsoft.com/office/drawing/2014/main" id="{E00F0DEE-923E-3540-B9E4-44E2217C53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0125" y="3733800"/>
            <a:ext cx="533400" cy="152400"/>
          </a:xfrm>
          <a:prstGeom prst="rect">
            <a:avLst/>
          </a:prstGeom>
          <a:solidFill>
            <a:srgbClr val="F6F5BD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lnSpc>
                <a:spcPct val="90000"/>
              </a:lnSpc>
              <a:spcBef>
                <a:spcPct val="30000"/>
              </a:spcBef>
              <a:defRPr/>
            </a:pPr>
            <a:endParaRPr lang="en-US" sz="1600">
              <a:solidFill>
                <a:schemeClr val="tx2"/>
              </a:solidFill>
              <a:latin typeface="+mn-lt"/>
              <a:ea typeface="宋体" charset="-122"/>
            </a:endParaRPr>
          </a:p>
        </p:txBody>
      </p:sp>
      <p:sp>
        <p:nvSpPr>
          <p:cNvPr id="81" name="Rectangle 468">
            <a:extLst>
              <a:ext uri="{FF2B5EF4-FFF2-40B4-BE49-F238E27FC236}">
                <a16:creationId xmlns:a16="http://schemas.microsoft.com/office/drawing/2014/main" id="{D201D951-C175-2C44-AFB9-9CD01C9545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9925" y="4114800"/>
            <a:ext cx="533400" cy="152400"/>
          </a:xfrm>
          <a:prstGeom prst="rect">
            <a:avLst/>
          </a:prstGeom>
          <a:solidFill>
            <a:srgbClr val="F6F5BD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lnSpc>
                <a:spcPct val="90000"/>
              </a:lnSpc>
              <a:spcBef>
                <a:spcPct val="30000"/>
              </a:spcBef>
              <a:defRPr/>
            </a:pPr>
            <a:endParaRPr lang="en-US" sz="1600">
              <a:solidFill>
                <a:schemeClr val="tx2"/>
              </a:solidFill>
              <a:latin typeface="+mn-lt"/>
              <a:ea typeface="宋体" charset="-122"/>
            </a:endParaRPr>
          </a:p>
        </p:txBody>
      </p:sp>
      <p:sp>
        <p:nvSpPr>
          <p:cNvPr id="82" name="Rectangle 469">
            <a:extLst>
              <a:ext uri="{FF2B5EF4-FFF2-40B4-BE49-F238E27FC236}">
                <a16:creationId xmlns:a16="http://schemas.microsoft.com/office/drawing/2014/main" id="{FCFD6AB1-37CA-854B-8777-1A2FE77D1F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3325" y="4114800"/>
            <a:ext cx="533400" cy="152400"/>
          </a:xfrm>
          <a:prstGeom prst="rect">
            <a:avLst/>
          </a:prstGeom>
          <a:solidFill>
            <a:srgbClr val="F6F5BD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lnSpc>
                <a:spcPct val="90000"/>
              </a:lnSpc>
              <a:spcBef>
                <a:spcPct val="30000"/>
              </a:spcBef>
              <a:defRPr/>
            </a:pPr>
            <a:endParaRPr lang="en-US" sz="1600">
              <a:solidFill>
                <a:schemeClr val="tx2"/>
              </a:solidFill>
              <a:latin typeface="+mn-lt"/>
              <a:ea typeface="宋体" charset="-122"/>
            </a:endParaRPr>
          </a:p>
        </p:txBody>
      </p:sp>
      <p:sp>
        <p:nvSpPr>
          <p:cNvPr id="83" name="Rectangle 470">
            <a:extLst>
              <a:ext uri="{FF2B5EF4-FFF2-40B4-BE49-F238E27FC236}">
                <a16:creationId xmlns:a16="http://schemas.microsoft.com/office/drawing/2014/main" id="{DF4AD05B-7AAF-9D48-9430-4FE0F27361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6725" y="4114800"/>
            <a:ext cx="533400" cy="152400"/>
          </a:xfrm>
          <a:prstGeom prst="rect">
            <a:avLst/>
          </a:prstGeom>
          <a:solidFill>
            <a:srgbClr val="F6F5BD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lnSpc>
                <a:spcPct val="90000"/>
              </a:lnSpc>
              <a:spcBef>
                <a:spcPct val="30000"/>
              </a:spcBef>
              <a:defRPr/>
            </a:pPr>
            <a:endParaRPr lang="en-US" sz="1600">
              <a:solidFill>
                <a:schemeClr val="tx2"/>
              </a:solidFill>
              <a:latin typeface="+mn-lt"/>
              <a:ea typeface="宋体" charset="-122"/>
            </a:endParaRPr>
          </a:p>
        </p:txBody>
      </p:sp>
      <p:sp>
        <p:nvSpPr>
          <p:cNvPr id="84" name="Rectangle 471">
            <a:extLst>
              <a:ext uri="{FF2B5EF4-FFF2-40B4-BE49-F238E27FC236}">
                <a16:creationId xmlns:a16="http://schemas.microsoft.com/office/drawing/2014/main" id="{AAF95B3C-B7BC-CB42-908C-476C2E396D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0125" y="4114800"/>
            <a:ext cx="533400" cy="152400"/>
          </a:xfrm>
          <a:prstGeom prst="rect">
            <a:avLst/>
          </a:prstGeom>
          <a:solidFill>
            <a:srgbClr val="F6F5BD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lnSpc>
                <a:spcPct val="90000"/>
              </a:lnSpc>
              <a:spcBef>
                <a:spcPct val="30000"/>
              </a:spcBef>
              <a:defRPr/>
            </a:pPr>
            <a:endParaRPr lang="en-US" sz="1600">
              <a:solidFill>
                <a:schemeClr val="tx2"/>
              </a:solidFill>
              <a:latin typeface="+mn-lt"/>
              <a:ea typeface="宋体" charset="-122"/>
            </a:endParaRPr>
          </a:p>
        </p:txBody>
      </p:sp>
      <p:sp>
        <p:nvSpPr>
          <p:cNvPr id="85" name="Text Box 472">
            <a:extLst>
              <a:ext uri="{FF2B5EF4-FFF2-40B4-BE49-F238E27FC236}">
                <a16:creationId xmlns:a16="http://schemas.microsoft.com/office/drawing/2014/main" id="{67B970B3-30A2-2342-9457-055A839646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9888" y="3863975"/>
            <a:ext cx="407987" cy="257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eaVert" wrap="none" lIns="90487" tIns="44450" rIns="90487" bIns="44450">
            <a:spAutoFit/>
          </a:bodyPr>
          <a:lstStyle/>
          <a:p>
            <a:pPr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600">
                <a:solidFill>
                  <a:schemeClr val="tx2"/>
                </a:solidFill>
                <a:latin typeface="+mn-lt"/>
                <a:ea typeface="宋体" charset="-122"/>
              </a:rPr>
              <a:t>...</a:t>
            </a:r>
          </a:p>
        </p:txBody>
      </p:sp>
      <p:sp>
        <p:nvSpPr>
          <p:cNvPr id="86" name="Line 473">
            <a:extLst>
              <a:ext uri="{FF2B5EF4-FFF2-40B4-BE49-F238E27FC236}">
                <a16:creationId xmlns:a16="http://schemas.microsoft.com/office/drawing/2014/main" id="{577F2DCD-1143-9B46-B9A7-89446F2B5394}"/>
              </a:ext>
            </a:extLst>
          </p:cNvPr>
          <p:cNvSpPr>
            <a:spLocks noChangeShapeType="1"/>
          </p:cNvSpPr>
          <p:nvPr/>
        </p:nvSpPr>
        <p:spPr bwMode="auto">
          <a:xfrm>
            <a:off x="6130925" y="5181600"/>
            <a:ext cx="457200" cy="0"/>
          </a:xfrm>
          <a:prstGeom prst="line">
            <a:avLst/>
          </a:prstGeom>
          <a:noFill/>
          <a:ln w="57150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87" name="Line 474">
            <a:extLst>
              <a:ext uri="{FF2B5EF4-FFF2-40B4-BE49-F238E27FC236}">
                <a16:creationId xmlns:a16="http://schemas.microsoft.com/office/drawing/2014/main" id="{80893D9B-BFDA-0348-9159-D5D83E15509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21525" y="4648200"/>
            <a:ext cx="0" cy="381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88" name="Line 475">
            <a:extLst>
              <a:ext uri="{FF2B5EF4-FFF2-40B4-BE49-F238E27FC236}">
                <a16:creationId xmlns:a16="http://schemas.microsoft.com/office/drawing/2014/main" id="{D22B0C43-5C57-494A-8353-B35A1ED63C7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493125" y="4648200"/>
            <a:ext cx="0" cy="381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89" name="Line 476">
            <a:extLst>
              <a:ext uri="{FF2B5EF4-FFF2-40B4-BE49-F238E27FC236}">
                <a16:creationId xmlns:a16="http://schemas.microsoft.com/office/drawing/2014/main" id="{48CE9A5F-4B90-0C4A-913C-D3EEEE9150E2}"/>
              </a:ext>
            </a:extLst>
          </p:cNvPr>
          <p:cNvSpPr>
            <a:spLocks noChangeShapeType="1"/>
          </p:cNvSpPr>
          <p:nvPr/>
        </p:nvSpPr>
        <p:spPr bwMode="auto">
          <a:xfrm>
            <a:off x="5888038" y="4643438"/>
            <a:ext cx="2605087" cy="47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90" name="Line 477">
            <a:extLst>
              <a:ext uri="{FF2B5EF4-FFF2-40B4-BE49-F238E27FC236}">
                <a16:creationId xmlns:a16="http://schemas.microsoft.com/office/drawing/2014/main" id="{6F7FCCAA-629C-C54C-AFDD-BFCD1B81513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89625" y="4267200"/>
            <a:ext cx="0" cy="381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91" name="Line 478">
            <a:extLst>
              <a:ext uri="{FF2B5EF4-FFF2-40B4-BE49-F238E27FC236}">
                <a16:creationId xmlns:a16="http://schemas.microsoft.com/office/drawing/2014/main" id="{5BE035A8-0CB2-574C-B4C1-812CB4B95ED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35725" y="4267200"/>
            <a:ext cx="0" cy="3746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92" name="Line 479">
            <a:extLst>
              <a:ext uri="{FF2B5EF4-FFF2-40B4-BE49-F238E27FC236}">
                <a16:creationId xmlns:a16="http://schemas.microsoft.com/office/drawing/2014/main" id="{FC6426FD-3200-9F4E-8D7F-669D28DA4E5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959600" y="4267200"/>
            <a:ext cx="0" cy="381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93" name="Line 480">
            <a:extLst>
              <a:ext uri="{FF2B5EF4-FFF2-40B4-BE49-F238E27FC236}">
                <a16:creationId xmlns:a16="http://schemas.microsoft.com/office/drawing/2014/main" id="{FBA7D481-86E0-B14A-99DA-298AB7EDBDA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493000" y="4267200"/>
            <a:ext cx="0" cy="381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94" name="Line 481">
            <a:extLst>
              <a:ext uri="{FF2B5EF4-FFF2-40B4-BE49-F238E27FC236}">
                <a16:creationId xmlns:a16="http://schemas.microsoft.com/office/drawing/2014/main" id="{7BBDCF6C-37E2-5941-9E5D-1E6647B9BCB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88325" y="3505200"/>
            <a:ext cx="0" cy="1524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95" name="Line 482">
            <a:extLst>
              <a:ext uri="{FF2B5EF4-FFF2-40B4-BE49-F238E27FC236}">
                <a16:creationId xmlns:a16="http://schemas.microsoft.com/office/drawing/2014/main" id="{D4726E0B-067F-FD47-B050-5B00717CFE1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883525" y="3505200"/>
            <a:ext cx="3048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96" name="Line 483">
            <a:extLst>
              <a:ext uri="{FF2B5EF4-FFF2-40B4-BE49-F238E27FC236}">
                <a16:creationId xmlns:a16="http://schemas.microsoft.com/office/drawing/2014/main" id="{E0779DAF-3973-3646-ACAB-DDA879F3771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883525" y="3657600"/>
            <a:ext cx="3048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97" name="Line 484">
            <a:extLst>
              <a:ext uri="{FF2B5EF4-FFF2-40B4-BE49-F238E27FC236}">
                <a16:creationId xmlns:a16="http://schemas.microsoft.com/office/drawing/2014/main" id="{52699088-7035-DB41-9B8E-9DFBAE17F41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883525" y="3810000"/>
            <a:ext cx="3048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98" name="Line 485">
            <a:extLst>
              <a:ext uri="{FF2B5EF4-FFF2-40B4-BE49-F238E27FC236}">
                <a16:creationId xmlns:a16="http://schemas.microsoft.com/office/drawing/2014/main" id="{7AAB026F-60A7-F14A-BBB6-03DBD6C1080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883525" y="4191000"/>
            <a:ext cx="3048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99" name="Line 429">
            <a:extLst>
              <a:ext uri="{FF2B5EF4-FFF2-40B4-BE49-F238E27FC236}">
                <a16:creationId xmlns:a16="http://schemas.microsoft.com/office/drawing/2014/main" id="{13001CC1-6BCB-654D-8C74-A43DB34646D9}"/>
              </a:ext>
            </a:extLst>
          </p:cNvPr>
          <p:cNvSpPr>
            <a:spLocks noChangeShapeType="1"/>
          </p:cNvSpPr>
          <p:nvPr/>
        </p:nvSpPr>
        <p:spPr bwMode="auto">
          <a:xfrm>
            <a:off x="658813" y="5245100"/>
            <a:ext cx="0" cy="77628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100" name="Line 430">
            <a:extLst>
              <a:ext uri="{FF2B5EF4-FFF2-40B4-BE49-F238E27FC236}">
                <a16:creationId xmlns:a16="http://schemas.microsoft.com/office/drawing/2014/main" id="{2C84D583-2B42-FA44-A925-B6F3F1D3EEB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8813" y="6021388"/>
            <a:ext cx="133350" cy="95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/>
          <a:lstStyle/>
          <a:p>
            <a:pPr algn="ctr">
              <a:defRPr/>
            </a:pPr>
            <a:endParaRPr lang="en-US" sz="1400">
              <a:latin typeface="+mn-lt"/>
              <a:ea typeface="宋体" charset="-122"/>
            </a:endParaRPr>
          </a:p>
        </p:txBody>
      </p:sp>
      <p:sp>
        <p:nvSpPr>
          <p:cNvPr id="101" name="Oval 486">
            <a:extLst>
              <a:ext uri="{FF2B5EF4-FFF2-40B4-BE49-F238E27FC236}">
                <a16:creationId xmlns:a16="http://schemas.microsoft.com/office/drawing/2014/main" id="{CEF27B90-534E-C64E-A7E2-199F564D1C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8" y="5207000"/>
            <a:ext cx="76200" cy="76200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102" name="Oval 487">
            <a:extLst>
              <a:ext uri="{FF2B5EF4-FFF2-40B4-BE49-F238E27FC236}">
                <a16:creationId xmlns:a16="http://schemas.microsoft.com/office/drawing/2014/main" id="{AF7F1D80-B438-7D4B-90A0-720D358506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325" y="2260600"/>
            <a:ext cx="76200" cy="76200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103" name="Oval 488">
            <a:extLst>
              <a:ext uri="{FF2B5EF4-FFF2-40B4-BE49-F238E27FC236}">
                <a16:creationId xmlns:a16="http://schemas.microsoft.com/office/drawing/2014/main" id="{6AAD5A15-4229-1848-9991-7A7515DBFD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0425" y="2159000"/>
            <a:ext cx="76200" cy="76200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104" name="Oval 489">
            <a:extLst>
              <a:ext uri="{FF2B5EF4-FFF2-40B4-BE49-F238E27FC236}">
                <a16:creationId xmlns:a16="http://schemas.microsoft.com/office/drawing/2014/main" id="{7EE913E9-1488-5440-8C80-F5D6DB6D4A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8425" y="2260600"/>
            <a:ext cx="76200" cy="76200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105" name="Line 491">
            <a:extLst>
              <a:ext uri="{FF2B5EF4-FFF2-40B4-BE49-F238E27FC236}">
                <a16:creationId xmlns:a16="http://schemas.microsoft.com/office/drawing/2014/main" id="{007CA6F4-7BE4-024F-BBED-00E02B82584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054725" y="1600200"/>
            <a:ext cx="0" cy="18288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106" name="Rectangle 492">
            <a:extLst>
              <a:ext uri="{FF2B5EF4-FFF2-40B4-BE49-F238E27FC236}">
                <a16:creationId xmlns:a16="http://schemas.microsoft.com/office/drawing/2014/main" id="{F518BB07-D096-E949-B1C4-C7F49B84CA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2925" y="5029200"/>
            <a:ext cx="10668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 algn="ctr"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600">
                <a:solidFill>
                  <a:schemeClr val="tx2"/>
                </a:solidFill>
                <a:latin typeface="+mn-lt"/>
                <a:ea typeface="宋体" charset="-122"/>
              </a:rPr>
              <a:t>CT</a:t>
            </a:r>
          </a:p>
        </p:txBody>
      </p:sp>
      <p:sp>
        <p:nvSpPr>
          <p:cNvPr id="107" name="Rectangle 493">
            <a:extLst>
              <a:ext uri="{FF2B5EF4-FFF2-40B4-BE49-F238E27FC236}">
                <a16:creationId xmlns:a16="http://schemas.microsoft.com/office/drawing/2014/main" id="{E91F5ED7-53CE-5448-8E48-181B2288A1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64525" y="5029200"/>
            <a:ext cx="3048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 algn="ctr"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600">
                <a:solidFill>
                  <a:schemeClr val="tx2"/>
                </a:solidFill>
                <a:latin typeface="+mn-lt"/>
                <a:ea typeface="宋体" charset="-122"/>
              </a:rPr>
              <a:t>CO</a:t>
            </a:r>
          </a:p>
        </p:txBody>
      </p:sp>
      <p:sp>
        <p:nvSpPr>
          <p:cNvPr id="108" name="Text Box 494">
            <a:extLst>
              <a:ext uri="{FF2B5EF4-FFF2-40B4-BE49-F238E27FC236}">
                <a16:creationId xmlns:a16="http://schemas.microsoft.com/office/drawing/2014/main" id="{A496808E-64B8-A340-9424-774E26ED19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1700" y="4800600"/>
            <a:ext cx="338138" cy="258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200">
                <a:solidFill>
                  <a:schemeClr val="tx2"/>
                </a:solidFill>
                <a:latin typeface="+mn-lt"/>
                <a:ea typeface="宋体" charset="-122"/>
              </a:rPr>
              <a:t>40</a:t>
            </a:r>
          </a:p>
        </p:txBody>
      </p:sp>
      <p:sp>
        <p:nvSpPr>
          <p:cNvPr id="109" name="Text Box 495">
            <a:extLst>
              <a:ext uri="{FF2B5EF4-FFF2-40B4-BE49-F238E27FC236}">
                <a16:creationId xmlns:a16="http://schemas.microsoft.com/office/drawing/2014/main" id="{6A13CC3C-065D-1A49-87D1-3187A0BDD6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9925" y="4800600"/>
            <a:ext cx="260350" cy="258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200">
                <a:solidFill>
                  <a:schemeClr val="tx2"/>
                </a:solidFill>
                <a:latin typeface="+mn-lt"/>
                <a:ea typeface="宋体" charset="-122"/>
              </a:rPr>
              <a:t>6</a:t>
            </a:r>
          </a:p>
        </p:txBody>
      </p:sp>
      <p:sp>
        <p:nvSpPr>
          <p:cNvPr id="110" name="Rectangle 496">
            <a:extLst>
              <a:ext uri="{FF2B5EF4-FFF2-40B4-BE49-F238E27FC236}">
                <a16:creationId xmlns:a16="http://schemas.microsoft.com/office/drawing/2014/main" id="{8A5D7000-492B-3643-ACD1-D4D0B0E8A2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9725" y="5029200"/>
            <a:ext cx="3048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 algn="ctr"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600">
                <a:solidFill>
                  <a:schemeClr val="tx2"/>
                </a:solidFill>
                <a:latin typeface="+mn-lt"/>
                <a:ea typeface="宋体" charset="-122"/>
              </a:rPr>
              <a:t>CI</a:t>
            </a:r>
          </a:p>
        </p:txBody>
      </p:sp>
      <p:sp>
        <p:nvSpPr>
          <p:cNvPr id="111" name="Text Box 497">
            <a:extLst>
              <a:ext uri="{FF2B5EF4-FFF2-40B4-BE49-F238E27FC236}">
                <a16:creationId xmlns:a16="http://schemas.microsoft.com/office/drawing/2014/main" id="{82899104-6C09-EC4B-885D-98975677B4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59725" y="4800600"/>
            <a:ext cx="260350" cy="258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200">
                <a:solidFill>
                  <a:schemeClr val="tx2"/>
                </a:solidFill>
                <a:latin typeface="+mn-lt"/>
                <a:ea typeface="宋体" charset="-122"/>
              </a:rPr>
              <a:t>6</a:t>
            </a:r>
          </a:p>
        </p:txBody>
      </p:sp>
      <p:sp>
        <p:nvSpPr>
          <p:cNvPr id="112" name="Oval 498">
            <a:extLst>
              <a:ext uri="{FF2B5EF4-FFF2-40B4-BE49-F238E27FC236}">
                <a16:creationId xmlns:a16="http://schemas.microsoft.com/office/drawing/2014/main" id="{186CE771-9356-FD4D-9F21-30E949E164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3425" y="4991100"/>
            <a:ext cx="76200" cy="76200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113" name="Oval 499">
            <a:extLst>
              <a:ext uri="{FF2B5EF4-FFF2-40B4-BE49-F238E27FC236}">
                <a16:creationId xmlns:a16="http://schemas.microsoft.com/office/drawing/2014/main" id="{F5444A6F-3191-514C-910E-7713A5737E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37525" y="4991100"/>
            <a:ext cx="76200" cy="76200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114" name="Oval 500">
            <a:extLst>
              <a:ext uri="{FF2B5EF4-FFF2-40B4-BE49-F238E27FC236}">
                <a16:creationId xmlns:a16="http://schemas.microsoft.com/office/drawing/2014/main" id="{9388EBED-A73F-B74D-B3E6-451FCBF978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5025" y="4991100"/>
            <a:ext cx="76200" cy="76200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115" name="Line 501">
            <a:extLst>
              <a:ext uri="{FF2B5EF4-FFF2-40B4-BE49-F238E27FC236}">
                <a16:creationId xmlns:a16="http://schemas.microsoft.com/office/drawing/2014/main" id="{F1943B22-DE17-E340-9126-13FEF6205742}"/>
              </a:ext>
            </a:extLst>
          </p:cNvPr>
          <p:cNvSpPr>
            <a:spLocks noChangeShapeType="1"/>
          </p:cNvSpPr>
          <p:nvPr/>
        </p:nvSpPr>
        <p:spPr bwMode="auto">
          <a:xfrm>
            <a:off x="7883525" y="5715000"/>
            <a:ext cx="9906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116" name="Line 502">
            <a:extLst>
              <a:ext uri="{FF2B5EF4-FFF2-40B4-BE49-F238E27FC236}">
                <a16:creationId xmlns:a16="http://schemas.microsoft.com/office/drawing/2014/main" id="{19ECF027-8BA8-2541-B496-4AEB6662560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874125" y="2590800"/>
            <a:ext cx="0" cy="31242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117" name="Rectangle 503">
            <a:extLst>
              <a:ext uri="{FF2B5EF4-FFF2-40B4-BE49-F238E27FC236}">
                <a16:creationId xmlns:a16="http://schemas.microsoft.com/office/drawing/2014/main" id="{A56C28E3-8BC4-004B-8F39-9A8937120E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26325" y="1066800"/>
            <a:ext cx="1524000" cy="838200"/>
          </a:xfrm>
          <a:prstGeom prst="rect">
            <a:avLst/>
          </a:prstGeom>
          <a:solidFill>
            <a:srgbClr val="DEDFF5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 algn="ctr"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600" dirty="0">
                <a:solidFill>
                  <a:schemeClr val="tx2"/>
                </a:solidFill>
                <a:latin typeface="+mn-lt"/>
                <a:ea typeface="宋体" charset="-122"/>
              </a:rPr>
              <a:t>L2, L3, and </a:t>
            </a:r>
          </a:p>
          <a:p>
            <a:pPr algn="ctr"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600" dirty="0">
                <a:solidFill>
                  <a:schemeClr val="tx2"/>
                </a:solidFill>
                <a:latin typeface="+mn-lt"/>
                <a:ea typeface="宋体" charset="-122"/>
              </a:rPr>
              <a:t>main memory</a:t>
            </a:r>
          </a:p>
        </p:txBody>
      </p:sp>
      <p:sp>
        <p:nvSpPr>
          <p:cNvPr id="118" name="Text Box 504">
            <a:extLst>
              <a:ext uri="{FF2B5EF4-FFF2-40B4-BE49-F238E27FC236}">
                <a16:creationId xmlns:a16="http://schemas.microsoft.com/office/drawing/2014/main" id="{11A5CDFE-D97A-5F41-906F-3B3C4DE9B4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4525" y="2806700"/>
            <a:ext cx="2773363" cy="611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600" dirty="0">
                <a:solidFill>
                  <a:schemeClr val="tx2"/>
                </a:solidFill>
                <a:latin typeface="+mn-lt"/>
                <a:ea typeface="宋体" charset="-122"/>
              </a:rPr>
              <a:t>L1 </a:t>
            </a:r>
            <a:r>
              <a:rPr lang="en-US" sz="1600" dirty="0" err="1">
                <a:solidFill>
                  <a:schemeClr val="tx2"/>
                </a:solidFill>
                <a:latin typeface="+mn-lt"/>
                <a:ea typeface="宋体" charset="-122"/>
              </a:rPr>
              <a:t>d</a:t>
            </a:r>
            <a:r>
              <a:rPr lang="en-US" sz="1600" dirty="0">
                <a:solidFill>
                  <a:schemeClr val="tx2"/>
                </a:solidFill>
                <a:latin typeface="+mn-lt"/>
                <a:ea typeface="宋体" charset="-122"/>
              </a:rPr>
              <a:t>-cache </a:t>
            </a:r>
          </a:p>
          <a:p>
            <a:pPr algn="ctr"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600" dirty="0">
                <a:solidFill>
                  <a:schemeClr val="tx2"/>
                </a:solidFill>
                <a:latin typeface="+mn-lt"/>
                <a:ea typeface="宋体" charset="-122"/>
              </a:rPr>
              <a:t>(64 sets, 8 lines/set)</a:t>
            </a:r>
          </a:p>
        </p:txBody>
      </p:sp>
      <p:sp>
        <p:nvSpPr>
          <p:cNvPr id="119" name="Line 505">
            <a:extLst>
              <a:ext uri="{FF2B5EF4-FFF2-40B4-BE49-F238E27FC236}">
                <a16:creationId xmlns:a16="http://schemas.microsoft.com/office/drawing/2014/main" id="{921D3B02-5A1D-BF46-BF07-651EED7660D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264525" y="2590800"/>
            <a:ext cx="6096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120" name="Line 506">
            <a:extLst>
              <a:ext uri="{FF2B5EF4-FFF2-40B4-BE49-F238E27FC236}">
                <a16:creationId xmlns:a16="http://schemas.microsoft.com/office/drawing/2014/main" id="{DAA793AA-1A85-2749-B6FA-7857EC7BB5D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264525" y="1905000"/>
            <a:ext cx="0" cy="6858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121" name="Line 507">
            <a:extLst>
              <a:ext uri="{FF2B5EF4-FFF2-40B4-BE49-F238E27FC236}">
                <a16:creationId xmlns:a16="http://schemas.microsoft.com/office/drawing/2014/main" id="{E4BC98A6-D352-CA43-BA42-736DFD9B4DB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11925" y="1447800"/>
            <a:ext cx="9144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122" name="Text Box 508">
            <a:extLst>
              <a:ext uri="{FF2B5EF4-FFF2-40B4-BE49-F238E27FC236}">
                <a16:creationId xmlns:a16="http://schemas.microsoft.com/office/drawing/2014/main" id="{AAD72E53-D6B7-3246-B001-11BFD2E268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3450" y="2057400"/>
            <a:ext cx="461963" cy="611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600" i="1" dirty="0">
                <a:solidFill>
                  <a:schemeClr val="tx2"/>
                </a:solidFill>
                <a:latin typeface="+mn-lt"/>
                <a:ea typeface="宋体" charset="-122"/>
              </a:rPr>
              <a:t>L1</a:t>
            </a:r>
          </a:p>
          <a:p>
            <a:pPr algn="ctr"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600" i="1" dirty="0">
                <a:solidFill>
                  <a:schemeClr val="tx2"/>
                </a:solidFill>
                <a:latin typeface="+mn-lt"/>
                <a:ea typeface="宋体" charset="-122"/>
              </a:rPr>
              <a:t>hit</a:t>
            </a:r>
          </a:p>
        </p:txBody>
      </p:sp>
      <p:sp>
        <p:nvSpPr>
          <p:cNvPr id="123" name="Text Box 509">
            <a:extLst>
              <a:ext uri="{FF2B5EF4-FFF2-40B4-BE49-F238E27FC236}">
                <a16:creationId xmlns:a16="http://schemas.microsoft.com/office/drawing/2014/main" id="{6742D383-8FB7-A14F-A296-8BFFE2EB9C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1981200"/>
            <a:ext cx="606425" cy="611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600" i="1" dirty="0">
                <a:solidFill>
                  <a:schemeClr val="tx2"/>
                </a:solidFill>
                <a:latin typeface="+mn-lt"/>
                <a:ea typeface="宋体" charset="-122"/>
              </a:rPr>
              <a:t>L1</a:t>
            </a:r>
          </a:p>
          <a:p>
            <a:pPr algn="ctr"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600" i="1" dirty="0">
                <a:solidFill>
                  <a:schemeClr val="tx2"/>
                </a:solidFill>
                <a:latin typeface="+mn-lt"/>
                <a:ea typeface="宋体" charset="-122"/>
              </a:rPr>
              <a:t>miss</a:t>
            </a:r>
          </a:p>
        </p:txBody>
      </p:sp>
      <p:sp>
        <p:nvSpPr>
          <p:cNvPr id="124" name="Line 510">
            <a:extLst>
              <a:ext uri="{FF2B5EF4-FFF2-40B4-BE49-F238E27FC236}">
                <a16:creationId xmlns:a16="http://schemas.microsoft.com/office/drawing/2014/main" id="{0A1AA447-4FCD-6F4C-B0E5-6253CB8EA9B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787525" y="1447800"/>
            <a:ext cx="36576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125" name="Line 511">
            <a:extLst>
              <a:ext uri="{FF2B5EF4-FFF2-40B4-BE49-F238E27FC236}">
                <a16:creationId xmlns:a16="http://schemas.microsoft.com/office/drawing/2014/main" id="{9877376D-B672-B641-97ED-F171F69501E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731125" y="5486400"/>
            <a:ext cx="3810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126" name="Line 512">
            <a:extLst>
              <a:ext uri="{FF2B5EF4-FFF2-40B4-BE49-F238E27FC236}">
                <a16:creationId xmlns:a16="http://schemas.microsoft.com/office/drawing/2014/main" id="{AE8A7EF4-BB35-0947-8803-634AF6A9FBC5}"/>
              </a:ext>
            </a:extLst>
          </p:cNvPr>
          <p:cNvSpPr>
            <a:spLocks noChangeShapeType="1"/>
          </p:cNvSpPr>
          <p:nvPr/>
        </p:nvSpPr>
        <p:spPr bwMode="auto">
          <a:xfrm>
            <a:off x="7883525" y="5486400"/>
            <a:ext cx="0" cy="228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127" name="Text Box 513">
            <a:extLst>
              <a:ext uri="{FF2B5EF4-FFF2-40B4-BE49-F238E27FC236}">
                <a16:creationId xmlns:a16="http://schemas.microsoft.com/office/drawing/2014/main" id="{F896D50A-47F7-DA43-AB1A-C34308854D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1288" y="1528763"/>
            <a:ext cx="1889125" cy="3397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defRPr/>
            </a:pPr>
            <a:r>
              <a:rPr lang="en-US" sz="1600">
                <a:latin typeface="+mn-lt"/>
                <a:ea typeface="宋体" charset="-122"/>
              </a:rPr>
              <a:t>Virtual address (VA)</a:t>
            </a:r>
          </a:p>
        </p:txBody>
      </p:sp>
      <p:sp>
        <p:nvSpPr>
          <p:cNvPr id="128" name="Rectangle 514">
            <a:extLst>
              <a:ext uri="{FF2B5EF4-FFF2-40B4-BE49-F238E27FC236}">
                <a16:creationId xmlns:a16="http://schemas.microsoft.com/office/drawing/2014/main" id="{9B227237-4F60-E24E-8AE7-1999CE091A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5125" y="4940300"/>
            <a:ext cx="5334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 algn="ctr"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400">
                <a:solidFill>
                  <a:schemeClr val="tx2"/>
                </a:solidFill>
                <a:latin typeface="+mn-lt"/>
                <a:ea typeface="宋体" charset="-122"/>
              </a:rPr>
              <a:t>VPN3</a:t>
            </a:r>
          </a:p>
        </p:txBody>
      </p:sp>
      <p:sp>
        <p:nvSpPr>
          <p:cNvPr id="129" name="Rectangle 515">
            <a:extLst>
              <a:ext uri="{FF2B5EF4-FFF2-40B4-BE49-F238E27FC236}">
                <a16:creationId xmlns:a16="http://schemas.microsoft.com/office/drawing/2014/main" id="{0F321328-981B-734D-BC8E-4630D8F501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8525" y="4940300"/>
            <a:ext cx="5334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 algn="ctr"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400">
                <a:solidFill>
                  <a:schemeClr val="tx2"/>
                </a:solidFill>
                <a:latin typeface="+mn-lt"/>
                <a:ea typeface="宋体" charset="-122"/>
              </a:rPr>
              <a:t>VPN4</a:t>
            </a:r>
          </a:p>
        </p:txBody>
      </p:sp>
      <p:sp>
        <p:nvSpPr>
          <p:cNvPr id="130" name="Text Box 516">
            <a:extLst>
              <a:ext uri="{FF2B5EF4-FFF2-40B4-BE49-F238E27FC236}">
                <a16:creationId xmlns:a16="http://schemas.microsoft.com/office/drawing/2014/main" id="{E54B9B8A-0299-0640-9E48-D1DBE57DAD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7900" y="4724400"/>
            <a:ext cx="260350" cy="258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200">
                <a:solidFill>
                  <a:schemeClr val="tx2"/>
                </a:solidFill>
                <a:latin typeface="+mn-lt"/>
                <a:ea typeface="宋体" charset="-122"/>
              </a:rPr>
              <a:t>9</a:t>
            </a:r>
          </a:p>
        </p:txBody>
      </p:sp>
      <p:sp>
        <p:nvSpPr>
          <p:cNvPr id="131" name="Text Box 517">
            <a:extLst>
              <a:ext uri="{FF2B5EF4-FFF2-40B4-BE49-F238E27FC236}">
                <a16:creationId xmlns:a16="http://schemas.microsoft.com/office/drawing/2014/main" id="{D00B7420-1EF1-8440-BA18-35CDFB688C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7525" y="4724400"/>
            <a:ext cx="260350" cy="258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200">
                <a:solidFill>
                  <a:schemeClr val="tx2"/>
                </a:solidFill>
                <a:latin typeface="+mn-lt"/>
                <a:ea typeface="宋体" charset="-122"/>
              </a:rPr>
              <a:t>9</a:t>
            </a:r>
          </a:p>
        </p:txBody>
      </p:sp>
      <p:grpSp>
        <p:nvGrpSpPr>
          <p:cNvPr id="47233" name="Group 641">
            <a:extLst>
              <a:ext uri="{FF2B5EF4-FFF2-40B4-BE49-F238E27FC236}">
                <a16:creationId xmlns:a16="http://schemas.microsoft.com/office/drawing/2014/main" id="{C0E28EDB-E66B-7D4E-AB72-DEDF0BB8D91B}"/>
              </a:ext>
            </a:extLst>
          </p:cNvPr>
          <p:cNvGrpSpPr>
            <a:grpSpLocks/>
          </p:cNvGrpSpPr>
          <p:nvPr/>
        </p:nvGrpSpPr>
        <p:grpSpPr bwMode="auto">
          <a:xfrm>
            <a:off x="1106488" y="5632450"/>
            <a:ext cx="276225" cy="450850"/>
            <a:chOff x="739" y="2900"/>
            <a:chExt cx="174" cy="284"/>
          </a:xfrm>
        </p:grpSpPr>
        <p:sp>
          <p:nvSpPr>
            <p:cNvPr id="133" name="Line 433">
              <a:extLst>
                <a:ext uri="{FF2B5EF4-FFF2-40B4-BE49-F238E27FC236}">
                  <a16:creationId xmlns:a16="http://schemas.microsoft.com/office/drawing/2014/main" id="{C16DD6E0-4ADF-BA4E-9A41-1531F14F2F1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39" y="3181"/>
              <a:ext cx="40" cy="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lIns="90487" tIns="44450" rIns="90487" bIns="44450" anchor="ctr"/>
            <a:lstStyle/>
            <a:p>
              <a:pPr>
                <a:defRPr/>
              </a:pPr>
              <a:endParaRPr lang="en-US" sz="1600">
                <a:latin typeface="+mn-lt"/>
                <a:ea typeface="宋体" charset="-122"/>
              </a:endParaRPr>
            </a:p>
          </p:txBody>
        </p:sp>
        <p:sp>
          <p:nvSpPr>
            <p:cNvPr id="134" name="Line 434">
              <a:extLst>
                <a:ext uri="{FF2B5EF4-FFF2-40B4-BE49-F238E27FC236}">
                  <a16:creationId xmlns:a16="http://schemas.microsoft.com/office/drawing/2014/main" id="{61772BFA-9992-C242-9798-4F8D5C1797B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79" y="2900"/>
              <a:ext cx="0" cy="28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lIns="90487" tIns="44450" rIns="90487" bIns="44450" anchor="ctr"/>
            <a:lstStyle/>
            <a:p>
              <a:pPr>
                <a:defRPr/>
              </a:pPr>
              <a:endParaRPr lang="en-US" sz="1600">
                <a:latin typeface="+mn-lt"/>
                <a:ea typeface="宋体" charset="-122"/>
              </a:endParaRPr>
            </a:p>
          </p:txBody>
        </p:sp>
        <p:sp>
          <p:nvSpPr>
            <p:cNvPr id="135" name="Line 523">
              <a:extLst>
                <a:ext uri="{FF2B5EF4-FFF2-40B4-BE49-F238E27FC236}">
                  <a16:creationId xmlns:a16="http://schemas.microsoft.com/office/drawing/2014/main" id="{98322509-DAB4-724E-BE12-B2335CCDEB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9" y="2900"/>
              <a:ext cx="134" cy="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</p:spPr>
          <p:txBody>
            <a:bodyPr wrap="none" lIns="90487" tIns="44450" rIns="90487" bIns="44450" anchor="ctr"/>
            <a:lstStyle/>
            <a:p>
              <a:pPr>
                <a:defRPr/>
              </a:pPr>
              <a:endParaRPr lang="en-US" sz="1600">
                <a:latin typeface="+mn-lt"/>
                <a:ea typeface="宋体" charset="-122"/>
              </a:endParaRPr>
            </a:p>
          </p:txBody>
        </p:sp>
      </p:grpSp>
      <p:sp>
        <p:nvSpPr>
          <p:cNvPr id="136" name="Rectangle 525">
            <a:extLst>
              <a:ext uri="{FF2B5EF4-FFF2-40B4-BE49-F238E27FC236}">
                <a16:creationId xmlns:a16="http://schemas.microsoft.com/office/drawing/2014/main" id="{11AC76C6-28D8-8142-A2FE-F81CCD0F68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7475" y="5626100"/>
            <a:ext cx="368300" cy="914400"/>
          </a:xfrm>
          <a:prstGeom prst="rect">
            <a:avLst/>
          </a:prstGeom>
          <a:solidFill>
            <a:srgbClr val="DEDFF5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137" name="Rectangle 526">
            <a:extLst>
              <a:ext uri="{FF2B5EF4-FFF2-40B4-BE49-F238E27FC236}">
                <a16:creationId xmlns:a16="http://schemas.microsoft.com/office/drawing/2014/main" id="{C14CCC2D-A071-C34C-930D-1DCF9563C5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7475" y="5905500"/>
            <a:ext cx="368300" cy="254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 algn="ctr"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400">
                <a:solidFill>
                  <a:schemeClr val="tx2"/>
                </a:solidFill>
                <a:latin typeface="+mn-lt"/>
                <a:ea typeface="宋体" charset="-122"/>
              </a:rPr>
              <a:t>PTE</a:t>
            </a:r>
          </a:p>
        </p:txBody>
      </p:sp>
      <p:sp>
        <p:nvSpPr>
          <p:cNvPr id="138" name="Line 542">
            <a:extLst>
              <a:ext uri="{FF2B5EF4-FFF2-40B4-BE49-F238E27FC236}">
                <a16:creationId xmlns:a16="http://schemas.microsoft.com/office/drawing/2014/main" id="{965B928C-8FF7-C348-90F1-36F5F1FD2ABA}"/>
              </a:ext>
            </a:extLst>
          </p:cNvPr>
          <p:cNvSpPr>
            <a:spLocks noChangeShapeType="1"/>
          </p:cNvSpPr>
          <p:nvPr/>
        </p:nvSpPr>
        <p:spPr bwMode="auto">
          <a:xfrm>
            <a:off x="1249363" y="5254625"/>
            <a:ext cx="0" cy="7842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139" name="Line 543">
            <a:extLst>
              <a:ext uri="{FF2B5EF4-FFF2-40B4-BE49-F238E27FC236}">
                <a16:creationId xmlns:a16="http://schemas.microsoft.com/office/drawing/2014/main" id="{DA1516E5-D29C-A644-9FD9-58F3A9A3B53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249363" y="6030913"/>
            <a:ext cx="133350" cy="95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/>
          <a:lstStyle/>
          <a:p>
            <a:pPr algn="ctr">
              <a:defRPr/>
            </a:pPr>
            <a:endParaRPr lang="en-US" sz="1400">
              <a:latin typeface="+mn-lt"/>
              <a:ea typeface="宋体" charset="-122"/>
            </a:endParaRPr>
          </a:p>
        </p:txBody>
      </p:sp>
      <p:sp>
        <p:nvSpPr>
          <p:cNvPr id="140" name="Oval 544">
            <a:extLst>
              <a:ext uri="{FF2B5EF4-FFF2-40B4-BE49-F238E27FC236}">
                <a16:creationId xmlns:a16="http://schemas.microsoft.com/office/drawing/2014/main" id="{6705C10B-17E2-B544-B179-A0352CF7B1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4438" y="5216525"/>
            <a:ext cx="76200" cy="76200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141" name="Rectangle 610">
            <a:extLst>
              <a:ext uri="{FF2B5EF4-FFF2-40B4-BE49-F238E27FC236}">
                <a16:creationId xmlns:a16="http://schemas.microsoft.com/office/drawing/2014/main" id="{A2057FD8-29BE-4340-8C7A-EE046BF477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5650" y="5626100"/>
            <a:ext cx="368300" cy="914400"/>
          </a:xfrm>
          <a:prstGeom prst="rect">
            <a:avLst/>
          </a:prstGeom>
          <a:solidFill>
            <a:srgbClr val="DEDFF5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142" name="Rectangle 611">
            <a:extLst>
              <a:ext uri="{FF2B5EF4-FFF2-40B4-BE49-F238E27FC236}">
                <a16:creationId xmlns:a16="http://schemas.microsoft.com/office/drawing/2014/main" id="{0C75A633-12A4-6949-88EA-590EDA28ED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5650" y="5905500"/>
            <a:ext cx="368300" cy="254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 algn="ctr"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400" dirty="0">
                <a:solidFill>
                  <a:schemeClr val="tx2"/>
                </a:solidFill>
                <a:latin typeface="+mn-lt"/>
                <a:ea typeface="宋体" charset="-122"/>
              </a:rPr>
              <a:t>PTE</a:t>
            </a:r>
          </a:p>
        </p:txBody>
      </p:sp>
      <p:sp>
        <p:nvSpPr>
          <p:cNvPr id="143" name="Line 612">
            <a:extLst>
              <a:ext uri="{FF2B5EF4-FFF2-40B4-BE49-F238E27FC236}">
                <a16:creationId xmlns:a16="http://schemas.microsoft.com/office/drawing/2014/main" id="{3B844946-2C91-2841-983F-17EA78CDE4A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85950" y="5254625"/>
            <a:ext cx="1588" cy="7905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144" name="Line 613">
            <a:extLst>
              <a:ext uri="{FF2B5EF4-FFF2-40B4-BE49-F238E27FC236}">
                <a16:creationId xmlns:a16="http://schemas.microsoft.com/office/drawing/2014/main" id="{65660BA5-82C7-814A-A3E1-EF28DEB07A5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87538" y="6035675"/>
            <a:ext cx="133350" cy="95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/>
          <a:lstStyle/>
          <a:p>
            <a:pPr algn="ctr">
              <a:defRPr/>
            </a:pPr>
            <a:endParaRPr lang="en-US" sz="1400">
              <a:latin typeface="+mn-lt"/>
              <a:ea typeface="宋体" charset="-122"/>
            </a:endParaRPr>
          </a:p>
        </p:txBody>
      </p:sp>
      <p:sp>
        <p:nvSpPr>
          <p:cNvPr id="145" name="Oval 614">
            <a:extLst>
              <a:ext uri="{FF2B5EF4-FFF2-40B4-BE49-F238E27FC236}">
                <a16:creationId xmlns:a16="http://schemas.microsoft.com/office/drawing/2014/main" id="{F84082B6-9E88-1746-AEF2-652624E63C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2613" y="5216525"/>
            <a:ext cx="76200" cy="76200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146" name="Rectangle 619">
            <a:extLst>
              <a:ext uri="{FF2B5EF4-FFF2-40B4-BE49-F238E27FC236}">
                <a16:creationId xmlns:a16="http://schemas.microsoft.com/office/drawing/2014/main" id="{83B4FB5A-FE75-CD49-BF56-F688D5C11C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3825" y="5621338"/>
            <a:ext cx="368300" cy="914400"/>
          </a:xfrm>
          <a:prstGeom prst="rect">
            <a:avLst/>
          </a:prstGeom>
          <a:solidFill>
            <a:srgbClr val="DEDFF5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147" name="Rectangle 620">
            <a:extLst>
              <a:ext uri="{FF2B5EF4-FFF2-40B4-BE49-F238E27FC236}">
                <a16:creationId xmlns:a16="http://schemas.microsoft.com/office/drawing/2014/main" id="{868C9C95-5AEC-9141-884A-07B59356CE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3825" y="5900738"/>
            <a:ext cx="368300" cy="254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 algn="ctr"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400">
                <a:solidFill>
                  <a:schemeClr val="tx2"/>
                </a:solidFill>
                <a:latin typeface="+mn-lt"/>
                <a:ea typeface="宋体" charset="-122"/>
              </a:rPr>
              <a:t>PTE</a:t>
            </a:r>
          </a:p>
        </p:txBody>
      </p:sp>
      <p:sp>
        <p:nvSpPr>
          <p:cNvPr id="148" name="Line 621">
            <a:extLst>
              <a:ext uri="{FF2B5EF4-FFF2-40B4-BE49-F238E27FC236}">
                <a16:creationId xmlns:a16="http://schemas.microsoft.com/office/drawing/2014/main" id="{17E8DECC-36FC-C748-9DD9-045CA010C383}"/>
              </a:ext>
            </a:extLst>
          </p:cNvPr>
          <p:cNvSpPr>
            <a:spLocks noChangeShapeType="1"/>
          </p:cNvSpPr>
          <p:nvPr/>
        </p:nvSpPr>
        <p:spPr bwMode="auto">
          <a:xfrm>
            <a:off x="2525713" y="5249863"/>
            <a:ext cx="0" cy="7889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149" name="Line 622">
            <a:extLst>
              <a:ext uri="{FF2B5EF4-FFF2-40B4-BE49-F238E27FC236}">
                <a16:creationId xmlns:a16="http://schemas.microsoft.com/office/drawing/2014/main" id="{F52B1714-9A8E-1B4F-B993-8C35918C0B7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25713" y="6035675"/>
            <a:ext cx="133350" cy="95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/>
          <a:lstStyle/>
          <a:p>
            <a:pPr algn="ctr">
              <a:defRPr/>
            </a:pPr>
            <a:endParaRPr lang="en-US" sz="1400">
              <a:latin typeface="+mn-lt"/>
              <a:ea typeface="宋体" charset="-122"/>
            </a:endParaRPr>
          </a:p>
        </p:txBody>
      </p:sp>
      <p:sp>
        <p:nvSpPr>
          <p:cNvPr id="150" name="Oval 623">
            <a:extLst>
              <a:ext uri="{FF2B5EF4-FFF2-40B4-BE49-F238E27FC236}">
                <a16:creationId xmlns:a16="http://schemas.microsoft.com/office/drawing/2014/main" id="{E3FCAE68-ECB5-D542-96A6-D27E173D17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0788" y="5211763"/>
            <a:ext cx="76200" cy="76200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151" name="Line 626">
            <a:extLst>
              <a:ext uri="{FF2B5EF4-FFF2-40B4-BE49-F238E27FC236}">
                <a16:creationId xmlns:a16="http://schemas.microsoft.com/office/drawing/2014/main" id="{7B0DF034-90CD-C84B-8828-3FDDDACAE330}"/>
              </a:ext>
            </a:extLst>
          </p:cNvPr>
          <p:cNvSpPr>
            <a:spLocks noChangeShapeType="1"/>
          </p:cNvSpPr>
          <p:nvPr/>
        </p:nvSpPr>
        <p:spPr bwMode="auto">
          <a:xfrm>
            <a:off x="6016625" y="3438525"/>
            <a:ext cx="0" cy="4476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152" name="Line 627">
            <a:extLst>
              <a:ext uri="{FF2B5EF4-FFF2-40B4-BE49-F238E27FC236}">
                <a16:creationId xmlns:a16="http://schemas.microsoft.com/office/drawing/2014/main" id="{B7082BF9-145D-8C4F-B77F-1989CEA50131}"/>
              </a:ext>
            </a:extLst>
          </p:cNvPr>
          <p:cNvSpPr>
            <a:spLocks noChangeShapeType="1"/>
          </p:cNvSpPr>
          <p:nvPr/>
        </p:nvSpPr>
        <p:spPr bwMode="auto">
          <a:xfrm>
            <a:off x="6540500" y="3438525"/>
            <a:ext cx="0" cy="4476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153" name="Line 628">
            <a:extLst>
              <a:ext uri="{FF2B5EF4-FFF2-40B4-BE49-F238E27FC236}">
                <a16:creationId xmlns:a16="http://schemas.microsoft.com/office/drawing/2014/main" id="{F620A94D-39E6-D24D-ACB2-0325859C54AC}"/>
              </a:ext>
            </a:extLst>
          </p:cNvPr>
          <p:cNvSpPr>
            <a:spLocks noChangeShapeType="1"/>
          </p:cNvSpPr>
          <p:nvPr/>
        </p:nvSpPr>
        <p:spPr bwMode="auto">
          <a:xfrm>
            <a:off x="7064375" y="3429000"/>
            <a:ext cx="0" cy="4476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154" name="Line 629">
            <a:extLst>
              <a:ext uri="{FF2B5EF4-FFF2-40B4-BE49-F238E27FC236}">
                <a16:creationId xmlns:a16="http://schemas.microsoft.com/office/drawing/2014/main" id="{786EBD8B-215B-934D-B6E8-BB41B1D4EFA0}"/>
              </a:ext>
            </a:extLst>
          </p:cNvPr>
          <p:cNvSpPr>
            <a:spLocks noChangeShapeType="1"/>
          </p:cNvSpPr>
          <p:nvPr/>
        </p:nvSpPr>
        <p:spPr bwMode="auto">
          <a:xfrm>
            <a:off x="7616825" y="3438525"/>
            <a:ext cx="0" cy="4476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155" name="Line 631">
            <a:extLst>
              <a:ext uri="{FF2B5EF4-FFF2-40B4-BE49-F238E27FC236}">
                <a16:creationId xmlns:a16="http://schemas.microsoft.com/office/drawing/2014/main" id="{26D7C114-5980-804B-957D-EC4888702FE8}"/>
              </a:ext>
            </a:extLst>
          </p:cNvPr>
          <p:cNvSpPr>
            <a:spLocks noChangeShapeType="1"/>
          </p:cNvSpPr>
          <p:nvPr/>
        </p:nvSpPr>
        <p:spPr bwMode="auto">
          <a:xfrm>
            <a:off x="6019800" y="41148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156" name="Line 632">
            <a:extLst>
              <a:ext uri="{FF2B5EF4-FFF2-40B4-BE49-F238E27FC236}">
                <a16:creationId xmlns:a16="http://schemas.microsoft.com/office/drawing/2014/main" id="{79254AD4-3121-8F47-B372-CC2C75C236D1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0025" y="4119563"/>
            <a:ext cx="0" cy="1476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157" name="Line 633">
            <a:extLst>
              <a:ext uri="{FF2B5EF4-FFF2-40B4-BE49-F238E27FC236}">
                <a16:creationId xmlns:a16="http://schemas.microsoft.com/office/drawing/2014/main" id="{F4AFA291-74F7-8B4C-AA76-9799E2920E77}"/>
              </a:ext>
            </a:extLst>
          </p:cNvPr>
          <p:cNvSpPr>
            <a:spLocks noChangeShapeType="1"/>
          </p:cNvSpPr>
          <p:nvPr/>
        </p:nvSpPr>
        <p:spPr bwMode="auto">
          <a:xfrm>
            <a:off x="7086600" y="4117975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158" name="Line 634">
            <a:extLst>
              <a:ext uri="{FF2B5EF4-FFF2-40B4-BE49-F238E27FC236}">
                <a16:creationId xmlns:a16="http://schemas.microsoft.com/office/drawing/2014/main" id="{578AB81A-D5AD-2447-A07E-B6ECE1836A1A}"/>
              </a:ext>
            </a:extLst>
          </p:cNvPr>
          <p:cNvSpPr>
            <a:spLocks noChangeShapeType="1"/>
          </p:cNvSpPr>
          <p:nvPr/>
        </p:nvSpPr>
        <p:spPr bwMode="auto">
          <a:xfrm>
            <a:off x="7616825" y="4117975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159" name="Line 635">
            <a:extLst>
              <a:ext uri="{FF2B5EF4-FFF2-40B4-BE49-F238E27FC236}">
                <a16:creationId xmlns:a16="http://schemas.microsoft.com/office/drawing/2014/main" id="{E40CFF45-39DA-A047-8557-CBA0E48B30D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62675" y="4267200"/>
            <a:ext cx="0" cy="381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160" name="Line 636">
            <a:extLst>
              <a:ext uri="{FF2B5EF4-FFF2-40B4-BE49-F238E27FC236}">
                <a16:creationId xmlns:a16="http://schemas.microsoft.com/office/drawing/2014/main" id="{C1C1A454-4B23-9948-813D-3BA1E0050D7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83375" y="4268788"/>
            <a:ext cx="0" cy="3746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161" name="Line 637">
            <a:extLst>
              <a:ext uri="{FF2B5EF4-FFF2-40B4-BE49-F238E27FC236}">
                <a16:creationId xmlns:a16="http://schemas.microsoft.com/office/drawing/2014/main" id="{65ECCAEC-256D-B346-A78A-7FEFC4FBE4C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23125" y="4260850"/>
            <a:ext cx="0" cy="381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162" name="Line 638">
            <a:extLst>
              <a:ext uri="{FF2B5EF4-FFF2-40B4-BE49-F238E27FC236}">
                <a16:creationId xmlns:a16="http://schemas.microsoft.com/office/drawing/2014/main" id="{E56503A4-E997-CE45-A1C8-9728343EF9F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759700" y="4270375"/>
            <a:ext cx="0" cy="3730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163" name="Line 639">
            <a:extLst>
              <a:ext uri="{FF2B5EF4-FFF2-40B4-BE49-F238E27FC236}">
                <a16:creationId xmlns:a16="http://schemas.microsoft.com/office/drawing/2014/main" id="{1871E7F5-528F-5C40-A50E-6F7724D5D896}"/>
              </a:ext>
            </a:extLst>
          </p:cNvPr>
          <p:cNvSpPr>
            <a:spLocks noChangeShapeType="1"/>
          </p:cNvSpPr>
          <p:nvPr/>
        </p:nvSpPr>
        <p:spPr bwMode="auto">
          <a:xfrm>
            <a:off x="536575" y="5626100"/>
            <a:ext cx="2349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grpSp>
        <p:nvGrpSpPr>
          <p:cNvPr id="47262" name="Group 642">
            <a:extLst>
              <a:ext uri="{FF2B5EF4-FFF2-40B4-BE49-F238E27FC236}">
                <a16:creationId xmlns:a16="http://schemas.microsoft.com/office/drawing/2014/main" id="{FCFAADE6-FB5E-B14E-A3A9-11462193B7D7}"/>
              </a:ext>
            </a:extLst>
          </p:cNvPr>
          <p:cNvGrpSpPr>
            <a:grpSpLocks/>
          </p:cNvGrpSpPr>
          <p:nvPr/>
        </p:nvGrpSpPr>
        <p:grpSpPr bwMode="auto">
          <a:xfrm>
            <a:off x="1754188" y="5627688"/>
            <a:ext cx="276225" cy="450850"/>
            <a:chOff x="739" y="2900"/>
            <a:chExt cx="174" cy="284"/>
          </a:xfrm>
        </p:grpSpPr>
        <p:sp>
          <p:nvSpPr>
            <p:cNvPr id="165" name="Line 643">
              <a:extLst>
                <a:ext uri="{FF2B5EF4-FFF2-40B4-BE49-F238E27FC236}">
                  <a16:creationId xmlns:a16="http://schemas.microsoft.com/office/drawing/2014/main" id="{31D9CF36-A90A-CF4F-B5A9-FAE8E95843F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39" y="3181"/>
              <a:ext cx="40" cy="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lIns="90487" tIns="44450" rIns="90487" bIns="44450" anchor="ctr"/>
            <a:lstStyle/>
            <a:p>
              <a:pPr>
                <a:defRPr/>
              </a:pPr>
              <a:endParaRPr lang="en-US" sz="1600">
                <a:latin typeface="+mn-lt"/>
                <a:ea typeface="宋体" charset="-122"/>
              </a:endParaRPr>
            </a:p>
          </p:txBody>
        </p:sp>
        <p:sp>
          <p:nvSpPr>
            <p:cNvPr id="166" name="Line 644">
              <a:extLst>
                <a:ext uri="{FF2B5EF4-FFF2-40B4-BE49-F238E27FC236}">
                  <a16:creationId xmlns:a16="http://schemas.microsoft.com/office/drawing/2014/main" id="{C78FFADD-3E47-BA41-8F1C-0DFA8355D4B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79" y="2900"/>
              <a:ext cx="0" cy="28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lIns="90487" tIns="44450" rIns="90487" bIns="44450" anchor="ctr"/>
            <a:lstStyle/>
            <a:p>
              <a:pPr>
                <a:defRPr/>
              </a:pPr>
              <a:endParaRPr lang="en-US" sz="1600">
                <a:latin typeface="+mn-lt"/>
                <a:ea typeface="宋体" charset="-122"/>
              </a:endParaRPr>
            </a:p>
          </p:txBody>
        </p:sp>
        <p:sp>
          <p:nvSpPr>
            <p:cNvPr id="167" name="Line 645">
              <a:extLst>
                <a:ext uri="{FF2B5EF4-FFF2-40B4-BE49-F238E27FC236}">
                  <a16:creationId xmlns:a16="http://schemas.microsoft.com/office/drawing/2014/main" id="{1DCD7048-1A52-7F40-85B1-CBAF52FE5E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9" y="2900"/>
              <a:ext cx="134" cy="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</p:spPr>
          <p:txBody>
            <a:bodyPr wrap="none" lIns="90487" tIns="44450" rIns="90487" bIns="44450" anchor="ctr"/>
            <a:lstStyle/>
            <a:p>
              <a:pPr>
                <a:defRPr/>
              </a:pPr>
              <a:endParaRPr lang="en-US" sz="1600">
                <a:latin typeface="+mn-lt"/>
                <a:ea typeface="宋体" charset="-122"/>
              </a:endParaRPr>
            </a:p>
          </p:txBody>
        </p:sp>
      </p:grpSp>
      <p:grpSp>
        <p:nvGrpSpPr>
          <p:cNvPr id="47263" name="Group 646">
            <a:extLst>
              <a:ext uri="{FF2B5EF4-FFF2-40B4-BE49-F238E27FC236}">
                <a16:creationId xmlns:a16="http://schemas.microsoft.com/office/drawing/2014/main" id="{B8E607AF-7C20-CD4A-88AB-71B824FE78AF}"/>
              </a:ext>
            </a:extLst>
          </p:cNvPr>
          <p:cNvGrpSpPr>
            <a:grpSpLocks/>
          </p:cNvGrpSpPr>
          <p:nvPr/>
        </p:nvGrpSpPr>
        <p:grpSpPr bwMode="auto">
          <a:xfrm>
            <a:off x="2392363" y="5627688"/>
            <a:ext cx="276225" cy="450850"/>
            <a:chOff x="739" y="2900"/>
            <a:chExt cx="174" cy="284"/>
          </a:xfrm>
        </p:grpSpPr>
        <p:sp>
          <p:nvSpPr>
            <p:cNvPr id="169" name="Line 647">
              <a:extLst>
                <a:ext uri="{FF2B5EF4-FFF2-40B4-BE49-F238E27FC236}">
                  <a16:creationId xmlns:a16="http://schemas.microsoft.com/office/drawing/2014/main" id="{4752F1FD-14E5-C147-B205-A26F22E8D5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39" y="3181"/>
              <a:ext cx="40" cy="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lIns="90487" tIns="44450" rIns="90487" bIns="44450" anchor="ctr"/>
            <a:lstStyle/>
            <a:p>
              <a:pPr>
                <a:defRPr/>
              </a:pPr>
              <a:endParaRPr lang="en-US" sz="1600">
                <a:latin typeface="+mn-lt"/>
                <a:ea typeface="宋体" charset="-122"/>
              </a:endParaRPr>
            </a:p>
          </p:txBody>
        </p:sp>
        <p:sp>
          <p:nvSpPr>
            <p:cNvPr id="170" name="Line 648">
              <a:extLst>
                <a:ext uri="{FF2B5EF4-FFF2-40B4-BE49-F238E27FC236}">
                  <a16:creationId xmlns:a16="http://schemas.microsoft.com/office/drawing/2014/main" id="{F318C766-0846-5948-AA54-12C67DA2644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79" y="2900"/>
              <a:ext cx="0" cy="28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lIns="90487" tIns="44450" rIns="90487" bIns="44450" anchor="ctr"/>
            <a:lstStyle/>
            <a:p>
              <a:pPr>
                <a:defRPr/>
              </a:pPr>
              <a:endParaRPr lang="en-US" sz="1600">
                <a:latin typeface="+mn-lt"/>
                <a:ea typeface="宋体" charset="-122"/>
              </a:endParaRPr>
            </a:p>
          </p:txBody>
        </p:sp>
        <p:sp>
          <p:nvSpPr>
            <p:cNvPr id="171" name="Line 649">
              <a:extLst>
                <a:ext uri="{FF2B5EF4-FFF2-40B4-BE49-F238E27FC236}">
                  <a16:creationId xmlns:a16="http://schemas.microsoft.com/office/drawing/2014/main" id="{34DAC279-BA78-B549-B97D-32376D3079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9" y="2900"/>
              <a:ext cx="134" cy="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</p:spPr>
          <p:txBody>
            <a:bodyPr wrap="none" lIns="90487" tIns="44450" rIns="90487" bIns="44450" anchor="ctr"/>
            <a:lstStyle/>
            <a:p>
              <a:pPr>
                <a:defRPr/>
              </a:pPr>
              <a:endParaRPr lang="en-US" sz="1600">
                <a:latin typeface="+mn-lt"/>
                <a:ea typeface="宋体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68022606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1">
            <a:extLst>
              <a:ext uri="{FF2B5EF4-FFF2-40B4-BE49-F238E27FC236}">
                <a16:creationId xmlns:a16="http://schemas.microsoft.com/office/drawing/2014/main" id="{3468BC62-C83A-1647-B870-8463A278252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81000" y="493713"/>
            <a:ext cx="7348538" cy="573087"/>
          </a:xfrm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CN">
                <a:ea typeface="宋体" panose="02010600030101010101" pitchFamily="2" charset="-122"/>
              </a:rPr>
              <a:t>Core i7 Level 4 Page Table Entries</a:t>
            </a:r>
          </a:p>
        </p:txBody>
      </p:sp>
      <p:sp>
        <p:nvSpPr>
          <p:cNvPr id="48130" name="Rectangle 2">
            <a:extLst>
              <a:ext uri="{FF2B5EF4-FFF2-40B4-BE49-F238E27FC236}">
                <a16:creationId xmlns:a16="http://schemas.microsoft.com/office/drawing/2014/main" id="{79AE6E60-8F83-D94E-A8C8-4FCA3B3F3A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1741488"/>
            <a:ext cx="2667000" cy="381000"/>
          </a:xfrm>
          <a:prstGeom prst="rect">
            <a:avLst/>
          </a:prstGeom>
          <a:solidFill>
            <a:srgbClr val="D5F1C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360" tIns="44280" rIns="90360" bIns="4428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8000"/>
              </a:lnSpc>
              <a:spcBef>
                <a:spcPts val="525"/>
              </a:spcBef>
              <a:buFontTx/>
              <a:buNone/>
            </a:pPr>
            <a:r>
              <a:rPr kumimoji="0" lang="en-GB" altLang="zh-CN" sz="1400">
                <a:latin typeface="Calibri" panose="020F0502020204030204" pitchFamily="34" charset="0"/>
                <a:ea typeface="msgothic"/>
                <a:cs typeface="msgothic"/>
              </a:rPr>
              <a:t>Page physical base address</a:t>
            </a:r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220FA417-89E2-EA4C-9F8A-437C755C03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1741488"/>
            <a:ext cx="990600" cy="381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360" tIns="44280" rIns="90360" bIns="4428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8000"/>
              </a:lnSpc>
              <a:spcBef>
                <a:spcPts val="525"/>
              </a:spcBef>
              <a:buFontTx/>
              <a:buNone/>
            </a:pPr>
            <a:r>
              <a:rPr kumimoji="0" lang="en-GB" altLang="zh-CN" sz="1400">
                <a:latin typeface="Calibri" panose="020F0502020204030204" pitchFamily="34" charset="0"/>
                <a:ea typeface="msgothic"/>
                <a:cs typeface="msgothic"/>
              </a:rPr>
              <a:t>Unused</a:t>
            </a:r>
          </a:p>
        </p:txBody>
      </p:sp>
      <p:sp>
        <p:nvSpPr>
          <p:cNvPr id="48132" name="Rectangle 4">
            <a:extLst>
              <a:ext uri="{FF2B5EF4-FFF2-40B4-BE49-F238E27FC236}">
                <a16:creationId xmlns:a16="http://schemas.microsoft.com/office/drawing/2014/main" id="{E2AF7637-CA56-5647-9856-7E586B43D6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0" y="1741488"/>
            <a:ext cx="381000" cy="381000"/>
          </a:xfrm>
          <a:prstGeom prst="rect">
            <a:avLst/>
          </a:prstGeom>
          <a:solidFill>
            <a:srgbClr val="F1C7C7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360" tIns="44280" rIns="90360" bIns="4428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8000"/>
              </a:lnSpc>
              <a:spcBef>
                <a:spcPts val="525"/>
              </a:spcBef>
              <a:buFontTx/>
              <a:buNone/>
            </a:pPr>
            <a:r>
              <a:rPr kumimoji="0" lang="en-GB" altLang="zh-CN" sz="1400">
                <a:latin typeface="Calibri" panose="020F0502020204030204" pitchFamily="34" charset="0"/>
                <a:ea typeface="msgothic"/>
                <a:cs typeface="msgothic"/>
              </a:rPr>
              <a:t>G</a:t>
            </a:r>
          </a:p>
        </p:txBody>
      </p:sp>
      <p:sp>
        <p:nvSpPr>
          <p:cNvPr id="48133" name="Rectangle 5">
            <a:extLst>
              <a:ext uri="{FF2B5EF4-FFF2-40B4-BE49-F238E27FC236}">
                <a16:creationId xmlns:a16="http://schemas.microsoft.com/office/drawing/2014/main" id="{4D3F1F18-ECA0-1343-89E5-F9A5A752B5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1741488"/>
            <a:ext cx="381000" cy="381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360" tIns="44280" rIns="90360" bIns="4428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8000"/>
              </a:lnSpc>
              <a:spcBef>
                <a:spcPts val="525"/>
              </a:spcBef>
              <a:buFontTx/>
              <a:buNone/>
            </a:pPr>
            <a:endParaRPr kumimoji="0" lang="en-GB" altLang="zh-CN" sz="1400">
              <a:latin typeface="Calibri" panose="020F0502020204030204" pitchFamily="34" charset="0"/>
              <a:ea typeface="msgothic"/>
              <a:cs typeface="msgothic"/>
            </a:endParaRPr>
          </a:p>
        </p:txBody>
      </p:sp>
      <p:sp>
        <p:nvSpPr>
          <p:cNvPr id="48134" name="Rectangle 6">
            <a:extLst>
              <a:ext uri="{FF2B5EF4-FFF2-40B4-BE49-F238E27FC236}">
                <a16:creationId xmlns:a16="http://schemas.microsoft.com/office/drawing/2014/main" id="{B42BBBD7-FD36-C64D-A639-C19B6ED782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1741488"/>
            <a:ext cx="381000" cy="381000"/>
          </a:xfrm>
          <a:prstGeom prst="rect">
            <a:avLst/>
          </a:prstGeom>
          <a:solidFill>
            <a:srgbClr val="F6D2D2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CN" sz="1400"/>
              <a:t>D</a:t>
            </a:r>
          </a:p>
        </p:txBody>
      </p:sp>
      <p:sp>
        <p:nvSpPr>
          <p:cNvPr id="48135" name="Rectangle 7">
            <a:extLst>
              <a:ext uri="{FF2B5EF4-FFF2-40B4-BE49-F238E27FC236}">
                <a16:creationId xmlns:a16="http://schemas.microsoft.com/office/drawing/2014/main" id="{970A27E5-BA41-BF49-8BC5-C518F6123F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1741488"/>
            <a:ext cx="381000" cy="381000"/>
          </a:xfrm>
          <a:prstGeom prst="rect">
            <a:avLst/>
          </a:prstGeom>
          <a:solidFill>
            <a:srgbClr val="F6D2D2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360" tIns="44280" rIns="90360" bIns="4428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8000"/>
              </a:lnSpc>
              <a:spcBef>
                <a:spcPts val="525"/>
              </a:spcBef>
              <a:buFontTx/>
              <a:buNone/>
            </a:pPr>
            <a:r>
              <a:rPr kumimoji="0" lang="en-GB" altLang="zh-CN" sz="1400">
                <a:latin typeface="Calibri" panose="020F0502020204030204" pitchFamily="34" charset="0"/>
                <a:ea typeface="msgothic"/>
                <a:cs typeface="msgothic"/>
              </a:rPr>
              <a:t>A</a:t>
            </a:r>
          </a:p>
        </p:txBody>
      </p:sp>
      <p:sp>
        <p:nvSpPr>
          <p:cNvPr id="48136" name="Rectangle 8">
            <a:extLst>
              <a:ext uri="{FF2B5EF4-FFF2-40B4-BE49-F238E27FC236}">
                <a16:creationId xmlns:a16="http://schemas.microsoft.com/office/drawing/2014/main" id="{1D9CC53C-BBCD-8340-9687-75BF148174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1741488"/>
            <a:ext cx="381000" cy="381000"/>
          </a:xfrm>
          <a:prstGeom prst="rect">
            <a:avLst/>
          </a:prstGeom>
          <a:solidFill>
            <a:srgbClr val="F1C7C7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360" tIns="44280" rIns="90360" bIns="4428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8000"/>
              </a:lnSpc>
              <a:spcBef>
                <a:spcPts val="525"/>
              </a:spcBef>
              <a:buFontTx/>
              <a:buNone/>
            </a:pPr>
            <a:r>
              <a:rPr kumimoji="0" lang="en-GB" altLang="zh-CN" sz="1400">
                <a:latin typeface="Calibri" panose="020F0502020204030204" pitchFamily="34" charset="0"/>
                <a:ea typeface="msgothic"/>
                <a:cs typeface="msgothic"/>
              </a:rPr>
              <a:t>CD</a:t>
            </a:r>
          </a:p>
        </p:txBody>
      </p:sp>
      <p:sp>
        <p:nvSpPr>
          <p:cNvPr id="48137" name="Rectangle 9">
            <a:extLst>
              <a:ext uri="{FF2B5EF4-FFF2-40B4-BE49-F238E27FC236}">
                <a16:creationId xmlns:a16="http://schemas.microsoft.com/office/drawing/2014/main" id="{02CA6D7D-AC8C-E747-8394-4D3A0A7891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1400" y="1741488"/>
            <a:ext cx="381000" cy="381000"/>
          </a:xfrm>
          <a:prstGeom prst="rect">
            <a:avLst/>
          </a:prstGeom>
          <a:solidFill>
            <a:srgbClr val="F1C7C7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360" tIns="44280" rIns="90360" bIns="4428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8000"/>
              </a:lnSpc>
              <a:spcBef>
                <a:spcPts val="525"/>
              </a:spcBef>
              <a:buFontTx/>
              <a:buNone/>
            </a:pPr>
            <a:r>
              <a:rPr kumimoji="0" lang="en-GB" altLang="zh-CN" sz="1400">
                <a:latin typeface="Calibri" panose="020F0502020204030204" pitchFamily="34" charset="0"/>
                <a:ea typeface="msgothic"/>
                <a:cs typeface="msgothic"/>
              </a:rPr>
              <a:t>WT</a:t>
            </a:r>
          </a:p>
        </p:txBody>
      </p:sp>
      <p:sp>
        <p:nvSpPr>
          <p:cNvPr id="48138" name="Rectangle 10">
            <a:extLst>
              <a:ext uri="{FF2B5EF4-FFF2-40B4-BE49-F238E27FC236}">
                <a16:creationId xmlns:a16="http://schemas.microsoft.com/office/drawing/2014/main" id="{C1161D41-08F2-5241-AA59-5EBCEF9706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2400" y="1741488"/>
            <a:ext cx="381000" cy="381000"/>
          </a:xfrm>
          <a:prstGeom prst="rect">
            <a:avLst/>
          </a:prstGeom>
          <a:solidFill>
            <a:srgbClr val="F1C7C7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360" tIns="44280" rIns="90360" bIns="4428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8000"/>
              </a:lnSpc>
              <a:spcBef>
                <a:spcPts val="525"/>
              </a:spcBef>
              <a:buFontTx/>
              <a:buNone/>
            </a:pPr>
            <a:r>
              <a:rPr kumimoji="0" lang="en-GB" altLang="zh-CN" sz="1400">
                <a:latin typeface="Calibri" panose="020F0502020204030204" pitchFamily="34" charset="0"/>
                <a:ea typeface="msgothic"/>
                <a:cs typeface="msgothic"/>
              </a:rPr>
              <a:t>U/S</a:t>
            </a:r>
          </a:p>
        </p:txBody>
      </p:sp>
      <p:sp>
        <p:nvSpPr>
          <p:cNvPr id="48139" name="Rectangle 11">
            <a:extLst>
              <a:ext uri="{FF2B5EF4-FFF2-40B4-BE49-F238E27FC236}">
                <a16:creationId xmlns:a16="http://schemas.microsoft.com/office/drawing/2014/main" id="{4A8F83DE-DB94-D24C-805E-938CE4E247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3400" y="1741488"/>
            <a:ext cx="381000" cy="381000"/>
          </a:xfrm>
          <a:prstGeom prst="rect">
            <a:avLst/>
          </a:prstGeom>
          <a:solidFill>
            <a:srgbClr val="F1C7C7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360" tIns="44280" rIns="90360" bIns="4428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8000"/>
              </a:lnSpc>
              <a:spcBef>
                <a:spcPts val="525"/>
              </a:spcBef>
              <a:buFontTx/>
              <a:buNone/>
            </a:pPr>
            <a:r>
              <a:rPr kumimoji="0" lang="en-GB" altLang="zh-CN" sz="1400">
                <a:latin typeface="Calibri" panose="020F0502020204030204" pitchFamily="34" charset="0"/>
                <a:ea typeface="msgothic"/>
                <a:cs typeface="msgothic"/>
              </a:rPr>
              <a:t>R/W</a:t>
            </a:r>
          </a:p>
        </p:txBody>
      </p:sp>
      <p:sp>
        <p:nvSpPr>
          <p:cNvPr id="48140" name="Rectangle 12">
            <a:extLst>
              <a:ext uri="{FF2B5EF4-FFF2-40B4-BE49-F238E27FC236}">
                <a16:creationId xmlns:a16="http://schemas.microsoft.com/office/drawing/2014/main" id="{F883CDF9-C1B6-3A4A-A471-6D9B1AEFB4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4400" y="1741488"/>
            <a:ext cx="381000" cy="381000"/>
          </a:xfrm>
          <a:prstGeom prst="rect">
            <a:avLst/>
          </a:prstGeom>
          <a:solidFill>
            <a:srgbClr val="F1C7C7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360" tIns="44280" rIns="90360" bIns="4428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8000"/>
              </a:lnSpc>
              <a:spcBef>
                <a:spcPts val="525"/>
              </a:spcBef>
              <a:buFontTx/>
              <a:buNone/>
            </a:pPr>
            <a:r>
              <a:rPr kumimoji="0" lang="en-GB" altLang="zh-CN" sz="1400">
                <a:latin typeface="Calibri" panose="020F0502020204030204" pitchFamily="34" charset="0"/>
                <a:ea typeface="msgothic"/>
                <a:cs typeface="msgothic"/>
              </a:rPr>
              <a:t>P=1</a:t>
            </a:r>
          </a:p>
        </p:txBody>
      </p:sp>
      <p:sp>
        <p:nvSpPr>
          <p:cNvPr id="48141" name="Text Box 13">
            <a:extLst>
              <a:ext uri="{FF2B5EF4-FFF2-40B4-BE49-F238E27FC236}">
                <a16:creationId xmlns:a16="http://schemas.microsoft.com/office/drawing/2014/main" id="{2BAA1D8F-8CDB-F54F-8160-9F2313A632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930525"/>
            <a:ext cx="6934200" cy="354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360" tIns="44280" rIns="90360" bIns="44280">
            <a:spAutoFit/>
          </a:bodyPr>
          <a:lstStyle>
            <a:lvl1pPr marL="341313" indent="-341313">
              <a:spcBef>
                <a:spcPct val="20000"/>
              </a:spcBef>
              <a:buChar char="•"/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88000"/>
              </a:lnSpc>
              <a:spcBef>
                <a:spcPts val="1200"/>
              </a:spcBef>
              <a:buFontTx/>
              <a:buNone/>
            </a:pPr>
            <a:r>
              <a:rPr kumimoji="0" lang="en-GB" altLang="zh-CN" sz="2000">
                <a:latin typeface="Calibri" panose="020F0502020204030204" pitchFamily="34" charset="0"/>
                <a:ea typeface="msgothic"/>
                <a:cs typeface="msgothic"/>
              </a:rPr>
              <a:t>Each entry references a 4K child page. Significant fields:</a:t>
            </a:r>
          </a:p>
          <a:p>
            <a:pPr>
              <a:lnSpc>
                <a:spcPct val="88000"/>
              </a:lnSpc>
              <a:spcBef>
                <a:spcPts val="1200"/>
              </a:spcBef>
              <a:buFontTx/>
              <a:buNone/>
            </a:pPr>
            <a:r>
              <a:rPr kumimoji="0" lang="en-GB" altLang="zh-CN" sz="1600">
                <a:latin typeface="Calibri" panose="020F0502020204030204" pitchFamily="34" charset="0"/>
                <a:ea typeface="msgothic"/>
                <a:cs typeface="msgothic"/>
              </a:rPr>
              <a:t>P: </a:t>
            </a:r>
            <a:r>
              <a:rPr kumimoji="0" lang="en-GB" altLang="zh-CN" sz="1600" b="0">
                <a:latin typeface="Calibri" panose="020F0502020204030204" pitchFamily="34" charset="0"/>
                <a:ea typeface="msgothic"/>
                <a:cs typeface="msgothic"/>
              </a:rPr>
              <a:t>Child page is present in memory (1) or not (0)</a:t>
            </a:r>
          </a:p>
          <a:p>
            <a:pPr>
              <a:lnSpc>
                <a:spcPct val="88000"/>
              </a:lnSpc>
              <a:spcBef>
                <a:spcPts val="1200"/>
              </a:spcBef>
              <a:buFontTx/>
              <a:buNone/>
            </a:pPr>
            <a:r>
              <a:rPr kumimoji="0" lang="en-GB" altLang="zh-CN" sz="1600">
                <a:latin typeface="Calibri" panose="020F0502020204030204" pitchFamily="34" charset="0"/>
                <a:ea typeface="msgothic"/>
                <a:cs typeface="msgothic"/>
              </a:rPr>
              <a:t>R/W: </a:t>
            </a:r>
            <a:r>
              <a:rPr kumimoji="0" lang="en-GB" altLang="zh-CN" sz="1600" b="0">
                <a:latin typeface="Calibri" panose="020F0502020204030204" pitchFamily="34" charset="0"/>
                <a:ea typeface="msgothic"/>
                <a:cs typeface="msgothic"/>
              </a:rPr>
              <a:t>Read-only or read-write access permission for child page</a:t>
            </a:r>
          </a:p>
          <a:p>
            <a:pPr>
              <a:lnSpc>
                <a:spcPct val="88000"/>
              </a:lnSpc>
              <a:spcBef>
                <a:spcPts val="1200"/>
              </a:spcBef>
              <a:buFontTx/>
              <a:buNone/>
            </a:pPr>
            <a:r>
              <a:rPr kumimoji="0" lang="en-GB" altLang="zh-CN" sz="1600">
                <a:latin typeface="Calibri" panose="020F0502020204030204" pitchFamily="34" charset="0"/>
                <a:ea typeface="msgothic"/>
                <a:cs typeface="msgothic"/>
              </a:rPr>
              <a:t>U/S: </a:t>
            </a:r>
            <a:r>
              <a:rPr kumimoji="0" lang="en-GB" altLang="zh-CN" sz="1600" b="0">
                <a:latin typeface="Calibri" panose="020F0502020204030204" pitchFamily="34" charset="0"/>
                <a:ea typeface="msgothic"/>
                <a:cs typeface="msgothic"/>
              </a:rPr>
              <a:t>User or supervisor mode access</a:t>
            </a:r>
          </a:p>
          <a:p>
            <a:pPr>
              <a:lnSpc>
                <a:spcPct val="88000"/>
              </a:lnSpc>
              <a:spcBef>
                <a:spcPts val="1200"/>
              </a:spcBef>
              <a:buFontTx/>
              <a:buNone/>
            </a:pPr>
            <a:r>
              <a:rPr kumimoji="0" lang="en-GB" altLang="zh-CN" sz="1600">
                <a:latin typeface="Calibri" panose="020F0502020204030204" pitchFamily="34" charset="0"/>
                <a:ea typeface="msgothic"/>
                <a:cs typeface="msgothic"/>
              </a:rPr>
              <a:t>WT: </a:t>
            </a:r>
            <a:r>
              <a:rPr kumimoji="0" lang="en-GB" altLang="zh-CN" sz="1600" b="0">
                <a:latin typeface="Calibri" panose="020F0502020204030204" pitchFamily="34" charset="0"/>
                <a:ea typeface="msgothic"/>
                <a:cs typeface="msgothic"/>
              </a:rPr>
              <a:t>Write-through or write-back cache policy for this page</a:t>
            </a:r>
          </a:p>
          <a:p>
            <a:pPr>
              <a:lnSpc>
                <a:spcPct val="88000"/>
              </a:lnSpc>
              <a:spcBef>
                <a:spcPts val="1200"/>
              </a:spcBef>
              <a:buFontTx/>
              <a:buNone/>
            </a:pPr>
            <a:r>
              <a:rPr kumimoji="0" lang="en-GB" altLang="zh-CN" sz="1600">
                <a:latin typeface="Calibri" panose="020F0502020204030204" pitchFamily="34" charset="0"/>
                <a:ea typeface="msgothic"/>
                <a:cs typeface="msgothic"/>
              </a:rPr>
              <a:t>A: </a:t>
            </a:r>
            <a:r>
              <a:rPr kumimoji="0" lang="en-GB" altLang="zh-CN" sz="1600" b="0">
                <a:latin typeface="Calibri" panose="020F0502020204030204" pitchFamily="34" charset="0"/>
                <a:ea typeface="msgothic"/>
                <a:cs typeface="msgothic"/>
              </a:rPr>
              <a:t>Reference bit (set by MMU on reads and writes, cleared by software) </a:t>
            </a:r>
          </a:p>
          <a:p>
            <a:pPr>
              <a:lnSpc>
                <a:spcPct val="88000"/>
              </a:lnSpc>
              <a:spcBef>
                <a:spcPts val="1200"/>
              </a:spcBef>
              <a:buFontTx/>
              <a:buNone/>
            </a:pPr>
            <a:r>
              <a:rPr kumimoji="0" lang="en-GB" altLang="zh-CN" sz="1600">
                <a:latin typeface="Calibri" panose="020F0502020204030204" pitchFamily="34" charset="0"/>
                <a:ea typeface="msgothic"/>
                <a:cs typeface="msgothic"/>
              </a:rPr>
              <a:t>D: </a:t>
            </a:r>
            <a:r>
              <a:rPr kumimoji="0" lang="en-GB" altLang="zh-CN" sz="1600" b="0">
                <a:latin typeface="Calibri" panose="020F0502020204030204" pitchFamily="34" charset="0"/>
                <a:ea typeface="msgothic"/>
                <a:cs typeface="msgothic"/>
              </a:rPr>
              <a:t>Dirty bit (set by MMU on writes, cleared by software)</a:t>
            </a:r>
          </a:p>
          <a:p>
            <a:pPr>
              <a:lnSpc>
                <a:spcPct val="88000"/>
              </a:lnSpc>
              <a:spcBef>
                <a:spcPts val="1200"/>
              </a:spcBef>
              <a:buFontTx/>
              <a:buNone/>
            </a:pPr>
            <a:r>
              <a:rPr kumimoji="0" lang="en-GB" altLang="zh-CN" sz="1600">
                <a:latin typeface="Calibri" panose="020F0502020204030204" pitchFamily="34" charset="0"/>
                <a:ea typeface="msgothic"/>
                <a:cs typeface="msgothic"/>
              </a:rPr>
              <a:t>Page physical base address: </a:t>
            </a:r>
            <a:r>
              <a:rPr kumimoji="0" lang="en-GB" altLang="zh-CN" sz="1600" b="0">
                <a:latin typeface="Calibri" panose="020F0502020204030204" pitchFamily="34" charset="0"/>
                <a:ea typeface="msgothic"/>
                <a:cs typeface="msgothic"/>
              </a:rPr>
              <a:t>40 most significant bits of physical page address (forces pages to be 4KB aligned)</a:t>
            </a:r>
          </a:p>
          <a:p>
            <a:pPr>
              <a:lnSpc>
                <a:spcPct val="88000"/>
              </a:lnSpc>
              <a:spcBef>
                <a:spcPts val="1200"/>
              </a:spcBef>
              <a:buFontTx/>
              <a:buNone/>
            </a:pPr>
            <a:r>
              <a:rPr kumimoji="0" lang="en-GB" altLang="zh-CN" sz="1600">
                <a:latin typeface="Calibri" panose="020F0502020204030204" pitchFamily="34" charset="0"/>
                <a:ea typeface="msgothic"/>
                <a:cs typeface="msgothic"/>
              </a:rPr>
              <a:t>XD:</a:t>
            </a:r>
            <a:r>
              <a:rPr kumimoji="0" lang="en-GB" altLang="zh-CN" sz="1600" b="0">
                <a:latin typeface="Calibri" panose="020F0502020204030204" pitchFamily="34" charset="0"/>
                <a:ea typeface="msgothic"/>
                <a:cs typeface="msgothic"/>
              </a:rPr>
              <a:t> Disable or enable instruction fetches from this page.</a:t>
            </a:r>
          </a:p>
        </p:txBody>
      </p:sp>
      <p:sp>
        <p:nvSpPr>
          <p:cNvPr id="48142" name="Text Box 14">
            <a:extLst>
              <a:ext uri="{FF2B5EF4-FFF2-40B4-BE49-F238E27FC236}">
                <a16:creationId xmlns:a16="http://schemas.microsoft.com/office/drawing/2014/main" id="{92D1D7B3-D0C6-9E44-9BC4-970440BFDB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8475" y="1512888"/>
            <a:ext cx="365125" cy="284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360" tIns="44280" rIns="90360" bIns="4428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88000"/>
              </a:lnSpc>
              <a:spcBef>
                <a:spcPts val="525"/>
              </a:spcBef>
              <a:buFontTx/>
              <a:buNone/>
            </a:pPr>
            <a:r>
              <a:rPr kumimoji="0" lang="en-GB" altLang="zh-CN" sz="1400">
                <a:latin typeface="Calibri" panose="020F0502020204030204" pitchFamily="34" charset="0"/>
                <a:ea typeface="msgothic"/>
                <a:cs typeface="msgothic"/>
              </a:rPr>
              <a:t>51</a:t>
            </a:r>
          </a:p>
        </p:txBody>
      </p:sp>
      <p:sp>
        <p:nvSpPr>
          <p:cNvPr id="48143" name="Text Box 15">
            <a:extLst>
              <a:ext uri="{FF2B5EF4-FFF2-40B4-BE49-F238E27FC236}">
                <a16:creationId xmlns:a16="http://schemas.microsoft.com/office/drawing/2014/main" id="{684DFF5B-C1EA-F742-AE45-AE5F3E08C2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9413" y="1517650"/>
            <a:ext cx="365125" cy="27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360" tIns="44280" rIns="90360" bIns="4428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88000"/>
              </a:lnSpc>
              <a:spcBef>
                <a:spcPts val="525"/>
              </a:spcBef>
              <a:buFontTx/>
              <a:buNone/>
            </a:pPr>
            <a:r>
              <a:rPr kumimoji="0" lang="en-GB" altLang="zh-CN" sz="1400">
                <a:latin typeface="Calibri" panose="020F0502020204030204" pitchFamily="34" charset="0"/>
                <a:ea typeface="msgothic"/>
                <a:cs typeface="msgothic"/>
              </a:rPr>
              <a:t>12</a:t>
            </a:r>
          </a:p>
        </p:txBody>
      </p:sp>
      <p:sp>
        <p:nvSpPr>
          <p:cNvPr id="48144" name="Text Box 16">
            <a:extLst>
              <a:ext uri="{FF2B5EF4-FFF2-40B4-BE49-F238E27FC236}">
                <a16:creationId xmlns:a16="http://schemas.microsoft.com/office/drawing/2014/main" id="{9AE6E520-0EFD-8F4C-BE87-4688F0E67E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2775" y="1517650"/>
            <a:ext cx="365125" cy="27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360" tIns="44280" rIns="90360" bIns="4428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88000"/>
              </a:lnSpc>
              <a:spcBef>
                <a:spcPts val="525"/>
              </a:spcBef>
              <a:buFontTx/>
              <a:buNone/>
            </a:pPr>
            <a:r>
              <a:rPr kumimoji="0" lang="en-GB" altLang="zh-CN" sz="1400">
                <a:latin typeface="Calibri" panose="020F0502020204030204" pitchFamily="34" charset="0"/>
                <a:ea typeface="msgothic"/>
                <a:cs typeface="msgothic"/>
              </a:rPr>
              <a:t>11</a:t>
            </a:r>
          </a:p>
        </p:txBody>
      </p:sp>
      <p:sp>
        <p:nvSpPr>
          <p:cNvPr id="48145" name="Text Box 17">
            <a:extLst>
              <a:ext uri="{FF2B5EF4-FFF2-40B4-BE49-F238E27FC236}">
                <a16:creationId xmlns:a16="http://schemas.microsoft.com/office/drawing/2014/main" id="{C79A1B68-62D0-ED42-B5B5-FA69963B71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6213" y="1517650"/>
            <a:ext cx="274637" cy="27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360" tIns="44280" rIns="90360" bIns="4428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88000"/>
              </a:lnSpc>
              <a:spcBef>
                <a:spcPts val="525"/>
              </a:spcBef>
              <a:buFontTx/>
              <a:buNone/>
            </a:pPr>
            <a:r>
              <a:rPr kumimoji="0" lang="en-GB" altLang="zh-CN" sz="1400">
                <a:latin typeface="Calibri" panose="020F0502020204030204" pitchFamily="34" charset="0"/>
                <a:ea typeface="msgothic"/>
                <a:cs typeface="msgothic"/>
              </a:rPr>
              <a:t>9</a:t>
            </a:r>
          </a:p>
        </p:txBody>
      </p:sp>
      <p:sp>
        <p:nvSpPr>
          <p:cNvPr id="48146" name="Text Box 18">
            <a:extLst>
              <a:ext uri="{FF2B5EF4-FFF2-40B4-BE49-F238E27FC236}">
                <a16:creationId xmlns:a16="http://schemas.microsoft.com/office/drawing/2014/main" id="{0B01E58D-811B-FC43-94B8-9FE452F959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1517650"/>
            <a:ext cx="274638" cy="27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360" tIns="44280" rIns="90360" bIns="4428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88000"/>
              </a:lnSpc>
              <a:spcBef>
                <a:spcPts val="525"/>
              </a:spcBef>
              <a:buFontTx/>
              <a:buNone/>
            </a:pPr>
            <a:r>
              <a:rPr kumimoji="0" lang="en-GB" altLang="zh-CN" sz="1400">
                <a:latin typeface="Calibri" panose="020F0502020204030204" pitchFamily="34" charset="0"/>
                <a:ea typeface="msgothic"/>
                <a:cs typeface="msgothic"/>
              </a:rPr>
              <a:t>8</a:t>
            </a:r>
          </a:p>
        </p:txBody>
      </p:sp>
      <p:sp>
        <p:nvSpPr>
          <p:cNvPr id="48147" name="Text Box 19">
            <a:extLst>
              <a:ext uri="{FF2B5EF4-FFF2-40B4-BE49-F238E27FC236}">
                <a16:creationId xmlns:a16="http://schemas.microsoft.com/office/drawing/2014/main" id="{7E296BE9-AFB9-5E46-88B0-2B34D3C582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1517650"/>
            <a:ext cx="274638" cy="27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360" tIns="44280" rIns="90360" bIns="4428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88000"/>
              </a:lnSpc>
              <a:spcBef>
                <a:spcPts val="525"/>
              </a:spcBef>
              <a:buFontTx/>
              <a:buNone/>
            </a:pPr>
            <a:r>
              <a:rPr kumimoji="0" lang="en-GB" altLang="zh-CN" sz="1400">
                <a:latin typeface="Calibri" panose="020F0502020204030204" pitchFamily="34" charset="0"/>
                <a:ea typeface="msgothic"/>
                <a:cs typeface="msgothic"/>
              </a:rPr>
              <a:t>7</a:t>
            </a:r>
          </a:p>
        </p:txBody>
      </p:sp>
      <p:sp>
        <p:nvSpPr>
          <p:cNvPr id="48148" name="Text Box 20">
            <a:extLst>
              <a:ext uri="{FF2B5EF4-FFF2-40B4-BE49-F238E27FC236}">
                <a16:creationId xmlns:a16="http://schemas.microsoft.com/office/drawing/2014/main" id="{574F4BBB-743D-B64E-BDF3-FDFA75602D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73800" y="1517650"/>
            <a:ext cx="274638" cy="27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360" tIns="44280" rIns="90360" bIns="4428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88000"/>
              </a:lnSpc>
              <a:spcBef>
                <a:spcPts val="525"/>
              </a:spcBef>
              <a:buFontTx/>
              <a:buNone/>
            </a:pPr>
            <a:r>
              <a:rPr kumimoji="0" lang="en-GB" altLang="zh-CN" sz="1400">
                <a:latin typeface="Calibri" panose="020F0502020204030204" pitchFamily="34" charset="0"/>
                <a:ea typeface="msgothic"/>
                <a:cs typeface="msgothic"/>
              </a:rPr>
              <a:t>6</a:t>
            </a:r>
          </a:p>
        </p:txBody>
      </p:sp>
      <p:sp>
        <p:nvSpPr>
          <p:cNvPr id="48149" name="Text Box 21">
            <a:extLst>
              <a:ext uri="{FF2B5EF4-FFF2-40B4-BE49-F238E27FC236}">
                <a16:creationId xmlns:a16="http://schemas.microsoft.com/office/drawing/2014/main" id="{0A329D7D-147C-CE4F-8BCB-0FCD550103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2900" y="1517650"/>
            <a:ext cx="274638" cy="27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360" tIns="44280" rIns="90360" bIns="4428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88000"/>
              </a:lnSpc>
              <a:spcBef>
                <a:spcPts val="525"/>
              </a:spcBef>
              <a:buFontTx/>
              <a:buNone/>
            </a:pPr>
            <a:r>
              <a:rPr kumimoji="0" lang="en-GB" altLang="zh-CN" sz="1400">
                <a:latin typeface="Calibri" panose="020F0502020204030204" pitchFamily="34" charset="0"/>
                <a:ea typeface="msgothic"/>
                <a:cs typeface="msgothic"/>
              </a:rPr>
              <a:t>5</a:t>
            </a:r>
          </a:p>
        </p:txBody>
      </p:sp>
      <p:sp>
        <p:nvSpPr>
          <p:cNvPr id="48150" name="Text Box 22">
            <a:extLst>
              <a:ext uri="{FF2B5EF4-FFF2-40B4-BE49-F238E27FC236}">
                <a16:creationId xmlns:a16="http://schemas.microsoft.com/office/drawing/2014/main" id="{CEE03DAA-1288-CF43-A1D4-81DC570235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1517650"/>
            <a:ext cx="274638" cy="27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360" tIns="44280" rIns="90360" bIns="4428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88000"/>
              </a:lnSpc>
              <a:spcBef>
                <a:spcPts val="525"/>
              </a:spcBef>
              <a:buFontTx/>
              <a:buNone/>
            </a:pPr>
            <a:r>
              <a:rPr kumimoji="0" lang="en-GB" altLang="zh-CN" sz="1400">
                <a:latin typeface="Calibri" panose="020F0502020204030204" pitchFamily="34" charset="0"/>
                <a:ea typeface="msgothic"/>
                <a:cs typeface="msgothic"/>
              </a:rPr>
              <a:t>4</a:t>
            </a:r>
          </a:p>
        </p:txBody>
      </p:sp>
      <p:sp>
        <p:nvSpPr>
          <p:cNvPr id="48151" name="Text Box 23">
            <a:extLst>
              <a:ext uri="{FF2B5EF4-FFF2-40B4-BE49-F238E27FC236}">
                <a16:creationId xmlns:a16="http://schemas.microsoft.com/office/drawing/2014/main" id="{308F1507-171B-C84C-B6CF-B1335DBDA2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7600" y="1517650"/>
            <a:ext cx="274638" cy="27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360" tIns="44280" rIns="90360" bIns="4428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88000"/>
              </a:lnSpc>
              <a:spcBef>
                <a:spcPts val="525"/>
              </a:spcBef>
              <a:buFontTx/>
              <a:buNone/>
            </a:pPr>
            <a:r>
              <a:rPr kumimoji="0" lang="en-GB" altLang="zh-CN" sz="1400">
                <a:latin typeface="Calibri" panose="020F0502020204030204" pitchFamily="34" charset="0"/>
                <a:ea typeface="msgothic"/>
                <a:cs typeface="msgothic"/>
              </a:rPr>
              <a:t>3</a:t>
            </a:r>
          </a:p>
        </p:txBody>
      </p:sp>
      <p:sp>
        <p:nvSpPr>
          <p:cNvPr id="48152" name="Text Box 24">
            <a:extLst>
              <a:ext uri="{FF2B5EF4-FFF2-40B4-BE49-F238E27FC236}">
                <a16:creationId xmlns:a16="http://schemas.microsoft.com/office/drawing/2014/main" id="{F0321BC9-541E-BC4B-96D4-CE2A8597CD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47013" y="1517650"/>
            <a:ext cx="274637" cy="27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360" tIns="44280" rIns="90360" bIns="4428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88000"/>
              </a:lnSpc>
              <a:spcBef>
                <a:spcPts val="525"/>
              </a:spcBef>
              <a:buFontTx/>
              <a:buNone/>
            </a:pPr>
            <a:r>
              <a:rPr kumimoji="0" lang="en-GB" altLang="zh-CN" sz="1400">
                <a:latin typeface="Calibri" panose="020F0502020204030204" pitchFamily="34" charset="0"/>
                <a:ea typeface="msgothic"/>
                <a:cs typeface="msgothic"/>
              </a:rPr>
              <a:t>2</a:t>
            </a:r>
          </a:p>
        </p:txBody>
      </p:sp>
      <p:sp>
        <p:nvSpPr>
          <p:cNvPr id="48153" name="Text Box 25">
            <a:extLst>
              <a:ext uri="{FF2B5EF4-FFF2-40B4-BE49-F238E27FC236}">
                <a16:creationId xmlns:a16="http://schemas.microsoft.com/office/drawing/2014/main" id="{896D39C6-FECF-6546-B441-0132E99F47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1517650"/>
            <a:ext cx="274638" cy="27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360" tIns="44280" rIns="90360" bIns="4428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88000"/>
              </a:lnSpc>
              <a:spcBef>
                <a:spcPts val="525"/>
              </a:spcBef>
              <a:buFontTx/>
              <a:buNone/>
            </a:pPr>
            <a:r>
              <a:rPr kumimoji="0" lang="en-GB" altLang="zh-CN" sz="1400">
                <a:latin typeface="Calibri" panose="020F0502020204030204" pitchFamily="34" charset="0"/>
                <a:ea typeface="msgothic"/>
                <a:cs typeface="msgothic"/>
              </a:rPr>
              <a:t>1</a:t>
            </a:r>
          </a:p>
        </p:txBody>
      </p:sp>
      <p:sp>
        <p:nvSpPr>
          <p:cNvPr id="48154" name="Text Box 26">
            <a:extLst>
              <a:ext uri="{FF2B5EF4-FFF2-40B4-BE49-F238E27FC236}">
                <a16:creationId xmlns:a16="http://schemas.microsoft.com/office/drawing/2014/main" id="{A6F1035C-0522-694E-A0AC-A844484AE5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10600" y="1517650"/>
            <a:ext cx="274638" cy="27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360" tIns="44280" rIns="90360" bIns="4428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88000"/>
              </a:lnSpc>
              <a:spcBef>
                <a:spcPts val="525"/>
              </a:spcBef>
              <a:buFontTx/>
              <a:buNone/>
            </a:pPr>
            <a:r>
              <a:rPr kumimoji="0" lang="en-GB" altLang="zh-CN" sz="1400">
                <a:latin typeface="Calibri" panose="020F0502020204030204" pitchFamily="34" charset="0"/>
                <a:ea typeface="msgothic"/>
                <a:cs typeface="msgothic"/>
              </a:rPr>
              <a:t>0</a:t>
            </a:r>
          </a:p>
        </p:txBody>
      </p:sp>
      <p:sp>
        <p:nvSpPr>
          <p:cNvPr id="48155" name="Rectangle 3">
            <a:extLst>
              <a:ext uri="{FF2B5EF4-FFF2-40B4-BE49-F238E27FC236}">
                <a16:creationId xmlns:a16="http://schemas.microsoft.com/office/drawing/2014/main" id="{BAE1429B-798E-8644-BF8A-53234BACCD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741488"/>
            <a:ext cx="990600" cy="381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360" tIns="44280" rIns="90360" bIns="4428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8000"/>
              </a:lnSpc>
              <a:spcBef>
                <a:spcPts val="525"/>
              </a:spcBef>
              <a:buFontTx/>
              <a:buNone/>
            </a:pPr>
            <a:r>
              <a:rPr kumimoji="0" lang="en-GB" altLang="zh-CN" sz="1400">
                <a:latin typeface="Calibri" panose="020F0502020204030204" pitchFamily="34" charset="0"/>
                <a:ea typeface="msgothic"/>
                <a:cs typeface="msgothic"/>
              </a:rPr>
              <a:t>Unused</a:t>
            </a:r>
          </a:p>
        </p:txBody>
      </p:sp>
      <p:sp>
        <p:nvSpPr>
          <p:cNvPr id="48156" name="Rectangle 4">
            <a:extLst>
              <a:ext uri="{FF2B5EF4-FFF2-40B4-BE49-F238E27FC236}">
                <a16:creationId xmlns:a16="http://schemas.microsoft.com/office/drawing/2014/main" id="{E99BABEB-C9E8-304C-A364-C79B669575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741488"/>
            <a:ext cx="381000" cy="381000"/>
          </a:xfrm>
          <a:prstGeom prst="rect">
            <a:avLst/>
          </a:prstGeom>
          <a:solidFill>
            <a:srgbClr val="F1C7C7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360" tIns="44280" rIns="90360" bIns="4428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8000"/>
              </a:lnSpc>
              <a:spcBef>
                <a:spcPts val="525"/>
              </a:spcBef>
              <a:buFontTx/>
              <a:buNone/>
            </a:pPr>
            <a:r>
              <a:rPr kumimoji="0" lang="en-GB" altLang="zh-CN" sz="1400">
                <a:latin typeface="Calibri" panose="020F0502020204030204" pitchFamily="34" charset="0"/>
                <a:ea typeface="msgothic"/>
                <a:cs typeface="msgothic"/>
              </a:rPr>
              <a:t>XD</a:t>
            </a:r>
          </a:p>
        </p:txBody>
      </p:sp>
      <p:sp>
        <p:nvSpPr>
          <p:cNvPr id="48157" name="Rectangle 27">
            <a:extLst>
              <a:ext uri="{FF2B5EF4-FFF2-40B4-BE49-F238E27FC236}">
                <a16:creationId xmlns:a16="http://schemas.microsoft.com/office/drawing/2014/main" id="{CFCB0902-4A20-E847-B57B-BE5C6A0FCE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351088"/>
            <a:ext cx="8093075" cy="381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360" tIns="44280" rIns="90360" bIns="4428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8000"/>
              </a:lnSpc>
              <a:spcBef>
                <a:spcPts val="525"/>
              </a:spcBef>
              <a:buFontTx/>
              <a:buNone/>
            </a:pPr>
            <a:r>
              <a:rPr kumimoji="0" lang="en-GB" altLang="zh-CN" sz="1400">
                <a:latin typeface="Calibri" panose="020F0502020204030204" pitchFamily="34" charset="0"/>
                <a:ea typeface="msgothic"/>
                <a:cs typeface="msgothic"/>
              </a:rPr>
              <a:t>Available for OS (page location on disk)</a:t>
            </a:r>
          </a:p>
        </p:txBody>
      </p:sp>
      <p:sp>
        <p:nvSpPr>
          <p:cNvPr id="48158" name="Rectangle 28">
            <a:extLst>
              <a:ext uri="{FF2B5EF4-FFF2-40B4-BE49-F238E27FC236}">
                <a16:creationId xmlns:a16="http://schemas.microsoft.com/office/drawing/2014/main" id="{200C297A-7BE9-1449-A54E-24BB2D068D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50275" y="2351088"/>
            <a:ext cx="381000" cy="381000"/>
          </a:xfrm>
          <a:prstGeom prst="rect">
            <a:avLst/>
          </a:prstGeom>
          <a:solidFill>
            <a:srgbClr val="F1C7C7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360" tIns="44280" rIns="90360" bIns="4428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8000"/>
              </a:lnSpc>
              <a:spcBef>
                <a:spcPts val="525"/>
              </a:spcBef>
              <a:buFontTx/>
              <a:buNone/>
            </a:pPr>
            <a:r>
              <a:rPr kumimoji="0" lang="en-GB" altLang="zh-CN" sz="1400">
                <a:latin typeface="Calibri" panose="020F0502020204030204" pitchFamily="34" charset="0"/>
                <a:ea typeface="msgothic"/>
                <a:cs typeface="msgothic"/>
              </a:rPr>
              <a:t>P=0</a:t>
            </a:r>
          </a:p>
        </p:txBody>
      </p:sp>
      <p:sp>
        <p:nvSpPr>
          <p:cNvPr id="48159" name="Text Box 29">
            <a:extLst>
              <a:ext uri="{FF2B5EF4-FFF2-40B4-BE49-F238E27FC236}">
                <a16:creationId xmlns:a16="http://schemas.microsoft.com/office/drawing/2014/main" id="{51F8E862-8650-6E42-97A6-54690585A7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512888"/>
            <a:ext cx="365125" cy="284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360" tIns="44280" rIns="90360" bIns="4428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88000"/>
              </a:lnSpc>
              <a:spcBef>
                <a:spcPts val="525"/>
              </a:spcBef>
              <a:buFontTx/>
              <a:buNone/>
            </a:pPr>
            <a:r>
              <a:rPr kumimoji="0" lang="en-GB" altLang="zh-CN" sz="1400">
                <a:latin typeface="Calibri" panose="020F0502020204030204" pitchFamily="34" charset="0"/>
                <a:ea typeface="msgothic"/>
                <a:cs typeface="msgothic"/>
              </a:rPr>
              <a:t>52</a:t>
            </a:r>
          </a:p>
        </p:txBody>
      </p:sp>
      <p:sp>
        <p:nvSpPr>
          <p:cNvPr id="48160" name="Text Box 29">
            <a:extLst>
              <a:ext uri="{FF2B5EF4-FFF2-40B4-BE49-F238E27FC236}">
                <a16:creationId xmlns:a16="http://schemas.microsoft.com/office/drawing/2014/main" id="{5F84FDD3-65D9-0D43-8628-AA5583A451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1512888"/>
            <a:ext cx="365125" cy="284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360" tIns="44280" rIns="90360" bIns="4428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88000"/>
              </a:lnSpc>
              <a:spcBef>
                <a:spcPts val="525"/>
              </a:spcBef>
              <a:buFontTx/>
              <a:buNone/>
            </a:pPr>
            <a:r>
              <a:rPr kumimoji="0" lang="en-GB" altLang="zh-CN" sz="1400">
                <a:latin typeface="Calibri" panose="020F0502020204030204" pitchFamily="34" charset="0"/>
                <a:ea typeface="msgothic"/>
                <a:cs typeface="msgothic"/>
              </a:rPr>
              <a:t>62</a:t>
            </a:r>
          </a:p>
        </p:txBody>
      </p:sp>
      <p:sp>
        <p:nvSpPr>
          <p:cNvPr id="48161" name="Text Box 29">
            <a:extLst>
              <a:ext uri="{FF2B5EF4-FFF2-40B4-BE49-F238E27FC236}">
                <a16:creationId xmlns:a16="http://schemas.microsoft.com/office/drawing/2014/main" id="{8E3474AC-FB44-554E-896C-449FD2564A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512888"/>
            <a:ext cx="365125" cy="284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360" tIns="44280" rIns="90360" bIns="4428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88000"/>
              </a:lnSpc>
              <a:spcBef>
                <a:spcPts val="525"/>
              </a:spcBef>
              <a:buFontTx/>
              <a:buNone/>
            </a:pPr>
            <a:r>
              <a:rPr kumimoji="0" lang="en-GB" altLang="zh-CN" sz="1400">
                <a:latin typeface="Calibri" panose="020F0502020204030204" pitchFamily="34" charset="0"/>
                <a:ea typeface="msgothic"/>
                <a:cs typeface="msgothic"/>
              </a:rPr>
              <a:t>63</a:t>
            </a:r>
          </a:p>
        </p:txBody>
      </p:sp>
    </p:spTree>
    <p:extLst>
      <p:ext uri="{BB962C8B-B14F-4D97-AF65-F5344CB8AC3E}">
        <p14:creationId xmlns:p14="http://schemas.microsoft.com/office/powerpoint/2010/main" val="336171324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Title 1">
            <a:extLst>
              <a:ext uri="{FF2B5EF4-FFF2-40B4-BE49-F238E27FC236}">
                <a16:creationId xmlns:a16="http://schemas.microsoft.com/office/drawing/2014/main" id="{88038397-5F43-2648-96E0-1D0179065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Core i7 Page Table Translation</a:t>
            </a:r>
          </a:p>
        </p:txBody>
      </p:sp>
      <p:sp>
        <p:nvSpPr>
          <p:cNvPr id="4" name="Text Box 381">
            <a:extLst>
              <a:ext uri="{FF2B5EF4-FFF2-40B4-BE49-F238E27FC236}">
                <a16:creationId xmlns:a16="http://schemas.microsoft.com/office/drawing/2014/main" id="{1CCF9143-937A-EA42-98C2-39BB373551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750" y="3109913"/>
            <a:ext cx="469900" cy="287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400">
                <a:solidFill>
                  <a:schemeClr val="tx2"/>
                </a:solidFill>
                <a:latin typeface="+mn-lt"/>
                <a:ea typeface="宋体" charset="-122"/>
              </a:rPr>
              <a:t>CR3</a:t>
            </a:r>
          </a:p>
        </p:txBody>
      </p:sp>
      <p:sp>
        <p:nvSpPr>
          <p:cNvPr id="5" name="Text Box 387">
            <a:extLst>
              <a:ext uri="{FF2B5EF4-FFF2-40B4-BE49-F238E27FC236}">
                <a16:creationId xmlns:a16="http://schemas.microsoft.com/office/drawing/2014/main" id="{F34FDCFC-DFA6-1C4B-B6CB-B7F0AFC438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7150" y="4367213"/>
            <a:ext cx="823913" cy="804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400" i="1">
                <a:solidFill>
                  <a:schemeClr val="tx2"/>
                </a:solidFill>
                <a:latin typeface="+mn-lt"/>
                <a:ea typeface="宋体" charset="-122"/>
              </a:rPr>
              <a:t>Physical  </a:t>
            </a:r>
          </a:p>
          <a:p>
            <a:pPr algn="ctr"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400" i="1">
                <a:solidFill>
                  <a:schemeClr val="tx2"/>
                </a:solidFill>
                <a:latin typeface="+mn-lt"/>
                <a:ea typeface="宋体" charset="-122"/>
              </a:rPr>
              <a:t>address</a:t>
            </a:r>
          </a:p>
          <a:p>
            <a:pPr algn="ctr"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400" i="1">
                <a:solidFill>
                  <a:schemeClr val="tx2"/>
                </a:solidFill>
                <a:latin typeface="+mn-lt"/>
                <a:ea typeface="宋体" charset="-122"/>
              </a:rPr>
              <a:t>of page</a:t>
            </a:r>
          </a:p>
        </p:txBody>
      </p:sp>
      <p:sp>
        <p:nvSpPr>
          <p:cNvPr id="6" name="Text Box 388">
            <a:extLst>
              <a:ext uri="{FF2B5EF4-FFF2-40B4-BE49-F238E27FC236}">
                <a16:creationId xmlns:a16="http://schemas.microsoft.com/office/drawing/2014/main" id="{2A9659B3-2CA2-474A-8AF8-1FF5C9DE11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" y="3324225"/>
            <a:ext cx="823913" cy="804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400" i="1">
                <a:solidFill>
                  <a:schemeClr val="tx2"/>
                </a:solidFill>
                <a:latin typeface="+mn-lt"/>
                <a:ea typeface="宋体" charset="-122"/>
              </a:rPr>
              <a:t>Physical </a:t>
            </a:r>
          </a:p>
          <a:p>
            <a:pPr algn="ctr"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400" i="1">
                <a:solidFill>
                  <a:schemeClr val="tx2"/>
                </a:solidFill>
                <a:latin typeface="+mn-lt"/>
                <a:ea typeface="宋体" charset="-122"/>
              </a:rPr>
              <a:t>address</a:t>
            </a:r>
          </a:p>
          <a:p>
            <a:pPr algn="ctr"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400" i="1">
                <a:solidFill>
                  <a:schemeClr val="tx2"/>
                </a:solidFill>
                <a:latin typeface="+mn-lt"/>
                <a:ea typeface="宋体" charset="-122"/>
              </a:rPr>
              <a:t>of L1 PT</a:t>
            </a:r>
          </a:p>
        </p:txBody>
      </p:sp>
      <p:sp>
        <p:nvSpPr>
          <p:cNvPr id="7" name="Text Box 394">
            <a:extLst>
              <a:ext uri="{FF2B5EF4-FFF2-40B4-BE49-F238E27FC236}">
                <a16:creationId xmlns:a16="http://schemas.microsoft.com/office/drawing/2014/main" id="{579EF67B-BCCD-204E-B9C9-D70A9C4D51D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901950" y="1438275"/>
            <a:ext cx="260350" cy="258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200">
                <a:solidFill>
                  <a:schemeClr val="tx2"/>
                </a:solidFill>
                <a:latin typeface="+mn-lt"/>
                <a:ea typeface="宋体" charset="-122"/>
              </a:rPr>
              <a:t>9</a:t>
            </a:r>
          </a:p>
        </p:txBody>
      </p:sp>
      <p:sp>
        <p:nvSpPr>
          <p:cNvPr id="8" name="Rectangle 395">
            <a:extLst>
              <a:ext uri="{FF2B5EF4-FFF2-40B4-BE49-F238E27FC236}">
                <a16:creationId xmlns:a16="http://schemas.microsoft.com/office/drawing/2014/main" id="{6FED51D4-46AD-8142-BFAA-3143BABCA57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142038" y="1668463"/>
            <a:ext cx="1843087" cy="273050"/>
          </a:xfrm>
          <a:prstGeom prst="rect">
            <a:avLst/>
          </a:prstGeom>
          <a:solidFill>
            <a:srgbClr val="DEDFF5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 algn="ctr"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400" dirty="0">
                <a:solidFill>
                  <a:schemeClr val="tx2"/>
                </a:solidFill>
                <a:latin typeface="+mn-lt"/>
                <a:ea typeface="宋体" charset="-122"/>
              </a:rPr>
              <a:t>VPO</a:t>
            </a:r>
          </a:p>
        </p:txBody>
      </p:sp>
      <p:sp>
        <p:nvSpPr>
          <p:cNvPr id="9" name="Text Box 396">
            <a:extLst>
              <a:ext uri="{FF2B5EF4-FFF2-40B4-BE49-F238E27FC236}">
                <a16:creationId xmlns:a16="http://schemas.microsoft.com/office/drawing/2014/main" id="{1DA09D06-24A4-BE43-B5EC-56376CC7EE1D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454650" y="1447800"/>
            <a:ext cx="260350" cy="258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200">
                <a:solidFill>
                  <a:schemeClr val="tx2"/>
                </a:solidFill>
                <a:latin typeface="+mn-lt"/>
                <a:ea typeface="宋体" charset="-122"/>
              </a:rPr>
              <a:t>9</a:t>
            </a:r>
          </a:p>
        </p:txBody>
      </p:sp>
      <p:sp>
        <p:nvSpPr>
          <p:cNvPr id="10" name="Text Box 397">
            <a:extLst>
              <a:ext uri="{FF2B5EF4-FFF2-40B4-BE49-F238E27FC236}">
                <a16:creationId xmlns:a16="http://schemas.microsoft.com/office/drawing/2014/main" id="{BDE5E379-94EE-3944-9FB7-8365839EDE4F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878638" y="1447800"/>
            <a:ext cx="338137" cy="258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200">
                <a:solidFill>
                  <a:schemeClr val="tx2"/>
                </a:solidFill>
                <a:latin typeface="+mn-lt"/>
                <a:ea typeface="宋体" charset="-122"/>
              </a:rPr>
              <a:t>12</a:t>
            </a:r>
          </a:p>
        </p:txBody>
      </p:sp>
      <p:sp>
        <p:nvSpPr>
          <p:cNvPr id="11" name="Text Box 399">
            <a:extLst>
              <a:ext uri="{FF2B5EF4-FFF2-40B4-BE49-F238E27FC236}">
                <a16:creationId xmlns:a16="http://schemas.microsoft.com/office/drawing/2014/main" id="{9ABE5B1A-F62B-0149-8F3D-EA3ED61A8D25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8053388" y="1449388"/>
            <a:ext cx="927100" cy="676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800">
                <a:solidFill>
                  <a:schemeClr val="tx2"/>
                </a:solidFill>
                <a:latin typeface="+mn-lt"/>
                <a:ea typeface="宋体" charset="-122"/>
              </a:rPr>
              <a:t>Virtual </a:t>
            </a:r>
          </a:p>
          <a:p>
            <a:pPr algn="ctr"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800">
                <a:solidFill>
                  <a:schemeClr val="tx2"/>
                </a:solidFill>
                <a:latin typeface="+mn-lt"/>
                <a:ea typeface="宋体" charset="-122"/>
              </a:rPr>
              <a:t>address</a:t>
            </a:r>
          </a:p>
        </p:txBody>
      </p:sp>
      <p:sp>
        <p:nvSpPr>
          <p:cNvPr id="12" name="Line 403">
            <a:extLst>
              <a:ext uri="{FF2B5EF4-FFF2-40B4-BE49-F238E27FC236}">
                <a16:creationId xmlns:a16="http://schemas.microsoft.com/office/drawing/2014/main" id="{9521FF58-6D3B-D444-9891-A462ECB8A43D}"/>
              </a:ext>
            </a:extLst>
          </p:cNvPr>
          <p:cNvSpPr>
            <a:spLocks noChangeShapeType="1"/>
          </p:cNvSpPr>
          <p:nvPr/>
        </p:nvSpPr>
        <p:spPr bwMode="auto">
          <a:xfrm>
            <a:off x="6102350" y="4087813"/>
            <a:ext cx="3048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 algn="ctr">
              <a:defRPr/>
            </a:pPr>
            <a:endParaRPr lang="en-US">
              <a:latin typeface="+mn-lt"/>
              <a:ea typeface="宋体" charset="-122"/>
            </a:endParaRPr>
          </a:p>
        </p:txBody>
      </p:sp>
      <p:sp>
        <p:nvSpPr>
          <p:cNvPr id="13" name="Line 404">
            <a:extLst>
              <a:ext uri="{FF2B5EF4-FFF2-40B4-BE49-F238E27FC236}">
                <a16:creationId xmlns:a16="http://schemas.microsoft.com/office/drawing/2014/main" id="{003E02C6-6D86-0148-90A8-B751CFEFEF86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7150" y="4087813"/>
            <a:ext cx="0" cy="18399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 algn="ctr">
              <a:defRPr/>
            </a:pPr>
            <a:endParaRPr lang="en-US">
              <a:latin typeface="+mn-lt"/>
              <a:ea typeface="宋体" charset="-122"/>
            </a:endParaRPr>
          </a:p>
        </p:txBody>
      </p:sp>
      <p:sp>
        <p:nvSpPr>
          <p:cNvPr id="14" name="Line 406">
            <a:extLst>
              <a:ext uri="{FF2B5EF4-FFF2-40B4-BE49-F238E27FC236}">
                <a16:creationId xmlns:a16="http://schemas.microsoft.com/office/drawing/2014/main" id="{35D92585-EF92-1245-BFB5-A94FAF9C59BF}"/>
              </a:ext>
            </a:extLst>
          </p:cNvPr>
          <p:cNvSpPr>
            <a:spLocks noChangeShapeType="1"/>
          </p:cNvSpPr>
          <p:nvPr/>
        </p:nvSpPr>
        <p:spPr bwMode="auto">
          <a:xfrm>
            <a:off x="5113338" y="4113213"/>
            <a:ext cx="265112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/>
          <a:lstStyle/>
          <a:p>
            <a:pPr algn="ctr">
              <a:defRPr/>
            </a:pPr>
            <a:endParaRPr lang="en-US">
              <a:latin typeface="+mn-lt"/>
              <a:ea typeface="宋体" charset="-122"/>
            </a:endParaRPr>
          </a:p>
        </p:txBody>
      </p:sp>
      <p:sp>
        <p:nvSpPr>
          <p:cNvPr id="15" name="Rectangle 382">
            <a:extLst>
              <a:ext uri="{FF2B5EF4-FFF2-40B4-BE49-F238E27FC236}">
                <a16:creationId xmlns:a16="http://schemas.microsoft.com/office/drawing/2014/main" id="{A9BCC850-8C80-D64A-B912-AED4D53179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8450" y="3224213"/>
            <a:ext cx="7620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 algn="ctr">
              <a:defRPr/>
            </a:pPr>
            <a:endParaRPr lang="en-US">
              <a:latin typeface="+mn-lt"/>
              <a:ea typeface="宋体" charset="-122"/>
            </a:endParaRPr>
          </a:p>
        </p:txBody>
      </p:sp>
      <p:sp>
        <p:nvSpPr>
          <p:cNvPr id="16" name="Text Box 392">
            <a:extLst>
              <a:ext uri="{FF2B5EF4-FFF2-40B4-BE49-F238E27FC236}">
                <a16:creationId xmlns:a16="http://schemas.microsoft.com/office/drawing/2014/main" id="{DB7FA559-4AA2-B84E-A687-DD24B25168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6713" y="2438400"/>
            <a:ext cx="608012" cy="804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400">
                <a:solidFill>
                  <a:schemeClr val="tx2"/>
                </a:solidFill>
                <a:latin typeface="+mn-lt"/>
                <a:ea typeface="宋体" charset="-122"/>
              </a:rPr>
              <a:t>L4 PT</a:t>
            </a:r>
          </a:p>
          <a:p>
            <a:pPr algn="ctr"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400" i="1">
                <a:solidFill>
                  <a:schemeClr val="tx2"/>
                </a:solidFill>
                <a:latin typeface="+mn-lt"/>
                <a:ea typeface="宋体" charset="-122"/>
              </a:rPr>
              <a:t>Page </a:t>
            </a:r>
          </a:p>
          <a:p>
            <a:pPr algn="ctr"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400" i="1">
                <a:solidFill>
                  <a:schemeClr val="tx2"/>
                </a:solidFill>
                <a:latin typeface="+mn-lt"/>
                <a:ea typeface="宋体" charset="-122"/>
              </a:rPr>
              <a:t>table</a:t>
            </a:r>
          </a:p>
        </p:txBody>
      </p:sp>
      <p:sp>
        <p:nvSpPr>
          <p:cNvPr id="17" name="Rectangle 405">
            <a:extLst>
              <a:ext uri="{FF2B5EF4-FFF2-40B4-BE49-F238E27FC236}">
                <a16:creationId xmlns:a16="http://schemas.microsoft.com/office/drawing/2014/main" id="{DC7F1C4A-6905-9540-B8C6-BF37DA20FF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1625" y="3986213"/>
            <a:ext cx="758825" cy="228600"/>
          </a:xfrm>
          <a:prstGeom prst="rect">
            <a:avLst/>
          </a:prstGeom>
          <a:solidFill>
            <a:srgbClr val="F6F5BD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 algn="ctr"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400">
                <a:solidFill>
                  <a:schemeClr val="tx2"/>
                </a:solidFill>
                <a:latin typeface="+mn-lt"/>
                <a:ea typeface="宋体" charset="-122"/>
              </a:rPr>
              <a:t>L4 PTE</a:t>
            </a:r>
          </a:p>
        </p:txBody>
      </p:sp>
      <p:sp>
        <p:nvSpPr>
          <p:cNvPr id="18" name="Line 407">
            <a:extLst>
              <a:ext uri="{FF2B5EF4-FFF2-40B4-BE49-F238E27FC236}">
                <a16:creationId xmlns:a16="http://schemas.microsoft.com/office/drawing/2014/main" id="{3EE96A78-26BC-094A-A44E-4B45B7C48725}"/>
              </a:ext>
            </a:extLst>
          </p:cNvPr>
          <p:cNvSpPr>
            <a:spLocks noChangeShapeType="1"/>
          </p:cNvSpPr>
          <p:nvPr/>
        </p:nvSpPr>
        <p:spPr bwMode="auto">
          <a:xfrm>
            <a:off x="5113338" y="1941513"/>
            <a:ext cx="7937" cy="21685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 algn="ctr">
              <a:defRPr/>
            </a:pPr>
            <a:endParaRPr lang="en-US">
              <a:latin typeface="+mn-lt"/>
              <a:ea typeface="宋体" charset="-122"/>
            </a:endParaRPr>
          </a:p>
        </p:txBody>
      </p:sp>
      <p:sp>
        <p:nvSpPr>
          <p:cNvPr id="19" name="Line 408">
            <a:extLst>
              <a:ext uri="{FF2B5EF4-FFF2-40B4-BE49-F238E27FC236}">
                <a16:creationId xmlns:a16="http://schemas.microsoft.com/office/drawing/2014/main" id="{1080A54A-B15C-C644-875C-E652D1F8305A}"/>
              </a:ext>
            </a:extLst>
          </p:cNvPr>
          <p:cNvSpPr>
            <a:spLocks noChangeShapeType="1"/>
          </p:cNvSpPr>
          <p:nvPr/>
        </p:nvSpPr>
        <p:spPr bwMode="auto">
          <a:xfrm>
            <a:off x="7639050" y="1941513"/>
            <a:ext cx="0" cy="44370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/>
          <a:lstStyle/>
          <a:p>
            <a:pPr algn="ctr">
              <a:defRPr/>
            </a:pPr>
            <a:endParaRPr lang="en-US">
              <a:latin typeface="+mn-lt"/>
              <a:ea typeface="宋体" charset="-122"/>
            </a:endParaRPr>
          </a:p>
        </p:txBody>
      </p:sp>
      <p:sp>
        <p:nvSpPr>
          <p:cNvPr id="20" name="Rectangle 409">
            <a:extLst>
              <a:ext uri="{FF2B5EF4-FFF2-40B4-BE49-F238E27FC236}">
                <a16:creationId xmlns:a16="http://schemas.microsoft.com/office/drawing/2014/main" id="{66D06E9F-9E77-B741-B88B-400B701C8E9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89088" y="6378575"/>
            <a:ext cx="4495800" cy="287338"/>
          </a:xfrm>
          <a:prstGeom prst="rect">
            <a:avLst/>
          </a:prstGeom>
          <a:solidFill>
            <a:srgbClr val="F6F5BD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 algn="ctr"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400">
                <a:solidFill>
                  <a:schemeClr val="tx2"/>
                </a:solidFill>
                <a:latin typeface="+mn-lt"/>
                <a:ea typeface="宋体" charset="-122"/>
              </a:rPr>
              <a:t>PPN</a:t>
            </a:r>
          </a:p>
        </p:txBody>
      </p:sp>
      <p:sp>
        <p:nvSpPr>
          <p:cNvPr id="21" name="Rectangle 410">
            <a:extLst>
              <a:ext uri="{FF2B5EF4-FFF2-40B4-BE49-F238E27FC236}">
                <a16:creationId xmlns:a16="http://schemas.microsoft.com/office/drawing/2014/main" id="{17781869-8AA6-1C47-B4E1-8704D3529F8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84888" y="6378575"/>
            <a:ext cx="1874837" cy="287338"/>
          </a:xfrm>
          <a:prstGeom prst="rect">
            <a:avLst/>
          </a:prstGeom>
          <a:solidFill>
            <a:srgbClr val="DEDFF5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 algn="ctr"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400">
                <a:solidFill>
                  <a:schemeClr val="tx2"/>
                </a:solidFill>
                <a:latin typeface="+mn-lt"/>
                <a:ea typeface="宋体" charset="-122"/>
              </a:rPr>
              <a:t>PPO</a:t>
            </a:r>
          </a:p>
        </p:txBody>
      </p:sp>
      <p:sp>
        <p:nvSpPr>
          <p:cNvPr id="22" name="Text Box 411">
            <a:extLst>
              <a:ext uri="{FF2B5EF4-FFF2-40B4-BE49-F238E27FC236}">
                <a16:creationId xmlns:a16="http://schemas.microsoft.com/office/drawing/2014/main" id="{7C88B74B-4783-E745-987E-0E82C1ACCA3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665538" y="6169025"/>
            <a:ext cx="338137" cy="258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200">
                <a:solidFill>
                  <a:schemeClr val="tx2"/>
                </a:solidFill>
                <a:latin typeface="+mn-lt"/>
                <a:ea typeface="宋体" charset="-122"/>
              </a:rPr>
              <a:t>40</a:t>
            </a:r>
          </a:p>
        </p:txBody>
      </p:sp>
      <p:sp>
        <p:nvSpPr>
          <p:cNvPr id="23" name="Text Box 412">
            <a:extLst>
              <a:ext uri="{FF2B5EF4-FFF2-40B4-BE49-F238E27FC236}">
                <a16:creationId xmlns:a16="http://schemas.microsoft.com/office/drawing/2014/main" id="{27522DB3-9315-C14A-A632-43169838027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853238" y="6169025"/>
            <a:ext cx="338137" cy="258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200">
                <a:solidFill>
                  <a:schemeClr val="tx2"/>
                </a:solidFill>
                <a:latin typeface="+mn-lt"/>
                <a:ea typeface="宋体" charset="-122"/>
              </a:rPr>
              <a:t>12</a:t>
            </a:r>
          </a:p>
        </p:txBody>
      </p:sp>
      <p:sp>
        <p:nvSpPr>
          <p:cNvPr id="24" name="Text Box 413">
            <a:extLst>
              <a:ext uri="{FF2B5EF4-FFF2-40B4-BE49-F238E27FC236}">
                <a16:creationId xmlns:a16="http://schemas.microsoft.com/office/drawing/2014/main" id="{A1A0E273-8F5C-6542-9B10-41CBE806B22C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8053388" y="6181725"/>
            <a:ext cx="947737" cy="676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800">
                <a:solidFill>
                  <a:schemeClr val="tx2"/>
                </a:solidFill>
                <a:latin typeface="+mn-lt"/>
                <a:ea typeface="宋体" charset="-122"/>
              </a:rPr>
              <a:t>Physical </a:t>
            </a:r>
          </a:p>
          <a:p>
            <a:pPr algn="ctr"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800">
                <a:solidFill>
                  <a:schemeClr val="tx2"/>
                </a:solidFill>
                <a:latin typeface="+mn-lt"/>
                <a:ea typeface="宋体" charset="-122"/>
              </a:rPr>
              <a:t>address</a:t>
            </a:r>
          </a:p>
        </p:txBody>
      </p:sp>
      <p:sp>
        <p:nvSpPr>
          <p:cNvPr id="25" name="Line 414">
            <a:extLst>
              <a:ext uri="{FF2B5EF4-FFF2-40B4-BE49-F238E27FC236}">
                <a16:creationId xmlns:a16="http://schemas.microsoft.com/office/drawing/2014/main" id="{9E0A2E1A-3BC0-F648-9431-0AA557E994B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78350" y="5929313"/>
            <a:ext cx="18288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 algn="ctr">
              <a:defRPr/>
            </a:pPr>
            <a:endParaRPr lang="en-US">
              <a:latin typeface="+mn-lt"/>
              <a:ea typeface="宋体" charset="-122"/>
            </a:endParaRPr>
          </a:p>
        </p:txBody>
      </p:sp>
      <p:sp>
        <p:nvSpPr>
          <p:cNvPr id="26" name="Line 415">
            <a:extLst>
              <a:ext uri="{FF2B5EF4-FFF2-40B4-BE49-F238E27FC236}">
                <a16:creationId xmlns:a16="http://schemas.microsoft.com/office/drawing/2014/main" id="{AA8DF8EC-F147-EA4A-BA9C-C63357582F7D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8350" y="5927725"/>
            <a:ext cx="0" cy="43338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/>
          <a:lstStyle/>
          <a:p>
            <a:pPr algn="ctr">
              <a:defRPr/>
            </a:pPr>
            <a:endParaRPr lang="en-US">
              <a:latin typeface="+mn-lt"/>
              <a:ea typeface="宋体" charset="-122"/>
            </a:endParaRPr>
          </a:p>
        </p:txBody>
      </p:sp>
      <p:sp>
        <p:nvSpPr>
          <p:cNvPr id="27" name="Text Box 416">
            <a:extLst>
              <a:ext uri="{FF2B5EF4-FFF2-40B4-BE49-F238E27FC236}">
                <a16:creationId xmlns:a16="http://schemas.microsoft.com/office/drawing/2014/main" id="{6095AA06-C8DC-9E46-BE89-73BA5C150B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42250" y="3516313"/>
            <a:ext cx="1147763" cy="804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400" i="1">
                <a:solidFill>
                  <a:schemeClr val="tx2"/>
                </a:solidFill>
                <a:latin typeface="+mn-lt"/>
                <a:ea typeface="宋体" charset="-122"/>
              </a:rPr>
              <a:t>Offset into </a:t>
            </a:r>
          </a:p>
          <a:p>
            <a:pPr algn="ctr"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400" i="1">
                <a:solidFill>
                  <a:schemeClr val="tx2"/>
                </a:solidFill>
                <a:latin typeface="+mn-lt"/>
                <a:ea typeface="宋体" charset="-122"/>
              </a:rPr>
              <a:t>physical and </a:t>
            </a:r>
          </a:p>
          <a:p>
            <a:pPr algn="ctr"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400" i="1">
                <a:solidFill>
                  <a:schemeClr val="tx2"/>
                </a:solidFill>
                <a:latin typeface="+mn-lt"/>
                <a:ea typeface="宋体" charset="-122"/>
              </a:rPr>
              <a:t>virtual page</a:t>
            </a:r>
          </a:p>
        </p:txBody>
      </p:sp>
      <p:sp>
        <p:nvSpPr>
          <p:cNvPr id="28" name="Rectangle 417">
            <a:extLst>
              <a:ext uri="{FF2B5EF4-FFF2-40B4-BE49-F238E27FC236}">
                <a16:creationId xmlns:a16="http://schemas.microsoft.com/office/drawing/2014/main" id="{0284C8D8-72F1-CB4E-98D3-06036DDF0BE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586163" y="1662113"/>
            <a:ext cx="1277937" cy="280987"/>
          </a:xfrm>
          <a:prstGeom prst="rect">
            <a:avLst/>
          </a:prstGeom>
          <a:solidFill>
            <a:srgbClr val="E6E6E6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 algn="ctr"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400">
                <a:solidFill>
                  <a:schemeClr val="tx2"/>
                </a:solidFill>
                <a:latin typeface="+mn-lt"/>
                <a:ea typeface="宋体" charset="-122"/>
              </a:rPr>
              <a:t>VPN 3</a:t>
            </a:r>
          </a:p>
        </p:txBody>
      </p:sp>
      <p:sp>
        <p:nvSpPr>
          <p:cNvPr id="29" name="Rectangle 418">
            <a:extLst>
              <a:ext uri="{FF2B5EF4-FFF2-40B4-BE49-F238E27FC236}">
                <a16:creationId xmlns:a16="http://schemas.microsoft.com/office/drawing/2014/main" id="{481DD4B8-9257-9146-A571-3EA3378343C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64100" y="1668463"/>
            <a:ext cx="1277938" cy="273050"/>
          </a:xfrm>
          <a:prstGeom prst="rect">
            <a:avLst/>
          </a:prstGeom>
          <a:solidFill>
            <a:srgbClr val="F6F5BD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 algn="ctr"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400">
                <a:solidFill>
                  <a:schemeClr val="tx2"/>
                </a:solidFill>
                <a:latin typeface="+mn-lt"/>
                <a:ea typeface="宋体" charset="-122"/>
              </a:rPr>
              <a:t>VPN 4</a:t>
            </a:r>
          </a:p>
        </p:txBody>
      </p:sp>
      <p:sp>
        <p:nvSpPr>
          <p:cNvPr id="30" name="Rectangle 419">
            <a:extLst>
              <a:ext uri="{FF2B5EF4-FFF2-40B4-BE49-F238E27FC236}">
                <a16:creationId xmlns:a16="http://schemas.microsoft.com/office/drawing/2014/main" id="{CB510E44-6D52-6A44-AEFD-860D65F4114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314575" y="1662113"/>
            <a:ext cx="1277938" cy="280987"/>
          </a:xfrm>
          <a:prstGeom prst="rect">
            <a:avLst/>
          </a:prstGeom>
          <a:solidFill>
            <a:srgbClr val="DBF2DA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 algn="ctr"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400">
                <a:solidFill>
                  <a:schemeClr val="tx2"/>
                </a:solidFill>
                <a:latin typeface="+mn-lt"/>
                <a:ea typeface="宋体" charset="-122"/>
              </a:rPr>
              <a:t>VPN 2</a:t>
            </a:r>
          </a:p>
        </p:txBody>
      </p:sp>
      <p:sp>
        <p:nvSpPr>
          <p:cNvPr id="31" name="Rectangle 420">
            <a:extLst>
              <a:ext uri="{FF2B5EF4-FFF2-40B4-BE49-F238E27FC236}">
                <a16:creationId xmlns:a16="http://schemas.microsoft.com/office/drawing/2014/main" id="{B3AE737F-691C-6242-A9D0-847AA87C77F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36638" y="1660525"/>
            <a:ext cx="1277937" cy="280988"/>
          </a:xfrm>
          <a:prstGeom prst="rect">
            <a:avLst/>
          </a:prstGeom>
          <a:solidFill>
            <a:srgbClr val="F6D2D2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 algn="ctr"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400">
                <a:solidFill>
                  <a:schemeClr val="tx2"/>
                </a:solidFill>
                <a:latin typeface="+mn-lt"/>
                <a:ea typeface="宋体" charset="-122"/>
              </a:rPr>
              <a:t>VPN 1</a:t>
            </a:r>
          </a:p>
        </p:txBody>
      </p:sp>
      <p:sp>
        <p:nvSpPr>
          <p:cNvPr id="32" name="Line 430">
            <a:extLst>
              <a:ext uri="{FF2B5EF4-FFF2-40B4-BE49-F238E27FC236}">
                <a16:creationId xmlns:a16="http://schemas.microsoft.com/office/drawing/2014/main" id="{30D21BA1-A328-3F43-89CC-519F79BFEFD0}"/>
              </a:ext>
            </a:extLst>
          </p:cNvPr>
          <p:cNvSpPr>
            <a:spLocks noChangeShapeType="1"/>
          </p:cNvSpPr>
          <p:nvPr/>
        </p:nvSpPr>
        <p:spPr bwMode="auto">
          <a:xfrm>
            <a:off x="4841875" y="4110038"/>
            <a:ext cx="17938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 algn="ctr">
              <a:defRPr/>
            </a:pPr>
            <a:endParaRPr lang="en-US">
              <a:latin typeface="+mn-lt"/>
              <a:ea typeface="宋体" charset="-122"/>
            </a:endParaRPr>
          </a:p>
        </p:txBody>
      </p:sp>
      <p:sp>
        <p:nvSpPr>
          <p:cNvPr id="33" name="Line 431">
            <a:extLst>
              <a:ext uri="{FF2B5EF4-FFF2-40B4-BE49-F238E27FC236}">
                <a16:creationId xmlns:a16="http://schemas.microsoft.com/office/drawing/2014/main" id="{5B7F556A-6E4E-3047-94A3-008E6DAF4171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1263" y="3228975"/>
            <a:ext cx="9525" cy="8810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 algn="ctr">
              <a:defRPr/>
            </a:pPr>
            <a:endParaRPr lang="en-US">
              <a:latin typeface="+mn-lt"/>
              <a:ea typeface="宋体" charset="-122"/>
            </a:endParaRPr>
          </a:p>
        </p:txBody>
      </p:sp>
      <p:sp>
        <p:nvSpPr>
          <p:cNvPr id="34" name="Line 432">
            <a:extLst>
              <a:ext uri="{FF2B5EF4-FFF2-40B4-BE49-F238E27FC236}">
                <a16:creationId xmlns:a16="http://schemas.microsoft.com/office/drawing/2014/main" id="{32B6D3CF-EFA7-6E41-871E-C532A9FFF2CF}"/>
              </a:ext>
            </a:extLst>
          </p:cNvPr>
          <p:cNvSpPr>
            <a:spLocks noChangeShapeType="1"/>
          </p:cNvSpPr>
          <p:nvPr/>
        </p:nvSpPr>
        <p:spPr bwMode="auto">
          <a:xfrm>
            <a:off x="5030788" y="3228975"/>
            <a:ext cx="344487" cy="47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/>
          <a:lstStyle/>
          <a:p>
            <a:pPr algn="ctr">
              <a:defRPr/>
            </a:pPr>
            <a:endParaRPr lang="en-US">
              <a:latin typeface="+mn-lt"/>
              <a:ea typeface="宋体" charset="-122"/>
            </a:endParaRPr>
          </a:p>
        </p:txBody>
      </p:sp>
      <p:sp>
        <p:nvSpPr>
          <p:cNvPr id="35" name="Rectangle 435">
            <a:extLst>
              <a:ext uri="{FF2B5EF4-FFF2-40B4-BE49-F238E27FC236}">
                <a16:creationId xmlns:a16="http://schemas.microsoft.com/office/drawing/2014/main" id="{418E907A-A55C-9F42-B8C7-DC9C3B0CF7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2100" y="3233738"/>
            <a:ext cx="7620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 algn="ctr">
              <a:defRPr/>
            </a:pPr>
            <a:endParaRPr lang="en-US">
              <a:latin typeface="+mn-lt"/>
              <a:ea typeface="宋体" charset="-122"/>
            </a:endParaRPr>
          </a:p>
        </p:txBody>
      </p:sp>
      <p:sp>
        <p:nvSpPr>
          <p:cNvPr id="36" name="Text Box 437">
            <a:extLst>
              <a:ext uri="{FF2B5EF4-FFF2-40B4-BE49-F238E27FC236}">
                <a16:creationId xmlns:a16="http://schemas.microsoft.com/office/drawing/2014/main" id="{FFA4C8F2-22B7-DF43-87DE-7A7CE36F73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6363" y="2438400"/>
            <a:ext cx="1147762" cy="804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400">
                <a:solidFill>
                  <a:schemeClr val="tx2"/>
                </a:solidFill>
                <a:latin typeface="+mn-lt"/>
                <a:ea typeface="宋体" charset="-122"/>
              </a:rPr>
              <a:t>L3 PT</a:t>
            </a:r>
          </a:p>
          <a:p>
            <a:pPr algn="ctr"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400" i="1">
                <a:solidFill>
                  <a:schemeClr val="tx2"/>
                </a:solidFill>
                <a:latin typeface="+mn-lt"/>
                <a:ea typeface="宋体" charset="-122"/>
              </a:rPr>
              <a:t>Page middle</a:t>
            </a:r>
          </a:p>
          <a:p>
            <a:pPr algn="ctr"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400" i="1">
                <a:solidFill>
                  <a:schemeClr val="tx2"/>
                </a:solidFill>
                <a:latin typeface="+mn-lt"/>
                <a:ea typeface="宋体" charset="-122"/>
              </a:rPr>
              <a:t>directory</a:t>
            </a:r>
          </a:p>
        </p:txBody>
      </p:sp>
      <p:sp>
        <p:nvSpPr>
          <p:cNvPr id="37" name="Rectangle 438">
            <a:extLst>
              <a:ext uri="{FF2B5EF4-FFF2-40B4-BE49-F238E27FC236}">
                <a16:creationId xmlns:a16="http://schemas.microsoft.com/office/drawing/2014/main" id="{F83E3A86-1098-BD49-906A-AEEE54E111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5275" y="3995738"/>
            <a:ext cx="758825" cy="228600"/>
          </a:xfrm>
          <a:prstGeom prst="rect">
            <a:avLst/>
          </a:prstGeom>
          <a:solidFill>
            <a:srgbClr val="E6E6E6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 algn="ctr"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400">
                <a:solidFill>
                  <a:schemeClr val="tx2"/>
                </a:solidFill>
                <a:latin typeface="+mn-lt"/>
                <a:ea typeface="宋体" charset="-122"/>
              </a:rPr>
              <a:t>L3 PTE</a:t>
            </a:r>
          </a:p>
        </p:txBody>
      </p:sp>
      <p:sp>
        <p:nvSpPr>
          <p:cNvPr id="38" name="Line 439">
            <a:extLst>
              <a:ext uri="{FF2B5EF4-FFF2-40B4-BE49-F238E27FC236}">
                <a16:creationId xmlns:a16="http://schemas.microsoft.com/office/drawing/2014/main" id="{3A6810FA-BF8B-FA40-853D-7F8AA1825FD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33813" y="1951038"/>
            <a:ext cx="11112" cy="2159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 algn="ctr">
              <a:defRPr/>
            </a:pPr>
            <a:endParaRPr lang="en-US">
              <a:latin typeface="+mn-lt"/>
              <a:ea typeface="宋体" charset="-122"/>
            </a:endParaRPr>
          </a:p>
        </p:txBody>
      </p:sp>
      <p:sp>
        <p:nvSpPr>
          <p:cNvPr id="39" name="Line 440">
            <a:extLst>
              <a:ext uri="{FF2B5EF4-FFF2-40B4-BE49-F238E27FC236}">
                <a16:creationId xmlns:a16="http://schemas.microsoft.com/office/drawing/2014/main" id="{65F226FD-CDFD-4641-9143-839021A83611}"/>
              </a:ext>
            </a:extLst>
          </p:cNvPr>
          <p:cNvSpPr>
            <a:spLocks noChangeShapeType="1"/>
          </p:cNvSpPr>
          <p:nvPr/>
        </p:nvSpPr>
        <p:spPr bwMode="auto">
          <a:xfrm>
            <a:off x="3844925" y="4116388"/>
            <a:ext cx="2571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/>
          <a:lstStyle/>
          <a:p>
            <a:pPr algn="ctr">
              <a:defRPr/>
            </a:pPr>
            <a:endParaRPr lang="en-US">
              <a:latin typeface="+mn-lt"/>
              <a:ea typeface="宋体" charset="-122"/>
            </a:endParaRPr>
          </a:p>
        </p:txBody>
      </p:sp>
      <p:sp>
        <p:nvSpPr>
          <p:cNvPr id="40" name="Line 444">
            <a:extLst>
              <a:ext uri="{FF2B5EF4-FFF2-40B4-BE49-F238E27FC236}">
                <a16:creationId xmlns:a16="http://schemas.microsoft.com/office/drawing/2014/main" id="{CADD2B61-750C-8C4E-8654-2901132CF59C}"/>
              </a:ext>
            </a:extLst>
          </p:cNvPr>
          <p:cNvSpPr>
            <a:spLocks noChangeShapeType="1"/>
          </p:cNvSpPr>
          <p:nvPr/>
        </p:nvSpPr>
        <p:spPr bwMode="auto">
          <a:xfrm>
            <a:off x="3546475" y="4114800"/>
            <a:ext cx="17938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 algn="ctr">
              <a:defRPr/>
            </a:pPr>
            <a:endParaRPr lang="en-US">
              <a:latin typeface="+mn-lt"/>
              <a:ea typeface="宋体" charset="-122"/>
            </a:endParaRPr>
          </a:p>
        </p:txBody>
      </p:sp>
      <p:sp>
        <p:nvSpPr>
          <p:cNvPr id="41" name="Line 445">
            <a:extLst>
              <a:ext uri="{FF2B5EF4-FFF2-40B4-BE49-F238E27FC236}">
                <a16:creationId xmlns:a16="http://schemas.microsoft.com/office/drawing/2014/main" id="{5F3235F2-382D-AA4F-A319-68DD6A330E9B}"/>
              </a:ext>
            </a:extLst>
          </p:cNvPr>
          <p:cNvSpPr>
            <a:spLocks noChangeShapeType="1"/>
          </p:cNvSpPr>
          <p:nvPr/>
        </p:nvSpPr>
        <p:spPr bwMode="auto">
          <a:xfrm>
            <a:off x="3727450" y="3232150"/>
            <a:ext cx="0" cy="8810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 algn="ctr">
              <a:defRPr/>
            </a:pPr>
            <a:endParaRPr lang="en-US">
              <a:latin typeface="+mn-lt"/>
              <a:ea typeface="宋体" charset="-122"/>
            </a:endParaRPr>
          </a:p>
        </p:txBody>
      </p:sp>
      <p:sp>
        <p:nvSpPr>
          <p:cNvPr id="42" name="Rectangle 447">
            <a:extLst>
              <a:ext uri="{FF2B5EF4-FFF2-40B4-BE49-F238E27FC236}">
                <a16:creationId xmlns:a16="http://schemas.microsoft.com/office/drawing/2014/main" id="{B2C4BFF1-ECB2-E04F-9DF1-267112B2EF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6700" y="3233738"/>
            <a:ext cx="7620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 algn="ctr">
              <a:defRPr/>
            </a:pPr>
            <a:endParaRPr lang="en-US">
              <a:latin typeface="+mn-lt"/>
              <a:ea typeface="宋体" charset="-122"/>
            </a:endParaRPr>
          </a:p>
        </p:txBody>
      </p:sp>
      <p:sp>
        <p:nvSpPr>
          <p:cNvPr id="43" name="Text Box 449">
            <a:extLst>
              <a:ext uri="{FF2B5EF4-FFF2-40B4-BE49-F238E27FC236}">
                <a16:creationId xmlns:a16="http://schemas.microsoft.com/office/drawing/2014/main" id="{90C6080E-9758-974F-B0C6-729C7282F0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4300" y="2438400"/>
            <a:ext cx="1073150" cy="804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400">
                <a:solidFill>
                  <a:schemeClr val="tx2"/>
                </a:solidFill>
                <a:latin typeface="+mn-lt"/>
                <a:ea typeface="宋体" charset="-122"/>
              </a:rPr>
              <a:t>L2 PT</a:t>
            </a:r>
          </a:p>
          <a:p>
            <a:pPr algn="ctr"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400" i="1">
                <a:solidFill>
                  <a:schemeClr val="tx2"/>
                </a:solidFill>
                <a:latin typeface="+mn-lt"/>
                <a:ea typeface="宋体" charset="-122"/>
              </a:rPr>
              <a:t>Page upper</a:t>
            </a:r>
          </a:p>
          <a:p>
            <a:pPr algn="ctr"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400" i="1">
                <a:solidFill>
                  <a:schemeClr val="tx2"/>
                </a:solidFill>
                <a:latin typeface="+mn-lt"/>
                <a:ea typeface="宋体" charset="-122"/>
              </a:rPr>
              <a:t>directory</a:t>
            </a:r>
          </a:p>
        </p:txBody>
      </p:sp>
      <p:sp>
        <p:nvSpPr>
          <p:cNvPr id="44" name="Rectangle 450">
            <a:extLst>
              <a:ext uri="{FF2B5EF4-FFF2-40B4-BE49-F238E27FC236}">
                <a16:creationId xmlns:a16="http://schemas.microsoft.com/office/drawing/2014/main" id="{25289D63-61B4-914D-83B6-8F0D8A9E7C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9875" y="3995738"/>
            <a:ext cx="758825" cy="228600"/>
          </a:xfrm>
          <a:prstGeom prst="rect">
            <a:avLst/>
          </a:prstGeom>
          <a:solidFill>
            <a:srgbClr val="DBF2DA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 algn="ctr"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400">
                <a:solidFill>
                  <a:schemeClr val="tx2"/>
                </a:solidFill>
                <a:latin typeface="+mn-lt"/>
                <a:ea typeface="宋体" charset="-122"/>
              </a:rPr>
              <a:t>L2 PTE</a:t>
            </a:r>
          </a:p>
        </p:txBody>
      </p:sp>
      <p:sp>
        <p:nvSpPr>
          <p:cNvPr id="45" name="Line 451">
            <a:extLst>
              <a:ext uri="{FF2B5EF4-FFF2-40B4-BE49-F238E27FC236}">
                <a16:creationId xmlns:a16="http://schemas.microsoft.com/office/drawing/2014/main" id="{B1A13AC7-EFA6-6840-B4C6-9FF0D6B8BBF7}"/>
              </a:ext>
            </a:extLst>
          </p:cNvPr>
          <p:cNvSpPr>
            <a:spLocks noChangeShapeType="1"/>
          </p:cNvSpPr>
          <p:nvPr/>
        </p:nvSpPr>
        <p:spPr bwMode="auto">
          <a:xfrm>
            <a:off x="2549525" y="1951038"/>
            <a:ext cx="0" cy="21478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 algn="ctr">
              <a:defRPr/>
            </a:pPr>
            <a:endParaRPr lang="en-US">
              <a:latin typeface="+mn-lt"/>
              <a:ea typeface="宋体" charset="-122"/>
            </a:endParaRPr>
          </a:p>
        </p:txBody>
      </p:sp>
      <p:sp>
        <p:nvSpPr>
          <p:cNvPr id="46" name="Line 452">
            <a:extLst>
              <a:ext uri="{FF2B5EF4-FFF2-40B4-BE49-F238E27FC236}">
                <a16:creationId xmlns:a16="http://schemas.microsoft.com/office/drawing/2014/main" id="{016040DC-7CF3-A947-A393-A1503D327D38}"/>
              </a:ext>
            </a:extLst>
          </p:cNvPr>
          <p:cNvSpPr>
            <a:spLocks noChangeShapeType="1"/>
          </p:cNvSpPr>
          <p:nvPr/>
        </p:nvSpPr>
        <p:spPr bwMode="auto">
          <a:xfrm>
            <a:off x="2549525" y="4110038"/>
            <a:ext cx="2571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/>
          <a:lstStyle/>
          <a:p>
            <a:pPr algn="ctr">
              <a:defRPr/>
            </a:pPr>
            <a:endParaRPr lang="en-US">
              <a:latin typeface="+mn-lt"/>
              <a:ea typeface="宋体" charset="-122"/>
            </a:endParaRPr>
          </a:p>
        </p:txBody>
      </p:sp>
      <p:sp>
        <p:nvSpPr>
          <p:cNvPr id="47" name="Line 456">
            <a:extLst>
              <a:ext uri="{FF2B5EF4-FFF2-40B4-BE49-F238E27FC236}">
                <a16:creationId xmlns:a16="http://schemas.microsoft.com/office/drawing/2014/main" id="{0FB1A48D-05AD-8945-B90D-67772BD7B41D}"/>
              </a:ext>
            </a:extLst>
          </p:cNvPr>
          <p:cNvSpPr>
            <a:spLocks noChangeShapeType="1"/>
          </p:cNvSpPr>
          <p:nvPr/>
        </p:nvSpPr>
        <p:spPr bwMode="auto">
          <a:xfrm>
            <a:off x="2270125" y="4110038"/>
            <a:ext cx="17938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 algn="ctr">
              <a:defRPr/>
            </a:pPr>
            <a:endParaRPr lang="en-US">
              <a:latin typeface="+mn-lt"/>
              <a:ea typeface="宋体" charset="-122"/>
            </a:endParaRPr>
          </a:p>
        </p:txBody>
      </p:sp>
      <p:sp>
        <p:nvSpPr>
          <p:cNvPr id="48" name="Rectangle 459">
            <a:extLst>
              <a:ext uri="{FF2B5EF4-FFF2-40B4-BE49-F238E27FC236}">
                <a16:creationId xmlns:a16="http://schemas.microsoft.com/office/drawing/2014/main" id="{D7E2A71C-E9A6-FB40-B801-5FBE7AE008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0350" y="3233738"/>
            <a:ext cx="7620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 algn="ctr">
              <a:defRPr/>
            </a:pPr>
            <a:endParaRPr lang="en-US">
              <a:latin typeface="+mn-lt"/>
              <a:ea typeface="宋体" charset="-122"/>
            </a:endParaRPr>
          </a:p>
        </p:txBody>
      </p:sp>
      <p:sp>
        <p:nvSpPr>
          <p:cNvPr id="49" name="Text Box 461">
            <a:extLst>
              <a:ext uri="{FF2B5EF4-FFF2-40B4-BE49-F238E27FC236}">
                <a16:creationId xmlns:a16="http://schemas.microsoft.com/office/drawing/2014/main" id="{B229E69F-415C-434A-BF7A-0AC28EBCB2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7313" y="2438400"/>
            <a:ext cx="1104900" cy="804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400">
                <a:solidFill>
                  <a:schemeClr val="tx2"/>
                </a:solidFill>
                <a:latin typeface="+mn-lt"/>
                <a:ea typeface="宋体" charset="-122"/>
              </a:rPr>
              <a:t>L1 PT</a:t>
            </a:r>
          </a:p>
          <a:p>
            <a:pPr algn="ctr"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400" i="1">
                <a:solidFill>
                  <a:schemeClr val="tx2"/>
                </a:solidFill>
                <a:latin typeface="+mn-lt"/>
                <a:ea typeface="宋体" charset="-122"/>
              </a:rPr>
              <a:t>Page global</a:t>
            </a:r>
          </a:p>
          <a:p>
            <a:pPr algn="ctr"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400" i="1">
                <a:solidFill>
                  <a:schemeClr val="tx2"/>
                </a:solidFill>
                <a:latin typeface="+mn-lt"/>
                <a:ea typeface="宋体" charset="-122"/>
              </a:rPr>
              <a:t>directory</a:t>
            </a:r>
            <a:endParaRPr lang="en-US" sz="1400">
              <a:solidFill>
                <a:schemeClr val="tx2"/>
              </a:solidFill>
              <a:latin typeface="+mn-lt"/>
              <a:ea typeface="宋体" charset="-122"/>
            </a:endParaRPr>
          </a:p>
        </p:txBody>
      </p:sp>
      <p:sp>
        <p:nvSpPr>
          <p:cNvPr id="50" name="Rectangle 462">
            <a:extLst>
              <a:ext uri="{FF2B5EF4-FFF2-40B4-BE49-F238E27FC236}">
                <a16:creationId xmlns:a16="http://schemas.microsoft.com/office/drawing/2014/main" id="{4ED69068-FB83-A941-82ED-CDED5EB00C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3525" y="3995738"/>
            <a:ext cx="758825" cy="228600"/>
          </a:xfrm>
          <a:prstGeom prst="rect">
            <a:avLst/>
          </a:prstGeom>
          <a:solidFill>
            <a:srgbClr val="F6D2D2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 algn="ctr"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400">
                <a:solidFill>
                  <a:schemeClr val="tx2"/>
                </a:solidFill>
                <a:latin typeface="+mn-lt"/>
                <a:ea typeface="宋体" charset="-122"/>
              </a:rPr>
              <a:t>L1 PTE</a:t>
            </a:r>
          </a:p>
        </p:txBody>
      </p:sp>
      <p:sp>
        <p:nvSpPr>
          <p:cNvPr id="51" name="Line 463">
            <a:extLst>
              <a:ext uri="{FF2B5EF4-FFF2-40B4-BE49-F238E27FC236}">
                <a16:creationId xmlns:a16="http://schemas.microsoft.com/office/drawing/2014/main" id="{4F5CC783-E30E-E747-A9FB-1061B9E11BE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60475" y="1951038"/>
            <a:ext cx="12700" cy="21478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 algn="ctr">
              <a:defRPr/>
            </a:pPr>
            <a:endParaRPr lang="en-US">
              <a:latin typeface="+mn-lt"/>
              <a:ea typeface="宋体" charset="-122"/>
            </a:endParaRPr>
          </a:p>
        </p:txBody>
      </p:sp>
      <p:sp>
        <p:nvSpPr>
          <p:cNvPr id="52" name="Line 464">
            <a:extLst>
              <a:ext uri="{FF2B5EF4-FFF2-40B4-BE49-F238E27FC236}">
                <a16:creationId xmlns:a16="http://schemas.microsoft.com/office/drawing/2014/main" id="{D2A891A2-A289-F447-9000-C33A5F2F8473}"/>
              </a:ext>
            </a:extLst>
          </p:cNvPr>
          <p:cNvSpPr>
            <a:spLocks noChangeShapeType="1"/>
          </p:cNvSpPr>
          <p:nvPr/>
        </p:nvSpPr>
        <p:spPr bwMode="auto">
          <a:xfrm>
            <a:off x="1273175" y="4103688"/>
            <a:ext cx="2571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/>
          <a:lstStyle/>
          <a:p>
            <a:pPr algn="ctr">
              <a:defRPr/>
            </a:pPr>
            <a:endParaRPr lang="en-US">
              <a:latin typeface="+mn-lt"/>
              <a:ea typeface="宋体" charset="-122"/>
            </a:endParaRPr>
          </a:p>
        </p:txBody>
      </p:sp>
      <p:sp>
        <p:nvSpPr>
          <p:cNvPr id="53" name="Text Box 465">
            <a:extLst>
              <a:ext uri="{FF2B5EF4-FFF2-40B4-BE49-F238E27FC236}">
                <a16:creationId xmlns:a16="http://schemas.microsoft.com/office/drawing/2014/main" id="{3EEEFC93-D64F-E14F-931F-57D748158EBD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159250" y="1438275"/>
            <a:ext cx="260350" cy="258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200">
                <a:solidFill>
                  <a:schemeClr val="tx2"/>
                </a:solidFill>
                <a:latin typeface="+mn-lt"/>
                <a:ea typeface="宋体" charset="-122"/>
              </a:rPr>
              <a:t>9</a:t>
            </a:r>
          </a:p>
        </p:txBody>
      </p:sp>
      <p:sp>
        <p:nvSpPr>
          <p:cNvPr id="54" name="Text Box 466">
            <a:extLst>
              <a:ext uri="{FF2B5EF4-FFF2-40B4-BE49-F238E27FC236}">
                <a16:creationId xmlns:a16="http://schemas.microsoft.com/office/drawing/2014/main" id="{FFDCFB74-F645-DE43-B010-C8E5EC72BE2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568450" y="1438275"/>
            <a:ext cx="260350" cy="258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200">
                <a:solidFill>
                  <a:schemeClr val="tx2"/>
                </a:solidFill>
                <a:latin typeface="+mn-lt"/>
                <a:ea typeface="宋体" charset="-122"/>
              </a:rPr>
              <a:t>9</a:t>
            </a:r>
          </a:p>
        </p:txBody>
      </p:sp>
      <p:sp>
        <p:nvSpPr>
          <p:cNvPr id="55" name="Line 467">
            <a:extLst>
              <a:ext uri="{FF2B5EF4-FFF2-40B4-BE49-F238E27FC236}">
                <a16:creationId xmlns:a16="http://schemas.microsoft.com/office/drawing/2014/main" id="{799D5CD1-9017-D142-AAD7-68CF4E4EBB8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95325" y="3249613"/>
            <a:ext cx="8223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/>
          <a:lstStyle/>
          <a:p>
            <a:pPr algn="ctr">
              <a:defRPr/>
            </a:pPr>
            <a:endParaRPr lang="en-US">
              <a:latin typeface="+mn-lt"/>
              <a:ea typeface="宋体" charset="-122"/>
            </a:endParaRPr>
          </a:p>
        </p:txBody>
      </p:sp>
      <p:sp>
        <p:nvSpPr>
          <p:cNvPr id="56" name="Text Box 471">
            <a:extLst>
              <a:ext uri="{FF2B5EF4-FFF2-40B4-BE49-F238E27FC236}">
                <a16:creationId xmlns:a16="http://schemas.microsoft.com/office/drawing/2014/main" id="{E17709A1-382E-9740-AFEB-1AD2E098B61C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36625" y="3038475"/>
            <a:ext cx="338138" cy="258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200" dirty="0">
                <a:solidFill>
                  <a:schemeClr val="tx2"/>
                </a:solidFill>
                <a:latin typeface="+mn-lt"/>
                <a:ea typeface="宋体" charset="-122"/>
              </a:rPr>
              <a:t>40</a:t>
            </a:r>
          </a:p>
        </p:txBody>
      </p:sp>
      <p:sp>
        <p:nvSpPr>
          <p:cNvPr id="57" name="Text Box 473">
            <a:extLst>
              <a:ext uri="{FF2B5EF4-FFF2-40B4-BE49-F238E27FC236}">
                <a16:creationId xmlns:a16="http://schemas.microsoft.com/office/drawing/2014/main" id="{D901ED15-58E3-2644-A326-B54F59787F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7425" y="3140075"/>
            <a:ext cx="261938" cy="2778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1200">
                <a:latin typeface="+mn-lt"/>
                <a:ea typeface="宋体" charset="-122"/>
              </a:rPr>
              <a:t>/</a:t>
            </a:r>
          </a:p>
        </p:txBody>
      </p:sp>
      <p:sp>
        <p:nvSpPr>
          <p:cNvPr id="58" name="Line 457">
            <a:extLst>
              <a:ext uri="{FF2B5EF4-FFF2-40B4-BE49-F238E27FC236}">
                <a16:creationId xmlns:a16="http://schemas.microsoft.com/office/drawing/2014/main" id="{AFB7EDD7-7982-2A45-8765-2A468F369F84}"/>
              </a:ext>
            </a:extLst>
          </p:cNvPr>
          <p:cNvSpPr>
            <a:spLocks noChangeShapeType="1"/>
          </p:cNvSpPr>
          <p:nvPr/>
        </p:nvSpPr>
        <p:spPr bwMode="auto">
          <a:xfrm>
            <a:off x="2449513" y="3232150"/>
            <a:ext cx="0" cy="87788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 algn="ctr">
              <a:defRPr/>
            </a:pPr>
            <a:endParaRPr lang="en-US">
              <a:latin typeface="+mn-lt"/>
              <a:ea typeface="宋体" charset="-122"/>
            </a:endParaRPr>
          </a:p>
        </p:txBody>
      </p:sp>
      <p:sp>
        <p:nvSpPr>
          <p:cNvPr id="59" name="Line 458">
            <a:extLst>
              <a:ext uri="{FF2B5EF4-FFF2-40B4-BE49-F238E27FC236}">
                <a16:creationId xmlns:a16="http://schemas.microsoft.com/office/drawing/2014/main" id="{09F36C6C-37BD-D947-888B-B557073331D6}"/>
              </a:ext>
            </a:extLst>
          </p:cNvPr>
          <p:cNvSpPr>
            <a:spLocks noChangeShapeType="1"/>
          </p:cNvSpPr>
          <p:nvPr/>
        </p:nvSpPr>
        <p:spPr bwMode="auto">
          <a:xfrm>
            <a:off x="2459038" y="3233738"/>
            <a:ext cx="344487" cy="47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/>
          <a:lstStyle/>
          <a:p>
            <a:pPr algn="ctr">
              <a:defRPr/>
            </a:pPr>
            <a:endParaRPr lang="en-US">
              <a:latin typeface="+mn-lt"/>
              <a:ea typeface="宋体" charset="-122"/>
            </a:endParaRPr>
          </a:p>
        </p:txBody>
      </p:sp>
      <p:sp>
        <p:nvSpPr>
          <p:cNvPr id="60" name="Text Box 476">
            <a:extLst>
              <a:ext uri="{FF2B5EF4-FFF2-40B4-BE49-F238E27FC236}">
                <a16:creationId xmlns:a16="http://schemas.microsoft.com/office/drawing/2014/main" id="{852D4F51-5C20-7E41-9A5A-A8F04B6C040C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466975" y="3001963"/>
            <a:ext cx="338138" cy="258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200">
                <a:solidFill>
                  <a:schemeClr val="tx2"/>
                </a:solidFill>
                <a:latin typeface="+mn-lt"/>
                <a:ea typeface="宋体" charset="-122"/>
              </a:rPr>
              <a:t>40</a:t>
            </a:r>
          </a:p>
        </p:txBody>
      </p:sp>
      <p:sp>
        <p:nvSpPr>
          <p:cNvPr id="61" name="Text Box 477">
            <a:extLst>
              <a:ext uri="{FF2B5EF4-FFF2-40B4-BE49-F238E27FC236}">
                <a16:creationId xmlns:a16="http://schemas.microsoft.com/office/drawing/2014/main" id="{61545AB1-8E0C-4C41-A2F8-7C3DD64A10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5713" y="3103563"/>
            <a:ext cx="261937" cy="2778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1200">
                <a:latin typeface="+mn-lt"/>
                <a:ea typeface="宋体" charset="-122"/>
              </a:rPr>
              <a:t>/</a:t>
            </a:r>
          </a:p>
        </p:txBody>
      </p:sp>
      <p:sp>
        <p:nvSpPr>
          <p:cNvPr id="62" name="Line 446">
            <a:extLst>
              <a:ext uri="{FF2B5EF4-FFF2-40B4-BE49-F238E27FC236}">
                <a16:creationId xmlns:a16="http://schemas.microsoft.com/office/drawing/2014/main" id="{4EC08448-7B5D-C84D-8629-03719F08AAD1}"/>
              </a:ext>
            </a:extLst>
          </p:cNvPr>
          <p:cNvSpPr>
            <a:spLocks noChangeShapeType="1"/>
          </p:cNvSpPr>
          <p:nvPr/>
        </p:nvSpPr>
        <p:spPr bwMode="auto">
          <a:xfrm>
            <a:off x="3725863" y="3232150"/>
            <a:ext cx="392112" cy="127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/>
          <a:lstStyle/>
          <a:p>
            <a:pPr algn="ctr">
              <a:defRPr/>
            </a:pPr>
            <a:endParaRPr lang="en-US">
              <a:latin typeface="+mn-lt"/>
              <a:ea typeface="宋体" charset="-122"/>
            </a:endParaRPr>
          </a:p>
        </p:txBody>
      </p:sp>
      <p:sp>
        <p:nvSpPr>
          <p:cNvPr id="63" name="Text Box 479">
            <a:extLst>
              <a:ext uri="{FF2B5EF4-FFF2-40B4-BE49-F238E27FC236}">
                <a16:creationId xmlns:a16="http://schemas.microsoft.com/office/drawing/2014/main" id="{A8652199-8E17-5B48-BAA1-1BC90CAB0718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787775" y="3021013"/>
            <a:ext cx="338138" cy="258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200">
                <a:solidFill>
                  <a:schemeClr val="tx2"/>
                </a:solidFill>
                <a:latin typeface="+mn-lt"/>
                <a:ea typeface="宋体" charset="-122"/>
              </a:rPr>
              <a:t>40</a:t>
            </a:r>
          </a:p>
        </p:txBody>
      </p:sp>
      <p:sp>
        <p:nvSpPr>
          <p:cNvPr id="64" name="Text Box 480">
            <a:extLst>
              <a:ext uri="{FF2B5EF4-FFF2-40B4-BE49-F238E27FC236}">
                <a16:creationId xmlns:a16="http://schemas.microsoft.com/office/drawing/2014/main" id="{E9FF8868-006B-8A45-AC62-6968BBEA8E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33813" y="3122613"/>
            <a:ext cx="261937" cy="2778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1200">
                <a:latin typeface="+mn-lt"/>
                <a:ea typeface="宋体" charset="-122"/>
              </a:rPr>
              <a:t>/</a:t>
            </a:r>
          </a:p>
        </p:txBody>
      </p:sp>
      <p:sp>
        <p:nvSpPr>
          <p:cNvPr id="65" name="Text Box 482">
            <a:extLst>
              <a:ext uri="{FF2B5EF4-FFF2-40B4-BE49-F238E27FC236}">
                <a16:creationId xmlns:a16="http://schemas.microsoft.com/office/drawing/2014/main" id="{4AFA3E9A-0EC6-3F4F-8C1A-69349DACA1F9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062538" y="2997200"/>
            <a:ext cx="338137" cy="258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200">
                <a:solidFill>
                  <a:schemeClr val="tx2"/>
                </a:solidFill>
                <a:latin typeface="+mn-lt"/>
                <a:ea typeface="宋体" charset="-122"/>
              </a:rPr>
              <a:t>40</a:t>
            </a:r>
          </a:p>
        </p:txBody>
      </p:sp>
      <p:sp>
        <p:nvSpPr>
          <p:cNvPr id="66" name="Text Box 483">
            <a:extLst>
              <a:ext uri="{FF2B5EF4-FFF2-40B4-BE49-F238E27FC236}">
                <a16:creationId xmlns:a16="http://schemas.microsoft.com/office/drawing/2014/main" id="{B4A80F05-5949-C149-B92A-AF78743411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1275" y="3098800"/>
            <a:ext cx="261938" cy="2778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1200">
                <a:latin typeface="+mn-lt"/>
                <a:ea typeface="宋体" charset="-122"/>
              </a:rPr>
              <a:t>/</a:t>
            </a:r>
          </a:p>
        </p:txBody>
      </p:sp>
      <p:sp>
        <p:nvSpPr>
          <p:cNvPr id="67" name="Text Box 485">
            <a:extLst>
              <a:ext uri="{FF2B5EF4-FFF2-40B4-BE49-F238E27FC236}">
                <a16:creationId xmlns:a16="http://schemas.microsoft.com/office/drawing/2014/main" id="{5719A5B7-6DE6-E748-AEEC-70BE52993557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208588" y="5702300"/>
            <a:ext cx="338137" cy="258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200">
                <a:solidFill>
                  <a:schemeClr val="tx2"/>
                </a:solidFill>
                <a:latin typeface="+mn-lt"/>
                <a:ea typeface="宋体" charset="-122"/>
              </a:rPr>
              <a:t>40</a:t>
            </a:r>
          </a:p>
        </p:txBody>
      </p:sp>
      <p:sp>
        <p:nvSpPr>
          <p:cNvPr id="68" name="Text Box 486">
            <a:extLst>
              <a:ext uri="{FF2B5EF4-FFF2-40B4-BE49-F238E27FC236}">
                <a16:creationId xmlns:a16="http://schemas.microsoft.com/office/drawing/2014/main" id="{31F4111A-C6E2-714E-BE9C-F5362C3FA4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67325" y="5791200"/>
            <a:ext cx="261938" cy="2778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1200">
                <a:latin typeface="+mn-lt"/>
                <a:ea typeface="宋体" charset="-122"/>
              </a:rPr>
              <a:t>/</a:t>
            </a:r>
          </a:p>
        </p:txBody>
      </p:sp>
      <p:sp>
        <p:nvSpPr>
          <p:cNvPr id="69" name="Text Box 488">
            <a:extLst>
              <a:ext uri="{FF2B5EF4-FFF2-40B4-BE49-F238E27FC236}">
                <a16:creationId xmlns:a16="http://schemas.microsoft.com/office/drawing/2014/main" id="{376A6DE7-EF03-D046-924D-7387767F75ED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588250" y="3810000"/>
            <a:ext cx="338138" cy="258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200">
                <a:solidFill>
                  <a:schemeClr val="tx2"/>
                </a:solidFill>
                <a:latin typeface="+mn-lt"/>
                <a:ea typeface="宋体" charset="-122"/>
              </a:rPr>
              <a:t>12</a:t>
            </a:r>
          </a:p>
        </p:txBody>
      </p:sp>
      <p:sp>
        <p:nvSpPr>
          <p:cNvPr id="70" name="Text Box 489">
            <a:extLst>
              <a:ext uri="{FF2B5EF4-FFF2-40B4-BE49-F238E27FC236}">
                <a16:creationId xmlns:a16="http://schemas.microsoft.com/office/drawing/2014/main" id="{C4476DCC-4925-6449-84EE-299C333D81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27925" y="3798888"/>
            <a:ext cx="261938" cy="2778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1200">
                <a:latin typeface="+mn-lt"/>
                <a:ea typeface="宋体" charset="-122"/>
              </a:rPr>
              <a:t>/</a:t>
            </a:r>
          </a:p>
        </p:txBody>
      </p:sp>
      <p:sp>
        <p:nvSpPr>
          <p:cNvPr id="79" name="Text Box 505">
            <a:extLst>
              <a:ext uri="{FF2B5EF4-FFF2-40B4-BE49-F238E27FC236}">
                <a16:creationId xmlns:a16="http://schemas.microsoft.com/office/drawing/2014/main" id="{83EA9CB3-158E-2544-91A0-AD8E49781D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9225" y="4832350"/>
            <a:ext cx="1019175" cy="7381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 algn="ctr">
              <a:defRPr/>
            </a:pPr>
            <a:r>
              <a:rPr lang="en-US" sz="1400" i="1">
                <a:latin typeface="+mn-lt"/>
                <a:ea typeface="宋体" charset="-122"/>
              </a:rPr>
              <a:t>512 GB </a:t>
            </a:r>
          </a:p>
          <a:p>
            <a:pPr marL="457200" indent="-457200" algn="ctr">
              <a:defRPr/>
            </a:pPr>
            <a:r>
              <a:rPr lang="en-US" sz="1400" i="1">
                <a:latin typeface="+mn-lt"/>
                <a:ea typeface="宋体" charset="-122"/>
              </a:rPr>
              <a:t>region </a:t>
            </a:r>
          </a:p>
          <a:p>
            <a:pPr marL="457200" indent="-457200" algn="ctr">
              <a:defRPr/>
            </a:pPr>
            <a:r>
              <a:rPr lang="en-US" sz="1400" i="1">
                <a:latin typeface="+mn-lt"/>
                <a:ea typeface="宋体" charset="-122"/>
              </a:rPr>
              <a:t>per entry</a:t>
            </a:r>
          </a:p>
        </p:txBody>
      </p:sp>
      <p:sp>
        <p:nvSpPr>
          <p:cNvPr id="80" name="Text Box 507">
            <a:extLst>
              <a:ext uri="{FF2B5EF4-FFF2-40B4-BE49-F238E27FC236}">
                <a16:creationId xmlns:a16="http://schemas.microsoft.com/office/drawing/2014/main" id="{8032246D-D03D-8B44-B474-38255A50C9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9538" y="4832350"/>
            <a:ext cx="1019175" cy="7381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 algn="ctr">
              <a:defRPr/>
            </a:pPr>
            <a:r>
              <a:rPr lang="en-US" sz="1400" i="1">
                <a:latin typeface="+mn-lt"/>
                <a:ea typeface="宋体" charset="-122"/>
              </a:rPr>
              <a:t>1 GB </a:t>
            </a:r>
          </a:p>
          <a:p>
            <a:pPr marL="457200" indent="-457200" algn="ctr">
              <a:defRPr/>
            </a:pPr>
            <a:r>
              <a:rPr lang="en-US" sz="1400" i="1">
                <a:latin typeface="+mn-lt"/>
                <a:ea typeface="宋体" charset="-122"/>
              </a:rPr>
              <a:t>region </a:t>
            </a:r>
          </a:p>
          <a:p>
            <a:pPr marL="457200" indent="-457200" algn="ctr">
              <a:defRPr/>
            </a:pPr>
            <a:r>
              <a:rPr lang="en-US" sz="1400" i="1">
                <a:latin typeface="+mn-lt"/>
                <a:ea typeface="宋体" charset="-122"/>
              </a:rPr>
              <a:t>per entry</a:t>
            </a:r>
          </a:p>
        </p:txBody>
      </p:sp>
      <p:sp>
        <p:nvSpPr>
          <p:cNvPr id="81" name="Text Box 508">
            <a:extLst>
              <a:ext uri="{FF2B5EF4-FFF2-40B4-BE49-F238E27FC236}">
                <a16:creationId xmlns:a16="http://schemas.microsoft.com/office/drawing/2014/main" id="{D0598D4A-FCD3-DD40-94BB-8D59000185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8913" y="4832350"/>
            <a:ext cx="1019175" cy="7381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 algn="ctr">
              <a:defRPr/>
            </a:pPr>
            <a:r>
              <a:rPr lang="en-US" sz="1400" i="1">
                <a:latin typeface="+mn-lt"/>
                <a:ea typeface="宋体" charset="-122"/>
              </a:rPr>
              <a:t>2 MB </a:t>
            </a:r>
          </a:p>
          <a:p>
            <a:pPr marL="457200" indent="-457200" algn="ctr">
              <a:defRPr/>
            </a:pPr>
            <a:r>
              <a:rPr lang="en-US" sz="1400" i="1">
                <a:latin typeface="+mn-lt"/>
                <a:ea typeface="宋体" charset="-122"/>
              </a:rPr>
              <a:t>region </a:t>
            </a:r>
          </a:p>
          <a:p>
            <a:pPr marL="457200" indent="-457200" algn="ctr">
              <a:defRPr/>
            </a:pPr>
            <a:r>
              <a:rPr lang="en-US" sz="1400" i="1">
                <a:latin typeface="+mn-lt"/>
                <a:ea typeface="宋体" charset="-122"/>
              </a:rPr>
              <a:t>per entry</a:t>
            </a:r>
          </a:p>
        </p:txBody>
      </p:sp>
      <p:sp>
        <p:nvSpPr>
          <p:cNvPr id="82" name="Text Box 509">
            <a:extLst>
              <a:ext uri="{FF2B5EF4-FFF2-40B4-BE49-F238E27FC236}">
                <a16:creationId xmlns:a16="http://schemas.microsoft.com/office/drawing/2014/main" id="{06B0C783-BD8C-2C4E-93F4-4096593B83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21288" y="4832350"/>
            <a:ext cx="1019175" cy="7381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 algn="ctr">
              <a:defRPr/>
            </a:pPr>
            <a:r>
              <a:rPr lang="en-US" sz="1400" i="1">
                <a:latin typeface="+mn-lt"/>
                <a:ea typeface="宋体" charset="-122"/>
              </a:rPr>
              <a:t>4 KB</a:t>
            </a:r>
          </a:p>
          <a:p>
            <a:pPr marL="457200" indent="-457200" algn="ctr">
              <a:defRPr/>
            </a:pPr>
            <a:r>
              <a:rPr lang="en-US" sz="1400" i="1">
                <a:latin typeface="+mn-lt"/>
                <a:ea typeface="宋体" charset="-122"/>
              </a:rPr>
              <a:t>region </a:t>
            </a:r>
          </a:p>
          <a:p>
            <a:pPr marL="457200" indent="-457200" algn="ctr">
              <a:defRPr/>
            </a:pPr>
            <a:r>
              <a:rPr lang="en-US" sz="1400" i="1">
                <a:latin typeface="+mn-lt"/>
                <a:ea typeface="宋体" charset="-122"/>
              </a:rPr>
              <a:t>per entry</a:t>
            </a:r>
          </a:p>
        </p:txBody>
      </p:sp>
    </p:spTree>
    <p:extLst>
      <p:ext uri="{BB962C8B-B14F-4D97-AF65-F5344CB8AC3E}">
        <p14:creationId xmlns:p14="http://schemas.microsoft.com/office/powerpoint/2010/main" val="3089489516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1">
            <a:extLst>
              <a:ext uri="{FF2B5EF4-FFF2-40B4-BE49-F238E27FC236}">
                <a16:creationId xmlns:a16="http://schemas.microsoft.com/office/drawing/2014/main" id="{234F2929-9EEC-D247-BC52-09A9192900C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04800" y="457200"/>
            <a:ext cx="7924800" cy="573088"/>
          </a:xfrm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CN">
                <a:ea typeface="宋体" panose="02010600030101010101" pitchFamily="2" charset="-122"/>
              </a:rPr>
              <a:t>Cute Trick for Speeding Up L1 Access</a:t>
            </a:r>
          </a:p>
        </p:txBody>
      </p:sp>
      <p:sp>
        <p:nvSpPr>
          <p:cNvPr id="51202" name="Rectangle 2">
            <a:extLst>
              <a:ext uri="{FF2B5EF4-FFF2-40B4-BE49-F238E27FC236}">
                <a16:creationId xmlns:a16="http://schemas.microsoft.com/office/drawing/2014/main" id="{0BB4C84D-8A5C-BC4E-822D-9BF45EE49B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4289425"/>
            <a:ext cx="8548688" cy="2339975"/>
          </a:xfrm>
        </p:spPr>
        <p:txBody>
          <a:bodyPr/>
          <a:lstStyle/>
          <a:p>
            <a:pPr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altLang="zh-CN" sz="2400">
                <a:ea typeface="宋体" panose="02010600030101010101" pitchFamily="2" charset="-122"/>
              </a:rPr>
              <a:t>Observation</a:t>
            </a:r>
          </a:p>
          <a:p>
            <a:pPr lvl="1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altLang="zh-CN" sz="2000">
                <a:ea typeface="宋体" panose="02010600030101010101" pitchFamily="2" charset="-122"/>
              </a:rPr>
              <a:t>Bits that determine </a:t>
            </a:r>
            <a:r>
              <a:rPr lang="en-GB" altLang="zh-CN" sz="2000">
                <a:solidFill>
                  <a:srgbClr val="FF0000"/>
                </a:solidFill>
                <a:ea typeface="宋体" panose="02010600030101010101" pitchFamily="2" charset="-122"/>
              </a:rPr>
              <a:t>CI</a:t>
            </a:r>
            <a:r>
              <a:rPr lang="en-GB" altLang="zh-CN" sz="2000">
                <a:ea typeface="宋体" panose="02010600030101010101" pitchFamily="2" charset="-122"/>
              </a:rPr>
              <a:t> identical in virtual and physical address</a:t>
            </a:r>
          </a:p>
          <a:p>
            <a:pPr lvl="1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altLang="zh-CN" sz="2000">
                <a:ea typeface="宋体" panose="02010600030101010101" pitchFamily="2" charset="-122"/>
              </a:rPr>
              <a:t>Can </a:t>
            </a:r>
            <a:r>
              <a:rPr lang="en-GB" altLang="zh-CN" sz="2000">
                <a:solidFill>
                  <a:srgbClr val="FF0000"/>
                </a:solidFill>
                <a:ea typeface="宋体" panose="02010600030101010101" pitchFamily="2" charset="-122"/>
              </a:rPr>
              <a:t>index</a:t>
            </a:r>
            <a:r>
              <a:rPr lang="en-GB" altLang="zh-CN" sz="2000">
                <a:ea typeface="宋体" panose="02010600030101010101" pitchFamily="2" charset="-122"/>
              </a:rPr>
              <a:t> into cache while address translation taking place</a:t>
            </a:r>
          </a:p>
          <a:p>
            <a:pPr lvl="1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altLang="zh-CN" sz="2000">
                <a:ea typeface="宋体" panose="02010600030101010101" pitchFamily="2" charset="-122"/>
              </a:rPr>
              <a:t>Generally we hit in TLB, so </a:t>
            </a:r>
            <a:r>
              <a:rPr lang="en-GB" altLang="zh-CN" sz="2000">
                <a:solidFill>
                  <a:srgbClr val="FF0000"/>
                </a:solidFill>
                <a:ea typeface="宋体" panose="02010600030101010101" pitchFamily="2" charset="-122"/>
              </a:rPr>
              <a:t>PPN bits (CT bits) </a:t>
            </a:r>
            <a:r>
              <a:rPr lang="en-GB" altLang="zh-CN" sz="2000">
                <a:ea typeface="宋体" panose="02010600030101010101" pitchFamily="2" charset="-122"/>
              </a:rPr>
              <a:t>available next</a:t>
            </a:r>
          </a:p>
          <a:p>
            <a:pPr lvl="1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altLang="zh-CN" sz="2000">
                <a:ea typeface="宋体" panose="02010600030101010101" pitchFamily="2" charset="-122"/>
              </a:rPr>
              <a:t>“</a:t>
            </a:r>
            <a:r>
              <a:rPr lang="en-GB" altLang="zh-CN" sz="2000">
                <a:solidFill>
                  <a:srgbClr val="FF0000"/>
                </a:solidFill>
                <a:ea typeface="宋体" panose="02010600030101010101" pitchFamily="2" charset="-122"/>
              </a:rPr>
              <a:t>Virtually indexed, physically tagged</a:t>
            </a:r>
            <a:r>
              <a:rPr lang="en-GB" altLang="zh-CN" sz="2000">
                <a:ea typeface="宋体" panose="02010600030101010101" pitchFamily="2" charset="-122"/>
              </a:rPr>
              <a:t>”</a:t>
            </a:r>
          </a:p>
          <a:p>
            <a:pPr lvl="1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altLang="zh-CN" sz="2000">
                <a:ea typeface="宋体" panose="02010600030101010101" pitchFamily="2" charset="-122"/>
              </a:rPr>
              <a:t>Cache carefully sized to make this possible</a:t>
            </a:r>
          </a:p>
        </p:txBody>
      </p:sp>
      <p:sp>
        <p:nvSpPr>
          <p:cNvPr id="51203" name="Text Box 3">
            <a:extLst>
              <a:ext uri="{FF2B5EF4-FFF2-40B4-BE49-F238E27FC236}">
                <a16:creationId xmlns:a16="http://schemas.microsoft.com/office/drawing/2014/main" id="{A6D62410-4FB4-474B-B421-70AAF4D01A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1958975"/>
            <a:ext cx="2500313" cy="89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360" tIns="44280" rIns="90360" bIns="4428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algn="r">
              <a:lnSpc>
                <a:spcPct val="88000"/>
              </a:lnSpc>
              <a:spcBef>
                <a:spcPts val="600"/>
              </a:spcBef>
              <a:buFontTx/>
              <a:buNone/>
            </a:pPr>
            <a:r>
              <a:rPr kumimoji="0" lang="en-GB" altLang="zh-CN" sz="1600">
                <a:solidFill>
                  <a:srgbClr val="003300"/>
                </a:solidFill>
                <a:latin typeface="Calibri" panose="020F0502020204030204" pitchFamily="34" charset="0"/>
                <a:ea typeface="msgothic"/>
                <a:cs typeface="msgothic"/>
              </a:rPr>
              <a:t>Physical </a:t>
            </a:r>
          </a:p>
          <a:p>
            <a:pPr algn="r">
              <a:lnSpc>
                <a:spcPct val="88000"/>
              </a:lnSpc>
              <a:spcBef>
                <a:spcPts val="600"/>
              </a:spcBef>
              <a:buFontTx/>
              <a:buNone/>
            </a:pPr>
            <a:r>
              <a:rPr kumimoji="0" lang="en-GB" altLang="zh-CN" sz="1600">
                <a:solidFill>
                  <a:srgbClr val="003300"/>
                </a:solidFill>
                <a:latin typeface="Calibri" panose="020F0502020204030204" pitchFamily="34" charset="0"/>
                <a:ea typeface="msgothic"/>
                <a:cs typeface="msgothic"/>
              </a:rPr>
              <a:t>address </a:t>
            </a:r>
          </a:p>
          <a:p>
            <a:pPr algn="r">
              <a:lnSpc>
                <a:spcPct val="88000"/>
              </a:lnSpc>
              <a:spcBef>
                <a:spcPts val="600"/>
              </a:spcBef>
              <a:buFontTx/>
              <a:buNone/>
            </a:pPr>
            <a:r>
              <a:rPr kumimoji="0" lang="en-GB" altLang="zh-CN" sz="1600">
                <a:solidFill>
                  <a:srgbClr val="003300"/>
                </a:solidFill>
                <a:latin typeface="Calibri" panose="020F0502020204030204" pitchFamily="34" charset="0"/>
                <a:ea typeface="msgothic"/>
                <a:cs typeface="msgothic"/>
              </a:rPr>
              <a:t>(PA)</a:t>
            </a:r>
          </a:p>
        </p:txBody>
      </p:sp>
      <p:sp>
        <p:nvSpPr>
          <p:cNvPr id="51204" name="Rectangle 4">
            <a:extLst>
              <a:ext uri="{FF2B5EF4-FFF2-40B4-BE49-F238E27FC236}">
                <a16:creationId xmlns:a16="http://schemas.microsoft.com/office/drawing/2014/main" id="{F7063A6B-EB9D-A043-8001-5BBC7E879B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4963" y="1979613"/>
            <a:ext cx="1066800" cy="304800"/>
          </a:xfrm>
          <a:prstGeom prst="rect">
            <a:avLst/>
          </a:prstGeom>
          <a:solidFill>
            <a:srgbClr val="D5F1C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360" tIns="44280" rIns="90360" bIns="4428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8000"/>
              </a:lnSpc>
              <a:spcBef>
                <a:spcPts val="525"/>
              </a:spcBef>
              <a:buFontTx/>
              <a:buNone/>
            </a:pPr>
            <a:r>
              <a:rPr kumimoji="0" lang="en-GB" altLang="zh-CN" sz="1400">
                <a:solidFill>
                  <a:srgbClr val="003300"/>
                </a:solidFill>
                <a:latin typeface="Calibri" panose="020F0502020204030204" pitchFamily="34" charset="0"/>
                <a:ea typeface="msgothic"/>
                <a:cs typeface="msgothic"/>
              </a:rPr>
              <a:t>CT</a:t>
            </a:r>
          </a:p>
        </p:txBody>
      </p:sp>
      <p:sp>
        <p:nvSpPr>
          <p:cNvPr id="26629" name="Rectangle 5">
            <a:extLst>
              <a:ext uri="{FF2B5EF4-FFF2-40B4-BE49-F238E27FC236}">
                <a16:creationId xmlns:a16="http://schemas.microsoft.com/office/drawing/2014/main" id="{412F6C3C-79D9-1340-89E4-745D0C814A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6563" y="1979613"/>
            <a:ext cx="304800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GB" sz="1400" dirty="0">
                <a:solidFill>
                  <a:srgbClr val="003300"/>
                </a:solidFill>
                <a:latin typeface="Calibri" pitchFamily="34" charset="0"/>
                <a:ea typeface="msgothic" charset="0"/>
                <a:cs typeface="msgothic" charset="0"/>
              </a:rPr>
              <a:t>CO</a:t>
            </a:r>
          </a:p>
        </p:txBody>
      </p:sp>
      <p:sp>
        <p:nvSpPr>
          <p:cNvPr id="51206" name="Text Box 6">
            <a:extLst>
              <a:ext uri="{FF2B5EF4-FFF2-40B4-BE49-F238E27FC236}">
                <a16:creationId xmlns:a16="http://schemas.microsoft.com/office/drawing/2014/main" id="{43AAC9C2-9FF0-C442-9857-5E09C5FCFC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1350" y="1751013"/>
            <a:ext cx="363538" cy="284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360" tIns="44280" rIns="90360" bIns="4428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88000"/>
              </a:lnSpc>
              <a:spcBef>
                <a:spcPts val="525"/>
              </a:spcBef>
              <a:buFontTx/>
              <a:buNone/>
            </a:pPr>
            <a:r>
              <a:rPr kumimoji="0" lang="en-GB" altLang="zh-CN" sz="1400">
                <a:solidFill>
                  <a:srgbClr val="003300"/>
                </a:solidFill>
                <a:latin typeface="Calibri" panose="020F0502020204030204" pitchFamily="34" charset="0"/>
                <a:ea typeface="msgothic"/>
                <a:cs typeface="msgothic"/>
              </a:rPr>
              <a:t>40</a:t>
            </a:r>
          </a:p>
        </p:txBody>
      </p:sp>
      <p:sp>
        <p:nvSpPr>
          <p:cNvPr id="51207" name="Text Box 7">
            <a:extLst>
              <a:ext uri="{FF2B5EF4-FFF2-40B4-BE49-F238E27FC236}">
                <a16:creationId xmlns:a16="http://schemas.microsoft.com/office/drawing/2014/main" id="{02843FE3-EA00-D145-B5B8-1CC083DD7C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1963" y="1751013"/>
            <a:ext cx="273050" cy="284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360" tIns="44280" rIns="90360" bIns="4428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88000"/>
              </a:lnSpc>
              <a:spcBef>
                <a:spcPts val="525"/>
              </a:spcBef>
              <a:buFontTx/>
              <a:buNone/>
            </a:pPr>
            <a:r>
              <a:rPr kumimoji="0" lang="en-GB" altLang="zh-CN" sz="1400">
                <a:solidFill>
                  <a:srgbClr val="003300"/>
                </a:solidFill>
                <a:latin typeface="Calibri" panose="020F0502020204030204" pitchFamily="34" charset="0"/>
                <a:ea typeface="msgothic"/>
                <a:cs typeface="msgothic"/>
              </a:rPr>
              <a:t>6</a:t>
            </a:r>
          </a:p>
        </p:txBody>
      </p:sp>
      <p:sp>
        <p:nvSpPr>
          <p:cNvPr id="26632" name="Rectangle 8">
            <a:extLst>
              <a:ext uri="{FF2B5EF4-FFF2-40B4-BE49-F238E27FC236}">
                <a16:creationId xmlns:a16="http://schemas.microsoft.com/office/drawing/2014/main" id="{C8B529E2-AACC-E54F-9FA9-8742EA8194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1763" y="1979613"/>
            <a:ext cx="304800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GB" sz="1400" dirty="0">
                <a:solidFill>
                  <a:srgbClr val="003300"/>
                </a:solidFill>
                <a:latin typeface="Calibri" pitchFamily="34" charset="0"/>
                <a:ea typeface="msgothic" charset="0"/>
                <a:cs typeface="msgothic" charset="0"/>
              </a:rPr>
              <a:t>CI</a:t>
            </a:r>
          </a:p>
        </p:txBody>
      </p:sp>
      <p:sp>
        <p:nvSpPr>
          <p:cNvPr id="51209" name="Text Box 9">
            <a:extLst>
              <a:ext uri="{FF2B5EF4-FFF2-40B4-BE49-F238E27FC236}">
                <a16:creationId xmlns:a16="http://schemas.microsoft.com/office/drawing/2014/main" id="{811E5484-9D12-074D-AF9C-0730B54B06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1763" y="1751013"/>
            <a:ext cx="273050" cy="284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360" tIns="44280" rIns="90360" bIns="4428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88000"/>
              </a:lnSpc>
              <a:spcBef>
                <a:spcPts val="525"/>
              </a:spcBef>
              <a:buFontTx/>
              <a:buNone/>
            </a:pPr>
            <a:r>
              <a:rPr kumimoji="0" lang="en-GB" altLang="zh-CN" sz="1400">
                <a:solidFill>
                  <a:srgbClr val="003300"/>
                </a:solidFill>
                <a:latin typeface="Calibri" panose="020F0502020204030204" pitchFamily="34" charset="0"/>
                <a:ea typeface="msgothic"/>
                <a:cs typeface="msgothic"/>
              </a:rPr>
              <a:t>6</a:t>
            </a:r>
          </a:p>
        </p:txBody>
      </p:sp>
      <p:sp>
        <p:nvSpPr>
          <p:cNvPr id="51210" name="Text Box 10">
            <a:extLst>
              <a:ext uri="{FF2B5EF4-FFF2-40B4-BE49-F238E27FC236}">
                <a16:creationId xmlns:a16="http://schemas.microsoft.com/office/drawing/2014/main" id="{AEE80883-7BF3-8B4B-B6E1-230254139A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3363" y="3422650"/>
            <a:ext cx="1073150" cy="89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360" tIns="44280" rIns="90360" bIns="4428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algn="r">
              <a:lnSpc>
                <a:spcPct val="88000"/>
              </a:lnSpc>
              <a:spcBef>
                <a:spcPts val="600"/>
              </a:spcBef>
              <a:buFontTx/>
              <a:buNone/>
            </a:pPr>
            <a:r>
              <a:rPr kumimoji="0" lang="en-GB" altLang="zh-CN" sz="1600">
                <a:solidFill>
                  <a:srgbClr val="003300"/>
                </a:solidFill>
                <a:latin typeface="Calibri" panose="020F0502020204030204" pitchFamily="34" charset="0"/>
                <a:ea typeface="msgothic"/>
                <a:cs typeface="msgothic"/>
              </a:rPr>
              <a:t>Virtual </a:t>
            </a:r>
          </a:p>
          <a:p>
            <a:pPr algn="r">
              <a:lnSpc>
                <a:spcPct val="88000"/>
              </a:lnSpc>
              <a:spcBef>
                <a:spcPts val="600"/>
              </a:spcBef>
              <a:buFontTx/>
              <a:buNone/>
            </a:pPr>
            <a:r>
              <a:rPr kumimoji="0" lang="en-GB" altLang="zh-CN" sz="1600">
                <a:solidFill>
                  <a:srgbClr val="003300"/>
                </a:solidFill>
                <a:latin typeface="Calibri" panose="020F0502020204030204" pitchFamily="34" charset="0"/>
                <a:ea typeface="msgothic"/>
                <a:cs typeface="msgothic"/>
              </a:rPr>
              <a:t>address </a:t>
            </a:r>
          </a:p>
          <a:p>
            <a:pPr algn="r">
              <a:lnSpc>
                <a:spcPct val="88000"/>
              </a:lnSpc>
              <a:spcBef>
                <a:spcPts val="600"/>
              </a:spcBef>
              <a:buFontTx/>
              <a:buNone/>
            </a:pPr>
            <a:r>
              <a:rPr kumimoji="0" lang="en-GB" altLang="zh-CN" sz="1600">
                <a:solidFill>
                  <a:srgbClr val="003300"/>
                </a:solidFill>
                <a:latin typeface="Calibri" panose="020F0502020204030204" pitchFamily="34" charset="0"/>
                <a:ea typeface="msgothic"/>
                <a:cs typeface="msgothic"/>
              </a:rPr>
              <a:t>(VA)</a:t>
            </a:r>
          </a:p>
        </p:txBody>
      </p:sp>
      <p:sp>
        <p:nvSpPr>
          <p:cNvPr id="51211" name="Rectangle 11">
            <a:extLst>
              <a:ext uri="{FF2B5EF4-FFF2-40B4-BE49-F238E27FC236}">
                <a16:creationId xmlns:a16="http://schemas.microsoft.com/office/drawing/2014/main" id="{F9E087C4-8CE3-B24E-A237-D545ED1B65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4963" y="3884613"/>
            <a:ext cx="1066800" cy="304800"/>
          </a:xfrm>
          <a:prstGeom prst="rect">
            <a:avLst/>
          </a:prstGeom>
          <a:solidFill>
            <a:srgbClr val="F1C7C7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360" tIns="44280" rIns="90360" bIns="4428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8000"/>
              </a:lnSpc>
              <a:spcBef>
                <a:spcPts val="525"/>
              </a:spcBef>
              <a:buFontTx/>
              <a:buNone/>
            </a:pPr>
            <a:r>
              <a:rPr kumimoji="0" lang="en-GB" altLang="zh-CN" sz="1400">
                <a:solidFill>
                  <a:srgbClr val="003300"/>
                </a:solidFill>
                <a:latin typeface="Calibri" panose="020F0502020204030204" pitchFamily="34" charset="0"/>
                <a:ea typeface="msgothic"/>
                <a:cs typeface="msgothic"/>
              </a:rPr>
              <a:t>VPN</a:t>
            </a:r>
          </a:p>
        </p:txBody>
      </p:sp>
      <p:sp>
        <p:nvSpPr>
          <p:cNvPr id="26636" name="Rectangle 12">
            <a:extLst>
              <a:ext uri="{FF2B5EF4-FFF2-40B4-BE49-F238E27FC236}">
                <a16:creationId xmlns:a16="http://schemas.microsoft.com/office/drawing/2014/main" id="{DD2409BE-3B18-A64B-B5B4-CE048B2589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1763" y="3884613"/>
            <a:ext cx="609600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GB" sz="1400" dirty="0">
                <a:solidFill>
                  <a:srgbClr val="003300"/>
                </a:solidFill>
                <a:latin typeface="Calibri" pitchFamily="34" charset="0"/>
                <a:ea typeface="msgothic" charset="0"/>
                <a:cs typeface="msgothic" charset="0"/>
              </a:rPr>
              <a:t>VPO</a:t>
            </a:r>
          </a:p>
        </p:txBody>
      </p:sp>
      <p:sp>
        <p:nvSpPr>
          <p:cNvPr id="51213" name="Text Box 13">
            <a:extLst>
              <a:ext uri="{FF2B5EF4-FFF2-40B4-BE49-F238E27FC236}">
                <a16:creationId xmlns:a16="http://schemas.microsoft.com/office/drawing/2014/main" id="{BE4FC9DC-0723-6B4A-8F90-CA18207552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8175" y="4265613"/>
            <a:ext cx="363538" cy="284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360" tIns="44280" rIns="90360" bIns="4428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88000"/>
              </a:lnSpc>
              <a:spcBef>
                <a:spcPts val="525"/>
              </a:spcBef>
              <a:buFontTx/>
              <a:buNone/>
            </a:pPr>
            <a:r>
              <a:rPr kumimoji="0" lang="en-GB" altLang="zh-CN" sz="1400">
                <a:solidFill>
                  <a:srgbClr val="003300"/>
                </a:solidFill>
                <a:latin typeface="Calibri" panose="020F0502020204030204" pitchFamily="34" charset="0"/>
                <a:ea typeface="msgothic"/>
                <a:cs typeface="msgothic"/>
              </a:rPr>
              <a:t>36</a:t>
            </a:r>
          </a:p>
        </p:txBody>
      </p:sp>
      <p:sp>
        <p:nvSpPr>
          <p:cNvPr id="51214" name="Text Box 14">
            <a:extLst>
              <a:ext uri="{FF2B5EF4-FFF2-40B4-BE49-F238E27FC236}">
                <a16:creationId xmlns:a16="http://schemas.microsoft.com/office/drawing/2014/main" id="{E8DCF1E6-C68D-524F-8608-180B040A78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8588" y="4265613"/>
            <a:ext cx="609600" cy="27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360" tIns="44280" rIns="90360" bIns="4428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8000"/>
              </a:lnSpc>
              <a:spcBef>
                <a:spcPts val="525"/>
              </a:spcBef>
              <a:buFontTx/>
              <a:buNone/>
            </a:pPr>
            <a:r>
              <a:rPr kumimoji="0" lang="en-GB" altLang="zh-CN" sz="1400">
                <a:solidFill>
                  <a:srgbClr val="003300"/>
                </a:solidFill>
                <a:latin typeface="Calibri" panose="020F0502020204030204" pitchFamily="34" charset="0"/>
                <a:ea typeface="msgothic"/>
                <a:cs typeface="msgothic"/>
              </a:rPr>
              <a:t>12</a:t>
            </a:r>
          </a:p>
        </p:txBody>
      </p:sp>
      <p:sp>
        <p:nvSpPr>
          <p:cNvPr id="26639" name="Rectangle 15">
            <a:extLst>
              <a:ext uri="{FF2B5EF4-FFF2-40B4-BE49-F238E27FC236}">
                <a16:creationId xmlns:a16="http://schemas.microsoft.com/office/drawing/2014/main" id="{EE957388-BF16-314A-9E6B-54EF36C8F8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1763" y="2589213"/>
            <a:ext cx="609600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GB" sz="1400" dirty="0">
                <a:solidFill>
                  <a:srgbClr val="003300"/>
                </a:solidFill>
                <a:latin typeface="Calibri" pitchFamily="34" charset="0"/>
                <a:ea typeface="msgothic" charset="0"/>
                <a:cs typeface="msgothic" charset="0"/>
              </a:rPr>
              <a:t>PPO</a:t>
            </a:r>
          </a:p>
        </p:txBody>
      </p:sp>
      <p:sp>
        <p:nvSpPr>
          <p:cNvPr id="51216" name="Rectangle 16">
            <a:extLst>
              <a:ext uri="{FF2B5EF4-FFF2-40B4-BE49-F238E27FC236}">
                <a16:creationId xmlns:a16="http://schemas.microsoft.com/office/drawing/2014/main" id="{C7E9B7E7-01E1-0741-A09C-538B79FFFA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4963" y="2589213"/>
            <a:ext cx="1066800" cy="304800"/>
          </a:xfrm>
          <a:prstGeom prst="rect">
            <a:avLst/>
          </a:prstGeom>
          <a:solidFill>
            <a:srgbClr val="D5F1C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360" tIns="44280" rIns="90360" bIns="4428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8000"/>
              </a:lnSpc>
              <a:spcBef>
                <a:spcPts val="525"/>
              </a:spcBef>
              <a:buFontTx/>
              <a:buNone/>
            </a:pPr>
            <a:r>
              <a:rPr kumimoji="0" lang="en-GB" altLang="zh-CN" sz="1400">
                <a:solidFill>
                  <a:srgbClr val="003300"/>
                </a:solidFill>
                <a:latin typeface="Calibri" panose="020F0502020204030204" pitchFamily="34" charset="0"/>
                <a:ea typeface="msgothic"/>
                <a:cs typeface="msgothic"/>
              </a:rPr>
              <a:t>PPN</a:t>
            </a:r>
          </a:p>
        </p:txBody>
      </p:sp>
      <p:sp>
        <p:nvSpPr>
          <p:cNvPr id="51217" name="AutoShape 17">
            <a:extLst>
              <a:ext uri="{FF2B5EF4-FFF2-40B4-BE49-F238E27FC236}">
                <a16:creationId xmlns:a16="http://schemas.microsoft.com/office/drawing/2014/main" id="{9E27BEE2-8C03-EF41-B133-90E84DF63C6C}"/>
              </a:ext>
            </a:extLst>
          </p:cNvPr>
          <p:cNvSpPr>
            <a:spLocks/>
          </p:cNvSpPr>
          <p:nvPr/>
        </p:nvSpPr>
        <p:spPr bwMode="auto">
          <a:xfrm>
            <a:off x="2570163" y="1979613"/>
            <a:ext cx="228600" cy="914400"/>
          </a:xfrm>
          <a:prstGeom prst="leftBrace">
            <a:avLst>
              <a:gd name="adj1" fmla="val 33333"/>
              <a:gd name="adj2" fmla="val 50000"/>
            </a:avLst>
          </a:prstGeom>
          <a:noFill/>
          <a:ln w="936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kumimoji="0" lang="zh-CN" altLang="zh-CN" sz="2000"/>
          </a:p>
        </p:txBody>
      </p:sp>
      <p:sp>
        <p:nvSpPr>
          <p:cNvPr id="51218" name="Line 18">
            <a:extLst>
              <a:ext uri="{FF2B5EF4-FFF2-40B4-BE49-F238E27FC236}">
                <a16:creationId xmlns:a16="http://schemas.microsoft.com/office/drawing/2014/main" id="{3445C063-39EE-AC49-8061-D3E51483463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84563" y="3654425"/>
            <a:ext cx="1587" cy="231775"/>
          </a:xfrm>
          <a:prstGeom prst="line">
            <a:avLst/>
          </a:prstGeom>
          <a:noFill/>
          <a:ln w="9360">
            <a:solidFill>
              <a:srgbClr val="000066"/>
            </a:solidFill>
            <a:miter lim="800000"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19" name="AutoShape 19">
            <a:extLst>
              <a:ext uri="{FF2B5EF4-FFF2-40B4-BE49-F238E27FC236}">
                <a16:creationId xmlns:a16="http://schemas.microsoft.com/office/drawing/2014/main" id="{BF820997-6810-B345-8D67-D95839A42A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8763" y="3122613"/>
            <a:ext cx="1143000" cy="6096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>
            <a:noFill/>
          </a:ln>
          <a:extLst>
            <a:ext uri="{91240B29-F687-4F45-9708-019B960494DF}">
              <a14:hiddenLine xmlns:a14="http://schemas.microsoft.com/office/drawing/2010/main" w="1908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360" tIns="44280" rIns="90360" bIns="4428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8000"/>
              </a:lnSpc>
              <a:spcBef>
                <a:spcPts val="525"/>
              </a:spcBef>
              <a:buFontTx/>
              <a:buNone/>
            </a:pPr>
            <a:r>
              <a:rPr kumimoji="0" lang="en-GB" altLang="zh-CN" sz="1600">
                <a:solidFill>
                  <a:srgbClr val="003300"/>
                </a:solidFill>
                <a:latin typeface="Calibri" panose="020F0502020204030204" pitchFamily="34" charset="0"/>
                <a:ea typeface="msgothic"/>
                <a:cs typeface="msgothic"/>
              </a:rPr>
              <a:t>Address</a:t>
            </a:r>
          </a:p>
          <a:p>
            <a:pPr algn="ctr">
              <a:lnSpc>
                <a:spcPct val="88000"/>
              </a:lnSpc>
              <a:spcBef>
                <a:spcPts val="525"/>
              </a:spcBef>
              <a:buFontTx/>
              <a:buNone/>
            </a:pPr>
            <a:r>
              <a:rPr kumimoji="0" lang="en-GB" altLang="zh-CN" sz="1600">
                <a:solidFill>
                  <a:srgbClr val="003300"/>
                </a:solidFill>
                <a:latin typeface="Calibri" panose="020F0502020204030204" pitchFamily="34" charset="0"/>
                <a:ea typeface="msgothic"/>
                <a:cs typeface="msgothic"/>
              </a:rPr>
              <a:t>Translation</a:t>
            </a:r>
          </a:p>
        </p:txBody>
      </p:sp>
      <p:sp>
        <p:nvSpPr>
          <p:cNvPr id="51220" name="Line 20">
            <a:extLst>
              <a:ext uri="{FF2B5EF4-FFF2-40B4-BE49-F238E27FC236}">
                <a16:creationId xmlns:a16="http://schemas.microsoft.com/office/drawing/2014/main" id="{57A86DA9-66A1-5E41-933D-024D9FFC99E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84563" y="2892425"/>
            <a:ext cx="1587" cy="274638"/>
          </a:xfrm>
          <a:prstGeom prst="line">
            <a:avLst/>
          </a:prstGeom>
          <a:noFill/>
          <a:ln w="9360">
            <a:solidFill>
              <a:srgbClr val="000066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21" name="Line 21">
            <a:extLst>
              <a:ext uri="{FF2B5EF4-FFF2-40B4-BE49-F238E27FC236}">
                <a16:creationId xmlns:a16="http://schemas.microsoft.com/office/drawing/2014/main" id="{4682A845-45A9-3B4E-9AA7-E082D1FB7B9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46563" y="2894013"/>
            <a:ext cx="1587" cy="993775"/>
          </a:xfrm>
          <a:prstGeom prst="line">
            <a:avLst/>
          </a:prstGeom>
          <a:noFill/>
          <a:ln w="9360">
            <a:solidFill>
              <a:srgbClr val="000066"/>
            </a:solidFill>
            <a:miter lim="800000"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22" name="Text Box 22">
            <a:extLst>
              <a:ext uri="{FF2B5EF4-FFF2-40B4-BE49-F238E27FC236}">
                <a16:creationId xmlns:a16="http://schemas.microsoft.com/office/drawing/2014/main" id="{8650F5D1-B675-8149-9D7F-5FE0917AF2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3388" y="3094038"/>
            <a:ext cx="733425" cy="53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360" tIns="44280" rIns="90360" bIns="4428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88000"/>
              </a:lnSpc>
              <a:spcBef>
                <a:spcPts val="525"/>
              </a:spcBef>
              <a:buFontTx/>
              <a:buNone/>
            </a:pPr>
            <a:r>
              <a:rPr kumimoji="0" lang="en-GB" altLang="zh-CN" sz="1400">
                <a:solidFill>
                  <a:srgbClr val="003300"/>
                </a:solidFill>
                <a:latin typeface="Calibri" panose="020F0502020204030204" pitchFamily="34" charset="0"/>
                <a:ea typeface="msgothic"/>
                <a:cs typeface="msgothic"/>
              </a:rPr>
              <a:t>No</a:t>
            </a:r>
          </a:p>
          <a:p>
            <a:pPr>
              <a:lnSpc>
                <a:spcPct val="88000"/>
              </a:lnSpc>
              <a:spcBef>
                <a:spcPts val="525"/>
              </a:spcBef>
              <a:buFontTx/>
              <a:buNone/>
            </a:pPr>
            <a:r>
              <a:rPr kumimoji="0" lang="en-GB" altLang="zh-CN" sz="1400">
                <a:solidFill>
                  <a:srgbClr val="003300"/>
                </a:solidFill>
                <a:latin typeface="Calibri" panose="020F0502020204030204" pitchFamily="34" charset="0"/>
                <a:ea typeface="msgothic"/>
                <a:cs typeface="msgothic"/>
              </a:rPr>
              <a:t>Change</a:t>
            </a:r>
          </a:p>
        </p:txBody>
      </p:sp>
      <p:sp>
        <p:nvSpPr>
          <p:cNvPr id="51223" name="Rectangle 23">
            <a:extLst>
              <a:ext uri="{FF2B5EF4-FFF2-40B4-BE49-F238E27FC236}">
                <a16:creationId xmlns:a16="http://schemas.microsoft.com/office/drawing/2014/main" id="{35C081DC-6416-BD4E-A15F-155890B7F3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7163" y="2589213"/>
            <a:ext cx="2667000" cy="1143000"/>
          </a:xfrm>
          <a:prstGeom prst="rect">
            <a:avLst/>
          </a:prstGeom>
          <a:solidFill>
            <a:srgbClr val="F6F5BD"/>
          </a:solidFill>
          <a:ln w="19080">
            <a:solidFill>
              <a:srgbClr val="0000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kumimoji="0" lang="zh-CN" altLang="zh-CN" sz="2000"/>
          </a:p>
        </p:txBody>
      </p:sp>
      <p:sp>
        <p:nvSpPr>
          <p:cNvPr id="51224" name="Line 28">
            <a:extLst>
              <a:ext uri="{FF2B5EF4-FFF2-40B4-BE49-F238E27FC236}">
                <a16:creationId xmlns:a16="http://schemas.microsoft.com/office/drawing/2014/main" id="{51DEAAF2-D556-5A4E-B4A9-60A4E5E66E6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51363" y="3046413"/>
            <a:ext cx="935037" cy="992187"/>
          </a:xfrm>
          <a:prstGeom prst="line">
            <a:avLst/>
          </a:prstGeom>
          <a:noFill/>
          <a:ln w="19080">
            <a:solidFill>
              <a:srgbClr val="000066"/>
            </a:solidFill>
            <a:prstDash val="sysDot"/>
            <a:miter lim="800000"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25" name="Rectangle 29">
            <a:extLst>
              <a:ext uri="{FF2B5EF4-FFF2-40B4-BE49-F238E27FC236}">
                <a16:creationId xmlns:a16="http://schemas.microsoft.com/office/drawing/2014/main" id="{8F743177-744F-E745-9A42-D184932EE3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5525" y="3606800"/>
            <a:ext cx="325438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360" tIns="44280" rIns="90360" bIns="4428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88000"/>
              </a:lnSpc>
              <a:spcBef>
                <a:spcPts val="525"/>
              </a:spcBef>
              <a:buFontTx/>
              <a:buNone/>
            </a:pPr>
            <a:r>
              <a:rPr kumimoji="0" lang="en-GB" altLang="zh-CN" sz="1400">
                <a:solidFill>
                  <a:srgbClr val="003300"/>
                </a:solidFill>
                <a:latin typeface="Calibri" panose="020F0502020204030204" pitchFamily="34" charset="0"/>
                <a:ea typeface="msgothic"/>
                <a:cs typeface="msgothic"/>
              </a:rPr>
              <a:t>CI</a:t>
            </a:r>
          </a:p>
        </p:txBody>
      </p:sp>
      <p:sp>
        <p:nvSpPr>
          <p:cNvPr id="51226" name="Freeform 34">
            <a:extLst>
              <a:ext uri="{FF2B5EF4-FFF2-40B4-BE49-F238E27FC236}">
                <a16:creationId xmlns:a16="http://schemas.microsoft.com/office/drawing/2014/main" id="{A37BBEE5-57DB-8A4E-8DE3-BF03ADCC8C16}"/>
              </a:ext>
            </a:extLst>
          </p:cNvPr>
          <p:cNvSpPr>
            <a:spLocks/>
          </p:cNvSpPr>
          <p:nvPr/>
        </p:nvSpPr>
        <p:spPr bwMode="auto">
          <a:xfrm>
            <a:off x="3636963" y="1522413"/>
            <a:ext cx="1600200" cy="609600"/>
          </a:xfrm>
          <a:custGeom>
            <a:avLst/>
            <a:gdLst>
              <a:gd name="T0" fmla="*/ 0 w 1200"/>
              <a:gd name="T1" fmla="*/ 2147483646 h 240"/>
              <a:gd name="T2" fmla="*/ 2147483646 w 1200"/>
              <a:gd name="T3" fmla="*/ 0 h 240"/>
              <a:gd name="T4" fmla="*/ 2147483646 w 1200"/>
              <a:gd name="T5" fmla="*/ 0 h 24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200" h="240">
                <a:moveTo>
                  <a:pt x="0" y="240"/>
                </a:moveTo>
                <a:lnTo>
                  <a:pt x="192" y="0"/>
                </a:lnTo>
                <a:lnTo>
                  <a:pt x="1200" y="0"/>
                </a:lnTo>
              </a:path>
            </a:pathLst>
          </a:custGeom>
          <a:noFill/>
          <a:ln w="19080">
            <a:solidFill>
              <a:srgbClr val="000066"/>
            </a:solidFill>
            <a:prstDash val="sysDot"/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227" name="TextBox 36">
            <a:extLst>
              <a:ext uri="{FF2B5EF4-FFF2-40B4-BE49-F238E27FC236}">
                <a16:creationId xmlns:a16="http://schemas.microsoft.com/office/drawing/2014/main" id="{2BF6CCB6-4369-8441-AD2B-FD53DDBA86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75363" y="3821113"/>
            <a:ext cx="12192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CN" sz="1800">
                <a:latin typeface="Calibri" panose="020F0502020204030204" pitchFamily="34" charset="0"/>
              </a:rPr>
              <a:t>L1 Cache</a:t>
            </a:r>
          </a:p>
        </p:txBody>
      </p:sp>
      <p:sp>
        <p:nvSpPr>
          <p:cNvPr id="51228" name="Rectangle 29">
            <a:extLst>
              <a:ext uri="{FF2B5EF4-FFF2-40B4-BE49-F238E27FC236}">
                <a16:creationId xmlns:a16="http://schemas.microsoft.com/office/drawing/2014/main" id="{39C907E4-F16C-E34E-8970-4524782D7F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3450" y="1487488"/>
            <a:ext cx="368300" cy="28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360" tIns="44280" rIns="90360" bIns="4428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88000"/>
              </a:lnSpc>
              <a:spcBef>
                <a:spcPts val="525"/>
              </a:spcBef>
              <a:buFontTx/>
              <a:buNone/>
            </a:pPr>
            <a:r>
              <a:rPr kumimoji="0" lang="en-GB" altLang="zh-CN" sz="1400">
                <a:solidFill>
                  <a:srgbClr val="003300"/>
                </a:solidFill>
                <a:latin typeface="Calibri" panose="020F0502020204030204" pitchFamily="34" charset="0"/>
                <a:ea typeface="msgothic"/>
                <a:cs typeface="msgothic"/>
              </a:rPr>
              <a:t>CT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025E0F7-75CC-9E4D-9503-56CDA4E6EEFD}"/>
              </a:ext>
            </a:extLst>
          </p:cNvPr>
          <p:cNvSpPr/>
          <p:nvPr/>
        </p:nvSpPr>
        <p:spPr bwMode="auto">
          <a:xfrm>
            <a:off x="5486400" y="2924175"/>
            <a:ext cx="284163" cy="198438"/>
          </a:xfrm>
          <a:prstGeom prst="rect">
            <a:avLst/>
          </a:prstGeom>
          <a:solidFill>
            <a:srgbClr val="DBF2DA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>
              <a:defRPr/>
            </a:pPr>
            <a:endParaRPr lang="en-US" sz="1600" dirty="0">
              <a:latin typeface="+mn-lt"/>
              <a:ea typeface="宋体" charset="-122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1AE9D74-8277-9C46-BC74-742FB5BC2D4E}"/>
              </a:ext>
            </a:extLst>
          </p:cNvPr>
          <p:cNvSpPr/>
          <p:nvPr/>
        </p:nvSpPr>
        <p:spPr bwMode="auto">
          <a:xfrm>
            <a:off x="5770563" y="2924175"/>
            <a:ext cx="284162" cy="198438"/>
          </a:xfrm>
          <a:prstGeom prst="rect">
            <a:avLst/>
          </a:prstGeom>
          <a:solidFill>
            <a:srgbClr val="DBF2DA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>
              <a:defRPr/>
            </a:pPr>
            <a:endParaRPr lang="en-US" sz="1600" dirty="0">
              <a:latin typeface="+mn-lt"/>
              <a:ea typeface="宋体" charset="-122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180849E-2B12-FA49-9319-3F6409876A03}"/>
              </a:ext>
            </a:extLst>
          </p:cNvPr>
          <p:cNvSpPr/>
          <p:nvPr/>
        </p:nvSpPr>
        <p:spPr bwMode="auto">
          <a:xfrm>
            <a:off x="6019800" y="2924175"/>
            <a:ext cx="284163" cy="198438"/>
          </a:xfrm>
          <a:prstGeom prst="rect">
            <a:avLst/>
          </a:prstGeom>
          <a:solidFill>
            <a:srgbClr val="DBF2DA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>
              <a:defRPr/>
            </a:pPr>
            <a:endParaRPr lang="en-US" sz="1600" dirty="0">
              <a:latin typeface="+mn-lt"/>
              <a:ea typeface="宋体" charset="-122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7D84C1A-4111-3940-B7E7-88B0CCFC64AA}"/>
              </a:ext>
            </a:extLst>
          </p:cNvPr>
          <p:cNvSpPr/>
          <p:nvPr/>
        </p:nvSpPr>
        <p:spPr bwMode="auto">
          <a:xfrm>
            <a:off x="6303963" y="2924175"/>
            <a:ext cx="284162" cy="198438"/>
          </a:xfrm>
          <a:prstGeom prst="rect">
            <a:avLst/>
          </a:prstGeom>
          <a:solidFill>
            <a:srgbClr val="DBF2DA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>
              <a:defRPr/>
            </a:pPr>
            <a:endParaRPr lang="en-US" sz="1600" dirty="0">
              <a:latin typeface="+mn-lt"/>
              <a:ea typeface="宋体" charset="-122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9A21D45A-9EF8-254D-95C8-187DB964B32A}"/>
              </a:ext>
            </a:extLst>
          </p:cNvPr>
          <p:cNvSpPr/>
          <p:nvPr/>
        </p:nvSpPr>
        <p:spPr bwMode="auto">
          <a:xfrm>
            <a:off x="6572250" y="2924175"/>
            <a:ext cx="285750" cy="198438"/>
          </a:xfrm>
          <a:prstGeom prst="rect">
            <a:avLst/>
          </a:prstGeom>
          <a:solidFill>
            <a:srgbClr val="DBF2DA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>
              <a:defRPr/>
            </a:pPr>
            <a:endParaRPr lang="en-US" sz="1600" dirty="0">
              <a:latin typeface="+mn-lt"/>
              <a:ea typeface="宋体" charset="-122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452693C-AB9A-2F41-B572-9C0B5111F4CB}"/>
              </a:ext>
            </a:extLst>
          </p:cNvPr>
          <p:cNvSpPr/>
          <p:nvPr/>
        </p:nvSpPr>
        <p:spPr bwMode="auto">
          <a:xfrm>
            <a:off x="6858000" y="2924175"/>
            <a:ext cx="284163" cy="198438"/>
          </a:xfrm>
          <a:prstGeom prst="rect">
            <a:avLst/>
          </a:prstGeom>
          <a:solidFill>
            <a:srgbClr val="DBF2DA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>
              <a:defRPr/>
            </a:pPr>
            <a:endParaRPr lang="en-US" sz="1600" dirty="0">
              <a:latin typeface="+mn-lt"/>
              <a:ea typeface="宋体" charset="-122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571BABA-273E-B542-8E60-4912B27643A4}"/>
              </a:ext>
            </a:extLst>
          </p:cNvPr>
          <p:cNvSpPr/>
          <p:nvPr/>
        </p:nvSpPr>
        <p:spPr bwMode="auto">
          <a:xfrm>
            <a:off x="7105650" y="2924175"/>
            <a:ext cx="285750" cy="198438"/>
          </a:xfrm>
          <a:prstGeom prst="rect">
            <a:avLst/>
          </a:prstGeom>
          <a:solidFill>
            <a:srgbClr val="DBF2DA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>
              <a:defRPr/>
            </a:pPr>
            <a:endParaRPr lang="en-US" sz="1600" dirty="0">
              <a:latin typeface="+mn-lt"/>
              <a:ea typeface="宋体" charset="-122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5EF8F249-DD96-EE43-95F6-247F80A738F2}"/>
              </a:ext>
            </a:extLst>
          </p:cNvPr>
          <p:cNvSpPr/>
          <p:nvPr/>
        </p:nvSpPr>
        <p:spPr bwMode="auto">
          <a:xfrm>
            <a:off x="7391400" y="2924175"/>
            <a:ext cx="284163" cy="198438"/>
          </a:xfrm>
          <a:prstGeom prst="rect">
            <a:avLst/>
          </a:prstGeom>
          <a:solidFill>
            <a:srgbClr val="DBF2DA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>
              <a:defRPr/>
            </a:pPr>
            <a:endParaRPr lang="en-US" sz="1600" dirty="0">
              <a:latin typeface="+mn-lt"/>
              <a:ea typeface="宋体" charset="-122"/>
            </a:endParaRPr>
          </a:p>
        </p:txBody>
      </p:sp>
      <p:sp>
        <p:nvSpPr>
          <p:cNvPr id="51237" name="Line 30">
            <a:extLst>
              <a:ext uri="{FF2B5EF4-FFF2-40B4-BE49-F238E27FC236}">
                <a16:creationId xmlns:a16="http://schemas.microsoft.com/office/drawing/2014/main" id="{225C34DF-A853-474D-BCC6-851BBC5CEB9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21375" y="1676400"/>
            <a:ext cx="1588" cy="1370013"/>
          </a:xfrm>
          <a:prstGeom prst="line">
            <a:avLst/>
          </a:prstGeom>
          <a:noFill/>
          <a:ln w="9360">
            <a:solidFill>
              <a:srgbClr val="000066"/>
            </a:solidFill>
            <a:miter lim="800000"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38" name="Line 30">
            <a:extLst>
              <a:ext uri="{FF2B5EF4-FFF2-40B4-BE49-F238E27FC236}">
                <a16:creationId xmlns:a16="http://schemas.microsoft.com/office/drawing/2014/main" id="{DB4199AE-3C8C-F542-9AB0-EAD18D61070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49975" y="1676400"/>
            <a:ext cx="1588" cy="1370013"/>
          </a:xfrm>
          <a:prstGeom prst="line">
            <a:avLst/>
          </a:prstGeom>
          <a:noFill/>
          <a:ln w="9360">
            <a:solidFill>
              <a:srgbClr val="000066"/>
            </a:solidFill>
            <a:miter lim="800000"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39" name="Line 30">
            <a:extLst>
              <a:ext uri="{FF2B5EF4-FFF2-40B4-BE49-F238E27FC236}">
                <a16:creationId xmlns:a16="http://schemas.microsoft.com/office/drawing/2014/main" id="{84DEC47B-EDB0-9C43-B3FC-66F53BFA889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54775" y="1676400"/>
            <a:ext cx="1588" cy="1370013"/>
          </a:xfrm>
          <a:prstGeom prst="line">
            <a:avLst/>
          </a:prstGeom>
          <a:noFill/>
          <a:ln w="9360">
            <a:solidFill>
              <a:srgbClr val="000066"/>
            </a:solidFill>
            <a:miter lim="800000"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0" name="Line 30">
            <a:extLst>
              <a:ext uri="{FF2B5EF4-FFF2-40B4-BE49-F238E27FC236}">
                <a16:creationId xmlns:a16="http://schemas.microsoft.com/office/drawing/2014/main" id="{09052099-7D4C-B94A-8E16-8838FC1A924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616575" y="1677988"/>
            <a:ext cx="1588" cy="1368425"/>
          </a:xfrm>
          <a:prstGeom prst="line">
            <a:avLst/>
          </a:prstGeom>
          <a:noFill/>
          <a:ln w="9360">
            <a:solidFill>
              <a:srgbClr val="000066"/>
            </a:solidFill>
            <a:miter lim="800000"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1" name="Line 30">
            <a:extLst>
              <a:ext uri="{FF2B5EF4-FFF2-40B4-BE49-F238E27FC236}">
                <a16:creationId xmlns:a16="http://schemas.microsoft.com/office/drawing/2014/main" id="{476639B8-2230-8748-91AB-C79775A9E3D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23163" y="1677988"/>
            <a:ext cx="1587" cy="1368425"/>
          </a:xfrm>
          <a:prstGeom prst="line">
            <a:avLst/>
          </a:prstGeom>
          <a:noFill/>
          <a:ln w="9360">
            <a:solidFill>
              <a:srgbClr val="000066"/>
            </a:solidFill>
            <a:miter lim="800000"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2" name="Line 30">
            <a:extLst>
              <a:ext uri="{FF2B5EF4-FFF2-40B4-BE49-F238E27FC236}">
                <a16:creationId xmlns:a16="http://schemas.microsoft.com/office/drawing/2014/main" id="{766860B7-1577-B64E-9D38-6B60D447B38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84963" y="1676400"/>
            <a:ext cx="1587" cy="1370013"/>
          </a:xfrm>
          <a:prstGeom prst="line">
            <a:avLst/>
          </a:prstGeom>
          <a:noFill/>
          <a:ln w="9360">
            <a:solidFill>
              <a:srgbClr val="000066"/>
            </a:solidFill>
            <a:miter lim="800000"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3" name="Line 30">
            <a:extLst>
              <a:ext uri="{FF2B5EF4-FFF2-40B4-BE49-F238E27FC236}">
                <a16:creationId xmlns:a16="http://schemas.microsoft.com/office/drawing/2014/main" id="{4FEAEA49-475F-904F-B352-2B5B3989E3B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989763" y="1676400"/>
            <a:ext cx="1587" cy="1370013"/>
          </a:xfrm>
          <a:prstGeom prst="line">
            <a:avLst/>
          </a:prstGeom>
          <a:noFill/>
          <a:ln w="9360">
            <a:solidFill>
              <a:srgbClr val="000066"/>
            </a:solidFill>
            <a:miter lim="800000"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4" name="Line 30">
            <a:extLst>
              <a:ext uri="{FF2B5EF4-FFF2-40B4-BE49-F238E27FC236}">
                <a16:creationId xmlns:a16="http://schemas.microsoft.com/office/drawing/2014/main" id="{0789ABD7-50AF-2E48-8306-CD46EEDEEC1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18363" y="1676400"/>
            <a:ext cx="1587" cy="1370013"/>
          </a:xfrm>
          <a:prstGeom prst="line">
            <a:avLst/>
          </a:prstGeom>
          <a:noFill/>
          <a:ln w="9360">
            <a:solidFill>
              <a:srgbClr val="000066"/>
            </a:solidFill>
            <a:miter lim="800000"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5" name="AutoShape 19">
            <a:extLst>
              <a:ext uri="{FF2B5EF4-FFF2-40B4-BE49-F238E27FC236}">
                <a16:creationId xmlns:a16="http://schemas.microsoft.com/office/drawing/2014/main" id="{935ED8F4-6A81-8546-855F-ACE49090CC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7163" y="1244600"/>
            <a:ext cx="2667000" cy="4318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>
            <a:noFill/>
          </a:ln>
          <a:extLst>
            <a:ext uri="{91240B29-F687-4F45-9708-019B960494DF}">
              <a14:hiddenLine xmlns:a14="http://schemas.microsoft.com/office/drawing/2010/main" w="1908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360" tIns="44280" rIns="90360" bIns="4428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8000"/>
              </a:lnSpc>
              <a:spcBef>
                <a:spcPts val="525"/>
              </a:spcBef>
              <a:buFontTx/>
              <a:buNone/>
            </a:pPr>
            <a:r>
              <a:rPr kumimoji="0" lang="en-GB" altLang="zh-CN" sz="1600">
                <a:solidFill>
                  <a:srgbClr val="003300"/>
                </a:solidFill>
                <a:latin typeface="Calibri" panose="020F0502020204030204" pitchFamily="34" charset="0"/>
                <a:ea typeface="msgothic"/>
                <a:cs typeface="msgothic"/>
              </a:rPr>
              <a:t>Tag Check</a:t>
            </a:r>
          </a:p>
        </p:txBody>
      </p:sp>
    </p:spTree>
    <p:extLst>
      <p:ext uri="{BB962C8B-B14F-4D97-AF65-F5344CB8AC3E}">
        <p14:creationId xmlns:p14="http://schemas.microsoft.com/office/powerpoint/2010/main" val="259813969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6">
            <a:extLst>
              <a:ext uri="{FF2B5EF4-FFF2-40B4-BE49-F238E27FC236}">
                <a16:creationId xmlns:a16="http://schemas.microsoft.com/office/drawing/2014/main" id="{4359A3C0-00F9-AB45-B198-FC54DDB08C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143000"/>
            <a:ext cx="85344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kumimoji="0" lang="zh-CN" altLang="en-US" sz="2000">
              <a:latin typeface="Times New Roman" panose="02020603050405020304" pitchFamily="18" charset="0"/>
            </a:endParaRPr>
          </a:p>
        </p:txBody>
      </p:sp>
      <p:sp>
        <p:nvSpPr>
          <p:cNvPr id="53250" name="Slide Number Placeholder 3">
            <a:extLst>
              <a:ext uri="{FF2B5EF4-FFF2-40B4-BE49-F238E27FC236}">
                <a16:creationId xmlns:a16="http://schemas.microsoft.com/office/drawing/2014/main" id="{3BE0EEF1-83D9-1D4B-A18C-F2E68B56D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D145B46-241F-A94B-9176-93B7275B894B}" type="slidenum">
              <a:rPr kumimoji="0" lang="zh-CN" altLang="en-US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105</a:t>
            </a:fld>
            <a:endParaRPr kumimoji="0"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5" name="Rectangle 117">
            <a:extLst>
              <a:ext uri="{FF2B5EF4-FFF2-40B4-BE49-F238E27FC236}">
                <a16:creationId xmlns:a16="http://schemas.microsoft.com/office/drawing/2014/main" id="{3B160611-8444-7740-B194-E19F0972C4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4850" y="2576513"/>
            <a:ext cx="3302000" cy="533400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blurRad="50800" dist="38100" dir="2700000" algn="tl" rotWithShape="0">
              <a:srgbClr val="808080">
                <a:alpha val="39998"/>
              </a:srgb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en-US" altLang="zh-CN" sz="1400" b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117">
            <a:extLst>
              <a:ext uri="{FF2B5EF4-FFF2-40B4-BE49-F238E27FC236}">
                <a16:creationId xmlns:a16="http://schemas.microsoft.com/office/drawing/2014/main" id="{E3422058-9889-5C4F-B2B2-5379D1FE26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4850" y="319088"/>
            <a:ext cx="3302000" cy="885825"/>
          </a:xfrm>
          <a:prstGeom prst="rect">
            <a:avLst/>
          </a:prstGeom>
          <a:solidFill>
            <a:srgbClr val="FFCCCC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blurRad="50800" dist="38100" dir="2700000" algn="tl" rotWithShape="0">
              <a:srgbClr val="808080">
                <a:alpha val="39998"/>
              </a:srgb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r>
              <a:rPr lang="en-US" altLang="zh-CN" sz="1600" b="0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Process-specific data structures</a:t>
            </a:r>
            <a:br>
              <a:rPr lang="en-US" altLang="zh-CN" sz="1600" b="0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</a:br>
            <a:r>
              <a:rPr lang="en-US" altLang="zh-CN" sz="1600" b="0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(e.g. task and mm </a:t>
            </a:r>
            <a:r>
              <a:rPr lang="en-US" altLang="zh-CN" sz="1600" b="0" dirty="0" err="1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structs</a:t>
            </a:r>
            <a:r>
              <a:rPr lang="en-US" altLang="zh-CN" sz="1600" b="0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,</a:t>
            </a:r>
          </a:p>
          <a:p>
            <a:pPr algn="ctr">
              <a:defRPr/>
            </a:pPr>
            <a:r>
              <a:rPr lang="en-US" altLang="zh-CN" sz="1600" b="0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page tables, kernel stack)</a:t>
            </a:r>
          </a:p>
        </p:txBody>
      </p:sp>
      <p:sp>
        <p:nvSpPr>
          <p:cNvPr id="8" name="Rectangle 117">
            <a:extLst>
              <a:ext uri="{FF2B5EF4-FFF2-40B4-BE49-F238E27FC236}">
                <a16:creationId xmlns:a16="http://schemas.microsoft.com/office/drawing/2014/main" id="{037EBEBB-3A84-2041-AF37-1C69D42085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4850" y="1204913"/>
            <a:ext cx="3302000" cy="457200"/>
          </a:xfrm>
          <a:prstGeom prst="rect">
            <a:avLst/>
          </a:prstGeom>
          <a:solidFill>
            <a:srgbClr val="FFCCCC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blurRad="50800" dist="38100" dir="2700000" algn="tl" rotWithShape="0">
              <a:srgbClr val="808080">
                <a:alpha val="39998"/>
              </a:srgb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r>
              <a:rPr lang="en-US" altLang="zh-CN" sz="1600" b="0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Physical memory</a:t>
            </a:r>
          </a:p>
        </p:txBody>
      </p:sp>
      <p:sp>
        <p:nvSpPr>
          <p:cNvPr id="9" name="Rectangle 117">
            <a:extLst>
              <a:ext uri="{FF2B5EF4-FFF2-40B4-BE49-F238E27FC236}">
                <a16:creationId xmlns:a16="http://schemas.microsoft.com/office/drawing/2014/main" id="{CB4B87AF-02D7-7743-AE64-DA04E06438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4850" y="1662113"/>
            <a:ext cx="3302000" cy="442912"/>
          </a:xfrm>
          <a:prstGeom prst="rect">
            <a:avLst/>
          </a:prstGeom>
          <a:solidFill>
            <a:srgbClr val="FFCCCC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blurRad="50800" dist="38100" dir="2700000" algn="tl" rotWithShape="0">
              <a:srgbClr val="808080">
                <a:alpha val="39998"/>
              </a:srgb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r>
              <a:rPr lang="en-US" altLang="zh-CN" sz="1600" b="0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Kernel code and data</a:t>
            </a:r>
          </a:p>
        </p:txBody>
      </p:sp>
      <p:sp>
        <p:nvSpPr>
          <p:cNvPr id="10" name="Rectangle 117">
            <a:extLst>
              <a:ext uri="{FF2B5EF4-FFF2-40B4-BE49-F238E27FC236}">
                <a16:creationId xmlns:a16="http://schemas.microsoft.com/office/drawing/2014/main" id="{B517EF8C-C1BC-B846-BA7D-11DE0E0888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4850" y="2105025"/>
            <a:ext cx="3302000" cy="471488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>
            <a:outerShdw blurRad="50800" dist="38100" dir="2700000" algn="tl" rotWithShape="0">
              <a:srgbClr val="808080">
                <a:alpha val="39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rIns="0" anchor="ctr"/>
          <a:lstStyle/>
          <a:p>
            <a:pPr algn="ctr">
              <a:defRPr/>
            </a:pPr>
            <a:r>
              <a:rPr lang="en-US" altLang="zh-CN" sz="1600" b="0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User stack</a:t>
            </a:r>
          </a:p>
        </p:txBody>
      </p:sp>
      <p:sp>
        <p:nvSpPr>
          <p:cNvPr id="11" name="Rectangle 117">
            <a:extLst>
              <a:ext uri="{FF2B5EF4-FFF2-40B4-BE49-F238E27FC236}">
                <a16:creationId xmlns:a16="http://schemas.microsoft.com/office/drawing/2014/main" id="{DB871BE0-F6E6-024C-AA99-1BDB285BF3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4850" y="3109913"/>
            <a:ext cx="3302000" cy="685800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>
            <a:outerShdw blurRad="50800" dist="38100" dir="2700000" algn="tl" rotWithShape="0">
              <a:srgbClr val="808080">
                <a:alpha val="39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rIns="0" anchor="ctr"/>
          <a:lstStyle/>
          <a:p>
            <a:pPr algn="ctr">
              <a:defRPr/>
            </a:pPr>
            <a:r>
              <a:rPr lang="en-US" altLang="zh-CN" sz="1600" b="0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Memory mapped region</a:t>
            </a:r>
            <a:br>
              <a:rPr lang="en-US" altLang="zh-CN" sz="1600" b="0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</a:br>
            <a:r>
              <a:rPr lang="en-US" altLang="zh-CN" sz="1600" b="0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for shared libraries</a:t>
            </a:r>
          </a:p>
        </p:txBody>
      </p:sp>
      <p:sp>
        <p:nvSpPr>
          <p:cNvPr id="12" name="Rectangle 117">
            <a:extLst>
              <a:ext uri="{FF2B5EF4-FFF2-40B4-BE49-F238E27FC236}">
                <a16:creationId xmlns:a16="http://schemas.microsoft.com/office/drawing/2014/main" id="{A5F10D7E-C9A5-794F-BAA7-B30B00BCA2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1675" y="3794125"/>
            <a:ext cx="3300413" cy="458788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blurRad="50800" dist="38100" dir="2700000" algn="tl" rotWithShape="0">
              <a:srgbClr val="808080">
                <a:alpha val="39998"/>
              </a:srgb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en-US" altLang="zh-CN" sz="1400" b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Rectangle 117">
            <a:extLst>
              <a:ext uri="{FF2B5EF4-FFF2-40B4-BE49-F238E27FC236}">
                <a16:creationId xmlns:a16="http://schemas.microsoft.com/office/drawing/2014/main" id="{20CEF15C-4B16-E14D-AB8B-E80065006B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4850" y="4252913"/>
            <a:ext cx="3302000" cy="471487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>
            <a:outerShdw blurRad="50800" dist="38100" dir="2700000" algn="tl" rotWithShape="0">
              <a:srgbClr val="808080">
                <a:alpha val="39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rIns="0" anchor="ctr"/>
          <a:lstStyle/>
          <a:p>
            <a:pPr algn="ctr">
              <a:defRPr/>
            </a:pPr>
            <a:r>
              <a:rPr lang="en-US" altLang="zh-CN" sz="1600" b="0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Run-time heap (via </a:t>
            </a:r>
            <a:r>
              <a:rPr lang="en-US" altLang="zh-CN" sz="1600" b="0" dirty="0" err="1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malloc</a:t>
            </a:r>
            <a:r>
              <a:rPr lang="en-US" altLang="zh-CN" sz="1600" b="0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)</a:t>
            </a:r>
          </a:p>
        </p:txBody>
      </p:sp>
      <p:sp>
        <p:nvSpPr>
          <p:cNvPr id="14" name="Rectangle 117">
            <a:extLst>
              <a:ext uri="{FF2B5EF4-FFF2-40B4-BE49-F238E27FC236}">
                <a16:creationId xmlns:a16="http://schemas.microsoft.com/office/drawing/2014/main" id="{6C425D8E-B4A4-3346-98A3-BD6EEB0F17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4850" y="4724400"/>
            <a:ext cx="3302000" cy="471488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>
            <a:outerShdw blurRad="50800" dist="38100" dir="2700000" algn="tl" rotWithShape="0">
              <a:srgbClr val="808080">
                <a:alpha val="39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rIns="0" anchor="ctr"/>
          <a:lstStyle/>
          <a:p>
            <a:pPr algn="ctr">
              <a:defRPr/>
            </a:pPr>
            <a:r>
              <a:rPr lang="en-US" altLang="zh-CN" sz="1600" b="0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Uninitialized data (.</a:t>
            </a:r>
            <a:r>
              <a:rPr lang="en-US" altLang="zh-CN" sz="1600" b="0" dirty="0" err="1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bss</a:t>
            </a:r>
            <a:r>
              <a:rPr lang="en-US" altLang="zh-CN" sz="1600" b="0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)</a:t>
            </a:r>
          </a:p>
        </p:txBody>
      </p:sp>
      <p:sp>
        <p:nvSpPr>
          <p:cNvPr id="15" name="Rectangle 117">
            <a:extLst>
              <a:ext uri="{FF2B5EF4-FFF2-40B4-BE49-F238E27FC236}">
                <a16:creationId xmlns:a16="http://schemas.microsoft.com/office/drawing/2014/main" id="{44A79840-C47D-6F45-B935-5C1B375248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4850" y="5195888"/>
            <a:ext cx="3302000" cy="457200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>
            <a:outerShdw blurRad="50800" dist="38100" dir="2700000" algn="tl" rotWithShape="0">
              <a:srgbClr val="808080">
                <a:alpha val="39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rIns="0" anchor="ctr"/>
          <a:lstStyle/>
          <a:p>
            <a:pPr algn="ctr">
              <a:defRPr/>
            </a:pPr>
            <a:r>
              <a:rPr lang="en-US" altLang="zh-CN" sz="1600" b="0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Initialized data (.data)</a:t>
            </a:r>
          </a:p>
        </p:txBody>
      </p:sp>
      <p:sp>
        <p:nvSpPr>
          <p:cNvPr id="16" name="Rectangle 117">
            <a:extLst>
              <a:ext uri="{FF2B5EF4-FFF2-40B4-BE49-F238E27FC236}">
                <a16:creationId xmlns:a16="http://schemas.microsoft.com/office/drawing/2014/main" id="{494F8ACB-AA5F-FE47-AC72-382B4435BF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4850" y="5653088"/>
            <a:ext cx="3302000" cy="442912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>
            <a:outerShdw blurRad="50800" dist="38100" dir="2700000" algn="tl" rotWithShape="0">
              <a:srgbClr val="808080">
                <a:alpha val="39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rIns="0" anchor="ctr"/>
          <a:lstStyle/>
          <a:p>
            <a:pPr algn="ctr">
              <a:defRPr/>
            </a:pPr>
            <a:r>
              <a:rPr lang="en-US" altLang="zh-CN" sz="1600" b="0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Program text (.text)</a:t>
            </a:r>
          </a:p>
        </p:txBody>
      </p:sp>
      <p:sp>
        <p:nvSpPr>
          <p:cNvPr id="17" name="Rectangle 117">
            <a:extLst>
              <a:ext uri="{FF2B5EF4-FFF2-40B4-BE49-F238E27FC236}">
                <a16:creationId xmlns:a16="http://schemas.microsoft.com/office/drawing/2014/main" id="{003DCA92-8492-3C4F-8803-510FAEDADE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1675" y="6096000"/>
            <a:ext cx="3300413" cy="381000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blurRad="50800" dist="38100" dir="2700000" algn="tl" rotWithShape="0">
              <a:srgbClr val="808080">
                <a:alpha val="39998"/>
              </a:srgb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en-US" altLang="zh-CN" sz="1400" b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3263" name="Right Brace 17">
            <a:extLst>
              <a:ext uri="{FF2B5EF4-FFF2-40B4-BE49-F238E27FC236}">
                <a16:creationId xmlns:a16="http://schemas.microsoft.com/office/drawing/2014/main" id="{8A102EB3-36A8-D84C-9369-942C0468A62C}"/>
              </a:ext>
            </a:extLst>
          </p:cNvPr>
          <p:cNvSpPr>
            <a:spLocks/>
          </p:cNvSpPr>
          <p:nvPr/>
        </p:nvSpPr>
        <p:spPr bwMode="auto">
          <a:xfrm>
            <a:off x="6542088" y="319088"/>
            <a:ext cx="309562" cy="1785937"/>
          </a:xfrm>
          <a:prstGeom prst="rightBrace">
            <a:avLst>
              <a:gd name="adj1" fmla="val 31036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kumimoji="0" lang="zh-CN" altLang="en-US" sz="2000">
              <a:latin typeface="Times New Roman" panose="02020603050405020304" pitchFamily="18" charset="0"/>
            </a:endParaRPr>
          </a:p>
        </p:txBody>
      </p:sp>
      <p:sp>
        <p:nvSpPr>
          <p:cNvPr id="53264" name="Rectangle 18">
            <a:extLst>
              <a:ext uri="{FF2B5EF4-FFF2-40B4-BE49-F238E27FC236}">
                <a16:creationId xmlns:a16="http://schemas.microsoft.com/office/drawing/2014/main" id="{ED07891F-0387-9941-9924-D9EBC06F6A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92913" y="835025"/>
            <a:ext cx="928687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1800" b="0" i="1">
                <a:latin typeface="Times New Roman" panose="02020603050405020304" pitchFamily="18" charset="0"/>
              </a:rPr>
              <a:t>Kernel </a:t>
            </a:r>
            <a:br>
              <a:rPr kumimoji="0" lang="en-US" altLang="zh-CN" sz="1800" b="0" i="1">
                <a:latin typeface="Times New Roman" panose="02020603050405020304" pitchFamily="18" charset="0"/>
              </a:rPr>
            </a:br>
            <a:r>
              <a:rPr kumimoji="0" lang="en-US" altLang="zh-CN" sz="1800" b="0" i="1">
                <a:latin typeface="Times New Roman" panose="02020603050405020304" pitchFamily="18" charset="0"/>
              </a:rPr>
              <a:t>virtual </a:t>
            </a:r>
            <a:br>
              <a:rPr kumimoji="0" lang="en-US" altLang="zh-CN" sz="1800" b="0" i="1">
                <a:latin typeface="Times New Roman" panose="02020603050405020304" pitchFamily="18" charset="0"/>
              </a:rPr>
            </a:br>
            <a:r>
              <a:rPr kumimoji="0" lang="en-US" altLang="zh-CN" sz="1800" b="0" i="1">
                <a:latin typeface="Times New Roman" panose="02020603050405020304" pitchFamily="18" charset="0"/>
              </a:rPr>
              <a:t>memory</a:t>
            </a:r>
          </a:p>
        </p:txBody>
      </p:sp>
      <p:sp>
        <p:nvSpPr>
          <p:cNvPr id="53265" name="Right Brace 19">
            <a:extLst>
              <a:ext uri="{FF2B5EF4-FFF2-40B4-BE49-F238E27FC236}">
                <a16:creationId xmlns:a16="http://schemas.microsoft.com/office/drawing/2014/main" id="{DEFABA5A-01E7-DA43-A9B4-C37CCD25BBE8}"/>
              </a:ext>
            </a:extLst>
          </p:cNvPr>
          <p:cNvSpPr>
            <a:spLocks/>
          </p:cNvSpPr>
          <p:nvPr/>
        </p:nvSpPr>
        <p:spPr bwMode="auto">
          <a:xfrm>
            <a:off x="6546850" y="2105025"/>
            <a:ext cx="307975" cy="4371975"/>
          </a:xfrm>
          <a:prstGeom prst="rightBrace">
            <a:avLst>
              <a:gd name="adj1" fmla="val 31152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kumimoji="0" lang="zh-CN" altLang="en-US" sz="2000">
              <a:latin typeface="Times New Roman" panose="02020603050405020304" pitchFamily="18" charset="0"/>
            </a:endParaRPr>
          </a:p>
        </p:txBody>
      </p:sp>
      <p:sp>
        <p:nvSpPr>
          <p:cNvPr id="53266" name="Rectangle 20">
            <a:extLst>
              <a:ext uri="{FF2B5EF4-FFF2-40B4-BE49-F238E27FC236}">
                <a16:creationId xmlns:a16="http://schemas.microsoft.com/office/drawing/2014/main" id="{8EB32A7D-D905-3D41-8F38-BEEEAAB2F8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92913" y="3910013"/>
            <a:ext cx="928687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1800" b="0" i="1">
                <a:latin typeface="Times New Roman" panose="02020603050405020304" pitchFamily="18" charset="0"/>
              </a:rPr>
              <a:t>Process</a:t>
            </a:r>
            <a:br>
              <a:rPr kumimoji="0" lang="en-US" altLang="zh-CN" sz="1800" b="0" i="1">
                <a:latin typeface="Times New Roman" panose="02020603050405020304" pitchFamily="18" charset="0"/>
              </a:rPr>
            </a:br>
            <a:r>
              <a:rPr kumimoji="0" lang="en-US" altLang="zh-CN" sz="1800" b="0" i="1">
                <a:latin typeface="Times New Roman" panose="02020603050405020304" pitchFamily="18" charset="0"/>
              </a:rPr>
              <a:t>virtual</a:t>
            </a:r>
            <a:br>
              <a:rPr kumimoji="0" lang="en-US" altLang="zh-CN" sz="1800" b="0" i="1">
                <a:latin typeface="Times New Roman" panose="02020603050405020304" pitchFamily="18" charset="0"/>
              </a:rPr>
            </a:br>
            <a:r>
              <a:rPr kumimoji="0" lang="en-US" altLang="zh-CN" sz="1800" b="0" i="1">
                <a:latin typeface="Times New Roman" panose="02020603050405020304" pitchFamily="18" charset="0"/>
              </a:rPr>
              <a:t>memory</a:t>
            </a:r>
          </a:p>
        </p:txBody>
      </p:sp>
      <p:sp>
        <p:nvSpPr>
          <p:cNvPr id="53267" name="Right Brace 21">
            <a:extLst>
              <a:ext uri="{FF2B5EF4-FFF2-40B4-BE49-F238E27FC236}">
                <a16:creationId xmlns:a16="http://schemas.microsoft.com/office/drawing/2014/main" id="{FAD21B29-454C-F54F-B6A5-21B0AD96F2D5}"/>
              </a:ext>
            </a:extLst>
          </p:cNvPr>
          <p:cNvSpPr>
            <a:spLocks/>
          </p:cNvSpPr>
          <p:nvPr/>
        </p:nvSpPr>
        <p:spPr bwMode="auto">
          <a:xfrm flipH="1">
            <a:off x="2982913" y="319088"/>
            <a:ext cx="263525" cy="885825"/>
          </a:xfrm>
          <a:prstGeom prst="rightBrace">
            <a:avLst>
              <a:gd name="adj1" fmla="val 31016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kumimoji="0" lang="zh-CN" altLang="en-US" sz="2000">
              <a:latin typeface="Times New Roman" panose="02020603050405020304" pitchFamily="18" charset="0"/>
            </a:endParaRPr>
          </a:p>
        </p:txBody>
      </p:sp>
      <p:sp>
        <p:nvSpPr>
          <p:cNvPr id="53268" name="Rectangle 23">
            <a:extLst>
              <a:ext uri="{FF2B5EF4-FFF2-40B4-BE49-F238E27FC236}">
                <a16:creationId xmlns:a16="http://schemas.microsoft.com/office/drawing/2014/main" id="{E3C8FEFB-229D-8F4D-A818-C8491A1F46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8138" y="500063"/>
            <a:ext cx="137477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kumimoji="0" lang="en-US" altLang="zh-CN" sz="1800" b="0" i="1">
                <a:latin typeface="Times New Roman" panose="02020603050405020304" pitchFamily="18" charset="0"/>
              </a:rPr>
              <a:t>Different for</a:t>
            </a:r>
            <a:br>
              <a:rPr kumimoji="0" lang="en-US" altLang="zh-CN" sz="1800" b="0" i="1">
                <a:latin typeface="Times New Roman" panose="02020603050405020304" pitchFamily="18" charset="0"/>
              </a:rPr>
            </a:br>
            <a:r>
              <a:rPr kumimoji="0" lang="en-US" altLang="zh-CN" sz="1800" b="0" i="1">
                <a:latin typeface="Times New Roman" panose="02020603050405020304" pitchFamily="18" charset="0"/>
              </a:rPr>
              <a:t>each process</a:t>
            </a:r>
          </a:p>
        </p:txBody>
      </p:sp>
      <p:sp>
        <p:nvSpPr>
          <p:cNvPr id="53269" name="Right Brace 24">
            <a:extLst>
              <a:ext uri="{FF2B5EF4-FFF2-40B4-BE49-F238E27FC236}">
                <a16:creationId xmlns:a16="http://schemas.microsoft.com/office/drawing/2014/main" id="{58918779-4A9C-CA44-9D0D-A7F395000AC3}"/>
              </a:ext>
            </a:extLst>
          </p:cNvPr>
          <p:cNvSpPr>
            <a:spLocks/>
          </p:cNvSpPr>
          <p:nvPr/>
        </p:nvSpPr>
        <p:spPr bwMode="auto">
          <a:xfrm flipH="1">
            <a:off x="2982913" y="1204913"/>
            <a:ext cx="258762" cy="900112"/>
          </a:xfrm>
          <a:prstGeom prst="rightBrace">
            <a:avLst>
              <a:gd name="adj1" fmla="val 3101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kumimoji="0" lang="zh-CN" altLang="en-US" sz="2000">
              <a:latin typeface="Times New Roman" panose="02020603050405020304" pitchFamily="18" charset="0"/>
            </a:endParaRPr>
          </a:p>
        </p:txBody>
      </p:sp>
      <p:cxnSp>
        <p:nvCxnSpPr>
          <p:cNvPr id="53270" name="Straight Connector 26">
            <a:extLst>
              <a:ext uri="{FF2B5EF4-FFF2-40B4-BE49-F238E27FC236}">
                <a16:creationId xmlns:a16="http://schemas.microsoft.com/office/drawing/2014/main" id="{5B891C6F-CB42-D543-9642-1B35D1DC2370}"/>
              </a:ext>
            </a:extLst>
          </p:cNvPr>
          <p:cNvCxnSpPr>
            <a:cxnSpLocks noChangeShapeType="1"/>
            <a:stCxn id="53269" idx="2"/>
            <a:endCxn id="53265" idx="0"/>
          </p:cNvCxnSpPr>
          <p:nvPr/>
        </p:nvCxnSpPr>
        <p:spPr bwMode="auto">
          <a:xfrm>
            <a:off x="3241675" y="2105025"/>
            <a:ext cx="33051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3271" name="Rectangle 27">
            <a:extLst>
              <a:ext uri="{FF2B5EF4-FFF2-40B4-BE49-F238E27FC236}">
                <a16:creationId xmlns:a16="http://schemas.microsoft.com/office/drawing/2014/main" id="{65ADDEBF-074B-1F49-A8BF-BB9D6F672B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0675" y="1381125"/>
            <a:ext cx="137477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kumimoji="0" lang="en-US" altLang="zh-CN" sz="1800" b="0" i="1">
                <a:latin typeface="Times New Roman" panose="02020603050405020304" pitchFamily="18" charset="0"/>
              </a:rPr>
              <a:t>Identical for</a:t>
            </a:r>
            <a:br>
              <a:rPr kumimoji="0" lang="en-US" altLang="zh-CN" sz="1800" b="0" i="1">
                <a:latin typeface="Times New Roman" panose="02020603050405020304" pitchFamily="18" charset="0"/>
              </a:rPr>
            </a:br>
            <a:r>
              <a:rPr kumimoji="0" lang="en-US" altLang="zh-CN" sz="1800" b="0" i="1">
                <a:latin typeface="Times New Roman" panose="02020603050405020304" pitchFamily="18" charset="0"/>
              </a:rPr>
              <a:t>each process</a:t>
            </a:r>
          </a:p>
        </p:txBody>
      </p:sp>
      <p:sp>
        <p:nvSpPr>
          <p:cNvPr id="53272" name="Line 107">
            <a:extLst>
              <a:ext uri="{FF2B5EF4-FFF2-40B4-BE49-F238E27FC236}">
                <a16:creationId xmlns:a16="http://schemas.microsoft.com/office/drawing/2014/main" id="{21831562-B690-8F4B-938F-8036C8F5043A}"/>
              </a:ext>
            </a:extLst>
          </p:cNvPr>
          <p:cNvSpPr>
            <a:spLocks noChangeShapeType="1"/>
          </p:cNvSpPr>
          <p:nvPr/>
        </p:nvSpPr>
        <p:spPr bwMode="auto">
          <a:xfrm>
            <a:off x="2965450" y="2576513"/>
            <a:ext cx="28098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487" tIns="44450" rIns="90487" bIns="44450" anchor="ctr"/>
          <a:lstStyle/>
          <a:p>
            <a:endParaRPr lang="zh-CN" altLang="en-US"/>
          </a:p>
        </p:txBody>
      </p:sp>
      <p:sp>
        <p:nvSpPr>
          <p:cNvPr id="53273" name="Rectangle 29">
            <a:extLst>
              <a:ext uri="{FF2B5EF4-FFF2-40B4-BE49-F238E27FC236}">
                <a16:creationId xmlns:a16="http://schemas.microsoft.com/office/drawing/2014/main" id="{13826C22-F0E6-674B-B338-9545379270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2038" y="2422525"/>
            <a:ext cx="6842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kumimoji="0" lang="en-US" altLang="zh-CN" sz="1800" b="0">
                <a:latin typeface="Times New Roman" panose="02020603050405020304" pitchFamily="18" charset="0"/>
              </a:rPr>
              <a:t>%esp</a:t>
            </a:r>
          </a:p>
        </p:txBody>
      </p:sp>
      <p:sp>
        <p:nvSpPr>
          <p:cNvPr id="53274" name="Line 107">
            <a:extLst>
              <a:ext uri="{FF2B5EF4-FFF2-40B4-BE49-F238E27FC236}">
                <a16:creationId xmlns:a16="http://schemas.microsoft.com/office/drawing/2014/main" id="{F09F9772-9156-8746-A665-80044677DDB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65450" y="4252913"/>
            <a:ext cx="28098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487" tIns="44450" rIns="90487" bIns="44450" anchor="ctr"/>
          <a:lstStyle/>
          <a:p>
            <a:endParaRPr lang="zh-CN" altLang="en-US"/>
          </a:p>
        </p:txBody>
      </p:sp>
      <p:sp>
        <p:nvSpPr>
          <p:cNvPr id="53275" name="Rectangle 31">
            <a:extLst>
              <a:ext uri="{FF2B5EF4-FFF2-40B4-BE49-F238E27FC236}">
                <a16:creationId xmlns:a16="http://schemas.microsoft.com/office/drawing/2014/main" id="{8EE37C9A-1889-614C-AF33-24214CD11E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0000" y="4098925"/>
            <a:ext cx="4921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kumimoji="0" lang="en-US" altLang="zh-CN" sz="1800" b="0">
                <a:latin typeface="Times New Roman" panose="02020603050405020304" pitchFamily="18" charset="0"/>
              </a:rPr>
              <a:t>brk</a:t>
            </a:r>
          </a:p>
        </p:txBody>
      </p:sp>
      <p:sp>
        <p:nvSpPr>
          <p:cNvPr id="53276" name="Line 107">
            <a:extLst>
              <a:ext uri="{FF2B5EF4-FFF2-40B4-BE49-F238E27FC236}">
                <a16:creationId xmlns:a16="http://schemas.microsoft.com/office/drawing/2014/main" id="{247D2457-187E-A14C-B045-646E61DD158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65450" y="6096000"/>
            <a:ext cx="2762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487" tIns="44450" rIns="90487" bIns="44450" anchor="ctr"/>
          <a:lstStyle/>
          <a:p>
            <a:endParaRPr lang="zh-CN" altLang="en-US"/>
          </a:p>
        </p:txBody>
      </p:sp>
      <p:sp>
        <p:nvSpPr>
          <p:cNvPr id="53277" name="Rectangle 33">
            <a:extLst>
              <a:ext uri="{FF2B5EF4-FFF2-40B4-BE49-F238E27FC236}">
                <a16:creationId xmlns:a16="http://schemas.microsoft.com/office/drawing/2014/main" id="{57A12AA9-26EA-8C45-80F7-CF4AC9C1CA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7625" y="5834063"/>
            <a:ext cx="166528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kumimoji="0" lang="en-US" altLang="zh-CN" sz="1800">
                <a:latin typeface="Times New Roman" panose="02020603050405020304" pitchFamily="18" charset="0"/>
              </a:rPr>
              <a:t>x08048000 (32)</a:t>
            </a:r>
            <a:br>
              <a:rPr kumimoji="0" lang="en-US" altLang="zh-CN" sz="1800">
                <a:latin typeface="Times New Roman" panose="02020603050405020304" pitchFamily="18" charset="0"/>
              </a:rPr>
            </a:br>
            <a:r>
              <a:rPr kumimoji="0" lang="en-US" altLang="zh-CN" sz="1800">
                <a:latin typeface="Times New Roman" panose="02020603050405020304" pitchFamily="18" charset="0"/>
              </a:rPr>
              <a:t>x40000000 (64)</a:t>
            </a:r>
          </a:p>
        </p:txBody>
      </p:sp>
      <p:sp>
        <p:nvSpPr>
          <p:cNvPr id="53278" name="Line 130">
            <a:extLst>
              <a:ext uri="{FF2B5EF4-FFF2-40B4-BE49-F238E27FC236}">
                <a16:creationId xmlns:a16="http://schemas.microsoft.com/office/drawing/2014/main" id="{C83B8829-7FD5-B148-8E19-E45843DBA79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92675" y="4024313"/>
            <a:ext cx="3175" cy="228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487" tIns="44450" rIns="90487" bIns="44450" anchor="ctr"/>
          <a:lstStyle/>
          <a:p>
            <a:endParaRPr lang="zh-CN" altLang="en-US"/>
          </a:p>
        </p:txBody>
      </p:sp>
      <p:sp>
        <p:nvSpPr>
          <p:cNvPr id="53279" name="Line 130">
            <a:extLst>
              <a:ext uri="{FF2B5EF4-FFF2-40B4-BE49-F238E27FC236}">
                <a16:creationId xmlns:a16="http://schemas.microsoft.com/office/drawing/2014/main" id="{7C772384-A3DB-E440-A4E3-B60C4DD46C4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87913" y="2895600"/>
            <a:ext cx="4762" cy="21431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487" tIns="44450" rIns="90487" bIns="44450" anchor="ctr"/>
          <a:lstStyle/>
          <a:p>
            <a:endParaRPr lang="zh-CN" altLang="en-US"/>
          </a:p>
        </p:txBody>
      </p:sp>
      <p:sp>
        <p:nvSpPr>
          <p:cNvPr id="53280" name="Line 130">
            <a:extLst>
              <a:ext uri="{FF2B5EF4-FFF2-40B4-BE49-F238E27FC236}">
                <a16:creationId xmlns:a16="http://schemas.microsoft.com/office/drawing/2014/main" id="{2A62AB04-6DC9-794C-A94A-9B8F50C067C4}"/>
              </a:ext>
            </a:extLst>
          </p:cNvPr>
          <p:cNvSpPr>
            <a:spLocks noChangeShapeType="1"/>
          </p:cNvSpPr>
          <p:nvPr/>
        </p:nvSpPr>
        <p:spPr bwMode="auto">
          <a:xfrm>
            <a:off x="4895850" y="2576513"/>
            <a:ext cx="0" cy="2667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487" tIns="44450" rIns="90487" bIns="44450" anchor="ctr"/>
          <a:lstStyle/>
          <a:p>
            <a:endParaRPr lang="zh-CN" altLang="en-US"/>
          </a:p>
        </p:txBody>
      </p:sp>
      <p:sp>
        <p:nvSpPr>
          <p:cNvPr id="53281" name="Rectangle 45">
            <a:extLst>
              <a:ext uri="{FF2B5EF4-FFF2-40B4-BE49-F238E27FC236}">
                <a16:creationId xmlns:a16="http://schemas.microsoft.com/office/drawing/2014/main" id="{B98D80AD-465F-FC42-AEAC-075B6C4F2F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0350" y="3308350"/>
            <a:ext cx="2406650" cy="1492250"/>
          </a:xfrm>
        </p:spPr>
        <p:txBody>
          <a:bodyPr/>
          <a:lstStyle/>
          <a:p>
            <a:r>
              <a:rPr lang="en-US" altLang="zh-CN" b="0">
                <a:ea typeface="宋体" panose="02010600030101010101" pitchFamily="2" charset="-122"/>
              </a:rPr>
              <a:t>Linux Virtual Memory System</a:t>
            </a:r>
            <a:endParaRPr lang="zh-CN" altLang="en-US" b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25134394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灯片编号占位符 5">
            <a:extLst>
              <a:ext uri="{FF2B5EF4-FFF2-40B4-BE49-F238E27FC236}">
                <a16:creationId xmlns:a16="http://schemas.microsoft.com/office/drawing/2014/main" id="{FB5E819D-8D7F-E44B-AD8F-0F5CFEAB8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FDC05B6-77DF-4448-9F28-672C8E9890DA}" type="slidenum">
              <a:rPr kumimoji="0" lang="zh-CN" altLang="en-US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106</a:t>
            </a:fld>
            <a:endParaRPr kumimoji="0"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5123" name="Rectangle 51">
            <a:extLst>
              <a:ext uri="{FF2B5EF4-FFF2-40B4-BE49-F238E27FC236}">
                <a16:creationId xmlns:a16="http://schemas.microsoft.com/office/drawing/2014/main" id="{56A08AC5-A4BD-8F44-A142-2D6EBBAD5B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" y="3733800"/>
            <a:ext cx="3657600" cy="2819400"/>
          </a:xfrm>
          <a:noFill/>
        </p:spPr>
        <p:txBody>
          <a:bodyPr lIns="90487" tIns="44450" rIns="90487" bIns="44450"/>
          <a:lstStyle/>
          <a:p>
            <a:pPr>
              <a:lnSpc>
                <a:spcPct val="90000"/>
              </a:lnSpc>
              <a:spcBef>
                <a:spcPts val="300"/>
              </a:spcBef>
            </a:pPr>
            <a:r>
              <a:rPr kumimoji="0" lang="en-US" altLang="zh-CN" sz="2400">
                <a:ea typeface="宋体" panose="02010600030101010101" pitchFamily="2" charset="-122"/>
              </a:rPr>
              <a:t>pgd: </a:t>
            </a:r>
          </a:p>
          <a:p>
            <a:pPr lvl="1">
              <a:lnSpc>
                <a:spcPct val="90000"/>
              </a:lnSpc>
              <a:spcBef>
                <a:spcPts val="300"/>
              </a:spcBef>
            </a:pPr>
            <a:r>
              <a:rPr kumimoji="0" lang="en-US" altLang="zh-CN">
                <a:ea typeface="宋体" panose="02010600030101010101" pitchFamily="2" charset="-122"/>
              </a:rPr>
              <a:t>page directory address (will be loaded to CR3)</a:t>
            </a: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kumimoji="0" lang="en-US" altLang="zh-CN" sz="2400">
                <a:ea typeface="宋体" panose="02010600030101010101" pitchFamily="2" charset="-122"/>
              </a:rPr>
              <a:t>vm_prot:</a:t>
            </a:r>
          </a:p>
          <a:p>
            <a:pPr lvl="1">
              <a:lnSpc>
                <a:spcPct val="90000"/>
              </a:lnSpc>
              <a:spcBef>
                <a:spcPts val="300"/>
              </a:spcBef>
            </a:pPr>
            <a:r>
              <a:rPr kumimoji="0" lang="en-US" altLang="zh-CN">
                <a:ea typeface="宋体" panose="02010600030101010101" pitchFamily="2" charset="-122"/>
              </a:rPr>
              <a:t>read/write permissions for this area</a:t>
            </a:r>
          </a:p>
        </p:txBody>
      </p:sp>
      <p:sp>
        <p:nvSpPr>
          <p:cNvPr id="5126" name="Rectangle 2">
            <a:extLst>
              <a:ext uri="{FF2B5EF4-FFF2-40B4-BE49-F238E27FC236}">
                <a16:creationId xmlns:a16="http://schemas.microsoft.com/office/drawing/2014/main" id="{6138A50D-C463-8141-86FD-4F1DFD1AA7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4654550"/>
            <a:ext cx="1066800" cy="209550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lIns="90487" tIns="44450" rIns="90487" bIns="44450" anchor="ctr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kumimoji="0" lang="en-US" altLang="zh-CN" sz="1600">
                <a:solidFill>
                  <a:schemeClr val="tx2"/>
                </a:solidFill>
                <a:latin typeface="Helvetica" pitchFamily="2" charset="0"/>
              </a:rPr>
              <a:t>vm_next</a:t>
            </a:r>
          </a:p>
        </p:txBody>
      </p:sp>
      <p:sp>
        <p:nvSpPr>
          <p:cNvPr id="5127" name="Rectangle 3">
            <a:extLst>
              <a:ext uri="{FF2B5EF4-FFF2-40B4-BE49-F238E27FC236}">
                <a16:creationId xmlns:a16="http://schemas.microsoft.com/office/drawing/2014/main" id="{1B4315A7-93F5-8B40-A107-65412A7809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2984500"/>
            <a:ext cx="1066800" cy="209550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lIns="90487" tIns="44450" rIns="90487" bIns="44450" anchor="ctr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kumimoji="0" lang="en-US" altLang="zh-CN" sz="1600">
                <a:solidFill>
                  <a:schemeClr val="tx2"/>
                </a:solidFill>
                <a:latin typeface="Helvetica" pitchFamily="2" charset="0"/>
              </a:rPr>
              <a:t>vm_next</a:t>
            </a:r>
          </a:p>
        </p:txBody>
      </p:sp>
      <p:sp>
        <p:nvSpPr>
          <p:cNvPr id="5128" name="Line 5">
            <a:extLst>
              <a:ext uri="{FF2B5EF4-FFF2-40B4-BE49-F238E27FC236}">
                <a16:creationId xmlns:a16="http://schemas.microsoft.com/office/drawing/2014/main" id="{CD31C5DE-8A4A-8F40-9EB5-8C04F4A27BF8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0" y="2289175"/>
            <a:ext cx="7620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487" tIns="44450" rIns="90487" bIns="44450" anchor="ctr"/>
          <a:lstStyle/>
          <a:p>
            <a:endParaRPr lang="zh-CN" altLang="en-US"/>
          </a:p>
        </p:txBody>
      </p:sp>
      <p:sp>
        <p:nvSpPr>
          <p:cNvPr id="5129" name="Text Box 6">
            <a:extLst>
              <a:ext uri="{FF2B5EF4-FFF2-40B4-BE49-F238E27FC236}">
                <a16:creationId xmlns:a16="http://schemas.microsoft.com/office/drawing/2014/main" id="{CE7A746F-6923-CF4E-B2FB-1EC69FF0E9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563" y="1728788"/>
            <a:ext cx="1265237" cy="309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kumimoji="0" lang="en-US" altLang="zh-CN" sz="1600">
                <a:solidFill>
                  <a:schemeClr val="tx2"/>
                </a:solidFill>
                <a:latin typeface="Helvetica" pitchFamily="2" charset="0"/>
              </a:rPr>
              <a:t>task_struct</a:t>
            </a:r>
          </a:p>
        </p:txBody>
      </p:sp>
      <p:sp>
        <p:nvSpPr>
          <p:cNvPr id="5130" name="Text Box 7">
            <a:extLst>
              <a:ext uri="{FF2B5EF4-FFF2-40B4-BE49-F238E27FC236}">
                <a16:creationId xmlns:a16="http://schemas.microsoft.com/office/drawing/2014/main" id="{22599AEA-81B8-0C40-881F-0FA7F076EF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3413" y="1871663"/>
            <a:ext cx="1220787" cy="309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kumimoji="0" lang="en-US" altLang="zh-CN" sz="1600">
                <a:solidFill>
                  <a:schemeClr val="tx2"/>
                </a:solidFill>
                <a:latin typeface="Helvetica" pitchFamily="2" charset="0"/>
              </a:rPr>
              <a:t>mm_struct</a:t>
            </a:r>
          </a:p>
        </p:txBody>
      </p:sp>
      <p:sp>
        <p:nvSpPr>
          <p:cNvPr id="5131" name="Rectangle 8">
            <a:extLst>
              <a:ext uri="{FF2B5EF4-FFF2-40B4-BE49-F238E27FC236}">
                <a16:creationId xmlns:a16="http://schemas.microsoft.com/office/drawing/2014/main" id="{C812D762-71A1-414B-80E3-63B5C5939E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2243138"/>
            <a:ext cx="1066800" cy="143827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lIns="90487" tIns="44450" rIns="90487" bIns="44450" anchor="ctr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kumimoji="0" lang="zh-CN" altLang="en-US" sz="2000"/>
          </a:p>
        </p:txBody>
      </p:sp>
      <p:sp>
        <p:nvSpPr>
          <p:cNvPr id="5132" name="Rectangle 9">
            <a:extLst>
              <a:ext uri="{FF2B5EF4-FFF2-40B4-BE49-F238E27FC236}">
                <a16:creationId xmlns:a16="http://schemas.microsoft.com/office/drawing/2014/main" id="{4C57A431-1A35-FD46-8A5A-6FBE284C9A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2219325"/>
            <a:ext cx="1066800" cy="209550"/>
          </a:xfrm>
          <a:prstGeom prst="rect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lIns="90487" tIns="44450" rIns="90487" bIns="44450" anchor="ctr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kumimoji="0" lang="en-US" altLang="zh-CN" sz="1600">
                <a:solidFill>
                  <a:schemeClr val="tx2"/>
                </a:solidFill>
                <a:latin typeface="Helvetica" pitchFamily="2" charset="0"/>
              </a:rPr>
              <a:t>pgd</a:t>
            </a:r>
          </a:p>
        </p:txBody>
      </p:sp>
      <p:sp>
        <p:nvSpPr>
          <p:cNvPr id="5133" name="Rectangle 10">
            <a:extLst>
              <a:ext uri="{FF2B5EF4-FFF2-40B4-BE49-F238E27FC236}">
                <a16:creationId xmlns:a16="http://schemas.microsoft.com/office/drawing/2014/main" id="{96A53857-E23B-9644-B2F8-6B586309EA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033588"/>
            <a:ext cx="762000" cy="164782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lIns="90487" tIns="44450" rIns="90487" bIns="44450" anchor="ctr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kumimoji="0" lang="zh-CN" altLang="en-US" sz="2000"/>
          </a:p>
        </p:txBody>
      </p:sp>
      <p:sp>
        <p:nvSpPr>
          <p:cNvPr id="5134" name="Rectangle 11">
            <a:extLst>
              <a:ext uri="{FF2B5EF4-FFF2-40B4-BE49-F238E27FC236}">
                <a16:creationId xmlns:a16="http://schemas.microsoft.com/office/drawing/2014/main" id="{D982BCC6-F523-3B48-A166-091693A86A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219325"/>
            <a:ext cx="762000" cy="209550"/>
          </a:xfrm>
          <a:prstGeom prst="rect">
            <a:avLst/>
          </a:prstGeom>
          <a:solidFill>
            <a:srgbClr val="FF99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lIns="90487" tIns="44450" rIns="90487" bIns="44450" anchor="ctr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kumimoji="0" lang="en-US" altLang="zh-CN" sz="1600">
                <a:solidFill>
                  <a:schemeClr val="tx2"/>
                </a:solidFill>
                <a:latin typeface="Helvetica" pitchFamily="2" charset="0"/>
              </a:rPr>
              <a:t>mm</a:t>
            </a:r>
          </a:p>
        </p:txBody>
      </p:sp>
      <p:sp>
        <p:nvSpPr>
          <p:cNvPr id="5135" name="Rectangle 12">
            <a:extLst>
              <a:ext uri="{FF2B5EF4-FFF2-40B4-BE49-F238E27FC236}">
                <a16:creationId xmlns:a16="http://schemas.microsoft.com/office/drawing/2014/main" id="{658153A5-7409-8344-892C-1EC12513CF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2636838"/>
            <a:ext cx="1066800" cy="209550"/>
          </a:xfrm>
          <a:prstGeom prst="rect">
            <a:avLst/>
          </a:prstGeom>
          <a:solidFill>
            <a:srgbClr val="00B0F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lIns="90487" tIns="44450" rIns="90487" bIns="44450" anchor="ctr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kumimoji="0" lang="en-US" altLang="zh-CN" sz="1600">
                <a:solidFill>
                  <a:schemeClr val="tx2"/>
                </a:solidFill>
                <a:latin typeface="Helvetica" pitchFamily="2" charset="0"/>
              </a:rPr>
              <a:t>mmap</a:t>
            </a:r>
          </a:p>
        </p:txBody>
      </p:sp>
      <p:sp>
        <p:nvSpPr>
          <p:cNvPr id="5136" name="Text Box 13">
            <a:extLst>
              <a:ext uri="{FF2B5EF4-FFF2-40B4-BE49-F238E27FC236}">
                <a16:creationId xmlns:a16="http://schemas.microsoft.com/office/drawing/2014/main" id="{65BB7938-D478-BF43-ABC7-B625499E51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1593850"/>
            <a:ext cx="1679575" cy="30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kumimoji="0" lang="en-US" altLang="zh-CN" sz="1600">
                <a:solidFill>
                  <a:schemeClr val="tx2"/>
                </a:solidFill>
                <a:latin typeface="Helvetica" pitchFamily="2" charset="0"/>
              </a:rPr>
              <a:t>vm_area_struct</a:t>
            </a:r>
          </a:p>
        </p:txBody>
      </p:sp>
      <p:sp>
        <p:nvSpPr>
          <p:cNvPr id="5137" name="Rectangle 14">
            <a:extLst>
              <a:ext uri="{FF2B5EF4-FFF2-40B4-BE49-F238E27FC236}">
                <a16:creationId xmlns:a16="http://schemas.microsoft.com/office/drawing/2014/main" id="{01809DD7-12FF-BC4A-8084-DA6C30C84C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1965325"/>
            <a:ext cx="1066800" cy="12287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487" tIns="44450" rIns="90487" bIns="44450" anchor="ctr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kumimoji="0" lang="zh-CN" altLang="en-US" sz="2000"/>
          </a:p>
        </p:txBody>
      </p:sp>
      <p:sp>
        <p:nvSpPr>
          <p:cNvPr id="5138" name="Rectangle 15">
            <a:extLst>
              <a:ext uri="{FF2B5EF4-FFF2-40B4-BE49-F238E27FC236}">
                <a16:creationId xmlns:a16="http://schemas.microsoft.com/office/drawing/2014/main" id="{68CD4142-7D08-1B4C-BA97-F9E11AB765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1941513"/>
            <a:ext cx="1066800" cy="207962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lIns="90487" tIns="44450" rIns="90487" bIns="44450" anchor="ctr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kumimoji="0" lang="en-US" altLang="zh-CN" sz="1600">
                <a:solidFill>
                  <a:schemeClr val="tx2"/>
                </a:solidFill>
                <a:latin typeface="Helvetica" pitchFamily="2" charset="0"/>
              </a:rPr>
              <a:t>vm_end</a:t>
            </a:r>
          </a:p>
        </p:txBody>
      </p:sp>
      <p:sp>
        <p:nvSpPr>
          <p:cNvPr id="5139" name="Rectangle 16">
            <a:extLst>
              <a:ext uri="{FF2B5EF4-FFF2-40B4-BE49-F238E27FC236}">
                <a16:creationId xmlns:a16="http://schemas.microsoft.com/office/drawing/2014/main" id="{4A3153C9-BB5E-C64F-88DD-33C37AC3AB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2359025"/>
            <a:ext cx="1066800" cy="207963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lIns="90487" tIns="44450" rIns="90487" bIns="44450" anchor="ctr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kumimoji="0" lang="en-US" altLang="zh-CN" sz="1600">
                <a:solidFill>
                  <a:schemeClr val="tx2"/>
                </a:solidFill>
                <a:latin typeface="Helvetica" pitchFamily="2" charset="0"/>
              </a:rPr>
              <a:t>vm_prot</a:t>
            </a:r>
          </a:p>
        </p:txBody>
      </p:sp>
      <p:sp>
        <p:nvSpPr>
          <p:cNvPr id="5140" name="Rectangle 17">
            <a:extLst>
              <a:ext uri="{FF2B5EF4-FFF2-40B4-BE49-F238E27FC236}">
                <a16:creationId xmlns:a16="http://schemas.microsoft.com/office/drawing/2014/main" id="{E8FE40BE-596C-6A45-A996-1692A81395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2149475"/>
            <a:ext cx="1066800" cy="209550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lIns="90487" tIns="44450" rIns="90487" bIns="44450" anchor="ctr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kumimoji="0" lang="en-US" altLang="zh-CN" sz="1600">
                <a:solidFill>
                  <a:schemeClr val="tx2"/>
                </a:solidFill>
                <a:latin typeface="Helvetica" pitchFamily="2" charset="0"/>
              </a:rPr>
              <a:t>vm_start</a:t>
            </a:r>
          </a:p>
        </p:txBody>
      </p:sp>
      <p:sp>
        <p:nvSpPr>
          <p:cNvPr id="5141" name="Line 18">
            <a:extLst>
              <a:ext uri="{FF2B5EF4-FFF2-40B4-BE49-F238E27FC236}">
                <a16:creationId xmlns:a16="http://schemas.microsoft.com/office/drawing/2014/main" id="{2DE3DD6B-63DF-D34F-BA3F-7AEE3673F751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2706688"/>
            <a:ext cx="3810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487" tIns="44450" rIns="90487" bIns="44450" anchor="ctr"/>
          <a:lstStyle/>
          <a:p>
            <a:endParaRPr lang="zh-CN" altLang="en-US"/>
          </a:p>
        </p:txBody>
      </p:sp>
      <p:sp>
        <p:nvSpPr>
          <p:cNvPr id="5142" name="Line 19">
            <a:extLst>
              <a:ext uri="{FF2B5EF4-FFF2-40B4-BE49-F238E27FC236}">
                <a16:creationId xmlns:a16="http://schemas.microsoft.com/office/drawing/2014/main" id="{379F846A-8C43-A645-914D-29998ABFF2E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29000" y="2011363"/>
            <a:ext cx="0" cy="6953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487" tIns="44450" rIns="90487" bIns="44450" anchor="ctr"/>
          <a:lstStyle/>
          <a:p>
            <a:endParaRPr lang="zh-CN" altLang="en-US"/>
          </a:p>
        </p:txBody>
      </p:sp>
      <p:sp>
        <p:nvSpPr>
          <p:cNvPr id="5143" name="Line 20">
            <a:extLst>
              <a:ext uri="{FF2B5EF4-FFF2-40B4-BE49-F238E27FC236}">
                <a16:creationId xmlns:a16="http://schemas.microsoft.com/office/drawing/2014/main" id="{4E1E040C-177B-F74B-B15B-127A034B7D63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2011363"/>
            <a:ext cx="3048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487" tIns="44450" rIns="90487" bIns="44450" anchor="ctr"/>
          <a:lstStyle/>
          <a:p>
            <a:endParaRPr lang="zh-CN" altLang="en-US"/>
          </a:p>
        </p:txBody>
      </p:sp>
      <p:sp>
        <p:nvSpPr>
          <p:cNvPr id="5144" name="Rectangle 21">
            <a:extLst>
              <a:ext uri="{FF2B5EF4-FFF2-40B4-BE49-F238E27FC236}">
                <a16:creationId xmlns:a16="http://schemas.microsoft.com/office/drawing/2014/main" id="{75F2919F-C6EE-5347-94ED-7B54EC90C0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3633788"/>
            <a:ext cx="1066800" cy="123031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487" tIns="44450" rIns="90487" bIns="44450" anchor="ctr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kumimoji="0" lang="zh-CN" altLang="en-US" sz="2000"/>
          </a:p>
        </p:txBody>
      </p:sp>
      <p:sp>
        <p:nvSpPr>
          <p:cNvPr id="5145" name="Rectangle 22">
            <a:extLst>
              <a:ext uri="{FF2B5EF4-FFF2-40B4-BE49-F238E27FC236}">
                <a16:creationId xmlns:a16="http://schemas.microsoft.com/office/drawing/2014/main" id="{06F8D098-44B3-AC48-B508-4766AE0D86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3611563"/>
            <a:ext cx="1066800" cy="207962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lIns="90487" tIns="44450" rIns="90487" bIns="44450" anchor="ctr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kumimoji="0" lang="en-US" altLang="zh-CN" sz="1600">
                <a:solidFill>
                  <a:schemeClr val="tx2"/>
                </a:solidFill>
                <a:latin typeface="Helvetica" pitchFamily="2" charset="0"/>
              </a:rPr>
              <a:t>vm_end</a:t>
            </a:r>
          </a:p>
        </p:txBody>
      </p:sp>
      <p:sp>
        <p:nvSpPr>
          <p:cNvPr id="5146" name="Rectangle 23">
            <a:extLst>
              <a:ext uri="{FF2B5EF4-FFF2-40B4-BE49-F238E27FC236}">
                <a16:creationId xmlns:a16="http://schemas.microsoft.com/office/drawing/2014/main" id="{6DA93E75-0EF1-F244-8242-753A56788B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4029075"/>
            <a:ext cx="1066800" cy="207963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lIns="90487" tIns="44450" rIns="90487" bIns="44450" anchor="ctr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kumimoji="0" lang="en-US" altLang="zh-CN" sz="1600">
                <a:solidFill>
                  <a:schemeClr val="tx2"/>
                </a:solidFill>
                <a:latin typeface="Helvetica" pitchFamily="2" charset="0"/>
              </a:rPr>
              <a:t>vm_prot</a:t>
            </a:r>
          </a:p>
        </p:txBody>
      </p:sp>
      <p:sp>
        <p:nvSpPr>
          <p:cNvPr id="5147" name="Rectangle 24">
            <a:extLst>
              <a:ext uri="{FF2B5EF4-FFF2-40B4-BE49-F238E27FC236}">
                <a16:creationId xmlns:a16="http://schemas.microsoft.com/office/drawing/2014/main" id="{01FC7395-32EC-2F4A-A90A-1904EB694D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3819525"/>
            <a:ext cx="1066800" cy="209550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lIns="90487" tIns="44450" rIns="90487" bIns="44450" anchor="ctr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kumimoji="0" lang="en-US" altLang="zh-CN" sz="1600">
                <a:solidFill>
                  <a:schemeClr val="tx2"/>
                </a:solidFill>
                <a:latin typeface="Helvetica" pitchFamily="2" charset="0"/>
              </a:rPr>
              <a:t>vm_start</a:t>
            </a:r>
          </a:p>
        </p:txBody>
      </p:sp>
      <p:sp>
        <p:nvSpPr>
          <p:cNvPr id="5148" name="Rectangle 25">
            <a:extLst>
              <a:ext uri="{FF2B5EF4-FFF2-40B4-BE49-F238E27FC236}">
                <a16:creationId xmlns:a16="http://schemas.microsoft.com/office/drawing/2014/main" id="{6D4A5364-F16B-D94D-8A9F-66BD43F9F0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5303838"/>
            <a:ext cx="1066800" cy="10207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487" tIns="44450" rIns="90487" bIns="44450" anchor="ctr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kumimoji="0" lang="zh-CN" altLang="en-US" sz="2000"/>
          </a:p>
        </p:txBody>
      </p:sp>
      <p:sp>
        <p:nvSpPr>
          <p:cNvPr id="5149" name="Rectangle 26">
            <a:extLst>
              <a:ext uri="{FF2B5EF4-FFF2-40B4-BE49-F238E27FC236}">
                <a16:creationId xmlns:a16="http://schemas.microsoft.com/office/drawing/2014/main" id="{BD076637-C970-4E47-BFEC-EF006D4C9A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5281613"/>
            <a:ext cx="1066800" cy="207962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lIns="90487" tIns="44450" rIns="90487" bIns="44450" anchor="ctr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kumimoji="0" lang="en-US" altLang="zh-CN" sz="1600">
                <a:solidFill>
                  <a:schemeClr val="tx2"/>
                </a:solidFill>
                <a:latin typeface="Helvetica" pitchFamily="2" charset="0"/>
              </a:rPr>
              <a:t>vm_end</a:t>
            </a:r>
          </a:p>
        </p:txBody>
      </p:sp>
      <p:sp>
        <p:nvSpPr>
          <p:cNvPr id="5150" name="Rectangle 27">
            <a:extLst>
              <a:ext uri="{FF2B5EF4-FFF2-40B4-BE49-F238E27FC236}">
                <a16:creationId xmlns:a16="http://schemas.microsoft.com/office/drawing/2014/main" id="{CDB77441-E05A-0E49-9FD3-66942EE6C2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5699125"/>
            <a:ext cx="1066800" cy="207963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lIns="90487" tIns="44450" rIns="90487" bIns="44450" anchor="ctr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kumimoji="0" lang="en-US" altLang="zh-CN" sz="1600">
                <a:solidFill>
                  <a:schemeClr val="tx2"/>
                </a:solidFill>
                <a:latin typeface="Helvetica" pitchFamily="2" charset="0"/>
              </a:rPr>
              <a:t>vm_prot</a:t>
            </a:r>
          </a:p>
        </p:txBody>
      </p:sp>
      <p:sp>
        <p:nvSpPr>
          <p:cNvPr id="5151" name="Rectangle 28">
            <a:extLst>
              <a:ext uri="{FF2B5EF4-FFF2-40B4-BE49-F238E27FC236}">
                <a16:creationId xmlns:a16="http://schemas.microsoft.com/office/drawing/2014/main" id="{D47C00F1-ACF9-DE4F-AFD1-DB474D587D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6116638"/>
            <a:ext cx="1066800" cy="207962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lIns="90487" tIns="44450" rIns="90487" bIns="44450" anchor="ctr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kumimoji="0" lang="en-US" altLang="zh-CN" sz="1600">
                <a:solidFill>
                  <a:schemeClr val="tx2"/>
                </a:solidFill>
                <a:latin typeface="Helvetica" pitchFamily="2" charset="0"/>
              </a:rPr>
              <a:t>vm_next</a:t>
            </a:r>
          </a:p>
        </p:txBody>
      </p:sp>
      <p:sp>
        <p:nvSpPr>
          <p:cNvPr id="5152" name="Rectangle 29">
            <a:extLst>
              <a:ext uri="{FF2B5EF4-FFF2-40B4-BE49-F238E27FC236}">
                <a16:creationId xmlns:a16="http://schemas.microsoft.com/office/drawing/2014/main" id="{8B428CC6-9C36-8A4C-B80C-AF7C88DED5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5489575"/>
            <a:ext cx="1066800" cy="209550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lIns="90487" tIns="44450" rIns="90487" bIns="44450" anchor="ctr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kumimoji="0" lang="en-US" altLang="zh-CN" sz="1600">
                <a:solidFill>
                  <a:schemeClr val="tx2"/>
                </a:solidFill>
                <a:latin typeface="Helvetica" pitchFamily="2" charset="0"/>
              </a:rPr>
              <a:t>vm_start</a:t>
            </a:r>
          </a:p>
        </p:txBody>
      </p:sp>
      <p:sp>
        <p:nvSpPr>
          <p:cNvPr id="54302" name="Rectangle 30">
            <a:extLst>
              <a:ext uri="{FF2B5EF4-FFF2-40B4-BE49-F238E27FC236}">
                <a16:creationId xmlns:a16="http://schemas.microsoft.com/office/drawing/2014/main" id="{29EDFE49-F60F-8444-905A-B5A3376BDC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1801813"/>
            <a:ext cx="1981200" cy="4383087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lIns="90487" tIns="44450" rIns="90487" bIns="44450" anchor="ctr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kumimoji="0" lang="zh-CN" altLang="en-US" sz="2000"/>
          </a:p>
        </p:txBody>
      </p:sp>
      <p:sp>
        <p:nvSpPr>
          <p:cNvPr id="54303" name="Text Box 31">
            <a:extLst>
              <a:ext uri="{FF2B5EF4-FFF2-40B4-BE49-F238E27FC236}">
                <a16:creationId xmlns:a16="http://schemas.microsoft.com/office/drawing/2014/main" id="{5F4C728B-CB19-F34E-B2F6-D2EA44EE32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9888" y="1524000"/>
            <a:ext cx="2468562" cy="30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kumimoji="0" lang="en-US" altLang="zh-CN" sz="1600">
                <a:solidFill>
                  <a:schemeClr val="tx2"/>
                </a:solidFill>
                <a:latin typeface="Helvetica" pitchFamily="2" charset="0"/>
              </a:rPr>
              <a:t>process virtual memory</a:t>
            </a:r>
          </a:p>
        </p:txBody>
      </p:sp>
      <p:sp>
        <p:nvSpPr>
          <p:cNvPr id="5155" name="Rectangle 32">
            <a:extLst>
              <a:ext uri="{FF2B5EF4-FFF2-40B4-BE49-F238E27FC236}">
                <a16:creationId xmlns:a16="http://schemas.microsoft.com/office/drawing/2014/main" id="{989DD98F-E199-8E47-AD2E-5E3E77F23C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4584700"/>
            <a:ext cx="1981200" cy="104457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lIns="90487" tIns="44450" rIns="90487" bIns="44450" anchor="ctr"/>
          <a:lstStyle/>
          <a:p>
            <a:pPr algn="ctr"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altLang="zh-CN" sz="1600">
                <a:solidFill>
                  <a:schemeClr val="tx2"/>
                </a:solidFill>
                <a:latin typeface="Helvetica" pitchFamily="34" charset="0"/>
              </a:rPr>
              <a:t>text</a:t>
            </a:r>
          </a:p>
        </p:txBody>
      </p:sp>
      <p:sp>
        <p:nvSpPr>
          <p:cNvPr id="5156" name="Rectangle 33">
            <a:extLst>
              <a:ext uri="{FF2B5EF4-FFF2-40B4-BE49-F238E27FC236}">
                <a16:creationId xmlns:a16="http://schemas.microsoft.com/office/drawing/2014/main" id="{27ED6F4D-4D34-BC4B-8289-3A4708902A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3889375"/>
            <a:ext cx="1981200" cy="69532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lIns="90487" tIns="44450" rIns="90487" bIns="44450" anchor="ctr"/>
          <a:lstStyle/>
          <a:p>
            <a:pPr algn="ctr"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altLang="zh-CN" sz="1600">
                <a:solidFill>
                  <a:schemeClr val="tx2"/>
                </a:solidFill>
                <a:latin typeface="Helvetica" pitchFamily="34" charset="0"/>
              </a:rPr>
              <a:t>data</a:t>
            </a:r>
          </a:p>
        </p:txBody>
      </p:sp>
      <p:sp>
        <p:nvSpPr>
          <p:cNvPr id="5157" name="Rectangle 34">
            <a:extLst>
              <a:ext uri="{FF2B5EF4-FFF2-40B4-BE49-F238E27FC236}">
                <a16:creationId xmlns:a16="http://schemas.microsoft.com/office/drawing/2014/main" id="{1BE3F7C1-5C1F-A441-8BC4-4DBFD44F82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2706688"/>
            <a:ext cx="1981200" cy="48736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lIns="90487" tIns="44450" rIns="90487" bIns="44450" anchor="ctr"/>
          <a:lstStyle/>
          <a:p>
            <a:pPr algn="ctr"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altLang="zh-CN" sz="1600" dirty="0">
                <a:solidFill>
                  <a:schemeClr val="tx2"/>
                </a:solidFill>
                <a:latin typeface="Helvetica" pitchFamily="34" charset="0"/>
              </a:rPr>
              <a:t>shared libraries</a:t>
            </a:r>
          </a:p>
        </p:txBody>
      </p:sp>
      <p:sp>
        <p:nvSpPr>
          <p:cNvPr id="5158" name="Line 35">
            <a:extLst>
              <a:ext uri="{FF2B5EF4-FFF2-40B4-BE49-F238E27FC236}">
                <a16:creationId xmlns:a16="http://schemas.microsoft.com/office/drawing/2014/main" id="{4E388FBB-84E5-A74A-946F-A38F5B1203FB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6800" y="2081213"/>
            <a:ext cx="838200" cy="6254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487" tIns="44450" rIns="90487" bIns="44450" anchor="ctr"/>
          <a:lstStyle/>
          <a:p>
            <a:endParaRPr lang="zh-CN" altLang="en-US"/>
          </a:p>
        </p:txBody>
      </p:sp>
      <p:sp>
        <p:nvSpPr>
          <p:cNvPr id="5159" name="Line 36">
            <a:extLst>
              <a:ext uri="{FF2B5EF4-FFF2-40B4-BE49-F238E27FC236}">
                <a16:creationId xmlns:a16="http://schemas.microsoft.com/office/drawing/2014/main" id="{2E72C9BE-40A7-194A-A570-E86B04AD9BF2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6800" y="2289175"/>
            <a:ext cx="838200" cy="9048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487" tIns="44450" rIns="90487" bIns="44450" anchor="ctr"/>
          <a:lstStyle/>
          <a:p>
            <a:endParaRPr lang="zh-CN" altLang="en-US"/>
          </a:p>
        </p:txBody>
      </p:sp>
      <p:sp>
        <p:nvSpPr>
          <p:cNvPr id="5160" name="Line 37">
            <a:extLst>
              <a:ext uri="{FF2B5EF4-FFF2-40B4-BE49-F238E27FC236}">
                <a16:creationId xmlns:a16="http://schemas.microsoft.com/office/drawing/2014/main" id="{D0D589B8-08D7-3C42-9212-B7D9D0C7E719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6800" y="3749675"/>
            <a:ext cx="762000" cy="1397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487" tIns="44450" rIns="90487" bIns="44450" anchor="ctr"/>
          <a:lstStyle/>
          <a:p>
            <a:endParaRPr lang="zh-CN" altLang="en-US"/>
          </a:p>
        </p:txBody>
      </p:sp>
      <p:sp>
        <p:nvSpPr>
          <p:cNvPr id="5161" name="Line 38">
            <a:extLst>
              <a:ext uri="{FF2B5EF4-FFF2-40B4-BE49-F238E27FC236}">
                <a16:creationId xmlns:a16="http://schemas.microsoft.com/office/drawing/2014/main" id="{612BFB90-88C2-5E4A-A620-A9384C748901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6800" y="3959225"/>
            <a:ext cx="838200" cy="55721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487" tIns="44450" rIns="90487" bIns="44450" anchor="ctr"/>
          <a:lstStyle/>
          <a:p>
            <a:endParaRPr lang="zh-CN" altLang="en-US"/>
          </a:p>
        </p:txBody>
      </p:sp>
      <p:sp>
        <p:nvSpPr>
          <p:cNvPr id="5162" name="Line 39">
            <a:extLst>
              <a:ext uri="{FF2B5EF4-FFF2-40B4-BE49-F238E27FC236}">
                <a16:creationId xmlns:a16="http://schemas.microsoft.com/office/drawing/2014/main" id="{E9BA1F5B-1E01-9245-BA83-929A5E0911D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76800" y="4654550"/>
            <a:ext cx="838200" cy="4873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487" tIns="44450" rIns="90487" bIns="44450" anchor="ctr"/>
          <a:lstStyle/>
          <a:p>
            <a:endParaRPr lang="zh-CN" altLang="en-US"/>
          </a:p>
        </p:txBody>
      </p:sp>
      <p:sp>
        <p:nvSpPr>
          <p:cNvPr id="5163" name="Line 40">
            <a:extLst>
              <a:ext uri="{FF2B5EF4-FFF2-40B4-BE49-F238E27FC236}">
                <a16:creationId xmlns:a16="http://schemas.microsoft.com/office/drawing/2014/main" id="{B0E94FA1-4A47-7641-8BCC-1FA76C5E7B9A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6800" y="5351463"/>
            <a:ext cx="838200" cy="2778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487" tIns="44450" rIns="90487" bIns="44450" anchor="ctr"/>
          <a:lstStyle/>
          <a:p>
            <a:endParaRPr lang="zh-CN" altLang="en-US"/>
          </a:p>
        </p:txBody>
      </p:sp>
      <p:sp>
        <p:nvSpPr>
          <p:cNvPr id="5164" name="Line 41">
            <a:extLst>
              <a:ext uri="{FF2B5EF4-FFF2-40B4-BE49-F238E27FC236}">
                <a16:creationId xmlns:a16="http://schemas.microsoft.com/office/drawing/2014/main" id="{DF922F50-4C10-504C-8EE3-EF8DC907E1A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81400" y="3124200"/>
            <a:ext cx="2286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487" tIns="44450" rIns="90487" bIns="44450" anchor="ctr"/>
          <a:lstStyle/>
          <a:p>
            <a:endParaRPr lang="zh-CN" altLang="en-US"/>
          </a:p>
        </p:txBody>
      </p:sp>
      <p:sp>
        <p:nvSpPr>
          <p:cNvPr id="5165" name="Line 42">
            <a:extLst>
              <a:ext uri="{FF2B5EF4-FFF2-40B4-BE49-F238E27FC236}">
                <a16:creationId xmlns:a16="http://schemas.microsoft.com/office/drawing/2014/main" id="{C9012460-49E7-D04C-B762-DF3DB93F78C1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1400" y="3124200"/>
            <a:ext cx="0" cy="4873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487" tIns="44450" rIns="90487" bIns="44450" anchor="ctr"/>
          <a:lstStyle/>
          <a:p>
            <a:endParaRPr lang="zh-CN" altLang="en-US"/>
          </a:p>
        </p:txBody>
      </p:sp>
      <p:sp>
        <p:nvSpPr>
          <p:cNvPr id="5166" name="Line 43">
            <a:extLst>
              <a:ext uri="{FF2B5EF4-FFF2-40B4-BE49-F238E27FC236}">
                <a16:creationId xmlns:a16="http://schemas.microsoft.com/office/drawing/2014/main" id="{48CCF00E-219C-8441-B687-48EA1C824468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1400" y="3611563"/>
            <a:ext cx="2286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487" tIns="44450" rIns="90487" bIns="44450" anchor="ctr"/>
          <a:lstStyle/>
          <a:p>
            <a:endParaRPr lang="zh-CN" altLang="en-US"/>
          </a:p>
        </p:txBody>
      </p:sp>
      <p:sp>
        <p:nvSpPr>
          <p:cNvPr id="5167" name="Line 44">
            <a:extLst>
              <a:ext uri="{FF2B5EF4-FFF2-40B4-BE49-F238E27FC236}">
                <a16:creationId xmlns:a16="http://schemas.microsoft.com/office/drawing/2014/main" id="{B76334BA-D6DF-BF4E-BB5B-1737B22D850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81400" y="4724400"/>
            <a:ext cx="2286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487" tIns="44450" rIns="90487" bIns="44450" anchor="ctr"/>
          <a:lstStyle/>
          <a:p>
            <a:endParaRPr lang="zh-CN" altLang="en-US"/>
          </a:p>
        </p:txBody>
      </p:sp>
      <p:sp>
        <p:nvSpPr>
          <p:cNvPr id="5168" name="Line 45">
            <a:extLst>
              <a:ext uri="{FF2B5EF4-FFF2-40B4-BE49-F238E27FC236}">
                <a16:creationId xmlns:a16="http://schemas.microsoft.com/office/drawing/2014/main" id="{E0F04613-BDC9-6E4F-8114-1281B247F638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1400" y="4724400"/>
            <a:ext cx="0" cy="55721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487" tIns="44450" rIns="90487" bIns="44450" anchor="ctr"/>
          <a:lstStyle/>
          <a:p>
            <a:endParaRPr lang="zh-CN" altLang="en-US"/>
          </a:p>
        </p:txBody>
      </p:sp>
      <p:sp>
        <p:nvSpPr>
          <p:cNvPr id="5169" name="Line 46">
            <a:extLst>
              <a:ext uri="{FF2B5EF4-FFF2-40B4-BE49-F238E27FC236}">
                <a16:creationId xmlns:a16="http://schemas.microsoft.com/office/drawing/2014/main" id="{27BACE50-FE62-DB4D-804C-7C897631F4D8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1400" y="5281613"/>
            <a:ext cx="2286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487" tIns="44450" rIns="90487" bIns="44450" anchor="ctr"/>
          <a:lstStyle/>
          <a:p>
            <a:endParaRPr lang="zh-CN" altLang="en-US"/>
          </a:p>
        </p:txBody>
      </p:sp>
      <p:sp>
        <p:nvSpPr>
          <p:cNvPr id="54319" name="Text Box 47">
            <a:extLst>
              <a:ext uri="{FF2B5EF4-FFF2-40B4-BE49-F238E27FC236}">
                <a16:creationId xmlns:a16="http://schemas.microsoft.com/office/drawing/2014/main" id="{8DDC6B56-AE1C-684D-9A66-24C3E9BC90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26363" y="6045200"/>
            <a:ext cx="279400" cy="280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kumimoji="0" lang="zh-CN" altLang="en-US" sz="1400">
                <a:solidFill>
                  <a:schemeClr val="tx2"/>
                </a:solidFill>
                <a:latin typeface="Helvetica" pitchFamily="2" charset="0"/>
              </a:rPr>
              <a:t>0</a:t>
            </a:r>
          </a:p>
        </p:txBody>
      </p:sp>
      <p:sp>
        <p:nvSpPr>
          <p:cNvPr id="54320" name="Text Box 48">
            <a:extLst>
              <a:ext uri="{FF2B5EF4-FFF2-40B4-BE49-F238E27FC236}">
                <a16:creationId xmlns:a16="http://schemas.microsoft.com/office/drawing/2014/main" id="{D4C16CA7-9FC6-2145-8B13-786A52B8BC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5489575"/>
            <a:ext cx="1165225" cy="280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kumimoji="0" lang="zh-CN" altLang="en-US" sz="1400">
                <a:solidFill>
                  <a:schemeClr val="tx2"/>
                </a:solidFill>
                <a:latin typeface="Helvetica" pitchFamily="2" charset="0"/>
              </a:rPr>
              <a:t>0</a:t>
            </a:r>
            <a:r>
              <a:rPr kumimoji="0" lang="en-US" altLang="zh-CN" sz="1400">
                <a:solidFill>
                  <a:schemeClr val="tx2"/>
                </a:solidFill>
                <a:latin typeface="Helvetica" pitchFamily="2" charset="0"/>
              </a:rPr>
              <a:t>x08048000</a:t>
            </a:r>
          </a:p>
        </p:txBody>
      </p:sp>
      <p:sp>
        <p:nvSpPr>
          <p:cNvPr id="54321" name="Text Box 49">
            <a:extLst>
              <a:ext uri="{FF2B5EF4-FFF2-40B4-BE49-F238E27FC236}">
                <a16:creationId xmlns:a16="http://schemas.microsoft.com/office/drawing/2014/main" id="{12C5EF34-8E4E-0841-8994-9052658DFB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4376738"/>
            <a:ext cx="1165225" cy="280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kumimoji="0" lang="zh-CN" altLang="en-US" sz="1400">
                <a:solidFill>
                  <a:schemeClr val="tx2"/>
                </a:solidFill>
                <a:latin typeface="Helvetica" pitchFamily="2" charset="0"/>
              </a:rPr>
              <a:t>0</a:t>
            </a:r>
            <a:r>
              <a:rPr kumimoji="0" lang="en-US" altLang="zh-CN" sz="1400">
                <a:solidFill>
                  <a:schemeClr val="tx2"/>
                </a:solidFill>
                <a:latin typeface="Helvetica" pitchFamily="2" charset="0"/>
              </a:rPr>
              <a:t>x0804a020</a:t>
            </a:r>
          </a:p>
        </p:txBody>
      </p:sp>
      <p:sp>
        <p:nvSpPr>
          <p:cNvPr id="54322" name="Text Box 50">
            <a:extLst>
              <a:ext uri="{FF2B5EF4-FFF2-40B4-BE49-F238E27FC236}">
                <a16:creationId xmlns:a16="http://schemas.microsoft.com/office/drawing/2014/main" id="{E333DD46-3238-2A4A-897D-AC41ECAB45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3054350"/>
            <a:ext cx="1165225" cy="280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kumimoji="0" lang="zh-CN" altLang="en-US" sz="1400">
                <a:solidFill>
                  <a:schemeClr val="tx2"/>
                </a:solidFill>
                <a:latin typeface="Helvetica" pitchFamily="2" charset="0"/>
              </a:rPr>
              <a:t>0</a:t>
            </a:r>
            <a:r>
              <a:rPr kumimoji="0" lang="en-US" altLang="zh-CN" sz="1400">
                <a:solidFill>
                  <a:schemeClr val="tx2"/>
                </a:solidFill>
                <a:latin typeface="Helvetica" pitchFamily="2" charset="0"/>
              </a:rPr>
              <a:t>x40000000</a:t>
            </a:r>
          </a:p>
        </p:txBody>
      </p:sp>
      <p:sp>
        <p:nvSpPr>
          <p:cNvPr id="5174" name="Rectangle 52">
            <a:extLst>
              <a:ext uri="{FF2B5EF4-FFF2-40B4-BE49-F238E27FC236}">
                <a16:creationId xmlns:a16="http://schemas.microsoft.com/office/drawing/2014/main" id="{90EBE160-C957-8C45-9688-90F07A4F80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2566988"/>
            <a:ext cx="1066800" cy="209550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lIns="90487" tIns="44450" rIns="90487" bIns="44450" anchor="ctr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kumimoji="0" lang="en-US" altLang="zh-CN" sz="1600">
                <a:solidFill>
                  <a:schemeClr val="tx2"/>
                </a:solidFill>
                <a:latin typeface="Helvetica" pitchFamily="2" charset="0"/>
              </a:rPr>
              <a:t>vm_flags</a:t>
            </a:r>
          </a:p>
        </p:txBody>
      </p:sp>
      <p:sp>
        <p:nvSpPr>
          <p:cNvPr id="5175" name="Rectangle 53">
            <a:extLst>
              <a:ext uri="{FF2B5EF4-FFF2-40B4-BE49-F238E27FC236}">
                <a16:creationId xmlns:a16="http://schemas.microsoft.com/office/drawing/2014/main" id="{8577A283-2741-7C48-90E9-A6E8CF3B39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4237038"/>
            <a:ext cx="1066800" cy="209550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lIns="90487" tIns="44450" rIns="90487" bIns="44450" anchor="ctr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kumimoji="0" lang="en-US" altLang="zh-CN" sz="1600">
                <a:solidFill>
                  <a:schemeClr val="tx2"/>
                </a:solidFill>
                <a:latin typeface="Helvetica" pitchFamily="2" charset="0"/>
              </a:rPr>
              <a:t>vm_flags</a:t>
            </a:r>
          </a:p>
        </p:txBody>
      </p:sp>
      <p:sp>
        <p:nvSpPr>
          <p:cNvPr id="5176" name="Rectangle 54">
            <a:extLst>
              <a:ext uri="{FF2B5EF4-FFF2-40B4-BE49-F238E27FC236}">
                <a16:creationId xmlns:a16="http://schemas.microsoft.com/office/drawing/2014/main" id="{0735F069-F3E0-AD46-8887-E2905272E8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5907088"/>
            <a:ext cx="1066800" cy="209550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lIns="90487" tIns="44450" rIns="90487" bIns="44450" anchor="ctr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kumimoji="0" lang="en-US" altLang="zh-CN" sz="1600">
                <a:solidFill>
                  <a:schemeClr val="tx2"/>
                </a:solidFill>
                <a:latin typeface="Helvetica" pitchFamily="2" charset="0"/>
              </a:rPr>
              <a:t>vm_flags</a:t>
            </a:r>
          </a:p>
        </p:txBody>
      </p:sp>
      <p:sp>
        <p:nvSpPr>
          <p:cNvPr id="54326" name="Rectangle 57">
            <a:extLst>
              <a:ext uri="{FF2B5EF4-FFF2-40B4-BE49-F238E27FC236}">
                <a16:creationId xmlns:a16="http://schemas.microsoft.com/office/drawing/2014/main" id="{F322D61C-D6C9-C744-AF39-FE2779F911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Linux organizes VM as a collection of “areas”</a:t>
            </a:r>
            <a:endParaRPr lang="zh-CN" altLang="en-US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98863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3" grpId="0" build="p"/>
      <p:bldP spid="5126" grpId="0" animBg="1"/>
      <p:bldP spid="5127" grpId="0" animBg="1"/>
      <p:bldP spid="5129" grpId="0"/>
      <p:bldP spid="5130" grpId="0"/>
      <p:bldP spid="5131" grpId="0" animBg="1"/>
      <p:bldP spid="5132" grpId="0" animBg="1"/>
      <p:bldP spid="5133" grpId="0" animBg="1"/>
      <p:bldP spid="5134" grpId="0" animBg="1"/>
      <p:bldP spid="5135" grpId="0" animBg="1"/>
      <p:bldP spid="5136" grpId="0"/>
      <p:bldP spid="5137" grpId="0" animBg="1"/>
      <p:bldP spid="5138" grpId="0" animBg="1"/>
      <p:bldP spid="5139" grpId="0" animBg="1"/>
      <p:bldP spid="5140" grpId="0" animBg="1"/>
      <p:bldP spid="5144" grpId="0" animBg="1"/>
      <p:bldP spid="5145" grpId="0" animBg="1"/>
      <p:bldP spid="5146" grpId="0" animBg="1"/>
      <p:bldP spid="5147" grpId="0" animBg="1"/>
      <p:bldP spid="5148" grpId="0" animBg="1"/>
      <p:bldP spid="5149" grpId="0" animBg="1"/>
      <p:bldP spid="5150" grpId="0" animBg="1"/>
      <p:bldP spid="5151" grpId="0" animBg="1"/>
      <p:bldP spid="5152" grpId="0" animBg="1"/>
      <p:bldP spid="5174" grpId="0" animBg="1"/>
      <p:bldP spid="5175" grpId="0" animBg="1"/>
      <p:bldP spid="5176" grpId="0" animBg="1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灯片编号占位符 5">
            <a:extLst>
              <a:ext uri="{FF2B5EF4-FFF2-40B4-BE49-F238E27FC236}">
                <a16:creationId xmlns:a16="http://schemas.microsoft.com/office/drawing/2014/main" id="{29A02B1E-4E1B-6742-B413-8A121FE3E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9C4E839-A3A9-9E46-BF44-EADD613408CC}" type="slidenum">
              <a:rPr kumimoji="0" lang="zh-CN" altLang="en-US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107</a:t>
            </a:fld>
            <a:endParaRPr kumimoji="0"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56322" name="Rectangle 2">
            <a:extLst>
              <a:ext uri="{FF2B5EF4-FFF2-40B4-BE49-F238E27FC236}">
                <a16:creationId xmlns:a16="http://schemas.microsoft.com/office/drawing/2014/main" id="{208BB095-9745-A842-94D3-F099C33EDF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" y="3733800"/>
            <a:ext cx="3429000" cy="2819400"/>
          </a:xfrm>
          <a:noFill/>
        </p:spPr>
        <p:txBody>
          <a:bodyPr lIns="90487" tIns="44450" rIns="90487" bIns="44450"/>
          <a:lstStyle/>
          <a:p>
            <a:r>
              <a:rPr kumimoji="0" lang="en-US" altLang="zh-CN" sz="2400">
                <a:ea typeface="宋体" panose="02010600030101010101" pitchFamily="2" charset="-122"/>
              </a:rPr>
              <a:t>vm_flags</a:t>
            </a:r>
          </a:p>
          <a:p>
            <a:pPr lvl="1"/>
            <a:r>
              <a:rPr kumimoji="0" lang="en-US" altLang="zh-CN">
                <a:ea typeface="宋体" panose="02010600030101010101" pitchFamily="2" charset="-122"/>
              </a:rPr>
              <a:t>shared with other processes or private to this process</a:t>
            </a:r>
          </a:p>
        </p:txBody>
      </p:sp>
      <p:sp>
        <p:nvSpPr>
          <p:cNvPr id="56323" name="Rectangle 55">
            <a:extLst>
              <a:ext uri="{FF2B5EF4-FFF2-40B4-BE49-F238E27FC236}">
                <a16:creationId xmlns:a16="http://schemas.microsoft.com/office/drawing/2014/main" id="{12081681-BC8C-5044-A151-E66BC66F2F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Linux organizes VM as a collection of “areas”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6324" name="Rectangle 2">
            <a:extLst>
              <a:ext uri="{FF2B5EF4-FFF2-40B4-BE49-F238E27FC236}">
                <a16:creationId xmlns:a16="http://schemas.microsoft.com/office/drawing/2014/main" id="{07069574-2D6E-7F4B-8692-CAEC33ABB1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4654550"/>
            <a:ext cx="1066800" cy="209550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lIns="90487" tIns="44450" rIns="90487" bIns="44450" anchor="ctr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kumimoji="0" lang="en-US" altLang="zh-CN" sz="1600">
                <a:solidFill>
                  <a:schemeClr val="tx2"/>
                </a:solidFill>
                <a:latin typeface="Helvetica" pitchFamily="2" charset="0"/>
              </a:rPr>
              <a:t>vm_next</a:t>
            </a:r>
          </a:p>
        </p:txBody>
      </p:sp>
      <p:sp>
        <p:nvSpPr>
          <p:cNvPr id="56325" name="Rectangle 3">
            <a:extLst>
              <a:ext uri="{FF2B5EF4-FFF2-40B4-BE49-F238E27FC236}">
                <a16:creationId xmlns:a16="http://schemas.microsoft.com/office/drawing/2014/main" id="{6EC71851-EA80-9549-8B57-6557310378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2984500"/>
            <a:ext cx="1066800" cy="209550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lIns="90487" tIns="44450" rIns="90487" bIns="44450" anchor="ctr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kumimoji="0" lang="en-US" altLang="zh-CN" sz="1600">
                <a:solidFill>
                  <a:schemeClr val="tx2"/>
                </a:solidFill>
                <a:latin typeface="Helvetica" pitchFamily="2" charset="0"/>
              </a:rPr>
              <a:t>vm_next</a:t>
            </a:r>
          </a:p>
        </p:txBody>
      </p:sp>
      <p:sp>
        <p:nvSpPr>
          <p:cNvPr id="56326" name="Line 5">
            <a:extLst>
              <a:ext uri="{FF2B5EF4-FFF2-40B4-BE49-F238E27FC236}">
                <a16:creationId xmlns:a16="http://schemas.microsoft.com/office/drawing/2014/main" id="{44D38741-6C2A-BF4C-BD75-C770F32B5ED7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0" y="2289175"/>
            <a:ext cx="7620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487" tIns="44450" rIns="90487" bIns="44450" anchor="ctr"/>
          <a:lstStyle/>
          <a:p>
            <a:endParaRPr lang="zh-CN" altLang="en-US"/>
          </a:p>
        </p:txBody>
      </p:sp>
      <p:sp>
        <p:nvSpPr>
          <p:cNvPr id="56327" name="Text Box 6">
            <a:extLst>
              <a:ext uri="{FF2B5EF4-FFF2-40B4-BE49-F238E27FC236}">
                <a16:creationId xmlns:a16="http://schemas.microsoft.com/office/drawing/2014/main" id="{07557F59-05E4-AD45-83B4-14247EE163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563" y="1728788"/>
            <a:ext cx="1265237" cy="309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kumimoji="0" lang="en-US" altLang="zh-CN" sz="1600">
                <a:solidFill>
                  <a:schemeClr val="tx2"/>
                </a:solidFill>
                <a:latin typeface="Helvetica" pitchFamily="2" charset="0"/>
              </a:rPr>
              <a:t>task_struct</a:t>
            </a:r>
          </a:p>
        </p:txBody>
      </p:sp>
      <p:sp>
        <p:nvSpPr>
          <p:cNvPr id="56328" name="Text Box 7">
            <a:extLst>
              <a:ext uri="{FF2B5EF4-FFF2-40B4-BE49-F238E27FC236}">
                <a16:creationId xmlns:a16="http://schemas.microsoft.com/office/drawing/2014/main" id="{2E2D9DED-489D-7149-ACAE-82A13BE4D0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3413" y="1871663"/>
            <a:ext cx="1220787" cy="309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kumimoji="0" lang="en-US" altLang="zh-CN" sz="1600">
                <a:solidFill>
                  <a:schemeClr val="tx2"/>
                </a:solidFill>
                <a:latin typeface="Helvetica" pitchFamily="2" charset="0"/>
              </a:rPr>
              <a:t>mm_struct</a:t>
            </a:r>
          </a:p>
        </p:txBody>
      </p:sp>
      <p:sp>
        <p:nvSpPr>
          <p:cNvPr id="56329" name="Rectangle 8">
            <a:extLst>
              <a:ext uri="{FF2B5EF4-FFF2-40B4-BE49-F238E27FC236}">
                <a16:creationId xmlns:a16="http://schemas.microsoft.com/office/drawing/2014/main" id="{1294B8AE-C2E0-3F44-A047-D35988485E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2243138"/>
            <a:ext cx="1066800" cy="143827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lIns="90487" tIns="44450" rIns="90487" bIns="44450" anchor="ctr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kumimoji="0" lang="zh-CN" altLang="en-US" sz="2000"/>
          </a:p>
        </p:txBody>
      </p:sp>
      <p:sp>
        <p:nvSpPr>
          <p:cNvPr id="56330" name="Rectangle 9">
            <a:extLst>
              <a:ext uri="{FF2B5EF4-FFF2-40B4-BE49-F238E27FC236}">
                <a16:creationId xmlns:a16="http://schemas.microsoft.com/office/drawing/2014/main" id="{B98E07F0-1C29-0341-B182-C52D7E25A8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2219325"/>
            <a:ext cx="1066800" cy="209550"/>
          </a:xfrm>
          <a:prstGeom prst="rect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lIns="90487" tIns="44450" rIns="90487" bIns="44450" anchor="ctr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kumimoji="0" lang="en-US" altLang="zh-CN" sz="1600">
                <a:solidFill>
                  <a:schemeClr val="tx2"/>
                </a:solidFill>
                <a:latin typeface="Helvetica" pitchFamily="2" charset="0"/>
              </a:rPr>
              <a:t>pgd</a:t>
            </a:r>
          </a:p>
        </p:txBody>
      </p:sp>
      <p:sp>
        <p:nvSpPr>
          <p:cNvPr id="56331" name="Rectangle 10">
            <a:extLst>
              <a:ext uri="{FF2B5EF4-FFF2-40B4-BE49-F238E27FC236}">
                <a16:creationId xmlns:a16="http://schemas.microsoft.com/office/drawing/2014/main" id="{5618C281-4B79-6D4B-AB4C-9F77F5AE2C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033588"/>
            <a:ext cx="762000" cy="164782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lIns="90487" tIns="44450" rIns="90487" bIns="44450" anchor="ctr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kumimoji="0" lang="zh-CN" altLang="en-US" sz="2000"/>
          </a:p>
        </p:txBody>
      </p:sp>
      <p:sp>
        <p:nvSpPr>
          <p:cNvPr id="56332" name="Rectangle 11">
            <a:extLst>
              <a:ext uri="{FF2B5EF4-FFF2-40B4-BE49-F238E27FC236}">
                <a16:creationId xmlns:a16="http://schemas.microsoft.com/office/drawing/2014/main" id="{A36944F8-5702-EC4D-AC37-DBAAC0AE9A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219325"/>
            <a:ext cx="762000" cy="209550"/>
          </a:xfrm>
          <a:prstGeom prst="rect">
            <a:avLst/>
          </a:prstGeom>
          <a:solidFill>
            <a:srgbClr val="FF99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lIns="90487" tIns="44450" rIns="90487" bIns="44450" anchor="ctr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kumimoji="0" lang="en-US" altLang="zh-CN" sz="1600">
                <a:solidFill>
                  <a:schemeClr val="tx2"/>
                </a:solidFill>
                <a:latin typeface="Helvetica" pitchFamily="2" charset="0"/>
              </a:rPr>
              <a:t>mm</a:t>
            </a:r>
          </a:p>
        </p:txBody>
      </p:sp>
      <p:sp>
        <p:nvSpPr>
          <p:cNvPr id="56333" name="Rectangle 12">
            <a:extLst>
              <a:ext uri="{FF2B5EF4-FFF2-40B4-BE49-F238E27FC236}">
                <a16:creationId xmlns:a16="http://schemas.microsoft.com/office/drawing/2014/main" id="{29BA4A60-9935-444F-8CB0-3B549E1547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2636838"/>
            <a:ext cx="1066800" cy="209550"/>
          </a:xfrm>
          <a:prstGeom prst="rect">
            <a:avLst/>
          </a:prstGeom>
          <a:solidFill>
            <a:srgbClr val="00B0F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lIns="90487" tIns="44450" rIns="90487" bIns="44450" anchor="ctr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kumimoji="0" lang="en-US" altLang="zh-CN" sz="1600">
                <a:solidFill>
                  <a:schemeClr val="tx2"/>
                </a:solidFill>
                <a:latin typeface="Helvetica" pitchFamily="2" charset="0"/>
              </a:rPr>
              <a:t>mmap</a:t>
            </a:r>
          </a:p>
        </p:txBody>
      </p:sp>
      <p:sp>
        <p:nvSpPr>
          <p:cNvPr id="56334" name="Text Box 13">
            <a:extLst>
              <a:ext uri="{FF2B5EF4-FFF2-40B4-BE49-F238E27FC236}">
                <a16:creationId xmlns:a16="http://schemas.microsoft.com/office/drawing/2014/main" id="{6BD6EFCF-A877-6D4B-93F2-7D59DB39FA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1593850"/>
            <a:ext cx="1679575" cy="30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kumimoji="0" lang="en-US" altLang="zh-CN" sz="1600">
                <a:solidFill>
                  <a:schemeClr val="tx2"/>
                </a:solidFill>
                <a:latin typeface="Helvetica" pitchFamily="2" charset="0"/>
              </a:rPr>
              <a:t>vm_area_struct</a:t>
            </a:r>
          </a:p>
        </p:txBody>
      </p:sp>
      <p:sp>
        <p:nvSpPr>
          <p:cNvPr id="56335" name="Rectangle 14">
            <a:extLst>
              <a:ext uri="{FF2B5EF4-FFF2-40B4-BE49-F238E27FC236}">
                <a16:creationId xmlns:a16="http://schemas.microsoft.com/office/drawing/2014/main" id="{34935914-4D76-B649-AFDD-D7F5B7C3D7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1965325"/>
            <a:ext cx="1066800" cy="12287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487" tIns="44450" rIns="90487" bIns="44450" anchor="ctr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kumimoji="0" lang="zh-CN" altLang="en-US" sz="2000"/>
          </a:p>
        </p:txBody>
      </p:sp>
      <p:sp>
        <p:nvSpPr>
          <p:cNvPr id="56336" name="Rectangle 15">
            <a:extLst>
              <a:ext uri="{FF2B5EF4-FFF2-40B4-BE49-F238E27FC236}">
                <a16:creationId xmlns:a16="http://schemas.microsoft.com/office/drawing/2014/main" id="{32563576-A6A6-4647-87EF-5521289CE8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1941513"/>
            <a:ext cx="1066800" cy="207962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lIns="90487" tIns="44450" rIns="90487" bIns="44450" anchor="ctr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kumimoji="0" lang="en-US" altLang="zh-CN" sz="1600">
                <a:solidFill>
                  <a:schemeClr val="tx2"/>
                </a:solidFill>
                <a:latin typeface="Helvetica" pitchFamily="2" charset="0"/>
              </a:rPr>
              <a:t>vm_end</a:t>
            </a:r>
          </a:p>
        </p:txBody>
      </p:sp>
      <p:sp>
        <p:nvSpPr>
          <p:cNvPr id="56337" name="Rectangle 16">
            <a:extLst>
              <a:ext uri="{FF2B5EF4-FFF2-40B4-BE49-F238E27FC236}">
                <a16:creationId xmlns:a16="http://schemas.microsoft.com/office/drawing/2014/main" id="{565087DC-2EB7-324F-B3C2-801DC9679F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2359025"/>
            <a:ext cx="1066800" cy="207963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lIns="90487" tIns="44450" rIns="90487" bIns="44450" anchor="ctr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kumimoji="0" lang="en-US" altLang="zh-CN" sz="1600">
                <a:solidFill>
                  <a:schemeClr val="tx2"/>
                </a:solidFill>
                <a:latin typeface="Helvetica" pitchFamily="2" charset="0"/>
              </a:rPr>
              <a:t>vm_prot</a:t>
            </a:r>
          </a:p>
        </p:txBody>
      </p:sp>
      <p:sp>
        <p:nvSpPr>
          <p:cNvPr id="56338" name="Rectangle 17">
            <a:extLst>
              <a:ext uri="{FF2B5EF4-FFF2-40B4-BE49-F238E27FC236}">
                <a16:creationId xmlns:a16="http://schemas.microsoft.com/office/drawing/2014/main" id="{F995D03B-16DD-294F-844E-4556DA855D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2149475"/>
            <a:ext cx="1066800" cy="209550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lIns="90487" tIns="44450" rIns="90487" bIns="44450" anchor="ctr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kumimoji="0" lang="en-US" altLang="zh-CN" sz="1600">
                <a:solidFill>
                  <a:schemeClr val="tx2"/>
                </a:solidFill>
                <a:latin typeface="Helvetica" pitchFamily="2" charset="0"/>
              </a:rPr>
              <a:t>vm_start</a:t>
            </a:r>
          </a:p>
        </p:txBody>
      </p:sp>
      <p:sp>
        <p:nvSpPr>
          <p:cNvPr id="56339" name="Line 18">
            <a:extLst>
              <a:ext uri="{FF2B5EF4-FFF2-40B4-BE49-F238E27FC236}">
                <a16:creationId xmlns:a16="http://schemas.microsoft.com/office/drawing/2014/main" id="{1E623216-D375-394F-BAFE-24DB9E76E614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2706688"/>
            <a:ext cx="3810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487" tIns="44450" rIns="90487" bIns="44450" anchor="ctr"/>
          <a:lstStyle/>
          <a:p>
            <a:endParaRPr lang="zh-CN" altLang="en-US"/>
          </a:p>
        </p:txBody>
      </p:sp>
      <p:sp>
        <p:nvSpPr>
          <p:cNvPr id="56340" name="Line 19">
            <a:extLst>
              <a:ext uri="{FF2B5EF4-FFF2-40B4-BE49-F238E27FC236}">
                <a16:creationId xmlns:a16="http://schemas.microsoft.com/office/drawing/2014/main" id="{768AA266-43CB-7B48-92B8-84B4B72ACE2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29000" y="2011363"/>
            <a:ext cx="0" cy="6953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487" tIns="44450" rIns="90487" bIns="44450" anchor="ctr"/>
          <a:lstStyle/>
          <a:p>
            <a:endParaRPr lang="zh-CN" altLang="en-US"/>
          </a:p>
        </p:txBody>
      </p:sp>
      <p:sp>
        <p:nvSpPr>
          <p:cNvPr id="56341" name="Line 20">
            <a:extLst>
              <a:ext uri="{FF2B5EF4-FFF2-40B4-BE49-F238E27FC236}">
                <a16:creationId xmlns:a16="http://schemas.microsoft.com/office/drawing/2014/main" id="{FBA657DE-0E9D-8945-BA7D-30F896389291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2011363"/>
            <a:ext cx="3048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487" tIns="44450" rIns="90487" bIns="44450" anchor="ctr"/>
          <a:lstStyle/>
          <a:p>
            <a:endParaRPr lang="zh-CN" altLang="en-US"/>
          </a:p>
        </p:txBody>
      </p:sp>
      <p:sp>
        <p:nvSpPr>
          <p:cNvPr id="56342" name="Rectangle 21">
            <a:extLst>
              <a:ext uri="{FF2B5EF4-FFF2-40B4-BE49-F238E27FC236}">
                <a16:creationId xmlns:a16="http://schemas.microsoft.com/office/drawing/2014/main" id="{717EB4D1-6A40-724A-8709-444FED54B4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3633788"/>
            <a:ext cx="1066800" cy="123031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487" tIns="44450" rIns="90487" bIns="44450" anchor="ctr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kumimoji="0" lang="zh-CN" altLang="en-US" sz="2000"/>
          </a:p>
        </p:txBody>
      </p:sp>
      <p:sp>
        <p:nvSpPr>
          <p:cNvPr id="56343" name="Rectangle 22">
            <a:extLst>
              <a:ext uri="{FF2B5EF4-FFF2-40B4-BE49-F238E27FC236}">
                <a16:creationId xmlns:a16="http://schemas.microsoft.com/office/drawing/2014/main" id="{207D431E-448D-A641-B9A9-D4BD9CB43B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3611563"/>
            <a:ext cx="1066800" cy="207962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lIns="90487" tIns="44450" rIns="90487" bIns="44450" anchor="ctr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kumimoji="0" lang="en-US" altLang="zh-CN" sz="1600">
                <a:solidFill>
                  <a:schemeClr val="tx2"/>
                </a:solidFill>
                <a:latin typeface="Helvetica" pitchFamily="2" charset="0"/>
              </a:rPr>
              <a:t>vm_end</a:t>
            </a:r>
          </a:p>
        </p:txBody>
      </p:sp>
      <p:sp>
        <p:nvSpPr>
          <p:cNvPr id="56344" name="Rectangle 23">
            <a:extLst>
              <a:ext uri="{FF2B5EF4-FFF2-40B4-BE49-F238E27FC236}">
                <a16:creationId xmlns:a16="http://schemas.microsoft.com/office/drawing/2014/main" id="{76951B72-27FF-0E44-AE6C-4505458551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4029075"/>
            <a:ext cx="1066800" cy="207963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lIns="90487" tIns="44450" rIns="90487" bIns="44450" anchor="ctr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kumimoji="0" lang="en-US" altLang="zh-CN" sz="1600">
                <a:solidFill>
                  <a:schemeClr val="tx2"/>
                </a:solidFill>
                <a:latin typeface="Helvetica" pitchFamily="2" charset="0"/>
              </a:rPr>
              <a:t>vm_prot</a:t>
            </a:r>
          </a:p>
        </p:txBody>
      </p:sp>
      <p:sp>
        <p:nvSpPr>
          <p:cNvPr id="56345" name="Rectangle 24">
            <a:extLst>
              <a:ext uri="{FF2B5EF4-FFF2-40B4-BE49-F238E27FC236}">
                <a16:creationId xmlns:a16="http://schemas.microsoft.com/office/drawing/2014/main" id="{270414BA-1AF4-8B43-BE91-BAAF958EE3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3819525"/>
            <a:ext cx="1066800" cy="209550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lIns="90487" tIns="44450" rIns="90487" bIns="44450" anchor="ctr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kumimoji="0" lang="en-US" altLang="zh-CN" sz="1600">
                <a:solidFill>
                  <a:schemeClr val="tx2"/>
                </a:solidFill>
                <a:latin typeface="Helvetica" pitchFamily="2" charset="0"/>
              </a:rPr>
              <a:t>vm_start</a:t>
            </a:r>
          </a:p>
        </p:txBody>
      </p:sp>
      <p:sp>
        <p:nvSpPr>
          <p:cNvPr id="56346" name="Rectangle 25">
            <a:extLst>
              <a:ext uri="{FF2B5EF4-FFF2-40B4-BE49-F238E27FC236}">
                <a16:creationId xmlns:a16="http://schemas.microsoft.com/office/drawing/2014/main" id="{DDD9ADE6-5F57-FE4C-A305-A703EDF19D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5303838"/>
            <a:ext cx="1066800" cy="10207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487" tIns="44450" rIns="90487" bIns="44450" anchor="ctr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kumimoji="0" lang="zh-CN" altLang="en-US" sz="2000"/>
          </a:p>
        </p:txBody>
      </p:sp>
      <p:sp>
        <p:nvSpPr>
          <p:cNvPr id="56347" name="Rectangle 26">
            <a:extLst>
              <a:ext uri="{FF2B5EF4-FFF2-40B4-BE49-F238E27FC236}">
                <a16:creationId xmlns:a16="http://schemas.microsoft.com/office/drawing/2014/main" id="{135EC2FE-79BC-4440-AE51-6F391C5C75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5281613"/>
            <a:ext cx="1066800" cy="207962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lIns="90487" tIns="44450" rIns="90487" bIns="44450" anchor="ctr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kumimoji="0" lang="en-US" altLang="zh-CN" sz="1600">
                <a:solidFill>
                  <a:schemeClr val="tx2"/>
                </a:solidFill>
                <a:latin typeface="Helvetica" pitchFamily="2" charset="0"/>
              </a:rPr>
              <a:t>vm_end</a:t>
            </a:r>
          </a:p>
        </p:txBody>
      </p:sp>
      <p:sp>
        <p:nvSpPr>
          <p:cNvPr id="56348" name="Rectangle 27">
            <a:extLst>
              <a:ext uri="{FF2B5EF4-FFF2-40B4-BE49-F238E27FC236}">
                <a16:creationId xmlns:a16="http://schemas.microsoft.com/office/drawing/2014/main" id="{14816DCD-4614-5E4C-A96A-C85A47BEBC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5699125"/>
            <a:ext cx="1066800" cy="207963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lIns="90487" tIns="44450" rIns="90487" bIns="44450" anchor="ctr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kumimoji="0" lang="en-US" altLang="zh-CN" sz="1600">
                <a:solidFill>
                  <a:schemeClr val="tx2"/>
                </a:solidFill>
                <a:latin typeface="Helvetica" pitchFamily="2" charset="0"/>
              </a:rPr>
              <a:t>vm_prot</a:t>
            </a:r>
          </a:p>
        </p:txBody>
      </p:sp>
      <p:sp>
        <p:nvSpPr>
          <p:cNvPr id="56349" name="Rectangle 28">
            <a:extLst>
              <a:ext uri="{FF2B5EF4-FFF2-40B4-BE49-F238E27FC236}">
                <a16:creationId xmlns:a16="http://schemas.microsoft.com/office/drawing/2014/main" id="{CD638C85-CED4-0C40-8C5E-212D94CCAD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6116638"/>
            <a:ext cx="1066800" cy="207962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lIns="90487" tIns="44450" rIns="90487" bIns="44450" anchor="ctr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kumimoji="0" lang="en-US" altLang="zh-CN" sz="1600">
                <a:solidFill>
                  <a:schemeClr val="tx2"/>
                </a:solidFill>
                <a:latin typeface="Helvetica" pitchFamily="2" charset="0"/>
              </a:rPr>
              <a:t>vm_next</a:t>
            </a:r>
          </a:p>
        </p:txBody>
      </p:sp>
      <p:sp>
        <p:nvSpPr>
          <p:cNvPr id="56350" name="Rectangle 29">
            <a:extLst>
              <a:ext uri="{FF2B5EF4-FFF2-40B4-BE49-F238E27FC236}">
                <a16:creationId xmlns:a16="http://schemas.microsoft.com/office/drawing/2014/main" id="{B8A3578C-0C0B-1D4F-96E5-A4494653B1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5489575"/>
            <a:ext cx="1066800" cy="209550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lIns="90487" tIns="44450" rIns="90487" bIns="44450" anchor="ctr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kumimoji="0" lang="en-US" altLang="zh-CN" sz="1600">
                <a:solidFill>
                  <a:schemeClr val="tx2"/>
                </a:solidFill>
                <a:latin typeface="Helvetica" pitchFamily="2" charset="0"/>
              </a:rPr>
              <a:t>vm_start</a:t>
            </a:r>
          </a:p>
        </p:txBody>
      </p:sp>
      <p:sp>
        <p:nvSpPr>
          <p:cNvPr id="56351" name="Rectangle 30">
            <a:extLst>
              <a:ext uri="{FF2B5EF4-FFF2-40B4-BE49-F238E27FC236}">
                <a16:creationId xmlns:a16="http://schemas.microsoft.com/office/drawing/2014/main" id="{162EBDAA-3E99-974B-93BC-AF59C23AA9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1801813"/>
            <a:ext cx="1981200" cy="4383087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lIns="90487" tIns="44450" rIns="90487" bIns="44450" anchor="ctr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kumimoji="0" lang="zh-CN" altLang="en-US" sz="2000"/>
          </a:p>
        </p:txBody>
      </p:sp>
      <p:sp>
        <p:nvSpPr>
          <p:cNvPr id="56352" name="Text Box 31">
            <a:extLst>
              <a:ext uri="{FF2B5EF4-FFF2-40B4-BE49-F238E27FC236}">
                <a16:creationId xmlns:a16="http://schemas.microsoft.com/office/drawing/2014/main" id="{73E58C8C-4CEA-4948-8574-275A02A8B4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9888" y="1524000"/>
            <a:ext cx="2468562" cy="30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kumimoji="0" lang="en-US" altLang="zh-CN" sz="1600">
                <a:solidFill>
                  <a:schemeClr val="tx2"/>
                </a:solidFill>
                <a:latin typeface="Helvetica" pitchFamily="2" charset="0"/>
              </a:rPr>
              <a:t>process virtual memory</a:t>
            </a:r>
          </a:p>
        </p:txBody>
      </p:sp>
      <p:sp>
        <p:nvSpPr>
          <p:cNvPr id="86" name="Rectangle 32">
            <a:extLst>
              <a:ext uri="{FF2B5EF4-FFF2-40B4-BE49-F238E27FC236}">
                <a16:creationId xmlns:a16="http://schemas.microsoft.com/office/drawing/2014/main" id="{6CEFB8F7-7930-BB47-84DC-4C4BCA2DCA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4584700"/>
            <a:ext cx="1981200" cy="104457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lIns="90487" tIns="44450" rIns="90487" bIns="44450" anchor="ctr"/>
          <a:lstStyle/>
          <a:p>
            <a:pPr algn="ctr"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altLang="zh-CN" sz="1600">
                <a:solidFill>
                  <a:schemeClr val="tx2"/>
                </a:solidFill>
                <a:latin typeface="Helvetica" pitchFamily="34" charset="0"/>
              </a:rPr>
              <a:t>text</a:t>
            </a:r>
          </a:p>
        </p:txBody>
      </p:sp>
      <p:sp>
        <p:nvSpPr>
          <p:cNvPr id="87" name="Rectangle 33">
            <a:extLst>
              <a:ext uri="{FF2B5EF4-FFF2-40B4-BE49-F238E27FC236}">
                <a16:creationId xmlns:a16="http://schemas.microsoft.com/office/drawing/2014/main" id="{6873E05A-891E-BB4D-BE42-AAB2404EC7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3889375"/>
            <a:ext cx="1981200" cy="69532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lIns="90487" tIns="44450" rIns="90487" bIns="44450" anchor="ctr"/>
          <a:lstStyle/>
          <a:p>
            <a:pPr algn="ctr"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altLang="zh-CN" sz="1600">
                <a:solidFill>
                  <a:schemeClr val="tx2"/>
                </a:solidFill>
                <a:latin typeface="Helvetica" pitchFamily="34" charset="0"/>
              </a:rPr>
              <a:t>data</a:t>
            </a:r>
          </a:p>
        </p:txBody>
      </p:sp>
      <p:sp>
        <p:nvSpPr>
          <p:cNvPr id="88" name="Rectangle 34">
            <a:extLst>
              <a:ext uri="{FF2B5EF4-FFF2-40B4-BE49-F238E27FC236}">
                <a16:creationId xmlns:a16="http://schemas.microsoft.com/office/drawing/2014/main" id="{41DC0EBA-28B4-C24B-9502-31D76B1B24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2706688"/>
            <a:ext cx="1981200" cy="48736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lIns="90487" tIns="44450" rIns="90487" bIns="44450" anchor="ctr"/>
          <a:lstStyle/>
          <a:p>
            <a:pPr algn="ctr"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altLang="zh-CN" sz="1600" dirty="0">
                <a:solidFill>
                  <a:schemeClr val="tx2"/>
                </a:solidFill>
                <a:latin typeface="Helvetica" pitchFamily="34" charset="0"/>
              </a:rPr>
              <a:t>shared libraries</a:t>
            </a:r>
          </a:p>
        </p:txBody>
      </p:sp>
      <p:sp>
        <p:nvSpPr>
          <p:cNvPr id="56356" name="Line 35">
            <a:extLst>
              <a:ext uri="{FF2B5EF4-FFF2-40B4-BE49-F238E27FC236}">
                <a16:creationId xmlns:a16="http://schemas.microsoft.com/office/drawing/2014/main" id="{BE589B10-B757-1C4C-86D4-58F57A4B0FC5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6800" y="2081213"/>
            <a:ext cx="838200" cy="6254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487" tIns="44450" rIns="90487" bIns="44450" anchor="ctr"/>
          <a:lstStyle/>
          <a:p>
            <a:endParaRPr lang="zh-CN" altLang="en-US"/>
          </a:p>
        </p:txBody>
      </p:sp>
      <p:sp>
        <p:nvSpPr>
          <p:cNvPr id="56357" name="Line 36">
            <a:extLst>
              <a:ext uri="{FF2B5EF4-FFF2-40B4-BE49-F238E27FC236}">
                <a16:creationId xmlns:a16="http://schemas.microsoft.com/office/drawing/2014/main" id="{CC643E2F-7103-B74B-BB9F-975127870E09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6800" y="2289175"/>
            <a:ext cx="838200" cy="9048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487" tIns="44450" rIns="90487" bIns="44450" anchor="ctr"/>
          <a:lstStyle/>
          <a:p>
            <a:endParaRPr lang="zh-CN" altLang="en-US"/>
          </a:p>
        </p:txBody>
      </p:sp>
      <p:sp>
        <p:nvSpPr>
          <p:cNvPr id="56358" name="Line 37">
            <a:extLst>
              <a:ext uri="{FF2B5EF4-FFF2-40B4-BE49-F238E27FC236}">
                <a16:creationId xmlns:a16="http://schemas.microsoft.com/office/drawing/2014/main" id="{DB15164B-358A-C848-9AAC-B58B7F9E0A6B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6800" y="3749675"/>
            <a:ext cx="762000" cy="1397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487" tIns="44450" rIns="90487" bIns="44450" anchor="ctr"/>
          <a:lstStyle/>
          <a:p>
            <a:endParaRPr lang="zh-CN" altLang="en-US"/>
          </a:p>
        </p:txBody>
      </p:sp>
      <p:sp>
        <p:nvSpPr>
          <p:cNvPr id="56359" name="Line 38">
            <a:extLst>
              <a:ext uri="{FF2B5EF4-FFF2-40B4-BE49-F238E27FC236}">
                <a16:creationId xmlns:a16="http://schemas.microsoft.com/office/drawing/2014/main" id="{04763820-15CD-584A-9043-8B65375CDEA7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6800" y="3959225"/>
            <a:ext cx="838200" cy="55721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487" tIns="44450" rIns="90487" bIns="44450" anchor="ctr"/>
          <a:lstStyle/>
          <a:p>
            <a:endParaRPr lang="zh-CN" altLang="en-US"/>
          </a:p>
        </p:txBody>
      </p:sp>
      <p:sp>
        <p:nvSpPr>
          <p:cNvPr id="56360" name="Line 39">
            <a:extLst>
              <a:ext uri="{FF2B5EF4-FFF2-40B4-BE49-F238E27FC236}">
                <a16:creationId xmlns:a16="http://schemas.microsoft.com/office/drawing/2014/main" id="{AC22FCE3-DE49-9443-A195-790D8E8749A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76800" y="4654550"/>
            <a:ext cx="838200" cy="4873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487" tIns="44450" rIns="90487" bIns="44450" anchor="ctr"/>
          <a:lstStyle/>
          <a:p>
            <a:endParaRPr lang="zh-CN" altLang="en-US"/>
          </a:p>
        </p:txBody>
      </p:sp>
      <p:sp>
        <p:nvSpPr>
          <p:cNvPr id="56361" name="Line 40">
            <a:extLst>
              <a:ext uri="{FF2B5EF4-FFF2-40B4-BE49-F238E27FC236}">
                <a16:creationId xmlns:a16="http://schemas.microsoft.com/office/drawing/2014/main" id="{5124CB53-E024-674B-B239-54A90498EE47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6800" y="5351463"/>
            <a:ext cx="838200" cy="2778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487" tIns="44450" rIns="90487" bIns="44450" anchor="ctr"/>
          <a:lstStyle/>
          <a:p>
            <a:endParaRPr lang="zh-CN" altLang="en-US"/>
          </a:p>
        </p:txBody>
      </p:sp>
      <p:sp>
        <p:nvSpPr>
          <p:cNvPr id="56362" name="Line 41">
            <a:extLst>
              <a:ext uri="{FF2B5EF4-FFF2-40B4-BE49-F238E27FC236}">
                <a16:creationId xmlns:a16="http://schemas.microsoft.com/office/drawing/2014/main" id="{E2E00986-6DF8-0B4E-9AB4-E1279CC6234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81400" y="3124200"/>
            <a:ext cx="2286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487" tIns="44450" rIns="90487" bIns="44450" anchor="ctr"/>
          <a:lstStyle/>
          <a:p>
            <a:endParaRPr lang="zh-CN" altLang="en-US"/>
          </a:p>
        </p:txBody>
      </p:sp>
      <p:sp>
        <p:nvSpPr>
          <p:cNvPr id="56363" name="Line 42">
            <a:extLst>
              <a:ext uri="{FF2B5EF4-FFF2-40B4-BE49-F238E27FC236}">
                <a16:creationId xmlns:a16="http://schemas.microsoft.com/office/drawing/2014/main" id="{DFF1DC40-D1A3-6F40-801A-D8EF8579DEB6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1400" y="3124200"/>
            <a:ext cx="0" cy="4873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487" tIns="44450" rIns="90487" bIns="44450" anchor="ctr"/>
          <a:lstStyle/>
          <a:p>
            <a:endParaRPr lang="zh-CN" altLang="en-US"/>
          </a:p>
        </p:txBody>
      </p:sp>
      <p:sp>
        <p:nvSpPr>
          <p:cNvPr id="56364" name="Line 43">
            <a:extLst>
              <a:ext uri="{FF2B5EF4-FFF2-40B4-BE49-F238E27FC236}">
                <a16:creationId xmlns:a16="http://schemas.microsoft.com/office/drawing/2014/main" id="{55D84EA1-B701-724C-9182-BD6E0FD1C535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1400" y="3611563"/>
            <a:ext cx="2286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487" tIns="44450" rIns="90487" bIns="44450" anchor="ctr"/>
          <a:lstStyle/>
          <a:p>
            <a:endParaRPr lang="zh-CN" altLang="en-US"/>
          </a:p>
        </p:txBody>
      </p:sp>
      <p:sp>
        <p:nvSpPr>
          <p:cNvPr id="56365" name="Line 44">
            <a:extLst>
              <a:ext uri="{FF2B5EF4-FFF2-40B4-BE49-F238E27FC236}">
                <a16:creationId xmlns:a16="http://schemas.microsoft.com/office/drawing/2014/main" id="{3DA14522-E121-9645-8928-B04D4E68A47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81400" y="4724400"/>
            <a:ext cx="2286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487" tIns="44450" rIns="90487" bIns="44450" anchor="ctr"/>
          <a:lstStyle/>
          <a:p>
            <a:endParaRPr lang="zh-CN" altLang="en-US"/>
          </a:p>
        </p:txBody>
      </p:sp>
      <p:sp>
        <p:nvSpPr>
          <p:cNvPr id="56366" name="Line 45">
            <a:extLst>
              <a:ext uri="{FF2B5EF4-FFF2-40B4-BE49-F238E27FC236}">
                <a16:creationId xmlns:a16="http://schemas.microsoft.com/office/drawing/2014/main" id="{A1430F50-8552-084F-A610-D9F4F7A9A802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1400" y="4724400"/>
            <a:ext cx="0" cy="55721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487" tIns="44450" rIns="90487" bIns="44450" anchor="ctr"/>
          <a:lstStyle/>
          <a:p>
            <a:endParaRPr lang="zh-CN" altLang="en-US"/>
          </a:p>
        </p:txBody>
      </p:sp>
      <p:sp>
        <p:nvSpPr>
          <p:cNvPr id="56367" name="Line 46">
            <a:extLst>
              <a:ext uri="{FF2B5EF4-FFF2-40B4-BE49-F238E27FC236}">
                <a16:creationId xmlns:a16="http://schemas.microsoft.com/office/drawing/2014/main" id="{A44DDB37-C578-8349-8935-72FFDBC31120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1400" y="5281613"/>
            <a:ext cx="2286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487" tIns="44450" rIns="90487" bIns="44450" anchor="ctr"/>
          <a:lstStyle/>
          <a:p>
            <a:endParaRPr lang="zh-CN" altLang="en-US"/>
          </a:p>
        </p:txBody>
      </p:sp>
      <p:sp>
        <p:nvSpPr>
          <p:cNvPr id="56368" name="Text Box 47">
            <a:extLst>
              <a:ext uri="{FF2B5EF4-FFF2-40B4-BE49-F238E27FC236}">
                <a16:creationId xmlns:a16="http://schemas.microsoft.com/office/drawing/2014/main" id="{58A6B320-7FB6-B248-9804-1ADEBEE8F2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26363" y="6045200"/>
            <a:ext cx="279400" cy="280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kumimoji="0" lang="zh-CN" altLang="en-US" sz="1400">
                <a:solidFill>
                  <a:schemeClr val="tx2"/>
                </a:solidFill>
                <a:latin typeface="Helvetica" pitchFamily="2" charset="0"/>
              </a:rPr>
              <a:t>0</a:t>
            </a:r>
          </a:p>
        </p:txBody>
      </p:sp>
      <p:sp>
        <p:nvSpPr>
          <p:cNvPr id="56369" name="Text Box 48">
            <a:extLst>
              <a:ext uri="{FF2B5EF4-FFF2-40B4-BE49-F238E27FC236}">
                <a16:creationId xmlns:a16="http://schemas.microsoft.com/office/drawing/2014/main" id="{D6C3AF24-B3CF-ED4F-BE57-38D586995A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5489575"/>
            <a:ext cx="1165225" cy="280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kumimoji="0" lang="zh-CN" altLang="en-US" sz="1400">
                <a:solidFill>
                  <a:schemeClr val="tx2"/>
                </a:solidFill>
                <a:latin typeface="Helvetica" pitchFamily="2" charset="0"/>
              </a:rPr>
              <a:t>0</a:t>
            </a:r>
            <a:r>
              <a:rPr kumimoji="0" lang="en-US" altLang="zh-CN" sz="1400">
                <a:solidFill>
                  <a:schemeClr val="tx2"/>
                </a:solidFill>
                <a:latin typeface="Helvetica" pitchFamily="2" charset="0"/>
              </a:rPr>
              <a:t>x08048000</a:t>
            </a:r>
          </a:p>
        </p:txBody>
      </p:sp>
      <p:sp>
        <p:nvSpPr>
          <p:cNvPr id="56370" name="Text Box 49">
            <a:extLst>
              <a:ext uri="{FF2B5EF4-FFF2-40B4-BE49-F238E27FC236}">
                <a16:creationId xmlns:a16="http://schemas.microsoft.com/office/drawing/2014/main" id="{5711393F-48BE-B54B-A981-6F7D9C2A1E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4376738"/>
            <a:ext cx="1165225" cy="280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kumimoji="0" lang="zh-CN" altLang="en-US" sz="1400">
                <a:solidFill>
                  <a:schemeClr val="tx2"/>
                </a:solidFill>
                <a:latin typeface="Helvetica" pitchFamily="2" charset="0"/>
              </a:rPr>
              <a:t>0</a:t>
            </a:r>
            <a:r>
              <a:rPr kumimoji="0" lang="en-US" altLang="zh-CN" sz="1400">
                <a:solidFill>
                  <a:schemeClr val="tx2"/>
                </a:solidFill>
                <a:latin typeface="Helvetica" pitchFamily="2" charset="0"/>
              </a:rPr>
              <a:t>x0804a020</a:t>
            </a:r>
          </a:p>
        </p:txBody>
      </p:sp>
      <p:sp>
        <p:nvSpPr>
          <p:cNvPr id="56371" name="Text Box 50">
            <a:extLst>
              <a:ext uri="{FF2B5EF4-FFF2-40B4-BE49-F238E27FC236}">
                <a16:creationId xmlns:a16="http://schemas.microsoft.com/office/drawing/2014/main" id="{BC49FB15-4CCC-6B42-92B3-DBA65F28AA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3054350"/>
            <a:ext cx="1165225" cy="280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kumimoji="0" lang="zh-CN" altLang="en-US" sz="1400">
                <a:solidFill>
                  <a:schemeClr val="tx2"/>
                </a:solidFill>
                <a:latin typeface="Helvetica" pitchFamily="2" charset="0"/>
              </a:rPr>
              <a:t>0</a:t>
            </a:r>
            <a:r>
              <a:rPr kumimoji="0" lang="en-US" altLang="zh-CN" sz="1400">
                <a:solidFill>
                  <a:schemeClr val="tx2"/>
                </a:solidFill>
                <a:latin typeface="Helvetica" pitchFamily="2" charset="0"/>
              </a:rPr>
              <a:t>x40000000</a:t>
            </a:r>
          </a:p>
        </p:txBody>
      </p:sp>
      <p:sp>
        <p:nvSpPr>
          <p:cNvPr id="56372" name="Rectangle 52">
            <a:extLst>
              <a:ext uri="{FF2B5EF4-FFF2-40B4-BE49-F238E27FC236}">
                <a16:creationId xmlns:a16="http://schemas.microsoft.com/office/drawing/2014/main" id="{E1D0E8E8-E9B7-684B-A14D-AA8EFDA0A2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2566988"/>
            <a:ext cx="1066800" cy="209550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lIns="90487" tIns="44450" rIns="90487" bIns="44450" anchor="ctr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kumimoji="0" lang="en-US" altLang="zh-CN" sz="1600">
                <a:solidFill>
                  <a:schemeClr val="tx2"/>
                </a:solidFill>
                <a:latin typeface="Helvetica" pitchFamily="2" charset="0"/>
              </a:rPr>
              <a:t>vm_flags</a:t>
            </a:r>
          </a:p>
        </p:txBody>
      </p:sp>
      <p:sp>
        <p:nvSpPr>
          <p:cNvPr id="56373" name="Rectangle 53">
            <a:extLst>
              <a:ext uri="{FF2B5EF4-FFF2-40B4-BE49-F238E27FC236}">
                <a16:creationId xmlns:a16="http://schemas.microsoft.com/office/drawing/2014/main" id="{696FDDAD-AE27-2349-86A2-BFD969AAEE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4237038"/>
            <a:ext cx="1066800" cy="209550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lIns="90487" tIns="44450" rIns="90487" bIns="44450" anchor="ctr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kumimoji="0" lang="en-US" altLang="zh-CN" sz="1600">
                <a:solidFill>
                  <a:schemeClr val="tx2"/>
                </a:solidFill>
                <a:latin typeface="Helvetica" pitchFamily="2" charset="0"/>
              </a:rPr>
              <a:t>vm_flags</a:t>
            </a:r>
          </a:p>
        </p:txBody>
      </p:sp>
      <p:sp>
        <p:nvSpPr>
          <p:cNvPr id="56374" name="Rectangle 54">
            <a:extLst>
              <a:ext uri="{FF2B5EF4-FFF2-40B4-BE49-F238E27FC236}">
                <a16:creationId xmlns:a16="http://schemas.microsoft.com/office/drawing/2014/main" id="{D46E15CE-54BC-554C-9D7A-2AE2B49870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5907088"/>
            <a:ext cx="1066800" cy="209550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lIns="90487" tIns="44450" rIns="90487" bIns="44450" anchor="ctr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kumimoji="0" lang="en-US" altLang="zh-CN" sz="1600">
                <a:solidFill>
                  <a:schemeClr val="tx2"/>
                </a:solidFill>
                <a:latin typeface="Helvetica" pitchFamily="2" charset="0"/>
              </a:rPr>
              <a:t>vm_flags</a:t>
            </a:r>
          </a:p>
        </p:txBody>
      </p:sp>
    </p:spTree>
    <p:extLst>
      <p:ext uri="{BB962C8B-B14F-4D97-AF65-F5344CB8AC3E}">
        <p14:creationId xmlns:p14="http://schemas.microsoft.com/office/powerpoint/2010/main" val="3198805670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灯片编号占位符 5">
            <a:extLst>
              <a:ext uri="{FF2B5EF4-FFF2-40B4-BE49-F238E27FC236}">
                <a16:creationId xmlns:a16="http://schemas.microsoft.com/office/drawing/2014/main" id="{42272353-FA81-D74C-AFAA-E5DFE4DB7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1D7DF10-E7A1-8D4C-997A-B7BCC8CAE2AF}" type="slidenum">
              <a:rPr kumimoji="0" lang="zh-CN" altLang="en-US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108</a:t>
            </a:fld>
            <a:endParaRPr kumimoji="0"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58370" name="Rectangle 40">
            <a:extLst>
              <a:ext uri="{FF2B5EF4-FFF2-40B4-BE49-F238E27FC236}">
                <a16:creationId xmlns:a16="http://schemas.microsoft.com/office/drawing/2014/main" id="{7D0CA9B4-116C-2D4D-82B0-A69E3EFBAC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 flipH="1">
            <a:off x="5257800" y="1676400"/>
            <a:ext cx="3505200" cy="4656138"/>
          </a:xfrm>
          <a:noFill/>
        </p:spPr>
        <p:txBody>
          <a:bodyPr lIns="90487" tIns="44450" rIns="90487" bIns="44450"/>
          <a:lstStyle/>
          <a:p>
            <a:r>
              <a:rPr kumimoji="0" lang="en-US" altLang="zh-CN" sz="2400">
                <a:ea typeface="宋体" panose="02010600030101010101" pitchFamily="2" charset="-122"/>
              </a:rPr>
              <a:t>Is the VA legal?</a:t>
            </a:r>
          </a:p>
          <a:p>
            <a:pPr lvl="1"/>
            <a:r>
              <a:rPr kumimoji="0" lang="en-US" altLang="zh-CN">
                <a:ea typeface="宋体" panose="02010600030101010101" pitchFamily="2" charset="-122"/>
              </a:rPr>
              <a:t>i.e. is it in an area defined by a </a:t>
            </a:r>
            <a:r>
              <a:rPr kumimoji="0" lang="en-US" altLang="zh-CN">
                <a:solidFill>
                  <a:srgbClr val="FF0000"/>
                </a:solidFill>
                <a:ea typeface="宋体" panose="02010600030101010101" pitchFamily="2" charset="-122"/>
              </a:rPr>
              <a:t>vm_area_struct</a:t>
            </a:r>
            <a:r>
              <a:rPr kumimoji="0" lang="en-US" altLang="zh-CN">
                <a:ea typeface="宋体" panose="02010600030101010101" pitchFamily="2" charset="-122"/>
              </a:rPr>
              <a:t>?</a:t>
            </a:r>
          </a:p>
          <a:p>
            <a:pPr lvl="1"/>
            <a:r>
              <a:rPr kumimoji="0" lang="en-US" altLang="zh-CN">
                <a:ea typeface="宋体" panose="02010600030101010101" pitchFamily="2" charset="-122"/>
              </a:rPr>
              <a:t>if not then signal segmentation violation (e.g. (1))</a:t>
            </a:r>
          </a:p>
        </p:txBody>
      </p:sp>
      <p:grpSp>
        <p:nvGrpSpPr>
          <p:cNvPr id="58371" name="Group 50">
            <a:extLst>
              <a:ext uri="{FF2B5EF4-FFF2-40B4-BE49-F238E27FC236}">
                <a16:creationId xmlns:a16="http://schemas.microsoft.com/office/drawing/2014/main" id="{1A9272D4-E309-574E-B5E7-481F6E181ACC}"/>
              </a:ext>
            </a:extLst>
          </p:cNvPr>
          <p:cNvGrpSpPr>
            <a:grpSpLocks/>
          </p:cNvGrpSpPr>
          <p:nvPr/>
        </p:nvGrpSpPr>
        <p:grpSpPr bwMode="auto">
          <a:xfrm>
            <a:off x="152400" y="1524000"/>
            <a:ext cx="5029200" cy="4799013"/>
            <a:chOff x="96" y="672"/>
            <a:chExt cx="3168" cy="3312"/>
          </a:xfrm>
        </p:grpSpPr>
        <p:sp>
          <p:nvSpPr>
            <p:cNvPr id="58373" name="Text Box 3">
              <a:extLst>
                <a:ext uri="{FF2B5EF4-FFF2-40B4-BE49-F238E27FC236}">
                  <a16:creationId xmlns:a16="http://schemas.microsoft.com/office/drawing/2014/main" id="{7120BC3D-57AA-5440-AF03-2E746CFDA1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" y="912"/>
              <a:ext cx="1058" cy="2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50000"/>
                </a:spcBef>
                <a:buFontTx/>
                <a:buNone/>
              </a:pPr>
              <a:r>
                <a:rPr kumimoji="0" lang="en-US" altLang="zh-CN" sz="1600">
                  <a:solidFill>
                    <a:schemeClr val="tx2"/>
                  </a:solidFill>
                  <a:latin typeface="Helvetica" pitchFamily="2" charset="0"/>
                </a:rPr>
                <a:t>vm_area_struct</a:t>
              </a:r>
            </a:p>
          </p:txBody>
        </p:sp>
        <p:grpSp>
          <p:nvGrpSpPr>
            <p:cNvPr id="58374" name="Group 4">
              <a:extLst>
                <a:ext uri="{FF2B5EF4-FFF2-40B4-BE49-F238E27FC236}">
                  <a16:creationId xmlns:a16="http://schemas.microsoft.com/office/drawing/2014/main" id="{34E4EF2E-1336-DC43-8116-A836E1565AC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" y="1152"/>
              <a:ext cx="672" cy="720"/>
              <a:chOff x="2352" y="1104"/>
              <a:chExt cx="672" cy="720"/>
            </a:xfrm>
          </p:grpSpPr>
          <p:sp>
            <p:nvSpPr>
              <p:cNvPr id="58414" name="Rectangle 5">
                <a:extLst>
                  <a:ext uri="{FF2B5EF4-FFF2-40B4-BE49-F238E27FC236}">
                    <a16:creationId xmlns:a16="http://schemas.microsoft.com/office/drawing/2014/main" id="{9C2DEF2C-CD90-704E-AF72-D3BC36353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2" y="1120"/>
                <a:ext cx="672" cy="704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487" tIns="44450" rIns="90487" bIns="44450" anchor="ctr"/>
              <a:lstStyle>
                <a:lvl1pPr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kumimoji="0" lang="zh-CN" altLang="en-US" sz="2000"/>
              </a:p>
            </p:txBody>
          </p:sp>
          <p:sp>
            <p:nvSpPr>
              <p:cNvPr id="58415" name="Rectangle 6">
                <a:extLst>
                  <a:ext uri="{FF2B5EF4-FFF2-40B4-BE49-F238E27FC236}">
                    <a16:creationId xmlns:a16="http://schemas.microsoft.com/office/drawing/2014/main" id="{ED128830-F276-6E49-BAEB-FBA6C145A2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2" y="1104"/>
                <a:ext cx="672" cy="144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90487" tIns="44450" rIns="90487" bIns="44450" anchor="ctr"/>
              <a:lstStyle>
                <a:lvl1pPr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30000"/>
                  </a:spcBef>
                  <a:buFontTx/>
                  <a:buNone/>
                </a:pPr>
                <a:r>
                  <a:rPr kumimoji="0" lang="en-US" altLang="zh-CN" sz="1600">
                    <a:solidFill>
                      <a:schemeClr val="tx2"/>
                    </a:solidFill>
                    <a:latin typeface="Helvetica" pitchFamily="2" charset="0"/>
                  </a:rPr>
                  <a:t>vm_end</a:t>
                </a:r>
              </a:p>
            </p:txBody>
          </p:sp>
          <p:sp>
            <p:nvSpPr>
              <p:cNvPr id="58416" name="Rectangle 7">
                <a:extLst>
                  <a:ext uri="{FF2B5EF4-FFF2-40B4-BE49-F238E27FC236}">
                    <a16:creationId xmlns:a16="http://schemas.microsoft.com/office/drawing/2014/main" id="{924139B0-AA80-1144-90CB-49445FA155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2" y="1392"/>
                <a:ext cx="672" cy="144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90487" tIns="44450" rIns="90487" bIns="44450" anchor="ctr"/>
              <a:lstStyle>
                <a:lvl1pPr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30000"/>
                  </a:spcBef>
                  <a:buFontTx/>
                  <a:buNone/>
                </a:pPr>
                <a:r>
                  <a:rPr kumimoji="0" lang="en-US" altLang="zh-CN" sz="1600">
                    <a:solidFill>
                      <a:schemeClr val="tx2"/>
                    </a:solidFill>
                    <a:latin typeface="Helvetica" pitchFamily="2" charset="0"/>
                  </a:rPr>
                  <a:t>r/o</a:t>
                </a:r>
              </a:p>
            </p:txBody>
          </p:sp>
          <p:sp>
            <p:nvSpPr>
              <p:cNvPr id="58417" name="Rectangle 8">
                <a:extLst>
                  <a:ext uri="{FF2B5EF4-FFF2-40B4-BE49-F238E27FC236}">
                    <a16:creationId xmlns:a16="http://schemas.microsoft.com/office/drawing/2014/main" id="{D28B439C-F7CD-414D-AE3B-4B8D77F910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2" y="1680"/>
                <a:ext cx="672" cy="144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90487" tIns="44450" rIns="90487" bIns="44450" anchor="ctr"/>
              <a:lstStyle>
                <a:lvl1pPr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30000"/>
                  </a:spcBef>
                  <a:buFontTx/>
                  <a:buNone/>
                </a:pPr>
                <a:r>
                  <a:rPr kumimoji="0" lang="en-US" altLang="zh-CN" sz="1600">
                    <a:solidFill>
                      <a:schemeClr val="tx2"/>
                    </a:solidFill>
                    <a:latin typeface="Helvetica" pitchFamily="2" charset="0"/>
                  </a:rPr>
                  <a:t>vm_next</a:t>
                </a:r>
              </a:p>
            </p:txBody>
          </p:sp>
          <p:sp>
            <p:nvSpPr>
              <p:cNvPr id="58418" name="Rectangle 9">
                <a:extLst>
                  <a:ext uri="{FF2B5EF4-FFF2-40B4-BE49-F238E27FC236}">
                    <a16:creationId xmlns:a16="http://schemas.microsoft.com/office/drawing/2014/main" id="{BD6823F1-A818-5048-9EA4-49BD32C0BA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2" y="1248"/>
                <a:ext cx="672" cy="144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90487" tIns="44450" rIns="90487" bIns="44450" anchor="ctr"/>
              <a:lstStyle>
                <a:lvl1pPr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30000"/>
                  </a:spcBef>
                  <a:buFontTx/>
                  <a:buNone/>
                </a:pPr>
                <a:r>
                  <a:rPr kumimoji="0" lang="en-US" altLang="zh-CN" sz="1600">
                    <a:solidFill>
                      <a:schemeClr val="tx2"/>
                    </a:solidFill>
                    <a:latin typeface="Helvetica" pitchFamily="2" charset="0"/>
                  </a:rPr>
                  <a:t>vm_start</a:t>
                </a:r>
              </a:p>
            </p:txBody>
          </p:sp>
        </p:grpSp>
        <p:grpSp>
          <p:nvGrpSpPr>
            <p:cNvPr id="58375" name="Group 10">
              <a:extLst>
                <a:ext uri="{FF2B5EF4-FFF2-40B4-BE49-F238E27FC236}">
                  <a16:creationId xmlns:a16="http://schemas.microsoft.com/office/drawing/2014/main" id="{D158C489-CE5D-7544-B5F2-C003AD8BA45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" y="2112"/>
              <a:ext cx="672" cy="720"/>
              <a:chOff x="2352" y="1104"/>
              <a:chExt cx="672" cy="720"/>
            </a:xfrm>
          </p:grpSpPr>
          <p:sp>
            <p:nvSpPr>
              <p:cNvPr id="58409" name="Rectangle 11">
                <a:extLst>
                  <a:ext uri="{FF2B5EF4-FFF2-40B4-BE49-F238E27FC236}">
                    <a16:creationId xmlns:a16="http://schemas.microsoft.com/office/drawing/2014/main" id="{A62B9688-B851-A047-AA8F-DDEAC0C33E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2" y="1120"/>
                <a:ext cx="672" cy="704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487" tIns="44450" rIns="90487" bIns="44450" anchor="ctr"/>
              <a:lstStyle>
                <a:lvl1pPr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kumimoji="0" lang="zh-CN" altLang="en-US" sz="2000"/>
              </a:p>
            </p:txBody>
          </p:sp>
          <p:sp>
            <p:nvSpPr>
              <p:cNvPr id="58410" name="Rectangle 12">
                <a:extLst>
                  <a:ext uri="{FF2B5EF4-FFF2-40B4-BE49-F238E27FC236}">
                    <a16:creationId xmlns:a16="http://schemas.microsoft.com/office/drawing/2014/main" id="{D1E697A4-6198-9A43-8EC7-BB03A77354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2" y="1104"/>
                <a:ext cx="672" cy="144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90487" tIns="44450" rIns="90487" bIns="44450" anchor="ctr"/>
              <a:lstStyle>
                <a:lvl1pPr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30000"/>
                  </a:spcBef>
                  <a:buFontTx/>
                  <a:buNone/>
                </a:pPr>
                <a:r>
                  <a:rPr kumimoji="0" lang="en-US" altLang="zh-CN" sz="1600">
                    <a:solidFill>
                      <a:schemeClr val="tx2"/>
                    </a:solidFill>
                    <a:latin typeface="Helvetica" pitchFamily="2" charset="0"/>
                  </a:rPr>
                  <a:t>vm_end</a:t>
                </a:r>
              </a:p>
            </p:txBody>
          </p:sp>
          <p:sp>
            <p:nvSpPr>
              <p:cNvPr id="58411" name="Rectangle 13">
                <a:extLst>
                  <a:ext uri="{FF2B5EF4-FFF2-40B4-BE49-F238E27FC236}">
                    <a16:creationId xmlns:a16="http://schemas.microsoft.com/office/drawing/2014/main" id="{7AEA111B-3D46-194F-8EB5-D58185C5E5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2" y="1392"/>
                <a:ext cx="672" cy="144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90487" tIns="44450" rIns="90487" bIns="44450" anchor="ctr"/>
              <a:lstStyle>
                <a:lvl1pPr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30000"/>
                  </a:spcBef>
                  <a:buFontTx/>
                  <a:buNone/>
                </a:pPr>
                <a:r>
                  <a:rPr kumimoji="0" lang="en-US" altLang="zh-CN" sz="1600">
                    <a:solidFill>
                      <a:schemeClr val="tx2"/>
                    </a:solidFill>
                    <a:latin typeface="Helvetica" pitchFamily="2" charset="0"/>
                  </a:rPr>
                  <a:t>r/w</a:t>
                </a:r>
              </a:p>
            </p:txBody>
          </p:sp>
          <p:sp>
            <p:nvSpPr>
              <p:cNvPr id="58412" name="Rectangle 14">
                <a:extLst>
                  <a:ext uri="{FF2B5EF4-FFF2-40B4-BE49-F238E27FC236}">
                    <a16:creationId xmlns:a16="http://schemas.microsoft.com/office/drawing/2014/main" id="{42F0F1C7-B84C-DA48-8A39-14AC0438F1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2" y="1680"/>
                <a:ext cx="672" cy="144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90487" tIns="44450" rIns="90487" bIns="44450" anchor="ctr"/>
              <a:lstStyle>
                <a:lvl1pPr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30000"/>
                  </a:spcBef>
                  <a:buFontTx/>
                  <a:buNone/>
                </a:pPr>
                <a:r>
                  <a:rPr kumimoji="0" lang="en-US" altLang="zh-CN" sz="1600">
                    <a:solidFill>
                      <a:schemeClr val="tx2"/>
                    </a:solidFill>
                    <a:latin typeface="Helvetica" pitchFamily="2" charset="0"/>
                  </a:rPr>
                  <a:t>vm_next</a:t>
                </a:r>
              </a:p>
            </p:txBody>
          </p:sp>
          <p:sp>
            <p:nvSpPr>
              <p:cNvPr id="58413" name="Rectangle 15">
                <a:extLst>
                  <a:ext uri="{FF2B5EF4-FFF2-40B4-BE49-F238E27FC236}">
                    <a16:creationId xmlns:a16="http://schemas.microsoft.com/office/drawing/2014/main" id="{DACC9943-5166-E544-9ADA-F9EB770905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2" y="1248"/>
                <a:ext cx="672" cy="144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90487" tIns="44450" rIns="90487" bIns="44450" anchor="ctr"/>
              <a:lstStyle>
                <a:lvl1pPr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30000"/>
                  </a:spcBef>
                  <a:buFontTx/>
                  <a:buNone/>
                </a:pPr>
                <a:r>
                  <a:rPr kumimoji="0" lang="en-US" altLang="zh-CN" sz="1600">
                    <a:solidFill>
                      <a:schemeClr val="tx2"/>
                    </a:solidFill>
                    <a:latin typeface="Helvetica" pitchFamily="2" charset="0"/>
                  </a:rPr>
                  <a:t>vm_start</a:t>
                </a:r>
              </a:p>
            </p:txBody>
          </p:sp>
        </p:grpSp>
        <p:grpSp>
          <p:nvGrpSpPr>
            <p:cNvPr id="58376" name="Group 16">
              <a:extLst>
                <a:ext uri="{FF2B5EF4-FFF2-40B4-BE49-F238E27FC236}">
                  <a16:creationId xmlns:a16="http://schemas.microsoft.com/office/drawing/2014/main" id="{2D0D173F-B243-0A43-AE1A-8D4DC3E0C5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" y="3072"/>
              <a:ext cx="672" cy="720"/>
              <a:chOff x="2352" y="1104"/>
              <a:chExt cx="672" cy="720"/>
            </a:xfrm>
          </p:grpSpPr>
          <p:sp>
            <p:nvSpPr>
              <p:cNvPr id="58404" name="Rectangle 17">
                <a:extLst>
                  <a:ext uri="{FF2B5EF4-FFF2-40B4-BE49-F238E27FC236}">
                    <a16:creationId xmlns:a16="http://schemas.microsoft.com/office/drawing/2014/main" id="{5E8EDB29-4AF5-934E-BFE7-B5CEE794FB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2" y="1120"/>
                <a:ext cx="672" cy="704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487" tIns="44450" rIns="90487" bIns="44450" anchor="ctr"/>
              <a:lstStyle>
                <a:lvl1pPr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kumimoji="0" lang="zh-CN" altLang="en-US" sz="2000"/>
              </a:p>
            </p:txBody>
          </p:sp>
          <p:sp>
            <p:nvSpPr>
              <p:cNvPr id="58405" name="Rectangle 18">
                <a:extLst>
                  <a:ext uri="{FF2B5EF4-FFF2-40B4-BE49-F238E27FC236}">
                    <a16:creationId xmlns:a16="http://schemas.microsoft.com/office/drawing/2014/main" id="{ED5364AB-23F3-1D48-AEDC-DC3D87D103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2" y="1104"/>
                <a:ext cx="672" cy="144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90487" tIns="44450" rIns="90487" bIns="44450" anchor="ctr"/>
              <a:lstStyle>
                <a:lvl1pPr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30000"/>
                  </a:spcBef>
                  <a:buFontTx/>
                  <a:buNone/>
                </a:pPr>
                <a:r>
                  <a:rPr kumimoji="0" lang="en-US" altLang="zh-CN" sz="1600">
                    <a:solidFill>
                      <a:schemeClr val="tx2"/>
                    </a:solidFill>
                    <a:latin typeface="Helvetica" pitchFamily="2" charset="0"/>
                  </a:rPr>
                  <a:t>vm_end</a:t>
                </a:r>
              </a:p>
            </p:txBody>
          </p:sp>
          <p:sp>
            <p:nvSpPr>
              <p:cNvPr id="58406" name="Rectangle 19">
                <a:extLst>
                  <a:ext uri="{FF2B5EF4-FFF2-40B4-BE49-F238E27FC236}">
                    <a16:creationId xmlns:a16="http://schemas.microsoft.com/office/drawing/2014/main" id="{B815EF0B-86A9-664C-9D15-C85EF42360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2" y="1392"/>
                <a:ext cx="672" cy="144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90487" tIns="44450" rIns="90487" bIns="44450" anchor="ctr"/>
              <a:lstStyle>
                <a:lvl1pPr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30000"/>
                  </a:spcBef>
                  <a:buFontTx/>
                  <a:buNone/>
                </a:pPr>
                <a:r>
                  <a:rPr kumimoji="0" lang="en-US" altLang="zh-CN" sz="1600">
                    <a:solidFill>
                      <a:schemeClr val="tx2"/>
                    </a:solidFill>
                    <a:latin typeface="Helvetica" pitchFamily="2" charset="0"/>
                  </a:rPr>
                  <a:t>r/o</a:t>
                </a:r>
              </a:p>
            </p:txBody>
          </p:sp>
          <p:sp>
            <p:nvSpPr>
              <p:cNvPr id="58407" name="Rectangle 20">
                <a:extLst>
                  <a:ext uri="{FF2B5EF4-FFF2-40B4-BE49-F238E27FC236}">
                    <a16:creationId xmlns:a16="http://schemas.microsoft.com/office/drawing/2014/main" id="{82C0217E-75EF-BA44-AD53-8F06562E4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2" y="1680"/>
                <a:ext cx="672" cy="144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90487" tIns="44450" rIns="90487" bIns="44450" anchor="ctr"/>
              <a:lstStyle>
                <a:lvl1pPr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30000"/>
                  </a:spcBef>
                  <a:buFontTx/>
                  <a:buNone/>
                </a:pPr>
                <a:r>
                  <a:rPr kumimoji="0" lang="en-US" altLang="zh-CN" sz="1600">
                    <a:solidFill>
                      <a:schemeClr val="tx2"/>
                    </a:solidFill>
                    <a:latin typeface="Helvetica" pitchFamily="2" charset="0"/>
                  </a:rPr>
                  <a:t>vm_next</a:t>
                </a:r>
              </a:p>
            </p:txBody>
          </p:sp>
          <p:sp>
            <p:nvSpPr>
              <p:cNvPr id="58408" name="Rectangle 21">
                <a:extLst>
                  <a:ext uri="{FF2B5EF4-FFF2-40B4-BE49-F238E27FC236}">
                    <a16:creationId xmlns:a16="http://schemas.microsoft.com/office/drawing/2014/main" id="{046D2EE8-ECB5-4C42-B40B-F77734B2A7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2" y="1248"/>
                <a:ext cx="672" cy="144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90487" tIns="44450" rIns="90487" bIns="44450" anchor="ctr"/>
              <a:lstStyle>
                <a:lvl1pPr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30000"/>
                  </a:spcBef>
                  <a:buFontTx/>
                  <a:buNone/>
                </a:pPr>
                <a:r>
                  <a:rPr kumimoji="0" lang="en-US" altLang="zh-CN" sz="1600">
                    <a:solidFill>
                      <a:schemeClr val="tx2"/>
                    </a:solidFill>
                    <a:latin typeface="Helvetica" pitchFamily="2" charset="0"/>
                  </a:rPr>
                  <a:t>vm_start</a:t>
                </a:r>
              </a:p>
            </p:txBody>
          </p:sp>
        </p:grpSp>
        <p:sp>
          <p:nvSpPr>
            <p:cNvPr id="58377" name="Rectangle 22">
              <a:extLst>
                <a:ext uri="{FF2B5EF4-FFF2-40B4-BE49-F238E27FC236}">
                  <a16:creationId xmlns:a16="http://schemas.microsoft.com/office/drawing/2014/main" id="{84176BAB-B1E8-4049-835A-973DF74FD9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864"/>
              <a:ext cx="1248" cy="302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kumimoji="0" lang="zh-CN" altLang="en-US" sz="2000"/>
            </a:p>
          </p:txBody>
        </p:sp>
        <p:sp>
          <p:nvSpPr>
            <p:cNvPr id="58378" name="Text Box 23">
              <a:extLst>
                <a:ext uri="{FF2B5EF4-FFF2-40B4-BE49-F238E27FC236}">
                  <a16:creationId xmlns:a16="http://schemas.microsoft.com/office/drawing/2014/main" id="{9466163F-7B27-3748-A21D-72856137E5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21" y="672"/>
              <a:ext cx="1555" cy="2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50000"/>
                </a:spcBef>
                <a:buFontTx/>
                <a:buNone/>
              </a:pPr>
              <a:r>
                <a:rPr kumimoji="0" lang="en-US" altLang="zh-CN" sz="1600">
                  <a:solidFill>
                    <a:schemeClr val="tx2"/>
                  </a:solidFill>
                  <a:latin typeface="Helvetica" pitchFamily="2" charset="0"/>
                </a:rPr>
                <a:t>process virtual memory</a:t>
              </a:r>
            </a:p>
          </p:txBody>
        </p:sp>
        <p:sp>
          <p:nvSpPr>
            <p:cNvPr id="7180" name="Rectangle 24">
              <a:extLst>
                <a:ext uri="{FF2B5EF4-FFF2-40B4-BE49-F238E27FC236}">
                  <a16:creationId xmlns:a16="http://schemas.microsoft.com/office/drawing/2014/main" id="{A361AF21-38AD-B34D-85F3-8CABAB1EED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2784"/>
              <a:ext cx="1248" cy="72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90000"/>
                </a:lnSpc>
                <a:spcBef>
                  <a:spcPct val="30000"/>
                </a:spcBef>
                <a:defRPr/>
              </a:pPr>
              <a:r>
                <a:rPr lang="en-US" altLang="zh-CN" sz="1600">
                  <a:solidFill>
                    <a:schemeClr val="tx2"/>
                  </a:solidFill>
                  <a:latin typeface="Helvetica" pitchFamily="34" charset="0"/>
                </a:rPr>
                <a:t>text</a:t>
              </a:r>
            </a:p>
          </p:txBody>
        </p:sp>
        <p:sp>
          <p:nvSpPr>
            <p:cNvPr id="7181" name="Rectangle 25">
              <a:extLst>
                <a:ext uri="{FF2B5EF4-FFF2-40B4-BE49-F238E27FC236}">
                  <a16:creationId xmlns:a16="http://schemas.microsoft.com/office/drawing/2014/main" id="{AE4B845C-9B0F-0541-9736-A00691D4AD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2304"/>
              <a:ext cx="1248" cy="48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90000"/>
                </a:lnSpc>
                <a:spcBef>
                  <a:spcPct val="30000"/>
                </a:spcBef>
                <a:defRPr/>
              </a:pPr>
              <a:r>
                <a:rPr lang="en-US" altLang="zh-CN" sz="1600">
                  <a:solidFill>
                    <a:schemeClr val="tx2"/>
                  </a:solidFill>
                  <a:latin typeface="Helvetica" pitchFamily="34" charset="0"/>
                </a:rPr>
                <a:t>data</a:t>
              </a:r>
            </a:p>
          </p:txBody>
        </p:sp>
        <p:sp>
          <p:nvSpPr>
            <p:cNvPr id="7182" name="Rectangle 26">
              <a:extLst>
                <a:ext uri="{FF2B5EF4-FFF2-40B4-BE49-F238E27FC236}">
                  <a16:creationId xmlns:a16="http://schemas.microsoft.com/office/drawing/2014/main" id="{EF422A58-7733-3548-8589-61588C0320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1488"/>
              <a:ext cx="1248" cy="335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90000"/>
                </a:lnSpc>
                <a:spcBef>
                  <a:spcPct val="30000"/>
                </a:spcBef>
                <a:defRPr/>
              </a:pPr>
              <a:r>
                <a:rPr lang="en-US" altLang="zh-CN" sz="1600" dirty="0">
                  <a:solidFill>
                    <a:schemeClr val="tx2"/>
                  </a:solidFill>
                  <a:latin typeface="Helvetica" pitchFamily="34" charset="0"/>
                </a:rPr>
                <a:t>shared libraries</a:t>
              </a:r>
            </a:p>
          </p:txBody>
        </p:sp>
        <p:sp>
          <p:nvSpPr>
            <p:cNvPr id="58382" name="Line 27">
              <a:extLst>
                <a:ext uri="{FF2B5EF4-FFF2-40B4-BE49-F238E27FC236}">
                  <a16:creationId xmlns:a16="http://schemas.microsoft.com/office/drawing/2014/main" id="{318BE715-B9B2-2144-8C3C-4B51AF1B72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1200"/>
              <a:ext cx="528" cy="28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487" tIns="44450" rIns="90487" bIns="44450" anchor="ctr"/>
            <a:lstStyle/>
            <a:p>
              <a:endParaRPr lang="zh-CN" altLang="en-US"/>
            </a:p>
          </p:txBody>
        </p:sp>
        <p:sp>
          <p:nvSpPr>
            <p:cNvPr id="58383" name="Line 28">
              <a:extLst>
                <a:ext uri="{FF2B5EF4-FFF2-40B4-BE49-F238E27FC236}">
                  <a16:creationId xmlns:a16="http://schemas.microsoft.com/office/drawing/2014/main" id="{8D802EEF-8035-B841-931E-EF456CCEA5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1344"/>
              <a:ext cx="528" cy="4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487" tIns="44450" rIns="90487" bIns="44450" anchor="ctr"/>
            <a:lstStyle/>
            <a:p>
              <a:endParaRPr lang="zh-CN" altLang="en-US"/>
            </a:p>
          </p:txBody>
        </p:sp>
        <p:sp>
          <p:nvSpPr>
            <p:cNvPr id="58384" name="Line 29">
              <a:extLst>
                <a:ext uri="{FF2B5EF4-FFF2-40B4-BE49-F238E27FC236}">
                  <a16:creationId xmlns:a16="http://schemas.microsoft.com/office/drawing/2014/main" id="{A166B550-D28E-F94D-853A-9D4416C7D4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2208"/>
              <a:ext cx="480" cy="9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487" tIns="44450" rIns="90487" bIns="44450" anchor="ctr"/>
            <a:lstStyle/>
            <a:p>
              <a:endParaRPr lang="zh-CN" altLang="en-US"/>
            </a:p>
          </p:txBody>
        </p:sp>
        <p:sp>
          <p:nvSpPr>
            <p:cNvPr id="58385" name="Line 30">
              <a:extLst>
                <a:ext uri="{FF2B5EF4-FFF2-40B4-BE49-F238E27FC236}">
                  <a16:creationId xmlns:a16="http://schemas.microsoft.com/office/drawing/2014/main" id="{52A6EC6E-7094-D245-9E7A-6B374AC917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2352"/>
              <a:ext cx="528" cy="38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487" tIns="44450" rIns="90487" bIns="44450" anchor="ctr"/>
            <a:lstStyle/>
            <a:p>
              <a:endParaRPr lang="zh-CN" altLang="en-US"/>
            </a:p>
          </p:txBody>
        </p:sp>
        <p:sp>
          <p:nvSpPr>
            <p:cNvPr id="58386" name="Line 31">
              <a:extLst>
                <a:ext uri="{FF2B5EF4-FFF2-40B4-BE49-F238E27FC236}">
                  <a16:creationId xmlns:a16="http://schemas.microsoft.com/office/drawing/2014/main" id="{0A9F474C-F5DD-D74B-BE47-C81FBD05442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60" y="2832"/>
              <a:ext cx="528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487" tIns="44450" rIns="90487" bIns="44450" anchor="ctr"/>
            <a:lstStyle/>
            <a:p>
              <a:endParaRPr lang="zh-CN" altLang="en-US"/>
            </a:p>
          </p:txBody>
        </p:sp>
        <p:sp>
          <p:nvSpPr>
            <p:cNvPr id="58387" name="Line 32">
              <a:extLst>
                <a:ext uri="{FF2B5EF4-FFF2-40B4-BE49-F238E27FC236}">
                  <a16:creationId xmlns:a16="http://schemas.microsoft.com/office/drawing/2014/main" id="{514BC8C4-A9D6-3346-83AC-03C4266177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3312"/>
              <a:ext cx="528" cy="19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487" tIns="44450" rIns="90487" bIns="44450" anchor="ctr"/>
            <a:lstStyle/>
            <a:p>
              <a:endParaRPr lang="zh-CN" altLang="en-US"/>
            </a:p>
          </p:txBody>
        </p:sp>
        <p:sp>
          <p:nvSpPr>
            <p:cNvPr id="58388" name="Line 33">
              <a:extLst>
                <a:ext uri="{FF2B5EF4-FFF2-40B4-BE49-F238E27FC236}">
                  <a16:creationId xmlns:a16="http://schemas.microsoft.com/office/drawing/2014/main" id="{38CA83DC-E13B-994C-818C-4C197D8437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4" y="1824"/>
              <a:ext cx="14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487" tIns="44450" rIns="90487" bIns="44450" anchor="ctr"/>
            <a:lstStyle/>
            <a:p>
              <a:endParaRPr lang="zh-CN" altLang="en-US"/>
            </a:p>
          </p:txBody>
        </p:sp>
        <p:sp>
          <p:nvSpPr>
            <p:cNvPr id="58389" name="Line 34">
              <a:extLst>
                <a:ext uri="{FF2B5EF4-FFF2-40B4-BE49-F238E27FC236}">
                  <a16:creationId xmlns:a16="http://schemas.microsoft.com/office/drawing/2014/main" id="{0DCA1455-A71A-2E4E-B596-619E2E8C0A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" y="1824"/>
              <a:ext cx="0" cy="28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487" tIns="44450" rIns="90487" bIns="44450" anchor="ctr"/>
            <a:lstStyle/>
            <a:p>
              <a:endParaRPr lang="zh-CN" altLang="en-US"/>
            </a:p>
          </p:txBody>
        </p:sp>
        <p:sp>
          <p:nvSpPr>
            <p:cNvPr id="58390" name="Line 35">
              <a:extLst>
                <a:ext uri="{FF2B5EF4-FFF2-40B4-BE49-F238E27FC236}">
                  <a16:creationId xmlns:a16="http://schemas.microsoft.com/office/drawing/2014/main" id="{FD4CA68C-0AAD-D14B-81CF-B7C0768BA7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" y="2112"/>
              <a:ext cx="14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487" tIns="44450" rIns="90487" bIns="44450" anchor="ctr"/>
            <a:lstStyle/>
            <a:p>
              <a:endParaRPr lang="zh-CN" altLang="en-US"/>
            </a:p>
          </p:txBody>
        </p:sp>
        <p:sp>
          <p:nvSpPr>
            <p:cNvPr id="58391" name="Line 36">
              <a:extLst>
                <a:ext uri="{FF2B5EF4-FFF2-40B4-BE49-F238E27FC236}">
                  <a16:creationId xmlns:a16="http://schemas.microsoft.com/office/drawing/2014/main" id="{8D4ECE45-902D-FD4D-8C15-A296F73D2AD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4" y="2784"/>
              <a:ext cx="14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487" tIns="44450" rIns="90487" bIns="44450" anchor="ctr"/>
            <a:lstStyle/>
            <a:p>
              <a:endParaRPr lang="zh-CN" altLang="en-US"/>
            </a:p>
          </p:txBody>
        </p:sp>
        <p:sp>
          <p:nvSpPr>
            <p:cNvPr id="58392" name="Line 37">
              <a:extLst>
                <a:ext uri="{FF2B5EF4-FFF2-40B4-BE49-F238E27FC236}">
                  <a16:creationId xmlns:a16="http://schemas.microsoft.com/office/drawing/2014/main" id="{1B4B6E7D-722B-3A49-95F9-61FADB2CCF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" y="2784"/>
              <a:ext cx="0" cy="28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487" tIns="44450" rIns="90487" bIns="44450" anchor="ctr"/>
            <a:lstStyle/>
            <a:p>
              <a:endParaRPr lang="zh-CN" altLang="en-US"/>
            </a:p>
          </p:txBody>
        </p:sp>
        <p:sp>
          <p:nvSpPr>
            <p:cNvPr id="58393" name="Line 38">
              <a:extLst>
                <a:ext uri="{FF2B5EF4-FFF2-40B4-BE49-F238E27FC236}">
                  <a16:creationId xmlns:a16="http://schemas.microsoft.com/office/drawing/2014/main" id="{258ED81B-0374-5441-9056-07418A908D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" y="3072"/>
              <a:ext cx="14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487" tIns="44450" rIns="90487" bIns="44450" anchor="ctr"/>
            <a:lstStyle/>
            <a:p>
              <a:endParaRPr lang="zh-CN" altLang="en-US"/>
            </a:p>
          </p:txBody>
        </p:sp>
        <p:sp>
          <p:nvSpPr>
            <p:cNvPr id="58394" name="Text Box 39">
              <a:extLst>
                <a:ext uri="{FF2B5EF4-FFF2-40B4-BE49-F238E27FC236}">
                  <a16:creationId xmlns:a16="http://schemas.microsoft.com/office/drawing/2014/main" id="{02F91223-41DF-7441-A02F-19063F04EA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55" y="3790"/>
              <a:ext cx="176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FontTx/>
                <a:buNone/>
              </a:pPr>
              <a:r>
                <a:rPr kumimoji="0" lang="zh-CN" altLang="en-US" sz="1400">
                  <a:solidFill>
                    <a:schemeClr val="tx2"/>
                  </a:solidFill>
                  <a:latin typeface="Helvetica" pitchFamily="2" charset="0"/>
                </a:rPr>
                <a:t>0</a:t>
              </a:r>
            </a:p>
          </p:txBody>
        </p:sp>
        <p:sp>
          <p:nvSpPr>
            <p:cNvPr id="58395" name="Line 41">
              <a:extLst>
                <a:ext uri="{FF2B5EF4-FFF2-40B4-BE49-F238E27FC236}">
                  <a16:creationId xmlns:a16="http://schemas.microsoft.com/office/drawing/2014/main" id="{F14201EC-9863-8345-A594-934BF436B9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" y="3072"/>
              <a:ext cx="52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487" tIns="44450" rIns="90487" bIns="44450" anchor="ctr"/>
            <a:lstStyle/>
            <a:p>
              <a:endParaRPr lang="zh-CN" altLang="en-US"/>
            </a:p>
          </p:txBody>
        </p:sp>
        <p:sp>
          <p:nvSpPr>
            <p:cNvPr id="58396" name="Text Box 42">
              <a:extLst>
                <a:ext uri="{FF2B5EF4-FFF2-40B4-BE49-F238E27FC236}">
                  <a16:creationId xmlns:a16="http://schemas.microsoft.com/office/drawing/2014/main" id="{153CF36F-98FB-B24F-9410-EC6E47D2DE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23" y="2925"/>
              <a:ext cx="418" cy="2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FontTx/>
                <a:buNone/>
              </a:pPr>
              <a:r>
                <a:rPr kumimoji="0" lang="en-US" altLang="zh-CN" sz="1600">
                  <a:solidFill>
                    <a:schemeClr val="tx2"/>
                  </a:solidFill>
                  <a:latin typeface="Helvetica" pitchFamily="2" charset="0"/>
                </a:rPr>
                <a:t>write</a:t>
              </a:r>
            </a:p>
          </p:txBody>
        </p:sp>
        <p:sp>
          <p:nvSpPr>
            <p:cNvPr id="58397" name="Line 43">
              <a:extLst>
                <a:ext uri="{FF2B5EF4-FFF2-40B4-BE49-F238E27FC236}">
                  <a16:creationId xmlns:a16="http://schemas.microsoft.com/office/drawing/2014/main" id="{412C511F-CB46-6040-B7F3-5F4E3516C7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" y="2595"/>
              <a:ext cx="52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487" tIns="44450" rIns="90487" bIns="44450" anchor="ctr"/>
            <a:lstStyle/>
            <a:p>
              <a:endParaRPr lang="zh-CN" altLang="en-US"/>
            </a:p>
          </p:txBody>
        </p:sp>
        <p:sp>
          <p:nvSpPr>
            <p:cNvPr id="58398" name="Text Box 44">
              <a:extLst>
                <a:ext uri="{FF2B5EF4-FFF2-40B4-BE49-F238E27FC236}">
                  <a16:creationId xmlns:a16="http://schemas.microsoft.com/office/drawing/2014/main" id="{BD9D6B4A-5611-6045-BCA8-78D2506751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23" y="2445"/>
              <a:ext cx="384" cy="2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FontTx/>
                <a:buNone/>
              </a:pPr>
              <a:r>
                <a:rPr kumimoji="0" lang="en-US" altLang="zh-CN" sz="1600">
                  <a:solidFill>
                    <a:schemeClr val="tx2"/>
                  </a:solidFill>
                  <a:latin typeface="Helvetica" pitchFamily="2" charset="0"/>
                </a:rPr>
                <a:t>read</a:t>
              </a:r>
            </a:p>
          </p:txBody>
        </p:sp>
        <p:sp>
          <p:nvSpPr>
            <p:cNvPr id="58399" name="Line 45">
              <a:extLst>
                <a:ext uri="{FF2B5EF4-FFF2-40B4-BE49-F238E27FC236}">
                  <a16:creationId xmlns:a16="http://schemas.microsoft.com/office/drawing/2014/main" id="{B5A22BE3-48F2-C644-8EE0-072B5824AB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" y="2070"/>
              <a:ext cx="52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487" tIns="44450" rIns="90487" bIns="44450" anchor="ctr"/>
            <a:lstStyle/>
            <a:p>
              <a:endParaRPr lang="zh-CN" altLang="en-US"/>
            </a:p>
          </p:txBody>
        </p:sp>
        <p:sp>
          <p:nvSpPr>
            <p:cNvPr id="58400" name="Text Box 46">
              <a:extLst>
                <a:ext uri="{FF2B5EF4-FFF2-40B4-BE49-F238E27FC236}">
                  <a16:creationId xmlns:a16="http://schemas.microsoft.com/office/drawing/2014/main" id="{8D41BB67-012C-8E49-88A6-046DB3EA7D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23" y="1920"/>
              <a:ext cx="384" cy="2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FontTx/>
                <a:buNone/>
              </a:pPr>
              <a:r>
                <a:rPr kumimoji="0" lang="en-US" altLang="zh-CN" sz="1600">
                  <a:solidFill>
                    <a:schemeClr val="tx2"/>
                  </a:solidFill>
                  <a:latin typeface="Helvetica" pitchFamily="2" charset="0"/>
                </a:rPr>
                <a:t>read</a:t>
              </a:r>
            </a:p>
          </p:txBody>
        </p:sp>
        <p:sp>
          <p:nvSpPr>
            <p:cNvPr id="58401" name="Oval 47">
              <a:extLst>
                <a:ext uri="{FF2B5EF4-FFF2-40B4-BE49-F238E27FC236}">
                  <a16:creationId xmlns:a16="http://schemas.microsoft.com/office/drawing/2014/main" id="{37295143-85D6-5749-9D5F-71E2199072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8" y="1776"/>
              <a:ext cx="192" cy="19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30000"/>
                </a:spcBef>
                <a:buFontTx/>
                <a:buNone/>
              </a:pPr>
              <a:r>
                <a:rPr kumimoji="0" lang="zh-CN" altLang="en-US" sz="2400">
                  <a:solidFill>
                    <a:schemeClr val="tx2"/>
                  </a:solidFill>
                  <a:latin typeface="Helvetica" pitchFamily="2" charset="0"/>
                </a:rPr>
                <a:t>1</a:t>
              </a:r>
            </a:p>
          </p:txBody>
        </p:sp>
        <p:sp>
          <p:nvSpPr>
            <p:cNvPr id="58402" name="Oval 48">
              <a:extLst>
                <a:ext uri="{FF2B5EF4-FFF2-40B4-BE49-F238E27FC236}">
                  <a16:creationId xmlns:a16="http://schemas.microsoft.com/office/drawing/2014/main" id="{46651645-612E-204C-AE6C-1FF598F442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8" y="2736"/>
              <a:ext cx="192" cy="19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30000"/>
                </a:spcBef>
                <a:buFontTx/>
                <a:buNone/>
              </a:pPr>
              <a:r>
                <a:rPr kumimoji="0" lang="zh-CN" altLang="en-US" sz="2400">
                  <a:solidFill>
                    <a:schemeClr val="tx2"/>
                  </a:solidFill>
                  <a:latin typeface="Helvetica" pitchFamily="2" charset="0"/>
                </a:rPr>
                <a:t>2</a:t>
              </a:r>
            </a:p>
          </p:txBody>
        </p:sp>
        <p:sp>
          <p:nvSpPr>
            <p:cNvPr id="58403" name="Oval 49">
              <a:extLst>
                <a:ext uri="{FF2B5EF4-FFF2-40B4-BE49-F238E27FC236}">
                  <a16:creationId xmlns:a16="http://schemas.microsoft.com/office/drawing/2014/main" id="{A4901FD0-6B62-0A4B-9861-4211040A43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8" y="2256"/>
              <a:ext cx="192" cy="19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30000"/>
                </a:spcBef>
                <a:buFontTx/>
                <a:buNone/>
              </a:pPr>
              <a:r>
                <a:rPr kumimoji="0" lang="zh-CN" altLang="en-US" sz="2400">
                  <a:solidFill>
                    <a:schemeClr val="tx2"/>
                  </a:solidFill>
                  <a:latin typeface="Helvetica" pitchFamily="2" charset="0"/>
                </a:rPr>
                <a:t>3</a:t>
              </a:r>
            </a:p>
          </p:txBody>
        </p:sp>
      </p:grpSp>
      <p:sp>
        <p:nvSpPr>
          <p:cNvPr id="58372" name="Rectangle 51">
            <a:extLst>
              <a:ext uri="{FF2B5EF4-FFF2-40B4-BE49-F238E27FC236}">
                <a16:creationId xmlns:a16="http://schemas.microsoft.com/office/drawing/2014/main" id="{FE4D7160-4606-2446-AF48-997D4D9F5D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Linux page fault handling</a:t>
            </a:r>
            <a:endParaRPr lang="zh-CN" altLang="en-US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7108558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灯片编号占位符 5">
            <a:extLst>
              <a:ext uri="{FF2B5EF4-FFF2-40B4-BE49-F238E27FC236}">
                <a16:creationId xmlns:a16="http://schemas.microsoft.com/office/drawing/2014/main" id="{4A9FBD93-14C3-024B-B9B1-8333DE812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3A206AB-E393-7746-B3A5-DD53DEBCB249}" type="slidenum">
              <a:rPr kumimoji="0" lang="zh-CN" altLang="en-US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109</a:t>
            </a:fld>
            <a:endParaRPr kumimoji="0"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60418" name="Rectangle 2">
            <a:extLst>
              <a:ext uri="{FF2B5EF4-FFF2-40B4-BE49-F238E27FC236}">
                <a16:creationId xmlns:a16="http://schemas.microsoft.com/office/drawing/2014/main" id="{F12CBFAF-A687-C242-9C1A-6C5720B2EB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 flipH="1">
            <a:off x="5257800" y="1676400"/>
            <a:ext cx="3657600" cy="4656138"/>
          </a:xfrm>
          <a:noFill/>
        </p:spPr>
        <p:txBody>
          <a:bodyPr lIns="90487" tIns="44450" rIns="90487" bIns="44450"/>
          <a:lstStyle/>
          <a:p>
            <a:r>
              <a:rPr kumimoji="0" lang="en-US" altLang="zh-CN" sz="2400">
                <a:ea typeface="宋体" panose="02010600030101010101" pitchFamily="2" charset="-122"/>
              </a:rPr>
              <a:t>Is the operation legal?</a:t>
            </a:r>
          </a:p>
          <a:p>
            <a:pPr lvl="1"/>
            <a:r>
              <a:rPr kumimoji="0" lang="en-US" altLang="zh-CN">
                <a:ea typeface="宋体" panose="02010600030101010101" pitchFamily="2" charset="-122"/>
              </a:rPr>
              <a:t>i.e., can the process read/write this area?</a:t>
            </a:r>
          </a:p>
          <a:p>
            <a:pPr lvl="1"/>
            <a:r>
              <a:rPr kumimoji="0" lang="en-US" altLang="zh-CN">
                <a:ea typeface="宋体" panose="02010600030101010101" pitchFamily="2" charset="-122"/>
              </a:rPr>
              <a:t>if not then signal protection violation (e.g., (2))</a:t>
            </a:r>
          </a:p>
          <a:p>
            <a:r>
              <a:rPr kumimoji="0" lang="en-US" altLang="zh-CN" sz="2400">
                <a:ea typeface="宋体" panose="02010600030101010101" pitchFamily="2" charset="-122"/>
              </a:rPr>
              <a:t>If OK, handle fault</a:t>
            </a:r>
          </a:p>
          <a:p>
            <a:pPr lvl="1"/>
            <a:r>
              <a:rPr kumimoji="0" lang="en-US" altLang="zh-CN">
                <a:ea typeface="宋体" panose="02010600030101010101" pitchFamily="2" charset="-122"/>
              </a:rPr>
              <a:t>e.g., (3)</a:t>
            </a:r>
          </a:p>
        </p:txBody>
      </p:sp>
      <p:sp>
        <p:nvSpPr>
          <p:cNvPr id="60419" name="Rectangle 50">
            <a:extLst>
              <a:ext uri="{FF2B5EF4-FFF2-40B4-BE49-F238E27FC236}">
                <a16:creationId xmlns:a16="http://schemas.microsoft.com/office/drawing/2014/main" id="{09295CDA-F64C-E44B-AB4E-1A3F219652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Linux page fault handling</a:t>
            </a:r>
            <a:endParaRPr lang="zh-CN" altLang="en-US">
              <a:ea typeface="宋体" panose="02010600030101010101" pitchFamily="2" charset="-122"/>
            </a:endParaRPr>
          </a:p>
        </p:txBody>
      </p:sp>
      <p:grpSp>
        <p:nvGrpSpPr>
          <p:cNvPr id="60420" name="Group 50">
            <a:extLst>
              <a:ext uri="{FF2B5EF4-FFF2-40B4-BE49-F238E27FC236}">
                <a16:creationId xmlns:a16="http://schemas.microsoft.com/office/drawing/2014/main" id="{2613B62F-E670-AF42-B5EF-723168B11749}"/>
              </a:ext>
            </a:extLst>
          </p:cNvPr>
          <p:cNvGrpSpPr>
            <a:grpSpLocks/>
          </p:cNvGrpSpPr>
          <p:nvPr/>
        </p:nvGrpSpPr>
        <p:grpSpPr bwMode="auto">
          <a:xfrm>
            <a:off x="152400" y="1524000"/>
            <a:ext cx="5029200" cy="4799013"/>
            <a:chOff x="96" y="672"/>
            <a:chExt cx="3168" cy="3312"/>
          </a:xfrm>
        </p:grpSpPr>
        <p:sp>
          <p:nvSpPr>
            <p:cNvPr id="60421" name="Text Box 3">
              <a:extLst>
                <a:ext uri="{FF2B5EF4-FFF2-40B4-BE49-F238E27FC236}">
                  <a16:creationId xmlns:a16="http://schemas.microsoft.com/office/drawing/2014/main" id="{090222DA-71F7-3743-9D6F-DCBCA618FA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" y="912"/>
              <a:ext cx="1058" cy="2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50000"/>
                </a:spcBef>
                <a:buFontTx/>
                <a:buNone/>
              </a:pPr>
              <a:r>
                <a:rPr kumimoji="0" lang="en-US" altLang="zh-CN" sz="1600">
                  <a:solidFill>
                    <a:schemeClr val="tx2"/>
                  </a:solidFill>
                  <a:latin typeface="Helvetica" pitchFamily="2" charset="0"/>
                </a:rPr>
                <a:t>vm_area_struct</a:t>
              </a:r>
            </a:p>
          </p:txBody>
        </p:sp>
        <p:grpSp>
          <p:nvGrpSpPr>
            <p:cNvPr id="60422" name="Group 4">
              <a:extLst>
                <a:ext uri="{FF2B5EF4-FFF2-40B4-BE49-F238E27FC236}">
                  <a16:creationId xmlns:a16="http://schemas.microsoft.com/office/drawing/2014/main" id="{D7DE0F3D-4558-094A-AB00-C7973713EC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" y="1152"/>
              <a:ext cx="672" cy="720"/>
              <a:chOff x="2352" y="1104"/>
              <a:chExt cx="672" cy="720"/>
            </a:xfrm>
          </p:grpSpPr>
          <p:sp>
            <p:nvSpPr>
              <p:cNvPr id="60462" name="Rectangle 5">
                <a:extLst>
                  <a:ext uri="{FF2B5EF4-FFF2-40B4-BE49-F238E27FC236}">
                    <a16:creationId xmlns:a16="http://schemas.microsoft.com/office/drawing/2014/main" id="{1851F0AD-3996-FE40-97A6-BCF68D833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2" y="1120"/>
                <a:ext cx="672" cy="704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487" tIns="44450" rIns="90487" bIns="44450" anchor="ctr"/>
              <a:lstStyle>
                <a:lvl1pPr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kumimoji="0" lang="zh-CN" altLang="en-US" sz="2000"/>
              </a:p>
            </p:txBody>
          </p:sp>
          <p:sp>
            <p:nvSpPr>
              <p:cNvPr id="60463" name="Rectangle 6">
                <a:extLst>
                  <a:ext uri="{FF2B5EF4-FFF2-40B4-BE49-F238E27FC236}">
                    <a16:creationId xmlns:a16="http://schemas.microsoft.com/office/drawing/2014/main" id="{ECD89580-1FC5-9B46-ABDA-FE27BFE86D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2" y="1104"/>
                <a:ext cx="672" cy="144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90487" tIns="44450" rIns="90487" bIns="44450" anchor="ctr"/>
              <a:lstStyle>
                <a:lvl1pPr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30000"/>
                  </a:spcBef>
                  <a:buFontTx/>
                  <a:buNone/>
                </a:pPr>
                <a:r>
                  <a:rPr kumimoji="0" lang="en-US" altLang="zh-CN" sz="1600">
                    <a:solidFill>
                      <a:schemeClr val="tx2"/>
                    </a:solidFill>
                    <a:latin typeface="Helvetica" pitchFamily="2" charset="0"/>
                  </a:rPr>
                  <a:t>vm_end</a:t>
                </a:r>
              </a:p>
            </p:txBody>
          </p:sp>
          <p:sp>
            <p:nvSpPr>
              <p:cNvPr id="60464" name="Rectangle 7">
                <a:extLst>
                  <a:ext uri="{FF2B5EF4-FFF2-40B4-BE49-F238E27FC236}">
                    <a16:creationId xmlns:a16="http://schemas.microsoft.com/office/drawing/2014/main" id="{B45A5B64-9E0C-4148-BBFD-8F4CD405F0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2" y="1392"/>
                <a:ext cx="672" cy="144"/>
              </a:xfrm>
              <a:prstGeom prst="rect">
                <a:avLst/>
              </a:prstGeom>
              <a:solidFill>
                <a:srgbClr val="00B0F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90487" tIns="44450" rIns="90487" bIns="44450" anchor="ctr"/>
              <a:lstStyle>
                <a:lvl1pPr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30000"/>
                  </a:spcBef>
                  <a:buFontTx/>
                  <a:buNone/>
                </a:pPr>
                <a:r>
                  <a:rPr kumimoji="0" lang="en-US" altLang="zh-CN" sz="1600">
                    <a:solidFill>
                      <a:schemeClr val="tx2"/>
                    </a:solidFill>
                    <a:latin typeface="Helvetica" pitchFamily="2" charset="0"/>
                  </a:rPr>
                  <a:t>r/o</a:t>
                </a:r>
              </a:p>
            </p:txBody>
          </p:sp>
          <p:sp>
            <p:nvSpPr>
              <p:cNvPr id="60465" name="Rectangle 8">
                <a:extLst>
                  <a:ext uri="{FF2B5EF4-FFF2-40B4-BE49-F238E27FC236}">
                    <a16:creationId xmlns:a16="http://schemas.microsoft.com/office/drawing/2014/main" id="{A15CC355-1CF7-8742-833F-ED4C0563F5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2" y="1680"/>
                <a:ext cx="672" cy="144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90487" tIns="44450" rIns="90487" bIns="44450" anchor="ctr"/>
              <a:lstStyle>
                <a:lvl1pPr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30000"/>
                  </a:spcBef>
                  <a:buFontTx/>
                  <a:buNone/>
                </a:pPr>
                <a:r>
                  <a:rPr kumimoji="0" lang="en-US" altLang="zh-CN" sz="1600">
                    <a:solidFill>
                      <a:schemeClr val="tx2"/>
                    </a:solidFill>
                    <a:latin typeface="Helvetica" pitchFamily="2" charset="0"/>
                  </a:rPr>
                  <a:t>vm_next</a:t>
                </a:r>
              </a:p>
            </p:txBody>
          </p:sp>
          <p:sp>
            <p:nvSpPr>
              <p:cNvPr id="60466" name="Rectangle 9">
                <a:extLst>
                  <a:ext uri="{FF2B5EF4-FFF2-40B4-BE49-F238E27FC236}">
                    <a16:creationId xmlns:a16="http://schemas.microsoft.com/office/drawing/2014/main" id="{D573C3F7-CE6A-1F46-B324-201E41248D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2" y="1248"/>
                <a:ext cx="672" cy="144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90487" tIns="44450" rIns="90487" bIns="44450" anchor="ctr"/>
              <a:lstStyle>
                <a:lvl1pPr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30000"/>
                  </a:spcBef>
                  <a:buFontTx/>
                  <a:buNone/>
                </a:pPr>
                <a:r>
                  <a:rPr kumimoji="0" lang="en-US" altLang="zh-CN" sz="1600">
                    <a:solidFill>
                      <a:schemeClr val="tx2"/>
                    </a:solidFill>
                    <a:latin typeface="Helvetica" pitchFamily="2" charset="0"/>
                  </a:rPr>
                  <a:t>vm_start</a:t>
                </a:r>
              </a:p>
            </p:txBody>
          </p:sp>
        </p:grpSp>
        <p:grpSp>
          <p:nvGrpSpPr>
            <p:cNvPr id="60423" name="Group 10">
              <a:extLst>
                <a:ext uri="{FF2B5EF4-FFF2-40B4-BE49-F238E27FC236}">
                  <a16:creationId xmlns:a16="http://schemas.microsoft.com/office/drawing/2014/main" id="{2B4AADA2-BE2B-124E-8CB6-F77F4D65BA7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" y="2112"/>
              <a:ext cx="672" cy="720"/>
              <a:chOff x="2352" y="1104"/>
              <a:chExt cx="672" cy="720"/>
            </a:xfrm>
          </p:grpSpPr>
          <p:sp>
            <p:nvSpPr>
              <p:cNvPr id="60457" name="Rectangle 11">
                <a:extLst>
                  <a:ext uri="{FF2B5EF4-FFF2-40B4-BE49-F238E27FC236}">
                    <a16:creationId xmlns:a16="http://schemas.microsoft.com/office/drawing/2014/main" id="{99BF6DB1-B3B3-144C-81BC-29A6565860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2" y="1120"/>
                <a:ext cx="672" cy="704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487" tIns="44450" rIns="90487" bIns="44450" anchor="ctr"/>
              <a:lstStyle>
                <a:lvl1pPr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kumimoji="0" lang="zh-CN" altLang="en-US" sz="2000"/>
              </a:p>
            </p:txBody>
          </p:sp>
          <p:sp>
            <p:nvSpPr>
              <p:cNvPr id="60458" name="Rectangle 12">
                <a:extLst>
                  <a:ext uri="{FF2B5EF4-FFF2-40B4-BE49-F238E27FC236}">
                    <a16:creationId xmlns:a16="http://schemas.microsoft.com/office/drawing/2014/main" id="{16F2CB6E-94D6-AA4A-8328-0377117B53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2" y="1104"/>
                <a:ext cx="672" cy="144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90487" tIns="44450" rIns="90487" bIns="44450" anchor="ctr"/>
              <a:lstStyle>
                <a:lvl1pPr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30000"/>
                  </a:spcBef>
                  <a:buFontTx/>
                  <a:buNone/>
                </a:pPr>
                <a:r>
                  <a:rPr kumimoji="0" lang="en-US" altLang="zh-CN" sz="1600">
                    <a:solidFill>
                      <a:schemeClr val="tx2"/>
                    </a:solidFill>
                    <a:latin typeface="Helvetica" pitchFamily="2" charset="0"/>
                  </a:rPr>
                  <a:t>vm_end</a:t>
                </a:r>
              </a:p>
            </p:txBody>
          </p:sp>
          <p:sp>
            <p:nvSpPr>
              <p:cNvPr id="60459" name="Rectangle 13">
                <a:extLst>
                  <a:ext uri="{FF2B5EF4-FFF2-40B4-BE49-F238E27FC236}">
                    <a16:creationId xmlns:a16="http://schemas.microsoft.com/office/drawing/2014/main" id="{53B0898D-244A-D34C-8C7A-822153E695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2" y="1392"/>
                <a:ext cx="672" cy="144"/>
              </a:xfrm>
              <a:prstGeom prst="rect">
                <a:avLst/>
              </a:prstGeom>
              <a:solidFill>
                <a:srgbClr val="00B0F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90487" tIns="44450" rIns="90487" bIns="44450" anchor="ctr"/>
              <a:lstStyle>
                <a:lvl1pPr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30000"/>
                  </a:spcBef>
                  <a:buFontTx/>
                  <a:buNone/>
                </a:pPr>
                <a:r>
                  <a:rPr kumimoji="0" lang="en-US" altLang="zh-CN" sz="1600">
                    <a:solidFill>
                      <a:schemeClr val="tx2"/>
                    </a:solidFill>
                    <a:latin typeface="Helvetica" pitchFamily="2" charset="0"/>
                  </a:rPr>
                  <a:t>r/w</a:t>
                </a:r>
              </a:p>
            </p:txBody>
          </p:sp>
          <p:sp>
            <p:nvSpPr>
              <p:cNvPr id="60460" name="Rectangle 14">
                <a:extLst>
                  <a:ext uri="{FF2B5EF4-FFF2-40B4-BE49-F238E27FC236}">
                    <a16:creationId xmlns:a16="http://schemas.microsoft.com/office/drawing/2014/main" id="{7F4C684C-98DC-584B-9D2A-028D21127D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2" y="1680"/>
                <a:ext cx="672" cy="144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90487" tIns="44450" rIns="90487" bIns="44450" anchor="ctr"/>
              <a:lstStyle>
                <a:lvl1pPr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30000"/>
                  </a:spcBef>
                  <a:buFontTx/>
                  <a:buNone/>
                </a:pPr>
                <a:r>
                  <a:rPr kumimoji="0" lang="en-US" altLang="zh-CN" sz="1600">
                    <a:solidFill>
                      <a:schemeClr val="tx2"/>
                    </a:solidFill>
                    <a:latin typeface="Helvetica" pitchFamily="2" charset="0"/>
                  </a:rPr>
                  <a:t>vm_next</a:t>
                </a:r>
              </a:p>
            </p:txBody>
          </p:sp>
          <p:sp>
            <p:nvSpPr>
              <p:cNvPr id="60461" name="Rectangle 15">
                <a:extLst>
                  <a:ext uri="{FF2B5EF4-FFF2-40B4-BE49-F238E27FC236}">
                    <a16:creationId xmlns:a16="http://schemas.microsoft.com/office/drawing/2014/main" id="{CA1DE8A7-3000-734E-80C6-471AA6AA32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2" y="1248"/>
                <a:ext cx="672" cy="144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90487" tIns="44450" rIns="90487" bIns="44450" anchor="ctr"/>
              <a:lstStyle>
                <a:lvl1pPr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30000"/>
                  </a:spcBef>
                  <a:buFontTx/>
                  <a:buNone/>
                </a:pPr>
                <a:r>
                  <a:rPr kumimoji="0" lang="en-US" altLang="zh-CN" sz="1600">
                    <a:solidFill>
                      <a:schemeClr val="tx2"/>
                    </a:solidFill>
                    <a:latin typeface="Helvetica" pitchFamily="2" charset="0"/>
                  </a:rPr>
                  <a:t>vm_start</a:t>
                </a:r>
              </a:p>
            </p:txBody>
          </p:sp>
        </p:grpSp>
        <p:grpSp>
          <p:nvGrpSpPr>
            <p:cNvPr id="60424" name="Group 16">
              <a:extLst>
                <a:ext uri="{FF2B5EF4-FFF2-40B4-BE49-F238E27FC236}">
                  <a16:creationId xmlns:a16="http://schemas.microsoft.com/office/drawing/2014/main" id="{70507C49-6E69-C641-8939-BA1AFA864DF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" y="3072"/>
              <a:ext cx="672" cy="720"/>
              <a:chOff x="2352" y="1104"/>
              <a:chExt cx="672" cy="720"/>
            </a:xfrm>
          </p:grpSpPr>
          <p:sp>
            <p:nvSpPr>
              <p:cNvPr id="60452" name="Rectangle 17">
                <a:extLst>
                  <a:ext uri="{FF2B5EF4-FFF2-40B4-BE49-F238E27FC236}">
                    <a16:creationId xmlns:a16="http://schemas.microsoft.com/office/drawing/2014/main" id="{3B06C3D4-7CE3-D247-A576-9A6689C028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2" y="1120"/>
                <a:ext cx="672" cy="704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487" tIns="44450" rIns="90487" bIns="44450" anchor="ctr"/>
              <a:lstStyle>
                <a:lvl1pPr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kumimoji="0" lang="zh-CN" altLang="en-US" sz="2000"/>
              </a:p>
            </p:txBody>
          </p:sp>
          <p:sp>
            <p:nvSpPr>
              <p:cNvPr id="60453" name="Rectangle 18">
                <a:extLst>
                  <a:ext uri="{FF2B5EF4-FFF2-40B4-BE49-F238E27FC236}">
                    <a16:creationId xmlns:a16="http://schemas.microsoft.com/office/drawing/2014/main" id="{AD7B4776-BDBC-444D-BEB7-652AE2EED4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2" y="1104"/>
                <a:ext cx="672" cy="144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90487" tIns="44450" rIns="90487" bIns="44450" anchor="ctr"/>
              <a:lstStyle>
                <a:lvl1pPr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30000"/>
                  </a:spcBef>
                  <a:buFontTx/>
                  <a:buNone/>
                </a:pPr>
                <a:r>
                  <a:rPr kumimoji="0" lang="en-US" altLang="zh-CN" sz="1600">
                    <a:solidFill>
                      <a:schemeClr val="tx2"/>
                    </a:solidFill>
                    <a:latin typeface="Helvetica" pitchFamily="2" charset="0"/>
                  </a:rPr>
                  <a:t>vm_end</a:t>
                </a:r>
              </a:p>
            </p:txBody>
          </p:sp>
          <p:sp>
            <p:nvSpPr>
              <p:cNvPr id="60454" name="Rectangle 19">
                <a:extLst>
                  <a:ext uri="{FF2B5EF4-FFF2-40B4-BE49-F238E27FC236}">
                    <a16:creationId xmlns:a16="http://schemas.microsoft.com/office/drawing/2014/main" id="{A57FA0BA-4996-AF4D-B1A2-3D201FECA1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2" y="1392"/>
                <a:ext cx="672" cy="144"/>
              </a:xfrm>
              <a:prstGeom prst="rect">
                <a:avLst/>
              </a:prstGeom>
              <a:solidFill>
                <a:srgbClr val="00B0F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90487" tIns="44450" rIns="90487" bIns="44450" anchor="ctr"/>
              <a:lstStyle>
                <a:lvl1pPr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30000"/>
                  </a:spcBef>
                  <a:buFontTx/>
                  <a:buNone/>
                </a:pPr>
                <a:r>
                  <a:rPr kumimoji="0" lang="en-US" altLang="zh-CN" sz="1600">
                    <a:solidFill>
                      <a:schemeClr val="tx2"/>
                    </a:solidFill>
                    <a:latin typeface="Helvetica" pitchFamily="2" charset="0"/>
                  </a:rPr>
                  <a:t>r/o</a:t>
                </a:r>
              </a:p>
            </p:txBody>
          </p:sp>
          <p:sp>
            <p:nvSpPr>
              <p:cNvPr id="60455" name="Rectangle 20">
                <a:extLst>
                  <a:ext uri="{FF2B5EF4-FFF2-40B4-BE49-F238E27FC236}">
                    <a16:creationId xmlns:a16="http://schemas.microsoft.com/office/drawing/2014/main" id="{B05A926C-0677-AD4D-8E97-CA3F75444C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2" y="1680"/>
                <a:ext cx="672" cy="144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90487" tIns="44450" rIns="90487" bIns="44450" anchor="ctr"/>
              <a:lstStyle>
                <a:lvl1pPr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30000"/>
                  </a:spcBef>
                  <a:buFontTx/>
                  <a:buNone/>
                </a:pPr>
                <a:r>
                  <a:rPr kumimoji="0" lang="en-US" altLang="zh-CN" sz="1600">
                    <a:solidFill>
                      <a:schemeClr val="tx2"/>
                    </a:solidFill>
                    <a:latin typeface="Helvetica" pitchFamily="2" charset="0"/>
                  </a:rPr>
                  <a:t>vm_next</a:t>
                </a:r>
              </a:p>
            </p:txBody>
          </p:sp>
          <p:sp>
            <p:nvSpPr>
              <p:cNvPr id="60456" name="Rectangle 21">
                <a:extLst>
                  <a:ext uri="{FF2B5EF4-FFF2-40B4-BE49-F238E27FC236}">
                    <a16:creationId xmlns:a16="http://schemas.microsoft.com/office/drawing/2014/main" id="{6DF3630F-1B4B-2848-A391-C0E004838A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2" y="1248"/>
                <a:ext cx="672" cy="144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90487" tIns="44450" rIns="90487" bIns="44450" anchor="ctr"/>
              <a:lstStyle>
                <a:lvl1pPr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Comic Sans MS" panose="030F0902030302020204" pitchFamily="66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30000"/>
                  </a:spcBef>
                  <a:buFontTx/>
                  <a:buNone/>
                </a:pPr>
                <a:r>
                  <a:rPr kumimoji="0" lang="en-US" altLang="zh-CN" sz="1600">
                    <a:solidFill>
                      <a:schemeClr val="tx2"/>
                    </a:solidFill>
                    <a:latin typeface="Helvetica" pitchFamily="2" charset="0"/>
                  </a:rPr>
                  <a:t>vm_start</a:t>
                </a:r>
              </a:p>
            </p:txBody>
          </p:sp>
        </p:grpSp>
        <p:sp>
          <p:nvSpPr>
            <p:cNvPr id="60425" name="Rectangle 22">
              <a:extLst>
                <a:ext uri="{FF2B5EF4-FFF2-40B4-BE49-F238E27FC236}">
                  <a16:creationId xmlns:a16="http://schemas.microsoft.com/office/drawing/2014/main" id="{A0296148-0111-2C42-ABF4-F5FACC244E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864"/>
              <a:ext cx="1248" cy="302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kumimoji="0" lang="zh-CN" altLang="en-US" sz="2000"/>
            </a:p>
          </p:txBody>
        </p:sp>
        <p:sp>
          <p:nvSpPr>
            <p:cNvPr id="60426" name="Text Box 23">
              <a:extLst>
                <a:ext uri="{FF2B5EF4-FFF2-40B4-BE49-F238E27FC236}">
                  <a16:creationId xmlns:a16="http://schemas.microsoft.com/office/drawing/2014/main" id="{E190DDB7-E319-964B-A1C3-23823D9A5F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21" y="672"/>
              <a:ext cx="1555" cy="2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50000"/>
                </a:spcBef>
                <a:buFontTx/>
                <a:buNone/>
              </a:pPr>
              <a:r>
                <a:rPr kumimoji="0" lang="en-US" altLang="zh-CN" sz="1600">
                  <a:solidFill>
                    <a:schemeClr val="tx2"/>
                  </a:solidFill>
                  <a:latin typeface="Helvetica" pitchFamily="2" charset="0"/>
                </a:rPr>
                <a:t>process virtual memory</a:t>
              </a:r>
            </a:p>
          </p:txBody>
        </p:sp>
        <p:sp>
          <p:nvSpPr>
            <p:cNvPr id="59" name="Rectangle 24">
              <a:extLst>
                <a:ext uri="{FF2B5EF4-FFF2-40B4-BE49-F238E27FC236}">
                  <a16:creationId xmlns:a16="http://schemas.microsoft.com/office/drawing/2014/main" id="{D9709E9A-E8A1-FF48-9A49-92540B0287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2784"/>
              <a:ext cx="1248" cy="72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90000"/>
                </a:lnSpc>
                <a:spcBef>
                  <a:spcPct val="30000"/>
                </a:spcBef>
                <a:defRPr/>
              </a:pPr>
              <a:r>
                <a:rPr lang="en-US" altLang="zh-CN" sz="1600">
                  <a:solidFill>
                    <a:schemeClr val="tx2"/>
                  </a:solidFill>
                  <a:latin typeface="Helvetica" pitchFamily="34" charset="0"/>
                </a:rPr>
                <a:t>text</a:t>
              </a:r>
            </a:p>
          </p:txBody>
        </p:sp>
        <p:sp>
          <p:nvSpPr>
            <p:cNvPr id="60" name="Rectangle 25">
              <a:extLst>
                <a:ext uri="{FF2B5EF4-FFF2-40B4-BE49-F238E27FC236}">
                  <a16:creationId xmlns:a16="http://schemas.microsoft.com/office/drawing/2014/main" id="{6EC9C7FD-E0B1-0944-A6D2-209BAF84B0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2304"/>
              <a:ext cx="1248" cy="48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90000"/>
                </a:lnSpc>
                <a:spcBef>
                  <a:spcPct val="30000"/>
                </a:spcBef>
                <a:defRPr/>
              </a:pPr>
              <a:r>
                <a:rPr lang="en-US" altLang="zh-CN" sz="1600">
                  <a:solidFill>
                    <a:schemeClr val="tx2"/>
                  </a:solidFill>
                  <a:latin typeface="Helvetica" pitchFamily="34" charset="0"/>
                </a:rPr>
                <a:t>data</a:t>
              </a:r>
            </a:p>
          </p:txBody>
        </p:sp>
        <p:sp>
          <p:nvSpPr>
            <p:cNvPr id="61" name="Rectangle 26">
              <a:extLst>
                <a:ext uri="{FF2B5EF4-FFF2-40B4-BE49-F238E27FC236}">
                  <a16:creationId xmlns:a16="http://schemas.microsoft.com/office/drawing/2014/main" id="{77A0B556-6563-AA4F-B6F1-09FCCC8AE0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1488"/>
              <a:ext cx="1248" cy="335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90000"/>
                </a:lnSpc>
                <a:spcBef>
                  <a:spcPct val="30000"/>
                </a:spcBef>
                <a:defRPr/>
              </a:pPr>
              <a:r>
                <a:rPr lang="en-US" altLang="zh-CN" sz="1600">
                  <a:solidFill>
                    <a:schemeClr val="tx2"/>
                  </a:solidFill>
                  <a:latin typeface="Helvetica" pitchFamily="34" charset="0"/>
                </a:rPr>
                <a:t>shared libraries</a:t>
              </a:r>
            </a:p>
          </p:txBody>
        </p:sp>
        <p:sp>
          <p:nvSpPr>
            <p:cNvPr id="60430" name="Line 27">
              <a:extLst>
                <a:ext uri="{FF2B5EF4-FFF2-40B4-BE49-F238E27FC236}">
                  <a16:creationId xmlns:a16="http://schemas.microsoft.com/office/drawing/2014/main" id="{265FA0AD-FD9A-3D49-898C-861CF1CE70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1200"/>
              <a:ext cx="528" cy="28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487" tIns="44450" rIns="90487" bIns="44450" anchor="ctr"/>
            <a:lstStyle/>
            <a:p>
              <a:endParaRPr lang="zh-CN" altLang="en-US"/>
            </a:p>
          </p:txBody>
        </p:sp>
        <p:sp>
          <p:nvSpPr>
            <p:cNvPr id="60431" name="Line 28">
              <a:extLst>
                <a:ext uri="{FF2B5EF4-FFF2-40B4-BE49-F238E27FC236}">
                  <a16:creationId xmlns:a16="http://schemas.microsoft.com/office/drawing/2014/main" id="{C25E979D-1B62-C04E-8A40-A0C98D67AF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1344"/>
              <a:ext cx="528" cy="4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487" tIns="44450" rIns="90487" bIns="44450" anchor="ctr"/>
            <a:lstStyle/>
            <a:p>
              <a:endParaRPr lang="zh-CN" altLang="en-US"/>
            </a:p>
          </p:txBody>
        </p:sp>
        <p:sp>
          <p:nvSpPr>
            <p:cNvPr id="60432" name="Line 29">
              <a:extLst>
                <a:ext uri="{FF2B5EF4-FFF2-40B4-BE49-F238E27FC236}">
                  <a16:creationId xmlns:a16="http://schemas.microsoft.com/office/drawing/2014/main" id="{2E771AD6-60E8-F240-A336-99E75BC20B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2208"/>
              <a:ext cx="480" cy="9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487" tIns="44450" rIns="90487" bIns="44450" anchor="ctr"/>
            <a:lstStyle/>
            <a:p>
              <a:endParaRPr lang="zh-CN" altLang="en-US"/>
            </a:p>
          </p:txBody>
        </p:sp>
        <p:sp>
          <p:nvSpPr>
            <p:cNvPr id="60433" name="Line 30">
              <a:extLst>
                <a:ext uri="{FF2B5EF4-FFF2-40B4-BE49-F238E27FC236}">
                  <a16:creationId xmlns:a16="http://schemas.microsoft.com/office/drawing/2014/main" id="{7D6F9103-E2C7-CC49-8287-20B108CAA8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2352"/>
              <a:ext cx="528" cy="38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487" tIns="44450" rIns="90487" bIns="44450" anchor="ctr"/>
            <a:lstStyle/>
            <a:p>
              <a:endParaRPr lang="zh-CN" altLang="en-US"/>
            </a:p>
          </p:txBody>
        </p:sp>
        <p:sp>
          <p:nvSpPr>
            <p:cNvPr id="60434" name="Line 31">
              <a:extLst>
                <a:ext uri="{FF2B5EF4-FFF2-40B4-BE49-F238E27FC236}">
                  <a16:creationId xmlns:a16="http://schemas.microsoft.com/office/drawing/2014/main" id="{524B66A3-42E5-B346-B11A-88220929778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60" y="2832"/>
              <a:ext cx="528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487" tIns="44450" rIns="90487" bIns="44450" anchor="ctr"/>
            <a:lstStyle/>
            <a:p>
              <a:endParaRPr lang="zh-CN" altLang="en-US"/>
            </a:p>
          </p:txBody>
        </p:sp>
        <p:sp>
          <p:nvSpPr>
            <p:cNvPr id="60435" name="Line 32">
              <a:extLst>
                <a:ext uri="{FF2B5EF4-FFF2-40B4-BE49-F238E27FC236}">
                  <a16:creationId xmlns:a16="http://schemas.microsoft.com/office/drawing/2014/main" id="{C37CBFCC-C305-9941-97B1-FFFA1CB0D1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3312"/>
              <a:ext cx="528" cy="19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487" tIns="44450" rIns="90487" bIns="44450" anchor="ctr"/>
            <a:lstStyle/>
            <a:p>
              <a:endParaRPr lang="zh-CN" altLang="en-US"/>
            </a:p>
          </p:txBody>
        </p:sp>
        <p:sp>
          <p:nvSpPr>
            <p:cNvPr id="60436" name="Line 33">
              <a:extLst>
                <a:ext uri="{FF2B5EF4-FFF2-40B4-BE49-F238E27FC236}">
                  <a16:creationId xmlns:a16="http://schemas.microsoft.com/office/drawing/2014/main" id="{DA0C0C75-7E9B-E74D-BDBC-CEF7954620A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4" y="1824"/>
              <a:ext cx="14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487" tIns="44450" rIns="90487" bIns="44450" anchor="ctr"/>
            <a:lstStyle/>
            <a:p>
              <a:endParaRPr lang="zh-CN" altLang="en-US"/>
            </a:p>
          </p:txBody>
        </p:sp>
        <p:sp>
          <p:nvSpPr>
            <p:cNvPr id="60437" name="Line 34">
              <a:extLst>
                <a:ext uri="{FF2B5EF4-FFF2-40B4-BE49-F238E27FC236}">
                  <a16:creationId xmlns:a16="http://schemas.microsoft.com/office/drawing/2014/main" id="{1D693AD0-FED6-9441-99B8-E86D944E1D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" y="1824"/>
              <a:ext cx="0" cy="28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487" tIns="44450" rIns="90487" bIns="44450" anchor="ctr"/>
            <a:lstStyle/>
            <a:p>
              <a:endParaRPr lang="zh-CN" altLang="en-US"/>
            </a:p>
          </p:txBody>
        </p:sp>
        <p:sp>
          <p:nvSpPr>
            <p:cNvPr id="60438" name="Line 35">
              <a:extLst>
                <a:ext uri="{FF2B5EF4-FFF2-40B4-BE49-F238E27FC236}">
                  <a16:creationId xmlns:a16="http://schemas.microsoft.com/office/drawing/2014/main" id="{D523FFE5-B84B-7C4B-867C-3D9D350F23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" y="2112"/>
              <a:ext cx="14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487" tIns="44450" rIns="90487" bIns="44450" anchor="ctr"/>
            <a:lstStyle/>
            <a:p>
              <a:endParaRPr lang="zh-CN" altLang="en-US"/>
            </a:p>
          </p:txBody>
        </p:sp>
        <p:sp>
          <p:nvSpPr>
            <p:cNvPr id="60439" name="Line 36">
              <a:extLst>
                <a:ext uri="{FF2B5EF4-FFF2-40B4-BE49-F238E27FC236}">
                  <a16:creationId xmlns:a16="http://schemas.microsoft.com/office/drawing/2014/main" id="{6895CADF-D02A-A640-B42B-D80F58639EA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4" y="2784"/>
              <a:ext cx="14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487" tIns="44450" rIns="90487" bIns="44450" anchor="ctr"/>
            <a:lstStyle/>
            <a:p>
              <a:endParaRPr lang="zh-CN" altLang="en-US"/>
            </a:p>
          </p:txBody>
        </p:sp>
        <p:sp>
          <p:nvSpPr>
            <p:cNvPr id="60440" name="Line 37">
              <a:extLst>
                <a:ext uri="{FF2B5EF4-FFF2-40B4-BE49-F238E27FC236}">
                  <a16:creationId xmlns:a16="http://schemas.microsoft.com/office/drawing/2014/main" id="{F4F1014B-B1BF-DF46-A099-5CB1F0FB62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" y="2784"/>
              <a:ext cx="0" cy="28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487" tIns="44450" rIns="90487" bIns="44450" anchor="ctr"/>
            <a:lstStyle/>
            <a:p>
              <a:endParaRPr lang="zh-CN" altLang="en-US"/>
            </a:p>
          </p:txBody>
        </p:sp>
        <p:sp>
          <p:nvSpPr>
            <p:cNvPr id="60441" name="Line 38">
              <a:extLst>
                <a:ext uri="{FF2B5EF4-FFF2-40B4-BE49-F238E27FC236}">
                  <a16:creationId xmlns:a16="http://schemas.microsoft.com/office/drawing/2014/main" id="{701E7F68-7969-BE45-9ACD-E6225A01D1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" y="3072"/>
              <a:ext cx="14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487" tIns="44450" rIns="90487" bIns="44450" anchor="ctr"/>
            <a:lstStyle/>
            <a:p>
              <a:endParaRPr lang="zh-CN" altLang="en-US"/>
            </a:p>
          </p:txBody>
        </p:sp>
        <p:sp>
          <p:nvSpPr>
            <p:cNvPr id="60442" name="Text Box 39">
              <a:extLst>
                <a:ext uri="{FF2B5EF4-FFF2-40B4-BE49-F238E27FC236}">
                  <a16:creationId xmlns:a16="http://schemas.microsoft.com/office/drawing/2014/main" id="{F02A1544-10F0-4F42-8380-E4544F87C5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55" y="3790"/>
              <a:ext cx="176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FontTx/>
                <a:buNone/>
              </a:pPr>
              <a:r>
                <a:rPr kumimoji="0" lang="zh-CN" altLang="en-US" sz="1400">
                  <a:solidFill>
                    <a:schemeClr val="tx2"/>
                  </a:solidFill>
                  <a:latin typeface="Helvetica" pitchFamily="2" charset="0"/>
                </a:rPr>
                <a:t>0</a:t>
              </a:r>
            </a:p>
          </p:txBody>
        </p:sp>
        <p:sp>
          <p:nvSpPr>
            <p:cNvPr id="60443" name="Line 41">
              <a:extLst>
                <a:ext uri="{FF2B5EF4-FFF2-40B4-BE49-F238E27FC236}">
                  <a16:creationId xmlns:a16="http://schemas.microsoft.com/office/drawing/2014/main" id="{C9C76331-B09F-D642-89E6-021D6BA872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" y="3072"/>
              <a:ext cx="52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487" tIns="44450" rIns="90487" bIns="44450" anchor="ctr"/>
            <a:lstStyle/>
            <a:p>
              <a:endParaRPr lang="zh-CN" altLang="en-US"/>
            </a:p>
          </p:txBody>
        </p:sp>
        <p:sp>
          <p:nvSpPr>
            <p:cNvPr id="60444" name="Text Box 42">
              <a:extLst>
                <a:ext uri="{FF2B5EF4-FFF2-40B4-BE49-F238E27FC236}">
                  <a16:creationId xmlns:a16="http://schemas.microsoft.com/office/drawing/2014/main" id="{4D910084-52BB-9043-B552-B463E00338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23" y="2925"/>
              <a:ext cx="418" cy="2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FontTx/>
                <a:buNone/>
              </a:pPr>
              <a:r>
                <a:rPr kumimoji="0" lang="en-US" altLang="zh-CN" sz="1600">
                  <a:solidFill>
                    <a:schemeClr val="tx2"/>
                  </a:solidFill>
                  <a:latin typeface="Helvetica" pitchFamily="2" charset="0"/>
                </a:rPr>
                <a:t>write</a:t>
              </a:r>
            </a:p>
          </p:txBody>
        </p:sp>
        <p:sp>
          <p:nvSpPr>
            <p:cNvPr id="60445" name="Line 43">
              <a:extLst>
                <a:ext uri="{FF2B5EF4-FFF2-40B4-BE49-F238E27FC236}">
                  <a16:creationId xmlns:a16="http://schemas.microsoft.com/office/drawing/2014/main" id="{092EDB10-187C-4A48-A6C7-B0407196AE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" y="2595"/>
              <a:ext cx="52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487" tIns="44450" rIns="90487" bIns="44450" anchor="ctr"/>
            <a:lstStyle/>
            <a:p>
              <a:endParaRPr lang="zh-CN" altLang="en-US"/>
            </a:p>
          </p:txBody>
        </p:sp>
        <p:sp>
          <p:nvSpPr>
            <p:cNvPr id="60446" name="Text Box 44">
              <a:extLst>
                <a:ext uri="{FF2B5EF4-FFF2-40B4-BE49-F238E27FC236}">
                  <a16:creationId xmlns:a16="http://schemas.microsoft.com/office/drawing/2014/main" id="{BDDA8A13-4C40-4642-BEDE-8267AD5F01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23" y="2445"/>
              <a:ext cx="384" cy="2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FontTx/>
                <a:buNone/>
              </a:pPr>
              <a:r>
                <a:rPr kumimoji="0" lang="en-US" altLang="zh-CN" sz="1600">
                  <a:solidFill>
                    <a:schemeClr val="tx2"/>
                  </a:solidFill>
                  <a:latin typeface="Helvetica" pitchFamily="2" charset="0"/>
                </a:rPr>
                <a:t>read</a:t>
              </a:r>
            </a:p>
          </p:txBody>
        </p:sp>
        <p:sp>
          <p:nvSpPr>
            <p:cNvPr id="60447" name="Line 45">
              <a:extLst>
                <a:ext uri="{FF2B5EF4-FFF2-40B4-BE49-F238E27FC236}">
                  <a16:creationId xmlns:a16="http://schemas.microsoft.com/office/drawing/2014/main" id="{C8CE6019-953D-EB4E-A788-CC166B004E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" y="2070"/>
              <a:ext cx="52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487" tIns="44450" rIns="90487" bIns="44450" anchor="ctr"/>
            <a:lstStyle/>
            <a:p>
              <a:endParaRPr lang="zh-CN" altLang="en-US"/>
            </a:p>
          </p:txBody>
        </p:sp>
        <p:sp>
          <p:nvSpPr>
            <p:cNvPr id="60448" name="Text Box 46">
              <a:extLst>
                <a:ext uri="{FF2B5EF4-FFF2-40B4-BE49-F238E27FC236}">
                  <a16:creationId xmlns:a16="http://schemas.microsoft.com/office/drawing/2014/main" id="{6894D360-7245-474E-B595-2F9B5D96F3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23" y="1920"/>
              <a:ext cx="384" cy="2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FontTx/>
                <a:buNone/>
              </a:pPr>
              <a:r>
                <a:rPr kumimoji="0" lang="en-US" altLang="zh-CN" sz="1600">
                  <a:solidFill>
                    <a:schemeClr val="tx2"/>
                  </a:solidFill>
                  <a:latin typeface="Helvetica" pitchFamily="2" charset="0"/>
                </a:rPr>
                <a:t>read</a:t>
              </a:r>
            </a:p>
          </p:txBody>
        </p:sp>
        <p:sp>
          <p:nvSpPr>
            <p:cNvPr id="60449" name="Oval 47">
              <a:extLst>
                <a:ext uri="{FF2B5EF4-FFF2-40B4-BE49-F238E27FC236}">
                  <a16:creationId xmlns:a16="http://schemas.microsoft.com/office/drawing/2014/main" id="{765A7690-33F4-5C44-A36E-F6E1FEA035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8" y="1776"/>
              <a:ext cx="192" cy="19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30000"/>
                </a:spcBef>
                <a:buFontTx/>
                <a:buNone/>
              </a:pPr>
              <a:r>
                <a:rPr kumimoji="0" lang="zh-CN" altLang="en-US" sz="2400">
                  <a:solidFill>
                    <a:schemeClr val="tx2"/>
                  </a:solidFill>
                  <a:latin typeface="Helvetica" pitchFamily="2" charset="0"/>
                </a:rPr>
                <a:t>1</a:t>
              </a:r>
            </a:p>
          </p:txBody>
        </p:sp>
        <p:sp>
          <p:nvSpPr>
            <p:cNvPr id="60450" name="Oval 48">
              <a:extLst>
                <a:ext uri="{FF2B5EF4-FFF2-40B4-BE49-F238E27FC236}">
                  <a16:creationId xmlns:a16="http://schemas.microsoft.com/office/drawing/2014/main" id="{C947A440-2A94-2B48-8EB7-E915A99DF6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8" y="2736"/>
              <a:ext cx="192" cy="19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30000"/>
                </a:spcBef>
                <a:buFontTx/>
                <a:buNone/>
              </a:pPr>
              <a:r>
                <a:rPr kumimoji="0" lang="zh-CN" altLang="en-US" sz="2400">
                  <a:solidFill>
                    <a:schemeClr val="tx2"/>
                  </a:solidFill>
                  <a:latin typeface="Helvetica" pitchFamily="2" charset="0"/>
                </a:rPr>
                <a:t>2</a:t>
              </a:r>
            </a:p>
          </p:txBody>
        </p:sp>
        <p:sp>
          <p:nvSpPr>
            <p:cNvPr id="60451" name="Oval 49">
              <a:extLst>
                <a:ext uri="{FF2B5EF4-FFF2-40B4-BE49-F238E27FC236}">
                  <a16:creationId xmlns:a16="http://schemas.microsoft.com/office/drawing/2014/main" id="{D2A2E804-B8C7-B04B-8A03-69A367BCAB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8" y="2256"/>
              <a:ext cx="192" cy="19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omic Sans MS" panose="030F0902030302020204" pitchFamily="66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30000"/>
                </a:spcBef>
                <a:buFontTx/>
                <a:buNone/>
              </a:pPr>
              <a:r>
                <a:rPr kumimoji="0" lang="zh-CN" altLang="en-US" sz="2400">
                  <a:solidFill>
                    <a:schemeClr val="tx2"/>
                  </a:solidFill>
                  <a:latin typeface="Helvetica" pitchFamily="2" charset="0"/>
                </a:rPr>
                <a:t>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7761881"/>
      </p:ext>
    </p:extLst>
  </p:cSld>
  <p:clrMapOvr>
    <a:masterClrMapping/>
  </p:clrMapOvr>
</p:sld>
</file>

<file path=ppt/theme/theme1.xml><?xml version="1.0" encoding="utf-8"?>
<a:theme xmlns:a="http://schemas.openxmlformats.org/drawingml/2006/main" name="icfp99">
  <a:themeElements>
    <a:clrScheme name="icfp99 8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FF"/>
      </a:hlink>
      <a:folHlink>
        <a:srgbClr val="B2B2B2"/>
      </a:folHlink>
    </a:clrScheme>
    <a:fontScheme name="icfp99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宋体" pitchFamily="2" charset="-122"/>
          </a:defRPr>
        </a:defPPr>
      </a:lstStyle>
    </a:lnDef>
  </a:objectDefaults>
  <a:extraClrSchemeLst>
    <a:extraClrScheme>
      <a:clrScheme name="icfp99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cfp99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0000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Ocean</Template>
  <TotalTime>16934</TotalTime>
  <Words>6589</Words>
  <Application>Microsoft Macintosh PowerPoint</Application>
  <PresentationFormat>全屏显示(4:3)</PresentationFormat>
  <Paragraphs>2246</Paragraphs>
  <Slides>109</Slides>
  <Notes>48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109</vt:i4>
      </vt:variant>
    </vt:vector>
  </HeadingPairs>
  <TitlesOfParts>
    <vt:vector size="116" baseType="lpstr">
      <vt:lpstr>Calibri</vt:lpstr>
      <vt:lpstr>Comic Sans MS</vt:lpstr>
      <vt:lpstr>Courier New</vt:lpstr>
      <vt:lpstr>Helvetica</vt:lpstr>
      <vt:lpstr>Times New Roman</vt:lpstr>
      <vt:lpstr>Wingdings</vt:lpstr>
      <vt:lpstr>icfp99</vt:lpstr>
      <vt:lpstr>Virtual Memory (II)  Address Translation</vt:lpstr>
      <vt:lpstr>Outline</vt:lpstr>
      <vt:lpstr>Overview</vt:lpstr>
      <vt:lpstr>Overview</vt:lpstr>
      <vt:lpstr>Overview</vt:lpstr>
      <vt:lpstr>Overview</vt:lpstr>
      <vt:lpstr>Overview</vt:lpstr>
      <vt:lpstr>Overview</vt:lpstr>
      <vt:lpstr>Overview</vt:lpstr>
      <vt:lpstr>Overview</vt:lpstr>
      <vt:lpstr>Paging: Introduction</vt:lpstr>
      <vt:lpstr>Paging</vt:lpstr>
      <vt:lpstr>Paging</vt:lpstr>
      <vt:lpstr>Paging</vt:lpstr>
      <vt:lpstr>Paging</vt:lpstr>
      <vt:lpstr>Paging</vt:lpstr>
      <vt:lpstr>Paging</vt:lpstr>
      <vt:lpstr>Address Translation</vt:lpstr>
      <vt:lpstr>Address Translation</vt:lpstr>
      <vt:lpstr>Address Translation</vt:lpstr>
      <vt:lpstr>Address Translation</vt:lpstr>
      <vt:lpstr>Address Translation</vt:lpstr>
      <vt:lpstr>Address Translation via Page Table</vt:lpstr>
      <vt:lpstr>Simple Memory System Example</vt:lpstr>
      <vt:lpstr>Simple Memory System Page Table</vt:lpstr>
      <vt:lpstr>练习4-2：Address Translation</vt:lpstr>
      <vt:lpstr>练习4-2答案</vt:lpstr>
      <vt:lpstr>Simple Memory System Page Table</vt:lpstr>
      <vt:lpstr>练习4-3</vt:lpstr>
      <vt:lpstr>练习4-3答案</vt:lpstr>
      <vt:lpstr>Page Hit</vt:lpstr>
      <vt:lpstr>Page Faults</vt:lpstr>
      <vt:lpstr>Integrating Caches and VM</vt:lpstr>
      <vt:lpstr>Integrating Caches and VM</vt:lpstr>
      <vt:lpstr>Integrating Caches and VM</vt:lpstr>
      <vt:lpstr>PowerPoint 演示文稿</vt:lpstr>
      <vt:lpstr>Paging</vt:lpstr>
      <vt:lpstr>Paging</vt:lpstr>
      <vt:lpstr>Paging</vt:lpstr>
      <vt:lpstr>Paging</vt:lpstr>
      <vt:lpstr>Paging</vt:lpstr>
      <vt:lpstr>Paging</vt:lpstr>
      <vt:lpstr>Paging: Faster Translations (TLBs)</vt:lpstr>
      <vt:lpstr>Paging: Faster Translations (TLBs)</vt:lpstr>
      <vt:lpstr>Paging: Faster Translations (TLBs)</vt:lpstr>
      <vt:lpstr>PowerPoint 演示文稿</vt:lpstr>
      <vt:lpstr>PowerPoint 演示文稿</vt:lpstr>
      <vt:lpstr>Paging: Faster Translations (TLBs)</vt:lpstr>
      <vt:lpstr>Paging: Faster Translations (TLBs)</vt:lpstr>
      <vt:lpstr>Paging: Faster Translations (TLBs)</vt:lpstr>
      <vt:lpstr>Paging: Faster Translations (TLBs)</vt:lpstr>
      <vt:lpstr>Paging: Faster Translations (TLBs)</vt:lpstr>
      <vt:lpstr>Paging: Faster Translations (TLBs)</vt:lpstr>
      <vt:lpstr>Paging: Faster Translations (TLBs)</vt:lpstr>
      <vt:lpstr>Paging: Faster Translations (TLBs)</vt:lpstr>
      <vt:lpstr>Address Translation</vt:lpstr>
      <vt:lpstr>Paging: Faster Translations (TLBs)</vt:lpstr>
      <vt:lpstr>PowerPoint 演示文稿</vt:lpstr>
      <vt:lpstr>练习2-4</vt:lpstr>
      <vt:lpstr>练习2-4答案</vt:lpstr>
      <vt:lpstr>PowerPoint 演示文稿</vt:lpstr>
      <vt:lpstr>练习2-4答案</vt:lpstr>
      <vt:lpstr>Simple Memory System Cache</vt:lpstr>
      <vt:lpstr>练习2-5</vt:lpstr>
      <vt:lpstr>练习2-5答案</vt:lpstr>
      <vt:lpstr>Simple Memory System Cache</vt:lpstr>
      <vt:lpstr>Address Translation Example</vt:lpstr>
      <vt:lpstr>Paging: Faster Translations (TLBs)</vt:lpstr>
      <vt:lpstr>Paging: Faster Translations (TLBs)</vt:lpstr>
      <vt:lpstr>Paging: Faster Translations (TLBs)</vt:lpstr>
      <vt:lpstr>Paging: Faster Translations (TLBs)</vt:lpstr>
      <vt:lpstr>Paging: Faster Translations (TLBs)</vt:lpstr>
      <vt:lpstr>Paging: Faster Translations (TLBs)</vt:lpstr>
      <vt:lpstr>Paging: Faster Translations (TLBs)</vt:lpstr>
      <vt:lpstr>Paging: Faster Translations (TLBs)</vt:lpstr>
      <vt:lpstr>进程与地址翻译</vt:lpstr>
      <vt:lpstr>进程与地址翻译</vt:lpstr>
      <vt:lpstr>Paging: Smaller Tables </vt:lpstr>
      <vt:lpstr>Paging: Smaller Tables </vt:lpstr>
      <vt:lpstr>Paging: Smaller Tables </vt:lpstr>
      <vt:lpstr>Paging: Smaller Tables </vt:lpstr>
      <vt:lpstr>Paging: Smaller Tables </vt:lpstr>
      <vt:lpstr>Paging: Smaller Tables </vt:lpstr>
      <vt:lpstr>Paging: Smaller Tables </vt:lpstr>
      <vt:lpstr>Paging: Smaller Tables </vt:lpstr>
      <vt:lpstr>Paging: Smaller Tables </vt:lpstr>
      <vt:lpstr>Paging: Smaller Tables </vt:lpstr>
      <vt:lpstr>Paging: Smaller Tables </vt:lpstr>
      <vt:lpstr>Multi-Level Page Tables: 中间可以有空洞</vt:lpstr>
      <vt:lpstr>Paging: Smaller Tables </vt:lpstr>
      <vt:lpstr>Paging: Smaller Tables </vt:lpstr>
      <vt:lpstr>Paging: Smaller Tables </vt:lpstr>
      <vt:lpstr>Paging: Smaller Tables </vt:lpstr>
      <vt:lpstr>Paging: Smaller Tables </vt:lpstr>
      <vt:lpstr>Paging: Smaller Tables </vt:lpstr>
      <vt:lpstr>Paging: Smaller Tables </vt:lpstr>
      <vt:lpstr>课堂练习</vt:lpstr>
      <vt:lpstr>练习答案</vt:lpstr>
      <vt:lpstr>Intel Core i7 Memory System</vt:lpstr>
      <vt:lpstr>Review of Symbols</vt:lpstr>
      <vt:lpstr>End-to-end Core i7 Address Translation</vt:lpstr>
      <vt:lpstr>Core i7 Level 4 Page Table Entries</vt:lpstr>
      <vt:lpstr>Core i7 Page Table Translation</vt:lpstr>
      <vt:lpstr>Cute Trick for Speeding Up L1 Access</vt:lpstr>
      <vt:lpstr>Linux Virtual Memory System</vt:lpstr>
      <vt:lpstr>Linux organizes VM as a collection of “areas”</vt:lpstr>
      <vt:lpstr>Linux organizes VM as a collection of “areas”</vt:lpstr>
      <vt:lpstr>Linux page fault handling</vt:lpstr>
      <vt:lpstr>Linux page fault handling</vt:lpstr>
    </vt:vector>
  </TitlesOfParts>
  <Company>Digital Integrity, Inc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Computer Systems</dc:title>
  <dc:creator>Binyu Zang</dc:creator>
  <cp:lastModifiedBy>7025</cp:lastModifiedBy>
  <cp:revision>822</cp:revision>
  <dcterms:created xsi:type="dcterms:W3CDTF">2000-01-15T07:54:11Z</dcterms:created>
  <dcterms:modified xsi:type="dcterms:W3CDTF">2021-11-07T00:52:16Z</dcterms:modified>
</cp:coreProperties>
</file>