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6"/>
  </p:notesMasterIdLst>
  <p:handoutMasterIdLst>
    <p:handoutMasterId r:id="rId67"/>
  </p:handoutMasterIdLst>
  <p:sldIdLst>
    <p:sldId id="956" r:id="rId2"/>
    <p:sldId id="1308" r:id="rId3"/>
    <p:sldId id="1309" r:id="rId4"/>
    <p:sldId id="1310" r:id="rId5"/>
    <p:sldId id="1311" r:id="rId6"/>
    <p:sldId id="1312" r:id="rId7"/>
    <p:sldId id="1313" r:id="rId8"/>
    <p:sldId id="1340" r:id="rId9"/>
    <p:sldId id="1379" r:id="rId10"/>
    <p:sldId id="1380" r:id="rId11"/>
    <p:sldId id="1381" r:id="rId12"/>
    <p:sldId id="1314" r:id="rId13"/>
    <p:sldId id="1315" r:id="rId14"/>
    <p:sldId id="1383" r:id="rId15"/>
    <p:sldId id="1316" r:id="rId16"/>
    <p:sldId id="1382" r:id="rId17"/>
    <p:sldId id="1317" r:id="rId18"/>
    <p:sldId id="1318" r:id="rId19"/>
    <p:sldId id="1319" r:id="rId20"/>
    <p:sldId id="1320" r:id="rId21"/>
    <p:sldId id="1322" r:id="rId22"/>
    <p:sldId id="1323" r:id="rId23"/>
    <p:sldId id="1341" r:id="rId24"/>
    <p:sldId id="1325" r:id="rId25"/>
    <p:sldId id="1326" r:id="rId26"/>
    <p:sldId id="1327" r:id="rId27"/>
    <p:sldId id="1328" r:id="rId28"/>
    <p:sldId id="1329" r:id="rId29"/>
    <p:sldId id="1330" r:id="rId30"/>
    <p:sldId id="1448" r:id="rId31"/>
    <p:sldId id="1331" r:id="rId32"/>
    <p:sldId id="1332" r:id="rId33"/>
    <p:sldId id="1334" r:id="rId34"/>
    <p:sldId id="1335" r:id="rId35"/>
    <p:sldId id="1336" r:id="rId36"/>
    <p:sldId id="1441" r:id="rId37"/>
    <p:sldId id="1337" r:id="rId38"/>
    <p:sldId id="1338" r:id="rId39"/>
    <p:sldId id="1339" r:id="rId40"/>
    <p:sldId id="1342" r:id="rId41"/>
    <p:sldId id="1343" r:id="rId42"/>
    <p:sldId id="1344" r:id="rId43"/>
    <p:sldId id="1345" r:id="rId44"/>
    <p:sldId id="1346" r:id="rId45"/>
    <p:sldId id="1333" r:id="rId46"/>
    <p:sldId id="1347" r:id="rId47"/>
    <p:sldId id="1348" r:id="rId48"/>
    <p:sldId id="1385" r:id="rId49"/>
    <p:sldId id="1386" r:id="rId50"/>
    <p:sldId id="1349" r:id="rId51"/>
    <p:sldId id="1350" r:id="rId52"/>
    <p:sldId id="1351" r:id="rId53"/>
    <p:sldId id="1352" r:id="rId54"/>
    <p:sldId id="1353" r:id="rId55"/>
    <p:sldId id="1354" r:id="rId56"/>
    <p:sldId id="1355" r:id="rId57"/>
    <p:sldId id="1361" r:id="rId58"/>
    <p:sldId id="1455" r:id="rId59"/>
    <p:sldId id="1449" r:id="rId60"/>
    <p:sldId id="1450" r:id="rId61"/>
    <p:sldId id="1451" r:id="rId62"/>
    <p:sldId id="1454" r:id="rId63"/>
    <p:sldId id="1452" r:id="rId64"/>
    <p:sldId id="1453" r:id="rId6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Comic Sans MS" charset="0"/>
        <a:ea typeface="宋体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207" autoAdjust="0"/>
    <p:restoredTop sz="91020" autoAdjust="0"/>
  </p:normalViewPr>
  <p:slideViewPr>
    <p:cSldViewPr>
      <p:cViewPr varScale="1">
        <p:scale>
          <a:sx n="116" d="100"/>
          <a:sy n="116" d="100"/>
        </p:scale>
        <p:origin x="266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52.xml"/><Relationship Id="rId3" Type="http://schemas.openxmlformats.org/officeDocument/2006/relationships/slide" Target="slides/slide40.xml"/><Relationship Id="rId7" Type="http://schemas.openxmlformats.org/officeDocument/2006/relationships/slide" Target="slides/slide47.xml"/><Relationship Id="rId12" Type="http://schemas.openxmlformats.org/officeDocument/2006/relationships/slide" Target="slides/slide56.xml"/><Relationship Id="rId2" Type="http://schemas.openxmlformats.org/officeDocument/2006/relationships/slide" Target="slides/slide32.xml"/><Relationship Id="rId1" Type="http://schemas.openxmlformats.org/officeDocument/2006/relationships/slide" Target="slides/slide31.xml"/><Relationship Id="rId6" Type="http://schemas.openxmlformats.org/officeDocument/2006/relationships/slide" Target="slides/slide46.xml"/><Relationship Id="rId11" Type="http://schemas.openxmlformats.org/officeDocument/2006/relationships/slide" Target="slides/slide55.xml"/><Relationship Id="rId5" Type="http://schemas.openxmlformats.org/officeDocument/2006/relationships/slide" Target="slides/slide45.xml"/><Relationship Id="rId10" Type="http://schemas.openxmlformats.org/officeDocument/2006/relationships/slide" Target="slides/slide54.xml"/><Relationship Id="rId4" Type="http://schemas.openxmlformats.org/officeDocument/2006/relationships/slide" Target="slides/slide42.xml"/><Relationship Id="rId9" Type="http://schemas.openxmlformats.org/officeDocument/2006/relationships/slide" Target="slides/slide5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kumimoji="1" sz="1200"/>
            </a:lvl1pPr>
          </a:lstStyle>
          <a:p>
            <a:pPr>
              <a:defRPr/>
            </a:pPr>
            <a:fld id="{A817D7CF-9658-F447-A790-AFD7978B7D4C}" type="datetimeFigureOut">
              <a:rPr lang="zh-CN" altLang="en-US"/>
              <a:pPr>
                <a:defRPr/>
              </a:pPr>
              <a:t>2021/11/6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kumimoji="1"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kumimoji="1" sz="1200"/>
            </a:lvl1pPr>
          </a:lstStyle>
          <a:p>
            <a:pPr>
              <a:defRPr/>
            </a:pPr>
            <a:fld id="{16967DE7-238F-3B43-A516-03C837547FAC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EA8A32D-AA4F-CC47-A472-66F1828E70D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E869D8D7-7EC4-704F-9D8B-78520C3B21C5}" type="slidenum">
              <a:rPr lang="zh-CN" altLang="en-US" sz="1200" b="0">
                <a:latin typeface="Times New Roman" charset="0"/>
              </a:rPr>
              <a:pPr/>
              <a:t>1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8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 dirty="0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9FEEB000-27AE-D64B-878A-477C46CEE9E9}" type="slidenum">
              <a:rPr lang="zh-CN" altLang="en-US" sz="1200" b="0">
                <a:latin typeface="Times New Roman" charset="0"/>
              </a:rPr>
              <a:pPr/>
              <a:t>2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58B21907-9E4B-ED49-86DD-EDA0B747D964}" type="slidenum">
              <a:rPr lang="zh-CN" altLang="en-US" sz="1200" b="0">
                <a:latin typeface="Times New Roman" charset="0"/>
              </a:rPr>
              <a:pPr/>
              <a:t>3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984B3489-9E7B-0345-8A01-D274B1A4501E}" type="slidenum">
              <a:rPr lang="zh-CN" altLang="en-US" sz="1200" b="0">
                <a:latin typeface="Times New Roman" charset="0"/>
              </a:rPr>
              <a:pPr/>
              <a:t>4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A2646B77-1003-0343-81E5-16D360A48B6E}" type="slidenum">
              <a:rPr lang="zh-CN" altLang="en-US" sz="1200" b="0">
                <a:latin typeface="Times New Roman" charset="0"/>
              </a:rPr>
              <a:pPr/>
              <a:t>5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7205F8AE-362D-0C43-A89E-FD46A1914258}" type="slidenum">
              <a:rPr lang="zh-CN" altLang="en-US" sz="1200" b="0">
                <a:latin typeface="Times New Roman" charset="0"/>
              </a:rPr>
              <a:pPr/>
              <a:t>6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4AFEDBBA-4A1F-864A-BCF0-8689BAD4CEB8}" type="slidenum">
              <a:rPr lang="zh-CN" altLang="en-US" sz="1200" b="0">
                <a:latin typeface="Times New Roman" charset="0"/>
              </a:rPr>
              <a:pPr/>
              <a:t>7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813BFC82-1ED1-4340-ACE0-D66EFE5F4269}" type="slidenum">
              <a:rPr lang="zh-CN" altLang="en-US" sz="1200" b="0">
                <a:latin typeface="Times New Roman" charset="0"/>
              </a:rPr>
              <a:pPr/>
              <a:t>12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EF13A81C-EFD1-1844-99E3-75294ED3C30D}" type="slidenum">
              <a:rPr lang="zh-CN" altLang="en-US" sz="1200" b="0">
                <a:latin typeface="Times New Roman" charset="0"/>
              </a:rPr>
              <a:pPr/>
              <a:t>13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9E88AB7E-4A81-814E-81CB-C1737C367D03}" type="slidenum">
              <a:rPr lang="zh-CN" altLang="en-US" sz="1200" b="0">
                <a:latin typeface="Times New Roman" charset="0"/>
              </a:rPr>
              <a:pPr/>
              <a:t>15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C7458B5C-367F-934B-90D2-A100A7EFB46A}" type="slidenum">
              <a:rPr lang="zh-CN" altLang="en-US" sz="1200" b="0">
                <a:latin typeface="Times New Roman" charset="0"/>
              </a:rPr>
              <a:pPr/>
              <a:t>17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33CF8CA7-C84A-E144-A9DC-A94E02EA843B}" type="slidenum">
              <a:rPr lang="zh-CN" altLang="en-US" sz="1200" b="0">
                <a:latin typeface="Times New Roman" charset="0"/>
              </a:rPr>
              <a:pPr/>
              <a:t>18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F96301F2-97C6-984C-941D-47DF7A7381E8}" type="slidenum">
              <a:rPr lang="zh-CN" altLang="en-US" sz="1200" b="0">
                <a:latin typeface="Times New Roman" charset="0"/>
              </a:rPr>
              <a:pPr/>
              <a:t>19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D828D4A1-D1AB-5444-957C-6BA1833104A3}" type="slidenum">
              <a:rPr lang="zh-CN" altLang="en-US" sz="1200" b="0">
                <a:latin typeface="Times New Roman" charset="0"/>
              </a:rPr>
              <a:pPr/>
              <a:t>20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51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B2D16E7F-366D-F047-860E-1DC486B6FDDE}" type="slidenum">
              <a:rPr lang="zh-CN" altLang="en-US" sz="1200" b="0">
                <a:latin typeface="Times New Roman" charset="0"/>
              </a:rPr>
              <a:pPr/>
              <a:t>21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583CA225-49E7-0548-B0E0-8D9E87974394}" type="slidenum">
              <a:rPr lang="zh-CN" altLang="en-US" sz="1200" b="0">
                <a:latin typeface="Times New Roman" charset="0"/>
              </a:rPr>
              <a:pPr/>
              <a:t>22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9372B548-35E4-514B-BFEC-90DBC24D8A17}" type="slidenum">
              <a:rPr lang="zh-CN" altLang="en-US" sz="1200" b="0">
                <a:latin typeface="Times New Roman" charset="0"/>
              </a:rPr>
              <a:pPr/>
              <a:t>23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EEA3B0ED-6B83-054C-B329-F32FA949BE69}" type="slidenum">
              <a:rPr lang="zh-CN" altLang="en-US" sz="1200" b="0">
                <a:latin typeface="Times New Roman" charset="0"/>
              </a:rPr>
              <a:pPr/>
              <a:t>24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9FFE5E8B-C06E-F945-AAA5-EA663CC067DD}" type="slidenum">
              <a:rPr lang="zh-CN" altLang="en-US" sz="1200" b="0">
                <a:latin typeface="Times New Roman" charset="0"/>
              </a:rPr>
              <a:pPr/>
              <a:t>25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492BB6CB-9FB0-4241-A295-155FEF7E212B}" type="slidenum">
              <a:rPr lang="zh-CN" altLang="en-US" sz="1200" b="0">
                <a:latin typeface="Times New Roman" charset="0"/>
              </a:rPr>
              <a:pPr/>
              <a:t>26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E32A730A-4362-FE44-B6FA-D502379527C9}" type="slidenum">
              <a:rPr lang="zh-CN" altLang="en-US" sz="1200" b="0">
                <a:latin typeface="Times New Roman" charset="0"/>
              </a:rPr>
              <a:pPr/>
              <a:t>27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4CB31FC0-846D-4948-9D2E-25479B35CE10}" type="slidenum">
              <a:rPr lang="zh-CN" altLang="en-US" sz="1200" b="0">
                <a:latin typeface="Times New Roman" charset="0"/>
              </a:rPr>
              <a:pPr/>
              <a:t>28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675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75C190FA-8C5F-EA48-9632-8C087A5705B3}" type="slidenum">
              <a:rPr lang="zh-CN" altLang="en-US" sz="1200" b="0">
                <a:latin typeface="Times New Roman" charset="0"/>
              </a:rPr>
              <a:pPr/>
              <a:t>29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696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18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363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3FD1CB91-F4F3-6D4B-93D2-7D06B1ADEC03}" type="slidenum">
              <a:rPr lang="zh-CN" altLang="en-US" sz="1200" b="0">
                <a:latin typeface="Times New Roman" charset="0"/>
              </a:rPr>
              <a:pPr/>
              <a:t>31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C1B61476-E520-9E4E-818F-02385B4F969A}" type="slidenum">
              <a:rPr lang="zh-CN" altLang="en-US" sz="1200" b="0">
                <a:latin typeface="Times New Roman" charset="0"/>
              </a:rPr>
              <a:pPr/>
              <a:t>32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737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E8B5A5CA-BA64-E944-82FD-B22E26846738}" type="slidenum">
              <a:rPr lang="zh-CN" altLang="en-US" sz="1200" b="0">
                <a:latin typeface="Times New Roman" charset="0"/>
              </a:rPr>
              <a:pPr/>
              <a:t>33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757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3864447E-3251-A84C-B0CE-0CC665DA65EF}" type="slidenum">
              <a:rPr lang="zh-CN" altLang="en-US" sz="1200" b="0">
                <a:latin typeface="Times New Roman" charset="0"/>
              </a:rPr>
              <a:pPr/>
              <a:t>34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778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00244AEF-7213-374D-9C1B-AB222CF48A6C}" type="slidenum">
              <a:rPr lang="zh-CN" altLang="en-US" sz="1200" b="0">
                <a:latin typeface="Times New Roman" charset="0"/>
              </a:rPr>
              <a:pPr/>
              <a:t>35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798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07F84A73-1BA3-1C44-8C17-0B61F6597B7D}" type="slidenum">
              <a:rPr lang="zh-CN" altLang="en-US" sz="1200" b="0">
                <a:latin typeface="Times New Roman" charset="0"/>
              </a:rPr>
              <a:pPr/>
              <a:t>37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A175B7DD-9B9F-BE44-8674-093BA0E0EB20}" type="slidenum">
              <a:rPr lang="zh-CN" altLang="en-US" sz="1200" b="0">
                <a:latin typeface="Times New Roman" charset="0"/>
              </a:rPr>
              <a:pPr/>
              <a:t>38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ACBF87F4-D6D9-6942-A1FA-56936376ECC1}" type="slidenum">
              <a:rPr lang="zh-CN" altLang="en-US" sz="1200" b="0">
                <a:latin typeface="Times New Roman" charset="0"/>
              </a:rPr>
              <a:pPr/>
              <a:t>39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284F56A8-10C0-1448-9641-07D3110B1824}" type="slidenum">
              <a:rPr lang="zh-CN" altLang="en-US" sz="1200" b="0">
                <a:latin typeface="Times New Roman" charset="0"/>
              </a:rPr>
              <a:pPr/>
              <a:t>40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880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695A24EE-DE39-FD40-BBAB-0B2D3DB58B2A}" type="slidenum">
              <a:rPr lang="zh-CN" altLang="en-US" sz="1200" b="0">
                <a:latin typeface="Times New Roman" charset="0"/>
              </a:rPr>
              <a:pPr/>
              <a:t>41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901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36EC2594-1C4D-FD40-B640-9F2C584B6FA7}" type="slidenum">
              <a:rPr lang="zh-CN" altLang="en-US" sz="1200" b="0">
                <a:latin typeface="Times New Roman" charset="0"/>
              </a:rPr>
              <a:pPr/>
              <a:t>42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BE058963-6366-EC42-9025-20E5A66274DB}" type="slidenum">
              <a:rPr lang="zh-CN" altLang="en-US" sz="1200" b="0">
                <a:latin typeface="Times New Roman" charset="0"/>
              </a:rPr>
              <a:pPr/>
              <a:t>43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E8781922-222F-FB48-9FAC-03E1647EE425}" type="slidenum">
              <a:rPr lang="zh-CN" altLang="en-US" sz="1200" b="0">
                <a:latin typeface="Times New Roman" charset="0"/>
              </a:rPr>
              <a:pPr/>
              <a:t>44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D4490EB2-768E-D243-993E-F83227F2256D}" type="slidenum">
              <a:rPr lang="zh-CN" altLang="en-US" sz="1200" b="0">
                <a:latin typeface="Times New Roman" charset="0"/>
              </a:rPr>
              <a:pPr/>
              <a:t>45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983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B6BBA4B3-37A1-4A49-BEE5-83AD1832BEEF}" type="slidenum">
              <a:rPr lang="zh-CN" altLang="en-US" sz="1200" b="0">
                <a:latin typeface="Times New Roman" charset="0"/>
              </a:rPr>
              <a:pPr/>
              <a:t>46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A7212F89-8074-5D45-B785-48DFC254CB1E}" type="slidenum">
              <a:rPr lang="zh-CN" altLang="en-US" sz="1200" b="0">
                <a:latin typeface="Times New Roman" charset="0"/>
              </a:rPr>
              <a:pPr/>
              <a:t>47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幻灯片图像占位符 1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4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 dirty="0">
                <a:latin typeface="Times New Roman" charset="0"/>
                <a:ea typeface="宋体" charset="-122"/>
              </a:rPr>
              <a:t>要点</a:t>
            </a:r>
            <a:r>
              <a:rPr lang="en-US" altLang="zh-CN" dirty="0">
                <a:latin typeface="Times New Roman" charset="0"/>
                <a:ea typeface="宋体" charset="-122"/>
              </a:rPr>
              <a:t>1</a:t>
            </a:r>
            <a:r>
              <a:rPr lang="zh-CN" altLang="en-US" dirty="0">
                <a:latin typeface="Times New Roman" charset="0"/>
                <a:ea typeface="宋体" charset="-122"/>
              </a:rPr>
              <a:t>：进程进入阻塞（</a:t>
            </a:r>
            <a:r>
              <a:rPr lang="en-US" altLang="zh-CN" dirty="0">
                <a:latin typeface="Times New Roman" charset="0"/>
                <a:ea typeface="宋体" charset="-122"/>
              </a:rPr>
              <a:t>blocked</a:t>
            </a:r>
            <a:r>
              <a:rPr lang="zh-CN" altLang="en-US" dirty="0">
                <a:latin typeface="Times New Roman" charset="0"/>
                <a:ea typeface="宋体" charset="-122"/>
              </a:rPr>
              <a:t>）状态，还是可能会被信号唤醒，切换到</a:t>
            </a:r>
            <a:r>
              <a:rPr lang="en-US" altLang="zh-CN" dirty="0">
                <a:latin typeface="Times New Roman" charset="0"/>
                <a:ea typeface="宋体" charset="-122"/>
              </a:rPr>
              <a:t>handler</a:t>
            </a:r>
            <a:r>
              <a:rPr lang="zh-CN" altLang="en-US" dirty="0">
                <a:latin typeface="Times New Roman" charset="0"/>
                <a:ea typeface="宋体" charset="-122"/>
              </a:rPr>
              <a:t>处理信号的。</a:t>
            </a:r>
            <a:endParaRPr lang="en-US" altLang="zh-CN" dirty="0">
              <a:latin typeface="Times New Roman" charset="0"/>
              <a:ea typeface="宋体" charset="-122"/>
            </a:endParaRPr>
          </a:p>
          <a:p>
            <a:r>
              <a:rPr lang="zh-CN" altLang="en-US" dirty="0">
                <a:latin typeface="Times New Roman" charset="0"/>
                <a:ea typeface="宋体" charset="-122"/>
              </a:rPr>
              <a:t>要点</a:t>
            </a:r>
            <a:r>
              <a:rPr lang="en-US" altLang="zh-CN" dirty="0">
                <a:latin typeface="Times New Roman" charset="0"/>
                <a:ea typeface="宋体" charset="-122"/>
              </a:rPr>
              <a:t>2</a:t>
            </a:r>
            <a:r>
              <a:rPr lang="zh-CN" altLang="en-US" dirty="0">
                <a:latin typeface="Times New Roman" charset="0"/>
                <a:ea typeface="宋体" charset="-122"/>
              </a:rPr>
              <a:t>：同一个信号的</a:t>
            </a:r>
            <a:r>
              <a:rPr lang="en-US" altLang="zh-CN" dirty="0">
                <a:latin typeface="Times New Roman" charset="0"/>
                <a:ea typeface="宋体" charset="-122"/>
              </a:rPr>
              <a:t>handler</a:t>
            </a:r>
            <a:r>
              <a:rPr lang="zh-CN" altLang="en-US" dirty="0">
                <a:latin typeface="Times New Roman" charset="0"/>
                <a:ea typeface="宋体" charset="-122"/>
              </a:rPr>
              <a:t>再返回前不可再次调用，也就是进入信号处理</a:t>
            </a:r>
            <a:r>
              <a:rPr lang="en-US" altLang="zh-CN" dirty="0">
                <a:latin typeface="Times New Roman" charset="0"/>
                <a:ea typeface="宋体" charset="-122"/>
              </a:rPr>
              <a:t>handler</a:t>
            </a:r>
            <a:r>
              <a:rPr lang="zh-CN" altLang="en-US" dirty="0">
                <a:latin typeface="Times New Roman" charset="0"/>
                <a:ea typeface="宋体" charset="-122"/>
              </a:rPr>
              <a:t>的条件是之前同类信息信号的</a:t>
            </a:r>
            <a:r>
              <a:rPr lang="en-US" altLang="zh-CN" dirty="0">
                <a:latin typeface="Times New Roman" charset="0"/>
                <a:ea typeface="宋体" charset="-122"/>
              </a:rPr>
              <a:t>handler</a:t>
            </a:r>
            <a:r>
              <a:rPr lang="zh-CN" altLang="en-US" dirty="0">
                <a:latin typeface="Times New Roman" charset="0"/>
                <a:ea typeface="宋体" charset="-122"/>
              </a:rPr>
              <a:t>必须返回，才能再次进入</a:t>
            </a:r>
            <a:r>
              <a:rPr lang="en-US" altLang="zh-CN" dirty="0">
                <a:latin typeface="Times New Roman" charset="0"/>
                <a:ea typeface="宋体" charset="-122"/>
              </a:rPr>
              <a:t>handler</a:t>
            </a:r>
            <a:r>
              <a:rPr lang="zh-CN" altLang="en-US" dirty="0">
                <a:latin typeface="Times New Roman" charset="0"/>
                <a:ea typeface="宋体" charset="-122"/>
              </a:rPr>
              <a:t>。比如</a:t>
            </a:r>
            <a:r>
              <a:rPr lang="en-US" altLang="zh-CN" dirty="0">
                <a:latin typeface="Times New Roman" charset="0"/>
                <a:ea typeface="宋体" charset="-122"/>
              </a:rPr>
              <a:t>SIGUSR1</a:t>
            </a:r>
            <a:r>
              <a:rPr lang="zh-CN" altLang="en-US" dirty="0">
                <a:latin typeface="Times New Roman" charset="0"/>
                <a:ea typeface="宋体" charset="-122"/>
              </a:rPr>
              <a:t>的</a:t>
            </a:r>
            <a:r>
              <a:rPr lang="en-US" altLang="zh-CN" dirty="0">
                <a:latin typeface="Times New Roman" charset="0"/>
                <a:ea typeface="宋体" charset="-122"/>
              </a:rPr>
              <a:t>handler</a:t>
            </a:r>
            <a:r>
              <a:rPr lang="zh-CN" altLang="en-US" dirty="0">
                <a:latin typeface="Times New Roman" charset="0"/>
                <a:ea typeface="宋体" charset="-122"/>
              </a:rPr>
              <a:t>调用</a:t>
            </a:r>
            <a:r>
              <a:rPr lang="en-US" altLang="zh-CN" dirty="0">
                <a:latin typeface="Times New Roman" charset="0"/>
                <a:ea typeface="宋体" charset="-122"/>
              </a:rPr>
              <a:t>SIGUSR2</a:t>
            </a:r>
            <a:r>
              <a:rPr lang="zh-CN" altLang="en-US" dirty="0">
                <a:latin typeface="Times New Roman" charset="0"/>
                <a:ea typeface="宋体" charset="-122"/>
              </a:rPr>
              <a:t>的</a:t>
            </a:r>
            <a:r>
              <a:rPr lang="en-US" altLang="zh-CN" dirty="0">
                <a:latin typeface="Times New Roman" charset="0"/>
                <a:ea typeface="宋体" charset="-122"/>
              </a:rPr>
              <a:t>handler</a:t>
            </a:r>
            <a:r>
              <a:rPr lang="zh-CN" altLang="en-US" dirty="0">
                <a:latin typeface="Times New Roman" charset="0"/>
                <a:ea typeface="宋体" charset="-122"/>
              </a:rPr>
              <a:t>，在后者处理过程中再来</a:t>
            </a:r>
            <a:r>
              <a:rPr lang="en-US" altLang="zh-CN" dirty="0">
                <a:latin typeface="Times New Roman" charset="0"/>
                <a:ea typeface="宋体" charset="-122"/>
              </a:rPr>
              <a:t>SIGUSR1,</a:t>
            </a:r>
            <a:r>
              <a:rPr lang="zh-CN" altLang="en-US" dirty="0">
                <a:latin typeface="Times New Roman" charset="0"/>
                <a:ea typeface="宋体" charset="-122"/>
              </a:rPr>
              <a:t>是不能进入的，只是记录下来信号到达。必须等第一个</a:t>
            </a:r>
            <a:r>
              <a:rPr lang="en-US" altLang="zh-CN" dirty="0">
                <a:latin typeface="Times New Roman" charset="0"/>
                <a:ea typeface="宋体" charset="-122"/>
              </a:rPr>
              <a:t>SIGUSR1</a:t>
            </a:r>
            <a:r>
              <a:rPr lang="zh-CN" altLang="en-US" dirty="0">
                <a:latin typeface="Times New Roman" charset="0"/>
                <a:ea typeface="宋体" charset="-122"/>
              </a:rPr>
              <a:t>彻底返回，才会再次进入</a:t>
            </a:r>
            <a:r>
              <a:rPr lang="en-US" altLang="zh-CN" dirty="0">
                <a:latin typeface="Times New Roman" charset="0"/>
                <a:ea typeface="宋体" charset="-122"/>
              </a:rPr>
              <a:t>SIGUSR1</a:t>
            </a:r>
            <a:r>
              <a:rPr lang="zh-CN" altLang="en-US" dirty="0">
                <a:latin typeface="Times New Roman" charset="0"/>
                <a:ea typeface="宋体" charset="-122"/>
              </a:rPr>
              <a:t>的</a:t>
            </a:r>
            <a:r>
              <a:rPr lang="en-US" altLang="zh-CN" dirty="0">
                <a:latin typeface="Times New Roman" charset="0"/>
                <a:ea typeface="宋体" charset="-122"/>
              </a:rPr>
              <a:t>handler</a:t>
            </a:r>
            <a:r>
              <a:rPr lang="zh-CN" altLang="en-US" dirty="0">
                <a:latin typeface="Times New Roman" charset="0"/>
                <a:ea typeface="宋体" charset="-122"/>
              </a:rPr>
              <a:t>。</a:t>
            </a:r>
            <a:r>
              <a:rPr lang="en-US" altLang="zh-CN" baseline="0" dirty="0">
                <a:latin typeface="Times New Roman" charset="0"/>
                <a:ea typeface="宋体" charset="-122"/>
              </a:rPr>
              <a:t> </a:t>
            </a:r>
            <a:endParaRPr lang="en-US" altLang="zh-CN" dirty="0">
              <a:latin typeface="Times New Roman" charset="0"/>
              <a:ea typeface="宋体" charset="-122"/>
            </a:endParaRPr>
          </a:p>
          <a:p>
            <a:endParaRPr lang="en-US" altLang="zh-CN" dirty="0">
              <a:latin typeface="Times New Roman" charset="0"/>
              <a:ea typeface="宋体" charset="-122"/>
            </a:endParaRPr>
          </a:p>
          <a:p>
            <a:r>
              <a:rPr lang="zh-CN" altLang="en-US" dirty="0">
                <a:latin typeface="Times New Roman" charset="0"/>
                <a:ea typeface="宋体" charset="-122"/>
              </a:rPr>
              <a:t>流程：不论先调度父进程，还是先调度子进程，第一个</a:t>
            </a:r>
            <a:r>
              <a:rPr lang="en-US" altLang="zh-CN" dirty="0">
                <a:latin typeface="Times New Roman" charset="0"/>
                <a:ea typeface="宋体" charset="-122"/>
              </a:rPr>
              <a:t>SIGUSR2</a:t>
            </a:r>
            <a:r>
              <a:rPr lang="zh-CN" altLang="en-US" dirty="0">
                <a:latin typeface="Times New Roman" charset="0"/>
                <a:ea typeface="宋体" charset="-122"/>
              </a:rPr>
              <a:t>信号很快会发出，</a:t>
            </a:r>
            <a:r>
              <a:rPr lang="en-US" altLang="zh-CN" dirty="0">
                <a:latin typeface="Times New Roman" charset="0"/>
                <a:ea typeface="宋体" charset="-122"/>
              </a:rPr>
              <a:t>handler</a:t>
            </a:r>
            <a:r>
              <a:rPr lang="zh-CN" altLang="en-US" dirty="0">
                <a:latin typeface="Times New Roman" charset="0"/>
                <a:ea typeface="宋体" charset="-122"/>
              </a:rPr>
              <a:t>处理，</a:t>
            </a:r>
            <a:r>
              <a:rPr lang="en-US" altLang="zh-CN" dirty="0">
                <a:latin typeface="Times New Roman" charset="0"/>
                <a:ea typeface="宋体" charset="-122"/>
              </a:rPr>
              <a:t>count++</a:t>
            </a:r>
            <a:r>
              <a:rPr lang="zh-CN" altLang="en-US" dirty="0">
                <a:latin typeface="Times New Roman" charset="0"/>
                <a:ea typeface="宋体" charset="-122"/>
              </a:rPr>
              <a:t>，然后进入</a:t>
            </a:r>
            <a:r>
              <a:rPr lang="en-US" altLang="zh-CN" dirty="0">
                <a:latin typeface="Times New Roman" charset="0"/>
                <a:ea typeface="宋体" charset="-122"/>
              </a:rPr>
              <a:t>sleep(1)</a:t>
            </a:r>
            <a:r>
              <a:rPr lang="zh-CN" altLang="en-US" dirty="0">
                <a:latin typeface="Times New Roman" charset="0"/>
                <a:ea typeface="宋体" charset="-122"/>
              </a:rPr>
              <a:t>。</a:t>
            </a:r>
            <a:endParaRPr lang="en-US" altLang="zh-CN" dirty="0">
              <a:latin typeface="Times New Roman" charset="0"/>
              <a:ea typeface="宋体" charset="-122"/>
            </a:endParaRPr>
          </a:p>
          <a:p>
            <a:r>
              <a:rPr lang="zh-CN" altLang="en-US" dirty="0">
                <a:latin typeface="Times New Roman" charset="0"/>
                <a:ea typeface="宋体" charset="-122"/>
              </a:rPr>
              <a:t>然后再收到第二个</a:t>
            </a:r>
            <a:r>
              <a:rPr lang="en-US" altLang="zh-CN" dirty="0">
                <a:latin typeface="Times New Roman" charset="0"/>
                <a:ea typeface="宋体" charset="-122"/>
              </a:rPr>
              <a:t>SIGUSR2</a:t>
            </a:r>
            <a:r>
              <a:rPr lang="zh-CN" altLang="en-US" dirty="0">
                <a:latin typeface="Times New Roman" charset="0"/>
                <a:ea typeface="宋体" charset="-122"/>
              </a:rPr>
              <a:t>信号时，由于对第一个</a:t>
            </a:r>
            <a:r>
              <a:rPr lang="en-US" altLang="zh-CN" dirty="0">
                <a:latin typeface="Times New Roman" charset="0"/>
                <a:ea typeface="宋体" charset="-122"/>
              </a:rPr>
              <a:t>SIGUSR2</a:t>
            </a:r>
            <a:r>
              <a:rPr lang="zh-CN" altLang="en-US" dirty="0">
                <a:latin typeface="Times New Roman" charset="0"/>
                <a:ea typeface="宋体" charset="-122"/>
              </a:rPr>
              <a:t>信号的</a:t>
            </a:r>
            <a:r>
              <a:rPr lang="en-US" altLang="zh-CN" dirty="0">
                <a:latin typeface="Times New Roman" charset="0"/>
                <a:ea typeface="宋体" charset="-122"/>
              </a:rPr>
              <a:t>handler</a:t>
            </a:r>
            <a:r>
              <a:rPr lang="zh-CN" altLang="en-US" dirty="0">
                <a:latin typeface="Times New Roman" charset="0"/>
                <a:ea typeface="宋体" charset="-122"/>
              </a:rPr>
              <a:t>还没有返回，所以不能重入，信号记录，但是不会处理。</a:t>
            </a:r>
            <a:endParaRPr lang="en-US" altLang="zh-CN" dirty="0">
              <a:latin typeface="Times New Roman" charset="0"/>
              <a:ea typeface="宋体" charset="-122"/>
            </a:endParaRPr>
          </a:p>
          <a:p>
            <a:r>
              <a:rPr lang="zh-CN" altLang="en-US" dirty="0">
                <a:latin typeface="Times New Roman" charset="0"/>
                <a:ea typeface="宋体" charset="-122"/>
              </a:rPr>
              <a:t>然后在</a:t>
            </a:r>
            <a:r>
              <a:rPr lang="en-US" altLang="zh-CN" dirty="0">
                <a:latin typeface="Times New Roman" charset="0"/>
                <a:ea typeface="宋体" charset="-122"/>
              </a:rPr>
              <a:t>sleep</a:t>
            </a:r>
            <a:r>
              <a:rPr lang="zh-CN" altLang="en-US" dirty="0">
                <a:latin typeface="Times New Roman" charset="0"/>
                <a:ea typeface="宋体" charset="-122"/>
              </a:rPr>
              <a:t>的</a:t>
            </a:r>
            <a:r>
              <a:rPr lang="en-US" altLang="zh-CN" dirty="0">
                <a:latin typeface="Times New Roman" charset="0"/>
                <a:ea typeface="宋体" charset="-122"/>
              </a:rPr>
              <a:t>1</a:t>
            </a:r>
            <a:r>
              <a:rPr lang="zh-CN" altLang="en-US" dirty="0">
                <a:latin typeface="Times New Roman" charset="0"/>
                <a:ea typeface="宋体" charset="-122"/>
              </a:rPr>
              <a:t>秒之内，后续的</a:t>
            </a:r>
            <a:r>
              <a:rPr lang="en-US" altLang="zh-CN" dirty="0">
                <a:latin typeface="Times New Roman" charset="0"/>
                <a:ea typeface="宋体" charset="-122"/>
              </a:rPr>
              <a:t>4</a:t>
            </a:r>
            <a:r>
              <a:rPr lang="zh-CN" altLang="en-US" dirty="0">
                <a:latin typeface="Times New Roman" charset="0"/>
                <a:ea typeface="宋体" charset="-122"/>
              </a:rPr>
              <a:t>个信号都会发出，但会叠加在一起，等从</a:t>
            </a:r>
            <a:r>
              <a:rPr lang="en-US" altLang="zh-CN" dirty="0">
                <a:latin typeface="Times New Roman" charset="0"/>
                <a:ea typeface="宋体" charset="-122"/>
              </a:rPr>
              <a:t>sleep(1)</a:t>
            </a:r>
            <a:r>
              <a:rPr lang="zh-CN" altLang="en-US" dirty="0">
                <a:latin typeface="Times New Roman" charset="0"/>
                <a:ea typeface="宋体" charset="-122"/>
              </a:rPr>
              <a:t>中返回后，处理时被当作一个信号了。</a:t>
            </a:r>
            <a:endParaRPr lang="en-US" altLang="zh-CN" dirty="0">
              <a:latin typeface="Times New Roman" charset="0"/>
              <a:ea typeface="宋体" charset="-122"/>
            </a:endParaRPr>
          </a:p>
        </p:txBody>
      </p:sp>
      <p:sp>
        <p:nvSpPr>
          <p:cNvPr id="105475" name="幻灯片编号占位符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88B49F66-9595-3A47-B108-1913002987C5}" type="slidenum">
              <a:rPr lang="zh-CN" altLang="en-US" sz="1200" b="0">
                <a:latin typeface="Times New Roman" charset="0"/>
              </a:rPr>
              <a:pPr/>
              <a:t>49</a:t>
            </a:fld>
            <a:endParaRPr lang="en-US" altLang="zh-CN" sz="1200" b="0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A320AC0C-72B6-9048-9119-2885C1BA74D6}" type="slidenum">
              <a:rPr lang="zh-CN" altLang="en-US" sz="1200" b="0">
                <a:latin typeface="Times New Roman" charset="0"/>
              </a:rPr>
              <a:pPr/>
              <a:t>50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E2BED691-C778-1B48-ABA8-E72F19CC5B9E}" type="slidenum">
              <a:rPr lang="zh-CN" altLang="en-US" sz="1200" b="0">
                <a:latin typeface="Times New Roman" charset="0"/>
              </a:rPr>
              <a:pPr/>
              <a:t>51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105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B188FD69-A4B6-1646-A45C-F5E9CCD6348C}" type="slidenum">
              <a:rPr lang="zh-CN" altLang="en-US" sz="1200" b="0">
                <a:latin typeface="Times New Roman" charset="0"/>
              </a:rPr>
              <a:pPr/>
              <a:t>52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3A0B7D92-868D-FD46-8533-6950AF1D7DA2}" type="slidenum">
              <a:rPr lang="zh-CN" altLang="en-US" sz="1200" b="0">
                <a:latin typeface="Times New Roman" charset="0"/>
              </a:rPr>
              <a:pPr/>
              <a:t>53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14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3E493559-CD70-B545-9FA7-AD6C88310B7E}" type="slidenum">
              <a:rPr lang="zh-CN" altLang="en-US" sz="1200" b="0">
                <a:latin typeface="Times New Roman" charset="0"/>
              </a:rPr>
              <a:pPr/>
              <a:t>54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167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4E9B27E9-64FD-7844-9813-1CF67DD85249}" type="slidenum">
              <a:rPr lang="zh-CN" altLang="en-US" sz="1200" b="0">
                <a:latin typeface="Times New Roman" charset="0"/>
              </a:rPr>
              <a:pPr/>
              <a:t>55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E8EBFA1F-3BCC-B148-89CE-D41700CFE3D2}" type="slidenum">
              <a:rPr lang="zh-CN" altLang="en-US" sz="1200" b="0">
                <a:latin typeface="Times New Roman" charset="0"/>
              </a:rPr>
              <a:pPr/>
              <a:t>56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208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latin typeface="Times New Roman" charset="0"/>
                <a:ea typeface="宋体" charset="-122"/>
              </a:rPr>
              <a:t>Reap 18906</a:t>
            </a:r>
            <a:r>
              <a:rPr lang="zh-CN" altLang="en-US" dirty="0">
                <a:latin typeface="Times New Roman" charset="0"/>
                <a:ea typeface="宋体" charset="-122"/>
              </a:rPr>
              <a:t>后</a:t>
            </a:r>
            <a:r>
              <a:rPr lang="en-US" altLang="zh-CN" dirty="0">
                <a:latin typeface="Times New Roman" charset="0"/>
                <a:ea typeface="宋体" charset="-122"/>
              </a:rPr>
              <a:t>sleep(2);</a:t>
            </a:r>
          </a:p>
          <a:p>
            <a:pPr eaLnBrk="1" hangingPunct="1"/>
            <a:r>
              <a:rPr lang="zh-CN" altLang="en-US" dirty="0">
                <a:latin typeface="Times New Roman" charset="0"/>
                <a:ea typeface="宋体" charset="-122"/>
              </a:rPr>
              <a:t>然后再次调用</a:t>
            </a:r>
            <a:r>
              <a:rPr lang="en-US" altLang="zh-CN" dirty="0">
                <a:latin typeface="Times New Roman" charset="0"/>
                <a:ea typeface="宋体" charset="-122"/>
              </a:rPr>
              <a:t>handler</a:t>
            </a:r>
            <a:r>
              <a:rPr lang="zh-CN" altLang="en-US" dirty="0">
                <a:latin typeface="Times New Roman" charset="0"/>
                <a:ea typeface="宋体" charset="-122"/>
              </a:rPr>
              <a:t>时应该</a:t>
            </a:r>
            <a:r>
              <a:rPr lang="en-US" altLang="zh-CN" dirty="0">
                <a:latin typeface="Times New Roman" charset="0"/>
                <a:ea typeface="宋体" charset="-122"/>
              </a:rPr>
              <a:t>while</a:t>
            </a:r>
            <a:r>
              <a:rPr lang="zh-CN" altLang="en-US" dirty="0">
                <a:latin typeface="Times New Roman" charset="0"/>
                <a:ea typeface="宋体" charset="-122"/>
              </a:rPr>
              <a:t>循环回收</a:t>
            </a:r>
            <a:r>
              <a:rPr lang="en-US" altLang="zh-CN" dirty="0">
                <a:latin typeface="Times New Roman" charset="0"/>
                <a:ea typeface="宋体" charset="-122"/>
              </a:rPr>
              <a:t>18908</a:t>
            </a:r>
            <a:r>
              <a:rPr lang="zh-CN" altLang="en-US" dirty="0">
                <a:latin typeface="Times New Roman" charset="0"/>
                <a:ea typeface="宋体" charset="-122"/>
              </a:rPr>
              <a:t>和</a:t>
            </a:r>
            <a:r>
              <a:rPr lang="en-US" altLang="zh-CN" dirty="0">
                <a:latin typeface="Times New Roman" charset="0"/>
                <a:ea typeface="宋体" charset="-122"/>
              </a:rPr>
              <a:t>18907</a:t>
            </a:r>
            <a:r>
              <a:rPr lang="zh-CN" altLang="en-US" dirty="0">
                <a:latin typeface="Times New Roman" charset="0"/>
                <a:ea typeface="宋体" charset="-122"/>
              </a:rPr>
              <a:t>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0FE801A7-6326-8B4A-994D-674B1D6E700E}" type="slidenum">
              <a:rPr lang="zh-CN" altLang="en-US" sz="1200" b="0">
                <a:latin typeface="Times New Roman" charset="0"/>
              </a:rPr>
              <a:pPr/>
              <a:t>57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33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2</a:t>
            </a:r>
            <a:r>
              <a:rPr kumimoji="1" lang="zh-CN" altLang="en-US" dirty="0"/>
              <a:t>，</a:t>
            </a:r>
            <a:r>
              <a:rPr kumimoji="1" lang="en-US" altLang="zh-CN"/>
              <a:t>1</a:t>
            </a:r>
            <a:r>
              <a:rPr kumimoji="1" lang="zh-CN" altLang="en-US"/>
              <a:t>，</a:t>
            </a:r>
            <a:r>
              <a:rPr kumimoji="1" lang="en-US" altLang="zh-CN"/>
              <a:t>3</a:t>
            </a:r>
            <a:endParaRPr kumimoji="1" lang="zh-CN" altLang="en-US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EA8A32D-AA4F-CC47-A472-66F1828E70D0}" type="slidenum">
              <a:rPr lang="zh-CN" altLang="en-US" smtClean="0"/>
              <a:pPr>
                <a:defRPr/>
              </a:pPr>
              <a:t>58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778536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34BCA25D-1A3A-004E-B6B3-42BFBCFA0CCA}" type="slidenum">
              <a:rPr lang="zh-CN" altLang="en-US" sz="1200" b="0">
                <a:latin typeface="Times New Roman" charset="0"/>
              </a:rPr>
              <a:pPr/>
              <a:t>59</a:t>
            </a:fld>
            <a:endParaRPr lang="en-US" altLang="zh-CN" sz="1200" b="0">
              <a:latin typeface="Times New Roman" charset="0"/>
            </a:endParaRPr>
          </a:p>
        </p:txBody>
      </p:sp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zh-CN" altLang="en-US">
              <a:latin typeface="Times New Roman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1727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CN"/>
              <a:t>Click to edit Master title style</a:t>
            </a:r>
          </a:p>
        </p:txBody>
      </p:sp>
      <p:sp>
        <p:nvSpPr>
          <p:cNvPr id="4099" name="Rectangle 102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 altLang="zh-CN"/>
              <a:t>Click to edit Master subtitle style</a:t>
            </a:r>
          </a:p>
        </p:txBody>
      </p:sp>
      <p:sp>
        <p:nvSpPr>
          <p:cNvPr id="4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5EB310-DF52-6E48-B7A2-93DC420E7589}" type="datetime1">
              <a:rPr lang="zh-CN" altLang="en-US"/>
              <a:pPr>
                <a:defRPr/>
              </a:pPr>
              <a:t>2021/11/6</a:t>
            </a:fld>
            <a:endParaRPr lang="en-US" altLang="zh-CN"/>
          </a:p>
        </p:txBody>
      </p:sp>
      <p:sp>
        <p:nvSpPr>
          <p:cNvPr id="5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2514600" y="6248400"/>
            <a:ext cx="411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056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5A97B9-A372-4C4A-ABBD-1E2F85F101F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8932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168A10-C587-3A44-B258-38CF5FA1EADE}" type="datetime1">
              <a:rPr lang="zh-CN" altLang="en-US"/>
              <a:pPr>
                <a:defRPr/>
              </a:pPr>
              <a:t>2021/11/6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60C1E7-882C-B144-B98E-7DCF290C58D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7519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F4E030-88D6-104A-A7E6-AF7F4CFB0B8D}" type="datetime1">
              <a:rPr lang="zh-CN" altLang="en-US"/>
              <a:pPr>
                <a:defRPr/>
              </a:pPr>
              <a:t>2021/11/6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030606-A09A-4F40-BA99-F611681A340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313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BFD916-0CB6-BC49-94CC-7732D5C93FEC}" type="datetime1">
              <a:rPr lang="zh-CN" altLang="en-US"/>
              <a:pPr>
                <a:defRPr/>
              </a:pPr>
              <a:t>2021/11/6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FBA18A-6C6D-394B-B077-9FEC2FE6CD7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41323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1C8E09-0066-EB43-A8B1-DD9FCBA6DAC0}" type="datetime1">
              <a:rPr lang="zh-CN" altLang="en-US"/>
              <a:pPr>
                <a:defRPr/>
              </a:pPr>
              <a:t>2021/11/6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15175E-466E-B04D-975A-ADF8345702E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76907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D0C38F-8FE5-B34F-80AF-46C8CC62BD32}" type="datetime1">
              <a:rPr lang="zh-CN" altLang="en-US"/>
              <a:pPr>
                <a:defRPr/>
              </a:pPr>
              <a:t>2021/11/6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B6922B-3090-984E-B7D3-AAD54B1941F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4288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0A7541-6A0F-D648-9E83-902D3A40874F}" type="datetime1">
              <a:rPr lang="zh-CN" altLang="en-US"/>
              <a:pPr>
                <a:defRPr/>
              </a:pPr>
              <a:t>2021/11/6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6BCA53-204F-2C45-A4DB-6D4F9850BBC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9511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2C9321-8E6A-3E45-B22B-1B3D69C9BEFF}" type="datetime1">
              <a:rPr lang="zh-CN" altLang="en-US"/>
              <a:pPr>
                <a:defRPr/>
              </a:pPr>
              <a:t>2021/11/6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2DBF33-E8AA-0B43-9F06-24555A85CC8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73234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BD5025-3CF2-9548-96D5-5EC592155866}" type="datetime1">
              <a:rPr lang="zh-CN" altLang="en-US"/>
              <a:pPr>
                <a:defRPr/>
              </a:pPr>
              <a:t>2021/11/6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F5B27E-9688-7E4C-BA0D-75CE7F9EE0F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3052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4A368F-B944-004F-AFD3-86E8964F90A7}" type="datetime1">
              <a:rPr lang="zh-CN" altLang="en-US"/>
              <a:pPr>
                <a:defRPr/>
              </a:pPr>
              <a:t>2021/11/6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047847-F52E-0F48-A5B2-DB23F3F1203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3283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457200"/>
            <a:ext cx="2076450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76950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44B60C-EB0C-4C47-9F91-E46C4C671101}" type="datetime1">
              <a:rPr lang="zh-CN" altLang="en-US"/>
              <a:pPr>
                <a:defRPr/>
              </a:pPr>
              <a:t>2021/11/6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4C89BF-C26E-B644-A83D-5FC84468DCD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01461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0772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767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600200"/>
            <a:ext cx="4076700" cy="44196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04F98F-7B12-264C-9959-DA9CCDB702AD}" type="datetime1">
              <a:rPr lang="zh-CN" altLang="en-US"/>
              <a:pPr>
                <a:defRPr/>
              </a:pPr>
              <a:t>2021/11/6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6B6ECD-188A-434B-817F-EDC3C4E02F29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26625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0772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305800" cy="441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172200"/>
            <a:ext cx="152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65BFDE8-09E4-1947-989E-E32CC8071DBB}" type="datetime1">
              <a:rPr lang="zh-CN" altLang="en-US"/>
              <a:pPr>
                <a:defRPr/>
              </a:pPr>
              <a:t>2021/11/6</a:t>
            </a:fld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90800" y="6172200"/>
            <a:ext cx="411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Times New Roman" charset="0"/>
              </a:defRPr>
            </a:lvl1pPr>
          </a:lstStyle>
          <a:p>
            <a:pPr>
              <a:defRPr/>
            </a:pPr>
            <a:r>
              <a:rPr lang="zh-CN" altLang="en-US"/>
              <a:t>Compilers Autumn 2002</a:t>
            </a: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172200"/>
            <a:ext cx="1295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7270D1D9-9AFC-C047-A2AD-59BDDF5C249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auto">
          <a:xfrm>
            <a:off x="457200" y="1371600"/>
            <a:ext cx="807720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891" r:id="rId2"/>
    <p:sldLayoutId id="2147483892" r:id="rId3"/>
    <p:sldLayoutId id="2147483893" r:id="rId4"/>
    <p:sldLayoutId id="2147483894" r:id="rId5"/>
    <p:sldLayoutId id="2147483895" r:id="rId6"/>
    <p:sldLayoutId id="2147483896" r:id="rId7"/>
    <p:sldLayoutId id="2147483897" r:id="rId8"/>
    <p:sldLayoutId id="2147483898" r:id="rId9"/>
    <p:sldLayoutId id="2147483899" r:id="rId10"/>
    <p:sldLayoutId id="2147483900" r:id="rId11"/>
    <p:sldLayoutId id="214748390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1030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343E1F-5317-EA4F-A5CA-23E3622F139C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7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en-US" altLang="zh-CN" sz="3200">
                <a:ea typeface="宋体" charset="-122"/>
              </a:rPr>
              <a:t>Exceptional Control Flow III</a:t>
            </a:r>
            <a:br>
              <a:rPr lang="en-US" altLang="zh-CN" sz="3200">
                <a:ea typeface="宋体" charset="-122"/>
              </a:rPr>
            </a:br>
            <a:r>
              <a:rPr lang="en-US" altLang="zh-CN" sz="3200">
                <a:ea typeface="宋体" charset="-122"/>
              </a:rPr>
              <a:t>(Signal)</a:t>
            </a:r>
            <a:endParaRPr lang="en-US" altLang="zh-CN" sz="3200">
              <a:latin typeface="宋体" charset="-122"/>
              <a:ea typeface="宋体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48E1514-BFCB-E04D-A273-A4845B768FAB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Outline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>
                <a:ea typeface="宋体" charset="-122"/>
              </a:rPr>
              <a:t>Signal Terminology</a:t>
            </a:r>
          </a:p>
          <a:p>
            <a:r>
              <a:rPr lang="en-US" altLang="zh-CN" dirty="0">
                <a:ea typeface="宋体" charset="-122"/>
              </a:rPr>
              <a:t>Sending Signals</a:t>
            </a:r>
          </a:p>
          <a:p>
            <a:r>
              <a:rPr lang="en-US" altLang="zh-CN" dirty="0">
                <a:ea typeface="宋体" charset="-122"/>
              </a:rPr>
              <a:t>Receiving Signals</a:t>
            </a:r>
            <a:endParaRPr lang="zh-CN" altLang="en-US" dirty="0">
              <a:ea typeface="宋体" charset="-122"/>
            </a:endParaRPr>
          </a:p>
          <a:p>
            <a:r>
              <a:rPr lang="en-US" altLang="zh-CN" dirty="0">
                <a:ea typeface="宋体" charset="-122"/>
              </a:rPr>
              <a:t>Signal Handling Issues</a:t>
            </a:r>
          </a:p>
          <a:p>
            <a:endParaRPr lang="en-US" altLang="zh-CN" dirty="0">
              <a:ea typeface="宋体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1DDD340-9F23-7241-9225-0C55EDA01288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Signals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30000"/>
              </a:lnSpc>
              <a:defRPr/>
            </a:pPr>
            <a:r>
              <a:rPr lang="en-US" altLang="zh-CN" dirty="0">
                <a:ea typeface="宋体" pitchFamily="2" charset="-122"/>
              </a:rPr>
              <a:t>Unix </a:t>
            </a: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signal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  <a:p>
            <a:pPr lvl="1">
              <a:lnSpc>
                <a:spcPct val="130000"/>
              </a:lnSpc>
              <a:defRPr/>
            </a:pPr>
            <a:r>
              <a:rPr lang="zh-CN" altLang="en-US" dirty="0">
                <a:ea typeface="宋体" pitchFamily="2" charset="-122"/>
              </a:rPr>
              <a:t>用于进程之间的通信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130000"/>
              </a:lnSpc>
              <a:defRPr/>
            </a:pPr>
            <a:r>
              <a:rPr lang="en-US" altLang="zh-CN" dirty="0">
                <a:ea typeface="宋体" pitchFamily="2" charset="-122"/>
              </a:rPr>
              <a:t>A higher-level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software</a:t>
            </a:r>
            <a:r>
              <a:rPr lang="en-US" altLang="zh-CN" dirty="0">
                <a:ea typeface="宋体" pitchFamily="2" charset="-122"/>
              </a:rPr>
              <a:t> form of 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exception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dirty="0">
                <a:ea typeface="宋体" pitchFamily="2" charset="-122"/>
              </a:rPr>
              <a:t>That allows processes and the kernel to interrupt other processes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9F1C7F-E482-FF45-85D1-6476EDCC183A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The kill Program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>
                <a:ea typeface="宋体" charset="-122"/>
              </a:rPr>
              <a:t>Kill program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charset="-122"/>
              </a:rPr>
              <a:t>is located in directory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-122"/>
                <a:cs typeface="Courier New" charset="0"/>
              </a:rPr>
              <a:t> /bin/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charset="-122"/>
              </a:rPr>
              <a:t>sends an arbitrary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signal</a:t>
            </a:r>
            <a:r>
              <a:rPr lang="en-US" altLang="zh-CN">
                <a:ea typeface="宋体" charset="-122"/>
              </a:rPr>
              <a:t> to another process</a:t>
            </a:r>
            <a:r>
              <a:rPr lang="zh-CN" altLang="en-US">
                <a:ea typeface="宋体" charset="-122"/>
              </a:rPr>
              <a:t> </a:t>
            </a:r>
            <a:r>
              <a:rPr lang="en-US" altLang="zh-CN">
                <a:ea typeface="宋体" charset="-122"/>
              </a:rPr>
              <a:t>(</a:t>
            </a:r>
            <a:r>
              <a:rPr lang="zh-CN" altLang="en-US">
                <a:ea typeface="宋体" charset="-122"/>
              </a:rPr>
              <a:t>不一定是杀死进程，可以是其他类型的信号</a:t>
            </a:r>
            <a:r>
              <a:rPr lang="en-US" altLang="zh-CN">
                <a:ea typeface="宋体" charset="-122"/>
              </a:rPr>
              <a:t>)</a:t>
            </a:r>
          </a:p>
          <a:p>
            <a:pPr>
              <a:lnSpc>
                <a:spcPct val="140000"/>
              </a:lnSpc>
              <a:buFontTx/>
              <a:buNone/>
            </a:pPr>
            <a:endParaRPr lang="en-US" altLang="zh-CN" sz="2400" b="1">
              <a:latin typeface="Courier New" charset="0"/>
              <a:ea typeface="Courier New" charset="0"/>
              <a:cs typeface="Courier New" charset="0"/>
            </a:endParaRPr>
          </a:p>
          <a:p>
            <a:pPr>
              <a:lnSpc>
                <a:spcPct val="140000"/>
              </a:lnSpc>
              <a:buFontTx/>
              <a:buNone/>
            </a:pPr>
            <a:r>
              <a:rPr lang="en-US" altLang="zh-CN" sz="2400" b="1">
                <a:latin typeface="Courier New" charset="0"/>
                <a:ea typeface="Courier New" charset="0"/>
                <a:cs typeface="Courier New" charset="0"/>
              </a:rPr>
              <a:t>e.g. unix&gt; kill -9 15213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charset="-122"/>
              </a:rPr>
              <a:t>sends signal 9 (SIGKILL) to process 15213.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2493B75-8535-7C42-AFA5-EB0C7E6A7077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Signals Type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76400"/>
            <a:ext cx="8229600" cy="4800600"/>
          </a:xfrm>
        </p:spPr>
        <p:txBody>
          <a:bodyPr/>
          <a:lstStyle/>
          <a:p>
            <a:pPr>
              <a:lnSpc>
                <a:spcPct val="90000"/>
              </a:lnSpc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Signal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是通知一个进程的一个消息：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  <a:defRPr/>
            </a:pPr>
            <a:r>
              <a:rPr lang="zh-CN" altLang="en-US" dirty="0">
                <a:ea typeface="宋体" pitchFamily="2" charset="-122"/>
              </a:rPr>
              <a:t>系统中发生了某个类型的事件</a:t>
            </a:r>
            <a:endParaRPr lang="en-US" altLang="zh-CN" dirty="0">
              <a:ea typeface="宋体" pitchFamily="2" charset="-122"/>
            </a:endParaRPr>
          </a:p>
          <a:p>
            <a:pPr marL="457200" lvl="1" indent="0">
              <a:lnSpc>
                <a:spcPct val="90000"/>
              </a:lnSpc>
              <a:buFontTx/>
              <a:buNone/>
              <a:defRPr/>
            </a:pPr>
            <a:endParaRPr lang="en-US" altLang="zh-CN" sz="800" dirty="0">
              <a:ea typeface="宋体" pitchFamily="2" charset="-122"/>
            </a:endParaRPr>
          </a:p>
          <a:p>
            <a:pPr>
              <a:lnSpc>
                <a:spcPct val="90000"/>
              </a:lnSpc>
              <a:defRPr/>
            </a:pPr>
            <a:r>
              <a:rPr lang="zh-CN" altLang="en-US" dirty="0">
                <a:ea typeface="宋体" pitchFamily="2" charset="-122"/>
              </a:rPr>
              <a:t>每种</a:t>
            </a:r>
            <a:r>
              <a:rPr lang="en-US" altLang="zh-CN" dirty="0">
                <a:ea typeface="宋体" pitchFamily="2" charset="-122"/>
              </a:rPr>
              <a:t>signal type</a:t>
            </a:r>
            <a:r>
              <a:rPr lang="zh-CN" altLang="en-US" dirty="0">
                <a:ea typeface="宋体" pitchFamily="2" charset="-122"/>
              </a:rPr>
              <a:t>对应系统事件的某个类型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  <a:defRPr/>
            </a:pPr>
            <a:r>
              <a:rPr lang="zh-CN" altLang="en-US" dirty="0">
                <a:ea typeface="宋体" pitchFamily="2" charset="-122"/>
              </a:rPr>
              <a:t>低层次的</a:t>
            </a:r>
            <a:r>
              <a:rPr lang="zh-CN" altLang="en-US" dirty="0">
                <a:solidFill>
                  <a:srgbClr val="FF0000"/>
                </a:solidFill>
                <a:ea typeface="宋体" pitchFamily="2" charset="-122"/>
              </a:rPr>
              <a:t>硬件</a:t>
            </a:r>
            <a:r>
              <a:rPr lang="zh-CN" altLang="en-US" dirty="0">
                <a:ea typeface="宋体" pitchFamily="2" charset="-122"/>
              </a:rPr>
              <a:t>异常</a:t>
            </a:r>
            <a:endParaRPr lang="en-US" altLang="zh-CN" dirty="0">
              <a:ea typeface="宋体" pitchFamily="2" charset="-122"/>
            </a:endParaRPr>
          </a:p>
          <a:p>
            <a:pPr lvl="2">
              <a:lnSpc>
                <a:spcPct val="90000"/>
              </a:lnSpc>
              <a:defRPr/>
            </a:pPr>
            <a:r>
              <a:rPr lang="zh-CN" altLang="en-US" dirty="0">
                <a:ea typeface="宋体" pitchFamily="2" charset="-122"/>
              </a:rPr>
              <a:t>一般是由</a:t>
            </a:r>
            <a:r>
              <a:rPr lang="en-US" altLang="zh-CN" dirty="0">
                <a:ea typeface="宋体" pitchFamily="2" charset="-122"/>
              </a:rPr>
              <a:t>kernel</a:t>
            </a:r>
            <a:r>
              <a:rPr lang="zh-CN" altLang="en-US" dirty="0">
                <a:ea typeface="宋体" pitchFamily="2" charset="-122"/>
              </a:rPr>
              <a:t>的</a:t>
            </a:r>
            <a:r>
              <a:rPr lang="en-US" altLang="zh-CN" dirty="0">
                <a:ea typeface="宋体" pitchFamily="2" charset="-122"/>
              </a:rPr>
              <a:t>exception</a:t>
            </a:r>
            <a:r>
              <a:rPr lang="zh-CN" altLang="en-US" dirty="0"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handler</a:t>
            </a:r>
            <a:r>
              <a:rPr lang="zh-CN" altLang="en-US" dirty="0">
                <a:ea typeface="宋体" pitchFamily="2" charset="-122"/>
              </a:rPr>
              <a:t>处理，正常用户进程看不到</a:t>
            </a:r>
            <a:endParaRPr lang="en-US" altLang="zh-CN" dirty="0">
              <a:ea typeface="宋体" pitchFamily="2" charset="-122"/>
            </a:endParaRPr>
          </a:p>
          <a:p>
            <a:pPr lvl="2">
              <a:lnSpc>
                <a:spcPct val="90000"/>
              </a:lnSpc>
              <a:defRPr/>
            </a:pPr>
            <a:r>
              <a:rPr lang="en-US" altLang="zh-CN" dirty="0">
                <a:ea typeface="宋体" pitchFamily="2" charset="-122"/>
              </a:rPr>
              <a:t>Signal</a:t>
            </a:r>
            <a:r>
              <a:rPr lang="zh-CN" altLang="en-US" dirty="0">
                <a:ea typeface="宋体" pitchFamily="2" charset="-122"/>
              </a:rPr>
              <a:t>提供了一种机制，把这种</a:t>
            </a:r>
            <a:r>
              <a:rPr lang="en-US" altLang="zh-CN" dirty="0">
                <a:ea typeface="宋体" pitchFamily="2" charset="-122"/>
              </a:rPr>
              <a:t>exception</a:t>
            </a:r>
            <a:r>
              <a:rPr lang="zh-CN" altLang="en-US" dirty="0">
                <a:ea typeface="宋体" pitchFamily="2" charset="-122"/>
              </a:rPr>
              <a:t>的发生告知用户进程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90000"/>
              </a:lnSpc>
              <a:defRPr/>
            </a:pPr>
            <a:r>
              <a:rPr lang="zh-CN" altLang="en-US" dirty="0">
                <a:ea typeface="宋体" pitchFamily="2" charset="-122"/>
              </a:rPr>
              <a:t>高层次的</a:t>
            </a:r>
            <a:r>
              <a:rPr lang="zh-CN" altLang="en-US" dirty="0">
                <a:solidFill>
                  <a:srgbClr val="FF0000"/>
                </a:solidFill>
                <a:ea typeface="宋体" pitchFamily="2" charset="-122"/>
              </a:rPr>
              <a:t>软件</a:t>
            </a:r>
            <a:r>
              <a:rPr lang="zh-CN" altLang="en-US" dirty="0">
                <a:ea typeface="宋体" pitchFamily="2" charset="-122"/>
              </a:rPr>
              <a:t>事件</a:t>
            </a:r>
            <a:endParaRPr lang="en-US" altLang="zh-CN" dirty="0">
              <a:ea typeface="宋体" pitchFamily="2" charset="-122"/>
            </a:endParaRPr>
          </a:p>
          <a:p>
            <a:pPr lvl="2">
              <a:lnSpc>
                <a:spcPct val="90000"/>
              </a:lnSpc>
              <a:defRPr/>
            </a:pPr>
            <a:r>
              <a:rPr lang="zh-CN" altLang="en-US" dirty="0">
                <a:ea typeface="宋体" pitchFamily="2" charset="-122"/>
              </a:rPr>
              <a:t>来自</a:t>
            </a:r>
            <a:r>
              <a:rPr lang="en-US" altLang="zh-CN" dirty="0">
                <a:ea typeface="宋体" pitchFamily="2" charset="-122"/>
              </a:rPr>
              <a:t>kernel</a:t>
            </a:r>
          </a:p>
          <a:p>
            <a:pPr lvl="2">
              <a:lnSpc>
                <a:spcPct val="90000"/>
              </a:lnSpc>
              <a:defRPr/>
            </a:pPr>
            <a:r>
              <a:rPr lang="zh-CN" altLang="en-US" dirty="0">
                <a:ea typeface="宋体" pitchFamily="2" charset="-122"/>
              </a:rPr>
              <a:t>或来自其他用户进程</a:t>
            </a: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47810C9-E472-E940-97D8-4CCE30F5BE9E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Hardware Events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SIGFPE signal (number 8) 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If a process attempts to 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divide by zero</a:t>
            </a:r>
            <a:r>
              <a:rPr lang="en-US" altLang="zh-CN" dirty="0">
                <a:ea typeface="宋体" pitchFamily="2" charset="-122"/>
              </a:rPr>
              <a:t>, then the kernel sends it a SIGFPE signal 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SIGILL signal (number 4) 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If a process executes 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an illegal instruction</a:t>
            </a:r>
            <a:r>
              <a:rPr lang="en-US" altLang="zh-CN" dirty="0">
                <a:ea typeface="宋体" pitchFamily="2" charset="-122"/>
              </a:rPr>
              <a:t>, the kernel sends it a SIGILL signal. 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SIGSEGV signal (number 11) 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If a process makes </a:t>
            </a:r>
            <a:r>
              <a:rPr lang="en-US" altLang="zh-CN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an illegal memory reference</a:t>
            </a:r>
            <a:r>
              <a:rPr lang="en-US" altLang="zh-CN" dirty="0">
                <a:ea typeface="宋体" pitchFamily="2" charset="-122"/>
              </a:rPr>
              <a:t>, the kernel sends it a SIGSEGV signal. </a:t>
            </a:r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5AC440-82AD-9C46-B9F1-384E5D9430D9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Software Events</a:t>
            </a:r>
          </a:p>
        </p:txBody>
      </p:sp>
      <p:sp>
        <p:nvSpPr>
          <p:cNvPr id="92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SIGINT signal (number 2) </a:t>
            </a:r>
          </a:p>
          <a:p>
            <a:pPr lvl="1">
              <a:defRPr/>
            </a:pPr>
            <a:r>
              <a:rPr lang="en-US" altLang="zh-CN" sz="2000" dirty="0">
                <a:ea typeface="宋体" pitchFamily="2" charset="-122"/>
              </a:rPr>
              <a:t>While a process is running in the foreground</a:t>
            </a:r>
          </a:p>
          <a:p>
            <a:pPr lvl="1">
              <a:defRPr/>
            </a:pPr>
            <a:r>
              <a:rPr lang="en-US" altLang="zh-CN" sz="2000" dirty="0">
                <a:ea typeface="宋体" pitchFamily="2" charset="-122"/>
              </a:rPr>
              <a:t>if you type a </a:t>
            </a:r>
            <a:r>
              <a:rPr lang="en-US" altLang="zh-CN" sz="2000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ctrl-c</a:t>
            </a:r>
          </a:p>
          <a:p>
            <a:pPr lvl="1">
              <a:defRPr/>
            </a:pPr>
            <a:r>
              <a:rPr lang="en-US" altLang="zh-CN" sz="2000" dirty="0">
                <a:ea typeface="宋体" pitchFamily="2" charset="-122"/>
              </a:rPr>
              <a:t>then the kernel sends a SIGINT signal to the process 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SIGKILL signal (number 9) </a:t>
            </a:r>
          </a:p>
          <a:p>
            <a:pPr lvl="1">
              <a:defRPr/>
            </a:pPr>
            <a:r>
              <a:rPr lang="en-US" altLang="zh-CN" sz="2000" dirty="0">
                <a:ea typeface="宋体" pitchFamily="2" charset="-122"/>
              </a:rPr>
              <a:t>A process can forcibly </a:t>
            </a:r>
            <a:r>
              <a:rPr lang="en-US" altLang="zh-CN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terminate</a:t>
            </a:r>
            <a:r>
              <a:rPr lang="en-US" altLang="zh-CN" sz="2000" dirty="0">
                <a:ea typeface="宋体" pitchFamily="2" charset="-122"/>
              </a:rPr>
              <a:t> another process</a:t>
            </a:r>
          </a:p>
          <a:p>
            <a:pPr lvl="1">
              <a:defRPr/>
            </a:pPr>
            <a:r>
              <a:rPr lang="en-US" altLang="zh-CN" sz="2000" dirty="0">
                <a:ea typeface="宋体" pitchFamily="2" charset="-122"/>
              </a:rPr>
              <a:t>by sending it a SIGKILL signal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SIGCHLD signal (number 17) </a:t>
            </a:r>
          </a:p>
          <a:p>
            <a:pPr lvl="1">
              <a:defRPr/>
            </a:pPr>
            <a:r>
              <a:rPr lang="en-US" altLang="zh-CN" sz="2000" dirty="0">
                <a:ea typeface="宋体" pitchFamily="2" charset="-122"/>
              </a:rPr>
              <a:t>When a child process </a:t>
            </a:r>
            <a:r>
              <a:rPr lang="en-US" altLang="zh-CN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terminates</a:t>
            </a:r>
            <a:r>
              <a:rPr lang="en-US" altLang="zh-CN" sz="2000" dirty="0">
                <a:ea typeface="宋体" pitchFamily="2" charset="-122"/>
              </a:rPr>
              <a:t> or </a:t>
            </a:r>
            <a:r>
              <a:rPr lang="en-US" altLang="zh-CN" sz="2000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stops</a:t>
            </a:r>
            <a:r>
              <a:rPr lang="en-US" altLang="zh-CN" sz="2000" dirty="0">
                <a:ea typeface="宋体" pitchFamily="2" charset="-122"/>
              </a:rPr>
              <a:t>, </a:t>
            </a:r>
          </a:p>
          <a:p>
            <a:pPr lvl="1">
              <a:defRPr/>
            </a:pPr>
            <a:r>
              <a:rPr lang="en-US" altLang="zh-CN" sz="2000" dirty="0">
                <a:ea typeface="宋体" pitchFamily="2" charset="-122"/>
              </a:rPr>
              <a:t>the kernel sends a SIGCHLD signal to the parent.</a:t>
            </a:r>
            <a:endParaRPr lang="zh-CN" altLang="en-US" sz="2000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Linux Signals</a:t>
            </a:r>
            <a:endParaRPr lang="zh-CN" altLang="en-US">
              <a:ea typeface="宋体" charset="-122"/>
            </a:endParaRPr>
          </a:p>
        </p:txBody>
      </p:sp>
      <p:sp>
        <p:nvSpPr>
          <p:cNvPr id="3174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0A39D4-EF6B-BA41-8059-D22E5FB5BB56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pic>
        <p:nvPicPr>
          <p:cNvPr id="5120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981200"/>
            <a:ext cx="6934200" cy="4549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</p:pic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762000" y="15240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&gt; man signal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Linux Signals</a:t>
            </a:r>
            <a:endParaRPr kumimoji="1" lang="zh-CN" altLang="en-US"/>
          </a:p>
        </p:txBody>
      </p:sp>
      <p:sp>
        <p:nvSpPr>
          <p:cNvPr id="3277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系统共定义了</a:t>
            </a:r>
            <a:r>
              <a:rPr lang="en-US" altLang="zh-CN"/>
              <a:t>64</a:t>
            </a:r>
            <a:r>
              <a:rPr lang="zh-CN" altLang="en-US"/>
              <a:t>种信号</a:t>
            </a:r>
            <a:endParaRPr lang="en-US" altLang="zh-CN"/>
          </a:p>
          <a:p>
            <a:pPr lvl="1"/>
            <a:r>
              <a:rPr lang="zh-CN" altLang="en-US"/>
              <a:t>不可靠信号： 也称为非实时信号，</a:t>
            </a:r>
            <a:r>
              <a:rPr lang="en-US" altLang="zh-CN"/>
              <a:t>standard signal</a:t>
            </a:r>
          </a:p>
          <a:p>
            <a:pPr lvl="2"/>
            <a:r>
              <a:rPr lang="zh-CN" altLang="en-US"/>
              <a:t>不支持排队，信号可能会丢失</a:t>
            </a:r>
            <a:r>
              <a:rPr lang="en-US" altLang="zh-CN"/>
              <a:t>, </a:t>
            </a:r>
            <a:r>
              <a:rPr lang="zh-CN" altLang="en-US"/>
              <a:t>比如发送多次相同的信号</a:t>
            </a:r>
            <a:r>
              <a:rPr lang="en-US" altLang="zh-CN"/>
              <a:t>, </a:t>
            </a:r>
            <a:r>
              <a:rPr lang="zh-CN" altLang="en-US"/>
              <a:t>进程只能收到一次</a:t>
            </a:r>
            <a:endParaRPr lang="en-US" altLang="zh-CN"/>
          </a:p>
          <a:p>
            <a:pPr lvl="2"/>
            <a:r>
              <a:rPr lang="zh-CN" altLang="en-US"/>
              <a:t>信号值取值区间为</a:t>
            </a:r>
            <a:r>
              <a:rPr lang="en-US" altLang="zh-CN"/>
              <a:t>1~31</a:t>
            </a:r>
            <a:endParaRPr lang="zh-CN" altLang="en-US"/>
          </a:p>
          <a:p>
            <a:pPr lvl="1"/>
            <a:r>
              <a:rPr lang="zh-CN" altLang="en-US"/>
              <a:t>可靠信号： 也称为实时信号，</a:t>
            </a:r>
            <a:r>
              <a:rPr lang="en-US" altLang="zh-CN"/>
              <a:t>real-time signal</a:t>
            </a:r>
          </a:p>
          <a:p>
            <a:pPr lvl="2"/>
            <a:r>
              <a:rPr lang="zh-CN" altLang="en-US"/>
              <a:t>支持排队</a:t>
            </a:r>
            <a:r>
              <a:rPr lang="en-US" altLang="zh-CN"/>
              <a:t>, </a:t>
            </a:r>
            <a:r>
              <a:rPr lang="zh-CN" altLang="en-US"/>
              <a:t>信号不会丢失</a:t>
            </a:r>
            <a:r>
              <a:rPr lang="en-US" altLang="zh-CN"/>
              <a:t>, </a:t>
            </a:r>
            <a:r>
              <a:rPr lang="zh-CN" altLang="en-US"/>
              <a:t>发多少次</a:t>
            </a:r>
            <a:r>
              <a:rPr lang="en-US" altLang="zh-CN"/>
              <a:t>, </a:t>
            </a:r>
            <a:r>
              <a:rPr lang="zh-CN" altLang="en-US"/>
              <a:t>就可以收到多少次</a:t>
            </a:r>
            <a:endParaRPr lang="en-US" altLang="zh-CN"/>
          </a:p>
          <a:p>
            <a:pPr lvl="2"/>
            <a:r>
              <a:rPr lang="zh-CN" altLang="en-US"/>
              <a:t>信号值取值区间为</a:t>
            </a:r>
            <a:r>
              <a:rPr lang="en-US" altLang="zh-CN"/>
              <a:t>32~64</a:t>
            </a:r>
          </a:p>
          <a:p>
            <a:endParaRPr kumimoji="1" lang="zh-CN" altLang="en-US"/>
          </a:p>
        </p:txBody>
      </p:sp>
      <p:sp>
        <p:nvSpPr>
          <p:cNvPr id="32771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2606A1-D5F0-6140-9F9A-6AE8D12877C5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Linux Signals</a:t>
            </a:r>
            <a:endParaRPr kumimoji="1" lang="zh-CN" altLang="en-US"/>
          </a:p>
        </p:txBody>
      </p:sp>
      <p:sp>
        <p:nvSpPr>
          <p:cNvPr id="3379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/>
              <a:t>kill </a:t>
            </a:r>
            <a:r>
              <a:rPr kumimoji="1" lang="mr-IN" altLang="zh-CN"/>
              <a:t>–</a:t>
            </a:r>
            <a:r>
              <a:rPr kumimoji="1" lang="en-US" altLang="zh-CN"/>
              <a:t>l</a:t>
            </a:r>
            <a:r>
              <a:rPr kumimoji="1" lang="zh-CN" altLang="en-US"/>
              <a:t>可以查看所有信号</a:t>
            </a:r>
            <a:endParaRPr kumimoji="1" lang="en-US" altLang="zh-CN"/>
          </a:p>
          <a:p>
            <a:pPr lvl="1"/>
            <a:endParaRPr kumimoji="1" lang="zh-CN" altLang="en-US"/>
          </a:p>
        </p:txBody>
      </p:sp>
      <p:sp>
        <p:nvSpPr>
          <p:cNvPr id="33795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264D5F2-A8E9-3743-B84F-26593B01FFD9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833438" y="2057400"/>
          <a:ext cx="7553326" cy="4424361"/>
        </p:xfrm>
        <a:graphic>
          <a:graphicData uri="http://schemas.openxmlformats.org/drawingml/2006/table">
            <a:tbl>
              <a:tblPr/>
              <a:tblGrid>
                <a:gridCol w="1682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1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90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1542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>
                          <a:effectLst/>
                        </a:rPr>
                        <a:t>取值</a:t>
                      </a:r>
                    </a:p>
                  </a:txBody>
                  <a:tcPr marL="21944" marR="21944" marT="21945" marB="21945" anchor="b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>
                          <a:effectLst/>
                        </a:rPr>
                        <a:t>名称</a:t>
                      </a:r>
                    </a:p>
                  </a:txBody>
                  <a:tcPr marL="21944" marR="21944" marT="21945" marB="21945" anchor="b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>
                          <a:effectLst/>
                        </a:rPr>
                        <a:t>解释</a:t>
                      </a:r>
                    </a:p>
                  </a:txBody>
                  <a:tcPr marL="21944" marR="21944" marT="21945" marB="21945" anchor="b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>
                          <a:effectLst/>
                        </a:rPr>
                        <a:t>默认动作</a:t>
                      </a:r>
                    </a:p>
                  </a:txBody>
                  <a:tcPr marL="21944" marR="21944" marT="21945" marB="21945" anchor="b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54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100">
                          <a:effectLst/>
                        </a:rPr>
                        <a:t>1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effectLst/>
                        </a:rPr>
                        <a:t>SIGHUP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100">
                          <a:effectLst/>
                        </a:rPr>
                        <a:t>挂起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100">
                          <a:effectLst/>
                        </a:rPr>
                        <a:t> 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542">
                <a:tc>
                  <a:txBody>
                    <a:bodyPr/>
                    <a:lstStyle/>
                    <a:p>
                      <a:pPr fontAlgn="t"/>
                      <a:r>
                        <a:rPr lang="is-IS" sz="1100">
                          <a:effectLst/>
                        </a:rPr>
                        <a:t>2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effectLst/>
                        </a:rPr>
                        <a:t>SIGINT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100">
                          <a:effectLst/>
                        </a:rPr>
                        <a:t>中断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100">
                          <a:effectLst/>
                        </a:rPr>
                        <a:t> 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907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100">
                          <a:effectLst/>
                        </a:rPr>
                        <a:t>3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effectLst/>
                        </a:rPr>
                        <a:t>SIGQUIT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100">
                          <a:effectLst/>
                        </a:rPr>
                        <a:t>退出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100" dirty="0">
                          <a:effectLst/>
                        </a:rPr>
                        <a:t> 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54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100">
                          <a:effectLst/>
                        </a:rPr>
                        <a:t>4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effectLst/>
                        </a:rPr>
                        <a:t>SIGILL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100">
                          <a:effectLst/>
                        </a:rPr>
                        <a:t>非法指令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100">
                          <a:effectLst/>
                        </a:rPr>
                        <a:t> 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907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100">
                          <a:effectLst/>
                        </a:rPr>
                        <a:t>5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effectLst/>
                        </a:rPr>
                        <a:t>SIGTRAP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100">
                          <a:effectLst/>
                        </a:rPr>
                        <a:t>断点或陷阱指令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100">
                          <a:effectLst/>
                        </a:rPr>
                        <a:t> 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907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100">
                          <a:effectLst/>
                        </a:rPr>
                        <a:t>6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effectLst/>
                        </a:rPr>
                        <a:t>SIGABRT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100">
                          <a:effectLst/>
                        </a:rPr>
                        <a:t>abort</a:t>
                      </a:r>
                      <a:r>
                        <a:rPr lang="zh-CN" altLang="en-US" sz="1100">
                          <a:effectLst/>
                        </a:rPr>
                        <a:t>发出的信号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100">
                          <a:effectLst/>
                        </a:rPr>
                        <a:t> 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907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100">
                          <a:effectLst/>
                        </a:rPr>
                        <a:t>7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effectLst/>
                        </a:rPr>
                        <a:t>SIGBUS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100">
                          <a:effectLst/>
                        </a:rPr>
                        <a:t>非法内存访问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100">
                          <a:effectLst/>
                        </a:rPr>
                        <a:t> 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154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100">
                          <a:effectLst/>
                        </a:rPr>
                        <a:t>8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effectLst/>
                        </a:rPr>
                        <a:t>SIGFPE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100">
                          <a:effectLst/>
                        </a:rPr>
                        <a:t>浮点异常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100">
                          <a:effectLst/>
                        </a:rPr>
                        <a:t> 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9415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100">
                          <a:effectLst/>
                        </a:rPr>
                        <a:t>9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effectLst/>
                        </a:rPr>
                        <a:t>SIGKILL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ja-JP" sz="1100" dirty="0">
                          <a:effectLst/>
                        </a:rPr>
                        <a:t>kill</a:t>
                      </a:r>
                      <a:r>
                        <a:rPr lang="ja-JP" altLang="en-US" sz="1100" dirty="0">
                          <a:effectLst/>
                        </a:rPr>
                        <a:t>信号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100">
                          <a:effectLst/>
                        </a:rPr>
                        <a:t>不能被忽略、处理和阻塞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1542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100">
                          <a:effectLst/>
                        </a:rPr>
                        <a:t>10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effectLst/>
                        </a:rPr>
                        <a:t>SIGUSR1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100">
                          <a:effectLst/>
                        </a:rPr>
                        <a:t>用户信号</a:t>
                      </a:r>
                      <a:r>
                        <a:rPr lang="en-US" altLang="zh-CN" sz="1100">
                          <a:effectLst/>
                        </a:rPr>
                        <a:t>1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100">
                          <a:effectLst/>
                        </a:rPr>
                        <a:t> 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0907">
                <a:tc>
                  <a:txBody>
                    <a:bodyPr/>
                    <a:lstStyle/>
                    <a:p>
                      <a:pPr fontAlgn="t"/>
                      <a:r>
                        <a:rPr lang="cs-CZ" sz="1100">
                          <a:effectLst/>
                        </a:rPr>
                        <a:t>11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effectLst/>
                        </a:rPr>
                        <a:t>SIGSEGV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100">
                          <a:effectLst/>
                        </a:rPr>
                        <a:t>无效内存访问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100">
                          <a:effectLst/>
                        </a:rPr>
                        <a:t> 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0907">
                <a:tc>
                  <a:txBody>
                    <a:bodyPr/>
                    <a:lstStyle/>
                    <a:p>
                      <a:pPr fontAlgn="t"/>
                      <a:r>
                        <a:rPr lang="is-IS" sz="1100">
                          <a:effectLst/>
                        </a:rPr>
                        <a:t>12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effectLst/>
                        </a:rPr>
                        <a:t>SIGUSR2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100">
                          <a:effectLst/>
                        </a:rPr>
                        <a:t>用户信号</a:t>
                      </a:r>
                      <a:r>
                        <a:rPr lang="en-US" altLang="zh-CN" sz="1100">
                          <a:effectLst/>
                        </a:rPr>
                        <a:t>2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100">
                          <a:effectLst/>
                        </a:rPr>
                        <a:t> 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7531">
                <a:tc>
                  <a:txBody>
                    <a:bodyPr/>
                    <a:lstStyle/>
                    <a:p>
                      <a:pPr fontAlgn="t"/>
                      <a:r>
                        <a:rPr lang="is-IS" sz="1100">
                          <a:effectLst/>
                        </a:rPr>
                        <a:t>13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effectLst/>
                        </a:rPr>
                        <a:t>SIGPIPE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100">
                          <a:effectLst/>
                        </a:rPr>
                        <a:t>管道破损，没有读端的管道写数据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100">
                          <a:effectLst/>
                        </a:rPr>
                        <a:t> 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0907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100">
                          <a:effectLst/>
                        </a:rPr>
                        <a:t>14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effectLst/>
                        </a:rPr>
                        <a:t>SIGALRM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100">
                          <a:effectLst/>
                        </a:rPr>
                        <a:t>alarm</a:t>
                      </a:r>
                      <a:r>
                        <a:rPr lang="zh-CN" altLang="en-US" sz="1100">
                          <a:effectLst/>
                        </a:rPr>
                        <a:t>发出的信号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100">
                          <a:effectLst/>
                        </a:rPr>
                        <a:t> 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0907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100">
                          <a:effectLst/>
                        </a:rPr>
                        <a:t>15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>
                          <a:effectLst/>
                        </a:rPr>
                        <a:t>SIGTERM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100">
                          <a:effectLst/>
                        </a:rPr>
                        <a:t>终止信号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100">
                          <a:effectLst/>
                        </a:rPr>
                        <a:t> 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0907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100" dirty="0">
                          <a:effectLst/>
                        </a:rPr>
                        <a:t>16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100" dirty="0">
                          <a:effectLst/>
                        </a:rPr>
                        <a:t>SIGSTKFLT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100" dirty="0">
                          <a:effectLst/>
                        </a:rPr>
                        <a:t>栈溢出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100" dirty="0">
                          <a:effectLst/>
                        </a:rPr>
                        <a:t> </a:t>
                      </a:r>
                    </a:p>
                  </a:txBody>
                  <a:tcPr marL="21944" marR="21944" marT="21945" marB="21945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Linux Signals</a:t>
            </a:r>
            <a:endParaRPr kumimoji="1" lang="zh-CN" altLang="en-US"/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</p:nvPr>
        </p:nvGraphicFramePr>
        <p:xfrm>
          <a:off x="609600" y="1828800"/>
          <a:ext cx="7924800" cy="3765696"/>
        </p:xfrm>
        <a:graphic>
          <a:graphicData uri="http://schemas.openxmlformats.org/drawingml/2006/table">
            <a:tbl>
              <a:tblPr/>
              <a:tblGrid>
                <a:gridCol w="1025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30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3845"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>
                          <a:effectLst/>
                        </a:rPr>
                        <a:t>取值</a:t>
                      </a:r>
                    </a:p>
                  </a:txBody>
                  <a:tcPr marL="10250" marR="10250" marT="10248" marB="10248" anchor="b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>
                          <a:effectLst/>
                        </a:rPr>
                        <a:t>名称</a:t>
                      </a:r>
                    </a:p>
                  </a:txBody>
                  <a:tcPr marL="10250" marR="10250" marT="10248" marB="10248" anchor="b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>
                          <a:effectLst/>
                        </a:rPr>
                        <a:t>解释</a:t>
                      </a:r>
                    </a:p>
                  </a:txBody>
                  <a:tcPr marL="10250" marR="10250" marT="10248" marB="10248" anchor="b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400">
                          <a:effectLst/>
                        </a:rPr>
                        <a:t>默认动作</a:t>
                      </a:r>
                    </a:p>
                  </a:txBody>
                  <a:tcPr marL="10250" marR="10250" marT="10248" marB="10248" anchor="b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400" dirty="0">
                          <a:effectLst/>
                        </a:rPr>
                        <a:t>17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SIGCHLD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子进程退出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默认忽略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fi-FI" sz="1400">
                          <a:effectLst/>
                        </a:rPr>
                        <a:t>18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SIGCONT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进程继续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400">
                          <a:effectLst/>
                        </a:rPr>
                        <a:t> 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400">
                          <a:effectLst/>
                        </a:rPr>
                        <a:t>19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SIGSTOP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进程停止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不能被忽略、处理和阻塞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is-IS" sz="1400">
                          <a:effectLst/>
                        </a:rPr>
                        <a:t>20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SIGTSTP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进程停止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400">
                          <a:effectLst/>
                        </a:rPr>
                        <a:t> 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856">
                <a:tc>
                  <a:txBody>
                    <a:bodyPr/>
                    <a:lstStyle/>
                    <a:p>
                      <a:pPr fontAlgn="t"/>
                      <a:r>
                        <a:rPr lang="cs-CZ" sz="1400">
                          <a:effectLst/>
                        </a:rPr>
                        <a:t>21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SIGTTIN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进程停止，后台进程从终端读数据时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400">
                          <a:effectLst/>
                        </a:rPr>
                        <a:t> 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856">
                <a:tc>
                  <a:txBody>
                    <a:bodyPr/>
                    <a:lstStyle/>
                    <a:p>
                      <a:pPr fontAlgn="t"/>
                      <a:r>
                        <a:rPr lang="is-IS" sz="1400">
                          <a:effectLst/>
                        </a:rPr>
                        <a:t>22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SIGTTOU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进程停止，后台进程想终端写数据时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400">
                          <a:effectLst/>
                        </a:rPr>
                        <a:t> 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856">
                <a:tc>
                  <a:txBody>
                    <a:bodyPr/>
                    <a:lstStyle/>
                    <a:p>
                      <a:pPr fontAlgn="t"/>
                      <a:r>
                        <a:rPr lang="is-IS" sz="1400">
                          <a:effectLst/>
                        </a:rPr>
                        <a:t>23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SIGURG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400">
                          <a:effectLst/>
                        </a:rPr>
                        <a:t>I/O</a:t>
                      </a:r>
                      <a:r>
                        <a:rPr lang="zh-CN" altLang="en-US" sz="1400">
                          <a:effectLst/>
                        </a:rPr>
                        <a:t>有紧急数据到达当前进程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默认忽略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is-IS" sz="1400">
                          <a:effectLst/>
                        </a:rPr>
                        <a:t>24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SIGXCPU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进程的</a:t>
                      </a:r>
                      <a:r>
                        <a:rPr lang="en-US" altLang="zh-CN" sz="1400">
                          <a:effectLst/>
                        </a:rPr>
                        <a:t>CPU</a:t>
                      </a:r>
                      <a:r>
                        <a:rPr lang="zh-CN" altLang="en-US" sz="1400">
                          <a:effectLst/>
                        </a:rPr>
                        <a:t>时间片到期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400">
                          <a:effectLst/>
                        </a:rPr>
                        <a:t> 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is-IS" sz="1400">
                          <a:effectLst/>
                        </a:rPr>
                        <a:t>25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SIGXFSZ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文件大小的超出上限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400">
                          <a:effectLst/>
                        </a:rPr>
                        <a:t> 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is-IS" sz="1400">
                          <a:effectLst/>
                        </a:rPr>
                        <a:t>26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SIGVTALRM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虚拟时钟超时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400">
                          <a:effectLst/>
                        </a:rPr>
                        <a:t> 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is-IS" sz="1400">
                          <a:effectLst/>
                        </a:rPr>
                        <a:t>27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SIGPROF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400">
                          <a:effectLst/>
                        </a:rPr>
                        <a:t>profile</a:t>
                      </a:r>
                      <a:r>
                        <a:rPr lang="zh-CN" altLang="en-US" sz="1400">
                          <a:effectLst/>
                        </a:rPr>
                        <a:t>时钟超时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400">
                          <a:effectLst/>
                        </a:rPr>
                        <a:t> 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is-IS" sz="1400">
                          <a:effectLst/>
                        </a:rPr>
                        <a:t>28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SIGWINCH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窗口大小改变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默认忽略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is-IS" sz="1400">
                          <a:effectLst/>
                        </a:rPr>
                        <a:t>29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SIGIO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400">
                          <a:effectLst/>
                        </a:rPr>
                        <a:t>I/O</a:t>
                      </a:r>
                      <a:r>
                        <a:rPr lang="zh-CN" altLang="en-US" sz="1400">
                          <a:effectLst/>
                        </a:rPr>
                        <a:t>相关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400">
                          <a:effectLst/>
                        </a:rPr>
                        <a:t> 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400">
                          <a:effectLst/>
                        </a:rPr>
                        <a:t>30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SIGPWR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关机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默认忽略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845">
                <a:tc>
                  <a:txBody>
                    <a:bodyPr/>
                    <a:lstStyle/>
                    <a:p>
                      <a:pPr fontAlgn="t"/>
                      <a:r>
                        <a:rPr lang="en-US" altLang="zh-CN" sz="1400">
                          <a:effectLst/>
                        </a:rPr>
                        <a:t>31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</a:rPr>
                        <a:t>SIGSYS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zh-CN" altLang="en-US" sz="1400">
                          <a:effectLst/>
                        </a:rPr>
                        <a:t>系统调用异常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sk-SK" sz="1400" dirty="0">
                          <a:effectLst/>
                        </a:rPr>
                        <a:t> </a:t>
                      </a:r>
                    </a:p>
                  </a:txBody>
                  <a:tcPr marL="10250" marR="10250" marT="10248" marB="10248">
                    <a:lnL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34904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D84F456-6449-1C42-81B6-94259F4CA19C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58E1EDE-7612-C54A-8D43-8F80BE84A3FE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Signal Terminology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>
                <a:ea typeface="宋体" charset="-122"/>
              </a:rPr>
              <a:t>Two steps to transfer a signal to a destination process</a:t>
            </a: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charset="-122"/>
              </a:rPr>
              <a:t>Sending a signal</a:t>
            </a: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charset="-122"/>
              </a:rPr>
              <a:t>Receiving a signal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7733B37-01D0-A640-9C35-E5C6AC5022BE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Sending a signal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44196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zh-CN">
                <a:ea typeface="宋体" charset="-122"/>
              </a:rPr>
              <a:t>The kernel </a:t>
            </a:r>
          </a:p>
          <a:p>
            <a:pPr lvl="1">
              <a:lnSpc>
                <a:spcPct val="90000"/>
              </a:lnSpc>
            </a:pPr>
            <a:r>
              <a:rPr lang="zh-CN" altLang="en-US">
                <a:solidFill>
                  <a:srgbClr val="FF0000"/>
                </a:solidFill>
                <a:ea typeface="宋体" charset="-122"/>
              </a:rPr>
              <a:t>发送</a:t>
            </a:r>
            <a:r>
              <a:rPr lang="zh-CN" altLang="en-US">
                <a:ea typeface="宋体" charset="-122"/>
              </a:rPr>
              <a:t>（传送）信号到目标进程</a:t>
            </a:r>
            <a:endParaRPr lang="en-US" altLang="zh-CN">
              <a:ea typeface="宋体" charset="-122"/>
            </a:endParaRPr>
          </a:p>
          <a:p>
            <a:pPr lvl="2">
              <a:lnSpc>
                <a:spcPct val="90000"/>
              </a:lnSpc>
            </a:pPr>
            <a:r>
              <a:rPr lang="zh-CN" altLang="en-US">
                <a:ea typeface="宋体" charset="-122"/>
              </a:rPr>
              <a:t>在目标进程的上下文中的某些状态进行设置</a:t>
            </a:r>
            <a:endParaRPr lang="en-US" altLang="zh-CN">
              <a:ea typeface="宋体" charset="-122"/>
            </a:endParaRPr>
          </a:p>
          <a:p>
            <a:pPr>
              <a:lnSpc>
                <a:spcPct val="90000"/>
              </a:lnSpc>
            </a:pPr>
            <a:r>
              <a:rPr lang="zh-CN" altLang="en-US">
                <a:ea typeface="宋体" charset="-122"/>
              </a:rPr>
              <a:t>信号产生的原因：</a:t>
            </a:r>
            <a:endParaRPr lang="en-US" altLang="zh-CN">
              <a:ea typeface="宋体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>
                <a:ea typeface="宋体" charset="-122"/>
              </a:rPr>
              <a:t>硬件原因</a:t>
            </a:r>
            <a:endParaRPr lang="en-US" altLang="zh-CN">
              <a:ea typeface="宋体" charset="-122"/>
            </a:endParaRPr>
          </a:p>
          <a:p>
            <a:pPr lvl="2">
              <a:lnSpc>
                <a:spcPct val="90000"/>
              </a:lnSpc>
            </a:pPr>
            <a:r>
              <a:rPr lang="zh-CN" altLang="en-US">
                <a:ea typeface="宋体" charset="-122"/>
              </a:rPr>
              <a:t>如敲键盘（</a:t>
            </a:r>
            <a:r>
              <a:rPr lang="en-US" altLang="zh-CN">
                <a:ea typeface="宋体" charset="-122"/>
              </a:rPr>
              <a:t>Ctrl+C</a:t>
            </a:r>
            <a:r>
              <a:rPr lang="zh-CN" altLang="en-US">
                <a:ea typeface="宋体" charset="-122"/>
              </a:rPr>
              <a:t>）</a:t>
            </a:r>
            <a:endParaRPr lang="en-US" altLang="zh-CN">
              <a:ea typeface="宋体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>
                <a:ea typeface="宋体" charset="-122"/>
              </a:rPr>
              <a:t>内核检测到某个系统事件</a:t>
            </a:r>
            <a:endParaRPr lang="en-US" altLang="zh-CN">
              <a:ea typeface="宋体" charset="-122"/>
            </a:endParaRPr>
          </a:p>
          <a:p>
            <a:pPr lvl="2">
              <a:lnSpc>
                <a:spcPct val="90000"/>
              </a:lnSpc>
            </a:pPr>
            <a:r>
              <a:rPr lang="zh-CN" altLang="en-US">
                <a:ea typeface="宋体" charset="-122"/>
              </a:rPr>
              <a:t>例如除以</a:t>
            </a:r>
            <a:r>
              <a:rPr lang="en-US" altLang="zh-CN">
                <a:ea typeface="宋体" charset="-122"/>
              </a:rPr>
              <a:t>0</a:t>
            </a:r>
            <a:r>
              <a:rPr lang="zh-CN" altLang="en-US">
                <a:ea typeface="宋体" charset="-122"/>
              </a:rPr>
              <a:t>，子进程终止等</a:t>
            </a:r>
            <a:endParaRPr lang="en-US" altLang="zh-CN">
              <a:ea typeface="宋体" charset="-122"/>
            </a:endParaRPr>
          </a:p>
          <a:p>
            <a:pPr lvl="1">
              <a:lnSpc>
                <a:spcPct val="90000"/>
              </a:lnSpc>
            </a:pPr>
            <a:r>
              <a:rPr lang="zh-CN" altLang="en-US">
                <a:ea typeface="宋体" charset="-122"/>
              </a:rPr>
              <a:t>进程调用了某些系统调用（如</a:t>
            </a:r>
            <a:r>
              <a:rPr lang="en-US" altLang="zh-CN">
                <a:ea typeface="宋体" charset="-122"/>
              </a:rPr>
              <a:t>kill</a:t>
            </a:r>
            <a:r>
              <a:rPr lang="zh-CN" altLang="en-US">
                <a:ea typeface="宋体" charset="-122"/>
              </a:rPr>
              <a:t>）</a:t>
            </a:r>
            <a:endParaRPr lang="en-US" altLang="zh-CN">
              <a:ea typeface="宋体" charset="-122"/>
            </a:endParaRPr>
          </a:p>
          <a:p>
            <a:pPr lvl="2">
              <a:lnSpc>
                <a:spcPct val="90000"/>
              </a:lnSpc>
            </a:pPr>
            <a:r>
              <a:rPr lang="en-US" altLang="zh-CN"/>
              <a:t>kill()</a:t>
            </a:r>
            <a:r>
              <a:rPr lang="zh-CN" altLang="en-US"/>
              <a:t>，</a:t>
            </a:r>
            <a:r>
              <a:rPr lang="en-US" altLang="zh-CN"/>
              <a:t>raise()</a:t>
            </a:r>
            <a:r>
              <a:rPr lang="zh-CN" altLang="en-US"/>
              <a:t>，</a:t>
            </a:r>
            <a:r>
              <a:rPr lang="en-US" altLang="zh-CN"/>
              <a:t>sigqueue()</a:t>
            </a:r>
            <a:r>
              <a:rPr lang="zh-CN" altLang="en-US"/>
              <a:t>，</a:t>
            </a:r>
            <a:r>
              <a:rPr lang="en-US" altLang="zh-CN"/>
              <a:t>alarm()</a:t>
            </a:r>
            <a:r>
              <a:rPr lang="zh-CN" altLang="en-US"/>
              <a:t>，</a:t>
            </a:r>
            <a:r>
              <a:rPr lang="en-US" altLang="zh-CN"/>
              <a:t>setitimer()</a:t>
            </a:r>
            <a:r>
              <a:rPr lang="zh-CN" altLang="en-US"/>
              <a:t>，</a:t>
            </a:r>
            <a:r>
              <a:rPr lang="en-US" altLang="zh-CN"/>
              <a:t>abort()</a:t>
            </a:r>
            <a:endParaRPr lang="en-US" altLang="zh-CN">
              <a:ea typeface="宋体" charset="-122"/>
            </a:endParaRPr>
          </a:p>
          <a:p>
            <a:pPr lvl="2">
              <a:lnSpc>
                <a:spcPct val="90000"/>
              </a:lnSpc>
            </a:pPr>
            <a:r>
              <a:rPr lang="zh-CN" altLang="en-US">
                <a:ea typeface="宋体" charset="-122"/>
              </a:rPr>
              <a:t>让内核给目标进程发信号</a:t>
            </a:r>
            <a:endParaRPr lang="en-US" altLang="zh-CN">
              <a:ea typeface="宋体" charset="-122"/>
            </a:endParaRPr>
          </a:p>
          <a:p>
            <a:pPr lvl="2">
              <a:lnSpc>
                <a:spcPct val="90000"/>
              </a:lnSpc>
            </a:pPr>
            <a:r>
              <a:rPr lang="zh-CN" altLang="en-US">
                <a:ea typeface="宋体" charset="-122"/>
              </a:rPr>
              <a:t>进程可以发送信号给自己</a:t>
            </a:r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Sending a signal</a:t>
            </a:r>
            <a:endParaRPr kumimoji="1" lang="zh-CN" altLang="en-US"/>
          </a:p>
        </p:txBody>
      </p:sp>
      <p:sp>
        <p:nvSpPr>
          <p:cNvPr id="3993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/>
              <a:t>kill()</a:t>
            </a:r>
            <a:r>
              <a:rPr lang="zh-CN" altLang="en-US" sz="2400"/>
              <a:t>：用于向进程或进程组发送信号；</a:t>
            </a:r>
          </a:p>
          <a:p>
            <a:r>
              <a:rPr lang="en-US" altLang="zh-CN" sz="2400"/>
              <a:t>sigqueue()</a:t>
            </a:r>
            <a:r>
              <a:rPr lang="zh-CN" altLang="en-US" sz="2400"/>
              <a:t>：只能向一个进程发送信号，不能像进程组发送信号；主要针对实时信号提出，与</a:t>
            </a:r>
            <a:r>
              <a:rPr lang="en-US" altLang="zh-CN" sz="2400"/>
              <a:t>sigaction()</a:t>
            </a:r>
            <a:r>
              <a:rPr lang="zh-CN" altLang="en-US" sz="2400"/>
              <a:t>组合使用，当然也支持非实时信号的发送；</a:t>
            </a:r>
          </a:p>
          <a:p>
            <a:r>
              <a:rPr lang="en-US" altLang="zh-CN" sz="2400"/>
              <a:t>alarm()</a:t>
            </a:r>
            <a:r>
              <a:rPr lang="zh-CN" altLang="en-US" sz="2400"/>
              <a:t>：用于调用进程指定时间后发出</a:t>
            </a:r>
            <a:r>
              <a:rPr lang="en-US" altLang="zh-CN" sz="2400"/>
              <a:t>SIGALARM</a:t>
            </a:r>
            <a:r>
              <a:rPr lang="zh-CN" altLang="en-US" sz="2400"/>
              <a:t>信号；</a:t>
            </a:r>
          </a:p>
          <a:p>
            <a:r>
              <a:rPr lang="en-US" altLang="zh-CN" sz="2400"/>
              <a:t>setitimer()</a:t>
            </a:r>
            <a:r>
              <a:rPr lang="zh-CN" altLang="en-US" sz="2400"/>
              <a:t>：设置定时器，计时达到后给进程发送</a:t>
            </a:r>
            <a:r>
              <a:rPr lang="en-US" altLang="zh-CN" sz="2400"/>
              <a:t>SIGALRM</a:t>
            </a:r>
            <a:r>
              <a:rPr lang="zh-CN" altLang="en-US" sz="2400"/>
              <a:t>信号，功能比</a:t>
            </a:r>
            <a:r>
              <a:rPr lang="en-US" altLang="zh-CN" sz="2400"/>
              <a:t>alarm</a:t>
            </a:r>
            <a:r>
              <a:rPr lang="zh-CN" altLang="en-US" sz="2400"/>
              <a:t>更强大；</a:t>
            </a:r>
          </a:p>
          <a:p>
            <a:r>
              <a:rPr lang="en-US" altLang="zh-CN" sz="2400"/>
              <a:t>abort()</a:t>
            </a:r>
            <a:r>
              <a:rPr lang="zh-CN" altLang="en-US" sz="2400"/>
              <a:t>：向进程发送</a:t>
            </a:r>
            <a:r>
              <a:rPr lang="en-US" altLang="zh-CN" sz="2400"/>
              <a:t>SIGABORT</a:t>
            </a:r>
            <a:r>
              <a:rPr lang="zh-CN" altLang="en-US" sz="2400"/>
              <a:t>信号，默认进程会异常退出。</a:t>
            </a:r>
          </a:p>
          <a:p>
            <a:r>
              <a:rPr lang="en-US" altLang="zh-CN" sz="2400"/>
              <a:t>raise()</a:t>
            </a:r>
            <a:r>
              <a:rPr lang="zh-CN" altLang="en-US" sz="2400"/>
              <a:t>：用于向进程自身发送信号；</a:t>
            </a:r>
          </a:p>
          <a:p>
            <a:endParaRPr kumimoji="1" lang="zh-CN" altLang="en-US" sz="2400"/>
          </a:p>
        </p:txBody>
      </p:sp>
      <p:sp>
        <p:nvSpPr>
          <p:cNvPr id="39939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2B2C39-3A28-1D47-AE5B-C66AAF11946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1F44005-F5CB-BF40-AFF6-D4900F377E19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Receiving a signal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4419600"/>
          </a:xfrm>
        </p:spPr>
        <p:txBody>
          <a:bodyPr/>
          <a:lstStyle/>
          <a:p>
            <a:r>
              <a:rPr lang="zh-CN" altLang="en-US">
                <a:ea typeface="宋体" charset="-122"/>
              </a:rPr>
              <a:t>目标进程</a:t>
            </a:r>
            <a:r>
              <a:rPr lang="zh-CN" altLang="en-US">
                <a:solidFill>
                  <a:srgbClr val="FF0000"/>
                </a:solidFill>
                <a:ea typeface="宋体" charset="-122"/>
              </a:rPr>
              <a:t>接收</a:t>
            </a:r>
            <a:r>
              <a:rPr lang="zh-CN" altLang="en-US">
                <a:ea typeface="宋体" charset="-122"/>
              </a:rPr>
              <a:t>信号</a:t>
            </a:r>
            <a:endParaRPr lang="en-US" altLang="zh-CN">
              <a:ea typeface="宋体" charset="-122"/>
            </a:endParaRPr>
          </a:p>
          <a:p>
            <a:pPr lvl="1"/>
            <a:r>
              <a:rPr lang="zh-CN" altLang="en-US">
                <a:ea typeface="宋体" charset="-122"/>
              </a:rPr>
              <a:t>时机：当进程从内核态刚切换到用户态时；</a:t>
            </a:r>
            <a:endParaRPr lang="en-US" altLang="zh-CN">
              <a:ea typeface="宋体" charset="-122"/>
            </a:endParaRPr>
          </a:p>
          <a:p>
            <a:pPr lvl="1"/>
            <a:r>
              <a:rPr lang="zh-CN" altLang="en-US">
                <a:ea typeface="宋体" charset="-122"/>
              </a:rPr>
              <a:t>因为信号都是内核发送的，所以这时可以处理之前发送给该进程的所有信号（从小到大处理）；</a:t>
            </a:r>
            <a:endParaRPr lang="en-US" altLang="zh-CN">
              <a:ea typeface="宋体" charset="-122"/>
            </a:endParaRPr>
          </a:p>
          <a:p>
            <a:pPr lvl="1"/>
            <a:r>
              <a:rPr lang="zh-CN" altLang="en-US">
                <a:ea typeface="宋体" charset="-122"/>
              </a:rPr>
              <a:t>该进程工作在用户态期间，不会产生新的信号（因为要先进入内核态，才能产生信号；</a:t>
            </a:r>
            <a:r>
              <a:rPr lang="en-US" altLang="zh-CN">
                <a:ea typeface="宋体" charset="-122"/>
              </a:rPr>
              <a:t>kill</a:t>
            </a:r>
            <a:r>
              <a:rPr lang="zh-CN" altLang="en-US">
                <a:ea typeface="宋体" charset="-122"/>
              </a:rPr>
              <a:t>是系统调用）</a:t>
            </a:r>
            <a:endParaRPr lang="en-US" altLang="zh-CN">
              <a:ea typeface="宋体" charset="-122"/>
            </a:endParaRPr>
          </a:p>
          <a:p>
            <a:pPr lvl="1"/>
            <a:r>
              <a:rPr lang="zh-CN" altLang="en-US"/>
              <a:t>在内核态，</a:t>
            </a:r>
            <a:r>
              <a:rPr lang="en-US" altLang="zh-CN"/>
              <a:t>signal</a:t>
            </a:r>
            <a:r>
              <a:rPr lang="zh-CN" altLang="en-US"/>
              <a:t>信号不起作用；</a:t>
            </a:r>
          </a:p>
          <a:p>
            <a:pPr lvl="1"/>
            <a:r>
              <a:rPr lang="zh-CN" altLang="en-US"/>
              <a:t>在用户态，</a:t>
            </a:r>
            <a:r>
              <a:rPr lang="en-US" altLang="zh-CN"/>
              <a:t>signal</a:t>
            </a:r>
            <a:r>
              <a:rPr lang="zh-CN" altLang="en-US"/>
              <a:t>所有未被屏蔽的信号都处理完毕；</a:t>
            </a:r>
          </a:p>
          <a:p>
            <a:pPr lvl="1"/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Receiving a signal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zh-CN" altLang="en-US" dirty="0">
                <a:ea typeface="宋体" pitchFamily="2" charset="-122"/>
              </a:rPr>
              <a:t>对于收到的信号，进程可以有</a:t>
            </a:r>
            <a:r>
              <a:rPr lang="en-US" altLang="zh-CN" dirty="0">
                <a:ea typeface="宋体" pitchFamily="2" charset="-122"/>
              </a:rPr>
              <a:t>3</a:t>
            </a:r>
            <a:r>
              <a:rPr lang="zh-CN" altLang="en-US" dirty="0">
                <a:ea typeface="宋体" pitchFamily="2" charset="-122"/>
              </a:rPr>
              <a:t>种处理方式：</a:t>
            </a:r>
            <a:endParaRPr lang="en-US" altLang="zh-CN" dirty="0">
              <a:ea typeface="宋体" pitchFamily="2" charset="-122"/>
            </a:endParaRPr>
          </a:p>
          <a:p>
            <a:pPr lvl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Ignore</a:t>
            </a:r>
            <a:r>
              <a:rPr lang="en-US" altLang="zh-CN" dirty="0">
                <a:ea typeface="宋体" pitchFamily="2" charset="-122"/>
              </a:rPr>
              <a:t> the signal</a:t>
            </a:r>
          </a:p>
          <a:p>
            <a:pPr lvl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Terminate</a:t>
            </a:r>
            <a:endParaRPr lang="en-US" altLang="zh-CN" dirty="0">
              <a:ea typeface="宋体" pitchFamily="2" charset="-122"/>
            </a:endParaRPr>
          </a:p>
          <a:p>
            <a:pPr lvl="1"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Catch</a:t>
            </a:r>
            <a:r>
              <a:rPr lang="en-US" altLang="zh-CN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the signal </a:t>
            </a:r>
          </a:p>
          <a:p>
            <a:pPr lvl="2">
              <a:defRPr/>
            </a:pPr>
            <a:r>
              <a:rPr lang="en-US" altLang="zh-CN" dirty="0">
                <a:ea typeface="宋体" pitchFamily="2" charset="-122"/>
              </a:rPr>
              <a:t>by executing a user-level function called a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signal handler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  <a:p>
            <a:pPr>
              <a:defRPr/>
            </a:pPr>
            <a:endParaRPr kumimoji="1" lang="zh-CN" altLang="en-US" dirty="0"/>
          </a:p>
        </p:txBody>
      </p:sp>
      <p:sp>
        <p:nvSpPr>
          <p:cNvPr id="43011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792C17-085F-E842-A89B-B0B4E53C2991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F29AFA8-C10C-1745-91DB-CF731F491AC7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Pending Signal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defRPr/>
            </a:pPr>
            <a:r>
              <a:rPr lang="en-US" altLang="zh-CN" sz="2400" dirty="0">
                <a:ea typeface="宋体" pitchFamily="2" charset="-122"/>
              </a:rPr>
              <a:t>Pending signal </a:t>
            </a:r>
          </a:p>
          <a:p>
            <a:pPr lvl="1">
              <a:defRPr/>
            </a:pPr>
            <a:r>
              <a:rPr lang="zh-CN" altLang="en-US" sz="2000" dirty="0">
                <a:ea typeface="宋体" pitchFamily="2" charset="-122"/>
              </a:rPr>
              <a:t>已经发送，但还没有接受的信号，叫做</a:t>
            </a:r>
            <a:r>
              <a:rPr lang="en-US" altLang="zh-CN" sz="2000" dirty="0">
                <a:ea typeface="宋体" pitchFamily="2" charset="-122"/>
              </a:rPr>
              <a:t>pending signal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宋体" pitchFamily="2" charset="-122"/>
            </a:endParaRPr>
          </a:p>
          <a:p>
            <a:pPr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Only one</a:t>
            </a:r>
          </a:p>
          <a:p>
            <a:pPr lvl="1">
              <a:defRPr/>
            </a:pPr>
            <a:r>
              <a:rPr lang="en-US" altLang="zh-CN" sz="2000" dirty="0">
                <a:ea typeface="宋体" pitchFamily="2" charset="-122"/>
              </a:rPr>
              <a:t>At any point in time, </a:t>
            </a:r>
          </a:p>
          <a:p>
            <a:pPr lvl="1">
              <a:defRPr/>
            </a:pPr>
            <a:r>
              <a:rPr lang="en-US" altLang="zh-CN" sz="2000" dirty="0">
                <a:ea typeface="宋体" pitchFamily="2" charset="-122"/>
              </a:rPr>
              <a:t>there can be </a:t>
            </a:r>
            <a:r>
              <a:rPr lang="en-US" altLang="zh-CN" sz="2000" dirty="0">
                <a:solidFill>
                  <a:srgbClr val="FF0000"/>
                </a:solidFill>
                <a:ea typeface="宋体" pitchFamily="2" charset="-122"/>
              </a:rPr>
              <a:t>at most one </a:t>
            </a:r>
            <a:r>
              <a:rPr lang="en-US" altLang="zh-CN" sz="2000" dirty="0">
                <a:ea typeface="宋体" pitchFamily="2" charset="-122"/>
              </a:rPr>
              <a:t>pending signal of a particular type</a:t>
            </a:r>
          </a:p>
          <a:p>
            <a:pPr>
              <a:defRPr/>
            </a:pP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Not queued</a:t>
            </a:r>
          </a:p>
          <a:p>
            <a:pPr lvl="1">
              <a:defRPr/>
            </a:pPr>
            <a:r>
              <a:rPr lang="en-US" altLang="zh-CN" sz="2000" dirty="0">
                <a:ea typeface="宋体" pitchFamily="2" charset="-122"/>
              </a:rPr>
              <a:t>If a process has a pending signal of type k</a:t>
            </a:r>
          </a:p>
          <a:p>
            <a:pPr lvl="1">
              <a:defRPr/>
            </a:pPr>
            <a:r>
              <a:rPr lang="en-US" altLang="zh-CN" sz="2000" dirty="0">
                <a:ea typeface="宋体" pitchFamily="2" charset="-122"/>
              </a:rPr>
              <a:t>then any subsequent signals of type k sent to that process are not queued</a:t>
            </a:r>
          </a:p>
          <a:p>
            <a:pPr lvl="1">
              <a:defRPr/>
            </a:pPr>
            <a:r>
              <a:rPr lang="en-US" altLang="zh-CN" sz="2000" dirty="0">
                <a:ea typeface="宋体" pitchFamily="2" charset="-122"/>
              </a:rPr>
              <a:t>they are simply 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discarded</a:t>
            </a:r>
            <a:r>
              <a:rPr lang="en-US" altLang="zh-CN" sz="2000" dirty="0">
                <a:ea typeface="宋体" pitchFamily="2" charset="-122"/>
              </a:rPr>
              <a:t>. </a:t>
            </a:r>
          </a:p>
          <a:p>
            <a:pPr>
              <a:defRPr/>
            </a:pPr>
            <a:r>
              <a:rPr lang="en-US" altLang="zh-CN" sz="2400" dirty="0">
                <a:ea typeface="宋体" pitchFamily="2" charset="-122"/>
              </a:rPr>
              <a:t>A pending signal is received at most once.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1C39FB9-7B5B-7E40-BFFD-05B21EC8A4D5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Blocking a Signal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>
                <a:ea typeface="宋体" charset="-122"/>
              </a:rPr>
              <a:t>进程可以</a:t>
            </a:r>
            <a:r>
              <a:rPr lang="zh-CN" altLang="en-US">
                <a:solidFill>
                  <a:srgbClr val="FF0000"/>
                </a:solidFill>
                <a:ea typeface="宋体" charset="-122"/>
              </a:rPr>
              <a:t>选择性</a:t>
            </a:r>
            <a:r>
              <a:rPr lang="en-US" altLang="zh-CN">
                <a:solidFill>
                  <a:srgbClr val="FF0000"/>
                </a:solidFill>
                <a:ea typeface="宋体" charset="-122"/>
              </a:rPr>
              <a:t>block</a:t>
            </a:r>
            <a:r>
              <a:rPr lang="zh-CN" altLang="en-US">
                <a:ea typeface="宋体" charset="-122"/>
              </a:rPr>
              <a:t>特定信号的接收</a:t>
            </a:r>
            <a:endParaRPr lang="en-US" altLang="zh-CN">
              <a:ea typeface="宋体" charset="-122"/>
            </a:endParaRPr>
          </a:p>
          <a:p>
            <a:pPr>
              <a:lnSpc>
                <a:spcPct val="120000"/>
              </a:lnSpc>
            </a:pPr>
            <a:r>
              <a:rPr lang="zh-CN" altLang="en-US">
                <a:ea typeface="宋体" charset="-122"/>
              </a:rPr>
              <a:t>当一个信号被</a:t>
            </a:r>
            <a:r>
              <a:rPr lang="en-US" altLang="zh-CN">
                <a:ea typeface="宋体" charset="-122"/>
              </a:rPr>
              <a:t>block</a:t>
            </a:r>
            <a:r>
              <a:rPr lang="zh-CN" altLang="en-US">
                <a:ea typeface="宋体" charset="-122"/>
              </a:rPr>
              <a:t>时</a:t>
            </a:r>
            <a:endParaRPr lang="en-US" altLang="zh-CN">
              <a:ea typeface="宋体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>
                <a:ea typeface="宋体" charset="-122"/>
              </a:rPr>
              <a:t>可以发送</a:t>
            </a:r>
            <a:endParaRPr lang="en-US" altLang="zh-CN">
              <a:ea typeface="宋体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>
                <a:ea typeface="宋体" charset="-122"/>
              </a:rPr>
              <a:t>但是</a:t>
            </a:r>
            <a:r>
              <a:rPr lang="en-US" altLang="zh-CN">
                <a:ea typeface="宋体" charset="-122"/>
              </a:rPr>
              <a:t>pending signal</a:t>
            </a:r>
            <a:r>
              <a:rPr lang="zh-CN" altLang="en-US">
                <a:ea typeface="宋体" charset="-122"/>
              </a:rPr>
              <a:t>不会被接受</a:t>
            </a:r>
            <a:endParaRPr lang="en-US" altLang="zh-CN">
              <a:ea typeface="宋体" charset="-122"/>
            </a:endParaRPr>
          </a:p>
          <a:p>
            <a:pPr lvl="1">
              <a:lnSpc>
                <a:spcPct val="120000"/>
              </a:lnSpc>
            </a:pPr>
            <a:r>
              <a:rPr lang="zh-CN" altLang="en-US">
                <a:ea typeface="宋体" charset="-122"/>
              </a:rPr>
              <a:t>直到该进程</a:t>
            </a:r>
            <a:r>
              <a:rPr lang="en-US" altLang="zh-CN">
                <a:ea typeface="宋体" charset="-122"/>
              </a:rPr>
              <a:t>unblock</a:t>
            </a:r>
            <a:r>
              <a:rPr lang="zh-CN" altLang="en-US">
                <a:ea typeface="宋体" charset="-122"/>
              </a:rPr>
              <a:t>这种</a:t>
            </a:r>
            <a:r>
              <a:rPr lang="en-US" altLang="zh-CN">
                <a:ea typeface="宋体" charset="-122"/>
              </a:rPr>
              <a:t>signal</a:t>
            </a:r>
            <a:br>
              <a:rPr lang="en-US" altLang="zh-CN">
                <a:ea typeface="宋体" charset="-122"/>
              </a:rPr>
            </a:br>
            <a:endParaRPr lang="zh-CN" altLang="en-US">
              <a:ea typeface="宋体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48AC1F7-A853-6F4B-B5B1-EB29687ECC6F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Internal Data Structures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For each process, the kernel maintains 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the set of pending signals in the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pending </a:t>
            </a:r>
            <a:r>
              <a:rPr lang="en-US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bit vector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the set of blocked signals in the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blocked bit vector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The kernel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sets</a:t>
            </a:r>
            <a:r>
              <a:rPr lang="en-US" altLang="zh-CN" dirty="0">
                <a:ea typeface="宋体" pitchFamily="2" charset="-122"/>
              </a:rPr>
              <a:t> bit k in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pending 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whenever a signal of type k</a:t>
            </a:r>
            <a:r>
              <a:rPr lang="en-US" altLang="zh-CN" dirty="0">
                <a:latin typeface="Arial" pitchFamily="34" charset="0"/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is delivered</a:t>
            </a: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The kernel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clears</a:t>
            </a:r>
            <a:r>
              <a:rPr lang="en-US" altLang="zh-CN" dirty="0">
                <a:ea typeface="宋体" pitchFamily="2" charset="-122"/>
              </a:rPr>
              <a:t> bit k</a:t>
            </a:r>
            <a:r>
              <a:rPr lang="en-US" altLang="zh-CN" dirty="0">
                <a:latin typeface="Arial" pitchFamily="34" charset="0"/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in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pending 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whenever a signal of type k</a:t>
            </a:r>
            <a:r>
              <a:rPr lang="en-US" altLang="zh-CN" dirty="0">
                <a:latin typeface="Arial" pitchFamily="34" charset="0"/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is received.</a:t>
            </a:r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5D325C8-54B9-3448-9D74-71287286A7E8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Process Groups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r>
              <a:rPr lang="zh-CN" altLang="en-US">
                <a:ea typeface="宋体" charset="-122"/>
              </a:rPr>
              <a:t>可以发送信号给一些进程</a:t>
            </a:r>
            <a:endParaRPr lang="en-US" altLang="zh-CN">
              <a:ea typeface="宋体" charset="-122"/>
            </a:endParaRPr>
          </a:p>
          <a:p>
            <a:pPr lvl="1"/>
            <a:r>
              <a:rPr lang="en-US" altLang="zh-CN">
                <a:ea typeface="宋体" charset="-122"/>
              </a:rPr>
              <a:t>Unix</a:t>
            </a:r>
            <a:r>
              <a:rPr lang="zh-CN" altLang="en-US">
                <a:ea typeface="宋体" charset="-122"/>
              </a:rPr>
              <a:t>系统提供一些发送信号给多个进程的机制</a:t>
            </a:r>
            <a:endParaRPr lang="en-US" altLang="zh-CN">
              <a:ea typeface="宋体" charset="-122"/>
            </a:endParaRPr>
          </a:p>
          <a:p>
            <a:pPr lvl="1"/>
            <a:r>
              <a:rPr lang="zh-CN" altLang="en-US">
                <a:ea typeface="宋体" charset="-122"/>
              </a:rPr>
              <a:t>这些机制都依赖于进程组（</a:t>
            </a:r>
            <a:r>
              <a:rPr lang="en-US" altLang="zh-CN">
                <a:ea typeface="宋体" charset="-122"/>
              </a:rPr>
              <a:t>process group</a:t>
            </a:r>
            <a:r>
              <a:rPr lang="zh-CN" altLang="en-US">
                <a:ea typeface="宋体" charset="-122"/>
              </a:rPr>
              <a:t>，</a:t>
            </a:r>
            <a:r>
              <a:rPr lang="en-US" altLang="zh-CN">
                <a:ea typeface="宋体" charset="-122"/>
              </a:rPr>
              <a:t>pg</a:t>
            </a:r>
            <a:r>
              <a:rPr lang="zh-CN" altLang="en-US">
                <a:ea typeface="宋体" charset="-122"/>
              </a:rPr>
              <a:t>）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每个进程仅属于一个进程组</a:t>
            </a:r>
            <a:endParaRPr lang="en-US" altLang="zh-CN">
              <a:ea typeface="宋体" charset="-122"/>
            </a:endParaRPr>
          </a:p>
          <a:p>
            <a:pPr lvl="1"/>
            <a:r>
              <a:rPr lang="zh-CN" altLang="en-US">
                <a:ea typeface="宋体" charset="-122"/>
              </a:rPr>
              <a:t>进程组由一个非负数标记（进程组</a:t>
            </a:r>
            <a:r>
              <a:rPr lang="en-US" altLang="zh-CN">
                <a:ea typeface="宋体" charset="-122"/>
              </a:rPr>
              <a:t>ID</a:t>
            </a:r>
            <a:r>
              <a:rPr lang="zh-CN" altLang="en-US">
                <a:ea typeface="宋体" charset="-122"/>
              </a:rPr>
              <a:t>，</a:t>
            </a:r>
            <a:r>
              <a:rPr lang="en-US" altLang="zh-CN">
                <a:ea typeface="宋体" charset="-122"/>
              </a:rPr>
              <a:t>pgid</a:t>
            </a:r>
            <a:r>
              <a:rPr lang="zh-CN" altLang="en-US">
                <a:ea typeface="宋体" charset="-122"/>
              </a:rPr>
              <a:t>）</a:t>
            </a:r>
            <a:endParaRPr lang="en-US" altLang="zh-CN">
              <a:ea typeface="宋体" charset="-122"/>
            </a:endParaRPr>
          </a:p>
          <a:p>
            <a:r>
              <a:rPr lang="zh-CN" altLang="en-US">
                <a:ea typeface="宋体" charset="-122"/>
              </a:rPr>
              <a:t>默认情况下，自己和自己的父进程属于同一个进程组</a:t>
            </a:r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C5E40A6-8185-D34C-A606-EFF6FF31798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Process Groups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4191000"/>
            <a:ext cx="8534400" cy="22860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en-US" altLang="zh-CN" sz="2400">
                <a:ea typeface="宋体" charset="-122"/>
              </a:rPr>
              <a:t>setpgid</a:t>
            </a:r>
          </a:p>
          <a:p>
            <a:pPr lvl="1">
              <a:lnSpc>
                <a:spcPct val="130000"/>
              </a:lnSpc>
            </a:pPr>
            <a:r>
              <a:rPr lang="zh-CN" altLang="en-US" sz="2000">
                <a:ea typeface="宋体" charset="-122"/>
              </a:rPr>
              <a:t>把进程</a:t>
            </a:r>
            <a:r>
              <a:rPr lang="en-US" altLang="zh-CN" sz="2000">
                <a:ea typeface="宋体" charset="-122"/>
              </a:rPr>
              <a:t>pid</a:t>
            </a:r>
            <a:r>
              <a:rPr lang="zh-CN" altLang="en-US" sz="2000">
                <a:ea typeface="宋体" charset="-122"/>
              </a:rPr>
              <a:t>的进程组设置为</a:t>
            </a:r>
            <a:r>
              <a:rPr lang="en-US" altLang="zh-CN" sz="2000">
                <a:ea typeface="宋体" charset="-122"/>
              </a:rPr>
              <a:t>pgid</a:t>
            </a:r>
          </a:p>
          <a:p>
            <a:pPr lvl="1">
              <a:lnSpc>
                <a:spcPct val="130000"/>
              </a:lnSpc>
            </a:pPr>
            <a:r>
              <a:rPr lang="zh-CN" altLang="en-US" sz="2000">
                <a:ea typeface="宋体" charset="-122"/>
              </a:rPr>
              <a:t>如果</a:t>
            </a:r>
            <a:r>
              <a:rPr lang="en-US" altLang="zh-CN" sz="2000">
                <a:ea typeface="宋体" charset="-122"/>
              </a:rPr>
              <a:t>pid=0, </a:t>
            </a:r>
            <a:r>
              <a:rPr lang="zh-CN" altLang="en-US" sz="2000">
                <a:ea typeface="宋体" charset="-122"/>
              </a:rPr>
              <a:t>那就是指当前进程</a:t>
            </a:r>
            <a:endParaRPr lang="en-US" altLang="zh-CN" sz="2000">
              <a:ea typeface="宋体" charset="-122"/>
            </a:endParaRPr>
          </a:p>
          <a:p>
            <a:pPr lvl="1">
              <a:lnSpc>
                <a:spcPct val="130000"/>
              </a:lnSpc>
            </a:pPr>
            <a:r>
              <a:rPr lang="zh-CN" altLang="en-US" sz="2000">
                <a:ea typeface="宋体" charset="-122"/>
              </a:rPr>
              <a:t>如果</a:t>
            </a:r>
            <a:r>
              <a:rPr lang="en-US" altLang="zh-CN" sz="2000">
                <a:ea typeface="宋体" charset="-122"/>
              </a:rPr>
              <a:t>pgid=0</a:t>
            </a:r>
            <a:r>
              <a:rPr lang="zh-CN" altLang="en-US" sz="2000">
                <a:ea typeface="宋体" charset="-122"/>
              </a:rPr>
              <a:t>，那就是用</a:t>
            </a:r>
            <a:r>
              <a:rPr lang="en-US" altLang="zh-CN" sz="2000">
                <a:ea typeface="宋体" charset="-122"/>
              </a:rPr>
              <a:t>pid</a:t>
            </a:r>
            <a:r>
              <a:rPr lang="zh-CN" altLang="en-US" sz="2000">
                <a:ea typeface="宋体" charset="-122"/>
              </a:rPr>
              <a:t>作为进程组</a:t>
            </a:r>
            <a:r>
              <a:rPr lang="en-US" altLang="zh-CN" sz="2000">
                <a:ea typeface="宋体" charset="-122"/>
              </a:rPr>
              <a:t>ID</a:t>
            </a:r>
          </a:p>
          <a:p>
            <a:pPr lvl="1">
              <a:lnSpc>
                <a:spcPct val="130000"/>
              </a:lnSpc>
            </a:pPr>
            <a:r>
              <a:rPr lang="zh-CN" altLang="en-US" sz="2000">
                <a:ea typeface="宋体" charset="-122"/>
              </a:rPr>
              <a:t>“自立门户”</a:t>
            </a:r>
            <a:endParaRPr lang="en-US" altLang="zh-CN" sz="2000">
              <a:ea typeface="宋体" charset="-122"/>
            </a:endParaRP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609600" y="1524000"/>
            <a:ext cx="7772400" cy="251460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4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1" indent="-742950">
              <a:buFontTx/>
              <a:buNone/>
              <a:defRPr/>
            </a:pPr>
            <a:r>
              <a:rPr lang="en-US" altLang="zh-CN" sz="2000">
                <a:latin typeface="Courier New" pitchFamily="49" charset="0"/>
                <a:ea typeface="宋体" panose="02010600030101010101" pitchFamily="2" charset="-122"/>
                <a:cs typeface="Courier New" pitchFamily="49" charset="0"/>
              </a:rPr>
              <a:t>#include &lt;unistd.h&gt;</a:t>
            </a:r>
          </a:p>
          <a:p>
            <a:pPr lvl="1" indent="-742950">
              <a:buFontTx/>
              <a:buNone/>
              <a:defRPr/>
            </a:pPr>
            <a:r>
              <a:rPr lang="en-US" altLang="zh-CN" sz="2000">
                <a:latin typeface="Courier New" pitchFamily="49" charset="0"/>
                <a:ea typeface="宋体" panose="02010600030101010101" pitchFamily="2" charset="-122"/>
                <a:cs typeface="Courier New" pitchFamily="49" charset="0"/>
              </a:rPr>
              <a:t>pid_t </a:t>
            </a:r>
            <a:r>
              <a:rPr lang="en-US" altLang="zh-CN">
                <a:latin typeface="Courier New" pitchFamily="49" charset="0"/>
                <a:ea typeface="宋体" panose="02010600030101010101" pitchFamily="2" charset="-122"/>
                <a:cs typeface="Courier New" pitchFamily="49" charset="0"/>
              </a:rPr>
              <a:t>getpgrp</a:t>
            </a:r>
            <a:r>
              <a:rPr lang="en-US" altLang="zh-CN" sz="2000">
                <a:latin typeface="Courier New" pitchFamily="49" charset="0"/>
                <a:ea typeface="宋体" panose="02010600030101010101" pitchFamily="2" charset="-122"/>
                <a:cs typeface="Courier New" pitchFamily="49" charset="0"/>
              </a:rPr>
              <a:t>(void);</a:t>
            </a:r>
          </a:p>
          <a:p>
            <a:pPr lvl="1" indent="-742950" algn="r">
              <a:buFontTx/>
              <a:buNone/>
              <a:defRPr/>
            </a:pPr>
            <a:r>
              <a:rPr lang="en-US" altLang="zh-CN" sz="1800">
                <a:solidFill>
                  <a:srgbClr val="FF0000"/>
                </a:solidFill>
                <a:latin typeface="+mj-lt"/>
                <a:ea typeface="宋体" panose="02010600030101010101" pitchFamily="2" charset="-122"/>
                <a:cs typeface="Times New Roman" pitchFamily="18" charset="0"/>
              </a:rPr>
              <a:t>returns: process group ID of calling process</a:t>
            </a:r>
          </a:p>
          <a:p>
            <a:pPr lvl="1" indent="-742950">
              <a:buFontTx/>
              <a:buNone/>
              <a:defRPr/>
            </a:pPr>
            <a:r>
              <a:rPr lang="en-US" altLang="zh-CN" sz="2000">
                <a:latin typeface="Courier New" pitchFamily="49" charset="0"/>
                <a:ea typeface="宋体" panose="02010600030101010101" pitchFamily="2" charset="-122"/>
                <a:cs typeface="Courier New" pitchFamily="49" charset="0"/>
              </a:rPr>
              <a:t>#include &lt;unistd.h&gt;</a:t>
            </a:r>
          </a:p>
          <a:p>
            <a:pPr lvl="1" indent="-742950">
              <a:buFontTx/>
              <a:buNone/>
              <a:defRPr/>
            </a:pPr>
            <a:r>
              <a:rPr lang="en-US" altLang="zh-CN" sz="2000">
                <a:latin typeface="Courier New" pitchFamily="49" charset="0"/>
                <a:ea typeface="宋体" panose="02010600030101010101" pitchFamily="2" charset="-122"/>
                <a:cs typeface="Courier New" pitchFamily="49" charset="0"/>
              </a:rPr>
              <a:t>pid_t </a:t>
            </a:r>
            <a:r>
              <a:rPr lang="en-US" altLang="zh-CN">
                <a:latin typeface="Courier New" pitchFamily="49" charset="0"/>
                <a:ea typeface="宋体" panose="02010600030101010101" pitchFamily="2" charset="-122"/>
                <a:cs typeface="Courier New" pitchFamily="49" charset="0"/>
              </a:rPr>
              <a:t>setpgid</a:t>
            </a:r>
            <a:r>
              <a:rPr lang="en-US" altLang="zh-CN" sz="2000">
                <a:latin typeface="Courier New" pitchFamily="49" charset="0"/>
                <a:ea typeface="宋体" panose="02010600030101010101" pitchFamily="2" charset="-122"/>
                <a:cs typeface="Courier New" pitchFamily="49" charset="0"/>
              </a:rPr>
              <a:t>(pid_t pid, pid_t pgid);</a:t>
            </a:r>
          </a:p>
          <a:p>
            <a:pPr lvl="1" indent="-742950" algn="r">
              <a:buFontTx/>
              <a:buNone/>
              <a:defRPr/>
            </a:pPr>
            <a:r>
              <a:rPr lang="en-US" altLang="zh-CN" sz="1800">
                <a:solidFill>
                  <a:srgbClr val="FF0000"/>
                </a:solidFill>
                <a:latin typeface="+mj-lt"/>
                <a:ea typeface="宋体" panose="02010600030101010101" pitchFamily="2" charset="-122"/>
              </a:rPr>
              <a:t>returns: 0 on success, -1 on error</a:t>
            </a:r>
            <a:endParaRPr lang="zh-CN" altLang="en-US" sz="1800" dirty="0">
              <a:solidFill>
                <a:srgbClr val="FF0000"/>
              </a:solidFill>
              <a:latin typeface="+mj-lt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38A2FC1-5B38-6A4D-924A-ABF955E4C60F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setgpid Function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 marL="0" indent="0">
              <a:lnSpc>
                <a:spcPct val="130000"/>
              </a:lnSpc>
              <a:buFontTx/>
              <a:buNone/>
              <a:defRPr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e.g.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setpgid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(0, 0); 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dirty="0">
                <a:ea typeface="宋体" pitchFamily="2" charset="-122"/>
              </a:rPr>
              <a:t>Suppose process 15213 is the calling process, </a:t>
            </a:r>
          </a:p>
          <a:p>
            <a:pPr lvl="1">
              <a:lnSpc>
                <a:spcPct val="130000"/>
              </a:lnSpc>
              <a:defRPr/>
            </a:pPr>
            <a:r>
              <a:rPr lang="en-US" altLang="zh-CN" dirty="0">
                <a:ea typeface="宋体" pitchFamily="2" charset="-122"/>
              </a:rPr>
              <a:t>then this function call </a:t>
            </a:r>
          </a:p>
          <a:p>
            <a:pPr lvl="2">
              <a:lnSpc>
                <a:spcPct val="130000"/>
              </a:lnSpc>
              <a:defRPr/>
            </a:pPr>
            <a:r>
              <a:rPr lang="en-US" altLang="zh-CN" dirty="0">
                <a:ea typeface="宋体" pitchFamily="2" charset="-122"/>
              </a:rPr>
              <a:t>creates a 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new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process group whose process group ID is 15213</a:t>
            </a:r>
          </a:p>
          <a:p>
            <a:pPr lvl="2">
              <a:lnSpc>
                <a:spcPct val="130000"/>
              </a:lnSpc>
              <a:defRPr/>
            </a:pPr>
            <a:r>
              <a:rPr lang="en-US" altLang="zh-CN" dirty="0">
                <a:ea typeface="宋体" pitchFamily="2" charset="-122"/>
              </a:rPr>
              <a:t> adds process 15213 to this new group.</a:t>
            </a:r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8AC8A66-3F4C-E445-92CA-AB5925702648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The kill Program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en-US" altLang="zh-CN">
                <a:ea typeface="宋体" charset="-122"/>
              </a:rPr>
              <a:t>Kill program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charset="-122"/>
              </a:rPr>
              <a:t>is located in directory</a:t>
            </a:r>
            <a:r>
              <a:rPr lang="en-US" altLang="zh-CN" b="1">
                <a:effectLst>
                  <a:outerShdw blurRad="38100" dist="38100" dir="2700000" algn="tl">
                    <a:srgbClr val="C0C0C0"/>
                  </a:outerShdw>
                </a:effectLst>
                <a:latin typeface="Courier New" charset="0"/>
                <a:ea typeface="宋体" charset="-122"/>
                <a:cs typeface="Courier New" charset="0"/>
              </a:rPr>
              <a:t> /bin/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charset="-122"/>
              </a:rPr>
              <a:t>sends an arbitrary </a:t>
            </a:r>
            <a:r>
              <a:rPr lang="en-US" altLang="zh-CN">
                <a:effectLst>
                  <a:outerShdw blurRad="38100" dist="38100" dir="2700000" algn="tl">
                    <a:srgbClr val="C0C0C0"/>
                  </a:outerShdw>
                </a:effectLst>
                <a:ea typeface="宋体" charset="-122"/>
              </a:rPr>
              <a:t>signal</a:t>
            </a:r>
            <a:r>
              <a:rPr lang="en-US" altLang="zh-CN">
                <a:ea typeface="宋体" charset="-122"/>
              </a:rPr>
              <a:t> to another process</a:t>
            </a:r>
          </a:p>
          <a:p>
            <a:pPr>
              <a:lnSpc>
                <a:spcPct val="140000"/>
              </a:lnSpc>
              <a:buFontTx/>
              <a:buNone/>
            </a:pPr>
            <a:endParaRPr lang="en-US" altLang="zh-CN" sz="2400" b="1">
              <a:latin typeface="Courier New" charset="0"/>
              <a:ea typeface="Courier New" charset="0"/>
              <a:cs typeface="Courier New" charset="0"/>
            </a:endParaRPr>
          </a:p>
          <a:p>
            <a:pPr>
              <a:lnSpc>
                <a:spcPct val="140000"/>
              </a:lnSpc>
              <a:buFontTx/>
              <a:buNone/>
            </a:pPr>
            <a:r>
              <a:rPr lang="en-US" altLang="zh-CN" sz="2400" b="1">
                <a:latin typeface="Courier New" charset="0"/>
                <a:ea typeface="Courier New" charset="0"/>
                <a:cs typeface="Courier New" charset="0"/>
              </a:rPr>
              <a:t>e.g. unix&gt; kill -9 15213</a:t>
            </a:r>
          </a:p>
          <a:p>
            <a:pPr lvl="1">
              <a:lnSpc>
                <a:spcPct val="140000"/>
              </a:lnSpc>
            </a:pPr>
            <a:r>
              <a:rPr lang="en-US" altLang="zh-CN">
                <a:ea typeface="宋体" charset="-122"/>
              </a:rPr>
              <a:t>sends signal 9 (SIGKILL) to process 15213.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13E71FE-CF4B-0E47-B516-AE3C072CCCD7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The kill Program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4419600" cy="4419600"/>
          </a:xfrm>
        </p:spPr>
        <p:txBody>
          <a:bodyPr/>
          <a:lstStyle/>
          <a:p>
            <a:pPr>
              <a:lnSpc>
                <a:spcPct val="140000"/>
              </a:lnSpc>
              <a:defRPr/>
            </a:pPr>
            <a:r>
              <a:rPr lang="en-US" altLang="zh-CN" sz="2400" dirty="0">
                <a:ea typeface="宋体" pitchFamily="2" charset="-122"/>
              </a:rPr>
              <a:t>Sending signals to 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process group </a:t>
            </a:r>
            <a:r>
              <a:rPr lang="en-US" altLang="zh-CN" sz="2400" dirty="0">
                <a:ea typeface="宋体" pitchFamily="2" charset="-122"/>
              </a:rPr>
              <a:t>by kill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Using a </a:t>
            </a:r>
            <a:r>
              <a:rPr lang="en-US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negative</a:t>
            </a:r>
            <a:r>
              <a:rPr lang="en-US" altLang="zh-CN" sz="2000" dirty="0">
                <a:solidFill>
                  <a:srgbClr val="FF0000"/>
                </a:solidFill>
                <a:ea typeface="宋体" pitchFamily="2" charset="-122"/>
              </a:rPr>
              <a:t> </a:t>
            </a:r>
            <a:r>
              <a:rPr lang="en-US" altLang="zh-CN" sz="2000" dirty="0">
                <a:ea typeface="宋体" pitchFamily="2" charset="-122"/>
              </a:rPr>
              <a:t>PID 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Which causes the signal to be sent to every process in process group PID</a:t>
            </a: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endParaRPr lang="en-US" altLang="zh-CN" sz="3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marL="0" indent="0">
              <a:lnSpc>
                <a:spcPct val="140000"/>
              </a:lnSpc>
              <a:buFontTx/>
              <a:buNone/>
              <a:defRPr/>
            </a:pPr>
            <a:r>
              <a:rPr lang="en-US" altLang="zh-CN" sz="2000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e.g. </a:t>
            </a:r>
            <a:r>
              <a:rPr lang="en-US" altLang="zh-CN" sz="2000" b="1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unix</a:t>
            </a:r>
            <a:r>
              <a:rPr lang="en-US" altLang="zh-CN" sz="2000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&gt; kill -9 </a:t>
            </a: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-15213</a:t>
            </a:r>
            <a:endParaRPr lang="en-US" altLang="zh-CN" sz="2400" b="1" dirty="0">
              <a:solidFill>
                <a:srgbClr val="FF0000"/>
              </a:solidFill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lvl="1">
              <a:lnSpc>
                <a:spcPct val="140000"/>
              </a:lnSpc>
              <a:defRPr/>
            </a:pPr>
            <a:r>
              <a:rPr lang="en-US" altLang="zh-CN" sz="2000" dirty="0">
                <a:ea typeface="宋体" pitchFamily="2" charset="-122"/>
              </a:rPr>
              <a:t>sends a SIGKILL signal to </a:t>
            </a:r>
            <a:r>
              <a:rPr lang="en-US" altLang="zh-CN" sz="2000" dirty="0">
                <a:solidFill>
                  <a:srgbClr val="FF0000"/>
                </a:solidFill>
                <a:ea typeface="宋体" pitchFamily="2" charset="-122"/>
              </a:rPr>
              <a:t>every</a:t>
            </a:r>
            <a:r>
              <a:rPr lang="en-US" altLang="zh-CN" sz="2000" dirty="0">
                <a:ea typeface="宋体" pitchFamily="2" charset="-122"/>
              </a:rPr>
              <a:t> process in process group 15213.</a:t>
            </a:r>
            <a:endParaRPr lang="zh-CN" altLang="en-US" sz="2000" dirty="0">
              <a:ea typeface="宋体" pitchFamily="2" charset="-122"/>
            </a:endParaRPr>
          </a:p>
        </p:txBody>
      </p:sp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4994907" y="1794063"/>
            <a:ext cx="3878586" cy="4031873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b="1" dirty="0" err="1">
                <a:latin typeface="Courier New" pitchFamily="49" charset="0"/>
              </a:rPr>
              <a:t>linux</a:t>
            </a:r>
            <a:r>
              <a:rPr lang="en-US" sz="1600" b="1" dirty="0">
                <a:latin typeface="Courier New" pitchFamily="49" charset="0"/>
              </a:rPr>
              <a:t>&gt; ./forks 16 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Child1: </a:t>
            </a:r>
            <a:r>
              <a:rPr lang="en-US" sz="1600" b="1" dirty="0" err="1">
                <a:latin typeface="Courier New" pitchFamily="49" charset="0"/>
              </a:rPr>
              <a:t>pid</a:t>
            </a:r>
            <a:r>
              <a:rPr lang="en-US" sz="1600" b="1" dirty="0">
                <a:latin typeface="Courier New" pitchFamily="49" charset="0"/>
              </a:rPr>
              <a:t>=24818 </a:t>
            </a:r>
            <a:r>
              <a:rPr lang="en-US" sz="1600" b="1" dirty="0" err="1">
                <a:latin typeface="Courier New" pitchFamily="49" charset="0"/>
              </a:rPr>
              <a:t>pgrp</a:t>
            </a:r>
            <a:r>
              <a:rPr lang="en-US" sz="1600" b="1" dirty="0">
                <a:latin typeface="Courier New" pitchFamily="49" charset="0"/>
              </a:rPr>
              <a:t>=24817 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Child2: </a:t>
            </a:r>
            <a:r>
              <a:rPr lang="en-US" sz="1600" b="1" dirty="0" err="1">
                <a:latin typeface="Courier New" pitchFamily="49" charset="0"/>
              </a:rPr>
              <a:t>pid</a:t>
            </a:r>
            <a:r>
              <a:rPr lang="en-US" sz="1600" b="1" dirty="0">
                <a:latin typeface="Courier New" pitchFamily="49" charset="0"/>
              </a:rPr>
              <a:t>=24819 </a:t>
            </a:r>
            <a:r>
              <a:rPr lang="en-US" sz="1600" b="1" dirty="0" err="1">
                <a:latin typeface="Courier New" pitchFamily="49" charset="0"/>
              </a:rPr>
              <a:t>pgrp</a:t>
            </a:r>
            <a:r>
              <a:rPr lang="en-US" sz="1600" b="1" dirty="0">
                <a:latin typeface="Courier New" pitchFamily="49" charset="0"/>
              </a:rPr>
              <a:t>=24817 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sz="1600" b="1" dirty="0" err="1">
                <a:latin typeface="Courier New" pitchFamily="49" charset="0"/>
              </a:rPr>
              <a:t>linux</a:t>
            </a:r>
            <a:r>
              <a:rPr lang="en-US" sz="1600" b="1" dirty="0">
                <a:latin typeface="Courier New" pitchFamily="49" charset="0"/>
              </a:rPr>
              <a:t>&gt; </a:t>
            </a:r>
            <a:r>
              <a:rPr lang="en-US" sz="1600" b="1" dirty="0" err="1">
                <a:latin typeface="Courier New" pitchFamily="49" charset="0"/>
              </a:rPr>
              <a:t>ps</a:t>
            </a:r>
            <a:r>
              <a:rPr lang="en-US" sz="1600" b="1" dirty="0">
                <a:latin typeface="Courier New" pitchFamily="49" charset="0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  PID TTY          TIME CMD 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24788 pts/2    00:00:00 </a:t>
            </a:r>
            <a:r>
              <a:rPr lang="en-US" sz="1600" b="1" dirty="0" err="1">
                <a:latin typeface="Courier New" pitchFamily="49" charset="0"/>
              </a:rPr>
              <a:t>tcsh</a:t>
            </a:r>
            <a:r>
              <a:rPr lang="en-US" sz="1600" b="1" dirty="0">
                <a:latin typeface="Courier New" pitchFamily="49" charset="0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24818 pts/2    00:00:02 forks 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24819 pts/2    00:00:02 forks 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24820 pts/2    00:00:00 </a:t>
            </a:r>
            <a:r>
              <a:rPr lang="en-US" sz="1600" b="1" dirty="0" err="1">
                <a:latin typeface="Courier New" pitchFamily="49" charset="0"/>
              </a:rPr>
              <a:t>ps</a:t>
            </a:r>
            <a:r>
              <a:rPr lang="en-US" sz="1600" b="1" dirty="0">
                <a:latin typeface="Courier New" pitchFamily="49" charset="0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sz="1600" b="1" dirty="0" err="1">
                <a:latin typeface="Courier New" pitchFamily="49" charset="0"/>
              </a:rPr>
              <a:t>linux</a:t>
            </a:r>
            <a:r>
              <a:rPr lang="en-US" sz="1600" b="1" dirty="0">
                <a:latin typeface="Courier New" pitchFamily="49" charset="0"/>
              </a:rPr>
              <a:t>&gt; /bin/kill -9 -24817 </a:t>
            </a:r>
          </a:p>
          <a:p>
            <a:pPr algn="l">
              <a:lnSpc>
                <a:spcPct val="100000"/>
              </a:lnSpc>
            </a:pPr>
            <a:r>
              <a:rPr lang="en-US" sz="1600" b="1" dirty="0" err="1">
                <a:latin typeface="Courier New" pitchFamily="49" charset="0"/>
              </a:rPr>
              <a:t>linux</a:t>
            </a:r>
            <a:r>
              <a:rPr lang="en-US" sz="1600" b="1" dirty="0">
                <a:latin typeface="Courier New" pitchFamily="49" charset="0"/>
              </a:rPr>
              <a:t>&gt; </a:t>
            </a:r>
            <a:r>
              <a:rPr lang="en-US" sz="1600" b="1" dirty="0" err="1">
                <a:latin typeface="Courier New" pitchFamily="49" charset="0"/>
              </a:rPr>
              <a:t>ps</a:t>
            </a:r>
            <a:r>
              <a:rPr lang="en-US" sz="1600" b="1" dirty="0">
                <a:latin typeface="Courier New" pitchFamily="49" charset="0"/>
              </a:rPr>
              <a:t>  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  PID TTY          TIME CMD 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24788 pts/2    00:00:00 </a:t>
            </a:r>
            <a:r>
              <a:rPr lang="en-US" sz="1600" b="1" dirty="0" err="1">
                <a:latin typeface="Courier New" pitchFamily="49" charset="0"/>
              </a:rPr>
              <a:t>tcsh</a:t>
            </a:r>
            <a:r>
              <a:rPr lang="en-US" sz="1600" b="1" dirty="0">
                <a:latin typeface="Courier New" pitchFamily="49" charset="0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sz="1600" b="1" dirty="0">
                <a:latin typeface="Courier New" pitchFamily="49" charset="0"/>
              </a:rPr>
              <a:t>24823 pts/2    00:00:00 </a:t>
            </a:r>
            <a:r>
              <a:rPr lang="en-US" sz="1600" b="1" dirty="0" err="1">
                <a:latin typeface="Courier New" pitchFamily="49" charset="0"/>
              </a:rPr>
              <a:t>ps</a:t>
            </a:r>
            <a:r>
              <a:rPr lang="en-US" sz="1600" b="1" dirty="0">
                <a:latin typeface="Courier New" pitchFamily="49" charset="0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sz="1600" b="1" dirty="0" err="1">
                <a:latin typeface="Courier New" pitchFamily="49" charset="0"/>
              </a:rPr>
              <a:t>linux</a:t>
            </a:r>
            <a:r>
              <a:rPr lang="en-US" sz="1600" b="1" dirty="0">
                <a:latin typeface="Courier New" pitchFamily="49" charset="0"/>
              </a:rPr>
              <a:t>&gt; </a:t>
            </a:r>
          </a:p>
        </p:txBody>
      </p:sp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5029200" y="3533775"/>
            <a:ext cx="3733800" cy="266700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lIns="45720" rIns="45720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5029200" y="3533775"/>
            <a:ext cx="3733800" cy="504825"/>
          </a:xfrm>
          <a:prstGeom prst="rect">
            <a:avLst/>
          </a:prstGeom>
          <a:noFill/>
          <a:ln w="2857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wrap="none" lIns="45720" rIns="45720" anchor="ctr"/>
          <a:lstStyle/>
          <a:p>
            <a:endParaRPr lang="en-US" dirty="0"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5D4E81B-9FF4-2B4B-A7E9-BA18BAC22B1F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Sending Signals from the Keyboard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419600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Job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An 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abstraction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used by Unix shells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To represent the processes </a:t>
            </a:r>
          </a:p>
          <a:p>
            <a:pPr lvl="2"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that are created as a result of evaluating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a single </a:t>
            </a:r>
            <a:r>
              <a:rPr lang="en-US" altLang="zh-CN" dirty="0" err="1">
                <a:solidFill>
                  <a:srgbClr val="FF0000"/>
                </a:solidFill>
                <a:ea typeface="宋体" pitchFamily="2" charset="-122"/>
              </a:rPr>
              <a:t>cmdline</a:t>
            </a:r>
            <a:endParaRPr lang="en-US" altLang="zh-CN" dirty="0">
              <a:solidFill>
                <a:srgbClr val="FF0000"/>
              </a:solidFill>
              <a:ea typeface="宋体" pitchFamily="2" charset="-122"/>
            </a:endParaRP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At any point, there is at most one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foreground </a:t>
            </a:r>
            <a:r>
              <a:rPr lang="en-US" altLang="zh-CN" dirty="0">
                <a:ea typeface="宋体" pitchFamily="2" charset="-122"/>
              </a:rPr>
              <a:t>job and zero or more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background</a:t>
            </a:r>
            <a:r>
              <a:rPr lang="en-US" altLang="zh-CN" dirty="0">
                <a:ea typeface="宋体" pitchFamily="2" charset="-122"/>
              </a:rPr>
              <a:t> jobs</a:t>
            </a:r>
          </a:p>
          <a:p>
            <a:pPr marL="457200" lvl="1" indent="-368300">
              <a:lnSpc>
                <a:spcPct val="120000"/>
              </a:lnSpc>
              <a:buFontTx/>
              <a:buNone/>
              <a:defRPr/>
            </a:pPr>
            <a:r>
              <a:rPr lang="en-US" altLang="zh-CN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e.g. </a:t>
            </a:r>
            <a:r>
              <a:rPr lang="en-US" altLang="zh-CN" b="1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unix</a:t>
            </a:r>
            <a:r>
              <a:rPr lang="en-US" altLang="zh-CN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&gt; </a:t>
            </a:r>
            <a:r>
              <a:rPr lang="en-US" altLang="zh-CN" b="1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ls</a:t>
            </a:r>
            <a:r>
              <a:rPr lang="en-US" altLang="zh-CN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| sort</a:t>
            </a:r>
          </a:p>
          <a:p>
            <a:pPr lvl="1">
              <a:lnSpc>
                <a:spcPct val="120000"/>
              </a:lnSpc>
              <a:buFontTx/>
              <a:buChar char="-"/>
              <a:defRPr/>
            </a:pPr>
            <a:r>
              <a:rPr lang="en-US" altLang="zh-CN" dirty="0">
                <a:latin typeface="+mj-lt"/>
                <a:ea typeface="宋体" pitchFamily="2" charset="-122"/>
                <a:cs typeface="Courier New" pitchFamily="49" charset="0"/>
              </a:rPr>
              <a:t>a foreground job consisting of two processes connected by a pipe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40C6865-4CA0-4646-ACE3-3B13EDBB2576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Sending Signals from the Keyboard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The shell creates a separate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process group </a:t>
            </a:r>
            <a:r>
              <a:rPr lang="en-US" altLang="zh-CN" dirty="0">
                <a:ea typeface="宋体" pitchFamily="2" charset="-122"/>
              </a:rPr>
              <a:t>for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each job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Typically, the process group ID is taken from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one of the parent processes</a:t>
            </a:r>
            <a:r>
              <a:rPr lang="en-US" altLang="zh-CN" dirty="0">
                <a:ea typeface="宋体" pitchFamily="2" charset="-122"/>
              </a:rPr>
              <a:t> in the job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0B23D74-1841-5C42-887F-6FB274CA99BB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Sending Signals from the Keyboard</a:t>
            </a:r>
          </a:p>
        </p:txBody>
      </p:sp>
      <p:sp>
        <p:nvSpPr>
          <p:cNvPr id="5" name="Rectangle 26"/>
          <p:cNvSpPr/>
          <p:nvPr/>
        </p:nvSpPr>
        <p:spPr bwMode="auto">
          <a:xfrm>
            <a:off x="5959475" y="2884244"/>
            <a:ext cx="2057400" cy="164421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27"/>
          <p:cNvSpPr/>
          <p:nvPr/>
        </p:nvSpPr>
        <p:spPr bwMode="auto">
          <a:xfrm>
            <a:off x="3673475" y="2875653"/>
            <a:ext cx="2057400" cy="1644213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8"/>
          <p:cNvSpPr/>
          <p:nvPr/>
        </p:nvSpPr>
        <p:spPr bwMode="auto">
          <a:xfrm>
            <a:off x="947972" y="2875653"/>
            <a:ext cx="2514600" cy="3099375"/>
          </a:xfrm>
          <a:prstGeom prst="rect">
            <a:avLst/>
          </a:prstGeom>
          <a:solidFill>
            <a:srgbClr val="F1C7C7"/>
          </a:solidFill>
          <a:ln w="25400" cap="flat" cmpd="sng" algn="ctr">
            <a:noFill/>
            <a:prstDash val="solid"/>
            <a:round/>
            <a:headEnd type="none" w="med" len="med"/>
            <a:tailEnd type="arrow" w="med" len="med"/>
          </a:ln>
          <a:effectLst/>
        </p:spPr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4"/>
          <p:cNvSpPr>
            <a:spLocks noChangeAspect="1" noChangeArrowheads="1"/>
          </p:cNvSpPr>
          <p:nvPr/>
        </p:nvSpPr>
        <p:spPr bwMode="auto">
          <a:xfrm>
            <a:off x="1762125" y="2956832"/>
            <a:ext cx="982663" cy="88582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Fore-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ground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job</a:t>
            </a:r>
          </a:p>
        </p:txBody>
      </p:sp>
      <p:sp>
        <p:nvSpPr>
          <p:cNvPr id="9" name="Oval 5"/>
          <p:cNvSpPr>
            <a:spLocks noChangeAspect="1" noChangeArrowheads="1"/>
          </p:cNvSpPr>
          <p:nvPr/>
        </p:nvSpPr>
        <p:spPr bwMode="auto">
          <a:xfrm>
            <a:off x="3957638" y="2956832"/>
            <a:ext cx="982662" cy="8636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Back-</a:t>
            </a:r>
          </a:p>
          <a:p>
            <a:pPr algn="ctr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ground</a:t>
            </a:r>
          </a:p>
          <a:p>
            <a:pPr algn="ctr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job #1</a:t>
            </a:r>
          </a:p>
        </p:txBody>
      </p:sp>
      <p:sp>
        <p:nvSpPr>
          <p:cNvPr id="10" name="Oval 6"/>
          <p:cNvSpPr>
            <a:spLocks noChangeAspect="1" noChangeArrowheads="1"/>
          </p:cNvSpPr>
          <p:nvPr/>
        </p:nvSpPr>
        <p:spPr bwMode="auto">
          <a:xfrm>
            <a:off x="6111875" y="2956832"/>
            <a:ext cx="984250" cy="885825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Back-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ground</a:t>
            </a:r>
          </a:p>
          <a:p>
            <a:pPr algn="ctr"/>
            <a:r>
              <a:rPr lang="en-US" sz="1600" dirty="0">
                <a:latin typeface="Calibri" pitchFamily="34" charset="0"/>
              </a:rPr>
              <a:t>job #2</a:t>
            </a:r>
          </a:p>
        </p:txBody>
      </p:sp>
      <p:sp>
        <p:nvSpPr>
          <p:cNvPr id="11" name="Oval 7"/>
          <p:cNvSpPr>
            <a:spLocks noChangeAspect="1" noChangeArrowheads="1"/>
          </p:cNvSpPr>
          <p:nvPr/>
        </p:nvSpPr>
        <p:spPr bwMode="auto">
          <a:xfrm>
            <a:off x="3962400" y="1632857"/>
            <a:ext cx="984250" cy="77628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latin typeface="Calibri" pitchFamily="34" charset="0"/>
              </a:rPr>
              <a:t>Shell</a:t>
            </a:r>
          </a:p>
        </p:txBody>
      </p:sp>
      <p:sp>
        <p:nvSpPr>
          <p:cNvPr id="12" name="Oval 8"/>
          <p:cNvSpPr>
            <a:spLocks noChangeAspect="1" noChangeArrowheads="1"/>
          </p:cNvSpPr>
          <p:nvPr/>
        </p:nvSpPr>
        <p:spPr bwMode="auto">
          <a:xfrm>
            <a:off x="1203325" y="4142695"/>
            <a:ext cx="984250" cy="77628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Child</a:t>
            </a:r>
          </a:p>
        </p:txBody>
      </p:sp>
      <p:sp>
        <p:nvSpPr>
          <p:cNvPr id="13" name="Oval 9"/>
          <p:cNvSpPr>
            <a:spLocks noChangeAspect="1" noChangeArrowheads="1"/>
          </p:cNvSpPr>
          <p:nvPr/>
        </p:nvSpPr>
        <p:spPr bwMode="auto">
          <a:xfrm>
            <a:off x="2328863" y="4142695"/>
            <a:ext cx="984250" cy="77628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sz="1600" dirty="0">
                <a:latin typeface="Calibri" pitchFamily="34" charset="0"/>
              </a:rPr>
              <a:t>Child</a:t>
            </a:r>
          </a:p>
        </p:txBody>
      </p:sp>
      <p:sp>
        <p:nvSpPr>
          <p:cNvPr id="14" name="Line 10"/>
          <p:cNvSpPr>
            <a:spLocks noChangeAspect="1" noChangeShapeType="1"/>
          </p:cNvSpPr>
          <p:nvPr/>
        </p:nvSpPr>
        <p:spPr bwMode="auto">
          <a:xfrm flipH="1">
            <a:off x="1770063" y="3779157"/>
            <a:ext cx="182562" cy="3698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5" name="Line 11"/>
          <p:cNvSpPr>
            <a:spLocks noChangeAspect="1" noChangeShapeType="1"/>
          </p:cNvSpPr>
          <p:nvPr/>
        </p:nvSpPr>
        <p:spPr bwMode="auto">
          <a:xfrm>
            <a:off x="2549525" y="3775982"/>
            <a:ext cx="163513" cy="361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6" name="Line 12"/>
          <p:cNvSpPr>
            <a:spLocks noChangeAspect="1" noChangeShapeType="1"/>
          </p:cNvSpPr>
          <p:nvPr/>
        </p:nvSpPr>
        <p:spPr bwMode="auto">
          <a:xfrm>
            <a:off x="4457700" y="2394857"/>
            <a:ext cx="0" cy="557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7" name="Line 13"/>
          <p:cNvSpPr>
            <a:spLocks noChangeAspect="1" noChangeShapeType="1"/>
          </p:cNvSpPr>
          <p:nvPr/>
        </p:nvSpPr>
        <p:spPr bwMode="auto">
          <a:xfrm flipH="1">
            <a:off x="2632075" y="2302782"/>
            <a:ext cx="1481138" cy="8016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8" name="Line 14"/>
          <p:cNvSpPr>
            <a:spLocks noChangeAspect="1" noChangeShapeType="1"/>
          </p:cNvSpPr>
          <p:nvPr/>
        </p:nvSpPr>
        <p:spPr bwMode="auto">
          <a:xfrm>
            <a:off x="4832350" y="2263095"/>
            <a:ext cx="1412875" cy="833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anchor="ctr">
            <a:spAutoFit/>
          </a:bodyPr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9" name="Text Box 15"/>
          <p:cNvSpPr txBox="1">
            <a:spLocks noChangeAspect="1" noChangeArrowheads="1"/>
          </p:cNvSpPr>
          <p:nvPr/>
        </p:nvSpPr>
        <p:spPr bwMode="auto">
          <a:xfrm>
            <a:off x="3160713" y="1797957"/>
            <a:ext cx="828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pid=10</a:t>
            </a:r>
          </a:p>
          <a:p>
            <a:pPr algn="r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pgid=10</a:t>
            </a:r>
          </a:p>
        </p:txBody>
      </p:sp>
      <p:sp>
        <p:nvSpPr>
          <p:cNvPr id="20" name="Text Box 17"/>
          <p:cNvSpPr txBox="1">
            <a:spLocks noChangeAspect="1" noChangeArrowheads="1"/>
          </p:cNvSpPr>
          <p:nvPr/>
        </p:nvSpPr>
        <p:spPr bwMode="auto">
          <a:xfrm>
            <a:off x="947973" y="5391482"/>
            <a:ext cx="1765066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i="1" dirty="0">
                <a:solidFill>
                  <a:srgbClr val="C00000"/>
                </a:solidFill>
                <a:latin typeface="Calibri" pitchFamily="34" charset="0"/>
              </a:rPr>
              <a:t>Foreground </a:t>
            </a:r>
          </a:p>
          <a:p>
            <a:pPr>
              <a:lnSpc>
                <a:spcPct val="100000"/>
              </a:lnSpc>
            </a:pPr>
            <a:r>
              <a:rPr lang="en-US" sz="1600" b="1" i="1" dirty="0">
                <a:solidFill>
                  <a:srgbClr val="C00000"/>
                </a:solidFill>
                <a:latin typeface="Calibri" pitchFamily="34" charset="0"/>
              </a:rPr>
              <a:t>process group 20</a:t>
            </a:r>
          </a:p>
        </p:txBody>
      </p:sp>
      <p:sp>
        <p:nvSpPr>
          <p:cNvPr id="21" name="Text Box 19"/>
          <p:cNvSpPr txBox="1">
            <a:spLocks noChangeAspect="1" noChangeArrowheads="1"/>
          </p:cNvSpPr>
          <p:nvPr/>
        </p:nvSpPr>
        <p:spPr bwMode="auto">
          <a:xfrm>
            <a:off x="3673475" y="3918857"/>
            <a:ext cx="1629100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Background</a:t>
            </a:r>
          </a:p>
          <a:p>
            <a:r>
              <a:rPr lang="en-US" sz="16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process group 32</a:t>
            </a:r>
          </a:p>
        </p:txBody>
      </p:sp>
      <p:sp>
        <p:nvSpPr>
          <p:cNvPr id="22" name="Text Box 20"/>
          <p:cNvSpPr txBox="1">
            <a:spLocks noChangeAspect="1" noChangeArrowheads="1"/>
          </p:cNvSpPr>
          <p:nvPr/>
        </p:nvSpPr>
        <p:spPr bwMode="auto">
          <a:xfrm>
            <a:off x="5959475" y="3943682"/>
            <a:ext cx="1629100" cy="5847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Background</a:t>
            </a:r>
          </a:p>
          <a:p>
            <a:pPr>
              <a:lnSpc>
                <a:spcPct val="100000"/>
              </a:lnSpc>
            </a:pPr>
            <a:r>
              <a:rPr lang="en-US" sz="16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</a:rPr>
              <a:t>process group 40</a:t>
            </a:r>
          </a:p>
        </p:txBody>
      </p:sp>
      <p:sp>
        <p:nvSpPr>
          <p:cNvPr id="23" name="Text Box 22"/>
          <p:cNvSpPr txBox="1">
            <a:spLocks noChangeAspect="1" noChangeArrowheads="1"/>
          </p:cNvSpPr>
          <p:nvPr/>
        </p:nvSpPr>
        <p:spPr bwMode="auto">
          <a:xfrm>
            <a:off x="962025" y="3093357"/>
            <a:ext cx="828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pid=20</a:t>
            </a:r>
          </a:p>
          <a:p>
            <a:pPr algn="r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pgid=20</a:t>
            </a:r>
          </a:p>
        </p:txBody>
      </p:sp>
      <p:sp>
        <p:nvSpPr>
          <p:cNvPr id="24" name="Text Box 23"/>
          <p:cNvSpPr txBox="1">
            <a:spLocks noChangeAspect="1" noChangeArrowheads="1"/>
          </p:cNvSpPr>
          <p:nvPr/>
        </p:nvSpPr>
        <p:spPr bwMode="auto">
          <a:xfrm>
            <a:off x="4902200" y="3144157"/>
            <a:ext cx="828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pid=32</a:t>
            </a:r>
          </a:p>
          <a:p>
            <a:pPr algn="l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pgid=32</a:t>
            </a:r>
          </a:p>
        </p:txBody>
      </p:sp>
      <p:sp>
        <p:nvSpPr>
          <p:cNvPr id="25" name="Text Box 24"/>
          <p:cNvSpPr txBox="1">
            <a:spLocks noChangeAspect="1" noChangeArrowheads="1"/>
          </p:cNvSpPr>
          <p:nvPr/>
        </p:nvSpPr>
        <p:spPr bwMode="auto">
          <a:xfrm>
            <a:off x="7088404" y="3171145"/>
            <a:ext cx="828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pid=40</a:t>
            </a:r>
          </a:p>
          <a:p>
            <a:pPr algn="l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pgid=40</a:t>
            </a:r>
          </a:p>
        </p:txBody>
      </p:sp>
      <p:sp>
        <p:nvSpPr>
          <p:cNvPr id="26" name="Text Box 25"/>
          <p:cNvSpPr txBox="1">
            <a:spLocks noChangeAspect="1" noChangeArrowheads="1"/>
          </p:cNvSpPr>
          <p:nvPr/>
        </p:nvSpPr>
        <p:spPr bwMode="auto">
          <a:xfrm>
            <a:off x="1262063" y="4909457"/>
            <a:ext cx="828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pid=21</a:t>
            </a:r>
          </a:p>
          <a:p>
            <a:pPr algn="r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pgid=20</a:t>
            </a:r>
          </a:p>
        </p:txBody>
      </p:sp>
      <p:sp>
        <p:nvSpPr>
          <p:cNvPr id="27" name="Text Box 26"/>
          <p:cNvSpPr txBox="1">
            <a:spLocks noChangeAspect="1" noChangeArrowheads="1"/>
          </p:cNvSpPr>
          <p:nvPr/>
        </p:nvSpPr>
        <p:spPr bwMode="auto">
          <a:xfrm>
            <a:off x="2405063" y="4909457"/>
            <a:ext cx="828675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pid=22</a:t>
            </a:r>
          </a:p>
          <a:p>
            <a:pPr algn="r">
              <a:lnSpc>
                <a:spcPct val="100000"/>
              </a:lnSpc>
            </a:pPr>
            <a:r>
              <a:rPr lang="en-US" sz="1200" b="1">
                <a:latin typeface="Courier New" pitchFamily="49" charset="0"/>
              </a:rPr>
              <a:t>pgid=20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8636FA8-4D2D-3C49-BA18-29B29F039BB1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Sending Signals from the Keyboard</a:t>
            </a:r>
          </a:p>
        </p:txBody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Typing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ctrl-c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" charset="0"/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at the keyboard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causes a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SIGINT</a:t>
            </a:r>
            <a:r>
              <a:rPr lang="en-US" altLang="zh-CN" dirty="0">
                <a:ea typeface="宋体" pitchFamily="2" charset="-122"/>
              </a:rPr>
              <a:t> signal to be sent to the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shell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The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shell</a:t>
            </a:r>
            <a:r>
              <a:rPr lang="en-US" altLang="zh-CN" dirty="0">
                <a:ea typeface="宋体" pitchFamily="2" charset="-122"/>
              </a:rPr>
              <a:t> catches the signal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Then sends a SIGINT to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every process </a:t>
            </a:r>
            <a:r>
              <a:rPr lang="en-US" altLang="zh-CN" dirty="0">
                <a:ea typeface="宋体" pitchFamily="2" charset="-122"/>
              </a:rPr>
              <a:t>in the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foreground</a:t>
            </a:r>
            <a:r>
              <a:rPr lang="en-US" altLang="zh-CN" dirty="0">
                <a:ea typeface="宋体" pitchFamily="2" charset="-122"/>
              </a:rPr>
              <a:t> process group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The result is to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terminate </a:t>
            </a:r>
            <a:r>
              <a:rPr lang="en-US" altLang="zh-CN" dirty="0">
                <a:ea typeface="宋体" pitchFamily="2" charset="-122"/>
              </a:rPr>
              <a:t>the foreground job (default)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ABEA743-EB33-1740-A677-9318EE21917C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Sending Signals from the Keyboard</a:t>
            </a:r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Typing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crtl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-z 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sends a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SIGTSTP</a:t>
            </a:r>
            <a:r>
              <a:rPr lang="en-US" altLang="zh-CN" dirty="0">
                <a:ea typeface="宋体" pitchFamily="2" charset="-122"/>
              </a:rPr>
              <a:t> signal to the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shell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The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shell</a:t>
            </a:r>
            <a:r>
              <a:rPr lang="en-US" altLang="zh-CN" dirty="0">
                <a:ea typeface="宋体" pitchFamily="2" charset="-122"/>
              </a:rPr>
              <a:t> catches the signal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Sends a SIGTSTP signal to every process in the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foreground</a:t>
            </a:r>
            <a:r>
              <a:rPr lang="en-US" altLang="zh-CN" dirty="0">
                <a:ea typeface="宋体" pitchFamily="2" charset="-122"/>
              </a:rPr>
              <a:t> process group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The result is to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stop</a:t>
            </a:r>
            <a:r>
              <a:rPr lang="en-US" altLang="zh-CN" dirty="0">
                <a:ea typeface="宋体" pitchFamily="2" charset="-122"/>
              </a:rPr>
              <a:t> (suspend) the foreground job (default)</a:t>
            </a:r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 of </a:t>
            </a:r>
            <a:r>
              <a:rPr lang="en-US">
                <a:latin typeface="Courier New" pitchFamily="49" charset="0"/>
              </a:rPr>
              <a:t>ctrl-c</a:t>
            </a:r>
            <a:r>
              <a:rPr lang="en-US"/>
              <a:t> and </a:t>
            </a:r>
            <a:r>
              <a:rPr lang="en-US">
                <a:latin typeface="Courier New" pitchFamily="49" charset="0"/>
              </a:rPr>
              <a:t>ctrl-z</a:t>
            </a:r>
          </a:p>
        </p:txBody>
      </p:sp>
      <p:sp>
        <p:nvSpPr>
          <p:cNvPr id="556039" name="Text Box 7"/>
          <p:cNvSpPr txBox="1">
            <a:spLocks noChangeArrowheads="1"/>
          </p:cNvSpPr>
          <p:nvPr/>
        </p:nvSpPr>
        <p:spPr bwMode="auto">
          <a:xfrm>
            <a:off x="304800" y="1630263"/>
            <a:ext cx="5334000" cy="4770537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l"/>
            <a:r>
              <a:rPr lang="en-US" sz="1600" b="1" dirty="0">
                <a:latin typeface="Courier New" pitchFamily="49" charset="0"/>
              </a:rPr>
              <a:t>bluefish&gt; ./forks 17</a:t>
            </a:r>
          </a:p>
          <a:p>
            <a:pPr algn="l"/>
            <a:r>
              <a:rPr lang="en-US" sz="1600" b="1" dirty="0">
                <a:latin typeface="Courier New" pitchFamily="49" charset="0"/>
              </a:rPr>
              <a:t>Child: </a:t>
            </a:r>
            <a:r>
              <a:rPr lang="en-US" sz="1600" b="1" dirty="0" err="1">
                <a:latin typeface="Courier New" pitchFamily="49" charset="0"/>
              </a:rPr>
              <a:t>pid</a:t>
            </a:r>
            <a:r>
              <a:rPr lang="en-US" sz="1600" b="1" dirty="0">
                <a:latin typeface="Courier New" pitchFamily="49" charset="0"/>
              </a:rPr>
              <a:t>=28108 </a:t>
            </a:r>
            <a:r>
              <a:rPr lang="en-US" sz="1600" b="1" dirty="0" err="1">
                <a:latin typeface="Courier New" pitchFamily="49" charset="0"/>
              </a:rPr>
              <a:t>pgrp</a:t>
            </a:r>
            <a:r>
              <a:rPr lang="en-US" sz="1600" b="1" dirty="0">
                <a:latin typeface="Courier New" pitchFamily="49" charset="0"/>
              </a:rPr>
              <a:t>=28107</a:t>
            </a:r>
          </a:p>
          <a:p>
            <a:pPr algn="l"/>
            <a:r>
              <a:rPr lang="en-US" sz="1600" b="1" dirty="0">
                <a:latin typeface="Courier New" pitchFamily="49" charset="0"/>
              </a:rPr>
              <a:t>Parent: </a:t>
            </a:r>
            <a:r>
              <a:rPr lang="en-US" sz="1600" b="1" dirty="0" err="1">
                <a:latin typeface="Courier New" pitchFamily="49" charset="0"/>
              </a:rPr>
              <a:t>pid</a:t>
            </a:r>
            <a:r>
              <a:rPr lang="en-US" sz="1600" b="1" dirty="0">
                <a:latin typeface="Courier New" pitchFamily="49" charset="0"/>
              </a:rPr>
              <a:t>=28107 </a:t>
            </a:r>
            <a:r>
              <a:rPr lang="en-US" sz="1600" b="1" dirty="0" err="1">
                <a:latin typeface="Courier New" pitchFamily="49" charset="0"/>
              </a:rPr>
              <a:t>pgrp</a:t>
            </a:r>
            <a:r>
              <a:rPr lang="en-US" sz="1600" b="1" dirty="0">
                <a:latin typeface="Courier New" pitchFamily="49" charset="0"/>
              </a:rPr>
              <a:t>=28107</a:t>
            </a:r>
          </a:p>
          <a:p>
            <a:pPr algn="l"/>
            <a:r>
              <a:rPr lang="en-US" sz="1600" b="1" dirty="0">
                <a:latin typeface="Courier New" pitchFamily="49" charset="0"/>
              </a:rPr>
              <a:t>&lt;types ctrl-</a:t>
            </a:r>
            <a:r>
              <a:rPr lang="en-US" sz="1600" b="1" dirty="0" err="1">
                <a:latin typeface="Courier New" pitchFamily="49" charset="0"/>
              </a:rPr>
              <a:t>z</a:t>
            </a:r>
            <a:r>
              <a:rPr lang="en-US" sz="1600" b="1" dirty="0">
                <a:latin typeface="Courier New" pitchFamily="49" charset="0"/>
              </a:rPr>
              <a:t>&gt;</a:t>
            </a:r>
          </a:p>
          <a:p>
            <a:pPr algn="l"/>
            <a:r>
              <a:rPr lang="en-US" sz="1600" b="1" dirty="0">
                <a:latin typeface="Courier New" pitchFamily="49" charset="0"/>
              </a:rPr>
              <a:t>Suspended</a:t>
            </a:r>
          </a:p>
          <a:p>
            <a:pPr algn="l"/>
            <a:r>
              <a:rPr lang="en-US" sz="1600" b="1" dirty="0">
                <a:latin typeface="Courier New" pitchFamily="49" charset="0"/>
              </a:rPr>
              <a:t>bluefish&gt; </a:t>
            </a:r>
            <a:r>
              <a:rPr lang="en-US" sz="1600" b="1" dirty="0" err="1">
                <a:latin typeface="Courier New" pitchFamily="49" charset="0"/>
              </a:rPr>
              <a:t>ps</a:t>
            </a:r>
            <a:r>
              <a:rPr lang="en-US" sz="1600" b="1" dirty="0">
                <a:latin typeface="Courier New" pitchFamily="49" charset="0"/>
              </a:rPr>
              <a:t> </a:t>
            </a:r>
            <a:r>
              <a:rPr lang="en-US" sz="1600" b="1" dirty="0" err="1">
                <a:latin typeface="Courier New" pitchFamily="49" charset="0"/>
              </a:rPr>
              <a:t>w</a:t>
            </a:r>
            <a:endParaRPr lang="en-US" sz="1600" b="1" dirty="0">
              <a:latin typeface="Courier New" pitchFamily="49" charset="0"/>
            </a:endParaRPr>
          </a:p>
          <a:p>
            <a:pPr algn="l"/>
            <a:r>
              <a:rPr lang="en-US" sz="1600" b="1" dirty="0">
                <a:latin typeface="Courier New" pitchFamily="49" charset="0"/>
              </a:rPr>
              <a:t>  PID TTY      STAT   TIME COMMAND</a:t>
            </a:r>
          </a:p>
          <a:p>
            <a:pPr algn="l"/>
            <a:r>
              <a:rPr lang="en-US" sz="1600" b="1" dirty="0">
                <a:latin typeface="Courier New" pitchFamily="49" charset="0"/>
              </a:rPr>
              <a:t>27699 pts/8    Ss     0:00 -</a:t>
            </a:r>
            <a:r>
              <a:rPr lang="en-US" sz="1600" b="1" dirty="0" err="1">
                <a:latin typeface="Courier New" pitchFamily="49" charset="0"/>
              </a:rPr>
              <a:t>tcsh</a:t>
            </a:r>
            <a:endParaRPr lang="en-US" sz="1600" b="1" dirty="0">
              <a:latin typeface="Courier New" pitchFamily="49" charset="0"/>
            </a:endParaRPr>
          </a:p>
          <a:p>
            <a:pPr algn="l"/>
            <a:r>
              <a:rPr lang="en-US" sz="1600" b="1" dirty="0">
                <a:latin typeface="Courier New" pitchFamily="49" charset="0"/>
              </a:rPr>
              <a:t>28107 pts/8    T      0:01 ./forks 17</a:t>
            </a:r>
          </a:p>
          <a:p>
            <a:pPr algn="l"/>
            <a:r>
              <a:rPr lang="en-US" sz="1600" b="1" dirty="0">
                <a:latin typeface="Courier New" pitchFamily="49" charset="0"/>
              </a:rPr>
              <a:t>28108 pts/8    T      0:01 ./forks 17</a:t>
            </a:r>
          </a:p>
          <a:p>
            <a:pPr algn="l"/>
            <a:r>
              <a:rPr lang="en-US" sz="1600" b="1" dirty="0">
                <a:latin typeface="Courier New" pitchFamily="49" charset="0"/>
              </a:rPr>
              <a:t>28109 pts/8    R+     0:00 </a:t>
            </a:r>
            <a:r>
              <a:rPr lang="en-US" sz="1600" b="1" dirty="0" err="1">
                <a:latin typeface="Courier New" pitchFamily="49" charset="0"/>
              </a:rPr>
              <a:t>ps</a:t>
            </a:r>
            <a:r>
              <a:rPr lang="en-US" sz="1600" b="1" dirty="0">
                <a:latin typeface="Courier New" pitchFamily="49" charset="0"/>
              </a:rPr>
              <a:t> </a:t>
            </a:r>
            <a:r>
              <a:rPr lang="en-US" sz="1600" b="1" dirty="0" err="1">
                <a:latin typeface="Courier New" pitchFamily="49" charset="0"/>
              </a:rPr>
              <a:t>w</a:t>
            </a:r>
            <a:endParaRPr lang="en-US" sz="1600" b="1" dirty="0">
              <a:latin typeface="Courier New" pitchFamily="49" charset="0"/>
            </a:endParaRPr>
          </a:p>
          <a:p>
            <a:pPr algn="l"/>
            <a:r>
              <a:rPr lang="en-US" sz="1600" b="1" dirty="0">
                <a:latin typeface="Courier New" pitchFamily="49" charset="0"/>
              </a:rPr>
              <a:t>bluefish&gt; </a:t>
            </a:r>
            <a:r>
              <a:rPr lang="en-US" sz="1600" b="1" dirty="0" err="1">
                <a:latin typeface="Courier New" pitchFamily="49" charset="0"/>
              </a:rPr>
              <a:t>fg</a:t>
            </a:r>
            <a:endParaRPr lang="en-US" sz="1600" b="1" dirty="0">
              <a:latin typeface="Courier New" pitchFamily="49" charset="0"/>
            </a:endParaRPr>
          </a:p>
          <a:p>
            <a:pPr algn="l"/>
            <a:r>
              <a:rPr lang="en-US" sz="1600" b="1" dirty="0">
                <a:latin typeface="Courier New" pitchFamily="49" charset="0"/>
              </a:rPr>
              <a:t>./forks 17</a:t>
            </a:r>
          </a:p>
          <a:p>
            <a:pPr algn="l"/>
            <a:r>
              <a:rPr lang="en-US" sz="1600" b="1" dirty="0">
                <a:latin typeface="Courier New" pitchFamily="49" charset="0"/>
              </a:rPr>
              <a:t>&lt;types ctrl-</a:t>
            </a:r>
            <a:r>
              <a:rPr lang="en-US" sz="1600" b="1" dirty="0" err="1">
                <a:latin typeface="Courier New" pitchFamily="49" charset="0"/>
              </a:rPr>
              <a:t>c</a:t>
            </a:r>
            <a:r>
              <a:rPr lang="en-US" sz="1600" b="1" dirty="0">
                <a:latin typeface="Courier New" pitchFamily="49" charset="0"/>
              </a:rPr>
              <a:t>&gt;</a:t>
            </a:r>
          </a:p>
          <a:p>
            <a:pPr algn="l"/>
            <a:r>
              <a:rPr lang="en-US" sz="1600" b="1" dirty="0">
                <a:latin typeface="Courier New" pitchFamily="49" charset="0"/>
              </a:rPr>
              <a:t>bluefish&gt; </a:t>
            </a:r>
            <a:r>
              <a:rPr lang="en-US" sz="1600" b="1" dirty="0" err="1">
                <a:latin typeface="Courier New" pitchFamily="49" charset="0"/>
              </a:rPr>
              <a:t>ps</a:t>
            </a:r>
            <a:r>
              <a:rPr lang="en-US" sz="1600" b="1" dirty="0">
                <a:latin typeface="Courier New" pitchFamily="49" charset="0"/>
              </a:rPr>
              <a:t> </a:t>
            </a:r>
            <a:r>
              <a:rPr lang="en-US" sz="1600" b="1" dirty="0" err="1">
                <a:latin typeface="Courier New" pitchFamily="49" charset="0"/>
              </a:rPr>
              <a:t>w</a:t>
            </a:r>
            <a:endParaRPr lang="en-US" sz="1600" b="1" dirty="0">
              <a:latin typeface="Courier New" pitchFamily="49" charset="0"/>
            </a:endParaRPr>
          </a:p>
          <a:p>
            <a:pPr algn="l"/>
            <a:r>
              <a:rPr lang="en-US" sz="1600" b="1" dirty="0">
                <a:latin typeface="Courier New" pitchFamily="49" charset="0"/>
              </a:rPr>
              <a:t>  PID TTY      STAT   TIME COMMAND</a:t>
            </a:r>
          </a:p>
          <a:p>
            <a:pPr algn="l"/>
            <a:r>
              <a:rPr lang="en-US" sz="1600" b="1" dirty="0">
                <a:latin typeface="Courier New" pitchFamily="49" charset="0"/>
              </a:rPr>
              <a:t>27699 pts/8    Ss     0:00 -</a:t>
            </a:r>
            <a:r>
              <a:rPr lang="en-US" sz="1600" b="1" dirty="0" err="1">
                <a:latin typeface="Courier New" pitchFamily="49" charset="0"/>
              </a:rPr>
              <a:t>tcsh</a:t>
            </a:r>
            <a:endParaRPr lang="en-US" sz="1600" b="1" dirty="0">
              <a:latin typeface="Courier New" pitchFamily="49" charset="0"/>
            </a:endParaRPr>
          </a:p>
          <a:p>
            <a:pPr algn="l"/>
            <a:r>
              <a:rPr lang="en-US" sz="1600" b="1" dirty="0">
                <a:latin typeface="Courier New" pitchFamily="49" charset="0"/>
              </a:rPr>
              <a:t>28110 pts/8    R+     0:00 </a:t>
            </a:r>
            <a:r>
              <a:rPr lang="en-US" sz="1600" b="1" dirty="0" err="1">
                <a:latin typeface="Courier New" pitchFamily="49" charset="0"/>
              </a:rPr>
              <a:t>ps</a:t>
            </a:r>
            <a:r>
              <a:rPr lang="en-US" sz="1600" b="1" dirty="0">
                <a:latin typeface="Courier New" pitchFamily="49" charset="0"/>
              </a:rPr>
              <a:t> </a:t>
            </a:r>
            <a:r>
              <a:rPr lang="en-US" sz="1600" b="1" dirty="0" err="1">
                <a:latin typeface="Courier New" pitchFamily="49" charset="0"/>
              </a:rPr>
              <a:t>w</a:t>
            </a:r>
            <a:endParaRPr lang="en-US" sz="1600" b="1" dirty="0">
              <a:latin typeface="Courier New" pitchFamily="49" charset="0"/>
            </a:endParaRPr>
          </a:p>
          <a:p>
            <a:pPr algn="l">
              <a:lnSpc>
                <a:spcPct val="100000"/>
              </a:lnSpc>
            </a:pPr>
            <a:endParaRPr lang="en-US" sz="1600" b="1" dirty="0">
              <a:latin typeface="Courier New" pitchFamily="49" charset="0"/>
            </a:endParaRPr>
          </a:p>
        </p:txBody>
      </p:sp>
      <p:sp>
        <p:nvSpPr>
          <p:cNvPr id="556041" name="Text Box 9"/>
          <p:cNvSpPr txBox="1">
            <a:spLocks noChangeArrowheads="1"/>
          </p:cNvSpPr>
          <p:nvPr/>
        </p:nvSpPr>
        <p:spPr bwMode="auto">
          <a:xfrm>
            <a:off x="5791200" y="1542264"/>
            <a:ext cx="3124200" cy="5078313"/>
          </a:xfrm>
          <a:prstGeom prst="rect">
            <a:avLst/>
          </a:prstGeom>
          <a:solidFill>
            <a:schemeClr val="bg1"/>
          </a:solidFill>
          <a:ln w="3175">
            <a:noFill/>
            <a:miter lim="800000"/>
            <a:headEnd/>
            <a:tailEnd/>
          </a:ln>
          <a:effectLst/>
        </p:spPr>
        <p:txBody>
          <a:bodyPr lIns="45720" rIns="45720">
            <a:spAutoFit/>
          </a:bodyPr>
          <a:lstStyle/>
          <a:p>
            <a:pPr algn="l"/>
            <a:r>
              <a:rPr lang="en-US" sz="1800" dirty="0">
                <a:latin typeface="Calibri" pitchFamily="34" charset="0"/>
              </a:rPr>
              <a:t>STAT (process state) Legend:</a:t>
            </a:r>
          </a:p>
          <a:p>
            <a:pPr algn="l"/>
            <a:endParaRPr lang="en-US" sz="1800" dirty="0">
              <a:latin typeface="Calibri" pitchFamily="34" charset="0"/>
            </a:endParaRPr>
          </a:p>
          <a:p>
            <a:pPr algn="l"/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First letter:</a:t>
            </a:r>
          </a:p>
          <a:p>
            <a:pPr algn="l"/>
            <a:r>
              <a:rPr lang="en-US" sz="1800" dirty="0">
                <a:latin typeface="Calibri" pitchFamily="34" charset="0"/>
              </a:rPr>
              <a:t>S: sleeping</a:t>
            </a:r>
          </a:p>
          <a:p>
            <a:pPr algn="l"/>
            <a:r>
              <a:rPr lang="en-US" sz="1800" dirty="0">
                <a:latin typeface="Calibri" pitchFamily="34" charset="0"/>
              </a:rPr>
              <a:t>T: stopped</a:t>
            </a:r>
          </a:p>
          <a:p>
            <a:pPr algn="l"/>
            <a:r>
              <a:rPr lang="en-US" sz="1800" dirty="0">
                <a:latin typeface="Calibri" pitchFamily="34" charset="0"/>
              </a:rPr>
              <a:t>R: running</a:t>
            </a:r>
          </a:p>
          <a:p>
            <a:pPr algn="l"/>
            <a:endParaRPr lang="en-US" sz="1800" dirty="0">
              <a:latin typeface="Calibri" pitchFamily="34" charset="0"/>
            </a:endParaRPr>
          </a:p>
          <a:p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Second letter:</a:t>
            </a:r>
          </a:p>
          <a:p>
            <a:pPr algn="l"/>
            <a:r>
              <a:rPr lang="en-US" sz="1800" dirty="0">
                <a:latin typeface="Calibri" pitchFamily="34" charset="0"/>
              </a:rPr>
              <a:t>s: session leader</a:t>
            </a:r>
          </a:p>
          <a:p>
            <a:pPr algn="l"/>
            <a:r>
              <a:rPr lang="en-US" sz="1800" dirty="0">
                <a:latin typeface="Calibri" pitchFamily="34" charset="0"/>
              </a:rPr>
              <a:t>+: foreground proc group</a:t>
            </a:r>
          </a:p>
          <a:p>
            <a:pPr algn="l"/>
            <a:endParaRPr lang="en-US" sz="1800" dirty="0">
              <a:latin typeface="Calibri" pitchFamily="34" charset="0"/>
            </a:endParaRPr>
          </a:p>
          <a:p>
            <a:pPr algn="l"/>
            <a:r>
              <a:rPr lang="en-US" sz="1800" dirty="0">
                <a:latin typeface="Calibri" pitchFamily="34" charset="0"/>
              </a:rPr>
              <a:t>See “man </a:t>
            </a:r>
            <a:r>
              <a:rPr lang="en-US" sz="1800" dirty="0" err="1">
                <a:latin typeface="Calibri" pitchFamily="34" charset="0"/>
              </a:rPr>
              <a:t>ps</a:t>
            </a:r>
            <a:r>
              <a:rPr lang="en-US" sz="1800" dirty="0">
                <a:latin typeface="Calibri" pitchFamily="34" charset="0"/>
              </a:rPr>
              <a:t>” for more </a:t>
            </a:r>
          </a:p>
          <a:p>
            <a:pPr algn="l"/>
            <a:r>
              <a:rPr lang="en-US" sz="1800" dirty="0">
                <a:latin typeface="Calibri" pitchFamily="34" charset="0"/>
              </a:rPr>
              <a:t>details</a:t>
            </a:r>
          </a:p>
          <a:p>
            <a:pPr algn="l"/>
            <a:endParaRPr lang="en-US" sz="1800" dirty="0">
              <a:latin typeface="Calibri" pitchFamily="34" charset="0"/>
            </a:endParaRPr>
          </a:p>
          <a:p>
            <a:r>
              <a:rPr lang="en-US" altLang="zh-CN" sz="1800" dirty="0" err="1"/>
              <a:t>Fg</a:t>
            </a:r>
            <a:r>
              <a:rPr lang="en-US" altLang="zh-CN" sz="1800" b="0" dirty="0"/>
              <a:t>: resume the most recently suspended or backgrounded job</a:t>
            </a:r>
            <a:endParaRPr lang="en-US" altLang="zh-CN" sz="1800" dirty="0">
              <a:latin typeface="Calibri" pitchFamily="34" charset="0"/>
            </a:endParaRPr>
          </a:p>
          <a:p>
            <a:pPr algn="l"/>
            <a:endParaRPr lang="en-US" sz="18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11569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90C7D4-D0C1-C04D-9B5E-D74581431E41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7924800" cy="685800"/>
          </a:xfrm>
        </p:spPr>
        <p:txBody>
          <a:bodyPr/>
          <a:lstStyle/>
          <a:p>
            <a:r>
              <a:rPr lang="en-US" altLang="zh-CN">
                <a:ea typeface="宋体" charset="-122"/>
              </a:rPr>
              <a:t>Sending Signals with kill Function</a:t>
            </a:r>
          </a:p>
        </p:txBody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3352800"/>
            <a:ext cx="8077200" cy="28194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If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pid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" charset="0"/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is greater than zero,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then the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kill</a:t>
            </a:r>
            <a:r>
              <a:rPr lang="en-US" altLang="zh-CN" sz="2000" dirty="0">
                <a:latin typeface="Courier" charset="0"/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function sends signal number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sig</a:t>
            </a:r>
            <a:r>
              <a:rPr lang="en-US" altLang="zh-CN" dirty="0">
                <a:latin typeface="Courier" charset="0"/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to process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pid</a:t>
            </a:r>
            <a:endParaRPr lang="en-US" altLang="zh-CN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>
              <a:defRPr/>
            </a:pPr>
            <a:r>
              <a:rPr lang="en-US" altLang="zh-CN" dirty="0">
                <a:ea typeface="宋体" pitchFamily="2" charset="-122"/>
              </a:rPr>
              <a:t>If 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pid</a:t>
            </a:r>
            <a:r>
              <a:rPr lang="en-US" altLang="zh-CN" sz="3200" dirty="0">
                <a:latin typeface="Courier" charset="0"/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is less than zero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then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kill</a:t>
            </a:r>
            <a:r>
              <a:rPr lang="en-US" altLang="zh-CN" dirty="0">
                <a:latin typeface="Courier" charset="0"/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sends signal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sig</a:t>
            </a:r>
            <a:r>
              <a:rPr lang="en-US" altLang="zh-CN" dirty="0">
                <a:latin typeface="Courier" charset="0"/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to every process in process group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abs(</a:t>
            </a:r>
            <a:r>
              <a:rPr lang="en-US" altLang="zh-CN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pid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)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itchFamily="49" charset="0"/>
              <a:ea typeface="宋体" pitchFamily="2" charset="-122"/>
              <a:cs typeface="Courier New" pitchFamily="49" charset="0"/>
            </a:endParaRPr>
          </a:p>
        </p:txBody>
      </p:sp>
      <p:graphicFrame>
        <p:nvGraphicFramePr>
          <p:cNvPr id="1581060" name="Group 4"/>
          <p:cNvGraphicFramePr>
            <a:graphicFrameLocks noGrp="1"/>
          </p:cNvGraphicFramePr>
          <p:nvPr/>
        </p:nvGraphicFramePr>
        <p:xfrm>
          <a:off x="685800" y="1600200"/>
          <a:ext cx="7924800" cy="1566863"/>
        </p:xfrm>
        <a:graphic>
          <a:graphicData uri="http://schemas.openxmlformats.org/drawingml/2006/table">
            <a:tbl>
              <a:tblPr/>
              <a:tblGrid>
                <a:gridCol w="792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68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#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include &lt;sys/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types.h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&gt;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#include &lt;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signal.h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&gt;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int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kill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(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pid_t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pid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, 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int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sig);</a:t>
                      </a: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  <a:ea typeface="宋体" pitchFamily="2" charset="-122"/>
                          <a:cs typeface="Times New Roman" pitchFamily="18" charset="0"/>
                        </a:rPr>
                        <a:t>returns: 0 if OK, -1 on error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lt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693" marB="4569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C04852-919E-084D-8586-CE6A326FCF00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7270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533400"/>
            <a:ext cx="8458200" cy="6019800"/>
          </a:xfrm>
          <a:solidFill>
            <a:schemeClr val="bg1"/>
          </a:solidFill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Courier New" charset="0"/>
                <a:ea typeface="宋体" charset="-122"/>
                <a:cs typeface="Courier New" charset="0"/>
              </a:rPr>
              <a:t>1  #</a:t>
            </a:r>
            <a:r>
              <a:rPr lang="en-US" altLang="zh-CN" sz="2000" b="1">
                <a:latin typeface="Courier New" charset="0"/>
                <a:ea typeface="宋体" charset="-122"/>
                <a:cs typeface="Courier New" charset="0"/>
              </a:rPr>
              <a:t>include "csapp.h"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Courier New" charset="0"/>
                <a:ea typeface="宋体" charset="-122"/>
                <a:cs typeface="Courier New" charset="0"/>
              </a:rPr>
              <a:t>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Courier New" charset="0"/>
                <a:ea typeface="宋体" charset="-122"/>
                <a:cs typeface="Courier New" charset="0"/>
              </a:rPr>
              <a:t>3  int main()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Courier New" charset="0"/>
                <a:ea typeface="宋体" charset="-122"/>
                <a:cs typeface="Courier New" charset="0"/>
              </a:rPr>
              <a:t>4 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Courier New" charset="0"/>
                <a:ea typeface="宋体" charset="-122"/>
                <a:cs typeface="Courier New" charset="0"/>
              </a:rPr>
              <a:t>5    pid_t pid;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Courier New" charset="0"/>
                <a:ea typeface="宋体" charset="-122"/>
                <a:cs typeface="Courier New" charset="0"/>
              </a:rPr>
              <a:t>6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Courier New" charset="0"/>
                <a:ea typeface="宋体" charset="-122"/>
                <a:cs typeface="Courier New" charset="0"/>
              </a:rPr>
              <a:t>7    </a:t>
            </a:r>
            <a:r>
              <a:rPr lang="en-US" altLang="zh-CN" sz="2000" b="1">
                <a:solidFill>
                  <a:srgbClr val="00B050"/>
                </a:solidFill>
                <a:latin typeface="Courier New" charset="0"/>
                <a:ea typeface="宋体" charset="-122"/>
                <a:cs typeface="Courier New" charset="0"/>
              </a:rPr>
              <a:t>/* child sleeps until SIGKILL signal received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Courier New" charset="0"/>
                <a:ea typeface="宋体" charset="-122"/>
                <a:cs typeface="Courier New" charset="0"/>
              </a:rPr>
              <a:t>8    if ((pid = Fork()) == 0)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Courier New" charset="0"/>
                <a:ea typeface="宋体" charset="-122"/>
                <a:cs typeface="Courier New" charset="0"/>
              </a:rPr>
              <a:t>9      Pause(); </a:t>
            </a:r>
            <a:r>
              <a:rPr lang="en-US" altLang="zh-CN" sz="2000" b="1">
                <a:solidFill>
                  <a:srgbClr val="00B050"/>
                </a:solidFill>
                <a:latin typeface="Courier New" charset="0"/>
                <a:ea typeface="宋体" charset="-122"/>
                <a:cs typeface="Courier New" charset="0"/>
              </a:rPr>
              <a:t>/* wait for a signal to arrive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Courier New" charset="0"/>
                <a:ea typeface="宋体" charset="-122"/>
                <a:cs typeface="Courier New" charset="0"/>
              </a:rPr>
              <a:t>10 	 printf("control should never reach here!\n");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Courier New" charset="0"/>
                <a:ea typeface="宋体" charset="-122"/>
                <a:cs typeface="Courier New" charset="0"/>
              </a:rPr>
              <a:t>11 	 exit(0);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Courier New" charset="0"/>
                <a:ea typeface="宋体" charset="-122"/>
                <a:cs typeface="Courier New" charset="0"/>
              </a:rPr>
              <a:t>12   }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Courier New" charset="0"/>
                <a:ea typeface="宋体" charset="-122"/>
                <a:cs typeface="Courier New" charset="0"/>
              </a:rPr>
              <a:t>13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Courier New" charset="0"/>
                <a:ea typeface="宋体" charset="-122"/>
                <a:cs typeface="Courier New" charset="0"/>
              </a:rPr>
              <a:t>14   </a:t>
            </a:r>
            <a:r>
              <a:rPr lang="en-US" altLang="zh-CN" sz="2000" b="1">
                <a:solidFill>
                  <a:srgbClr val="00B050"/>
                </a:solidFill>
                <a:latin typeface="Courier New" charset="0"/>
                <a:ea typeface="宋体" charset="-122"/>
                <a:cs typeface="Courier New" charset="0"/>
              </a:rPr>
              <a:t>/* parent sends a SIGKILL signal to a child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Courier New" charset="0"/>
                <a:ea typeface="宋体" charset="-122"/>
                <a:cs typeface="Courier New" charset="0"/>
              </a:rPr>
              <a:t>15   Kill(pid, SIGKILL);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Courier New" charset="0"/>
                <a:ea typeface="宋体" charset="-122"/>
                <a:cs typeface="Courier New" charset="0"/>
              </a:rPr>
              <a:t>16   exit(0);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Courier New" charset="0"/>
                <a:ea typeface="宋体" charset="-122"/>
                <a:cs typeface="Courier New" charset="0"/>
              </a:rPr>
              <a:t>17 }</a:t>
            </a:r>
            <a:endParaRPr lang="zh-CN" altLang="en-US" sz="2000" b="1">
              <a:latin typeface="Courier New" charset="0"/>
              <a:ea typeface="宋体" charset="-122"/>
              <a:cs typeface="Courier New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7739E6-DDDA-EC4B-8A0A-2BCA0F1CCE72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Receiving a Signal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47675" y="1392823"/>
            <a:ext cx="80772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 dirty="0">
                <a:ea typeface="宋体" charset="-122"/>
              </a:rPr>
              <a:t>先决条件：</a:t>
            </a:r>
            <a:endParaRPr lang="en-US" altLang="zh-CN" dirty="0">
              <a:ea typeface="宋体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ea typeface="宋体" charset="-122"/>
              </a:rPr>
              <a:t>当内核从一个</a:t>
            </a:r>
            <a:r>
              <a:rPr lang="en-US" altLang="zh-CN" dirty="0">
                <a:ea typeface="宋体" charset="-122"/>
              </a:rPr>
              <a:t>exception handler</a:t>
            </a:r>
            <a:r>
              <a:rPr lang="zh-CN" altLang="en-US" dirty="0">
                <a:ea typeface="宋体" charset="-122"/>
              </a:rPr>
              <a:t>中返回，</a:t>
            </a:r>
            <a:endParaRPr lang="en-US" altLang="zh-CN" dirty="0">
              <a:ea typeface="宋体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 dirty="0">
                <a:ea typeface="宋体" charset="-122"/>
              </a:rPr>
              <a:t>而且正准备将控制权传给进程</a:t>
            </a:r>
            <a:r>
              <a:rPr lang="en-US" altLang="zh-CN" dirty="0">
                <a:ea typeface="宋体" charset="-122"/>
              </a:rPr>
              <a:t>p</a:t>
            </a:r>
            <a:r>
              <a:rPr lang="zh-CN" altLang="en-US" dirty="0">
                <a:ea typeface="宋体" charset="-122"/>
              </a:rPr>
              <a:t>时</a:t>
            </a:r>
            <a:endParaRPr lang="en-US" altLang="zh-CN" dirty="0">
              <a:ea typeface="宋体" charset="-122"/>
            </a:endParaRPr>
          </a:p>
        </p:txBody>
      </p:sp>
      <p:sp>
        <p:nvSpPr>
          <p:cNvPr id="5" name="Rectangle 3"/>
          <p:cNvSpPr/>
          <p:nvPr/>
        </p:nvSpPr>
        <p:spPr bwMode="auto">
          <a:xfrm>
            <a:off x="2117269" y="5644917"/>
            <a:ext cx="4495800" cy="425450"/>
          </a:xfrm>
          <a:prstGeom prst="rect">
            <a:avLst/>
          </a:prstGeom>
          <a:solidFill>
            <a:srgbClr val="F1C7C7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6" name="Rectangle 4"/>
          <p:cNvSpPr/>
          <p:nvPr/>
        </p:nvSpPr>
        <p:spPr bwMode="auto">
          <a:xfrm>
            <a:off x="2117269" y="5219467"/>
            <a:ext cx="4495800" cy="4254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7" name="Rectangle 5"/>
          <p:cNvSpPr/>
          <p:nvPr/>
        </p:nvSpPr>
        <p:spPr bwMode="auto">
          <a:xfrm>
            <a:off x="2117269" y="6070367"/>
            <a:ext cx="4495800" cy="4254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8" name="Rectangle 6"/>
          <p:cNvSpPr/>
          <p:nvPr/>
        </p:nvSpPr>
        <p:spPr bwMode="auto">
          <a:xfrm>
            <a:off x="2117269" y="4788123"/>
            <a:ext cx="4495800" cy="425450"/>
          </a:xfrm>
          <a:prstGeom prst="rect">
            <a:avLst/>
          </a:prstGeom>
          <a:solidFill>
            <a:srgbClr val="F1C7C7"/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9" name="Rectangle 7"/>
          <p:cNvSpPr/>
          <p:nvPr/>
        </p:nvSpPr>
        <p:spPr bwMode="auto">
          <a:xfrm>
            <a:off x="2117269" y="4362673"/>
            <a:ext cx="4495800" cy="42545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2339291" y="3741057"/>
            <a:ext cx="1097160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Process A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862283" y="3741057"/>
            <a:ext cx="1087542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i="1" dirty="0">
                <a:solidFill>
                  <a:srgbClr val="C00000"/>
                </a:solidFill>
                <a:latin typeface="Calibri" pitchFamily="34" charset="0"/>
              </a:rPr>
              <a:t>Process B</a:t>
            </a:r>
          </a:p>
        </p:txBody>
      </p:sp>
      <p:sp>
        <p:nvSpPr>
          <p:cNvPr id="12" name="Line 6"/>
          <p:cNvSpPr>
            <a:spLocks noChangeShapeType="1"/>
          </p:cNvSpPr>
          <p:nvPr/>
        </p:nvSpPr>
        <p:spPr bwMode="auto">
          <a:xfrm flipH="1">
            <a:off x="2892425" y="4365857"/>
            <a:ext cx="6350" cy="42062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3" name="Line 11"/>
          <p:cNvSpPr>
            <a:spLocks noChangeShapeType="1"/>
          </p:cNvSpPr>
          <p:nvPr/>
        </p:nvSpPr>
        <p:spPr bwMode="auto">
          <a:xfrm flipH="1">
            <a:off x="3717925" y="3741057"/>
            <a:ext cx="12700" cy="3124200"/>
          </a:xfrm>
          <a:prstGeom prst="line">
            <a:avLst/>
          </a:prstGeom>
          <a:noFill/>
          <a:ln w="25400">
            <a:solidFill>
              <a:schemeClr val="tx1"/>
            </a:solidFill>
            <a:prstDash val="dash"/>
            <a:round/>
            <a:headEnd/>
            <a:tailEnd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5419725" y="4426857"/>
            <a:ext cx="100918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user code</a:t>
            </a: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5419725" y="4841195"/>
            <a:ext cx="1171859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kernel code</a:t>
            </a: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5419725" y="5253945"/>
            <a:ext cx="100918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user code</a:t>
            </a: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5402263" y="5690507"/>
            <a:ext cx="1171859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kernel code</a:t>
            </a:r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5419725" y="6147707"/>
            <a:ext cx="1009187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alibri" pitchFamily="34" charset="0"/>
              </a:rPr>
              <a:t>user code</a:t>
            </a:r>
          </a:p>
        </p:txBody>
      </p:sp>
      <p:sp>
        <p:nvSpPr>
          <p:cNvPr id="19" name="AutoShape 27"/>
          <p:cNvSpPr>
            <a:spLocks/>
          </p:cNvSpPr>
          <p:nvPr/>
        </p:nvSpPr>
        <p:spPr bwMode="auto">
          <a:xfrm>
            <a:off x="6854825" y="4787000"/>
            <a:ext cx="76200" cy="381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20" name="Text Box 28"/>
          <p:cNvSpPr txBox="1">
            <a:spLocks noChangeArrowheads="1"/>
          </p:cNvSpPr>
          <p:nvPr/>
        </p:nvSpPr>
        <p:spPr bwMode="auto">
          <a:xfrm>
            <a:off x="6934200" y="4808223"/>
            <a:ext cx="1403654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latin typeface="Calibri" pitchFamily="34" charset="0"/>
              </a:rPr>
              <a:t>context switch</a:t>
            </a:r>
            <a:endParaRPr lang="en-US" sz="1600" dirty="0">
              <a:latin typeface="Calibri" pitchFamily="34" charset="0"/>
            </a:endParaRPr>
          </a:p>
        </p:txBody>
      </p:sp>
      <p:sp>
        <p:nvSpPr>
          <p:cNvPr id="21" name="AutoShape 29"/>
          <p:cNvSpPr>
            <a:spLocks/>
          </p:cNvSpPr>
          <p:nvPr/>
        </p:nvSpPr>
        <p:spPr bwMode="auto">
          <a:xfrm>
            <a:off x="6854825" y="5656494"/>
            <a:ext cx="76200" cy="381000"/>
          </a:xfrm>
          <a:prstGeom prst="rightBrace">
            <a:avLst>
              <a:gd name="adj1" fmla="val 41667"/>
              <a:gd name="adj2" fmla="val 50000"/>
            </a:avLst>
          </a:prstGeom>
          <a:noFill/>
          <a:ln w="254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100000"/>
              </a:lnSpc>
            </a:pPr>
            <a:endParaRPr lang="en-US" sz="1600" dirty="0">
              <a:latin typeface="Calibri" pitchFamily="34" charset="0"/>
            </a:endParaRPr>
          </a:p>
        </p:txBody>
      </p:sp>
      <p:sp>
        <p:nvSpPr>
          <p:cNvPr id="22" name="Text Box 30"/>
          <p:cNvSpPr txBox="1">
            <a:spLocks noChangeArrowheads="1"/>
          </p:cNvSpPr>
          <p:nvPr/>
        </p:nvSpPr>
        <p:spPr bwMode="auto">
          <a:xfrm>
            <a:off x="6934200" y="5677717"/>
            <a:ext cx="1403654" cy="338554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i="1" dirty="0">
                <a:latin typeface="Calibri" pitchFamily="34" charset="0"/>
              </a:rPr>
              <a:t>context switch</a:t>
            </a:r>
            <a:endParaRPr lang="en-US" sz="1600" dirty="0">
              <a:latin typeface="Calibri" pitchFamily="34" charset="0"/>
            </a:endParaRPr>
          </a:p>
        </p:txBody>
      </p:sp>
      <p:sp>
        <p:nvSpPr>
          <p:cNvPr id="23" name="Text Box 5"/>
          <p:cNvSpPr txBox="1">
            <a:spLocks noChangeArrowheads="1"/>
          </p:cNvSpPr>
          <p:nvPr/>
        </p:nvSpPr>
        <p:spPr bwMode="auto">
          <a:xfrm>
            <a:off x="530225" y="5112657"/>
            <a:ext cx="817853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alibri" pitchFamily="34" charset="0"/>
              </a:rPr>
              <a:t>Time</a:t>
            </a:r>
          </a:p>
        </p:txBody>
      </p:sp>
      <p:sp>
        <p:nvSpPr>
          <p:cNvPr id="24" name="Down Arrow 22"/>
          <p:cNvSpPr/>
          <p:nvPr/>
        </p:nvSpPr>
        <p:spPr bwMode="auto">
          <a:xfrm>
            <a:off x="1292225" y="4312557"/>
            <a:ext cx="457200" cy="24003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25" name="Line 6"/>
          <p:cNvSpPr>
            <a:spLocks noChangeShapeType="1"/>
          </p:cNvSpPr>
          <p:nvPr/>
        </p:nvSpPr>
        <p:spPr bwMode="auto">
          <a:xfrm flipH="1">
            <a:off x="2886075" y="6063633"/>
            <a:ext cx="6350" cy="42062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sp>
        <p:nvSpPr>
          <p:cNvPr id="26" name="Line 6"/>
          <p:cNvSpPr>
            <a:spLocks noChangeShapeType="1"/>
          </p:cNvSpPr>
          <p:nvPr/>
        </p:nvSpPr>
        <p:spPr bwMode="auto">
          <a:xfrm flipH="1">
            <a:off x="4486275" y="5225433"/>
            <a:ext cx="6350" cy="42062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wrap="none" anchor="ctr"/>
          <a:lstStyle/>
          <a:p>
            <a:endParaRPr lang="en-US" dirty="0">
              <a:latin typeface="Calibri" pitchFamily="34" charset="0"/>
            </a:endParaRPr>
          </a:p>
        </p:txBody>
      </p:sp>
      <p:cxnSp>
        <p:nvCxnSpPr>
          <p:cNvPr id="27" name="Straight Arrow Connector 25"/>
          <p:cNvCxnSpPr>
            <a:stCxn id="14" idx="1"/>
            <a:endCxn id="28" idx="0"/>
          </p:cNvCxnSpPr>
          <p:nvPr/>
        </p:nvCxnSpPr>
        <p:spPr bwMode="auto">
          <a:xfrm rot="16200000" flipH="1">
            <a:off x="3473049" y="4205857"/>
            <a:ext cx="438952" cy="160020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28" name="Straight Arrow Connector 26"/>
          <p:cNvCxnSpPr>
            <a:stCxn id="28" idx="1"/>
            <a:endCxn id="27" idx="0"/>
          </p:cNvCxnSpPr>
          <p:nvPr/>
        </p:nvCxnSpPr>
        <p:spPr bwMode="auto">
          <a:xfrm rot="16200000" flipH="1" flipV="1">
            <a:off x="3480562" y="5057920"/>
            <a:ext cx="417576" cy="159385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29" name="Down Arrow 29"/>
          <p:cNvSpPr/>
          <p:nvPr/>
        </p:nvSpPr>
        <p:spPr bwMode="auto">
          <a:xfrm>
            <a:off x="4492625" y="3283857"/>
            <a:ext cx="985838" cy="2057400"/>
          </a:xfrm>
          <a:prstGeom prst="downArrow">
            <a:avLst>
              <a:gd name="adj1" fmla="val 51947"/>
              <a:gd name="adj2" fmla="val 50000"/>
            </a:avLst>
          </a:prstGeom>
          <a:solidFill>
            <a:schemeClr val="bg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scene3d>
            <a:camera prst="orthographicFront">
              <a:rot lat="0" lon="0" rev="19799999"/>
            </a:camera>
            <a:lightRig rig="threePt" dir="t"/>
          </a:scene3d>
        </p:spPr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57354E-6EC9-CC4B-8091-0BAA455394D2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Receiving a Signal</a:t>
            </a:r>
          </a:p>
        </p:txBody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Actions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kernel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checks</a:t>
            </a:r>
            <a:r>
              <a:rPr lang="en-US" altLang="zh-CN" dirty="0">
                <a:ea typeface="宋体" pitchFamily="2" charset="-122"/>
              </a:rPr>
              <a:t> the set of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unblocked pending</a:t>
            </a:r>
            <a:r>
              <a:rPr lang="en-US" altLang="zh-CN" dirty="0">
                <a:ea typeface="宋体" pitchFamily="2" charset="-122"/>
              </a:rPr>
              <a:t> signals (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pending &amp; ˜blocked</a:t>
            </a:r>
            <a:r>
              <a:rPr lang="en-US" altLang="zh-CN" dirty="0">
                <a:ea typeface="宋体" pitchFamily="2" charset="-122"/>
              </a:rPr>
              <a:t>)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If this set is empty (the usual case)</a:t>
            </a:r>
          </a:p>
          <a:p>
            <a:pPr lvl="2">
              <a:defRPr/>
            </a:pPr>
            <a:r>
              <a:rPr lang="en-US" altLang="zh-CN" dirty="0">
                <a:ea typeface="宋体" pitchFamily="2" charset="-122"/>
              </a:rPr>
              <a:t>then the kernel passes control to the next instruction (</a:t>
            </a:r>
            <a:r>
              <a:rPr lang="en-US" altLang="zh-CN" sz="2400" dirty="0" err="1">
                <a:ea typeface="宋体" pitchFamily="2" charset="-122"/>
              </a:rPr>
              <a:t>I</a:t>
            </a:r>
            <a:r>
              <a:rPr lang="en-US" altLang="zh-CN" sz="2400" baseline="-25000" dirty="0" err="1">
                <a:ea typeface="宋体" pitchFamily="2" charset="-122"/>
              </a:rPr>
              <a:t>next</a:t>
            </a:r>
            <a:r>
              <a:rPr lang="en-US" altLang="zh-CN" dirty="0">
                <a:ea typeface="宋体" pitchFamily="2" charset="-122"/>
              </a:rPr>
              <a:t>)in the logical control flow of p.</a:t>
            </a:r>
          </a:p>
          <a:p>
            <a:pPr lvl="1">
              <a:defRPr/>
            </a:pPr>
            <a:r>
              <a:rPr lang="en-US" altLang="zh-CN" dirty="0">
                <a:ea typeface="宋体" pitchFamily="2" charset="-122"/>
              </a:rPr>
              <a:t>However, if the set is nonempty</a:t>
            </a:r>
          </a:p>
          <a:p>
            <a:pPr lvl="2">
              <a:defRPr/>
            </a:pPr>
            <a:r>
              <a:rPr lang="en-US" altLang="zh-CN" dirty="0">
                <a:ea typeface="宋体" pitchFamily="2" charset="-122"/>
              </a:rPr>
              <a:t>then the kernel chooses some signal k</a:t>
            </a:r>
            <a:r>
              <a:rPr lang="en-US" altLang="zh-CN" dirty="0">
                <a:latin typeface="Arial" pitchFamily="34" charset="0"/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in the set (typically the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smallest</a:t>
            </a:r>
            <a:r>
              <a:rPr lang="en-US" altLang="zh-CN" dirty="0">
                <a:ea typeface="宋体" pitchFamily="2" charset="-122"/>
              </a:rPr>
              <a:t> k) </a:t>
            </a:r>
          </a:p>
          <a:p>
            <a:pPr lvl="2">
              <a:defRPr/>
            </a:pPr>
            <a:r>
              <a:rPr lang="en-US" altLang="zh-CN" dirty="0">
                <a:ea typeface="宋体" pitchFamily="2" charset="-122"/>
              </a:rPr>
              <a:t>and forces p to 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receive</a:t>
            </a:r>
            <a:r>
              <a:rPr lang="en-US" altLang="zh-CN" sz="2400" i="1" dirty="0"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signal k. 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93955" y="5894457"/>
            <a:ext cx="7315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ea typeface="宋体" pitchFamily="2" charset="-122"/>
              </a:rPr>
              <a:t>注意：发信号一定是在内核态，发完信号从内核态转为用户态时</a:t>
            </a:r>
            <a:r>
              <a:rPr lang="zh-CN" altLang="en-US">
                <a:ea typeface="宋体" pitchFamily="2" charset="-122"/>
              </a:rPr>
              <a:t>，就触发</a:t>
            </a:r>
            <a:r>
              <a:rPr lang="zh-CN" altLang="en-US" dirty="0">
                <a:ea typeface="宋体" pitchFamily="2" charset="-122"/>
              </a:rPr>
              <a:t>上述检测</a:t>
            </a:r>
            <a:r>
              <a:rPr lang="zh-CN" altLang="en-US">
                <a:ea typeface="宋体" pitchFamily="2" charset="-122"/>
              </a:rPr>
              <a:t>和信号处理行为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9E3A88B-7AB9-2A4F-8AD9-B99A391C4D55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Receiving a Signal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2743200"/>
          </a:xfrm>
        </p:spPr>
        <p:txBody>
          <a:bodyPr/>
          <a:lstStyle/>
          <a:p>
            <a:pPr>
              <a:lnSpc>
                <a:spcPct val="140000"/>
              </a:lnSpc>
              <a:defRPr/>
            </a:pPr>
            <a:r>
              <a:rPr lang="en-US" altLang="zh-CN" sz="2400" dirty="0">
                <a:ea typeface="宋体" pitchFamily="2" charset="-122"/>
              </a:rPr>
              <a:t>The receipt of the signal triggers some </a:t>
            </a:r>
            <a:r>
              <a:rPr lang="en-US" altLang="zh-C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action</a:t>
            </a:r>
            <a:r>
              <a:rPr lang="en-US" altLang="zh-CN" sz="2400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 </a:t>
            </a:r>
            <a:r>
              <a:rPr lang="en-US" altLang="zh-CN" sz="2400" dirty="0">
                <a:ea typeface="宋体" pitchFamily="2" charset="-122"/>
              </a:rPr>
              <a:t>by the process. </a:t>
            </a:r>
          </a:p>
          <a:p>
            <a:pPr>
              <a:lnSpc>
                <a:spcPct val="140000"/>
              </a:lnSpc>
              <a:defRPr/>
            </a:pPr>
            <a:r>
              <a:rPr lang="en-US" altLang="zh-CN" sz="2400" dirty="0">
                <a:ea typeface="宋体" pitchFamily="2" charset="-122"/>
              </a:rPr>
              <a:t>Once the process completes the action, then control passes back to the next instruction (</a:t>
            </a:r>
            <a:r>
              <a:rPr lang="en-US" altLang="zh-CN" sz="2400" dirty="0" err="1">
                <a:ea typeface="宋体" pitchFamily="2" charset="-122"/>
              </a:rPr>
              <a:t>I</a:t>
            </a:r>
            <a:r>
              <a:rPr lang="en-US" altLang="zh-CN" sz="2400" baseline="-25000" dirty="0" err="1">
                <a:ea typeface="宋体" pitchFamily="2" charset="-122"/>
              </a:rPr>
              <a:t>next</a:t>
            </a:r>
            <a:r>
              <a:rPr lang="en-US" altLang="zh-CN" sz="2400" dirty="0">
                <a:ea typeface="宋体" pitchFamily="2" charset="-122"/>
              </a:rPr>
              <a:t>) in the logical control flow of p. </a:t>
            </a:r>
          </a:p>
        </p:txBody>
      </p:sp>
      <p:sp>
        <p:nvSpPr>
          <p:cNvPr id="93189" name="Line 93"/>
          <p:cNvSpPr>
            <a:spLocks noChangeShapeType="1"/>
          </p:cNvSpPr>
          <p:nvPr/>
        </p:nvSpPr>
        <p:spPr bwMode="auto">
          <a:xfrm>
            <a:off x="3652838" y="4441825"/>
            <a:ext cx="0" cy="598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93190" name="Line 94"/>
          <p:cNvSpPr>
            <a:spLocks noChangeShapeType="1"/>
          </p:cNvSpPr>
          <p:nvPr/>
        </p:nvSpPr>
        <p:spPr bwMode="auto">
          <a:xfrm>
            <a:off x="3659188" y="5046663"/>
            <a:ext cx="2400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93191" name="Line 95"/>
          <p:cNvSpPr>
            <a:spLocks noChangeShapeType="1"/>
          </p:cNvSpPr>
          <p:nvPr/>
        </p:nvSpPr>
        <p:spPr bwMode="auto">
          <a:xfrm flipH="1">
            <a:off x="6057900" y="5053013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93192" name="Line 96"/>
          <p:cNvSpPr>
            <a:spLocks noChangeShapeType="1"/>
          </p:cNvSpPr>
          <p:nvPr/>
        </p:nvSpPr>
        <p:spPr bwMode="auto">
          <a:xfrm flipH="1" flipV="1">
            <a:off x="3656013" y="5173663"/>
            <a:ext cx="2352675" cy="387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93193" name="Line 97"/>
          <p:cNvSpPr>
            <a:spLocks noChangeShapeType="1"/>
          </p:cNvSpPr>
          <p:nvPr/>
        </p:nvSpPr>
        <p:spPr bwMode="auto">
          <a:xfrm>
            <a:off x="3654425" y="5181600"/>
            <a:ext cx="3175" cy="876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93194" name="Rectangle 98"/>
          <p:cNvSpPr>
            <a:spLocks noChangeArrowheads="1"/>
          </p:cNvSpPr>
          <p:nvPr/>
        </p:nvSpPr>
        <p:spPr bwMode="auto">
          <a:xfrm>
            <a:off x="3841750" y="4445000"/>
            <a:ext cx="1917700" cy="58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lIns="90479" tIns="44446" rIns="90479" bIns="44446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600" b="0" i="1">
                <a:latin typeface="Helvetica" charset="0"/>
                <a:ea typeface="宋体" charset="0"/>
                <a:cs typeface="Times New Roman" charset="0"/>
              </a:rPr>
              <a:t>(2) Control passes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600" b="0" i="1">
                <a:latin typeface="Helvetica" charset="0"/>
                <a:ea typeface="宋体" charset="0"/>
                <a:cs typeface="Times New Roman" charset="0"/>
              </a:rPr>
              <a:t>to signal handler </a:t>
            </a:r>
          </a:p>
        </p:txBody>
      </p:sp>
      <p:sp>
        <p:nvSpPr>
          <p:cNvPr id="93195" name="Rectangle 99"/>
          <p:cNvSpPr>
            <a:spLocks noChangeArrowheads="1"/>
          </p:cNvSpPr>
          <p:nvPr/>
        </p:nvSpPr>
        <p:spPr bwMode="auto">
          <a:xfrm>
            <a:off x="6127750" y="5029200"/>
            <a:ext cx="1492250" cy="58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0479" tIns="44446" rIns="90479" bIns="44446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600" b="0" i="1">
                <a:latin typeface="Helvetica" charset="0"/>
                <a:ea typeface="宋体" charset="0"/>
                <a:cs typeface="Times New Roman" charset="0"/>
              </a:rPr>
              <a:t>(3) Signal  handler runs</a:t>
            </a:r>
          </a:p>
        </p:txBody>
      </p:sp>
      <p:sp>
        <p:nvSpPr>
          <p:cNvPr id="93196" name="Rectangle 100"/>
          <p:cNvSpPr>
            <a:spLocks noChangeArrowheads="1"/>
          </p:cNvSpPr>
          <p:nvPr/>
        </p:nvSpPr>
        <p:spPr bwMode="auto">
          <a:xfrm>
            <a:off x="3900488" y="5492750"/>
            <a:ext cx="1800225" cy="828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lIns="90479" tIns="44446" rIns="90479" bIns="44446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600" b="0" i="1">
                <a:latin typeface="Helvetica" charset="0"/>
                <a:ea typeface="宋体" charset="0"/>
                <a:cs typeface="Times New Roman" charset="0"/>
              </a:rPr>
              <a:t>(4) Signal handler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600" b="0" i="1">
                <a:latin typeface="Helvetica" charset="0"/>
                <a:ea typeface="宋体" charset="0"/>
                <a:cs typeface="Times New Roman" charset="0"/>
              </a:rPr>
              <a:t>returns to </a:t>
            </a:r>
          </a:p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600" b="0" i="1">
                <a:latin typeface="Helvetica" charset="0"/>
                <a:ea typeface="宋体" charset="0"/>
                <a:cs typeface="Times New Roman" charset="0"/>
              </a:rPr>
              <a:t>next instruction</a:t>
            </a:r>
          </a:p>
        </p:txBody>
      </p:sp>
      <p:sp>
        <p:nvSpPr>
          <p:cNvPr id="93197" name="Text Box 101"/>
          <p:cNvSpPr txBox="1">
            <a:spLocks noChangeArrowheads="1"/>
          </p:cNvSpPr>
          <p:nvPr/>
        </p:nvSpPr>
        <p:spPr bwMode="auto">
          <a:xfrm>
            <a:off x="3149600" y="4764088"/>
            <a:ext cx="47625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600" b="0" i="1">
                <a:latin typeface="Helvetica" charset="0"/>
                <a:ea typeface="宋体" charset="0"/>
                <a:cs typeface="Times New Roman" charset="0"/>
              </a:rPr>
              <a:t>I</a:t>
            </a:r>
            <a:r>
              <a:rPr lang="en-US" altLang="zh-CN" sz="1600" b="0" i="1" baseline="-25000">
                <a:latin typeface="Helvetica" charset="0"/>
                <a:ea typeface="宋体" charset="0"/>
                <a:cs typeface="Times New Roman" charset="0"/>
              </a:rPr>
              <a:t>curr</a:t>
            </a:r>
            <a:endParaRPr lang="en-US" altLang="zh-CN" sz="1600" b="0" i="1">
              <a:latin typeface="Helvetica" charset="0"/>
              <a:ea typeface="宋体" charset="0"/>
              <a:cs typeface="Times New Roman" charset="0"/>
            </a:endParaRPr>
          </a:p>
        </p:txBody>
      </p:sp>
      <p:sp>
        <p:nvSpPr>
          <p:cNvPr id="93198" name="Text Box 102"/>
          <p:cNvSpPr txBox="1">
            <a:spLocks noChangeArrowheads="1"/>
          </p:cNvSpPr>
          <p:nvPr/>
        </p:nvSpPr>
        <p:spPr bwMode="auto">
          <a:xfrm>
            <a:off x="3149600" y="4960938"/>
            <a:ext cx="500063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r>
              <a:rPr lang="en-US" altLang="zh-CN" sz="1600" b="0" i="1">
                <a:latin typeface="Helvetica" charset="0"/>
                <a:ea typeface="宋体" charset="0"/>
                <a:cs typeface="Times New Roman" charset="0"/>
              </a:rPr>
              <a:t>I</a:t>
            </a:r>
            <a:r>
              <a:rPr lang="en-US" altLang="zh-CN" sz="1600" b="0" i="1" baseline="-25000">
                <a:latin typeface="Helvetica" charset="0"/>
                <a:ea typeface="宋体" charset="0"/>
                <a:cs typeface="Times New Roman" charset="0"/>
              </a:rPr>
              <a:t>next</a:t>
            </a:r>
            <a:endParaRPr lang="en-US" altLang="zh-CN" sz="1600" b="0" i="1">
              <a:latin typeface="Helvetica" charset="0"/>
              <a:ea typeface="宋体" charset="0"/>
              <a:cs typeface="Times New Roman" charset="0"/>
            </a:endParaRPr>
          </a:p>
        </p:txBody>
      </p:sp>
      <p:sp>
        <p:nvSpPr>
          <p:cNvPr id="93199" name="Rectangle 105"/>
          <p:cNvSpPr>
            <a:spLocks noChangeArrowheads="1"/>
          </p:cNvSpPr>
          <p:nvPr/>
        </p:nvSpPr>
        <p:spPr bwMode="auto">
          <a:xfrm>
            <a:off x="1193800" y="4419600"/>
            <a:ext cx="1979613" cy="582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lIns="90479" tIns="44446" rIns="90479" bIns="44446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 algn="r">
              <a:spcBef>
                <a:spcPct val="0"/>
              </a:spcBef>
              <a:buFontTx/>
              <a:buNone/>
              <a:defRPr/>
            </a:pPr>
            <a:r>
              <a:rPr lang="en-US" altLang="zh-CN" sz="1600" b="0" i="1">
                <a:latin typeface="Helvetica" charset="0"/>
                <a:ea typeface="宋体" charset="0"/>
                <a:cs typeface="Times New Roman" charset="0"/>
              </a:rPr>
              <a:t>(1) Signal received by process 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Signal Handlers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590675"/>
            <a:ext cx="8716055" cy="619125"/>
          </a:xfrm>
        </p:spPr>
        <p:txBody>
          <a:bodyPr/>
          <a:lstStyle/>
          <a:p>
            <a:r>
              <a:rPr lang="en-US" dirty="0"/>
              <a:t>Handlers can be interrupted by </a:t>
            </a:r>
            <a:r>
              <a:rPr lang="en-US" dirty="0">
                <a:solidFill>
                  <a:srgbClr val="FF0000"/>
                </a:solidFill>
              </a:rPr>
              <a:t>other</a:t>
            </a:r>
            <a:r>
              <a:rPr lang="en-US" dirty="0"/>
              <a:t> handlers</a:t>
            </a:r>
          </a:p>
          <a:p>
            <a:pPr lvl="1"/>
            <a:r>
              <a:rPr lang="zh-CN" altLang="en-US" dirty="0"/>
              <a:t>不能是同一个</a:t>
            </a:r>
            <a:r>
              <a:rPr lang="en-US" altLang="zh-CN" dirty="0"/>
              <a:t>handler!</a:t>
            </a:r>
            <a:endParaRPr lang="en-US" dirty="0"/>
          </a:p>
        </p:txBody>
      </p:sp>
      <p:sp>
        <p:nvSpPr>
          <p:cNvPr id="4" name="Line 93"/>
          <p:cNvSpPr>
            <a:spLocks noChangeShapeType="1"/>
          </p:cNvSpPr>
          <p:nvPr/>
        </p:nvSpPr>
        <p:spPr bwMode="auto">
          <a:xfrm>
            <a:off x="2847314" y="3449726"/>
            <a:ext cx="0" cy="598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5" name="Line 94"/>
          <p:cNvSpPr>
            <a:spLocks noChangeShapeType="1"/>
          </p:cNvSpPr>
          <p:nvPr/>
        </p:nvSpPr>
        <p:spPr bwMode="auto">
          <a:xfrm>
            <a:off x="2853664" y="4054564"/>
            <a:ext cx="2400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6" name="Line 96"/>
          <p:cNvSpPr>
            <a:spLocks noChangeShapeType="1"/>
          </p:cNvSpPr>
          <p:nvPr/>
        </p:nvSpPr>
        <p:spPr bwMode="auto">
          <a:xfrm flipH="1" flipV="1">
            <a:off x="5201557" y="4744085"/>
            <a:ext cx="2355340" cy="53179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7" name="Line 97"/>
          <p:cNvSpPr>
            <a:spLocks noChangeShapeType="1"/>
          </p:cNvSpPr>
          <p:nvPr/>
        </p:nvSpPr>
        <p:spPr bwMode="auto">
          <a:xfrm>
            <a:off x="2848901" y="4735601"/>
            <a:ext cx="3175" cy="876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8" name="Rectangle 98"/>
          <p:cNvSpPr>
            <a:spLocks noChangeArrowheads="1"/>
          </p:cNvSpPr>
          <p:nvPr/>
        </p:nvSpPr>
        <p:spPr bwMode="auto">
          <a:xfrm>
            <a:off x="3036226" y="3452901"/>
            <a:ext cx="2051032" cy="582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79" tIns="44446" rIns="90479" bIns="44446">
            <a:spAutoFit/>
          </a:bodyPr>
          <a:lstStyle/>
          <a:p>
            <a:r>
              <a:rPr lang="en-US" sz="1600" i="1" dirty="0">
                <a:latin typeface="Helvetica" charset="0"/>
              </a:rPr>
              <a:t>(2) Control passes to handler S</a:t>
            </a:r>
          </a:p>
        </p:txBody>
      </p:sp>
      <p:sp>
        <p:nvSpPr>
          <p:cNvPr id="9" name="Rectangle 99"/>
          <p:cNvSpPr>
            <a:spLocks noChangeArrowheads="1"/>
          </p:cNvSpPr>
          <p:nvPr/>
        </p:nvSpPr>
        <p:spPr bwMode="auto">
          <a:xfrm>
            <a:off x="2020213" y="2913161"/>
            <a:ext cx="1644643" cy="335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79" tIns="44446" rIns="90479" bIns="44446">
            <a:spAutoFit/>
          </a:bodyPr>
          <a:lstStyle/>
          <a:p>
            <a:r>
              <a:rPr lang="en-US" sz="1600" i="1" dirty="0">
                <a:latin typeface="Helvetica" charset="0"/>
              </a:rPr>
              <a:t> Main program</a:t>
            </a:r>
          </a:p>
        </p:txBody>
      </p:sp>
      <p:sp>
        <p:nvSpPr>
          <p:cNvPr id="10" name="Rectangle 100"/>
          <p:cNvSpPr>
            <a:spLocks noChangeArrowheads="1"/>
          </p:cNvSpPr>
          <p:nvPr/>
        </p:nvSpPr>
        <p:spPr bwMode="auto">
          <a:xfrm>
            <a:off x="5615370" y="5199155"/>
            <a:ext cx="1478488" cy="828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79" tIns="44446" rIns="90479" bIns="44446">
            <a:spAutoFit/>
          </a:bodyPr>
          <a:lstStyle/>
          <a:p>
            <a:r>
              <a:rPr lang="en-US" sz="1600" i="1" dirty="0">
                <a:latin typeface="Helvetica" charset="0"/>
              </a:rPr>
              <a:t>(5) Handler T</a:t>
            </a:r>
          </a:p>
          <a:p>
            <a:r>
              <a:rPr lang="en-US" sz="1600" i="1" dirty="0">
                <a:latin typeface="Helvetica" charset="0"/>
              </a:rPr>
              <a:t>returns to handler S</a:t>
            </a:r>
          </a:p>
        </p:txBody>
      </p:sp>
      <p:sp>
        <p:nvSpPr>
          <p:cNvPr id="11" name="Text Box 101"/>
          <p:cNvSpPr txBox="1">
            <a:spLocks noChangeArrowheads="1"/>
          </p:cNvSpPr>
          <p:nvPr/>
        </p:nvSpPr>
        <p:spPr bwMode="auto">
          <a:xfrm>
            <a:off x="2344076" y="3771989"/>
            <a:ext cx="54725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 i="1">
                <a:latin typeface="Helvetica" charset="0"/>
              </a:rPr>
              <a:t>I</a:t>
            </a:r>
            <a:r>
              <a:rPr lang="en-US" sz="1600" i="1" baseline="-25000">
                <a:latin typeface="Helvetica" charset="0"/>
              </a:rPr>
              <a:t>curr</a:t>
            </a:r>
            <a:endParaRPr lang="en-US" sz="1600" i="1">
              <a:latin typeface="Helvetica" charset="0"/>
            </a:endParaRPr>
          </a:p>
        </p:txBody>
      </p:sp>
      <p:sp>
        <p:nvSpPr>
          <p:cNvPr id="12" name="Text Box 102"/>
          <p:cNvSpPr txBox="1">
            <a:spLocks noChangeArrowheads="1"/>
          </p:cNvSpPr>
          <p:nvPr/>
        </p:nvSpPr>
        <p:spPr bwMode="auto">
          <a:xfrm>
            <a:off x="2344076" y="4476839"/>
            <a:ext cx="56106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254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sz="1600" i="1" dirty="0" err="1">
                <a:latin typeface="Helvetica" charset="0"/>
              </a:rPr>
              <a:t>I</a:t>
            </a:r>
            <a:r>
              <a:rPr lang="en-US" sz="1600" i="1" baseline="-25000" dirty="0" err="1">
                <a:latin typeface="Helvetica" charset="0"/>
              </a:rPr>
              <a:t>next</a:t>
            </a:r>
            <a:endParaRPr lang="en-US" sz="1600" i="1" dirty="0">
              <a:latin typeface="Helvetica" charset="0"/>
            </a:endParaRPr>
          </a:p>
        </p:txBody>
      </p:sp>
      <p:sp>
        <p:nvSpPr>
          <p:cNvPr id="13" name="Rectangle 105"/>
          <p:cNvSpPr>
            <a:spLocks noChangeArrowheads="1"/>
          </p:cNvSpPr>
          <p:nvPr/>
        </p:nvSpPr>
        <p:spPr bwMode="auto">
          <a:xfrm>
            <a:off x="439057" y="3732318"/>
            <a:ext cx="1917701" cy="582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79" tIns="44446" rIns="90479" bIns="44446">
            <a:spAutoFit/>
          </a:bodyPr>
          <a:lstStyle/>
          <a:p>
            <a:r>
              <a:rPr lang="en-US" sz="1600" i="1" dirty="0">
                <a:latin typeface="Helvetica" charset="0"/>
              </a:rPr>
              <a:t>(1) Program catches signal s</a:t>
            </a:r>
          </a:p>
        </p:txBody>
      </p:sp>
      <p:sp>
        <p:nvSpPr>
          <p:cNvPr id="14" name="Rectangle 99"/>
          <p:cNvSpPr>
            <a:spLocks noChangeArrowheads="1"/>
          </p:cNvSpPr>
          <p:nvPr/>
        </p:nvSpPr>
        <p:spPr bwMode="auto">
          <a:xfrm>
            <a:off x="4598314" y="2913161"/>
            <a:ext cx="1280576" cy="335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79" tIns="44446" rIns="90479" bIns="44446">
            <a:spAutoFit/>
          </a:bodyPr>
          <a:lstStyle/>
          <a:p>
            <a:r>
              <a:rPr lang="en-US" sz="1600" i="1" dirty="0">
                <a:latin typeface="Helvetica" charset="0"/>
              </a:rPr>
              <a:t> Handler S</a:t>
            </a:r>
          </a:p>
        </p:txBody>
      </p:sp>
      <p:sp>
        <p:nvSpPr>
          <p:cNvPr id="15" name="Rectangle 99"/>
          <p:cNvSpPr>
            <a:spLocks noChangeArrowheads="1"/>
          </p:cNvSpPr>
          <p:nvPr/>
        </p:nvSpPr>
        <p:spPr bwMode="auto">
          <a:xfrm>
            <a:off x="6952048" y="2913161"/>
            <a:ext cx="1280576" cy="335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79" tIns="44446" rIns="90479" bIns="44446">
            <a:spAutoFit/>
          </a:bodyPr>
          <a:lstStyle/>
          <a:p>
            <a:r>
              <a:rPr lang="en-US" sz="1600" i="1" dirty="0">
                <a:latin typeface="Helvetica" charset="0"/>
              </a:rPr>
              <a:t> Handler T</a:t>
            </a:r>
          </a:p>
        </p:txBody>
      </p:sp>
      <p:sp>
        <p:nvSpPr>
          <p:cNvPr id="16" name="Rectangle 105"/>
          <p:cNvSpPr>
            <a:spLocks noChangeArrowheads="1"/>
          </p:cNvSpPr>
          <p:nvPr/>
        </p:nvSpPr>
        <p:spPr bwMode="auto">
          <a:xfrm>
            <a:off x="3372758" y="4227618"/>
            <a:ext cx="1854200" cy="582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79" tIns="44446" rIns="90479" bIns="44446">
            <a:spAutoFit/>
          </a:bodyPr>
          <a:lstStyle/>
          <a:p>
            <a:r>
              <a:rPr lang="en-US" sz="1600" i="1" dirty="0">
                <a:latin typeface="Helvetica" charset="0"/>
              </a:rPr>
              <a:t>(3) Program catches signal t</a:t>
            </a:r>
          </a:p>
        </p:txBody>
      </p:sp>
      <p:sp>
        <p:nvSpPr>
          <p:cNvPr id="17" name="Line 93"/>
          <p:cNvSpPr>
            <a:spLocks noChangeShapeType="1"/>
          </p:cNvSpPr>
          <p:nvPr/>
        </p:nvSpPr>
        <p:spPr bwMode="auto">
          <a:xfrm>
            <a:off x="5234914" y="4059326"/>
            <a:ext cx="0" cy="598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18" name="Line 94"/>
          <p:cNvSpPr>
            <a:spLocks noChangeShapeType="1"/>
          </p:cNvSpPr>
          <p:nvPr/>
        </p:nvSpPr>
        <p:spPr bwMode="auto">
          <a:xfrm>
            <a:off x="5228564" y="4651464"/>
            <a:ext cx="2400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19" name="Rectangle 98"/>
          <p:cNvSpPr>
            <a:spLocks noChangeArrowheads="1"/>
          </p:cNvSpPr>
          <p:nvPr/>
        </p:nvSpPr>
        <p:spPr bwMode="auto">
          <a:xfrm>
            <a:off x="5360325" y="4037101"/>
            <a:ext cx="2114531" cy="582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79" tIns="44446" rIns="90479" bIns="44446">
            <a:spAutoFit/>
          </a:bodyPr>
          <a:lstStyle/>
          <a:p>
            <a:r>
              <a:rPr lang="en-US" sz="1600" i="1" dirty="0">
                <a:latin typeface="Helvetica" charset="0"/>
              </a:rPr>
              <a:t>(4)  Control passes to handler T</a:t>
            </a:r>
          </a:p>
        </p:txBody>
      </p:sp>
      <p:sp>
        <p:nvSpPr>
          <p:cNvPr id="20" name="Line 93"/>
          <p:cNvSpPr>
            <a:spLocks noChangeShapeType="1"/>
          </p:cNvSpPr>
          <p:nvPr/>
        </p:nvSpPr>
        <p:spPr bwMode="auto">
          <a:xfrm>
            <a:off x="7609814" y="4707026"/>
            <a:ext cx="0" cy="598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1" name="Line 93"/>
          <p:cNvSpPr>
            <a:spLocks noChangeShapeType="1"/>
          </p:cNvSpPr>
          <p:nvPr/>
        </p:nvSpPr>
        <p:spPr bwMode="auto">
          <a:xfrm>
            <a:off x="5234914" y="4834026"/>
            <a:ext cx="0" cy="598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2" name="Line 96"/>
          <p:cNvSpPr>
            <a:spLocks noChangeShapeType="1"/>
          </p:cNvSpPr>
          <p:nvPr/>
        </p:nvSpPr>
        <p:spPr bwMode="auto">
          <a:xfrm flipH="1" flipV="1">
            <a:off x="2839357" y="4667884"/>
            <a:ext cx="2342640" cy="70959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1600"/>
          </a:p>
        </p:txBody>
      </p:sp>
      <p:sp>
        <p:nvSpPr>
          <p:cNvPr id="23" name="Rectangle 100"/>
          <p:cNvSpPr>
            <a:spLocks noChangeArrowheads="1"/>
          </p:cNvSpPr>
          <p:nvPr/>
        </p:nvSpPr>
        <p:spPr bwMode="auto">
          <a:xfrm>
            <a:off x="3532570" y="5326155"/>
            <a:ext cx="1478488" cy="1074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79" tIns="44446" rIns="90479" bIns="44446">
            <a:spAutoFit/>
          </a:bodyPr>
          <a:lstStyle/>
          <a:p>
            <a:r>
              <a:rPr lang="en-US" sz="1600" i="1" dirty="0">
                <a:latin typeface="Helvetica" charset="0"/>
              </a:rPr>
              <a:t>(6) Handler S</a:t>
            </a:r>
          </a:p>
          <a:p>
            <a:r>
              <a:rPr lang="en-US" sz="1600" i="1" dirty="0">
                <a:latin typeface="Helvetica" charset="0"/>
              </a:rPr>
              <a:t>returns to main program</a:t>
            </a:r>
          </a:p>
        </p:txBody>
      </p:sp>
      <p:sp>
        <p:nvSpPr>
          <p:cNvPr id="24" name="Rectangle 105"/>
          <p:cNvSpPr>
            <a:spLocks noChangeArrowheads="1"/>
          </p:cNvSpPr>
          <p:nvPr/>
        </p:nvSpPr>
        <p:spPr bwMode="auto">
          <a:xfrm>
            <a:off x="439057" y="4557818"/>
            <a:ext cx="1917701" cy="582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lIns="90479" tIns="44446" rIns="90479" bIns="44446">
            <a:spAutoFit/>
          </a:bodyPr>
          <a:lstStyle/>
          <a:p>
            <a:r>
              <a:rPr lang="en-US" sz="1600" i="1" dirty="0">
                <a:latin typeface="Helvetica" charset="0"/>
              </a:rPr>
              <a:t>(7) Main program resumes </a:t>
            </a:r>
          </a:p>
        </p:txBody>
      </p:sp>
    </p:spTree>
    <p:extLst>
      <p:ext uri="{BB962C8B-B14F-4D97-AF65-F5344CB8AC3E}">
        <p14:creationId xmlns:p14="http://schemas.microsoft.com/office/powerpoint/2010/main" val="13481490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8CD3654-C405-B14F-92B7-C3AE6AC0695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Receiving a Signal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Each signal type has a predefined </a:t>
            </a:r>
            <a:r>
              <a:rPr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default action</a:t>
            </a:r>
            <a:r>
              <a:rPr lang="en-US" altLang="zh-CN" dirty="0">
                <a:ea typeface="宋体" pitchFamily="2" charset="-122"/>
              </a:rPr>
              <a:t>, which is one of the following: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The process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terminates</a:t>
            </a:r>
            <a:r>
              <a:rPr lang="en-US" altLang="zh-CN" dirty="0">
                <a:ea typeface="宋体" pitchFamily="2" charset="-122"/>
              </a:rPr>
              <a:t>.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The process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terminates</a:t>
            </a:r>
            <a:r>
              <a:rPr lang="en-US" altLang="zh-CN" dirty="0">
                <a:ea typeface="宋体" pitchFamily="2" charset="-122"/>
              </a:rPr>
              <a:t> and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dumps</a:t>
            </a:r>
            <a:r>
              <a:rPr lang="en-US" altLang="zh-CN" dirty="0">
                <a:ea typeface="宋体" pitchFamily="2" charset="-122"/>
              </a:rPr>
              <a:t>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core</a:t>
            </a:r>
            <a:r>
              <a:rPr lang="en-US" altLang="zh-CN" dirty="0">
                <a:ea typeface="宋体" pitchFamily="2" charset="-122"/>
              </a:rPr>
              <a:t>.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The process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stops</a:t>
            </a:r>
            <a:r>
              <a:rPr lang="en-US" altLang="zh-CN" dirty="0">
                <a:ea typeface="宋体" pitchFamily="2" charset="-122"/>
              </a:rPr>
              <a:t> until restarted by a SIGCONT signal.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The process 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ignores</a:t>
            </a:r>
            <a:r>
              <a:rPr lang="en-US" altLang="zh-CN" dirty="0">
                <a:ea typeface="宋体" pitchFamily="2" charset="-122"/>
              </a:rPr>
              <a:t> the signal.</a:t>
            </a:r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90D77E-19EF-7548-B485-CDE32D085A88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Receiving a Signal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>
                <a:ea typeface="宋体" charset="-122"/>
              </a:rPr>
              <a:t>SIGKILL</a:t>
            </a: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charset="-122"/>
              </a:rPr>
              <a:t>The default action is to terminate the receiving process</a:t>
            </a:r>
          </a:p>
          <a:p>
            <a:pPr>
              <a:lnSpc>
                <a:spcPct val="120000"/>
              </a:lnSpc>
            </a:pPr>
            <a:r>
              <a:rPr lang="en-US" altLang="zh-CN">
                <a:ea typeface="宋体" charset="-122"/>
              </a:rPr>
              <a:t>SIGCHLD</a:t>
            </a:r>
          </a:p>
          <a:p>
            <a:pPr lvl="1">
              <a:lnSpc>
                <a:spcPct val="120000"/>
              </a:lnSpc>
            </a:pPr>
            <a:r>
              <a:rPr lang="en-US" altLang="zh-CN">
                <a:ea typeface="宋体" charset="-122"/>
              </a:rPr>
              <a:t>The default action is to ignore the signal. </a:t>
            </a:r>
          </a:p>
          <a:p>
            <a:pPr lvl="1">
              <a:lnSpc>
                <a:spcPct val="120000"/>
              </a:lnSpc>
            </a:pPr>
            <a:r>
              <a:rPr lang="zh-CN" altLang="en-US">
                <a:ea typeface="宋体" charset="-122"/>
              </a:rPr>
              <a:t>如果父进程调用</a:t>
            </a:r>
            <a:r>
              <a:rPr lang="en-US" altLang="zh-CN">
                <a:ea typeface="宋体" charset="-122"/>
              </a:rPr>
              <a:t>wait()</a:t>
            </a:r>
            <a:r>
              <a:rPr lang="zh-CN" altLang="en-US">
                <a:ea typeface="宋体" charset="-122"/>
              </a:rPr>
              <a:t>，则会监听和处理这个信号</a:t>
            </a:r>
            <a:endParaRPr lang="en-US" altLang="zh-CN">
              <a:ea typeface="宋体" charset="-122"/>
            </a:endParaRPr>
          </a:p>
          <a:p>
            <a:pPr lvl="1">
              <a:lnSpc>
                <a:spcPct val="120000"/>
              </a:lnSpc>
            </a:pPr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4617DC-1803-884F-862D-2052E6F58934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Receiving a Signal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A process can modify the default action associated with a signal 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by using the </a:t>
            </a:r>
            <a:r>
              <a:rPr lang="en-US" altLang="zh-C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signal</a:t>
            </a:r>
            <a:r>
              <a:rPr lang="en-US" altLang="zh-CN" sz="2800" dirty="0">
                <a:latin typeface="Courier" charset="0"/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function</a:t>
            </a:r>
          </a:p>
          <a:p>
            <a:pPr lvl="1">
              <a:lnSpc>
                <a:spcPct val="140000"/>
              </a:lnSpc>
              <a:defRPr/>
            </a:pPr>
            <a:r>
              <a:rPr lang="en-US" altLang="zh-CN" dirty="0">
                <a:ea typeface="宋体" pitchFamily="2" charset="-122"/>
              </a:rPr>
              <a:t>The only exceptions are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SIGSTOP</a:t>
            </a:r>
            <a:r>
              <a:rPr lang="en-US" altLang="zh-CN" dirty="0">
                <a:ea typeface="宋体" pitchFamily="2" charset="-122"/>
              </a:rPr>
              <a:t> and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SIGKILL</a:t>
            </a:r>
            <a:r>
              <a:rPr lang="en-US" altLang="zh-CN" dirty="0">
                <a:ea typeface="宋体" pitchFamily="2" charset="-122"/>
              </a:rPr>
              <a:t>, whose default actions </a:t>
            </a:r>
            <a:r>
              <a:rPr lang="en-US" altLang="zh-CN" dirty="0">
                <a:solidFill>
                  <a:srgbClr val="FF0000"/>
                </a:solidFill>
                <a:ea typeface="宋体" pitchFamily="2" charset="-122"/>
              </a:rPr>
              <a:t>cannot</a:t>
            </a:r>
            <a:r>
              <a:rPr lang="en-US" altLang="zh-CN" dirty="0">
                <a:ea typeface="宋体" pitchFamily="2" charset="-122"/>
              </a:rPr>
              <a:t> be changed.</a:t>
            </a:r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5604B3-7CB6-3347-862B-E4943FBC206D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8001000" cy="685800"/>
          </a:xfrm>
        </p:spPr>
        <p:txBody>
          <a:bodyPr/>
          <a:lstStyle/>
          <a:p>
            <a:r>
              <a:rPr lang="en-US" altLang="zh-CN">
                <a:ea typeface="宋体" charset="-122"/>
              </a:rPr>
              <a:t>Signal Function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3657600"/>
            <a:ext cx="8229600" cy="2590800"/>
          </a:xfrm>
        </p:spPr>
        <p:txBody>
          <a:bodyPr/>
          <a:lstStyle/>
          <a:p>
            <a:pPr>
              <a:defRPr/>
            </a:pPr>
            <a:r>
              <a:rPr lang="zh-CN" altLang="en-US" sz="2400" dirty="0">
                <a:ea typeface="宋体" pitchFamily="2" charset="-122"/>
              </a:rPr>
              <a:t>此处</a:t>
            </a:r>
            <a:r>
              <a:rPr lang="en-US" altLang="zh-CN" sz="2400" dirty="0" err="1">
                <a:ea typeface="宋体" pitchFamily="2" charset="-122"/>
              </a:rPr>
              <a:t>typedef</a:t>
            </a:r>
            <a:r>
              <a:rPr lang="zh-CN" altLang="en-US" sz="2400" dirty="0">
                <a:ea typeface="宋体" pitchFamily="2" charset="-122"/>
              </a:rPr>
              <a:t>作用是定义一种函数指针类型</a:t>
            </a:r>
            <a:r>
              <a:rPr lang="en-US" altLang="zh-CN" sz="2400" dirty="0" err="1">
                <a:ea typeface="宋体" pitchFamily="2" charset="-122"/>
              </a:rPr>
              <a:t>signalhandler_t</a:t>
            </a:r>
            <a:endParaRPr lang="en-US" altLang="zh-CN" sz="2400" dirty="0">
              <a:ea typeface="宋体" pitchFamily="2" charset="-122"/>
            </a:endParaRPr>
          </a:p>
          <a:p>
            <a:pPr>
              <a:defRPr/>
            </a:pPr>
            <a:r>
              <a:rPr lang="en-US" altLang="zh-CN" sz="2400" dirty="0">
                <a:ea typeface="宋体" pitchFamily="2" charset="-122"/>
              </a:rPr>
              <a:t>Three ways to change default actions:</a:t>
            </a:r>
          </a:p>
          <a:p>
            <a:pPr lvl="1">
              <a:defRPr/>
            </a:pPr>
            <a:r>
              <a:rPr lang="en-US" altLang="zh-CN" sz="2000" dirty="0">
                <a:ea typeface="宋体" pitchFamily="2" charset="-122"/>
              </a:rPr>
              <a:t>If 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handler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" charset="0"/>
                <a:ea typeface="宋体" pitchFamily="2" charset="-122"/>
              </a:rPr>
              <a:t> </a:t>
            </a:r>
            <a:r>
              <a:rPr lang="en-US" altLang="zh-CN" sz="2000" dirty="0">
                <a:ea typeface="宋体" pitchFamily="2" charset="-122"/>
              </a:rPr>
              <a:t>is </a:t>
            </a:r>
            <a:r>
              <a:rPr lang="en-US" altLang="zh-CN" sz="2000" dirty="0">
                <a:solidFill>
                  <a:srgbClr val="FF0000"/>
                </a:solidFill>
                <a:ea typeface="宋体" pitchFamily="2" charset="-122"/>
              </a:rPr>
              <a:t>SIG_IGN</a:t>
            </a:r>
            <a:r>
              <a:rPr lang="en-US" altLang="zh-CN" sz="2000" dirty="0">
                <a:ea typeface="宋体" pitchFamily="2" charset="-122"/>
              </a:rPr>
              <a:t>, then signals of type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signum</a:t>
            </a:r>
            <a:r>
              <a:rPr lang="en-US" altLang="zh-CN" sz="2000" i="1" dirty="0">
                <a:latin typeface="Courier" charset="0"/>
                <a:ea typeface="宋体" pitchFamily="2" charset="-122"/>
              </a:rPr>
              <a:t> </a:t>
            </a:r>
            <a:r>
              <a:rPr lang="en-US" altLang="zh-CN" sz="2000" dirty="0">
                <a:ea typeface="宋体" pitchFamily="2" charset="-122"/>
              </a:rPr>
              <a:t>are </a:t>
            </a:r>
            <a:r>
              <a:rPr lang="en-US" altLang="zh-CN" sz="2000" dirty="0">
                <a:solidFill>
                  <a:srgbClr val="FF0000"/>
                </a:solidFill>
                <a:ea typeface="宋体" pitchFamily="2" charset="-122"/>
              </a:rPr>
              <a:t>ignored</a:t>
            </a:r>
            <a:r>
              <a:rPr lang="en-US" altLang="zh-CN" sz="2000" dirty="0">
                <a:ea typeface="宋体" pitchFamily="2" charset="-122"/>
              </a:rPr>
              <a:t>.</a:t>
            </a:r>
            <a:r>
              <a:rPr lang="zh-CN" altLang="en-US" sz="2000" dirty="0">
                <a:ea typeface="宋体" pitchFamily="2" charset="-122"/>
              </a:rPr>
              <a:t> </a:t>
            </a:r>
            <a:endParaRPr lang="en-US" altLang="zh-CN" sz="2000" dirty="0">
              <a:ea typeface="宋体" pitchFamily="2" charset="-122"/>
            </a:endParaRPr>
          </a:p>
          <a:p>
            <a:pPr lvl="1">
              <a:defRPr/>
            </a:pPr>
            <a:r>
              <a:rPr lang="en-US" altLang="zh-CN" sz="2000" dirty="0">
                <a:ea typeface="宋体" pitchFamily="2" charset="-122"/>
              </a:rPr>
              <a:t>If 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handler</a:t>
            </a:r>
            <a:r>
              <a:rPr lang="en-US" altLang="zh-CN" sz="2000" dirty="0">
                <a:latin typeface="Courier" charset="0"/>
                <a:ea typeface="宋体" pitchFamily="2" charset="-122"/>
              </a:rPr>
              <a:t> </a:t>
            </a:r>
            <a:r>
              <a:rPr lang="en-US" altLang="zh-CN" sz="2000" dirty="0">
                <a:ea typeface="宋体" pitchFamily="2" charset="-122"/>
              </a:rPr>
              <a:t>is </a:t>
            </a:r>
            <a:r>
              <a:rPr lang="en-US" altLang="zh-CN" sz="2000" dirty="0">
                <a:solidFill>
                  <a:srgbClr val="FF0000"/>
                </a:solidFill>
                <a:ea typeface="宋体" pitchFamily="2" charset="-122"/>
              </a:rPr>
              <a:t>SIG_DFL</a:t>
            </a:r>
            <a:r>
              <a:rPr lang="en-US" altLang="zh-CN" sz="2000" dirty="0">
                <a:ea typeface="宋体" pitchFamily="2" charset="-122"/>
              </a:rPr>
              <a:t>, then the action for signals of type </a:t>
            </a:r>
            <a:r>
              <a:rPr lang="en-US" altLang="zh-CN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signum</a:t>
            </a:r>
            <a:r>
              <a:rPr lang="en-US" altLang="zh-CN" sz="2000" dirty="0">
                <a:latin typeface="Courier" charset="0"/>
                <a:ea typeface="宋体" pitchFamily="2" charset="-122"/>
              </a:rPr>
              <a:t> </a:t>
            </a:r>
            <a:r>
              <a:rPr lang="en-US" altLang="zh-CN" sz="2000" dirty="0">
                <a:ea typeface="宋体" pitchFamily="2" charset="-122"/>
              </a:rPr>
              <a:t>reverts to the </a:t>
            </a:r>
            <a:r>
              <a:rPr lang="en-US" altLang="zh-CN" sz="2000" dirty="0">
                <a:solidFill>
                  <a:srgbClr val="FF0000"/>
                </a:solidFill>
                <a:ea typeface="宋体" pitchFamily="2" charset="-122"/>
              </a:rPr>
              <a:t>default</a:t>
            </a:r>
            <a:r>
              <a:rPr lang="en-US" altLang="zh-CN" sz="2000" dirty="0">
                <a:ea typeface="宋体" pitchFamily="2" charset="-122"/>
              </a:rPr>
              <a:t> action.</a:t>
            </a:r>
          </a:p>
          <a:p>
            <a:pPr lvl="1">
              <a:defRPr/>
            </a:pPr>
            <a:r>
              <a:rPr lang="en-US" altLang="zh-CN" sz="2000" dirty="0">
                <a:ea typeface="宋体" pitchFamily="2" charset="-122"/>
              </a:rPr>
              <a:t>Otherwise, change action to 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handler</a:t>
            </a:r>
            <a:r>
              <a:rPr lang="en-US" altLang="zh-CN" sz="2000" dirty="0">
                <a:ea typeface="宋体" pitchFamily="2" charset="-122"/>
              </a:rPr>
              <a:t> (called signal handler)</a:t>
            </a:r>
            <a:endParaRPr lang="zh-CN" altLang="en-US" sz="2000" dirty="0">
              <a:ea typeface="宋体" pitchFamily="2" charset="-122"/>
            </a:endParaRPr>
          </a:p>
        </p:txBody>
      </p:sp>
      <p:graphicFrame>
        <p:nvGraphicFramePr>
          <p:cNvPr id="1599492" name="Group 4"/>
          <p:cNvGraphicFramePr>
            <a:graphicFrameLocks noGrp="1"/>
          </p:cNvGraphicFramePr>
          <p:nvPr/>
        </p:nvGraphicFramePr>
        <p:xfrm>
          <a:off x="533400" y="1524000"/>
          <a:ext cx="8001000" cy="2109788"/>
        </p:xfrm>
        <a:graphic>
          <a:graphicData uri="http://schemas.openxmlformats.org/drawingml/2006/table">
            <a:tbl>
              <a:tblPr/>
              <a:tblGrid>
                <a:gridCol w="800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0978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#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include &lt;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signal.h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&gt;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typedef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void (*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signalhandler_t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)(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int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);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signalhandler_t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signal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(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int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signum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, 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signalhandler_t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*handler)</a:t>
                      </a: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returns: 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ptr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 to previous handler if OK, </a:t>
                      </a:r>
                      <a:b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</a:b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SIG_ERR on error (does not set </a:t>
                      </a:r>
                      <a:r>
                        <a:rPr kumimoji="0" lang="en-US" altLang="zh-CN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errno</a:t>
                      </a:r>
                      <a:r>
                        <a:rPr kumimoji="0" lang="en-US" altLang="zh-CN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mic Sans MS" pitchFamily="66" charset="0"/>
                          <a:ea typeface="宋体" pitchFamily="2" charset="-122"/>
                        </a:rPr>
                        <a:t>)</a:t>
                      </a:r>
                      <a:endParaRPr kumimoji="0" lang="zh-CN" alt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mic Sans MS" pitchFamily="66" charset="0"/>
                        <a:ea typeface="宋体" pitchFamily="2" charset="-122"/>
                      </a:endParaRP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639C2F8-3193-A740-AB84-2CD2DDA48C67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Signal Function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Installing</a:t>
            </a:r>
            <a:r>
              <a:rPr lang="en-US" altLang="zh-CN" dirty="0">
                <a:ea typeface="宋体" pitchFamily="2" charset="-122"/>
              </a:rPr>
              <a:t> the handler 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Changing the default action by passing the address of a handler to the </a:t>
            </a:r>
            <a:r>
              <a:rPr lang="en-US" altLang="zh-CN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signal</a:t>
            </a:r>
            <a:r>
              <a:rPr lang="en-US" altLang="zh-CN" dirty="0">
                <a:latin typeface="Courier" charset="0"/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function 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Catching</a:t>
            </a:r>
            <a:r>
              <a:rPr lang="en-US" altLang="zh-CN" dirty="0">
                <a:ea typeface="宋体" pitchFamily="2" charset="-122"/>
              </a:rPr>
              <a:t> the signal 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The invocation of the handler</a:t>
            </a:r>
          </a:p>
          <a:p>
            <a:pPr>
              <a:lnSpc>
                <a:spcPct val="120000"/>
              </a:lnSpc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Handling</a:t>
            </a:r>
            <a:r>
              <a:rPr lang="en-US" altLang="zh-CN" dirty="0">
                <a:ea typeface="宋体" pitchFamily="2" charset="-122"/>
              </a:rPr>
              <a:t> the signal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The execution of the handler</a:t>
            </a:r>
            <a:endParaRPr lang="zh-CN" altLang="en-US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03CBDA-D672-B74A-8385-5496E94D9C2C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9113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381000"/>
            <a:ext cx="8229600" cy="6248400"/>
          </a:xfrm>
          <a:solidFill>
            <a:schemeClr val="bg1"/>
          </a:solidFill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 dirty="0">
                <a:latin typeface="Courier New" charset="0"/>
                <a:ea typeface="宋体" charset="-122"/>
                <a:cs typeface="Courier New" charset="0"/>
              </a:rPr>
              <a:t>1  #</a:t>
            </a: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include "</a:t>
            </a:r>
            <a:r>
              <a:rPr lang="en-US" altLang="zh-CN" sz="2000" b="1" dirty="0" err="1">
                <a:latin typeface="Courier New" charset="0"/>
                <a:ea typeface="宋体" charset="-122"/>
                <a:cs typeface="Courier New" charset="0"/>
              </a:rPr>
              <a:t>csapp.h</a:t>
            </a: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"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3  void handler(</a:t>
            </a:r>
            <a:r>
              <a:rPr lang="en-US" altLang="zh-CN" sz="2000" b="1" dirty="0" err="1">
                <a:latin typeface="Courier New" charset="0"/>
                <a:ea typeface="宋体" charset="-122"/>
                <a:cs typeface="Courier New" charset="0"/>
              </a:rPr>
              <a:t>int</a:t>
            </a: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 sig) </a:t>
            </a:r>
            <a:r>
              <a:rPr lang="en-US" altLang="zh-CN" sz="2000" b="1" dirty="0">
                <a:solidFill>
                  <a:srgbClr val="00B050"/>
                </a:solidFill>
                <a:latin typeface="Courier New" charset="0"/>
                <a:ea typeface="宋体" charset="-122"/>
                <a:cs typeface="Courier New" charset="0"/>
              </a:rPr>
              <a:t>/* SIGINT handler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4 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5    </a:t>
            </a:r>
            <a:r>
              <a:rPr lang="en-US" altLang="zh-CN" sz="2000" b="1" dirty="0" err="1">
                <a:latin typeface="Courier New" charset="0"/>
                <a:ea typeface="宋体" charset="-122"/>
                <a:cs typeface="Courier New" charset="0"/>
              </a:rPr>
              <a:t>printf</a:t>
            </a: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("Caught SIGINT\n");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6    exit(1);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7  }</a:t>
            </a:r>
          </a:p>
          <a:p>
            <a:pPr>
              <a:lnSpc>
                <a:spcPts val="2000"/>
              </a:lnSpc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8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9  </a:t>
            </a:r>
            <a:r>
              <a:rPr lang="en-US" altLang="zh-CN" sz="2000" b="1" dirty="0" err="1">
                <a:latin typeface="Courier New" charset="0"/>
                <a:ea typeface="宋体" charset="-122"/>
                <a:cs typeface="Courier New" charset="0"/>
              </a:rPr>
              <a:t>int</a:t>
            </a: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 main()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10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11	   </a:t>
            </a:r>
            <a:r>
              <a:rPr lang="en-US" altLang="zh-CN" sz="2000" b="1" dirty="0">
                <a:solidFill>
                  <a:srgbClr val="00B050"/>
                </a:solidFill>
                <a:latin typeface="Courier New" charset="0"/>
                <a:ea typeface="宋体" charset="-122"/>
                <a:cs typeface="Courier New" charset="0"/>
              </a:rPr>
              <a:t>/* Install the SIGINT handler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12	   if (</a:t>
            </a:r>
            <a:r>
              <a:rPr lang="en-US" altLang="zh-CN" sz="2000" b="1" dirty="0">
                <a:solidFill>
                  <a:srgbClr val="FF0000"/>
                </a:solidFill>
                <a:latin typeface="Courier New" charset="0"/>
                <a:ea typeface="宋体" charset="-122"/>
                <a:cs typeface="Courier New" charset="0"/>
              </a:rPr>
              <a:t>signal(SIGINT, handler) </a:t>
            </a: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== SIG_ERR)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13	     </a:t>
            </a:r>
            <a:r>
              <a:rPr lang="en-US" altLang="zh-CN" sz="2000" b="1" dirty="0" err="1">
                <a:latin typeface="Courier New" charset="0"/>
                <a:ea typeface="宋体" charset="-122"/>
                <a:cs typeface="Courier New" charset="0"/>
              </a:rPr>
              <a:t>unix_error</a:t>
            </a: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("signal error");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14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15	   pause(); </a:t>
            </a:r>
            <a:r>
              <a:rPr lang="en-US" altLang="zh-CN" sz="2000" b="1" dirty="0">
                <a:solidFill>
                  <a:srgbClr val="00B050"/>
                </a:solidFill>
                <a:latin typeface="Courier New" charset="0"/>
                <a:ea typeface="宋体" charset="-122"/>
                <a:cs typeface="Courier New" charset="0"/>
              </a:rPr>
              <a:t>/* wait for the receipt of a signal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16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17	   exit(0);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 dirty="0">
                <a:latin typeface="Courier New" charset="0"/>
                <a:ea typeface="宋体" charset="-122"/>
                <a:cs typeface="Courier New" charset="0"/>
              </a:rPr>
              <a:t>18 }</a:t>
            </a:r>
            <a:endParaRPr lang="zh-CN" altLang="en-US" sz="2000" b="1" dirty="0">
              <a:latin typeface="Courier New" charset="0"/>
              <a:ea typeface="宋体" charset="-122"/>
              <a:cs typeface="Courier New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283149" y="5867400"/>
            <a:ext cx="329288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最终</a:t>
            </a:r>
            <a:r>
              <a:rPr lang="en-US" altLang="zh-CN" dirty="0">
                <a:solidFill>
                  <a:srgbClr val="FF0000"/>
                </a:solidFill>
              </a:rPr>
              <a:t>exit</a:t>
            </a:r>
            <a:r>
              <a:rPr lang="zh-CN" altLang="en-US" dirty="0">
                <a:solidFill>
                  <a:srgbClr val="FF0000"/>
                </a:solidFill>
              </a:rPr>
              <a:t>状态是</a:t>
            </a:r>
            <a:r>
              <a:rPr lang="en-US" altLang="zh-CN" dirty="0">
                <a:solidFill>
                  <a:srgbClr val="FF0000"/>
                </a:solidFill>
              </a:rPr>
              <a:t>0</a:t>
            </a:r>
            <a:r>
              <a:rPr lang="zh-CN" altLang="en-US" dirty="0">
                <a:solidFill>
                  <a:srgbClr val="FF0000"/>
                </a:solidFill>
              </a:rPr>
              <a:t>还是</a:t>
            </a:r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呢？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AB9B2B8-F605-5243-917E-CE98CDD77E00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Signal Function</a:t>
            </a:r>
          </a:p>
        </p:txBody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r>
              <a:rPr lang="en-US" altLang="zh-CN">
                <a:ea typeface="宋体" charset="-122"/>
              </a:rPr>
              <a:t>Handling the signal</a:t>
            </a:r>
          </a:p>
          <a:p>
            <a:pPr lvl="1"/>
            <a:r>
              <a:rPr lang="zh-CN" altLang="en-US">
                <a:ea typeface="宋体" charset="-122"/>
              </a:rPr>
              <a:t>当进程</a:t>
            </a:r>
            <a:r>
              <a:rPr lang="zh-CN" altLang="en-US">
                <a:solidFill>
                  <a:srgbClr val="FF0000"/>
                </a:solidFill>
                <a:ea typeface="宋体" charset="-122"/>
              </a:rPr>
              <a:t>捕获</a:t>
            </a:r>
            <a:r>
              <a:rPr lang="zh-CN" altLang="en-US">
                <a:ea typeface="宋体" charset="-122"/>
              </a:rPr>
              <a:t>了一个类型为</a:t>
            </a:r>
            <a:r>
              <a:rPr lang="en-US" altLang="zh-CN">
                <a:ea typeface="宋体" charset="-122"/>
              </a:rPr>
              <a:t>k</a:t>
            </a:r>
            <a:r>
              <a:rPr lang="zh-CN" altLang="en-US">
                <a:ea typeface="宋体" charset="-122"/>
              </a:rPr>
              <a:t>的信号</a:t>
            </a:r>
            <a:endParaRPr lang="en-US" altLang="zh-CN">
              <a:ea typeface="宋体" charset="-122"/>
            </a:endParaRPr>
          </a:p>
          <a:p>
            <a:pPr lvl="1"/>
            <a:r>
              <a:rPr lang="en-US" altLang="zh-CN">
                <a:ea typeface="宋体" charset="-122"/>
              </a:rPr>
              <a:t>K</a:t>
            </a:r>
            <a:r>
              <a:rPr lang="zh-CN" altLang="en-US">
                <a:ea typeface="宋体" charset="-122"/>
              </a:rPr>
              <a:t>对应的</a:t>
            </a:r>
            <a:r>
              <a:rPr lang="en-US" altLang="zh-CN">
                <a:ea typeface="宋体" charset="-122"/>
              </a:rPr>
              <a:t>handler</a:t>
            </a:r>
            <a:r>
              <a:rPr lang="zh-CN" altLang="en-US">
                <a:ea typeface="宋体" charset="-122"/>
              </a:rPr>
              <a:t>函数被激活</a:t>
            </a:r>
            <a:endParaRPr lang="en-US" altLang="zh-CN">
              <a:ea typeface="宋体" charset="-122"/>
            </a:endParaRPr>
          </a:p>
          <a:p>
            <a:pPr lvl="2"/>
            <a:r>
              <a:rPr lang="en-US" altLang="zh-CN">
                <a:ea typeface="宋体" charset="-122"/>
              </a:rPr>
              <a:t>K</a:t>
            </a:r>
            <a:r>
              <a:rPr lang="zh-CN" altLang="en-US">
                <a:ea typeface="宋体" charset="-122"/>
              </a:rPr>
              <a:t>作为</a:t>
            </a:r>
            <a:r>
              <a:rPr lang="en-US" altLang="zh-CN">
                <a:ea typeface="宋体" charset="-122"/>
              </a:rPr>
              <a:t>handler</a:t>
            </a:r>
            <a:r>
              <a:rPr lang="zh-CN" altLang="en-US">
                <a:ea typeface="宋体" charset="-122"/>
              </a:rPr>
              <a:t>的参数传进去</a:t>
            </a:r>
            <a:endParaRPr lang="en-US" altLang="zh-CN">
              <a:ea typeface="宋体" charset="-122"/>
            </a:endParaRPr>
          </a:p>
          <a:p>
            <a:pPr lvl="1"/>
            <a:r>
              <a:rPr lang="zh-CN" altLang="en-US">
                <a:ea typeface="宋体" charset="-122"/>
              </a:rPr>
              <a:t>当</a:t>
            </a:r>
            <a:r>
              <a:rPr lang="en-US" altLang="zh-CN">
                <a:ea typeface="宋体" charset="-122"/>
              </a:rPr>
              <a:t>handler</a:t>
            </a:r>
            <a:r>
              <a:rPr lang="zh-CN" altLang="en-US">
                <a:ea typeface="宋体" charset="-122"/>
              </a:rPr>
              <a:t>执行到它的</a:t>
            </a:r>
            <a:r>
              <a:rPr lang="en-US" altLang="zh-CN">
                <a:ea typeface="宋体" charset="-122"/>
              </a:rPr>
              <a:t>return</a:t>
            </a:r>
            <a:r>
              <a:rPr lang="zh-CN" altLang="en-US">
                <a:ea typeface="宋体" charset="-122"/>
              </a:rPr>
              <a:t>语句时</a:t>
            </a:r>
            <a:endParaRPr lang="en-US" altLang="zh-CN">
              <a:ea typeface="宋体" charset="-122"/>
            </a:endParaRPr>
          </a:p>
          <a:p>
            <a:pPr lvl="2"/>
            <a:r>
              <a:rPr lang="zh-CN" altLang="en-US">
                <a:ea typeface="宋体" charset="-122"/>
              </a:rPr>
              <a:t>控制权</a:t>
            </a:r>
            <a:r>
              <a:rPr lang="zh-CN" altLang="en-US">
                <a:solidFill>
                  <a:srgbClr val="FF0000"/>
                </a:solidFill>
                <a:ea typeface="宋体" charset="-122"/>
              </a:rPr>
              <a:t>传递回</a:t>
            </a:r>
            <a:r>
              <a:rPr lang="zh-CN" altLang="en-US">
                <a:ea typeface="宋体" charset="-122"/>
              </a:rPr>
              <a:t>正常的程序控制流</a:t>
            </a:r>
            <a:endParaRPr lang="en-US" altLang="zh-CN">
              <a:ea typeface="宋体" charset="-122"/>
            </a:endParaRPr>
          </a:p>
          <a:p>
            <a:pPr lvl="3"/>
            <a:r>
              <a:rPr lang="zh-CN" altLang="en-US">
                <a:ea typeface="宋体" charset="-122"/>
              </a:rPr>
              <a:t>通常会返回被</a:t>
            </a:r>
            <a:r>
              <a:rPr lang="en-US" altLang="zh-CN">
                <a:ea typeface="宋体" charset="-122"/>
              </a:rPr>
              <a:t>signal</a:t>
            </a:r>
            <a:r>
              <a:rPr lang="zh-CN" altLang="en-US">
                <a:ea typeface="宋体" charset="-122"/>
              </a:rPr>
              <a:t>接收中断的位置</a:t>
            </a:r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C293076-EEE6-3A40-BF10-685539BD74B8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Signal Function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40000"/>
              </a:lnSpc>
            </a:pPr>
            <a:r>
              <a:rPr lang="zh-CN" altLang="en-US">
                <a:ea typeface="宋体" charset="-122"/>
              </a:rPr>
              <a:t>同一个</a:t>
            </a:r>
            <a:r>
              <a:rPr lang="en-US" altLang="zh-CN">
                <a:ea typeface="宋体" charset="-122"/>
              </a:rPr>
              <a:t>handler</a:t>
            </a:r>
            <a:r>
              <a:rPr lang="zh-CN" altLang="en-US">
                <a:ea typeface="宋体" charset="-122"/>
              </a:rPr>
              <a:t>函数可以用于捕获不同类型的信号</a:t>
            </a:r>
            <a:endParaRPr lang="en-US" altLang="zh-CN">
              <a:ea typeface="宋体" charset="-122"/>
            </a:endParaRPr>
          </a:p>
          <a:p>
            <a:pPr lvl="1">
              <a:lnSpc>
                <a:spcPct val="140000"/>
              </a:lnSpc>
            </a:pPr>
            <a:r>
              <a:rPr lang="zh-CN" altLang="en-US">
                <a:ea typeface="宋体" charset="-122"/>
              </a:rPr>
              <a:t>所以才需要</a:t>
            </a:r>
            <a:r>
              <a:rPr lang="en-US" altLang="zh-CN">
                <a:ea typeface="宋体" charset="-122"/>
              </a:rPr>
              <a:t>signal</a:t>
            </a:r>
            <a:r>
              <a:rPr lang="zh-CN" altLang="en-US">
                <a:ea typeface="宋体" charset="-122"/>
              </a:rPr>
              <a:t>类型作为参数传进去</a:t>
            </a:r>
            <a:endParaRPr lang="en-US" altLang="zh-CN">
              <a:ea typeface="宋体" charset="-122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4A4B22B-3C52-F44A-A3B9-ED24AAF368A5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533400"/>
            <a:ext cx="8001000" cy="685800"/>
          </a:xfrm>
        </p:spPr>
        <p:txBody>
          <a:bodyPr/>
          <a:lstStyle/>
          <a:p>
            <a:pPr>
              <a:defRPr/>
            </a:pPr>
            <a:r>
              <a:rPr lang="en-US" altLang="zh-CN" dirty="0">
                <a:ea typeface="宋体" pitchFamily="2" charset="-122"/>
              </a:rPr>
              <a:t>Sending Signals With the </a:t>
            </a: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alarm</a:t>
            </a:r>
            <a:r>
              <a:rPr lang="en-US" altLang="zh-C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" charset="0"/>
                <a:ea typeface="宋体" pitchFamily="2" charset="-122"/>
              </a:rPr>
              <a:t> </a:t>
            </a:r>
            <a:r>
              <a:rPr lang="en-US" altLang="zh-CN" dirty="0">
                <a:ea typeface="宋体" pitchFamily="2" charset="-122"/>
              </a:rPr>
              <a:t>Function</a:t>
            </a:r>
            <a:endParaRPr lang="zh-CN" altLang="en-US" dirty="0">
              <a:ea typeface="宋体" pitchFamily="2" charset="-122"/>
            </a:endParaRPr>
          </a:p>
        </p:txBody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3048000"/>
            <a:ext cx="8458200" cy="3581400"/>
          </a:xfrm>
        </p:spPr>
        <p:txBody>
          <a:bodyPr/>
          <a:lstStyle/>
          <a:p>
            <a:pPr>
              <a:defRPr/>
            </a:pPr>
            <a:r>
              <a:rPr lang="en-US" altLang="zh-CN" sz="2400" dirty="0">
                <a:ea typeface="宋体" pitchFamily="2" charset="-122"/>
              </a:rPr>
              <a:t>Arranges for the kernel to send a SIGALRM signal to the calling process 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in </a:t>
            </a:r>
            <a:r>
              <a:rPr lang="en-US" altLang="zh-CN" sz="2400" b="1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secs</a:t>
            </a:r>
            <a:r>
              <a:rPr lang="en-US" altLang="zh-CN" sz="2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" charset="0"/>
                <a:ea typeface="宋体" pitchFamily="2" charset="-122"/>
              </a:rPr>
              <a:t> </a:t>
            </a:r>
            <a:r>
              <a:rPr lang="en-US" altLang="zh-CN" sz="2400" dirty="0">
                <a:solidFill>
                  <a:srgbClr val="FF0000"/>
                </a:solidFill>
                <a:ea typeface="宋体" pitchFamily="2" charset="-122"/>
              </a:rPr>
              <a:t>seconds</a:t>
            </a:r>
            <a:r>
              <a:rPr lang="en-US" altLang="zh-CN" sz="2400" dirty="0">
                <a:ea typeface="宋体" pitchFamily="2" charset="-122"/>
              </a:rPr>
              <a:t>.</a:t>
            </a:r>
          </a:p>
          <a:p>
            <a:pPr>
              <a:defRPr/>
            </a:pPr>
            <a:r>
              <a:rPr lang="en-US" altLang="zh-CN" sz="2400" dirty="0">
                <a:ea typeface="宋体" pitchFamily="2" charset="-122"/>
              </a:rPr>
              <a:t>If 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secs</a:t>
            </a:r>
            <a:r>
              <a:rPr lang="en-US" altLang="zh-CN" sz="2400" dirty="0">
                <a:latin typeface="Courier" charset="0"/>
                <a:ea typeface="宋体" pitchFamily="2" charset="-122"/>
              </a:rPr>
              <a:t> </a:t>
            </a:r>
            <a:r>
              <a:rPr lang="en-US" altLang="zh-CN" sz="2400" dirty="0">
                <a:ea typeface="宋体" pitchFamily="2" charset="-122"/>
              </a:rPr>
              <a:t>is zero</a:t>
            </a:r>
          </a:p>
          <a:p>
            <a:pPr lvl="1">
              <a:defRPr/>
            </a:pPr>
            <a:r>
              <a:rPr lang="en-US" altLang="zh-CN" sz="2000" dirty="0">
                <a:ea typeface="宋体" pitchFamily="2" charset="-122"/>
              </a:rPr>
              <a:t>then no new alarm is scheduled. </a:t>
            </a:r>
          </a:p>
          <a:p>
            <a:pPr>
              <a:defRPr/>
            </a:pPr>
            <a:r>
              <a:rPr lang="en-US" altLang="zh-CN" sz="2400" dirty="0">
                <a:ea typeface="宋体" pitchFamily="2" charset="-122"/>
              </a:rPr>
              <a:t>The call to 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alarm </a:t>
            </a:r>
          </a:p>
          <a:p>
            <a:pPr lvl="1">
              <a:defRPr/>
            </a:pPr>
            <a:r>
              <a:rPr lang="zh-CN" alt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取消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掉任何待处理的（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pending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）闹钟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 lvl="1">
              <a:defRPr/>
            </a:pPr>
            <a:r>
              <a:rPr lang="zh-CN" altLang="en-US" sz="2000" dirty="0">
                <a:ea typeface="宋体" pitchFamily="2" charset="-122"/>
              </a:rPr>
              <a:t>返回之前</a:t>
            </a:r>
            <a:r>
              <a:rPr lang="en-US" altLang="zh-CN" sz="2000" dirty="0">
                <a:ea typeface="宋体" pitchFamily="2" charset="-122"/>
              </a:rPr>
              <a:t>pending alarm</a:t>
            </a:r>
            <a:r>
              <a:rPr lang="zh-CN" altLang="en-US" sz="2000" dirty="0">
                <a:ea typeface="宋体" pitchFamily="2" charset="-122"/>
              </a:rPr>
              <a:t>还剩余的秒数</a:t>
            </a:r>
            <a:endParaRPr lang="en-US" altLang="zh-CN" sz="2000" dirty="0">
              <a:ea typeface="宋体" pitchFamily="2" charset="-122"/>
            </a:endParaRPr>
          </a:p>
          <a:p>
            <a:pPr lvl="1">
              <a:defRPr/>
            </a:pPr>
            <a:r>
              <a:rPr lang="zh-CN" altLang="en-US" sz="2000" dirty="0">
                <a:ea typeface="宋体" pitchFamily="2" charset="-122"/>
              </a:rPr>
              <a:t>如果没有</a:t>
            </a:r>
            <a:r>
              <a:rPr lang="en-US" altLang="zh-CN" sz="2000" dirty="0">
                <a:ea typeface="宋体" pitchFamily="2" charset="-122"/>
              </a:rPr>
              <a:t>pending alarm</a:t>
            </a:r>
            <a:r>
              <a:rPr lang="zh-CN" altLang="en-US" sz="2000" dirty="0">
                <a:ea typeface="宋体" pitchFamily="2" charset="-122"/>
              </a:rPr>
              <a:t>，返回</a:t>
            </a:r>
            <a:r>
              <a:rPr lang="en-US" altLang="zh-CN" sz="2000" dirty="0">
                <a:ea typeface="宋体" pitchFamily="2" charset="-122"/>
              </a:rPr>
              <a:t>0</a:t>
            </a:r>
          </a:p>
        </p:txBody>
      </p:sp>
      <p:graphicFrame>
        <p:nvGraphicFramePr>
          <p:cNvPr id="1585156" name="Group 4"/>
          <p:cNvGraphicFramePr>
            <a:graphicFrameLocks noGrp="1"/>
          </p:cNvGraphicFramePr>
          <p:nvPr/>
        </p:nvGraphicFramePr>
        <p:xfrm>
          <a:off x="457200" y="1600200"/>
          <a:ext cx="8153400" cy="1295400"/>
        </p:xfrm>
        <a:graphic>
          <a:graphicData uri="http://schemas.openxmlformats.org/drawingml/2006/table">
            <a:tbl>
              <a:tblPr/>
              <a:tblGrid>
                <a:gridCol w="815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2954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#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include &lt;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unistd.h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&gt;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unsigned 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int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alarm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(unsigned 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int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 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secs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itchFamily="49" charset="0"/>
                          <a:ea typeface="宋体" pitchFamily="2" charset="-122"/>
                          <a:cs typeface="Courier New" pitchFamily="49" charset="0"/>
                        </a:rPr>
                        <a:t>);</a:t>
                      </a:r>
                    </a:p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  <a:ea typeface="宋体" pitchFamily="2" charset="-122"/>
                          <a:cs typeface="Times New Roman" pitchFamily="18" charset="0"/>
                        </a:rPr>
                        <a:t>returns: remaining </a:t>
                      </a:r>
                      <a:r>
                        <a:rPr kumimoji="0" lang="en-US" altLang="zh-CN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  <a:ea typeface="宋体" pitchFamily="2" charset="-122"/>
                          <a:cs typeface="Times New Roman" pitchFamily="18" charset="0"/>
                        </a:rPr>
                        <a:t>secs</a:t>
                      </a: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j-lt"/>
                          <a:ea typeface="宋体" pitchFamily="2" charset="-122"/>
                          <a:cs typeface="Times New Roman" pitchFamily="18" charset="0"/>
                        </a:rPr>
                        <a:t> of previous alarm, or 0 if no previous alarm</a:t>
                      </a:r>
                      <a:endParaRPr kumimoji="0" lang="zh-CN" alt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j-lt"/>
                        <a:ea typeface="宋体" pitchFamily="2" charset="-122"/>
                        <a:cs typeface="Times New Roman" pitchFamily="18" charset="0"/>
                      </a:endParaRPr>
                    </a:p>
                  </a:txBody>
                  <a:tcPr marT="45722" marB="4572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3FC993-E5B1-7D4A-A66D-516A22CDD819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"/>
            <a:ext cx="8534400" cy="4038600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zh-CN" altLang="en-US" sz="1800" b="1">
                <a:latin typeface="Courier New" charset="0"/>
                <a:ea typeface="宋体" charset="-122"/>
                <a:cs typeface="Courier New" charset="0"/>
              </a:rPr>
              <a:t>1  #</a:t>
            </a: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include "csapp.h"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2  void handler(int sig)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3 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4    static int beeps = 0;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5    printf("BEEP\n");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6    if (++beeps &lt; 5)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7      </a:t>
            </a:r>
            <a:r>
              <a:rPr lang="en-US" altLang="zh-CN" sz="1800" b="1">
                <a:solidFill>
                  <a:srgbClr val="FF0000"/>
                </a:solidFill>
                <a:latin typeface="Courier New" charset="0"/>
                <a:ea typeface="宋体" charset="-122"/>
                <a:cs typeface="Courier New" charset="0"/>
              </a:rPr>
              <a:t>Alarm</a:t>
            </a: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(1); </a:t>
            </a:r>
            <a:r>
              <a:rPr lang="en-US" altLang="zh-CN" sz="1800" b="1">
                <a:solidFill>
                  <a:srgbClr val="00B050"/>
                </a:solidFill>
                <a:latin typeface="Courier New" charset="0"/>
                <a:ea typeface="宋体" charset="-122"/>
                <a:cs typeface="Courier New" charset="0"/>
              </a:rPr>
              <a:t>/* next SIGALRM will be delivered in 1s */</a:t>
            </a:r>
            <a:endParaRPr lang="en-US" altLang="zh-CN" sz="1800" b="1">
              <a:latin typeface="Courier New" charset="0"/>
              <a:ea typeface="宋体" charset="-122"/>
              <a:cs typeface="Courier New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8    else {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9      printf("BOOM!\n");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10     exit(0);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11  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12 }</a:t>
            </a:r>
          </a:p>
        </p:txBody>
      </p:sp>
      <p:sp>
        <p:nvSpPr>
          <p:cNvPr id="99331" name="Rectangle 2"/>
          <p:cNvSpPr txBox="1">
            <a:spLocks noChangeArrowheads="1"/>
          </p:cNvSpPr>
          <p:nvPr/>
        </p:nvSpPr>
        <p:spPr bwMode="auto">
          <a:xfrm>
            <a:off x="381000" y="3810000"/>
            <a:ext cx="8763000" cy="29718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buFontTx/>
              <a:buNone/>
            </a:pPr>
            <a:r>
              <a:rPr lang="en-US" altLang="zh-CN" sz="1800">
                <a:latin typeface="Courier New" charset="0"/>
                <a:cs typeface="Courier New" charset="0"/>
              </a:rPr>
              <a:t>13 int main()</a:t>
            </a:r>
          </a:p>
          <a:p>
            <a:pPr>
              <a:buFontTx/>
              <a:buNone/>
            </a:pPr>
            <a:r>
              <a:rPr lang="en-US" altLang="zh-CN" sz="1800">
                <a:latin typeface="Courier New" charset="0"/>
                <a:cs typeface="Courier New" charset="0"/>
              </a:rPr>
              <a:t>14 {</a:t>
            </a:r>
          </a:p>
          <a:p>
            <a:pPr>
              <a:buFontTx/>
              <a:buNone/>
            </a:pPr>
            <a:r>
              <a:rPr lang="en-US" altLang="zh-CN" sz="1800">
                <a:latin typeface="Courier New" charset="0"/>
                <a:cs typeface="Courier New" charset="0"/>
              </a:rPr>
              <a:t>15   Signal(SIGALRM, handler); </a:t>
            </a:r>
            <a:r>
              <a:rPr lang="en-US" altLang="zh-CN" sz="1800">
                <a:solidFill>
                  <a:srgbClr val="00B050"/>
                </a:solidFill>
                <a:latin typeface="Courier New" charset="0"/>
                <a:cs typeface="Courier New" charset="0"/>
              </a:rPr>
              <a:t>/* install SIGALRM handler */</a:t>
            </a:r>
          </a:p>
          <a:p>
            <a:pPr>
              <a:buFontTx/>
              <a:buNone/>
            </a:pPr>
            <a:r>
              <a:rPr lang="en-US" altLang="zh-CN" sz="1800">
                <a:latin typeface="Courier New" charset="0"/>
                <a:cs typeface="Courier New" charset="0"/>
              </a:rPr>
              <a:t>16   </a:t>
            </a:r>
            <a:r>
              <a:rPr lang="en-US" altLang="zh-CN" sz="1800">
                <a:solidFill>
                  <a:srgbClr val="FF0000"/>
                </a:solidFill>
                <a:latin typeface="Courier New" charset="0"/>
                <a:cs typeface="Courier New" charset="0"/>
              </a:rPr>
              <a:t>Alarm</a:t>
            </a:r>
            <a:r>
              <a:rPr lang="en-US" altLang="zh-CN" sz="1800">
                <a:latin typeface="Courier New" charset="0"/>
                <a:cs typeface="Courier New" charset="0"/>
              </a:rPr>
              <a:t>(1); </a:t>
            </a:r>
            <a:r>
              <a:rPr lang="en-US" altLang="zh-CN" sz="1800">
                <a:solidFill>
                  <a:srgbClr val="00B050"/>
                </a:solidFill>
                <a:latin typeface="Courier New" charset="0"/>
                <a:cs typeface="Courier New" charset="0"/>
              </a:rPr>
              <a:t>/* next SIGALRM will be delivered in 1s */</a:t>
            </a:r>
          </a:p>
          <a:p>
            <a:pPr>
              <a:buFontTx/>
              <a:buNone/>
            </a:pPr>
            <a:r>
              <a:rPr lang="en-US" altLang="zh-CN" sz="1800">
                <a:latin typeface="Courier New" charset="0"/>
                <a:cs typeface="Courier New" charset="0"/>
              </a:rPr>
              <a:t>17</a:t>
            </a:r>
          </a:p>
          <a:p>
            <a:pPr>
              <a:buFontTx/>
              <a:buNone/>
            </a:pPr>
            <a:r>
              <a:rPr lang="en-US" altLang="zh-CN" sz="1800">
                <a:latin typeface="Courier New" charset="0"/>
                <a:cs typeface="Courier New" charset="0"/>
              </a:rPr>
              <a:t>18   </a:t>
            </a:r>
            <a:r>
              <a:rPr lang="en-US" altLang="zh-CN" sz="1800">
                <a:solidFill>
                  <a:srgbClr val="00B050"/>
                </a:solidFill>
                <a:latin typeface="Courier New" charset="0"/>
                <a:cs typeface="Courier New" charset="0"/>
              </a:rPr>
              <a:t>/* signal handler returns control here each time */</a:t>
            </a:r>
          </a:p>
          <a:p>
            <a:pPr>
              <a:buFontTx/>
              <a:buNone/>
            </a:pPr>
            <a:r>
              <a:rPr lang="en-US" altLang="zh-CN" sz="1800">
                <a:latin typeface="Courier New" charset="0"/>
                <a:cs typeface="Courier New" charset="0"/>
              </a:rPr>
              <a:t>19   while (1);</a:t>
            </a:r>
          </a:p>
          <a:p>
            <a:pPr>
              <a:buFontTx/>
              <a:buNone/>
            </a:pPr>
            <a:r>
              <a:rPr lang="en-US" altLang="zh-CN" sz="1800">
                <a:latin typeface="Courier New" charset="0"/>
                <a:cs typeface="Courier New" charset="0"/>
              </a:rPr>
              <a:t>20   exit(0);</a:t>
            </a:r>
          </a:p>
          <a:p>
            <a:pPr>
              <a:buFontTx/>
              <a:buNone/>
            </a:pPr>
            <a:r>
              <a:rPr lang="en-US" altLang="zh-CN" sz="1800">
                <a:latin typeface="Courier New" charset="0"/>
                <a:cs typeface="Courier New" charset="0"/>
              </a:rPr>
              <a:t>21 }</a:t>
            </a:r>
            <a:endParaRPr lang="zh-CN" altLang="en-US" sz="1800">
              <a:latin typeface="Courier New" charset="0"/>
              <a:cs typeface="Courier New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1CD9DE9-88C8-E246-8F9F-4879C66DBAD3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457200"/>
            <a:ext cx="8229600" cy="5410200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linux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&gt;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./alarm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BEEP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BEEP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BEEP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BEEP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BEEP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BOOM!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charset="-122"/>
              </a:rPr>
              <a:t>课堂练习</a:t>
            </a:r>
          </a:p>
        </p:txBody>
      </p:sp>
      <p:sp>
        <p:nvSpPr>
          <p:cNvPr id="103426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220163" name="幻灯片编号占位符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557213" indent="-214313">
              <a:spcBef>
                <a:spcPct val="20000"/>
              </a:spcBef>
              <a:buChar char="–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F93AB541-9575-F44F-BB88-3F8E4C15BDBF}" type="slidenum">
              <a:rPr kumimoji="0" lang="zh-CN" altLang="en-US" sz="105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48</a:t>
            </a:fld>
            <a:endParaRPr kumimoji="0" lang="en-US" altLang="zh-CN" sz="1050">
              <a:latin typeface="Times New Roman" panose="02020603050405020304" pitchFamily="18" charset="0"/>
            </a:endParaRPr>
          </a:p>
        </p:txBody>
      </p:sp>
      <p:pic>
        <p:nvPicPr>
          <p:cNvPr id="10342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25" y="2281238"/>
            <a:ext cx="8467725" cy="152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标题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ea typeface="宋体" charset="-122"/>
              </a:rPr>
              <a:t>练习</a:t>
            </a:r>
          </a:p>
        </p:txBody>
      </p:sp>
      <p:sp>
        <p:nvSpPr>
          <p:cNvPr id="104450" name="内容占位符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>
              <a:ea typeface="宋体" charset="-122"/>
            </a:endParaRPr>
          </a:p>
        </p:txBody>
      </p:sp>
      <p:sp>
        <p:nvSpPr>
          <p:cNvPr id="221187" name="幻灯片编号占位符 3"/>
          <p:cNvSpPr>
            <a:spLocks noGrp="1"/>
          </p:cNvSpPr>
          <p:nvPr>
            <p:ph type="sldNum" sz="quarter" idx="12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kumimoji="1" sz="21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1pPr>
            <a:lvl2pPr marL="557213" indent="-214313">
              <a:spcBef>
                <a:spcPct val="20000"/>
              </a:spcBef>
              <a:buChar char="–"/>
              <a:defRPr kumimoji="1" sz="18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2pPr>
            <a:lvl3pPr marL="857250" indent="-171450">
              <a:spcBef>
                <a:spcPct val="20000"/>
              </a:spcBef>
              <a:buChar char="•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3pPr>
            <a:lvl4pPr marL="1200150" indent="-171450">
              <a:spcBef>
                <a:spcPct val="20000"/>
              </a:spcBef>
              <a:buChar char="–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4pPr>
            <a:lvl5pPr marL="1543050" indent="-171450">
              <a:spcBef>
                <a:spcPct val="20000"/>
              </a:spcBef>
              <a:buChar char="»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1500">
                <a:solidFill>
                  <a:schemeClr val="tx1"/>
                </a:solidFill>
                <a:latin typeface="Comic Sans MS" panose="030F0902030302020204" pitchFamily="66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3F64FD38-83C0-8446-AFE8-4B2F996B2760}" type="slidenum">
              <a:rPr kumimoji="0" lang="zh-CN" altLang="en-US" sz="105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  <a:defRPr/>
              </a:pPr>
              <a:t>49</a:t>
            </a:fld>
            <a:endParaRPr kumimoji="0" lang="en-US" altLang="zh-CN" sz="1050">
              <a:latin typeface="Times New Roman" panose="02020603050405020304" pitchFamily="18" charset="0"/>
            </a:endParaRPr>
          </a:p>
        </p:txBody>
      </p:sp>
      <p:pic>
        <p:nvPicPr>
          <p:cNvPr id="10445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76200"/>
            <a:ext cx="6362700" cy="66976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4B8B59D-46BA-A848-BD41-BED4E1B78C18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Signal Handling Issues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10000"/>
              </a:lnSpc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Pending signals can be blocked</a:t>
            </a:r>
          </a:p>
          <a:p>
            <a:pPr lvl="1">
              <a:lnSpc>
                <a:spcPct val="110000"/>
              </a:lnSpc>
              <a:defRPr/>
            </a:pPr>
            <a:r>
              <a:rPr lang="en-US" altLang="zh-CN" dirty="0">
                <a:ea typeface="宋体" pitchFamily="2" charset="-122"/>
              </a:rPr>
              <a:t>Unix signal handler</a:t>
            </a:r>
            <a:r>
              <a:rPr lang="zh-CN" altLang="en-US" dirty="0">
                <a:ea typeface="宋体" pitchFamily="2" charset="-122"/>
              </a:rPr>
              <a:t>一般会屏蔽当前正在处理信号同一类型的</a:t>
            </a:r>
            <a:r>
              <a:rPr lang="en-US" altLang="zh-CN" dirty="0">
                <a:ea typeface="宋体" pitchFamily="2" charset="-122"/>
              </a:rPr>
              <a:t>pending signals</a:t>
            </a:r>
          </a:p>
          <a:p>
            <a:pPr>
              <a:lnSpc>
                <a:spcPct val="110000"/>
              </a:lnSpc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Pending signals are not queued</a:t>
            </a:r>
          </a:p>
          <a:p>
            <a:pPr lvl="1">
              <a:lnSpc>
                <a:spcPct val="110000"/>
              </a:lnSpc>
              <a:defRPr/>
            </a:pPr>
            <a:r>
              <a:rPr lang="zh-CN" altLang="en-US" dirty="0">
                <a:ea typeface="宋体" pitchFamily="2" charset="-122"/>
              </a:rPr>
              <a:t>在数据结构上，每一种信号类型之对应一个</a:t>
            </a:r>
            <a:r>
              <a:rPr lang="en-US" altLang="zh-CN" dirty="0">
                <a:ea typeface="宋体" pitchFamily="2" charset="-122"/>
              </a:rPr>
              <a:t>bit</a:t>
            </a:r>
            <a:r>
              <a:rPr lang="zh-CN" altLang="en-US" dirty="0">
                <a:ea typeface="宋体" pitchFamily="2" charset="-122"/>
              </a:rPr>
              <a:t>，所以只能记录有</a:t>
            </a:r>
            <a:r>
              <a:rPr lang="en-US" altLang="zh-CN" dirty="0">
                <a:ea typeface="宋体" pitchFamily="2" charset="-122"/>
              </a:rPr>
              <a:t>/</a:t>
            </a:r>
            <a:r>
              <a:rPr lang="zh-CN" altLang="en-US" dirty="0">
                <a:ea typeface="宋体" pitchFamily="2" charset="-122"/>
              </a:rPr>
              <a:t>无信号，无法记录来了几个信号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110000"/>
              </a:lnSpc>
              <a:defRPr/>
            </a:pPr>
            <a:r>
              <a:rPr lang="zh-CN" altLang="en-US" dirty="0">
                <a:ea typeface="宋体" pitchFamily="2" charset="-122"/>
              </a:rPr>
              <a:t>第二个及以后到达的</a:t>
            </a:r>
            <a:r>
              <a:rPr lang="en-US" altLang="zh-CN" dirty="0">
                <a:ea typeface="宋体" pitchFamily="2" charset="-122"/>
              </a:rPr>
              <a:t>pending signal</a:t>
            </a:r>
            <a:r>
              <a:rPr lang="zh-CN" altLang="en-US" dirty="0">
                <a:ea typeface="宋体" pitchFamily="2" charset="-122"/>
              </a:rPr>
              <a:t>只是被简单地丢弃了</a:t>
            </a: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0EB7F5-53B7-0C4E-8272-16AF4761ECC5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Signal Handling Issues</a:t>
            </a:r>
          </a:p>
        </p:txBody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20000"/>
              </a:lnSpc>
              <a:defRPr/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itchFamily="2" charset="-122"/>
              </a:rPr>
              <a:t>System calls can be interrupted</a:t>
            </a:r>
            <a:endParaRPr lang="en-US" altLang="zh-CN" dirty="0">
              <a:ea typeface="宋体" pitchFamily="2" charset="-122"/>
            </a:endParaRP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Slow system calls</a:t>
            </a:r>
          </a:p>
          <a:p>
            <a:pPr lvl="2">
              <a:lnSpc>
                <a:spcPct val="120000"/>
              </a:lnSpc>
              <a:defRPr/>
            </a:pPr>
            <a:r>
              <a:rPr lang="en-US" altLang="zh-CN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read</a:t>
            </a:r>
            <a:r>
              <a:rPr lang="en-US" altLang="zh-CN" dirty="0">
                <a:ea typeface="宋体" pitchFamily="2" charset="-122"/>
              </a:rPr>
              <a:t>, </a:t>
            </a:r>
            <a:r>
              <a:rPr lang="en-US" altLang="zh-CN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wait</a:t>
            </a:r>
            <a:r>
              <a:rPr lang="en-US" altLang="zh-CN" dirty="0">
                <a:ea typeface="宋体" pitchFamily="2" charset="-122"/>
              </a:rPr>
              <a:t>, and </a:t>
            </a:r>
            <a:r>
              <a:rPr lang="en-US" altLang="zh-CN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accept</a:t>
            </a:r>
          </a:p>
          <a:p>
            <a:pPr lvl="1">
              <a:lnSpc>
                <a:spcPct val="120000"/>
              </a:lnSpc>
              <a:defRPr/>
            </a:pPr>
            <a:r>
              <a:rPr lang="en-US" altLang="zh-CN" dirty="0">
                <a:ea typeface="宋体" pitchFamily="2" charset="-122"/>
              </a:rPr>
              <a:t>On some systems</a:t>
            </a:r>
          </a:p>
          <a:p>
            <a:pPr lvl="2">
              <a:lnSpc>
                <a:spcPct val="120000"/>
              </a:lnSpc>
              <a:defRPr/>
            </a:pPr>
            <a:r>
              <a:rPr lang="zh-CN" altLang="en-US" dirty="0">
                <a:ea typeface="宋体" pitchFamily="2" charset="-122"/>
              </a:rPr>
              <a:t>当一些</a:t>
            </a:r>
            <a:r>
              <a:rPr lang="en-US" altLang="zh-CN" dirty="0">
                <a:ea typeface="宋体" pitchFamily="2" charset="-122"/>
              </a:rPr>
              <a:t>slow system call</a:t>
            </a:r>
            <a:r>
              <a:rPr lang="zh-CN" altLang="en-US" dirty="0">
                <a:ea typeface="宋体" pitchFamily="2" charset="-122"/>
              </a:rPr>
              <a:t>被信号中断后，</a:t>
            </a:r>
            <a:r>
              <a:rPr lang="en-US" altLang="zh-CN" dirty="0">
                <a:ea typeface="宋体" pitchFamily="2" charset="-122"/>
              </a:rPr>
              <a:t>signal handler</a:t>
            </a:r>
            <a:r>
              <a:rPr lang="zh-CN" altLang="en-US" dirty="0">
                <a:ea typeface="宋体" pitchFamily="2" charset="-122"/>
              </a:rPr>
              <a:t>捕获了一个信号并进行处理和返回后，</a:t>
            </a:r>
            <a:r>
              <a:rPr lang="en-US" altLang="zh-CN" dirty="0">
                <a:ea typeface="宋体" pitchFamily="2" charset="-122"/>
              </a:rPr>
              <a:t>system call</a:t>
            </a:r>
            <a:r>
              <a:rPr lang="zh-CN" altLang="en-US" dirty="0">
                <a:ea typeface="宋体" pitchFamily="2" charset="-122"/>
              </a:rPr>
              <a:t>就不继续执行了</a:t>
            </a:r>
            <a:endParaRPr lang="en-US" altLang="zh-CN" dirty="0">
              <a:ea typeface="宋体" pitchFamily="2" charset="-122"/>
            </a:endParaRPr>
          </a:p>
          <a:p>
            <a:pPr lvl="2">
              <a:lnSpc>
                <a:spcPct val="120000"/>
              </a:lnSpc>
              <a:defRPr/>
            </a:pPr>
            <a:r>
              <a:rPr lang="zh-CN" altLang="en-US" dirty="0">
                <a:ea typeface="宋体" pitchFamily="2" charset="-122"/>
              </a:rPr>
              <a:t>而是立刻返回用户程序，并设置全局变量</a:t>
            </a:r>
            <a:r>
              <a:rPr lang="en-US" altLang="zh-CN" dirty="0" err="1">
                <a:ea typeface="宋体" pitchFamily="2" charset="-122"/>
              </a:rPr>
              <a:t>errno</a:t>
            </a:r>
            <a:r>
              <a:rPr lang="zh-CN" altLang="en-US" dirty="0">
                <a:ea typeface="宋体" pitchFamily="2" charset="-122"/>
              </a:rPr>
              <a:t>来报错</a:t>
            </a:r>
            <a:endParaRPr lang="en-US" altLang="zh-CN" dirty="0">
              <a:ea typeface="宋体" pitchFamily="2" charset="-122"/>
            </a:endParaRPr>
          </a:p>
          <a:p>
            <a:pPr lvl="2">
              <a:lnSpc>
                <a:spcPct val="120000"/>
              </a:lnSpc>
              <a:defRPr/>
            </a:pPr>
            <a:r>
              <a:rPr lang="zh-CN" altLang="en-US" dirty="0">
                <a:ea typeface="宋体" pitchFamily="2" charset="-122"/>
              </a:rPr>
              <a:t>例如前面提到的</a:t>
            </a:r>
            <a:r>
              <a:rPr lang="en-US" altLang="zh-CN" dirty="0">
                <a:ea typeface="宋体" pitchFamily="2" charset="-122"/>
              </a:rPr>
              <a:t>sleep</a:t>
            </a:r>
            <a:r>
              <a:rPr lang="zh-CN" altLang="en-US" dirty="0">
                <a:ea typeface="宋体" pitchFamily="2" charset="-122"/>
              </a:rPr>
              <a:t>，可能提前返回</a:t>
            </a:r>
            <a:endParaRPr lang="en-US" altLang="zh-CN" dirty="0"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9372C1A-C2AB-0A4B-BBD7-366094E45AB8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116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228600"/>
            <a:ext cx="8458200" cy="3962400"/>
          </a:xfrm>
          <a:solidFill>
            <a:schemeClr val="bg1"/>
          </a:solidFill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14 int main()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15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16   int i, n;  char buf[MAXBUF];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17   if (</a:t>
            </a:r>
            <a:r>
              <a:rPr lang="en-US" altLang="zh-CN" sz="1800" b="1">
                <a:solidFill>
                  <a:srgbClr val="FF0000"/>
                </a:solidFill>
                <a:latin typeface="Courier New" charset="0"/>
                <a:ea typeface="宋体" charset="-122"/>
                <a:cs typeface="Courier New" charset="0"/>
              </a:rPr>
              <a:t>signal</a:t>
            </a: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(SIGCHLD, handler1) == SIG_ERR)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18     unix_error("signal error");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19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20   </a:t>
            </a:r>
            <a:r>
              <a:rPr lang="en-US" altLang="zh-CN" sz="1800" b="1">
                <a:solidFill>
                  <a:srgbClr val="00B050"/>
                </a:solidFill>
                <a:latin typeface="Courier New" charset="0"/>
                <a:ea typeface="宋体" charset="-122"/>
                <a:cs typeface="Courier New" charset="0"/>
              </a:rPr>
              <a:t>/* parent creates children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21   for (i = 0; i &lt; 3; i++)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22     if (Fork() == 0)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23       printf("Hello from child %d\n", (int)getpid());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24       Sleep(1);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25       exit(0);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26    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27   }</a:t>
            </a:r>
          </a:p>
        </p:txBody>
      </p:sp>
      <p:sp>
        <p:nvSpPr>
          <p:cNvPr id="111619" name="Rectangle 2"/>
          <p:cNvSpPr txBox="1">
            <a:spLocks noChangeArrowheads="1"/>
          </p:cNvSpPr>
          <p:nvPr/>
        </p:nvSpPr>
        <p:spPr bwMode="auto">
          <a:xfrm>
            <a:off x="304800" y="4114800"/>
            <a:ext cx="8534400" cy="25146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charset="0"/>
                <a:cs typeface="Courier New" charset="0"/>
              </a:rPr>
              <a:t>28   </a:t>
            </a:r>
            <a:r>
              <a:rPr lang="en-US" altLang="zh-CN" sz="1800">
                <a:solidFill>
                  <a:srgbClr val="00B050"/>
                </a:solidFill>
                <a:latin typeface="Courier New" charset="0"/>
                <a:cs typeface="Courier New" charset="0"/>
              </a:rPr>
              <a:t>/* parent waits for term. input and then processes it */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charset="0"/>
                <a:cs typeface="Courier New" charset="0"/>
              </a:rPr>
              <a:t>29   if ((n = read(STDIN_FILENO, buf, sizeof(buf))) &lt; 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charset="0"/>
                <a:cs typeface="Courier New" charset="0"/>
              </a:rPr>
              <a:t>30     unix_error("read");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charset="0"/>
                <a:cs typeface="Courier New" charset="0"/>
              </a:rPr>
              <a:t>31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charset="0"/>
                <a:cs typeface="Courier New" charset="0"/>
              </a:rPr>
              <a:t>32   printf("Parent processing input\n");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charset="0"/>
                <a:cs typeface="Courier New" charset="0"/>
              </a:rPr>
              <a:t>33   while (1) 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charset="0"/>
                <a:cs typeface="Courier New" charset="0"/>
              </a:rPr>
              <a:t>34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charset="0"/>
                <a:cs typeface="Courier New" charset="0"/>
              </a:rPr>
              <a:t>35   exit(0);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>
                <a:latin typeface="Courier New" charset="0"/>
                <a:cs typeface="Courier New" charset="0"/>
              </a:rPr>
              <a:t>36 }</a:t>
            </a:r>
            <a:endParaRPr lang="zh-CN" altLang="en-US" sz="1800">
              <a:latin typeface="Courier New" charset="0"/>
              <a:cs typeface="Courier New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0F07777-3440-6740-B0E7-2B638C3DE39C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1366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304800"/>
            <a:ext cx="8458200" cy="4038600"/>
          </a:xfrm>
          <a:solidFill>
            <a:schemeClr val="bg1"/>
          </a:solidFill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Courier New" charset="0"/>
                <a:ea typeface="宋体" charset="-122"/>
                <a:cs typeface="Courier New" charset="0"/>
              </a:rPr>
              <a:t>1  #</a:t>
            </a: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include "csapp.h"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3  void handler1(int sig)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4 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5    pid_t pid;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6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7    if ((pid = waitpid(-1, NULL, 0)) &lt; 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8      unix_error("waitpid error");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9    printf("Handler reaped child %d\n", (int)pid);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10   Sleep(2);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11   return;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12 }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13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7F5BE0D-CA9A-4547-94E1-184EB7577135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457200" y="457200"/>
            <a:ext cx="8229600" cy="5410200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linux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&gt;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 </a:t>
            </a:r>
            <a:r>
              <a:rPr lang="en-US" altLang="zh-CN" sz="2000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./signal1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Hello from child 10320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Hello from child 10321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Hello from child 10322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Handler reaped child 10320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Handler reaped child 10322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&lt;</a:t>
            </a:r>
            <a:r>
              <a:rPr lang="en-US" altLang="zh-CN" sz="2000" b="1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cr</a:t>
            </a:r>
            <a:r>
              <a:rPr lang="en-US" altLang="zh-CN" sz="2000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&gt;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Parent processing input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zh-CN" altLang="en-US" sz="2000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&lt;</a:t>
            </a:r>
            <a:r>
              <a:rPr lang="en-US" altLang="zh-CN" sz="2000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ctrl-z&gt;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Suspended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endParaRPr lang="en-US" altLang="zh-CN" sz="2000" dirty="0"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linux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&gt; </a:t>
            </a:r>
            <a:r>
              <a:rPr lang="en-US" altLang="zh-CN" sz="2000" b="1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ps</a:t>
            </a:r>
            <a:endParaRPr lang="en-US" altLang="zh-CN" sz="2000" b="1" dirty="0">
              <a:latin typeface="Courier New" pitchFamily="49" charset="0"/>
              <a:ea typeface="宋体" pitchFamily="2" charset="-122"/>
              <a:cs typeface="Courier New" pitchFamily="49" charset="0"/>
            </a:endParaRP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PID TTY STAT TIME COMMAND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...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10319 p5 T 0:03 signal1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b="1" dirty="0">
                <a:solidFill>
                  <a:srgbClr val="FF0000"/>
                </a:solidFill>
                <a:latin typeface="Courier New" pitchFamily="49" charset="0"/>
                <a:ea typeface="宋体" pitchFamily="2" charset="-122"/>
                <a:cs typeface="Courier New" pitchFamily="49" charset="0"/>
              </a:rPr>
              <a:t>10321 p5 Z 0:00 signal1 &lt;zombie&gt;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10323 p5 R 0:00 </a:t>
            </a:r>
            <a:r>
              <a:rPr lang="en-US" altLang="zh-CN" sz="20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ps</a:t>
            </a:r>
            <a:endParaRPr lang="zh-CN" altLang="en-US" sz="2000" dirty="0">
              <a:latin typeface="Courier New" pitchFamily="49" charset="0"/>
              <a:ea typeface="宋体" pitchFamily="2" charset="-122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2F71C2-B0D9-0D41-992F-A5601313D3FC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1776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04800" y="304800"/>
            <a:ext cx="8458200" cy="5410200"/>
          </a:xfrm>
          <a:solidFill>
            <a:schemeClr val="bg1"/>
          </a:solidFill>
        </p:spPr>
        <p:txBody>
          <a:bodyPr/>
          <a:lstStyle/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Courier New" charset="0"/>
                <a:ea typeface="宋体" charset="-122"/>
                <a:cs typeface="Courier New" charset="0"/>
              </a:rPr>
              <a:t>1  #</a:t>
            </a: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include "csapp.h"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2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3  void handler2(int sig)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4  {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5    pid_t pid;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6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7    </a:t>
            </a:r>
            <a:r>
              <a:rPr lang="en-US" altLang="zh-CN" sz="1800" b="1">
                <a:solidFill>
                  <a:srgbClr val="FF0000"/>
                </a:solidFill>
                <a:latin typeface="Courier New" charset="0"/>
                <a:ea typeface="宋体" charset="-122"/>
                <a:cs typeface="Courier New" charset="0"/>
              </a:rPr>
              <a:t>while ((pid = waitpid(-1, NULL, 0)) &gt; 0)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8      printf("Handler reaped child %d\n", (int)pid);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9    if (errno != ECHILD)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10     unix_error("waitpid error");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11   Sleep(2);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12   return;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Courier New" charset="0"/>
                <a:ea typeface="宋体" charset="-122"/>
                <a:cs typeface="Courier New" charset="0"/>
              </a:rPr>
              <a:t>13 }</a:t>
            </a:r>
            <a:endParaRPr lang="zh-CN" altLang="en-US" sz="1800" b="1">
              <a:latin typeface="Courier New" charset="0"/>
              <a:ea typeface="宋体" charset="-122"/>
              <a:cs typeface="Courier New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A741C06-7228-B54B-B7E5-D21CD7F0A21B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81000" y="533400"/>
            <a:ext cx="8458200" cy="5791200"/>
          </a:xfrm>
          <a:solidFill>
            <a:schemeClr val="bg1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linux</a:t>
            </a:r>
            <a:r>
              <a:rPr lang="en-US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urier New" pitchFamily="49" charset="0"/>
                <a:ea typeface="宋体" pitchFamily="2" charset="-122"/>
                <a:cs typeface="Courier New" pitchFamily="49" charset="0"/>
              </a:rPr>
              <a:t>&gt; </a:t>
            </a:r>
            <a:r>
              <a:rPr lang="en-US" altLang="zh-CN" sz="2000" b="1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./signal2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Hello from child 10378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Hello from child 10379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Hello from child 10380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Handler reaped child 10379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Handler reaped child 10378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Handler reaped child 10380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&lt;</a:t>
            </a:r>
            <a:r>
              <a:rPr lang="en-US" altLang="zh-CN" sz="2000" dirty="0" err="1">
                <a:latin typeface="Courier New" pitchFamily="49" charset="0"/>
                <a:ea typeface="宋体" pitchFamily="2" charset="-122"/>
                <a:cs typeface="Courier New" pitchFamily="49" charset="0"/>
              </a:rPr>
              <a:t>cr</a:t>
            </a: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&gt;</a:t>
            </a:r>
          </a:p>
          <a:p>
            <a:pPr>
              <a:lnSpc>
                <a:spcPct val="90000"/>
              </a:lnSpc>
              <a:spcBef>
                <a:spcPct val="0"/>
              </a:spcBef>
              <a:buFontTx/>
              <a:buNone/>
              <a:defRPr/>
            </a:pPr>
            <a:r>
              <a:rPr lang="en-US" altLang="zh-CN" sz="2000" dirty="0">
                <a:latin typeface="Courier New" pitchFamily="49" charset="0"/>
                <a:ea typeface="宋体" pitchFamily="2" charset="-122"/>
                <a:cs typeface="Courier New" pitchFamily="49" charset="0"/>
              </a:rPr>
              <a:t>Parent processing input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灯片编号占位符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491A45-599F-7A4D-9A7A-B176BA012581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32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>
                <a:ea typeface="宋体" charset="-122"/>
              </a:rPr>
              <a:t>Signal Function</a:t>
            </a:r>
          </a:p>
        </p:txBody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077200" cy="4419600"/>
          </a:xfrm>
        </p:spPr>
        <p:txBody>
          <a:bodyPr/>
          <a:lstStyle/>
          <a:p>
            <a:pPr>
              <a:lnSpc>
                <a:spcPct val="130000"/>
              </a:lnSpc>
            </a:pPr>
            <a:r>
              <a:rPr lang="zh-CN" altLang="en-US" dirty="0">
                <a:ea typeface="宋体" charset="-122"/>
              </a:rPr>
              <a:t>一旦通过</a:t>
            </a:r>
            <a:r>
              <a:rPr lang="en-US" altLang="zh-CN" dirty="0">
                <a:ea typeface="宋体" charset="-122"/>
              </a:rPr>
              <a:t>signal</a:t>
            </a:r>
            <a:r>
              <a:rPr lang="zh-CN" altLang="en-US" dirty="0">
                <a:ea typeface="宋体" charset="-122"/>
              </a:rPr>
              <a:t>函数注册信号对应的处理函数，只有当再次调用</a:t>
            </a:r>
            <a:r>
              <a:rPr lang="en-US" altLang="zh-CN" dirty="0">
                <a:ea typeface="宋体" charset="-122"/>
              </a:rPr>
              <a:t>signal</a:t>
            </a:r>
            <a:r>
              <a:rPr lang="zh-CN" altLang="en-US" dirty="0">
                <a:ea typeface="宋体" charset="-122"/>
              </a:rPr>
              <a:t>函数，并将</a:t>
            </a:r>
            <a:r>
              <a:rPr lang="en-US" altLang="zh-CN" dirty="0">
                <a:ea typeface="宋体" charset="-122"/>
              </a:rPr>
              <a:t>handler</a:t>
            </a:r>
            <a:r>
              <a:rPr lang="zh-CN" altLang="en-US" dirty="0">
                <a:ea typeface="宋体" charset="-122"/>
              </a:rPr>
              <a:t>指定为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SIG_IGN</a:t>
            </a:r>
            <a:r>
              <a:rPr lang="zh-CN" altLang="en-US" dirty="0">
                <a:ea typeface="宋体" charset="-122"/>
              </a:rPr>
              <a:t>或</a:t>
            </a:r>
            <a:r>
              <a:rPr lang="en-US" altLang="zh-CN" dirty="0">
                <a:solidFill>
                  <a:srgbClr val="FF0000"/>
                </a:solidFill>
                <a:ea typeface="宋体" charset="-122"/>
              </a:rPr>
              <a:t>SIG_DFL</a:t>
            </a:r>
            <a:r>
              <a:rPr lang="zh-CN" altLang="en-US" dirty="0">
                <a:ea typeface="宋体" charset="-122"/>
              </a:rPr>
              <a:t>才能取消</a:t>
            </a:r>
            <a:endParaRPr lang="en-US" altLang="zh-CN" dirty="0">
              <a:ea typeface="宋体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ea typeface="宋体" charset="-122"/>
              </a:rPr>
              <a:t>SIG_IGN</a:t>
            </a:r>
            <a:r>
              <a:rPr lang="zh-CN" altLang="en-US" dirty="0">
                <a:ea typeface="宋体" charset="-122"/>
              </a:rPr>
              <a:t>：忽略信号</a:t>
            </a:r>
            <a:endParaRPr lang="en-US" altLang="zh-CN" dirty="0">
              <a:ea typeface="宋体" charset="-122"/>
            </a:endParaRPr>
          </a:p>
          <a:p>
            <a:pPr lvl="1">
              <a:lnSpc>
                <a:spcPct val="130000"/>
              </a:lnSpc>
            </a:pPr>
            <a:r>
              <a:rPr lang="en-US" altLang="zh-CN" dirty="0">
                <a:ea typeface="宋体" charset="-122"/>
              </a:rPr>
              <a:t>SIG_DFL</a:t>
            </a:r>
            <a:r>
              <a:rPr lang="zh-CN" altLang="en-US" dirty="0">
                <a:ea typeface="宋体" charset="-122"/>
              </a:rPr>
              <a:t>：恢复默认处理方式</a:t>
            </a:r>
            <a:endParaRPr lang="en-US" altLang="zh-CN" dirty="0">
              <a:ea typeface="宋体" charset="-122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课堂练习</a:t>
            </a:r>
            <a:endParaRPr lang="en-US" altLang="zh-CN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1600200"/>
            <a:ext cx="4111083" cy="3932039"/>
          </a:xfrm>
        </p:spPr>
        <p:txBody>
          <a:bodyPr>
            <a:normAutofit fontScale="92500" lnSpcReduction="10000"/>
          </a:bodyPr>
          <a:lstStyle/>
          <a:p>
            <a:r>
              <a:rPr lang="zh-CN" altLang="en-US" dirty="0"/>
              <a:t>下列程序的输出是？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err="1"/>
              <a:t>pid_t</a:t>
            </a:r>
            <a:r>
              <a:rPr lang="en-US" altLang="zh-CN" dirty="0"/>
              <a:t> </a:t>
            </a:r>
            <a:r>
              <a:rPr lang="en-US" altLang="zh-CN" dirty="0" err="1"/>
              <a:t>pid</a:t>
            </a:r>
            <a:r>
              <a:rPr lang="en-US" altLang="zh-CN" dirty="0"/>
              <a:t>; </a:t>
            </a:r>
          </a:p>
          <a:p>
            <a:pPr marL="0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counter = 2;</a:t>
            </a:r>
            <a:br>
              <a:rPr lang="en-US" altLang="zh-CN" dirty="0"/>
            </a:br>
            <a:r>
              <a:rPr lang="en-US" altLang="zh-CN" dirty="0"/>
              <a:t>void handler1(</a:t>
            </a:r>
            <a:r>
              <a:rPr lang="en-US" altLang="zh-CN" dirty="0" err="1"/>
              <a:t>int</a:t>
            </a:r>
            <a:r>
              <a:rPr lang="en-US" altLang="zh-CN" dirty="0"/>
              <a:t> sig) { 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/>
              <a:t>counter = counter - 1; 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 err="1"/>
              <a:t>printf</a:t>
            </a:r>
            <a:r>
              <a:rPr lang="en-US" altLang="zh-CN" dirty="0"/>
              <a:t>("%d", counter); </a:t>
            </a:r>
          </a:p>
          <a:p>
            <a:pPr marL="0" indent="0">
              <a:buNone/>
            </a:pPr>
            <a:r>
              <a:rPr lang="zh-CN" altLang="en-US" dirty="0"/>
              <a:t>    </a:t>
            </a:r>
            <a:r>
              <a:rPr lang="en-US" altLang="zh-CN" dirty="0" err="1"/>
              <a:t>fflush</a:t>
            </a:r>
            <a:r>
              <a:rPr lang="en-US" altLang="zh-CN" dirty="0"/>
              <a:t>(</a:t>
            </a:r>
            <a:r>
              <a:rPr lang="en-US" altLang="zh-CN" dirty="0" err="1"/>
              <a:t>stdout</a:t>
            </a:r>
            <a:r>
              <a:rPr lang="en-US" altLang="zh-CN" dirty="0"/>
              <a:t>);</a:t>
            </a:r>
            <a:br>
              <a:rPr lang="en-US" altLang="zh-CN" dirty="0"/>
            </a:br>
            <a:r>
              <a:rPr lang="zh-CN" altLang="en-US" dirty="0"/>
              <a:t>    </a:t>
            </a:r>
            <a:r>
              <a:rPr lang="en-US" altLang="zh-CN" dirty="0"/>
              <a:t>exit(0); </a:t>
            </a:r>
          </a:p>
          <a:p>
            <a:pPr marL="0" indent="0">
              <a:buNone/>
            </a:pPr>
            <a:r>
              <a:rPr lang="en-US" altLang="zh-CN" dirty="0"/>
              <a:t>} 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E967256-2E36-AA4C-BAB4-310E547495FA}" type="slidenum">
              <a:rPr lang="zh-CN" altLang="en-US" smtClean="0"/>
              <a:pPr>
                <a:defRPr/>
              </a:pPr>
              <a:t>58</a:t>
            </a:fld>
            <a:endParaRPr lang="en-US" altLang="zh-CN"/>
          </a:p>
        </p:txBody>
      </p:sp>
      <p:sp>
        <p:nvSpPr>
          <p:cNvPr id="5" name="矩形 4"/>
          <p:cNvSpPr/>
          <p:nvPr/>
        </p:nvSpPr>
        <p:spPr>
          <a:xfrm>
            <a:off x="4572000" y="1491574"/>
            <a:ext cx="4495800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0" dirty="0" err="1"/>
              <a:t>int</a:t>
            </a:r>
            <a:r>
              <a:rPr lang="en-US" altLang="zh-CN" sz="2400" b="0" dirty="0"/>
              <a:t> main() {</a:t>
            </a:r>
            <a:br>
              <a:rPr lang="en-US" altLang="zh-CN" sz="2400" b="0" dirty="0"/>
            </a:br>
            <a:r>
              <a:rPr lang="zh-CN" altLang="en-US" sz="2400" b="0" dirty="0"/>
              <a:t>    </a:t>
            </a:r>
            <a:r>
              <a:rPr lang="en-US" altLang="zh-CN" sz="2400" b="0" dirty="0"/>
              <a:t>signal(SIGUSR1, handler1); </a:t>
            </a:r>
          </a:p>
          <a:p>
            <a:r>
              <a:rPr lang="zh-CN" altLang="en-US" sz="2400" b="0" dirty="0"/>
              <a:t>    </a:t>
            </a:r>
            <a:r>
              <a:rPr lang="en-US" altLang="zh-CN" sz="2400" b="0" dirty="0" err="1"/>
              <a:t>printf</a:t>
            </a:r>
            <a:r>
              <a:rPr lang="en-US" altLang="zh-CN" sz="2400" b="0" dirty="0"/>
              <a:t>("%d", counter);</a:t>
            </a:r>
          </a:p>
          <a:p>
            <a:r>
              <a:rPr lang="zh-CN" altLang="en-US" sz="2400" b="0" dirty="0"/>
              <a:t>    </a:t>
            </a:r>
            <a:r>
              <a:rPr lang="en-US" altLang="zh-CN" sz="2400" b="0" dirty="0" err="1"/>
              <a:t>fflush</a:t>
            </a:r>
            <a:r>
              <a:rPr lang="en-US" altLang="zh-CN" sz="2400" b="0" dirty="0"/>
              <a:t>(</a:t>
            </a:r>
            <a:r>
              <a:rPr lang="en-US" altLang="zh-CN" sz="2400" b="0" dirty="0" err="1"/>
              <a:t>stdout</a:t>
            </a:r>
            <a:r>
              <a:rPr lang="en-US" altLang="zh-CN" sz="2400" b="0" dirty="0"/>
              <a:t>);</a:t>
            </a:r>
            <a:br>
              <a:rPr lang="en-US" altLang="zh-CN" sz="2400" b="0" dirty="0"/>
            </a:br>
            <a:r>
              <a:rPr lang="zh-CN" altLang="en-US" sz="2400" b="0" dirty="0"/>
              <a:t>    </a:t>
            </a:r>
            <a:r>
              <a:rPr lang="en-US" altLang="zh-CN" sz="2400" b="0" dirty="0"/>
              <a:t>if ((</a:t>
            </a:r>
            <a:r>
              <a:rPr lang="en-US" altLang="zh-CN" sz="2400" b="0" dirty="0" err="1"/>
              <a:t>pid</a:t>
            </a:r>
            <a:r>
              <a:rPr lang="en-US" altLang="zh-CN" sz="2400" b="0" dirty="0"/>
              <a:t> = fork()) == 0) { </a:t>
            </a:r>
          </a:p>
          <a:p>
            <a:r>
              <a:rPr lang="zh-CN" altLang="en-US" sz="2400" b="0" dirty="0"/>
              <a:t>        </a:t>
            </a:r>
            <a:r>
              <a:rPr lang="en-US" altLang="zh-CN" sz="2400" b="0" dirty="0"/>
              <a:t>while(1) {}; </a:t>
            </a:r>
          </a:p>
          <a:p>
            <a:r>
              <a:rPr lang="zh-CN" altLang="en-US" sz="2400" b="0" dirty="0"/>
              <a:t>    </a:t>
            </a:r>
            <a:r>
              <a:rPr lang="en-US" altLang="zh-CN" sz="2400" b="0" dirty="0"/>
              <a:t>} </a:t>
            </a:r>
          </a:p>
          <a:p>
            <a:r>
              <a:rPr lang="zh-CN" altLang="en-US" sz="2400" b="0" dirty="0"/>
              <a:t>    </a:t>
            </a:r>
            <a:r>
              <a:rPr lang="en-US" altLang="zh-CN" sz="2400" b="0" dirty="0"/>
              <a:t>kill(</a:t>
            </a:r>
            <a:r>
              <a:rPr lang="en-US" altLang="zh-CN" sz="2400" b="0" dirty="0" err="1"/>
              <a:t>pid</a:t>
            </a:r>
            <a:r>
              <a:rPr lang="en-US" altLang="zh-CN" sz="2400" b="0" dirty="0"/>
              <a:t>, SIGUSR1); </a:t>
            </a:r>
          </a:p>
          <a:p>
            <a:r>
              <a:rPr lang="zh-CN" altLang="en-US" sz="2400" b="0" dirty="0"/>
              <a:t>    </a:t>
            </a:r>
            <a:r>
              <a:rPr lang="en-US" altLang="zh-CN" sz="2400" b="0" dirty="0" err="1"/>
              <a:t>waitpid</a:t>
            </a:r>
            <a:r>
              <a:rPr lang="en-US" altLang="zh-CN" sz="2400" b="0" dirty="0"/>
              <a:t>(-1, NULL, 0); </a:t>
            </a:r>
          </a:p>
          <a:p>
            <a:r>
              <a:rPr lang="zh-CN" altLang="en-US" sz="2400" b="0" dirty="0"/>
              <a:t>    </a:t>
            </a:r>
            <a:r>
              <a:rPr lang="en-US" altLang="zh-CN" sz="2400" b="0" dirty="0"/>
              <a:t>counter = counter + 1; </a:t>
            </a:r>
          </a:p>
          <a:p>
            <a:r>
              <a:rPr lang="zh-CN" altLang="en-US" sz="2400" b="0" dirty="0"/>
              <a:t>    </a:t>
            </a:r>
            <a:r>
              <a:rPr lang="en-US" altLang="zh-CN" sz="2400" b="0" dirty="0" err="1"/>
              <a:t>printf</a:t>
            </a:r>
            <a:r>
              <a:rPr lang="en-US" altLang="zh-CN" sz="2400" b="0" dirty="0"/>
              <a:t>("%d", counter); </a:t>
            </a:r>
          </a:p>
          <a:p>
            <a:r>
              <a:rPr lang="zh-CN" altLang="en-US" sz="2400" b="0" dirty="0"/>
              <a:t>    </a:t>
            </a:r>
            <a:r>
              <a:rPr lang="en-US" altLang="zh-CN" sz="2400" b="0" dirty="0"/>
              <a:t>exit(0); </a:t>
            </a:r>
          </a:p>
          <a:p>
            <a:r>
              <a:rPr lang="en-US" altLang="zh-CN" sz="2400" b="0" dirty="0"/>
              <a:t>} </a:t>
            </a:r>
          </a:p>
        </p:txBody>
      </p:sp>
    </p:spTree>
    <p:extLst>
      <p:ext uri="{BB962C8B-B14F-4D97-AF65-F5344CB8AC3E}">
        <p14:creationId xmlns:p14="http://schemas.microsoft.com/office/powerpoint/2010/main" val="5095447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3" name="Rectangle 1030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charset="0"/>
              </a:defRPr>
            </a:lvl1pPr>
            <a:lvl2pPr marL="742950" indent="-28575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915FAF-6333-7C48-83DC-8CEC722B8D30}" type="slidenum">
              <a:rPr lang="zh-CN" altLang="en-US" sz="1400">
                <a:latin typeface="Times New Roman" charset="0"/>
                <a:ea typeface="宋体" charset="-122"/>
              </a:rPr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zh-CN" sz="1400">
              <a:latin typeface="Times New Roman" charset="0"/>
              <a:ea typeface="宋体" charset="-122"/>
            </a:endParaRPr>
          </a:p>
        </p:txBody>
      </p:sp>
      <p:sp>
        <p:nvSpPr>
          <p:cNvPr id="15155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3600"/>
            <a:ext cx="7772400" cy="1828800"/>
          </a:xfrm>
        </p:spPr>
        <p:txBody>
          <a:bodyPr/>
          <a:lstStyle/>
          <a:p>
            <a:r>
              <a:rPr lang="zh-CN" altLang="en-US" sz="3200">
                <a:ea typeface="宋体" charset="-122"/>
              </a:rPr>
              <a:t>进程间通信</a:t>
            </a:r>
            <a:br>
              <a:rPr lang="en-US" altLang="zh-CN" sz="3200">
                <a:ea typeface="宋体" charset="-122"/>
              </a:rPr>
            </a:br>
            <a:r>
              <a:rPr lang="en-US" altLang="zh-CN" sz="3200">
                <a:ea typeface="宋体" charset="-122"/>
              </a:rPr>
              <a:t>Inter Process Communication (IPC)</a:t>
            </a:r>
            <a:endParaRPr lang="en-US" altLang="zh-CN" sz="3200">
              <a:latin typeface="宋体" charset="-122"/>
              <a:ea typeface="宋体" charset="-122"/>
            </a:endParaRPr>
          </a:p>
        </p:txBody>
      </p:sp>
      <p:pic>
        <p:nvPicPr>
          <p:cNvPr id="151555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3997325"/>
            <a:ext cx="2819400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82169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1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进程间通信</a:t>
            </a:r>
          </a:p>
        </p:txBody>
      </p:sp>
      <p:sp>
        <p:nvSpPr>
          <p:cNvPr id="184322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进程间通信目的：</a:t>
            </a:r>
            <a:endParaRPr kumimoji="1" lang="en-US" altLang="zh-CN"/>
          </a:p>
          <a:p>
            <a:pPr lvl="1"/>
            <a:r>
              <a:rPr kumimoji="1" lang="zh-CN" altLang="en-US"/>
              <a:t>数据传输</a:t>
            </a:r>
            <a:endParaRPr kumimoji="1" lang="en-US" altLang="zh-CN"/>
          </a:p>
          <a:p>
            <a:pPr lvl="2"/>
            <a:r>
              <a:rPr kumimoji="1" lang="zh-CN" altLang="en-US"/>
              <a:t>一个进程需要将它的数据发送给另一个进程，发送的数据量在一个字节到几</a:t>
            </a:r>
            <a:r>
              <a:rPr kumimoji="1" lang="en-US" altLang="zh-CN"/>
              <a:t>M</a:t>
            </a:r>
            <a:r>
              <a:rPr kumimoji="1" lang="zh-CN" altLang="en-US"/>
              <a:t>字节之间</a:t>
            </a:r>
            <a:endParaRPr kumimoji="1" lang="en-US" altLang="zh-CN"/>
          </a:p>
          <a:p>
            <a:pPr lvl="1"/>
            <a:r>
              <a:rPr kumimoji="1" lang="zh-CN" altLang="en-US"/>
              <a:t>共享数据 </a:t>
            </a:r>
            <a:endParaRPr kumimoji="1" lang="en-US" altLang="zh-CN"/>
          </a:p>
          <a:p>
            <a:pPr lvl="2"/>
            <a:r>
              <a:rPr kumimoji="1" lang="zh-CN" altLang="en-US"/>
              <a:t>多个进程想要操作共享数据，一个进程对共享数据</a:t>
            </a:r>
            <a:endParaRPr kumimoji="1" lang="en-US" altLang="zh-CN"/>
          </a:p>
          <a:p>
            <a:pPr lvl="1"/>
            <a:r>
              <a:rPr kumimoji="1" lang="zh-CN" altLang="en-US"/>
              <a:t>通知事件 </a:t>
            </a:r>
            <a:endParaRPr kumimoji="1" lang="en-US" altLang="zh-CN"/>
          </a:p>
          <a:p>
            <a:pPr lvl="2"/>
            <a:r>
              <a:rPr kumimoji="1" lang="zh-CN" altLang="en-US"/>
              <a:t>一个进程需要向另一个或一组进程发送消息，通知它（它们）发生了某种事件（如进程终止时要通知父进程）。</a:t>
            </a:r>
            <a:endParaRPr kumimoji="1" lang="en-US" altLang="zh-CN"/>
          </a:p>
        </p:txBody>
      </p:sp>
      <p:sp>
        <p:nvSpPr>
          <p:cNvPr id="184323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9A4E3368-2998-A940-BD0B-60157446848F}" type="slidenum">
              <a:rPr lang="zh-CN" altLang="en-US" sz="1400" b="0">
                <a:latin typeface="Times New Roman" charset="0"/>
              </a:rPr>
              <a:pPr/>
              <a:t>60</a:t>
            </a:fld>
            <a:endParaRPr lang="en-US" altLang="zh-CN" sz="140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30462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34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进程间通信</a:t>
            </a:r>
          </a:p>
        </p:txBody>
      </p:sp>
      <p:sp>
        <p:nvSpPr>
          <p:cNvPr id="185346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/>
              <a:t>进程间通信（</a:t>
            </a:r>
            <a:r>
              <a:rPr kumimoji="1" lang="en-US" altLang="zh-CN"/>
              <a:t>IPC</a:t>
            </a:r>
            <a:r>
              <a:rPr kumimoji="1" lang="zh-CN" altLang="en-US"/>
              <a:t>）目的：</a:t>
            </a:r>
            <a:endParaRPr kumimoji="1" lang="en-US" altLang="zh-CN"/>
          </a:p>
          <a:p>
            <a:pPr lvl="1"/>
            <a:r>
              <a:rPr kumimoji="1" lang="zh-CN" altLang="en-US"/>
              <a:t>资源共享 </a:t>
            </a:r>
            <a:endParaRPr kumimoji="1" lang="en-US" altLang="zh-CN"/>
          </a:p>
          <a:p>
            <a:pPr lvl="2"/>
            <a:r>
              <a:rPr kumimoji="1" lang="zh-CN" altLang="en-US"/>
              <a:t>多个进程之间共享同样的资源。为了作到这一点，需要内核提供锁和同步机制。</a:t>
            </a:r>
            <a:endParaRPr kumimoji="1" lang="en-US" altLang="zh-CN"/>
          </a:p>
          <a:p>
            <a:pPr lvl="1"/>
            <a:r>
              <a:rPr kumimoji="1" lang="zh-CN" altLang="en-US"/>
              <a:t>进程控制 </a:t>
            </a:r>
            <a:endParaRPr kumimoji="1" lang="en-US" altLang="zh-CN"/>
          </a:p>
          <a:p>
            <a:pPr lvl="2"/>
            <a:r>
              <a:rPr kumimoji="1" lang="zh-CN" altLang="en-US"/>
              <a:t>有些进程希望完全控制另一个进程的执行（如</a:t>
            </a:r>
            <a:r>
              <a:rPr kumimoji="1" lang="en-US" altLang="zh-CN"/>
              <a:t>Debug</a:t>
            </a:r>
            <a:r>
              <a:rPr kumimoji="1" lang="zh-CN" altLang="en-US"/>
              <a:t>进程），此时控制进程希望能够拦截另一个进程的所有陷入和异常，并能够及时知道它的状态改变。</a:t>
            </a:r>
          </a:p>
        </p:txBody>
      </p:sp>
      <p:sp>
        <p:nvSpPr>
          <p:cNvPr id="185347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D96F40EB-2C71-294E-ADF9-D15A3CA05F4B}" type="slidenum">
              <a:rPr lang="zh-CN" altLang="en-US" sz="1400" b="0">
                <a:latin typeface="Times New Roman" charset="0"/>
              </a:rPr>
              <a:pPr/>
              <a:t>61</a:t>
            </a:fld>
            <a:endParaRPr lang="en-US" altLang="zh-CN" sz="140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1029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369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进程间通信</a:t>
            </a:r>
          </a:p>
        </p:txBody>
      </p:sp>
      <p:sp>
        <p:nvSpPr>
          <p:cNvPr id="186370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/>
              <a:t>Linux</a:t>
            </a:r>
            <a:r>
              <a:rPr kumimoji="1" lang="zh-CN" altLang="en-US"/>
              <a:t>进程间通信来源（</a:t>
            </a:r>
            <a:r>
              <a:rPr kumimoji="1" lang="en-US" altLang="zh-CN"/>
              <a:t>Unix</a:t>
            </a:r>
            <a:r>
              <a:rPr kumimoji="1" lang="zh-CN" altLang="en-US"/>
              <a:t>）</a:t>
            </a:r>
            <a:endParaRPr kumimoji="1" lang="en-US" altLang="zh-CN"/>
          </a:p>
          <a:p>
            <a:pPr lvl="1"/>
            <a:r>
              <a:rPr kumimoji="1" lang="en-US" altLang="zh-CN"/>
              <a:t>AT&amp;T</a:t>
            </a:r>
          </a:p>
          <a:p>
            <a:pPr lvl="2"/>
            <a:r>
              <a:rPr lang="zh-CN" altLang="en-US"/>
              <a:t>对</a:t>
            </a:r>
            <a:r>
              <a:rPr lang="en-US" altLang="zh-CN"/>
              <a:t>Unix</a:t>
            </a:r>
            <a:r>
              <a:rPr lang="zh-CN" altLang="en-US"/>
              <a:t>早期的进程间通信手段进行了系统的改进和扩充，形成了“</a:t>
            </a:r>
            <a:r>
              <a:rPr lang="en-US" altLang="zh-CN"/>
              <a:t>system V IPC”</a:t>
            </a:r>
            <a:r>
              <a:rPr lang="zh-CN" altLang="en-US"/>
              <a:t>，通信进程局限在单个计算机内</a:t>
            </a:r>
            <a:endParaRPr kumimoji="1" lang="en-US" altLang="zh-CN"/>
          </a:p>
          <a:p>
            <a:pPr lvl="1"/>
            <a:r>
              <a:rPr lang="en-US" altLang="zh-CN"/>
              <a:t>BSD</a:t>
            </a:r>
            <a:r>
              <a:rPr lang="zh-CN" altLang="en-US"/>
              <a:t>（加州大学伯克利分校的伯克利软件发布中心）</a:t>
            </a:r>
            <a:endParaRPr lang="en-US" altLang="zh-CN"/>
          </a:p>
          <a:p>
            <a:pPr lvl="2"/>
            <a:r>
              <a:rPr lang="zh-CN" altLang="en-US"/>
              <a:t>跳过了单机的限制，形成了基于套接口（</a:t>
            </a:r>
            <a:r>
              <a:rPr lang="en-US" altLang="zh-CN"/>
              <a:t>socket</a:t>
            </a:r>
            <a:r>
              <a:rPr lang="zh-CN" altLang="en-US"/>
              <a:t>）的进程间通信机制</a:t>
            </a:r>
            <a:endParaRPr kumimoji="1" lang="zh-CN" altLang="en-US"/>
          </a:p>
        </p:txBody>
      </p:sp>
      <p:sp>
        <p:nvSpPr>
          <p:cNvPr id="186371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8B0DB548-0573-F640-9B5F-AE1352BEA267}" type="slidenum">
              <a:rPr lang="zh-CN" altLang="en-US" sz="1400" b="0">
                <a:latin typeface="Times New Roman" charset="0"/>
              </a:rPr>
              <a:pPr/>
              <a:t>62</a:t>
            </a:fld>
            <a:endParaRPr lang="en-US" altLang="zh-CN" sz="140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26394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93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进程间通信</a:t>
            </a:r>
          </a:p>
        </p:txBody>
      </p:sp>
      <p:sp>
        <p:nvSpPr>
          <p:cNvPr id="187394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UNIX</a:t>
            </a:r>
            <a:r>
              <a:rPr lang="zh-CN" altLang="en-US"/>
              <a:t>进程间通信方式包括：</a:t>
            </a:r>
            <a:endParaRPr lang="en-US" altLang="zh-CN"/>
          </a:p>
          <a:p>
            <a:pPr lvl="1"/>
            <a:r>
              <a:rPr lang="zh-CN" altLang="en-US"/>
              <a:t>管道、</a:t>
            </a:r>
            <a:r>
              <a:rPr lang="en-US" altLang="zh-CN"/>
              <a:t>FIFO</a:t>
            </a:r>
            <a:r>
              <a:rPr lang="zh-CN" altLang="en-US"/>
              <a:t>、信号</a:t>
            </a:r>
            <a:endParaRPr lang="en-US" altLang="zh-CN"/>
          </a:p>
          <a:p>
            <a:r>
              <a:rPr lang="en-US" altLang="zh-CN"/>
              <a:t>System V</a:t>
            </a:r>
            <a:r>
              <a:rPr lang="zh-CN" altLang="en-US"/>
              <a:t>进程间通信方式包括：</a:t>
            </a:r>
            <a:endParaRPr lang="en-US" altLang="zh-CN"/>
          </a:p>
          <a:p>
            <a:pPr lvl="1"/>
            <a:r>
              <a:rPr lang="en-US" altLang="zh-CN"/>
              <a:t>System V</a:t>
            </a:r>
            <a:r>
              <a:rPr lang="zh-CN" altLang="en-US"/>
              <a:t>消息队列、</a:t>
            </a:r>
            <a:r>
              <a:rPr lang="en-US" altLang="zh-CN"/>
              <a:t>System V</a:t>
            </a:r>
            <a:r>
              <a:rPr lang="zh-CN" altLang="en-US"/>
              <a:t>信号灯、</a:t>
            </a:r>
            <a:r>
              <a:rPr lang="en-US" altLang="zh-CN"/>
              <a:t>System V</a:t>
            </a:r>
            <a:r>
              <a:rPr lang="zh-CN" altLang="en-US"/>
              <a:t>共享内存</a:t>
            </a:r>
            <a:endParaRPr lang="en-US" altLang="zh-CN"/>
          </a:p>
          <a:p>
            <a:r>
              <a:rPr lang="en-US" altLang="zh-CN"/>
              <a:t>POSIX</a:t>
            </a:r>
            <a:r>
              <a:rPr lang="zh-CN" altLang="en-US"/>
              <a:t>进程间通信包括：</a:t>
            </a:r>
            <a:endParaRPr lang="en-US" altLang="zh-CN"/>
          </a:p>
          <a:p>
            <a:pPr lvl="1"/>
            <a:r>
              <a:rPr lang="en-US" altLang="zh-CN"/>
              <a:t>posix</a:t>
            </a:r>
            <a:r>
              <a:rPr lang="zh-CN" altLang="en-US"/>
              <a:t>消息队列、</a:t>
            </a:r>
            <a:r>
              <a:rPr lang="en-US" altLang="zh-CN"/>
              <a:t>posix</a:t>
            </a:r>
            <a:r>
              <a:rPr lang="zh-CN" altLang="en-US"/>
              <a:t>信号灯、</a:t>
            </a:r>
            <a:r>
              <a:rPr lang="en-US" altLang="zh-CN"/>
              <a:t>posix</a:t>
            </a:r>
            <a:r>
              <a:rPr lang="zh-CN" altLang="en-US"/>
              <a:t>共享内存</a:t>
            </a:r>
            <a:endParaRPr kumimoji="1" lang="zh-CN" altLang="en-US"/>
          </a:p>
        </p:txBody>
      </p:sp>
      <p:sp>
        <p:nvSpPr>
          <p:cNvPr id="187395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25062EA1-A6EB-C340-82D9-2928F88D1FDD}" type="slidenum">
              <a:rPr lang="zh-CN" altLang="en-US" sz="1400" b="0">
                <a:latin typeface="Times New Roman" charset="0"/>
              </a:rPr>
              <a:pPr/>
              <a:t>63</a:t>
            </a:fld>
            <a:endParaRPr lang="en-US" altLang="zh-CN" sz="1400" b="0">
              <a:latin typeface="Times New Roman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66713" y="5110163"/>
            <a:ext cx="8153400" cy="13239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</a:rPr>
              <a:t>由于</a:t>
            </a:r>
            <a:r>
              <a:rPr lang="en-US" altLang="zh-CN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</a:rPr>
              <a:t>Unix</a:t>
            </a:r>
            <a:r>
              <a:rPr lang="zh-CN" altLang="en-US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</a:rPr>
              <a:t>版本的多样性，电子电气工程协会（</a:t>
            </a:r>
            <a:r>
              <a:rPr lang="en-US" altLang="zh-CN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</a:rPr>
              <a:t>IEEE</a:t>
            </a:r>
            <a:r>
              <a:rPr lang="zh-CN" altLang="en-US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</a:rPr>
              <a:t>）开发了一个独立的</a:t>
            </a:r>
            <a:r>
              <a:rPr lang="en-US" altLang="zh-CN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</a:rPr>
              <a:t>Unix</a:t>
            </a:r>
            <a:r>
              <a:rPr lang="zh-CN" altLang="en-US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</a:rPr>
              <a:t>标准，这个新的</a:t>
            </a:r>
            <a:r>
              <a:rPr lang="en-US" altLang="zh-CN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</a:rPr>
              <a:t>ANSI Unix</a:t>
            </a:r>
            <a:r>
              <a:rPr lang="zh-CN" altLang="en-US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</a:rPr>
              <a:t>标准被称为计算机环境的可移植性操作系统界面（</a:t>
            </a:r>
            <a:r>
              <a:rPr lang="en-US" altLang="zh-CN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</a:rPr>
              <a:t>PSOIX</a:t>
            </a:r>
            <a:r>
              <a:rPr lang="zh-CN" altLang="en-US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</a:rPr>
              <a:t>）。现有大部分</a:t>
            </a:r>
            <a:r>
              <a:rPr lang="en-US" altLang="zh-CN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</a:rPr>
              <a:t>Unix</a:t>
            </a:r>
            <a:r>
              <a:rPr lang="zh-CN" altLang="en-US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</a:rPr>
              <a:t>和流行版本都是遵循</a:t>
            </a:r>
            <a:r>
              <a:rPr lang="en-US" altLang="zh-CN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</a:rPr>
              <a:t>POSIX</a:t>
            </a:r>
            <a:r>
              <a:rPr lang="zh-CN" altLang="en-US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</a:rPr>
              <a:t>标准的，而</a:t>
            </a:r>
            <a:r>
              <a:rPr lang="en-US" altLang="zh-CN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</a:rPr>
              <a:t>Linux</a:t>
            </a:r>
            <a:r>
              <a:rPr lang="zh-CN" altLang="en-US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</a:rPr>
              <a:t>从一开始就遵循</a:t>
            </a:r>
            <a:r>
              <a:rPr lang="en-US" altLang="zh-CN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</a:rPr>
              <a:t>POSIX</a:t>
            </a:r>
            <a:r>
              <a:rPr lang="zh-CN" altLang="en-US" b="0" dirty="0">
                <a:solidFill>
                  <a:schemeClr val="tx1">
                    <a:lumMod val="50000"/>
                    <a:lumOff val="50000"/>
                  </a:schemeClr>
                </a:solidFill>
                <a:latin typeface="Microsoft YaHei" charset="-122"/>
              </a:rPr>
              <a:t>标准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91876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417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进程间通信</a:t>
            </a:r>
          </a:p>
        </p:txBody>
      </p:sp>
      <p:sp>
        <p:nvSpPr>
          <p:cNvPr id="188418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继承了这些通信方式，包括：</a:t>
            </a:r>
            <a:endParaRPr lang="en-US" altLang="zh-CN"/>
          </a:p>
          <a:p>
            <a:pPr lvl="1"/>
            <a:r>
              <a:rPr lang="en-US" altLang="zh-CN"/>
              <a:t>#1.</a:t>
            </a:r>
            <a:r>
              <a:rPr lang="zh-CN" altLang="en-US"/>
              <a:t> 管道（</a:t>
            </a:r>
            <a:r>
              <a:rPr lang="en-US" altLang="zh-CN"/>
              <a:t>pipe</a:t>
            </a:r>
            <a:r>
              <a:rPr lang="zh-CN" altLang="en-US"/>
              <a:t>）</a:t>
            </a:r>
            <a:endParaRPr lang="en-US" altLang="zh-CN"/>
          </a:p>
          <a:p>
            <a:pPr lvl="1"/>
            <a:r>
              <a:rPr lang="en-US" altLang="zh-CN"/>
              <a:t>#2.</a:t>
            </a:r>
            <a:r>
              <a:rPr lang="zh-CN" altLang="en-US"/>
              <a:t> 流管道</a:t>
            </a:r>
            <a:r>
              <a:rPr lang="en-US" altLang="zh-CN"/>
              <a:t>(s_pipe)</a:t>
            </a:r>
          </a:p>
          <a:p>
            <a:pPr lvl="1"/>
            <a:r>
              <a:rPr lang="en-US" altLang="zh-CN"/>
              <a:t>#3.</a:t>
            </a:r>
            <a:r>
              <a:rPr lang="zh-CN" altLang="en-US"/>
              <a:t> 有名管道（</a:t>
            </a:r>
            <a:r>
              <a:rPr lang="en-US" altLang="zh-CN"/>
              <a:t>FIFO</a:t>
            </a:r>
            <a:r>
              <a:rPr lang="zh-CN" altLang="en-US"/>
              <a:t>）</a:t>
            </a:r>
          </a:p>
          <a:p>
            <a:pPr lvl="1"/>
            <a:r>
              <a:rPr lang="en-US" altLang="zh-CN"/>
              <a:t>#4.</a:t>
            </a:r>
            <a:r>
              <a:rPr lang="zh-CN" altLang="en-US"/>
              <a:t> 信号（</a:t>
            </a:r>
            <a:r>
              <a:rPr lang="en-US" altLang="zh-CN"/>
              <a:t>signal</a:t>
            </a:r>
            <a:r>
              <a:rPr lang="zh-CN" altLang="en-US"/>
              <a:t>）</a:t>
            </a:r>
          </a:p>
          <a:p>
            <a:pPr lvl="1"/>
            <a:r>
              <a:rPr lang="en-US" altLang="zh-CN"/>
              <a:t>#5.</a:t>
            </a:r>
            <a:r>
              <a:rPr lang="zh-CN" altLang="en-US"/>
              <a:t> 消息队列</a:t>
            </a:r>
          </a:p>
          <a:p>
            <a:pPr lvl="1"/>
            <a:r>
              <a:rPr lang="en-US" altLang="zh-CN"/>
              <a:t>#6.</a:t>
            </a:r>
            <a:r>
              <a:rPr lang="zh-CN" altLang="en-US"/>
              <a:t> 共享内存</a:t>
            </a:r>
          </a:p>
          <a:p>
            <a:pPr lvl="1"/>
            <a:r>
              <a:rPr lang="en-US" altLang="zh-CN"/>
              <a:t>#7.</a:t>
            </a:r>
            <a:r>
              <a:rPr lang="zh-CN" altLang="en-US"/>
              <a:t> 信号量</a:t>
            </a:r>
          </a:p>
          <a:p>
            <a:pPr lvl="1"/>
            <a:r>
              <a:rPr lang="en-US" altLang="zh-CN"/>
              <a:t>#8.</a:t>
            </a:r>
            <a:r>
              <a:rPr lang="zh-CN" altLang="en-US"/>
              <a:t> 套接字（</a:t>
            </a:r>
            <a:r>
              <a:rPr lang="en-US" altLang="zh-CN"/>
              <a:t>socket)</a:t>
            </a:r>
          </a:p>
          <a:p>
            <a:endParaRPr kumimoji="1" lang="zh-CN" altLang="en-US"/>
          </a:p>
        </p:txBody>
      </p:sp>
      <p:sp>
        <p:nvSpPr>
          <p:cNvPr id="188419" name="幻灯片编号占位符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1pPr>
            <a:lvl2pPr marL="742950" indent="-28575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2pPr>
            <a:lvl3pPr marL="11430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3pPr>
            <a:lvl4pPr marL="16002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4pPr>
            <a:lvl5pPr marL="2057400" indent="-228600"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b="1">
                <a:solidFill>
                  <a:schemeClr val="tx1"/>
                </a:solidFill>
                <a:latin typeface="Comic Sans MS" charset="0"/>
                <a:ea typeface="宋体" charset="-122"/>
              </a:defRPr>
            </a:lvl9pPr>
          </a:lstStyle>
          <a:p>
            <a:fld id="{4CC12CF9-951C-0444-9530-81D8B480E29E}" type="slidenum">
              <a:rPr lang="zh-CN" altLang="en-US" sz="1400" b="0">
                <a:latin typeface="Times New Roman" charset="0"/>
              </a:rPr>
              <a:pPr/>
              <a:t>64</a:t>
            </a:fld>
            <a:endParaRPr lang="en-US" altLang="zh-CN" sz="1400" b="0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7488"/>
      </p:ext>
    </p:extLst>
  </p:cSld>
  <p:clrMapOvr>
    <a:masterClrMapping/>
  </p:clrMapOvr>
</p:sld>
</file>

<file path=ppt/theme/theme1.xml><?xml version="1.0" encoding="utf-8"?>
<a:theme xmlns:a="http://schemas.openxmlformats.org/drawingml/2006/main" name="icfp99">
  <a:themeElements>
    <a:clrScheme name="icfp99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FF"/>
      </a:hlink>
      <a:folHlink>
        <a:srgbClr val="B2B2B2"/>
      </a:folHlink>
    </a:clrScheme>
    <a:fontScheme name="icfp99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宋体" pitchFamily="2" charset="-122"/>
          </a:defRPr>
        </a:defPPr>
      </a:lstStyle>
    </a:lnDef>
  </a:objectDefaults>
  <a:extraClrSchemeLst>
    <a:extraClrScheme>
      <a:clrScheme name="icfp99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cfp99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cfp99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Ocean</Template>
  <TotalTime>3538</TotalTime>
  <Words>4718</Words>
  <Application>Microsoft Macintosh PowerPoint</Application>
  <PresentationFormat>全屏显示(4:3)</PresentationFormat>
  <Paragraphs>851</Paragraphs>
  <Slides>64</Slides>
  <Notes>51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74" baseType="lpstr">
      <vt:lpstr>宋体</vt:lpstr>
      <vt:lpstr>Microsoft YaHei</vt:lpstr>
      <vt:lpstr>Arial</vt:lpstr>
      <vt:lpstr>Calibri</vt:lpstr>
      <vt:lpstr>Comic Sans MS</vt:lpstr>
      <vt:lpstr>Courier</vt:lpstr>
      <vt:lpstr>Courier New</vt:lpstr>
      <vt:lpstr>Helvetica</vt:lpstr>
      <vt:lpstr>Times New Roman</vt:lpstr>
      <vt:lpstr>icfp99</vt:lpstr>
      <vt:lpstr>Exceptional Control Flow III (Signal)</vt:lpstr>
      <vt:lpstr>Outline</vt:lpstr>
      <vt:lpstr>Signals</vt:lpstr>
      <vt:lpstr>The kill Program</vt:lpstr>
      <vt:lpstr>Signals Type</vt:lpstr>
      <vt:lpstr>Hardware Events</vt:lpstr>
      <vt:lpstr>Software Events</vt:lpstr>
      <vt:lpstr>Linux Signals</vt:lpstr>
      <vt:lpstr>Linux Signals</vt:lpstr>
      <vt:lpstr>Linux Signals</vt:lpstr>
      <vt:lpstr>Linux Signals</vt:lpstr>
      <vt:lpstr>Signal Terminology</vt:lpstr>
      <vt:lpstr>Sending a signal</vt:lpstr>
      <vt:lpstr>Sending a signal</vt:lpstr>
      <vt:lpstr>Receiving a signal</vt:lpstr>
      <vt:lpstr>Receiving a signal</vt:lpstr>
      <vt:lpstr>Pending Signal</vt:lpstr>
      <vt:lpstr>Blocking a Signal</vt:lpstr>
      <vt:lpstr>Internal Data Structures</vt:lpstr>
      <vt:lpstr>Process Groups</vt:lpstr>
      <vt:lpstr>Process Groups</vt:lpstr>
      <vt:lpstr>setgpid Function</vt:lpstr>
      <vt:lpstr>The kill Program</vt:lpstr>
      <vt:lpstr>The kill Program</vt:lpstr>
      <vt:lpstr>Sending Signals from the Keyboard</vt:lpstr>
      <vt:lpstr>Sending Signals from the Keyboard</vt:lpstr>
      <vt:lpstr>Sending Signals from the Keyboard</vt:lpstr>
      <vt:lpstr>Sending Signals from the Keyboard</vt:lpstr>
      <vt:lpstr>Sending Signals from the Keyboard</vt:lpstr>
      <vt:lpstr>Example of ctrl-c and ctrl-z</vt:lpstr>
      <vt:lpstr>Sending Signals with kill Function</vt:lpstr>
      <vt:lpstr>PowerPoint 演示文稿</vt:lpstr>
      <vt:lpstr>Receiving a Signal</vt:lpstr>
      <vt:lpstr>Receiving a Signal</vt:lpstr>
      <vt:lpstr>Receiving a Signal</vt:lpstr>
      <vt:lpstr>Nested Signal Handlers </vt:lpstr>
      <vt:lpstr>Receiving a Signal</vt:lpstr>
      <vt:lpstr>Receiving a Signal</vt:lpstr>
      <vt:lpstr>Receiving a Signal</vt:lpstr>
      <vt:lpstr>Signal Function</vt:lpstr>
      <vt:lpstr>Signal Function</vt:lpstr>
      <vt:lpstr>PowerPoint 演示文稿</vt:lpstr>
      <vt:lpstr>Signal Function</vt:lpstr>
      <vt:lpstr>Signal Function</vt:lpstr>
      <vt:lpstr>Sending Signals With the alarm Function</vt:lpstr>
      <vt:lpstr>PowerPoint 演示文稿</vt:lpstr>
      <vt:lpstr>PowerPoint 演示文稿</vt:lpstr>
      <vt:lpstr>课堂练习</vt:lpstr>
      <vt:lpstr>练习</vt:lpstr>
      <vt:lpstr>Signal Handling Issues</vt:lpstr>
      <vt:lpstr>Signal Handling Issues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Signal Function</vt:lpstr>
      <vt:lpstr>课堂练习</vt:lpstr>
      <vt:lpstr>进程间通信 Inter Process Communication (IPC)</vt:lpstr>
      <vt:lpstr>进程间通信</vt:lpstr>
      <vt:lpstr>进程间通信</vt:lpstr>
      <vt:lpstr>进程间通信</vt:lpstr>
      <vt:lpstr>进程间通信</vt:lpstr>
      <vt:lpstr>进程间通信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Exceptional Control Flow Ⅳ</dc:title>
  <dc:creator>Microsoft Office User</dc:creator>
  <cp:lastModifiedBy>7025</cp:lastModifiedBy>
  <cp:revision>269</cp:revision>
  <dcterms:created xsi:type="dcterms:W3CDTF">2016-03-30T14:29:38Z</dcterms:created>
  <dcterms:modified xsi:type="dcterms:W3CDTF">2021-11-06T05:00:39Z</dcterms:modified>
</cp:coreProperties>
</file>