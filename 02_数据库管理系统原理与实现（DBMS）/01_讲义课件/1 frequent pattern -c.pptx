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570" r:id="rId2"/>
    <p:sldId id="597" r:id="rId3"/>
    <p:sldId id="598" r:id="rId4"/>
    <p:sldId id="599" r:id="rId5"/>
    <p:sldId id="608" r:id="rId6"/>
    <p:sldId id="581" r:id="rId7"/>
    <p:sldId id="582" r:id="rId8"/>
    <p:sldId id="585" r:id="rId9"/>
    <p:sldId id="586" r:id="rId10"/>
    <p:sldId id="589" r:id="rId11"/>
    <p:sldId id="628" r:id="rId12"/>
    <p:sldId id="629" r:id="rId13"/>
    <p:sldId id="632" r:id="rId14"/>
    <p:sldId id="631" r:id="rId15"/>
    <p:sldId id="627" r:id="rId16"/>
    <p:sldId id="587" r:id="rId17"/>
    <p:sldId id="588" r:id="rId18"/>
    <p:sldId id="591" r:id="rId19"/>
    <p:sldId id="606" r:id="rId20"/>
    <p:sldId id="607" r:id="rId21"/>
    <p:sldId id="600" r:id="rId22"/>
    <p:sldId id="601" r:id="rId23"/>
    <p:sldId id="603" r:id="rId24"/>
    <p:sldId id="604" r:id="rId25"/>
    <p:sldId id="605" r:id="rId26"/>
    <p:sldId id="609" r:id="rId27"/>
    <p:sldId id="623" r:id="rId28"/>
    <p:sldId id="624" r:id="rId29"/>
    <p:sldId id="625" r:id="rId30"/>
    <p:sldId id="610" r:id="rId31"/>
    <p:sldId id="611" r:id="rId32"/>
    <p:sldId id="612" r:id="rId33"/>
    <p:sldId id="613" r:id="rId34"/>
    <p:sldId id="614" r:id="rId35"/>
    <p:sldId id="615" r:id="rId36"/>
    <p:sldId id="616" r:id="rId37"/>
    <p:sldId id="617" r:id="rId38"/>
    <p:sldId id="618" r:id="rId39"/>
    <p:sldId id="619" r:id="rId40"/>
    <p:sldId id="622" r:id="rId41"/>
    <p:sldId id="626" r:id="rId42"/>
    <p:sldId id="648" r:id="rId43"/>
    <p:sldId id="638" r:id="rId44"/>
    <p:sldId id="639" r:id="rId45"/>
    <p:sldId id="640" r:id="rId46"/>
    <p:sldId id="641" r:id="rId47"/>
    <p:sldId id="642" r:id="rId48"/>
    <p:sldId id="643" r:id="rId49"/>
    <p:sldId id="644" r:id="rId50"/>
    <p:sldId id="645" r:id="rId51"/>
    <p:sldId id="646" r:id="rId52"/>
    <p:sldId id="647" r:id="rId53"/>
    <p:sldId id="649" r:id="rId54"/>
    <p:sldId id="566" r:id="rId55"/>
    <p:sldId id="567" r:id="rId56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EA"/>
    <a:srgbClr val="FAE2F6"/>
    <a:srgbClr val="170981"/>
    <a:srgbClr val="121328"/>
    <a:srgbClr val="000099"/>
    <a:srgbClr val="FEFFDC"/>
    <a:srgbClr val="BFF3D7"/>
    <a:srgbClr val="9BE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14" autoAdjust="0"/>
  </p:normalViewPr>
  <p:slideViewPr>
    <p:cSldViewPr>
      <p:cViewPr varScale="1">
        <p:scale>
          <a:sx n="56" d="100"/>
          <a:sy n="56" d="100"/>
        </p:scale>
        <p:origin x="1578" y="39"/>
      </p:cViewPr>
      <p:guideLst>
        <p:guide orient="horz" pos="2160"/>
        <p:guide pos="302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99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7.xml"/><Relationship Id="rId2" Type="http://schemas.openxmlformats.org/officeDocument/2006/relationships/slide" Target="slides/slide5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003428-20B1-4874-8FC5-8C693D33E0A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45.86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0,'24'0,"-24"0,0 0,0 0,0 24,0 1,0-25,0 0,0 25,0 0,0-1,0 1,0 0,0-25,0 24,0 1,0-25,0 0,0 0,0 25,0-25,24 0,0 0,-24 0,0 0,25 0,-1 0,-24-25,0 25,24-25,0 1,-24-1,24 25,0-25,-24 1,0 24,0 0,0-25,0 25,0-25,0 0,0 25</inkml:trace>
  <inkml:trace contextRef="#ctx0" brushRef="#br0" timeOffset="1532">169 346,'0'0,"0"24,0 1,0-25,0 25,0-25,0 0,0 25,0-1,0-24,0 0,0 0,0 0,0 25,0-25,0 0,0 0,0 0,0 25,0-25,24 0,0 0,-24 0,24 0,0 0,-24-25,0 25,24 0,-24-25,0 25,24 0,-24-24,0 24,24 0,-24-25,0 25,0-25,0 25,0-25,-24 25,0 0,0 0,24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49.63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0,'25'0,"-25"0,0 0,0 0,0 25,0-1,0 1,25-25,-25 0,0 50,0-50,0 25,24 25,-24-50,0 49,25 1,0-50,-1 50,-24 0,25-50,-25 49,0-24,25-25,-1 25,-24 0,0 0,0-25,25 0,0-25,-25 25,0-25,0 0,24 0,1 25,-25-49,24-1,26 25,-50 0,0-25,24 26,1-1,-25 0,0 0,0 0,0 25,0-25</inkml:trace>
  <inkml:trace contextRef="#ctx0" brushRef="#br0" timeOffset="1181">493 522,'0'0,"0"25,0 0,0-25,0 25,0 24,0-49,0 25,0 0,0-25,0 25,0 0,0 0,0-25,0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52.32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99,'0'25,"0"-25,0 0,0 0,0 25,0 0,25-25,-1 50,-24-25,0-1,25 1,0 0,-25 0,0 0,25 0,-25 0,0-1,0 1,0-25,0 0,24 0,1 0,-25-25,0 1,25-1,-1 0,1-50,25 50,-1-24,-24 24,-25-25,24 50,-24-50,0 50,0-25,0 1,0 24,0-25,0 25,0-25</inkml:trace>
  <inkml:trace contextRef="#ctx0" brushRef="#br0" timeOffset="1281">470 497,'0'0,"24"0,1 0,-25 0,0 0,25 0,-25 0,0 0,24 0,-24 0,0 25,0-25,0 0,0 25,0 0,0-25,0 0,0 25,0 0,0-25,-24 0,24 0,0 24,-25-24,25 0,-25 0,25 0,0 25,-24-25,24 0,0 25,0 0,0-25,0 25,0 0,0-25,24 0,-24 0,0 0,25 0,0 0,-25 0,24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55.61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0 125,'0'0,"0"0,0 0,0 0,0 25,24 0,1-25,-25 24,0 26,25-50,0 50,0 0,-25-26,24 1,1 0,0 0,-25 0,0 0,25-25,0 25,-25-1,0-24,24 0,-24-24,0 24,25-25,0 0,-25 0,25 0,0 0,-25 0,0 1,24-26,1 25,0-25,0 1,-25 24,0 0,0 0,25 0,-1 0,-24 0,0 25,0-25</inkml:trace>
  <inkml:trace contextRef="#ctx0" brushRef="#br0" timeOffset="1262">545 473,'25'0,"-25"0,25 0,0 0,-25 0,0 0,0 0,24 0,1 0,-25 0,0 0,0 0,0 0,0 0,0 25,0 0,0-25,-25 0,25 0,-24 0,24 0,-25 0,25 0,-25 0,25 0,-25 0,25 0,0 24,-25-24,25 0,0 25,0 0,0-25,0 0,0 0,0 0,0 0,0 0,0 0,0 0,0 0,0 0,0 0,0 0,0 0,0 0,0 0,0 0,0 0,0 25,0-25,0 0,0 0,0 0,0 25,0 0,0-25,0 0,0 25,0 0,0-25,0 0,0 24,0 1,0-25,0 25,0 0,0-25,0 25,-24-25,-1 0,25 0,-25 0,0 0,25 0,-25 0</inkml:trace>
  <inkml:trace contextRef="#ctx0" brushRef="#br0" timeOffset="3475">471 373,'25'0,"-1"0,-24 0,0 0,0 0,25 0,-25 0,0 0,25 0,0 0,-25 0,0 0,25 0,-25 0,0 0,24 0,-24 0,0 25,0 0,0-25,0 0,0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861ADE-F8C7-4836-BB75-C47C16656CD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236FB2-9521-4F0B-9A1F-8605A37046AE}" type="slidenum">
              <a:rPr lang="zh-CN" altLang="en-US" sz="1200"/>
              <a:pPr/>
              <a:t>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B0BB27-5370-4667-945F-130B621FEA82}" type="slidenum">
              <a:rPr lang="zh-CN" altLang="en-US" sz="1200"/>
              <a:pPr/>
              <a:t>30</a:t>
            </a:fld>
            <a:endParaRPr lang="en-US" altLang="zh-CN" sz="1200"/>
          </a:p>
        </p:txBody>
      </p:sp>
      <p:sp>
        <p:nvSpPr>
          <p:cNvPr id="481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Apriori: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 Step1: Join two k-1 edge graphs (these two graphs share a same k-2 edge subgraph) to generate a k-edge graph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 Step2:  Join the tid-list of these two k-1 edge graphs, then see whether its count is larger than the minimum support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 Step3:  Check all k-1 subgraph of this k-edge graph to see whether all of them are frequent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 Step4:  After G successfully pass Step1-3, do support computation of G in the graph dataset, See whether it is really frequent.</a:t>
            </a:r>
          </a:p>
          <a:p>
            <a:pPr eaLnBrk="1" hangingPunct="1">
              <a:lnSpc>
                <a:spcPct val="90000"/>
              </a:lnSpc>
            </a:pPr>
            <a:endParaRPr lang="en-US" altLang="zh-CN" sz="10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gSpan: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 Step1: Right-most extend a k-1 edge graph to several k edge 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 Step2: Enumerate the occurrence of this k-1 edge graph in the graph dataset, meanwhile, counting these k edge 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 Step3: Output those k edge graphs whose support is larger than the minimum support.</a:t>
            </a:r>
          </a:p>
          <a:p>
            <a:pPr eaLnBrk="1" hangingPunct="1">
              <a:lnSpc>
                <a:spcPct val="90000"/>
              </a:lnSpc>
            </a:pPr>
            <a:endParaRPr lang="en-US" altLang="zh-CN" sz="10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Pros: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1: gSpan avoid the costly candidate generation and testing some infrequent subgraphs.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2: No complicated graph operations, like joining two graphs and calculating its k-1 subgraphs.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   3. gSpan is very simple</a:t>
            </a:r>
          </a:p>
          <a:p>
            <a:pPr eaLnBrk="1" hangingPunct="1">
              <a:lnSpc>
                <a:spcPct val="90000"/>
              </a:lnSpc>
            </a:pPr>
            <a:endParaRPr lang="en-US" altLang="zh-CN" sz="10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1000" smtClean="0"/>
              <a:t>The key is how to do right most extension efficiently in graph. We invented DFS code for graph.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30BBC1-6128-47CD-A0FA-47AA7CFE91E0}" type="slidenum">
              <a:rPr lang="zh-CN" altLang="en-US" sz="1200"/>
              <a:pPr/>
              <a:t>32</a:t>
            </a:fld>
            <a:endParaRPr lang="en-US" altLang="zh-CN" sz="1200"/>
          </a:p>
        </p:txBody>
      </p:sp>
      <p:sp>
        <p:nvSpPr>
          <p:cNvPr id="491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mtClean="0"/>
              <a:t>1: Given a graph in (a), suppose, the DFS traverse the graph in the order 0, 1, 2, 3, 4</a:t>
            </a:r>
          </a:p>
          <a:p>
            <a:pPr eaLnBrk="1" hangingPunct="1"/>
            <a:r>
              <a:rPr lang="en-US" altLang="zh-CN" smtClean="0"/>
              <a:t>2: The vertices 0, 1, 2 and 4 constitute the right-most path, and vertex 4 is called the right-most vertex (the last discovered vertex) </a:t>
            </a:r>
          </a:p>
          <a:p>
            <a:pPr eaLnBrk="1" hangingPunct="1"/>
            <a:r>
              <a:rPr lang="en-US" altLang="zh-CN" smtClean="0"/>
              <a:t>3: Any extension must take place on the right-most path: first, the backward edge can only extend from the right most vertex;</a:t>
            </a:r>
          </a:p>
          <a:p>
            <a:pPr eaLnBrk="1" hangingPunct="1"/>
            <a:r>
              <a:rPr lang="en-US" altLang="zh-CN" smtClean="0"/>
              <a:t>   Second, the forward edge can extend from any vertices on the right-most path.</a:t>
            </a:r>
          </a:p>
          <a:p>
            <a:pPr eaLnBrk="1" hangingPunct="1"/>
            <a:r>
              <a:rPr lang="en-US" altLang="zh-CN" smtClean="0"/>
              <a:t>4: The extension of a graph is equal to the extension of its DFS code by appending a new edge in the end.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6F0A7E-0588-4B5A-B832-9412304CF127}" type="slidenum">
              <a:rPr lang="zh-CN" altLang="en-US" sz="1200"/>
              <a:pPr/>
              <a:t>33</a:t>
            </a:fld>
            <a:endParaRPr lang="en-US" altLang="zh-CN" sz="1200"/>
          </a:p>
        </p:txBody>
      </p:sp>
      <p:sp>
        <p:nvSpPr>
          <p:cNvPr id="501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mtClean="0"/>
              <a:t>1: Given a graph in (a), suppose, the DFS traverse the graph in the order 0, 1, 2, 3, 4</a:t>
            </a:r>
          </a:p>
          <a:p>
            <a:pPr eaLnBrk="1" hangingPunct="1"/>
            <a:r>
              <a:rPr lang="en-US" altLang="zh-CN" smtClean="0"/>
              <a:t>2: The vertices 0, 1, 2 and 4 constitute the right-most path, and vertex 4 is called the right-most vertex (the last discovered vertex) </a:t>
            </a:r>
          </a:p>
          <a:p>
            <a:pPr eaLnBrk="1" hangingPunct="1"/>
            <a:r>
              <a:rPr lang="en-US" altLang="zh-CN" smtClean="0"/>
              <a:t>3: Any extension must take place on the right-most path: first, the backward edge can only extend from the right most vertex;</a:t>
            </a:r>
          </a:p>
          <a:p>
            <a:pPr eaLnBrk="1" hangingPunct="1"/>
            <a:r>
              <a:rPr lang="en-US" altLang="zh-CN" smtClean="0"/>
              <a:t>   Second, the forward edge can extend from any vertices on the right-most path.</a:t>
            </a:r>
          </a:p>
          <a:p>
            <a:pPr eaLnBrk="1" hangingPunct="1"/>
            <a:r>
              <a:rPr lang="en-US" altLang="zh-CN" smtClean="0"/>
              <a:t>4: The extension of a graph is equal to the extension of its DFS code by appending a new edge in the end.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97547B-872D-4988-8E85-07B524FDDF24}" type="slidenum">
              <a:rPr lang="zh-CN" altLang="en-US" sz="1200"/>
              <a:pPr/>
              <a:t>36</a:t>
            </a:fld>
            <a:endParaRPr lang="en-US" altLang="zh-CN" sz="1200"/>
          </a:p>
        </p:txBody>
      </p:sp>
      <p:sp>
        <p:nvSpPr>
          <p:cNvPr id="512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2ECB1E-5AD5-4FED-84ED-F4136E79665C}" type="slidenum">
              <a:rPr lang="zh-CN" altLang="en-US" sz="1200"/>
              <a:pPr/>
              <a:t>37</a:t>
            </a:fld>
            <a:endParaRPr lang="en-US" altLang="zh-CN" sz="1200"/>
          </a:p>
        </p:txBody>
      </p:sp>
      <p:sp>
        <p:nvSpPr>
          <p:cNvPr id="522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mtClean="0"/>
              <a:t>1: Show how to construct a DFS code, which is related with right most extension</a:t>
            </a:r>
          </a:p>
          <a:p>
            <a:pPr eaLnBrk="1" hangingPunct="1"/>
            <a:r>
              <a:rPr lang="en-US" altLang="zh-CN" smtClean="0"/>
              <a:t>2: One graph has lots of DFS code, among them, there is a minimum DFS code. We invent a DFS lexicographic ordering system.</a:t>
            </a:r>
          </a:p>
          <a:p>
            <a:pPr eaLnBrk="1" hangingPunct="1"/>
            <a:r>
              <a:rPr lang="en-US" altLang="zh-CN" smtClean="0"/>
              <a:t>    Among this ordering, we take minimum DFS code as canonical label.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</a:t>
            </a:r>
            <a:r>
              <a:rPr lang="en-US" altLang="zh-CN" dirty="0"/>
              <a:t>_</a:t>
            </a:r>
            <a:r>
              <a:rPr lang="zh-CN" altLang="en-US" dirty="0"/>
              <a:t>”的含义：前缀占用了序列数据中一个项集的字母，后缀仍可匹配该项集中的后续字母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AEFC1-92BF-4505-8821-EFC85FEB9337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854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AEFC1-92BF-4505-8821-EFC85FEB9337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1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AEFC1-92BF-4505-8821-EFC85FEB9337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04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55AE4-4E7C-45BD-8DBC-799C1026B3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976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6A111-235A-45A9-AEEC-99AF9E46CBC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01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FC94F4-9956-4D0E-9EA4-18FAC08987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064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11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1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528CF4-6B47-47EC-902A-BCFD50575EB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90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04252C-7F63-4CD3-8030-C66D8C35A2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308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BD3FD5-20CC-46E5-9A61-59DEC46D68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911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7B467C-039A-4107-8AF7-C502611CC6A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66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BB6D4D-96C3-4798-897E-83DD964716B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665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282238-CEFD-4016-8D38-3249C1231E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72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4D6672-0FFD-40FD-8319-0D524C3A20F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384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35C265-3C57-4F7A-A5DD-DAD152816F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414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382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7E4E2AD-0CF2-4C6E-B06E-67BB41F047D6}" type="slidenum">
              <a:rPr lang="zh-CN" altLang="en-US"/>
              <a:pPr/>
              <a:t>‹#›</a:t>
            </a:fld>
            <a:endParaRPr lang="en-US" altLang="zh-CN"/>
          </a:p>
        </p:txBody>
      </p:sp>
      <p:grpSp>
        <p:nvGrpSpPr>
          <p:cNvPr id="3079" name="Group 7"/>
          <p:cNvGrpSpPr>
            <a:grpSpLocks/>
          </p:cNvGrpSpPr>
          <p:nvPr/>
        </p:nvGrpSpPr>
        <p:grpSpPr bwMode="auto">
          <a:xfrm>
            <a:off x="0" y="1276350"/>
            <a:ext cx="9132888" cy="152400"/>
            <a:chOff x="0" y="804"/>
            <a:chExt cx="5753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0" y="804"/>
              <a:ext cx="5753" cy="47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4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49804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0" y="876"/>
              <a:ext cx="5753" cy="24"/>
            </a:xfrm>
            <a:prstGeom prst="rect">
              <a:avLst/>
            </a:prstGeom>
            <a:gradFill rotWithShape="0">
              <a:gsLst>
                <a:gs pos="0">
                  <a:srgbClr val="D989B8">
                    <a:gamma/>
                    <a:shade val="69804"/>
                    <a:invGamma/>
                  </a:srgbClr>
                </a:gs>
                <a:gs pos="50000">
                  <a:srgbClr val="D989B8"/>
                </a:gs>
                <a:gs pos="100000">
                  <a:srgbClr val="D989B8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8753475" y="6553200"/>
            <a:ext cx="390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fld id="{0065C004-79F7-484B-BB2A-BEA1B73F2F91}" type="slidenum">
              <a:rPr lang="zh-CN" altLang="en-US" sz="1400">
                <a:ea typeface="宋体" panose="02010600030101010101" pitchFamily="2" charset="-122"/>
              </a:rPr>
              <a:pPr algn="l"/>
              <a:t>‹#›</a:t>
            </a:fld>
            <a:endParaRPr lang="en-US" altLang="zh-CN" sz="140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Font typeface="Monotype Sorts" pitchFamily="2" charset="2"/>
        <a:buChar char="v"/>
        <a:defRPr sz="2800" b="1">
          <a:solidFill>
            <a:srgbClr val="17098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90000"/>
        <a:buFont typeface="Monotype Sorts" pitchFamily="2" charset="2"/>
        <a:buChar char="u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90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customXml" Target="../ink/ink2.xml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customXml" Target="../ink/ink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ftp://ftp.fas.sfu.ca/pub/cs/han/pdf/span01.pdf" TargetMode="External"/><Relationship Id="rId3" Type="http://schemas.openxmlformats.org/officeDocument/2006/relationships/hyperlink" Target="http://www.almaden.ibm.com/cs/people/ragrawal/papers/edbt96.ps" TargetMode="External"/><Relationship Id="rId7" Type="http://schemas.openxmlformats.org/officeDocument/2006/relationships/hyperlink" Target="ftp://ftp.fas.sfu.ca/pub/cs/han/pdf/sigkdd00.pdf" TargetMode="External"/><Relationship Id="rId2" Type="http://schemas.openxmlformats.org/officeDocument/2006/relationships/hyperlink" Target="http://www.almaden.ibm.com/cs/people/ragrawal/papers/vldb94.p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tp://ftp.fas.sfu.ca/pub/cs/han/pdf/sigmod00.pdf" TargetMode="External"/><Relationship Id="rId5" Type="http://schemas.openxmlformats.org/officeDocument/2006/relationships/hyperlink" Target="ftp://ftp.fas.sfu.ca/pub/cs/han/pdf/sigmod01.pdf" TargetMode="External"/><Relationship Id="rId4" Type="http://schemas.openxmlformats.org/officeDocument/2006/relationships/hyperlink" Target="http://www.cs.wisc.edu/~beyer/papers/cube.ps.gz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rpi.edu/~zaki/papers.html#CIKM98" TargetMode="External"/><Relationship Id="rId2" Type="http://schemas.openxmlformats.org/officeDocument/2006/relationships/hyperlink" Target="http://dev.acm.org/pubs/citations/proceedings/mod/342009/p22-sheno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rpi.edu/~zaki/papers.html#MLJ01" TargetMode="External"/><Relationship Id="rId4" Type="http://schemas.openxmlformats.org/officeDocument/2006/relationships/hyperlink" Target="http://www.cs.rpi.edu/~zaki/papers.html#TKDE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572000"/>
          </a:xfrm>
        </p:spPr>
        <p:txBody>
          <a:bodyPr/>
          <a:lstStyle/>
          <a:p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关联规则</a:t>
            </a:r>
          </a:p>
          <a:p>
            <a:pPr lvl="1"/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Write-based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</a:p>
          <a:p>
            <a:pPr lvl="2"/>
            <a:r>
              <a:rPr lang="en-US" altLang="zh-CN" smtClean="0">
                <a:solidFill>
                  <a:schemeClr val="folHlink"/>
                </a:solidFill>
                <a:ea typeface="宋体" panose="02010600030101010101" pitchFamily="2" charset="-122"/>
              </a:rPr>
              <a:t>VIPER</a:t>
            </a:r>
          </a:p>
          <a:p>
            <a:pPr lvl="3"/>
            <a:r>
              <a:rPr lang="en-US" altLang="zh-CN" smtClean="0">
                <a:ea typeface="宋体" panose="02010600030101010101" pitchFamily="2" charset="-122"/>
              </a:rPr>
              <a:t>Implement DFS with bitmap compression of data in vertical format</a:t>
            </a: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FP-Growth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</a:p>
          <a:p>
            <a:pPr lvl="3"/>
            <a:r>
              <a:rPr lang="en-US" altLang="zh-CN" smtClean="0">
                <a:ea typeface="宋体" panose="02010600030101010101" pitchFamily="2" charset="-122"/>
              </a:rPr>
              <a:t>Implement DFS using a tree structure in horizontal format</a:t>
            </a:r>
          </a:p>
          <a:p>
            <a:pPr lvl="3">
              <a:buFont typeface="Monotype Sorts" pitchFamily="2" charset="2"/>
              <a:buNone/>
            </a:pPr>
            <a:endParaRPr lang="zh-CN" altLang="en-US" smtClean="0">
              <a:ea typeface="宋体" panose="02010600030101010101" pitchFamily="2" charset="-122"/>
            </a:endParaRP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FP-Growth based sub-graph mining</a:t>
            </a:r>
            <a:endParaRPr lang="zh-CN" altLang="en-US" smtClean="0">
              <a:ea typeface="宋体" panose="02010600030101010101" pitchFamily="2" charset="-122"/>
            </a:endParaRPr>
          </a:p>
          <a:p>
            <a:pPr lvl="3">
              <a:buFont typeface="Monotype Sorts" pitchFamily="2" charset="2"/>
              <a:buNone/>
            </a:pP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77539" name="Rectangle 3"/>
          <p:cNvSpPr>
            <a:spLocks noChangeArrowheads="1"/>
          </p:cNvSpPr>
          <p:nvPr/>
        </p:nvSpPr>
        <p:spPr bwMode="auto">
          <a:xfrm>
            <a:off x="762000" y="0"/>
            <a:ext cx="80962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marL="0"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440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本讲内容</a:t>
            </a:r>
            <a:endParaRPr lang="en-US" altLang="zh-CN" sz="4400"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3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Comparison of Data Layouts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84313"/>
            <a:ext cx="8353425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3381375" y="2276475"/>
            <a:ext cx="4630738" cy="1393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8567738" cy="1025525"/>
          </a:xfrm>
        </p:spPr>
        <p:txBody>
          <a:bodyPr/>
          <a:lstStyle/>
          <a:p>
            <a:pPr>
              <a:defRPr/>
            </a:pPr>
            <a:r>
              <a:rPr lang="en-US" altLang="zh-CN" sz="3200" smtClean="0">
                <a:ea typeface="宋体" pitchFamily="2" charset="-122"/>
              </a:rPr>
              <a:t>Vertical format for write-based FPM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Vertical format</a:t>
            </a:r>
          </a:p>
        </p:txBody>
      </p:sp>
      <p:graphicFrame>
        <p:nvGraphicFramePr>
          <p:cNvPr id="630789" name="Group 5"/>
          <p:cNvGraphicFramePr>
            <a:graphicFrameLocks noGrp="1"/>
          </p:cNvGraphicFramePr>
          <p:nvPr/>
        </p:nvGraphicFramePr>
        <p:xfrm>
          <a:off x="609600" y="3154363"/>
          <a:ext cx="1524000" cy="131286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69" name="Line 25"/>
          <p:cNvSpPr>
            <a:spLocks noChangeShapeType="1"/>
          </p:cNvSpPr>
          <p:nvPr/>
        </p:nvSpPr>
        <p:spPr bwMode="auto">
          <a:xfrm flipV="1">
            <a:off x="2133600" y="2693988"/>
            <a:ext cx="942975" cy="10017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0810" name="Group 26"/>
          <p:cNvGraphicFramePr>
            <a:graphicFrameLocks noGrp="1"/>
          </p:cNvGraphicFramePr>
          <p:nvPr/>
        </p:nvGraphicFramePr>
        <p:xfrm>
          <a:off x="3738563" y="2503488"/>
          <a:ext cx="717550" cy="790576"/>
        </p:xfrm>
        <a:graphic>
          <a:graphicData uri="http://schemas.openxmlformats.org/drawingml/2006/table">
            <a:tbl>
              <a:tblPr/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0820" name="Group 36"/>
          <p:cNvGraphicFramePr>
            <a:graphicFrameLocks noGrp="1"/>
          </p:cNvGraphicFramePr>
          <p:nvPr/>
        </p:nvGraphicFramePr>
        <p:xfrm>
          <a:off x="5870575" y="2463800"/>
          <a:ext cx="646113" cy="1047752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30832" name="Group 48"/>
          <p:cNvGraphicFramePr>
            <a:graphicFrameLocks noGrp="1"/>
          </p:cNvGraphicFramePr>
          <p:nvPr/>
        </p:nvGraphicFramePr>
        <p:xfrm>
          <a:off x="6750050" y="2427288"/>
          <a:ext cx="677863" cy="523876"/>
        </p:xfrm>
        <a:graphic>
          <a:graphicData uri="http://schemas.openxmlformats.org/drawingml/2006/table">
            <a:tbl>
              <a:tblPr/>
              <a:tblGrid>
                <a:gridCol w="677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0840" name="Group 56"/>
          <p:cNvGraphicFramePr>
            <a:graphicFrameLocks noGrp="1"/>
          </p:cNvGraphicFramePr>
          <p:nvPr/>
        </p:nvGraphicFramePr>
        <p:xfrm>
          <a:off x="4768850" y="2422525"/>
          <a:ext cx="708025" cy="1138239"/>
        </p:xfrm>
        <a:graphic>
          <a:graphicData uri="http://schemas.openxmlformats.org/drawingml/2006/table">
            <a:tbl>
              <a:tblPr/>
              <a:tblGrid>
                <a:gridCol w="70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12" name="Line 68"/>
          <p:cNvSpPr>
            <a:spLocks noChangeShapeType="1"/>
          </p:cNvSpPr>
          <p:nvPr/>
        </p:nvSpPr>
        <p:spPr bwMode="auto">
          <a:xfrm>
            <a:off x="4064000" y="3332163"/>
            <a:ext cx="550863" cy="11033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13" name="Line 69"/>
          <p:cNvSpPr>
            <a:spLocks noChangeShapeType="1"/>
          </p:cNvSpPr>
          <p:nvPr/>
        </p:nvSpPr>
        <p:spPr bwMode="auto">
          <a:xfrm flipH="1">
            <a:off x="4803775" y="3579813"/>
            <a:ext cx="392113" cy="812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14" name="Text Box 70"/>
          <p:cNvSpPr txBox="1">
            <a:spLocks noChangeArrowheads="1"/>
          </p:cNvSpPr>
          <p:nvPr/>
        </p:nvSpPr>
        <p:spPr bwMode="auto">
          <a:xfrm>
            <a:off x="6022975" y="3668713"/>
            <a:ext cx="19177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to get TID list for {a,b} merge TID list for {a} and {b}</a:t>
            </a:r>
          </a:p>
        </p:txBody>
      </p:sp>
      <p:graphicFrame>
        <p:nvGraphicFramePr>
          <p:cNvPr id="630855" name="Group 71"/>
          <p:cNvGraphicFramePr>
            <a:graphicFrameLocks noGrp="1"/>
          </p:cNvGraphicFramePr>
          <p:nvPr/>
        </p:nvGraphicFramePr>
        <p:xfrm>
          <a:off x="4425950" y="4478338"/>
          <a:ext cx="5334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223" name="Picture 7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300663"/>
            <a:ext cx="81375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Vertical format for write-based FPM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80400" cy="477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572000"/>
          </a:xfrm>
        </p:spPr>
        <p:txBody>
          <a:bodyPr/>
          <a:lstStyle/>
          <a:p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关联规则</a:t>
            </a:r>
          </a:p>
          <a:p>
            <a:pPr lvl="1"/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Write-based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VIPER</a:t>
            </a:r>
          </a:p>
          <a:p>
            <a:pPr lvl="3"/>
            <a:r>
              <a:rPr lang="en-US" altLang="zh-CN" smtClean="0">
                <a:ea typeface="宋体" panose="02010600030101010101" pitchFamily="2" charset="-122"/>
              </a:rPr>
              <a:t>Implement DFS with bitmap compression of data in vertical format</a:t>
            </a:r>
          </a:p>
          <a:p>
            <a:pPr lvl="2"/>
            <a:r>
              <a:rPr lang="en-US" altLang="zh-CN" smtClean="0">
                <a:solidFill>
                  <a:schemeClr val="folHlink"/>
                </a:solidFill>
                <a:ea typeface="宋体" panose="02010600030101010101" pitchFamily="2" charset="-122"/>
              </a:rPr>
              <a:t>FP-Growth</a:t>
            </a:r>
            <a:r>
              <a:rPr lang="zh-CN" altLang="en-US" smtClean="0">
                <a:solidFill>
                  <a:schemeClr val="folHlink"/>
                </a:solidFill>
                <a:ea typeface="宋体" panose="02010600030101010101" pitchFamily="2" charset="-122"/>
              </a:rPr>
              <a:t>算法</a:t>
            </a:r>
          </a:p>
          <a:p>
            <a:pPr lvl="3"/>
            <a:r>
              <a:rPr lang="en-US" altLang="zh-CN" smtClean="0">
                <a:ea typeface="宋体" panose="02010600030101010101" pitchFamily="2" charset="-122"/>
              </a:rPr>
              <a:t>Implement DFS using a tree structure in horizontal format</a:t>
            </a:r>
          </a:p>
          <a:p>
            <a:pPr lvl="2"/>
            <a:endParaRPr lang="en-US" altLang="zh-CN" smtClean="0">
              <a:ea typeface="宋体" panose="02010600030101010101" pitchFamily="2" charset="-122"/>
            </a:endParaRP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FP-Growth based sub-graph mining</a:t>
            </a:r>
            <a:endParaRPr lang="zh-CN" altLang="en-US" smtClean="0">
              <a:ea typeface="宋体" panose="02010600030101010101" pitchFamily="2" charset="-122"/>
            </a:endParaRPr>
          </a:p>
          <a:p>
            <a:pPr lvl="3">
              <a:buFont typeface="Monotype Sorts" pitchFamily="2" charset="2"/>
              <a:buNone/>
            </a:pP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46147" name="Rectangle 3"/>
          <p:cNvSpPr>
            <a:spLocks noChangeArrowheads="1"/>
          </p:cNvSpPr>
          <p:nvPr/>
        </p:nvSpPr>
        <p:spPr bwMode="auto">
          <a:xfrm>
            <a:off x="762000" y="0"/>
            <a:ext cx="80962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marL="0"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440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本讲内容</a:t>
            </a:r>
            <a:endParaRPr lang="en-US" altLang="zh-CN" sz="4400"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2"/>
          <p:cNvSpPr>
            <a:spLocks noChangeArrowheads="1"/>
          </p:cNvSpPr>
          <p:nvPr/>
        </p:nvSpPr>
        <p:spPr bwMode="auto">
          <a:xfrm>
            <a:off x="4799013" y="3181350"/>
            <a:ext cx="782637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</a:t>
            </a:r>
          </a:p>
        </p:txBody>
      </p:sp>
      <p:sp>
        <p:nvSpPr>
          <p:cNvPr id="9219" name="Oval 3"/>
          <p:cNvSpPr>
            <a:spLocks noChangeArrowheads="1"/>
          </p:cNvSpPr>
          <p:nvPr/>
        </p:nvSpPr>
        <p:spPr bwMode="auto">
          <a:xfrm>
            <a:off x="5637213" y="3181350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a,e</a:t>
            </a:r>
          </a:p>
        </p:txBody>
      </p:sp>
      <p:sp>
        <p:nvSpPr>
          <p:cNvPr id="9220" name="Oval 4"/>
          <p:cNvSpPr>
            <a:spLocks noChangeArrowheads="1"/>
          </p:cNvSpPr>
          <p:nvPr/>
        </p:nvSpPr>
        <p:spPr bwMode="auto">
          <a:xfrm>
            <a:off x="7353300" y="3181350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b,e</a:t>
            </a:r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6505575" y="3181350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</a:t>
            </a:r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3981450" y="3181350"/>
            <a:ext cx="760413" cy="692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</a:t>
            </a:r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8226425" y="3176588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c,e</a:t>
            </a:r>
          </a:p>
        </p:txBody>
      </p:sp>
      <p:sp>
        <p:nvSpPr>
          <p:cNvPr id="9224" name="Oval 8"/>
          <p:cNvSpPr>
            <a:spLocks noChangeArrowheads="1"/>
          </p:cNvSpPr>
          <p:nvPr/>
        </p:nvSpPr>
        <p:spPr bwMode="auto">
          <a:xfrm>
            <a:off x="7216775" y="2033588"/>
            <a:ext cx="727075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b,c,e</a:t>
            </a:r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5600700" y="2073275"/>
            <a:ext cx="747713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6415088" y="2073275"/>
            <a:ext cx="749300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a,c,e</a:t>
            </a: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4819650" y="2073275"/>
            <a:ext cx="727075" cy="7223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24450" y="4243388"/>
            <a:ext cx="685800" cy="61118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5865813" y="4243388"/>
            <a:ext cx="684212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6607175" y="4243388"/>
            <a:ext cx="684213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7350125" y="4243388"/>
            <a:ext cx="682625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962650" y="966788"/>
            <a:ext cx="838200" cy="838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a,b,c,e</a:t>
            </a: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496050" y="5462588"/>
            <a:ext cx="598488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611346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65113"/>
            <a:ext cx="8229600" cy="696912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FP-Growth</a:t>
            </a:r>
            <a:r>
              <a:rPr lang="zh-CN" altLang="en-US" smtClean="0">
                <a:ea typeface="宋体" pitchFamily="2" charset="-122"/>
              </a:rPr>
              <a:t>算法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9235" name="Line 19"/>
          <p:cNvSpPr>
            <a:spLocks noChangeShapeType="1"/>
          </p:cNvSpPr>
          <p:nvPr/>
        </p:nvSpPr>
        <p:spPr bwMode="auto">
          <a:xfrm flipV="1">
            <a:off x="7105650" y="4929188"/>
            <a:ext cx="6096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6" name="Line 20"/>
          <p:cNvSpPr>
            <a:spLocks noChangeShapeType="1"/>
          </p:cNvSpPr>
          <p:nvPr/>
        </p:nvSpPr>
        <p:spPr bwMode="auto">
          <a:xfrm flipV="1">
            <a:off x="6877050" y="4852988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 flipH="1" flipV="1">
            <a:off x="6267450" y="4852988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8" name="Line 22"/>
          <p:cNvSpPr>
            <a:spLocks noChangeShapeType="1"/>
          </p:cNvSpPr>
          <p:nvPr/>
        </p:nvSpPr>
        <p:spPr bwMode="auto">
          <a:xfrm flipH="1" flipV="1">
            <a:off x="5581650" y="4852988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9" name="Line 23"/>
          <p:cNvSpPr>
            <a:spLocks noChangeShapeType="1"/>
          </p:cNvSpPr>
          <p:nvPr/>
        </p:nvSpPr>
        <p:spPr bwMode="auto">
          <a:xfrm flipH="1" flipV="1">
            <a:off x="4591050" y="3862388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0" name="Line 24"/>
          <p:cNvSpPr>
            <a:spLocks noChangeShapeType="1"/>
          </p:cNvSpPr>
          <p:nvPr/>
        </p:nvSpPr>
        <p:spPr bwMode="auto">
          <a:xfrm flipH="1" flipV="1">
            <a:off x="5276850" y="3862388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1" name="Line 25"/>
          <p:cNvSpPr>
            <a:spLocks noChangeShapeType="1"/>
          </p:cNvSpPr>
          <p:nvPr/>
        </p:nvSpPr>
        <p:spPr bwMode="auto">
          <a:xfrm flipV="1">
            <a:off x="5657850" y="3862388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2" name="Line 26"/>
          <p:cNvSpPr>
            <a:spLocks noChangeShapeType="1"/>
          </p:cNvSpPr>
          <p:nvPr/>
        </p:nvSpPr>
        <p:spPr bwMode="auto">
          <a:xfrm flipV="1">
            <a:off x="6267450" y="3862388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3" name="Line 27"/>
          <p:cNvSpPr>
            <a:spLocks noChangeShapeType="1"/>
          </p:cNvSpPr>
          <p:nvPr/>
        </p:nvSpPr>
        <p:spPr bwMode="auto">
          <a:xfrm flipH="1" flipV="1">
            <a:off x="4667250" y="3862388"/>
            <a:ext cx="1524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 flipV="1">
            <a:off x="6343650" y="3862388"/>
            <a:ext cx="1219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5" name="Line 29"/>
          <p:cNvSpPr>
            <a:spLocks noChangeShapeType="1"/>
          </p:cNvSpPr>
          <p:nvPr/>
        </p:nvSpPr>
        <p:spPr bwMode="auto">
          <a:xfrm flipH="1" flipV="1">
            <a:off x="5429250" y="38623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6" name="Line 30"/>
          <p:cNvSpPr>
            <a:spLocks noChangeShapeType="1"/>
          </p:cNvSpPr>
          <p:nvPr/>
        </p:nvSpPr>
        <p:spPr bwMode="auto">
          <a:xfrm flipV="1">
            <a:off x="6953250" y="3862388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7" name="Line 31"/>
          <p:cNvSpPr>
            <a:spLocks noChangeShapeType="1"/>
          </p:cNvSpPr>
          <p:nvPr/>
        </p:nvSpPr>
        <p:spPr bwMode="auto">
          <a:xfrm flipV="1">
            <a:off x="7181850" y="3862388"/>
            <a:ext cx="1219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8" name="Line 32"/>
          <p:cNvSpPr>
            <a:spLocks noChangeShapeType="1"/>
          </p:cNvSpPr>
          <p:nvPr/>
        </p:nvSpPr>
        <p:spPr bwMode="auto">
          <a:xfrm flipH="1" flipV="1">
            <a:off x="6191250" y="38623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9" name="Line 33"/>
          <p:cNvSpPr>
            <a:spLocks noChangeShapeType="1"/>
          </p:cNvSpPr>
          <p:nvPr/>
        </p:nvSpPr>
        <p:spPr bwMode="auto">
          <a:xfrm flipV="1">
            <a:off x="7715250" y="3862388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0" name="Line 34"/>
          <p:cNvSpPr>
            <a:spLocks noChangeShapeType="1"/>
          </p:cNvSpPr>
          <p:nvPr/>
        </p:nvSpPr>
        <p:spPr bwMode="auto">
          <a:xfrm flipV="1">
            <a:off x="7867650" y="3862388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1" name="Line 35"/>
          <p:cNvSpPr>
            <a:spLocks noChangeShapeType="1"/>
          </p:cNvSpPr>
          <p:nvPr/>
        </p:nvSpPr>
        <p:spPr bwMode="auto">
          <a:xfrm flipV="1">
            <a:off x="4438650" y="2719388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2" name="Line 36"/>
          <p:cNvSpPr>
            <a:spLocks noChangeShapeType="1"/>
          </p:cNvSpPr>
          <p:nvPr/>
        </p:nvSpPr>
        <p:spPr bwMode="auto">
          <a:xfrm flipV="1">
            <a:off x="4438650" y="27955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3" name="Line 37"/>
          <p:cNvSpPr>
            <a:spLocks noChangeShapeType="1"/>
          </p:cNvSpPr>
          <p:nvPr/>
        </p:nvSpPr>
        <p:spPr bwMode="auto">
          <a:xfrm flipV="1">
            <a:off x="5124450" y="2795588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4" name="Line 38"/>
          <p:cNvSpPr>
            <a:spLocks noChangeShapeType="1"/>
          </p:cNvSpPr>
          <p:nvPr/>
        </p:nvSpPr>
        <p:spPr bwMode="auto">
          <a:xfrm flipV="1">
            <a:off x="5200650" y="27955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5" name="Line 39"/>
          <p:cNvSpPr>
            <a:spLocks noChangeShapeType="1"/>
          </p:cNvSpPr>
          <p:nvPr/>
        </p:nvSpPr>
        <p:spPr bwMode="auto">
          <a:xfrm flipH="1" flipV="1">
            <a:off x="5962650" y="2795588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6" name="Line 40"/>
          <p:cNvSpPr>
            <a:spLocks noChangeShapeType="1"/>
          </p:cNvSpPr>
          <p:nvPr/>
        </p:nvSpPr>
        <p:spPr bwMode="auto">
          <a:xfrm flipV="1">
            <a:off x="6038850" y="2795588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7" name="Line 41"/>
          <p:cNvSpPr>
            <a:spLocks noChangeShapeType="1"/>
          </p:cNvSpPr>
          <p:nvPr/>
        </p:nvSpPr>
        <p:spPr bwMode="auto">
          <a:xfrm flipH="1" flipV="1">
            <a:off x="5353050" y="2795588"/>
            <a:ext cx="1600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8" name="Line 42"/>
          <p:cNvSpPr>
            <a:spLocks noChangeShapeType="1"/>
          </p:cNvSpPr>
          <p:nvPr/>
        </p:nvSpPr>
        <p:spPr bwMode="auto">
          <a:xfrm flipV="1">
            <a:off x="6953250" y="2719388"/>
            <a:ext cx="457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9" name="Line 43"/>
          <p:cNvSpPr>
            <a:spLocks noChangeShapeType="1"/>
          </p:cNvSpPr>
          <p:nvPr/>
        </p:nvSpPr>
        <p:spPr bwMode="auto">
          <a:xfrm flipH="1" flipV="1">
            <a:off x="6115050" y="2795588"/>
            <a:ext cx="1447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 flipV="1">
            <a:off x="7715250" y="2719388"/>
            <a:ext cx="76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1" name="Line 45"/>
          <p:cNvSpPr>
            <a:spLocks noChangeShapeType="1"/>
          </p:cNvSpPr>
          <p:nvPr/>
        </p:nvSpPr>
        <p:spPr bwMode="auto">
          <a:xfrm flipH="1" flipV="1">
            <a:off x="6953250" y="2795588"/>
            <a:ext cx="1371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2" name="Line 46"/>
          <p:cNvSpPr>
            <a:spLocks noChangeShapeType="1"/>
          </p:cNvSpPr>
          <p:nvPr/>
        </p:nvSpPr>
        <p:spPr bwMode="auto">
          <a:xfrm flipH="1" flipV="1">
            <a:off x="7867650" y="2719388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3" name="Line 47"/>
          <p:cNvSpPr>
            <a:spLocks noChangeShapeType="1"/>
          </p:cNvSpPr>
          <p:nvPr/>
        </p:nvSpPr>
        <p:spPr bwMode="auto">
          <a:xfrm flipV="1">
            <a:off x="5353050" y="1652588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4" name="Line 48"/>
          <p:cNvSpPr>
            <a:spLocks noChangeShapeType="1"/>
          </p:cNvSpPr>
          <p:nvPr/>
        </p:nvSpPr>
        <p:spPr bwMode="auto">
          <a:xfrm flipV="1">
            <a:off x="6115050" y="18049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5" name="Line 49"/>
          <p:cNvSpPr>
            <a:spLocks noChangeShapeType="1"/>
          </p:cNvSpPr>
          <p:nvPr/>
        </p:nvSpPr>
        <p:spPr bwMode="auto">
          <a:xfrm flipH="1" flipV="1">
            <a:off x="6648450" y="1728788"/>
            <a:ext cx="76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6" name="Line 50"/>
          <p:cNvSpPr>
            <a:spLocks noChangeShapeType="1"/>
          </p:cNvSpPr>
          <p:nvPr/>
        </p:nvSpPr>
        <p:spPr bwMode="auto">
          <a:xfrm flipH="1" flipV="1">
            <a:off x="6800850" y="1652588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269875" y="1778000"/>
            <a:ext cx="3352800" cy="13827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400" b="1">
                <a:ea typeface="宋体" panose="02010600030101010101" pitchFamily="2" charset="-122"/>
              </a:rPr>
              <a:t>Depth-first search</a:t>
            </a:r>
            <a:endParaRPr lang="en-US" altLang="zh-CN" sz="2400">
              <a:ea typeface="宋体" panose="02010600030101010101" pitchFamily="2" charset="-122"/>
            </a:endParaRP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Algorithm with </a:t>
            </a:r>
            <a:r>
              <a:rPr lang="en-US" altLang="zh-CN" sz="2400" b="1">
                <a:ea typeface="宋体" panose="02010600030101010101" pitchFamily="2" charset="-122"/>
              </a:rPr>
              <a:t>write</a:t>
            </a:r>
            <a:r>
              <a:rPr lang="en-US" altLang="zh-CN" sz="2400">
                <a:ea typeface="宋体" panose="02010600030101010101" pitchFamily="2" charset="-122"/>
              </a:rPr>
              <a:t> or </a:t>
            </a:r>
            <a:r>
              <a:rPr lang="en-US" altLang="zh-CN" sz="2400" b="1">
                <a:ea typeface="宋体" panose="02010600030101010101" pitchFamily="2" charset="-122"/>
              </a:rPr>
              <a:t>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60350"/>
            <a:ext cx="6121400" cy="838200"/>
          </a:xfrm>
        </p:spPr>
        <p:txBody>
          <a:bodyPr/>
          <a:lstStyle/>
          <a:p>
            <a:pPr>
              <a:defRPr/>
            </a:pPr>
            <a:r>
              <a:rPr lang="en-US" altLang="zh-CN" sz="3200" smtClean="0">
                <a:ea typeface="宋体" pitchFamily="2" charset="-122"/>
              </a:rPr>
              <a:t>FP-Growth</a:t>
            </a:r>
            <a:r>
              <a:rPr lang="zh-CN" altLang="en-US" sz="3200" smtClean="0">
                <a:ea typeface="宋体" pitchFamily="2" charset="-122"/>
              </a:rPr>
              <a:t>算法</a:t>
            </a:r>
            <a:endParaRPr lang="en-US" altLang="zh-CN" sz="3200" smtClean="0">
              <a:ea typeface="宋体" pitchFamily="2" charset="-122"/>
            </a:endParaRPr>
          </a:p>
        </p:txBody>
      </p:sp>
      <p:sp>
        <p:nvSpPr>
          <p:cNvPr id="10243" name="Oval 3"/>
          <p:cNvSpPr>
            <a:spLocks noChangeArrowheads="1"/>
          </p:cNvSpPr>
          <p:nvPr/>
        </p:nvSpPr>
        <p:spPr bwMode="auto">
          <a:xfrm>
            <a:off x="5910263" y="3165475"/>
            <a:ext cx="782637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</a:t>
            </a: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6748463" y="31654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a,e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8464550" y="31654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b,e</a:t>
            </a: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7616825" y="31654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</a:t>
            </a:r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5092700" y="3165475"/>
            <a:ext cx="760413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</a:t>
            </a:r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9337675" y="3160713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c,e</a:t>
            </a:r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8328025" y="2017713"/>
            <a:ext cx="727075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b,c,e</a:t>
            </a:r>
          </a:p>
        </p:txBody>
      </p:sp>
      <p:sp>
        <p:nvSpPr>
          <p:cNvPr id="10250" name="Oval 10"/>
          <p:cNvSpPr>
            <a:spLocks noChangeArrowheads="1"/>
          </p:cNvSpPr>
          <p:nvPr/>
        </p:nvSpPr>
        <p:spPr bwMode="auto">
          <a:xfrm>
            <a:off x="6711950" y="2057400"/>
            <a:ext cx="747713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10251" name="Oval 11"/>
          <p:cNvSpPr>
            <a:spLocks noChangeArrowheads="1"/>
          </p:cNvSpPr>
          <p:nvPr/>
        </p:nvSpPr>
        <p:spPr bwMode="auto">
          <a:xfrm>
            <a:off x="7526338" y="2057400"/>
            <a:ext cx="749300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a,c,e</a:t>
            </a:r>
          </a:p>
        </p:txBody>
      </p:sp>
      <p:sp>
        <p:nvSpPr>
          <p:cNvPr id="10252" name="Oval 12"/>
          <p:cNvSpPr>
            <a:spLocks noChangeArrowheads="1"/>
          </p:cNvSpPr>
          <p:nvPr/>
        </p:nvSpPr>
        <p:spPr bwMode="auto">
          <a:xfrm>
            <a:off x="5930900" y="2057400"/>
            <a:ext cx="727075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10253" name="Oval 13"/>
          <p:cNvSpPr>
            <a:spLocks noChangeArrowheads="1"/>
          </p:cNvSpPr>
          <p:nvPr/>
        </p:nvSpPr>
        <p:spPr bwMode="auto">
          <a:xfrm>
            <a:off x="6235700" y="4227513"/>
            <a:ext cx="685800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0254" name="Oval 14"/>
          <p:cNvSpPr>
            <a:spLocks noChangeArrowheads="1"/>
          </p:cNvSpPr>
          <p:nvPr/>
        </p:nvSpPr>
        <p:spPr bwMode="auto">
          <a:xfrm>
            <a:off x="6977063" y="4227513"/>
            <a:ext cx="684212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0255" name="Oval 15"/>
          <p:cNvSpPr>
            <a:spLocks noChangeArrowheads="1"/>
          </p:cNvSpPr>
          <p:nvPr/>
        </p:nvSpPr>
        <p:spPr bwMode="auto">
          <a:xfrm>
            <a:off x="7718425" y="4227513"/>
            <a:ext cx="684213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0256" name="Oval 16"/>
          <p:cNvSpPr>
            <a:spLocks noChangeArrowheads="1"/>
          </p:cNvSpPr>
          <p:nvPr/>
        </p:nvSpPr>
        <p:spPr bwMode="auto">
          <a:xfrm>
            <a:off x="8461375" y="4227513"/>
            <a:ext cx="682625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0257" name="Oval 17"/>
          <p:cNvSpPr>
            <a:spLocks noChangeArrowheads="1"/>
          </p:cNvSpPr>
          <p:nvPr/>
        </p:nvSpPr>
        <p:spPr bwMode="auto">
          <a:xfrm>
            <a:off x="7073900" y="950913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a,b,c,e</a:t>
            </a:r>
          </a:p>
        </p:txBody>
      </p:sp>
      <p:sp>
        <p:nvSpPr>
          <p:cNvPr id="10258" name="Oval 18"/>
          <p:cNvSpPr>
            <a:spLocks noChangeArrowheads="1"/>
          </p:cNvSpPr>
          <p:nvPr/>
        </p:nvSpPr>
        <p:spPr bwMode="auto">
          <a:xfrm>
            <a:off x="7607300" y="5446713"/>
            <a:ext cx="598488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 flipV="1">
            <a:off x="8216900" y="4913313"/>
            <a:ext cx="6096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 flipV="1">
            <a:off x="7988300" y="4837113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 flipH="1" flipV="1">
            <a:off x="7378700" y="4837113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H="1" flipV="1">
            <a:off x="6692900" y="4837113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 flipH="1" flipV="1">
            <a:off x="5702300" y="3846513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 flipH="1" flipV="1">
            <a:off x="6388100" y="3846513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5" name="Line 25"/>
          <p:cNvSpPr>
            <a:spLocks noChangeShapeType="1"/>
          </p:cNvSpPr>
          <p:nvPr/>
        </p:nvSpPr>
        <p:spPr bwMode="auto">
          <a:xfrm flipV="1">
            <a:off x="6769100" y="3846513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6" name="Line 26"/>
          <p:cNvSpPr>
            <a:spLocks noChangeShapeType="1"/>
          </p:cNvSpPr>
          <p:nvPr/>
        </p:nvSpPr>
        <p:spPr bwMode="auto">
          <a:xfrm flipV="1">
            <a:off x="7378700" y="3846513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H="1" flipV="1">
            <a:off x="5778500" y="3846513"/>
            <a:ext cx="1524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 flipV="1">
            <a:off x="7454900" y="3846513"/>
            <a:ext cx="1219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 flipH="1" flipV="1">
            <a:off x="6540500" y="38465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V="1">
            <a:off x="8064500" y="3846513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8293100" y="3846513"/>
            <a:ext cx="1219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 flipH="1" flipV="1">
            <a:off x="7302500" y="38465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V="1">
            <a:off x="8826500" y="3846513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 flipV="1">
            <a:off x="8978900" y="3846513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 flipV="1">
            <a:off x="5549900" y="2703513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V="1">
            <a:off x="5549900" y="27797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6235700" y="2779713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 flipV="1">
            <a:off x="6311900" y="27797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H="1" flipV="1">
            <a:off x="7073900" y="2779713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V="1">
            <a:off x="7150100" y="2779713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H="1" flipV="1">
            <a:off x="6464300" y="2779713"/>
            <a:ext cx="1600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2" name="Line 42"/>
          <p:cNvSpPr>
            <a:spLocks noChangeShapeType="1"/>
          </p:cNvSpPr>
          <p:nvPr/>
        </p:nvSpPr>
        <p:spPr bwMode="auto">
          <a:xfrm flipV="1">
            <a:off x="8064500" y="2703513"/>
            <a:ext cx="457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3" name="Line 43"/>
          <p:cNvSpPr>
            <a:spLocks noChangeShapeType="1"/>
          </p:cNvSpPr>
          <p:nvPr/>
        </p:nvSpPr>
        <p:spPr bwMode="auto">
          <a:xfrm flipH="1" flipV="1">
            <a:off x="7226300" y="2779713"/>
            <a:ext cx="1447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4" name="Line 44"/>
          <p:cNvSpPr>
            <a:spLocks noChangeShapeType="1"/>
          </p:cNvSpPr>
          <p:nvPr/>
        </p:nvSpPr>
        <p:spPr bwMode="auto">
          <a:xfrm flipV="1">
            <a:off x="8826500" y="2703513"/>
            <a:ext cx="76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5" name="Line 45"/>
          <p:cNvSpPr>
            <a:spLocks noChangeShapeType="1"/>
          </p:cNvSpPr>
          <p:nvPr/>
        </p:nvSpPr>
        <p:spPr bwMode="auto">
          <a:xfrm flipH="1" flipV="1">
            <a:off x="8064500" y="2779713"/>
            <a:ext cx="1371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6" name="Line 46"/>
          <p:cNvSpPr>
            <a:spLocks noChangeShapeType="1"/>
          </p:cNvSpPr>
          <p:nvPr/>
        </p:nvSpPr>
        <p:spPr bwMode="auto">
          <a:xfrm flipH="1" flipV="1">
            <a:off x="8978900" y="2703513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7" name="Line 47"/>
          <p:cNvSpPr>
            <a:spLocks noChangeShapeType="1"/>
          </p:cNvSpPr>
          <p:nvPr/>
        </p:nvSpPr>
        <p:spPr bwMode="auto">
          <a:xfrm flipV="1">
            <a:off x="6464300" y="1636713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 flipV="1">
            <a:off x="7226300" y="178911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9" name="Line 49"/>
          <p:cNvSpPr>
            <a:spLocks noChangeShapeType="1"/>
          </p:cNvSpPr>
          <p:nvPr/>
        </p:nvSpPr>
        <p:spPr bwMode="auto">
          <a:xfrm flipH="1" flipV="1">
            <a:off x="7759700" y="1712913"/>
            <a:ext cx="76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90" name="Line 50"/>
          <p:cNvSpPr>
            <a:spLocks noChangeShapeType="1"/>
          </p:cNvSpPr>
          <p:nvPr/>
        </p:nvSpPr>
        <p:spPr bwMode="auto">
          <a:xfrm flipH="1" flipV="1">
            <a:off x="7912100" y="1636713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12403" name="Group 51"/>
          <p:cNvGraphicFramePr>
            <a:graphicFrameLocks noGrp="1"/>
          </p:cNvGraphicFramePr>
          <p:nvPr/>
        </p:nvGraphicFramePr>
        <p:xfrm>
          <a:off x="4386263" y="4916488"/>
          <a:ext cx="1524000" cy="131286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311" name="Line 71"/>
          <p:cNvSpPr>
            <a:spLocks noChangeShapeType="1"/>
          </p:cNvSpPr>
          <p:nvPr/>
        </p:nvSpPr>
        <p:spPr bwMode="auto">
          <a:xfrm flipH="1" flipV="1">
            <a:off x="5935663" y="5718175"/>
            <a:ext cx="1655762" cy="44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12424" name="Group 72"/>
          <p:cNvGraphicFramePr>
            <a:graphicFrameLocks noGrp="1"/>
          </p:cNvGraphicFramePr>
          <p:nvPr/>
        </p:nvGraphicFramePr>
        <p:xfrm>
          <a:off x="2797175" y="3603625"/>
          <a:ext cx="1524000" cy="785814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Group 86"/>
          <p:cNvGrpSpPr>
            <a:grpSpLocks/>
          </p:cNvGrpSpPr>
          <p:nvPr/>
        </p:nvGrpSpPr>
        <p:grpSpPr bwMode="auto">
          <a:xfrm>
            <a:off x="4397375" y="4208463"/>
            <a:ext cx="2532063" cy="622300"/>
            <a:chOff x="2779" y="2651"/>
            <a:chExt cx="1595" cy="392"/>
          </a:xfrm>
        </p:grpSpPr>
        <p:sp>
          <p:nvSpPr>
            <p:cNvPr id="10348" name="Oval 87"/>
            <p:cNvSpPr>
              <a:spLocks noChangeArrowheads="1"/>
            </p:cNvSpPr>
            <p:nvPr/>
          </p:nvSpPr>
          <p:spPr bwMode="auto">
            <a:xfrm>
              <a:off x="3942" y="2658"/>
              <a:ext cx="432" cy="38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349" name="Line 88"/>
            <p:cNvSpPr>
              <a:spLocks noChangeShapeType="1"/>
            </p:cNvSpPr>
            <p:nvPr/>
          </p:nvSpPr>
          <p:spPr bwMode="auto">
            <a:xfrm flipH="1" flipV="1">
              <a:off x="2779" y="2651"/>
              <a:ext cx="1152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1450975" y="4433888"/>
            <a:ext cx="2736850" cy="1665287"/>
            <a:chOff x="1271" y="2793"/>
            <a:chExt cx="1367" cy="1049"/>
          </a:xfrm>
        </p:grpSpPr>
        <p:sp>
          <p:nvSpPr>
            <p:cNvPr id="10346" name="AutoShape 90"/>
            <p:cNvSpPr>
              <a:spLocks noChangeArrowheads="1"/>
            </p:cNvSpPr>
            <p:nvPr/>
          </p:nvSpPr>
          <p:spPr bwMode="auto">
            <a:xfrm rot="-5530939">
              <a:off x="1902" y="2944"/>
              <a:ext cx="887" cy="585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18 h 21600"/>
                <a:gd name="T14" fmla="*/ 19067 w 21600"/>
                <a:gd name="T15" fmla="*/ 852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347" name="Text Box 91"/>
            <p:cNvSpPr txBox="1">
              <a:spLocks noChangeArrowheads="1"/>
            </p:cNvSpPr>
            <p:nvPr/>
          </p:nvSpPr>
          <p:spPr bwMode="auto">
            <a:xfrm>
              <a:off x="1271" y="3091"/>
              <a:ext cx="99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{a}-projected database</a:t>
              </a:r>
            </a:p>
          </p:txBody>
        </p:sp>
      </p:grpSp>
      <p:grpSp>
        <p:nvGrpSpPr>
          <p:cNvPr id="4" name="Group 92"/>
          <p:cNvGrpSpPr>
            <a:grpSpLocks/>
          </p:cNvGrpSpPr>
          <p:nvPr/>
        </p:nvGrpSpPr>
        <p:grpSpPr bwMode="auto">
          <a:xfrm>
            <a:off x="2540000" y="3090863"/>
            <a:ext cx="3321050" cy="773112"/>
            <a:chOff x="1600" y="1947"/>
            <a:chExt cx="2092" cy="487"/>
          </a:xfrm>
        </p:grpSpPr>
        <p:sp>
          <p:nvSpPr>
            <p:cNvPr id="10344" name="Oval 93"/>
            <p:cNvSpPr>
              <a:spLocks noChangeArrowheads="1"/>
            </p:cNvSpPr>
            <p:nvPr/>
          </p:nvSpPr>
          <p:spPr bwMode="auto">
            <a:xfrm>
              <a:off x="3213" y="1998"/>
              <a:ext cx="479" cy="4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a,b</a:t>
              </a:r>
            </a:p>
          </p:txBody>
        </p:sp>
        <p:sp>
          <p:nvSpPr>
            <p:cNvPr id="10345" name="Line 94"/>
            <p:cNvSpPr>
              <a:spLocks noChangeShapeType="1"/>
            </p:cNvSpPr>
            <p:nvPr/>
          </p:nvSpPr>
          <p:spPr bwMode="auto">
            <a:xfrm flipH="1" flipV="1">
              <a:off x="1600" y="1947"/>
              <a:ext cx="1609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612447" name="Group 95"/>
          <p:cNvGraphicFramePr>
            <a:graphicFrameLocks noGrp="1"/>
          </p:cNvGraphicFramePr>
          <p:nvPr/>
        </p:nvGraphicFramePr>
        <p:xfrm>
          <a:off x="1047750" y="2652713"/>
          <a:ext cx="15240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Group 106"/>
          <p:cNvGrpSpPr>
            <a:grpSpLocks/>
          </p:cNvGrpSpPr>
          <p:nvPr/>
        </p:nvGrpSpPr>
        <p:grpSpPr bwMode="auto">
          <a:xfrm>
            <a:off x="0" y="3092450"/>
            <a:ext cx="2736850" cy="1408113"/>
            <a:chOff x="0" y="1948"/>
            <a:chExt cx="1724" cy="887"/>
          </a:xfrm>
        </p:grpSpPr>
        <p:sp>
          <p:nvSpPr>
            <p:cNvPr id="10342" name="AutoShape 107"/>
            <p:cNvSpPr>
              <a:spLocks noChangeArrowheads="1"/>
            </p:cNvSpPr>
            <p:nvPr/>
          </p:nvSpPr>
          <p:spPr bwMode="auto">
            <a:xfrm rot="-5530939">
              <a:off x="911" y="2023"/>
              <a:ext cx="887" cy="738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1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29 h 21600"/>
                <a:gd name="T14" fmla="*/ 19067 w 21600"/>
                <a:gd name="T15" fmla="*/ 85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343" name="Text Box 108"/>
            <p:cNvSpPr txBox="1">
              <a:spLocks noChangeArrowheads="1"/>
            </p:cNvSpPr>
            <p:nvPr/>
          </p:nvSpPr>
          <p:spPr bwMode="auto">
            <a:xfrm>
              <a:off x="0" y="2017"/>
              <a:ext cx="125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“ab”.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{ab}-projected database</a:t>
              </a:r>
            </a:p>
          </p:txBody>
        </p:sp>
      </p:grpSp>
      <p:sp>
        <p:nvSpPr>
          <p:cNvPr id="612461" name="Text Box 109"/>
          <p:cNvSpPr txBox="1">
            <a:spLocks noChangeArrowheads="1"/>
          </p:cNvSpPr>
          <p:nvPr/>
        </p:nvSpPr>
        <p:spPr bwMode="auto">
          <a:xfrm>
            <a:off x="1331913" y="1412875"/>
            <a:ext cx="42084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Note that we can know the number  of occurrence of “ab” by counting the number of “b” in the {a}-projected database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2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2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46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153400" cy="5105400"/>
          </a:xfrm>
          <a:noFill/>
        </p:spPr>
        <p:txBody>
          <a:bodyPr lIns="92075" tIns="46038" rIns="92075" bIns="46038"/>
          <a:lstStyle/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AutoNum type="arabicPeriod"/>
            </a:pPr>
            <a:r>
              <a:rPr lang="zh-CN" altLang="en-US" sz="2400" smtClean="0">
                <a:ea typeface="宋体" panose="02010600030101010101" pitchFamily="2" charset="-122"/>
              </a:rPr>
              <a:t>第一次扫描数据库：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 smtClean="0">
                <a:solidFill>
                  <a:schemeClr val="tx1"/>
                </a:solidFill>
                <a:ea typeface="宋体" panose="02010600030101010101" pitchFamily="2" charset="-122"/>
              </a:rPr>
              <a:t>		类似于</a:t>
            </a:r>
            <a:r>
              <a:rPr lang="en-US" altLang="zh-CN" sz="2400" smtClean="0">
                <a:solidFill>
                  <a:schemeClr val="tx1"/>
                </a:solidFill>
                <a:ea typeface="宋体" panose="02010600030101010101" pitchFamily="2" charset="-122"/>
              </a:rPr>
              <a:t>Apriori</a:t>
            </a:r>
            <a:r>
              <a:rPr lang="zh-CN" altLang="en-US" sz="2400" smtClean="0">
                <a:solidFill>
                  <a:schemeClr val="tx1"/>
                </a:solidFill>
                <a:ea typeface="宋体" panose="02010600030101010101" pitchFamily="2" charset="-122"/>
              </a:rPr>
              <a:t>算法，找出频繁的1-</a:t>
            </a:r>
            <a:r>
              <a:rPr lang="en-US" altLang="zh-CN" sz="2400" smtClean="0">
                <a:solidFill>
                  <a:schemeClr val="tx1"/>
                </a:solidFill>
                <a:ea typeface="宋体" panose="02010600030101010101" pitchFamily="2" charset="-122"/>
              </a:rPr>
              <a:t>itemset</a:t>
            </a:r>
            <a:r>
              <a:rPr lang="zh-CN" altLang="en-US" sz="2400" smtClean="0">
                <a:solidFill>
                  <a:schemeClr val="tx1"/>
                </a:solidFill>
                <a:ea typeface="宋体" panose="02010600030101010101" pitchFamily="2" charset="-122"/>
              </a:rPr>
              <a:t>和他们的计	数值， 将频繁项目按频度降序排列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endParaRPr lang="zh-CN" altLang="en-US" sz="2400" smtClean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 smtClean="0">
                <a:ea typeface="宋体" panose="02010600030101010101" pitchFamily="2" charset="-122"/>
              </a:rPr>
              <a:t>2. 第二次扫描数据库：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 smtClean="0">
                <a:ea typeface="宋体" panose="02010600030101010101" pitchFamily="2" charset="-122"/>
                <a:cs typeface="Times New Roman" panose="02020603050405020304" pitchFamily="18" charset="0"/>
              </a:rPr>
              <a:t>	   </a:t>
            </a:r>
            <a:r>
              <a:rPr lang="zh-CN" altLang="en-US" sz="2400" smtClean="0">
                <a:solidFill>
                  <a:schemeClr val="tx1"/>
                </a:solidFill>
                <a:ea typeface="宋体" panose="02010600030101010101" pitchFamily="2" charset="-122"/>
              </a:rPr>
              <a:t>构造</a:t>
            </a:r>
            <a:r>
              <a:rPr lang="en-US" altLang="zh-CN" sz="2400" smtClean="0">
                <a:solidFill>
                  <a:schemeClr val="tx1"/>
                </a:solidFill>
                <a:ea typeface="宋体" panose="02010600030101010101" pitchFamily="2" charset="-122"/>
              </a:rPr>
              <a:t>fp-tree （</a:t>
            </a:r>
            <a:r>
              <a:rPr lang="zh-CN" altLang="en-US" sz="2400" smtClean="0">
                <a:solidFill>
                  <a:schemeClr val="tx1"/>
                </a:solidFill>
                <a:ea typeface="宋体" panose="02010600030101010101" pitchFamily="2" charset="-122"/>
              </a:rPr>
              <a:t>频度从大到小）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 smtClean="0">
                <a:solidFill>
                  <a:schemeClr val="tx1"/>
                </a:solidFill>
                <a:ea typeface="宋体" panose="02010600030101010101" pitchFamily="2" charset="-122"/>
              </a:rPr>
              <a:t>	   挖掘该树（频度从小到大）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 smtClean="0">
                <a:ea typeface="宋体" panose="02010600030101010101" pitchFamily="2" charset="-122"/>
              </a:rPr>
              <a:t> </a:t>
            </a:r>
          </a:p>
          <a:p>
            <a:pPr marL="533400" indent="-533400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 smtClean="0">
                <a:ea typeface="宋体" panose="02010600030101010101" pitchFamily="2" charset="-122"/>
              </a:rPr>
              <a:t> 注意：数据库大时，</a:t>
            </a:r>
            <a:r>
              <a:rPr lang="en-US" altLang="zh-CN" sz="2400" smtClean="0">
                <a:ea typeface="宋体" panose="02010600030101010101" pitchFamily="2" charset="-122"/>
              </a:rPr>
              <a:t>fp-tree</a:t>
            </a:r>
            <a:r>
              <a:rPr lang="zh-CN" altLang="en-US" sz="2400" smtClean="0">
                <a:ea typeface="宋体" panose="02010600030101010101" pitchFamily="2" charset="-122"/>
              </a:rPr>
              <a:t>可能在内存中装不下，需要</a:t>
            </a:r>
          </a:p>
          <a:p>
            <a:pPr marL="533400" indent="-533400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 smtClean="0">
                <a:ea typeface="宋体" panose="02010600030101010101" pitchFamily="2" charset="-122"/>
              </a:rPr>
              <a:t>采取</a:t>
            </a:r>
            <a:r>
              <a:rPr lang="en-US" altLang="zh-CN" sz="2400" smtClean="0">
                <a:ea typeface="宋体" panose="02010600030101010101" pitchFamily="2" charset="-122"/>
              </a:rPr>
              <a:t>partition</a:t>
            </a:r>
            <a:r>
              <a:rPr lang="zh-CN" altLang="en-US" sz="2400" smtClean="0">
                <a:ea typeface="宋体" panose="02010600030101010101" pitchFamily="2" charset="-122"/>
              </a:rPr>
              <a:t>方法。</a:t>
            </a:r>
            <a:endParaRPr lang="en-US" altLang="zh-CN" sz="2400" u="sng" smtClean="0">
              <a:ea typeface="宋体" panose="02010600030101010101" pitchFamily="2" charset="-122"/>
            </a:endParaRPr>
          </a:p>
        </p:txBody>
      </p:sp>
      <p:sp>
        <p:nvSpPr>
          <p:cNvPr id="615427" name="Rectangle 3"/>
          <p:cNvSpPr>
            <a:spLocks noChangeArrowheads="1"/>
          </p:cNvSpPr>
          <p:nvPr/>
        </p:nvSpPr>
        <p:spPr bwMode="auto">
          <a:xfrm>
            <a:off x="457200" y="457200"/>
            <a:ext cx="8229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FP-Growth</a:t>
            </a: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算法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85800"/>
          </a:xfrm>
        </p:spPr>
        <p:txBody>
          <a:bodyPr/>
          <a:lstStyle/>
          <a:p>
            <a:pPr>
              <a:defRPr/>
            </a:pPr>
            <a:r>
              <a:rPr lang="en-US" altLang="zh-CN" sz="3200" smtClean="0">
                <a:ea typeface="宋体" pitchFamily="2" charset="-122"/>
              </a:rPr>
              <a:t>Construct FP-tree from a Transaction Database</a:t>
            </a:r>
          </a:p>
        </p:txBody>
      </p:sp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4191000" y="2971800"/>
            <a:ext cx="4579938" cy="3624263"/>
            <a:chOff x="2496" y="1772"/>
            <a:chExt cx="2926" cy="2218"/>
          </a:xfrm>
        </p:grpSpPr>
        <p:sp>
          <p:nvSpPr>
            <p:cNvPr id="12296" name="Text Box 4"/>
            <p:cNvSpPr txBox="1">
              <a:spLocks noChangeArrowheads="1"/>
            </p:cNvSpPr>
            <p:nvPr/>
          </p:nvSpPr>
          <p:spPr bwMode="auto">
            <a:xfrm>
              <a:off x="4796" y="1772"/>
              <a:ext cx="28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zh-CN" altLang="en-US" sz="2000">
                  <a:ea typeface="宋体" panose="02010600030101010101" pitchFamily="2" charset="-122"/>
                </a:rPr>
                <a:t>{}</a:t>
              </a:r>
            </a:p>
          </p:txBody>
        </p:sp>
        <p:sp>
          <p:nvSpPr>
            <p:cNvPr id="12297" name="Text Box 5"/>
            <p:cNvSpPr txBox="1">
              <a:spLocks noChangeArrowheads="1"/>
            </p:cNvSpPr>
            <p:nvPr/>
          </p:nvSpPr>
          <p:spPr bwMode="auto">
            <a:xfrm>
              <a:off x="4508" y="2205"/>
              <a:ext cx="305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f:4</a:t>
              </a:r>
            </a:p>
          </p:txBody>
        </p:sp>
        <p:sp>
          <p:nvSpPr>
            <p:cNvPr id="12298" name="Text Box 6"/>
            <p:cNvSpPr txBox="1">
              <a:spLocks noChangeArrowheads="1"/>
            </p:cNvSpPr>
            <p:nvPr/>
          </p:nvSpPr>
          <p:spPr bwMode="auto">
            <a:xfrm>
              <a:off x="5084" y="2205"/>
              <a:ext cx="333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c:1</a:t>
              </a:r>
            </a:p>
          </p:txBody>
        </p:sp>
        <p:sp>
          <p:nvSpPr>
            <p:cNvPr id="12299" name="Text Box 7"/>
            <p:cNvSpPr txBox="1">
              <a:spLocks noChangeArrowheads="1"/>
            </p:cNvSpPr>
            <p:nvPr/>
          </p:nvSpPr>
          <p:spPr bwMode="auto">
            <a:xfrm>
              <a:off x="508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2300" name="Text Box 8"/>
            <p:cNvSpPr txBox="1">
              <a:spLocks noChangeArrowheads="1"/>
            </p:cNvSpPr>
            <p:nvPr/>
          </p:nvSpPr>
          <p:spPr bwMode="auto">
            <a:xfrm>
              <a:off x="5080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p:1</a:t>
              </a:r>
            </a:p>
          </p:txBody>
        </p:sp>
        <p:cxnSp>
          <p:nvCxnSpPr>
            <p:cNvPr id="12301" name="AutoShape 9"/>
            <p:cNvCxnSpPr>
              <a:cxnSpLocks noChangeShapeType="1"/>
              <a:stCxn id="12298" idx="2"/>
              <a:endCxn id="12299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2" name="AutoShape 10"/>
            <p:cNvCxnSpPr>
              <a:cxnSpLocks noChangeShapeType="1"/>
              <a:stCxn id="12299" idx="2"/>
              <a:endCxn id="12300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3" name="AutoShape 11"/>
            <p:cNvCxnSpPr>
              <a:cxnSpLocks noChangeShapeType="1"/>
              <a:stCxn id="12296" idx="2"/>
              <a:endCxn id="12298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4" name="AutoShape 12"/>
            <p:cNvCxnSpPr>
              <a:cxnSpLocks noChangeShapeType="1"/>
              <a:stCxn id="12296" idx="2"/>
              <a:endCxn id="12297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5" name="Text Box 13"/>
            <p:cNvSpPr txBox="1">
              <a:spLocks noChangeArrowheads="1"/>
            </p:cNvSpPr>
            <p:nvPr/>
          </p:nvSpPr>
          <p:spPr bwMode="auto">
            <a:xfrm>
              <a:off x="470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2306" name="Text Box 14"/>
            <p:cNvSpPr txBox="1">
              <a:spLocks noChangeArrowheads="1"/>
            </p:cNvSpPr>
            <p:nvPr/>
          </p:nvSpPr>
          <p:spPr bwMode="auto">
            <a:xfrm>
              <a:off x="4321" y="2588"/>
              <a:ext cx="33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c:3</a:t>
              </a:r>
            </a:p>
          </p:txBody>
        </p:sp>
        <p:cxnSp>
          <p:nvCxnSpPr>
            <p:cNvPr id="12307" name="AutoShape 15"/>
            <p:cNvCxnSpPr>
              <a:cxnSpLocks noChangeShapeType="1"/>
              <a:stCxn id="12297" idx="2"/>
              <a:endCxn id="12306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8" name="AutoShape 16"/>
            <p:cNvCxnSpPr>
              <a:cxnSpLocks noChangeShapeType="1"/>
              <a:stCxn id="12297" idx="2"/>
              <a:endCxn id="12305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9" name="Text Box 17"/>
            <p:cNvSpPr txBox="1">
              <a:spLocks noChangeArrowheads="1"/>
            </p:cNvSpPr>
            <p:nvPr/>
          </p:nvSpPr>
          <p:spPr bwMode="auto">
            <a:xfrm>
              <a:off x="4315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a:3</a:t>
              </a:r>
            </a:p>
          </p:txBody>
        </p:sp>
        <p:sp>
          <p:nvSpPr>
            <p:cNvPr id="12310" name="Text Box 18"/>
            <p:cNvSpPr txBox="1">
              <a:spLocks noChangeArrowheads="1"/>
            </p:cNvSpPr>
            <p:nvPr/>
          </p:nvSpPr>
          <p:spPr bwMode="auto">
            <a:xfrm>
              <a:off x="4556" y="3356"/>
              <a:ext cx="342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2311" name="Text Box 19"/>
            <p:cNvSpPr txBox="1">
              <a:spLocks noChangeArrowheads="1"/>
            </p:cNvSpPr>
            <p:nvPr/>
          </p:nvSpPr>
          <p:spPr bwMode="auto">
            <a:xfrm>
              <a:off x="4130" y="3356"/>
              <a:ext cx="378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m:2</a:t>
              </a:r>
            </a:p>
          </p:txBody>
        </p:sp>
        <p:sp>
          <p:nvSpPr>
            <p:cNvPr id="12312" name="Text Box 20"/>
            <p:cNvSpPr txBox="1">
              <a:spLocks noChangeArrowheads="1"/>
            </p:cNvSpPr>
            <p:nvPr/>
          </p:nvSpPr>
          <p:spPr bwMode="auto">
            <a:xfrm>
              <a:off x="4148" y="3739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p:2</a:t>
              </a:r>
            </a:p>
          </p:txBody>
        </p:sp>
        <p:cxnSp>
          <p:nvCxnSpPr>
            <p:cNvPr id="12313" name="AutoShape 21"/>
            <p:cNvCxnSpPr>
              <a:cxnSpLocks noChangeShapeType="1"/>
              <a:stCxn id="12306" idx="2"/>
              <a:endCxn id="12309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4" name="AutoShape 22"/>
            <p:cNvCxnSpPr>
              <a:cxnSpLocks noChangeShapeType="1"/>
              <a:stCxn id="12309" idx="2"/>
              <a:endCxn id="12311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5" name="AutoShape 23"/>
            <p:cNvCxnSpPr>
              <a:cxnSpLocks noChangeShapeType="1"/>
              <a:stCxn id="12309" idx="2"/>
              <a:endCxn id="12310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6" name="AutoShape 24"/>
            <p:cNvCxnSpPr>
              <a:cxnSpLocks noChangeShapeType="1"/>
              <a:stCxn id="12311" idx="2"/>
              <a:endCxn id="12312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17" name="Text Box 25"/>
            <p:cNvSpPr txBox="1">
              <a:spLocks noChangeArrowheads="1"/>
            </p:cNvSpPr>
            <p:nvPr/>
          </p:nvSpPr>
          <p:spPr bwMode="auto">
            <a:xfrm>
              <a:off x="4538" y="3739"/>
              <a:ext cx="378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m:1</a:t>
              </a:r>
            </a:p>
          </p:txBody>
        </p:sp>
        <p:cxnSp>
          <p:nvCxnSpPr>
            <p:cNvPr id="12318" name="AutoShape 26"/>
            <p:cNvCxnSpPr>
              <a:cxnSpLocks noChangeShapeType="1"/>
              <a:stCxn id="12310" idx="2"/>
              <a:endCxn id="12317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19" name="Text Box 27"/>
            <p:cNvSpPr txBox="1">
              <a:spLocks noChangeArrowheads="1"/>
            </p:cNvSpPr>
            <p:nvPr/>
          </p:nvSpPr>
          <p:spPr bwMode="auto">
            <a:xfrm>
              <a:off x="2496" y="1935"/>
              <a:ext cx="1625" cy="157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90000"/>
                </a:lnSpc>
              </a:pPr>
              <a:r>
                <a:rPr lang="en-US" altLang="zh-CN" sz="2000" b="1">
                  <a:ea typeface="宋体" panose="02010600030101010101" pitchFamily="2" charset="-122"/>
                </a:rPr>
                <a:t>Header Table</a:t>
              </a:r>
            </a:p>
            <a:p>
              <a:pPr algn="l">
                <a:lnSpc>
                  <a:spcPct val="90000"/>
                </a:lnSpc>
              </a:pPr>
              <a:endParaRPr lang="en-US" altLang="zh-CN" sz="2000" b="1">
                <a:ea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2000" b="1" i="1" u="sng">
                  <a:ea typeface="宋体" panose="02010600030101010101" pitchFamily="2" charset="-122"/>
                </a:rPr>
                <a:t>Item  frequency  head 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 f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c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a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b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m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p	3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2320" name="Freeform 28"/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1" name="Freeform 29"/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2" name="Freeform 30"/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3" name="Freeform 31"/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4" name="Freeform 32"/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5" name="Freeform 33"/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6" name="Line 34"/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7" name="Freeform 35"/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8" name="Freeform 36"/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9" name="Freeform 37"/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30" name="Freeform 38"/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292" name="Text Box 39"/>
          <p:cNvSpPr txBox="1">
            <a:spLocks noChangeArrowheads="1"/>
          </p:cNvSpPr>
          <p:nvPr/>
        </p:nvSpPr>
        <p:spPr bwMode="auto">
          <a:xfrm>
            <a:off x="6705600" y="2362200"/>
            <a:ext cx="20970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min_support = 3</a:t>
            </a:r>
            <a:endParaRPr lang="en-US" altLang="zh-CN" sz="2400" b="1" u="sng">
              <a:ea typeface="宋体" panose="02010600030101010101" pitchFamily="2" charset="-122"/>
            </a:endParaRPr>
          </a:p>
        </p:txBody>
      </p:sp>
      <p:sp>
        <p:nvSpPr>
          <p:cNvPr id="12293" name="Rectangle 40"/>
          <p:cNvSpPr>
            <a:spLocks noChangeArrowheads="1"/>
          </p:cNvSpPr>
          <p:nvPr/>
        </p:nvSpPr>
        <p:spPr bwMode="auto">
          <a:xfrm>
            <a:off x="914400" y="1676400"/>
            <a:ext cx="59563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TID		Items bought	  (ordered) frequent items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100		{</a:t>
            </a:r>
            <a:r>
              <a:rPr lang="en-US" altLang="zh-CN" sz="2000" b="1" i="1">
                <a:ea typeface="宋体" panose="02010600030101010101" pitchFamily="2" charset="-122"/>
              </a:rPr>
              <a:t>f, a, c, d, g, i, m,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c, a, m,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200		{</a:t>
            </a:r>
            <a:r>
              <a:rPr lang="en-US" altLang="zh-CN" sz="2000" b="1" i="1">
                <a:ea typeface="宋体" panose="02010600030101010101" pitchFamily="2" charset="-122"/>
              </a:rPr>
              <a:t>a, b, c, f, l, m, o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c, a, b, m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300	</a:t>
            </a:r>
            <a:r>
              <a:rPr lang="en-US" altLang="zh-CN" sz="2000" b="1" i="1">
                <a:ea typeface="宋体" panose="02010600030101010101" pitchFamily="2" charset="-122"/>
              </a:rPr>
              <a:t> 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b, f, h, j, o, w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b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400	</a:t>
            </a:r>
            <a:r>
              <a:rPr lang="en-US" altLang="zh-CN" sz="2000" b="1" i="1">
                <a:ea typeface="宋体" panose="02010600030101010101" pitchFamily="2" charset="-122"/>
              </a:rPr>
              <a:t> 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b, c, k, s,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c, b,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500</a:t>
            </a:r>
            <a:r>
              <a:rPr lang="en-US" altLang="zh-CN" sz="2000" b="1" i="1">
                <a:ea typeface="宋体" panose="02010600030101010101" pitchFamily="2" charset="-122"/>
              </a:rPr>
              <a:t>	 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a, f, c, e, l, p, m, n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c, a, m,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2294" name="Text Box 41"/>
          <p:cNvSpPr txBox="1">
            <a:spLocks noChangeArrowheads="1"/>
          </p:cNvSpPr>
          <p:nvPr/>
        </p:nvSpPr>
        <p:spPr bwMode="auto">
          <a:xfrm>
            <a:off x="304800" y="3429000"/>
            <a:ext cx="38100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扫描数据库一遍，找到所有的频繁项目</a:t>
            </a:r>
            <a:endParaRPr lang="en-US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将频繁项目按照降序排列，生成一个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f-list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再扫描数据库一遍，构造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FP-Tree</a:t>
            </a:r>
          </a:p>
        </p:txBody>
      </p:sp>
      <p:sp>
        <p:nvSpPr>
          <p:cNvPr id="12295" name="Text Box 42"/>
          <p:cNvSpPr txBox="1">
            <a:spLocks noChangeArrowheads="1"/>
          </p:cNvSpPr>
          <p:nvPr/>
        </p:nvSpPr>
        <p:spPr bwMode="auto">
          <a:xfrm>
            <a:off x="3565525" y="6129338"/>
            <a:ext cx="2600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F-list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=f-c-a-b-m-p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6858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 smtClean="0">
                <a:ea typeface="宋体" pitchFamily="2" charset="-122"/>
              </a:rPr>
              <a:t>条件模式基</a:t>
            </a:r>
            <a:endParaRPr lang="en-US" altLang="zh-CN" sz="2800" dirty="0" smtClean="0">
              <a:ea typeface="宋体" pitchFamily="2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00188"/>
            <a:ext cx="8382000" cy="14335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100" smtClean="0">
                <a:ea typeface="宋体" panose="02010600030101010101" pitchFamily="2" charset="-122"/>
              </a:rPr>
              <a:t>对所有的频繁项目，找到每一个项目在</a:t>
            </a:r>
            <a:r>
              <a:rPr lang="en-US" altLang="zh-CN" sz="2100" smtClean="0">
                <a:ea typeface="宋体" panose="02010600030101010101" pitchFamily="2" charset="-122"/>
              </a:rPr>
              <a:t>FP-Tree</a:t>
            </a:r>
            <a:r>
              <a:rPr lang="zh-CN" altLang="en-US" sz="2100" smtClean="0">
                <a:ea typeface="宋体" panose="02010600030101010101" pitchFamily="2" charset="-122"/>
              </a:rPr>
              <a:t>的所有前缀，构成每个项目的条件模式基（类似于条件或投影数据库，但去掉了部分不频繁的项目，如</a:t>
            </a:r>
            <a:r>
              <a:rPr lang="en-US" altLang="zh-CN" sz="2100" smtClean="0">
                <a:ea typeface="宋体" panose="02010600030101010101" pitchFamily="2" charset="-122"/>
              </a:rPr>
              <a:t>g</a:t>
            </a:r>
            <a:r>
              <a:rPr lang="zh-CN" altLang="en-US" sz="2100" smtClean="0">
                <a:ea typeface="宋体" panose="02010600030101010101" pitchFamily="2" charset="-122"/>
              </a:rPr>
              <a:t>，</a:t>
            </a:r>
            <a:r>
              <a:rPr lang="en-US" altLang="zh-CN" sz="2100" smtClean="0">
                <a:ea typeface="宋体" panose="02010600030101010101" pitchFamily="2" charset="-122"/>
              </a:rPr>
              <a:t>i</a:t>
            </a:r>
            <a:r>
              <a:rPr lang="zh-CN" altLang="en-US" sz="2100" smtClean="0">
                <a:ea typeface="宋体" panose="02010600030101010101" pitchFamily="2" charset="-122"/>
              </a:rPr>
              <a:t>等）</a:t>
            </a:r>
            <a:endParaRPr lang="en-US" altLang="zh-CN" sz="2100" smtClean="0">
              <a:ea typeface="宋体" panose="02010600030101010101" pitchFamily="2" charset="-122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461000" y="3667125"/>
            <a:ext cx="3327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	f:3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a	fc:3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b	fca:1, f:1, c:1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	fca:2, fcab:1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p	fcam:2, cb:1</a:t>
            </a:r>
          </a:p>
        </p:txBody>
      </p:sp>
      <p:grpSp>
        <p:nvGrpSpPr>
          <p:cNvPr id="13317" name="Group 5"/>
          <p:cNvGrpSpPr>
            <a:grpSpLocks/>
          </p:cNvGrpSpPr>
          <p:nvPr/>
        </p:nvGrpSpPr>
        <p:grpSpPr bwMode="auto">
          <a:xfrm>
            <a:off x="304800" y="3048000"/>
            <a:ext cx="4637088" cy="3525838"/>
            <a:chOff x="2496" y="1772"/>
            <a:chExt cx="2921" cy="2226"/>
          </a:xfrm>
        </p:grpSpPr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4796" y="1772"/>
              <a:ext cx="27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zh-CN" altLang="en-US" sz="2000">
                  <a:ea typeface="宋体" panose="02010600030101010101" pitchFamily="2" charset="-122"/>
                </a:rPr>
                <a:t>{}</a:t>
              </a:r>
            </a:p>
          </p:txBody>
        </p:sp>
        <p:sp>
          <p:nvSpPr>
            <p:cNvPr id="13319" name="Text Box 7"/>
            <p:cNvSpPr txBox="1">
              <a:spLocks noChangeArrowheads="1"/>
            </p:cNvSpPr>
            <p:nvPr/>
          </p:nvSpPr>
          <p:spPr bwMode="auto">
            <a:xfrm>
              <a:off x="4508" y="2205"/>
              <a:ext cx="301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f:4</a:t>
              </a:r>
            </a:p>
          </p:txBody>
        </p:sp>
        <p:sp>
          <p:nvSpPr>
            <p:cNvPr id="13320" name="Text Box 8"/>
            <p:cNvSpPr txBox="1">
              <a:spLocks noChangeArrowheads="1"/>
            </p:cNvSpPr>
            <p:nvPr/>
          </p:nvSpPr>
          <p:spPr bwMode="auto">
            <a:xfrm>
              <a:off x="5084" y="2205"/>
              <a:ext cx="32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c:1</a:t>
              </a:r>
            </a:p>
          </p:txBody>
        </p:sp>
        <p:sp>
          <p:nvSpPr>
            <p:cNvPr id="13321" name="Text Box 9"/>
            <p:cNvSpPr txBox="1">
              <a:spLocks noChangeArrowheads="1"/>
            </p:cNvSpPr>
            <p:nvPr/>
          </p:nvSpPr>
          <p:spPr bwMode="auto">
            <a:xfrm>
              <a:off x="508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3322" name="Text Box 10"/>
            <p:cNvSpPr txBox="1">
              <a:spLocks noChangeArrowheads="1"/>
            </p:cNvSpPr>
            <p:nvPr/>
          </p:nvSpPr>
          <p:spPr bwMode="auto">
            <a:xfrm>
              <a:off x="5080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p:1</a:t>
              </a:r>
            </a:p>
          </p:txBody>
        </p:sp>
        <p:cxnSp>
          <p:nvCxnSpPr>
            <p:cNvPr id="13323" name="AutoShape 11"/>
            <p:cNvCxnSpPr>
              <a:cxnSpLocks noChangeShapeType="1"/>
              <a:stCxn id="13320" idx="2"/>
              <a:endCxn id="13321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4" name="AutoShape 12"/>
            <p:cNvCxnSpPr>
              <a:cxnSpLocks noChangeShapeType="1"/>
              <a:stCxn id="13321" idx="2"/>
              <a:endCxn id="13322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5" name="AutoShape 13"/>
            <p:cNvCxnSpPr>
              <a:cxnSpLocks noChangeShapeType="1"/>
              <a:stCxn id="13318" idx="2"/>
              <a:endCxn id="13320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6" name="AutoShape 14"/>
            <p:cNvCxnSpPr>
              <a:cxnSpLocks noChangeShapeType="1"/>
              <a:stCxn id="13318" idx="2"/>
              <a:endCxn id="13319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27" name="Text Box 15"/>
            <p:cNvSpPr txBox="1">
              <a:spLocks noChangeArrowheads="1"/>
            </p:cNvSpPr>
            <p:nvPr/>
          </p:nvSpPr>
          <p:spPr bwMode="auto">
            <a:xfrm>
              <a:off x="470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3328" name="Text Box 16"/>
            <p:cNvSpPr txBox="1">
              <a:spLocks noChangeArrowheads="1"/>
            </p:cNvSpPr>
            <p:nvPr/>
          </p:nvSpPr>
          <p:spPr bwMode="auto">
            <a:xfrm>
              <a:off x="4321" y="2588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c:3</a:t>
              </a:r>
            </a:p>
          </p:txBody>
        </p:sp>
        <p:cxnSp>
          <p:nvCxnSpPr>
            <p:cNvPr id="13329" name="AutoShape 17"/>
            <p:cNvCxnSpPr>
              <a:cxnSpLocks noChangeShapeType="1"/>
              <a:stCxn id="13319" idx="2"/>
              <a:endCxn id="13328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0" name="AutoShape 18"/>
            <p:cNvCxnSpPr>
              <a:cxnSpLocks noChangeShapeType="1"/>
              <a:stCxn id="13319" idx="2"/>
              <a:endCxn id="13327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1" name="Text Box 19"/>
            <p:cNvSpPr txBox="1">
              <a:spLocks noChangeArrowheads="1"/>
            </p:cNvSpPr>
            <p:nvPr/>
          </p:nvSpPr>
          <p:spPr bwMode="auto">
            <a:xfrm>
              <a:off x="4316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a:3</a:t>
              </a:r>
            </a:p>
          </p:txBody>
        </p:sp>
        <p:sp>
          <p:nvSpPr>
            <p:cNvPr id="13332" name="Text Box 20"/>
            <p:cNvSpPr txBox="1">
              <a:spLocks noChangeArrowheads="1"/>
            </p:cNvSpPr>
            <p:nvPr/>
          </p:nvSpPr>
          <p:spPr bwMode="auto">
            <a:xfrm>
              <a:off x="4556" y="3356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3333" name="Text Box 21"/>
            <p:cNvSpPr txBox="1">
              <a:spLocks noChangeArrowheads="1"/>
            </p:cNvSpPr>
            <p:nvPr/>
          </p:nvSpPr>
          <p:spPr bwMode="auto">
            <a:xfrm>
              <a:off x="4130" y="3356"/>
              <a:ext cx="373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m:2</a:t>
              </a:r>
            </a:p>
          </p:txBody>
        </p:sp>
        <p:sp>
          <p:nvSpPr>
            <p:cNvPr id="13334" name="Text Box 22"/>
            <p:cNvSpPr txBox="1">
              <a:spLocks noChangeArrowheads="1"/>
            </p:cNvSpPr>
            <p:nvPr/>
          </p:nvSpPr>
          <p:spPr bwMode="auto">
            <a:xfrm>
              <a:off x="4148" y="3739"/>
              <a:ext cx="337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p:2</a:t>
              </a:r>
            </a:p>
          </p:txBody>
        </p:sp>
        <p:cxnSp>
          <p:nvCxnSpPr>
            <p:cNvPr id="13335" name="AutoShape 23"/>
            <p:cNvCxnSpPr>
              <a:cxnSpLocks noChangeShapeType="1"/>
              <a:stCxn id="13328" idx="2"/>
              <a:endCxn id="13331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6" name="AutoShape 24"/>
            <p:cNvCxnSpPr>
              <a:cxnSpLocks noChangeShapeType="1"/>
              <a:stCxn id="13331" idx="2"/>
              <a:endCxn id="13333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7" name="AutoShape 25"/>
            <p:cNvCxnSpPr>
              <a:cxnSpLocks noChangeShapeType="1"/>
              <a:stCxn id="13331" idx="2"/>
              <a:endCxn id="13332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8" name="AutoShape 26"/>
            <p:cNvCxnSpPr>
              <a:cxnSpLocks noChangeShapeType="1"/>
              <a:stCxn id="13333" idx="2"/>
              <a:endCxn id="13334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9" name="Text Box 27"/>
            <p:cNvSpPr txBox="1">
              <a:spLocks noChangeArrowheads="1"/>
            </p:cNvSpPr>
            <p:nvPr/>
          </p:nvSpPr>
          <p:spPr bwMode="auto">
            <a:xfrm>
              <a:off x="4538" y="3739"/>
              <a:ext cx="373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m:1</a:t>
              </a:r>
            </a:p>
          </p:txBody>
        </p:sp>
        <p:cxnSp>
          <p:nvCxnSpPr>
            <p:cNvPr id="13340" name="AutoShape 28"/>
            <p:cNvCxnSpPr>
              <a:cxnSpLocks noChangeShapeType="1"/>
              <a:stCxn id="13332" idx="2"/>
              <a:endCxn id="13339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41" name="Text Box 29"/>
            <p:cNvSpPr txBox="1">
              <a:spLocks noChangeArrowheads="1"/>
            </p:cNvSpPr>
            <p:nvPr/>
          </p:nvSpPr>
          <p:spPr bwMode="auto">
            <a:xfrm>
              <a:off x="2496" y="1935"/>
              <a:ext cx="1602" cy="162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90000"/>
                </a:lnSpc>
              </a:pPr>
              <a:r>
                <a:rPr lang="en-US" altLang="zh-CN" sz="2000" b="1">
                  <a:ea typeface="宋体" panose="02010600030101010101" pitchFamily="2" charset="-122"/>
                </a:rPr>
                <a:t>Header Table</a:t>
              </a:r>
            </a:p>
            <a:p>
              <a:pPr algn="l">
                <a:lnSpc>
                  <a:spcPct val="90000"/>
                </a:lnSpc>
              </a:pPr>
              <a:endParaRPr lang="en-US" altLang="zh-CN" sz="2000" b="1">
                <a:ea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2000" b="1" i="1" u="sng">
                  <a:ea typeface="宋体" panose="02010600030101010101" pitchFamily="2" charset="-122"/>
                </a:rPr>
                <a:t>Item  frequency  head 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 f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c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a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b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m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p	3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3342" name="Freeform 30"/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3" name="Freeform 31"/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4" name="Freeform 32"/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5" name="Freeform 33"/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6" name="Freeform 34"/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7" name="Freeform 35"/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8" name="Line 36"/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9" name="Freeform 37"/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50" name="Freeform 38"/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51" name="Freeform 39"/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52" name="Freeform 40"/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 smtClean="0">
                <a:ea typeface="宋体" pitchFamily="2" charset="-122"/>
              </a:rPr>
              <a:t>递归构造条件模式基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 smtClean="0">
                <a:ea typeface="宋体" panose="02010600030101010101" pitchFamily="2" charset="-122"/>
              </a:rPr>
              <a:t>FP-Growth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4714875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1800" b="1" i="1">
                <a:ea typeface="宋体" panose="02010600030101010101" pitchFamily="2" charset="-122"/>
              </a:rPr>
              <a:t>m-conditional </a:t>
            </a:r>
            <a:r>
              <a:rPr lang="en-US" altLang="zh-CN" sz="1800" b="1">
                <a:ea typeface="宋体" panose="02010600030101010101" pitchFamily="2" charset="-122"/>
              </a:rPr>
              <a:t>pattern base:</a:t>
            </a:r>
          </a:p>
          <a:p>
            <a:pPr lvl="1" algn="l"/>
            <a:r>
              <a:rPr lang="en-US" altLang="zh-CN" sz="1800" b="1" i="1">
                <a:ea typeface="宋体" panose="02010600030101010101" pitchFamily="2" charset="-122"/>
              </a:rPr>
              <a:t>fca:2, fcab:1</a:t>
            </a:r>
          </a:p>
        </p:txBody>
      </p:sp>
      <p:grpSp>
        <p:nvGrpSpPr>
          <p:cNvPr id="14341" name="Group 5"/>
          <p:cNvGrpSpPr>
            <a:grpSpLocks/>
          </p:cNvGrpSpPr>
          <p:nvPr/>
        </p:nvGrpSpPr>
        <p:grpSpPr bwMode="auto">
          <a:xfrm>
            <a:off x="4643438" y="4143375"/>
            <a:ext cx="2298700" cy="2324100"/>
            <a:chOff x="3312" y="2736"/>
            <a:chExt cx="1448" cy="1464"/>
          </a:xfrm>
        </p:grpSpPr>
        <p:grpSp>
          <p:nvGrpSpPr>
            <p:cNvPr id="14380" name="Group 6"/>
            <p:cNvGrpSpPr>
              <a:grpSpLocks/>
            </p:cNvGrpSpPr>
            <p:nvPr/>
          </p:nvGrpSpPr>
          <p:grpSpPr bwMode="auto">
            <a:xfrm>
              <a:off x="3792" y="2736"/>
              <a:ext cx="329" cy="1297"/>
              <a:chOff x="2282" y="2456"/>
              <a:chExt cx="329" cy="1297"/>
            </a:xfrm>
          </p:grpSpPr>
          <p:sp>
            <p:nvSpPr>
              <p:cNvPr id="14382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zh-CN" altLang="en-US" sz="2000">
                    <a:ea typeface="宋体" panose="02010600030101010101" pitchFamily="2" charset="-122"/>
                  </a:rPr>
                  <a:t>{}</a:t>
                </a:r>
              </a:p>
            </p:txBody>
          </p:sp>
          <p:sp>
            <p:nvSpPr>
              <p:cNvPr id="14383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f:3</a:t>
                </a:r>
              </a:p>
            </p:txBody>
          </p:sp>
          <p:sp>
            <p:nvSpPr>
              <p:cNvPr id="14384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c:3</a:t>
                </a:r>
              </a:p>
            </p:txBody>
          </p:sp>
          <p:sp>
            <p:nvSpPr>
              <p:cNvPr id="14385" name="Text Box 10"/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a:3</a:t>
                </a:r>
              </a:p>
            </p:txBody>
          </p:sp>
          <p:cxnSp>
            <p:nvCxnSpPr>
              <p:cNvPr id="14386" name="AutoShape 11"/>
              <p:cNvCxnSpPr>
                <a:cxnSpLocks noChangeShapeType="1"/>
                <a:stCxn id="14382" idx="2"/>
                <a:endCxn id="14383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87" name="AutoShape 12"/>
              <p:cNvCxnSpPr>
                <a:cxnSpLocks noChangeShapeType="1"/>
                <a:stCxn id="14383" idx="2"/>
                <a:endCxn id="14384" idx="0"/>
              </p:cNvCxnSpPr>
              <p:nvPr/>
            </p:nvCxnSpPr>
            <p:spPr bwMode="auto">
              <a:xfrm>
                <a:off x="2447" y="3090"/>
                <a:ext cx="0" cy="7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88" name="AutoShape 13"/>
              <p:cNvCxnSpPr>
                <a:cxnSpLocks noChangeShapeType="1"/>
                <a:stCxn id="14384" idx="2"/>
                <a:endCxn id="14385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4381" name="Text Box 14"/>
            <p:cNvSpPr txBox="1">
              <a:spLocks noChangeArrowheads="1"/>
            </p:cNvSpPr>
            <p:nvPr/>
          </p:nvSpPr>
          <p:spPr bwMode="auto">
            <a:xfrm>
              <a:off x="3312" y="3969"/>
              <a:ext cx="1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1800" b="1" i="1">
                  <a:ea typeface="宋体" panose="02010600030101010101" pitchFamily="2" charset="-122"/>
                </a:rPr>
                <a:t>m-conditional </a:t>
              </a:r>
              <a:r>
                <a:rPr lang="en-US" altLang="zh-CN" sz="1800" b="1">
                  <a:ea typeface="宋体" panose="02010600030101010101" pitchFamily="2" charset="-122"/>
                </a:rPr>
                <a:t>FP-tree</a:t>
              </a:r>
              <a:endParaRPr lang="en-US" altLang="zh-CN" sz="1800" b="1" i="1">
                <a:ea typeface="宋体" panose="02010600030101010101" pitchFamily="2" charset="-122"/>
              </a:endParaRPr>
            </a:p>
          </p:txBody>
        </p:sp>
      </p:grpSp>
      <p:sp>
        <p:nvSpPr>
          <p:cNvPr id="14342" name="Text Box 16"/>
          <p:cNvSpPr txBox="1">
            <a:spLocks noChangeArrowheads="1"/>
          </p:cNvSpPr>
          <p:nvPr/>
        </p:nvSpPr>
        <p:spPr bwMode="auto">
          <a:xfrm>
            <a:off x="4929188" y="4643438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4343" name="Rectangle 17"/>
          <p:cNvSpPr>
            <a:spLocks noChangeArrowheads="1"/>
          </p:cNvSpPr>
          <p:nvPr/>
        </p:nvSpPr>
        <p:spPr bwMode="auto">
          <a:xfrm>
            <a:off x="5929313" y="4643438"/>
            <a:ext cx="496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</a:p>
        </p:txBody>
      </p:sp>
      <p:sp>
        <p:nvSpPr>
          <p:cNvPr id="14344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4345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4346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4347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4348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4349" name="AutoShape 23"/>
          <p:cNvCxnSpPr>
            <a:cxnSpLocks noChangeShapeType="1"/>
            <a:stCxn id="14346" idx="2"/>
            <a:endCxn id="14347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0" name="AutoShape 24"/>
          <p:cNvCxnSpPr>
            <a:cxnSpLocks noChangeShapeType="1"/>
            <a:stCxn id="14347" idx="2"/>
            <a:endCxn id="14348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1" name="AutoShape 25"/>
          <p:cNvCxnSpPr>
            <a:cxnSpLocks noChangeShapeType="1"/>
            <a:stCxn id="14344" idx="2"/>
            <a:endCxn id="14346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2" name="AutoShape 26"/>
          <p:cNvCxnSpPr>
            <a:cxnSpLocks noChangeShapeType="1"/>
            <a:stCxn id="14344" idx="2"/>
            <a:endCxn id="14345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3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4354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4355" name="AutoShape 29"/>
          <p:cNvCxnSpPr>
            <a:cxnSpLocks noChangeShapeType="1"/>
            <a:stCxn id="14345" idx="2"/>
            <a:endCxn id="14354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6" name="AutoShape 30"/>
          <p:cNvCxnSpPr>
            <a:cxnSpLocks noChangeShapeType="1"/>
            <a:stCxn id="14345" idx="2"/>
            <a:endCxn id="14353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7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4358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4359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4360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4361" name="AutoShape 35"/>
          <p:cNvCxnSpPr>
            <a:cxnSpLocks noChangeShapeType="1"/>
            <a:stCxn id="14354" idx="2"/>
            <a:endCxn id="14357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2" name="AutoShape 36"/>
          <p:cNvCxnSpPr>
            <a:cxnSpLocks noChangeShapeType="1"/>
            <a:stCxn id="14357" idx="2"/>
            <a:endCxn id="14359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3" name="AutoShape 37"/>
          <p:cNvCxnSpPr>
            <a:cxnSpLocks noChangeShapeType="1"/>
            <a:stCxn id="14357" idx="2"/>
            <a:endCxn id="14358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4" name="AutoShape 38"/>
          <p:cNvCxnSpPr>
            <a:cxnSpLocks noChangeShapeType="1"/>
            <a:stCxn id="14359" idx="2"/>
            <a:endCxn id="14360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65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4366" name="AutoShape 40"/>
          <p:cNvCxnSpPr>
            <a:cxnSpLocks noChangeShapeType="1"/>
            <a:stCxn id="14358" idx="2"/>
            <a:endCxn id="14365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67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4368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69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0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1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2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3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4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75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6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7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8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9" name="Rectangle 4"/>
          <p:cNvSpPr>
            <a:spLocks noChangeArrowheads="1"/>
          </p:cNvSpPr>
          <p:nvPr/>
        </p:nvSpPr>
        <p:spPr bwMode="auto">
          <a:xfrm>
            <a:off x="6315075" y="4079875"/>
            <a:ext cx="335756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mc         f:3 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	fc:3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endParaRPr lang="en-US" altLang="zh-CN" sz="2000" b="1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 smtClean="0">
                <a:ea typeface="宋体" pitchFamily="2" charset="-122"/>
              </a:rPr>
              <a:t>递归构造条件模式基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 smtClean="0">
                <a:ea typeface="宋体" panose="02010600030101010101" pitchFamily="2" charset="-122"/>
              </a:rPr>
              <a:t>FP-Growth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181600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1800" b="1" i="1">
                <a:ea typeface="宋体" panose="02010600030101010101" pitchFamily="2" charset="-122"/>
              </a:rPr>
              <a:t>ma-conditional </a:t>
            </a:r>
            <a:r>
              <a:rPr lang="en-US" altLang="zh-CN" sz="1800" b="1">
                <a:ea typeface="宋体" panose="02010600030101010101" pitchFamily="2" charset="-122"/>
              </a:rPr>
              <a:t>pattern base:</a:t>
            </a:r>
          </a:p>
          <a:p>
            <a:pPr lvl="1" algn="l"/>
            <a:r>
              <a:rPr lang="en-US" altLang="zh-CN" sz="1800" b="1" i="1">
                <a:ea typeface="宋体" panose="02010600030101010101" pitchFamily="2" charset="-122"/>
              </a:rPr>
              <a:t>fc:3</a:t>
            </a:r>
          </a:p>
        </p:txBody>
      </p:sp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4572000" y="4343400"/>
            <a:ext cx="2430463" cy="2303463"/>
            <a:chOff x="3312" y="2736"/>
            <a:chExt cx="1531" cy="1451"/>
          </a:xfrm>
        </p:grpSpPr>
        <p:grpSp>
          <p:nvGrpSpPr>
            <p:cNvPr id="15404" name="Group 6"/>
            <p:cNvGrpSpPr>
              <a:grpSpLocks/>
            </p:cNvGrpSpPr>
            <p:nvPr/>
          </p:nvGrpSpPr>
          <p:grpSpPr bwMode="auto">
            <a:xfrm>
              <a:off x="3797" y="2736"/>
              <a:ext cx="320" cy="961"/>
              <a:chOff x="2287" y="2456"/>
              <a:chExt cx="320" cy="961"/>
            </a:xfrm>
          </p:grpSpPr>
          <p:sp>
            <p:nvSpPr>
              <p:cNvPr id="15406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zh-CN" altLang="en-US" sz="2000">
                    <a:ea typeface="宋体" panose="02010600030101010101" pitchFamily="2" charset="-122"/>
                  </a:rPr>
                  <a:t>{}</a:t>
                </a:r>
              </a:p>
            </p:txBody>
          </p:sp>
          <p:sp>
            <p:nvSpPr>
              <p:cNvPr id="15407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25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f:3</a:t>
                </a:r>
              </a:p>
            </p:txBody>
          </p:sp>
          <p:sp>
            <p:nvSpPr>
              <p:cNvPr id="15408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c:3</a:t>
                </a:r>
              </a:p>
            </p:txBody>
          </p:sp>
          <p:cxnSp>
            <p:nvCxnSpPr>
              <p:cNvPr id="15409" name="AutoShape 11"/>
              <p:cNvCxnSpPr>
                <a:cxnSpLocks noChangeShapeType="1"/>
                <a:stCxn id="15406" idx="2"/>
                <a:endCxn id="15407" idx="0"/>
              </p:cNvCxnSpPr>
              <p:nvPr/>
            </p:nvCxnSpPr>
            <p:spPr bwMode="auto">
              <a:xfrm rot="5400000">
                <a:off x="2387" y="2765"/>
                <a:ext cx="119" cy="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10" name="AutoShape 12"/>
              <p:cNvCxnSpPr>
                <a:cxnSpLocks noChangeShapeType="1"/>
                <a:stCxn id="15407" idx="2"/>
                <a:endCxn id="15408" idx="0"/>
              </p:cNvCxnSpPr>
              <p:nvPr/>
            </p:nvCxnSpPr>
            <p:spPr bwMode="auto">
              <a:xfrm rot="16200000" flipH="1">
                <a:off x="2401" y="3121"/>
                <a:ext cx="92" cy="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405" name="Text Box 14"/>
            <p:cNvSpPr txBox="1">
              <a:spLocks noChangeArrowheads="1"/>
            </p:cNvSpPr>
            <p:nvPr/>
          </p:nvSpPr>
          <p:spPr bwMode="auto">
            <a:xfrm>
              <a:off x="3312" y="3954"/>
              <a:ext cx="153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1800" b="1" i="1">
                  <a:ea typeface="宋体" panose="02010600030101010101" pitchFamily="2" charset="-122"/>
                </a:rPr>
                <a:t>ma-conditional </a:t>
              </a:r>
              <a:r>
                <a:rPr lang="en-US" altLang="zh-CN" sz="1800" b="1">
                  <a:ea typeface="宋体" panose="02010600030101010101" pitchFamily="2" charset="-122"/>
                </a:rPr>
                <a:t>FP-tree</a:t>
              </a:r>
              <a:endParaRPr lang="en-US" altLang="zh-CN" sz="1800" b="1" i="1">
                <a:ea typeface="宋体" panose="02010600030101010101" pitchFamily="2" charset="-122"/>
              </a:endParaRPr>
            </a:p>
          </p:txBody>
        </p:sp>
      </p:grpSp>
      <p:sp>
        <p:nvSpPr>
          <p:cNvPr id="15366" name="Text Box 16"/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5367" name="Rectangle 17"/>
          <p:cNvSpPr>
            <a:spLocks noChangeArrowheads="1"/>
          </p:cNvSpPr>
          <p:nvPr/>
        </p:nvSpPr>
        <p:spPr bwMode="auto">
          <a:xfrm>
            <a:off x="5715000" y="4786313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</a:p>
        </p:txBody>
      </p:sp>
      <p:sp>
        <p:nvSpPr>
          <p:cNvPr id="15368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5369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5370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5371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5372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5373" name="AutoShape 23"/>
          <p:cNvCxnSpPr>
            <a:cxnSpLocks noChangeShapeType="1"/>
            <a:stCxn id="15370" idx="2"/>
            <a:endCxn id="15371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4" name="AutoShape 24"/>
          <p:cNvCxnSpPr>
            <a:cxnSpLocks noChangeShapeType="1"/>
            <a:stCxn id="15371" idx="2"/>
            <a:endCxn id="15372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5" name="AutoShape 25"/>
          <p:cNvCxnSpPr>
            <a:cxnSpLocks noChangeShapeType="1"/>
            <a:stCxn id="15368" idx="2"/>
            <a:endCxn id="15370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6" name="AutoShape 26"/>
          <p:cNvCxnSpPr>
            <a:cxnSpLocks noChangeShapeType="1"/>
            <a:stCxn id="15368" idx="2"/>
            <a:endCxn id="15369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7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5378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5379" name="AutoShape 29"/>
          <p:cNvCxnSpPr>
            <a:cxnSpLocks noChangeShapeType="1"/>
            <a:stCxn id="15369" idx="2"/>
            <a:endCxn id="15378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AutoShape 30"/>
          <p:cNvCxnSpPr>
            <a:cxnSpLocks noChangeShapeType="1"/>
            <a:stCxn id="15369" idx="2"/>
            <a:endCxn id="15377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1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5382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5383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5384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5385" name="AutoShape 35"/>
          <p:cNvCxnSpPr>
            <a:cxnSpLocks noChangeShapeType="1"/>
            <a:stCxn id="15378" idx="2"/>
            <a:endCxn id="15381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6" name="AutoShape 36"/>
          <p:cNvCxnSpPr>
            <a:cxnSpLocks noChangeShapeType="1"/>
            <a:stCxn id="15381" idx="2"/>
            <a:endCxn id="15383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7" name="AutoShape 37"/>
          <p:cNvCxnSpPr>
            <a:cxnSpLocks noChangeShapeType="1"/>
            <a:stCxn id="15381" idx="2"/>
            <a:endCxn id="15382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8" name="AutoShape 38"/>
          <p:cNvCxnSpPr>
            <a:cxnSpLocks noChangeShapeType="1"/>
            <a:stCxn id="15383" idx="2"/>
            <a:endCxn id="15384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9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5390" name="AutoShape 40"/>
          <p:cNvCxnSpPr>
            <a:cxnSpLocks noChangeShapeType="1"/>
            <a:stCxn id="15382" idx="2"/>
            <a:endCxn id="15389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91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5392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3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4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5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6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7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8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99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0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1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2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3" name="Rectangle 4"/>
          <p:cNvSpPr>
            <a:spLocks noChangeArrowheads="1"/>
          </p:cNvSpPr>
          <p:nvPr/>
        </p:nvSpPr>
        <p:spPr bwMode="auto">
          <a:xfrm>
            <a:off x="6072188" y="4286250"/>
            <a:ext cx="335756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mac         f:3 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endParaRPr lang="en-US" altLang="zh-CN" sz="2000" b="1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 smtClean="0">
                <a:ea typeface="宋体" pitchFamily="2" charset="-122"/>
              </a:rPr>
              <a:t>递归构造条件模式基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 smtClean="0">
                <a:ea typeface="宋体" panose="02010600030101010101" pitchFamily="2" charset="-122"/>
              </a:rPr>
              <a:t>FP-Growth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5181600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1800" b="1" i="1">
                <a:ea typeface="宋体" panose="02010600030101010101" pitchFamily="2" charset="-122"/>
              </a:rPr>
              <a:t>mac-conditional </a:t>
            </a:r>
            <a:r>
              <a:rPr lang="en-US" altLang="zh-CN" sz="1800" b="1">
                <a:ea typeface="宋体" panose="02010600030101010101" pitchFamily="2" charset="-122"/>
              </a:rPr>
              <a:t>pattern base:</a:t>
            </a:r>
          </a:p>
          <a:p>
            <a:pPr lvl="1" algn="l"/>
            <a:r>
              <a:rPr lang="en-US" altLang="zh-CN" sz="1800" b="1" i="1">
                <a:ea typeface="宋体" panose="02010600030101010101" pitchFamily="2" charset="-122"/>
              </a:rPr>
              <a:t>f:3</a:t>
            </a:r>
          </a:p>
        </p:txBody>
      </p:sp>
      <p:grpSp>
        <p:nvGrpSpPr>
          <p:cNvPr id="16389" name="Group 5"/>
          <p:cNvGrpSpPr>
            <a:grpSpLocks/>
          </p:cNvGrpSpPr>
          <p:nvPr/>
        </p:nvGrpSpPr>
        <p:grpSpPr bwMode="auto">
          <a:xfrm>
            <a:off x="4643438" y="4343400"/>
            <a:ext cx="2533650" cy="2327275"/>
            <a:chOff x="3312" y="2736"/>
            <a:chExt cx="1596" cy="1466"/>
          </a:xfrm>
        </p:grpSpPr>
        <p:grpSp>
          <p:nvGrpSpPr>
            <p:cNvPr id="16428" name="Group 6"/>
            <p:cNvGrpSpPr>
              <a:grpSpLocks/>
            </p:cNvGrpSpPr>
            <p:nvPr/>
          </p:nvGrpSpPr>
          <p:grpSpPr bwMode="auto">
            <a:xfrm>
              <a:off x="3810" y="2736"/>
              <a:ext cx="293" cy="634"/>
              <a:chOff x="2300" y="2456"/>
              <a:chExt cx="293" cy="634"/>
            </a:xfrm>
          </p:grpSpPr>
          <p:sp>
            <p:nvSpPr>
              <p:cNvPr id="16430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zh-CN" altLang="en-US" sz="2000">
                    <a:ea typeface="宋体" panose="02010600030101010101" pitchFamily="2" charset="-122"/>
                  </a:rPr>
                  <a:t>{}</a:t>
                </a:r>
              </a:p>
            </p:txBody>
          </p:sp>
          <p:sp>
            <p:nvSpPr>
              <p:cNvPr id="16431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f:3</a:t>
                </a:r>
              </a:p>
            </p:txBody>
          </p:sp>
          <p:cxnSp>
            <p:nvCxnSpPr>
              <p:cNvPr id="16432" name="AutoShape 11"/>
              <p:cNvCxnSpPr>
                <a:cxnSpLocks noChangeShapeType="1"/>
                <a:stCxn id="16430" idx="2"/>
                <a:endCxn id="16431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429" name="Text Box 14"/>
            <p:cNvSpPr txBox="1">
              <a:spLocks noChangeArrowheads="1"/>
            </p:cNvSpPr>
            <p:nvPr/>
          </p:nvSpPr>
          <p:spPr bwMode="auto">
            <a:xfrm>
              <a:off x="3312" y="3969"/>
              <a:ext cx="15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1800" b="1" i="1">
                  <a:ea typeface="宋体" panose="02010600030101010101" pitchFamily="2" charset="-122"/>
                </a:rPr>
                <a:t>mac-conditional </a:t>
              </a:r>
              <a:r>
                <a:rPr lang="en-US" altLang="zh-CN" sz="1800" b="1">
                  <a:ea typeface="宋体" panose="02010600030101010101" pitchFamily="2" charset="-122"/>
                </a:rPr>
                <a:t>FP-tree</a:t>
              </a:r>
              <a:endParaRPr lang="en-US" altLang="zh-CN" sz="1800" b="1" i="1">
                <a:ea typeface="宋体" panose="02010600030101010101" pitchFamily="2" charset="-122"/>
              </a:endParaRPr>
            </a:p>
          </p:txBody>
        </p:sp>
      </p:grpSp>
      <p:sp>
        <p:nvSpPr>
          <p:cNvPr id="16390" name="Text Box 16"/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6391" name="Rectangle 17"/>
          <p:cNvSpPr>
            <a:spLocks noChangeArrowheads="1"/>
          </p:cNvSpPr>
          <p:nvPr/>
        </p:nvSpPr>
        <p:spPr bwMode="auto">
          <a:xfrm>
            <a:off x="5786438" y="4876800"/>
            <a:ext cx="496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</a:p>
        </p:txBody>
      </p:sp>
      <p:sp>
        <p:nvSpPr>
          <p:cNvPr id="16392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6393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6394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6395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6396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6397" name="AutoShape 23"/>
          <p:cNvCxnSpPr>
            <a:cxnSpLocks noChangeShapeType="1"/>
            <a:stCxn id="16394" idx="2"/>
            <a:endCxn id="16395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24"/>
          <p:cNvCxnSpPr>
            <a:cxnSpLocks noChangeShapeType="1"/>
            <a:stCxn id="16395" idx="2"/>
            <a:endCxn id="16396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25"/>
          <p:cNvCxnSpPr>
            <a:cxnSpLocks noChangeShapeType="1"/>
            <a:stCxn id="16392" idx="2"/>
            <a:endCxn id="16394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26"/>
          <p:cNvCxnSpPr>
            <a:cxnSpLocks noChangeShapeType="1"/>
            <a:stCxn id="16392" idx="2"/>
            <a:endCxn id="16393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1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6402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6403" name="AutoShape 29"/>
          <p:cNvCxnSpPr>
            <a:cxnSpLocks noChangeShapeType="1"/>
            <a:stCxn id="16393" idx="2"/>
            <a:endCxn id="16402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4" name="AutoShape 30"/>
          <p:cNvCxnSpPr>
            <a:cxnSpLocks noChangeShapeType="1"/>
            <a:stCxn id="16393" idx="2"/>
            <a:endCxn id="16401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5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6406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6407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6408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6409" name="AutoShape 35"/>
          <p:cNvCxnSpPr>
            <a:cxnSpLocks noChangeShapeType="1"/>
            <a:stCxn id="16402" idx="2"/>
            <a:endCxn id="16405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0" name="AutoShape 36"/>
          <p:cNvCxnSpPr>
            <a:cxnSpLocks noChangeShapeType="1"/>
            <a:stCxn id="16405" idx="2"/>
            <a:endCxn id="16407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1" name="AutoShape 37"/>
          <p:cNvCxnSpPr>
            <a:cxnSpLocks noChangeShapeType="1"/>
            <a:stCxn id="16405" idx="2"/>
            <a:endCxn id="16406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2" name="AutoShape 38"/>
          <p:cNvCxnSpPr>
            <a:cxnSpLocks noChangeShapeType="1"/>
            <a:stCxn id="16407" idx="2"/>
            <a:endCxn id="16408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3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6414" name="AutoShape 40"/>
          <p:cNvCxnSpPr>
            <a:cxnSpLocks noChangeShapeType="1"/>
            <a:stCxn id="16406" idx="2"/>
            <a:endCxn id="16413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5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6416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17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18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19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0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1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2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23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4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5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6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7" name="Rectangle 4"/>
          <p:cNvSpPr>
            <a:spLocks noChangeArrowheads="1"/>
          </p:cNvSpPr>
          <p:nvPr/>
        </p:nvSpPr>
        <p:spPr bwMode="auto">
          <a:xfrm>
            <a:off x="6072188" y="4357688"/>
            <a:ext cx="335756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macf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endParaRPr lang="en-US" altLang="zh-CN" sz="2000" b="1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 smtClean="0">
                <a:ea typeface="宋体" pitchFamily="2" charset="-122"/>
              </a:rPr>
              <a:t>递归构造条件模式基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 smtClean="0">
                <a:ea typeface="宋体" panose="02010600030101010101" pitchFamily="2" charset="-122"/>
              </a:rPr>
              <a:t>FP-Growth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7412" name="Rectangle 15"/>
          <p:cNvSpPr>
            <a:spLocks noChangeArrowheads="1"/>
          </p:cNvSpPr>
          <p:nvPr/>
        </p:nvSpPr>
        <p:spPr bwMode="auto">
          <a:xfrm>
            <a:off x="5643563" y="4143375"/>
            <a:ext cx="25717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All frequent patterns relate to</a:t>
            </a:r>
            <a:r>
              <a:rPr lang="en-US" altLang="zh-CN" sz="1800" b="1" i="1">
                <a:ea typeface="宋体" panose="02010600030101010101" pitchFamily="2" charset="-122"/>
              </a:rPr>
              <a:t> m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m,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fm, cm, am,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fcm, fam, cam,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fcam</a:t>
            </a:r>
          </a:p>
        </p:txBody>
      </p:sp>
      <p:sp>
        <p:nvSpPr>
          <p:cNvPr id="17413" name="Text Box 16"/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7414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7415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7416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7417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7418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7419" name="AutoShape 23"/>
          <p:cNvCxnSpPr>
            <a:cxnSpLocks noChangeShapeType="1"/>
            <a:stCxn id="17416" idx="2"/>
            <a:endCxn id="17417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0" name="AutoShape 24"/>
          <p:cNvCxnSpPr>
            <a:cxnSpLocks noChangeShapeType="1"/>
            <a:stCxn id="17417" idx="2"/>
            <a:endCxn id="17418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1" name="AutoShape 25"/>
          <p:cNvCxnSpPr>
            <a:cxnSpLocks noChangeShapeType="1"/>
            <a:stCxn id="17414" idx="2"/>
            <a:endCxn id="17416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2" name="AutoShape 26"/>
          <p:cNvCxnSpPr>
            <a:cxnSpLocks noChangeShapeType="1"/>
            <a:stCxn id="17414" idx="2"/>
            <a:endCxn id="17415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3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7424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7425" name="AutoShape 29"/>
          <p:cNvCxnSpPr>
            <a:cxnSpLocks noChangeShapeType="1"/>
            <a:stCxn id="17415" idx="2"/>
            <a:endCxn id="17424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6" name="AutoShape 30"/>
          <p:cNvCxnSpPr>
            <a:cxnSpLocks noChangeShapeType="1"/>
            <a:stCxn id="17415" idx="2"/>
            <a:endCxn id="17423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7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7428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7429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7430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7431" name="AutoShape 35"/>
          <p:cNvCxnSpPr>
            <a:cxnSpLocks noChangeShapeType="1"/>
            <a:stCxn id="17424" idx="2"/>
            <a:endCxn id="17427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2" name="AutoShape 36"/>
          <p:cNvCxnSpPr>
            <a:cxnSpLocks noChangeShapeType="1"/>
            <a:stCxn id="17427" idx="2"/>
            <a:endCxn id="17429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3" name="AutoShape 37"/>
          <p:cNvCxnSpPr>
            <a:cxnSpLocks noChangeShapeType="1"/>
            <a:stCxn id="17427" idx="2"/>
            <a:endCxn id="17428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4" name="AutoShape 38"/>
          <p:cNvCxnSpPr>
            <a:cxnSpLocks noChangeShapeType="1"/>
            <a:stCxn id="17429" idx="2"/>
            <a:endCxn id="17430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5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7436" name="AutoShape 40"/>
          <p:cNvCxnSpPr>
            <a:cxnSpLocks noChangeShapeType="1"/>
            <a:stCxn id="17428" idx="2"/>
            <a:endCxn id="17435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7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7438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39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0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1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2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3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4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5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6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7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8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 smtClean="0">
              <a:ea typeface="宋体" pitchFamily="2" charset="-122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构造</a:t>
            </a:r>
            <a:r>
              <a:rPr lang="en-US" altLang="zh-CN" smtClean="0">
                <a:ea typeface="宋体" panose="02010600030101010101" pitchFamily="2" charset="-122"/>
              </a:rPr>
              <a:t>FP-tree</a:t>
            </a:r>
          </a:p>
          <a:p>
            <a:pPr lvl="1"/>
            <a:r>
              <a:rPr lang="zh-CN" altLang="en-US" smtClean="0">
                <a:ea typeface="宋体" panose="02010600030101010101" pitchFamily="2" charset="-122"/>
              </a:rPr>
              <a:t>为了快速生成各个频繁集合的投影数据库，避免顺序扫描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Monotype Sorts" pitchFamily="2" charset="2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挖掘</a:t>
            </a:r>
            <a:r>
              <a:rPr lang="en-US" altLang="zh-CN" smtClean="0">
                <a:ea typeface="宋体" panose="02010600030101010101" pitchFamily="2" charset="-122"/>
              </a:rPr>
              <a:t>FP-tree</a:t>
            </a:r>
          </a:p>
          <a:p>
            <a:pPr lvl="1"/>
            <a:r>
              <a:rPr lang="zh-CN" altLang="en-US" smtClean="0">
                <a:ea typeface="宋体" panose="02010600030101010101" pitchFamily="2" charset="-122"/>
              </a:rPr>
              <a:t>就是一个按照深度优先顺序生成投影数据库的过程。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zh-CN" altLang="en-US" smtClean="0">
                <a:ea typeface="宋体" panose="02010600030101010101" pitchFamily="2" charset="-122"/>
              </a:rPr>
              <a:t>每一个需要为其生成投影数据库的集合，都是频繁集。不频繁集在构造</a:t>
            </a:r>
            <a:r>
              <a:rPr lang="en-US" altLang="zh-CN" smtClean="0">
                <a:ea typeface="宋体" panose="02010600030101010101" pitchFamily="2" charset="-122"/>
              </a:rPr>
              <a:t>FP-Tree</a:t>
            </a:r>
            <a:r>
              <a:rPr lang="zh-CN" altLang="en-US" smtClean="0">
                <a:ea typeface="宋体" panose="02010600030101010101" pitchFamily="2" charset="-122"/>
              </a:rPr>
              <a:t>时就过滤掉了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zh-CN" altLang="en-US" smtClean="0">
                <a:ea typeface="宋体" panose="02010600030101010101" pitchFamily="2" charset="-122"/>
              </a:rPr>
              <a:t>当递归结束时，只要把所有的频繁集合并就是最后的所有频繁集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5475" y="438150"/>
            <a:ext cx="8064500" cy="781050"/>
          </a:xfrm>
        </p:spPr>
        <p:txBody>
          <a:bodyPr/>
          <a:lstStyle/>
          <a:p>
            <a:pPr>
              <a:defRPr/>
            </a:pPr>
            <a:r>
              <a:rPr lang="en-US" altLang="zh-CN" sz="3200" smtClean="0">
                <a:ea typeface="宋体" pitchFamily="2" charset="-122"/>
              </a:rPr>
              <a:t>Benefits of the FP-tree Structure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5029200"/>
          </a:xfrm>
          <a:noFill/>
        </p:spPr>
        <p:txBody>
          <a:bodyPr/>
          <a:lstStyle/>
          <a:p>
            <a:r>
              <a:rPr lang="en-US" altLang="zh-CN" sz="2400" smtClean="0">
                <a:ea typeface="宋体" panose="02010600030101010101" pitchFamily="2" charset="-122"/>
              </a:rPr>
              <a:t>Completeness 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Preserve complete information for frequent pattern mining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Never break a long pattern of any transaction</a:t>
            </a:r>
          </a:p>
          <a:p>
            <a:r>
              <a:rPr lang="en-US" altLang="zh-CN" sz="2400" smtClean="0">
                <a:ea typeface="宋体" panose="02010600030101010101" pitchFamily="2" charset="-122"/>
              </a:rPr>
              <a:t>Compactness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Reduce irrelevant info</a:t>
            </a:r>
            <a:r>
              <a:rPr lang="en-US" altLang="zh-CN" sz="2000" smtClean="0">
                <a:latin typeface="Tahoma" panose="020B0604030504040204" pitchFamily="34" charset="0"/>
                <a:ea typeface="宋体" panose="02010600030101010101" pitchFamily="2" charset="-122"/>
              </a:rPr>
              <a:t>—</a:t>
            </a:r>
            <a:r>
              <a:rPr lang="en-US" altLang="zh-CN" sz="2000" smtClean="0">
                <a:ea typeface="宋体" panose="02010600030101010101" pitchFamily="2" charset="-122"/>
              </a:rPr>
              <a:t>infrequent items are gone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Items in frequency descending order: the more frequently occurring, the more likely to be shared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Never be larger than the original database (not count node-links and the </a:t>
            </a:r>
            <a:r>
              <a:rPr lang="en-US" altLang="zh-CN" sz="2000" i="1" smtClean="0">
                <a:ea typeface="宋体" panose="02010600030101010101" pitchFamily="2" charset="-122"/>
              </a:rPr>
              <a:t>count</a:t>
            </a:r>
            <a:r>
              <a:rPr lang="en-US" altLang="zh-CN" sz="2000" smtClean="0">
                <a:ea typeface="宋体" panose="02010600030101010101" pitchFamily="2" charset="-122"/>
              </a:rPr>
              <a:t> field)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For Connect-4 DB, compression ratio could be over 100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Partition Patterns and Databases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43075"/>
            <a:ext cx="8382000" cy="465772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Frequent patterns can be partitioned into subsets according to f-list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F-list=f-c-a-b-m-p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Patterns containing p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Patterns having m but no p</a:t>
            </a:r>
          </a:p>
          <a:p>
            <a:pPr lvl="1"/>
            <a:r>
              <a:rPr lang="en-US" altLang="zh-CN" smtClean="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Patterns having c but no a nor b, m, p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Pattern f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Completeness and non-redundency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5816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800" smtClean="0">
                <a:ea typeface="宋体" pitchFamily="2" charset="-122"/>
              </a:rPr>
              <a:t>FP-Growth vs. Apriori: Scalability With the Support Threshold</a:t>
            </a: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914400" y="1981200"/>
          <a:ext cx="7620000" cy="455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hart" r:id="rId3" imgW="4600996" imgH="3286426" progId="Excel.Chart.8">
                  <p:embed/>
                </p:oleObj>
              </mc:Choice>
              <mc:Fallback>
                <p:oleObj name="Chart" r:id="rId3" imgW="4600996" imgH="3286426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7620000" cy="455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810000" y="1981200"/>
            <a:ext cx="289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400">
                <a:ea typeface="宋体" panose="02010600030101010101" pitchFamily="2" charset="-122"/>
              </a:rPr>
              <a:t>Data set T25I20D10K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VIPER vs. FP-Growth: Comparision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83534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VIPER vs. FP-Growth: Comparision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73238"/>
            <a:ext cx="835342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567738" cy="1025525"/>
          </a:xfrm>
        </p:spPr>
        <p:txBody>
          <a:bodyPr/>
          <a:lstStyle/>
          <a:p>
            <a:pPr>
              <a:defRPr/>
            </a:pPr>
            <a:r>
              <a:rPr lang="en-US" altLang="zh-CN" sz="2800" smtClean="0">
                <a:ea typeface="宋体" pitchFamily="2" charset="-122"/>
              </a:rPr>
              <a:t>Why would write-based algorithms be faster 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8116888" cy="10048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Read-based FPM algorithms like Apriori algorithm which will </a:t>
            </a:r>
            <a:r>
              <a:rPr lang="en-US" altLang="zh-CN" sz="24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400" smtClean="0">
                <a:ea typeface="宋体" panose="02010600030101010101" pitchFamily="2" charset="-122"/>
              </a:rPr>
              <a:t>forget</a:t>
            </a:r>
            <a:r>
              <a:rPr lang="en-US" altLang="zh-CN" sz="2400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400" smtClean="0">
                <a:ea typeface="宋体" panose="02010600030101010101" pitchFamily="2" charset="-122"/>
              </a:rPr>
              <a:t> its previous processing. Eg. let the frequent itemset {a,b,c,d,e} be frequent. Let </a:t>
            </a:r>
            <a:r>
              <a:rPr lang="en-US" altLang="zh-CN" sz="2400" smtClean="0">
                <a:latin typeface="Tahoma" panose="020B0604030504040204" pitchFamily="34" charset="0"/>
                <a:ea typeface="宋体" panose="02010600030101010101" pitchFamily="2" charset="-122"/>
              </a:rPr>
              <a:t>‘</a:t>
            </a:r>
            <a:r>
              <a:rPr lang="en-US" altLang="zh-CN" sz="2400" smtClean="0">
                <a:ea typeface="宋体" panose="02010600030101010101" pitchFamily="2" charset="-122"/>
              </a:rPr>
              <a:t>s look at a record containing {a,b,c}.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 	 </a:t>
            </a:r>
            <a:r>
              <a:rPr lang="en-US" altLang="zh-CN" sz="1800" smtClean="0">
                <a:ea typeface="宋体" panose="02010600030101010101" pitchFamily="2" charset="-122"/>
              </a:rPr>
              <a:t>Level           		Candidate          	Record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1-itemset		 {a} 	     	{TID=10: a,  b,  c}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2-itemset		 {a,b}	     	{TID=10: a,  b,  c}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3-itemset		 {a,b,c}	     	{TID=10: a,  b,  c}</a:t>
            </a: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Write-based FPM avoid this repeated scanning by doing depth first search</a:t>
            </a: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 flipH="1">
            <a:off x="6578600" y="3011488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7340600" y="2782888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600">
                <a:ea typeface="宋体" panose="02010600030101010101" pitchFamily="2" charset="-122"/>
              </a:rPr>
              <a:t>scanned</a:t>
            </a: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 flipH="1">
            <a:off x="6635750" y="3236913"/>
            <a:ext cx="866775" cy="254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7654925" y="3084513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600">
                <a:ea typeface="宋体" panose="02010600030101010101" pitchFamily="2" charset="-122"/>
              </a:rPr>
              <a:t>scanned</a:t>
            </a: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H="1">
            <a:off x="7034213" y="3236913"/>
            <a:ext cx="468312" cy="254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6588125" y="3738563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7578725" y="3586163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600">
                <a:ea typeface="宋体" panose="02010600030101010101" pitchFamily="2" charset="-122"/>
              </a:rPr>
              <a:t>scanned</a:t>
            </a:r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 flipH="1">
            <a:off x="7045325" y="3738563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 flipH="1">
            <a:off x="7415213" y="3770313"/>
            <a:ext cx="11112" cy="1968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395288" y="5157788"/>
            <a:ext cx="8170862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Level           		Candidate          	Record</a:t>
            </a:r>
          </a:p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	1-itemset		 {a} 	     	{TID=10: a,  b,  c}</a:t>
            </a:r>
          </a:p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	2-itemset		 {a,b}	     	{TID=10: b,  c}</a:t>
            </a:r>
          </a:p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	3-itemset		 {a,b,c}	     	{TID=10: c}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smtClean="0">
                <a:ea typeface="宋体" pitchFamily="2" charset="-122"/>
              </a:rPr>
              <a:t>Why would write-based algorithms be faster ?</a:t>
            </a:r>
            <a:endParaRPr lang="zh-CN" altLang="en-US" sz="3200" smtClean="0">
              <a:ea typeface="宋体" pitchFamily="2" charset="-122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557338"/>
            <a:ext cx="8353425" cy="48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>
          <a:xfrm>
            <a:off x="968375" y="260350"/>
            <a:ext cx="7793038" cy="633413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However......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557338"/>
            <a:ext cx="6084887" cy="9032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Write-based algorithm usually pay a higher cost in term of </a:t>
            </a:r>
            <a:r>
              <a:rPr lang="en-US" altLang="zh-CN" sz="1800" smtClean="0">
                <a:solidFill>
                  <a:schemeClr val="hlink"/>
                </a:solidFill>
                <a:ea typeface="宋体" panose="02010600030101010101" pitchFamily="2" charset="-122"/>
              </a:rPr>
              <a:t>space complexity.</a:t>
            </a:r>
          </a:p>
          <a:p>
            <a:pPr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Projected databases are materialize for </a:t>
            </a:r>
            <a:r>
              <a:rPr lang="en-US" altLang="zh-CN" sz="1800" smtClean="0">
                <a:solidFill>
                  <a:schemeClr val="hlink"/>
                </a:solidFill>
                <a:ea typeface="宋体" panose="02010600030101010101" pitchFamily="2" charset="-122"/>
              </a:rPr>
              <a:t>all the red circles</a:t>
            </a:r>
            <a:r>
              <a:rPr lang="en-US" altLang="zh-CN" sz="1800" smtClean="0">
                <a:ea typeface="宋体" panose="02010600030101010101" pitchFamily="2" charset="-122"/>
              </a:rPr>
              <a:t> on the way to getting the </a:t>
            </a:r>
            <a:r>
              <a:rPr lang="en-US" altLang="zh-CN" sz="1800" b="0" smtClean="0">
                <a:ea typeface="宋体" panose="02010600030101010101" pitchFamily="2" charset="-122"/>
              </a:rPr>
              <a:t>{a,b} projected</a:t>
            </a:r>
            <a:r>
              <a:rPr lang="en-US" altLang="zh-CN" sz="1800" smtClean="0">
                <a:ea typeface="宋体" panose="02010600030101010101" pitchFamily="2" charset="-122"/>
              </a:rPr>
              <a:t> database.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910263" y="3322638"/>
            <a:ext cx="782637" cy="692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6748463" y="3322638"/>
            <a:ext cx="784225" cy="692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a,e</a:t>
            </a: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8464550" y="3322638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b,e</a:t>
            </a: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7616825" y="3322638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</a:t>
            </a: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5092700" y="3322638"/>
            <a:ext cx="760413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</a:t>
            </a: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9337675" y="33178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c,e</a:t>
            </a:r>
          </a:p>
        </p:txBody>
      </p:sp>
      <p:sp>
        <p:nvSpPr>
          <p:cNvPr id="25610" name="Oval 10"/>
          <p:cNvSpPr>
            <a:spLocks noChangeArrowheads="1"/>
          </p:cNvSpPr>
          <p:nvPr/>
        </p:nvSpPr>
        <p:spPr bwMode="auto">
          <a:xfrm>
            <a:off x="8328025" y="2174875"/>
            <a:ext cx="727075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b,c,e</a:t>
            </a:r>
          </a:p>
        </p:txBody>
      </p:sp>
      <p:sp>
        <p:nvSpPr>
          <p:cNvPr id="25611" name="Oval 11"/>
          <p:cNvSpPr>
            <a:spLocks noChangeArrowheads="1"/>
          </p:cNvSpPr>
          <p:nvPr/>
        </p:nvSpPr>
        <p:spPr bwMode="auto">
          <a:xfrm>
            <a:off x="6711950" y="2214563"/>
            <a:ext cx="747713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25612" name="Oval 12"/>
          <p:cNvSpPr>
            <a:spLocks noChangeArrowheads="1"/>
          </p:cNvSpPr>
          <p:nvPr/>
        </p:nvSpPr>
        <p:spPr bwMode="auto">
          <a:xfrm>
            <a:off x="7526338" y="2214563"/>
            <a:ext cx="749300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a,c,e</a:t>
            </a:r>
          </a:p>
        </p:txBody>
      </p:sp>
      <p:sp>
        <p:nvSpPr>
          <p:cNvPr id="25613" name="Oval 13"/>
          <p:cNvSpPr>
            <a:spLocks noChangeArrowheads="1"/>
          </p:cNvSpPr>
          <p:nvPr/>
        </p:nvSpPr>
        <p:spPr bwMode="auto">
          <a:xfrm>
            <a:off x="5930900" y="2214563"/>
            <a:ext cx="727075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25614" name="Oval 14"/>
          <p:cNvSpPr>
            <a:spLocks noChangeArrowheads="1"/>
          </p:cNvSpPr>
          <p:nvPr/>
        </p:nvSpPr>
        <p:spPr bwMode="auto">
          <a:xfrm>
            <a:off x="6235700" y="4384675"/>
            <a:ext cx="685800" cy="6111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5615" name="Oval 15"/>
          <p:cNvSpPr>
            <a:spLocks noChangeArrowheads="1"/>
          </p:cNvSpPr>
          <p:nvPr/>
        </p:nvSpPr>
        <p:spPr bwMode="auto">
          <a:xfrm>
            <a:off x="6977063" y="4384675"/>
            <a:ext cx="684212" cy="6111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5616" name="Oval 16"/>
          <p:cNvSpPr>
            <a:spLocks noChangeArrowheads="1"/>
          </p:cNvSpPr>
          <p:nvPr/>
        </p:nvSpPr>
        <p:spPr bwMode="auto">
          <a:xfrm>
            <a:off x="7718425" y="4384675"/>
            <a:ext cx="684213" cy="6111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5617" name="Oval 17"/>
          <p:cNvSpPr>
            <a:spLocks noChangeArrowheads="1"/>
          </p:cNvSpPr>
          <p:nvPr/>
        </p:nvSpPr>
        <p:spPr bwMode="auto">
          <a:xfrm>
            <a:off x="8461375" y="4384675"/>
            <a:ext cx="682625" cy="6111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5618" name="Oval 18"/>
          <p:cNvSpPr>
            <a:spLocks noChangeArrowheads="1"/>
          </p:cNvSpPr>
          <p:nvPr/>
        </p:nvSpPr>
        <p:spPr bwMode="auto">
          <a:xfrm>
            <a:off x="7073900" y="1108075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a,b,c,e</a:t>
            </a:r>
          </a:p>
        </p:txBody>
      </p:sp>
      <p:sp>
        <p:nvSpPr>
          <p:cNvPr id="25619" name="Oval 19"/>
          <p:cNvSpPr>
            <a:spLocks noChangeArrowheads="1"/>
          </p:cNvSpPr>
          <p:nvPr/>
        </p:nvSpPr>
        <p:spPr bwMode="auto">
          <a:xfrm>
            <a:off x="7607300" y="5603875"/>
            <a:ext cx="598488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25620" name="Line 20"/>
          <p:cNvSpPr>
            <a:spLocks noChangeShapeType="1"/>
          </p:cNvSpPr>
          <p:nvPr/>
        </p:nvSpPr>
        <p:spPr bwMode="auto">
          <a:xfrm flipV="1">
            <a:off x="8216900" y="5070475"/>
            <a:ext cx="6096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 flipV="1">
            <a:off x="7988300" y="4994275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2" name="Line 22"/>
          <p:cNvSpPr>
            <a:spLocks noChangeShapeType="1"/>
          </p:cNvSpPr>
          <p:nvPr/>
        </p:nvSpPr>
        <p:spPr bwMode="auto">
          <a:xfrm flipH="1" flipV="1">
            <a:off x="7378700" y="4994275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 flipH="1" flipV="1">
            <a:off x="6692900" y="4994275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 flipH="1" flipV="1">
            <a:off x="5702300" y="4003675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flipH="1" flipV="1">
            <a:off x="6388100" y="4003675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 flipV="1">
            <a:off x="6769100" y="4003675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flipV="1">
            <a:off x="7378700" y="4003675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flipH="1" flipV="1">
            <a:off x="5778500" y="4003675"/>
            <a:ext cx="1524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9" name="Line 29"/>
          <p:cNvSpPr>
            <a:spLocks noChangeShapeType="1"/>
          </p:cNvSpPr>
          <p:nvPr/>
        </p:nvSpPr>
        <p:spPr bwMode="auto">
          <a:xfrm flipV="1">
            <a:off x="7454900" y="4003675"/>
            <a:ext cx="1219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0" name="Line 30"/>
          <p:cNvSpPr>
            <a:spLocks noChangeShapeType="1"/>
          </p:cNvSpPr>
          <p:nvPr/>
        </p:nvSpPr>
        <p:spPr bwMode="auto">
          <a:xfrm flipH="1" flipV="1">
            <a:off x="6540500" y="40036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1" name="Line 31"/>
          <p:cNvSpPr>
            <a:spLocks noChangeShapeType="1"/>
          </p:cNvSpPr>
          <p:nvPr/>
        </p:nvSpPr>
        <p:spPr bwMode="auto">
          <a:xfrm flipV="1">
            <a:off x="8064500" y="400367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2" name="Line 32"/>
          <p:cNvSpPr>
            <a:spLocks noChangeShapeType="1"/>
          </p:cNvSpPr>
          <p:nvPr/>
        </p:nvSpPr>
        <p:spPr bwMode="auto">
          <a:xfrm flipV="1">
            <a:off x="8293100" y="4003675"/>
            <a:ext cx="1219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3" name="Line 33"/>
          <p:cNvSpPr>
            <a:spLocks noChangeShapeType="1"/>
          </p:cNvSpPr>
          <p:nvPr/>
        </p:nvSpPr>
        <p:spPr bwMode="auto">
          <a:xfrm flipH="1" flipV="1">
            <a:off x="7302500" y="40036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4" name="Line 34"/>
          <p:cNvSpPr>
            <a:spLocks noChangeShapeType="1"/>
          </p:cNvSpPr>
          <p:nvPr/>
        </p:nvSpPr>
        <p:spPr bwMode="auto">
          <a:xfrm flipV="1">
            <a:off x="8826500" y="400367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5" name="Line 35"/>
          <p:cNvSpPr>
            <a:spLocks noChangeShapeType="1"/>
          </p:cNvSpPr>
          <p:nvPr/>
        </p:nvSpPr>
        <p:spPr bwMode="auto">
          <a:xfrm flipV="1">
            <a:off x="8978900" y="4003675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6" name="Line 36"/>
          <p:cNvSpPr>
            <a:spLocks noChangeShapeType="1"/>
          </p:cNvSpPr>
          <p:nvPr/>
        </p:nvSpPr>
        <p:spPr bwMode="auto">
          <a:xfrm flipV="1">
            <a:off x="5549900" y="2860675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7" name="Line 37"/>
          <p:cNvSpPr>
            <a:spLocks noChangeShapeType="1"/>
          </p:cNvSpPr>
          <p:nvPr/>
        </p:nvSpPr>
        <p:spPr bwMode="auto">
          <a:xfrm flipV="1">
            <a:off x="5549900" y="29368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8" name="Line 38"/>
          <p:cNvSpPr>
            <a:spLocks noChangeShapeType="1"/>
          </p:cNvSpPr>
          <p:nvPr/>
        </p:nvSpPr>
        <p:spPr bwMode="auto">
          <a:xfrm flipV="1">
            <a:off x="6235700" y="293687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9" name="Line 39"/>
          <p:cNvSpPr>
            <a:spLocks noChangeShapeType="1"/>
          </p:cNvSpPr>
          <p:nvPr/>
        </p:nvSpPr>
        <p:spPr bwMode="auto">
          <a:xfrm flipV="1">
            <a:off x="6311900" y="29368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0" name="Line 40"/>
          <p:cNvSpPr>
            <a:spLocks noChangeShapeType="1"/>
          </p:cNvSpPr>
          <p:nvPr/>
        </p:nvSpPr>
        <p:spPr bwMode="auto">
          <a:xfrm flipH="1" flipV="1">
            <a:off x="7073900" y="2936875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1" name="Line 41"/>
          <p:cNvSpPr>
            <a:spLocks noChangeShapeType="1"/>
          </p:cNvSpPr>
          <p:nvPr/>
        </p:nvSpPr>
        <p:spPr bwMode="auto">
          <a:xfrm flipV="1">
            <a:off x="7150100" y="2936875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2" name="Line 42"/>
          <p:cNvSpPr>
            <a:spLocks noChangeShapeType="1"/>
          </p:cNvSpPr>
          <p:nvPr/>
        </p:nvSpPr>
        <p:spPr bwMode="auto">
          <a:xfrm flipH="1" flipV="1">
            <a:off x="6464300" y="2936875"/>
            <a:ext cx="1600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3" name="Line 43"/>
          <p:cNvSpPr>
            <a:spLocks noChangeShapeType="1"/>
          </p:cNvSpPr>
          <p:nvPr/>
        </p:nvSpPr>
        <p:spPr bwMode="auto">
          <a:xfrm flipV="1">
            <a:off x="8064500" y="2860675"/>
            <a:ext cx="457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4" name="Line 44"/>
          <p:cNvSpPr>
            <a:spLocks noChangeShapeType="1"/>
          </p:cNvSpPr>
          <p:nvPr/>
        </p:nvSpPr>
        <p:spPr bwMode="auto">
          <a:xfrm flipH="1" flipV="1">
            <a:off x="7226300" y="2936875"/>
            <a:ext cx="1447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5" name="Line 45"/>
          <p:cNvSpPr>
            <a:spLocks noChangeShapeType="1"/>
          </p:cNvSpPr>
          <p:nvPr/>
        </p:nvSpPr>
        <p:spPr bwMode="auto">
          <a:xfrm flipV="1">
            <a:off x="8826500" y="2860675"/>
            <a:ext cx="76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6" name="Line 46"/>
          <p:cNvSpPr>
            <a:spLocks noChangeShapeType="1"/>
          </p:cNvSpPr>
          <p:nvPr/>
        </p:nvSpPr>
        <p:spPr bwMode="auto">
          <a:xfrm flipH="1" flipV="1">
            <a:off x="8064500" y="2936875"/>
            <a:ext cx="1371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7" name="Line 47"/>
          <p:cNvSpPr>
            <a:spLocks noChangeShapeType="1"/>
          </p:cNvSpPr>
          <p:nvPr/>
        </p:nvSpPr>
        <p:spPr bwMode="auto">
          <a:xfrm flipH="1" flipV="1">
            <a:off x="8978900" y="2860675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8" name="Line 48"/>
          <p:cNvSpPr>
            <a:spLocks noChangeShapeType="1"/>
          </p:cNvSpPr>
          <p:nvPr/>
        </p:nvSpPr>
        <p:spPr bwMode="auto">
          <a:xfrm flipV="1">
            <a:off x="6464300" y="1793875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9" name="Line 49"/>
          <p:cNvSpPr>
            <a:spLocks noChangeShapeType="1"/>
          </p:cNvSpPr>
          <p:nvPr/>
        </p:nvSpPr>
        <p:spPr bwMode="auto">
          <a:xfrm flipV="1">
            <a:off x="7226300" y="1946275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50" name="Line 50"/>
          <p:cNvSpPr>
            <a:spLocks noChangeShapeType="1"/>
          </p:cNvSpPr>
          <p:nvPr/>
        </p:nvSpPr>
        <p:spPr bwMode="auto">
          <a:xfrm flipH="1" flipV="1">
            <a:off x="7759700" y="1870075"/>
            <a:ext cx="76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51" name="Line 51"/>
          <p:cNvSpPr>
            <a:spLocks noChangeShapeType="1"/>
          </p:cNvSpPr>
          <p:nvPr/>
        </p:nvSpPr>
        <p:spPr bwMode="auto">
          <a:xfrm flipH="1" flipV="1">
            <a:off x="7912100" y="1793875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6980" name="Group 52"/>
          <p:cNvGraphicFramePr>
            <a:graphicFrameLocks noGrp="1"/>
          </p:cNvGraphicFramePr>
          <p:nvPr/>
        </p:nvGraphicFramePr>
        <p:xfrm>
          <a:off x="4386263" y="5073650"/>
          <a:ext cx="1524000" cy="131286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72" name="Line 72"/>
          <p:cNvSpPr>
            <a:spLocks noChangeShapeType="1"/>
          </p:cNvSpPr>
          <p:nvPr/>
        </p:nvSpPr>
        <p:spPr bwMode="auto">
          <a:xfrm flipH="1" flipV="1">
            <a:off x="5935663" y="5875338"/>
            <a:ext cx="1655762" cy="44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7001" name="Group 73"/>
          <p:cNvGraphicFramePr>
            <a:graphicFrameLocks noGrp="1"/>
          </p:cNvGraphicFramePr>
          <p:nvPr/>
        </p:nvGraphicFramePr>
        <p:xfrm>
          <a:off x="2797175" y="3760788"/>
          <a:ext cx="1524000" cy="785811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687" name="Group 87"/>
          <p:cNvGrpSpPr>
            <a:grpSpLocks/>
          </p:cNvGrpSpPr>
          <p:nvPr/>
        </p:nvGrpSpPr>
        <p:grpSpPr bwMode="auto">
          <a:xfrm>
            <a:off x="4397375" y="4365625"/>
            <a:ext cx="2532063" cy="622300"/>
            <a:chOff x="2779" y="2651"/>
            <a:chExt cx="1595" cy="392"/>
          </a:xfrm>
        </p:grpSpPr>
        <p:sp>
          <p:nvSpPr>
            <p:cNvPr id="25708" name="Oval 88"/>
            <p:cNvSpPr>
              <a:spLocks noChangeArrowheads="1"/>
            </p:cNvSpPr>
            <p:nvPr/>
          </p:nvSpPr>
          <p:spPr bwMode="auto">
            <a:xfrm>
              <a:off x="3942" y="2658"/>
              <a:ext cx="432" cy="38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5709" name="Line 89"/>
            <p:cNvSpPr>
              <a:spLocks noChangeShapeType="1"/>
            </p:cNvSpPr>
            <p:nvPr/>
          </p:nvSpPr>
          <p:spPr bwMode="auto">
            <a:xfrm flipH="1" flipV="1">
              <a:off x="2779" y="2651"/>
              <a:ext cx="1152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5688" name="Group 90"/>
          <p:cNvGrpSpPr>
            <a:grpSpLocks/>
          </p:cNvGrpSpPr>
          <p:nvPr/>
        </p:nvGrpSpPr>
        <p:grpSpPr bwMode="auto">
          <a:xfrm>
            <a:off x="1450975" y="4591050"/>
            <a:ext cx="2736850" cy="1665288"/>
            <a:chOff x="1271" y="2793"/>
            <a:chExt cx="1367" cy="1049"/>
          </a:xfrm>
        </p:grpSpPr>
        <p:sp>
          <p:nvSpPr>
            <p:cNvPr id="25706" name="AutoShape 91"/>
            <p:cNvSpPr>
              <a:spLocks noChangeArrowheads="1"/>
            </p:cNvSpPr>
            <p:nvPr/>
          </p:nvSpPr>
          <p:spPr bwMode="auto">
            <a:xfrm rot="-5530939">
              <a:off x="1902" y="2944"/>
              <a:ext cx="887" cy="585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18 h 21600"/>
                <a:gd name="T14" fmla="*/ 19067 w 21600"/>
                <a:gd name="T15" fmla="*/ 852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07" name="Text Box 92"/>
            <p:cNvSpPr txBox="1">
              <a:spLocks noChangeArrowheads="1"/>
            </p:cNvSpPr>
            <p:nvPr/>
          </p:nvSpPr>
          <p:spPr bwMode="auto">
            <a:xfrm>
              <a:off x="1271" y="3091"/>
              <a:ext cx="99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{a}-projected database</a:t>
              </a:r>
            </a:p>
          </p:txBody>
        </p:sp>
      </p:grpSp>
      <p:grpSp>
        <p:nvGrpSpPr>
          <p:cNvPr id="25689" name="Group 93"/>
          <p:cNvGrpSpPr>
            <a:grpSpLocks/>
          </p:cNvGrpSpPr>
          <p:nvPr/>
        </p:nvGrpSpPr>
        <p:grpSpPr bwMode="auto">
          <a:xfrm>
            <a:off x="2540000" y="3248025"/>
            <a:ext cx="3321050" cy="773113"/>
            <a:chOff x="1600" y="1947"/>
            <a:chExt cx="2092" cy="487"/>
          </a:xfrm>
        </p:grpSpPr>
        <p:sp>
          <p:nvSpPr>
            <p:cNvPr id="25704" name="Oval 94"/>
            <p:cNvSpPr>
              <a:spLocks noChangeArrowheads="1"/>
            </p:cNvSpPr>
            <p:nvPr/>
          </p:nvSpPr>
          <p:spPr bwMode="auto">
            <a:xfrm>
              <a:off x="3213" y="1998"/>
              <a:ext cx="479" cy="4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a,b</a:t>
              </a:r>
            </a:p>
          </p:txBody>
        </p:sp>
        <p:sp>
          <p:nvSpPr>
            <p:cNvPr id="25705" name="Line 95"/>
            <p:cNvSpPr>
              <a:spLocks noChangeShapeType="1"/>
            </p:cNvSpPr>
            <p:nvPr/>
          </p:nvSpPr>
          <p:spPr bwMode="auto">
            <a:xfrm flipH="1" flipV="1">
              <a:off x="1600" y="1947"/>
              <a:ext cx="1609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637024" name="Group 96"/>
          <p:cNvGraphicFramePr>
            <a:graphicFrameLocks noGrp="1"/>
          </p:cNvGraphicFramePr>
          <p:nvPr/>
        </p:nvGraphicFramePr>
        <p:xfrm>
          <a:off x="1047750" y="2809875"/>
          <a:ext cx="15240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5701" name="Group 107"/>
          <p:cNvGrpSpPr>
            <a:grpSpLocks/>
          </p:cNvGrpSpPr>
          <p:nvPr/>
        </p:nvGrpSpPr>
        <p:grpSpPr bwMode="auto">
          <a:xfrm>
            <a:off x="0" y="3249613"/>
            <a:ext cx="2736850" cy="1408112"/>
            <a:chOff x="0" y="1948"/>
            <a:chExt cx="1724" cy="887"/>
          </a:xfrm>
        </p:grpSpPr>
        <p:sp>
          <p:nvSpPr>
            <p:cNvPr id="25702" name="AutoShape 108"/>
            <p:cNvSpPr>
              <a:spLocks noChangeArrowheads="1"/>
            </p:cNvSpPr>
            <p:nvPr/>
          </p:nvSpPr>
          <p:spPr bwMode="auto">
            <a:xfrm rot="-5530939">
              <a:off x="911" y="2023"/>
              <a:ext cx="887" cy="738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1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29 h 21600"/>
                <a:gd name="T14" fmla="*/ 19067 w 21600"/>
                <a:gd name="T15" fmla="*/ 85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03" name="Text Box 109"/>
            <p:cNvSpPr txBox="1">
              <a:spLocks noChangeArrowheads="1"/>
            </p:cNvSpPr>
            <p:nvPr/>
          </p:nvSpPr>
          <p:spPr bwMode="auto">
            <a:xfrm>
              <a:off x="0" y="2017"/>
              <a:ext cx="125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“ab”.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{ab}-projected database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 smtClean="0">
              <a:ea typeface="宋体" pitchFamily="2" charset="-122"/>
            </a:endParaRPr>
          </a:p>
        </p:txBody>
      </p:sp>
      <p:graphicFrame>
        <p:nvGraphicFramePr>
          <p:cNvPr id="637955" name="Group 3"/>
          <p:cNvGraphicFramePr>
            <a:graphicFrameLocks noGrp="1"/>
          </p:cNvGraphicFramePr>
          <p:nvPr/>
        </p:nvGraphicFramePr>
        <p:xfrm>
          <a:off x="3835400" y="1600200"/>
          <a:ext cx="1524000" cy="131286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d, 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47" name="Line 23"/>
          <p:cNvSpPr>
            <a:spLocks noChangeShapeType="1"/>
          </p:cNvSpPr>
          <p:nvPr/>
        </p:nvSpPr>
        <p:spPr bwMode="auto">
          <a:xfrm flipH="1">
            <a:off x="2743200" y="2897188"/>
            <a:ext cx="1684338" cy="8556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8" name="Line 24"/>
          <p:cNvSpPr>
            <a:spLocks noChangeShapeType="1"/>
          </p:cNvSpPr>
          <p:nvPr/>
        </p:nvSpPr>
        <p:spPr bwMode="auto">
          <a:xfrm>
            <a:off x="4427538" y="2940050"/>
            <a:ext cx="203200" cy="8429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9" name="Line 25"/>
          <p:cNvSpPr>
            <a:spLocks noChangeShapeType="1"/>
          </p:cNvSpPr>
          <p:nvPr/>
        </p:nvSpPr>
        <p:spPr bwMode="auto">
          <a:xfrm>
            <a:off x="4470400" y="2925763"/>
            <a:ext cx="2235200" cy="8842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50" name="Line 26"/>
          <p:cNvSpPr>
            <a:spLocks noChangeShapeType="1"/>
          </p:cNvSpPr>
          <p:nvPr/>
        </p:nvSpPr>
        <p:spPr bwMode="auto">
          <a:xfrm>
            <a:off x="4586288" y="2970213"/>
            <a:ext cx="3948112" cy="6238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7979" name="Group 27"/>
          <p:cNvGraphicFramePr>
            <a:graphicFrameLocks noGrp="1"/>
          </p:cNvGraphicFramePr>
          <p:nvPr/>
        </p:nvGraphicFramePr>
        <p:xfrm>
          <a:off x="1911350" y="3797300"/>
          <a:ext cx="1524000" cy="769939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7993" name="Group 41"/>
          <p:cNvGraphicFramePr>
            <a:graphicFrameLocks noGrp="1"/>
          </p:cNvGraphicFramePr>
          <p:nvPr/>
        </p:nvGraphicFramePr>
        <p:xfrm>
          <a:off x="4076700" y="3825875"/>
          <a:ext cx="1524000" cy="1050927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05172308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286051354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869522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201853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657275"/>
                  </a:ext>
                </a:extLst>
              </a:tr>
              <a:tr h="265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806268"/>
                  </a:ext>
                </a:extLst>
              </a:tr>
            </a:tbl>
          </a:graphicData>
        </a:graphic>
      </p:graphicFrame>
      <p:graphicFrame>
        <p:nvGraphicFramePr>
          <p:cNvPr id="638010" name="Group 58"/>
          <p:cNvGraphicFramePr>
            <a:graphicFrameLocks noGrp="1"/>
          </p:cNvGraphicFramePr>
          <p:nvPr/>
        </p:nvGraphicFramePr>
        <p:xfrm>
          <a:off x="5846763" y="4016375"/>
          <a:ext cx="1450975" cy="119380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2425196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130297561"/>
                    </a:ext>
                  </a:extLst>
                </a:gridCol>
              </a:tblGrid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64448"/>
                  </a:ext>
                </a:extLst>
              </a:tr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d,f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823794"/>
                  </a:ext>
                </a:extLst>
              </a:tr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15343"/>
                  </a:ext>
                </a:extLst>
              </a:tr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279397"/>
                  </a:ext>
                </a:extLst>
              </a:tr>
            </a:tbl>
          </a:graphicData>
        </a:graphic>
      </p:graphicFrame>
      <p:graphicFrame>
        <p:nvGraphicFramePr>
          <p:cNvPr id="638027" name="Group 75"/>
          <p:cNvGraphicFramePr>
            <a:graphicFrameLocks noGrp="1"/>
          </p:cNvGraphicFramePr>
          <p:nvPr/>
        </p:nvGraphicFramePr>
        <p:xfrm>
          <a:off x="7442200" y="3727450"/>
          <a:ext cx="1524000" cy="105092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716" name="Line 92"/>
          <p:cNvSpPr>
            <a:spLocks noChangeShapeType="1"/>
          </p:cNvSpPr>
          <p:nvPr/>
        </p:nvSpPr>
        <p:spPr bwMode="auto">
          <a:xfrm flipH="1">
            <a:off x="1393825" y="4565650"/>
            <a:ext cx="1103313" cy="8413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17" name="Line 93"/>
          <p:cNvSpPr>
            <a:spLocks noChangeShapeType="1"/>
          </p:cNvSpPr>
          <p:nvPr/>
        </p:nvSpPr>
        <p:spPr bwMode="auto">
          <a:xfrm flipH="1">
            <a:off x="2482850" y="4595813"/>
            <a:ext cx="42863" cy="781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18" name="Text Box 94"/>
          <p:cNvSpPr txBox="1">
            <a:spLocks noChangeArrowheads="1"/>
          </p:cNvSpPr>
          <p:nvPr/>
        </p:nvSpPr>
        <p:spPr bwMode="auto">
          <a:xfrm>
            <a:off x="2830513" y="2954338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6719" name="Text Box 95"/>
          <p:cNvSpPr txBox="1">
            <a:spLocks noChangeArrowheads="1"/>
          </p:cNvSpPr>
          <p:nvPr/>
        </p:nvSpPr>
        <p:spPr bwMode="auto">
          <a:xfrm>
            <a:off x="4071938" y="3222625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6720" name="Text Box 96"/>
          <p:cNvSpPr txBox="1">
            <a:spLocks noChangeArrowheads="1"/>
          </p:cNvSpPr>
          <p:nvPr/>
        </p:nvSpPr>
        <p:spPr bwMode="auto">
          <a:xfrm>
            <a:off x="5197475" y="3171825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6721" name="Text Box 97"/>
          <p:cNvSpPr txBox="1">
            <a:spLocks noChangeArrowheads="1"/>
          </p:cNvSpPr>
          <p:nvPr/>
        </p:nvSpPr>
        <p:spPr bwMode="auto">
          <a:xfrm>
            <a:off x="6494463" y="2801938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6722" name="Text Box 98"/>
          <p:cNvSpPr txBox="1">
            <a:spLocks noChangeArrowheads="1"/>
          </p:cNvSpPr>
          <p:nvPr/>
        </p:nvSpPr>
        <p:spPr bwMode="auto">
          <a:xfrm>
            <a:off x="2054225" y="4775200"/>
            <a:ext cx="56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ac</a:t>
            </a:r>
          </a:p>
        </p:txBody>
      </p:sp>
      <p:sp>
        <p:nvSpPr>
          <p:cNvPr id="26723" name="Text Box 99"/>
          <p:cNvSpPr txBox="1">
            <a:spLocks noChangeArrowheads="1"/>
          </p:cNvSpPr>
          <p:nvPr/>
        </p:nvSpPr>
        <p:spPr bwMode="auto">
          <a:xfrm>
            <a:off x="1162050" y="4652963"/>
            <a:ext cx="56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ab</a:t>
            </a:r>
          </a:p>
        </p:txBody>
      </p:sp>
      <p:sp>
        <p:nvSpPr>
          <p:cNvPr id="26724" name="Line 100"/>
          <p:cNvSpPr>
            <a:spLocks noChangeShapeType="1"/>
          </p:cNvSpPr>
          <p:nvPr/>
        </p:nvSpPr>
        <p:spPr bwMode="auto">
          <a:xfrm>
            <a:off x="2554288" y="4638675"/>
            <a:ext cx="1320800" cy="6381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25" name="Text Box 101"/>
          <p:cNvSpPr txBox="1">
            <a:spLocks noChangeArrowheads="1"/>
          </p:cNvSpPr>
          <p:nvPr/>
        </p:nvSpPr>
        <p:spPr bwMode="auto">
          <a:xfrm>
            <a:off x="3338513" y="4665663"/>
            <a:ext cx="566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ae</a:t>
            </a:r>
          </a:p>
        </p:txBody>
      </p:sp>
      <p:graphicFrame>
        <p:nvGraphicFramePr>
          <p:cNvPr id="638054" name="Group 102"/>
          <p:cNvGraphicFramePr>
            <a:graphicFrameLocks noGrp="1"/>
          </p:cNvGraphicFramePr>
          <p:nvPr/>
        </p:nvGraphicFramePr>
        <p:xfrm>
          <a:off x="350838" y="5430838"/>
          <a:ext cx="15240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8094" name="Group 142"/>
          <p:cNvGraphicFramePr>
            <a:graphicFrameLocks noGrp="1"/>
          </p:cNvGraphicFramePr>
          <p:nvPr/>
        </p:nvGraphicFramePr>
        <p:xfrm>
          <a:off x="2049463" y="5402263"/>
          <a:ext cx="1158875" cy="914020"/>
        </p:xfrm>
        <a:graphic>
          <a:graphicData uri="http://schemas.openxmlformats.org/drawingml/2006/table">
            <a:tbl>
              <a:tblPr/>
              <a:tblGrid>
                <a:gridCol w="493712">
                  <a:extLst>
                    <a:ext uri="{9D8B030D-6E8A-4147-A177-3AD203B41FA5}">
                      <a16:colId xmlns:a16="http://schemas.microsoft.com/office/drawing/2014/main" val="610500164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14717386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318473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619047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595189"/>
                  </a:ext>
                </a:extLst>
              </a:tr>
            </a:tbl>
          </a:graphicData>
        </a:graphic>
      </p:graphicFrame>
      <p:graphicFrame>
        <p:nvGraphicFramePr>
          <p:cNvPr id="638095" name="Group 143"/>
          <p:cNvGraphicFramePr>
            <a:graphicFrameLocks noGrp="1"/>
          </p:cNvGraphicFramePr>
          <p:nvPr/>
        </p:nvGraphicFramePr>
        <p:xfrm>
          <a:off x="3667125" y="5351463"/>
          <a:ext cx="1158875" cy="652082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569413420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1594545639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45653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591954"/>
                  </a:ext>
                </a:extLst>
              </a:tr>
            </a:tbl>
          </a:graphicData>
        </a:graphic>
      </p:graphicFrame>
      <p:sp>
        <p:nvSpPr>
          <p:cNvPr id="26762" name="Line 138"/>
          <p:cNvSpPr>
            <a:spLocks noChangeShapeType="1"/>
          </p:cNvSpPr>
          <p:nvPr/>
        </p:nvSpPr>
        <p:spPr bwMode="auto">
          <a:xfrm flipH="1">
            <a:off x="465138" y="6018213"/>
            <a:ext cx="376237" cy="4492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63" name="Line 139"/>
          <p:cNvSpPr>
            <a:spLocks noChangeShapeType="1"/>
          </p:cNvSpPr>
          <p:nvPr/>
        </p:nvSpPr>
        <p:spPr bwMode="auto">
          <a:xfrm>
            <a:off x="928688" y="6018213"/>
            <a:ext cx="377825" cy="5064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64" name="Text Box 140"/>
          <p:cNvSpPr txBox="1">
            <a:spLocks noChangeArrowheads="1"/>
          </p:cNvSpPr>
          <p:nvPr/>
        </p:nvSpPr>
        <p:spPr bwMode="auto">
          <a:xfrm>
            <a:off x="0" y="6038850"/>
            <a:ext cx="78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abc</a:t>
            </a:r>
          </a:p>
        </p:txBody>
      </p:sp>
      <p:sp>
        <p:nvSpPr>
          <p:cNvPr id="26765" name="Text Box 141"/>
          <p:cNvSpPr txBox="1">
            <a:spLocks noChangeArrowheads="1"/>
          </p:cNvSpPr>
          <p:nvPr/>
        </p:nvSpPr>
        <p:spPr bwMode="auto">
          <a:xfrm>
            <a:off x="1171575" y="6024563"/>
            <a:ext cx="79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abe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No candidates 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025" y="1341438"/>
            <a:ext cx="8116888" cy="4243387"/>
          </a:xfrm>
        </p:spPr>
        <p:txBody>
          <a:bodyPr/>
          <a:lstStyle/>
          <a:p>
            <a:endParaRPr lang="en-US" altLang="zh-CN" sz="1800" smtClean="0">
              <a:ea typeface="宋体" panose="02010600030101010101" pitchFamily="2" charset="-122"/>
            </a:endParaRPr>
          </a:p>
          <a:p>
            <a:r>
              <a:rPr lang="en-US" altLang="zh-CN" sz="1800" smtClean="0">
                <a:ea typeface="宋体" panose="02010600030101010101" pitchFamily="2" charset="-122"/>
              </a:rPr>
              <a:t>There are claims that write-based algorithm are faster because they don</a:t>
            </a:r>
            <a:r>
              <a:rPr lang="en-US" altLang="zh-CN" sz="1800" smtClean="0"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</a:rPr>
              <a:t>t generate candidates. This is not true in general. Example, if minsup is 30%, then all the items in the {a}-projected database are false candidates ! (i.e. {a,b}, {a,c}, {a,d}, {a,e}, {a,f} and {a,g} are never frequent </a:t>
            </a:r>
          </a:p>
          <a:p>
            <a:endParaRPr lang="zh-CN" altLang="en-US" sz="1800" smtClean="0">
              <a:ea typeface="宋体" panose="02010600030101010101" pitchFamily="2" charset="-122"/>
            </a:endParaRPr>
          </a:p>
        </p:txBody>
      </p:sp>
      <p:graphicFrame>
        <p:nvGraphicFramePr>
          <p:cNvPr id="638980" name="Group 4"/>
          <p:cNvGraphicFramePr>
            <a:graphicFrameLocks noGrp="1"/>
          </p:cNvGraphicFramePr>
          <p:nvPr/>
        </p:nvGraphicFramePr>
        <p:xfrm>
          <a:off x="1498600" y="3044825"/>
          <a:ext cx="1524000" cy="3059114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f, g,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e, 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a,b ,g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690" name="Line 42"/>
          <p:cNvSpPr>
            <a:spLocks noChangeShapeType="1"/>
          </p:cNvSpPr>
          <p:nvPr/>
        </p:nvSpPr>
        <p:spPr bwMode="auto">
          <a:xfrm flipV="1">
            <a:off x="3106738" y="4586288"/>
            <a:ext cx="1914525" cy="142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9019" name="Group 43"/>
          <p:cNvGraphicFramePr>
            <a:graphicFrameLocks noGrp="1"/>
          </p:cNvGraphicFramePr>
          <p:nvPr/>
        </p:nvGraphicFramePr>
        <p:xfrm>
          <a:off x="5249863" y="3602038"/>
          <a:ext cx="1524000" cy="166528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0640411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3667706"/>
                    </a:ext>
                  </a:extLst>
                </a:gridCol>
              </a:tblGrid>
              <a:tr h="276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93481"/>
                  </a:ext>
                </a:extLst>
              </a:tr>
              <a:tr h="274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113870"/>
                  </a:ext>
                </a:extLst>
              </a:tr>
              <a:tr h="276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628260"/>
                  </a:ext>
                </a:extLst>
              </a:tr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936737"/>
                  </a:ext>
                </a:extLst>
              </a:tr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792487"/>
                  </a:ext>
                </a:extLst>
              </a:tr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b, 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229199"/>
                  </a:ext>
                </a:extLst>
              </a:tr>
            </a:tbl>
          </a:graphicData>
        </a:graphic>
      </p:graphicFrame>
      <p:sp>
        <p:nvSpPr>
          <p:cNvPr id="27714" name="Text Box 66"/>
          <p:cNvSpPr txBox="1">
            <a:spLocks noChangeArrowheads="1"/>
          </p:cNvSpPr>
          <p:nvPr/>
        </p:nvSpPr>
        <p:spPr bwMode="auto">
          <a:xfrm>
            <a:off x="3236913" y="3887788"/>
            <a:ext cx="18145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{a}-projection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69925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So far, we covered</a:t>
            </a:r>
          </a:p>
        </p:txBody>
      </p:sp>
      <p:graphicFrame>
        <p:nvGraphicFramePr>
          <p:cNvPr id="647210" name="Group 42"/>
          <p:cNvGraphicFramePr>
            <a:graphicFrameLocks noGrp="1"/>
          </p:cNvGraphicFramePr>
          <p:nvPr/>
        </p:nvGraphicFramePr>
        <p:xfrm>
          <a:off x="611188" y="1628775"/>
          <a:ext cx="8077200" cy="4710184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3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Read-based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Write-based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Point-based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Association 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VIPER[SHSB00]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FPGrowth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[HaPe00]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Sub-Graph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AGM[PKDD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00]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FSG[ICDM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Mofa[ICDM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gSpan[ICDM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Sequential Pattern Discovery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GSP[AgSr96]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PrefixSpan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[PHPC01]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Iceberg Cube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BUC[BeRa99], H-cubing [HPDW01]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707" name="Line 35"/>
          <p:cNvSpPr>
            <a:spLocks noChangeShapeType="1"/>
          </p:cNvSpPr>
          <p:nvPr/>
        </p:nvSpPr>
        <p:spPr bwMode="auto">
          <a:xfrm flipV="1">
            <a:off x="27003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8" name="Line 36"/>
          <p:cNvSpPr>
            <a:spLocks noChangeShapeType="1"/>
          </p:cNvSpPr>
          <p:nvPr/>
        </p:nvSpPr>
        <p:spPr bwMode="auto">
          <a:xfrm flipH="1" flipV="1">
            <a:off x="26273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9" name="Line 37"/>
          <p:cNvSpPr>
            <a:spLocks noChangeShapeType="1"/>
          </p:cNvSpPr>
          <p:nvPr/>
        </p:nvSpPr>
        <p:spPr bwMode="auto">
          <a:xfrm flipV="1">
            <a:off x="2759075" y="31686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0" name="Line 38"/>
          <p:cNvSpPr>
            <a:spLocks noChangeShapeType="1"/>
          </p:cNvSpPr>
          <p:nvPr/>
        </p:nvSpPr>
        <p:spPr bwMode="auto">
          <a:xfrm flipH="1" flipV="1">
            <a:off x="2686050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 flipV="1">
            <a:off x="2775596" y="4005253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 flipH="1" flipV="1">
            <a:off x="2702571" y="3933816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39"/>
          <p:cNvSpPr>
            <a:spLocks noChangeShapeType="1"/>
          </p:cNvSpPr>
          <p:nvPr/>
        </p:nvSpPr>
        <p:spPr bwMode="auto">
          <a:xfrm flipV="1">
            <a:off x="4933057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H="1" flipV="1">
            <a:off x="4860032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572000"/>
          </a:xfrm>
        </p:spPr>
        <p:txBody>
          <a:bodyPr/>
          <a:lstStyle/>
          <a:p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关联规则</a:t>
            </a:r>
          </a:p>
          <a:p>
            <a:pPr lvl="1"/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Write-based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VIPER</a:t>
            </a:r>
          </a:p>
          <a:p>
            <a:pPr lvl="3"/>
            <a:r>
              <a:rPr lang="en-US" altLang="zh-CN" smtClean="0">
                <a:ea typeface="宋体" panose="02010600030101010101" pitchFamily="2" charset="-122"/>
              </a:rPr>
              <a:t>Implement DFS with bitmap compression of data in vertical format</a:t>
            </a: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FP-Growth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</a:p>
          <a:p>
            <a:pPr lvl="3"/>
            <a:r>
              <a:rPr lang="en-US" altLang="zh-CN" smtClean="0">
                <a:ea typeface="宋体" panose="02010600030101010101" pitchFamily="2" charset="-122"/>
              </a:rPr>
              <a:t>Implement DFS using a tree structure in horizontal format</a:t>
            </a:r>
          </a:p>
          <a:p>
            <a:pPr lvl="2"/>
            <a:endParaRPr lang="en-US" altLang="zh-CN" smtClean="0">
              <a:ea typeface="宋体" panose="02010600030101010101" pitchFamily="2" charset="-122"/>
            </a:endParaRPr>
          </a:p>
          <a:p>
            <a:pPr lvl="2"/>
            <a:r>
              <a:rPr lang="en-US" altLang="zh-CN" smtClean="0">
                <a:solidFill>
                  <a:schemeClr val="folHlink"/>
                </a:solidFill>
                <a:ea typeface="宋体" panose="02010600030101010101" pitchFamily="2" charset="-122"/>
              </a:rPr>
              <a:t>FP-Growth based sub-graph mining</a:t>
            </a:r>
            <a:endParaRPr lang="zh-CN" altLang="en-US" smtClean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lvl="3">
              <a:buFont typeface="Monotype Sorts" pitchFamily="2" charset="2"/>
              <a:buNone/>
            </a:pPr>
            <a:endParaRPr lang="zh-CN" altLang="en-US" b="1" smtClean="0">
              <a:solidFill>
                <a:schemeClr val="folHlink"/>
              </a:solidFill>
              <a:ea typeface="宋体" panose="02010600030101010101" pitchFamily="2" charset="-122"/>
            </a:endParaRPr>
          </a:p>
        </p:txBody>
      </p:sp>
      <p:sp>
        <p:nvSpPr>
          <p:cNvPr id="668675" name="Rectangle 3"/>
          <p:cNvSpPr>
            <a:spLocks noChangeArrowheads="1"/>
          </p:cNvSpPr>
          <p:nvPr/>
        </p:nvSpPr>
        <p:spPr bwMode="auto">
          <a:xfrm>
            <a:off x="762000" y="0"/>
            <a:ext cx="80962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marL="0"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440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本讲内容</a:t>
            </a:r>
            <a:endParaRPr lang="en-US" altLang="zh-CN" sz="4400"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smtClean="0">
                <a:ea typeface="宋体" pitchFamily="2" charset="-122"/>
              </a:rPr>
              <a:t>Sub-Graph Mining---pattern growth method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8353425" cy="491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Mofa (ICDM’02)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8353425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93038" cy="609600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gSpan </a:t>
            </a:r>
            <a:r>
              <a:rPr lang="en-US" altLang="zh-CN" sz="2800" smtClean="0">
                <a:ea typeface="宋体" pitchFamily="2" charset="-122"/>
              </a:rPr>
              <a:t>(Yan &amp; Han, ICDM</a:t>
            </a:r>
            <a:r>
              <a:rPr lang="en-US" altLang="zh-CN" sz="2800" smtClean="0">
                <a:latin typeface="Tahoma"/>
                <a:ea typeface="宋体" pitchFamily="2" charset="-122"/>
              </a:rPr>
              <a:t>’</a:t>
            </a:r>
            <a:r>
              <a:rPr lang="en-US" altLang="zh-CN" sz="2800" smtClean="0">
                <a:ea typeface="宋体" pitchFamily="2" charset="-122"/>
              </a:rPr>
              <a:t>02)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219200" y="23622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16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685800" y="1905000"/>
            <a:ext cx="186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(K-1)  edges</a:t>
            </a:r>
          </a:p>
        </p:txBody>
      </p:sp>
      <p:sp>
        <p:nvSpPr>
          <p:cNvPr id="32773" name="AutoShape 5"/>
          <p:cNvSpPr>
            <a:spLocks noChangeArrowheads="1"/>
          </p:cNvSpPr>
          <p:nvPr/>
        </p:nvSpPr>
        <p:spPr bwMode="auto">
          <a:xfrm>
            <a:off x="1981200" y="25146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2743200" y="19812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438400" y="1524000"/>
            <a:ext cx="125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K edges</a:t>
            </a:r>
          </a:p>
        </p:txBody>
      </p:sp>
      <p:sp>
        <p:nvSpPr>
          <p:cNvPr id="32776" name="AutoShape 8"/>
          <p:cNvSpPr>
            <a:spLocks noChangeArrowheads="1"/>
          </p:cNvSpPr>
          <p:nvPr/>
        </p:nvSpPr>
        <p:spPr bwMode="auto">
          <a:xfrm>
            <a:off x="3505200" y="25146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2743200" y="39624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2725738" y="3048000"/>
            <a:ext cx="474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2743200" y="25908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4251325" y="1809750"/>
            <a:ext cx="3611563" cy="2663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Enumerate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 the graph dataset; 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At the same time,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Count the frequency 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of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algn="l"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 rot="5400000">
            <a:off x="5715000" y="47625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4191000" y="5335588"/>
            <a:ext cx="36957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Output Frequent Ones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…,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2783" name="AutoShape 15"/>
          <p:cNvCxnSpPr>
            <a:cxnSpLocks noChangeShapeType="1"/>
          </p:cNvCxnSpPr>
          <p:nvPr/>
        </p:nvCxnSpPr>
        <p:spPr bwMode="auto">
          <a:xfrm rot="5400000" flipH="1">
            <a:off x="1181100" y="3162300"/>
            <a:ext cx="2971800" cy="2438400"/>
          </a:xfrm>
          <a:prstGeom prst="bentConnector3">
            <a:avLst>
              <a:gd name="adj1" fmla="val -1444"/>
            </a:avLst>
          </a:prstGeom>
          <a:noFill/>
          <a:ln w="41275">
            <a:solidFill>
              <a:srgbClr val="3366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gSpan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14513"/>
            <a:ext cx="8153400" cy="444341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gSpan extends a k-edge graph to a (k+1)-edge graph by adding one edge</a:t>
            </a:r>
          </a:p>
          <a:p>
            <a:pPr>
              <a:lnSpc>
                <a:spcPct val="13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gSpan chooses only one depth-first search tree in a graph which produces the minimum DFS code, the canonical label of the graph</a:t>
            </a:r>
          </a:p>
          <a:p>
            <a:pPr>
              <a:lnSpc>
                <a:spcPct val="13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gSpan only adds new edges on the vertices along the right-most path of the depth-first search tree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Right-Most Extension</a:t>
            </a:r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2232025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2232025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2232025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2232025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3146425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2416175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2416175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2416175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26130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2300288" y="5715000"/>
            <a:ext cx="420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Backward-edge extension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2292350" y="5086350"/>
            <a:ext cx="64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(a)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5594350" y="5086350"/>
            <a:ext cx="65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(b)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1851025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1854200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1854200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990600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1905000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4836" name="Oval 20"/>
          <p:cNvSpPr>
            <a:spLocks noChangeArrowheads="1"/>
          </p:cNvSpPr>
          <p:nvPr/>
        </p:nvSpPr>
        <p:spPr bwMode="auto">
          <a:xfrm>
            <a:off x="1292225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2743200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 flipH="1">
            <a:off x="16732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9" name="Oval 23"/>
          <p:cNvSpPr>
            <a:spLocks noChangeArrowheads="1"/>
          </p:cNvSpPr>
          <p:nvPr/>
        </p:nvSpPr>
        <p:spPr bwMode="auto">
          <a:xfrm>
            <a:off x="5715000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0" name="Oval 24"/>
          <p:cNvSpPr>
            <a:spLocks noChangeArrowheads="1"/>
          </p:cNvSpPr>
          <p:nvPr/>
        </p:nvSpPr>
        <p:spPr bwMode="auto">
          <a:xfrm>
            <a:off x="5715000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1" name="Oval 25"/>
          <p:cNvSpPr>
            <a:spLocks noChangeArrowheads="1"/>
          </p:cNvSpPr>
          <p:nvPr/>
        </p:nvSpPr>
        <p:spPr bwMode="auto">
          <a:xfrm>
            <a:off x="5715000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2" name="Oval 26"/>
          <p:cNvSpPr>
            <a:spLocks noChangeArrowheads="1"/>
          </p:cNvSpPr>
          <p:nvPr/>
        </p:nvSpPr>
        <p:spPr bwMode="auto">
          <a:xfrm>
            <a:off x="5715000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3" name="Oval 27"/>
          <p:cNvSpPr>
            <a:spLocks noChangeArrowheads="1"/>
          </p:cNvSpPr>
          <p:nvPr/>
        </p:nvSpPr>
        <p:spPr bwMode="auto">
          <a:xfrm>
            <a:off x="6629400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5899150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5899150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5899150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60960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8" name="Text Box 32"/>
          <p:cNvSpPr txBox="1">
            <a:spLocks noChangeArrowheads="1"/>
          </p:cNvSpPr>
          <p:nvPr/>
        </p:nvSpPr>
        <p:spPr bwMode="auto">
          <a:xfrm>
            <a:off x="5334000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849" name="Text Box 33"/>
          <p:cNvSpPr txBox="1">
            <a:spLocks noChangeArrowheads="1"/>
          </p:cNvSpPr>
          <p:nvPr/>
        </p:nvSpPr>
        <p:spPr bwMode="auto">
          <a:xfrm>
            <a:off x="5337175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5337175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4851" name="Text Box 35"/>
          <p:cNvSpPr txBox="1">
            <a:spLocks noChangeArrowheads="1"/>
          </p:cNvSpPr>
          <p:nvPr/>
        </p:nvSpPr>
        <p:spPr bwMode="auto">
          <a:xfrm>
            <a:off x="4473575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4852" name="Text Box 36"/>
          <p:cNvSpPr txBox="1">
            <a:spLocks noChangeArrowheads="1"/>
          </p:cNvSpPr>
          <p:nvPr/>
        </p:nvSpPr>
        <p:spPr bwMode="auto">
          <a:xfrm>
            <a:off x="5387975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4853" name="Oval 37"/>
          <p:cNvSpPr>
            <a:spLocks noChangeArrowheads="1"/>
          </p:cNvSpPr>
          <p:nvPr/>
        </p:nvSpPr>
        <p:spPr bwMode="auto">
          <a:xfrm>
            <a:off x="4775200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54" name="Text Box 38"/>
          <p:cNvSpPr txBox="1">
            <a:spLocks noChangeArrowheads="1"/>
          </p:cNvSpPr>
          <p:nvPr/>
        </p:nvSpPr>
        <p:spPr bwMode="auto">
          <a:xfrm>
            <a:off x="6226175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4855" name="Line 39"/>
          <p:cNvSpPr>
            <a:spLocks noChangeShapeType="1"/>
          </p:cNvSpPr>
          <p:nvPr/>
        </p:nvSpPr>
        <p:spPr bwMode="auto">
          <a:xfrm flipH="1">
            <a:off x="51562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6" name="Line 40"/>
          <p:cNvSpPr>
            <a:spLocks noChangeShapeType="1"/>
          </p:cNvSpPr>
          <p:nvPr/>
        </p:nvSpPr>
        <p:spPr bwMode="auto">
          <a:xfrm>
            <a:off x="6096000" y="2514600"/>
            <a:ext cx="762000" cy="1752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>
            <a:off x="6096000" y="3276600"/>
            <a:ext cx="609600" cy="990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8" name="AutoShape 42"/>
          <p:cNvSpPr>
            <a:spLocks noChangeArrowheads="1"/>
          </p:cNvSpPr>
          <p:nvPr/>
        </p:nvSpPr>
        <p:spPr bwMode="auto">
          <a:xfrm>
            <a:off x="3810000" y="32004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Right-Most Extension (cont.)</a:t>
            </a:r>
          </a:p>
        </p:txBody>
      </p:sp>
      <p:sp>
        <p:nvSpPr>
          <p:cNvPr id="35843" name="Oval 3"/>
          <p:cNvSpPr>
            <a:spLocks noChangeArrowheads="1"/>
          </p:cNvSpPr>
          <p:nvPr/>
        </p:nvSpPr>
        <p:spPr bwMode="auto">
          <a:xfrm>
            <a:off x="2232025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2232025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2232025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2232025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3146425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2416175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2416175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2416175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26130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2362200" y="5729288"/>
            <a:ext cx="3976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Forward-edge extension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2292350" y="5086350"/>
            <a:ext cx="64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(a)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5594350" y="5086350"/>
            <a:ext cx="65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(b)</a:t>
            </a:r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1851025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1854200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1854200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990600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5859" name="Text Box 19"/>
          <p:cNvSpPr txBox="1">
            <a:spLocks noChangeArrowheads="1"/>
          </p:cNvSpPr>
          <p:nvPr/>
        </p:nvSpPr>
        <p:spPr bwMode="auto">
          <a:xfrm>
            <a:off x="1905000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5860" name="Oval 20"/>
          <p:cNvSpPr>
            <a:spLocks noChangeArrowheads="1"/>
          </p:cNvSpPr>
          <p:nvPr/>
        </p:nvSpPr>
        <p:spPr bwMode="auto">
          <a:xfrm>
            <a:off x="1292225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2743200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 flipH="1">
            <a:off x="16732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3" name="Oval 23"/>
          <p:cNvSpPr>
            <a:spLocks noChangeArrowheads="1"/>
          </p:cNvSpPr>
          <p:nvPr/>
        </p:nvSpPr>
        <p:spPr bwMode="auto">
          <a:xfrm>
            <a:off x="5715000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4" name="Oval 24"/>
          <p:cNvSpPr>
            <a:spLocks noChangeArrowheads="1"/>
          </p:cNvSpPr>
          <p:nvPr/>
        </p:nvSpPr>
        <p:spPr bwMode="auto">
          <a:xfrm>
            <a:off x="5715000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5" name="Oval 25"/>
          <p:cNvSpPr>
            <a:spLocks noChangeArrowheads="1"/>
          </p:cNvSpPr>
          <p:nvPr/>
        </p:nvSpPr>
        <p:spPr bwMode="auto">
          <a:xfrm>
            <a:off x="5715000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6" name="Oval 26"/>
          <p:cNvSpPr>
            <a:spLocks noChangeArrowheads="1"/>
          </p:cNvSpPr>
          <p:nvPr/>
        </p:nvSpPr>
        <p:spPr bwMode="auto">
          <a:xfrm>
            <a:off x="5715000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7" name="Oval 27"/>
          <p:cNvSpPr>
            <a:spLocks noChangeArrowheads="1"/>
          </p:cNvSpPr>
          <p:nvPr/>
        </p:nvSpPr>
        <p:spPr bwMode="auto">
          <a:xfrm>
            <a:off x="6629400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8" name="Line 28"/>
          <p:cNvSpPr>
            <a:spLocks noChangeShapeType="1"/>
          </p:cNvSpPr>
          <p:nvPr/>
        </p:nvSpPr>
        <p:spPr bwMode="auto">
          <a:xfrm>
            <a:off x="5899150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9" name="Line 29"/>
          <p:cNvSpPr>
            <a:spLocks noChangeShapeType="1"/>
          </p:cNvSpPr>
          <p:nvPr/>
        </p:nvSpPr>
        <p:spPr bwMode="auto">
          <a:xfrm>
            <a:off x="5899150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0" name="Line 30"/>
          <p:cNvSpPr>
            <a:spLocks noChangeShapeType="1"/>
          </p:cNvSpPr>
          <p:nvPr/>
        </p:nvSpPr>
        <p:spPr bwMode="auto">
          <a:xfrm>
            <a:off x="5899150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1" name="Line 31"/>
          <p:cNvSpPr>
            <a:spLocks noChangeShapeType="1"/>
          </p:cNvSpPr>
          <p:nvPr/>
        </p:nvSpPr>
        <p:spPr bwMode="auto">
          <a:xfrm>
            <a:off x="60960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2" name="Text Box 32"/>
          <p:cNvSpPr txBox="1">
            <a:spLocks noChangeArrowheads="1"/>
          </p:cNvSpPr>
          <p:nvPr/>
        </p:nvSpPr>
        <p:spPr bwMode="auto">
          <a:xfrm>
            <a:off x="5334000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5873" name="Text Box 33"/>
          <p:cNvSpPr txBox="1">
            <a:spLocks noChangeArrowheads="1"/>
          </p:cNvSpPr>
          <p:nvPr/>
        </p:nvSpPr>
        <p:spPr bwMode="auto">
          <a:xfrm>
            <a:off x="5337175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874" name="Text Box 34"/>
          <p:cNvSpPr txBox="1">
            <a:spLocks noChangeArrowheads="1"/>
          </p:cNvSpPr>
          <p:nvPr/>
        </p:nvSpPr>
        <p:spPr bwMode="auto">
          <a:xfrm>
            <a:off x="5337175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5875" name="Text Box 35"/>
          <p:cNvSpPr txBox="1">
            <a:spLocks noChangeArrowheads="1"/>
          </p:cNvSpPr>
          <p:nvPr/>
        </p:nvSpPr>
        <p:spPr bwMode="auto">
          <a:xfrm>
            <a:off x="4473575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5876" name="Text Box 36"/>
          <p:cNvSpPr txBox="1">
            <a:spLocks noChangeArrowheads="1"/>
          </p:cNvSpPr>
          <p:nvPr/>
        </p:nvSpPr>
        <p:spPr bwMode="auto">
          <a:xfrm>
            <a:off x="5387975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5877" name="Oval 37"/>
          <p:cNvSpPr>
            <a:spLocks noChangeArrowheads="1"/>
          </p:cNvSpPr>
          <p:nvPr/>
        </p:nvSpPr>
        <p:spPr bwMode="auto">
          <a:xfrm>
            <a:off x="4775200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78" name="Text Box 38"/>
          <p:cNvSpPr txBox="1">
            <a:spLocks noChangeArrowheads="1"/>
          </p:cNvSpPr>
          <p:nvPr/>
        </p:nvSpPr>
        <p:spPr bwMode="auto">
          <a:xfrm>
            <a:off x="6226175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5879" name="Line 39"/>
          <p:cNvSpPr>
            <a:spLocks noChangeShapeType="1"/>
          </p:cNvSpPr>
          <p:nvPr/>
        </p:nvSpPr>
        <p:spPr bwMode="auto">
          <a:xfrm flipH="1">
            <a:off x="51562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0" name="Line 40"/>
          <p:cNvSpPr>
            <a:spLocks noChangeShapeType="1"/>
          </p:cNvSpPr>
          <p:nvPr/>
        </p:nvSpPr>
        <p:spPr bwMode="auto">
          <a:xfrm>
            <a:off x="6096000" y="25146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1" name="AutoShape 41"/>
          <p:cNvSpPr>
            <a:spLocks noChangeArrowheads="1"/>
          </p:cNvSpPr>
          <p:nvPr/>
        </p:nvSpPr>
        <p:spPr bwMode="auto">
          <a:xfrm>
            <a:off x="3733800" y="32004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82" name="Oval 42"/>
          <p:cNvSpPr>
            <a:spLocks noChangeArrowheads="1"/>
          </p:cNvSpPr>
          <p:nvPr/>
        </p:nvSpPr>
        <p:spPr bwMode="auto">
          <a:xfrm>
            <a:off x="6934200" y="2590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83" name="Line 43"/>
          <p:cNvSpPr>
            <a:spLocks noChangeShapeType="1"/>
          </p:cNvSpPr>
          <p:nvPr/>
        </p:nvSpPr>
        <p:spPr bwMode="auto">
          <a:xfrm>
            <a:off x="6096000" y="32004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4" name="Oval 44"/>
          <p:cNvSpPr>
            <a:spLocks noChangeArrowheads="1"/>
          </p:cNvSpPr>
          <p:nvPr/>
        </p:nvSpPr>
        <p:spPr bwMode="auto">
          <a:xfrm>
            <a:off x="6934200" y="3276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85" name="Line 45"/>
          <p:cNvSpPr>
            <a:spLocks noChangeShapeType="1"/>
          </p:cNvSpPr>
          <p:nvPr/>
        </p:nvSpPr>
        <p:spPr bwMode="auto">
          <a:xfrm>
            <a:off x="6096000" y="38100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6" name="Oval 46"/>
          <p:cNvSpPr>
            <a:spLocks noChangeArrowheads="1"/>
          </p:cNvSpPr>
          <p:nvPr/>
        </p:nvSpPr>
        <p:spPr bwMode="auto">
          <a:xfrm>
            <a:off x="6934200" y="3886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87" name="Line 47"/>
          <p:cNvSpPr>
            <a:spLocks noChangeShapeType="1"/>
          </p:cNvSpPr>
          <p:nvPr/>
        </p:nvSpPr>
        <p:spPr bwMode="auto">
          <a:xfrm>
            <a:off x="7010400" y="44958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8" name="Oval 48"/>
          <p:cNvSpPr>
            <a:spLocks noChangeArrowheads="1"/>
          </p:cNvSpPr>
          <p:nvPr/>
        </p:nvSpPr>
        <p:spPr bwMode="auto">
          <a:xfrm>
            <a:off x="7848600" y="4572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Avoid Duplicate Extension</a:t>
            </a:r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25146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25146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25146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25146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34290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>
            <a:off x="26987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>
            <a:off x="26987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26987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28956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6" name="Oval 12"/>
          <p:cNvSpPr>
            <a:spLocks noChangeArrowheads="1"/>
          </p:cNvSpPr>
          <p:nvPr/>
        </p:nvSpPr>
        <p:spPr bwMode="auto">
          <a:xfrm>
            <a:off x="15748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 flipH="1">
            <a:off x="1955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1803400" y="2438400"/>
            <a:ext cx="762000" cy="16764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870200" y="3048000"/>
            <a:ext cx="685800" cy="10668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17272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32004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6882" name="Oval 18"/>
          <p:cNvSpPr>
            <a:spLocks noChangeArrowheads="1"/>
          </p:cNvSpPr>
          <p:nvPr/>
        </p:nvSpPr>
        <p:spPr bwMode="auto">
          <a:xfrm>
            <a:off x="57912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3" name="Oval 19"/>
          <p:cNvSpPr>
            <a:spLocks noChangeArrowheads="1"/>
          </p:cNvSpPr>
          <p:nvPr/>
        </p:nvSpPr>
        <p:spPr bwMode="auto">
          <a:xfrm>
            <a:off x="57912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4" name="Oval 20"/>
          <p:cNvSpPr>
            <a:spLocks noChangeArrowheads="1"/>
          </p:cNvSpPr>
          <p:nvPr/>
        </p:nvSpPr>
        <p:spPr bwMode="auto">
          <a:xfrm>
            <a:off x="57912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5" name="Oval 21"/>
          <p:cNvSpPr>
            <a:spLocks noChangeArrowheads="1"/>
          </p:cNvSpPr>
          <p:nvPr/>
        </p:nvSpPr>
        <p:spPr bwMode="auto">
          <a:xfrm>
            <a:off x="57912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6" name="Oval 22"/>
          <p:cNvSpPr>
            <a:spLocks noChangeArrowheads="1"/>
          </p:cNvSpPr>
          <p:nvPr/>
        </p:nvSpPr>
        <p:spPr bwMode="auto">
          <a:xfrm>
            <a:off x="67056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>
            <a:off x="59753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>
            <a:off x="59753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59753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>
            <a:off x="61722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1" name="Oval 27"/>
          <p:cNvSpPr>
            <a:spLocks noChangeArrowheads="1"/>
          </p:cNvSpPr>
          <p:nvPr/>
        </p:nvSpPr>
        <p:spPr bwMode="auto">
          <a:xfrm>
            <a:off x="48514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 flipH="1">
            <a:off x="52324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 flipH="1">
            <a:off x="5080000" y="2438400"/>
            <a:ext cx="762000" cy="16764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6172200" y="3048000"/>
            <a:ext cx="660400" cy="10668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95" name="Text Box 31"/>
          <p:cNvSpPr txBox="1">
            <a:spLocks noChangeArrowheads="1"/>
          </p:cNvSpPr>
          <p:nvPr/>
        </p:nvSpPr>
        <p:spPr bwMode="auto">
          <a:xfrm>
            <a:off x="50038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6896" name="Text Box 32"/>
          <p:cNvSpPr txBox="1">
            <a:spLocks noChangeArrowheads="1"/>
          </p:cNvSpPr>
          <p:nvPr/>
        </p:nvSpPr>
        <p:spPr bwMode="auto">
          <a:xfrm>
            <a:off x="65278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6897" name="Text Box 33"/>
          <p:cNvSpPr txBox="1">
            <a:spLocks noChangeArrowheads="1"/>
          </p:cNvSpPr>
          <p:nvPr/>
        </p:nvSpPr>
        <p:spPr bwMode="auto">
          <a:xfrm>
            <a:off x="709613" y="5105400"/>
            <a:ext cx="81295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They are the same graph, but they grow in different ways.  </a:t>
            </a:r>
          </a:p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cost to detect them is huge if there are lots of such </a:t>
            </a:r>
          </a:p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duplicate growths.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Right-most Extension</a:t>
            </a:r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14478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14478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14478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14478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23622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16319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16319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16319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1828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0" name="Oval 12"/>
          <p:cNvSpPr>
            <a:spLocks noChangeArrowheads="1"/>
          </p:cNvSpPr>
          <p:nvPr/>
        </p:nvSpPr>
        <p:spPr bwMode="auto">
          <a:xfrm>
            <a:off x="5080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 flipH="1">
            <a:off x="8890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 flipH="1">
            <a:off x="736600" y="2438400"/>
            <a:ext cx="762000" cy="16764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>
            <a:off x="1803400" y="3048000"/>
            <a:ext cx="685800" cy="10668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04" name="Text Box 16"/>
          <p:cNvSpPr txBox="1">
            <a:spLocks noChangeArrowheads="1"/>
          </p:cNvSpPr>
          <p:nvPr/>
        </p:nvSpPr>
        <p:spPr bwMode="auto">
          <a:xfrm>
            <a:off x="6604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21336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7906" name="Oval 18"/>
          <p:cNvSpPr>
            <a:spLocks noChangeArrowheads="1"/>
          </p:cNvSpPr>
          <p:nvPr/>
        </p:nvSpPr>
        <p:spPr bwMode="auto">
          <a:xfrm>
            <a:off x="43688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7" name="Oval 19"/>
          <p:cNvSpPr>
            <a:spLocks noChangeArrowheads="1"/>
          </p:cNvSpPr>
          <p:nvPr/>
        </p:nvSpPr>
        <p:spPr bwMode="auto">
          <a:xfrm>
            <a:off x="43688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8" name="Oval 20"/>
          <p:cNvSpPr>
            <a:spLocks noChangeArrowheads="1"/>
          </p:cNvSpPr>
          <p:nvPr/>
        </p:nvSpPr>
        <p:spPr bwMode="auto">
          <a:xfrm>
            <a:off x="43688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9" name="Oval 21"/>
          <p:cNvSpPr>
            <a:spLocks noChangeArrowheads="1"/>
          </p:cNvSpPr>
          <p:nvPr/>
        </p:nvSpPr>
        <p:spPr bwMode="auto">
          <a:xfrm>
            <a:off x="43688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10" name="Oval 22"/>
          <p:cNvSpPr>
            <a:spLocks noChangeArrowheads="1"/>
          </p:cNvSpPr>
          <p:nvPr/>
        </p:nvSpPr>
        <p:spPr bwMode="auto">
          <a:xfrm>
            <a:off x="52832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11" name="Line 23"/>
          <p:cNvSpPr>
            <a:spLocks noChangeShapeType="1"/>
          </p:cNvSpPr>
          <p:nvPr/>
        </p:nvSpPr>
        <p:spPr bwMode="auto">
          <a:xfrm>
            <a:off x="45529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2" name="Line 24"/>
          <p:cNvSpPr>
            <a:spLocks noChangeShapeType="1"/>
          </p:cNvSpPr>
          <p:nvPr/>
        </p:nvSpPr>
        <p:spPr bwMode="auto">
          <a:xfrm>
            <a:off x="45529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3" name="Line 25"/>
          <p:cNvSpPr>
            <a:spLocks noChangeShapeType="1"/>
          </p:cNvSpPr>
          <p:nvPr/>
        </p:nvSpPr>
        <p:spPr bwMode="auto">
          <a:xfrm>
            <a:off x="45529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4" name="Line 26"/>
          <p:cNvSpPr>
            <a:spLocks noChangeShapeType="1"/>
          </p:cNvSpPr>
          <p:nvPr/>
        </p:nvSpPr>
        <p:spPr bwMode="auto">
          <a:xfrm>
            <a:off x="4749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5" name="Oval 27"/>
          <p:cNvSpPr>
            <a:spLocks noChangeArrowheads="1"/>
          </p:cNvSpPr>
          <p:nvPr/>
        </p:nvSpPr>
        <p:spPr bwMode="auto">
          <a:xfrm>
            <a:off x="34290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16" name="Line 28"/>
          <p:cNvSpPr>
            <a:spLocks noChangeShapeType="1"/>
          </p:cNvSpPr>
          <p:nvPr/>
        </p:nvSpPr>
        <p:spPr bwMode="auto">
          <a:xfrm flipH="1">
            <a:off x="38100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7" name="Line 29"/>
          <p:cNvSpPr>
            <a:spLocks noChangeShapeType="1"/>
          </p:cNvSpPr>
          <p:nvPr/>
        </p:nvSpPr>
        <p:spPr bwMode="auto">
          <a:xfrm>
            <a:off x="4749800" y="3048000"/>
            <a:ext cx="660400" cy="10668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18" name="Text Box 30"/>
          <p:cNvSpPr txBox="1">
            <a:spLocks noChangeArrowheads="1"/>
          </p:cNvSpPr>
          <p:nvPr/>
        </p:nvSpPr>
        <p:spPr bwMode="auto">
          <a:xfrm>
            <a:off x="51054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7919" name="Oval 31"/>
          <p:cNvSpPr>
            <a:spLocks noChangeArrowheads="1"/>
          </p:cNvSpPr>
          <p:nvPr/>
        </p:nvSpPr>
        <p:spPr bwMode="auto">
          <a:xfrm>
            <a:off x="71628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0" name="Oval 32"/>
          <p:cNvSpPr>
            <a:spLocks noChangeArrowheads="1"/>
          </p:cNvSpPr>
          <p:nvPr/>
        </p:nvSpPr>
        <p:spPr bwMode="auto">
          <a:xfrm>
            <a:off x="71628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1" name="Oval 33"/>
          <p:cNvSpPr>
            <a:spLocks noChangeArrowheads="1"/>
          </p:cNvSpPr>
          <p:nvPr/>
        </p:nvSpPr>
        <p:spPr bwMode="auto">
          <a:xfrm>
            <a:off x="71628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2" name="Oval 34"/>
          <p:cNvSpPr>
            <a:spLocks noChangeArrowheads="1"/>
          </p:cNvSpPr>
          <p:nvPr/>
        </p:nvSpPr>
        <p:spPr bwMode="auto">
          <a:xfrm>
            <a:off x="71628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3" name="Oval 35"/>
          <p:cNvSpPr>
            <a:spLocks noChangeArrowheads="1"/>
          </p:cNvSpPr>
          <p:nvPr/>
        </p:nvSpPr>
        <p:spPr bwMode="auto">
          <a:xfrm>
            <a:off x="80772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4" name="Line 36"/>
          <p:cNvSpPr>
            <a:spLocks noChangeShapeType="1"/>
          </p:cNvSpPr>
          <p:nvPr/>
        </p:nvSpPr>
        <p:spPr bwMode="auto">
          <a:xfrm>
            <a:off x="73469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73469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6" name="Line 38"/>
          <p:cNvSpPr>
            <a:spLocks noChangeShapeType="1"/>
          </p:cNvSpPr>
          <p:nvPr/>
        </p:nvSpPr>
        <p:spPr bwMode="auto">
          <a:xfrm>
            <a:off x="73469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7" name="Line 39"/>
          <p:cNvSpPr>
            <a:spLocks noChangeShapeType="1"/>
          </p:cNvSpPr>
          <p:nvPr/>
        </p:nvSpPr>
        <p:spPr bwMode="auto">
          <a:xfrm>
            <a:off x="7543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8" name="Oval 40"/>
          <p:cNvSpPr>
            <a:spLocks noChangeArrowheads="1"/>
          </p:cNvSpPr>
          <p:nvPr/>
        </p:nvSpPr>
        <p:spPr bwMode="auto">
          <a:xfrm>
            <a:off x="62230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9" name="Line 41"/>
          <p:cNvSpPr>
            <a:spLocks noChangeShapeType="1"/>
          </p:cNvSpPr>
          <p:nvPr/>
        </p:nvSpPr>
        <p:spPr bwMode="auto">
          <a:xfrm flipH="1">
            <a:off x="66040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0" name="Line 42"/>
          <p:cNvSpPr>
            <a:spLocks noChangeShapeType="1"/>
          </p:cNvSpPr>
          <p:nvPr/>
        </p:nvSpPr>
        <p:spPr bwMode="auto">
          <a:xfrm flipH="1">
            <a:off x="6451600" y="2438400"/>
            <a:ext cx="762000" cy="16764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1" name="Line 43"/>
          <p:cNvSpPr>
            <a:spLocks noChangeShapeType="1"/>
          </p:cNvSpPr>
          <p:nvPr/>
        </p:nvSpPr>
        <p:spPr bwMode="auto">
          <a:xfrm>
            <a:off x="7543800" y="3048000"/>
            <a:ext cx="660400" cy="10668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2" name="Text Box 44"/>
          <p:cNvSpPr txBox="1">
            <a:spLocks noChangeArrowheads="1"/>
          </p:cNvSpPr>
          <p:nvPr/>
        </p:nvSpPr>
        <p:spPr bwMode="auto">
          <a:xfrm>
            <a:off x="63754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7933" name="Text Box 45"/>
          <p:cNvSpPr txBox="1">
            <a:spLocks noChangeArrowheads="1"/>
          </p:cNvSpPr>
          <p:nvPr/>
        </p:nvSpPr>
        <p:spPr bwMode="auto">
          <a:xfrm>
            <a:off x="78994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7934" name="Line 46"/>
          <p:cNvSpPr>
            <a:spLocks noChangeShapeType="1"/>
          </p:cNvSpPr>
          <p:nvPr/>
        </p:nvSpPr>
        <p:spPr bwMode="auto">
          <a:xfrm>
            <a:off x="5715000" y="1905000"/>
            <a:ext cx="2971800" cy="3276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5" name="Line 47"/>
          <p:cNvSpPr>
            <a:spLocks noChangeShapeType="1"/>
          </p:cNvSpPr>
          <p:nvPr/>
        </p:nvSpPr>
        <p:spPr bwMode="auto">
          <a:xfrm flipH="1">
            <a:off x="5867400" y="1752600"/>
            <a:ext cx="2590800" cy="3581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6" name="Text Box 48"/>
          <p:cNvSpPr txBox="1">
            <a:spLocks noChangeArrowheads="1"/>
          </p:cNvSpPr>
          <p:nvPr/>
        </p:nvSpPr>
        <p:spPr bwMode="auto">
          <a:xfrm>
            <a:off x="5297488" y="5715000"/>
            <a:ext cx="3846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We will never generate this</a:t>
            </a:r>
          </a:p>
        </p:txBody>
      </p:sp>
      <p:sp>
        <p:nvSpPr>
          <p:cNvPr id="37937" name="Rectangle 49"/>
          <p:cNvSpPr>
            <a:spLocks noChangeArrowheads="1"/>
          </p:cNvSpPr>
          <p:nvPr/>
        </p:nvSpPr>
        <p:spPr bwMode="auto">
          <a:xfrm>
            <a:off x="838200" y="4876800"/>
            <a:ext cx="41148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Theorem: </a:t>
            </a:r>
          </a:p>
          <a:p>
            <a:pPr lvl="1" algn="l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Any graph can be grown by right-most extension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Search Space in gSpan</a:t>
            </a:r>
          </a:p>
        </p:txBody>
      </p:sp>
      <p:sp>
        <p:nvSpPr>
          <p:cNvPr id="38915" name="Oval 3"/>
          <p:cNvSpPr>
            <a:spLocks noChangeArrowheads="1"/>
          </p:cNvSpPr>
          <p:nvPr/>
        </p:nvSpPr>
        <p:spPr bwMode="auto">
          <a:xfrm>
            <a:off x="5233988" y="19050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3786188" y="2514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5233988" y="2514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7291388" y="2514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5995988" y="2286000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4014788" y="2057400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5386388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5462588" y="2133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5538788" y="2057400"/>
            <a:ext cx="1828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4" name="Oval 12"/>
          <p:cNvSpPr>
            <a:spLocks noChangeArrowheads="1"/>
          </p:cNvSpPr>
          <p:nvPr/>
        </p:nvSpPr>
        <p:spPr bwMode="auto">
          <a:xfrm>
            <a:off x="27193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5" name="Oval 13"/>
          <p:cNvSpPr>
            <a:spLocks noChangeArrowheads="1"/>
          </p:cNvSpPr>
          <p:nvPr/>
        </p:nvSpPr>
        <p:spPr bwMode="auto">
          <a:xfrm>
            <a:off x="34813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6" name="Oval 14"/>
          <p:cNvSpPr>
            <a:spLocks noChangeArrowheads="1"/>
          </p:cNvSpPr>
          <p:nvPr/>
        </p:nvSpPr>
        <p:spPr bwMode="auto">
          <a:xfrm>
            <a:off x="50053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3938588" y="31384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28" name="Oval 16"/>
          <p:cNvSpPr>
            <a:spLocks noChangeArrowheads="1"/>
          </p:cNvSpPr>
          <p:nvPr/>
        </p:nvSpPr>
        <p:spPr bwMode="auto">
          <a:xfrm>
            <a:off x="55387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6148388" y="31384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30" name="Line 18"/>
          <p:cNvSpPr>
            <a:spLocks noChangeShapeType="1"/>
          </p:cNvSpPr>
          <p:nvPr/>
        </p:nvSpPr>
        <p:spPr bwMode="auto">
          <a:xfrm flipH="1">
            <a:off x="2947988" y="27432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 flipH="1">
            <a:off x="3557588" y="27432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2" name="Line 20"/>
          <p:cNvSpPr>
            <a:spLocks noChangeShapeType="1"/>
          </p:cNvSpPr>
          <p:nvPr/>
        </p:nvSpPr>
        <p:spPr bwMode="auto">
          <a:xfrm>
            <a:off x="3938588" y="2743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 flipH="1">
            <a:off x="5157788" y="2743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5386388" y="27432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>
            <a:off x="5462588" y="27432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6" name="Text Box 24"/>
          <p:cNvSpPr txBox="1">
            <a:spLocks noChangeArrowheads="1"/>
          </p:cNvSpPr>
          <p:nvPr/>
        </p:nvSpPr>
        <p:spPr bwMode="auto">
          <a:xfrm>
            <a:off x="2109788" y="2262188"/>
            <a:ext cx="1119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1-edge</a:t>
            </a:r>
            <a:endParaRPr lang="en-US" altLang="zh-CN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1347788" y="3100388"/>
            <a:ext cx="1119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2-edge</a:t>
            </a:r>
            <a:endParaRPr lang="en-US" altLang="zh-CN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38" name="Oval 26"/>
          <p:cNvSpPr>
            <a:spLocks noChangeArrowheads="1"/>
          </p:cNvSpPr>
          <p:nvPr/>
        </p:nvSpPr>
        <p:spPr bwMode="auto">
          <a:xfrm>
            <a:off x="2033588" y="4114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39" name="Oval 27"/>
          <p:cNvSpPr>
            <a:spLocks noChangeArrowheads="1"/>
          </p:cNvSpPr>
          <p:nvPr/>
        </p:nvSpPr>
        <p:spPr bwMode="auto">
          <a:xfrm>
            <a:off x="2795588" y="4114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3252788" y="39004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41" name="Line 29"/>
          <p:cNvSpPr>
            <a:spLocks noChangeShapeType="1"/>
          </p:cNvSpPr>
          <p:nvPr/>
        </p:nvSpPr>
        <p:spPr bwMode="auto">
          <a:xfrm flipH="1">
            <a:off x="2262188" y="35814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2" name="Line 30"/>
          <p:cNvSpPr>
            <a:spLocks noChangeShapeType="1"/>
          </p:cNvSpPr>
          <p:nvPr/>
        </p:nvSpPr>
        <p:spPr bwMode="auto">
          <a:xfrm>
            <a:off x="2871788" y="35814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3" name="Line 31"/>
          <p:cNvSpPr>
            <a:spLocks noChangeShapeType="1"/>
          </p:cNvSpPr>
          <p:nvPr/>
        </p:nvSpPr>
        <p:spPr bwMode="auto">
          <a:xfrm>
            <a:off x="2947988" y="3581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4" name="Text Box 32"/>
          <p:cNvSpPr txBox="1">
            <a:spLocks noChangeArrowheads="1"/>
          </p:cNvSpPr>
          <p:nvPr/>
        </p:nvSpPr>
        <p:spPr bwMode="auto">
          <a:xfrm>
            <a:off x="990600" y="3962400"/>
            <a:ext cx="1119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3-edge</a:t>
            </a:r>
            <a:endParaRPr lang="en-US" altLang="zh-CN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45" name="Oval 33"/>
          <p:cNvSpPr>
            <a:spLocks noChangeArrowheads="1"/>
          </p:cNvSpPr>
          <p:nvPr/>
        </p:nvSpPr>
        <p:spPr bwMode="auto">
          <a:xfrm>
            <a:off x="4573588" y="4038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46" name="Oval 34"/>
          <p:cNvSpPr>
            <a:spLocks noChangeArrowheads="1"/>
          </p:cNvSpPr>
          <p:nvPr/>
        </p:nvSpPr>
        <p:spPr bwMode="auto">
          <a:xfrm>
            <a:off x="5335588" y="4038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47" name="Text Box 35"/>
          <p:cNvSpPr txBox="1">
            <a:spLocks noChangeArrowheads="1"/>
          </p:cNvSpPr>
          <p:nvPr/>
        </p:nvSpPr>
        <p:spPr bwMode="auto">
          <a:xfrm>
            <a:off x="5792788" y="38242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48" name="Line 36"/>
          <p:cNvSpPr>
            <a:spLocks noChangeShapeType="1"/>
          </p:cNvSpPr>
          <p:nvPr/>
        </p:nvSpPr>
        <p:spPr bwMode="auto">
          <a:xfrm flipH="1">
            <a:off x="4700588" y="3581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9" name="Line 37"/>
          <p:cNvSpPr>
            <a:spLocks noChangeShapeType="1"/>
          </p:cNvSpPr>
          <p:nvPr/>
        </p:nvSpPr>
        <p:spPr bwMode="auto">
          <a:xfrm>
            <a:off x="5157788" y="3581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0" name="Oval 38"/>
          <p:cNvSpPr>
            <a:spLocks noChangeArrowheads="1"/>
          </p:cNvSpPr>
          <p:nvPr/>
        </p:nvSpPr>
        <p:spPr bwMode="auto">
          <a:xfrm>
            <a:off x="1296988" y="49530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1" name="Oval 39"/>
          <p:cNvSpPr>
            <a:spLocks noChangeArrowheads="1"/>
          </p:cNvSpPr>
          <p:nvPr/>
        </p:nvSpPr>
        <p:spPr bwMode="auto">
          <a:xfrm>
            <a:off x="2058988" y="49530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2" name="Text Box 40"/>
          <p:cNvSpPr txBox="1">
            <a:spLocks noChangeArrowheads="1"/>
          </p:cNvSpPr>
          <p:nvPr/>
        </p:nvSpPr>
        <p:spPr bwMode="auto">
          <a:xfrm>
            <a:off x="2516188" y="47386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53" name="Line 41"/>
          <p:cNvSpPr>
            <a:spLocks noChangeShapeType="1"/>
          </p:cNvSpPr>
          <p:nvPr/>
        </p:nvSpPr>
        <p:spPr bwMode="auto">
          <a:xfrm flipH="1">
            <a:off x="1500188" y="4343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4" name="Line 42"/>
          <p:cNvSpPr>
            <a:spLocks noChangeShapeType="1"/>
          </p:cNvSpPr>
          <p:nvPr/>
        </p:nvSpPr>
        <p:spPr bwMode="auto">
          <a:xfrm>
            <a:off x="2185988" y="4343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5" name="Line 43"/>
          <p:cNvSpPr>
            <a:spLocks noChangeShapeType="1"/>
          </p:cNvSpPr>
          <p:nvPr/>
        </p:nvSpPr>
        <p:spPr bwMode="auto">
          <a:xfrm>
            <a:off x="2262188" y="4343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6" name="Text Box 44"/>
          <p:cNvSpPr txBox="1">
            <a:spLocks noChangeArrowheads="1"/>
          </p:cNvSpPr>
          <p:nvPr/>
        </p:nvSpPr>
        <p:spPr bwMode="auto">
          <a:xfrm>
            <a:off x="1220788" y="5257800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57" name="Oval 45"/>
          <p:cNvSpPr>
            <a:spLocks noChangeArrowheads="1"/>
          </p:cNvSpPr>
          <p:nvPr/>
        </p:nvSpPr>
        <p:spPr bwMode="auto">
          <a:xfrm>
            <a:off x="4116388" y="4938713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8" name="Oval 46"/>
          <p:cNvSpPr>
            <a:spLocks noChangeArrowheads="1"/>
          </p:cNvSpPr>
          <p:nvPr/>
        </p:nvSpPr>
        <p:spPr bwMode="auto">
          <a:xfrm>
            <a:off x="4878388" y="4938713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9" name="Text Box 47"/>
          <p:cNvSpPr txBox="1">
            <a:spLocks noChangeArrowheads="1"/>
          </p:cNvSpPr>
          <p:nvPr/>
        </p:nvSpPr>
        <p:spPr bwMode="auto">
          <a:xfrm>
            <a:off x="5335588" y="4724400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60" name="Line 48"/>
          <p:cNvSpPr>
            <a:spLocks noChangeShapeType="1"/>
          </p:cNvSpPr>
          <p:nvPr/>
        </p:nvSpPr>
        <p:spPr bwMode="auto">
          <a:xfrm flipH="1">
            <a:off x="4319588" y="42672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61" name="Line 49"/>
          <p:cNvSpPr>
            <a:spLocks noChangeShapeType="1"/>
          </p:cNvSpPr>
          <p:nvPr/>
        </p:nvSpPr>
        <p:spPr bwMode="auto">
          <a:xfrm>
            <a:off x="4700588" y="4267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62" name="Line 50"/>
          <p:cNvSpPr>
            <a:spLocks noChangeShapeType="1"/>
          </p:cNvSpPr>
          <p:nvPr/>
        </p:nvSpPr>
        <p:spPr bwMode="auto">
          <a:xfrm>
            <a:off x="4776788" y="42672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63" name="Text Box 51"/>
          <p:cNvSpPr txBox="1">
            <a:spLocks noChangeArrowheads="1"/>
          </p:cNvSpPr>
          <p:nvPr/>
        </p:nvSpPr>
        <p:spPr bwMode="auto">
          <a:xfrm>
            <a:off x="4659313" y="3124200"/>
            <a:ext cx="422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64" name="Text Box 52"/>
          <p:cNvSpPr txBox="1">
            <a:spLocks noChangeArrowheads="1"/>
          </p:cNvSpPr>
          <p:nvPr/>
        </p:nvSpPr>
        <p:spPr bwMode="auto">
          <a:xfrm>
            <a:off x="4014788" y="3886200"/>
            <a:ext cx="58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965" name="Text Box 53"/>
          <p:cNvSpPr txBox="1">
            <a:spLocks noChangeArrowheads="1"/>
          </p:cNvSpPr>
          <p:nvPr/>
        </p:nvSpPr>
        <p:spPr bwMode="auto">
          <a:xfrm>
            <a:off x="6350000" y="3886200"/>
            <a:ext cx="58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21638" cy="762000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DFS Code</a:t>
            </a:r>
          </a:p>
        </p:txBody>
      </p:sp>
      <p:grpSp>
        <p:nvGrpSpPr>
          <p:cNvPr id="2055" name="Group 20"/>
          <p:cNvGrpSpPr>
            <a:grpSpLocks/>
          </p:cNvGrpSpPr>
          <p:nvPr/>
        </p:nvGrpSpPr>
        <p:grpSpPr bwMode="auto">
          <a:xfrm>
            <a:off x="2339975" y="2586038"/>
            <a:ext cx="4916488" cy="1390650"/>
            <a:chOff x="2064" y="1332"/>
            <a:chExt cx="3097" cy="876"/>
          </a:xfrm>
        </p:grpSpPr>
        <p:sp>
          <p:nvSpPr>
            <p:cNvPr id="2082" name="Oval 21"/>
            <p:cNvSpPr>
              <a:spLocks noChangeArrowheads="1"/>
            </p:cNvSpPr>
            <p:nvPr/>
          </p:nvSpPr>
          <p:spPr bwMode="auto">
            <a:xfrm>
              <a:off x="2208" y="153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grpSp>
          <p:nvGrpSpPr>
            <p:cNvPr id="2083" name="Group 22"/>
            <p:cNvGrpSpPr>
              <a:grpSpLocks/>
            </p:cNvGrpSpPr>
            <p:nvPr/>
          </p:nvGrpSpPr>
          <p:grpSpPr bwMode="auto">
            <a:xfrm>
              <a:off x="2064" y="1680"/>
              <a:ext cx="384" cy="528"/>
              <a:chOff x="2064" y="1680"/>
              <a:chExt cx="384" cy="528"/>
            </a:xfrm>
          </p:grpSpPr>
          <p:sp>
            <p:nvSpPr>
              <p:cNvPr id="2085" name="Oval 23"/>
              <p:cNvSpPr>
                <a:spLocks noChangeArrowheads="1"/>
              </p:cNvSpPr>
              <p:nvPr/>
            </p:nvSpPr>
            <p:spPr bwMode="auto">
              <a:xfrm>
                <a:off x="2208" y="196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2086" name="Line 24"/>
              <p:cNvSpPr>
                <a:spLocks noChangeShapeType="1"/>
              </p:cNvSpPr>
              <p:nvPr/>
            </p:nvSpPr>
            <p:spPr bwMode="auto">
              <a:xfrm>
                <a:off x="2324" y="1776"/>
                <a:ext cx="0" cy="19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7" name="Text Box 25"/>
              <p:cNvSpPr txBox="1">
                <a:spLocks noChangeArrowheads="1"/>
              </p:cNvSpPr>
              <p:nvPr/>
            </p:nvSpPr>
            <p:spPr bwMode="auto">
              <a:xfrm>
                <a:off x="2064" y="1680"/>
                <a:ext cx="2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sp>
          <p:nvSpPr>
            <p:cNvPr id="2084" name="Text Box 26"/>
            <p:cNvSpPr txBox="1">
              <a:spLocks noChangeArrowheads="1"/>
            </p:cNvSpPr>
            <p:nvPr/>
          </p:nvSpPr>
          <p:spPr bwMode="auto">
            <a:xfrm>
              <a:off x="3590" y="1332"/>
              <a:ext cx="15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e0: (0,1,X,a,X)</a:t>
              </a:r>
            </a:p>
          </p:txBody>
        </p:sp>
      </p:grpSp>
      <p:grpSp>
        <p:nvGrpSpPr>
          <p:cNvPr id="2056" name="Group 27"/>
          <p:cNvGrpSpPr>
            <a:grpSpLocks/>
          </p:cNvGrpSpPr>
          <p:nvPr/>
        </p:nvGrpSpPr>
        <p:grpSpPr bwMode="auto">
          <a:xfrm>
            <a:off x="2416175" y="3290888"/>
            <a:ext cx="4854575" cy="1447800"/>
            <a:chOff x="2112" y="1776"/>
            <a:chExt cx="3058" cy="912"/>
          </a:xfrm>
        </p:grpSpPr>
        <p:grpSp>
          <p:nvGrpSpPr>
            <p:cNvPr id="2077" name="Group 28"/>
            <p:cNvGrpSpPr>
              <a:grpSpLocks/>
            </p:cNvGrpSpPr>
            <p:nvPr/>
          </p:nvGrpSpPr>
          <p:grpSpPr bwMode="auto">
            <a:xfrm>
              <a:off x="2112" y="2121"/>
              <a:ext cx="336" cy="567"/>
              <a:chOff x="2112" y="2121"/>
              <a:chExt cx="336" cy="567"/>
            </a:xfrm>
          </p:grpSpPr>
          <p:sp>
            <p:nvSpPr>
              <p:cNvPr id="2079" name="Oval 29"/>
              <p:cNvSpPr>
                <a:spLocks noChangeArrowheads="1"/>
              </p:cNvSpPr>
              <p:nvPr/>
            </p:nvSpPr>
            <p:spPr bwMode="auto">
              <a:xfrm>
                <a:off x="2208" y="244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2080" name="Line 30"/>
              <p:cNvSpPr>
                <a:spLocks noChangeShapeType="1"/>
              </p:cNvSpPr>
              <p:nvPr/>
            </p:nvSpPr>
            <p:spPr bwMode="auto">
              <a:xfrm>
                <a:off x="2324" y="2208"/>
                <a:ext cx="0" cy="24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1" name="Text Box 31"/>
              <p:cNvSpPr txBox="1">
                <a:spLocks noChangeArrowheads="1"/>
              </p:cNvSpPr>
              <p:nvPr/>
            </p:nvSpPr>
            <p:spPr bwMode="auto">
              <a:xfrm>
                <a:off x="2112" y="2121"/>
                <a:ext cx="2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sp>
          <p:nvSpPr>
            <p:cNvPr id="2078" name="Text Box 32"/>
            <p:cNvSpPr txBox="1">
              <a:spLocks noChangeArrowheads="1"/>
            </p:cNvSpPr>
            <p:nvPr/>
          </p:nvSpPr>
          <p:spPr bwMode="auto">
            <a:xfrm>
              <a:off x="3600" y="1776"/>
              <a:ext cx="15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e1: (1,2,X,a,Y)</a:t>
              </a:r>
            </a:p>
          </p:txBody>
        </p:sp>
      </p:grpSp>
      <p:grpSp>
        <p:nvGrpSpPr>
          <p:cNvPr id="2057" name="Group 33"/>
          <p:cNvGrpSpPr>
            <a:grpSpLocks/>
          </p:cNvGrpSpPr>
          <p:nvPr/>
        </p:nvGrpSpPr>
        <p:grpSpPr bwMode="auto">
          <a:xfrm>
            <a:off x="2949575" y="3214688"/>
            <a:ext cx="4330700" cy="1295400"/>
            <a:chOff x="2448" y="1728"/>
            <a:chExt cx="2728" cy="816"/>
          </a:xfrm>
        </p:grpSpPr>
        <p:grpSp>
          <p:nvGrpSpPr>
            <p:cNvPr id="2073" name="Group 34"/>
            <p:cNvGrpSpPr>
              <a:grpSpLocks/>
            </p:cNvGrpSpPr>
            <p:nvPr/>
          </p:nvGrpSpPr>
          <p:grpSpPr bwMode="auto">
            <a:xfrm>
              <a:off x="2448" y="1728"/>
              <a:ext cx="480" cy="816"/>
              <a:chOff x="2448" y="1728"/>
              <a:chExt cx="480" cy="816"/>
            </a:xfrm>
          </p:grpSpPr>
          <p:sp>
            <p:nvSpPr>
              <p:cNvPr id="2075" name="Freeform 35"/>
              <p:cNvSpPr>
                <a:spLocks/>
              </p:cNvSpPr>
              <p:nvPr/>
            </p:nvSpPr>
            <p:spPr bwMode="auto">
              <a:xfrm>
                <a:off x="2448" y="1728"/>
                <a:ext cx="240" cy="816"/>
              </a:xfrm>
              <a:custGeom>
                <a:avLst/>
                <a:gdLst>
                  <a:gd name="T0" fmla="*/ 0 w 240"/>
                  <a:gd name="T1" fmla="*/ 816 h 816"/>
                  <a:gd name="T2" fmla="*/ 240 w 240"/>
                  <a:gd name="T3" fmla="*/ 288 h 816"/>
                  <a:gd name="T4" fmla="*/ 0 w 240"/>
                  <a:gd name="T5" fmla="*/ 0 h 816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816"/>
                  <a:gd name="T11" fmla="*/ 240 w 240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816">
                    <a:moveTo>
                      <a:pt x="0" y="816"/>
                    </a:moveTo>
                    <a:cubicBezTo>
                      <a:pt x="120" y="620"/>
                      <a:pt x="240" y="424"/>
                      <a:pt x="240" y="288"/>
                    </a:cubicBezTo>
                    <a:cubicBezTo>
                      <a:pt x="240" y="152"/>
                      <a:pt x="120" y="76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Text Box 36"/>
              <p:cNvSpPr txBox="1">
                <a:spLocks noChangeArrowheads="1"/>
              </p:cNvSpPr>
              <p:nvPr/>
            </p:nvSpPr>
            <p:spPr bwMode="auto">
              <a:xfrm>
                <a:off x="2688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sp>
          <p:nvSpPr>
            <p:cNvPr id="2074" name="Text Box 37"/>
            <p:cNvSpPr txBox="1">
              <a:spLocks noChangeArrowheads="1"/>
            </p:cNvSpPr>
            <p:nvPr/>
          </p:nvSpPr>
          <p:spPr bwMode="auto">
            <a:xfrm>
              <a:off x="3600" y="2217"/>
              <a:ext cx="1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e2: (2,0,Y,b,X)</a:t>
              </a:r>
            </a:p>
          </p:txBody>
        </p:sp>
      </p:grpSp>
      <p:grpSp>
        <p:nvGrpSpPr>
          <p:cNvPr id="2058" name="Group 38"/>
          <p:cNvGrpSpPr>
            <a:grpSpLocks/>
          </p:cNvGrpSpPr>
          <p:nvPr/>
        </p:nvGrpSpPr>
        <p:grpSpPr bwMode="auto">
          <a:xfrm>
            <a:off x="2416175" y="4586288"/>
            <a:ext cx="4857750" cy="914400"/>
            <a:chOff x="2112" y="2592"/>
            <a:chExt cx="3060" cy="576"/>
          </a:xfrm>
        </p:grpSpPr>
        <p:sp>
          <p:nvSpPr>
            <p:cNvPr id="2069" name="Oval 39"/>
            <p:cNvSpPr>
              <a:spLocks noChangeArrowheads="1"/>
            </p:cNvSpPr>
            <p:nvPr/>
          </p:nvSpPr>
          <p:spPr bwMode="auto">
            <a:xfrm>
              <a:off x="2208" y="292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070" name="Line 40"/>
            <p:cNvSpPr>
              <a:spLocks noChangeShapeType="1"/>
            </p:cNvSpPr>
            <p:nvPr/>
          </p:nvSpPr>
          <p:spPr bwMode="auto">
            <a:xfrm>
              <a:off x="2324" y="2688"/>
              <a:ext cx="0" cy="2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1" name="Text Box 41"/>
            <p:cNvSpPr txBox="1">
              <a:spLocks noChangeArrowheads="1"/>
            </p:cNvSpPr>
            <p:nvPr/>
          </p:nvSpPr>
          <p:spPr bwMode="auto">
            <a:xfrm>
              <a:off x="2112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72" name="Text Box 42"/>
            <p:cNvSpPr txBox="1">
              <a:spLocks noChangeArrowheads="1"/>
            </p:cNvSpPr>
            <p:nvPr/>
          </p:nvSpPr>
          <p:spPr bwMode="auto">
            <a:xfrm>
              <a:off x="3600" y="2592"/>
              <a:ext cx="15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e3: (2,3,Y,b,Z)</a:t>
              </a:r>
            </a:p>
          </p:txBody>
        </p:sp>
      </p:grpSp>
      <p:grpSp>
        <p:nvGrpSpPr>
          <p:cNvPr id="2059" name="Group 43"/>
          <p:cNvGrpSpPr>
            <a:grpSpLocks/>
          </p:cNvGrpSpPr>
          <p:nvPr/>
        </p:nvGrpSpPr>
        <p:grpSpPr bwMode="auto">
          <a:xfrm>
            <a:off x="1763713" y="3290888"/>
            <a:ext cx="5476875" cy="2500312"/>
            <a:chOff x="1701" y="1776"/>
            <a:chExt cx="3450" cy="1575"/>
          </a:xfrm>
        </p:grpSpPr>
        <p:sp>
          <p:nvSpPr>
            <p:cNvPr id="2066" name="Freeform 44"/>
            <p:cNvSpPr>
              <a:spLocks/>
            </p:cNvSpPr>
            <p:nvPr/>
          </p:nvSpPr>
          <p:spPr bwMode="auto">
            <a:xfrm>
              <a:off x="1920" y="1776"/>
              <a:ext cx="288" cy="1248"/>
            </a:xfrm>
            <a:custGeom>
              <a:avLst/>
              <a:gdLst>
                <a:gd name="T0" fmla="*/ 247 w 336"/>
                <a:gd name="T1" fmla="*/ 1202 h 1296"/>
                <a:gd name="T2" fmla="*/ 0 w 336"/>
                <a:gd name="T3" fmla="*/ 534 h 1296"/>
                <a:gd name="T4" fmla="*/ 247 w 336"/>
                <a:gd name="T5" fmla="*/ 0 h 1296"/>
                <a:gd name="T6" fmla="*/ 0 60000 65536"/>
                <a:gd name="T7" fmla="*/ 0 60000 65536"/>
                <a:gd name="T8" fmla="*/ 0 60000 65536"/>
                <a:gd name="T9" fmla="*/ 0 w 336"/>
                <a:gd name="T10" fmla="*/ 0 h 1296"/>
                <a:gd name="T11" fmla="*/ 336 w 336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1296">
                  <a:moveTo>
                    <a:pt x="336" y="1296"/>
                  </a:moveTo>
                  <a:cubicBezTo>
                    <a:pt x="168" y="1044"/>
                    <a:pt x="0" y="792"/>
                    <a:pt x="0" y="576"/>
                  </a:cubicBezTo>
                  <a:cubicBezTo>
                    <a:pt x="0" y="360"/>
                    <a:pt x="280" y="96"/>
                    <a:pt x="336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7" name="Text Box 45"/>
            <p:cNvSpPr txBox="1">
              <a:spLocks noChangeArrowheads="1"/>
            </p:cNvSpPr>
            <p:nvPr/>
          </p:nvSpPr>
          <p:spPr bwMode="auto">
            <a:xfrm>
              <a:off x="1701" y="2160"/>
              <a:ext cx="21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068" name="Text Box 46"/>
            <p:cNvSpPr txBox="1">
              <a:spLocks noChangeArrowheads="1"/>
            </p:cNvSpPr>
            <p:nvPr/>
          </p:nvSpPr>
          <p:spPr bwMode="auto">
            <a:xfrm>
              <a:off x="3600" y="3024"/>
              <a:ext cx="1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e4: (3,1,Z,c,X)</a:t>
              </a:r>
            </a:p>
          </p:txBody>
        </p:sp>
      </p:grpSp>
      <p:grpSp>
        <p:nvGrpSpPr>
          <p:cNvPr id="2060" name="Group 47"/>
          <p:cNvGrpSpPr>
            <a:grpSpLocks/>
          </p:cNvGrpSpPr>
          <p:nvPr/>
        </p:nvGrpSpPr>
        <p:grpSpPr bwMode="auto">
          <a:xfrm>
            <a:off x="2949575" y="4357688"/>
            <a:ext cx="4321175" cy="2043112"/>
            <a:chOff x="2448" y="2448"/>
            <a:chExt cx="2722" cy="1287"/>
          </a:xfrm>
        </p:grpSpPr>
        <p:sp>
          <p:nvSpPr>
            <p:cNvPr id="2062" name="Oval 48"/>
            <p:cNvSpPr>
              <a:spLocks noChangeArrowheads="1"/>
            </p:cNvSpPr>
            <p:nvPr/>
          </p:nvSpPr>
          <p:spPr bwMode="auto">
            <a:xfrm>
              <a:off x="2784" y="2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063" name="Line 49"/>
            <p:cNvSpPr>
              <a:spLocks noChangeShapeType="1"/>
            </p:cNvSpPr>
            <p:nvPr/>
          </p:nvSpPr>
          <p:spPr bwMode="auto">
            <a:xfrm>
              <a:off x="2448" y="2592"/>
              <a:ext cx="336" cy="2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4" name="Text Box 50"/>
            <p:cNvSpPr txBox="1">
              <a:spLocks noChangeArrowheads="1"/>
            </p:cNvSpPr>
            <p:nvPr/>
          </p:nvSpPr>
          <p:spPr bwMode="auto">
            <a:xfrm>
              <a:off x="2544" y="244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2065" name="Text Box 51"/>
            <p:cNvSpPr txBox="1">
              <a:spLocks noChangeArrowheads="1"/>
            </p:cNvSpPr>
            <p:nvPr/>
          </p:nvSpPr>
          <p:spPr bwMode="auto">
            <a:xfrm>
              <a:off x="3600" y="3408"/>
              <a:ext cx="15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e5: (2,4,Y,d,Z)</a:t>
              </a:r>
            </a:p>
          </p:txBody>
        </p:sp>
      </p:grpSp>
      <p:sp>
        <p:nvSpPr>
          <p:cNvPr id="2061" name="Text Box 52"/>
          <p:cNvSpPr txBox="1">
            <a:spLocks noChangeArrowheads="1"/>
          </p:cNvSpPr>
          <p:nvPr/>
        </p:nvSpPr>
        <p:spPr bwMode="auto">
          <a:xfrm>
            <a:off x="395288" y="1268413"/>
            <a:ext cx="7510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Flatten a graph into a sequence such that any </a:t>
            </a:r>
          </a:p>
          <a:p>
            <a:pPr algn="l" eaLnBrk="1" hangingPunct="1"/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right-most extension takes place in the end of </a:t>
            </a:r>
          </a:p>
          <a:p>
            <a:pPr algn="l" eaLnBrk="1" hangingPunct="1"/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sequence.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50" name="Ink 5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55925" y="3027363"/>
              <a:ext cx="125413" cy="187325"/>
            </p14:xfrm>
          </p:contentPart>
        </mc:Choice>
        <mc:Fallback>
          <p:pic>
            <p:nvPicPr>
              <p:cNvPr id="2050" name="Ink 5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8266" y="3009711"/>
                <a:ext cx="160730" cy="222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51" name="Ink 5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11475" y="3714750"/>
              <a:ext cx="177800" cy="277813"/>
            </p14:xfrm>
          </p:contentPart>
        </mc:Choice>
        <mc:Fallback>
          <p:pic>
            <p:nvPicPr>
              <p:cNvPr id="2051" name="Ink 5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93839" y="3697117"/>
                <a:ext cx="213072" cy="313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52" name="Ink 5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84488" y="4670425"/>
              <a:ext cx="204787" cy="277813"/>
            </p14:xfrm>
          </p:contentPart>
        </mc:Choice>
        <mc:Fallback>
          <p:pic>
            <p:nvPicPr>
              <p:cNvPr id="2052" name="Ink 5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66853" y="4652792"/>
                <a:ext cx="240058" cy="313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53" name="Ink 5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57500" y="5464175"/>
              <a:ext cx="241300" cy="304800"/>
            </p14:xfrm>
          </p:contentPart>
        </mc:Choice>
        <mc:Fallback>
          <p:pic>
            <p:nvPicPr>
              <p:cNvPr id="2053" name="Ink 5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39853" y="5446542"/>
                <a:ext cx="276595" cy="34006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DFS Code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We call a graph with a DFS tree subscripted by </a:t>
            </a:r>
            <a:r>
              <a:rPr lang="en-US" altLang="zh-CN" sz="2400" b="0" smtClean="0">
                <a:ea typeface="宋体" panose="02010600030101010101" pitchFamily="2" charset="-122"/>
                <a:sym typeface="Wingdings" panose="05000000000000000000" pitchFamily="2" charset="2"/>
              </a:rPr>
              <a:t>subscripted graph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DFS Code 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 subscripted graph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Actually, the construction of DFS Code is a right-most extension procedure to extend a graph</a:t>
            </a:r>
          </a:p>
          <a:p>
            <a:r>
              <a:rPr lang="en-US" altLang="zh-CN" sz="2400" smtClean="0">
                <a:ea typeface="宋体" panose="02010600030101010101" pitchFamily="2" charset="-122"/>
              </a:rPr>
              <a:t>We call a subscripting which can generate the minimum DFS code by a base subscripting</a:t>
            </a:r>
          </a:p>
          <a:p>
            <a:r>
              <a:rPr lang="en-US" altLang="zh-CN" sz="2400" smtClean="0">
                <a:ea typeface="宋体" panose="02010600030101010101" pitchFamily="2" charset="-122"/>
              </a:rPr>
              <a:t>We only conduct right-most extension on this base subscriptig</a:t>
            </a:r>
          </a:p>
          <a:p>
            <a:r>
              <a:rPr lang="en-US" altLang="zh-CN" sz="2400" smtClean="0">
                <a:ea typeface="宋体" panose="02010600030101010101" pitchFamily="2" charset="-122"/>
              </a:rPr>
              <a:t>Base subscripting  + one edge right-most extension </a:t>
            </a:r>
            <a:r>
              <a:rPr lang="en-US" altLang="zh-CN" sz="2400" b="0" smtClean="0">
                <a:ea typeface="宋体" panose="02010600030101010101" pitchFamily="2" charset="-122"/>
              </a:rPr>
              <a:t>MAY NOT</a:t>
            </a:r>
            <a:r>
              <a:rPr lang="en-US" altLang="zh-CN" sz="2400" smtClean="0">
                <a:ea typeface="宋体" panose="02010600030101010101" pitchFamily="2" charset="-122"/>
              </a:rPr>
              <a:t> be another base subscripting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 smtClean="0">
                <a:ea typeface="宋体" pitchFamily="2" charset="-122"/>
              </a:rPr>
              <a:t>Reduce the Number of G</a:t>
            </a:r>
            <a:r>
              <a:rPr lang="en-US" altLang="zh-CN" sz="1800" smtClean="0">
                <a:ea typeface="宋体" pitchFamily="2" charset="-122"/>
              </a:rPr>
              <a:t>1</a:t>
            </a:r>
            <a:r>
              <a:rPr lang="en-US" altLang="zh-CN" sz="3200" smtClean="0">
                <a:ea typeface="宋体" pitchFamily="2" charset="-122"/>
              </a:rPr>
              <a:t>, </a:t>
            </a:r>
            <a:r>
              <a:rPr lang="en-US" altLang="zh-CN" sz="3200" smtClean="0">
                <a:latin typeface="Tahoma"/>
                <a:ea typeface="宋体" pitchFamily="2" charset="-122"/>
              </a:rPr>
              <a:t>…</a:t>
            </a:r>
            <a:r>
              <a:rPr lang="en-US" altLang="zh-CN" sz="3200" smtClean="0">
                <a:ea typeface="宋体" pitchFamily="2" charset="-122"/>
              </a:rPr>
              <a:t> G</a:t>
            </a:r>
            <a:r>
              <a:rPr lang="en-US" altLang="zh-CN" sz="1800" smtClean="0">
                <a:ea typeface="宋体" pitchFamily="2" charset="-122"/>
              </a:rPr>
              <a:t>n</a:t>
            </a:r>
          </a:p>
        </p:txBody>
      </p:sp>
      <p:sp>
        <p:nvSpPr>
          <p:cNvPr id="40963" name="Oval 3"/>
          <p:cNvSpPr>
            <a:spLocks noChangeArrowheads="1"/>
          </p:cNvSpPr>
          <p:nvPr/>
        </p:nvSpPr>
        <p:spPr bwMode="auto">
          <a:xfrm>
            <a:off x="1905000" y="2590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1905000" y="4038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1905000" y="3276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19050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2819400" y="4572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>
            <a:off x="2089150" y="29718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2089150" y="3657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>
            <a:off x="2089150" y="4419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2860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Oval 12"/>
          <p:cNvSpPr>
            <a:spLocks noChangeArrowheads="1"/>
          </p:cNvSpPr>
          <p:nvPr/>
        </p:nvSpPr>
        <p:spPr bwMode="auto">
          <a:xfrm>
            <a:off x="965200" y="4572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 flipH="1">
            <a:off x="13462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4" name="Oval 14"/>
          <p:cNvSpPr>
            <a:spLocks noChangeArrowheads="1"/>
          </p:cNvSpPr>
          <p:nvPr/>
        </p:nvSpPr>
        <p:spPr bwMode="auto">
          <a:xfrm>
            <a:off x="5562600" y="2590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5" name="Oval 15"/>
          <p:cNvSpPr>
            <a:spLocks noChangeArrowheads="1"/>
          </p:cNvSpPr>
          <p:nvPr/>
        </p:nvSpPr>
        <p:spPr bwMode="auto">
          <a:xfrm>
            <a:off x="5562600" y="4038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6" name="Oval 16"/>
          <p:cNvSpPr>
            <a:spLocks noChangeArrowheads="1"/>
          </p:cNvSpPr>
          <p:nvPr/>
        </p:nvSpPr>
        <p:spPr bwMode="auto">
          <a:xfrm>
            <a:off x="5562600" y="3276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7" name="Oval 17"/>
          <p:cNvSpPr>
            <a:spLocks noChangeArrowheads="1"/>
          </p:cNvSpPr>
          <p:nvPr/>
        </p:nvSpPr>
        <p:spPr bwMode="auto">
          <a:xfrm>
            <a:off x="55626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8" name="Oval 18"/>
          <p:cNvSpPr>
            <a:spLocks noChangeArrowheads="1"/>
          </p:cNvSpPr>
          <p:nvPr/>
        </p:nvSpPr>
        <p:spPr bwMode="auto">
          <a:xfrm>
            <a:off x="6477000" y="4572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5746750" y="29718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>
            <a:off x="5746750" y="3657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>
            <a:off x="5746750" y="4419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>
            <a:off x="59436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4114800" y="5715000"/>
            <a:ext cx="2632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#= 6 + 10 =16</a:t>
            </a: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>
            <a:off x="5181600" y="2362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0985" name="Text Box 25"/>
          <p:cNvSpPr txBox="1">
            <a:spLocks noChangeArrowheads="1"/>
          </p:cNvSpPr>
          <p:nvPr/>
        </p:nvSpPr>
        <p:spPr bwMode="auto">
          <a:xfrm>
            <a:off x="5184775" y="30480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5184775" y="37909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4321175" y="4343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0988" name="Text Box 28"/>
          <p:cNvSpPr txBox="1">
            <a:spLocks noChangeArrowheads="1"/>
          </p:cNvSpPr>
          <p:nvPr/>
        </p:nvSpPr>
        <p:spPr bwMode="auto">
          <a:xfrm>
            <a:off x="5235575" y="46624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0989" name="Oval 29"/>
          <p:cNvSpPr>
            <a:spLocks noChangeArrowheads="1"/>
          </p:cNvSpPr>
          <p:nvPr/>
        </p:nvSpPr>
        <p:spPr bwMode="auto">
          <a:xfrm>
            <a:off x="4622800" y="4572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auto">
          <a:xfrm>
            <a:off x="6073775" y="4419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0991" name="Line 31"/>
          <p:cNvSpPr>
            <a:spLocks noChangeShapeType="1"/>
          </p:cNvSpPr>
          <p:nvPr/>
        </p:nvSpPr>
        <p:spPr bwMode="auto">
          <a:xfrm flipH="1">
            <a:off x="50038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 flipV="1">
            <a:off x="5867400" y="22860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3" name="Line 33"/>
          <p:cNvSpPr>
            <a:spLocks noChangeShapeType="1"/>
          </p:cNvSpPr>
          <p:nvPr/>
        </p:nvSpPr>
        <p:spPr bwMode="auto">
          <a:xfrm flipV="1">
            <a:off x="5943600" y="30480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 flipV="1">
            <a:off x="5867400" y="37338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 flipV="1">
            <a:off x="6858000" y="43434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 flipH="1" flipV="1">
            <a:off x="4191000" y="4038600"/>
            <a:ext cx="609600" cy="53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 flipH="1">
            <a:off x="5029200" y="5105400"/>
            <a:ext cx="6096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8" name="Freeform 38"/>
          <p:cNvSpPr>
            <a:spLocks/>
          </p:cNvSpPr>
          <p:nvPr/>
        </p:nvSpPr>
        <p:spPr bwMode="auto">
          <a:xfrm>
            <a:off x="4940300" y="2819400"/>
            <a:ext cx="622300" cy="1371600"/>
          </a:xfrm>
          <a:custGeom>
            <a:avLst/>
            <a:gdLst>
              <a:gd name="T0" fmla="*/ 866933877 w 392"/>
              <a:gd name="T1" fmla="*/ 0 h 912"/>
              <a:gd name="T2" fmla="*/ 20161250 w 392"/>
              <a:gd name="T3" fmla="*/ 977122239 h 912"/>
              <a:gd name="T4" fmla="*/ 987901339 w 392"/>
              <a:gd name="T5" fmla="*/ 2062814410 h 912"/>
              <a:gd name="T6" fmla="*/ 0 60000 65536"/>
              <a:gd name="T7" fmla="*/ 0 60000 65536"/>
              <a:gd name="T8" fmla="*/ 0 60000 65536"/>
              <a:gd name="T9" fmla="*/ 0 w 392"/>
              <a:gd name="T10" fmla="*/ 0 h 912"/>
              <a:gd name="T11" fmla="*/ 392 w 392"/>
              <a:gd name="T12" fmla="*/ 912 h 9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2" h="912">
                <a:moveTo>
                  <a:pt x="344" y="0"/>
                </a:moveTo>
                <a:cubicBezTo>
                  <a:pt x="172" y="140"/>
                  <a:pt x="0" y="280"/>
                  <a:pt x="8" y="432"/>
                </a:cubicBezTo>
                <a:cubicBezTo>
                  <a:pt x="16" y="584"/>
                  <a:pt x="328" y="832"/>
                  <a:pt x="392" y="912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99" name="Freeform 39"/>
          <p:cNvSpPr>
            <a:spLocks/>
          </p:cNvSpPr>
          <p:nvPr/>
        </p:nvSpPr>
        <p:spPr bwMode="auto">
          <a:xfrm>
            <a:off x="5943600" y="2743200"/>
            <a:ext cx="1054100" cy="1905000"/>
          </a:xfrm>
          <a:custGeom>
            <a:avLst/>
            <a:gdLst>
              <a:gd name="T0" fmla="*/ 0 w 664"/>
              <a:gd name="T1" fmla="*/ 0 h 1200"/>
              <a:gd name="T2" fmla="*/ 1451609863 w 664"/>
              <a:gd name="T3" fmla="*/ 967740003 h 1200"/>
              <a:gd name="T4" fmla="*/ 1330642408 w 664"/>
              <a:gd name="T5" fmla="*/ 2147483647 h 1200"/>
              <a:gd name="T6" fmla="*/ 0 60000 65536"/>
              <a:gd name="T7" fmla="*/ 0 60000 65536"/>
              <a:gd name="T8" fmla="*/ 0 60000 65536"/>
              <a:gd name="T9" fmla="*/ 0 w 664"/>
              <a:gd name="T10" fmla="*/ 0 h 1200"/>
              <a:gd name="T11" fmla="*/ 664 w 664"/>
              <a:gd name="T12" fmla="*/ 1200 h 1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64" h="1200">
                <a:moveTo>
                  <a:pt x="0" y="0"/>
                </a:moveTo>
                <a:cubicBezTo>
                  <a:pt x="244" y="92"/>
                  <a:pt x="488" y="184"/>
                  <a:pt x="576" y="384"/>
                </a:cubicBezTo>
                <a:cubicBezTo>
                  <a:pt x="664" y="584"/>
                  <a:pt x="596" y="892"/>
                  <a:pt x="528" y="120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Right-Most Extension (cont.)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143000" y="2057400"/>
            <a:ext cx="4500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Number of Extensions = 16</a:t>
            </a:r>
          </a:p>
        </p:txBody>
      </p:sp>
      <p:sp>
        <p:nvSpPr>
          <p:cNvPr id="41988" name="AutoShape 4"/>
          <p:cNvSpPr>
            <a:spLocks noChangeArrowheads="1"/>
          </p:cNvSpPr>
          <p:nvPr/>
        </p:nvSpPr>
        <p:spPr bwMode="auto">
          <a:xfrm rot="2226497">
            <a:off x="3810000" y="3733800"/>
            <a:ext cx="1524000" cy="4572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4038600" y="5105400"/>
            <a:ext cx="4306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Number of Extensions = 6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4953000" y="3276600"/>
            <a:ext cx="341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right-most extension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69925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So far, we covered</a:t>
            </a:r>
          </a:p>
        </p:txBody>
      </p:sp>
      <p:graphicFrame>
        <p:nvGraphicFramePr>
          <p:cNvPr id="672771" name="Group 3"/>
          <p:cNvGraphicFramePr>
            <a:graphicFrameLocks noGrp="1"/>
          </p:cNvGraphicFramePr>
          <p:nvPr/>
        </p:nvGraphicFramePr>
        <p:xfrm>
          <a:off x="611188" y="1628775"/>
          <a:ext cx="8077200" cy="4710184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3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Read-based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Write-based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Point-based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Association 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VIPER[SHSB00]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FPGrowth [HaPe00]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Sub-Graph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AGM[PKDD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00]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FSG[ICDM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Mofa[ICDM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gSpan[ICDM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Sequential Pattern Discovery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GSP[AgSr96]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PrefixSpan [PHPC01]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Iceberg Cube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BUC[BeRa99], H-cubing [HPDW01]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043" name="Line 35"/>
          <p:cNvSpPr>
            <a:spLocks noChangeShapeType="1"/>
          </p:cNvSpPr>
          <p:nvPr/>
        </p:nvSpPr>
        <p:spPr bwMode="auto">
          <a:xfrm flipV="1">
            <a:off x="27003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4" name="Line 36"/>
          <p:cNvSpPr>
            <a:spLocks noChangeShapeType="1"/>
          </p:cNvSpPr>
          <p:nvPr/>
        </p:nvSpPr>
        <p:spPr bwMode="auto">
          <a:xfrm flipH="1" flipV="1">
            <a:off x="26273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5" name="Line 37"/>
          <p:cNvSpPr>
            <a:spLocks noChangeShapeType="1"/>
          </p:cNvSpPr>
          <p:nvPr/>
        </p:nvSpPr>
        <p:spPr bwMode="auto">
          <a:xfrm flipV="1">
            <a:off x="2759075" y="31686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6" name="Line 38"/>
          <p:cNvSpPr>
            <a:spLocks noChangeShapeType="1"/>
          </p:cNvSpPr>
          <p:nvPr/>
        </p:nvSpPr>
        <p:spPr bwMode="auto">
          <a:xfrm flipH="1" flipV="1">
            <a:off x="2686050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V="1">
            <a:off x="47450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 flipH="1" flipV="1">
            <a:off x="46720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 flipV="1">
            <a:off x="2873375" y="40322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 flipH="1" flipV="1">
            <a:off x="2800350" y="3960812"/>
            <a:ext cx="1873250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7"/>
          <p:cNvSpPr>
            <a:spLocks noChangeShapeType="1"/>
          </p:cNvSpPr>
          <p:nvPr/>
        </p:nvSpPr>
        <p:spPr bwMode="auto">
          <a:xfrm flipV="1">
            <a:off x="4860032" y="32488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 flipH="1" flipV="1">
            <a:off x="4787007" y="31774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17488"/>
            <a:ext cx="8126412" cy="1025525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PrefixSpan: Example of Write-based Method</a:t>
            </a:r>
          </a:p>
        </p:txBody>
      </p:sp>
      <p:graphicFrame>
        <p:nvGraphicFramePr>
          <p:cNvPr id="650243" name="Group 3"/>
          <p:cNvGraphicFramePr>
            <a:graphicFrameLocks noGrp="1"/>
          </p:cNvGraphicFramePr>
          <p:nvPr/>
        </p:nvGraphicFramePr>
        <p:xfrm>
          <a:off x="3200400" y="1752600"/>
          <a:ext cx="1905000" cy="1219200"/>
        </p:xfrm>
        <a:graphic>
          <a:graphicData uri="http://schemas.openxmlformats.org/drawingml/2006/table">
            <a:tbl>
              <a:tblPr/>
              <a:tblGrid>
                <a:gridCol w="45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&lt;a(abc)(ac)d(cf)&gt;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&lt;(ad)c(bc)(ae)&gt;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&lt;(ef)(ab)(df)cb&gt;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&lt;eg(af)cbc&gt;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959" name="Text Box 23"/>
          <p:cNvSpPr txBox="1">
            <a:spLocks noChangeArrowheads="1"/>
          </p:cNvSpPr>
          <p:nvPr/>
        </p:nvSpPr>
        <p:spPr bwMode="auto">
          <a:xfrm>
            <a:off x="3733800" y="1344613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SDB</a:t>
            </a:r>
          </a:p>
        </p:txBody>
      </p:sp>
      <p:sp>
        <p:nvSpPr>
          <p:cNvPr id="39960" name="Text Box 24"/>
          <p:cNvSpPr txBox="1">
            <a:spLocks noChangeArrowheads="1"/>
          </p:cNvSpPr>
          <p:nvPr/>
        </p:nvSpPr>
        <p:spPr bwMode="auto">
          <a:xfrm>
            <a:off x="5318125" y="1784350"/>
            <a:ext cx="35639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Length-1 sequential patterns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&lt;a&gt;, &lt;b&gt;, &lt;c&gt;, &lt;d&gt;, &lt;e&gt;, &lt;f&gt;</a:t>
            </a:r>
          </a:p>
        </p:txBody>
      </p:sp>
      <p:sp>
        <p:nvSpPr>
          <p:cNvPr id="39961" name="Text Box 25"/>
          <p:cNvSpPr txBox="1">
            <a:spLocks noChangeArrowheads="1"/>
          </p:cNvSpPr>
          <p:nvPr/>
        </p:nvSpPr>
        <p:spPr bwMode="auto">
          <a:xfrm>
            <a:off x="304800" y="3581400"/>
            <a:ext cx="2673350" cy="14843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 u="sng">
                <a:latin typeface="Tahoma" panose="020B0604030504040204" pitchFamily="34" charset="0"/>
                <a:ea typeface="宋体" panose="02010600030101010101" pitchFamily="2" charset="-122"/>
              </a:rPr>
              <a:t>&lt;a&gt;-projected database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&lt;(abc)(ac)d(cf)&gt;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&lt;(_d)c(bc)(ae)&gt;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&lt;(_b)(df)cb&gt;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&lt;(_f)cbc&gt;</a:t>
            </a:r>
          </a:p>
        </p:txBody>
      </p:sp>
      <p:sp>
        <p:nvSpPr>
          <p:cNvPr id="39962" name="Text Box 26"/>
          <p:cNvSpPr txBox="1">
            <a:spLocks noChangeArrowheads="1"/>
          </p:cNvSpPr>
          <p:nvPr/>
        </p:nvSpPr>
        <p:spPr bwMode="auto">
          <a:xfrm>
            <a:off x="3048000" y="3886200"/>
            <a:ext cx="21891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Length-2 sequential</a:t>
            </a:r>
          </a:p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patterns</a:t>
            </a:r>
          </a:p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&lt;aa&gt;, &lt;ab&gt;, &lt;(ab)&gt;,</a:t>
            </a:r>
          </a:p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&lt;ac&gt;, &lt;ad&gt;, &lt;af&gt;</a:t>
            </a:r>
          </a:p>
        </p:txBody>
      </p:sp>
      <p:sp>
        <p:nvSpPr>
          <p:cNvPr id="39963" name="Line 27"/>
          <p:cNvSpPr>
            <a:spLocks noChangeShapeType="1"/>
          </p:cNvSpPr>
          <p:nvPr/>
        </p:nvSpPr>
        <p:spPr bwMode="auto">
          <a:xfrm flipH="1">
            <a:off x="1524000" y="3124200"/>
            <a:ext cx="24384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64" name="Text Box 28"/>
          <p:cNvSpPr txBox="1">
            <a:spLocks noChangeArrowheads="1"/>
          </p:cNvSpPr>
          <p:nvPr/>
        </p:nvSpPr>
        <p:spPr bwMode="auto">
          <a:xfrm>
            <a:off x="609600" y="3048000"/>
            <a:ext cx="2044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Having prefix &lt;a&gt;</a:t>
            </a:r>
          </a:p>
        </p:txBody>
      </p:sp>
      <p:sp>
        <p:nvSpPr>
          <p:cNvPr id="39965" name="Text Box 29"/>
          <p:cNvSpPr txBox="1">
            <a:spLocks noChangeArrowheads="1"/>
          </p:cNvSpPr>
          <p:nvPr/>
        </p:nvSpPr>
        <p:spPr bwMode="auto">
          <a:xfrm>
            <a:off x="228600" y="5281613"/>
            <a:ext cx="1938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Having prefix &lt;aa&gt;</a:t>
            </a:r>
          </a:p>
        </p:txBody>
      </p:sp>
      <p:sp>
        <p:nvSpPr>
          <p:cNvPr id="39966" name="Text Box 30"/>
          <p:cNvSpPr txBox="1">
            <a:spLocks noChangeArrowheads="1"/>
          </p:cNvSpPr>
          <p:nvPr/>
        </p:nvSpPr>
        <p:spPr bwMode="auto">
          <a:xfrm>
            <a:off x="212725" y="5846763"/>
            <a:ext cx="1484313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 u="sng">
                <a:latin typeface="Tahoma" panose="020B0604030504040204" pitchFamily="34" charset="0"/>
                <a:ea typeface="宋体" panose="02010600030101010101" pitchFamily="2" charset="-122"/>
              </a:rPr>
              <a:t>&lt;aa&gt;-proj. db</a:t>
            </a:r>
          </a:p>
        </p:txBody>
      </p:sp>
      <p:sp>
        <p:nvSpPr>
          <p:cNvPr id="39967" name="Line 31"/>
          <p:cNvSpPr>
            <a:spLocks noChangeShapeType="1"/>
          </p:cNvSpPr>
          <p:nvPr/>
        </p:nvSpPr>
        <p:spPr bwMode="auto">
          <a:xfrm flipH="1">
            <a:off x="914400" y="50292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68" name="Text Box 32"/>
          <p:cNvSpPr txBox="1">
            <a:spLocks noChangeArrowheads="1"/>
          </p:cNvSpPr>
          <p:nvPr/>
        </p:nvSpPr>
        <p:spPr bwMode="auto">
          <a:xfrm>
            <a:off x="1828800" y="5791200"/>
            <a:ext cx="43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39969" name="Text Box 33"/>
          <p:cNvSpPr txBox="1">
            <a:spLocks noChangeArrowheads="1"/>
          </p:cNvSpPr>
          <p:nvPr/>
        </p:nvSpPr>
        <p:spPr bwMode="auto">
          <a:xfrm>
            <a:off x="2286000" y="5867400"/>
            <a:ext cx="1443038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 u="sng">
                <a:latin typeface="Tahoma" panose="020B0604030504040204" pitchFamily="34" charset="0"/>
                <a:ea typeface="宋体" panose="02010600030101010101" pitchFamily="2" charset="-122"/>
              </a:rPr>
              <a:t>&lt;af&gt;-proj. db</a:t>
            </a:r>
          </a:p>
        </p:txBody>
      </p:sp>
      <p:sp>
        <p:nvSpPr>
          <p:cNvPr id="39970" name="Line 34"/>
          <p:cNvSpPr>
            <a:spLocks noChangeShapeType="1"/>
          </p:cNvSpPr>
          <p:nvPr/>
        </p:nvSpPr>
        <p:spPr bwMode="auto">
          <a:xfrm>
            <a:off x="1905000" y="5029200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1" name="Text Box 35"/>
          <p:cNvSpPr txBox="1">
            <a:spLocks noChangeArrowheads="1"/>
          </p:cNvSpPr>
          <p:nvPr/>
        </p:nvSpPr>
        <p:spPr bwMode="auto">
          <a:xfrm>
            <a:off x="2133600" y="5334000"/>
            <a:ext cx="18970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Having prefix &lt;af&gt;</a:t>
            </a:r>
          </a:p>
        </p:txBody>
      </p:sp>
      <p:sp>
        <p:nvSpPr>
          <p:cNvPr id="39972" name="Text Box 36"/>
          <p:cNvSpPr txBox="1">
            <a:spLocks noChangeArrowheads="1"/>
          </p:cNvSpPr>
          <p:nvPr/>
        </p:nvSpPr>
        <p:spPr bwMode="auto">
          <a:xfrm>
            <a:off x="5029200" y="3657600"/>
            <a:ext cx="2679700" cy="3857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 u="sng">
                <a:latin typeface="Tahoma" panose="020B0604030504040204" pitchFamily="34" charset="0"/>
                <a:ea typeface="宋体" panose="02010600030101010101" pitchFamily="2" charset="-122"/>
              </a:rPr>
              <a:t>&lt;b&gt;-projected database</a:t>
            </a:r>
          </a:p>
        </p:txBody>
      </p:sp>
      <p:sp>
        <p:nvSpPr>
          <p:cNvPr id="39973" name="Text Box 37"/>
          <p:cNvSpPr txBox="1">
            <a:spLocks noChangeArrowheads="1"/>
          </p:cNvSpPr>
          <p:nvPr/>
        </p:nvSpPr>
        <p:spPr bwMode="auto">
          <a:xfrm>
            <a:off x="8229600" y="3657600"/>
            <a:ext cx="43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39974" name="Line 38"/>
          <p:cNvSpPr>
            <a:spLocks noChangeShapeType="1"/>
          </p:cNvSpPr>
          <p:nvPr/>
        </p:nvSpPr>
        <p:spPr bwMode="auto">
          <a:xfrm>
            <a:off x="4191000" y="3124200"/>
            <a:ext cx="22098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>
            <a:off x="4572000" y="3124200"/>
            <a:ext cx="38100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6" name="Text Box 40"/>
          <p:cNvSpPr txBox="1">
            <a:spLocks noChangeArrowheads="1"/>
          </p:cNvSpPr>
          <p:nvPr/>
        </p:nvSpPr>
        <p:spPr bwMode="auto">
          <a:xfrm>
            <a:off x="3276600" y="3276600"/>
            <a:ext cx="2051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Having prefix &lt;b&gt;</a:t>
            </a:r>
          </a:p>
        </p:txBody>
      </p:sp>
      <p:sp>
        <p:nvSpPr>
          <p:cNvPr id="39977" name="Text Box 41"/>
          <p:cNvSpPr txBox="1">
            <a:spLocks noChangeArrowheads="1"/>
          </p:cNvSpPr>
          <p:nvPr/>
        </p:nvSpPr>
        <p:spPr bwMode="auto">
          <a:xfrm>
            <a:off x="5791200" y="2971800"/>
            <a:ext cx="2905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Having prefix &lt;c&gt;, …, &lt;f&gt;</a:t>
            </a:r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 flipH="1">
            <a:off x="5638800" y="40386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9" name="Line 43"/>
          <p:cNvSpPr>
            <a:spLocks noChangeShapeType="1"/>
          </p:cNvSpPr>
          <p:nvPr/>
        </p:nvSpPr>
        <p:spPr bwMode="auto">
          <a:xfrm>
            <a:off x="6324600" y="40386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80" name="Text Box 44"/>
          <p:cNvSpPr txBox="1">
            <a:spLocks noChangeArrowheads="1"/>
          </p:cNvSpPr>
          <p:nvPr/>
        </p:nvSpPr>
        <p:spPr bwMode="auto">
          <a:xfrm>
            <a:off x="5791200" y="4724400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… …</a:t>
            </a:r>
          </a:p>
        </p:txBody>
      </p:sp>
    </p:spTree>
    <p:extLst>
      <p:ext uri="{BB962C8B-B14F-4D97-AF65-F5344CB8AC3E}">
        <p14:creationId xmlns:p14="http://schemas.microsoft.com/office/powerpoint/2010/main" val="133738323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35F9D-6B53-4A76-AC3E-73352570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寻找频繁序列 </a:t>
            </a:r>
            <a:r>
              <a:rPr lang="en-US" altLang="zh-CN" dirty="0"/>
              <a:t>– </a:t>
            </a:r>
            <a:r>
              <a:rPr lang="zh-CN" altLang="en-US" dirty="0"/>
              <a:t>朴素算法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58C4D2-1718-481F-A8E9-7EF8163BA1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1800" dirty="0"/>
                  <a:t>对于每条序列数据，找出它所有的子序列（找出所有可能的子序列</a:t>
                </a:r>
                <a:r>
                  <a:rPr lang="en-US" altLang="zh-CN" sz="1800" dirty="0"/>
                  <a:t>T</a:t>
                </a:r>
                <a:r>
                  <a:rPr lang="zh-CN" altLang="en-US" sz="1800" dirty="0"/>
                  <a:t>）</a:t>
                </a:r>
                <a:endParaRPr lang="en-US" altLang="zh-CN" sz="1800" dirty="0"/>
              </a:p>
              <a:p>
                <a:r>
                  <a:rPr lang="en-US" altLang="zh-CN" sz="1800" dirty="0"/>
                  <a:t>T</a:t>
                </a:r>
                <a:r>
                  <a:rPr lang="zh-CN" altLang="en-US" sz="1800" dirty="0"/>
                  <a:t>在整个数据集中做匹配，计算它作为子序列的频率</a:t>
                </a:r>
                <a:endParaRPr lang="en-US" altLang="zh-CN" sz="1800" dirty="0"/>
              </a:p>
              <a:p>
                <a:r>
                  <a:rPr lang="zh-CN" altLang="en-US" sz="1800" dirty="0"/>
                  <a:t>若频率大于阈值</a:t>
                </a:r>
                <a:r>
                  <a:rPr lang="en-US" altLang="zh-CN" sz="1800" dirty="0"/>
                  <a:t>α</a:t>
                </a:r>
                <a:r>
                  <a:rPr lang="zh-CN" altLang="en-US" sz="1800" dirty="0"/>
                  <a:t>，则</a:t>
                </a:r>
                <a:r>
                  <a:rPr lang="en-US" altLang="zh-CN" sz="1800" dirty="0"/>
                  <a:t>T</a:t>
                </a:r>
                <a:r>
                  <a:rPr lang="zh-CN" altLang="en-US" sz="1800" dirty="0"/>
                  <a:t>是一个频繁序列</a:t>
                </a:r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zh-CN" altLang="en-US" sz="1800" dirty="0"/>
                  <a:t>记序列数据平均长度为</a:t>
                </a:r>
                <a:r>
                  <a:rPr lang="en-US" altLang="zh-CN" sz="1800" dirty="0"/>
                  <a:t>l</a:t>
                </a:r>
                <a:r>
                  <a:rPr lang="zh-CN" altLang="en-US" sz="1800" dirty="0"/>
                  <a:t>，共有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条序列数据</a:t>
                </a:r>
                <a:endParaRPr lang="en-US" altLang="zh-CN" sz="1800" dirty="0"/>
              </a:p>
              <a:p>
                <a:r>
                  <a:rPr lang="zh-CN" altLang="en-US" sz="1800" dirty="0"/>
                  <a:t>时间复杂度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1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sz="1800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𝑛𝑙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r>
                  <a:rPr lang="en-US" altLang="zh-CN" sz="3000" dirty="0"/>
                  <a:t>Too SLOW~~~~~~~~~</a:t>
                </a:r>
                <a:endParaRPr lang="zh-CN" altLang="en-US" sz="3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58C4D2-1718-481F-A8E9-7EF8163BA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5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14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ED7D1-50F5-4251-910B-DE5071EC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寻找频繁序列 </a:t>
            </a:r>
            <a:r>
              <a:rPr lang="en-US" altLang="zh-CN" dirty="0"/>
              <a:t>– </a:t>
            </a:r>
            <a:r>
              <a:rPr lang="zh-CN" altLang="en-US" dirty="0"/>
              <a:t>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20B35-AE66-4251-B26C-96539C35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慢在哪里？</a:t>
            </a:r>
            <a:endParaRPr lang="en-US" altLang="zh-CN" dirty="0"/>
          </a:p>
          <a:p>
            <a:r>
              <a:rPr lang="zh-CN" altLang="en-US" b="1" dirty="0"/>
              <a:t>枚举太多</a:t>
            </a:r>
            <a:r>
              <a:rPr lang="zh-CN" altLang="en-US" dirty="0"/>
              <a:t>非频繁的子序列</a:t>
            </a:r>
            <a:endParaRPr lang="en-US" altLang="zh-CN" dirty="0"/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cba</a:t>
            </a:r>
            <a:r>
              <a:rPr lang="en-US" altLang="zh-CN" dirty="0"/>
              <a:t>&gt;</a:t>
            </a:r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eg</a:t>
            </a:r>
            <a:r>
              <a:rPr lang="en-US" altLang="zh-CN" dirty="0"/>
              <a:t>&gt;</a:t>
            </a:r>
          </a:p>
          <a:p>
            <a:pPr lvl="1"/>
            <a:r>
              <a:rPr lang="en-US" altLang="zh-CN" dirty="0"/>
              <a:t>&lt;gf&gt;</a:t>
            </a:r>
          </a:p>
          <a:p>
            <a:pPr lvl="1"/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甚至</a:t>
            </a:r>
            <a:r>
              <a:rPr lang="en-US" altLang="zh-CN" dirty="0"/>
              <a:t>&lt;g&gt;</a:t>
            </a:r>
            <a:r>
              <a:rPr lang="zh-CN" altLang="en-US" dirty="0"/>
              <a:t>本身就不是频繁序列</a:t>
            </a:r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E1A8B732-7C88-4560-97D5-594429B114B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43745" y="2686050"/>
          <a:ext cx="2484586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068">
                  <a:extLst>
                    <a:ext uri="{9D8B030D-6E8A-4147-A177-3AD203B41FA5}">
                      <a16:colId xmlns:a16="http://schemas.microsoft.com/office/drawing/2014/main" val="517240342"/>
                    </a:ext>
                  </a:extLst>
                </a:gridCol>
                <a:gridCol w="1877518">
                  <a:extLst>
                    <a:ext uri="{9D8B030D-6E8A-4147-A177-3AD203B41FA5}">
                      <a16:colId xmlns:a16="http://schemas.microsoft.com/office/drawing/2014/main" val="151886849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SID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826241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&lt;a(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)(ac)d(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719089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&lt;(ad)c(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)(ae)&gt;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931694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)(ab)(df)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8286976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eg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547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72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5E6A2-37E4-4423-90D8-B9E62EFC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寻找频繁序列 </a:t>
            </a:r>
            <a:r>
              <a:rPr lang="en-US" altLang="zh-CN" dirty="0"/>
              <a:t>– </a:t>
            </a:r>
            <a:r>
              <a:rPr lang="zh-CN" altLang="en-US" dirty="0"/>
              <a:t>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3468F6-D0AB-4485-8571-F11CDA1C0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观察</a:t>
            </a:r>
            <a:r>
              <a:rPr lang="en-US" altLang="zh-CN" dirty="0"/>
              <a:t>&lt;g&gt;</a:t>
            </a:r>
            <a:r>
              <a:rPr lang="zh-CN" altLang="en-US" dirty="0"/>
              <a:t>和</a:t>
            </a:r>
            <a:r>
              <a:rPr lang="en-US" altLang="zh-CN" dirty="0"/>
              <a:t>&lt;gf&gt;</a:t>
            </a:r>
          </a:p>
          <a:p>
            <a:r>
              <a:rPr lang="zh-CN" altLang="en-US" dirty="0"/>
              <a:t>他们都不是频繁序列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&lt;g&gt;</a:t>
            </a:r>
            <a:r>
              <a:rPr lang="zh-CN" altLang="en-US" dirty="0"/>
              <a:t>是</a:t>
            </a:r>
            <a:r>
              <a:rPr lang="en-US" altLang="zh-CN" dirty="0"/>
              <a:t>&lt;gf&gt;</a:t>
            </a:r>
            <a:r>
              <a:rPr lang="zh-CN" altLang="en-US" dirty="0"/>
              <a:t>的前缀</a:t>
            </a:r>
            <a:endParaRPr lang="en-US" altLang="zh-CN" dirty="0"/>
          </a:p>
          <a:p>
            <a:r>
              <a:rPr lang="zh-CN" altLang="en-US" dirty="0"/>
              <a:t>前缀都不是频繁序列</a:t>
            </a:r>
            <a:endParaRPr lang="en-US" altLang="zh-CN" dirty="0"/>
          </a:p>
          <a:p>
            <a:r>
              <a:rPr lang="zh-CN" altLang="en-US" dirty="0"/>
              <a:t>整体可能是频繁序列吗？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利用前缀，在枚举过程中，去除不必要的子序列（剪枝）</a:t>
            </a:r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DCE47DB0-4F20-425B-A5C1-C51AEE36FB9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43745" y="2686050"/>
          <a:ext cx="2484586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068">
                  <a:extLst>
                    <a:ext uri="{9D8B030D-6E8A-4147-A177-3AD203B41FA5}">
                      <a16:colId xmlns:a16="http://schemas.microsoft.com/office/drawing/2014/main" val="517240342"/>
                    </a:ext>
                  </a:extLst>
                </a:gridCol>
                <a:gridCol w="1877518">
                  <a:extLst>
                    <a:ext uri="{9D8B030D-6E8A-4147-A177-3AD203B41FA5}">
                      <a16:colId xmlns:a16="http://schemas.microsoft.com/office/drawing/2014/main" val="151886849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SID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826241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&lt;a(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)(ac)d(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719089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&lt;(ad)c(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)(ae)&gt;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931694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)(ab)(df)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8286976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eg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547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68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E276B-FFF8-417C-866B-D36A71AF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189E4E-C7B2-4B70-B04D-5C034AC0F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Prefix-Projected Pattern Growth</a:t>
            </a:r>
            <a:r>
              <a:rPr lang="zh-CN" altLang="en-US" dirty="0"/>
              <a:t>，前缀投影的模式挖掘。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</a:t>
            </a:r>
            <a:r>
              <a:rPr lang="zh-CN" altLang="en-US" dirty="0"/>
              <a:t>的投影：在某序列数据中，</a:t>
            </a:r>
            <a:r>
              <a:rPr lang="zh-CN" altLang="en-US" b="1" dirty="0"/>
              <a:t>以</a:t>
            </a:r>
            <a:r>
              <a:rPr lang="en-US" altLang="zh-CN" b="1" dirty="0"/>
              <a:t>S</a:t>
            </a:r>
            <a:r>
              <a:rPr lang="zh-CN" altLang="en-US" b="1" dirty="0"/>
              <a:t>为</a:t>
            </a:r>
            <a:r>
              <a:rPr lang="zh-CN" altLang="en-US" b="1" u="sng" dirty="0"/>
              <a:t>前缀</a:t>
            </a:r>
            <a:r>
              <a:rPr lang="zh-CN" altLang="en-US" b="1" dirty="0"/>
              <a:t>的最长子序列的</a:t>
            </a:r>
            <a:r>
              <a:rPr lang="zh-CN" altLang="en-US" b="1" u="sng" dirty="0"/>
              <a:t>后缀</a:t>
            </a:r>
            <a:endParaRPr lang="en-US" altLang="zh-CN" b="1" u="sng" dirty="0"/>
          </a:p>
          <a:p>
            <a:r>
              <a:rPr lang="zh-CN" altLang="en-US" dirty="0"/>
              <a:t>以序列数据</a:t>
            </a:r>
            <a:r>
              <a:rPr lang="en-US" altLang="zh-CN" dirty="0"/>
              <a:t>&lt;a(</a:t>
            </a:r>
            <a:r>
              <a:rPr lang="en-US" altLang="zh-CN" dirty="0" err="1"/>
              <a:t>abc</a:t>
            </a:r>
            <a:r>
              <a:rPr lang="en-US" altLang="zh-CN" dirty="0"/>
              <a:t>)(ac)d(</a:t>
            </a:r>
            <a:r>
              <a:rPr lang="en-US" altLang="zh-CN" dirty="0" err="1"/>
              <a:t>cf</a:t>
            </a:r>
            <a:r>
              <a:rPr lang="en-US" altLang="zh-CN" dirty="0"/>
              <a:t>)&gt;</a:t>
            </a:r>
            <a:r>
              <a:rPr lang="zh-CN" altLang="en-US" dirty="0"/>
              <a:t>为例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43577B0-E400-4C3F-9E7D-3DB22F53C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07455"/>
              </p:ext>
            </p:extLst>
          </p:nvPr>
        </p:nvGraphicFramePr>
        <p:xfrm>
          <a:off x="1524000" y="4899620"/>
          <a:ext cx="6096000" cy="1409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4495706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457829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前缀</a:t>
                      </a:r>
                      <a:r>
                        <a:rPr lang="en-US" altLang="zh-CN" sz="1400" b="1" dirty="0"/>
                        <a:t>S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S</a:t>
                      </a:r>
                      <a:r>
                        <a:rPr lang="zh-CN" altLang="en-US" sz="1400" b="1" dirty="0"/>
                        <a:t>的投影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52257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&lt;a&gt;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</a:t>
                      </a:r>
                      <a:r>
                        <a:rPr lang="en-US" altLang="zh-CN" sz="1400" b="1" dirty="0" err="1"/>
                        <a:t>abc</a:t>
                      </a:r>
                      <a:r>
                        <a:rPr lang="en-US" altLang="zh-CN" sz="1400" b="1" dirty="0"/>
                        <a:t>)(ac)d(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99079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&lt;aa&gt;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&lt;(_</a:t>
                      </a:r>
                      <a:r>
                        <a:rPr lang="en-US" altLang="zh-CN" sz="1400" b="1" dirty="0" err="1"/>
                        <a:t>bc</a:t>
                      </a:r>
                      <a:r>
                        <a:rPr lang="en-US" altLang="zh-CN" sz="1400" b="1" dirty="0"/>
                        <a:t>)(ac)d(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838892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&lt;ab&gt;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&lt;(_c)(ac)d(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4000107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&lt;cd&gt;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261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92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E9191A9B-F31D-4F5B-B30A-4BD206F03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914525"/>
            <a:ext cx="4896544" cy="336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7E5F9F2-9B00-4262-985A-0D44100A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6B450-8140-44FE-BD49-24211DC35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39" y="1967891"/>
            <a:ext cx="7886700" cy="3774282"/>
          </a:xfrm>
        </p:spPr>
        <p:txBody>
          <a:bodyPr>
            <a:normAutofit/>
          </a:bodyPr>
          <a:lstStyle/>
          <a:p>
            <a:r>
              <a:rPr lang="zh-CN" altLang="en-US" sz="1500" dirty="0"/>
              <a:t>先找长度为</a:t>
            </a:r>
            <a:r>
              <a:rPr lang="en-US" altLang="zh-CN" sz="1500" dirty="0"/>
              <a:t>1</a:t>
            </a:r>
            <a:r>
              <a:rPr lang="zh-CN" altLang="en-US" sz="1500" dirty="0"/>
              <a:t>的子序列（单个字母）</a:t>
            </a:r>
            <a:endParaRPr lang="en-US" altLang="zh-CN" sz="1500" dirty="0"/>
          </a:p>
          <a:p>
            <a:r>
              <a:rPr lang="zh-CN" altLang="en-US" sz="1500" dirty="0"/>
              <a:t>筛出其中的频繁序列，称他们为</a:t>
            </a:r>
            <a:r>
              <a:rPr lang="en-US" altLang="zh-CN" sz="1500" dirty="0"/>
              <a:t>S1</a:t>
            </a:r>
          </a:p>
          <a:p>
            <a:r>
              <a:rPr lang="zh-CN" altLang="en-US" sz="1500" dirty="0"/>
              <a:t>计算每个</a:t>
            </a:r>
            <a:r>
              <a:rPr lang="en-US" altLang="zh-CN" sz="1500" dirty="0"/>
              <a:t>S1</a:t>
            </a:r>
            <a:r>
              <a:rPr lang="zh-CN" altLang="en-US" sz="1500" dirty="0"/>
              <a:t>在每条序列数据中的投影</a:t>
            </a:r>
            <a:endParaRPr lang="en-US" altLang="zh-CN" sz="1500" dirty="0"/>
          </a:p>
          <a:p>
            <a:r>
              <a:rPr lang="zh-CN" altLang="en-US" sz="1500" dirty="0"/>
              <a:t>对于每个</a:t>
            </a:r>
            <a:r>
              <a:rPr lang="en-US" altLang="zh-CN" sz="1500" dirty="0"/>
              <a:t>S1</a:t>
            </a:r>
            <a:r>
              <a:rPr lang="zh-CN" altLang="en-US" sz="1500" dirty="0"/>
              <a:t>，在其投影中找一个字母连上它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zh-CN" altLang="en-US" sz="1500" dirty="0"/>
              <a:t>得到长度为</a:t>
            </a:r>
            <a:r>
              <a:rPr lang="en-US" altLang="zh-CN" sz="1500" dirty="0"/>
              <a:t>2</a:t>
            </a:r>
            <a:r>
              <a:rPr lang="zh-CN" altLang="en-US" sz="1500" dirty="0"/>
              <a:t>的子序列（</a:t>
            </a:r>
            <a:r>
              <a:rPr lang="en-US" altLang="zh-CN" sz="1500" dirty="0"/>
              <a:t>2</a:t>
            </a:r>
            <a:r>
              <a:rPr lang="zh-CN" altLang="en-US" sz="1500" dirty="0"/>
              <a:t>个字母）</a:t>
            </a:r>
            <a:endParaRPr lang="en-US" altLang="zh-CN" sz="1500" dirty="0"/>
          </a:p>
          <a:p>
            <a:r>
              <a:rPr lang="zh-CN" altLang="en-US" sz="1500" dirty="0"/>
              <a:t>筛出其中的频繁序列，称他们为</a:t>
            </a:r>
            <a:r>
              <a:rPr lang="en-US" altLang="zh-CN" sz="1500" dirty="0"/>
              <a:t>S2</a:t>
            </a:r>
          </a:p>
          <a:p>
            <a:r>
              <a:rPr lang="zh-CN" altLang="en-US" sz="1500" dirty="0"/>
              <a:t>计算每个</a:t>
            </a:r>
            <a:r>
              <a:rPr lang="en-US" altLang="zh-CN" sz="1500" dirty="0"/>
              <a:t>S2</a:t>
            </a:r>
            <a:r>
              <a:rPr lang="zh-CN" altLang="en-US" sz="1500" dirty="0"/>
              <a:t>在每条序列数据中的投影</a:t>
            </a:r>
            <a:endParaRPr lang="en-US" altLang="zh-CN" sz="1500" dirty="0"/>
          </a:p>
          <a:p>
            <a:r>
              <a:rPr lang="zh-CN" altLang="en-US" sz="1500" dirty="0"/>
              <a:t>对于每个</a:t>
            </a:r>
            <a:r>
              <a:rPr lang="en-US" altLang="zh-CN" sz="1500" dirty="0"/>
              <a:t>S2</a:t>
            </a:r>
            <a:r>
              <a:rPr lang="zh-CN" altLang="en-US" sz="1500" dirty="0"/>
              <a:t>，在其投影中找一个字母连上它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……</a:t>
            </a:r>
          </a:p>
          <a:p>
            <a:r>
              <a:rPr lang="zh-CN" altLang="en-US" sz="1500" dirty="0"/>
              <a:t>直到某次已经没有频繁序列，算法结束</a:t>
            </a:r>
            <a:endParaRPr lang="en-US" altLang="zh-CN" sz="1500" dirty="0"/>
          </a:p>
          <a:p>
            <a:endParaRPr lang="en-US" altLang="zh-CN" sz="1500" dirty="0"/>
          </a:p>
          <a:p>
            <a:endParaRPr lang="zh-CN" altLang="en-US" sz="150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027D4C0-2EA3-4EB3-8D86-D29A2A5132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2700"/>
          </a:p>
        </p:txBody>
      </p:sp>
    </p:spTree>
    <p:extLst>
      <p:ext uri="{BB962C8B-B14F-4D97-AF65-F5344CB8AC3E}">
        <p14:creationId xmlns:p14="http://schemas.microsoft.com/office/powerpoint/2010/main" val="269659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9ADDF7-6F40-449E-884F-AEC62A5FF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7587"/>
          <a:stretch/>
        </p:blipFill>
        <p:spPr bwMode="auto">
          <a:xfrm>
            <a:off x="4355976" y="1914526"/>
            <a:ext cx="4732679" cy="176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936CD67-20BB-423D-9814-E49621E1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8480C-2175-4238-B421-C2BFEE46C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583" y="2181499"/>
            <a:ext cx="7886700" cy="3500438"/>
          </a:xfrm>
        </p:spPr>
        <p:txBody>
          <a:bodyPr>
            <a:normAutofit/>
          </a:bodyPr>
          <a:lstStyle/>
          <a:p>
            <a:r>
              <a:rPr lang="zh-CN" altLang="en-US" sz="1500" dirty="0"/>
              <a:t>以</a:t>
            </a:r>
            <a:r>
              <a:rPr lang="en-US" altLang="zh-CN" sz="1500" dirty="0"/>
              <a:t>&lt;d&gt;</a:t>
            </a:r>
            <a:r>
              <a:rPr lang="zh-CN" altLang="en-US" sz="1500" dirty="0"/>
              <a:t>为例运行算法</a:t>
            </a: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①</a:t>
            </a:r>
            <a:r>
              <a:rPr lang="en-US" altLang="zh-CN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&lt;d&gt;</a:t>
            </a:r>
          </a:p>
          <a:p>
            <a:pPr marL="0" indent="0">
              <a:buNone/>
            </a:pPr>
            <a:endParaRPr lang="en-US" altLang="zh-CN" sz="15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500" dirty="0"/>
              <a:t>② </a:t>
            </a:r>
            <a:r>
              <a:rPr lang="en-US" altLang="zh-CN" sz="1500" dirty="0">
                <a:solidFill>
                  <a:srgbClr val="FF0000"/>
                </a:solidFill>
              </a:rPr>
              <a:t>&lt;d&gt;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&lt;dc&gt; </a:t>
            </a:r>
            <a:r>
              <a:rPr lang="en-US" altLang="zh-CN" sz="1500" dirty="0"/>
              <a:t>&lt;df&gt; 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db</a:t>
            </a:r>
            <a:r>
              <a:rPr lang="en-US" altLang="zh-CN" sz="1500" dirty="0">
                <a:solidFill>
                  <a:srgbClr val="FF0000"/>
                </a:solidFill>
              </a:rPr>
              <a:t>&gt; </a:t>
            </a:r>
            <a:r>
              <a:rPr lang="en-US" altLang="zh-CN" sz="1500" dirty="0"/>
              <a:t>&lt;da&gt; &lt;de&gt; &lt;(df)&gt;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③ </a:t>
            </a:r>
            <a:r>
              <a:rPr lang="en-US" altLang="zh-CN" sz="1500" dirty="0">
                <a:solidFill>
                  <a:srgbClr val="FF0000"/>
                </a:solidFill>
              </a:rPr>
              <a:t>&lt;dc&gt;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</a:t>
            </a:r>
            <a:r>
              <a:rPr lang="en-US" altLang="zh-CN" sz="1500" dirty="0"/>
              <a:t>&lt;d(</a:t>
            </a:r>
            <a:r>
              <a:rPr lang="en-US" altLang="zh-CN" sz="1500" dirty="0" err="1"/>
              <a:t>cf</a:t>
            </a:r>
            <a:r>
              <a:rPr lang="en-US" altLang="zh-CN" sz="1500" dirty="0"/>
              <a:t>)&gt; 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dcb</a:t>
            </a:r>
            <a:r>
              <a:rPr lang="en-US" altLang="zh-CN" sz="1500" dirty="0">
                <a:solidFill>
                  <a:srgbClr val="FF0000"/>
                </a:solidFill>
              </a:rPr>
              <a:t>&gt; </a:t>
            </a:r>
            <a:r>
              <a:rPr lang="en-US" altLang="zh-CN" sz="1500" dirty="0"/>
              <a:t>&lt;</a:t>
            </a:r>
            <a:r>
              <a:rPr lang="en-US" altLang="zh-CN" sz="1500" dirty="0" err="1"/>
              <a:t>dca</a:t>
            </a:r>
            <a:r>
              <a:rPr lang="en-US" altLang="zh-CN" sz="1500" dirty="0"/>
              <a:t>&gt; &lt;</a:t>
            </a:r>
            <a:r>
              <a:rPr lang="en-US" altLang="zh-CN" sz="1500" dirty="0" err="1"/>
              <a:t>dce</a:t>
            </a:r>
            <a:r>
              <a:rPr lang="en-US" altLang="zh-CN" sz="1500" dirty="0"/>
              <a:t>&gt;</a:t>
            </a:r>
          </a:p>
          <a:p>
            <a:pPr marL="0" indent="0">
              <a:buNone/>
            </a:pPr>
            <a:r>
              <a:rPr lang="zh-CN" altLang="en-US" sz="1500" dirty="0"/>
              <a:t>③ 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db</a:t>
            </a:r>
            <a:r>
              <a:rPr lang="en-US" altLang="zh-CN" sz="1500" dirty="0">
                <a:solidFill>
                  <a:srgbClr val="FF0000"/>
                </a:solidFill>
              </a:rPr>
              <a:t>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</a:t>
            </a:r>
            <a:r>
              <a:rPr lang="en-US" altLang="zh-CN" sz="1500" dirty="0"/>
              <a:t>&lt;d(</a:t>
            </a:r>
            <a:r>
              <a:rPr lang="en-US" altLang="zh-CN" sz="1500" dirty="0" err="1"/>
              <a:t>bc</a:t>
            </a:r>
            <a:r>
              <a:rPr lang="en-US" altLang="zh-CN" sz="1500" dirty="0"/>
              <a:t>)&gt; &lt;dba&gt; &lt;</a:t>
            </a:r>
            <a:r>
              <a:rPr lang="en-US" altLang="zh-CN" sz="1500" dirty="0" err="1"/>
              <a:t>dbe</a:t>
            </a:r>
            <a:r>
              <a:rPr lang="en-US" altLang="zh-CN" sz="1500" dirty="0"/>
              <a:t>&gt;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④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dcb</a:t>
            </a:r>
            <a:r>
              <a:rPr lang="en-US" altLang="zh-CN" sz="1500" dirty="0">
                <a:solidFill>
                  <a:srgbClr val="FF0000"/>
                </a:solidFill>
              </a:rPr>
              <a:t>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</a:t>
            </a:r>
            <a:r>
              <a:rPr lang="en-US" altLang="zh-CN" sz="1500" dirty="0"/>
              <a:t>&lt;dc(</a:t>
            </a:r>
            <a:r>
              <a:rPr lang="en-US" altLang="zh-CN" sz="1500" dirty="0" err="1"/>
              <a:t>bc</a:t>
            </a:r>
            <a:r>
              <a:rPr lang="en-US" altLang="zh-CN" sz="1500" dirty="0"/>
              <a:t>)&gt; &lt;</a:t>
            </a:r>
            <a:r>
              <a:rPr lang="en-US" altLang="zh-CN" sz="1500" dirty="0" err="1"/>
              <a:t>dcba</a:t>
            </a:r>
            <a:r>
              <a:rPr lang="en-US" altLang="zh-CN" sz="1500" dirty="0"/>
              <a:t>&gt; &lt;</a:t>
            </a:r>
            <a:r>
              <a:rPr lang="en-US" altLang="zh-CN" sz="1500" dirty="0" err="1"/>
              <a:t>dcbe</a:t>
            </a:r>
            <a:r>
              <a:rPr lang="en-US" altLang="zh-CN" sz="1500" dirty="0"/>
              <a:t>&gt;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找不出更长的频繁序列，算法的</a:t>
            </a:r>
            <a:r>
              <a:rPr lang="en-US" altLang="zh-CN" sz="1500" dirty="0"/>
              <a:t>&lt;d&gt;</a:t>
            </a:r>
            <a:r>
              <a:rPr lang="zh-CN" altLang="en-US" sz="1500" dirty="0"/>
              <a:t>分支结束。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FCA60A5D-C57C-41DF-BC3C-ABFADDC8CF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92979" y="4157735"/>
          <a:ext cx="1662884" cy="11277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&lt;d&gt;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</a:t>
                      </a:r>
                      <a:r>
                        <a:rPr lang="en-US" altLang="zh-CN" sz="1400" dirty="0" err="1"/>
                        <a:t>cf</a:t>
                      </a:r>
                      <a:r>
                        <a:rPr lang="en-US" altLang="zh-CN" sz="1400" dirty="0"/>
                        <a:t>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030097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&lt;c(</a:t>
                      </a:r>
                      <a:r>
                        <a:rPr lang="en-US" altLang="zh-CN" sz="1400" dirty="0" err="1"/>
                        <a:t>bc</a:t>
                      </a:r>
                      <a:r>
                        <a:rPr lang="en-US" altLang="zh-CN" sz="1400" dirty="0"/>
                        <a:t>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&lt;(_f)</a:t>
                      </a:r>
                      <a:r>
                        <a:rPr lang="en-US" altLang="zh-CN" sz="1400" dirty="0" err="1"/>
                        <a:t>cb</a:t>
                      </a:r>
                      <a:r>
                        <a:rPr lang="en-US" altLang="zh-CN" sz="1400" dirty="0"/>
                        <a:t>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18798592"/>
                  </a:ext>
                </a:extLst>
              </a:tr>
            </a:tbl>
          </a:graphicData>
        </a:graphic>
      </p:graphicFrame>
      <p:graphicFrame>
        <p:nvGraphicFramePr>
          <p:cNvPr id="8" name="表格 6">
            <a:extLst>
              <a:ext uri="{FF2B5EF4-FFF2-40B4-BE49-F238E27FC236}">
                <a16:creationId xmlns:a16="http://schemas.microsoft.com/office/drawing/2014/main" id="{73CE3DC6-66A2-4AD5-9BDB-73284D81687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92979" y="4157735"/>
          <a:ext cx="1662884" cy="11277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&lt;dc&gt;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&lt;(_f)&gt;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030097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</a:t>
                      </a:r>
                      <a:r>
                        <a:rPr lang="en-US" altLang="zh-CN" sz="1400" dirty="0" err="1"/>
                        <a:t>bc</a:t>
                      </a:r>
                      <a:r>
                        <a:rPr lang="en-US" altLang="zh-CN" sz="1400" dirty="0"/>
                        <a:t>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&lt;b&gt;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18798592"/>
                  </a:ext>
                </a:extLst>
              </a:tr>
            </a:tbl>
          </a:graphicData>
        </a:graphic>
      </p:graphicFrame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3AB9336E-6117-40EA-B936-4608BDCE8B1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92979" y="4157735"/>
          <a:ext cx="1662884" cy="5638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</a:t>
                      </a:r>
                      <a:r>
                        <a:rPr lang="en-US" altLang="zh-CN" sz="1400" dirty="0" err="1"/>
                        <a:t>db</a:t>
                      </a:r>
                      <a:r>
                        <a:rPr lang="en-US" altLang="zh-CN" sz="1400" dirty="0"/>
                        <a:t>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&lt;(_c)(ae)&gt;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</a:tbl>
          </a:graphicData>
        </a:graphic>
      </p:graphicFrame>
      <p:graphicFrame>
        <p:nvGraphicFramePr>
          <p:cNvPr id="10" name="表格 6">
            <a:extLst>
              <a:ext uri="{FF2B5EF4-FFF2-40B4-BE49-F238E27FC236}">
                <a16:creationId xmlns:a16="http://schemas.microsoft.com/office/drawing/2014/main" id="{2CAF261A-4363-462C-889B-0F303ECD51C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92979" y="4157735"/>
          <a:ext cx="1662884" cy="5638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</a:t>
                      </a:r>
                      <a:r>
                        <a:rPr lang="en-US" altLang="zh-CN" sz="1400" dirty="0" err="1"/>
                        <a:t>dcb</a:t>
                      </a:r>
                      <a:r>
                        <a:rPr lang="en-US" altLang="zh-CN" sz="1400" dirty="0"/>
                        <a:t>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&lt;(_c)(ae)&gt;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55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FA3F5-0361-474C-89B5-F3BAA951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F7F3F3-C64F-4731-83E7-2877EE498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用类似的方法可以找出其他以</a:t>
            </a:r>
            <a:endParaRPr lang="en-US" altLang="zh-CN" dirty="0"/>
          </a:p>
          <a:p>
            <a:r>
              <a:rPr lang="en-US" altLang="zh-CN" dirty="0"/>
              <a:t>&lt;a&gt; &lt;b&gt; &lt;c&gt; &lt;e&gt; &lt;f&gt;</a:t>
            </a:r>
            <a:r>
              <a:rPr lang="zh-CN" altLang="en-US" dirty="0"/>
              <a:t>为前缀的频繁序列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169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B03AD-6413-4E09-ACA1-EC1BEBC0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299E0E-DA05-4DDB-AA85-435F67D4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3628130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基于一个直观思想：</a:t>
            </a:r>
            <a:endParaRPr lang="en-US" altLang="zh-CN" sz="1800" dirty="0"/>
          </a:p>
          <a:p>
            <a:r>
              <a:rPr lang="zh-CN" altLang="en-US" sz="1800" dirty="0"/>
              <a:t>若</a:t>
            </a:r>
            <a:r>
              <a:rPr lang="en-US" altLang="zh-CN" sz="1800" dirty="0"/>
              <a:t>S</a:t>
            </a:r>
            <a:r>
              <a:rPr lang="zh-CN" altLang="en-US" sz="1800" dirty="0"/>
              <a:t>都不是频繁序列，则以</a:t>
            </a:r>
            <a:r>
              <a:rPr lang="en-US" altLang="zh-CN" sz="1800" dirty="0"/>
              <a:t>S</a:t>
            </a:r>
            <a:r>
              <a:rPr lang="zh-CN" altLang="en-US" sz="1800" dirty="0"/>
              <a:t>为前缀的子序列更不可能是频繁序列</a:t>
            </a:r>
            <a:endParaRPr lang="en-US" altLang="zh-CN" sz="1800" dirty="0"/>
          </a:p>
          <a:p>
            <a:r>
              <a:rPr lang="zh-CN" altLang="en-US" sz="1800" dirty="0"/>
              <a:t>与朴素算法比较：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与其他算法（</a:t>
            </a:r>
            <a:r>
              <a:rPr lang="en-US" altLang="zh-CN" sz="1800" dirty="0"/>
              <a:t>GSP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FreeSpan</a:t>
            </a:r>
            <a:r>
              <a:rPr lang="zh-CN" altLang="en-US" sz="1800" dirty="0"/>
              <a:t>）比较：</a:t>
            </a:r>
            <a:endParaRPr lang="en-US" altLang="zh-CN" sz="1800" dirty="0"/>
          </a:p>
          <a:p>
            <a:r>
              <a:rPr lang="zh-CN" altLang="en-US" sz="1800" dirty="0"/>
              <a:t>优势较大，主要在于投影数据集合收缩较快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4E645A5-F019-4296-A733-EA55D2ADB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32620"/>
              </p:ext>
            </p:extLst>
          </p:nvPr>
        </p:nvGraphicFramePr>
        <p:xfrm>
          <a:off x="708286" y="2905082"/>
          <a:ext cx="7727429" cy="1451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129">
                  <a:extLst>
                    <a:ext uri="{9D8B030D-6E8A-4147-A177-3AD203B41FA5}">
                      <a16:colId xmlns:a16="http://schemas.microsoft.com/office/drawing/2014/main" val="1347320105"/>
                    </a:ext>
                  </a:extLst>
                </a:gridCol>
                <a:gridCol w="3411847">
                  <a:extLst>
                    <a:ext uri="{9D8B030D-6E8A-4147-A177-3AD203B41FA5}">
                      <a16:colId xmlns:a16="http://schemas.microsoft.com/office/drawing/2014/main" val="2283601513"/>
                    </a:ext>
                  </a:extLst>
                </a:gridCol>
                <a:gridCol w="3188453">
                  <a:extLst>
                    <a:ext uri="{9D8B030D-6E8A-4147-A177-3AD203B41FA5}">
                      <a16:colId xmlns:a16="http://schemas.microsoft.com/office/drawing/2014/main" val="18561368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err="1"/>
                        <a:t>PrefixSpan</a:t>
                      </a:r>
                      <a:endParaRPr lang="zh-CN" altLang="en-US" sz="12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朴素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61407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枚举子序列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长度增加，子序列数量急剧增长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更难成为频繁序列，</a:t>
                      </a:r>
                      <a:r>
                        <a:rPr lang="zh-CN" altLang="en-US" sz="1200" b="1" dirty="0"/>
                        <a:t>大量子序列被筛去</a:t>
                      </a:r>
                      <a:endParaRPr lang="en-US" altLang="zh-CN" sz="1200" b="1" dirty="0"/>
                    </a:p>
                    <a:p>
                      <a:r>
                        <a:rPr lang="zh-CN" altLang="en-US" sz="1200" dirty="0"/>
                        <a:t>开销保持稳定较小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长度增加，子序列数量急剧增长</a:t>
                      </a:r>
                      <a:endParaRPr lang="en-US" altLang="zh-CN" sz="1200" dirty="0"/>
                    </a:p>
                    <a:p>
                      <a:r>
                        <a:rPr lang="zh-CN" altLang="en-US" sz="1200" b="1" dirty="0"/>
                        <a:t>没有筛去无用子序列</a:t>
                      </a:r>
                      <a:r>
                        <a:rPr lang="zh-CN" altLang="en-US" sz="1200" dirty="0"/>
                        <a:t>（剪枝）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开销极大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90503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检验频繁序列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只在每条序列数据的投影里匹配</a:t>
                      </a:r>
                      <a:r>
                        <a:rPr lang="zh-CN" altLang="en-US" sz="1200" dirty="0"/>
                        <a:t>，开销不断缩小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在每条完整的序列数据里匹配</a:t>
                      </a:r>
                      <a:r>
                        <a:rPr lang="zh-CN" altLang="en-US" sz="1200" dirty="0"/>
                        <a:t>，开销大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9269179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总结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时空开销小，算法结束快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时空开销大，运行时间长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1975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32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8912F-60CF-4928-B51F-64081423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460149-2128-44B6-8586-45CC14864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算法的时间复杂度并没有减小</a:t>
            </a:r>
            <a:endParaRPr lang="en-US" altLang="zh-CN" dirty="0"/>
          </a:p>
          <a:p>
            <a:r>
              <a:rPr lang="zh-CN" altLang="en-US" dirty="0"/>
              <a:t>只是因为筛去无用子序列从而在实际应用中表现较好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极端情形：</a:t>
            </a:r>
            <a:endParaRPr lang="en-US" altLang="zh-CN" dirty="0"/>
          </a:p>
          <a:p>
            <a:r>
              <a:rPr lang="zh-CN" altLang="en-US" dirty="0"/>
              <a:t>每条序列数据都只有微小差别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现实中很难出现</a:t>
            </a:r>
            <a:endParaRPr lang="en-US" altLang="zh-CN" dirty="0"/>
          </a:p>
          <a:p>
            <a:r>
              <a:rPr lang="zh-CN" altLang="en-US" dirty="0"/>
              <a:t>高度相似的采样可以被合并处理</a:t>
            </a:r>
          </a:p>
        </p:txBody>
      </p:sp>
    </p:spTree>
    <p:extLst>
      <p:ext uri="{BB962C8B-B14F-4D97-AF65-F5344CB8AC3E}">
        <p14:creationId xmlns:p14="http://schemas.microsoft.com/office/powerpoint/2010/main" val="61896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894DD89-85B9-408B-AA14-E210B4FECB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8"/>
          <a:stretch/>
        </p:blipFill>
        <p:spPr bwMode="auto">
          <a:xfrm>
            <a:off x="5403777" y="3858221"/>
            <a:ext cx="3021632" cy="165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CB8E02-F860-4BD1-A6A9-B5D9E339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拓展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7BD6C1-0301-450B-9ABE-66E2D5DCD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 err="1"/>
              <a:t>PrefixSpan</a:t>
            </a:r>
            <a:r>
              <a:rPr lang="zh-CN" altLang="en-US" sz="1800" dirty="0"/>
              <a:t>具有很好的可并行性</a:t>
            </a:r>
            <a:endParaRPr lang="en-US" altLang="zh-CN" sz="1800" dirty="0"/>
          </a:p>
          <a:p>
            <a:r>
              <a:rPr lang="zh-CN" altLang="en-US" sz="1800" dirty="0"/>
              <a:t>例如：以</a:t>
            </a:r>
            <a:r>
              <a:rPr lang="en-US" altLang="zh-CN" sz="1800" dirty="0"/>
              <a:t>&lt;a&gt;</a:t>
            </a:r>
            <a:r>
              <a:rPr lang="zh-CN" altLang="en-US" sz="1800" dirty="0"/>
              <a:t>和</a:t>
            </a:r>
            <a:r>
              <a:rPr lang="en-US" altLang="zh-CN" sz="1800" dirty="0"/>
              <a:t>&lt;d&gt;</a:t>
            </a:r>
            <a:r>
              <a:rPr lang="zh-CN" altLang="en-US" sz="1800" dirty="0"/>
              <a:t>为前缀的子序列是不同（独立）的</a:t>
            </a:r>
            <a:endParaRPr lang="en-US" altLang="zh-CN" sz="1800" dirty="0"/>
          </a:p>
          <a:p>
            <a:r>
              <a:rPr lang="zh-CN" altLang="en-US" sz="1800" dirty="0"/>
              <a:t>因此，可以并行搜索以其为前缀的频繁序列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在分布式大数据平台中能够很好地提升性能</a:t>
            </a:r>
            <a:endParaRPr lang="en-US" altLang="zh-CN" sz="1800" dirty="0"/>
          </a:p>
          <a:p>
            <a:r>
              <a:rPr lang="zh-CN" altLang="en-US" sz="1800" dirty="0"/>
              <a:t>例如：</a:t>
            </a:r>
            <a:r>
              <a:rPr lang="en-US" altLang="zh-CN" sz="1800" dirty="0" err="1"/>
              <a:t>Spart</a:t>
            </a:r>
            <a:r>
              <a:rPr lang="zh-CN" altLang="en-US" sz="1800" dirty="0"/>
              <a:t>的</a:t>
            </a:r>
            <a:r>
              <a:rPr lang="en-US" altLang="zh-CN" sz="1800" dirty="0" err="1"/>
              <a:t>Mllib</a:t>
            </a:r>
            <a:endParaRPr lang="en-US" altLang="zh-CN" sz="1800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6656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69925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So far, we covered</a:t>
            </a:r>
          </a:p>
        </p:txBody>
      </p:sp>
      <p:graphicFrame>
        <p:nvGraphicFramePr>
          <p:cNvPr id="672771" name="Group 3"/>
          <p:cNvGraphicFramePr>
            <a:graphicFrameLocks noGrp="1"/>
          </p:cNvGraphicFramePr>
          <p:nvPr/>
        </p:nvGraphicFramePr>
        <p:xfrm>
          <a:off x="611188" y="1628775"/>
          <a:ext cx="8077200" cy="4710184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3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Read-based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Write-based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Point-based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Association 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VIPER[SHSB00]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FPGrowth [HaPe00]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Sub-Graph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AGM[PKDD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00]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FSG[ICDM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Mofa[ICDM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gSpan[ICDM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Sequential Pattern Discovery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GSP[AgSr96]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PrefixSpan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[PHPC01]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Iceberg Cube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BUC[BeRa99], H-cubing [HPDW01]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043" name="Line 35"/>
          <p:cNvSpPr>
            <a:spLocks noChangeShapeType="1"/>
          </p:cNvSpPr>
          <p:nvPr/>
        </p:nvSpPr>
        <p:spPr bwMode="auto">
          <a:xfrm flipV="1">
            <a:off x="27003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4" name="Line 36"/>
          <p:cNvSpPr>
            <a:spLocks noChangeShapeType="1"/>
          </p:cNvSpPr>
          <p:nvPr/>
        </p:nvSpPr>
        <p:spPr bwMode="auto">
          <a:xfrm flipH="1" flipV="1">
            <a:off x="26273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5" name="Line 37"/>
          <p:cNvSpPr>
            <a:spLocks noChangeShapeType="1"/>
          </p:cNvSpPr>
          <p:nvPr/>
        </p:nvSpPr>
        <p:spPr bwMode="auto">
          <a:xfrm flipV="1">
            <a:off x="2759075" y="31686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6" name="Line 38"/>
          <p:cNvSpPr>
            <a:spLocks noChangeShapeType="1"/>
          </p:cNvSpPr>
          <p:nvPr/>
        </p:nvSpPr>
        <p:spPr bwMode="auto">
          <a:xfrm flipH="1" flipV="1">
            <a:off x="2686050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V="1">
            <a:off x="47450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 flipH="1" flipV="1">
            <a:off x="46720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 flipV="1">
            <a:off x="2873375" y="40322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 flipH="1" flipV="1">
            <a:off x="2800350" y="3960812"/>
            <a:ext cx="1873250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9"/>
          <p:cNvSpPr>
            <a:spLocks noChangeShapeType="1"/>
          </p:cNvSpPr>
          <p:nvPr/>
        </p:nvSpPr>
        <p:spPr bwMode="auto">
          <a:xfrm flipV="1">
            <a:off x="4933057" y="3168650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0"/>
          <p:cNvSpPr>
            <a:spLocks noChangeShapeType="1"/>
          </p:cNvSpPr>
          <p:nvPr/>
        </p:nvSpPr>
        <p:spPr bwMode="auto">
          <a:xfrm flipH="1" flipV="1">
            <a:off x="4860032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39"/>
          <p:cNvSpPr>
            <a:spLocks noChangeShapeType="1"/>
          </p:cNvSpPr>
          <p:nvPr/>
        </p:nvSpPr>
        <p:spPr bwMode="auto">
          <a:xfrm flipV="1">
            <a:off x="5062537" y="4090171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40"/>
          <p:cNvSpPr>
            <a:spLocks noChangeShapeType="1"/>
          </p:cNvSpPr>
          <p:nvPr/>
        </p:nvSpPr>
        <p:spPr bwMode="auto">
          <a:xfrm flipH="1" flipV="1">
            <a:off x="4989512" y="4018734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60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References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3388" y="1606550"/>
            <a:ext cx="8435975" cy="563880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 altLang="zh-CN" sz="1600" smtClean="0">
                <a:ea typeface="宋体" panose="02010600030101010101" pitchFamily="2" charset="-122"/>
              </a:rPr>
              <a:t>[AgSr94] R. Agrawal, R. Srikant,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smtClean="0">
                <a:ea typeface="宋体" panose="02010600030101010101" pitchFamily="2" charset="-122"/>
                <a:hlinkClick r:id="rId2"/>
              </a:rPr>
              <a:t>Fast Algorithms for Mining Association Rules</a:t>
            </a:r>
            <a:r>
              <a:rPr lang="en-US" altLang="zh-CN" sz="1600" b="0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u="sng" smtClean="0">
                <a:ea typeface="宋体" panose="02010600030101010101" pitchFamily="2" charset="-122"/>
              </a:rPr>
              <a:t>,</a:t>
            </a:r>
            <a:r>
              <a:rPr lang="en-US" altLang="zh-CN" sz="1600" smtClean="0">
                <a:ea typeface="宋体" panose="02010600030101010101" pitchFamily="2" charset="-122"/>
              </a:rPr>
              <a:t> Proc. of the 20th Int'l Conference on Very Large Databases, Santiago, Chile, Sept. 1994.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 smtClean="0">
                <a:ea typeface="宋体" panose="02010600030101010101" pitchFamily="2" charset="-122"/>
              </a:rPr>
              <a:t>[AgSr96] R. Srikant, R. Agrawal: </a:t>
            </a:r>
            <a:r>
              <a:rPr lang="en-US" altLang="zh-CN" sz="1600" smtClean="0">
                <a:ea typeface="宋体" panose="02010600030101010101" pitchFamily="2" charset="-122"/>
                <a:hlinkClick r:id="rId3"/>
              </a:rPr>
              <a:t>"Mining Sequential Patterns: Generalizations and Performance Improvements"</a:t>
            </a:r>
            <a:r>
              <a:rPr lang="en-US" altLang="zh-CN" sz="1600" smtClean="0">
                <a:ea typeface="宋体" panose="02010600030101010101" pitchFamily="2" charset="-122"/>
              </a:rPr>
              <a:t>, to appear in </a:t>
            </a:r>
            <a:r>
              <a:rPr lang="en-US" altLang="zh-CN" sz="1600" i="1" smtClean="0">
                <a:ea typeface="宋体" panose="02010600030101010101" pitchFamily="2" charset="-122"/>
              </a:rPr>
              <a:t>Proc. of the Fifth Int'l Conference on Extending Database Technulogy (EDBT)</a:t>
            </a:r>
            <a:r>
              <a:rPr lang="en-US" altLang="zh-CN" sz="1600" smtClean="0">
                <a:ea typeface="宋体" panose="02010600030101010101" pitchFamily="2" charset="-122"/>
              </a:rPr>
              <a:t>, Avignon, France, March 1996.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 i="1" smtClean="0">
                <a:ea typeface="宋体" panose="02010600030101010101" pitchFamily="2" charset="-122"/>
              </a:rPr>
              <a:t>[BeRa99] </a:t>
            </a:r>
            <a:r>
              <a:rPr lang="en-US" altLang="zh-CN" sz="1600" smtClean="0">
                <a:ea typeface="宋体" panose="02010600030101010101" pitchFamily="2" charset="-122"/>
              </a:rPr>
              <a:t>Kevin S. Beyer and Raghu Ramakrishnan. 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i="1" smtClean="0">
                <a:ea typeface="宋体" panose="02010600030101010101" pitchFamily="2" charset="-122"/>
                <a:hlinkClick r:id="rId4"/>
              </a:rPr>
              <a:t>Bottom-Up Computation of Sparse and Iceberg CUBEs</a:t>
            </a:r>
            <a:r>
              <a:rPr lang="en-US" altLang="zh-CN" sz="1600" b="0" i="1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i="1" smtClean="0">
                <a:ea typeface="宋体" panose="02010600030101010101" pitchFamily="2" charset="-122"/>
              </a:rPr>
              <a:t>.</a:t>
            </a:r>
            <a:r>
              <a:rPr lang="en-US" altLang="zh-CN" sz="1600" smtClean="0">
                <a:ea typeface="宋体" panose="02010600030101010101" pitchFamily="2" charset="-122"/>
              </a:rPr>
              <a:t> In Proceedings of the ACM SIGMOD International Conference on Management of Data, pages 359-370, June 1999.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 smtClean="0">
                <a:ea typeface="宋体" panose="02010600030101010101" pitchFamily="2" charset="-122"/>
              </a:rPr>
              <a:t>[HPDW01] J. Han, J. Pei, G. Dong, and K. Wang,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smtClean="0">
                <a:ea typeface="宋体" panose="02010600030101010101" pitchFamily="2" charset="-122"/>
                <a:hlinkClick r:id="rId5"/>
              </a:rPr>
              <a:t>Efficient Computation of Iceberg Cubes with Complex Measures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smtClean="0">
                <a:ea typeface="宋体" panose="02010600030101010101" pitchFamily="2" charset="-122"/>
              </a:rPr>
              <a:t>, Proc. 2001 ACM-SIGMOD Int. Conf. on Management of Data (SIGMOD'01), Santa Barbara, CA, May 2001.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 smtClean="0">
                <a:ea typeface="宋体" panose="02010600030101010101" pitchFamily="2" charset="-122"/>
              </a:rPr>
              <a:t>[HPY00] J. Han, J. Pei, and Y. Yin, `` </a:t>
            </a:r>
            <a:r>
              <a:rPr lang="en-US" altLang="zh-CN" sz="1600" b="0" smtClean="0">
                <a:ea typeface="宋体" panose="02010600030101010101" pitchFamily="2" charset="-122"/>
                <a:hlinkClick r:id="rId6"/>
              </a:rPr>
              <a:t>Mining Frequent Patterns without Candidate Generation''</a:t>
            </a:r>
            <a:r>
              <a:rPr lang="en-US" altLang="zh-CN" sz="1600" smtClean="0">
                <a:ea typeface="宋体" panose="02010600030101010101" pitchFamily="2" charset="-122"/>
              </a:rPr>
              <a:t>,, Proc. 2000 ACM-SIGMOD Int. Conf. on Management of Data (SIGMOD'00), Dallas, TX, May 2000.</a:t>
            </a:r>
            <a:r>
              <a:rPr lang="en-US" altLang="zh-CN" sz="1600" i="1" smtClean="0">
                <a:ea typeface="宋体" panose="02010600030101010101" pitchFamily="2" charset="-122"/>
              </a:rPr>
              <a:t>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 smtClean="0">
                <a:ea typeface="宋体" panose="02010600030101010101" pitchFamily="2" charset="-122"/>
              </a:rPr>
              <a:t>[HaPe00] J. Han and J. Pei ``</a:t>
            </a:r>
            <a:r>
              <a:rPr lang="en-US" altLang="zh-CN" sz="1600" b="0" smtClean="0">
                <a:ea typeface="宋体" panose="02010600030101010101" pitchFamily="2" charset="-122"/>
                <a:hlinkClick r:id="rId7"/>
              </a:rPr>
              <a:t>Mining Frequent Patterns by Pattern-Growth: Methodology and Implications</a:t>
            </a:r>
            <a:r>
              <a:rPr lang="en-US" altLang="zh-CN" sz="1600" smtClean="0">
                <a:ea typeface="宋体" panose="02010600030101010101" pitchFamily="2" charset="-122"/>
                <a:hlinkClick r:id="rId7"/>
              </a:rPr>
              <a:t> </a:t>
            </a:r>
            <a:r>
              <a:rPr lang="en-US" altLang="zh-CN" sz="1600" smtClean="0">
                <a:ea typeface="宋体" panose="02010600030101010101" pitchFamily="2" charset="-122"/>
              </a:rPr>
              <a:t>'', ACM SIGKDD Explorations (Special Issue on Scaleble Data Mining Algorithms), 2(2), December 2000.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 smtClean="0">
                <a:ea typeface="宋体" panose="02010600030101010101" pitchFamily="2" charset="-122"/>
              </a:rPr>
              <a:t>[PHPC01] J. Pei, J. Han, H. Pinto, Q. Chen, U. Dayal, and M.-C. Hsu, </a:t>
            </a:r>
            <a:r>
              <a:rPr lang="en-US" altLang="zh-CN" sz="1600" b="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smtClean="0">
                <a:ea typeface="宋体" panose="02010600030101010101" pitchFamily="2" charset="-122"/>
              </a:rPr>
              <a:t> </a:t>
            </a:r>
            <a:r>
              <a:rPr lang="en-US" altLang="zh-CN" sz="1600" b="0" smtClean="0">
                <a:ea typeface="宋体" panose="02010600030101010101" pitchFamily="2" charset="-122"/>
                <a:hlinkClick r:id="rId8"/>
              </a:rPr>
              <a:t>PrefixSpan: Mining Sequential Patterns Efficiently by Prefix-Projected Pattern Growth''</a:t>
            </a:r>
            <a:r>
              <a:rPr lang="en-US" altLang="zh-CN" sz="1600" smtClean="0">
                <a:ea typeface="宋体" panose="02010600030101010101" pitchFamily="2" charset="-122"/>
              </a:rPr>
              <a:t>, Proc. 2001 Int. Conf. on Data Engineering (ICDE'01), Heidelberg, Germany, April 2001.</a:t>
            </a:r>
            <a:r>
              <a:rPr lang="en-US" altLang="zh-CN" sz="1600" b="0" smtClean="0">
                <a:ea typeface="宋体" panose="02010600030101010101" pitchFamily="2" charset="-122"/>
              </a:rPr>
              <a:t> </a:t>
            </a:r>
          </a:p>
          <a:p>
            <a:pPr marL="609600" indent="-609600">
              <a:lnSpc>
                <a:spcPct val="90000"/>
              </a:lnSpc>
            </a:pPr>
            <a:endParaRPr lang="en-US" altLang="zh-CN" sz="1600" i="1" smtClean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en-US" altLang="zh-CN" sz="1400" smtClean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zh-CN" altLang="en-US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95325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ea typeface="宋体" pitchFamily="2" charset="-122"/>
              </a:rPr>
              <a:t>References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50" y="1633538"/>
            <a:ext cx="8116888" cy="4532312"/>
          </a:xfrm>
        </p:spPr>
        <p:txBody>
          <a:bodyPr/>
          <a:lstStyle/>
          <a:p>
            <a:r>
              <a:rPr lang="en-US" altLang="zh-CN" sz="1600" smtClean="0">
                <a:ea typeface="宋体" panose="02010600030101010101" pitchFamily="2" charset="-122"/>
              </a:rPr>
              <a:t>[SHSB00]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 </a:t>
            </a:r>
            <a:r>
              <a:rPr lang="en-US" altLang="zh-CN" sz="1600" smtClean="0">
                <a:ea typeface="宋体" panose="02010600030101010101" pitchFamily="2" charset="-122"/>
              </a:rPr>
              <a:t>P.Shenoy, J. Haritsa, S. Sudarshan, G. Bhalotia, M. Bawa, D.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smtClean="0">
                <a:ea typeface="宋体" panose="02010600030101010101" pitchFamily="2" charset="-122"/>
                <a:hlinkClick r:id="rId2"/>
              </a:rPr>
              <a:t>Turbo-Charging Vertical Mining of Large Database</a:t>
            </a:r>
            <a:r>
              <a:rPr lang="en-US" altLang="zh-CN" sz="1600" b="0" smtClean="0">
                <a:ea typeface="宋体" panose="02010600030101010101" pitchFamily="2" charset="-122"/>
              </a:rPr>
              <a:t>.</a:t>
            </a:r>
            <a:r>
              <a:rPr lang="en-US" altLang="zh-CN" sz="1600" b="0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smtClean="0">
                <a:ea typeface="宋体" panose="02010600030101010101" pitchFamily="2" charset="-122"/>
              </a:rPr>
              <a:t> Proc. 2000 ACM-SIGMOD Int. Conf. on Management of Data (SIGMOD'00), Dallas, TX, May 2000. </a:t>
            </a:r>
          </a:p>
          <a:p>
            <a:r>
              <a:rPr lang="en-US" altLang="zh-CN" sz="1600" smtClean="0">
                <a:ea typeface="宋体" panose="02010600030101010101" pitchFamily="2" charset="-122"/>
              </a:rPr>
              <a:t>[Zaki98] Mohammed J. Zaki,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smtClean="0">
                <a:ea typeface="宋体" panose="02010600030101010101" pitchFamily="2" charset="-122"/>
                <a:hlinkClick r:id="rId3"/>
              </a:rPr>
              <a:t>Efficient Enumeration of Frequent Sequences</a:t>
            </a:r>
            <a:r>
              <a:rPr lang="en-US" altLang="zh-CN" sz="1600" b="0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smtClean="0">
                <a:ea typeface="宋体" panose="02010600030101010101" pitchFamily="2" charset="-122"/>
              </a:rPr>
              <a:t>, 7th International Conference on Information and Knowledge Management, pp 68-75, Washington DC, November 1998. </a:t>
            </a:r>
          </a:p>
          <a:p>
            <a:r>
              <a:rPr lang="en-US" altLang="zh-CN" sz="1600" smtClean="0">
                <a:ea typeface="宋体" panose="02010600030101010101" pitchFamily="2" charset="-122"/>
              </a:rPr>
              <a:t>[Zaki00] Mohammed J. Zaki,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smtClean="0">
                <a:ea typeface="宋体" panose="02010600030101010101" pitchFamily="2" charset="-122"/>
                <a:hlinkClick r:id="rId4"/>
              </a:rPr>
              <a:t>Scalable Algorithms for Association Mining</a:t>
            </a:r>
            <a:r>
              <a:rPr lang="en-US" altLang="zh-CN" sz="1600" b="0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b="0" smtClean="0">
                <a:ea typeface="宋体" panose="02010600030101010101" pitchFamily="2" charset="-122"/>
              </a:rPr>
              <a:t>,</a:t>
            </a:r>
            <a:r>
              <a:rPr lang="en-US" altLang="zh-CN" sz="1600" smtClean="0">
                <a:ea typeface="宋体" panose="02010600030101010101" pitchFamily="2" charset="-122"/>
              </a:rPr>
              <a:t> in IEEE Transactions on Knowledge and Data Engineering, Vol. 12, No. 3, pp 372-390, May/June 2000. </a:t>
            </a:r>
          </a:p>
          <a:p>
            <a:r>
              <a:rPr lang="en-US" altLang="zh-CN" sz="1600" smtClean="0">
                <a:ea typeface="宋体" panose="02010600030101010101" pitchFamily="2" charset="-122"/>
              </a:rPr>
              <a:t>[Zaki01] Mohammed J. Zaki, </a:t>
            </a:r>
            <a:r>
              <a:rPr lang="en-US" altLang="zh-CN" sz="1600" smtClean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smtClean="0">
                <a:ea typeface="宋体" panose="02010600030101010101" pitchFamily="2" charset="-122"/>
                <a:hlinkClick r:id="rId5"/>
              </a:rPr>
              <a:t>SPADE: An Efficient Algorithm for Mining Frequent Sequences</a:t>
            </a:r>
            <a:r>
              <a:rPr lang="en-US" altLang="zh-CN" sz="1600" b="0" smtClean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b="0" smtClean="0">
                <a:ea typeface="宋体" panose="02010600030101010101" pitchFamily="2" charset="-122"/>
              </a:rPr>
              <a:t>,</a:t>
            </a:r>
            <a:r>
              <a:rPr lang="en-US" altLang="zh-CN" sz="1600" smtClean="0">
                <a:ea typeface="宋体" panose="02010600030101010101" pitchFamily="2" charset="-122"/>
              </a:rPr>
              <a:t> in Machine Learning Journal, special issue on Unsupervised Learning (Doug Fisher, ed.), pp 31-60, Vol. 42 Nos. 1/2, Jan/Feb 2001. </a:t>
            </a:r>
            <a:br>
              <a:rPr lang="en-US" altLang="zh-CN" sz="1600" smtClean="0">
                <a:ea typeface="宋体" panose="02010600030101010101" pitchFamily="2" charset="-122"/>
              </a:rPr>
            </a:br>
            <a:endParaRPr lang="en-US" altLang="zh-CN" sz="16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n">
  <a:themeElements>
    <a:clrScheme name="">
      <a:dk1>
        <a:srgbClr val="000000"/>
      </a:dk1>
      <a:lt1>
        <a:srgbClr val="DEFEEE"/>
      </a:lt1>
      <a:dk2>
        <a:srgbClr val="0000FF"/>
      </a:dk2>
      <a:lt2>
        <a:srgbClr val="333300"/>
      </a:lt2>
      <a:accent1>
        <a:srgbClr val="CC0099"/>
      </a:accent1>
      <a:accent2>
        <a:srgbClr val="003300"/>
      </a:accent2>
      <a:accent3>
        <a:srgbClr val="ECFEF5"/>
      </a:accent3>
      <a:accent4>
        <a:srgbClr val="000000"/>
      </a:accent4>
      <a:accent5>
        <a:srgbClr val="E2AACA"/>
      </a:accent5>
      <a:accent6>
        <a:srgbClr val="002D00"/>
      </a:accent6>
      <a:hlink>
        <a:srgbClr val="CC3300"/>
      </a:hlink>
      <a:folHlink>
        <a:srgbClr val="FF3399"/>
      </a:folHlink>
    </a:clrScheme>
    <a:fontScheme name="h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ha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3911</TotalTime>
  <Words>4478</Words>
  <Application>Microsoft Office PowerPoint</Application>
  <PresentationFormat>全屏显示(4:3)</PresentationFormat>
  <Paragraphs>929</Paragraphs>
  <Slides>55</Slides>
  <Notes>9</Notes>
  <HiddenSlides>4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Times New Roman</vt:lpstr>
      <vt:lpstr>Arial</vt:lpstr>
      <vt:lpstr>Monotype Sorts</vt:lpstr>
      <vt:lpstr>宋体</vt:lpstr>
      <vt:lpstr>Wingdings</vt:lpstr>
      <vt:lpstr>Tahoma</vt:lpstr>
      <vt:lpstr>Wingdings 3</vt:lpstr>
      <vt:lpstr>han</vt:lpstr>
      <vt:lpstr>Microsoft Excel Chart</vt:lpstr>
      <vt:lpstr>PowerPoint 演示文稿</vt:lpstr>
      <vt:lpstr>Comparison of Data Layouts</vt:lpstr>
      <vt:lpstr>Vertical format for write-based FPM</vt:lpstr>
      <vt:lpstr>Vertical format for write-based FPM</vt:lpstr>
      <vt:lpstr>PowerPoint 演示文稿</vt:lpstr>
      <vt:lpstr>FP-Growth算法</vt:lpstr>
      <vt:lpstr>FP-Growth算法</vt:lpstr>
      <vt:lpstr>PowerPoint 演示文稿</vt:lpstr>
      <vt:lpstr>Construct FP-tree from a Transaction Database</vt:lpstr>
      <vt:lpstr>条件模式基</vt:lpstr>
      <vt:lpstr>递归构造条件模式基</vt:lpstr>
      <vt:lpstr>递归构造条件模式基</vt:lpstr>
      <vt:lpstr>递归构造条件模式基</vt:lpstr>
      <vt:lpstr>递归构造条件模式基</vt:lpstr>
      <vt:lpstr>PowerPoint 演示文稿</vt:lpstr>
      <vt:lpstr>Benefits of the FP-tree Structure</vt:lpstr>
      <vt:lpstr>Partition Patterns and Databases</vt:lpstr>
      <vt:lpstr>FP-Growth vs. Apriori: Scalability With the Support Threshold</vt:lpstr>
      <vt:lpstr>VIPER vs. FP-Growth: Comparision</vt:lpstr>
      <vt:lpstr>VIPER vs. FP-Growth: Comparision</vt:lpstr>
      <vt:lpstr>Why would write-based algorithms be faster ?</vt:lpstr>
      <vt:lpstr>Why would write-based algorithms be faster ?</vt:lpstr>
      <vt:lpstr>However......</vt:lpstr>
      <vt:lpstr>PowerPoint 演示文稿</vt:lpstr>
      <vt:lpstr>No candidates ?</vt:lpstr>
      <vt:lpstr>So far, we covered</vt:lpstr>
      <vt:lpstr>PowerPoint 演示文稿</vt:lpstr>
      <vt:lpstr>Sub-Graph Mining---pattern growth method</vt:lpstr>
      <vt:lpstr>Mofa (ICDM’02)</vt:lpstr>
      <vt:lpstr>gSpan (Yan &amp; Han, ICDM’02)</vt:lpstr>
      <vt:lpstr>gSpan (cont.)</vt:lpstr>
      <vt:lpstr>Right-Most Extension</vt:lpstr>
      <vt:lpstr>Right-Most Extension (cont.)</vt:lpstr>
      <vt:lpstr>Avoid Duplicate Extension</vt:lpstr>
      <vt:lpstr>Right-most Extension</vt:lpstr>
      <vt:lpstr>Search Space in gSpan</vt:lpstr>
      <vt:lpstr>DFS Code</vt:lpstr>
      <vt:lpstr>DFS Code (cont.)</vt:lpstr>
      <vt:lpstr>Reduce the Number of G1, … Gn</vt:lpstr>
      <vt:lpstr>Right-Most Extension (cont.)</vt:lpstr>
      <vt:lpstr>So far, we covered</vt:lpstr>
      <vt:lpstr>PrefixSpan: Example of Write-based Method</vt:lpstr>
      <vt:lpstr>寻找频繁序列 – 朴素算法</vt:lpstr>
      <vt:lpstr>寻找频繁序列 – 优化</vt:lpstr>
      <vt:lpstr>寻找频繁序列 – 优化</vt:lpstr>
      <vt:lpstr>PrefixSpan算法</vt:lpstr>
      <vt:lpstr>PrefixSpan算法 – 流程</vt:lpstr>
      <vt:lpstr>PrefixSpan算法 – 流程</vt:lpstr>
      <vt:lpstr>PrefixSpan算法 – 流程</vt:lpstr>
      <vt:lpstr>PrefixSpan算法 – 小结</vt:lpstr>
      <vt:lpstr>PrefixSpan算法 – 小结</vt:lpstr>
      <vt:lpstr>PrefixSpan算法 – 拓展</vt:lpstr>
      <vt:lpstr>So far, we covered</vt:lpstr>
      <vt:lpstr>References</vt:lpstr>
      <vt:lpstr>References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lcp</cp:lastModifiedBy>
  <cp:revision>135</cp:revision>
  <cp:lastPrinted>1998-10-25T21:42:16Z</cp:lastPrinted>
  <dcterms:created xsi:type="dcterms:W3CDTF">1998-06-19T04:38:52Z</dcterms:created>
  <dcterms:modified xsi:type="dcterms:W3CDTF">2020-05-15T15:18:29Z</dcterms:modified>
</cp:coreProperties>
</file>