
<file path=[Content_Types].xml><?xml version="1.0" encoding="utf-8"?>
<Types xmlns="http://schemas.openxmlformats.org/package/2006/content-types">
  <Default Extension="xml" ContentType="application/vnd.openxmlformats-officedocument.presentationml.presentation.main+xml"/>
  <Default Extension="jpg" ContentType="image/jpeg"/>
  <Default Extension="png" ContentType="image/png"/>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tableStyles.xml" ContentType="application/vnd.openxmlformats-officedocument.presentationml.tableStyles+xml"/>
</Types>
</file>

<file path=_rels/.rels>&#65279;<?xml version="1.0" encoding="utf-8"?><Relationships xmlns="http://schemas.openxmlformats.org/package/2006/relationships"><Relationship Type="http://schemas.openxmlformats.org/officeDocument/2006/relationships/officeDocument" Target="/ppt/presentation.xml" Id="Rabac2bfac8114cc2"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Lst>
  <p:sldSz cx="9144000" cy="6858000"/>
  <p:notesSz cx="6858000" cy="9144000"/>
  <p:defaultTextStyle>
    <a:lvl1pPr marL="0" lvl="0"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5pPr>
  </p:defaultTextStyle>
</p:presentation>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slideMasters/theme/theme1.xml" Id="rId2" /><Relationship Type="http://schemas.openxmlformats.org/officeDocument/2006/relationships/slide" Target="/ppt/slides/slide1.xml" Id="rId3" /><Relationship Type="http://schemas.openxmlformats.org/officeDocument/2006/relationships/slide" Target="/ppt/slides/slide2.xml" Id="rId4" /><Relationship Type="http://schemas.openxmlformats.org/officeDocument/2006/relationships/slide" Target="/ppt/slides/slide3.xml" Id="rId5" /><Relationship Type="http://schemas.openxmlformats.org/officeDocument/2006/relationships/slide" Target="/ppt/slides/slide4.xml" Id="rId6" /><Relationship Type="http://schemas.openxmlformats.org/officeDocument/2006/relationships/slide" Target="/ppt/slides/slide5.xml" Id="rId7" /><Relationship Type="http://schemas.openxmlformats.org/officeDocument/2006/relationships/slide" Target="/ppt/slides/slide6.xml" Id="rId8" /><Relationship Type="http://schemas.openxmlformats.org/officeDocument/2006/relationships/slide" Target="/ppt/slides/slide7.xml" Id="rId9" /><Relationship Type="http://schemas.openxmlformats.org/officeDocument/2006/relationships/slide" Target="/ppt/slides/slide8.xml" Id="rId10" /><Relationship Type="http://schemas.openxmlformats.org/officeDocument/2006/relationships/slide" Target="/ppt/slides/slide9.xml" Id="rId11" /><Relationship Type="http://schemas.openxmlformats.org/officeDocument/2006/relationships/slide" Target="/ppt/slides/slide10.xml" Id="rId12" /><Relationship Type="http://schemas.openxmlformats.org/officeDocument/2006/relationships/slide" Target="/ppt/slides/slide11.xml" Id="rId13" /><Relationship Type="http://schemas.openxmlformats.org/officeDocument/2006/relationships/slide" Target="/ppt/slides/slide12.xml" Id="rId14" /><Relationship Type="http://schemas.openxmlformats.org/officeDocument/2006/relationships/slide" Target="/ppt/slides/slide13.xml" Id="rId15" /><Relationship Type="http://schemas.openxmlformats.org/officeDocument/2006/relationships/slide" Target="/ppt/slides/slide14.xml" Id="rId16" /><Relationship Type="http://schemas.openxmlformats.org/officeDocument/2006/relationships/slide" Target="/ppt/slides/slide15.xml" Id="rId17" /><Relationship Type="http://schemas.openxmlformats.org/officeDocument/2006/relationships/slide" Target="/ppt/slides/slide16.xml" Id="rId18" /><Relationship Type="http://schemas.openxmlformats.org/officeDocument/2006/relationships/slide" Target="/ppt/slides/slide17.xml" Id="rId19" /><Relationship Type="http://schemas.openxmlformats.org/officeDocument/2006/relationships/slide" Target="/ppt/slides/slide18.xml" Id="rId20" /><Relationship Type="http://schemas.openxmlformats.org/officeDocument/2006/relationships/slide" Target="/ppt/slides/slide19.xml" Id="rId21" /><Relationship Type="http://schemas.openxmlformats.org/officeDocument/2006/relationships/slide" Target="/ppt/slides/slide20.xml" Id="rId22" /><Relationship Type="http://schemas.openxmlformats.org/officeDocument/2006/relationships/slide" Target="/ppt/slides/slide21.xml" Id="rId23" /><Relationship Type="http://schemas.openxmlformats.org/officeDocument/2006/relationships/slide" Target="/ppt/slides/slide22.xml" Id="rId24" /><Relationship Type="http://schemas.openxmlformats.org/officeDocument/2006/relationships/slide" Target="/ppt/slides/slide23.xml" Id="rId25" /><Relationship Type="http://schemas.openxmlformats.org/officeDocument/2006/relationships/slide" Target="/ppt/slides/slide24.xml" Id="rId26" /><Relationship Type="http://schemas.openxmlformats.org/officeDocument/2006/relationships/slide" Target="/ppt/slides/slide25.xml" Id="rId27" /><Relationship Type="http://schemas.openxmlformats.org/officeDocument/2006/relationships/slide" Target="/ppt/slides/slide26.xml" Id="rId28" /><Relationship Type="http://schemas.openxmlformats.org/officeDocument/2006/relationships/slide" Target="/ppt/slides/slide27.xml" Id="rId29" /><Relationship Type="http://schemas.openxmlformats.org/officeDocument/2006/relationships/slide" Target="/ppt/slides/slide28.xml" Id="rId30" /><Relationship Type="http://schemas.openxmlformats.org/officeDocument/2006/relationships/slide" Target="/ppt/slides/slide29.xml" Id="rId31" /><Relationship Type="http://schemas.openxmlformats.org/officeDocument/2006/relationships/slide" Target="/ppt/slides/slide30.xml" Id="rId32" /><Relationship Type="http://schemas.openxmlformats.org/officeDocument/2006/relationships/slide" Target="/ppt/slides/slide31.xml" Id="rId33" /><Relationship Type="http://schemas.openxmlformats.org/officeDocument/2006/relationships/slide" Target="/ppt/slides/slide32.xml" Id="rId34" /><Relationship Type="http://schemas.openxmlformats.org/officeDocument/2006/relationships/slide" Target="/ppt/slides/slide33.xml" Id="rId35" /><Relationship Type="http://schemas.openxmlformats.org/officeDocument/2006/relationships/slide" Target="/ppt/slides/slide34.xml" Id="rId36" /><Relationship Type="http://schemas.openxmlformats.org/officeDocument/2006/relationships/slide" Target="/ppt/slides/slide35.xml" Id="rId37" /><Relationship Type="http://schemas.openxmlformats.org/officeDocument/2006/relationships/slide" Target="/ppt/slides/slide36.xml" Id="rId38" /><Relationship Type="http://schemas.openxmlformats.org/officeDocument/2006/relationships/slide" Target="/ppt/slides/slide37.xml" Id="rId39" /><Relationship Type="http://schemas.openxmlformats.org/officeDocument/2006/relationships/slide" Target="/ppt/slides/slide38.xml" Id="rId40" /><Relationship Type="http://schemas.openxmlformats.org/officeDocument/2006/relationships/slide" Target="/ppt/slides/slide39.xml" Id="rId41" /><Relationship Type="http://schemas.openxmlformats.org/officeDocument/2006/relationships/slide" Target="/ppt/slides/slide40.xml" Id="rId42" /><Relationship Type="http://schemas.openxmlformats.org/officeDocument/2006/relationships/slide" Target="/ppt/slides/slide41.xml" Id="rId43" /><Relationship Type="http://schemas.openxmlformats.org/officeDocument/2006/relationships/slide" Target="/ppt/slides/slide42.xml" Id="rId44" /><Relationship Type="http://schemas.openxmlformats.org/officeDocument/2006/relationships/slide" Target="/ppt/slides/slide43.xml" Id="rId45" /><Relationship Type="http://schemas.openxmlformats.org/officeDocument/2006/relationships/slide" Target="/ppt/slides/slide44.xml" Id="rId46" /><Relationship Type="http://schemas.openxmlformats.org/officeDocument/2006/relationships/slide" Target="/ppt/slides/slide45.xml" Id="rId47" /><Relationship Type="http://schemas.openxmlformats.org/officeDocument/2006/relationships/slide" Target="/ppt/slides/slide46.xml" Id="rId48" /><Relationship Type="http://schemas.openxmlformats.org/officeDocument/2006/relationships/slide" Target="/ppt/slides/slide47.xml" Id="rId49" /><Relationship Type="http://schemas.openxmlformats.org/officeDocument/2006/relationships/slide" Target="/ppt/slides/slide48.xml" Id="rId50" /><Relationship Type="http://schemas.openxmlformats.org/officeDocument/2006/relationships/slide" Target="/ppt/slides/slide49.xml" Id="rId51" /><Relationship Type="http://schemas.openxmlformats.org/officeDocument/2006/relationships/slide" Target="/ppt/slides/slide50.xml" Id="rId52" /><Relationship Type="http://schemas.openxmlformats.org/officeDocument/2006/relationships/slide" Target="/ppt/slides/slide51.xml" Id="rId53" /><Relationship Type="http://schemas.openxmlformats.org/officeDocument/2006/relationships/slide" Target="/ppt/slides/slide52.xml" Id="rId54" /><Relationship Type="http://schemas.openxmlformats.org/officeDocument/2006/relationships/slide" Target="/ppt/slides/slide53.xml" Id="rId55" /><Relationship Type="http://schemas.openxmlformats.org/officeDocument/2006/relationships/slide" Target="/ppt/slides/slide54.xml" Id="rId56" /><Relationship Type="http://schemas.openxmlformats.org/officeDocument/2006/relationships/slide" Target="/ppt/slides/slide55.xml" Id="rId57" /><Relationship Type="http://schemas.openxmlformats.org/officeDocument/2006/relationships/slide" Target="/ppt/slides/slide56.xml" Id="rId58" /><Relationship Type="http://schemas.openxmlformats.org/officeDocument/2006/relationships/tableStyles" Target="/ppt/tableStyles.xml" Id="rId59"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image" Target="/ppt/media/image.jpg" Id="rI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 Slide">
    <p:bg>
      <p:bgPr>
        <a:solidFill>
          <a:schemeClr val="bg1"/>
        </a:solidFill>
      </p:bgPr>
    </p:bg>
    <p:spTree>
      <p:nvGrpSpPr>
        <p:cNvPr id="1" name=""/>
        <p:cNvGrpSpPr/>
        <p:nvPr/>
      </p:nvGrpSpPr>
      <p:grpSpPr/>
      <p:pic>
        <p:nvPicPr>
          <p:cNvPr id="208898" name=""/>
          <p:cNvPicPr>
            <a:picLocks noChangeAspect="0"/>
          </p:cNvPicPr>
          <p:nvPr/>
        </p:nvPicPr>
        <p:blipFill>
          <a:blip r:embed="rId2"/>
          <a:stretch/>
        </p:blipFill>
        <p:spPr>
          <a:xfrm>
            <a:off x="0" y="0"/>
            <a:ext cx="9144000" cy="6858000"/>
          </a:xfrm>
          <a:prstGeom prst="rect">
            <a:avLst/>
          </a:prstGeom>
          <a:noFill/>
          <a:ln>
            <a:noFill/>
          </a:ln>
        </p:spPr>
      </p:pic>
      <p:sp>
        <p:nvSpPr>
          <p:cNvPr id="208899" name=""/>
          <p:cNvSpPr>
            <a:spLocks noGrp="1"/>
          </p:cNvSpPr>
          <p:nvPr>
            <p:ph type="ctrTitle"/>
          </p:nvPr>
        </p:nvSpPr>
        <p:spPr>
          <a:xfrm>
            <a:off x="685800" y="2130425"/>
            <a:ext cx="7772400" cy="1470025"/>
          </a:xfrm>
          <a:prstGeom prst="rect">
            <a:avLst/>
          </a:prstGeom>
          <a:noFill/>
          <a:ln>
            <a:noFill/>
          </a:ln>
        </p:spPr>
        <p:txBody>
          <a:bodyPr anchor="ctr" anchorCtr="0"/>
          <a:lstStyle>
            <a:lvl1pPr marL="0" lvl="0" indent="0" algn="ctr" defTabSz="914400">
              <a:lnSpc>
                <a:spcPct val="100000"/>
              </a:lnSpc>
              <a:spcBef>
                <a:spcPct val="0"/>
              </a:spcBef>
              <a:spcAft>
                <a:spcPct val="0"/>
              </a:spcAft>
              <a:buClrTx/>
              <a:buSzTx/>
              <a:buFontTx/>
              <a:buNone/>
              <a:defRPr lang="zh-CN" sz="4400" b="1" i="0" u="none" baseline="0">
                <a:solidFill>
                  <a:srgbClr val="083D8A"/>
                </a:solidFill>
                <a:latin typeface="Arial"/>
                <a:ea typeface="宋体"/>
              </a:defRPr>
            </a:lvl1pPr>
          </a:lstStyle>
          <a:p>
            <a:pPr lvl="0"/>
            <a:r>
              <a:t>单击此处编辑母版标题样式</a:t>
            </a:r>
          </a:p>
        </p:txBody>
      </p:sp>
      <p:sp>
        <p:nvSpPr>
          <p:cNvPr id="208900" name=""/>
          <p:cNvSpPr>
            <a:spLocks noGrp="1"/>
          </p:cNvSpPr>
          <p:nvPr>
            <p:ph type="subTitle" idx="1"/>
          </p:nvPr>
        </p:nvSpPr>
        <p:spPr>
          <a:xfrm>
            <a:off x="1371600" y="3886200"/>
            <a:ext cx="6400800" cy="1752600"/>
          </a:xfrm>
          <a:prstGeom prst="rect">
            <a:avLst/>
          </a:prstGeom>
          <a:noFill/>
          <a:ln>
            <a:noFill/>
          </a:ln>
        </p:spPr>
        <p:txBody>
          <a:bodyPr/>
          <a:lstStyle>
            <a:lvl1pPr marL="0" lvl="0" indent="0" algn="ctr" defTabSz="914400">
              <a:lnSpc>
                <a:spcPct val="100000"/>
              </a:lnSpc>
              <a:spcBef>
                <a:spcPct val="20000"/>
              </a:spcBef>
              <a:spcAft>
                <a:spcPct val="0"/>
              </a:spcAft>
              <a:buClrTx/>
              <a:buSzTx/>
              <a:buFontTx/>
              <a:buNone/>
              <a:defRPr lang="zh-CN" sz="3200" b="0" i="0" u="none" baseline="0">
                <a:solidFill>
                  <a:srgbClr val="083D8A"/>
                </a:solidFill>
                <a:latin typeface="Arial"/>
                <a:ea typeface="宋体"/>
              </a:defRPr>
            </a:lvl1pPr>
            <a:lvl2pPr marL="457200" lvl="1" indent="0" algn="ctr" defTabSz="914400">
              <a:lnSpc>
                <a:spcPct val="100000"/>
              </a:lnSpc>
              <a:spcBef>
                <a:spcPct val="20000"/>
              </a:spcBef>
              <a:spcAft>
                <a:spcPct val="0"/>
              </a:spcAft>
              <a:buClrTx/>
              <a:buSzTx/>
              <a:buFontTx/>
              <a:buNone/>
              <a:defRPr lang="zh-CN" sz="2800" b="0" i="0" u="none" baseline="0">
                <a:solidFill>
                  <a:srgbClr val="083D8A"/>
                </a:solidFill>
                <a:latin typeface="Arial"/>
                <a:ea typeface="宋体"/>
              </a:defRPr>
            </a:lvl2pPr>
            <a:lvl3pPr marL="914400" lvl="2" indent="0" algn="ctr" defTabSz="914400">
              <a:lnSpc>
                <a:spcPct val="100000"/>
              </a:lnSpc>
              <a:spcBef>
                <a:spcPct val="20000"/>
              </a:spcBef>
              <a:spcAft>
                <a:spcPct val="0"/>
              </a:spcAft>
              <a:buClrTx/>
              <a:buSzTx/>
              <a:buFontTx/>
              <a:buNone/>
              <a:defRPr lang="zh-CN" sz="2400" b="0" i="0" u="none" baseline="0">
                <a:solidFill>
                  <a:srgbClr val="083D8A"/>
                </a:solidFill>
                <a:latin typeface="Arial"/>
                <a:ea typeface="宋体"/>
              </a:defRPr>
            </a:lvl3pPr>
            <a:lvl4pPr marL="1371600" lvl="3" indent="0" algn="ctr" defTabSz="914400">
              <a:lnSpc>
                <a:spcPct val="100000"/>
              </a:lnSpc>
              <a:spcBef>
                <a:spcPct val="20000"/>
              </a:spcBef>
              <a:spcAft>
                <a:spcPct val="0"/>
              </a:spcAft>
              <a:buClrTx/>
              <a:buSzTx/>
              <a:buFontTx/>
              <a:buNone/>
              <a:defRPr lang="zh-CN" sz="2000" b="0" i="0" u="none" baseline="0">
                <a:solidFill>
                  <a:srgbClr val="083D8A"/>
                </a:solidFill>
                <a:latin typeface="Arial"/>
                <a:ea typeface="宋体"/>
              </a:defRPr>
            </a:lvl4pPr>
            <a:lvl5pPr marL="1828800" lvl="4" indent="0" algn="ctr" defTabSz="914400">
              <a:lnSpc>
                <a:spcPct val="100000"/>
              </a:lnSpc>
              <a:spcBef>
                <a:spcPct val="20000"/>
              </a:spcBef>
              <a:spcAft>
                <a:spcPct val="0"/>
              </a:spcAft>
              <a:buClrTx/>
              <a:buSzTx/>
              <a:buFontTx/>
              <a:buNone/>
              <a:defRPr lang="zh-CN" sz="2000" b="0" i="0" u="none" baseline="0">
                <a:solidFill>
                  <a:srgbClr val="083D8A"/>
                </a:solidFill>
                <a:latin typeface="Arial"/>
                <a:ea typeface="宋体"/>
              </a:defRPr>
            </a:lvl5pPr>
          </a:lstStyle>
          <a:p>
            <a:pPr lvl="0"/>
            <a:r>
              <a:t>单击此处编辑母版副标题样式</a:t>
            </a:r>
          </a:p>
        </p:txBody>
      </p:sp>
      <p:sp>
        <p:nvSpPr>
          <p:cNvPr id="208901" name=""/>
          <p:cNvSpPr>
            <a:spLocks noGrp="1"/>
          </p:cNvSpPr>
          <p:nvPr>
            <p:ph type="dt" idx="2"/>
          </p:nvPr>
        </p:nvSpPr>
        <p:spPr>
          <a:xfrm>
            <a:off x="457200" y="6245225"/>
            <a:ext cx="2133600" cy="47625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fld id="{E20F1AD9-6502-4545-949C-D476317334A2}" type="datetime1">
              <a:rPr sz="1400">
                <a:solidFill>
                  <a:srgbClr val="083D8A"/>
                </a:solidFill>
              </a:rPr>
              <a:t>*</a:t>
            </a:fld>
            <a:endParaRPr sz="1400">
              <a:solidFill>
                <a:srgbClr val="083D8A"/>
              </a:solidFill>
            </a:endParaRPr>
          </a:p>
        </p:txBody>
      </p:sp>
      <p:sp>
        <p:nvSpPr>
          <p:cNvPr id="208902" name=""/>
          <p:cNvSpPr>
            <a:spLocks noGrp="1"/>
          </p:cNvSpPr>
          <p:nvPr>
            <p:ph type="ftr" idx="3"/>
          </p:nvPr>
        </p:nvSpPr>
        <p:spPr>
          <a:xfrm>
            <a:off x="3124200" y="6245225"/>
            <a:ext cx="2895600" cy="47625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fld id="{DEE84B6F-D023-4921-9792-F251A4B4F3CA}" type="footer">
              <a:rPr sz="1400">
                <a:solidFill>
                  <a:srgbClr val="083D8A"/>
                </a:solidFill>
              </a:rPr>
              <a:t>*</a:t>
            </a:fld>
            <a:endParaRPr sz="1400">
              <a:solidFill>
                <a:srgbClr val="083D8A"/>
              </a:solidFill>
            </a:endParaRPr>
          </a:p>
        </p:txBody>
      </p:sp>
      <p:sp>
        <p:nvSpPr>
          <p:cNvPr id="208903" name=""/>
          <p:cNvSpPr>
            <a:spLocks noGrp="1"/>
          </p:cNvSpPr>
          <p:nvPr>
            <p:ph type="sldNum" idx="4"/>
          </p:nvPr>
        </p:nvSpPr>
        <p:spPr>
          <a:xfrm>
            <a:off x="6553200" y="6245225"/>
            <a:ext cx="2133600" cy="47625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r"/>
            <a:fld id="{8DD52E48-E88A-4B0D-AF8A-0931C5322F5B}" type="slidenum">
              <a:rPr sz="1400">
                <a:solidFill>
                  <a:srgbClr val="083D8A"/>
                </a:solidFill>
              </a:rPr>
              <a:t>*</a:t>
            </a:fld>
            <a:endParaRPr sz="1400">
              <a:solidFill>
                <a:srgbClr val="083D8A"/>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idx="10"/>
          </p:nvPr>
        </p:nvSpPr>
        <p:spPr/>
        <p:txBody>
          <a:bodyPr/>
          <a:lstStyle/>
          <a:p>
            <a:pPr lvl="0"/>
            <a:fld id="{835FA00B-0C84-4F0A-A50C-3ACC30915843}" type="datetime1">
              <a:rPr sz="1400">
                <a:solidFill>
                  <a:srgbClr val="083D8A"/>
                </a:solidFill>
              </a:rPr>
              <a:t>*</a:t>
            </a:fld>
            <a:endParaRPr sz="1400">
              <a:solidFill>
                <a:srgbClr val="083D8A"/>
              </a:solidFill>
            </a:endParaRPr>
          </a:p>
        </p:txBody>
      </p:sp>
      <p:sp>
        <p:nvSpPr>
          <p:cNvPr id="5" name="Footer Placeholder 4"/>
          <p:cNvSpPr>
            <a:spLocks noGrp="1"/>
          </p:cNvSpPr>
          <p:nvPr>
            <p:ph type="ftr" idx="11"/>
          </p:nvPr>
        </p:nvSpPr>
        <p:spPr/>
        <p:txBody>
          <a:bodyPr/>
          <a:lstStyle/>
          <a:p>
            <a:pPr lvl="0" algn="ctr"/>
            <a:fld id="{3138C383-C628-4E9C-9B19-EBE207067BFA}" type="footer">
              <a:rPr sz="1400">
                <a:solidFill>
                  <a:srgbClr val="083D8A"/>
                </a:solidFill>
              </a:rPr>
              <a:t>*</a:t>
            </a:fld>
            <a:endParaRPr sz="1400">
              <a:solidFill>
                <a:srgbClr val="083D8A"/>
              </a:solidFill>
            </a:endParaRPr>
          </a:p>
        </p:txBody>
      </p:sp>
      <p:sp>
        <p:nvSpPr>
          <p:cNvPr id="6" name="Slide Number Placeholder 5"/>
          <p:cNvSpPr>
            <a:spLocks noGrp="1"/>
          </p:cNvSpPr>
          <p:nvPr>
            <p:ph type="sldNum" idx="12"/>
          </p:nvPr>
        </p:nvSpPr>
        <p:spPr/>
        <p:txBody>
          <a:bodyPr/>
          <a:lstStyle/>
          <a:p>
            <a:pPr lvl="0" algn="r"/>
            <a:fld id="{230E6EA8-02FF-455F-AE0D-58B9EA8920F2}" type="slidenum">
              <a:rPr sz="1400">
                <a:solidFill>
                  <a:srgbClr val="083D8A"/>
                </a:solidFill>
              </a:r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xfrm>
      </p:grpSpPr>
      <p:sp>
        <p:nvSpPr>
          <p:cNvPr id="2" name="Date Placeholder 1"/>
          <p:cNvSpPr>
            <a:spLocks noGrp="1"/>
          </p:cNvSpPr>
          <p:nvPr>
            <p:ph type="dt" idx="10"/>
          </p:nvPr>
        </p:nvSpPr>
        <p:spPr/>
        <p:txBody>
          <a:bodyPr/>
          <a:lstStyle/>
          <a:p>
            <a:pPr lvl="0"/>
            <a:fld id="{208408D1-51A0-42A8-A281-613AD668D4ED}" type="datetime1">
              <a:rPr sz="1400">
                <a:solidFill>
                  <a:srgbClr val="083D8A"/>
                </a:solidFill>
              </a:rPr>
              <a:t>*</a:t>
            </a:fld>
            <a:endParaRPr sz="1400">
              <a:solidFill>
                <a:srgbClr val="083D8A"/>
              </a:solidFill>
            </a:endParaRPr>
          </a:p>
        </p:txBody>
      </p:sp>
      <p:sp>
        <p:nvSpPr>
          <p:cNvPr id="3" name="Footer Placeholder 2"/>
          <p:cNvSpPr>
            <a:spLocks noGrp="1"/>
          </p:cNvSpPr>
          <p:nvPr>
            <p:ph type="ftr" idx="11"/>
          </p:nvPr>
        </p:nvSpPr>
        <p:spPr/>
        <p:txBody>
          <a:bodyPr/>
          <a:lstStyle/>
          <a:p>
            <a:pPr lvl="0" algn="ctr"/>
            <a:fld id="{7E560EC1-3AD5-4731-A44E-620E1FAE4D7A}" type="footer">
              <a:rPr sz="1400">
                <a:solidFill>
                  <a:srgbClr val="083D8A"/>
                </a:solidFill>
              </a:rPr>
              <a:t>*</a:t>
            </a:fld>
            <a:endParaRPr sz="1400">
              <a:solidFill>
                <a:srgbClr val="083D8A"/>
              </a:solidFill>
            </a:endParaRPr>
          </a:p>
        </p:txBody>
      </p:sp>
      <p:sp>
        <p:nvSpPr>
          <p:cNvPr id="4" name="Slide Number Placeholder 3"/>
          <p:cNvSpPr>
            <a:spLocks noGrp="1"/>
          </p:cNvSpPr>
          <p:nvPr>
            <p:ph type="sldNum" idx="12"/>
          </p:nvPr>
        </p:nvSpPr>
        <p:spPr/>
        <p:txBody>
          <a:bodyPr/>
          <a:lstStyle/>
          <a:p>
            <a:pPr lvl="0" algn="r"/>
            <a:fld id="{389F93E5-2B6E-4FFA-BAB1-32CD3877340F}" type="slidenum">
              <a:rPr sz="1400">
                <a:solidFill>
                  <a:srgbClr val="083D8A"/>
                </a:solidFill>
              </a:r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Date Placeholder 2"/>
          <p:cNvSpPr>
            <a:spLocks noGrp="1"/>
          </p:cNvSpPr>
          <p:nvPr>
            <p:ph type="dt" idx="10"/>
          </p:nvPr>
        </p:nvSpPr>
        <p:spPr/>
        <p:txBody>
          <a:bodyPr/>
          <a:lstStyle/>
          <a:p>
            <a:pPr lvl="0"/>
            <a:fld id="{29D45295-EE9D-4E78-8608-8205EB478D72}" type="datetime1">
              <a:rPr sz="1400">
                <a:solidFill>
                  <a:srgbClr val="083D8A"/>
                </a:solidFill>
              </a:rPr>
              <a:t>*</a:t>
            </a:fld>
            <a:endParaRPr sz="1400">
              <a:solidFill>
                <a:srgbClr val="083D8A"/>
              </a:solidFill>
            </a:endParaRPr>
          </a:p>
        </p:txBody>
      </p:sp>
      <p:sp>
        <p:nvSpPr>
          <p:cNvPr id="4" name="Footer Placeholder 3"/>
          <p:cNvSpPr>
            <a:spLocks noGrp="1"/>
          </p:cNvSpPr>
          <p:nvPr>
            <p:ph type="ftr" idx="11"/>
          </p:nvPr>
        </p:nvSpPr>
        <p:spPr/>
        <p:txBody>
          <a:bodyPr/>
          <a:lstStyle/>
          <a:p>
            <a:pPr lvl="0" algn="ctr"/>
            <a:fld id="{FCA1F6A6-63D2-4EC1-A94A-DFBF19AC830A}" type="footer">
              <a:rPr sz="1400">
                <a:solidFill>
                  <a:srgbClr val="083D8A"/>
                </a:solidFill>
              </a:rPr>
              <a:t>*</a:t>
            </a:fld>
            <a:endParaRPr sz="1400">
              <a:solidFill>
                <a:srgbClr val="083D8A"/>
              </a:solidFill>
            </a:endParaRPr>
          </a:p>
        </p:txBody>
      </p:sp>
      <p:sp>
        <p:nvSpPr>
          <p:cNvPr id="5" name="Slide Number Placeholder 4"/>
          <p:cNvSpPr>
            <a:spLocks noGrp="1"/>
          </p:cNvSpPr>
          <p:nvPr>
            <p:ph type="sldNum" idx="12"/>
          </p:nvPr>
        </p:nvSpPr>
        <p:spPr/>
        <p:txBody>
          <a:bodyPr/>
          <a:lstStyle/>
          <a:p>
            <a:pPr lvl="0" algn="r"/>
            <a:fld id="{114657FD-94E1-4CBA-8019-D582E8DCD340}" type="slidenum">
              <a:rPr sz="1400">
                <a:solidFill>
                  <a:srgbClr val="083D8A"/>
                </a:solidFill>
              </a:rPr>
              <a:t>‹#›</a:t>
            </a:fld>
            <a:endParaRPr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theme" Target="/ppt/slideMasters/theme/theme1.xml" Id="rId5" /><Relationship Type="http://schemas.openxmlformats.org/officeDocument/2006/relationships/image" Target="/ppt/media/image2.jpg" Id="rId6"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p:pic>
        <p:nvPicPr>
          <p:cNvPr id="207874" name=""/>
          <p:cNvPicPr>
            <a:picLocks noChangeAspect="1"/>
          </p:cNvPicPr>
          <p:nvPr/>
        </p:nvPicPr>
        <p:blipFill>
          <a:blip r:embed="rId6"/>
          <a:stretch/>
        </p:blipFill>
        <p:spPr>
          <a:xfrm>
            <a:off x="0" y="0"/>
            <a:ext cx="9144000" cy="6858000"/>
          </a:xfrm>
          <a:prstGeom prst="rect">
            <a:avLst/>
          </a:prstGeom>
          <a:noFill/>
          <a:ln>
            <a:miter/>
          </a:ln>
        </p:spPr>
      </p:pic>
      <p:sp>
        <p:nvSpPr>
          <p:cNvPr id="207875" name=""/>
          <p:cNvSpPr>
            <a:spLocks noGrp="1"/>
          </p:cNvSpPr>
          <p:nvPr>
            <p:ph type="title"/>
          </p:nvPr>
        </p:nvSpPr>
        <p:spPr>
          <a:xfrm>
            <a:off x="468313" y="549275"/>
            <a:ext cx="8229600" cy="1143000"/>
          </a:xfrm>
          <a:prstGeom prst="rect">
            <a:avLst/>
          </a:prstGeom>
          <a:noFill/>
          <a:ln>
            <a:noFill/>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单击此处编辑母版标题样式</a:t>
            </a:r>
          </a:p>
        </p:txBody>
      </p:sp>
      <p:sp>
        <p:nvSpPr>
          <p:cNvPr id="207876" name=""/>
          <p:cNvSpPr>
            <a:spLocks noGrp="1"/>
          </p:cNvSpPr>
          <p:nvPr>
            <p:ph type="body" idx="1"/>
          </p:nvPr>
        </p:nvSpPr>
        <p:spPr>
          <a:xfrm>
            <a:off x="457200" y="1773238"/>
            <a:ext cx="8229600" cy="4352925"/>
          </a:xfrm>
          <a:prstGeom prst="rect">
            <a:avLst/>
          </a:prstGeom>
          <a:noFill/>
          <a:ln>
            <a:noFill/>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单击此处编辑母版文本样式</a:t>
            </a:r>
          </a:p>
          <a:p>
            <a:pPr lvl="1"/>
            <a:r>
              <a:t>第二级</a:t>
            </a:r>
          </a:p>
          <a:p>
            <a:pPr lvl="2"/>
            <a:r>
              <a:t>第三级</a:t>
            </a:r>
          </a:p>
          <a:p>
            <a:pPr lvl="3"/>
            <a:r>
              <a:t>第四级</a:t>
            </a:r>
          </a:p>
          <a:p>
            <a:pPr lvl="4"/>
            <a:r>
              <a:t>第五级</a:t>
            </a:r>
          </a:p>
        </p:txBody>
      </p:sp>
      <p:sp>
        <p:nvSpPr>
          <p:cNvPr id="207877" name=""/>
          <p:cNvSpPr>
            <a:spLocks noGrp="1"/>
          </p:cNvSpPr>
          <p:nvPr>
            <p:ph type="dt" idx="2"/>
          </p:nvPr>
        </p:nvSpPr>
        <p:spPr>
          <a:xfrm>
            <a:off x="457200" y="6245225"/>
            <a:ext cx="2133600" cy="47625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fld id="{F65A6E9D-11D2-4C78-BFF7-CE2D14CB4BE7}" type="datetime1">
              <a:rPr sz="1400">
                <a:solidFill>
                  <a:srgbClr val="083D8A"/>
                </a:solidFill>
              </a:rPr>
              <a:t>*</a:t>
            </a:fld>
            <a:endParaRPr sz="1400">
              <a:solidFill>
                <a:srgbClr val="083D8A"/>
              </a:solidFill>
            </a:endParaRPr>
          </a:p>
        </p:txBody>
      </p:sp>
      <p:sp>
        <p:nvSpPr>
          <p:cNvPr id="207878" name=""/>
          <p:cNvSpPr>
            <a:spLocks noGrp="1"/>
          </p:cNvSpPr>
          <p:nvPr>
            <p:ph type="ftr" idx="3"/>
          </p:nvPr>
        </p:nvSpPr>
        <p:spPr>
          <a:xfrm>
            <a:off x="3124200" y="6245225"/>
            <a:ext cx="2895600" cy="47625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fld id="{88F34BAD-8C8B-4692-8396-3A1E24732375}" type="footer">
              <a:rPr sz="1400">
                <a:solidFill>
                  <a:srgbClr val="083D8A"/>
                </a:solidFill>
              </a:rPr>
              <a:t>*</a:t>
            </a:fld>
            <a:endParaRPr sz="1400">
              <a:solidFill>
                <a:srgbClr val="083D8A"/>
              </a:solidFill>
            </a:endParaRPr>
          </a:p>
        </p:txBody>
      </p:sp>
      <p:sp>
        <p:nvSpPr>
          <p:cNvPr id="207879" name=""/>
          <p:cNvSpPr>
            <a:spLocks noGrp="1"/>
          </p:cNvSpPr>
          <p:nvPr>
            <p:ph type="sldNum" idx="4"/>
          </p:nvPr>
        </p:nvSpPr>
        <p:spPr>
          <a:xfrm>
            <a:off x="6553200" y="6245225"/>
            <a:ext cx="2133600" cy="47625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r"/>
            <a:fld id="{DA769F35-EB34-4828-9F1B-C2E4C65E3E4C}" type="slidenum">
              <a:rPr sz="1400">
                <a:solidFill>
                  <a:srgbClr val="083D8A"/>
                </a:solidFill>
              </a:rPr>
              <a:t>*</a:t>
            </a:fld>
            <a:endParaRPr sz="1400">
              <a:solidFill>
                <a:srgbClr val="083D8A"/>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marL="0" lvl="0" indent="0" algn="ctr" defTabSz="914400">
        <a:lnSpc>
          <a:spcPct val="100000"/>
        </a:lnSpc>
        <a:spcBef>
          <a:spcPct val="0"/>
        </a:spcBef>
        <a:spcAft>
          <a:spcPct val="0"/>
        </a:spcAft>
        <a:buClrTx/>
        <a:buSzTx/>
        <a:buFontTx/>
        <a:buNone/>
        <a:defRPr sz="4400" b="0" i="0" u="none" baseline="0">
          <a:solidFill>
            <a:srgbClr val="083D8A"/>
          </a:solidFill>
          <a:latin typeface="Arial"/>
          <a:ea typeface="宋体"/>
        </a:defRPr>
      </a:lvl1pPr>
    </p:titleStyle>
    <p:bodyStyle>
      <a:lvl1pPr marL="342900" lvl="0" indent="-342900" algn="l" defTabSz="914400">
        <a:lnSpc>
          <a:spcPct val="100000"/>
        </a:lnSpc>
        <a:spcBef>
          <a:spcPct val="20000"/>
        </a:spcBef>
        <a:spcAft>
          <a:spcPct val="0"/>
        </a:spcAft>
        <a:buClrTx/>
        <a:buSzTx/>
        <a:buFontTx/>
        <a:buChar char="•"/>
        <a:defRPr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sz="2000" b="0" i="0" u="none" baseline="0">
          <a:solidFill>
            <a:srgbClr val="083D8A"/>
          </a:solidFill>
          <a:latin typeface="Arial"/>
          <a:ea typeface="宋体"/>
        </a:defRPr>
      </a:lvl5pPr>
    </p:bodyStyle>
    <p:otherStyle/>
  </p:txStyles>
</p:sldMaster>
</file>

<file path=ppt/slideMasters/theme/theme1.xml><?xml version="1.0" encoding="utf-8"?>
<a:theme xmlns:thm15="http://schemas.microsoft.com/office/thememl/2012/main" xmlns:a="http://schemas.openxmlformats.org/drawingml/2006/main" name="Office 主题​​">
  <a:themeElements>
    <a:clrScheme name="Offic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3.jpg" Id="rI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4.jpg" Id="rI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5.jpg" Id="rI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6.jpg" Id="rI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7.jpg" Id="rI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png" Id="rI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8.jpg" Id="rI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9.jpg" Id="rId2" /><Relationship Type="http://schemas.openxmlformats.org/officeDocument/2006/relationships/image" Target="/ppt/media/image10.jpg" Id="rId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4.xml" Id="rId1" /><Relationship Type="http://schemas.openxmlformats.org/officeDocument/2006/relationships/image" Target="/ppt/media/image11.jpg" Id="rI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12.jpg" Id="rI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3.jpg" Id="rId2" /><Relationship Type="http://schemas.openxmlformats.org/officeDocument/2006/relationships/image" Target="/ppt/media/image14.jpg" Id="rI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15.jpg" Id="rId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16.jpg" Id="rId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7.jpg" Id="rId2" /><Relationship Type="http://schemas.openxmlformats.org/officeDocument/2006/relationships/image" Target="/ppt/media/image18.jpg" Id="rId3" /><Relationship Type="http://schemas.openxmlformats.org/officeDocument/2006/relationships/image" Target="/ppt/media/image19.jpg" Id="rId4" /><Relationship Type="http://schemas.openxmlformats.org/officeDocument/2006/relationships/hyperlink" Target="http://news.lnd.com.cn/htm/2009-10/10/content_865987.htm" TargetMode="External" Id="rId5" /><Relationship Type="http://schemas.openxmlformats.org/officeDocument/2006/relationships/hyperlink" Target="http://www.ncxhw.com/content/2009-9/4/200994161242.htm" TargetMode="External" Id="rId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0.jpg" Id="rId2" /><Relationship Type="http://schemas.openxmlformats.org/officeDocument/2006/relationships/image" Target="/ppt/media/image21.jpg" Id="rId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22.jpg" Id="rId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23.jpg" Id="rId2" /><Relationship Type="http://schemas.openxmlformats.org/officeDocument/2006/relationships/image" Target="/ppt/media/image24.jpg" Id="rId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5.jpg" Id="rId2" /><Relationship Type="http://schemas.openxmlformats.org/officeDocument/2006/relationships/image" Target="/ppt/media/image26.jpg" Id="rId3" /><Relationship Type="http://schemas.openxmlformats.org/officeDocument/2006/relationships/hyperlink" Target="http://image.baidu.com/i?ct=503316480&amp;z=0&amp;tn=baiduimagedetail&amp;word=&#65533;&#65533;&#619;&#65533;&#65533;&#65533;&#65533;&amp;in=17&amp;cl=2&amp;cm=1&amp;sc=0&amp;lm=-1&amp;pn=16&amp;rn=1" TargetMode="External" Id="rId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7.jpg" Id="rId2" /><Relationship Type="http://schemas.openxmlformats.org/officeDocument/2006/relationships/hyperlink" Target="http://environ.biox.cn/Book/200701/20070114155941_5808.shtml" TargetMode="External" Id="rId3" /><Relationship Type="http://schemas.openxmlformats.org/officeDocument/2006/relationships/slide" Target="/ppt/slides/slide51.xml" Id="rId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8.jpg" Id="rId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4.xml" Id="rId1" /><Relationship Type="http://schemas.openxmlformats.org/officeDocument/2006/relationships/image" Target="/ppt/media/image29.jpg" Id="rId2" /><Relationship Type="http://schemas.openxmlformats.org/officeDocument/2006/relationships/image" Target="/ppt/media/image30.jpg" Id="rId3" /><Relationship Type="http://schemas.openxmlformats.org/officeDocument/2006/relationships/hyperlink" Target="http://pic.people.com.cn/GB/31655/10251342.html" TargetMode="External" Id="rId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31.jpg" Id="rId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4.xml" Id="rId1" /><Relationship Type="http://schemas.openxmlformats.org/officeDocument/2006/relationships/image" Target="/ppt/media/image32.jpg" Id="rId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33.jpg" Id="rId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34.jpg" Id="rId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4098" name=""/>
          <p:cNvSpPr/>
          <p:nvPr>
            <p:ph type="ctrTitle"/>
          </p:nvPr>
        </p:nvSpPr>
        <p:spPr>
          <a:xfrm>
            <a:off x="685800" y="2130425"/>
            <a:ext cx="7772400" cy="1470025"/>
          </a:xfrm>
          <a:prstGeom prst="rect">
            <a:avLst/>
          </a:prstGeom>
          <a:noFill/>
          <a:ln>
            <a:miter/>
          </a:ln>
        </p:spPr>
        <p:txBody>
          <a:bodyPr anchor="ctr" anchorCtr="0"/>
          <a:lstStyle/>
          <a:p>
            <a:pPr lvl="0"/>
            <a:r>
              <a:rPr sz="4200"/>
              <a:t>第四讲 科学方法与创新方法</a:t>
            </a:r>
            <a:endParaRPr sz="4200"/>
          </a:p>
        </p:txBody>
      </p:sp>
      <p:sp>
        <p:nvSpPr>
          <p:cNvPr id="4099" name=""/>
          <p:cNvSpPr/>
          <p:nvPr>
            <p:ph type="subTitle" idx="1"/>
          </p:nvPr>
        </p:nvSpPr>
        <p:spPr>
          <a:xfrm>
            <a:off x="1371600" y="3886200"/>
            <a:ext cx="6400800" cy="1752600"/>
          </a:xfrm>
          <a:prstGeom prst="rect">
            <a:avLst/>
          </a:prstGeom>
          <a:noFill/>
          <a:ln>
            <a:miter/>
          </a:ln>
        </p:spPr>
        <p:txBody>
          <a:bodyPr/>
          <a:lstStyle/>
          <a:p>
            <a:pPr lvl="0"/>
            <a:r>
              <a:t>刘永谋</a:t>
            </a:r>
          </a:p>
          <a:p>
            <a:pPr lvl="0"/>
            <a:r>
              <a:t>liuyongmou@ruc.edu.cn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15715"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有无一成不变的科学方法？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0722"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第五讲 科学方法与创新方法</a:t>
            </a:r>
          </a:p>
        </p:txBody>
      </p:sp>
      <p:sp>
        <p:nvSpPr>
          <p:cNvPr id="30723"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科学问题的提出</a:t>
            </a:r>
          </a:p>
          <a:p>
            <a:pPr lvl="0"/>
            <a:r>
              <a:t>科学事实的获取</a:t>
            </a:r>
          </a:p>
          <a:p>
            <a:pPr lvl="0"/>
            <a:r>
              <a:t>科学假说的提出</a:t>
            </a:r>
          </a:p>
          <a:p>
            <a:pPr lvl="0"/>
            <a:r>
              <a:t>科学理论的创立</a:t>
            </a:r>
          </a:p>
          <a:p>
            <a:pPr lvl="0"/>
            <a:r>
              <a:t>几种常见的创新方法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5362" name=""/>
          <p:cNvSpPr/>
          <p:nvPr>
            <p:ph type="title"/>
          </p:nvPr>
        </p:nvSpPr>
        <p:spPr>
          <a:xfrm>
            <a:off x="1447800" y="2286000"/>
            <a:ext cx="7010400" cy="152717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a:solidFill>
                  <a:schemeClr val="tx1"/>
                </a:solidFill>
              </a:rPr>
              <a:t>一、科学问题的提出</a:t>
            </a:r>
            <a:endParaRPr>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31750" name=""/>
          <p:cNvPicPr>
            <a:picLocks noChangeAspect="0"/>
          </p:cNvPicPr>
          <p:nvPr/>
        </p:nvPicPr>
        <p:blipFill>
          <a:blip r:embed="rId2"/>
          <a:stretch/>
        </p:blipFill>
        <p:spPr>
          <a:xfrm>
            <a:off x="0" y="533400"/>
            <a:ext cx="9144000" cy="5486400"/>
          </a:xfrm>
          <a:prstGeom prst="rect">
            <a:avLst/>
          </a:prstGeom>
          <a:noFill/>
          <a:ln>
            <a:miter/>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2770"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4000"/>
              <a:t>什么是科学问题</a:t>
            </a:r>
            <a:endParaRPr sz="4000"/>
          </a:p>
        </p:txBody>
      </p:sp>
      <p:sp>
        <p:nvSpPr>
          <p:cNvPr id="32771" name=""/>
          <p:cNvSpPr/>
          <p:nvPr>
            <p:ph type="body" idx="1"/>
          </p:nvPr>
        </p:nvSpPr>
        <p:spPr>
          <a:xfrm>
            <a:off x="914400" y="1752600"/>
            <a:ext cx="7924800" cy="4495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一定时代的科学认识主体是在当时的知识背景下提出的关于科学认识与科学实践中需要解决而又未解决的矛盾。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5842"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科学问题的分类</a:t>
            </a:r>
          </a:p>
        </p:txBody>
      </p:sp>
      <p:sp>
        <p:nvSpPr>
          <p:cNvPr id="35843" name=""/>
          <p:cNvSpPr/>
          <p:nvPr>
            <p:ph type="body" idx="1"/>
          </p:nvPr>
        </p:nvSpPr>
        <p:spPr>
          <a:xfrm>
            <a:off x="1524000" y="2057400"/>
            <a:ext cx="4267200" cy="4114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常规问题与反常问题</a:t>
            </a:r>
          </a:p>
          <a:p>
            <a:pPr lvl="0"/>
            <a:r>
              <a:t>3W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6866"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科学问题的主要来源</a:t>
            </a:r>
          </a:p>
        </p:txBody>
      </p:sp>
      <p:sp>
        <p:nvSpPr>
          <p:cNvPr id="36867"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90000"/>
              </a:lnSpc>
            </a:pPr>
            <a:r>
              <a:t>从科学实践与科学理论的矛盾中产生问题 </a:t>
            </a:r>
          </a:p>
          <a:p>
            <a:pPr lvl="0">
              <a:lnSpc>
                <a:spcPct val="90000"/>
              </a:lnSpc>
            </a:pPr>
            <a:r>
              <a:t>从科学理论内部的（逻辑）矛盾中产生问题。</a:t>
            </a:r>
          </a:p>
          <a:p>
            <a:pPr lvl="0">
              <a:lnSpc>
                <a:spcPct val="90000"/>
              </a:lnSpc>
            </a:pPr>
            <a:r>
              <a:t>从不同理论之间的矛盾中产生问题。</a:t>
            </a:r>
          </a:p>
          <a:p>
            <a:pPr lvl="0">
              <a:lnSpc>
                <a:spcPct val="90000"/>
              </a:lnSpc>
            </a:pPr>
            <a:r>
              <a:t>从社会需要与现有的生产技术手段不能满足这种需要的矛盾中产生问题。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48134" name=""/>
          <p:cNvPicPr>
            <a:picLocks noChangeAspect="0"/>
          </p:cNvPicPr>
          <p:nvPr/>
        </p:nvPicPr>
        <p:blipFill>
          <a:blip r:embed="rId2"/>
          <a:stretch/>
        </p:blipFill>
        <p:spPr>
          <a:xfrm>
            <a:off x="0" y="0"/>
            <a:ext cx="9144000" cy="6858000"/>
          </a:xfrm>
          <a:prstGeom prst="rect">
            <a:avLst/>
          </a:prstGeom>
          <a:noFill/>
          <a:ln>
            <a:miter/>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49157" name=""/>
          <p:cNvPicPr>
            <a:picLocks noChangeAspect="0"/>
          </p:cNvPicPr>
          <p:nvPr/>
        </p:nvPicPr>
        <p:blipFill>
          <a:blip r:embed="rId2"/>
          <a:stretch/>
        </p:blipFill>
        <p:spPr>
          <a:xfrm>
            <a:off x="0" y="0"/>
            <a:ext cx="9144000" cy="7185025"/>
          </a:xfrm>
          <a:prstGeom prst="rect">
            <a:avLst/>
          </a:prstGeom>
          <a:noFill/>
          <a:ln>
            <a:miter/>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0178" name=""/>
          <p:cNvSpPr/>
          <p:nvPr>
            <p:ph type="title"/>
          </p:nvPr>
        </p:nvSpPr>
        <p:spPr>
          <a:xfrm>
            <a:off x="1371600" y="1905000"/>
            <a:ext cx="7010400" cy="152717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科学选题的艺术</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4274" name=""/>
          <p:cNvSpPr/>
          <p:nvPr>
            <p:ph type="title"/>
          </p:nvPr>
        </p:nvSpPr>
        <p:spPr>
          <a:xfrm>
            <a:off x="1524000" y="2286000"/>
            <a:ext cx="7010400" cy="1527175"/>
          </a:xfrm>
          <a:prstGeom prst="rect">
            <a:avLst/>
          </a:prstGeom>
          <a:noFill/>
          <a:ln>
            <a:noFill/>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a:solidFill>
                  <a:schemeClr val="tx1"/>
                </a:solidFill>
              </a:rPr>
              <a:t>二、科学事实的获取</a:t>
            </a:r>
            <a:endParaRPr>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8914" name=""/>
          <p:cNvSpPr/>
          <p:nvPr>
            <p:ph type="title"/>
          </p:nvPr>
        </p:nvSpPr>
        <p:spPr>
          <a:xfrm>
            <a:off x="1524000" y="0"/>
            <a:ext cx="7010400" cy="152717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蜜蜂与蚂蚁</a:t>
            </a:r>
          </a:p>
        </p:txBody>
      </p:sp>
      <p:sp>
        <p:nvSpPr>
          <p:cNvPr id="38915" name=""/>
          <p:cNvSpPr/>
          <p:nvPr>
            <p:ph type="body" idx="1"/>
          </p:nvPr>
        </p:nvSpPr>
        <p:spPr>
          <a:xfrm>
            <a:off x="4483100" y="2014538"/>
            <a:ext cx="3846513" cy="3627437"/>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实验家像蚂蚁，推论家像蜘蛛，科学家是蜜蜂</a:t>
            </a:r>
          </a:p>
        </p:txBody>
      </p:sp>
      <p:pic>
        <p:nvPicPr>
          <p:cNvPr id="38917" name=""/>
          <p:cNvPicPr>
            <a:picLocks noChangeAspect="0"/>
          </p:cNvPicPr>
          <p:nvPr/>
        </p:nvPicPr>
        <p:blipFill>
          <a:blip r:embed="rId2"/>
          <a:stretch/>
        </p:blipFill>
        <p:spPr>
          <a:xfrm>
            <a:off x="0" y="1371600"/>
            <a:ext cx="4616450" cy="5486400"/>
          </a:xfrm>
          <a:prstGeom prst="rect">
            <a:avLst/>
          </a:prstGeom>
          <a:noFill/>
          <a:ln>
            <a:miter/>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5298"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什么是科学观察</a:t>
            </a:r>
          </a:p>
        </p:txBody>
      </p:sp>
      <p:sp>
        <p:nvSpPr>
          <p:cNvPr id="55299"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科学观察就是在一定理论思维指导下，通过感官或借助科学仪器，在自然发生的条件下有目的、有计划地感知研究对象，以获取科学事实。</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0418"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魏格纳与大陆漂移假说</a:t>
            </a:r>
          </a:p>
        </p:txBody>
      </p:sp>
      <p:sp>
        <p:nvSpPr>
          <p:cNvPr id="60419" name=""/>
          <p:cNvSpPr/>
          <p:nvPr>
            <p:ph type="body" idx="1"/>
          </p:nvPr>
        </p:nvSpPr>
        <p:spPr>
          <a:xfrm>
            <a:off x="3140075" y="1773238"/>
            <a:ext cx="5367338"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魏格纳是德国气象学家、地球物理学家、天文学家，大陆漂移说的创始人。</a:t>
            </a:r>
            <a:r>
              <a:t>1880</a:t>
            </a:r>
            <a:r>
              <a:t>年</a:t>
            </a:r>
            <a:r>
              <a:t>11</a:t>
            </a:r>
            <a:r>
              <a:t>月</a:t>
            </a:r>
            <a:r>
              <a:t>1</a:t>
            </a:r>
            <a:r>
              <a:t>日生于柏林，</a:t>
            </a:r>
            <a:r>
              <a:t>1930</a:t>
            </a:r>
            <a:r>
              <a:t>年</a:t>
            </a:r>
            <a:r>
              <a:t>11</a:t>
            </a:r>
            <a:r>
              <a:t>月在格陵兰考察冰原时遇难。 </a:t>
            </a:r>
          </a:p>
        </p:txBody>
      </p:sp>
      <p:pic>
        <p:nvPicPr>
          <p:cNvPr id="60420" name=""/>
          <p:cNvPicPr>
            <a:picLocks noChangeAspect="1"/>
          </p:cNvPicPr>
          <p:nvPr/>
        </p:nvPicPr>
        <p:blipFill>
          <a:blip r:embed="rId2"/>
          <a:stretch/>
        </p:blipFill>
        <p:spPr>
          <a:xfrm>
            <a:off x="0" y="2362200"/>
            <a:ext cx="3448050" cy="4648200"/>
          </a:xfrm>
          <a:prstGeom prst="rect">
            <a:avLst/>
          </a:prstGeom>
          <a:noFill/>
          <a:ln>
            <a:miter/>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7347" name=""/>
          <p:cNvSpPr/>
          <p:nvPr>
            <p:ph type="body" idx="1"/>
          </p:nvPr>
        </p:nvSpPr>
        <p:spPr>
          <a:xfrm>
            <a:off x="3733800" y="381000"/>
            <a:ext cx="5105400" cy="60960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90000"/>
              </a:lnSpc>
            </a:pPr>
            <a:r>
              <a:rPr sz="2800"/>
              <a:t>在距今</a:t>
            </a:r>
            <a:r>
              <a:rPr sz="2800"/>
              <a:t>3</a:t>
            </a:r>
            <a:r>
              <a:rPr sz="2800"/>
              <a:t>亿年前，地球上所有的大陆和岛屿都连结在一块，构成一个庞大的原始大陆，叫做泛大陆。泛大陆被一个更加辽阔的原始大洋所包围。后来从大约距今两亿年时，泛大陆先后在多处出现裂缝。每一裂缝的两侧，向相反的方向移动。裂缝扩大，海水侵入，就产生了新的海洋。相反地，原始大洋则逐渐缩小。分裂开的陆块各自漂移到现在的位置，形成了今天人们熟悉的陆地分布状态。 </a:t>
            </a:r>
            <a:endParaRPr sz="2800"/>
          </a:p>
        </p:txBody>
      </p:sp>
      <p:pic>
        <p:nvPicPr>
          <p:cNvPr id="57363" name=""/>
          <p:cNvPicPr>
            <a:picLocks noChangeAspect="1"/>
          </p:cNvPicPr>
          <p:nvPr/>
        </p:nvPicPr>
        <p:blipFill>
          <a:blip r:embed="rId2"/>
          <a:stretch/>
        </p:blipFill>
        <p:spPr>
          <a:xfrm>
            <a:off x="0" y="3429000"/>
            <a:ext cx="3810000" cy="3429000"/>
          </a:xfrm>
          <a:prstGeom prst="rect">
            <a:avLst/>
          </a:prstGeom>
          <a:noFill/>
          <a:ln>
            <a:miter/>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61444" name=""/>
          <p:cNvPicPr>
            <a:picLocks noChangeAspect="0"/>
          </p:cNvPicPr>
          <p:nvPr/>
        </p:nvPicPr>
        <p:blipFill>
          <a:blip r:embed="rId2"/>
          <a:stretch/>
        </p:blipFill>
        <p:spPr>
          <a:xfrm>
            <a:off x="0" y="0"/>
            <a:ext cx="914400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2466"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孟德尔有没有造假？</a:t>
            </a:r>
          </a:p>
        </p:txBody>
      </p:sp>
      <p:pic>
        <p:nvPicPr>
          <p:cNvPr id="62469" name=""/>
          <p:cNvPicPr>
            <a:picLocks noChangeAspect="0"/>
          </p:cNvPicPr>
          <p:nvPr/>
        </p:nvPicPr>
        <p:blipFill>
          <a:blip r:embed="rId2"/>
          <a:stretch/>
        </p:blipFill>
        <p:spPr>
          <a:xfrm>
            <a:off x="2438400" y="1600200"/>
            <a:ext cx="6705600" cy="4157663"/>
          </a:xfrm>
          <a:prstGeom prst="rect">
            <a:avLst/>
          </a:prstGeom>
          <a:noFill/>
          <a:ln>
            <a:miter/>
          </a:ln>
        </p:spPr>
      </p:pic>
      <p:pic>
        <p:nvPicPr>
          <p:cNvPr id="62471" name=""/>
          <p:cNvPicPr>
            <a:picLocks noChangeAspect="0"/>
          </p:cNvPicPr>
          <p:nvPr/>
        </p:nvPicPr>
        <p:blipFill>
          <a:blip r:embed="rId3"/>
          <a:stretch/>
        </p:blipFill>
        <p:spPr>
          <a:xfrm>
            <a:off x="0" y="3352800"/>
            <a:ext cx="2492375" cy="3505200"/>
          </a:xfrm>
          <a:prstGeom prst="rect">
            <a:avLst/>
          </a:prstGeom>
          <a:noFill/>
          <a:ln>
            <a:miter/>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3490"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什么是科学实验</a:t>
            </a:r>
          </a:p>
        </p:txBody>
      </p:sp>
      <p:sp>
        <p:nvSpPr>
          <p:cNvPr id="63491" name=""/>
          <p:cNvSpPr/>
          <p:nvPr>
            <p:ph type="body" idx="1"/>
          </p:nvPr>
        </p:nvSpPr>
        <p:spPr>
          <a:xfrm>
            <a:off x="1371600" y="22098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科学实验就是根据一定的科学研究目的、运用一定的物质手段、在人为控制或变革客观事物的条件下获得科学事实。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80898"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实验与观察的比较</a:t>
            </a:r>
          </a:p>
        </p:txBody>
      </p:sp>
      <p:graphicFrame>
        <p:nvGraphicFramePr>
          <p:cNvPr id="80899" name=""/>
          <p:cNvGraphicFramePr/>
          <p:nvPr>
            <p:ph idx="1"/>
          </p:nvPr>
        </p:nvGraphicFramePr>
        <p:xfrm>
          <a:off x="762000" y="1905000"/>
          <a:ext cx="7848600" cy="3962400"/>
        </p:xfrm>
        <a:graphic>
          <a:graphicData uri="http://schemas.openxmlformats.org/drawingml/2006/table">
            <a:tbl>
              <a:tblGrid>
                <a:gridCol w="2603500"/>
                <a:gridCol w="2622550"/>
                <a:gridCol w="2622550"/>
              </a:tblGrid>
              <a:tr h="600075">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a:solidFill>
                            <a:schemeClr val="tx1"/>
                          </a:solidFill>
                          <a:latin typeface="Times New Roman"/>
                          <a:ea typeface="Times New Roman"/>
                        </a:rPr>
                        <a:t> </a:t>
                      </a:r>
                      <a:endParaRPr>
                        <a:solidFill>
                          <a:schemeClr val="tx1"/>
                        </a:solidFill>
                      </a:endParaRPr>
                    </a:p>
                  </a:txBody>
                  <a:tcPr>
                    <a:lnL w="25400" cap="rnd">
                      <a:solidFill>
                        <a:srgbClr val="000000"/>
                      </a:solidFill>
                      <a:miter/>
                    </a:lnL>
                    <a:lnR w="12700" cap="rnd">
                      <a:solidFill>
                        <a:srgbClr val="000000"/>
                      </a:solidFill>
                      <a:miter/>
                    </a:lnR>
                    <a:lnT w="254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实验方法</a:t>
                      </a:r>
                      <a:endParaRPr>
                        <a:solidFill>
                          <a:schemeClr val="tx1"/>
                        </a:solidFill>
                      </a:endParaRPr>
                    </a:p>
                  </a:txBody>
                  <a:tcPr>
                    <a:lnL w="12700" cap="rnd">
                      <a:solidFill>
                        <a:srgbClr val="000000"/>
                      </a:solidFill>
                      <a:miter/>
                    </a:lnL>
                    <a:lnR w="12700" cap="rnd">
                      <a:solidFill>
                        <a:srgbClr val="000000"/>
                      </a:solidFill>
                      <a:miter/>
                    </a:lnR>
                    <a:lnT w="254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观察方法</a:t>
                      </a:r>
                      <a:endParaRPr>
                        <a:solidFill>
                          <a:schemeClr val="tx1"/>
                        </a:solidFill>
                      </a:endParaRPr>
                    </a:p>
                  </a:txBody>
                  <a:tcPr>
                    <a:lnL w="12700" cap="rnd">
                      <a:solidFill>
                        <a:srgbClr val="000000"/>
                      </a:solidFill>
                      <a:miter/>
                    </a:lnL>
                    <a:lnR w="25400" cap="rnd">
                      <a:solidFill>
                        <a:srgbClr val="000000"/>
                      </a:solidFill>
                      <a:miter/>
                    </a:lnR>
                    <a:lnT w="25400" cap="rnd">
                      <a:solidFill>
                        <a:srgbClr val="000000"/>
                      </a:solidFill>
                      <a:miter/>
                    </a:lnT>
                    <a:lnB w="12700" cap="rnd">
                      <a:solidFill>
                        <a:srgbClr val="000000"/>
                      </a:solidFill>
                      <a:miter/>
                    </a:lnB>
                    <a:noFill/>
                  </a:tcPr>
                </a:tc>
              </a:tr>
              <a:tr h="596900">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条件</a:t>
                      </a:r>
                      <a:endParaRPr>
                        <a:solidFill>
                          <a:schemeClr val="tx1"/>
                        </a:solidFill>
                      </a:endParaRPr>
                    </a:p>
                  </a:txBody>
                  <a:tcPr>
                    <a:lnL w="254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人为控制状态</a:t>
                      </a:r>
                      <a:endParaRPr>
                        <a:solidFill>
                          <a:schemeClr val="tx1"/>
                        </a:solidFill>
                      </a:endParaRPr>
                    </a:p>
                  </a:txBody>
                  <a:tcPr>
                    <a:lnL w="127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自然状态</a:t>
                      </a:r>
                      <a:endParaRPr>
                        <a:solidFill>
                          <a:schemeClr val="tx1"/>
                        </a:solidFill>
                      </a:endParaRPr>
                    </a:p>
                  </a:txBody>
                  <a:tcPr>
                    <a:lnL w="12700" cap="rnd">
                      <a:solidFill>
                        <a:srgbClr val="000000"/>
                      </a:solidFill>
                      <a:miter/>
                    </a:lnL>
                    <a:lnR w="25400" cap="rnd">
                      <a:solidFill>
                        <a:srgbClr val="000000"/>
                      </a:solidFill>
                      <a:miter/>
                    </a:lnR>
                    <a:lnT w="12700" cap="rnd">
                      <a:solidFill>
                        <a:srgbClr val="000000"/>
                      </a:solidFill>
                      <a:miter/>
                    </a:lnT>
                    <a:lnB w="12700" cap="rnd">
                      <a:solidFill>
                        <a:srgbClr val="000000"/>
                      </a:solidFill>
                      <a:miter/>
                    </a:lnB>
                    <a:noFill/>
                  </a:tcPr>
                </a:tc>
              </a:tr>
              <a:tr h="585788">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对象模型</a:t>
                      </a:r>
                      <a:endParaRPr>
                        <a:solidFill>
                          <a:schemeClr val="tx1"/>
                        </a:solidFill>
                      </a:endParaRPr>
                    </a:p>
                  </a:txBody>
                  <a:tcPr>
                    <a:lnL w="254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可简化</a:t>
                      </a:r>
                      <a:endParaRPr>
                        <a:solidFill>
                          <a:schemeClr val="tx1"/>
                        </a:solidFill>
                      </a:endParaRPr>
                    </a:p>
                  </a:txBody>
                  <a:tcPr>
                    <a:lnL w="127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不可简化</a:t>
                      </a:r>
                      <a:endParaRPr>
                        <a:solidFill>
                          <a:schemeClr val="tx1"/>
                        </a:solidFill>
                      </a:endParaRPr>
                    </a:p>
                  </a:txBody>
                  <a:tcPr>
                    <a:lnL w="12700" cap="rnd">
                      <a:solidFill>
                        <a:srgbClr val="000000"/>
                      </a:solidFill>
                      <a:miter/>
                    </a:lnL>
                    <a:lnR w="25400" cap="rnd">
                      <a:solidFill>
                        <a:srgbClr val="000000"/>
                      </a:solidFill>
                      <a:miter/>
                    </a:lnR>
                    <a:lnT w="12700" cap="rnd">
                      <a:solidFill>
                        <a:srgbClr val="000000"/>
                      </a:solidFill>
                      <a:miter/>
                    </a:lnT>
                    <a:lnB w="12700" cap="rnd">
                      <a:solidFill>
                        <a:srgbClr val="000000"/>
                      </a:solidFill>
                      <a:miter/>
                    </a:lnB>
                    <a:noFill/>
                  </a:tcPr>
                </a:tc>
              </a:tr>
              <a:tr h="598488">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可靠性</a:t>
                      </a:r>
                      <a:endParaRPr>
                        <a:solidFill>
                          <a:schemeClr val="tx1"/>
                        </a:solidFill>
                      </a:endParaRPr>
                    </a:p>
                  </a:txBody>
                  <a:tcPr>
                    <a:lnL w="254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可靠、经济</a:t>
                      </a:r>
                      <a:endParaRPr>
                        <a:solidFill>
                          <a:schemeClr val="tx1"/>
                        </a:solidFill>
                      </a:endParaRPr>
                    </a:p>
                  </a:txBody>
                  <a:tcPr>
                    <a:lnL w="127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经济</a:t>
                      </a:r>
                      <a:endParaRPr>
                        <a:solidFill>
                          <a:schemeClr val="tx1"/>
                        </a:solidFill>
                      </a:endParaRPr>
                    </a:p>
                  </a:txBody>
                  <a:tcPr>
                    <a:lnL w="12700" cap="rnd">
                      <a:solidFill>
                        <a:srgbClr val="000000"/>
                      </a:solidFill>
                      <a:miter/>
                    </a:lnL>
                    <a:lnR w="25400" cap="rnd">
                      <a:solidFill>
                        <a:srgbClr val="000000"/>
                      </a:solidFill>
                      <a:miter/>
                    </a:lnR>
                    <a:lnT w="12700" cap="rnd">
                      <a:solidFill>
                        <a:srgbClr val="000000"/>
                      </a:solidFill>
                      <a:miter/>
                    </a:lnT>
                    <a:lnB w="12700" cap="rnd">
                      <a:solidFill>
                        <a:srgbClr val="000000"/>
                      </a:solidFill>
                      <a:miter/>
                    </a:lnB>
                    <a:noFill/>
                  </a:tcPr>
                </a:tc>
              </a:tr>
              <a:tr h="728662">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重复性</a:t>
                      </a:r>
                      <a:endParaRPr>
                        <a:solidFill>
                          <a:schemeClr val="tx1"/>
                        </a:solidFill>
                      </a:endParaRPr>
                    </a:p>
                  </a:txBody>
                  <a:tcPr>
                    <a:lnL w="254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可以重复</a:t>
                      </a:r>
                      <a:endParaRPr>
                        <a:solidFill>
                          <a:schemeClr val="tx1"/>
                        </a:solidFill>
                      </a:endParaRPr>
                    </a:p>
                  </a:txBody>
                  <a:tcPr>
                    <a:lnL w="12700" cap="rnd">
                      <a:solidFill>
                        <a:srgbClr val="000000"/>
                      </a:solidFill>
                      <a:miter/>
                    </a:lnL>
                    <a:lnR w="12700" cap="rnd">
                      <a:solidFill>
                        <a:srgbClr val="000000"/>
                      </a:solidFill>
                      <a:miter/>
                    </a:lnR>
                    <a:lnT w="12700" cap="rnd">
                      <a:solidFill>
                        <a:srgbClr val="000000"/>
                      </a:solidFill>
                      <a:miter/>
                    </a:lnT>
                    <a:lnB w="127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不可重复</a:t>
                      </a:r>
                      <a:endParaRPr>
                        <a:solidFill>
                          <a:schemeClr val="tx1"/>
                        </a:solidFill>
                      </a:endParaRPr>
                    </a:p>
                  </a:txBody>
                  <a:tcPr>
                    <a:lnL w="12700" cap="rnd">
                      <a:solidFill>
                        <a:srgbClr val="000000"/>
                      </a:solidFill>
                      <a:miter/>
                    </a:lnL>
                    <a:lnR w="25400" cap="rnd">
                      <a:solidFill>
                        <a:srgbClr val="000000"/>
                      </a:solidFill>
                      <a:miter/>
                    </a:lnR>
                    <a:lnT w="12700" cap="rnd">
                      <a:solidFill>
                        <a:srgbClr val="000000"/>
                      </a:solidFill>
                      <a:miter/>
                    </a:lnT>
                    <a:lnB w="12700" cap="rnd">
                      <a:solidFill>
                        <a:srgbClr val="000000"/>
                      </a:solidFill>
                      <a:miter/>
                    </a:lnB>
                    <a:noFill/>
                  </a:tcPr>
                </a:tc>
              </a:tr>
              <a:tr h="852488">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人的能动性</a:t>
                      </a:r>
                      <a:endParaRPr>
                        <a:solidFill>
                          <a:schemeClr val="tx1"/>
                        </a:solidFill>
                      </a:endParaRPr>
                    </a:p>
                  </a:txBody>
                  <a:tcPr>
                    <a:lnL w="25400" cap="rnd">
                      <a:solidFill>
                        <a:srgbClr val="000000"/>
                      </a:solidFill>
                      <a:miter/>
                    </a:lnL>
                    <a:lnR w="12700" cap="rnd">
                      <a:solidFill>
                        <a:srgbClr val="000000"/>
                      </a:solidFill>
                      <a:miter/>
                    </a:lnR>
                    <a:lnT w="12700" cap="rnd">
                      <a:solidFill>
                        <a:srgbClr val="000000"/>
                      </a:solidFill>
                      <a:miter/>
                    </a:lnT>
                    <a:lnB w="254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可以发挥</a:t>
                      </a:r>
                      <a:endParaRPr>
                        <a:solidFill>
                          <a:schemeClr val="tx1"/>
                        </a:solidFill>
                      </a:endParaRPr>
                    </a:p>
                  </a:txBody>
                  <a:tcPr>
                    <a:lnL w="12700" cap="rnd">
                      <a:solidFill>
                        <a:srgbClr val="000000"/>
                      </a:solidFill>
                      <a:miter/>
                    </a:lnL>
                    <a:lnR w="12700" cap="rnd">
                      <a:solidFill>
                        <a:srgbClr val="000000"/>
                      </a:solidFill>
                      <a:miter/>
                    </a:lnR>
                    <a:lnT w="12700" cap="rnd">
                      <a:solidFill>
                        <a:srgbClr val="000000"/>
                      </a:solidFill>
                      <a:miter/>
                    </a:lnT>
                    <a:lnB w="25400" cap="rnd">
                      <a:solidFill>
                        <a:srgbClr val="000000"/>
                      </a:solidFill>
                      <a:miter/>
                    </a:lnB>
                    <a:noFill/>
                  </a:tcPr>
                </a:tc>
                <a:tc>
                  <a:txBody>
                    <a:bodyPr/>
                    <a:lstStyle>
                      <a:lvl1pPr marL="342900" lvl="0" indent="-34290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1800" b="0" i="0" u="none" baseline="0">
                          <a:solidFill>
                            <a:srgbClr val="083D8A"/>
                          </a:solidFill>
                          <a:latin typeface="Arial"/>
                          <a:ea typeface="宋体"/>
                        </a:defRPr>
                      </a:lvl5pPr>
                    </a:lstStyle>
                    <a:p>
                      <a:pPr lvl="0">
                        <a:spcBef>
                          <a:spcPct val="0"/>
                        </a:spcBef>
                        <a:buClrTx/>
                        <a:buSzTx/>
                        <a:buFontTx/>
                        <a:buNone/>
                      </a:pPr>
                      <a:r>
                        <a:rPr b="1">
                          <a:solidFill>
                            <a:schemeClr val="tx1"/>
                          </a:solidFill>
                          <a:latin typeface="Times New Roman"/>
                          <a:ea typeface="Times New Roman"/>
                        </a:rPr>
                        <a:t>受到限制</a:t>
                      </a:r>
                      <a:endParaRPr>
                        <a:solidFill>
                          <a:schemeClr val="tx1"/>
                        </a:solidFill>
                      </a:endParaRPr>
                    </a:p>
                  </a:txBody>
                  <a:tcPr>
                    <a:lnL w="12700" cap="rnd">
                      <a:solidFill>
                        <a:srgbClr val="000000"/>
                      </a:solidFill>
                      <a:miter/>
                    </a:lnL>
                    <a:lnR w="25400" cap="rnd">
                      <a:solidFill>
                        <a:srgbClr val="000000"/>
                      </a:solidFill>
                      <a:miter/>
                    </a:lnR>
                    <a:lnT w="12700" cap="rnd">
                      <a:solidFill>
                        <a:srgbClr val="000000"/>
                      </a:solidFill>
                      <a:miter/>
                    </a:lnT>
                    <a:lnB w="25400" cap="rnd">
                      <a:solidFill>
                        <a:srgbClr val="000000"/>
                      </a:solidFill>
                      <a:miter/>
                    </a:lnB>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9634"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模拟实验</a:t>
            </a:r>
          </a:p>
        </p:txBody>
      </p:sp>
      <p:sp>
        <p:nvSpPr>
          <p:cNvPr id="69635" name=""/>
          <p:cNvSpPr/>
          <p:nvPr>
            <p:ph type="body" idx="1"/>
          </p:nvPr>
        </p:nvSpPr>
        <p:spPr>
          <a:xfrm>
            <a:off x="1295400" y="1905000"/>
            <a:ext cx="7086600" cy="4114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模拟实验是一种间接实验，即先设计出反映对象属性的模型，然后用实验手段作用于模型，通过模型实验了解原型（对象）的性质及其运动规律。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67588" name=""/>
          <p:cNvPicPr>
            <a:picLocks noChangeAspect="0"/>
          </p:cNvPicPr>
          <p:nvPr/>
        </p:nvPicPr>
        <p:blipFill>
          <a:blip r:embed="rId2"/>
          <a:stretch/>
        </p:blipFill>
        <p:spPr>
          <a:xfrm>
            <a:off x="0" y="1143000"/>
            <a:ext cx="9144000" cy="5715000"/>
          </a:xfrm>
          <a:prstGeom prst="rect">
            <a:avLst/>
          </a:prstGeom>
          <a:noFill/>
          <a:ln>
            <a:noFill/>
          </a:ln>
        </p:spPr>
      </p:pic>
      <p:sp>
        <p:nvSpPr>
          <p:cNvPr id="67589" name=""/>
          <p:cNvSpPr/>
          <p:nvPr>
            <p:ph type="title"/>
          </p:nvPr>
        </p:nvSpPr>
        <p:spPr>
          <a:xfrm>
            <a:off x="468313" y="549275"/>
            <a:ext cx="8229600" cy="769938"/>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4000"/>
              <a:t>米勒实验</a:t>
            </a:r>
            <a:endParaRPr sz="4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70660" name=""/>
          <p:cNvPicPr>
            <a:picLocks noChangeAspect="0"/>
          </p:cNvPicPr>
          <p:nvPr/>
        </p:nvPicPr>
        <p:blipFill>
          <a:blip r:embed="rId2"/>
          <a:stretch/>
        </p:blipFill>
        <p:spPr>
          <a:xfrm>
            <a:off x="0" y="0"/>
            <a:ext cx="91440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91138"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观察中的偶然性与机遇问题</a:t>
            </a:r>
          </a:p>
        </p:txBody>
      </p:sp>
      <p:sp>
        <p:nvSpPr>
          <p:cNvPr id="91139"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在科学实践过程中由于意外的事件导致科学上的新发现，称为机遇。</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92162" name=""/>
          <p:cNvSpPr/>
          <p:nvPr>
            <p:ph type="title"/>
          </p:nvPr>
        </p:nvSpPr>
        <p:spPr>
          <a:xfrm>
            <a:off x="2794000" y="549275"/>
            <a:ext cx="5903913" cy="769938"/>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4000"/>
              <a:t>弗莱明发现青霉素</a:t>
            </a:r>
            <a:endParaRPr sz="4000"/>
          </a:p>
        </p:txBody>
      </p:sp>
      <p:sp>
        <p:nvSpPr>
          <p:cNvPr id="92163" name=""/>
          <p:cNvSpPr/>
          <p:nvPr>
            <p:ph type="body" idx="1"/>
          </p:nvPr>
        </p:nvSpPr>
        <p:spPr>
          <a:xfrm>
            <a:off x="2743200" y="1143000"/>
            <a:ext cx="6400800" cy="55626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80000"/>
              </a:lnSpc>
            </a:pPr>
            <a:r>
              <a:rPr sz="2400"/>
              <a:t>流行版本</a:t>
            </a:r>
            <a:r>
              <a:rPr sz="2400"/>
              <a:t>——</a:t>
            </a:r>
            <a:endParaRPr sz="2400"/>
          </a:p>
          <a:p>
            <a:pPr lvl="0">
              <a:lnSpc>
                <a:spcPct val="80000"/>
              </a:lnSpc>
            </a:pPr>
            <a:r>
              <a:rPr sz="2400"/>
              <a:t>1928</a:t>
            </a:r>
            <a:r>
              <a:rPr sz="2400"/>
              <a:t>年</a:t>
            </a:r>
            <a:r>
              <a:rPr sz="2400"/>
              <a:t>9</a:t>
            </a:r>
            <a:r>
              <a:rPr sz="2400"/>
              <a:t>月的一天，弗莱明一边工作，一边和一位同事有一搭没一搭地闲聊着。突然，他的眼光落在了一只过期的培养皿上，这只金黄色葡萄球菌培养皿的盖子没盖好，空气中的霉菌潜入使培养基发霉了，长出了一团青绿色的霉花。东西发霉这本是一种非常常见的现象，人人都见过无数次，实在不足为奇。但有着敏锐观察力的弗莱明却注意到一个奇怪的现象：在霉花的周围出现了一圈清澈的环状带，也就是说在霉花周围原先黄色的葡萄球菌神秘地失踪了！这激起了弗莱明的好奇心，他将培养皿拿到显微镜下观察，证实在霉花附近的葡萄球菌确实已经都死掉了。他马上着手对这种霉菌进行研究，证实它的确具有很强的杀菌能力，即使稀释到</a:t>
            </a:r>
            <a:r>
              <a:rPr sz="2400"/>
              <a:t>1000</a:t>
            </a:r>
            <a:r>
              <a:rPr sz="2400"/>
              <a:t>倍后，仍具有杀菌的能力。</a:t>
            </a:r>
            <a:r>
              <a:rPr sz="2000"/>
              <a:t> </a:t>
            </a:r>
            <a:endParaRPr sz="2000"/>
          </a:p>
        </p:txBody>
      </p:sp>
      <p:pic>
        <p:nvPicPr>
          <p:cNvPr id="92165" name=""/>
          <p:cNvPicPr>
            <a:picLocks noChangeAspect="0"/>
          </p:cNvPicPr>
          <p:nvPr/>
        </p:nvPicPr>
        <p:blipFill>
          <a:blip r:embed="rId2"/>
          <a:stretch/>
        </p:blipFill>
        <p:spPr>
          <a:xfrm>
            <a:off x="0" y="4114800"/>
            <a:ext cx="2819400" cy="2743200"/>
          </a:xfrm>
          <a:prstGeom prst="rect">
            <a:avLst/>
          </a:prstGeom>
          <a:noFill/>
          <a:ln>
            <a:miter/>
          </a:ln>
        </p:spPr>
      </p:pic>
      <p:pic>
        <p:nvPicPr>
          <p:cNvPr id="92167" name=""/>
          <p:cNvPicPr>
            <a:picLocks noChangeAspect="0"/>
          </p:cNvPicPr>
          <p:nvPr/>
        </p:nvPicPr>
        <p:blipFill>
          <a:blip r:embed="rId3"/>
          <a:stretch/>
        </p:blipFill>
        <p:spPr>
          <a:xfrm>
            <a:off x="0" y="0"/>
            <a:ext cx="2590800" cy="4191000"/>
          </a:xfrm>
          <a:prstGeom prst="rect">
            <a:avLst/>
          </a:prstGeom>
          <a:noFill/>
          <a:ln>
            <a:miter/>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93187" name=""/>
          <p:cNvSpPr/>
          <p:nvPr>
            <p:ph type="body" idx="1"/>
          </p:nvPr>
        </p:nvSpPr>
        <p:spPr>
          <a:xfrm>
            <a:off x="304800" y="304800"/>
            <a:ext cx="8534400" cy="6400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90000"/>
              </a:lnSpc>
            </a:pPr>
            <a:r>
              <a:rPr sz="2800"/>
              <a:t>真实版本</a:t>
            </a:r>
            <a:r>
              <a:rPr sz="2800"/>
              <a:t>——</a:t>
            </a:r>
            <a:endParaRPr sz="2800"/>
          </a:p>
          <a:p>
            <a:pPr lvl="0">
              <a:lnSpc>
                <a:spcPct val="90000"/>
              </a:lnSpc>
            </a:pPr>
            <a:r>
              <a:rPr sz="2800"/>
              <a:t>那一年的夏天，弗莱明把细菌培养基放在桌上度假去了。之后恰好有</a:t>
            </a:r>
            <a:r>
              <a:rPr sz="2800"/>
              <a:t>9</a:t>
            </a:r>
            <a:r>
              <a:rPr sz="2800"/>
              <a:t>天的时间天气特别凉爽，于是青霉得以生长，而葡萄球菌则难以生长。然后气温上升，葡萄球菌开始生长，但这时青霉已产生了足够的青霉素来杀死周围的葡萄球菌了。弗莱明过完一个月的假回来后，并没有注意到这个培养有何异样，而是和其他被污染的培养一起扔进消毒液中。刚好他以前的助手来访，弗莱明为了介绍自己的工作，给他看了几个细菌培养，顺手从准备消毒的一堆培养皿中拿了最上面的还没浸泡的那个来看，这才注意到这一个有些异样。如果弗莱明没有去度长假，如果污染其细菌培养的不是青霉，如果那一段时间的气温没有先凉后热，如果消毒液淹没了培养基，如果他的前同事不是刚好来访，这些环节只要有一个没有发生，这一切就都不会出现了。 </a:t>
            </a:r>
            <a:endParaRPr sz="2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95234" name=""/>
          <p:cNvSpPr/>
          <p:nvPr>
            <p:ph type="title"/>
          </p:nvPr>
        </p:nvSpPr>
        <p:spPr>
          <a:xfrm>
            <a:off x="1295400" y="2133600"/>
            <a:ext cx="7010400" cy="152717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a:solidFill>
                  <a:schemeClr val="tx1"/>
                </a:solidFill>
              </a:rPr>
              <a:t>三、科学假说的形成</a:t>
            </a:r>
            <a:endParaRPr>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96258"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4000"/>
              <a:t>形成科学假说的方原则</a:t>
            </a:r>
            <a:endParaRPr sz="4000"/>
          </a:p>
        </p:txBody>
      </p:sp>
      <p:sp>
        <p:nvSpPr>
          <p:cNvPr id="96259"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对应原则：一般来说假说不应与经过检验的科学理论相矛盾。在新假说转化为新理论并取代旧理论时，它应继承旧理论中被实践检验过的合理内容，并把旧理论作为特例或极限形式包含进来。比如，牛顿力学和爱因斯坦相对论的关系。</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97286" name=""/>
          <p:cNvPicPr>
            <a:picLocks noChangeAspect="0"/>
          </p:cNvPicPr>
          <p:nvPr/>
        </p:nvPicPr>
        <p:blipFill>
          <a:blip r:embed="rId2"/>
          <a:stretch/>
        </p:blipFill>
        <p:spPr>
          <a:xfrm>
            <a:off x="0" y="0"/>
            <a:ext cx="9144000" cy="6858000"/>
          </a:xfrm>
          <a:prstGeom prst="rect">
            <a:avLst/>
          </a:prstGeom>
          <a:noFill/>
          <a:ln>
            <a:miter/>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98307"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解释性原则：假说应当与已知的经过实践复核的事实相符合，不仅能解释个别事实，而且能解释该领域已知的全部事实。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99334" name=""/>
          <p:cNvPicPr>
            <a:picLocks noChangeAspect="0"/>
          </p:cNvPicPr>
          <p:nvPr/>
        </p:nvPicPr>
        <p:blipFill>
          <a:blip r:embed="rId2"/>
          <a:stretch/>
        </p:blipFill>
        <p:spPr>
          <a:xfrm>
            <a:off x="0" y="0"/>
            <a:ext cx="9144000" cy="6858000"/>
          </a:xfrm>
          <a:prstGeom prst="rect">
            <a:avLst/>
          </a:prstGeom>
          <a:noFill/>
          <a:ln>
            <a:miter/>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00355"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可检验性原则：提出的假说必须能用观察、实验加以检验，从而判定它的真伪。不可检验的假说是不科学的。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02402"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李政道与杨振宁</a:t>
            </a:r>
          </a:p>
        </p:txBody>
      </p:sp>
      <p:sp>
        <p:nvSpPr>
          <p:cNvPr id="102403" name=""/>
          <p:cNvSpPr/>
          <p:nvPr>
            <p:ph type="body" idx="1"/>
          </p:nvPr>
        </p:nvSpPr>
        <p:spPr>
          <a:xfrm>
            <a:off x="5181600" y="1219200"/>
            <a:ext cx="3810000" cy="2971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90000"/>
              </a:lnSpc>
            </a:pPr>
            <a:r>
              <a:rPr sz="2800"/>
              <a:t>1957</a:t>
            </a:r>
            <a:r>
              <a:rPr sz="2800"/>
              <a:t>年共同获得物理学奖，主要成就为宇称不守恒理论。</a:t>
            </a:r>
            <a:endParaRPr sz="2800"/>
          </a:p>
          <a:p>
            <a:pPr lvl="0">
              <a:lnSpc>
                <a:spcPct val="90000"/>
              </a:lnSpc>
            </a:pPr>
            <a:r>
              <a:rPr sz="2800"/>
              <a:t>获奖时均为中华民国国籍，李时年</a:t>
            </a:r>
            <a:r>
              <a:rPr sz="2800"/>
              <a:t>31</a:t>
            </a:r>
            <a:r>
              <a:rPr sz="2800"/>
              <a:t>岁，当时是第二年轻的获奖者；杨</a:t>
            </a:r>
            <a:r>
              <a:rPr sz="2800"/>
              <a:t>35</a:t>
            </a:r>
            <a:r>
              <a:rPr sz="2800"/>
              <a:t>岁。</a:t>
            </a:r>
            <a:endParaRPr sz="2800"/>
          </a:p>
        </p:txBody>
      </p:sp>
      <p:pic>
        <p:nvPicPr>
          <p:cNvPr id="102404" name=""/>
          <p:cNvPicPr>
            <a:picLocks noChangeAspect="0"/>
          </p:cNvPicPr>
          <p:nvPr/>
        </p:nvPicPr>
        <p:blipFill>
          <a:blip r:embed="rId2"/>
          <a:stretch/>
        </p:blipFill>
        <p:spPr>
          <a:xfrm>
            <a:off x="0" y="1600200"/>
            <a:ext cx="4191000" cy="2971800"/>
          </a:xfrm>
          <a:prstGeom prst="rect">
            <a:avLst/>
          </a:prstGeom>
          <a:noFill/>
          <a:ln>
            <a:miter/>
          </a:ln>
        </p:spPr>
      </p:pic>
      <p:pic>
        <p:nvPicPr>
          <p:cNvPr id="102405" name="">
            <a:hlinkClick r:id="rId5"/>
          </p:cNvPr>
          <p:cNvPicPr>
            <a:picLocks noChangeAspect="0"/>
          </p:cNvPicPr>
          <p:nvPr/>
        </p:nvPicPr>
        <p:blipFill>
          <a:blip r:embed="rId3"/>
          <a:stretch/>
        </p:blipFill>
        <p:spPr>
          <a:xfrm>
            <a:off x="0" y="4572000"/>
            <a:ext cx="1828800" cy="2286000"/>
          </a:xfrm>
          <a:prstGeom prst="rect">
            <a:avLst/>
          </a:prstGeom>
          <a:solidFill>
            <a:srgbClr val="FFFFFF"/>
          </a:solidFill>
          <a:ln>
            <a:miter/>
          </a:ln>
        </p:spPr>
      </p:pic>
      <p:sp>
        <p:nvSpPr>
          <p:cNvPr id="102406" name=""/>
          <p:cNvSpPr/>
          <p:nvPr/>
        </p:nvSpPr>
        <p:spPr>
          <a:xfrm>
            <a:off x="1905000" y="5486400"/>
            <a:ext cx="2362200" cy="1192213"/>
          </a:xfrm>
          <a:prstGeom prst="rect">
            <a:avLst/>
          </a:prstGeom>
          <a:noFill/>
          <a:ln>
            <a:noFill/>
          </a:ln>
        </p:spPr>
        <p:txBody>
          <a:bodyPr>
            <a:spAutoFit/>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spcBef>
                <a:spcPct val="50000"/>
              </a:spcBef>
            </a:pPr>
            <a:r>
              <a:rPr>
                <a:ea typeface="黑体"/>
              </a:rPr>
              <a:t>上：李政道与杨振宁</a:t>
            </a:r>
            <a:endParaRPr>
              <a:ea typeface="黑体"/>
            </a:endParaRPr>
          </a:p>
          <a:p>
            <a:pPr lvl="0">
              <a:spcBef>
                <a:spcPct val="50000"/>
              </a:spcBef>
            </a:pPr>
            <a:r>
              <a:rPr>
                <a:ea typeface="黑体"/>
              </a:rPr>
              <a:t>下：获奖时的李政道</a:t>
            </a:r>
            <a:endParaRPr>
              <a:ea typeface="黑体"/>
            </a:endParaRPr>
          </a:p>
          <a:p>
            <a:pPr lvl="0">
              <a:spcBef>
                <a:spcPct val="50000"/>
              </a:spcBef>
            </a:pPr>
            <a:r>
              <a:rPr>
                <a:ea typeface="黑体"/>
              </a:rPr>
              <a:t>右：吴健雄</a:t>
            </a:r>
            <a:endParaRPr>
              <a:ea typeface="黑体"/>
            </a:endParaRPr>
          </a:p>
        </p:txBody>
      </p:sp>
      <p:pic>
        <p:nvPicPr>
          <p:cNvPr id="102408" name="">
            <a:hlinkClick r:id="rId6"/>
          </p:cNvPr>
          <p:cNvPicPr>
            <a:picLocks noChangeAspect="0"/>
          </p:cNvPicPr>
          <p:nvPr/>
        </p:nvPicPr>
        <p:blipFill>
          <a:blip r:embed="rId4"/>
          <a:stretch/>
        </p:blipFill>
        <p:spPr>
          <a:xfrm>
            <a:off x="4724400" y="4191000"/>
            <a:ext cx="2971800" cy="2667000"/>
          </a:xfrm>
          <a:prstGeom prst="rect">
            <a:avLst/>
          </a:prstGeom>
          <a:solidFill>
            <a:srgbClr val="FFFFFF"/>
          </a:solidFill>
          <a:ln>
            <a:miter/>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04450"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4000"/>
              <a:t>经验定律型假说的形成</a:t>
            </a:r>
            <a:endParaRPr sz="4000"/>
          </a:p>
        </p:txBody>
      </p:sp>
      <p:sp>
        <p:nvSpPr>
          <p:cNvPr id="104451"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经验定律是对某类现象共同性质和特征或若干类现象之间因果联系的普遍化描述。</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05474" name=""/>
          <p:cNvSpPr/>
          <p:nvPr>
            <p:ph type="title"/>
          </p:nvPr>
        </p:nvSpPr>
        <p:spPr>
          <a:xfrm>
            <a:off x="4343400" y="228600"/>
            <a:ext cx="4648200" cy="103187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3600"/>
              <a:t>伽利略与比萨斜塔实验</a:t>
            </a:r>
            <a:endParaRPr sz="3600"/>
          </a:p>
        </p:txBody>
      </p:sp>
      <p:sp>
        <p:nvSpPr>
          <p:cNvPr id="105475" name=""/>
          <p:cNvSpPr/>
          <p:nvPr>
            <p:ph type="body" idx="1"/>
          </p:nvPr>
        </p:nvSpPr>
        <p:spPr>
          <a:xfrm>
            <a:off x="3856038" y="1773238"/>
            <a:ext cx="4830762"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90000"/>
              </a:lnSpc>
            </a:pPr>
            <a:r>
              <a:t>自由落体运动定律 的传说</a:t>
            </a:r>
          </a:p>
          <a:p>
            <a:pPr lvl="0">
              <a:lnSpc>
                <a:spcPct val="90000"/>
              </a:lnSpc>
            </a:pPr>
            <a:r>
              <a:t>这个故事最早出现在伽利略晚年的秘书维维亚尼写的伽利略传记中。</a:t>
            </a:r>
          </a:p>
          <a:p>
            <a:pPr lvl="0">
              <a:lnSpc>
                <a:spcPct val="90000"/>
              </a:lnSpc>
            </a:pPr>
            <a:r>
              <a:t>伽利略的“思想实验” </a:t>
            </a:r>
          </a:p>
        </p:txBody>
      </p:sp>
      <p:pic>
        <p:nvPicPr>
          <p:cNvPr id="105479" name=""/>
          <p:cNvPicPr>
            <a:picLocks noChangeAspect="0"/>
          </p:cNvPicPr>
          <p:nvPr/>
        </p:nvPicPr>
        <p:blipFill>
          <a:blip r:embed="rId2"/>
          <a:stretch/>
        </p:blipFill>
        <p:spPr>
          <a:xfrm>
            <a:off x="0" y="0"/>
            <a:ext cx="3714750" cy="4953000"/>
          </a:xfrm>
          <a:prstGeom prst="rect">
            <a:avLst/>
          </a:prstGeom>
          <a:noFill/>
          <a:ln>
            <a:miter/>
          </a:ln>
        </p:spPr>
      </p:pic>
      <p:pic>
        <p:nvPicPr>
          <p:cNvPr id="105477" name=""/>
          <p:cNvPicPr>
            <a:picLocks noChangeAspect="0"/>
          </p:cNvPicPr>
          <p:nvPr/>
        </p:nvPicPr>
        <p:blipFill>
          <a:blip r:embed="rId3"/>
          <a:stretch/>
        </p:blipFill>
        <p:spPr>
          <a:xfrm>
            <a:off x="0" y="4419600"/>
            <a:ext cx="2057400" cy="2438400"/>
          </a:xfrm>
          <a:prstGeom prst="rect">
            <a:avLst/>
          </a:prstGeom>
          <a:noFill/>
          <a:ln>
            <a:miter/>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08546"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4000"/>
              <a:t>理论定律型假说的形成</a:t>
            </a:r>
            <a:endParaRPr sz="4000"/>
          </a:p>
        </p:txBody>
      </p:sp>
      <p:sp>
        <p:nvSpPr>
          <p:cNvPr id="108547"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理论定律型假说是对事物内部必然联系的反映或解释。它寻求的是对经验定律的解释（说明“为什么”）。</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109573" name=""/>
          <p:cNvPicPr>
            <a:picLocks noChangeAspect="0"/>
          </p:cNvPicPr>
          <p:nvPr/>
        </p:nvPicPr>
        <p:blipFill>
          <a:blip r:embed="rId2"/>
          <a:stretch/>
        </p:blipFill>
        <p:spPr>
          <a:xfrm>
            <a:off x="0" y="0"/>
            <a:ext cx="9144000" cy="6858000"/>
          </a:xfrm>
          <a:prstGeom prst="rect">
            <a:avLst/>
          </a:prstGeom>
          <a:noFill/>
          <a:ln>
            <a:miter/>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113669" name=""/>
          <p:cNvPicPr>
            <a:picLocks noChangeAspect="0"/>
          </p:cNvPicPr>
          <p:nvPr/>
        </p:nvPicPr>
        <p:blipFill>
          <a:blip r:embed="rId2"/>
          <a:stretch/>
        </p:blipFill>
        <p:spPr>
          <a:xfrm>
            <a:off x="0" y="0"/>
            <a:ext cx="9144000" cy="3200400"/>
          </a:xfrm>
          <a:prstGeom prst="rect">
            <a:avLst/>
          </a:prstGeom>
          <a:noFill/>
          <a:ln>
            <a:miter/>
          </a:ln>
        </p:spPr>
      </p:pic>
      <p:pic>
        <p:nvPicPr>
          <p:cNvPr id="113671" name=""/>
          <p:cNvPicPr>
            <a:picLocks noChangeAspect="0"/>
          </p:cNvPicPr>
          <p:nvPr/>
        </p:nvPicPr>
        <p:blipFill>
          <a:blip r:embed="rId3"/>
          <a:stretch/>
        </p:blipFill>
        <p:spPr>
          <a:xfrm>
            <a:off x="2133600" y="2924175"/>
            <a:ext cx="5238750" cy="39338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28002" name=""/>
          <p:cNvSpPr/>
          <p:nvPr>
            <p:ph type="title"/>
          </p:nvPr>
        </p:nvSpPr>
        <p:spPr>
          <a:xfrm>
            <a:off x="1371600" y="2286000"/>
            <a:ext cx="7010400" cy="152717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a:solidFill>
                  <a:schemeClr val="tx1"/>
                </a:solidFill>
              </a:rPr>
              <a:t>四、科学理论的创立</a:t>
            </a:r>
            <a:endParaRPr>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51554"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归纳与概括</a:t>
            </a:r>
          </a:p>
        </p:txBody>
      </p:sp>
      <p:sp>
        <p:nvSpPr>
          <p:cNvPr id="151555"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归纳是从个别或特殊上升到一般。</a:t>
            </a:r>
          </a:p>
          <a:p>
            <a:pPr lvl="0"/>
            <a:r>
              <a:t>分为完全归纳法和不完全归纳法（简单枚举归纳法和科学归纳法）。</a:t>
            </a:r>
          </a:p>
          <a:p>
            <a:pPr lvl="0"/>
            <a:r>
              <a:t>概括是一种从个别或特殊性认识上升为一般性认识的思维方法，是一种不完全归纳。</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153602" name="">
            <a:hlinkClick r:id="rId4"/>
          </p:cNvPr>
          <p:cNvPicPr>
            <a:picLocks noChangeAspect="0"/>
          </p:cNvPicPr>
          <p:nvPr/>
        </p:nvPicPr>
        <p:blipFill>
          <a:blip r:embed="rId2"/>
          <a:stretch/>
        </p:blipFill>
        <p:spPr>
          <a:xfrm>
            <a:off x="914400" y="1447800"/>
            <a:ext cx="4343400" cy="2697163"/>
          </a:xfrm>
          <a:prstGeom prst="rect">
            <a:avLst/>
          </a:prstGeom>
          <a:solidFill>
            <a:srgbClr val="FFFFFF"/>
          </a:solidFill>
          <a:ln>
            <a:miter/>
          </a:ln>
        </p:spPr>
      </p:pic>
      <p:sp>
        <p:nvSpPr>
          <p:cNvPr id="153603"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四色定理</a:t>
            </a:r>
          </a:p>
        </p:txBody>
      </p:sp>
      <p:sp>
        <p:nvSpPr>
          <p:cNvPr id="153604" name=""/>
          <p:cNvSpPr/>
          <p:nvPr>
            <p:ph type="body" idx="1"/>
          </p:nvPr>
        </p:nvSpPr>
        <p:spPr>
          <a:xfrm>
            <a:off x="5019675" y="1773238"/>
            <a:ext cx="3667125"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rPr>
                <a:solidFill>
                  <a:schemeClr val="tx1"/>
                </a:solidFill>
              </a:rPr>
              <a:t>1840</a:t>
            </a:r>
            <a:r>
              <a:rPr>
                <a:solidFill>
                  <a:schemeClr val="tx1"/>
                </a:solidFill>
              </a:rPr>
              <a:t>年，数学家默比乌斯提出，在球面或者平面上画地图，只需要四种颜色就可以把所有相邻地区都区分开来。</a:t>
            </a:r>
            <a:endParaRPr>
              <a:solidFill>
                <a:schemeClr val="tx1"/>
              </a:solidFill>
            </a:endParaRPr>
          </a:p>
        </p:txBody>
      </p:sp>
      <p:pic>
        <p:nvPicPr>
          <p:cNvPr id="153605" name=""/>
          <p:cNvPicPr>
            <a:picLocks noChangeAspect="0"/>
          </p:cNvPicPr>
          <p:nvPr/>
        </p:nvPicPr>
        <p:blipFill>
          <a:blip r:embed="rId3"/>
          <a:stretch/>
        </p:blipFill>
        <p:spPr>
          <a:xfrm>
            <a:off x="0" y="3962400"/>
            <a:ext cx="2349500" cy="2895600"/>
          </a:xfrm>
          <a:prstGeom prst="rect">
            <a:avLst/>
          </a:prstGeom>
          <a:noFill/>
          <a:ln>
            <a:miter/>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56674"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演绎与公理化</a:t>
            </a:r>
          </a:p>
        </p:txBody>
      </p:sp>
      <p:sp>
        <p:nvSpPr>
          <p:cNvPr id="156675"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演绎方法：是从一般原理推论出个别或特殊事物及其结论的过程。它的根本特点是前提与结论之间具有蕴涵关系。</a:t>
            </a:r>
          </a:p>
          <a:p>
            <a:pPr lvl="0"/>
            <a:r>
              <a:t>公理化方法是指从尽可能少的基本概念、公理、公设出发，运用演绎推理规则，推导出一系列的命题和定理，从而建立理论体系的方法。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0770" name=""/>
          <p:cNvSpPr/>
          <p:nvPr>
            <p:ph type="title"/>
          </p:nvPr>
        </p:nvSpPr>
        <p:spPr>
          <a:xfrm>
            <a:off x="468313" y="549275"/>
            <a:ext cx="8229600" cy="9906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3600">
                <a:latin typeface="黑体"/>
              </a:rPr>
              <a:t>地球的形状</a:t>
            </a:r>
            <a:endParaRPr sz="3600">
              <a:latin typeface="黑体"/>
            </a:endParaRPr>
          </a:p>
        </p:txBody>
      </p:sp>
      <p:sp>
        <p:nvSpPr>
          <p:cNvPr id="160771" name=""/>
          <p:cNvSpPr/>
          <p:nvPr>
            <p:ph type="body" idx="1"/>
          </p:nvPr>
        </p:nvSpPr>
        <p:spPr>
          <a:xfrm>
            <a:off x="6272213" y="2740025"/>
            <a:ext cx="2414587" cy="2681288"/>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rPr sz="2800">
                <a:latin typeface="楷体"/>
              </a:rPr>
              <a:t>牛顿用演绎法推算出地球不断在“发福”。</a:t>
            </a:r>
            <a:endParaRPr sz="2800">
              <a:latin typeface="楷体"/>
            </a:endParaRPr>
          </a:p>
        </p:txBody>
      </p:sp>
      <p:pic>
        <p:nvPicPr>
          <p:cNvPr id="160772" name="">
            <a:hlinkClick r:id="rId3"/>
          </p:cNvPr>
          <p:cNvPicPr>
            <a:picLocks noChangeAspect="0"/>
          </p:cNvPicPr>
          <p:nvPr/>
        </p:nvPicPr>
        <p:blipFill>
          <a:blip r:embed="rId2"/>
          <a:stretch/>
        </p:blipFill>
        <p:spPr>
          <a:xfrm>
            <a:off x="533400" y="1371600"/>
            <a:ext cx="5638800" cy="5257800"/>
          </a:xfrm>
          <a:prstGeom prst="rect">
            <a:avLst/>
          </a:prstGeom>
          <a:solidFill>
            <a:srgbClr val="FFFFFF"/>
          </a:solidFill>
          <a:ln>
            <a:miter/>
          </a:ln>
        </p:spPr>
      </p:pic>
      <p:sp>
        <p:nvSpPr>
          <p:cNvPr id="160773" name="">
            <a:hlinkClick r:id="rId4" action="ppaction://hlinksldjump"/>
          </p:cNvPr>
          <p:cNvSpPr/>
          <p:nvPr/>
        </p:nvSpPr>
        <p:spPr>
          <a:xfrm>
            <a:off x="8458200" y="6248400"/>
            <a:ext cx="228600" cy="228600"/>
          </a:xfrm>
          <a:prstGeom prst="actionButtonBackPrevious">
            <a:avLst/>
          </a:prstGeom>
          <a:solidFill>
            <a:schemeClr val="accent1"/>
          </a:solidFill>
          <a:ln>
            <a:solidFill>
              <a:schemeClr val="tx1"/>
            </a:solidFill>
            <a:miter/>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1794" name=""/>
          <p:cNvSpPr/>
          <p:nvPr>
            <p:ph type="title"/>
          </p:nvPr>
        </p:nvSpPr>
        <p:spPr>
          <a:xfrm>
            <a:off x="468313" y="863600"/>
            <a:ext cx="8229600" cy="598488"/>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分析与综合</a:t>
            </a:r>
          </a:p>
        </p:txBody>
      </p:sp>
      <p:sp>
        <p:nvSpPr>
          <p:cNvPr id="161795" name=""/>
          <p:cNvSpPr/>
          <p:nvPr>
            <p:ph type="body" idx="1"/>
          </p:nvPr>
        </p:nvSpPr>
        <p:spPr>
          <a:xfrm>
            <a:off x="1447800" y="1752600"/>
            <a:ext cx="7010400" cy="3733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分析方法是把研究对象整体分为各部分、方面、因素和层次等，并分别加以考察的认识方法。</a:t>
            </a:r>
          </a:p>
          <a:p>
            <a:pPr lvl="0"/>
            <a:r>
              <a:t>综合方法是将已有的关于研究对象各个部分、方面、因素和层次的认识联系起来，形成对研究对象整体性认识的认识方法。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4866" name=""/>
          <p:cNvSpPr/>
          <p:nvPr>
            <p:ph type="title"/>
          </p:nvPr>
        </p:nvSpPr>
        <p:spPr>
          <a:xfrm>
            <a:off x="468313" y="623888"/>
            <a:ext cx="3732212" cy="63182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sz="3600">
                <a:latin typeface="黑体"/>
              </a:rPr>
              <a:t>麦克斯韦的综合</a:t>
            </a:r>
            <a:endParaRPr sz="3600">
              <a:latin typeface="黑体"/>
            </a:endParaRPr>
          </a:p>
        </p:txBody>
      </p:sp>
      <p:sp>
        <p:nvSpPr>
          <p:cNvPr id="164867" name=""/>
          <p:cNvSpPr/>
          <p:nvPr>
            <p:ph type="body" idx="1"/>
          </p:nvPr>
        </p:nvSpPr>
        <p:spPr>
          <a:xfrm>
            <a:off x="1066800" y="1355725"/>
            <a:ext cx="7761288" cy="496887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80000"/>
              </a:lnSpc>
            </a:pPr>
            <a:r>
              <a:rPr sz="2800">
                <a:latin typeface="楷体"/>
              </a:rPr>
              <a:t>库仑定律确定了电荷之间的作用力、磁极之间的作用力。</a:t>
            </a:r>
            <a:endParaRPr sz="2800">
              <a:latin typeface="楷体"/>
            </a:endParaRPr>
          </a:p>
          <a:p>
            <a:pPr lvl="0">
              <a:lnSpc>
                <a:spcPct val="80000"/>
              </a:lnSpc>
            </a:pPr>
            <a:r>
              <a:rPr sz="2800">
                <a:latin typeface="楷体"/>
              </a:rPr>
              <a:t>奥斯特分析了电流对磁针的作用力。</a:t>
            </a:r>
            <a:endParaRPr sz="2800">
              <a:latin typeface="楷体"/>
            </a:endParaRPr>
          </a:p>
          <a:p>
            <a:pPr lvl="0">
              <a:lnSpc>
                <a:spcPct val="80000"/>
              </a:lnSpc>
            </a:pPr>
            <a:r>
              <a:rPr sz="2800">
                <a:latin typeface="楷体"/>
              </a:rPr>
              <a:t>安培、戴维等人研究了电流转化为磁力。</a:t>
            </a:r>
            <a:endParaRPr sz="2800">
              <a:latin typeface="楷体"/>
            </a:endParaRPr>
          </a:p>
          <a:p>
            <a:pPr lvl="0">
              <a:lnSpc>
                <a:spcPct val="80000"/>
              </a:lnSpc>
            </a:pPr>
            <a:r>
              <a:rPr sz="2800">
                <a:latin typeface="楷体"/>
              </a:rPr>
              <a:t>毕奥等人发现了电流分布与磁感应强度之间的关系定律。</a:t>
            </a:r>
            <a:endParaRPr sz="2800">
              <a:latin typeface="楷体"/>
            </a:endParaRPr>
          </a:p>
          <a:p>
            <a:pPr lvl="0">
              <a:lnSpc>
                <a:spcPct val="80000"/>
              </a:lnSpc>
            </a:pPr>
            <a:r>
              <a:rPr sz="2800">
                <a:latin typeface="楷体"/>
              </a:rPr>
              <a:t>法拉第提出了电磁感应定律。</a:t>
            </a:r>
            <a:endParaRPr sz="2800">
              <a:latin typeface="楷体"/>
            </a:endParaRPr>
          </a:p>
          <a:p>
            <a:pPr lvl="0">
              <a:lnSpc>
                <a:spcPct val="80000"/>
              </a:lnSpc>
            </a:pPr>
            <a:r>
              <a:rPr sz="2800">
                <a:latin typeface="楷体"/>
              </a:rPr>
              <a:t>1858</a:t>
            </a:r>
            <a:r>
              <a:rPr sz="2800">
                <a:latin typeface="楷体"/>
              </a:rPr>
              <a:t>年开始，英国人麦克斯韦系统地考察了前人对电、磁的研究，认为应该把电流规律、磁场规律统一起来。</a:t>
            </a:r>
            <a:endParaRPr sz="2800">
              <a:latin typeface="楷体"/>
            </a:endParaRPr>
          </a:p>
          <a:p>
            <a:pPr lvl="0">
              <a:lnSpc>
                <a:spcPct val="80000"/>
              </a:lnSpc>
            </a:pPr>
            <a:r>
              <a:rPr sz="2800">
                <a:latin typeface="楷体"/>
              </a:rPr>
              <a:t>1862</a:t>
            </a:r>
            <a:r>
              <a:rPr sz="2800">
                <a:latin typeface="楷体"/>
              </a:rPr>
              <a:t>年，麦克斯韦方程发表。</a:t>
            </a:r>
            <a:endParaRPr sz="2800">
              <a:latin typeface="楷体"/>
            </a:endParaRPr>
          </a:p>
          <a:p>
            <a:pPr lvl="0">
              <a:lnSpc>
                <a:spcPct val="80000"/>
              </a:lnSpc>
            </a:pPr>
            <a:r>
              <a:rPr sz="2800">
                <a:latin typeface="楷体"/>
              </a:rPr>
              <a:t>1888</a:t>
            </a:r>
            <a:r>
              <a:rPr sz="2800">
                <a:latin typeface="楷体"/>
              </a:rPr>
              <a:t>年，德国人赫兹试验证实了电磁波的存在。</a:t>
            </a:r>
            <a:endParaRPr sz="2800">
              <a:latin typeface="楷体"/>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5890"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类比</a:t>
            </a:r>
          </a:p>
        </p:txBody>
      </p:sp>
      <p:sp>
        <p:nvSpPr>
          <p:cNvPr id="165891" name=""/>
          <p:cNvSpPr/>
          <p:nvPr>
            <p:ph type="body" idx="1"/>
          </p:nvPr>
        </p:nvSpPr>
        <p:spPr>
          <a:xfrm>
            <a:off x="1066800" y="1524000"/>
            <a:ext cx="7467600" cy="16764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类比是根据两个或两类不同对象的部分属性或功能等相同或相似，推论出它们的其他属性或功能等也可能相同或相似。 </a:t>
            </a:r>
          </a:p>
        </p:txBody>
      </p:sp>
      <p:pic>
        <p:nvPicPr>
          <p:cNvPr id="165892" name=""/>
          <p:cNvPicPr>
            <a:picLocks noChangeAspect="0"/>
          </p:cNvPicPr>
          <p:nvPr/>
        </p:nvPicPr>
        <p:blipFill>
          <a:blip r:embed="rId2"/>
          <a:stretch/>
        </p:blipFill>
        <p:spPr>
          <a:xfrm>
            <a:off x="0" y="3124200"/>
            <a:ext cx="8305800" cy="37338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73058"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比较</a:t>
            </a:r>
          </a:p>
        </p:txBody>
      </p:sp>
      <p:sp>
        <p:nvSpPr>
          <p:cNvPr id="173059"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比较是认识对象之间的相同点或相异点的逻辑思维方法。比较可以在异类对象之间进行，也可以在同类对象之间进行，还可以在同一对象的不同方面、不同部分之间进行。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8962"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发现冥王星</a:t>
            </a:r>
          </a:p>
        </p:txBody>
      </p:sp>
      <p:pic>
        <p:nvPicPr>
          <p:cNvPr id="168963" name="">
            <a:hlinkClick r:id="rId4"/>
          </p:cNvPr>
          <p:cNvPicPr>
            <a:picLocks noChangeAspect="0"/>
          </p:cNvPicPr>
          <p:nvPr/>
        </p:nvPicPr>
        <p:blipFill>
          <a:blip r:embed="rId2"/>
          <a:stretch/>
        </p:blipFill>
        <p:spPr>
          <a:xfrm>
            <a:off x="4191000" y="1447800"/>
            <a:ext cx="4117975" cy="5105400"/>
          </a:xfrm>
          <a:prstGeom prst="rect">
            <a:avLst/>
          </a:prstGeom>
          <a:solidFill>
            <a:srgbClr val="FFFFFF"/>
          </a:solidFill>
          <a:ln>
            <a:miter/>
          </a:ln>
        </p:spPr>
      </p:pic>
      <p:pic>
        <p:nvPicPr>
          <p:cNvPr id="168964" name=""/>
          <p:cNvPicPr>
            <a:picLocks noChangeAspect="0"/>
          </p:cNvPicPr>
          <p:nvPr/>
        </p:nvPicPr>
        <p:blipFill>
          <a:blip r:embed="rId3"/>
          <a:stretch/>
        </p:blipFill>
        <p:spPr>
          <a:xfrm>
            <a:off x="914400" y="2590800"/>
            <a:ext cx="2819400" cy="2857500"/>
          </a:xfrm>
          <a:prstGeom prst="rect">
            <a:avLst/>
          </a:prstGeom>
          <a:noFill/>
          <a:ln>
            <a:miter/>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99682" name=""/>
          <p:cNvSpPr/>
          <p:nvPr>
            <p:ph type="title"/>
          </p:nvPr>
        </p:nvSpPr>
        <p:spPr>
          <a:xfrm>
            <a:off x="1371600" y="2438400"/>
            <a:ext cx="7010400" cy="1527175"/>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rPr>
                <a:solidFill>
                  <a:schemeClr val="tx1"/>
                </a:solidFill>
              </a:rPr>
              <a:t>五、几种常见的创新方法</a:t>
            </a:r>
            <a:endParaRPr>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87394" name=""/>
          <p:cNvSpPr/>
          <p:nvPr>
            <p:ph type="title"/>
          </p:nvPr>
        </p:nvSpPr>
        <p:spPr>
          <a:xfrm>
            <a:off x="468313" y="549275"/>
            <a:ext cx="8229600" cy="827088"/>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发散思维</a:t>
            </a:r>
          </a:p>
        </p:txBody>
      </p:sp>
      <p:sp>
        <p:nvSpPr>
          <p:cNvPr id="187395" name=""/>
          <p:cNvSpPr/>
          <p:nvPr>
            <p:ph type="body" idx="1"/>
          </p:nvPr>
        </p:nvSpPr>
        <p:spPr>
          <a:xfrm>
            <a:off x="3962400" y="1447800"/>
            <a:ext cx="4572000" cy="51054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rPr sz="2800"/>
              <a:t>发散思维（</a:t>
            </a:r>
            <a:r>
              <a:rPr sz="2800"/>
              <a:t>divergent thinking</a:t>
            </a:r>
            <a:r>
              <a:rPr sz="2800"/>
              <a:t>或称“求异思维”）：在解决问题时，思维能不拘一格地从仅有的信息中尽可能扩展开去，朝着各种方向去探寻各种不同的解决途径和答案。它的特点是流畅性、灵活性和独特性。横向思维、逆向思维等都属于发散思维。</a:t>
            </a:r>
            <a:endParaRPr sz="2800"/>
          </a:p>
        </p:txBody>
      </p:sp>
      <p:pic>
        <p:nvPicPr>
          <p:cNvPr id="187396" name=""/>
          <p:cNvPicPr>
            <a:picLocks noChangeAspect="0"/>
          </p:cNvPicPr>
          <p:nvPr/>
        </p:nvPicPr>
        <p:blipFill>
          <a:blip r:embed="rId2"/>
          <a:stretch/>
        </p:blipFill>
        <p:spPr>
          <a:xfrm>
            <a:off x="0" y="1905000"/>
            <a:ext cx="3929063" cy="4953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188418" name=""/>
          <p:cNvPicPr>
            <a:picLocks noChangeAspect="0"/>
          </p:cNvPicPr>
          <p:nvPr/>
        </p:nvPicPr>
        <p:blipFill>
          <a:blip r:embed="rId2"/>
          <a:stretch/>
        </p:blipFill>
        <p:spPr>
          <a:xfrm>
            <a:off x="1600200" y="1676400"/>
            <a:ext cx="5943600" cy="4876800"/>
          </a:xfrm>
          <a:prstGeom prst="rect">
            <a:avLst/>
          </a:prstGeom>
          <a:noFill/>
          <a:ln>
            <a:miter/>
          </a:ln>
        </p:spPr>
      </p:pic>
      <p:sp>
        <p:nvSpPr>
          <p:cNvPr id="188419"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圆珠笔漏油问题的求解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00706"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组合创新</a:t>
            </a:r>
          </a:p>
        </p:txBody>
      </p:sp>
      <p:sp>
        <p:nvSpPr>
          <p:cNvPr id="200707"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在许多情况下，把已有知识或者物品要素结合起来，或者把不同功能的产品巧妙地组合起来，往往可以形成创新。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01730"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模仿创新</a:t>
            </a:r>
          </a:p>
        </p:txBody>
      </p:sp>
      <p:pic>
        <p:nvPicPr>
          <p:cNvPr id="201732" name=""/>
          <p:cNvPicPr>
            <a:picLocks noChangeAspect="0"/>
          </p:cNvPicPr>
          <p:nvPr/>
        </p:nvPicPr>
        <p:blipFill>
          <a:blip r:embed="rId2"/>
          <a:stretch/>
        </p:blipFill>
        <p:spPr>
          <a:xfrm>
            <a:off x="1447800" y="1752600"/>
            <a:ext cx="3846513" cy="3924300"/>
          </a:xfrm>
          <a:prstGeom prst="rect">
            <a:avLst/>
          </a:prstGeom>
          <a:noFill/>
          <a:ln>
            <a:miter/>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02754"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头脑风暴</a:t>
            </a:r>
          </a:p>
        </p:txBody>
      </p:sp>
      <p:sp>
        <p:nvSpPr>
          <p:cNvPr id="202755" name=""/>
          <p:cNvSpPr/>
          <p:nvPr>
            <p:ph type="body" idx="1"/>
          </p:nvPr>
        </p:nvSpPr>
        <p:spPr>
          <a:xfrm>
            <a:off x="4724400" y="1828800"/>
            <a:ext cx="3124200" cy="4114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lnSpc>
                <a:spcPct val="90000"/>
              </a:lnSpc>
            </a:pPr>
            <a:r>
              <a:rPr sz="2400"/>
              <a:t>头脑风暴法是若干参与人组成的小型会议，参与人之间相互启发、相互激荡，而不是相互限制、相互攻击，围绕某个问题进行自由思索、自由设想，产生某种类似正反馈的放大效应。 </a:t>
            </a:r>
            <a:endParaRPr sz="2400"/>
          </a:p>
        </p:txBody>
      </p:sp>
      <p:pic>
        <p:nvPicPr>
          <p:cNvPr id="202756" name=""/>
          <p:cNvPicPr>
            <a:picLocks noChangeAspect="0"/>
          </p:cNvPicPr>
          <p:nvPr/>
        </p:nvPicPr>
        <p:blipFill>
          <a:blip r:embed="rId2"/>
          <a:stretch/>
        </p:blipFill>
        <p:spPr>
          <a:xfrm>
            <a:off x="762000" y="2209800"/>
            <a:ext cx="3657600" cy="3048000"/>
          </a:xfrm>
          <a:prstGeom prst="rect">
            <a:avLst/>
          </a:prstGeom>
          <a:noFill/>
          <a:ln>
            <a:miter/>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04802" name=""/>
          <p:cNvSpPr/>
          <p:nvPr>
            <p:ph type="title"/>
          </p:nvPr>
        </p:nvSpPr>
        <p:spPr>
          <a:xfrm>
            <a:off x="468313" y="549275"/>
            <a:ext cx="8229600" cy="1143000"/>
          </a:xfrm>
          <a:prstGeom prst="rect">
            <a:avLst/>
          </a:prstGeom>
          <a:noFill/>
          <a:ln>
            <a:miter/>
          </a:ln>
        </p:spPr>
        <p:txBody>
          <a:bodyPr anchor="ctr" anchorCtr="0"/>
          <a:lstStyle>
            <a:lvl1pPr marL="0" lvl="0" indent="0" algn="ctr" defTabSz="914400">
              <a:lnSpc>
                <a:spcPct val="100000"/>
              </a:lnSpc>
              <a:spcBef>
                <a:spcPct val="0"/>
              </a:spcBef>
              <a:spcAft>
                <a:spcPct val="0"/>
              </a:spcAft>
              <a:buClrTx/>
              <a:buSzTx/>
              <a:buFontTx/>
              <a:buNone/>
              <a:defRPr lang="zh-CN" sz="4400" b="0" i="0" u="none" baseline="0">
                <a:solidFill>
                  <a:srgbClr val="083D8A"/>
                </a:solidFill>
                <a:latin typeface="Arial"/>
                <a:ea typeface="宋体"/>
              </a:defRPr>
            </a:lvl1pPr>
          </a:lstStyle>
          <a:p>
            <a:pPr lvl="0"/>
            <a:r>
              <a:t>对演法和魔鬼代言人法</a:t>
            </a:r>
          </a:p>
        </p:txBody>
      </p:sp>
      <p:sp>
        <p:nvSpPr>
          <p:cNvPr id="204803" name=""/>
          <p:cNvSpPr/>
          <p:nvPr>
            <p:ph type="body" idx="1"/>
          </p:nvPr>
        </p:nvSpPr>
        <p:spPr>
          <a:xfrm>
            <a:off x="457200" y="1773238"/>
            <a:ext cx="8229600" cy="4352925"/>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t>对初步方案进行负面的批评、挑刺，可以帮助提出新的备选方案，或完善备选方案。</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05826" name=""/>
          <p:cNvSpPr/>
          <p:nvPr>
            <p:ph type="body" idx="1"/>
          </p:nvPr>
        </p:nvSpPr>
        <p:spPr>
          <a:xfrm>
            <a:off x="1295400" y="22098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Tx/>
              <a:buSzTx/>
              <a:buFontTx/>
              <a:buChar char="•"/>
              <a:defRPr lang="zh-CN" sz="3200" b="0" i="0" u="none" baseline="0">
                <a:solidFill>
                  <a:srgbClr val="083D8A"/>
                </a:solidFill>
                <a:latin typeface="Arial"/>
                <a:ea typeface="宋体"/>
              </a:defRPr>
            </a:lvl1pPr>
            <a:lvl2pPr marL="742950" lvl="1" indent="-285750" algn="l" defTabSz="914400">
              <a:lnSpc>
                <a:spcPct val="100000"/>
              </a:lnSpc>
              <a:spcBef>
                <a:spcPct val="20000"/>
              </a:spcBef>
              <a:spcAft>
                <a:spcPct val="0"/>
              </a:spcAft>
              <a:buClrTx/>
              <a:buSzTx/>
              <a:buFontTx/>
              <a:buChar char="–"/>
              <a:defRPr lang="zh-CN" sz="2800" b="0" i="0" u="none" baseline="0">
                <a:solidFill>
                  <a:srgbClr val="083D8A"/>
                </a:solidFill>
                <a:latin typeface="Arial"/>
                <a:ea typeface="宋体"/>
              </a:defRPr>
            </a:lvl2pPr>
            <a:lvl3pPr marL="1143000" lvl="2" indent="-228600" algn="l" defTabSz="914400">
              <a:lnSpc>
                <a:spcPct val="100000"/>
              </a:lnSpc>
              <a:spcBef>
                <a:spcPct val="20000"/>
              </a:spcBef>
              <a:spcAft>
                <a:spcPct val="0"/>
              </a:spcAft>
              <a:buClrTx/>
              <a:buSzTx/>
              <a:buFontTx/>
              <a:buChar char="•"/>
              <a:defRPr lang="zh-CN" sz="2400" b="0" i="0" u="none" baseline="0">
                <a:solidFill>
                  <a:srgbClr val="083D8A"/>
                </a:solidFill>
                <a:latin typeface="Arial"/>
                <a:ea typeface="宋体"/>
              </a:defRPr>
            </a:lvl3pPr>
            <a:lvl4pPr marL="1600200" lvl="3"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4pPr>
            <a:lvl5pPr marL="2057400" lvl="4" indent="-228600" algn="l" defTabSz="914400">
              <a:lnSpc>
                <a:spcPct val="100000"/>
              </a:lnSpc>
              <a:spcBef>
                <a:spcPct val="20000"/>
              </a:spcBef>
              <a:spcAft>
                <a:spcPct val="0"/>
              </a:spcAft>
              <a:buClrTx/>
              <a:buSzTx/>
              <a:buFontTx/>
              <a:buChar char="»"/>
              <a:defRPr lang="zh-CN" sz="2000" b="0" i="0" u="none" baseline="0">
                <a:solidFill>
                  <a:srgbClr val="083D8A"/>
                </a:solidFill>
                <a:latin typeface="Arial"/>
                <a:ea typeface="宋体"/>
              </a:defRPr>
            </a:lvl5pPr>
          </a:lstStyle>
          <a:p>
            <a:pPr lvl="0"/>
            <a:r>
              <a:rPr sz="8000" b="1">
                <a:solidFill>
                  <a:schemeClr val="tx1"/>
                </a:solidFill>
                <a:ea typeface="黑体"/>
              </a:rPr>
              <a:t>谢谢！</a:t>
            </a:r>
            <a:endParaRPr sz="8000" b="1">
              <a:solidFill>
                <a:schemeClr val="tx1"/>
              </a:solidFill>
              <a:ea typeface="黑体"/>
            </a:endParaRPr>
          </a:p>
        </p:txBody>
      </p:sp>
    </p:spTree>
  </p:cSld>
  <p:clrMapOvr>
    <a:masterClrMapping/>
  </p:clrMapOvr>
</p:sld>
</file>