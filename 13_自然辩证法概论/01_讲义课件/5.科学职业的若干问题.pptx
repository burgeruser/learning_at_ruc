
<file path=[Content_Types].xml><?xml version="1.0" encoding="utf-8"?>
<Types xmlns="http://schemas.openxmlformats.org/package/2006/content-types">
  <Default Extension="xml" ContentType="application/vnd.openxmlformats-officedocument.presentationml.presentation.main+xml"/>
  <Default Extension="jpg" ContentType="image/jpeg"/>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Types>
</file>

<file path=_rels/.rels>&#65279;<?xml version="1.0" encoding="utf-8"?><Relationships xmlns="http://schemas.openxmlformats.org/package/2006/relationships"><Relationship Type="http://schemas.openxmlformats.org/officeDocument/2006/relationships/officeDocument" Target="/ppt/presentation.xml" Id="R62509eefe9e14658"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9144000" cy="6858000"/>
  <p:notesSz cx="6858000" cy="9144000"/>
  <p:defaultTextStyle>
    <a:lvl1pPr marL="0" lvl="0"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5pPr>
  </p:defaultTextStyle>
</p:presentation>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slideMasters/theme/theme1.xml" Id="rId2" /><Relationship Type="http://schemas.openxmlformats.org/officeDocument/2006/relationships/slide" Target="/ppt/slides/slide1.xml" Id="rId3" /><Relationship Type="http://schemas.openxmlformats.org/officeDocument/2006/relationships/slide" Target="/ppt/slides/slide2.xml" Id="rId4" /><Relationship Type="http://schemas.openxmlformats.org/officeDocument/2006/relationships/slide" Target="/ppt/slides/slide3.xml" Id="rId5" /><Relationship Type="http://schemas.openxmlformats.org/officeDocument/2006/relationships/slide" Target="/ppt/slides/slide4.xml" Id="rId6" /><Relationship Type="http://schemas.openxmlformats.org/officeDocument/2006/relationships/slide" Target="/ppt/slides/slide5.xml" Id="rId7" /><Relationship Type="http://schemas.openxmlformats.org/officeDocument/2006/relationships/slide" Target="/ppt/slides/slide6.xml" Id="rId8" /><Relationship Type="http://schemas.openxmlformats.org/officeDocument/2006/relationships/slide" Target="/ppt/slides/slide7.xml" Id="rId9" /><Relationship Type="http://schemas.openxmlformats.org/officeDocument/2006/relationships/slide" Target="/ppt/slides/slide8.xml" Id="rId10" /><Relationship Type="http://schemas.openxmlformats.org/officeDocument/2006/relationships/slide" Target="/ppt/slides/slide9.xml" Id="rId11" /><Relationship Type="http://schemas.openxmlformats.org/officeDocument/2006/relationships/slide" Target="/ppt/slides/slide10.xml" Id="rId12" /><Relationship Type="http://schemas.openxmlformats.org/officeDocument/2006/relationships/slide" Target="/ppt/slides/slide11.xml" Id="rId13" /><Relationship Type="http://schemas.openxmlformats.org/officeDocument/2006/relationships/slide" Target="/ppt/slides/slide12.xml" Id="rId14" /><Relationship Type="http://schemas.openxmlformats.org/officeDocument/2006/relationships/slide" Target="/ppt/slides/slide13.xml" Id="rId15" /><Relationship Type="http://schemas.openxmlformats.org/officeDocument/2006/relationships/slide" Target="/ppt/slides/slide14.xml" Id="rId16" /><Relationship Type="http://schemas.openxmlformats.org/officeDocument/2006/relationships/slide" Target="/ppt/slides/slide15.xml" Id="rId17" /><Relationship Type="http://schemas.openxmlformats.org/officeDocument/2006/relationships/slide" Target="/ppt/slides/slide16.xml" Id="rId18" /><Relationship Type="http://schemas.openxmlformats.org/officeDocument/2006/relationships/slide" Target="/ppt/slides/slide17.xml" Id="rId19" /><Relationship Type="http://schemas.openxmlformats.org/officeDocument/2006/relationships/slide" Target="/ppt/slides/slide18.xml" Id="rId20" /><Relationship Type="http://schemas.openxmlformats.org/officeDocument/2006/relationships/slide" Target="/ppt/slides/slide19.xml" Id="rId21" /><Relationship Type="http://schemas.openxmlformats.org/officeDocument/2006/relationships/slide" Target="/ppt/slides/slide20.xml" Id="rId22" /><Relationship Type="http://schemas.openxmlformats.org/officeDocument/2006/relationships/slide" Target="/ppt/slides/slide21.xml" Id="rId23" /><Relationship Type="http://schemas.openxmlformats.org/officeDocument/2006/relationships/slide" Target="/ppt/slides/slide22.xml" Id="rId24" /><Relationship Type="http://schemas.openxmlformats.org/officeDocument/2006/relationships/slide" Target="/ppt/slides/slide23.xml" Id="rId25" /><Relationship Type="http://schemas.openxmlformats.org/officeDocument/2006/relationships/slide" Target="/ppt/slides/slide24.xml" Id="rId26" /><Relationship Type="http://schemas.openxmlformats.org/officeDocument/2006/relationships/slide" Target="/ppt/slides/slide25.xml" Id="rId27" /><Relationship Type="http://schemas.openxmlformats.org/officeDocument/2006/relationships/slide" Target="/ppt/slides/slide26.xml" Id="rId28" /><Relationship Type="http://schemas.openxmlformats.org/officeDocument/2006/relationships/slide" Target="/ppt/slides/slide27.xml" Id="rId29" /><Relationship Type="http://schemas.openxmlformats.org/officeDocument/2006/relationships/slide" Target="/ppt/slides/slide28.xml" Id="rId30" /><Relationship Type="http://schemas.openxmlformats.org/officeDocument/2006/relationships/slide" Target="/ppt/slides/slide29.xml" Id="rId31" /><Relationship Type="http://schemas.openxmlformats.org/officeDocument/2006/relationships/slide" Target="/ppt/slides/slide30.xml" Id="rId32" /><Relationship Type="http://schemas.openxmlformats.org/officeDocument/2006/relationships/slide" Target="/ppt/slides/slide31.xml" Id="rId33" /><Relationship Type="http://schemas.openxmlformats.org/officeDocument/2006/relationships/tableStyles" Target="/ppt/tableStyles.xml" Id="rId34"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image" Target="/ppt/media/image.jpg" Id="rI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 Slide">
    <p:bg>
      <p:bgPr>
        <a:solidFill>
          <a:schemeClr val="bg1"/>
        </a:solidFill>
      </p:bgPr>
    </p:bg>
    <p:spTree>
      <p:nvGrpSpPr>
        <p:cNvPr id="1" name=""/>
        <p:cNvGrpSpPr/>
        <p:nvPr/>
      </p:nvGrpSpPr>
      <p:grpSpPr/>
      <p:sp>
        <p:nvSpPr>
          <p:cNvPr id="96258" name=""/>
          <p:cNvSpPr>
            <a:spLocks noGrp="1"/>
          </p:cNvSpPr>
          <p:nvPr>
            <p:ph type="ctrTitle"/>
          </p:nvPr>
        </p:nvSpPr>
        <p:spPr>
          <a:xfrm>
            <a:off x="2133600" y="1371600"/>
            <a:ext cx="6477000" cy="1752600"/>
          </a:xfrm>
          <a:prstGeom prst="rect">
            <a:avLst/>
          </a:prstGeom>
          <a:noFill/>
          <a:ln>
            <a:noFill/>
          </a:ln>
        </p:spPr>
        <p:txBody>
          <a:bodyPr anchor="ctr" anchorCtr="0"/>
          <a:lstStyle>
            <a:lvl1pPr marL="0" lvl="0" indent="0" algn="l" defTabSz="914400">
              <a:lnSpc>
                <a:spcPct val="100000"/>
              </a:lnSpc>
              <a:spcBef>
                <a:spcPct val="0"/>
              </a:spcBef>
              <a:spcAft>
                <a:spcPct val="0"/>
              </a:spcAft>
              <a:buClrTx/>
              <a:buSzTx/>
              <a:buFontTx/>
              <a:buNone/>
              <a:defRPr lang="zh-CN" sz="4200" b="1" i="0" u="none" baseline="0">
                <a:solidFill>
                  <a:schemeClr val="tx2"/>
                </a:solidFill>
                <a:latin typeface="Arial"/>
                <a:ea typeface="黑体"/>
              </a:defRPr>
            </a:lvl1pPr>
          </a:lstStyle>
          <a:p>
            <a:pPr lvl="0"/>
            <a:r>
              <a:t>单击此处编辑母版标题样式</a:t>
            </a:r>
          </a:p>
        </p:txBody>
      </p:sp>
      <p:sp>
        <p:nvSpPr>
          <p:cNvPr id="96259" name=""/>
          <p:cNvSpPr>
            <a:spLocks noGrp="1"/>
          </p:cNvSpPr>
          <p:nvPr>
            <p:ph type="subTitle" idx="1"/>
          </p:nvPr>
        </p:nvSpPr>
        <p:spPr>
          <a:xfrm>
            <a:off x="2133600" y="3733800"/>
            <a:ext cx="6477000" cy="1981200"/>
          </a:xfrm>
          <a:prstGeom prst="rect">
            <a:avLst/>
          </a:prstGeom>
          <a:noFill/>
          <a:ln>
            <a:noFill/>
          </a:ln>
        </p:spPr>
        <p:txBody>
          <a:bodyPr/>
          <a:lstStyle>
            <a:lvl1pPr marL="0" lvl="0" indent="0" algn="l" defTabSz="914400">
              <a:lnSpc>
                <a:spcPct val="100000"/>
              </a:lnSpc>
              <a:spcBef>
                <a:spcPct val="20000"/>
              </a:spcBef>
              <a:spcAft>
                <a:spcPct val="0"/>
              </a:spcAft>
              <a:buClr>
                <a:schemeClr val="tx1"/>
              </a:buClr>
              <a:buSzPct val="70000"/>
              <a:buFont typeface="Wingdings" charset="2"/>
              <a:buNone/>
              <a:defRPr lang="zh-CN" sz="3400" b="0" i="0" u="none" baseline="0">
                <a:solidFill>
                  <a:schemeClr val="tx2"/>
                </a:solidFill>
                <a:latin typeface="Arial"/>
                <a:ea typeface="楷体"/>
              </a:defRPr>
            </a:lvl1pPr>
            <a:lvl2pPr marL="457200" lvl="1" indent="0" algn="ctr" defTabSz="914400">
              <a:lnSpc>
                <a:spcPct val="100000"/>
              </a:lnSpc>
              <a:spcBef>
                <a:spcPct val="20000"/>
              </a:spcBef>
              <a:spcAft>
                <a:spcPct val="0"/>
              </a:spcAft>
              <a:buClr>
                <a:schemeClr val="accent1"/>
              </a:buClr>
              <a:buSzPct val="75000"/>
              <a:buFont typeface="Wingdings" charset="2"/>
              <a:buNone/>
              <a:defRPr lang="zh-CN" sz="3200" b="0" i="0" u="none" baseline="0">
                <a:solidFill>
                  <a:schemeClr val="tx2"/>
                </a:solidFill>
                <a:latin typeface="Arial"/>
                <a:ea typeface="楷体"/>
              </a:defRPr>
            </a:lvl2pPr>
            <a:lvl3pPr marL="914400" lvl="2" indent="0" algn="ctr" defTabSz="914400">
              <a:lnSpc>
                <a:spcPct val="100000"/>
              </a:lnSpc>
              <a:spcBef>
                <a:spcPct val="20000"/>
              </a:spcBef>
              <a:spcAft>
                <a:spcPct val="0"/>
              </a:spcAft>
              <a:buClr>
                <a:schemeClr val="accent2"/>
              </a:buClr>
              <a:buSzTx/>
              <a:buFontTx/>
              <a:buNone/>
              <a:defRPr lang="zh-CN" sz="3200" b="0" i="0" u="none" baseline="0">
                <a:solidFill>
                  <a:schemeClr val="tx2"/>
                </a:solidFill>
                <a:latin typeface="Arial"/>
                <a:ea typeface="楷体"/>
              </a:defRPr>
            </a:lvl3pPr>
            <a:lvl4pPr marL="1371600" lvl="3" indent="0" algn="ctr" defTabSz="914400">
              <a:lnSpc>
                <a:spcPct val="100000"/>
              </a:lnSpc>
              <a:spcBef>
                <a:spcPct val="20000"/>
              </a:spcBef>
              <a:spcAft>
                <a:spcPct val="0"/>
              </a:spcAft>
              <a:buClr>
                <a:schemeClr val="tx1"/>
              </a:buClr>
              <a:buSzTx/>
              <a:buFontTx/>
              <a:buNone/>
              <a:defRPr lang="zh-CN" sz="3200" b="0" i="0" u="none" baseline="0">
                <a:solidFill>
                  <a:schemeClr val="tx2"/>
                </a:solidFill>
                <a:latin typeface="Arial"/>
                <a:ea typeface="楷体"/>
              </a:defRPr>
            </a:lvl4pPr>
            <a:lvl5pPr marL="1828800" lvl="4" indent="0" algn="ctr" defTabSz="914400">
              <a:lnSpc>
                <a:spcPct val="100000"/>
              </a:lnSpc>
              <a:spcBef>
                <a:spcPct val="20000"/>
              </a:spcBef>
              <a:spcAft>
                <a:spcPct val="0"/>
              </a:spcAft>
              <a:buClrTx/>
              <a:buSzTx/>
              <a:buFontTx/>
              <a:buNone/>
              <a:defRPr lang="zh-CN" sz="3200" b="0" i="0" u="none" baseline="0">
                <a:solidFill>
                  <a:schemeClr val="tx2"/>
                </a:solidFill>
                <a:latin typeface="Arial"/>
                <a:ea typeface="楷体"/>
              </a:defRPr>
            </a:lvl5pPr>
          </a:lstStyle>
          <a:p>
            <a:pPr lvl="0"/>
            <a:r>
              <a:t>单击此处编辑母版副标题样式</a:t>
            </a:r>
          </a:p>
        </p:txBody>
      </p:sp>
      <p:sp>
        <p:nvSpPr>
          <p:cNvPr id="96260" name=""/>
          <p:cNvSpPr>
            <a:spLocks noGrp="1"/>
          </p:cNvSpPr>
          <p:nvPr>
            <p:ph type="dt" idx="2"/>
          </p:nvPr>
        </p:nvSpPr>
        <p:spPr>
          <a:xfrm>
            <a:off x="7086600" y="6248400"/>
            <a:ext cx="1524000" cy="45720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r"/>
            <a:fld id="{D30F2533-F65F-4A89-A1DB-258E58494402}" type="datetime1">
              <a:rPr sz="1000"/>
              <a:t>*</a:t>
            </a:fld>
            <a:endParaRPr sz="1000"/>
          </a:p>
        </p:txBody>
      </p:sp>
      <p:sp>
        <p:nvSpPr>
          <p:cNvPr id="96261" name=""/>
          <p:cNvSpPr>
            <a:spLocks noGrp="1"/>
          </p:cNvSpPr>
          <p:nvPr>
            <p:ph type="ftr" idx="3"/>
          </p:nvPr>
        </p:nvSpPr>
        <p:spPr>
          <a:xfrm>
            <a:off x="3810000" y="6248400"/>
            <a:ext cx="2895600" cy="45720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ctr"/>
            <a:fld id="{C3DF123D-5CA5-49D3-9717-7E7EB7685E47}" type="footer">
              <a:rPr sz="1000"/>
              <a:t>*</a:t>
            </a:fld>
            <a:endParaRPr sz="1000"/>
          </a:p>
        </p:txBody>
      </p:sp>
      <p:sp>
        <p:nvSpPr>
          <p:cNvPr id="96262" name=""/>
          <p:cNvSpPr>
            <a:spLocks noGrp="1"/>
          </p:cNvSpPr>
          <p:nvPr>
            <p:ph type="sldNum" idx="4"/>
          </p:nvPr>
        </p:nvSpPr>
        <p:spPr>
          <a:xfrm>
            <a:off x="2209800" y="6248400"/>
            <a:ext cx="1219200" cy="45720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fld id="{8B40D6DE-CB98-4BB8-976C-56130C8533B1}" type="slidenum">
              <a:rPr sz="1400"/>
              <a:t>*</a:t>
            </a:fld>
            <a:endParaRPr sz="1400"/>
          </a:p>
        </p:txBody>
      </p:sp>
      <p:cxnSp>
        <p:nvCxnSpPr>
          <p:cNvPr id="96263" name=""/>
          <p:cNvCxnSpPr/>
          <p:nvPr/>
        </p:nvCxnSpPr>
        <p:spPr>
          <a:xfrm flipH="1">
            <a:off x="1905000" y="1219200"/>
            <a:ext cx="0" cy="2057400"/>
          </a:xfrm>
          <a:prstGeom prst="line">
            <a:avLst/>
          </a:prstGeom>
          <a:noFill/>
          <a:ln w="34925">
            <a:solidFill>
              <a:schemeClr val="tx2"/>
            </a:solidFill>
            <a:miter/>
          </a:ln>
        </p:spPr>
      </p:cxnSp>
      <p:sp>
        <p:nvSpPr>
          <p:cNvPr id="96264" name=""/>
          <p:cNvSpPr/>
          <p:nvPr/>
        </p:nvSpPr>
        <p:spPr>
          <a:xfrm>
            <a:off x="163513" y="2103438"/>
            <a:ext cx="347662" cy="347662"/>
          </a:xfrm>
          <a:prstGeom prst="ellipse">
            <a:avLst/>
          </a:prstGeom>
          <a:solidFill>
            <a:schemeClr val="tx1"/>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ctr"/>
            <a:endParaRPr sz="2400">
              <a:latin typeface="Times New Roman"/>
            </a:endParaRPr>
          </a:p>
        </p:txBody>
      </p:sp>
      <p:sp>
        <p:nvSpPr>
          <p:cNvPr id="96265" name=""/>
          <p:cNvSpPr/>
          <p:nvPr/>
        </p:nvSpPr>
        <p:spPr>
          <a:xfrm>
            <a:off x="739775" y="2105025"/>
            <a:ext cx="349250" cy="347663"/>
          </a:xfrm>
          <a:prstGeom prst="ellipse">
            <a:avLst/>
          </a:prstGeom>
          <a:solidFill>
            <a:schemeClr val="accent1"/>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ctr"/>
            <a:endParaRPr sz="2400">
              <a:latin typeface="Times New Roman"/>
            </a:endParaRPr>
          </a:p>
        </p:txBody>
      </p:sp>
      <p:sp>
        <p:nvSpPr>
          <p:cNvPr id="96266" name=""/>
          <p:cNvSpPr/>
          <p:nvPr/>
        </p:nvSpPr>
        <p:spPr>
          <a:xfrm>
            <a:off x="1317625" y="2105025"/>
            <a:ext cx="347663" cy="347663"/>
          </a:xfrm>
          <a:prstGeom prst="ellipse">
            <a:avLst/>
          </a:prstGeom>
          <a:solidFill>
            <a:schemeClr val="accent2"/>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ctr"/>
            <a:endParaRPr sz="2400">
              <a:latin typeface="Times New Roman"/>
            </a:endParaRPr>
          </a:p>
        </p:txBody>
      </p:sp>
      <p:pic>
        <p:nvPicPr>
          <p:cNvPr id="96267" name=""/>
          <p:cNvPicPr>
            <a:picLocks noChangeAspect="0"/>
          </p:cNvPicPr>
          <p:nvPr/>
        </p:nvPicPr>
        <p:blipFill>
          <a:blip r:embed="rId2"/>
          <a:stretch/>
        </p:blipFill>
        <p:spPr>
          <a:xfrm>
            <a:off x="8382000" y="6096000"/>
            <a:ext cx="762000" cy="762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idx="10"/>
          </p:nvPr>
        </p:nvSpPr>
        <p:spPr/>
        <p:txBody>
          <a:bodyPr/>
          <a:lstStyle/>
          <a:p>
            <a:pPr lvl="0" algn="r"/>
            <a:fld id="{530E53AF-45B9-406A-8E4A-0E44B827657E}" type="datetime1">
              <a:rPr sz="1000"/>
              <a:t>*</a:t>
            </a:fld>
            <a:endParaRPr sz="1000"/>
          </a:p>
        </p:txBody>
      </p:sp>
      <p:sp>
        <p:nvSpPr>
          <p:cNvPr id="5" name="Footer Placeholder 4"/>
          <p:cNvSpPr>
            <a:spLocks noGrp="1"/>
          </p:cNvSpPr>
          <p:nvPr>
            <p:ph type="ftr" idx="11"/>
          </p:nvPr>
        </p:nvSpPr>
        <p:spPr/>
        <p:txBody>
          <a:bodyPr/>
          <a:lstStyle/>
          <a:p>
            <a:pPr lvl="0" algn="ctr"/>
            <a:fld id="{5AD678B6-94A4-4375-9DE3-3C74E3726483}" type="footer">
              <a:rPr sz="1000"/>
              <a:t>*</a:t>
            </a:fld>
            <a:endParaRPr sz="1000"/>
          </a:p>
        </p:txBody>
      </p:sp>
      <p:sp>
        <p:nvSpPr>
          <p:cNvPr id="6" name="Slide Number Placeholder 5"/>
          <p:cNvSpPr>
            <a:spLocks noGrp="1"/>
          </p:cNvSpPr>
          <p:nvPr>
            <p:ph type="sldNum" idx="12"/>
          </p:nvPr>
        </p:nvSpPr>
        <p:spPr/>
        <p:txBody>
          <a:bodyPr/>
          <a:lstStyle/>
          <a:p>
            <a:pPr lvl="0"/>
            <a:fld id="{F978AEEC-F328-442A-9DE2-9CB07C4308ED}" type="slidenum">
              <a:rPr sz="140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Content Placeholder 2"/>
          <p:cNvSpPr>
            <a:spLocks noGrp="1"/>
          </p:cNvSpPr>
          <p:nvPr>
            <p:ph idx="1"/>
          </p:nvPr>
        </p:nvSpPr>
        <p:spPr>
          <a:xfrm>
            <a:off x="457200" y="1600200"/>
            <a:ext cx="4038600" cy="4525963"/>
          </a:xfrm>
        </p:spPr>
        <p:txBody>
          <a:bodyPr/>
          <a:lstStyle>
            <a:lvl1pPr lvl="0">
              <a:defRPr sz="2800"/>
            </a:lvl1pPr>
            <a:lvl2pPr lvl="1">
              <a:defRPr sz="2400"/>
            </a:lvl2pPr>
            <a:lvl3pPr lvl="2">
              <a:defRPr sz="2000"/>
            </a:lvl3pPr>
            <a:lvl4pPr lvl="3">
              <a:defRPr sz="1800"/>
            </a:lvl4pPr>
            <a:lvl5pPr lvl="4">
              <a:defRPr sz="1800"/>
            </a:lvl5pPr>
            <a:lvl6pPr lvl="5">
              <a:defRPr sz="1800"/>
            </a:lvl6pPr>
            <a:lvl7pPr lvl="6">
              <a:defRPr sz="1800"/>
            </a:lvl7pPr>
            <a:lvl8pPr lvl="7">
              <a:defRPr sz="1800"/>
            </a:lvl8pPr>
            <a:lvl9pPr lvl="8">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Content Placeholder 3"/>
          <p:cNvSpPr>
            <a:spLocks noGrp="1"/>
          </p:cNvSpPr>
          <p:nvPr>
            <p:ph idx="2"/>
          </p:nvPr>
        </p:nvSpPr>
        <p:spPr>
          <a:xfrm>
            <a:off x="4648200" y="1600200"/>
            <a:ext cx="4038600" cy="4525963"/>
          </a:xfrm>
        </p:spPr>
        <p:txBody>
          <a:bodyPr/>
          <a:lstStyle>
            <a:lvl1pPr lvl="0">
              <a:defRPr sz="2800"/>
            </a:lvl1pPr>
            <a:lvl2pPr lvl="1">
              <a:defRPr sz="2400"/>
            </a:lvl2pPr>
            <a:lvl3pPr lvl="2">
              <a:defRPr sz="2000"/>
            </a:lvl3pPr>
            <a:lvl4pPr lvl="3">
              <a:defRPr sz="1800"/>
            </a:lvl4pPr>
            <a:lvl5pPr lvl="4">
              <a:defRPr sz="1800"/>
            </a:lvl5pPr>
            <a:lvl6pPr lvl="5">
              <a:defRPr sz="1800"/>
            </a:lvl6pPr>
            <a:lvl7pPr lvl="6">
              <a:defRPr sz="1800"/>
            </a:lvl7pPr>
            <a:lvl8pPr lvl="7">
              <a:defRPr sz="1800"/>
            </a:lvl8pPr>
            <a:lvl9pPr lvl="8">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Date Placeholder 4"/>
          <p:cNvSpPr>
            <a:spLocks noGrp="1"/>
          </p:cNvSpPr>
          <p:nvPr>
            <p:ph type="dt" idx="10"/>
          </p:nvPr>
        </p:nvSpPr>
        <p:spPr/>
        <p:txBody>
          <a:bodyPr/>
          <a:lstStyle/>
          <a:p>
            <a:pPr lvl="0" algn="r"/>
            <a:fld id="{54E99BFF-D55E-4E0C-8EBB-F033DE73C68D}" type="datetime1">
              <a:rPr sz="1000"/>
              <a:t>*</a:t>
            </a:fld>
            <a:endParaRPr sz="1000"/>
          </a:p>
        </p:txBody>
      </p:sp>
      <p:sp>
        <p:nvSpPr>
          <p:cNvPr id="6" name="Footer Placeholder 5"/>
          <p:cNvSpPr>
            <a:spLocks noGrp="1"/>
          </p:cNvSpPr>
          <p:nvPr>
            <p:ph type="ftr" idx="11"/>
          </p:nvPr>
        </p:nvSpPr>
        <p:spPr/>
        <p:txBody>
          <a:bodyPr/>
          <a:lstStyle/>
          <a:p>
            <a:pPr lvl="0" algn="ctr"/>
            <a:fld id="{763EE6B0-CA3D-4A52-934F-B31CEE08C0A2}" type="footer">
              <a:rPr sz="1000"/>
              <a:t>*</a:t>
            </a:fld>
            <a:endParaRPr sz="1000"/>
          </a:p>
        </p:txBody>
      </p:sp>
      <p:sp>
        <p:nvSpPr>
          <p:cNvPr id="7" name="Slide Number Placeholder 6"/>
          <p:cNvSpPr>
            <a:spLocks noGrp="1"/>
          </p:cNvSpPr>
          <p:nvPr>
            <p:ph type="sldNum" idx="12"/>
          </p:nvPr>
        </p:nvSpPr>
        <p:spPr/>
        <p:txBody>
          <a:bodyPr/>
          <a:lstStyle/>
          <a:p>
            <a:pPr lvl="0"/>
            <a:fld id="{08082B68-F64B-458B-A946-4CD211A8685B}" type="slidenum">
              <a:rPr sz="140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Date Placeholder 2"/>
          <p:cNvSpPr>
            <a:spLocks noGrp="1"/>
          </p:cNvSpPr>
          <p:nvPr>
            <p:ph type="dt" idx="10"/>
          </p:nvPr>
        </p:nvSpPr>
        <p:spPr/>
        <p:txBody>
          <a:bodyPr/>
          <a:lstStyle/>
          <a:p>
            <a:pPr lvl="0" algn="r"/>
            <a:fld id="{A8F075D6-52E9-410B-8A28-5928558394CA}" type="datetime1">
              <a:rPr sz="1000"/>
              <a:t>*</a:t>
            </a:fld>
            <a:endParaRPr sz="1000"/>
          </a:p>
        </p:txBody>
      </p:sp>
      <p:sp>
        <p:nvSpPr>
          <p:cNvPr id="4" name="Footer Placeholder 3"/>
          <p:cNvSpPr>
            <a:spLocks noGrp="1"/>
          </p:cNvSpPr>
          <p:nvPr>
            <p:ph type="ftr" idx="11"/>
          </p:nvPr>
        </p:nvSpPr>
        <p:spPr/>
        <p:txBody>
          <a:bodyPr/>
          <a:lstStyle/>
          <a:p>
            <a:pPr lvl="0" algn="ctr"/>
            <a:fld id="{AAA55830-A874-43BD-82F0-F6C5881559BD}" type="footer">
              <a:rPr sz="1000"/>
              <a:t>*</a:t>
            </a:fld>
            <a:endParaRPr sz="1000"/>
          </a:p>
        </p:txBody>
      </p:sp>
      <p:sp>
        <p:nvSpPr>
          <p:cNvPr id="5" name="Slide Number Placeholder 4"/>
          <p:cNvSpPr>
            <a:spLocks noGrp="1"/>
          </p:cNvSpPr>
          <p:nvPr>
            <p:ph type="sldNum" idx="12"/>
          </p:nvPr>
        </p:nvSpPr>
        <p:spPr/>
        <p:txBody>
          <a:bodyPr/>
          <a:lstStyle/>
          <a:p>
            <a:pPr lvl="0"/>
            <a:fld id="{B914BB1C-9578-4ABD-A503-DF687B9600EE}" type="slidenum">
              <a:rPr sz="1400"/>
              <a:t>‹#›</a:t>
            </a:fld>
            <a:endParaRPr lang="en-US"/>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theme" Target="/ppt/slideMasters/theme/theme1.xml" Id="rId5" /><Relationship Type="http://schemas.openxmlformats.org/officeDocument/2006/relationships/image" Target="/ppt/media/image.jpg" Id="rId6"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p:sp>
        <p:nvSpPr>
          <p:cNvPr id="95234" name=""/>
          <p:cNvSpPr>
            <a:spLocks noGrp="1"/>
          </p:cNvSpPr>
          <p:nvPr>
            <p:ph type="title"/>
          </p:nvPr>
        </p:nvSpPr>
        <p:spPr>
          <a:xfrm>
            <a:off x="1524000" y="190500"/>
            <a:ext cx="7010400" cy="1527175"/>
          </a:xfrm>
          <a:prstGeom prst="rect">
            <a:avLst/>
          </a:prstGeom>
          <a:noFill/>
          <a:ln>
            <a:noFill/>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单击此处编辑母版标题样式</a:t>
            </a:r>
          </a:p>
        </p:txBody>
      </p:sp>
      <p:sp>
        <p:nvSpPr>
          <p:cNvPr id="95235" name=""/>
          <p:cNvSpPr>
            <a:spLocks noGrp="1"/>
          </p:cNvSpPr>
          <p:nvPr>
            <p:ph type="body" idx="1"/>
          </p:nvPr>
        </p:nvSpPr>
        <p:spPr>
          <a:xfrm>
            <a:off x="1524000" y="1905000"/>
            <a:ext cx="7010400" cy="4114800"/>
          </a:xfrm>
          <a:prstGeom prst="rect">
            <a:avLst/>
          </a:prstGeom>
          <a:noFill/>
          <a:ln>
            <a:noFill/>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单击此处编辑母版文本样式</a:t>
            </a:r>
          </a:p>
          <a:p>
            <a:pPr lvl="1"/>
            <a:r>
              <a:t>第二级</a:t>
            </a:r>
          </a:p>
          <a:p>
            <a:pPr lvl="2"/>
            <a:r>
              <a:t>第三级</a:t>
            </a:r>
          </a:p>
          <a:p>
            <a:pPr lvl="3"/>
            <a:r>
              <a:t>第四级</a:t>
            </a:r>
          </a:p>
          <a:p>
            <a:pPr lvl="4"/>
            <a:r>
              <a:t>第五级</a:t>
            </a:r>
          </a:p>
        </p:txBody>
      </p:sp>
      <p:sp>
        <p:nvSpPr>
          <p:cNvPr id="95236" name=""/>
          <p:cNvSpPr>
            <a:spLocks noGrp="1"/>
          </p:cNvSpPr>
          <p:nvPr>
            <p:ph type="dt" idx="2"/>
          </p:nvPr>
        </p:nvSpPr>
        <p:spPr>
          <a:xfrm>
            <a:off x="6629400" y="6248400"/>
            <a:ext cx="1905000" cy="45720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r"/>
            <a:fld id="{BE1A536F-C49B-4B09-91CD-3D36543336EA}" type="datetime1">
              <a:rPr sz="1000"/>
              <a:t>*</a:t>
            </a:fld>
            <a:endParaRPr sz="1000"/>
          </a:p>
        </p:txBody>
      </p:sp>
      <p:sp>
        <p:nvSpPr>
          <p:cNvPr id="95237" name=""/>
          <p:cNvSpPr>
            <a:spLocks noGrp="1"/>
          </p:cNvSpPr>
          <p:nvPr>
            <p:ph type="ftr" idx="3"/>
          </p:nvPr>
        </p:nvSpPr>
        <p:spPr>
          <a:xfrm>
            <a:off x="3276600" y="6248400"/>
            <a:ext cx="2895600" cy="45720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ctr"/>
            <a:fld id="{CB437068-9A0C-41C2-9873-C8D5CE9B66D2}" type="footer">
              <a:rPr sz="1000"/>
              <a:t>*</a:t>
            </a:fld>
            <a:endParaRPr sz="1000"/>
          </a:p>
        </p:txBody>
      </p:sp>
      <p:sp>
        <p:nvSpPr>
          <p:cNvPr id="95238" name=""/>
          <p:cNvSpPr>
            <a:spLocks noGrp="1"/>
          </p:cNvSpPr>
          <p:nvPr>
            <p:ph type="sldNum" idx="4"/>
          </p:nvPr>
        </p:nvSpPr>
        <p:spPr>
          <a:xfrm>
            <a:off x="1524000" y="6248400"/>
            <a:ext cx="1295400" cy="457200"/>
          </a:xfrm>
          <a:prstGeom prst="rect">
            <a:avLst/>
          </a:prstGeom>
          <a:noFill/>
          <a:ln>
            <a:noFill/>
          </a:ln>
        </p:spPr>
        <p:txBody>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fld id="{BD2EE160-9177-45D7-8599-53D748F84672}" type="slidenum">
              <a:rPr sz="1400"/>
              <a:t>*</a:t>
            </a:fld>
            <a:endParaRPr sz="1400"/>
          </a:p>
        </p:txBody>
      </p:sp>
      <p:cxnSp>
        <p:nvCxnSpPr>
          <p:cNvPr id="95239" name=""/>
          <p:cNvCxnSpPr/>
          <p:nvPr/>
        </p:nvCxnSpPr>
        <p:spPr>
          <a:xfrm flipH="1" flipV="1">
            <a:off x="1371600" y="304800"/>
            <a:ext cx="0" cy="1295400"/>
          </a:xfrm>
          <a:prstGeom prst="line">
            <a:avLst/>
          </a:prstGeom>
          <a:noFill/>
          <a:ln w="38100">
            <a:solidFill>
              <a:schemeClr val="tx2"/>
            </a:solidFill>
            <a:miter/>
          </a:ln>
        </p:spPr>
      </p:cxnSp>
      <p:sp>
        <p:nvSpPr>
          <p:cNvPr id="95240" name=""/>
          <p:cNvSpPr/>
          <p:nvPr/>
        </p:nvSpPr>
        <p:spPr>
          <a:xfrm>
            <a:off x="152400" y="838200"/>
            <a:ext cx="228600" cy="228600"/>
          </a:xfrm>
          <a:prstGeom prst="ellipse">
            <a:avLst/>
          </a:prstGeom>
          <a:solidFill>
            <a:schemeClr val="tx1"/>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ctr"/>
            <a:endParaRPr sz="2400">
              <a:latin typeface="Times New Roman"/>
            </a:endParaRPr>
          </a:p>
        </p:txBody>
      </p:sp>
      <p:sp>
        <p:nvSpPr>
          <p:cNvPr id="95241" name=""/>
          <p:cNvSpPr/>
          <p:nvPr/>
        </p:nvSpPr>
        <p:spPr>
          <a:xfrm>
            <a:off x="539750" y="838200"/>
            <a:ext cx="228600" cy="228600"/>
          </a:xfrm>
          <a:prstGeom prst="ellipse">
            <a:avLst/>
          </a:prstGeom>
          <a:solidFill>
            <a:schemeClr val="accent1"/>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ctr"/>
            <a:endParaRPr sz="2400">
              <a:latin typeface="Times New Roman"/>
            </a:endParaRPr>
          </a:p>
        </p:txBody>
      </p:sp>
      <p:sp>
        <p:nvSpPr>
          <p:cNvPr id="95242" name=""/>
          <p:cNvSpPr/>
          <p:nvPr/>
        </p:nvSpPr>
        <p:spPr>
          <a:xfrm>
            <a:off x="927100" y="838200"/>
            <a:ext cx="228600" cy="228600"/>
          </a:xfrm>
          <a:prstGeom prst="ellipse">
            <a:avLst/>
          </a:prstGeom>
          <a:solidFill>
            <a:schemeClr val="accent2"/>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gn="ctr"/>
            <a:endParaRPr sz="2400">
              <a:latin typeface="Times New Roman"/>
            </a:endParaRPr>
          </a:p>
        </p:txBody>
      </p:sp>
      <p:pic>
        <p:nvPicPr>
          <p:cNvPr id="95243" name=""/>
          <p:cNvPicPr>
            <a:picLocks noChangeAspect="0"/>
          </p:cNvPicPr>
          <p:nvPr/>
        </p:nvPicPr>
        <p:blipFill>
          <a:blip r:embed="rId6"/>
          <a:stretch/>
        </p:blipFill>
        <p:spPr>
          <a:xfrm>
            <a:off x="8382000" y="6096000"/>
            <a:ext cx="762000" cy="762000"/>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marL="0" lvl="0" indent="0" algn="l" defTabSz="914400">
        <a:lnSpc>
          <a:spcPct val="100000"/>
        </a:lnSpc>
        <a:spcBef>
          <a:spcPct val="0"/>
        </a:spcBef>
        <a:spcAft>
          <a:spcPct val="0"/>
        </a:spcAft>
        <a:buClrTx/>
        <a:buSzTx/>
        <a:buFontTx/>
        <a:buNone/>
        <a:defRPr sz="4000" b="1" i="0" u="none" baseline="0">
          <a:solidFill>
            <a:schemeClr val="tx2"/>
          </a:solidFill>
          <a:latin typeface="Arial"/>
          <a:ea typeface="黑体"/>
        </a:defRPr>
      </a:lvl1pPr>
    </p:titleStyle>
    <p:bodyStyle>
      <a:lvl1pPr marL="342900" lvl="0" indent="-342900" algn="l" defTabSz="914400">
        <a:lnSpc>
          <a:spcPct val="100000"/>
        </a:lnSpc>
        <a:spcBef>
          <a:spcPct val="20000"/>
        </a:spcBef>
        <a:spcAft>
          <a:spcPct val="0"/>
        </a:spcAft>
        <a:buClr>
          <a:schemeClr val="tx1"/>
        </a:buClr>
        <a:buSzPct val="70000"/>
        <a:buFont typeface="Wingdings" charset="2"/>
        <a:buChar char="¢"/>
        <a:defRPr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sz="3200" b="0" i="0" u="none" baseline="0">
          <a:solidFill>
            <a:schemeClr val="tx2"/>
          </a:solidFill>
          <a:latin typeface="Arial"/>
          <a:ea typeface="楷体"/>
        </a:defRPr>
      </a:lvl5pPr>
    </p:bodyStyle>
    <p:otherStyle/>
  </p:txStyles>
</p:sldMaster>
</file>

<file path=ppt/slideMasters/theme/theme1.xml><?xml version="1.0" encoding="utf-8"?>
<a:theme xmlns:thm15="http://schemas.microsoft.com/office/thememl/2012/main" xmlns:a="http://schemas.openxmlformats.org/drawingml/2006/main" name="Office 主题​​">
  <a:themeElements>
    <a:clrScheme name="Office">
      <a:dk1>
        <a:srgbClr val="336666"/>
      </a:dk1>
      <a:lt1>
        <a:srgbClr val="FFFFFF"/>
      </a:lt1>
      <a:dk2>
        <a:srgbClr val="000000"/>
      </a:dk2>
      <a:lt2>
        <a:srgbClr val="666699"/>
      </a:lt2>
      <a:accent1>
        <a:srgbClr val="99CCCC"/>
      </a:accent1>
      <a:accent2>
        <a:srgbClr val="CCCCCC"/>
      </a:accent2>
      <a:accent3>
        <a:srgbClr val="9BBB59"/>
      </a:accent3>
      <a:accent4>
        <a:srgbClr val="8064A2"/>
      </a:accent4>
      <a:accent5>
        <a:srgbClr val="4BACC6"/>
      </a:accent5>
      <a:accent6>
        <a:srgbClr val="F79646"/>
      </a:accent6>
      <a:hlink>
        <a:srgbClr val="006666"/>
      </a:hlink>
      <a:folHlink>
        <a:srgbClr val="B2B2B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2.jpg" Id="rId2" /><Relationship Type="http://schemas.openxmlformats.org/officeDocument/2006/relationships/image" Target="/ppt/media/image3.jpg" Id="rId3" /><Relationship Type="http://schemas.openxmlformats.org/officeDocument/2006/relationships/image" Target="/ppt/media/image4.jpg" Id="rI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5.jpg" Id="rI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6.jpg" Id="rId2" /><Relationship Type="http://schemas.openxmlformats.org/officeDocument/2006/relationships/image" Target="/ppt/media/image7.jpg" Id="rId3" /><Relationship Type="http://schemas.openxmlformats.org/officeDocument/2006/relationships/image" Target="/ppt/media/image8.jpg" Id="rId4" /><Relationship Type="http://schemas.openxmlformats.org/officeDocument/2006/relationships/image" Target="/ppt/media/image9.jpg" Id="rI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10.jpg" Id="rId2" /><Relationship Type="http://schemas.openxmlformats.org/officeDocument/2006/relationships/hyperlink" Target="http://www.islamsm.com/Article/UploadFiles/200810/20081016211606247.jpg" TargetMode="External" Id="rI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Id1" /><Relationship Type="http://schemas.openxmlformats.org/officeDocument/2006/relationships/image" Target="/ppt/media/image11.jpg" Id="rI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12.jpg" Id="rId2" /><Relationship Type="http://schemas.openxmlformats.org/officeDocument/2006/relationships/image" Target="/ppt/media/image13.jpg" Id="rId3" /><Relationship Type="http://schemas.openxmlformats.org/officeDocument/2006/relationships/image" Target="/ppt/media/image14.jpg" Id="rI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15.jpg" Id="rI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16.jpg" Id="rI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17.jpg" Id="rId2" /><Relationship Type="http://schemas.openxmlformats.org/officeDocument/2006/relationships/image" Target="/ppt/media/image18.jpg" Id="rId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I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Id1" /></Relationships>
</file>

<file path=ppt/slides/slide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122" name=""/>
          <p:cNvSpPr/>
          <p:nvPr>
            <p:ph type="ctrTitle"/>
          </p:nvPr>
        </p:nvSpPr>
        <p:spPr>
          <a:xfrm>
            <a:off x="2133600" y="1371600"/>
            <a:ext cx="6477000" cy="1752600"/>
          </a:xfrm>
          <a:prstGeom prst="rect">
            <a:avLst/>
          </a:prstGeom>
          <a:noFill/>
          <a:ln>
            <a:miter/>
          </a:ln>
        </p:spPr>
        <p:txBody>
          <a:bodyPr anchor="ctr" anchorCtr="0"/>
          <a:lstStyle/>
          <a:p>
            <a:pPr lvl="0"/>
            <a:r>
              <a:rPr sz="4000">
                <a:solidFill>
                  <a:schemeClr val="tx1"/>
                </a:solidFill>
              </a:rPr>
              <a:t>第五讲 科学职业的若干问题</a:t>
            </a:r>
            <a:endParaRPr sz="4000">
              <a:solidFill>
                <a:schemeClr val="tx1"/>
              </a:solidFill>
            </a:endParaRPr>
          </a:p>
        </p:txBody>
      </p:sp>
      <p:sp>
        <p:nvSpPr>
          <p:cNvPr id="5123" name=""/>
          <p:cNvSpPr/>
          <p:nvPr>
            <p:ph type="subTitle" idx="1"/>
          </p:nvPr>
        </p:nvSpPr>
        <p:spPr>
          <a:xfrm>
            <a:off x="2133600" y="3733800"/>
            <a:ext cx="6477000" cy="1981200"/>
          </a:xfrm>
          <a:prstGeom prst="rect">
            <a:avLst/>
          </a:prstGeom>
          <a:noFill/>
          <a:ln>
            <a:miter/>
          </a:ln>
        </p:spPr>
        <p:txBody>
          <a:bodyPr/>
          <a:lstStyle/>
          <a:p>
            <a:pPr lvl="0"/>
            <a:r>
              <a:t>刘永谋</a:t>
            </a:r>
          </a:p>
          <a:p>
            <a:pPr lvl="0"/>
            <a:r>
              <a:t>liuyongmou@ruc.edu.cn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17762"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rPr sz="3600"/>
              <a:t>第五讲 科学职业的若干问题</a:t>
            </a:r>
            <a:endParaRPr sz="3600"/>
          </a:p>
        </p:txBody>
      </p:sp>
      <p:sp>
        <p:nvSpPr>
          <p:cNvPr id="117763" name=""/>
          <p:cNvSpPr/>
          <p:nvPr>
            <p:ph type="body" idx="1"/>
          </p:nvPr>
        </p:nvSpPr>
        <p:spPr>
          <a:xfrm>
            <a:off x="1524000" y="17526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科学是如何职业化的？</a:t>
            </a:r>
          </a:p>
          <a:p>
            <a:pPr lvl="0"/>
            <a:r>
              <a:t>科学职业的特点和规范</a:t>
            </a:r>
          </a:p>
          <a:p>
            <a:pPr lvl="0"/>
            <a:r>
              <a:t>科学职业中的马太效应与权威</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18786" name=""/>
          <p:cNvSpPr/>
          <p:nvPr>
            <p:ph type="title"/>
          </p:nvPr>
        </p:nvSpPr>
        <p:spPr>
          <a:xfrm>
            <a:off x="1143000" y="2362200"/>
            <a:ext cx="72390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rPr sz="3600">
                <a:solidFill>
                  <a:schemeClr val="tx1"/>
                </a:solidFill>
              </a:rPr>
              <a:t>一、什么是科学职业化？</a:t>
            </a:r>
            <a:endParaRPr sz="360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6146" name=""/>
          <p:cNvPicPr>
            <a:picLocks noChangeAspect="0"/>
          </p:cNvPicPr>
          <p:nvPr/>
        </p:nvPicPr>
        <p:blipFill>
          <a:blip r:embed="rId2"/>
          <a:stretch/>
        </p:blipFill>
        <p:spPr>
          <a:xfrm>
            <a:off x="304800" y="2667000"/>
            <a:ext cx="2333625" cy="2857500"/>
          </a:xfrm>
          <a:prstGeom prst="rect">
            <a:avLst/>
          </a:prstGeom>
          <a:noFill/>
          <a:ln>
            <a:noFill/>
          </a:ln>
        </p:spPr>
      </p:pic>
      <p:pic>
        <p:nvPicPr>
          <p:cNvPr id="6147" name=""/>
          <p:cNvPicPr>
            <a:picLocks noChangeAspect="0"/>
          </p:cNvPicPr>
          <p:nvPr/>
        </p:nvPicPr>
        <p:blipFill>
          <a:blip r:embed="rId3"/>
          <a:stretch/>
        </p:blipFill>
        <p:spPr>
          <a:xfrm>
            <a:off x="2209800" y="228600"/>
            <a:ext cx="4224338" cy="5029200"/>
          </a:xfrm>
          <a:prstGeom prst="rect">
            <a:avLst/>
          </a:prstGeom>
          <a:noFill/>
          <a:ln>
            <a:noFill/>
          </a:ln>
        </p:spPr>
      </p:pic>
      <p:pic>
        <p:nvPicPr>
          <p:cNvPr id="6148" name=""/>
          <p:cNvPicPr>
            <a:picLocks noChangeAspect="0"/>
          </p:cNvPicPr>
          <p:nvPr/>
        </p:nvPicPr>
        <p:blipFill>
          <a:blip r:embed="rId4"/>
          <a:stretch/>
        </p:blipFill>
        <p:spPr>
          <a:xfrm>
            <a:off x="4419600" y="3124200"/>
            <a:ext cx="3810000" cy="2857500"/>
          </a:xfrm>
          <a:prstGeom prst="rect">
            <a:avLst/>
          </a:prstGeom>
          <a:noFill/>
          <a:ln>
            <a:noFill/>
          </a:ln>
        </p:spPr>
      </p:pic>
      <p:sp>
        <p:nvSpPr>
          <p:cNvPr id="6149" name=""/>
          <p:cNvSpPr/>
          <p:nvPr>
            <p:ph type="body" idx="1"/>
          </p:nvPr>
        </p:nvSpPr>
        <p:spPr>
          <a:xfrm>
            <a:off x="1981200" y="2362200"/>
            <a:ext cx="4953000" cy="1447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rPr b="1"/>
              <a:t>在今天，科学家已经是一种职业或职位。</a:t>
            </a:r>
            <a:endParaRPr b="1"/>
          </a:p>
        </p:txBody>
      </p:sp>
      <p:sp>
        <p:nvSpPr>
          <p:cNvPr id="6150" name=""/>
          <p:cNvSpPr/>
          <p:nvPr/>
        </p:nvSpPr>
        <p:spPr>
          <a:xfrm>
            <a:off x="5943600" y="533400"/>
            <a:ext cx="2971800" cy="339725"/>
          </a:xfrm>
          <a:prstGeom prst="rect">
            <a:avLst/>
          </a:prstGeom>
          <a:noFill/>
          <a:ln>
            <a:noFill/>
          </a:ln>
        </p:spPr>
        <p:txBody>
          <a:bodyPr>
            <a:spAutoFit/>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nSpc>
                <a:spcPct val="90000"/>
              </a:lnSpc>
              <a:spcBef>
                <a:spcPct val="20000"/>
              </a:spcBef>
              <a:buClr>
                <a:schemeClr val="tx1"/>
              </a:buClr>
              <a:buSzPct val="70000"/>
              <a:buFont typeface="Wingdings" charset="2"/>
              <a:buChar char="ç"/>
            </a:pPr>
            <a:r>
              <a:rPr>
                <a:ea typeface="黑体"/>
              </a:rPr>
              <a:t>霍金、居里夫人、杨振宁</a:t>
            </a:r>
            <a:endParaRPr>
              <a:ea typeface="黑体"/>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1266" name=""/>
          <p:cNvSpPr/>
          <p:nvPr>
            <p:ph type="title"/>
          </p:nvPr>
        </p:nvSpPr>
        <p:spPr>
          <a:xfrm>
            <a:off x="1524000" y="225425"/>
            <a:ext cx="54102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1</a:t>
            </a:r>
            <a:r>
              <a:t>、古代和中世纪</a:t>
            </a:r>
          </a:p>
        </p:txBody>
      </p:sp>
      <p:sp>
        <p:nvSpPr>
          <p:cNvPr id="11267" name=""/>
          <p:cNvSpPr/>
          <p:nvPr>
            <p:ph type="body" idx="1"/>
          </p:nvPr>
        </p:nvSpPr>
        <p:spPr>
          <a:xfrm>
            <a:off x="3124200" y="1905000"/>
            <a:ext cx="54102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近代科学活动和科学家的社会角色是经过几个世纪的发展才出现在西欧的若干国家之中的，到了</a:t>
            </a:r>
            <a:r>
              <a:t>19</a:t>
            </a:r>
            <a:r>
              <a:t>世纪以后，这种科学活动及科学家角色才传播到世界其他地方。</a:t>
            </a:r>
          </a:p>
          <a:p>
            <a:pPr lvl="0">
              <a:buNone/>
            </a:pPr>
          </a:p>
          <a:p>
            <a:pPr lvl="0">
              <a:buFont typeface="Wingdings" charset="2"/>
              <a:buChar char="ç"/>
            </a:pPr>
            <a:r>
              <a:rPr sz="2400">
                <a:solidFill>
                  <a:schemeClr val="tx1"/>
                </a:solidFill>
                <a:ea typeface="黑体"/>
              </a:rPr>
              <a:t>詹天佑</a:t>
            </a:r>
          </a:p>
        </p:txBody>
      </p:sp>
      <p:pic>
        <p:nvPicPr>
          <p:cNvPr id="11268" name=""/>
          <p:cNvPicPr>
            <a:picLocks noChangeAspect="0"/>
          </p:cNvPicPr>
          <p:nvPr/>
        </p:nvPicPr>
        <p:blipFill>
          <a:blip r:embed="rId2"/>
          <a:stretch/>
        </p:blipFill>
        <p:spPr>
          <a:xfrm>
            <a:off x="0" y="3200400"/>
            <a:ext cx="2855913" cy="3657600"/>
          </a:xfrm>
          <a:prstGeom prst="rect">
            <a:avLst/>
          </a:prstGeom>
          <a:noFill/>
          <a:ln>
            <a:miter/>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2291" name=""/>
          <p:cNvSpPr/>
          <p:nvPr>
            <p:ph type="body" idx="1"/>
          </p:nvPr>
        </p:nvSpPr>
        <p:spPr>
          <a:xfrm>
            <a:off x="4724400" y="685800"/>
            <a:ext cx="3810000" cy="55626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哲学家</a:t>
            </a:r>
          </a:p>
          <a:p>
            <a:pPr lvl="0"/>
            <a:r>
              <a:t>技术人员</a:t>
            </a:r>
          </a:p>
          <a:p>
            <a:pPr lvl="0"/>
            <a:r>
              <a:t>医生</a:t>
            </a:r>
          </a:p>
          <a:p>
            <a:pPr lvl="0"/>
            <a:r>
              <a:t>占星术士</a:t>
            </a:r>
            <a:r>
              <a:t>·</a:t>
            </a:r>
            <a:r>
              <a:t>炼金术士</a:t>
            </a:r>
          </a:p>
          <a:p>
            <a:pPr lvl="0"/>
          </a:p>
          <a:p>
            <a:pPr lvl="0"/>
          </a:p>
          <a:p>
            <a:pPr lvl="0">
              <a:buFont typeface="Wingdings" charset="2"/>
              <a:buChar char="ç"/>
            </a:pPr>
            <a:r>
              <a:rPr sz="2400">
                <a:solidFill>
                  <a:schemeClr val="tx1"/>
                </a:solidFill>
                <a:ea typeface="黑体"/>
              </a:rPr>
              <a:t>亚里士多德、阿基米德、希波克拉底、托勒密</a:t>
            </a:r>
          </a:p>
        </p:txBody>
      </p:sp>
      <p:pic>
        <p:nvPicPr>
          <p:cNvPr id="12292" name=""/>
          <p:cNvPicPr>
            <a:picLocks noChangeAspect="0"/>
          </p:cNvPicPr>
          <p:nvPr/>
        </p:nvPicPr>
        <p:blipFill>
          <a:blip r:embed="rId2"/>
          <a:stretch/>
        </p:blipFill>
        <p:spPr>
          <a:xfrm>
            <a:off x="0" y="1219200"/>
            <a:ext cx="2478088" cy="2743200"/>
          </a:xfrm>
          <a:prstGeom prst="rect">
            <a:avLst/>
          </a:prstGeom>
          <a:noFill/>
          <a:ln>
            <a:miter/>
          </a:ln>
        </p:spPr>
      </p:pic>
      <p:pic>
        <p:nvPicPr>
          <p:cNvPr id="12293" name=""/>
          <p:cNvPicPr>
            <a:picLocks noChangeAspect="0"/>
          </p:cNvPicPr>
          <p:nvPr/>
        </p:nvPicPr>
        <p:blipFill>
          <a:blip r:embed="rId3"/>
          <a:stretch/>
        </p:blipFill>
        <p:spPr>
          <a:xfrm>
            <a:off x="2438400" y="1933575"/>
            <a:ext cx="1973263" cy="2409825"/>
          </a:xfrm>
          <a:prstGeom prst="rect">
            <a:avLst/>
          </a:prstGeom>
          <a:noFill/>
          <a:ln>
            <a:miter/>
          </a:ln>
        </p:spPr>
      </p:pic>
      <p:pic>
        <p:nvPicPr>
          <p:cNvPr id="12294" name=""/>
          <p:cNvPicPr>
            <a:picLocks noChangeAspect="0"/>
          </p:cNvPicPr>
          <p:nvPr/>
        </p:nvPicPr>
        <p:blipFill>
          <a:blip r:embed="rId4"/>
          <a:stretch/>
        </p:blipFill>
        <p:spPr>
          <a:xfrm>
            <a:off x="-19050" y="3886200"/>
            <a:ext cx="2457450" cy="2590800"/>
          </a:xfrm>
          <a:prstGeom prst="rect">
            <a:avLst/>
          </a:prstGeom>
          <a:noFill/>
          <a:ln>
            <a:miter/>
          </a:ln>
        </p:spPr>
      </p:pic>
      <p:pic>
        <p:nvPicPr>
          <p:cNvPr id="12295" name=""/>
          <p:cNvPicPr>
            <a:picLocks noChangeAspect="0"/>
          </p:cNvPicPr>
          <p:nvPr/>
        </p:nvPicPr>
        <p:blipFill>
          <a:blip r:embed="rId5"/>
          <a:stretch/>
        </p:blipFill>
        <p:spPr>
          <a:xfrm>
            <a:off x="2438400" y="4343400"/>
            <a:ext cx="2027238" cy="2514600"/>
          </a:xfrm>
          <a:prstGeom prst="rect">
            <a:avLst/>
          </a:prstGeom>
          <a:noFill/>
          <a:ln>
            <a:miter/>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4338"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阿拉伯寺院和僧侣</a:t>
            </a:r>
          </a:p>
        </p:txBody>
      </p:sp>
      <p:sp>
        <p:nvSpPr>
          <p:cNvPr id="14339" name=""/>
          <p:cNvSpPr/>
          <p:nvPr>
            <p:ph type="body" idx="1"/>
          </p:nvPr>
        </p:nvSpPr>
        <p:spPr>
          <a:xfrm>
            <a:off x="3733800" y="1905000"/>
            <a:ext cx="48006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伊斯兰寺院的僧侣学院</a:t>
            </a:r>
          </a:p>
          <a:p>
            <a:pPr lvl="0"/>
            <a:r>
              <a:t>埃兹哈尔大学 </a:t>
            </a:r>
          </a:p>
          <a:p>
            <a:pPr lvl="0">
              <a:buNone/>
            </a:pPr>
          </a:p>
          <a:p>
            <a:pPr lvl="0">
              <a:buFont typeface="Wingdings" charset="2"/>
              <a:buChar char="ç"/>
            </a:pPr>
            <a:r>
              <a:rPr sz="2400">
                <a:solidFill>
                  <a:schemeClr val="tx1"/>
                </a:solidFill>
                <a:ea typeface="黑体"/>
              </a:rPr>
              <a:t>埃兹哈尔大学的校徽</a:t>
            </a:r>
          </a:p>
        </p:txBody>
      </p:sp>
      <p:pic>
        <p:nvPicPr>
          <p:cNvPr id="14340" name="">
            <a:hlinkClick r:id="rId3"/>
          </p:cNvPr>
          <p:cNvPicPr>
            <a:picLocks noChangeAspect="0"/>
          </p:cNvPicPr>
          <p:nvPr/>
        </p:nvPicPr>
        <p:blipFill>
          <a:blip r:embed="rId2"/>
          <a:stretch/>
        </p:blipFill>
        <p:spPr>
          <a:xfrm>
            <a:off x="457200" y="2895600"/>
            <a:ext cx="3200400" cy="3200400"/>
          </a:xfrm>
          <a:prstGeom prst="rect">
            <a:avLst/>
          </a:prstGeom>
          <a:solidFill>
            <a:srgbClr val="FFFFFF"/>
          </a:solidFill>
          <a:ln>
            <a:miter/>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5362"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欧洲的教堂、神职人员及大学</a:t>
            </a:r>
          </a:p>
        </p:txBody>
      </p:sp>
      <p:sp>
        <p:nvSpPr>
          <p:cNvPr id="15363" name=""/>
          <p:cNvSpPr/>
          <p:nvPr>
            <p:ph type="body" idx="1"/>
          </p:nvPr>
        </p:nvSpPr>
        <p:spPr>
          <a:xfrm>
            <a:off x="2173288" y="1828800"/>
            <a:ext cx="2921000" cy="1592263"/>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lvl="0">
              <a:lnSpc>
                <a:spcPct val="90000"/>
              </a:lnSpc>
            </a:pPr>
            <a:r>
              <a:t>近代大学雏形</a:t>
            </a:r>
          </a:p>
          <a:p>
            <a:pPr lvl="0">
              <a:lnSpc>
                <a:spcPct val="90000"/>
              </a:lnSpc>
            </a:pPr>
            <a:r>
              <a:t>波伦那大学</a:t>
            </a:r>
          </a:p>
        </p:txBody>
      </p:sp>
      <p:sp>
        <p:nvSpPr>
          <p:cNvPr id="15364" name=""/>
          <p:cNvSpPr/>
          <p:nvPr>
            <p:ph type="body" idx="1"/>
          </p:nvPr>
        </p:nvSpPr>
        <p:spPr>
          <a:xfrm>
            <a:off x="5715000" y="1905000"/>
            <a:ext cx="2819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lvl="0">
              <a:lnSpc>
                <a:spcPct val="90000"/>
              </a:lnSpc>
            </a:pPr>
            <a:r>
              <a:t>世俗大学教师出现</a:t>
            </a:r>
          </a:p>
          <a:p>
            <a:pPr lvl="0">
              <a:lnSpc>
                <a:spcPct val="90000"/>
              </a:lnSpc>
              <a:buNone/>
            </a:pPr>
          </a:p>
          <a:p>
            <a:pPr lvl="0">
              <a:lnSpc>
                <a:spcPct val="90000"/>
              </a:lnSpc>
              <a:buNone/>
            </a:pPr>
          </a:p>
          <a:p>
            <a:pPr lvl="0">
              <a:lnSpc>
                <a:spcPct val="90000"/>
              </a:lnSpc>
              <a:buNone/>
            </a:pPr>
          </a:p>
          <a:p>
            <a:pPr lvl="0">
              <a:lnSpc>
                <a:spcPct val="90000"/>
              </a:lnSpc>
              <a:buNone/>
            </a:pPr>
          </a:p>
          <a:p>
            <a:pPr lvl="0">
              <a:lnSpc>
                <a:spcPct val="90000"/>
              </a:lnSpc>
              <a:buNone/>
            </a:pPr>
          </a:p>
          <a:p>
            <a:pPr lvl="0">
              <a:lnSpc>
                <a:spcPct val="90000"/>
              </a:lnSpc>
              <a:buFont typeface="Wingdings" charset="2"/>
            </a:pPr>
            <a:r>
              <a:rPr sz="2000">
                <a:solidFill>
                  <a:schemeClr val="tx1"/>
                </a:solidFill>
                <a:ea typeface="黑体"/>
              </a:rPr>
              <a:t>波伦那大学法学院学生在听课</a:t>
            </a:r>
          </a:p>
        </p:txBody>
      </p:sp>
      <p:pic>
        <p:nvPicPr>
          <p:cNvPr id="15365" name=""/>
          <p:cNvPicPr>
            <a:picLocks noChangeAspect="0"/>
          </p:cNvPicPr>
          <p:nvPr/>
        </p:nvPicPr>
        <p:blipFill>
          <a:blip r:embed="rId2"/>
          <a:stretch/>
        </p:blipFill>
        <p:spPr>
          <a:xfrm>
            <a:off x="0" y="3505200"/>
            <a:ext cx="5105400" cy="3352800"/>
          </a:xfrm>
          <a:prstGeom prst="rect">
            <a:avLst/>
          </a:prstGeom>
          <a:noFill/>
          <a:ln>
            <a:miter/>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6386"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艺术家和工匠</a:t>
            </a:r>
          </a:p>
        </p:txBody>
      </p:sp>
      <p:sp>
        <p:nvSpPr>
          <p:cNvPr id="16387" name=""/>
          <p:cNvSpPr/>
          <p:nvPr>
            <p:ph type="body" idx="1"/>
          </p:nvPr>
        </p:nvSpPr>
        <p:spPr>
          <a:xfrm>
            <a:off x="5867400" y="1371600"/>
            <a:ext cx="2667000" cy="35052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达芬奇是画家、雕塑家、工程师、建筑师、生理学家、生物学家、哲学家等 。</a:t>
            </a:r>
          </a:p>
        </p:txBody>
      </p:sp>
      <p:pic>
        <p:nvPicPr>
          <p:cNvPr id="16388" name=""/>
          <p:cNvPicPr>
            <a:picLocks noChangeAspect="0"/>
          </p:cNvPicPr>
          <p:nvPr/>
        </p:nvPicPr>
        <p:blipFill>
          <a:blip r:embed="rId2"/>
          <a:stretch/>
        </p:blipFill>
        <p:spPr>
          <a:xfrm>
            <a:off x="0" y="1447800"/>
            <a:ext cx="2924175" cy="3009900"/>
          </a:xfrm>
          <a:prstGeom prst="rect">
            <a:avLst/>
          </a:prstGeom>
          <a:noFill/>
          <a:ln>
            <a:miter/>
          </a:ln>
        </p:spPr>
      </p:pic>
      <p:pic>
        <p:nvPicPr>
          <p:cNvPr id="16389" name=""/>
          <p:cNvPicPr>
            <a:picLocks noChangeAspect="0"/>
          </p:cNvPicPr>
          <p:nvPr/>
        </p:nvPicPr>
        <p:blipFill>
          <a:blip r:embed="rId3"/>
          <a:stretch/>
        </p:blipFill>
        <p:spPr>
          <a:xfrm>
            <a:off x="2667000" y="1371600"/>
            <a:ext cx="3059113" cy="4276725"/>
          </a:xfrm>
          <a:prstGeom prst="rect">
            <a:avLst/>
          </a:prstGeom>
          <a:noFill/>
          <a:ln>
            <a:miter/>
          </a:ln>
        </p:spPr>
      </p:pic>
      <p:pic>
        <p:nvPicPr>
          <p:cNvPr id="16390" name=""/>
          <p:cNvPicPr>
            <a:picLocks noChangeAspect="0"/>
          </p:cNvPicPr>
          <p:nvPr/>
        </p:nvPicPr>
        <p:blipFill>
          <a:blip r:embed="rId4"/>
          <a:stretch/>
        </p:blipFill>
        <p:spPr>
          <a:xfrm>
            <a:off x="0" y="4065588"/>
            <a:ext cx="4191000" cy="2792412"/>
          </a:xfrm>
          <a:prstGeom prst="rect">
            <a:avLst/>
          </a:prstGeom>
          <a:noFill/>
          <a:ln>
            <a:miter/>
          </a:ln>
        </p:spPr>
      </p:pic>
      <p:sp>
        <p:nvSpPr>
          <p:cNvPr id="16391" name=""/>
          <p:cNvSpPr/>
          <p:nvPr/>
        </p:nvSpPr>
        <p:spPr>
          <a:xfrm>
            <a:off x="4876800" y="5891213"/>
            <a:ext cx="2667000" cy="587375"/>
          </a:xfrm>
          <a:prstGeom prst="rect">
            <a:avLst/>
          </a:prstGeom>
          <a:noFill/>
          <a:ln>
            <a:noFill/>
          </a:ln>
        </p:spPr>
        <p:txBody>
          <a:bodyPr>
            <a:spAutoFit/>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nSpc>
                <a:spcPct val="90000"/>
              </a:lnSpc>
              <a:spcBef>
                <a:spcPct val="20000"/>
              </a:spcBef>
              <a:buClr>
                <a:schemeClr val="tx1"/>
              </a:buClr>
              <a:buSzPct val="70000"/>
              <a:buFont typeface="Wingdings" charset="2"/>
              <a:buChar char="ç"/>
            </a:pPr>
            <a:r>
              <a:rPr>
                <a:ea typeface="黑体"/>
              </a:rPr>
              <a:t>达芬奇及其解剖学手稿、飞行器设计图</a:t>
            </a:r>
            <a:endParaRPr>
              <a:ea typeface="黑体"/>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9458" name=""/>
          <p:cNvSpPr/>
          <p:nvPr>
            <p:ph type="title"/>
          </p:nvPr>
        </p:nvSpPr>
        <p:spPr>
          <a:xfrm>
            <a:off x="1524000" y="2286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2</a:t>
            </a:r>
            <a:r>
              <a:t>、 科学体制化的开端：英国</a:t>
            </a:r>
          </a:p>
        </p:txBody>
      </p:sp>
      <p:sp>
        <p:nvSpPr>
          <p:cNvPr id="19459" name=""/>
          <p:cNvSpPr/>
          <p:nvPr>
            <p:ph type="body" idx="1"/>
          </p:nvPr>
        </p:nvSpPr>
        <p:spPr>
          <a:xfrm>
            <a:off x="4800600" y="1828800"/>
            <a:ext cx="3733800" cy="35052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a:t>
            </a:r>
            <a:r>
              <a:t>有闲阶级的业余爱好”</a:t>
            </a:r>
            <a:r>
              <a:t> </a:t>
            </a:r>
          </a:p>
          <a:p>
            <a:pPr lvl="0"/>
            <a:r>
              <a:t>英国皇家学会</a:t>
            </a:r>
          </a:p>
          <a:p>
            <a:pPr lvl="0"/>
            <a:r>
              <a:t>《</a:t>
            </a:r>
            <a:r>
              <a:t>哲学汇刊</a:t>
            </a:r>
            <a:r>
              <a:t>》</a:t>
            </a:r>
          </a:p>
          <a:p/>
        </p:txBody>
      </p:sp>
      <p:pic>
        <p:nvPicPr>
          <p:cNvPr id="19460" name=""/>
          <p:cNvPicPr>
            <a:picLocks noChangeAspect="0"/>
          </p:cNvPicPr>
          <p:nvPr/>
        </p:nvPicPr>
        <p:blipFill>
          <a:blip r:embed="rId2"/>
          <a:stretch/>
        </p:blipFill>
        <p:spPr>
          <a:xfrm>
            <a:off x="0" y="2746375"/>
            <a:ext cx="4724400" cy="4111625"/>
          </a:xfrm>
          <a:prstGeom prst="rect">
            <a:avLst/>
          </a:prstGeom>
          <a:noFill/>
          <a:ln>
            <a:miter/>
          </a:ln>
        </p:spPr>
      </p:pic>
      <p:sp>
        <p:nvSpPr>
          <p:cNvPr id="19461" name=""/>
          <p:cNvSpPr/>
          <p:nvPr/>
        </p:nvSpPr>
        <p:spPr>
          <a:xfrm>
            <a:off x="4876800" y="5891213"/>
            <a:ext cx="2667000" cy="339725"/>
          </a:xfrm>
          <a:prstGeom prst="rect">
            <a:avLst/>
          </a:prstGeom>
          <a:noFill/>
          <a:ln>
            <a:noFill/>
          </a:ln>
        </p:spPr>
        <p:txBody>
          <a:bodyPr>
            <a:spAutoFit/>
          </a:bodyPr>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lvl="0">
              <a:lnSpc>
                <a:spcPct val="90000"/>
              </a:lnSpc>
              <a:spcBef>
                <a:spcPct val="20000"/>
              </a:spcBef>
              <a:buClr>
                <a:schemeClr val="tx1"/>
              </a:buClr>
              <a:buSzPct val="70000"/>
              <a:buFont typeface="Wingdings" charset="2"/>
              <a:buChar char="ç"/>
            </a:pPr>
            <a:r>
              <a:rPr>
                <a:ea typeface="黑体"/>
              </a:rPr>
              <a:t>英国皇家学会在开会</a:t>
            </a:r>
            <a:endParaRPr>
              <a:ea typeface="黑体"/>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1506"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3</a:t>
            </a:r>
            <a:r>
              <a:t>、科学专门化第一步：法国</a:t>
            </a:r>
          </a:p>
        </p:txBody>
      </p:sp>
      <p:sp>
        <p:nvSpPr>
          <p:cNvPr id="21507" name=""/>
          <p:cNvSpPr/>
          <p:nvPr>
            <p:ph type="body" idx="1"/>
          </p:nvPr>
        </p:nvSpPr>
        <p:spPr>
          <a:xfrm>
            <a:off x="4800600" y="1905000"/>
            <a:ext cx="37338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法国科学院</a:t>
            </a:r>
          </a:p>
          <a:p>
            <a:pPr lvl="0"/>
            <a:r>
              <a:t>政府主导</a:t>
            </a:r>
          </a:p>
          <a:p>
            <a:pPr lvl="0">
              <a:buNone/>
            </a:pPr>
            <a:endParaRPr sz="2400">
              <a:solidFill>
                <a:schemeClr val="tx1"/>
              </a:solidFill>
              <a:ea typeface="黑体"/>
            </a:endParaRPr>
          </a:p>
          <a:p>
            <a:pPr lvl="0">
              <a:buNone/>
            </a:pPr>
            <a:endParaRPr sz="2400">
              <a:solidFill>
                <a:schemeClr val="tx1"/>
              </a:solidFill>
              <a:ea typeface="黑体"/>
            </a:endParaRPr>
          </a:p>
          <a:p>
            <a:pPr lvl="0">
              <a:buNone/>
            </a:pPr>
            <a:endParaRPr sz="2400">
              <a:solidFill>
                <a:schemeClr val="tx1"/>
              </a:solidFill>
              <a:ea typeface="黑体"/>
            </a:endParaRPr>
          </a:p>
          <a:p>
            <a:pPr lvl="0">
              <a:buNone/>
            </a:pPr>
            <a:endParaRPr sz="2400">
              <a:solidFill>
                <a:schemeClr val="tx1"/>
              </a:solidFill>
              <a:ea typeface="黑体"/>
            </a:endParaRPr>
          </a:p>
          <a:p>
            <a:pPr lvl="0">
              <a:buNone/>
            </a:pPr>
            <a:endParaRPr sz="2400">
              <a:solidFill>
                <a:schemeClr val="tx1"/>
              </a:solidFill>
              <a:ea typeface="黑体"/>
            </a:endParaRPr>
          </a:p>
          <a:p>
            <a:pPr lvl="0">
              <a:buFont typeface="Wingdings" charset="2"/>
            </a:pPr>
            <a:r>
              <a:rPr sz="2400">
                <a:solidFill>
                  <a:schemeClr val="tx1"/>
                </a:solidFill>
                <a:ea typeface="黑体"/>
              </a:rPr>
              <a:t>法国科学院</a:t>
            </a:r>
            <a:endParaRPr sz="2400">
              <a:solidFill>
                <a:schemeClr val="tx1"/>
              </a:solidFill>
              <a:ea typeface="黑体"/>
            </a:endParaRPr>
          </a:p>
        </p:txBody>
      </p:sp>
      <p:pic>
        <p:nvPicPr>
          <p:cNvPr id="21508" name=""/>
          <p:cNvPicPr>
            <a:picLocks noChangeAspect="0"/>
          </p:cNvPicPr>
          <p:nvPr/>
        </p:nvPicPr>
        <p:blipFill>
          <a:blip r:embed="rId2"/>
          <a:stretch/>
        </p:blipFill>
        <p:spPr>
          <a:xfrm>
            <a:off x="914400" y="1752600"/>
            <a:ext cx="3600450" cy="4800600"/>
          </a:xfrm>
          <a:prstGeom prst="rect">
            <a:avLst/>
          </a:prstGeom>
          <a:noFill/>
          <a:ln>
            <a:miter/>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70658"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4</a:t>
            </a:r>
            <a:r>
              <a:t>、德国大学的科学职业化</a:t>
            </a:r>
          </a:p>
        </p:txBody>
      </p:sp>
      <p:sp>
        <p:nvSpPr>
          <p:cNvPr id="70659" name=""/>
          <p:cNvSpPr/>
          <p:nvPr>
            <p:ph type="body" idx="1"/>
          </p:nvPr>
        </p:nvSpPr>
        <p:spPr>
          <a:xfrm>
            <a:off x="1524000" y="2133600"/>
            <a:ext cx="7010400" cy="2590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rPr sz="2800"/>
              <a:t>德国大学改革</a:t>
            </a:r>
            <a:endParaRPr sz="2800"/>
          </a:p>
          <a:p>
            <a:pPr lvl="0"/>
            <a:r>
              <a:rPr sz="2800"/>
              <a:t>德国式研究型大学</a:t>
            </a:r>
            <a:endParaRPr sz="2800"/>
          </a:p>
          <a:p>
            <a:pPr lvl="0"/>
            <a:r>
              <a:rPr sz="2800"/>
              <a:t>正教授制度</a:t>
            </a:r>
            <a:endParaRPr sz="2800"/>
          </a:p>
          <a:p>
            <a:pPr lvl="0"/>
            <a:r>
              <a:rPr sz="2800"/>
              <a:t>私人讲师制度</a:t>
            </a:r>
            <a:endParaRPr sz="2800"/>
          </a:p>
          <a:p>
            <a:pPr lvl="0"/>
            <a:r>
              <a:rPr sz="2800"/>
              <a:t>实验室制度</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76802"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5</a:t>
            </a:r>
            <a:r>
              <a:t>、美国大学的科学职业化</a:t>
            </a:r>
          </a:p>
        </p:txBody>
      </p:sp>
      <p:sp>
        <p:nvSpPr>
          <p:cNvPr id="76803"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学习德国 </a:t>
            </a:r>
          </a:p>
          <a:p>
            <a:pPr lvl="0"/>
            <a:r>
              <a:t>系</a:t>
            </a:r>
          </a:p>
          <a:p>
            <a:pPr lvl="0"/>
            <a:r>
              <a:t>课题中心</a:t>
            </a:r>
          </a:p>
          <a:p>
            <a:pPr lvl="0"/>
            <a:r>
              <a:t>研究生院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81922"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rPr sz="3200"/>
              <a:t>6</a:t>
            </a:r>
            <a:r>
              <a:rPr sz="3200"/>
              <a:t>、工业实验室与政府机构中的科学家</a:t>
            </a:r>
            <a:endParaRPr sz="3200"/>
          </a:p>
        </p:txBody>
      </p:sp>
      <p:sp>
        <p:nvSpPr>
          <p:cNvPr id="81923" name=""/>
          <p:cNvSpPr/>
          <p:nvPr>
            <p:ph type="body" idx="1"/>
          </p:nvPr>
        </p:nvSpPr>
        <p:spPr>
          <a:xfrm>
            <a:off x="5353050" y="1905000"/>
            <a:ext cx="2921000" cy="3741738"/>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lnSpc>
                <a:spcPct val="80000"/>
              </a:lnSpc>
            </a:pPr>
            <a:r>
              <a:t>德国工业实验室</a:t>
            </a:r>
          </a:p>
          <a:p>
            <a:pPr lvl="0">
              <a:lnSpc>
                <a:spcPct val="80000"/>
              </a:lnSpc>
            </a:pPr>
            <a:r>
              <a:t>美国工业实验室</a:t>
            </a:r>
          </a:p>
          <a:p>
            <a:pPr lvl="0">
              <a:lnSpc>
                <a:spcPct val="80000"/>
              </a:lnSpc>
            </a:pPr>
            <a:r>
              <a:t>政府科学家</a:t>
            </a:r>
            <a:endParaRPr sz="2800"/>
          </a:p>
          <a:p>
            <a:pPr lvl="0">
              <a:lnSpc>
                <a:spcPct val="80000"/>
              </a:lnSpc>
              <a:buNone/>
            </a:pPr>
            <a:endParaRPr sz="2800"/>
          </a:p>
          <a:p>
            <a:pPr lvl="0">
              <a:lnSpc>
                <a:spcPct val="80000"/>
              </a:lnSpc>
              <a:buNone/>
            </a:pPr>
            <a:endParaRPr sz="2800"/>
          </a:p>
          <a:p>
            <a:pPr lvl="0">
              <a:lnSpc>
                <a:spcPct val="80000"/>
              </a:lnSpc>
              <a:buFont typeface="Wingdings" charset="2"/>
              <a:buChar char="ç"/>
            </a:pPr>
            <a:r>
              <a:rPr sz="2000">
                <a:latin typeface="黑体"/>
                <a:ea typeface="黑体"/>
              </a:rPr>
              <a:t>IBM</a:t>
            </a:r>
            <a:r>
              <a:rPr sz="2000">
                <a:latin typeface="黑体"/>
                <a:ea typeface="黑体"/>
              </a:rPr>
              <a:t>实验室、贝尔实验室外景</a:t>
            </a:r>
            <a:endParaRPr sz="2000">
              <a:latin typeface="黑体"/>
              <a:ea typeface="黑体"/>
            </a:endParaRPr>
          </a:p>
        </p:txBody>
      </p:sp>
      <p:pic>
        <p:nvPicPr>
          <p:cNvPr id="81924" name=""/>
          <p:cNvPicPr>
            <a:picLocks noChangeAspect="0"/>
          </p:cNvPicPr>
          <p:nvPr/>
        </p:nvPicPr>
        <p:blipFill>
          <a:blip r:embed="rId2"/>
          <a:stretch/>
        </p:blipFill>
        <p:spPr>
          <a:xfrm>
            <a:off x="0" y="1470025"/>
            <a:ext cx="4495800" cy="2720975"/>
          </a:xfrm>
          <a:prstGeom prst="rect">
            <a:avLst/>
          </a:prstGeom>
          <a:noFill/>
          <a:ln>
            <a:miter/>
          </a:ln>
        </p:spPr>
      </p:pic>
      <p:pic>
        <p:nvPicPr>
          <p:cNvPr id="81925" name=""/>
          <p:cNvPicPr>
            <a:picLocks noChangeAspect="0"/>
          </p:cNvPicPr>
          <p:nvPr/>
        </p:nvPicPr>
        <p:blipFill>
          <a:blip r:embed="rId3"/>
          <a:stretch/>
        </p:blipFill>
        <p:spPr>
          <a:xfrm>
            <a:off x="0" y="4114800"/>
            <a:ext cx="4495800" cy="2819400"/>
          </a:xfrm>
          <a:prstGeom prst="rect">
            <a:avLst/>
          </a:prstGeom>
          <a:noFill/>
          <a:ln>
            <a:miter/>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84994" name=""/>
          <p:cNvSpPr/>
          <p:nvPr>
            <p:ph type="title"/>
          </p:nvPr>
        </p:nvSpPr>
        <p:spPr>
          <a:xfrm>
            <a:off x="1447800" y="21336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rPr>
                <a:solidFill>
                  <a:schemeClr val="tx1"/>
                </a:solidFill>
              </a:rPr>
              <a:t>二、科学职业的特点</a:t>
            </a:r>
            <a:endParaRPr>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24930"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1</a:t>
            </a:r>
            <a:r>
              <a:t>、科学职业的特点</a:t>
            </a:r>
          </a:p>
        </p:txBody>
      </p:sp>
      <p:sp>
        <p:nvSpPr>
          <p:cNvPr id="124931" name=""/>
          <p:cNvSpPr/>
          <p:nvPr>
            <p:ph type="body" idx="1"/>
          </p:nvPr>
        </p:nvSpPr>
        <p:spPr>
          <a:xfrm>
            <a:off x="1524000" y="1905000"/>
            <a:ext cx="6172200" cy="42672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专门训练</a:t>
            </a:r>
          </a:p>
          <a:p>
            <a:pPr lvl="0"/>
            <a:r>
              <a:t>间接服务于社会</a:t>
            </a:r>
          </a:p>
          <a:p>
            <a:pPr lvl="0"/>
            <a:r>
              <a:t>经济收入特殊</a:t>
            </a:r>
          </a:p>
          <a:p>
            <a:pPr lvl="0"/>
            <a:r>
              <a:t>不独立开业。</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25954"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2</a:t>
            </a:r>
            <a:r>
              <a:t>、小科学发展为大科学</a:t>
            </a:r>
          </a:p>
        </p:txBody>
      </p:sp>
      <p:sp>
        <p:nvSpPr>
          <p:cNvPr id="125955"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科学家激增</a:t>
            </a:r>
          </a:p>
          <a:p>
            <a:pPr lvl="0"/>
            <a:r>
              <a:t>科学文献爆炸增长</a:t>
            </a:r>
          </a:p>
          <a:p>
            <a:pPr lvl="0"/>
            <a:r>
              <a:t>科学成为一种生活方式</a:t>
            </a:r>
          </a:p>
          <a:p>
            <a:pPr lvl="0"/>
            <a:r>
              <a:t>科学耗资巨大</a:t>
            </a:r>
          </a:p>
          <a:p>
            <a:pPr lvl="0"/>
            <a:r>
              <a:t>科学成为集体事业</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26978"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3</a:t>
            </a:r>
            <a:r>
              <a:t>、科学家的社会规范</a:t>
            </a:r>
          </a:p>
        </p:txBody>
      </p:sp>
      <p:sp>
        <p:nvSpPr>
          <p:cNvPr id="126979"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技术规范</a:t>
            </a:r>
          </a:p>
          <a:p>
            <a:pPr lvl="0"/>
            <a:r>
              <a:t>行为规范</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29026"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普遍主义</a:t>
            </a:r>
          </a:p>
        </p:txBody>
      </p:sp>
      <p:sp>
        <p:nvSpPr>
          <p:cNvPr id="129027"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这条规范强调科学的标准到处都是一样。只要是科学真理，不管它的来源，都服从于不以个人为转移的普遍标准。科学发现的权利和理论论据的评价是根据发现和理论本身的固有价值和科学的标准来进行的，而与国家、种族、阶级、宗教、年龄等无关。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41314"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公有主义</a:t>
            </a:r>
          </a:p>
        </p:txBody>
      </p:sp>
      <p:sp>
        <p:nvSpPr>
          <p:cNvPr id="141315"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这条规范是从对实际物品的公共所有制的含义引申出来的，认为所有科学的重大发现都是社会合作的产物，因而归属于这个共同体。任何一个以个人命名的规律和理论都不归于发明者和他的后嗣所有，也并不给这些人使用和支配的特殊权利。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42338"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无私利性</a:t>
            </a:r>
          </a:p>
        </p:txBody>
      </p:sp>
      <p:sp>
        <p:nvSpPr>
          <p:cNvPr id="142339"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rPr sz="2800"/>
              <a:t>这条规范指的是从事科学活动的、创造科学知识的人不应以科学谋取私利。科学家从事科学活动的唯一目的是发展科学知识而不是其他，科学家不能因为个人原因来评价一致科学观点或思想，不能以任何方式从自己的研究中谋取个人私利。科学家科研绝不是为了赚钱或盈利，而是热衷于探索和发现，是内在的科学兴趣。 </a:t>
            </a:r>
            <a:endParaRPr sz="2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43362"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有条理的怀疑主义</a:t>
            </a:r>
          </a:p>
        </p:txBody>
      </p:sp>
      <p:sp>
        <p:nvSpPr>
          <p:cNvPr id="143363"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所有的科学知识，不论是新的还是老的，都要经过仔细的检查才能被接受，科学家对自己和别人的工作都应该采取怀疑的态度。科学家对已经发现的错误应该公开宣布。</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64866" name=""/>
          <p:cNvSpPr/>
          <p:nvPr>
            <p:ph type="title"/>
          </p:nvPr>
        </p:nvSpPr>
        <p:spPr>
          <a:xfrm>
            <a:off x="1371600" y="19812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rPr>
                <a:solidFill>
                  <a:schemeClr val="tx1"/>
                </a:solidFill>
              </a:rPr>
              <a:t>三、科学职业中的“马太效应”与权威</a:t>
            </a:r>
            <a:endParaRPr>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65890"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1</a:t>
            </a:r>
            <a:r>
              <a:t>、马太效应</a:t>
            </a:r>
          </a:p>
        </p:txBody>
      </p:sp>
      <p:sp>
        <p:nvSpPr>
          <p:cNvPr id="165891"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科学职业的优势积累效应</a:t>
            </a:r>
          </a:p>
          <a:p>
            <a:pPr lvl="0"/>
            <a:r>
              <a:t>棘轮效应</a:t>
            </a:r>
          </a:p>
          <a:p>
            <a:pPr lvl="0"/>
            <a:r>
              <a:t>后果</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68962"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声望与毕业学校</a:t>
            </a:r>
          </a:p>
        </p:txBody>
      </p:sp>
      <p:sp>
        <p:nvSpPr>
          <p:cNvPr id="168963"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lnSpc>
                <a:spcPct val="90000"/>
              </a:lnSpc>
            </a:pPr>
            <a:r>
              <a:rPr sz="2800"/>
              <a:t>1901</a:t>
            </a:r>
            <a:r>
              <a:rPr sz="2800"/>
              <a:t>年－</a:t>
            </a:r>
            <a:r>
              <a:rPr sz="2800"/>
              <a:t>1912</a:t>
            </a:r>
            <a:r>
              <a:rPr sz="2800"/>
              <a:t>年诺奖获得者毕业学校：调查了其中在美国获得学位的</a:t>
            </a:r>
            <a:r>
              <a:rPr sz="2800"/>
              <a:t>74</a:t>
            </a:r>
            <a:r>
              <a:rPr sz="2800"/>
              <a:t>位获奖者，拥有</a:t>
            </a:r>
            <a:r>
              <a:rPr sz="2800"/>
              <a:t>21</a:t>
            </a:r>
            <a:r>
              <a:rPr sz="2800"/>
              <a:t>所大学的博士学位，</a:t>
            </a:r>
            <a:r>
              <a:rPr sz="2800"/>
              <a:t>55</a:t>
            </a:r>
            <a:r>
              <a:rPr sz="2800"/>
              <a:t>％是从</a:t>
            </a:r>
            <a:r>
              <a:rPr sz="2800"/>
              <a:t>5</a:t>
            </a:r>
            <a:r>
              <a:rPr sz="2800"/>
              <a:t>所大学获得学位的。其中，哈佛</a:t>
            </a:r>
            <a:r>
              <a:rPr sz="2800"/>
              <a:t>16.9%</a:t>
            </a:r>
            <a:r>
              <a:rPr sz="2800"/>
              <a:t>，哥伦比亚大学</a:t>
            </a:r>
            <a:r>
              <a:rPr sz="2800"/>
              <a:t>14.9%</a:t>
            </a:r>
            <a:r>
              <a:rPr sz="2800"/>
              <a:t>，伯克利大学</a:t>
            </a:r>
            <a:r>
              <a:rPr sz="2800"/>
              <a:t>8.1%</a:t>
            </a:r>
            <a:r>
              <a:rPr sz="2800"/>
              <a:t>，霍普金斯大学</a:t>
            </a:r>
            <a:r>
              <a:rPr sz="2800"/>
              <a:t>8.1%</a:t>
            </a:r>
            <a:r>
              <a:rPr sz="2800"/>
              <a:t>，普林斯顿大学</a:t>
            </a:r>
            <a:r>
              <a:rPr sz="2800"/>
              <a:t>8.1%</a:t>
            </a:r>
            <a:r>
              <a:rPr sz="2800"/>
              <a:t>。</a:t>
            </a:r>
            <a:endParaRPr sz="2800"/>
          </a:p>
          <a:p>
            <a:pPr lvl="0">
              <a:lnSpc>
                <a:spcPct val="90000"/>
              </a:lnSpc>
            </a:pPr>
            <a:r>
              <a:rPr sz="2800"/>
              <a:t>美国科学院院士毕业学校：哈佛</a:t>
            </a:r>
            <a:r>
              <a:rPr sz="2800"/>
              <a:t>17.9%</a:t>
            </a:r>
            <a:r>
              <a:rPr sz="2800"/>
              <a:t>，哥伦比亚大学</a:t>
            </a:r>
            <a:r>
              <a:rPr sz="2800"/>
              <a:t>9.6%</a:t>
            </a:r>
            <a:r>
              <a:rPr sz="2800"/>
              <a:t>，霍普金斯大学</a:t>
            </a:r>
            <a:r>
              <a:rPr sz="2800"/>
              <a:t>9.1%</a:t>
            </a:r>
            <a:r>
              <a:rPr sz="2800"/>
              <a:t>，芝加哥大学</a:t>
            </a:r>
            <a:r>
              <a:rPr sz="2800"/>
              <a:t>8.2%</a:t>
            </a:r>
            <a:r>
              <a:rPr sz="2800"/>
              <a:t>，耶鲁大学</a:t>
            </a:r>
            <a:r>
              <a:rPr sz="2800"/>
              <a:t>6.8%</a:t>
            </a:r>
            <a:r>
              <a:rPr sz="2800"/>
              <a:t>。</a:t>
            </a:r>
            <a:r>
              <a:rPr sz="2800"/>
              <a:t> </a:t>
            </a:r>
            <a:endParaRPr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75106"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2</a:t>
            </a:r>
            <a:r>
              <a:t>、科学权威</a:t>
            </a:r>
          </a:p>
        </p:txBody>
      </p:sp>
      <p:sp>
        <p:nvSpPr>
          <p:cNvPr id="175107"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科学权威不同于行政权威</a:t>
            </a:r>
          </a:p>
          <a:p>
            <a:pPr lvl="0"/>
            <a:r>
              <a:t>科学家所作的贡献和他因为这种贡献得到的承认</a:t>
            </a:r>
          </a:p>
          <a:p>
            <a:pPr lvl="0"/>
            <a:r>
              <a:t>科学权威的左右</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86370"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3</a:t>
            </a:r>
            <a:r>
              <a:t>、科学是年轻人的事业</a:t>
            </a:r>
          </a:p>
        </p:txBody>
      </p:sp>
      <p:sp>
        <p:nvSpPr>
          <p:cNvPr id="186371"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科学家的年龄段主要集中在</a:t>
            </a:r>
            <a:r>
              <a:t>25</a:t>
            </a:r>
            <a:r>
              <a:t>－</a:t>
            </a:r>
            <a:r>
              <a:t>44</a:t>
            </a:r>
            <a:r>
              <a:t>岁。</a:t>
            </a:r>
          </a:p>
          <a:p>
            <a:pPr lvl="0"/>
            <a:r>
              <a:t>科学家做出伟大贡献的年龄一半在</a:t>
            </a:r>
            <a:r>
              <a:t>45</a:t>
            </a:r>
            <a:r>
              <a:t>岁以下，在科学家平均年龄增高的情况下也很少超过</a:t>
            </a:r>
            <a:r>
              <a:t>50</a:t>
            </a:r>
            <a:r>
              <a:t>岁。</a:t>
            </a:r>
          </a:p>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88418"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创新年龄</a:t>
            </a:r>
          </a:p>
        </p:txBody>
      </p:sp>
      <p:sp>
        <p:nvSpPr>
          <p:cNvPr id="188419" name=""/>
          <p:cNvSpPr/>
          <p:nvPr>
            <p:ph type="body" idx="1"/>
          </p:nvPr>
        </p:nvSpPr>
        <p:spPr>
          <a:xfrm>
            <a:off x="5181600" y="914400"/>
            <a:ext cx="3505200" cy="5638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lnSpc>
                <a:spcPct val="80000"/>
              </a:lnSpc>
            </a:pPr>
            <a:r>
              <a:rPr sz="2800"/>
              <a:t>有人指出，杰出科学家做出重大贡献的最佳年龄区在</a:t>
            </a:r>
            <a:r>
              <a:rPr sz="2800"/>
              <a:t>25</a:t>
            </a:r>
            <a:r>
              <a:rPr sz="2800"/>
              <a:t>～</a:t>
            </a:r>
            <a:r>
              <a:rPr sz="2800"/>
              <a:t>45</a:t>
            </a:r>
            <a:r>
              <a:rPr sz="2800"/>
              <a:t>岁之间，其最佳峰值年龄和首次贡献的最佳成名年龄随着时代的变化而逐渐增大。</a:t>
            </a:r>
            <a:r>
              <a:rPr sz="2800"/>
              <a:t>16</a:t>
            </a:r>
            <a:r>
              <a:rPr sz="2800"/>
              <a:t>世纪杰出科学家的成名年龄、最佳峰值年龄分别为</a:t>
            </a:r>
            <a:r>
              <a:rPr sz="2800"/>
              <a:t>22</a:t>
            </a:r>
            <a:r>
              <a:rPr sz="2800"/>
              <a:t>岁、</a:t>
            </a:r>
            <a:r>
              <a:rPr sz="2800"/>
              <a:t>25</a:t>
            </a:r>
            <a:r>
              <a:rPr sz="2800"/>
              <a:t>岁，</a:t>
            </a:r>
            <a:r>
              <a:rPr sz="2800"/>
              <a:t>20</a:t>
            </a:r>
            <a:r>
              <a:rPr sz="2800"/>
              <a:t>世纪杰出科学家的成名年龄、最佳峰值年龄分别为</a:t>
            </a:r>
            <a:r>
              <a:rPr sz="2800"/>
              <a:t>33</a:t>
            </a:r>
            <a:r>
              <a:rPr sz="2800"/>
              <a:t>岁、</a:t>
            </a:r>
            <a:r>
              <a:rPr sz="2800"/>
              <a:t>37</a:t>
            </a:r>
            <a:r>
              <a:rPr sz="2800"/>
              <a:t>岁。 </a:t>
            </a:r>
            <a:endParaRPr sz="2800"/>
          </a:p>
        </p:txBody>
      </p:sp>
      <p:graphicFrame>
        <p:nvGraphicFramePr>
          <p:cNvPr id="188420" name=""/>
          <p:cNvGraphicFramePr/>
          <p:nvPr/>
        </p:nvGraphicFramePr>
        <p:xfrm>
          <a:off x="152400" y="2133600"/>
          <a:ext cx="5029200" cy="2963227"/>
        </p:xfrm>
        <a:graphic>
          <a:graphicData uri="http://schemas.openxmlformats.org/drawingml/2006/table">
            <a:tbl>
              <a:tblGrid>
                <a:gridCol w="2514600"/>
                <a:gridCol w="1219200"/>
                <a:gridCol w="1295400"/>
              </a:tblGrid>
              <a:tr h="452438">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年代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solidFill>
                      <a:srgbClr val="ECFFFF"/>
                    </a:solid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成名年龄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solidFill>
                      <a:srgbClr val="ECFFFF"/>
                    </a:solid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lgn="ctr">
                        <a:spcBef>
                          <a:spcPct val="0"/>
                        </a:spcBef>
                        <a:buClrTx/>
                        <a:buSzTx/>
                        <a:buFontTx/>
                        <a:buNone/>
                      </a:pPr>
                      <a:r>
                        <a:rPr sz="2000">
                          <a:solidFill>
                            <a:schemeClr val="tx1"/>
                          </a:solidFill>
                          <a:latin typeface="宋体"/>
                          <a:ea typeface="宋体"/>
                        </a:rPr>
                        <a:t>最佳峰值年龄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solidFill>
                      <a:srgbClr val="ECFFFF"/>
                    </a:solidFill>
                  </a:tcPr>
                </a:tc>
              </a:tr>
              <a:tr h="452438">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1501</a:t>
                      </a:r>
                      <a:r>
                        <a:rPr sz="2000">
                          <a:solidFill>
                            <a:schemeClr val="tx1"/>
                          </a:solidFill>
                          <a:latin typeface="宋体"/>
                          <a:ea typeface="宋体"/>
                        </a:rPr>
                        <a:t>～</a:t>
                      </a:r>
                      <a:r>
                        <a:rPr sz="2000">
                          <a:solidFill>
                            <a:schemeClr val="tx1"/>
                          </a:solidFill>
                          <a:latin typeface="宋体"/>
                          <a:ea typeface="宋体"/>
                        </a:rPr>
                        <a:t>1600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22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25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r>
              <a:tr h="452438">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1601</a:t>
                      </a:r>
                      <a:r>
                        <a:rPr sz="2000">
                          <a:solidFill>
                            <a:schemeClr val="tx1"/>
                          </a:solidFill>
                          <a:latin typeface="宋体"/>
                          <a:ea typeface="宋体"/>
                        </a:rPr>
                        <a:t>～</a:t>
                      </a:r>
                      <a:r>
                        <a:rPr sz="2000">
                          <a:solidFill>
                            <a:schemeClr val="tx1"/>
                          </a:solidFill>
                          <a:latin typeface="宋体"/>
                          <a:ea typeface="宋体"/>
                        </a:rPr>
                        <a:t>1700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26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28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r>
              <a:tr h="452438">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1701</a:t>
                      </a:r>
                      <a:r>
                        <a:rPr sz="2000">
                          <a:solidFill>
                            <a:schemeClr val="tx1"/>
                          </a:solidFill>
                          <a:latin typeface="宋体"/>
                          <a:ea typeface="宋体"/>
                        </a:rPr>
                        <a:t>～</a:t>
                      </a:r>
                      <a:r>
                        <a:rPr sz="2000">
                          <a:solidFill>
                            <a:schemeClr val="tx1"/>
                          </a:solidFill>
                          <a:latin typeface="宋体"/>
                          <a:ea typeface="宋体"/>
                        </a:rPr>
                        <a:t>1800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29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32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r>
              <a:tr h="452438">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1801</a:t>
                      </a:r>
                      <a:r>
                        <a:rPr sz="2000">
                          <a:solidFill>
                            <a:schemeClr val="tx1"/>
                          </a:solidFill>
                          <a:latin typeface="宋体"/>
                          <a:ea typeface="宋体"/>
                        </a:rPr>
                        <a:t>～</a:t>
                      </a:r>
                      <a:r>
                        <a:rPr sz="2000">
                          <a:solidFill>
                            <a:schemeClr val="tx1"/>
                          </a:solidFill>
                          <a:latin typeface="宋体"/>
                          <a:ea typeface="宋体"/>
                        </a:rPr>
                        <a:t>1900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31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35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r>
              <a:tr h="452438">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1901</a:t>
                      </a:r>
                      <a:r>
                        <a:rPr sz="2000">
                          <a:solidFill>
                            <a:schemeClr val="tx1"/>
                          </a:solidFill>
                          <a:latin typeface="宋体"/>
                          <a:ea typeface="宋体"/>
                        </a:rPr>
                        <a:t>～</a:t>
                      </a:r>
                      <a:r>
                        <a:rPr sz="2000">
                          <a:solidFill>
                            <a:schemeClr val="tx1"/>
                          </a:solidFill>
                          <a:latin typeface="宋体"/>
                          <a:ea typeface="宋体"/>
                        </a:rPr>
                        <a:t>1960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33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c>
                  <a:txBody>
                    <a:bodyPr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28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28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28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28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2800" b="0" i="0" u="none" baseline="0">
                          <a:solidFill>
                            <a:schemeClr val="tx2"/>
                          </a:solidFill>
                          <a:latin typeface="Arial"/>
                          <a:ea typeface="楷体"/>
                        </a:defRPr>
                      </a:lvl5pPr>
                    </a:lstStyle>
                    <a:p>
                      <a:pPr marL="0" lvl="0" indent="0">
                        <a:spcBef>
                          <a:spcPct val="0"/>
                        </a:spcBef>
                        <a:buClrTx/>
                        <a:buSzTx/>
                        <a:buFontTx/>
                        <a:buNone/>
                      </a:pPr>
                      <a:r>
                        <a:rPr sz="2000">
                          <a:solidFill>
                            <a:schemeClr val="tx1"/>
                          </a:solidFill>
                          <a:latin typeface="宋体"/>
                          <a:ea typeface="宋体"/>
                        </a:rPr>
                        <a:t>37 </a:t>
                      </a:r>
                      <a:endParaRPr sz="2000">
                        <a:solidFill>
                          <a:schemeClr val="tx1"/>
                        </a:solidFill>
                        <a:ea typeface="宋体"/>
                      </a:endParaRPr>
                    </a:p>
                  </a:txBody>
                  <a:tcPr anchor="ctr">
                    <a:lnL cap="rnd">
                      <a:solidFill>
                        <a:srgbClr val="000000"/>
                      </a:solidFill>
                      <a:miter/>
                    </a:lnL>
                    <a:lnR cap="rnd">
                      <a:solidFill>
                        <a:srgbClr val="000000"/>
                      </a:solidFill>
                      <a:miter/>
                    </a:lnR>
                    <a:lnT cap="rnd">
                      <a:solidFill>
                        <a:srgbClr val="000000"/>
                      </a:solidFill>
                      <a:miter/>
                    </a:lnT>
                    <a:lnB cap="rnd">
                      <a:solidFill>
                        <a:srgbClr val="000000"/>
                      </a:solidFill>
                      <a:miter/>
                    </a:lnB>
                    <a:no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90466"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科学家角色与年龄</a:t>
            </a:r>
          </a:p>
        </p:txBody>
      </p:sp>
      <p:sp>
        <p:nvSpPr>
          <p:cNvPr id="190467"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t>科学家角色的变化</a:t>
            </a:r>
          </a:p>
          <a:p>
            <a:pPr lvl="0"/>
            <a:r>
              <a:t>科学界的老人政治</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92514" name=""/>
          <p:cNvSpPr/>
          <p:nvPr>
            <p:ph type="title"/>
          </p:nvPr>
        </p:nvSpPr>
        <p:spPr>
          <a:xfrm>
            <a:off x="1524000" y="190500"/>
            <a:ext cx="7010400" cy="1527175"/>
          </a:xfrm>
          <a:prstGeom prst="rect">
            <a:avLst/>
          </a:prstGeom>
          <a:noFill/>
          <a:ln>
            <a:miter/>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t>学科条理化与年龄结构</a:t>
            </a:r>
          </a:p>
        </p:txBody>
      </p:sp>
      <p:sp>
        <p:nvSpPr>
          <p:cNvPr id="192515"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lnSpc>
                <a:spcPct val="90000"/>
              </a:lnSpc>
            </a:pPr>
            <a:r>
              <a:t>不同学科和专业条理化程度不同，成熟科学更为有条理，物理学和化学比生物学更有条理。 </a:t>
            </a:r>
          </a:p>
          <a:p>
            <a:pPr lvl="0">
              <a:lnSpc>
                <a:spcPct val="90000"/>
              </a:lnSpc>
            </a:pPr>
            <a:r>
              <a:t>在条理化程度高的学科中，经验积累不那么重要，年轻人可以迅速达到学科的最前沿，因而成名早、出成果早。 </a:t>
            </a:r>
          </a:p>
          <a:p>
            <a:pPr lvl="0">
              <a:lnSpc>
                <a:spcPct val="90000"/>
              </a:lnSpc>
            </a:pPr>
            <a:r>
              <a:t>学科转移。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10946" name=""/>
          <p:cNvSpPr/>
          <p:nvPr>
            <p:ph type="body" idx="1"/>
          </p:nvPr>
        </p:nvSpPr>
        <p:spPr>
          <a:xfrm>
            <a:off x="1524000" y="1905000"/>
            <a:ext cx="7010400" cy="4114800"/>
          </a:xfrm>
          <a:prstGeom prst="rect">
            <a:avLst/>
          </a:prstGeom>
          <a:noFill/>
          <a:ln>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stStyle>
          <a:p>
            <a:pPr lvl="0"/>
            <a:r>
              <a:rPr sz="8000">
                <a:solidFill>
                  <a:schemeClr val="tx1"/>
                </a:solidFill>
                <a:ea typeface="黑体"/>
              </a:rPr>
              <a:t>谢谢！</a:t>
            </a:r>
            <a:endParaRPr sz="8000">
              <a:solidFill>
                <a:schemeClr val="tx1"/>
              </a:solidFill>
              <a:ea typeface="黑体"/>
            </a:endParaRPr>
          </a:p>
        </p:txBody>
      </p:sp>
    </p:spTree>
  </p:cSld>
  <p:clrMapOvr>
    <a:masterClrMapping/>
  </p:clrMapOvr>
</p:sld>
</file>