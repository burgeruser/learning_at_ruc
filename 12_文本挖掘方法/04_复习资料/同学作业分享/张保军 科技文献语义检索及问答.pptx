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5" r:id="rId1"/>
  </p:sldMasterIdLst>
  <p:notesMasterIdLst>
    <p:notesMasterId r:id="rId9"/>
  </p:notesMasterIdLst>
  <p:handoutMasterIdLst>
    <p:handoutMasterId r:id="rId10"/>
  </p:handoutMasterIdLst>
  <p:sldIdLst>
    <p:sldId id="318" r:id="rId2"/>
    <p:sldId id="319" r:id="rId3"/>
    <p:sldId id="329" r:id="rId4"/>
    <p:sldId id="330" r:id="rId5"/>
    <p:sldId id="331" r:id="rId6"/>
    <p:sldId id="332" r:id="rId7"/>
    <p:sldId id="333" r:id="rId8"/>
  </p:sldIdLst>
  <p:sldSz cx="12192000" cy="6858000"/>
  <p:notesSz cx="6858000" cy="9144000"/>
  <p:embeddedFontLs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Calibri Light" panose="020F0302020204030204" pitchFamily="34" charset="0"/>
      <p:regular r:id="rId15"/>
      <p:italic r:id="rId16"/>
    </p:embeddedFont>
    <p:embeddedFont>
      <p:font typeface="Tahoma" panose="020B0604030504040204" pitchFamily="34" charset="0"/>
      <p:regular r:id="rId17"/>
      <p:bold r:id="rId18"/>
    </p:embeddedFont>
    <p:embeddedFont>
      <p:font typeface="汉仪文黑-55简" panose="00020600040101010101" pitchFamily="18" charset="-122"/>
      <p:regular r:id="rId19"/>
    </p:embeddedFont>
    <p:embeddedFont>
      <p:font typeface="黑体" panose="02010609060101010101" pitchFamily="49" charset="-122"/>
      <p:regular r:id="rId20"/>
    </p:embeddedFont>
  </p:embeddedFontLst>
  <p:custDataLst>
    <p:tags r:id="rId21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7" userDrawn="1">
          <p15:clr>
            <a:srgbClr val="A4A3A4"/>
          </p15:clr>
        </p15:guide>
        <p15:guide id="2" pos="387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5F3FA"/>
    <a:srgbClr val="CFD8EC"/>
    <a:srgbClr val="FF7C80"/>
    <a:srgbClr val="8CB1FF"/>
    <a:srgbClr val="A0C7FF"/>
    <a:srgbClr val="7E7FA8"/>
    <a:srgbClr val="000551"/>
    <a:srgbClr val="FCFDFF"/>
    <a:srgbClr val="E1EAF8"/>
    <a:srgbClr val="BFC9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浅色样式 2 - 强调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78" autoAdjust="0"/>
    <p:restoredTop sz="94660"/>
  </p:normalViewPr>
  <p:slideViewPr>
    <p:cSldViewPr snapToGrid="0">
      <p:cViewPr varScale="1">
        <p:scale>
          <a:sx n="94" d="100"/>
          <a:sy n="94" d="100"/>
        </p:scale>
        <p:origin x="80" y="160"/>
      </p:cViewPr>
      <p:guideLst>
        <p:guide orient="horz" pos="2167"/>
        <p:guide pos="3872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handoutMaster" Target="handoutMasters/handout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汉仪文黑-55简" panose="00020600040101010101" charset="-122"/>
              <a:ea typeface="汉仪文黑-55简" panose="00020600040101010101" charset="-122"/>
              <a:cs typeface="汉仪文黑-55简" panose="00020600040101010101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汉仪文黑-55简" panose="00020600040101010101" charset="-122"/>
                <a:ea typeface="汉仪文黑-55简" panose="00020600040101010101" charset="-122"/>
              </a:rPr>
              <a:t>2023/12/3</a:t>
            </a:fld>
            <a:endParaRPr lang="zh-CN" altLang="en-US">
              <a:latin typeface="汉仪文黑-55简" panose="00020600040101010101" charset="-122"/>
              <a:ea typeface="汉仪文黑-55简" panose="00020600040101010101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汉仪文黑-55简" panose="00020600040101010101" charset="-122"/>
              <a:ea typeface="汉仪文黑-55简" panose="00020600040101010101" charset="-122"/>
              <a:cs typeface="汉仪文黑-55简" panose="00020600040101010101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汉仪文黑-55简" panose="00020600040101010101" charset="-122"/>
                <a:ea typeface="汉仪文黑-55简" panose="00020600040101010101" charset="-122"/>
              </a:rPr>
              <a:t>‹#›</a:t>
            </a:fld>
            <a:endParaRPr lang="zh-CN" altLang="en-US">
              <a:latin typeface="汉仪文黑-55简" panose="00020600040101010101" charset="-122"/>
              <a:ea typeface="汉仪文黑-55简" panose="0002060004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汉仪文黑-55简" panose="00020600040101010101" charset="-122"/>
                <a:ea typeface="汉仪文黑-55简" panose="00020600040101010101" charset="-122"/>
                <a:cs typeface="汉仪文黑-55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汉仪文黑-55简" panose="00020600040101010101" charset="-122"/>
                <a:ea typeface="汉仪文黑-55简" panose="00020600040101010101" charset="-122"/>
                <a:cs typeface="汉仪文黑-55简" panose="00020600040101010101" charset="-122"/>
              </a:defRPr>
            </a:lvl1pPr>
          </a:lstStyle>
          <a:p>
            <a:fld id="{1AC49D05-6128-4D0D-A32A-06A5E73B386C}" type="datetimeFigureOut">
              <a:rPr lang="zh-CN" altLang="en-US" smtClean="0"/>
              <a:t>2023/12/3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汉仪文黑-55简" panose="00020600040101010101" charset="-122"/>
                <a:ea typeface="汉仪文黑-55简" panose="00020600040101010101" charset="-122"/>
                <a:cs typeface="汉仪文黑-55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汉仪文黑-55简" panose="00020600040101010101" charset="-122"/>
                <a:ea typeface="汉仪文黑-55简" panose="00020600040101010101" charset="-122"/>
                <a:cs typeface="汉仪文黑-55简" panose="00020600040101010101" charset="-122"/>
              </a:defRPr>
            </a:lvl1pPr>
          </a:lstStyle>
          <a:p>
            <a:fld id="{5849F42C-2DAE-424C-A4B8-3140182C3E9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177" rtl="0" eaLnBrk="1" latinLnBrk="0" hangingPunct="1">
      <a:defRPr sz="800" kern="1200">
        <a:solidFill>
          <a:schemeClr val="tx1"/>
        </a:solidFill>
        <a:latin typeface="汉仪文黑-55简" panose="00020600040101010101" charset="-122"/>
        <a:ea typeface="汉仪文黑-55简" panose="00020600040101010101" charset="-122"/>
        <a:cs typeface="汉仪文黑-55简" panose="00020600040101010101" charset="-122"/>
      </a:defRPr>
    </a:lvl1pPr>
    <a:lvl2pPr marL="228588" algn="l" defTabSz="457177" rtl="0" eaLnBrk="1" latinLnBrk="0" hangingPunct="1">
      <a:defRPr sz="600" kern="1200">
        <a:solidFill>
          <a:schemeClr val="tx1"/>
        </a:solidFill>
        <a:latin typeface="汉仪文黑-55简" panose="00020600040101010101" charset="-122"/>
        <a:ea typeface="汉仪文黑-55简" panose="00020600040101010101" charset="-122"/>
        <a:cs typeface="汉仪文黑-55简" panose="00020600040101010101" charset="-122"/>
      </a:defRPr>
    </a:lvl2pPr>
    <a:lvl3pPr marL="457177" algn="l" defTabSz="457177" rtl="0" eaLnBrk="1" latinLnBrk="0" hangingPunct="1">
      <a:defRPr sz="600" kern="1200">
        <a:solidFill>
          <a:schemeClr val="tx1"/>
        </a:solidFill>
        <a:latin typeface="汉仪文黑-55简" panose="00020600040101010101" charset="-122"/>
        <a:ea typeface="汉仪文黑-55简" panose="00020600040101010101" charset="-122"/>
        <a:cs typeface="汉仪文黑-55简" panose="00020600040101010101" charset="-122"/>
      </a:defRPr>
    </a:lvl3pPr>
    <a:lvl4pPr marL="685764" algn="l" defTabSz="457177" rtl="0" eaLnBrk="1" latinLnBrk="0" hangingPunct="1">
      <a:defRPr sz="600" kern="1200">
        <a:solidFill>
          <a:schemeClr val="tx1"/>
        </a:solidFill>
        <a:latin typeface="汉仪文黑-55简" panose="00020600040101010101" charset="-122"/>
        <a:ea typeface="汉仪文黑-55简" panose="00020600040101010101" charset="-122"/>
        <a:cs typeface="汉仪文黑-55简" panose="00020600040101010101" charset="-122"/>
      </a:defRPr>
    </a:lvl4pPr>
    <a:lvl5pPr marL="914352" algn="l" defTabSz="457177" rtl="0" eaLnBrk="1" latinLnBrk="0" hangingPunct="1">
      <a:defRPr sz="600" kern="1200">
        <a:solidFill>
          <a:schemeClr val="tx1"/>
        </a:solidFill>
        <a:latin typeface="汉仪文黑-55简" panose="00020600040101010101" charset="-122"/>
        <a:ea typeface="汉仪文黑-55简" panose="00020600040101010101" charset="-122"/>
        <a:cs typeface="汉仪文黑-55简" panose="00020600040101010101" charset="-122"/>
      </a:defRPr>
    </a:lvl5pPr>
    <a:lvl6pPr marL="1142940" algn="l" defTabSz="457177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528" algn="l" defTabSz="457177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116" algn="l" defTabSz="457177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704" algn="l" defTabSz="457177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2023/12/3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901530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2023/12/3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01653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2023/12/3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10002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2023/12/3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23907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12/3/2023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0049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2023/12/3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48321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2023/12/3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349681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2023/12/3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63583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2023/12/3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337221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69000">
              <a:srgbClr val="E0E9F8">
                <a:alpha val="100000"/>
              </a:srgb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0585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2023/12/3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2023/12/3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4161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2023/12/3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43624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50" r:id="rId11"/>
    <p:sldLayoutId id="214748366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5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jpg"/><Relationship Id="rId7" Type="http://schemas.openxmlformats.org/officeDocument/2006/relationships/image" Target="../media/image7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6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image" Target="../media/image14.wmf"/><Relationship Id="rId3" Type="http://schemas.openxmlformats.org/officeDocument/2006/relationships/image" Target="../media/image2.jpg"/><Relationship Id="rId7" Type="http://schemas.openxmlformats.org/officeDocument/2006/relationships/image" Target="../media/image11.wmf"/><Relationship Id="rId12" Type="http://schemas.openxmlformats.org/officeDocument/2006/relationships/oleObject" Target="../embeddings/oleObject5.bin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8.x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13.wmf"/><Relationship Id="rId5" Type="http://schemas.openxmlformats.org/officeDocument/2006/relationships/image" Target="../media/image10.wmf"/><Relationship Id="rId15" Type="http://schemas.openxmlformats.org/officeDocument/2006/relationships/image" Target="../media/image15.wmf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12.wmf"/><Relationship Id="rId14" Type="http://schemas.openxmlformats.org/officeDocument/2006/relationships/oleObject" Target="../embeddings/oleObject6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C7AD373C-7842-098B-4062-E4B7F01362A4}"/>
              </a:ext>
            </a:extLst>
          </p:cNvPr>
          <p:cNvSpPr txBox="1">
            <a:spLocks/>
          </p:cNvSpPr>
          <p:nvPr/>
        </p:nvSpPr>
        <p:spPr>
          <a:xfrm>
            <a:off x="341651" y="441021"/>
            <a:ext cx="1528813" cy="405646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>
            <a:noAutofit/>
          </a:bodyPr>
          <a:lstStyle>
            <a:lvl1pPr algn="l" defTabSz="18288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5600" b="1" u="none" strike="noStrike" kern="1200" cap="none" spc="200" normalizeH="0">
                <a:solidFill>
                  <a:schemeClr val="tx1"/>
                </a:solidFill>
                <a:uFillTx/>
                <a:latin typeface="汉仪文黑-55简" panose="00020600040101010101" charset="-122"/>
                <a:ea typeface="汉仪文黑-55简" panose="00020600040101010101" charset="-122"/>
                <a:cs typeface="汉仪文黑-55简" panose="00020600040101010101" charset="-122"/>
              </a:defRPr>
            </a:lvl1pPr>
          </a:lstStyle>
          <a:p>
            <a:pPr algn="ctr"/>
            <a:r>
              <a:rPr lang="zh-CN" altLang="en-US" sz="2000" dirty="0">
                <a:ln w="12700" cmpd="sng">
                  <a:noFill/>
                  <a:prstDash val="solid"/>
                </a:ln>
                <a:effectLst>
                  <a:outerShdw blurRad="50800" dist="38100" dir="2700000" algn="tl" rotWithShape="0">
                    <a:schemeClr val="bg1">
                      <a:alpha val="80000"/>
                    </a:scheme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目录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022B2049-4FAF-4E11-409F-4BA5474792A1}"/>
              </a:ext>
            </a:extLst>
          </p:cNvPr>
          <p:cNvSpPr/>
          <p:nvPr/>
        </p:nvSpPr>
        <p:spPr>
          <a:xfrm>
            <a:off x="4141224" y="2567699"/>
            <a:ext cx="529186" cy="529186"/>
          </a:xfrm>
          <a:prstGeom prst="ellipse">
            <a:avLst/>
          </a:prstGeom>
          <a:ln>
            <a:noFill/>
          </a:ln>
          <a:effectLst>
            <a:outerShdw blurRad="152400" dir="5400000" sx="90000" sy="-19000" rotWithShape="0">
              <a:prstClr val="black">
                <a:alpha val="7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 prst="relaxedInset"/>
          </a:sp3d>
        </p:spPr>
        <p:style>
          <a:lnRef idx="2">
            <a:schemeClr val="accent1">
              <a:shade val="50000"/>
            </a:schemeClr>
          </a:lnRef>
          <a:fillRef idx="1002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5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2D12058-78B7-9779-91CE-31983A99735C}"/>
              </a:ext>
            </a:extLst>
          </p:cNvPr>
          <p:cNvSpPr txBox="1"/>
          <p:nvPr/>
        </p:nvSpPr>
        <p:spPr>
          <a:xfrm>
            <a:off x="4908967" y="2507034"/>
            <a:ext cx="49479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effectLst>
                  <a:outerShdw blurRad="50800" dist="38100" dir="2700000" algn="tl" rotWithShape="0">
                    <a:schemeClr val="bg1">
                      <a:alpha val="80000"/>
                    </a:scheme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背景介绍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BE8EB4A-B699-4537-163F-5731E4FFCA63}"/>
              </a:ext>
            </a:extLst>
          </p:cNvPr>
          <p:cNvSpPr txBox="1"/>
          <p:nvPr/>
        </p:nvSpPr>
        <p:spPr>
          <a:xfrm>
            <a:off x="5379344" y="3246857"/>
            <a:ext cx="38256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effectLst>
                  <a:outerShdw blurRad="50800" dist="38100" dir="2700000" algn="tl" rotWithShape="0">
                    <a:schemeClr val="bg1">
                      <a:alpha val="80000"/>
                    </a:scheme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实现原理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373AE1B-E131-AA3C-55F7-8E711A5E2108}"/>
              </a:ext>
            </a:extLst>
          </p:cNvPr>
          <p:cNvSpPr txBox="1"/>
          <p:nvPr/>
        </p:nvSpPr>
        <p:spPr>
          <a:xfrm>
            <a:off x="5867691" y="4036371"/>
            <a:ext cx="44379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effectLst>
                  <a:outerShdw blurRad="50800" dist="38100" dir="2700000" algn="tl" rotWithShape="0">
                    <a:schemeClr val="bg1">
                      <a:alpha val="80000"/>
                    </a:scheme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代码简介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830139F2-0813-945A-E6BF-FD040B6C28FA}"/>
              </a:ext>
            </a:extLst>
          </p:cNvPr>
          <p:cNvSpPr/>
          <p:nvPr/>
        </p:nvSpPr>
        <p:spPr>
          <a:xfrm>
            <a:off x="4644374" y="3364002"/>
            <a:ext cx="529186" cy="529186"/>
          </a:xfrm>
          <a:prstGeom prst="ellipse">
            <a:avLst/>
          </a:prstGeom>
          <a:ln>
            <a:noFill/>
          </a:ln>
          <a:effectLst>
            <a:outerShdw blurRad="152400" dir="5400000" sx="90000" sy="-19000" rotWithShape="0">
              <a:prstClr val="black">
                <a:alpha val="7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 prst="relaxedInset"/>
          </a:sp3d>
        </p:spPr>
        <p:style>
          <a:lnRef idx="2">
            <a:schemeClr val="accent1">
              <a:shade val="50000"/>
            </a:schemeClr>
          </a:lnRef>
          <a:fillRef idx="1002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50" dirty="0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3ABCAFF6-43BF-3E58-52F3-49E878A239B8}"/>
              </a:ext>
            </a:extLst>
          </p:cNvPr>
          <p:cNvSpPr/>
          <p:nvPr/>
        </p:nvSpPr>
        <p:spPr>
          <a:xfrm>
            <a:off x="5257877" y="4153516"/>
            <a:ext cx="529186" cy="529186"/>
          </a:xfrm>
          <a:prstGeom prst="ellipse">
            <a:avLst/>
          </a:prstGeom>
          <a:ln>
            <a:noFill/>
          </a:ln>
          <a:effectLst>
            <a:outerShdw blurRad="152400" dir="5400000" sx="90000" sy="-19000" rotWithShape="0">
              <a:prstClr val="black">
                <a:alpha val="7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 prst="relaxedInset"/>
          </a:sp3d>
        </p:spPr>
        <p:style>
          <a:lnRef idx="2">
            <a:schemeClr val="accent1">
              <a:shade val="50000"/>
            </a:schemeClr>
          </a:lnRef>
          <a:fillRef idx="1002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5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095633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37146F96-37A0-A447-7F4E-C2DEC9D6EE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325" y="287338"/>
            <a:ext cx="287129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altLang="ko-KR" sz="2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zh-CN" altLang="en-US" sz="2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科技文献问答</a:t>
            </a:r>
            <a:r>
              <a:rPr lang="en-US" altLang="ko-KR" sz="2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</p:txBody>
      </p:sp>
      <p:sp>
        <p:nvSpPr>
          <p:cNvPr id="4" name="Line 4">
            <a:extLst>
              <a:ext uri="{FF2B5EF4-FFF2-40B4-BE49-F238E27FC236}">
                <a16:creationId xmlns:a16="http://schemas.microsoft.com/office/drawing/2014/main" id="{159C5347-7F89-F133-1CC9-8215530CF119}"/>
              </a:ext>
            </a:extLst>
          </p:cNvPr>
          <p:cNvSpPr>
            <a:spLocks noChangeShapeType="1"/>
          </p:cNvSpPr>
          <p:nvPr/>
        </p:nvSpPr>
        <p:spPr bwMode="auto">
          <a:xfrm>
            <a:off x="-9525" y="796924"/>
            <a:ext cx="12133792" cy="9525"/>
          </a:xfrm>
          <a:prstGeom prst="line">
            <a:avLst/>
          </a:prstGeom>
          <a:noFill/>
          <a:ln w="38100">
            <a:solidFill>
              <a:schemeClr val="bg1">
                <a:lumMod val="9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8CA66C96-F38E-8633-5526-BADFF25EF2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023647"/>
            <a:ext cx="382693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>
            <a:spAutoFit/>
          </a:bodyPr>
          <a:lstStyle>
            <a:lvl1pPr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457200" indent="-457200" fontAlgn="base">
              <a:buFont typeface="Wingdings" panose="05000000000000000000" pitchFamily="2" charset="2"/>
              <a:buChar char="Ø"/>
            </a:pPr>
            <a:r>
              <a:rPr lang="zh-CN" altLang="en-US" sz="3200" b="1" i="1" dirty="0"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代码简介</a:t>
            </a:r>
            <a:endParaRPr lang="en-US" altLang="zh-CN" sz="3200" b="1" i="1" dirty="0"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DDD683DA-FB68-FD60-A5F6-ACE504653C60}"/>
              </a:ext>
            </a:extLst>
          </p:cNvPr>
          <p:cNvGrpSpPr/>
          <p:nvPr/>
        </p:nvGrpSpPr>
        <p:grpSpPr>
          <a:xfrm>
            <a:off x="535092" y="1432314"/>
            <a:ext cx="11433388" cy="4830268"/>
            <a:chOff x="785706" y="4348148"/>
            <a:chExt cx="8400167" cy="1646253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2FEB6AC4-8EEC-8C49-06C9-8C1D9420B942}"/>
                </a:ext>
              </a:extLst>
            </p:cNvPr>
            <p:cNvSpPr/>
            <p:nvPr/>
          </p:nvSpPr>
          <p:spPr>
            <a:xfrm>
              <a:off x="3595394" y="4348148"/>
              <a:ext cx="2810934" cy="259717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代码是</a:t>
              </a:r>
            </a:p>
          </p:txBody>
        </p: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9D853124-68AC-DC42-F802-FBACA0603E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5707" y="5962964"/>
              <a:ext cx="8400166" cy="3143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连接符: 肘形 40">
              <a:extLst>
                <a:ext uri="{FF2B5EF4-FFF2-40B4-BE49-F238E27FC236}">
                  <a16:creationId xmlns:a16="http://schemas.microsoft.com/office/drawing/2014/main" id="{A4F4808E-BCFE-4304-C0C5-180B3A5135B0}"/>
                </a:ext>
              </a:extLst>
            </p:cNvPr>
            <p:cNvCxnSpPr>
              <a:cxnSpLocks/>
              <a:endCxn id="34" idx="1"/>
            </p:cNvCxnSpPr>
            <p:nvPr/>
          </p:nvCxnSpPr>
          <p:spPr>
            <a:xfrm rot="5400000" flipH="1" flipV="1">
              <a:off x="1432353" y="3831360"/>
              <a:ext cx="1516394" cy="2809688"/>
            </a:xfrm>
            <a:prstGeom prst="bentConnector2">
              <a:avLst/>
            </a:prstGeom>
            <a:ln w="2857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5" name="连接符: 肘形 44">
              <a:extLst>
                <a:ext uri="{FF2B5EF4-FFF2-40B4-BE49-F238E27FC236}">
                  <a16:creationId xmlns:a16="http://schemas.microsoft.com/office/drawing/2014/main" id="{CA58A024-2EEF-5038-0C36-E839F96FD720}"/>
                </a:ext>
              </a:extLst>
            </p:cNvPr>
            <p:cNvCxnSpPr>
              <a:cxnSpLocks/>
              <a:stCxn id="34" idx="3"/>
            </p:cNvCxnSpPr>
            <p:nvPr/>
          </p:nvCxnSpPr>
          <p:spPr>
            <a:xfrm>
              <a:off x="6406328" y="4478007"/>
              <a:ext cx="2779545" cy="1460520"/>
            </a:xfrm>
            <a:prstGeom prst="bentConnector2">
              <a:avLst/>
            </a:prstGeom>
            <a:ln w="28575"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文本框 70">
              <a:extLst>
                <a:ext uri="{FF2B5EF4-FFF2-40B4-BE49-F238E27FC236}">
                  <a16:creationId xmlns:a16="http://schemas.microsoft.com/office/drawing/2014/main" id="{EA73FFDB-EEFE-E501-FACB-2CD248061200}"/>
                </a:ext>
              </a:extLst>
            </p:cNvPr>
            <p:cNvSpPr txBox="1"/>
            <p:nvPr/>
          </p:nvSpPr>
          <p:spPr>
            <a:xfrm>
              <a:off x="907627" y="4926760"/>
              <a:ext cx="8278246" cy="6188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u"/>
              </a:pPr>
              <a:r>
                <a:rPr lang="zh-CN" altLang="en-US" sz="1600" dirty="0">
                  <a:latin typeface="黑体" panose="02010609060101010101" pitchFamily="49" charset="-122"/>
                  <a:ea typeface="黑体" panose="02010609060101010101" pitchFamily="49" charset="-122"/>
                </a:rPr>
                <a:t>现代科技几亿文献，数据巨大，针对一些具体问题需要检索和阅读大量外文文献。</a:t>
              </a:r>
              <a:endParaRPr lang="en-US" altLang="zh-CN" sz="16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marL="285750" indent="-285750">
                <a:buFont typeface="Wingdings" panose="05000000000000000000" pitchFamily="2" charset="2"/>
                <a:buChar char="u"/>
              </a:pPr>
              <a:r>
                <a:rPr lang="zh-CN" altLang="en-US" sz="1600" dirty="0">
                  <a:latin typeface="黑体" panose="02010609060101010101" pitchFamily="49" charset="-122"/>
                  <a:ea typeface="黑体" panose="02010609060101010101" pitchFamily="49" charset="-122"/>
                </a:rPr>
                <a:t>外文文献很多晦涩难懂，专业偏远词汇很难阅读，外文不好的人阅读比较困难。</a:t>
              </a:r>
              <a:endParaRPr lang="en-US" altLang="zh-CN" sz="16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marL="285750" indent="-285750">
                <a:buFont typeface="Wingdings" panose="05000000000000000000" pitchFamily="2" charset="2"/>
                <a:buChar char="u"/>
              </a:pPr>
              <a:r>
                <a:rPr lang="zh-CN" altLang="en-US" sz="1600" dirty="0">
                  <a:latin typeface="黑体" panose="02010609060101010101" pitchFamily="49" charset="-122"/>
                  <a:ea typeface="黑体" panose="02010609060101010101" pitchFamily="49" charset="-122"/>
                </a:rPr>
                <a:t>需要利用一些科技手段简化对外文科技文献的理解。</a:t>
              </a:r>
              <a:endParaRPr lang="en-US" altLang="zh-CN" sz="16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marL="285750" indent="-285750">
                <a:buFont typeface="Wingdings" panose="05000000000000000000" pitchFamily="2" charset="2"/>
                <a:buChar char="u"/>
              </a:pPr>
              <a:r>
                <a:rPr lang="zh-CN" altLang="en-US" sz="1600" dirty="0">
                  <a:latin typeface="黑体" panose="02010609060101010101" pitchFamily="49" charset="-122"/>
                  <a:ea typeface="黑体" panose="02010609060101010101" pitchFamily="49" charset="-122"/>
                </a:rPr>
                <a:t>因此本文是通过科技文献提问</a:t>
              </a:r>
              <a:r>
                <a:rPr lang="en-US" altLang="zh-CN" sz="1600" dirty="0">
                  <a:latin typeface="黑体" panose="02010609060101010101" pitchFamily="49" charset="-122"/>
                  <a:ea typeface="黑体" panose="02010609060101010101" pitchFamily="49" charset="-122"/>
                </a:rPr>
                <a:t>-</a:t>
              </a:r>
              <a:r>
                <a:rPr lang="zh-CN" altLang="en-US" sz="1600" dirty="0">
                  <a:latin typeface="黑体" panose="02010609060101010101" pitchFamily="49" charset="-122"/>
                  <a:ea typeface="黑体" panose="02010609060101010101" pitchFamily="49" charset="-122"/>
                </a:rPr>
                <a:t>回答的方式来帮助用户快速理解文献，获取知识，但要注意：</a:t>
              </a:r>
              <a:endParaRPr lang="en-US" altLang="zh-CN" sz="16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zh-CN" altLang="en-US" sz="1600" dirty="0">
                  <a:latin typeface="黑体" panose="02010609060101010101" pitchFamily="49" charset="-122"/>
                  <a:ea typeface="黑体" panose="02010609060101010101" pitchFamily="49" charset="-122"/>
                </a:rPr>
                <a:t>问题回答不好跑跑题，不能由大模型幻想和自由发挥。</a:t>
              </a:r>
              <a:endParaRPr lang="en-US" altLang="zh-CN" sz="16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zh-CN" altLang="en-US" sz="1600" dirty="0">
                  <a:latin typeface="黑体" panose="02010609060101010101" pitchFamily="49" charset="-122"/>
                  <a:ea typeface="黑体" panose="02010609060101010101" pitchFamily="49" charset="-122"/>
                </a:rPr>
                <a:t>要给出相关答案的参考文献，方面有深入理解相关知识的用户深入阅读，减少检索工作量。</a:t>
              </a:r>
              <a:endParaRPr lang="en-US" altLang="zh-CN" sz="16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zh-CN" altLang="en-US" sz="1600" dirty="0">
                  <a:latin typeface="黑体" panose="02010609060101010101" pitchFamily="49" charset="-122"/>
                  <a:ea typeface="黑体" panose="02010609060101010101" pitchFamily="49" charset="-122"/>
                </a:rPr>
                <a:t>不可有政治倾向，通过</a:t>
              </a:r>
              <a:r>
                <a:rPr lang="en-US" altLang="zh-CN" sz="1600" dirty="0">
                  <a:latin typeface="黑体" panose="02010609060101010101" pitchFamily="49" charset="-122"/>
                  <a:ea typeface="黑体" panose="02010609060101010101" pitchFamily="49" charset="-122"/>
                </a:rPr>
                <a:t>prompt</a:t>
              </a:r>
              <a:r>
                <a:rPr lang="zh-CN" altLang="en-US" sz="1600" dirty="0">
                  <a:latin typeface="黑体" panose="02010609060101010101" pitchFamily="49" charset="-122"/>
                  <a:ea typeface="黑体" panose="02010609060101010101" pitchFamily="49" charset="-122"/>
                </a:rPr>
                <a:t>来提示和限制答案范围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195565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37146F96-37A0-A447-7F4E-C2DEC9D6EE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325" y="287338"/>
            <a:ext cx="287129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altLang="ko-KR" sz="2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zh-CN" altLang="en-US" sz="2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科技文献问答</a:t>
            </a:r>
            <a:r>
              <a:rPr lang="en-US" altLang="ko-KR" sz="2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</p:txBody>
      </p:sp>
      <p:sp>
        <p:nvSpPr>
          <p:cNvPr id="4" name="Line 4">
            <a:extLst>
              <a:ext uri="{FF2B5EF4-FFF2-40B4-BE49-F238E27FC236}">
                <a16:creationId xmlns:a16="http://schemas.microsoft.com/office/drawing/2014/main" id="{159C5347-7F89-F133-1CC9-8215530CF119}"/>
              </a:ext>
            </a:extLst>
          </p:cNvPr>
          <p:cNvSpPr>
            <a:spLocks noChangeShapeType="1"/>
          </p:cNvSpPr>
          <p:nvPr/>
        </p:nvSpPr>
        <p:spPr bwMode="auto">
          <a:xfrm>
            <a:off x="-9525" y="796924"/>
            <a:ext cx="12133792" cy="9525"/>
          </a:xfrm>
          <a:prstGeom prst="line">
            <a:avLst/>
          </a:prstGeom>
          <a:noFill/>
          <a:ln w="38100">
            <a:solidFill>
              <a:schemeClr val="bg1">
                <a:lumMod val="9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8CA66C96-F38E-8633-5526-BADFF25EF2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023647"/>
            <a:ext cx="382693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>
            <a:spAutoFit/>
          </a:bodyPr>
          <a:lstStyle>
            <a:lvl1pPr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457200" indent="-457200" fontAlgn="base">
              <a:buFont typeface="Wingdings" panose="05000000000000000000" pitchFamily="2" charset="2"/>
              <a:buChar char="Ø"/>
            </a:pPr>
            <a:r>
              <a:rPr lang="zh-CN" altLang="en-US" sz="3200" b="1" i="1" dirty="0"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实现原理</a:t>
            </a:r>
            <a:endParaRPr lang="en-US" altLang="zh-CN" sz="3200" b="1" i="1" dirty="0"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DDD683DA-FB68-FD60-A5F6-ACE504653C60}"/>
              </a:ext>
            </a:extLst>
          </p:cNvPr>
          <p:cNvGrpSpPr/>
          <p:nvPr/>
        </p:nvGrpSpPr>
        <p:grpSpPr>
          <a:xfrm>
            <a:off x="535092" y="1432314"/>
            <a:ext cx="11433388" cy="4830268"/>
            <a:chOff x="785706" y="4348148"/>
            <a:chExt cx="8400167" cy="1646253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2FEB6AC4-8EEC-8C49-06C9-8C1D9420B942}"/>
                </a:ext>
              </a:extLst>
            </p:cNvPr>
            <p:cNvSpPr/>
            <p:nvPr/>
          </p:nvSpPr>
          <p:spPr>
            <a:xfrm>
              <a:off x="3595394" y="4348148"/>
              <a:ext cx="2810934" cy="259717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基于向量的语义检索</a:t>
              </a:r>
            </a:p>
          </p:txBody>
        </p: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9D853124-68AC-DC42-F802-FBACA0603E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5707" y="5962964"/>
              <a:ext cx="8400166" cy="3143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连接符: 肘形 40">
              <a:extLst>
                <a:ext uri="{FF2B5EF4-FFF2-40B4-BE49-F238E27FC236}">
                  <a16:creationId xmlns:a16="http://schemas.microsoft.com/office/drawing/2014/main" id="{A4F4808E-BCFE-4304-C0C5-180B3A5135B0}"/>
                </a:ext>
              </a:extLst>
            </p:cNvPr>
            <p:cNvCxnSpPr>
              <a:cxnSpLocks/>
              <a:endCxn id="34" idx="1"/>
            </p:cNvCxnSpPr>
            <p:nvPr/>
          </p:nvCxnSpPr>
          <p:spPr>
            <a:xfrm rot="5400000" flipH="1" flipV="1">
              <a:off x="1432353" y="3831360"/>
              <a:ext cx="1516394" cy="2809688"/>
            </a:xfrm>
            <a:prstGeom prst="bentConnector2">
              <a:avLst/>
            </a:prstGeom>
            <a:ln w="2857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5" name="连接符: 肘形 44">
              <a:extLst>
                <a:ext uri="{FF2B5EF4-FFF2-40B4-BE49-F238E27FC236}">
                  <a16:creationId xmlns:a16="http://schemas.microsoft.com/office/drawing/2014/main" id="{CA58A024-2EEF-5038-0C36-E839F96FD720}"/>
                </a:ext>
              </a:extLst>
            </p:cNvPr>
            <p:cNvCxnSpPr>
              <a:cxnSpLocks/>
              <a:stCxn id="34" idx="3"/>
            </p:cNvCxnSpPr>
            <p:nvPr/>
          </p:nvCxnSpPr>
          <p:spPr>
            <a:xfrm>
              <a:off x="6406328" y="4478007"/>
              <a:ext cx="2779545" cy="1460520"/>
            </a:xfrm>
            <a:prstGeom prst="bentConnector2">
              <a:avLst/>
            </a:prstGeom>
            <a:ln w="28575"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784879A3-1D46-D2C5-B398-398EA567342F}"/>
              </a:ext>
            </a:extLst>
          </p:cNvPr>
          <p:cNvSpPr/>
          <p:nvPr/>
        </p:nvSpPr>
        <p:spPr>
          <a:xfrm>
            <a:off x="1707877" y="5193758"/>
            <a:ext cx="9482667" cy="582753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向量数据库          </a:t>
            </a:r>
            <a:r>
              <a:rPr lang="en-US" altLang="zh-CN" dirty="0"/>
              <a:t>Elasticsearch 8.x</a:t>
            </a:r>
            <a:r>
              <a:rPr lang="zh-CN" altLang="en-US" dirty="0"/>
              <a:t>（</a:t>
            </a:r>
            <a:r>
              <a:rPr lang="en-US" altLang="zh-CN" dirty="0"/>
              <a:t>768 dim dense vector)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5B508FE-E313-8683-E41F-F4CC354D9F46}"/>
              </a:ext>
            </a:extLst>
          </p:cNvPr>
          <p:cNvSpPr/>
          <p:nvPr/>
        </p:nvSpPr>
        <p:spPr>
          <a:xfrm>
            <a:off x="1774230" y="3052221"/>
            <a:ext cx="1300480" cy="42988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</a:rPr>
              <a:t>包括英文及对应中文翻译</a:t>
            </a:r>
            <a:endParaRPr lang="en-US" altLang="zh-CN" sz="900" dirty="0">
              <a:solidFill>
                <a:schemeClr val="tx1"/>
              </a:solidFill>
            </a:endParaRPr>
          </a:p>
          <a:p>
            <a:pPr algn="ctr"/>
            <a:r>
              <a:rPr lang="zh-CN" altLang="en-US" sz="900" dirty="0">
                <a:solidFill>
                  <a:schemeClr val="tx1"/>
                </a:solidFill>
              </a:rPr>
              <a:t>分解</a:t>
            </a:r>
            <a:endParaRPr lang="en-US" altLang="zh-CN" sz="900" dirty="0">
              <a:solidFill>
                <a:schemeClr val="tx1"/>
              </a:solidFill>
            </a:endParaRPr>
          </a:p>
        </p:txBody>
      </p:sp>
      <p:sp>
        <p:nvSpPr>
          <p:cNvPr id="7" name="矩形: 一个圆顶角，剪去另一个顶角 6">
            <a:extLst>
              <a:ext uri="{FF2B5EF4-FFF2-40B4-BE49-F238E27FC236}">
                <a16:creationId xmlns:a16="http://schemas.microsoft.com/office/drawing/2014/main" id="{A3251E1F-605B-80C1-38C2-6BDA4B098C87}"/>
              </a:ext>
            </a:extLst>
          </p:cNvPr>
          <p:cNvSpPr/>
          <p:nvPr/>
        </p:nvSpPr>
        <p:spPr>
          <a:xfrm>
            <a:off x="1716350" y="2355817"/>
            <a:ext cx="1110826" cy="337431"/>
          </a:xfrm>
          <a:prstGeom prst="snip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一个圆顶角，剪去另一个顶角 7">
            <a:extLst>
              <a:ext uri="{FF2B5EF4-FFF2-40B4-BE49-F238E27FC236}">
                <a16:creationId xmlns:a16="http://schemas.microsoft.com/office/drawing/2014/main" id="{23561F24-3BAC-34E4-EEF5-20C409BE72A2}"/>
              </a:ext>
            </a:extLst>
          </p:cNvPr>
          <p:cNvSpPr/>
          <p:nvPr/>
        </p:nvSpPr>
        <p:spPr>
          <a:xfrm>
            <a:off x="1761300" y="2400124"/>
            <a:ext cx="1110826" cy="337431"/>
          </a:xfrm>
          <a:prstGeom prst="snip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一个圆顶角，剪去另一个顶角 8">
            <a:extLst>
              <a:ext uri="{FF2B5EF4-FFF2-40B4-BE49-F238E27FC236}">
                <a16:creationId xmlns:a16="http://schemas.microsoft.com/office/drawing/2014/main" id="{8C9506AD-38A9-D790-5A69-CC5DB694C56E}"/>
              </a:ext>
            </a:extLst>
          </p:cNvPr>
          <p:cNvSpPr/>
          <p:nvPr/>
        </p:nvSpPr>
        <p:spPr>
          <a:xfrm>
            <a:off x="1869057" y="2526937"/>
            <a:ext cx="1110826" cy="337431"/>
          </a:xfrm>
          <a:prstGeom prst="snip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2.5</a:t>
            </a:r>
            <a:r>
              <a:rPr lang="zh-CN" altLang="en-US" sz="1000" dirty="0">
                <a:solidFill>
                  <a:schemeClr val="tx1"/>
                </a:solidFill>
              </a:rPr>
              <a:t>亿文献</a:t>
            </a:r>
            <a:endParaRPr lang="zh-CN" altLang="en-US" sz="10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C8ED350-948F-904F-5DEE-D64CEC634295}"/>
              </a:ext>
            </a:extLst>
          </p:cNvPr>
          <p:cNvSpPr/>
          <p:nvPr/>
        </p:nvSpPr>
        <p:spPr>
          <a:xfrm>
            <a:off x="1786547" y="3636011"/>
            <a:ext cx="1300480" cy="39641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ChatGPT</a:t>
            </a:r>
            <a:r>
              <a:rPr lang="zh-CN" altLang="en-US" sz="1000" dirty="0">
                <a:solidFill>
                  <a:schemeClr val="tx1"/>
                </a:solidFill>
              </a:rPr>
              <a:t>要求生成若干问题和答案</a:t>
            </a:r>
            <a:endParaRPr lang="en-US" altLang="zh-CN" sz="1000" dirty="0">
              <a:solidFill>
                <a:schemeClr val="tx1"/>
              </a:solidFill>
            </a:endParaRPr>
          </a:p>
        </p:txBody>
      </p:sp>
      <p:sp>
        <p:nvSpPr>
          <p:cNvPr id="11" name="箭头: 下 10">
            <a:extLst>
              <a:ext uri="{FF2B5EF4-FFF2-40B4-BE49-F238E27FC236}">
                <a16:creationId xmlns:a16="http://schemas.microsoft.com/office/drawing/2014/main" id="{08441AC5-B1D4-FAC5-1E33-CB8AE12EF649}"/>
              </a:ext>
            </a:extLst>
          </p:cNvPr>
          <p:cNvSpPr/>
          <p:nvPr/>
        </p:nvSpPr>
        <p:spPr>
          <a:xfrm>
            <a:off x="5124955" y="4339236"/>
            <a:ext cx="1106512" cy="796831"/>
          </a:xfrm>
          <a:prstGeom prst="down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/>
              <a:t>批量生成</a:t>
            </a:r>
            <a:r>
              <a:rPr lang="en-US" altLang="zh-CN" sz="900" dirty="0"/>
              <a:t>768</a:t>
            </a:r>
            <a:r>
              <a:rPr lang="zh-CN" altLang="en-US" sz="900" dirty="0"/>
              <a:t>维向量</a:t>
            </a:r>
          </a:p>
        </p:txBody>
      </p:sp>
      <p:sp>
        <p:nvSpPr>
          <p:cNvPr id="12" name="圆柱体 11">
            <a:extLst>
              <a:ext uri="{FF2B5EF4-FFF2-40B4-BE49-F238E27FC236}">
                <a16:creationId xmlns:a16="http://schemas.microsoft.com/office/drawing/2014/main" id="{67EE4D28-83FB-06AB-EFB1-2AFE448D462E}"/>
              </a:ext>
            </a:extLst>
          </p:cNvPr>
          <p:cNvSpPr/>
          <p:nvPr/>
        </p:nvSpPr>
        <p:spPr>
          <a:xfrm>
            <a:off x="3989268" y="3459729"/>
            <a:ext cx="704426" cy="748975"/>
          </a:xfrm>
          <a:prstGeom prst="can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文献问题答案库</a:t>
            </a:r>
          </a:p>
        </p:txBody>
      </p:sp>
      <p:sp>
        <p:nvSpPr>
          <p:cNvPr id="13" name="箭头: 右 12">
            <a:extLst>
              <a:ext uri="{FF2B5EF4-FFF2-40B4-BE49-F238E27FC236}">
                <a16:creationId xmlns:a16="http://schemas.microsoft.com/office/drawing/2014/main" id="{3F23934B-594C-BDFD-E927-5CBB3E21F587}"/>
              </a:ext>
            </a:extLst>
          </p:cNvPr>
          <p:cNvSpPr/>
          <p:nvPr/>
        </p:nvSpPr>
        <p:spPr>
          <a:xfrm>
            <a:off x="3132443" y="3672508"/>
            <a:ext cx="888076" cy="281033"/>
          </a:xfrm>
          <a:prstGeom prst="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箭头: 右 13">
            <a:extLst>
              <a:ext uri="{FF2B5EF4-FFF2-40B4-BE49-F238E27FC236}">
                <a16:creationId xmlns:a16="http://schemas.microsoft.com/office/drawing/2014/main" id="{B88C9990-6D8F-7BC2-BC47-C8E46BB8018F}"/>
              </a:ext>
            </a:extLst>
          </p:cNvPr>
          <p:cNvSpPr/>
          <p:nvPr/>
        </p:nvSpPr>
        <p:spPr>
          <a:xfrm>
            <a:off x="4760849" y="3672508"/>
            <a:ext cx="888076" cy="281033"/>
          </a:xfrm>
          <a:prstGeom prst="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C67CD233-D413-957A-1CD6-5E6B900CBD05}"/>
              </a:ext>
            </a:extLst>
          </p:cNvPr>
          <p:cNvSpPr/>
          <p:nvPr/>
        </p:nvSpPr>
        <p:spPr>
          <a:xfrm>
            <a:off x="5672136" y="3423685"/>
            <a:ext cx="846507" cy="791852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/>
              <a:t>BERT</a:t>
            </a:r>
            <a:r>
              <a:rPr lang="zh-CN" altLang="en-US" sz="1100" dirty="0"/>
              <a:t>模型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BE94473-586D-5C20-49AA-BF22EFF4DADF}"/>
              </a:ext>
            </a:extLst>
          </p:cNvPr>
          <p:cNvSpPr txBox="1"/>
          <p:nvPr/>
        </p:nvSpPr>
        <p:spPr>
          <a:xfrm>
            <a:off x="5212006" y="2266050"/>
            <a:ext cx="2038922" cy="646331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用户</a:t>
            </a:r>
            <a:r>
              <a:rPr lang="en-US" altLang="zh-CN" dirty="0"/>
              <a:t>Chat</a:t>
            </a:r>
          </a:p>
          <a:p>
            <a:pPr algn="ctr"/>
            <a:r>
              <a:rPr lang="zh-CN" altLang="en-US" dirty="0"/>
              <a:t>科技文献问题</a:t>
            </a:r>
          </a:p>
        </p:txBody>
      </p:sp>
      <p:sp>
        <p:nvSpPr>
          <p:cNvPr id="17" name="箭头: 下 16">
            <a:extLst>
              <a:ext uri="{FF2B5EF4-FFF2-40B4-BE49-F238E27FC236}">
                <a16:creationId xmlns:a16="http://schemas.microsoft.com/office/drawing/2014/main" id="{02A4C608-6E85-772B-3747-060670AD82FF}"/>
              </a:ext>
            </a:extLst>
          </p:cNvPr>
          <p:cNvSpPr/>
          <p:nvPr/>
        </p:nvSpPr>
        <p:spPr>
          <a:xfrm>
            <a:off x="6007947" y="2941427"/>
            <a:ext cx="223520" cy="475820"/>
          </a:xfrm>
          <a:prstGeom prst="down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885F859-ADF6-17B9-4687-295511D4DD2B}"/>
              </a:ext>
            </a:extLst>
          </p:cNvPr>
          <p:cNvSpPr txBox="1"/>
          <p:nvPr/>
        </p:nvSpPr>
        <p:spPr>
          <a:xfrm>
            <a:off x="4085630" y="4346379"/>
            <a:ext cx="10393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英文问题向量</a:t>
            </a:r>
            <a:endParaRPr lang="en-US" altLang="zh-CN" sz="1000" dirty="0"/>
          </a:p>
          <a:p>
            <a:r>
              <a:rPr lang="zh-CN" altLang="en-US" sz="1000" dirty="0"/>
              <a:t>中文问题向量</a:t>
            </a:r>
            <a:endParaRPr lang="en-US" altLang="zh-CN" sz="1000" dirty="0"/>
          </a:p>
          <a:p>
            <a:r>
              <a:rPr lang="zh-CN" altLang="en-US" sz="1000" dirty="0"/>
              <a:t>对应英文答案</a:t>
            </a:r>
            <a:endParaRPr lang="en-US" altLang="zh-CN" sz="1000" dirty="0"/>
          </a:p>
          <a:p>
            <a:r>
              <a:rPr lang="zh-CN" altLang="en-US" sz="1000" dirty="0"/>
              <a:t>对应中文答案</a:t>
            </a:r>
          </a:p>
        </p:txBody>
      </p:sp>
      <p:sp>
        <p:nvSpPr>
          <p:cNvPr id="19" name="箭头: 下 18">
            <a:extLst>
              <a:ext uri="{FF2B5EF4-FFF2-40B4-BE49-F238E27FC236}">
                <a16:creationId xmlns:a16="http://schemas.microsoft.com/office/drawing/2014/main" id="{CCD2BCAE-3E72-ECA4-9B93-273BC5ADE6CE}"/>
              </a:ext>
            </a:extLst>
          </p:cNvPr>
          <p:cNvSpPr/>
          <p:nvPr/>
        </p:nvSpPr>
        <p:spPr>
          <a:xfrm>
            <a:off x="7216431" y="3693699"/>
            <a:ext cx="811967" cy="1500055"/>
          </a:xfrm>
          <a:prstGeom prst="down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/>
              <a:t>单句生成</a:t>
            </a:r>
            <a:r>
              <a:rPr lang="en-US" altLang="zh-CN" sz="900" dirty="0"/>
              <a:t>768</a:t>
            </a:r>
            <a:r>
              <a:rPr lang="zh-CN" altLang="en-US" sz="900" dirty="0"/>
              <a:t>维向量</a:t>
            </a:r>
          </a:p>
        </p:txBody>
      </p:sp>
      <p:sp>
        <p:nvSpPr>
          <p:cNvPr id="20" name="箭头: 右 19">
            <a:extLst>
              <a:ext uri="{FF2B5EF4-FFF2-40B4-BE49-F238E27FC236}">
                <a16:creationId xmlns:a16="http://schemas.microsoft.com/office/drawing/2014/main" id="{031092D1-1149-CFE7-B37D-FCF9FF8BE49D}"/>
              </a:ext>
            </a:extLst>
          </p:cNvPr>
          <p:cNvSpPr/>
          <p:nvPr/>
        </p:nvSpPr>
        <p:spPr>
          <a:xfrm>
            <a:off x="6500527" y="3639335"/>
            <a:ext cx="888076" cy="281033"/>
          </a:xfrm>
          <a:prstGeom prst="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箭头: 下 20">
            <a:extLst>
              <a:ext uri="{FF2B5EF4-FFF2-40B4-BE49-F238E27FC236}">
                <a16:creationId xmlns:a16="http://schemas.microsoft.com/office/drawing/2014/main" id="{6B5CDAC2-7ABD-5546-496A-FF69196658AA}"/>
              </a:ext>
            </a:extLst>
          </p:cNvPr>
          <p:cNvSpPr/>
          <p:nvPr/>
        </p:nvSpPr>
        <p:spPr>
          <a:xfrm rot="10800000">
            <a:off x="8929255" y="4329206"/>
            <a:ext cx="271928" cy="859373"/>
          </a:xfrm>
          <a:prstGeom prst="down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C910BE0B-39B4-081A-584F-201BC5287546}"/>
              </a:ext>
            </a:extLst>
          </p:cNvPr>
          <p:cNvSpPr/>
          <p:nvPr/>
        </p:nvSpPr>
        <p:spPr>
          <a:xfrm>
            <a:off x="10284011" y="3561628"/>
            <a:ext cx="846507" cy="791852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/>
              <a:t>Llama2</a:t>
            </a:r>
            <a:r>
              <a:rPr lang="zh-CN" altLang="en-US" sz="1100" dirty="0"/>
              <a:t>模型</a:t>
            </a:r>
          </a:p>
        </p:txBody>
      </p:sp>
      <p:sp>
        <p:nvSpPr>
          <p:cNvPr id="25" name="矩形: 一个圆顶角，剪去另一个顶角 24">
            <a:extLst>
              <a:ext uri="{FF2B5EF4-FFF2-40B4-BE49-F238E27FC236}">
                <a16:creationId xmlns:a16="http://schemas.microsoft.com/office/drawing/2014/main" id="{880898D9-C2B6-5516-C758-6E79203D403C}"/>
              </a:ext>
            </a:extLst>
          </p:cNvPr>
          <p:cNvSpPr/>
          <p:nvPr/>
        </p:nvSpPr>
        <p:spPr>
          <a:xfrm>
            <a:off x="8407748" y="3678613"/>
            <a:ext cx="1264532" cy="650594"/>
          </a:xfrm>
          <a:prstGeom prst="snip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000" dirty="0"/>
              <a:t>KNN</a:t>
            </a:r>
            <a:r>
              <a:rPr lang="zh-CN" altLang="en-US" sz="1000" dirty="0"/>
              <a:t>语义检索</a:t>
            </a:r>
            <a:endParaRPr lang="en-US" altLang="zh-CN" sz="1000" dirty="0"/>
          </a:p>
          <a:p>
            <a:r>
              <a:rPr lang="zh-CN" altLang="en-US" sz="1000" dirty="0"/>
              <a:t>匹配</a:t>
            </a:r>
            <a:r>
              <a:rPr lang="en-US" altLang="zh-CN" sz="1000" dirty="0"/>
              <a:t>5</a:t>
            </a:r>
            <a:r>
              <a:rPr lang="zh-CN" altLang="en-US" sz="1000" dirty="0"/>
              <a:t>相最相关问题及相应答案</a:t>
            </a:r>
          </a:p>
          <a:p>
            <a:pPr algn="ctr"/>
            <a:endParaRPr lang="zh-CN" altLang="en-US" sz="1000" dirty="0"/>
          </a:p>
        </p:txBody>
      </p:sp>
      <p:sp>
        <p:nvSpPr>
          <p:cNvPr id="26" name="箭头: 右 25">
            <a:extLst>
              <a:ext uri="{FF2B5EF4-FFF2-40B4-BE49-F238E27FC236}">
                <a16:creationId xmlns:a16="http://schemas.microsoft.com/office/drawing/2014/main" id="{65ABBCB4-B414-8F9C-7173-181E17735CCE}"/>
              </a:ext>
            </a:extLst>
          </p:cNvPr>
          <p:cNvSpPr/>
          <p:nvPr/>
        </p:nvSpPr>
        <p:spPr>
          <a:xfrm>
            <a:off x="9687494" y="3834216"/>
            <a:ext cx="657085" cy="281033"/>
          </a:xfrm>
          <a:prstGeom prst="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箭头: 直角上 26">
            <a:extLst>
              <a:ext uri="{FF2B5EF4-FFF2-40B4-BE49-F238E27FC236}">
                <a16:creationId xmlns:a16="http://schemas.microsoft.com/office/drawing/2014/main" id="{1463F1F4-942D-FD70-8030-B480C4C1611E}"/>
              </a:ext>
            </a:extLst>
          </p:cNvPr>
          <p:cNvSpPr/>
          <p:nvPr/>
        </p:nvSpPr>
        <p:spPr>
          <a:xfrm rot="16200000">
            <a:off x="8616734" y="987327"/>
            <a:ext cx="625042" cy="3313262"/>
          </a:xfrm>
          <a:prstGeom prst="bentUpArrow">
            <a:avLst>
              <a:gd name="adj1" fmla="val 25623"/>
              <a:gd name="adj2" fmla="val 25000"/>
              <a:gd name="adj3" fmla="val 25000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: 一个圆顶角，剪去另一个顶角 27">
            <a:extLst>
              <a:ext uri="{FF2B5EF4-FFF2-40B4-BE49-F238E27FC236}">
                <a16:creationId xmlns:a16="http://schemas.microsoft.com/office/drawing/2014/main" id="{353AA179-13CC-4BA4-DC2E-C4EA601AE974}"/>
              </a:ext>
            </a:extLst>
          </p:cNvPr>
          <p:cNvSpPr/>
          <p:nvPr/>
        </p:nvSpPr>
        <p:spPr>
          <a:xfrm>
            <a:off x="10057403" y="2882189"/>
            <a:ext cx="1264532" cy="650594"/>
          </a:xfrm>
          <a:prstGeom prst="snip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000" dirty="0"/>
              <a:t>大模型根据提示，汇总生成答案</a:t>
            </a:r>
          </a:p>
          <a:p>
            <a:pPr algn="ctr"/>
            <a:endParaRPr lang="zh-CN" altLang="en-US" sz="10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55891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37146F96-37A0-A447-7F4E-C2DEC9D6EE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325" y="287338"/>
            <a:ext cx="287129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altLang="ko-KR" sz="2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zh-CN" altLang="en-US" sz="2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科技文献问答</a:t>
            </a:r>
            <a:r>
              <a:rPr lang="en-US" altLang="ko-KR" sz="2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</p:txBody>
      </p:sp>
      <p:sp>
        <p:nvSpPr>
          <p:cNvPr id="4" name="Line 4">
            <a:extLst>
              <a:ext uri="{FF2B5EF4-FFF2-40B4-BE49-F238E27FC236}">
                <a16:creationId xmlns:a16="http://schemas.microsoft.com/office/drawing/2014/main" id="{159C5347-7F89-F133-1CC9-8215530CF119}"/>
              </a:ext>
            </a:extLst>
          </p:cNvPr>
          <p:cNvSpPr>
            <a:spLocks noChangeShapeType="1"/>
          </p:cNvSpPr>
          <p:nvPr/>
        </p:nvSpPr>
        <p:spPr bwMode="auto">
          <a:xfrm>
            <a:off x="-9525" y="796924"/>
            <a:ext cx="12133792" cy="9525"/>
          </a:xfrm>
          <a:prstGeom prst="line">
            <a:avLst/>
          </a:prstGeom>
          <a:noFill/>
          <a:ln w="38100">
            <a:solidFill>
              <a:schemeClr val="bg1">
                <a:lumMod val="9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8CA66C96-F38E-8633-5526-BADFF25EF2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023647"/>
            <a:ext cx="382693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>
            <a:spAutoFit/>
          </a:bodyPr>
          <a:lstStyle>
            <a:lvl1pPr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457200" indent="-457200" fontAlgn="base">
              <a:buFont typeface="Wingdings" panose="05000000000000000000" pitchFamily="2" charset="2"/>
              <a:buChar char="Ø"/>
            </a:pPr>
            <a:r>
              <a:rPr lang="zh-CN" altLang="en-US" sz="3200" b="1" i="1" dirty="0"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实现原理</a:t>
            </a:r>
            <a:endParaRPr lang="en-US" altLang="zh-CN" sz="3200" b="1" i="1" dirty="0"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DDD683DA-FB68-FD60-A5F6-ACE504653C60}"/>
              </a:ext>
            </a:extLst>
          </p:cNvPr>
          <p:cNvGrpSpPr/>
          <p:nvPr/>
        </p:nvGrpSpPr>
        <p:grpSpPr>
          <a:xfrm>
            <a:off x="535092" y="1432314"/>
            <a:ext cx="11433388" cy="4830268"/>
            <a:chOff x="785706" y="4348148"/>
            <a:chExt cx="8400167" cy="1646253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2FEB6AC4-8EEC-8C49-06C9-8C1D9420B942}"/>
                </a:ext>
              </a:extLst>
            </p:cNvPr>
            <p:cNvSpPr/>
            <p:nvPr/>
          </p:nvSpPr>
          <p:spPr>
            <a:xfrm>
              <a:off x="3595394" y="4348148"/>
              <a:ext cx="2810934" cy="259717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运行图</a:t>
              </a:r>
            </a:p>
          </p:txBody>
        </p: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9D853124-68AC-DC42-F802-FBACA0603E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5707" y="5962964"/>
              <a:ext cx="8400166" cy="3143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连接符: 肘形 40">
              <a:extLst>
                <a:ext uri="{FF2B5EF4-FFF2-40B4-BE49-F238E27FC236}">
                  <a16:creationId xmlns:a16="http://schemas.microsoft.com/office/drawing/2014/main" id="{A4F4808E-BCFE-4304-C0C5-180B3A5135B0}"/>
                </a:ext>
              </a:extLst>
            </p:cNvPr>
            <p:cNvCxnSpPr>
              <a:cxnSpLocks/>
              <a:endCxn id="34" idx="1"/>
            </p:cNvCxnSpPr>
            <p:nvPr/>
          </p:nvCxnSpPr>
          <p:spPr>
            <a:xfrm rot="5400000" flipH="1" flipV="1">
              <a:off x="1432353" y="3831360"/>
              <a:ext cx="1516394" cy="2809688"/>
            </a:xfrm>
            <a:prstGeom prst="bentConnector2">
              <a:avLst/>
            </a:prstGeom>
            <a:ln w="2857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5" name="连接符: 肘形 44">
              <a:extLst>
                <a:ext uri="{FF2B5EF4-FFF2-40B4-BE49-F238E27FC236}">
                  <a16:creationId xmlns:a16="http://schemas.microsoft.com/office/drawing/2014/main" id="{CA58A024-2EEF-5038-0C36-E839F96FD720}"/>
                </a:ext>
              </a:extLst>
            </p:cNvPr>
            <p:cNvCxnSpPr>
              <a:cxnSpLocks/>
              <a:stCxn id="34" idx="3"/>
            </p:cNvCxnSpPr>
            <p:nvPr/>
          </p:nvCxnSpPr>
          <p:spPr>
            <a:xfrm>
              <a:off x="6406328" y="4478007"/>
              <a:ext cx="2779545" cy="1460520"/>
            </a:xfrm>
            <a:prstGeom prst="bentConnector2">
              <a:avLst/>
            </a:prstGeom>
            <a:ln w="28575"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7" name="图片 36">
            <a:extLst>
              <a:ext uri="{FF2B5EF4-FFF2-40B4-BE49-F238E27FC236}">
                <a16:creationId xmlns:a16="http://schemas.microsoft.com/office/drawing/2014/main" id="{73678492-415C-2D05-FE94-F5FF2AD97F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454" y="3180664"/>
            <a:ext cx="2303847" cy="857294"/>
          </a:xfrm>
          <a:prstGeom prst="rect">
            <a:avLst/>
          </a:prstGeom>
        </p:spPr>
      </p:pic>
      <p:pic>
        <p:nvPicPr>
          <p:cNvPr id="39" name="图片 38">
            <a:extLst>
              <a:ext uri="{FF2B5EF4-FFF2-40B4-BE49-F238E27FC236}">
                <a16:creationId xmlns:a16="http://schemas.microsoft.com/office/drawing/2014/main" id="{E066EBE5-AE8C-A2B5-F51C-6059563A43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5664" y="2194349"/>
            <a:ext cx="8768793" cy="400987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4336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37146F96-37A0-A447-7F4E-C2DEC9D6EE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325" y="287338"/>
            <a:ext cx="287129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altLang="ko-KR" sz="2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zh-CN" altLang="en-US" sz="2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科技文献问答</a:t>
            </a:r>
            <a:r>
              <a:rPr lang="en-US" altLang="ko-KR" sz="2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</p:txBody>
      </p:sp>
      <p:sp>
        <p:nvSpPr>
          <p:cNvPr id="4" name="Line 4">
            <a:extLst>
              <a:ext uri="{FF2B5EF4-FFF2-40B4-BE49-F238E27FC236}">
                <a16:creationId xmlns:a16="http://schemas.microsoft.com/office/drawing/2014/main" id="{159C5347-7F89-F133-1CC9-8215530CF119}"/>
              </a:ext>
            </a:extLst>
          </p:cNvPr>
          <p:cNvSpPr>
            <a:spLocks noChangeShapeType="1"/>
          </p:cNvSpPr>
          <p:nvPr/>
        </p:nvSpPr>
        <p:spPr bwMode="auto">
          <a:xfrm>
            <a:off x="-9525" y="796924"/>
            <a:ext cx="12133792" cy="9525"/>
          </a:xfrm>
          <a:prstGeom prst="line">
            <a:avLst/>
          </a:prstGeom>
          <a:noFill/>
          <a:ln w="38100">
            <a:solidFill>
              <a:schemeClr val="bg1">
                <a:lumMod val="9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8CA66C96-F38E-8633-5526-BADFF25EF2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023647"/>
            <a:ext cx="382693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>
            <a:spAutoFit/>
          </a:bodyPr>
          <a:lstStyle>
            <a:lvl1pPr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457200" indent="-457200" fontAlgn="base">
              <a:buFont typeface="Wingdings" panose="05000000000000000000" pitchFamily="2" charset="2"/>
              <a:buChar char="Ø"/>
            </a:pPr>
            <a:r>
              <a:rPr lang="zh-CN" altLang="en-US" sz="3200" b="1" i="1" dirty="0"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实现原理</a:t>
            </a:r>
            <a:endParaRPr lang="en-US" altLang="zh-CN" sz="3200" b="1" i="1" dirty="0"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DDD683DA-FB68-FD60-A5F6-ACE504653C60}"/>
              </a:ext>
            </a:extLst>
          </p:cNvPr>
          <p:cNvGrpSpPr/>
          <p:nvPr/>
        </p:nvGrpSpPr>
        <p:grpSpPr>
          <a:xfrm>
            <a:off x="535092" y="1432314"/>
            <a:ext cx="11433388" cy="4830268"/>
            <a:chOff x="785706" y="4348148"/>
            <a:chExt cx="8400167" cy="1646253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2FEB6AC4-8EEC-8C49-06C9-8C1D9420B942}"/>
                </a:ext>
              </a:extLst>
            </p:cNvPr>
            <p:cNvSpPr/>
            <p:nvPr/>
          </p:nvSpPr>
          <p:spPr>
            <a:xfrm>
              <a:off x="3595394" y="4348148"/>
              <a:ext cx="2810934" cy="259717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生成原理</a:t>
              </a:r>
            </a:p>
          </p:txBody>
        </p: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9D853124-68AC-DC42-F802-FBACA0603E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5707" y="5962964"/>
              <a:ext cx="8400166" cy="3143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连接符: 肘形 40">
              <a:extLst>
                <a:ext uri="{FF2B5EF4-FFF2-40B4-BE49-F238E27FC236}">
                  <a16:creationId xmlns:a16="http://schemas.microsoft.com/office/drawing/2014/main" id="{A4F4808E-BCFE-4304-C0C5-180B3A5135B0}"/>
                </a:ext>
              </a:extLst>
            </p:cNvPr>
            <p:cNvCxnSpPr>
              <a:cxnSpLocks/>
              <a:endCxn id="34" idx="1"/>
            </p:cNvCxnSpPr>
            <p:nvPr/>
          </p:nvCxnSpPr>
          <p:spPr>
            <a:xfrm rot="5400000" flipH="1" flipV="1">
              <a:off x="1432353" y="3831360"/>
              <a:ext cx="1516394" cy="2809688"/>
            </a:xfrm>
            <a:prstGeom prst="bentConnector2">
              <a:avLst/>
            </a:prstGeom>
            <a:ln w="2857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5" name="连接符: 肘形 44">
              <a:extLst>
                <a:ext uri="{FF2B5EF4-FFF2-40B4-BE49-F238E27FC236}">
                  <a16:creationId xmlns:a16="http://schemas.microsoft.com/office/drawing/2014/main" id="{CA58A024-2EEF-5038-0C36-E839F96FD720}"/>
                </a:ext>
              </a:extLst>
            </p:cNvPr>
            <p:cNvCxnSpPr>
              <a:cxnSpLocks/>
              <a:stCxn id="34" idx="3"/>
            </p:cNvCxnSpPr>
            <p:nvPr/>
          </p:nvCxnSpPr>
          <p:spPr>
            <a:xfrm>
              <a:off x="6406328" y="4478007"/>
              <a:ext cx="2779545" cy="1460520"/>
            </a:xfrm>
            <a:prstGeom prst="bentConnector2">
              <a:avLst/>
            </a:prstGeom>
            <a:ln w="28575"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7" name="图片 36">
            <a:extLst>
              <a:ext uri="{FF2B5EF4-FFF2-40B4-BE49-F238E27FC236}">
                <a16:creationId xmlns:a16="http://schemas.microsoft.com/office/drawing/2014/main" id="{73678492-415C-2D05-FE94-F5FF2AD97F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576" y="2230115"/>
            <a:ext cx="3131624" cy="85729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9209DB1-1889-F548-E1F4-414078F802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575" y="3139389"/>
            <a:ext cx="3131625" cy="303095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4C3E5623-AB2B-55F4-D7EC-5FA43D5AC5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51682" y="2322194"/>
            <a:ext cx="7960389" cy="126089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49557C4E-0C8B-24B4-3A95-30177ABE4F6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30741" y="3602554"/>
            <a:ext cx="7981330" cy="1260898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C0EC1EE2-6B86-EB34-9F8E-FD67238832E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51682" y="4908161"/>
            <a:ext cx="7981331" cy="120021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12300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37146F96-37A0-A447-7F4E-C2DEC9D6EE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325" y="287338"/>
            <a:ext cx="287129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altLang="ko-KR" sz="2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zh-CN" altLang="en-US" sz="2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科技文献问答</a:t>
            </a:r>
            <a:r>
              <a:rPr lang="en-US" altLang="ko-KR" sz="2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</p:txBody>
      </p:sp>
      <p:sp>
        <p:nvSpPr>
          <p:cNvPr id="4" name="Line 4">
            <a:extLst>
              <a:ext uri="{FF2B5EF4-FFF2-40B4-BE49-F238E27FC236}">
                <a16:creationId xmlns:a16="http://schemas.microsoft.com/office/drawing/2014/main" id="{159C5347-7F89-F133-1CC9-8215530CF119}"/>
              </a:ext>
            </a:extLst>
          </p:cNvPr>
          <p:cNvSpPr>
            <a:spLocks noChangeShapeType="1"/>
          </p:cNvSpPr>
          <p:nvPr/>
        </p:nvSpPr>
        <p:spPr bwMode="auto">
          <a:xfrm>
            <a:off x="-9525" y="796924"/>
            <a:ext cx="12133792" cy="9525"/>
          </a:xfrm>
          <a:prstGeom prst="line">
            <a:avLst/>
          </a:prstGeom>
          <a:noFill/>
          <a:ln w="38100">
            <a:solidFill>
              <a:schemeClr val="bg1">
                <a:lumMod val="9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8CA66C96-F38E-8633-5526-BADFF25EF2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023647"/>
            <a:ext cx="382693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>
            <a:spAutoFit/>
          </a:bodyPr>
          <a:lstStyle>
            <a:lvl1pPr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457200" indent="-457200" fontAlgn="base">
              <a:buFont typeface="Wingdings" panose="05000000000000000000" pitchFamily="2" charset="2"/>
              <a:buChar char="Ø"/>
            </a:pPr>
            <a:r>
              <a:rPr lang="zh-CN" altLang="en-US" sz="3200" b="1" i="1" dirty="0"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实现原理</a:t>
            </a:r>
            <a:endParaRPr lang="en-US" altLang="zh-CN" sz="3200" b="1" i="1" dirty="0"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DDD683DA-FB68-FD60-A5F6-ACE504653C60}"/>
              </a:ext>
            </a:extLst>
          </p:cNvPr>
          <p:cNvGrpSpPr/>
          <p:nvPr/>
        </p:nvGrpSpPr>
        <p:grpSpPr>
          <a:xfrm>
            <a:off x="535092" y="1432314"/>
            <a:ext cx="11433388" cy="4830268"/>
            <a:chOff x="785706" y="4348148"/>
            <a:chExt cx="8400167" cy="1646253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2FEB6AC4-8EEC-8C49-06C9-8C1D9420B942}"/>
                </a:ext>
              </a:extLst>
            </p:cNvPr>
            <p:cNvSpPr/>
            <p:nvPr/>
          </p:nvSpPr>
          <p:spPr>
            <a:xfrm>
              <a:off x="3595394" y="4348148"/>
              <a:ext cx="2810934" cy="259717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生成原理</a:t>
              </a:r>
            </a:p>
          </p:txBody>
        </p: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9D853124-68AC-DC42-F802-FBACA0603E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5707" y="5962964"/>
              <a:ext cx="8400166" cy="3143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连接符: 肘形 40">
              <a:extLst>
                <a:ext uri="{FF2B5EF4-FFF2-40B4-BE49-F238E27FC236}">
                  <a16:creationId xmlns:a16="http://schemas.microsoft.com/office/drawing/2014/main" id="{A4F4808E-BCFE-4304-C0C5-180B3A5135B0}"/>
                </a:ext>
              </a:extLst>
            </p:cNvPr>
            <p:cNvCxnSpPr>
              <a:cxnSpLocks/>
              <a:endCxn id="34" idx="1"/>
            </p:cNvCxnSpPr>
            <p:nvPr/>
          </p:nvCxnSpPr>
          <p:spPr>
            <a:xfrm rot="5400000" flipH="1" flipV="1">
              <a:off x="1432353" y="3831360"/>
              <a:ext cx="1516394" cy="2809688"/>
            </a:xfrm>
            <a:prstGeom prst="bentConnector2">
              <a:avLst/>
            </a:prstGeom>
            <a:ln w="2857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5" name="连接符: 肘形 44">
              <a:extLst>
                <a:ext uri="{FF2B5EF4-FFF2-40B4-BE49-F238E27FC236}">
                  <a16:creationId xmlns:a16="http://schemas.microsoft.com/office/drawing/2014/main" id="{CA58A024-2EEF-5038-0C36-E839F96FD720}"/>
                </a:ext>
              </a:extLst>
            </p:cNvPr>
            <p:cNvCxnSpPr>
              <a:cxnSpLocks/>
              <a:stCxn id="34" idx="3"/>
            </p:cNvCxnSpPr>
            <p:nvPr/>
          </p:nvCxnSpPr>
          <p:spPr>
            <a:xfrm>
              <a:off x="6406328" y="4478007"/>
              <a:ext cx="2779545" cy="1460520"/>
            </a:xfrm>
            <a:prstGeom prst="bentConnector2">
              <a:avLst/>
            </a:prstGeom>
            <a:ln w="28575"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4EC47148-41EF-3A73-B13E-E8E19DB894B1}"/>
              </a:ext>
            </a:extLst>
          </p:cNvPr>
          <p:cNvSpPr txBox="1"/>
          <p:nvPr/>
        </p:nvSpPr>
        <p:spPr>
          <a:xfrm>
            <a:off x="463973" y="2615306"/>
            <a:ext cx="4605867" cy="1954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/>
              <a:t>请根据下列提示回答问题“</a:t>
            </a:r>
            <a:r>
              <a:rPr lang="zh-CN" altLang="en-US" sz="1100" b="0" i="0" dirty="0">
                <a:solidFill>
                  <a:srgbClr val="212121"/>
                </a:solidFill>
                <a:effectLst/>
                <a:latin typeface="Inter"/>
              </a:rPr>
              <a:t>阿尔兹海默症治疗措施是什么？</a:t>
            </a:r>
            <a:r>
              <a:rPr lang="en-US" altLang="zh-CN" sz="1100" b="0" i="0" dirty="0">
                <a:solidFill>
                  <a:srgbClr val="212121"/>
                </a:solidFill>
                <a:effectLst/>
                <a:latin typeface="Inter"/>
              </a:rPr>
              <a:t>”</a:t>
            </a:r>
            <a:endParaRPr lang="en-US" altLang="zh-CN" sz="1100" dirty="0"/>
          </a:p>
          <a:p>
            <a:r>
              <a:rPr lang="en-US" altLang="zh-CN" sz="1100" dirty="0"/>
              <a:t>Prompt:</a:t>
            </a:r>
          </a:p>
          <a:p>
            <a:pPr marL="228600" indent="-228600">
              <a:buAutoNum type="arabicPeriod"/>
            </a:pPr>
            <a:r>
              <a:rPr lang="zh-CN" altLang="en-US" sz="1100" b="0" dirty="0">
                <a:solidFill>
                  <a:srgbClr val="0451A5"/>
                </a:solidFill>
                <a:effectLst/>
                <a:latin typeface="IBMPlexMono,  Courier New"/>
              </a:rPr>
              <a:t>减少</a:t>
            </a:r>
            <a:r>
              <a:rPr lang="en-US" altLang="zh-CN" sz="1100" b="0" dirty="0">
                <a:solidFill>
                  <a:srgbClr val="0451A5"/>
                </a:solidFill>
                <a:effectLst/>
                <a:latin typeface="IBMPlexMono,  Courier New"/>
              </a:rPr>
              <a:t>ApoE4</a:t>
            </a:r>
            <a:r>
              <a:rPr lang="zh-CN" altLang="en-US" sz="1100" b="0" dirty="0">
                <a:solidFill>
                  <a:srgbClr val="0451A5"/>
                </a:solidFill>
                <a:effectLst/>
                <a:latin typeface="IBMPlexMono,  Courier New"/>
              </a:rPr>
              <a:t>被认为是控制阿尔茨海默病的一种有前途的治疗策略。</a:t>
            </a:r>
            <a:endParaRPr lang="en-US" altLang="zh-CN" sz="1100" dirty="0">
              <a:solidFill>
                <a:srgbClr val="0451A5"/>
              </a:solidFill>
              <a:latin typeface="IBMPlexMono,  Courier New"/>
            </a:endParaRPr>
          </a:p>
          <a:p>
            <a:pPr marL="228600" indent="-228600">
              <a:buAutoNum type="arabicPeriod"/>
            </a:pPr>
            <a:r>
              <a:rPr lang="zh-CN" altLang="en-US" sz="1100" b="0" dirty="0">
                <a:solidFill>
                  <a:srgbClr val="0451A5"/>
                </a:solidFill>
                <a:effectLst/>
                <a:latin typeface="IBMPlexMono,  Courier New"/>
              </a:rPr>
              <a:t>阿尔茨海默病治疗的目标是减缓神经变性的进展，维持患者的生活质量。</a:t>
            </a:r>
            <a:endParaRPr lang="en-US" altLang="zh-CN" sz="1100" b="0" dirty="0">
              <a:solidFill>
                <a:srgbClr val="0451A5"/>
              </a:solidFill>
              <a:effectLst/>
              <a:latin typeface="IBMPlexMono,  Courier New"/>
            </a:endParaRPr>
          </a:p>
          <a:p>
            <a:pPr marL="228600" indent="-228600">
              <a:buFontTx/>
              <a:buAutoNum type="arabicPeriod"/>
            </a:pPr>
            <a:r>
              <a:rPr lang="zh-CN" altLang="en-US" sz="1100" b="0" dirty="0">
                <a:solidFill>
                  <a:srgbClr val="0451A5"/>
                </a:solidFill>
                <a:effectLst/>
                <a:latin typeface="IBMPlexMono,  Courier New"/>
              </a:rPr>
              <a:t>功能化和定制的纳米材料可以很容易地穿过血脑屏障，靶向大脑中的特定细胞和成分，允许靶向递送药物，以减少</a:t>
            </a:r>
            <a:r>
              <a:rPr lang="en-US" altLang="zh-CN" sz="1100" b="0" dirty="0">
                <a:solidFill>
                  <a:srgbClr val="0451A5"/>
                </a:solidFill>
                <a:effectLst/>
                <a:latin typeface="IBMPlexMono,  Courier New"/>
              </a:rPr>
              <a:t>AD</a:t>
            </a:r>
            <a:r>
              <a:rPr lang="zh-CN" altLang="en-US" sz="1100" b="0" dirty="0">
                <a:solidFill>
                  <a:srgbClr val="0451A5"/>
                </a:solidFill>
                <a:effectLst/>
                <a:latin typeface="IBMPlexMono,  Courier New"/>
              </a:rPr>
              <a:t>中的突触损伤。</a:t>
            </a:r>
            <a:endParaRPr lang="zh-CN" altLang="en-US" sz="1100" b="0" dirty="0">
              <a:solidFill>
                <a:srgbClr val="000000"/>
              </a:solidFill>
              <a:effectLst/>
              <a:latin typeface="IBMPlexMono,  Courier New"/>
            </a:endParaRPr>
          </a:p>
          <a:p>
            <a:pPr marL="228600" indent="-228600">
              <a:buAutoNum type="arabicPeriod"/>
            </a:pPr>
            <a:r>
              <a:rPr lang="en-US" altLang="zh-CN" sz="1100" b="0" dirty="0">
                <a:solidFill>
                  <a:srgbClr val="000000"/>
                </a:solidFill>
                <a:effectLst/>
                <a:latin typeface="IBMPlexMono,  Courier New"/>
              </a:rPr>
              <a:t>…</a:t>
            </a:r>
          </a:p>
          <a:p>
            <a:pPr marL="228600" indent="-228600">
              <a:buAutoNum type="arabicPeriod"/>
            </a:pPr>
            <a:r>
              <a:rPr lang="en-US" altLang="zh-CN" sz="1100" dirty="0">
                <a:solidFill>
                  <a:srgbClr val="000000"/>
                </a:solidFill>
                <a:latin typeface="IBMPlexMono,  Courier New"/>
              </a:rPr>
              <a:t>…</a:t>
            </a:r>
          </a:p>
          <a:p>
            <a:pPr marL="228600" indent="-228600">
              <a:buAutoNum type="arabicPeriod"/>
            </a:pPr>
            <a:r>
              <a:rPr lang="en-US" altLang="zh-CN" sz="1100" b="0" dirty="0">
                <a:solidFill>
                  <a:srgbClr val="000000"/>
                </a:solidFill>
                <a:effectLst/>
                <a:latin typeface="IBMPlexMono,  Courier New"/>
              </a:rPr>
              <a:t>…</a:t>
            </a:r>
            <a:endParaRPr lang="zh-CN" altLang="en-US" sz="1100" b="0" dirty="0">
              <a:solidFill>
                <a:srgbClr val="000000"/>
              </a:solidFill>
              <a:effectLst/>
              <a:latin typeface="IBMPlexMono,  Courier New"/>
            </a:endParaRPr>
          </a:p>
          <a:p>
            <a:endParaRPr lang="zh-CN" altLang="en-US" sz="1100" dirty="0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F780383F-FB27-3517-6F4F-AC2655CD4854}"/>
              </a:ext>
            </a:extLst>
          </p:cNvPr>
          <p:cNvSpPr/>
          <p:nvPr/>
        </p:nvSpPr>
        <p:spPr>
          <a:xfrm>
            <a:off x="3794147" y="4594718"/>
            <a:ext cx="846507" cy="791852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/>
              <a:t>Llama2</a:t>
            </a:r>
            <a:r>
              <a:rPr lang="zh-CN" altLang="en-US" sz="1100" dirty="0"/>
              <a:t>模型</a:t>
            </a:r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8B300D08-0D73-A1E7-20D9-525B04CC94ED}"/>
              </a:ext>
            </a:extLst>
          </p:cNvPr>
          <p:cNvSpPr/>
          <p:nvPr/>
        </p:nvSpPr>
        <p:spPr>
          <a:xfrm>
            <a:off x="3317408" y="4850128"/>
            <a:ext cx="476214" cy="281033"/>
          </a:xfrm>
          <a:prstGeom prst="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箭头: 右 15">
            <a:extLst>
              <a:ext uri="{FF2B5EF4-FFF2-40B4-BE49-F238E27FC236}">
                <a16:creationId xmlns:a16="http://schemas.microsoft.com/office/drawing/2014/main" id="{E4EDBE91-7EF4-8CB1-4526-0B757989B8CD}"/>
              </a:ext>
            </a:extLst>
          </p:cNvPr>
          <p:cNvSpPr/>
          <p:nvPr/>
        </p:nvSpPr>
        <p:spPr>
          <a:xfrm>
            <a:off x="4590165" y="4850127"/>
            <a:ext cx="470070" cy="281033"/>
          </a:xfrm>
          <a:prstGeom prst="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FDCCDB19-2706-271C-EB75-560D3CCBDA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8720" y="2194349"/>
            <a:ext cx="7004680" cy="397599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24914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37146F96-37A0-A447-7F4E-C2DEC9D6EE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325" y="287338"/>
            <a:ext cx="287129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altLang="ko-KR" sz="2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zh-CN" altLang="en-US" sz="2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科技文献问答</a:t>
            </a:r>
            <a:r>
              <a:rPr lang="en-US" altLang="ko-KR" sz="2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</p:txBody>
      </p:sp>
      <p:sp>
        <p:nvSpPr>
          <p:cNvPr id="4" name="Line 4">
            <a:extLst>
              <a:ext uri="{FF2B5EF4-FFF2-40B4-BE49-F238E27FC236}">
                <a16:creationId xmlns:a16="http://schemas.microsoft.com/office/drawing/2014/main" id="{159C5347-7F89-F133-1CC9-8215530CF119}"/>
              </a:ext>
            </a:extLst>
          </p:cNvPr>
          <p:cNvSpPr>
            <a:spLocks noChangeShapeType="1"/>
          </p:cNvSpPr>
          <p:nvPr/>
        </p:nvSpPr>
        <p:spPr bwMode="auto">
          <a:xfrm>
            <a:off x="-9525" y="796924"/>
            <a:ext cx="12133792" cy="9525"/>
          </a:xfrm>
          <a:prstGeom prst="line">
            <a:avLst/>
          </a:prstGeom>
          <a:noFill/>
          <a:ln w="38100">
            <a:solidFill>
              <a:schemeClr val="bg1">
                <a:lumMod val="9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8CA66C96-F38E-8633-5526-BADFF25EF2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023647"/>
            <a:ext cx="382693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>
            <a:spAutoFit/>
          </a:bodyPr>
          <a:lstStyle>
            <a:lvl1pPr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defTabSz="974725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defTabSz="974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457200" indent="-457200" fontAlgn="base">
              <a:buFont typeface="Wingdings" panose="05000000000000000000" pitchFamily="2" charset="2"/>
              <a:buChar char="Ø"/>
            </a:pPr>
            <a:r>
              <a:rPr lang="zh-CN" altLang="en-US" sz="3200" b="1" i="1" dirty="0"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实现原理</a:t>
            </a:r>
            <a:endParaRPr lang="en-US" altLang="zh-CN" sz="3200" b="1" i="1" dirty="0"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DDD683DA-FB68-FD60-A5F6-ACE504653C60}"/>
              </a:ext>
            </a:extLst>
          </p:cNvPr>
          <p:cNvGrpSpPr/>
          <p:nvPr/>
        </p:nvGrpSpPr>
        <p:grpSpPr>
          <a:xfrm>
            <a:off x="535092" y="1432314"/>
            <a:ext cx="11433388" cy="4830268"/>
            <a:chOff x="785706" y="4348148"/>
            <a:chExt cx="8400167" cy="1646253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2FEB6AC4-8EEC-8C49-06C9-8C1D9420B942}"/>
                </a:ext>
              </a:extLst>
            </p:cNvPr>
            <p:cNvSpPr/>
            <p:nvPr/>
          </p:nvSpPr>
          <p:spPr>
            <a:xfrm>
              <a:off x="3595394" y="4348148"/>
              <a:ext cx="2810934" cy="259717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生成原理</a:t>
              </a:r>
            </a:p>
          </p:txBody>
        </p: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9D853124-68AC-DC42-F802-FBACA0603E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5707" y="5962964"/>
              <a:ext cx="8400166" cy="3143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连接符: 肘形 40">
              <a:extLst>
                <a:ext uri="{FF2B5EF4-FFF2-40B4-BE49-F238E27FC236}">
                  <a16:creationId xmlns:a16="http://schemas.microsoft.com/office/drawing/2014/main" id="{A4F4808E-BCFE-4304-C0C5-180B3A5135B0}"/>
                </a:ext>
              </a:extLst>
            </p:cNvPr>
            <p:cNvCxnSpPr>
              <a:cxnSpLocks/>
              <a:endCxn id="34" idx="1"/>
            </p:cNvCxnSpPr>
            <p:nvPr/>
          </p:nvCxnSpPr>
          <p:spPr>
            <a:xfrm rot="5400000" flipH="1" flipV="1">
              <a:off x="1432353" y="3831360"/>
              <a:ext cx="1516394" cy="2809688"/>
            </a:xfrm>
            <a:prstGeom prst="bentConnector2">
              <a:avLst/>
            </a:prstGeom>
            <a:ln w="2857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5" name="连接符: 肘形 44">
              <a:extLst>
                <a:ext uri="{FF2B5EF4-FFF2-40B4-BE49-F238E27FC236}">
                  <a16:creationId xmlns:a16="http://schemas.microsoft.com/office/drawing/2014/main" id="{CA58A024-2EEF-5038-0C36-E839F96FD720}"/>
                </a:ext>
              </a:extLst>
            </p:cNvPr>
            <p:cNvCxnSpPr>
              <a:cxnSpLocks/>
              <a:stCxn id="34" idx="3"/>
            </p:cNvCxnSpPr>
            <p:nvPr/>
          </p:nvCxnSpPr>
          <p:spPr>
            <a:xfrm>
              <a:off x="6406328" y="4478007"/>
              <a:ext cx="2779545" cy="1460520"/>
            </a:xfrm>
            <a:prstGeom prst="bentConnector2">
              <a:avLst/>
            </a:prstGeom>
            <a:ln w="28575"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9A5C85F1-615D-2E02-42B4-ABE945B5FA2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8020859"/>
              </p:ext>
            </p:extLst>
          </p:nvPr>
        </p:nvGraphicFramePr>
        <p:xfrm>
          <a:off x="511012" y="2615306"/>
          <a:ext cx="5492201" cy="8003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包装程序外壳对象" showAsIcon="1" r:id="rId4" imgW="2767680" imgH="403920" progId="Package">
                  <p:embed/>
                </p:oleObj>
              </mc:Choice>
              <mc:Fallback>
                <p:oleObj name="包装程序外壳对象" showAsIcon="1" r:id="rId4" imgW="2767680" imgH="40392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11012" y="2615306"/>
                        <a:ext cx="5492201" cy="8003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A1119602-90CA-A287-CEB7-BC1DF52672F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4796085"/>
              </p:ext>
            </p:extLst>
          </p:nvPr>
        </p:nvGraphicFramePr>
        <p:xfrm>
          <a:off x="835912" y="4907154"/>
          <a:ext cx="4699423" cy="8270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包装程序外壳对象" showAsIcon="1" r:id="rId6" imgW="2777400" imgH="403920" progId="Package">
                  <p:embed/>
                </p:oleObj>
              </mc:Choice>
              <mc:Fallback>
                <p:oleObj name="包装程序外壳对象" showAsIcon="1" r:id="rId6" imgW="2777400" imgH="40392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35912" y="4907154"/>
                        <a:ext cx="4699423" cy="82708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F4731608-A468-B20A-622F-81864B8B55D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2499246"/>
              </p:ext>
            </p:extLst>
          </p:nvPr>
        </p:nvGraphicFramePr>
        <p:xfrm>
          <a:off x="834590" y="3709501"/>
          <a:ext cx="5070722" cy="9193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包装程序外壳对象" showAsIcon="1" r:id="rId8" imgW="2224800" imgH="403920" progId="Package">
                  <p:embed/>
                </p:oleObj>
              </mc:Choice>
              <mc:Fallback>
                <p:oleObj name="包装程序外壳对象" showAsIcon="1" r:id="rId8" imgW="2224800" imgH="40392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834590" y="3709501"/>
                        <a:ext cx="5070722" cy="9193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文本框 21">
            <a:extLst>
              <a:ext uri="{FF2B5EF4-FFF2-40B4-BE49-F238E27FC236}">
                <a16:creationId xmlns:a16="http://schemas.microsoft.com/office/drawing/2014/main" id="{13CA2F13-3E99-4EF9-4AA0-7E752693300E}"/>
              </a:ext>
            </a:extLst>
          </p:cNvPr>
          <p:cNvSpPr txBox="1"/>
          <p:nvPr/>
        </p:nvSpPr>
        <p:spPr>
          <a:xfrm>
            <a:off x="8897420" y="1826004"/>
            <a:ext cx="1706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Java</a:t>
            </a:r>
            <a:r>
              <a:rPr lang="zh-CN" altLang="en-US" dirty="0"/>
              <a:t>部分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366E233-6E62-2AE9-10A9-BD70FF9DBE7C}"/>
              </a:ext>
            </a:extLst>
          </p:cNvPr>
          <p:cNvSpPr txBox="1"/>
          <p:nvPr/>
        </p:nvSpPr>
        <p:spPr>
          <a:xfrm>
            <a:off x="1696720" y="2039158"/>
            <a:ext cx="1706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Python</a:t>
            </a:r>
            <a:r>
              <a:rPr lang="zh-CN" altLang="en-US" dirty="0"/>
              <a:t>部分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0665248E-191F-349B-2077-41FCE0F47B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7866759"/>
              </p:ext>
            </p:extLst>
          </p:nvPr>
        </p:nvGraphicFramePr>
        <p:xfrm>
          <a:off x="8633983" y="4862131"/>
          <a:ext cx="2661197" cy="8175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包装程序外壳对象" showAsIcon="1" r:id="rId10" imgW="1652760" imgH="403920" progId="Package">
                  <p:embed/>
                </p:oleObj>
              </mc:Choice>
              <mc:Fallback>
                <p:oleObj name="包装程序外壳对象" showAsIcon="1" r:id="rId10" imgW="1652760" imgH="40392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8633983" y="4862131"/>
                        <a:ext cx="2661197" cy="8175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52EF81C8-BD42-69C0-30AA-59905F3304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8527712"/>
              </p:ext>
            </p:extLst>
          </p:nvPr>
        </p:nvGraphicFramePr>
        <p:xfrm>
          <a:off x="8257964" y="3822993"/>
          <a:ext cx="3300653" cy="8928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包装程序外壳对象" showAsIcon="1" r:id="rId12" imgW="1490040" imgH="403920" progId="Package">
                  <p:embed/>
                </p:oleObj>
              </mc:Choice>
              <mc:Fallback>
                <p:oleObj name="包装程序外壳对象" showAsIcon="1" r:id="rId12" imgW="1490040" imgH="40392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8257964" y="3822993"/>
                        <a:ext cx="3300653" cy="89282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A8391CFD-DCE1-BBE2-99C9-ED081163A4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7908171"/>
              </p:ext>
            </p:extLst>
          </p:nvPr>
        </p:nvGraphicFramePr>
        <p:xfrm>
          <a:off x="8087367" y="2883559"/>
          <a:ext cx="3244420" cy="7620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包装程序外壳对象" showAsIcon="1" r:id="rId14" imgW="1021320" imgH="403920" progId="Package">
                  <p:embed/>
                </p:oleObj>
              </mc:Choice>
              <mc:Fallback>
                <p:oleObj name="包装程序外壳对象" showAsIcon="1" r:id="rId14" imgW="1021320" imgH="40392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8087367" y="2883559"/>
                        <a:ext cx="3244420" cy="7620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371514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jb3VudCI6OCwiaGRpZCI6IjFhYjI2MzQ2OGQ1Zjk1YjRjMzc1ZTk4OWZjNjZmM2Y5IiwidXNlckNvdW50Ijo4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7308"/>
  <p:tag name="KSO_WM_SPECIAL_SOURCE" val="bdnull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7308"/>
  <p:tag name="KSO_WM_SPECIAL_SOURCE" val="bdnull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7308"/>
  <p:tag name="KSO_WM_SPECIAL_SOURCE" val="bdnull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7308"/>
  <p:tag name="KSO_WM_SPECIAL_SOURCE" val="bdnull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7308"/>
  <p:tag name="KSO_WM_SPECIAL_SOURCE" val="bdnull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7308"/>
  <p:tag name="KSO_WM_SPECIAL_SOURCE" val="bdnull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7308"/>
  <p:tag name="KSO_WM_SPECIAL_SOURCE" val="bdnull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汉仪文黑-55简"/>
        <a:font script="Hebr" typeface="汉仪文黑-55简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汉仪文黑-55简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汉仪文黑-55简"/>
        <a:font script="Hebr" typeface="汉仪文黑-55简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汉仪文黑-55简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5285</TotalTime>
  <Words>367</Words>
  <Application>Microsoft Office PowerPoint</Application>
  <PresentationFormat>宽屏</PresentationFormat>
  <Paragraphs>59</Paragraphs>
  <Slides>7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7</vt:i4>
      </vt:variant>
    </vt:vector>
  </HeadingPairs>
  <TitlesOfParts>
    <vt:vector size="19" baseType="lpstr">
      <vt:lpstr>IBMPlexMono,  Courier New</vt:lpstr>
      <vt:lpstr>黑体</vt:lpstr>
      <vt:lpstr>Wingdings</vt:lpstr>
      <vt:lpstr>Inter</vt:lpstr>
      <vt:lpstr>Calibri Light</vt:lpstr>
      <vt:lpstr>汉仪文黑-55简</vt:lpstr>
      <vt:lpstr>Calibri</vt:lpstr>
      <vt:lpstr>Arial</vt:lpstr>
      <vt:lpstr>Tahoma</vt:lpstr>
      <vt:lpstr>Office 主题​​</vt:lpstr>
      <vt:lpstr>包装程序外壳对象</vt:lpstr>
      <vt:lpstr>程序包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Not horse White horse</dc:creator>
  <cp:lastModifiedBy>Not horse White horse</cp:lastModifiedBy>
  <cp:revision>453</cp:revision>
  <dcterms:created xsi:type="dcterms:W3CDTF">2023-02-17T08:04:18Z</dcterms:created>
  <dcterms:modified xsi:type="dcterms:W3CDTF">2023-12-03T06:16:13Z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2052-5.2.0.7734</vt:lpwstr>
  </property>
  <property fmtid="{D5CDD505-2E9C-101B-9397-08002B2CF9AE}" pid="3" name="ICV">
    <vt:lpwstr>226234BB249543188F18628537D826EC</vt:lpwstr>
  </property>
  <property fmtid="{D5CDD505-2E9C-101B-9397-08002B2CF9AE}" pid="4" name="KSOTemplateUUID">
    <vt:lpwstr>v1.0_mb_s3i5O+BQF16uR5A0Ev7Sfw==</vt:lpwstr>
  </property>
</Properties>
</file>