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823" r:id="rId2"/>
    <p:sldId id="10767" r:id="rId3"/>
    <p:sldId id="10972" r:id="rId4"/>
    <p:sldId id="10971" r:id="rId5"/>
    <p:sldId id="10973" r:id="rId6"/>
    <p:sldId id="10974" r:id="rId7"/>
    <p:sldId id="10977" r:id="rId8"/>
    <p:sldId id="10976" r:id="rId9"/>
    <p:sldId id="10975" r:id="rId10"/>
    <p:sldId id="10978" r:id="rId11"/>
    <p:sldId id="824" r:id="rId12"/>
  </p:sldIdLst>
  <p:sldSz cx="12192000" cy="6858000"/>
  <p:notesSz cx="6858000" cy="9144000"/>
  <p:defaultTextStyle>
    <a:defPPr>
      <a:defRPr lang="zh-CN"/>
    </a:defPPr>
    <a:lvl1pPr marL="0" lvl="0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Arial" panose="020B0604020202020204" pitchFamily="34" charset="0"/>
        <a:ea typeface="宋体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688">
          <p15:clr>
            <a:srgbClr val="A4A3A4"/>
          </p15:clr>
        </p15:guide>
        <p15:guide id="2" pos="111">
          <p15:clr>
            <a:srgbClr val="A4A3A4"/>
          </p15:clr>
        </p15:guide>
        <p15:guide id="3" pos="7671">
          <p15:clr>
            <a:srgbClr val="A4A3A4"/>
          </p15:clr>
        </p15:guide>
        <p15:guide id="4" orient="horz" pos="4270">
          <p15:clr>
            <a:srgbClr val="A4A3A4"/>
          </p15:clr>
        </p15:guide>
        <p15:guide id="5" pos="211">
          <p15:clr>
            <a:srgbClr val="A4A3A4"/>
          </p15:clr>
        </p15:guide>
        <p15:guide id="6" pos="7480">
          <p15:clr>
            <a:srgbClr val="A4A3A4"/>
          </p15:clr>
        </p15:guide>
        <p15:guide id="7" orient="horz" pos="400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6AB"/>
    <a:srgbClr val="FBF2F1"/>
    <a:srgbClr val="C7D9F3"/>
    <a:srgbClr val="F2F5F9"/>
    <a:srgbClr val="404040"/>
    <a:srgbClr val="000000"/>
    <a:srgbClr val="C00000"/>
    <a:srgbClr val="FFFF00"/>
    <a:srgbClr val="172B89"/>
    <a:srgbClr val="6A1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 autoAdjust="0"/>
    <p:restoredTop sz="92789" autoAdjust="0"/>
  </p:normalViewPr>
  <p:slideViewPr>
    <p:cSldViewPr showGuides="1">
      <p:cViewPr varScale="1">
        <p:scale>
          <a:sx n="80" d="100"/>
          <a:sy n="80" d="100"/>
        </p:scale>
        <p:origin x="60" y="948"/>
      </p:cViewPr>
      <p:guideLst>
        <p:guide orient="horz" pos="688"/>
        <p:guide pos="111"/>
        <p:guide pos="7671"/>
        <p:guide orient="horz" pos="4270"/>
        <p:guide pos="211"/>
        <p:guide pos="7480"/>
        <p:guide orient="horz" pos="4004"/>
      </p:guideLst>
    </p:cSldViewPr>
  </p:slideViewPr>
  <p:outlineViewPr>
    <p:cViewPr>
      <p:scale>
        <a:sx n="33" d="100"/>
        <a:sy n="33" d="100"/>
      </p:scale>
      <p:origin x="0" y="-884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95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584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  <a:t>‹#›</a:t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1871245"/>
            <a:ext cx="12192000" cy="2232248"/>
          </a:xfrm>
          <a:prstGeom prst="rect">
            <a:avLst/>
          </a:prstGeom>
          <a:solidFill>
            <a:srgbClr val="2667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2525705"/>
            <a:ext cx="10515600" cy="92333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5400" b="1" spc="3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495228" y="4398203"/>
            <a:ext cx="7201544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ctr"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1"/>
          </p:nvPr>
        </p:nvSpPr>
        <p:spPr>
          <a:xfrm>
            <a:off x="9333160" y="5238333"/>
            <a:ext cx="2844800" cy="400105"/>
          </a:xfrm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996380FA-D4BD-4213-9BB2-89821627AB97}" type="datetime1">
              <a:rPr lang="zh-CN" altLang="en-US" smtClean="0"/>
              <a:t>2023/12/3</a:t>
            </a:fld>
            <a:endParaRPr lang="en-US" sz="2000"/>
          </a:p>
        </p:txBody>
      </p:sp>
    </p:spTree>
  </p:cSld>
  <p:clrMapOvr>
    <a:masterClrMapping/>
  </p:clrMapOvr>
  <p:transition spd="med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‹#›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 userDrawn="1"/>
        </p:nvSpPr>
        <p:spPr bwMode="auto">
          <a:xfrm>
            <a:off x="4943872" y="1628800"/>
            <a:ext cx="4896544" cy="14401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1" name="矩形 30"/>
          <p:cNvSpPr/>
          <p:nvPr userDrawn="1"/>
        </p:nvSpPr>
        <p:spPr bwMode="auto">
          <a:xfrm>
            <a:off x="0" y="-1"/>
            <a:ext cx="3600000" cy="6876000"/>
          </a:xfrm>
          <a:prstGeom prst="rect">
            <a:avLst/>
          </a:prstGeom>
          <a:solidFill>
            <a:srgbClr val="2667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2" name="矩形 31"/>
          <p:cNvSpPr/>
          <p:nvPr userDrawn="1"/>
        </p:nvSpPr>
        <p:spPr bwMode="auto">
          <a:xfrm>
            <a:off x="3600000" y="9384"/>
            <a:ext cx="8592000" cy="687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0" name="内容占位符 19"/>
          <p:cNvSpPr>
            <a:spLocks noGrp="1"/>
          </p:cNvSpPr>
          <p:nvPr>
            <p:ph sz="quarter" idx="13"/>
          </p:nvPr>
        </p:nvSpPr>
        <p:spPr>
          <a:xfrm>
            <a:off x="3903036" y="486421"/>
            <a:ext cx="7809588" cy="5903154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defRPr sz="3200" baseline="0">
                <a:latin typeface="(使用中文字体)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标题 32"/>
          <p:cNvSpPr>
            <a:spLocks noGrp="1"/>
          </p:cNvSpPr>
          <p:nvPr>
            <p:ph type="title" hasCustomPrompt="1"/>
          </p:nvPr>
        </p:nvSpPr>
        <p:spPr>
          <a:xfrm>
            <a:off x="0" y="2750632"/>
            <a:ext cx="3600000" cy="954107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>
              <a:defRPr lang="zh-CN" altLang="en-US" sz="5400" b="1" i="0" u="none" kern="1200" spc="6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目录</a:t>
            </a:r>
          </a:p>
        </p:txBody>
      </p:sp>
    </p:spTree>
  </p:cSld>
  <p:clrMapOvr>
    <a:masterClrMapping/>
  </p:clrMapOvr>
  <p:transition spd="med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auto">
          <a:xfrm>
            <a:off x="0" y="1910892"/>
            <a:ext cx="12192000" cy="2520000"/>
          </a:xfrm>
          <a:prstGeom prst="rect">
            <a:avLst/>
          </a:prstGeom>
          <a:solidFill>
            <a:srgbClr val="2667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 hasCustomPrompt="1"/>
          </p:nvPr>
        </p:nvSpPr>
        <p:spPr>
          <a:xfrm>
            <a:off x="5087888" y="2755393"/>
            <a:ext cx="4248472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>
              <a:defRPr lang="zh-CN" altLang="en-US" sz="4800" b="0" i="0" u="none" kern="0" spc="300" dirty="0"/>
            </a:lvl1pPr>
          </a:lstStyle>
          <a:p>
            <a:pPr marL="0" lvl="0" indent="0" defTabSz="914400" latinLnBrk="0">
              <a:lnSpc>
                <a:spcPct val="100000"/>
              </a:lnSpc>
              <a:buNone/>
            </a:pPr>
            <a:r>
              <a:rPr lang="zh-CN" altLang="en-US" dirty="0"/>
              <a:t>项目概述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2639616" y="2386062"/>
            <a:ext cx="2160240" cy="156966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ctr">
              <a:defRPr lang="zh-CN" altLang="en-US" sz="9600" b="0" i="0" u="none" kern="0" spc="30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  <p:transition spd="med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fld id="{996380FA-D4BD-4213-9BB2-89821627AB97}" type="datetime1">
              <a:rPr lang="zh-CN" altLang="en-US" smtClean="0"/>
              <a:t>2023/12/3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‹#›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22" name="标题 21"/>
          <p:cNvSpPr>
            <a:spLocks noGrp="1"/>
          </p:cNvSpPr>
          <p:nvPr>
            <p:ph type="title"/>
          </p:nvPr>
        </p:nvSpPr>
        <p:spPr>
          <a:xfrm>
            <a:off x="252069" y="189244"/>
            <a:ext cx="9300315" cy="461665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>
              <a:defRPr lang="zh-CN" altLang="en-US" sz="2400" b="1" baseline="0" dirty="0">
                <a:solidFill>
                  <a:srgbClr val="6A1E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 bwMode="auto">
          <a:xfrm>
            <a:off x="0" y="161244"/>
            <a:ext cx="191344" cy="900000"/>
          </a:xfrm>
          <a:prstGeom prst="rect">
            <a:avLst/>
          </a:prstGeom>
          <a:solidFill>
            <a:srgbClr val="2667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3" name="内容占位符 6"/>
          <p:cNvSpPr>
            <a:spLocks noGrp="1"/>
          </p:cNvSpPr>
          <p:nvPr>
            <p:ph sz="quarter" idx="20"/>
          </p:nvPr>
        </p:nvSpPr>
        <p:spPr>
          <a:xfrm>
            <a:off x="252069" y="1256862"/>
            <a:ext cx="11532563" cy="1508105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252069" y="693642"/>
            <a:ext cx="9300315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chemeClr val="bg1">
                    <a:lumMod val="50000"/>
                    <a:alpha val="50000"/>
                  </a:schemeClr>
                </a:solidFill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600">
                <a:latin typeface="+mn-ea"/>
                <a:ea typeface="+mn-ea"/>
              </a:defRPr>
            </a:lvl4pPr>
            <a:lvl5pPr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6" name="内容占位符 6"/>
          <p:cNvSpPr>
            <a:spLocks noGrp="1"/>
          </p:cNvSpPr>
          <p:nvPr>
            <p:ph sz="quarter" idx="22"/>
          </p:nvPr>
        </p:nvSpPr>
        <p:spPr>
          <a:xfrm>
            <a:off x="28240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8" name="内容占位符 6"/>
          <p:cNvSpPr>
            <a:spLocks noGrp="1"/>
          </p:cNvSpPr>
          <p:nvPr>
            <p:ph sz="quarter" idx="23"/>
          </p:nvPr>
        </p:nvSpPr>
        <p:spPr>
          <a:xfrm>
            <a:off x="424284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3" name="内容占位符 6"/>
          <p:cNvSpPr>
            <a:spLocks noGrp="1"/>
          </p:cNvSpPr>
          <p:nvPr>
            <p:ph sz="quarter" idx="24"/>
          </p:nvPr>
        </p:nvSpPr>
        <p:spPr>
          <a:xfrm>
            <a:off x="820328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  <p:transition spd="med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6"/>
          <p:cNvSpPr>
            <a:spLocks noGrp="1"/>
          </p:cNvSpPr>
          <p:nvPr>
            <p:ph sz="quarter" idx="20"/>
          </p:nvPr>
        </p:nvSpPr>
        <p:spPr>
          <a:xfrm>
            <a:off x="252069" y="1256862"/>
            <a:ext cx="11532563" cy="1508105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22"/>
          </p:nvPr>
        </p:nvSpPr>
        <p:spPr>
          <a:xfrm>
            <a:off x="28240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内容占位符 6"/>
          <p:cNvSpPr>
            <a:spLocks noGrp="1"/>
          </p:cNvSpPr>
          <p:nvPr>
            <p:ph sz="quarter" idx="23"/>
          </p:nvPr>
        </p:nvSpPr>
        <p:spPr>
          <a:xfrm>
            <a:off x="424284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9" name="内容占位符 6"/>
          <p:cNvSpPr>
            <a:spLocks noGrp="1"/>
          </p:cNvSpPr>
          <p:nvPr>
            <p:ph sz="quarter" idx="24"/>
          </p:nvPr>
        </p:nvSpPr>
        <p:spPr>
          <a:xfrm>
            <a:off x="8203285" y="3073884"/>
            <a:ext cx="3581347" cy="280338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  <p:transition spd="med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1871245"/>
            <a:ext cx="12192000" cy="2232248"/>
          </a:xfrm>
          <a:prstGeom prst="rect">
            <a:avLst/>
          </a:prstGeom>
          <a:solidFill>
            <a:srgbClr val="2667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927648" y="2492896"/>
            <a:ext cx="6912768" cy="92333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>
              <a:defRPr sz="5400" b="1" spc="300"/>
            </a:lvl1pPr>
          </a:lstStyle>
          <a:p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 bwMode="auto">
          <a:xfrm flipH="1">
            <a:off x="1199456" y="2954561"/>
            <a:ext cx="1584176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 userDrawn="1"/>
        </p:nvCxnSpPr>
        <p:spPr bwMode="auto">
          <a:xfrm flipH="1">
            <a:off x="9552384" y="2954561"/>
            <a:ext cx="1584176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参考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0" y="908720"/>
            <a:ext cx="12077700" cy="5695950"/>
          </a:xfrm>
          <a:prstGeom prst="rect">
            <a:avLst/>
          </a:prstGeom>
        </p:spPr>
      </p:pic>
      <p:pic>
        <p:nvPicPr>
          <p:cNvPr id="23" name="图片 22" descr="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9416" y="116632"/>
            <a:ext cx="2281555" cy="1031875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647728" y="251066"/>
            <a:ext cx="6131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  <a:ea typeface="+mn-ea"/>
              </a:rPr>
              <a:t>泰豪蓝色的配色方案</a:t>
            </a:r>
            <a:r>
              <a:rPr lang="en-US" altLang="zh-CN" sz="2800" b="1" dirty="0">
                <a:latin typeface="+mn-ea"/>
                <a:ea typeface="+mn-ea"/>
              </a:rPr>
              <a:t>—&lt;</a:t>
            </a:r>
            <a:r>
              <a:rPr lang="zh-CN" altLang="en-US" sz="2800" b="1" dirty="0">
                <a:latin typeface="+mn-ea"/>
                <a:ea typeface="+mn-ea"/>
              </a:rPr>
              <a:t>来自千图网</a:t>
            </a:r>
            <a:r>
              <a:rPr lang="en-US" altLang="zh-CN" sz="2800" b="1" dirty="0">
                <a:latin typeface="+mn-ea"/>
                <a:ea typeface="+mn-ea"/>
              </a:rPr>
              <a:t>&gt;</a:t>
            </a:r>
            <a:endParaRPr lang="zh-CN" altLang="en-US" sz="28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med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2"/>
            <a:ext cx="284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2" tIns="45718" rIns="91432" bIns="45718" numCol="1" anchor="ctr" anchorCtr="0" compatLnSpc="1"/>
          <a:lstStyle>
            <a:lvl1pPr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996380FA-D4BD-4213-9BB2-89821627AB97}" type="datetime1">
              <a:rPr lang="zh-CN" altLang="en-US" smtClean="0"/>
              <a:t>2023/12/3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102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2"/>
            <a:ext cx="3860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2" tIns="45718" rIns="91432" bIns="45718" numCol="1" anchor="ctr" anchorCtr="0" compatLnSpc="1"/>
          <a:lstStyle>
            <a:lvl1pPr algn="ctr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02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2"/>
            <a:ext cx="284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2" tIns="45718" rIns="91432" bIns="45718" numCol="1" anchor="ctr" anchorCtr="0" compatLnSpc="1"/>
          <a:lstStyle>
            <a:lvl1pPr algn="r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9420350C-7EA9-417E-B3BB-B922A5F47173}" type="slidenum">
              <a:rPr lang="zh-CN" altLang="en-US" smtClean="0"/>
              <a:t>‹#›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2407054" y="2942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色彩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2498926" y="899064"/>
            <a:ext cx="360000" cy="360000"/>
          </a:xfrm>
          <a:prstGeom prst="rect">
            <a:avLst/>
          </a:prstGeom>
          <a:solidFill>
            <a:srgbClr val="2567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498926" y="1382487"/>
            <a:ext cx="360000" cy="360000"/>
          </a:xfrm>
          <a:prstGeom prst="rect">
            <a:avLst/>
          </a:prstGeom>
          <a:solidFill>
            <a:srgbClr val="6A1E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2498926" y="1865910"/>
            <a:ext cx="360000" cy="360000"/>
          </a:xfrm>
          <a:prstGeom prst="rect">
            <a:avLst/>
          </a:prstGeom>
          <a:solidFill>
            <a:srgbClr val="105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498926" y="2349333"/>
            <a:ext cx="360000" cy="360000"/>
          </a:xfrm>
          <a:prstGeom prst="rect">
            <a:avLst/>
          </a:prstGeom>
          <a:solidFill>
            <a:srgbClr val="172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498926" y="2832756"/>
            <a:ext cx="36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12498925" y="3316179"/>
            <a:ext cx="360000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2498925" y="3799602"/>
            <a:ext cx="36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12498925" y="4283025"/>
            <a:ext cx="360000" cy="36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>
            <a:off x="12498925" y="4766448"/>
            <a:ext cx="360000" cy="360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 userDrawn="1"/>
        </p:nvSpPr>
        <p:spPr>
          <a:xfrm>
            <a:off x="12498925" y="5249871"/>
            <a:ext cx="360000" cy="360000"/>
          </a:xfrm>
          <a:prstGeom prst="rect">
            <a:avLst/>
          </a:prstGeom>
          <a:solidFill>
            <a:srgbClr val="C7D9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 userDrawn="1"/>
        </p:nvSpPr>
        <p:spPr>
          <a:xfrm>
            <a:off x="12498924" y="5733296"/>
            <a:ext cx="360000" cy="360000"/>
          </a:xfrm>
          <a:prstGeom prst="rect">
            <a:avLst/>
          </a:prstGeom>
          <a:solidFill>
            <a:srgbClr val="FBF2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>
    <p:cover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aseline="0">
          <a:solidFill>
            <a:schemeClr val="bg1"/>
          </a:solidFill>
          <a:latin typeface="(使用中文字体)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3200" baseline="0">
          <a:solidFill>
            <a:schemeClr val="tx1"/>
          </a:solidFill>
          <a:latin typeface="(使用中文字体)"/>
          <a:ea typeface="微软雅黑" panose="020B0503020204020204" pitchFamily="34" charset="-122"/>
          <a:cs typeface="+mn-cs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2800">
          <a:solidFill>
            <a:schemeClr val="tx1"/>
          </a:solidFill>
          <a:latin typeface="+mn-lt"/>
          <a:ea typeface="+mn-ea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2400">
          <a:solidFill>
            <a:schemeClr val="tx1"/>
          </a:solidFill>
          <a:latin typeface="+mn-lt"/>
          <a:ea typeface="+mn-ea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2000">
          <a:solidFill>
            <a:schemeClr val="tx1"/>
          </a:solidFill>
          <a:latin typeface="+mn-lt"/>
          <a:ea typeface="+mn-ea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FontTx/>
        <a:buNone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836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556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030" y="2492693"/>
            <a:ext cx="11203940" cy="922020"/>
          </a:xfrm>
        </p:spPr>
        <p:txBody>
          <a:bodyPr/>
          <a:lstStyle/>
          <a:p>
            <a:r>
              <a:rPr lang="zh-CN" altLang="en-US"/>
              <a:t>学习经验分享</a:t>
            </a:r>
          </a:p>
        </p:txBody>
      </p:sp>
      <p:sp>
        <p:nvSpPr>
          <p:cNvPr id="4" name="副标题 4"/>
          <p:cNvSpPr txBox="1"/>
          <p:nvPr/>
        </p:nvSpPr>
        <p:spPr>
          <a:xfrm>
            <a:off x="2064321" y="4580622"/>
            <a:ext cx="8064000" cy="10086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36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556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kern="0" dirty="0"/>
              <a:t>高斯</a:t>
            </a:r>
            <a:endParaRPr lang="en-US" altLang="zh-CN" sz="1600" kern="0" dirty="0"/>
          </a:p>
          <a:p>
            <a:pPr algn="ctr">
              <a:lnSpc>
                <a:spcPct val="150000"/>
              </a:lnSpc>
            </a:pPr>
            <a:r>
              <a:rPr lang="en-US" altLang="zh-CN" sz="1600" kern="0" dirty="0"/>
              <a:t>2023-12-03</a:t>
            </a:r>
            <a:endParaRPr lang="zh-CN" altLang="en-US" sz="1600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2</a:t>
            </a:fld>
            <a:endParaRPr lang="en-US">
              <a:latin typeface="+mj-ea"/>
              <a:ea typeface="+mj-ea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0" y="2812713"/>
            <a:ext cx="3600000" cy="829945"/>
          </a:xfrm>
        </p:spPr>
        <p:txBody>
          <a:bodyPr/>
          <a:lstStyle/>
          <a:p>
            <a:r>
              <a:rPr lang="zh-CN" altLang="en-US" sz="4800" dirty="0"/>
              <a:t>目录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782840" y="785890"/>
            <a:ext cx="5213786" cy="734924"/>
            <a:chOff x="5030480" y="724460"/>
            <a:chExt cx="5213786" cy="734924"/>
          </a:xfrm>
        </p:grpSpPr>
        <p:sp>
          <p:nvSpPr>
            <p:cNvPr id="10" name="内容占位符 2"/>
            <p:cNvSpPr txBox="1"/>
            <p:nvPr/>
          </p:nvSpPr>
          <p:spPr>
            <a:xfrm>
              <a:off x="6145138" y="811330"/>
              <a:ext cx="4099128" cy="458908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>
              <a:lvl1pPr rtl="0">
                <a:lnSpc>
                  <a:spcPct val="150000"/>
                </a:lnSpc>
                <a:spcBef>
                  <a:spcPct val="20000"/>
                </a:spcBef>
                <a:buFontTx/>
                <a:defRPr sz="3200" b="1" spc="-5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rtl="0">
                <a:spcBef>
                  <a:spcPct val="20000"/>
                </a:spcBef>
                <a:buFontTx/>
                <a:defRPr sz="2800">
                  <a:latin typeface="+mn-lt"/>
                  <a:ea typeface="+mn-ea"/>
                </a:defRPr>
              </a:lvl2pPr>
              <a:lvl3pPr marL="914400" rtl="0">
                <a:spcBef>
                  <a:spcPct val="20000"/>
                </a:spcBef>
                <a:buFontTx/>
                <a:defRPr sz="2400">
                  <a:latin typeface="+mn-lt"/>
                  <a:ea typeface="+mn-ea"/>
                </a:defRPr>
              </a:lvl3pPr>
              <a:lvl4pPr marL="13716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4pPr>
              <a:lvl5pPr marL="18288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5pPr>
              <a:lvl6pPr marL="25146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6pPr>
              <a:lvl7pPr marL="29718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7pPr>
              <a:lvl8pPr marL="34283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8pPr>
              <a:lvl9pPr marL="38855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9pPr>
            </a:lstStyle>
            <a:p>
              <a:r>
                <a:rPr lang="zh-CN" altLang="en-US" sz="1800" dirty="0">
                  <a:solidFill>
                    <a:srgbClr val="2667BF"/>
                  </a:solidFill>
                </a:rPr>
                <a:t>学习框架</a:t>
              </a: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030480" y="724460"/>
              <a:ext cx="720000" cy="734924"/>
              <a:chOff x="4655840" y="1049141"/>
              <a:chExt cx="900000" cy="958772"/>
            </a:xfrm>
          </p:grpSpPr>
          <p:sp>
            <p:nvSpPr>
              <p:cNvPr id="4" name="流程图: 接点 3"/>
              <p:cNvSpPr/>
              <p:nvPr/>
            </p:nvSpPr>
            <p:spPr bwMode="auto">
              <a:xfrm>
                <a:off x="4655840" y="1107913"/>
                <a:ext cx="900000" cy="900000"/>
              </a:xfrm>
              <a:prstGeom prst="flowChartConnector">
                <a:avLst/>
              </a:prstGeom>
              <a:solidFill>
                <a:srgbClr val="2667BF"/>
              </a:solidFill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24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14" name="内容占位符 2"/>
              <p:cNvSpPr txBox="1"/>
              <p:nvPr/>
            </p:nvSpPr>
            <p:spPr>
              <a:xfrm>
                <a:off x="4727848" y="1049141"/>
                <a:ext cx="792088" cy="86435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>
                <a:lvl1pPr rtl="0">
                  <a:lnSpc>
                    <a:spcPct val="150000"/>
                  </a:lnSpc>
                  <a:spcBef>
                    <a:spcPct val="20000"/>
                  </a:spcBef>
                  <a:buFontTx/>
                  <a:defRPr sz="3200" b="1" spc="-5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rtl="0">
                  <a:spcBef>
                    <a:spcPct val="20000"/>
                  </a:spcBef>
                  <a:buFontTx/>
                  <a:defRPr sz="2800">
                    <a:latin typeface="+mn-lt"/>
                    <a:ea typeface="+mn-ea"/>
                  </a:defRPr>
                </a:lvl2pPr>
                <a:lvl3pPr marL="914400" rtl="0">
                  <a:spcBef>
                    <a:spcPct val="20000"/>
                  </a:spcBef>
                  <a:buFontTx/>
                  <a:defRPr sz="2400">
                    <a:latin typeface="+mn-lt"/>
                    <a:ea typeface="+mn-ea"/>
                  </a:defRPr>
                </a:lvl3pPr>
                <a:lvl4pPr marL="13716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4pPr>
                <a:lvl5pPr marL="18288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5pPr>
                <a:lvl6pPr marL="25146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6pPr>
                <a:lvl7pPr marL="29718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7pPr>
                <a:lvl8pPr marL="34283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8pPr>
                <a:lvl9pPr marL="38855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zh-CN" sz="2800" b="0" dirty="0">
                    <a:solidFill>
                      <a:schemeClr val="bg1"/>
                    </a:solidFill>
                  </a:rPr>
                  <a:t>01</a:t>
                </a:r>
                <a:endParaRPr lang="zh-CN" altLang="en-US" sz="2800" b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4782840" y="1901377"/>
            <a:ext cx="6833235" cy="733862"/>
            <a:chOff x="5030480" y="724460"/>
            <a:chExt cx="6833235" cy="734924"/>
          </a:xfrm>
        </p:grpSpPr>
        <p:sp>
          <p:nvSpPr>
            <p:cNvPr id="73" name="内容占位符 2"/>
            <p:cNvSpPr txBox="1"/>
            <p:nvPr/>
          </p:nvSpPr>
          <p:spPr>
            <a:xfrm>
              <a:off x="6144905" y="810993"/>
              <a:ext cx="5718810" cy="459572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>
              <a:lvl1pPr rtl="0">
                <a:lnSpc>
                  <a:spcPct val="150000"/>
                </a:lnSpc>
                <a:spcBef>
                  <a:spcPct val="20000"/>
                </a:spcBef>
                <a:buFontTx/>
                <a:defRPr sz="3200" b="1" spc="-5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rtl="0">
                <a:spcBef>
                  <a:spcPct val="20000"/>
                </a:spcBef>
                <a:buFontTx/>
                <a:defRPr sz="2800">
                  <a:latin typeface="+mn-lt"/>
                  <a:ea typeface="+mn-ea"/>
                </a:defRPr>
              </a:lvl2pPr>
              <a:lvl3pPr marL="914400" rtl="0">
                <a:spcBef>
                  <a:spcPct val="20000"/>
                </a:spcBef>
                <a:buFontTx/>
                <a:defRPr sz="2400">
                  <a:latin typeface="+mn-lt"/>
                  <a:ea typeface="+mn-ea"/>
                </a:defRPr>
              </a:lvl3pPr>
              <a:lvl4pPr marL="13716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4pPr>
              <a:lvl5pPr marL="18288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5pPr>
              <a:lvl6pPr marL="25146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6pPr>
              <a:lvl7pPr marL="29718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7pPr>
              <a:lvl8pPr marL="34283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8pPr>
              <a:lvl9pPr marL="38855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9pPr>
            </a:lstStyle>
            <a:p>
              <a:r>
                <a:rPr lang="zh-CN" altLang="en-US" sz="1800" dirty="0">
                  <a:solidFill>
                    <a:srgbClr val="2667BF"/>
                  </a:solidFill>
                </a:rPr>
                <a:t>准备工作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5030480" y="724460"/>
              <a:ext cx="720000" cy="734924"/>
              <a:chOff x="4655840" y="1049141"/>
              <a:chExt cx="900000" cy="958772"/>
            </a:xfrm>
          </p:grpSpPr>
          <p:sp>
            <p:nvSpPr>
              <p:cNvPr id="75" name="流程图: 接点 74"/>
              <p:cNvSpPr/>
              <p:nvPr/>
            </p:nvSpPr>
            <p:spPr bwMode="auto">
              <a:xfrm>
                <a:off x="4655840" y="1107913"/>
                <a:ext cx="900000" cy="900000"/>
              </a:xfrm>
              <a:prstGeom prst="flowChartConnector">
                <a:avLst/>
              </a:prstGeom>
              <a:solidFill>
                <a:srgbClr val="2667BF"/>
              </a:solidFill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24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76" name="内容占位符 2"/>
              <p:cNvSpPr txBox="1"/>
              <p:nvPr/>
            </p:nvSpPr>
            <p:spPr>
              <a:xfrm>
                <a:off x="4727848" y="1049141"/>
                <a:ext cx="792088" cy="86435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>
                <a:lvl1pPr rtl="0">
                  <a:lnSpc>
                    <a:spcPct val="150000"/>
                  </a:lnSpc>
                  <a:spcBef>
                    <a:spcPct val="20000"/>
                  </a:spcBef>
                  <a:buFontTx/>
                  <a:defRPr sz="3200" b="1" spc="-5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rtl="0">
                  <a:spcBef>
                    <a:spcPct val="20000"/>
                  </a:spcBef>
                  <a:buFontTx/>
                  <a:defRPr sz="2800">
                    <a:latin typeface="+mn-lt"/>
                    <a:ea typeface="+mn-ea"/>
                  </a:defRPr>
                </a:lvl2pPr>
                <a:lvl3pPr marL="914400" rtl="0">
                  <a:spcBef>
                    <a:spcPct val="20000"/>
                  </a:spcBef>
                  <a:buFontTx/>
                  <a:defRPr sz="2400">
                    <a:latin typeface="+mn-lt"/>
                    <a:ea typeface="+mn-ea"/>
                  </a:defRPr>
                </a:lvl3pPr>
                <a:lvl4pPr marL="13716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4pPr>
                <a:lvl5pPr marL="18288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5pPr>
                <a:lvl6pPr marL="25146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6pPr>
                <a:lvl7pPr marL="29718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7pPr>
                <a:lvl8pPr marL="34283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8pPr>
                <a:lvl9pPr marL="38855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zh-CN" sz="2800" b="0" dirty="0">
                    <a:solidFill>
                      <a:schemeClr val="bg1"/>
                    </a:solidFill>
                  </a:rPr>
                  <a:t>02</a:t>
                </a:r>
                <a:endParaRPr lang="zh-CN" altLang="en-US" sz="2800" b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4782840" y="3015536"/>
            <a:ext cx="6837680" cy="734129"/>
            <a:chOff x="5030480" y="724460"/>
            <a:chExt cx="6837680" cy="734924"/>
          </a:xfrm>
        </p:grpSpPr>
        <p:sp>
          <p:nvSpPr>
            <p:cNvPr id="78" name="内容占位符 2"/>
            <p:cNvSpPr txBox="1"/>
            <p:nvPr/>
          </p:nvSpPr>
          <p:spPr>
            <a:xfrm>
              <a:off x="6144905" y="811081"/>
              <a:ext cx="5723255" cy="459405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>
              <a:lvl1pPr rtl="0">
                <a:lnSpc>
                  <a:spcPct val="150000"/>
                </a:lnSpc>
                <a:spcBef>
                  <a:spcPct val="20000"/>
                </a:spcBef>
                <a:buFontTx/>
                <a:defRPr sz="3200" b="1" spc="-5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rtl="0">
                <a:spcBef>
                  <a:spcPct val="20000"/>
                </a:spcBef>
                <a:buFontTx/>
                <a:defRPr sz="2800">
                  <a:latin typeface="+mn-lt"/>
                  <a:ea typeface="+mn-ea"/>
                </a:defRPr>
              </a:lvl2pPr>
              <a:lvl3pPr marL="914400" rtl="0">
                <a:spcBef>
                  <a:spcPct val="20000"/>
                </a:spcBef>
                <a:buFontTx/>
                <a:defRPr sz="2400">
                  <a:latin typeface="+mn-lt"/>
                  <a:ea typeface="+mn-ea"/>
                </a:defRPr>
              </a:lvl3pPr>
              <a:lvl4pPr marL="13716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4pPr>
              <a:lvl5pPr marL="18288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5pPr>
              <a:lvl6pPr marL="25146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6pPr>
              <a:lvl7pPr marL="29718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7pPr>
              <a:lvl8pPr marL="34283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8pPr>
              <a:lvl9pPr marL="38855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9pPr>
            </a:lstStyle>
            <a:p>
              <a:r>
                <a:rPr lang="zh-CN" altLang="en-US" sz="1800" dirty="0">
                  <a:solidFill>
                    <a:srgbClr val="2667BF"/>
                  </a:solidFill>
                </a:rPr>
                <a:t>测试</a:t>
              </a: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5030480" y="724460"/>
              <a:ext cx="720000" cy="734924"/>
              <a:chOff x="4655840" y="1049141"/>
              <a:chExt cx="900000" cy="958772"/>
            </a:xfrm>
          </p:grpSpPr>
          <p:sp>
            <p:nvSpPr>
              <p:cNvPr id="80" name="流程图: 接点 79"/>
              <p:cNvSpPr/>
              <p:nvPr/>
            </p:nvSpPr>
            <p:spPr bwMode="auto">
              <a:xfrm>
                <a:off x="4655840" y="1107913"/>
                <a:ext cx="900000" cy="900000"/>
              </a:xfrm>
              <a:prstGeom prst="flowChartConnector">
                <a:avLst/>
              </a:prstGeom>
              <a:solidFill>
                <a:srgbClr val="2667BF"/>
              </a:solidFill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24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81" name="内容占位符 2"/>
              <p:cNvSpPr txBox="1"/>
              <p:nvPr/>
            </p:nvSpPr>
            <p:spPr>
              <a:xfrm>
                <a:off x="4727848" y="1049141"/>
                <a:ext cx="792088" cy="86435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>
                <a:lvl1pPr rtl="0">
                  <a:lnSpc>
                    <a:spcPct val="150000"/>
                  </a:lnSpc>
                  <a:spcBef>
                    <a:spcPct val="20000"/>
                  </a:spcBef>
                  <a:buFontTx/>
                  <a:defRPr sz="3200" b="1" spc="-5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rtl="0">
                  <a:spcBef>
                    <a:spcPct val="20000"/>
                  </a:spcBef>
                  <a:buFontTx/>
                  <a:defRPr sz="2800">
                    <a:latin typeface="+mn-lt"/>
                    <a:ea typeface="+mn-ea"/>
                  </a:defRPr>
                </a:lvl2pPr>
                <a:lvl3pPr marL="914400" rtl="0">
                  <a:spcBef>
                    <a:spcPct val="20000"/>
                  </a:spcBef>
                  <a:buFontTx/>
                  <a:defRPr sz="2400">
                    <a:latin typeface="+mn-lt"/>
                    <a:ea typeface="+mn-ea"/>
                  </a:defRPr>
                </a:lvl3pPr>
                <a:lvl4pPr marL="13716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4pPr>
                <a:lvl5pPr marL="18288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5pPr>
                <a:lvl6pPr marL="25146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6pPr>
                <a:lvl7pPr marL="29718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7pPr>
                <a:lvl8pPr marL="34283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8pPr>
                <a:lvl9pPr marL="38855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zh-CN" sz="2800" b="0" dirty="0">
                    <a:solidFill>
                      <a:schemeClr val="bg1"/>
                    </a:solidFill>
                  </a:rPr>
                  <a:t>03</a:t>
                </a:r>
                <a:endParaRPr lang="zh-CN" altLang="en-US" sz="2800" b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4782840" y="4134405"/>
            <a:ext cx="6907530" cy="734129"/>
            <a:chOff x="5030480" y="724460"/>
            <a:chExt cx="6907530" cy="734924"/>
          </a:xfrm>
        </p:grpSpPr>
        <p:sp>
          <p:nvSpPr>
            <p:cNvPr id="20" name="内容占位符 2"/>
            <p:cNvSpPr txBox="1"/>
            <p:nvPr/>
          </p:nvSpPr>
          <p:spPr>
            <a:xfrm>
              <a:off x="6144905" y="811082"/>
              <a:ext cx="5793105" cy="459405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>
              <a:lvl1pPr rtl="0">
                <a:lnSpc>
                  <a:spcPct val="150000"/>
                </a:lnSpc>
                <a:spcBef>
                  <a:spcPct val="20000"/>
                </a:spcBef>
                <a:buFontTx/>
                <a:defRPr sz="3200" b="1" spc="-5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rtl="0">
                <a:spcBef>
                  <a:spcPct val="20000"/>
                </a:spcBef>
                <a:buFontTx/>
                <a:defRPr sz="2800">
                  <a:latin typeface="+mn-lt"/>
                  <a:ea typeface="+mn-ea"/>
                </a:defRPr>
              </a:lvl2pPr>
              <a:lvl3pPr marL="914400" rtl="0">
                <a:spcBef>
                  <a:spcPct val="20000"/>
                </a:spcBef>
                <a:buFontTx/>
                <a:defRPr sz="2400">
                  <a:latin typeface="+mn-lt"/>
                  <a:ea typeface="+mn-ea"/>
                </a:defRPr>
              </a:lvl3pPr>
              <a:lvl4pPr marL="13716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4pPr>
              <a:lvl5pPr marL="1828800" rtl="0">
                <a:spcBef>
                  <a:spcPct val="20000"/>
                </a:spcBef>
                <a:buFontTx/>
                <a:defRPr sz="2000">
                  <a:latin typeface="+mn-lt"/>
                  <a:ea typeface="+mn-ea"/>
                </a:defRPr>
              </a:lvl5pPr>
              <a:lvl6pPr marL="25146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6pPr>
              <a:lvl7pPr marL="2971800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7pPr>
              <a:lvl8pPr marL="34283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8pPr>
              <a:lvl9pPr marL="3885565" indent="-228600" rtl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latin typeface="+mn-lt"/>
                  <a:ea typeface="+mn-ea"/>
                </a:defRPr>
              </a:lvl9pPr>
            </a:lstStyle>
            <a:p>
              <a:r>
                <a:rPr lang="zh-CN" altLang="en-US" sz="1800" dirty="0">
                  <a:solidFill>
                    <a:srgbClr val="2667BF"/>
                  </a:solidFill>
                  <a:sym typeface="+mn-ea"/>
                </a:rPr>
                <a:t>后续测试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030480" y="724460"/>
              <a:ext cx="720000" cy="734924"/>
              <a:chOff x="4655840" y="1049141"/>
              <a:chExt cx="900000" cy="958772"/>
            </a:xfrm>
          </p:grpSpPr>
          <p:sp>
            <p:nvSpPr>
              <p:cNvPr id="22" name="流程图: 接点 21"/>
              <p:cNvSpPr/>
              <p:nvPr/>
            </p:nvSpPr>
            <p:spPr bwMode="auto">
              <a:xfrm>
                <a:off x="4655840" y="1107913"/>
                <a:ext cx="900000" cy="900000"/>
              </a:xfrm>
              <a:prstGeom prst="flowChartConnector">
                <a:avLst/>
              </a:prstGeom>
              <a:solidFill>
                <a:srgbClr val="2667BF"/>
              </a:solidFill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t" anchorCtr="0" compatLnSpc="1"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endParaRPr kumimoji="0" lang="zh-CN" altLang="en-US" sz="24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方正姚体" panose="02010601030101010101" pitchFamily="2" charset="-122"/>
                  <a:ea typeface="方正姚体" panose="02010601030101010101" pitchFamily="2" charset="-122"/>
                </a:endParaRPr>
              </a:p>
            </p:txBody>
          </p:sp>
          <p:sp>
            <p:nvSpPr>
              <p:cNvPr id="23" name="内容占位符 2"/>
              <p:cNvSpPr txBox="1"/>
              <p:nvPr/>
            </p:nvSpPr>
            <p:spPr>
              <a:xfrm>
                <a:off x="4727848" y="1049141"/>
                <a:ext cx="792088" cy="86435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>
                <a:lvl1pPr rtl="0">
                  <a:lnSpc>
                    <a:spcPct val="150000"/>
                  </a:lnSpc>
                  <a:spcBef>
                    <a:spcPct val="20000"/>
                  </a:spcBef>
                  <a:buFontTx/>
                  <a:defRPr sz="3200" b="1" spc="-5"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457200" rtl="0">
                  <a:spcBef>
                    <a:spcPct val="20000"/>
                  </a:spcBef>
                  <a:buFontTx/>
                  <a:defRPr sz="2800">
                    <a:latin typeface="+mn-lt"/>
                    <a:ea typeface="+mn-ea"/>
                  </a:defRPr>
                </a:lvl2pPr>
                <a:lvl3pPr marL="914400" rtl="0">
                  <a:spcBef>
                    <a:spcPct val="20000"/>
                  </a:spcBef>
                  <a:buFontTx/>
                  <a:defRPr sz="2400">
                    <a:latin typeface="+mn-lt"/>
                    <a:ea typeface="+mn-ea"/>
                  </a:defRPr>
                </a:lvl3pPr>
                <a:lvl4pPr marL="13716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4pPr>
                <a:lvl5pPr marL="1828800" rtl="0">
                  <a:spcBef>
                    <a:spcPct val="20000"/>
                  </a:spcBef>
                  <a:buFontTx/>
                  <a:defRPr sz="2000">
                    <a:latin typeface="+mn-lt"/>
                    <a:ea typeface="+mn-ea"/>
                  </a:defRPr>
                </a:lvl5pPr>
                <a:lvl6pPr marL="25146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6pPr>
                <a:lvl7pPr marL="2971800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7pPr>
                <a:lvl8pPr marL="34283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8pPr>
                <a:lvl9pPr marL="3885565" indent="-228600" rtl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zh-CN" sz="2800" b="0">
                    <a:solidFill>
                      <a:schemeClr val="bg1"/>
                    </a:solidFill>
                  </a:rPr>
                  <a:t>04</a:t>
                </a:r>
                <a:endParaRPr lang="zh-CN" altLang="en-US" sz="2800" b="0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3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一、学习框架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1"/>
          </p:nvPr>
        </p:nvSpPr>
        <p:spPr>
          <a:xfrm>
            <a:off x="252069" y="694307"/>
            <a:ext cx="9300315" cy="39878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实现时间序列分析的实践。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07E8D0-ABCD-426F-B30B-0E15642C8A56}"/>
              </a:ext>
            </a:extLst>
          </p:cNvPr>
          <p:cNvSpPr txBox="1"/>
          <p:nvPr/>
        </p:nvSpPr>
        <p:spPr>
          <a:xfrm>
            <a:off x="1343472" y="1507937"/>
            <a:ext cx="698477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3600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</a:rPr>
              <a:t>Transformer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</a:rPr>
              <a:t>原理学习与实践</a:t>
            </a:r>
            <a:endParaRPr lang="zh-CN" altLang="en-US" sz="2800" b="1" kern="0" dirty="0">
              <a:solidFill>
                <a:srgbClr val="2567BF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D203F1-0FC5-4060-80A8-B15D8ED6934C}"/>
              </a:ext>
            </a:extLst>
          </p:cNvPr>
          <p:cNvSpPr txBox="1"/>
          <p:nvPr/>
        </p:nvSpPr>
        <p:spPr>
          <a:xfrm>
            <a:off x="1429018" y="5157192"/>
            <a:ext cx="698477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、时间序列应用场景实践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427A4D6-7D83-4F4F-A2AE-577BB30E5159}"/>
              </a:ext>
            </a:extLst>
          </p:cNvPr>
          <p:cNvSpPr txBox="1"/>
          <p:nvPr/>
        </p:nvSpPr>
        <p:spPr>
          <a:xfrm>
            <a:off x="1399075" y="3645024"/>
            <a:ext cx="698477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、文本分析应用场景实践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D8EAC1-4B49-4304-8BA5-B653EEF7891D}"/>
              </a:ext>
            </a:extLst>
          </p:cNvPr>
          <p:cNvSpPr txBox="1"/>
          <p:nvPr/>
        </p:nvSpPr>
        <p:spPr>
          <a:xfrm>
            <a:off x="2639616" y="2154268"/>
            <a:ext cx="4536504" cy="115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嵌入和位置编码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编码器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解码器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7238BB-EBD2-4135-B7BC-7A6FD0790699}"/>
              </a:ext>
            </a:extLst>
          </p:cNvPr>
          <p:cNvSpPr txBox="1"/>
          <p:nvPr/>
        </p:nvSpPr>
        <p:spPr>
          <a:xfrm>
            <a:off x="2783632" y="6275527"/>
            <a:ext cx="3528392" cy="341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实现初步得测试分析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A1E4E01-D399-40FF-AB16-A9A37CAAFE03}"/>
              </a:ext>
            </a:extLst>
          </p:cNvPr>
          <p:cNvSpPr txBox="1"/>
          <p:nvPr/>
        </p:nvSpPr>
        <p:spPr>
          <a:xfrm>
            <a:off x="2783632" y="5877272"/>
            <a:ext cx="3528392" cy="341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训练集：天气</a:t>
            </a:r>
            <a:r>
              <a:rPr lang="en-US" altLang="zh-CN" dirty="0"/>
              <a:t>(weather)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FDD88D9-BE98-430E-8B55-A8E79E708C2D}"/>
              </a:ext>
            </a:extLst>
          </p:cNvPr>
          <p:cNvSpPr txBox="1"/>
          <p:nvPr/>
        </p:nvSpPr>
        <p:spPr>
          <a:xfrm>
            <a:off x="2783632" y="4592809"/>
            <a:ext cx="3528392" cy="341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实现初步得测试分析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35B226-6431-431B-BE3C-0F0EC6FA0FA8}"/>
              </a:ext>
            </a:extLst>
          </p:cNvPr>
          <p:cNvSpPr txBox="1"/>
          <p:nvPr/>
        </p:nvSpPr>
        <p:spPr>
          <a:xfrm>
            <a:off x="2783632" y="4194554"/>
            <a:ext cx="3528392" cy="341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训练集：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93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4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二、准备工作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07E8D0-ABCD-426F-B30B-0E15642C8A56}"/>
              </a:ext>
            </a:extLst>
          </p:cNvPr>
          <p:cNvSpPr txBox="1"/>
          <p:nvPr/>
        </p:nvSpPr>
        <p:spPr>
          <a:xfrm>
            <a:off x="457835" y="1154424"/>
            <a:ext cx="698477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3600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</a:rPr>
              <a:t>GitHub &amp; Git</a:t>
            </a:r>
            <a:endParaRPr lang="zh-CN" altLang="en-US" sz="2800" b="1" kern="0" dirty="0">
              <a:solidFill>
                <a:srgbClr val="2567BF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alpha val="50000"/>
                  </a:schemeClr>
                </a:solidFill>
              </a:rPr>
              <a:t>环境准备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0D665D7-B03E-4E7B-9246-37072C92B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797488"/>
            <a:ext cx="8114208" cy="4558864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1992BE1-760F-4EB8-893F-E9BC811F5713}"/>
              </a:ext>
            </a:extLst>
          </p:cNvPr>
          <p:cNvSpPr txBox="1"/>
          <p:nvPr/>
        </p:nvSpPr>
        <p:spPr>
          <a:xfrm>
            <a:off x="9480376" y="1988840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、注册账号</a:t>
            </a:r>
            <a:r>
              <a:rPr lang="en-US" altLang="zh-CN" dirty="0" err="1"/>
              <a:t>Github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F23B44-8EBE-45BD-96E6-95B65D232CCD}"/>
              </a:ext>
            </a:extLst>
          </p:cNvPr>
          <p:cNvSpPr txBox="1"/>
          <p:nvPr/>
        </p:nvSpPr>
        <p:spPr>
          <a:xfrm>
            <a:off x="9480376" y="2802414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、下载</a:t>
            </a:r>
            <a:r>
              <a:rPr lang="en-US" altLang="zh-CN" dirty="0" err="1"/>
              <a:t>pycharm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79027E3-1C14-417B-A930-89F444BD2F25}"/>
              </a:ext>
            </a:extLst>
          </p:cNvPr>
          <p:cNvSpPr txBox="1"/>
          <p:nvPr/>
        </p:nvSpPr>
        <p:spPr>
          <a:xfrm>
            <a:off x="9480376" y="3665970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、下载</a:t>
            </a:r>
            <a:r>
              <a:rPr lang="en-US" altLang="zh-CN" dirty="0"/>
              <a:t>git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705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5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二、准备工作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07E8D0-ABCD-426F-B30B-0E15642C8A56}"/>
              </a:ext>
            </a:extLst>
          </p:cNvPr>
          <p:cNvSpPr txBox="1"/>
          <p:nvPr/>
        </p:nvSpPr>
        <p:spPr>
          <a:xfrm>
            <a:off x="457835" y="1154424"/>
            <a:ext cx="698477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 sz="3600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800" b="1" kern="0" dirty="0">
                <a:solidFill>
                  <a:srgbClr val="2567BF"/>
                </a:solidFill>
                <a:latin typeface="微软雅黑" charset="0"/>
                <a:ea typeface="微软雅黑" charset="0"/>
              </a:rPr>
              <a:t>GitHub &amp; Git</a:t>
            </a:r>
            <a:endParaRPr lang="zh-CN" altLang="en-US" sz="2800" b="1" kern="0" dirty="0">
              <a:solidFill>
                <a:srgbClr val="2567BF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alpha val="50000"/>
                  </a:schemeClr>
                </a:solidFill>
              </a:rPr>
              <a:t>环境准备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1992BE1-760F-4EB8-893F-E9BC811F5713}"/>
              </a:ext>
            </a:extLst>
          </p:cNvPr>
          <p:cNvSpPr txBox="1"/>
          <p:nvPr/>
        </p:nvSpPr>
        <p:spPr>
          <a:xfrm>
            <a:off x="9480376" y="1988840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、配置</a:t>
            </a:r>
            <a:r>
              <a:rPr lang="en-US" altLang="zh-CN" dirty="0" err="1"/>
              <a:t>pycharm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F23B44-8EBE-45BD-96E6-95B65D232CCD}"/>
              </a:ext>
            </a:extLst>
          </p:cNvPr>
          <p:cNvSpPr txBox="1"/>
          <p:nvPr/>
        </p:nvSpPr>
        <p:spPr>
          <a:xfrm>
            <a:off x="9480376" y="2802414"/>
            <a:ext cx="2232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、配置</a:t>
            </a:r>
            <a:r>
              <a:rPr lang="en-US" altLang="zh-CN" dirty="0"/>
              <a:t>git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9C6B72-7A2E-43A3-9638-EB6A945B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6" y="1819718"/>
            <a:ext cx="8608126" cy="42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2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6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二、时间序列预测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>
                    <a:alpha val="50000"/>
                  </a:schemeClr>
                </a:solidFill>
              </a:rPr>
              <a:t>Matlab</a:t>
            </a:r>
            <a:r>
              <a:rPr lang="zh-CN" altLang="en-US" dirty="0">
                <a:solidFill>
                  <a:schemeClr val="tx1">
                    <a:alpha val="50000"/>
                  </a:schemeClr>
                </a:solidFill>
              </a:rPr>
              <a:t>测试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F5BAD7-A764-4CA4-B9A5-FBC956B9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39931" cy="754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0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7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二、时间序列预测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>
                    <a:alpha val="50000"/>
                  </a:schemeClr>
                </a:solidFill>
              </a:rPr>
              <a:t>Matlab</a:t>
            </a:r>
            <a:r>
              <a:rPr lang="zh-CN" altLang="en-US" dirty="0">
                <a:solidFill>
                  <a:schemeClr val="tx1">
                    <a:alpha val="50000"/>
                  </a:schemeClr>
                </a:solidFill>
              </a:rPr>
              <a:t>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22DAAB-C824-4254-97C9-DA7E51BC5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1" y="1000607"/>
            <a:ext cx="8867379" cy="57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7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8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二、时间序列预测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>
                    <a:alpha val="50000"/>
                  </a:schemeClr>
                </a:solidFill>
              </a:rPr>
              <a:t>Matlab</a:t>
            </a:r>
            <a:r>
              <a:rPr lang="zh-CN" altLang="en-US" dirty="0">
                <a:solidFill>
                  <a:schemeClr val="tx1">
                    <a:alpha val="50000"/>
                  </a:schemeClr>
                </a:solidFill>
              </a:rPr>
              <a:t>测试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39774B8-DF06-41EE-8D08-2D2791B69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69" y="1137130"/>
            <a:ext cx="5339875" cy="523050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D98E97-695D-4320-97DD-5464ECE7D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501" y="4382120"/>
            <a:ext cx="3395464" cy="6477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0837B32-D203-4377-A948-B093763C7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8" y="1137130"/>
            <a:ext cx="5128713" cy="267012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C3538A3-53BA-4FF9-B408-31333CC38FB3}"/>
              </a:ext>
            </a:extLst>
          </p:cNvPr>
          <p:cNvSpPr txBox="1"/>
          <p:nvPr/>
        </p:nvSpPr>
        <p:spPr>
          <a:xfrm>
            <a:off x="6816080" y="5661248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zh-CN" altLang="en-US" dirty="0"/>
              <a:t>（自回归滞后），设置</a:t>
            </a:r>
            <a:r>
              <a:rPr lang="en-US" altLang="zh-CN" dirty="0"/>
              <a:t>MAX=5</a:t>
            </a:r>
          </a:p>
          <a:p>
            <a:r>
              <a:rPr lang="en-US" altLang="zh-CN" dirty="0"/>
              <a:t>d  (</a:t>
            </a:r>
            <a:r>
              <a:rPr lang="zh-CN" altLang="en-US" dirty="0"/>
              <a:t>差分</a:t>
            </a:r>
            <a:r>
              <a:rPr lang="en-US" altLang="zh-CN" dirty="0"/>
              <a:t>),</a:t>
            </a:r>
            <a:r>
              <a:rPr lang="zh-CN" altLang="en-US" dirty="0"/>
              <a:t>设置</a:t>
            </a:r>
            <a:r>
              <a:rPr lang="en-US" altLang="zh-CN" dirty="0"/>
              <a:t>MAX=2</a:t>
            </a:r>
          </a:p>
          <a:p>
            <a:r>
              <a:rPr lang="en-US" altLang="zh-CN" dirty="0"/>
              <a:t>q (</a:t>
            </a:r>
            <a:r>
              <a:rPr lang="zh-CN" altLang="en-US" dirty="0"/>
              <a:t>误差滞后</a:t>
            </a:r>
            <a:r>
              <a:rPr lang="en-US" altLang="zh-CN" dirty="0"/>
              <a:t>),</a:t>
            </a:r>
            <a:r>
              <a:rPr lang="zh-CN" altLang="en-US" dirty="0"/>
              <a:t>设置</a:t>
            </a:r>
            <a:r>
              <a:rPr lang="en-US" altLang="zh-CN" dirty="0"/>
              <a:t>MAX=5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53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9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二、时间序列预测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 dirty="0">
              <a:solidFill>
                <a:schemeClr val="tx1">
                  <a:alpha val="50000"/>
                </a:scheme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FE1B9A-00AC-4177-8C54-AB451FD1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385416"/>
            <a:ext cx="7704856" cy="46792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382E471-3731-4ACC-8DDE-675F5DAE21EF}"/>
              </a:ext>
            </a:extLst>
          </p:cNvPr>
          <p:cNvSpPr txBox="1"/>
          <p:nvPr/>
        </p:nvSpPr>
        <p:spPr>
          <a:xfrm>
            <a:off x="8832304" y="1916832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对测试集后</a:t>
            </a:r>
            <a:r>
              <a:rPr lang="en-US" altLang="zh-CN" dirty="0"/>
              <a:t>20</a:t>
            </a:r>
            <a:r>
              <a:rPr lang="zh-CN" altLang="en-US" dirty="0"/>
              <a:t>天数据进行预测：</a:t>
            </a:r>
            <a:endParaRPr lang="en-US" altLang="zh-CN" dirty="0"/>
          </a:p>
          <a:p>
            <a:r>
              <a:rPr lang="en-US" altLang="zh-CN" dirty="0" err="1"/>
              <a:t>Num_steps</a:t>
            </a:r>
            <a:r>
              <a:rPr lang="en-US" altLang="zh-CN" dirty="0"/>
              <a:t> = 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91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9420350C-7EA9-417E-B3BB-B922A5F47173}" type="slidenum">
              <a:rPr lang="zh-CN" altLang="en-US" smtClean="0"/>
              <a:t>10</a:t>
            </a:fld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2069" y="189889"/>
            <a:ext cx="9300315" cy="4603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三、后续测试思路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6A3AE1BD-7996-487E-B26A-10D88B5799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 dirty="0">
              <a:solidFill>
                <a:schemeClr val="tx1">
                  <a:alpha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C4C0A6-A939-445B-9A64-4ED7BC09B395}"/>
              </a:ext>
            </a:extLst>
          </p:cNvPr>
          <p:cNvSpPr txBox="1"/>
          <p:nvPr/>
        </p:nvSpPr>
        <p:spPr>
          <a:xfrm>
            <a:off x="227988" y="1700808"/>
            <a:ext cx="6336704" cy="115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、训练集调整测试比例，通过交叉验证的方式进一步优化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、增加更多参数，对多类型属性值，在同一表格进行展示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、测试其他领域时间序列样本</a:t>
            </a:r>
          </a:p>
        </p:txBody>
      </p:sp>
    </p:spTree>
    <p:extLst>
      <p:ext uri="{BB962C8B-B14F-4D97-AF65-F5344CB8AC3E}">
        <p14:creationId xmlns:p14="http://schemas.microsoft.com/office/powerpoint/2010/main" val="12648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927648" y="2569840"/>
            <a:ext cx="6912768" cy="769441"/>
          </a:xfrm>
        </p:spPr>
        <p:txBody>
          <a:bodyPr/>
          <a:lstStyle/>
          <a:p>
            <a:r>
              <a:rPr lang="zh-CN" altLang="en-US" sz="4400" dirty="0"/>
              <a:t>感谢老师、同学们指导！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使用-智慧园区平台项目方案汇报">
  <a:themeElements>
    <a:clrScheme name="智慧园区平台项目-方案汇报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方正姚体" panose="02010601030101010101" pitchFamily="2" charset="-122"/>
            <a:ea typeface="方正姚体" panose="02010601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239</Words>
  <Application>Microsoft Office PowerPoint</Application>
  <PresentationFormat>宽屏</PresentationFormat>
  <Paragraphs>61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(使用中文字体)</vt:lpstr>
      <vt:lpstr>方正姚体</vt:lpstr>
      <vt:lpstr>华文楷体</vt:lpstr>
      <vt:lpstr>微软雅黑</vt:lpstr>
      <vt:lpstr>微软雅黑</vt:lpstr>
      <vt:lpstr>Arial</vt:lpstr>
      <vt:lpstr>Calibri</vt:lpstr>
      <vt:lpstr>Verdana</vt:lpstr>
      <vt:lpstr>使用-智慧园区平台项目方案汇报</vt:lpstr>
      <vt:lpstr>学习经验分享</vt:lpstr>
      <vt:lpstr>目录</vt:lpstr>
      <vt:lpstr>一、学习框架</vt:lpstr>
      <vt:lpstr>二、准备工作</vt:lpstr>
      <vt:lpstr>二、准备工作</vt:lpstr>
      <vt:lpstr>二、时间序列预测</vt:lpstr>
      <vt:lpstr>二、时间序列预测</vt:lpstr>
      <vt:lpstr>二、时间序列预测</vt:lpstr>
      <vt:lpstr>二、时间序列预测</vt:lpstr>
      <vt:lpstr>三、后续测试思路</vt:lpstr>
      <vt:lpstr>感谢老师、同学们指导！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智能安全管控系统</dc:title>
  <dc:creator>Administrator</dc:creator>
  <cp:lastModifiedBy>Administrator</cp:lastModifiedBy>
  <cp:revision>323</cp:revision>
  <dcterms:created xsi:type="dcterms:W3CDTF">2023-04-22T00:39:27Z</dcterms:created>
  <dcterms:modified xsi:type="dcterms:W3CDTF">2023-12-03T05:26:34Z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2052-5.1.1.7676</vt:lpwstr>
  </property>
  <property fmtid="{D5CDD505-2E9C-101B-9397-08002B2CF9AE}" pid="3" name="ICV">
    <vt:lpwstr>C2ACD9250C884BDABE5F789E93C88FC8</vt:lpwstr>
  </property>
</Properties>
</file>