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12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63" r:id="rId4"/>
    <p:sldId id="278" r:id="rId5"/>
    <p:sldId id="279" r:id="rId6"/>
    <p:sldId id="280" r:id="rId7"/>
    <p:sldId id="281" r:id="rId8"/>
    <p:sldId id="282" r:id="rId9"/>
    <p:sldId id="284" r:id="rId10"/>
    <p:sldId id="285" r:id="rId11"/>
    <p:sldId id="283" r:id="rId12"/>
    <p:sldId id="262" r:id="rId13"/>
  </p:sldIdLst>
  <p:sldSz cx="12192000" cy="6858000"/>
  <p:notesSz cx="6858000" cy="9144000"/>
  <p:embeddedFontLst>
    <p:embeddedFont>
      <p:font typeface="思源黑体 CN Normal" panose="020B0400000000000000" charset="-122"/>
      <p:regular r:id="rId19"/>
    </p:embeddedFont>
    <p:embeddedFont>
      <p:font typeface="新愚公装甲宋A" charset="-122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2C6EA"/>
    <a:srgbClr val="D6FC3C"/>
    <a:srgbClr val="E6F8FD"/>
    <a:srgbClr val="3CDDFD"/>
    <a:srgbClr val="0FD4F1"/>
    <a:srgbClr val="4DDEF5"/>
    <a:srgbClr val="02BADC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0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61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  <a:ea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  <a:ea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思源黑体 CN Normal" panose="020B0400000000000000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Normal" panose="020B0400000000000000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Normal" panose="020B0400000000000000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Normal" panose="020B0400000000000000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Normal" panose="020B0400000000000000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Normal" panose="020B04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73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70.xml"/><Relationship Id="rId10" Type="http://schemas.openxmlformats.org/officeDocument/2006/relationships/image" Target="../media/image3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7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82.xml"/><Relationship Id="rId14" Type="http://schemas.openxmlformats.org/officeDocument/2006/relationships/image" Target="../media/image13.png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8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9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0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08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16.xml"/><Relationship Id="rId14" Type="http://schemas.openxmlformats.org/officeDocument/2006/relationships/image" Target="../media/image14.png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1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image" Target="../media/image15.png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2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image" Target="../media/image16.png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3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image" Target="../media/image16.png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4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image" Target="../media/image12.sv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58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6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159.xml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29" name="流程图: 终止 28"/>
          <p:cNvSpPr/>
          <p:nvPr>
            <p:custDataLst>
              <p:tags r:id="rId2"/>
            </p:custDataLst>
          </p:nvPr>
        </p:nvSpPr>
        <p:spPr>
          <a:xfrm>
            <a:off x="2282825" y="4754880"/>
            <a:ext cx="2127885" cy="414020"/>
          </a:xfrm>
          <a:prstGeom prst="flowChartTerminator">
            <a:avLst/>
          </a:prstGeom>
          <a:solidFill>
            <a:srgbClr val="0FD4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2395855" y="4816475"/>
            <a:ext cx="1859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>
                <a:solidFill>
                  <a:schemeClr val="bg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演讲人：冯妙贤、王海旭</a:t>
            </a:r>
            <a:endParaRPr lang="zh-CN" altLang="en-US" sz="1200">
              <a:solidFill>
                <a:schemeClr val="bg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52" name="流程图: 终止 51"/>
          <p:cNvSpPr/>
          <p:nvPr>
            <p:custDataLst>
              <p:tags r:id="rId4"/>
            </p:custDataLst>
          </p:nvPr>
        </p:nvSpPr>
        <p:spPr>
          <a:xfrm>
            <a:off x="4606290" y="4754880"/>
            <a:ext cx="1631950" cy="41402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5"/>
            </p:custDataLst>
          </p:nvPr>
        </p:nvSpPr>
        <p:spPr>
          <a:xfrm>
            <a:off x="4702175" y="4816475"/>
            <a:ext cx="14986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</a:rPr>
              <a:t>日期：</a:t>
            </a:r>
            <a:r>
              <a:rPr lang="en-US" altLang="zh-CN" sz="120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</a:rPr>
              <a:t>2023-12-03</a:t>
            </a:r>
            <a:endParaRPr lang="en-US" altLang="zh-CN" sz="120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</a:endParaRPr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 rot="14820000">
            <a:off x="2537460" y="1210310"/>
            <a:ext cx="4725670" cy="4867275"/>
          </a:xfrm>
          <a:prstGeom prst="ellipse">
            <a:avLst/>
          </a:prstGeom>
          <a:noFill/>
          <a:ln>
            <a:gradFill>
              <a:gsLst>
                <a:gs pos="53000">
                  <a:schemeClr val="accent1">
                    <a:lumMod val="5000"/>
                    <a:lumOff val="95000"/>
                    <a:alpha val="0"/>
                  </a:schemeClr>
                </a:gs>
                <a:gs pos="99000">
                  <a:srgbClr val="3CDDFD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2139950" y="2179320"/>
            <a:ext cx="71367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</a:rPr>
              <a:t>CNN</a:t>
            </a:r>
            <a:r>
              <a:rPr lang="zh-CN" altLang="en-US" sz="400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</a:rPr>
              <a:t>在毫米波雷达人体检测的应用</a:t>
            </a:r>
            <a:endParaRPr lang="zh-CN" altLang="en-US" sz="400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</a:endParaRPr>
          </a:p>
        </p:txBody>
      </p:sp>
      <p:pic>
        <p:nvPicPr>
          <p:cNvPr id="15" name="图片 14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7950" y="5556250"/>
            <a:ext cx="358775" cy="358775"/>
          </a:xfrm>
          <a:prstGeom prst="rect">
            <a:avLst/>
          </a:prstGeom>
        </p:spPr>
      </p:pic>
      <p:pic>
        <p:nvPicPr>
          <p:cNvPr id="5" name="图片 4" descr="十字星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06290" y="1057275"/>
            <a:ext cx="406400" cy="4064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9812020" y="875665"/>
            <a:ext cx="15525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1600">
                <a:solidFill>
                  <a:schemeClr val="tx1"/>
                </a:solidFill>
                <a:latin typeface="新愚公装甲宋A" charset="-122"/>
                <a:ea typeface="新愚公装甲宋A" charset="-122"/>
              </a:rPr>
              <a:t>2023.12.03</a:t>
            </a:r>
            <a:endParaRPr lang="zh-CN" altLang="en-US" sz="1600">
              <a:solidFill>
                <a:schemeClr val="tx1"/>
              </a:solidFill>
              <a:latin typeface="新愚公装甲宋A" charset="-122"/>
              <a:ea typeface="新愚公装甲宋A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635" y="6661150"/>
            <a:ext cx="12193270" cy="204470"/>
          </a:xfrm>
          <a:prstGeom prst="rect">
            <a:avLst/>
          </a:prstGeom>
          <a:gradFill>
            <a:gsLst>
              <a:gs pos="0">
                <a:srgbClr val="3CDDFD"/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16430" y="1903730"/>
            <a:ext cx="76200" cy="3297555"/>
          </a:xfrm>
          <a:prstGeom prst="rect">
            <a:avLst/>
          </a:prstGeom>
          <a:gradFill>
            <a:gsLst>
              <a:gs pos="0">
                <a:srgbClr val="3CDDFD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49475" y="3319145"/>
            <a:ext cx="3989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40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pic>
        <p:nvPicPr>
          <p:cNvPr id="13" name="图片 12" descr="十字星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42930" y="5556250"/>
            <a:ext cx="358775" cy="358775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背景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521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01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572260" y="1786890"/>
            <a:ext cx="86277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毫米波雷达使用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 FMCW</a:t>
            </a: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可以识别出运动的问题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     </a:t>
            </a: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其基本算法过程如下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572260" y="3496310"/>
            <a:ext cx="7781925" cy="80962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背景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521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01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572260" y="1786890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存在以下问题：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3"/>
            </p:custDataLst>
          </p:nvPr>
        </p:nvSpPr>
        <p:spPr>
          <a:xfrm>
            <a:off x="1572260" y="2691765"/>
            <a:ext cx="862774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因为其是利用的是发出和接收的无线电波的差异来检测运动物体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所以其只知道探测区域中有运动的物体，但是无法区分任何非人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(</a:t>
            </a: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例如：工作中的风扇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)</a:t>
            </a:r>
            <a:endParaRPr lang="en-US" altLang="zh-CN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方案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02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572260" y="1470025"/>
            <a:ext cx="862774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该项目的要求主要是：对毫米波雷达判断出的物体进行分类，依据的特征是人和非人的一些不同点：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例如人有心跳、呼吸，这些都会在接收到的数据上有所反馈，同时人运动也会有一个范围，最终会影响接收的信号的频率上。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方案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02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572260" y="1470025"/>
            <a:ext cx="86277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同时项目使用的是单片机，其资源有限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所以选取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 CNN </a:t>
            </a: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对特征进行分类，得出人与非人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方案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02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572260" y="1470025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最终的方案如下：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414145" y="3028950"/>
            <a:ext cx="9363075" cy="8001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Lower frequency border of the occupied bandwidth</a:t>
            </a:r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实现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03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572260" y="1470025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微多普勒输出的结果是一个一维数据：</a:t>
            </a:r>
            <a:endParaRPr lang="en-US" altLang="zh-CN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  <p:pic>
        <p:nvPicPr>
          <p:cNvPr id="4" name="pi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6455" y="2605595"/>
            <a:ext cx="3690000" cy="500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1612265" y="3406140"/>
            <a:ext cx="862774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然后从这个数组里面提出特征值：</a:t>
            </a:r>
            <a:endParaRPr lang="zh-CN" altLang="en-US" sz="16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1.  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运动物体的带宽的下限值</a:t>
            </a:r>
            <a:endParaRPr lang="zh-CN" altLang="en-US" sz="16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2.  </a:t>
            </a:r>
            <a:r>
              <a:rPr lang="zh-CN" altLang="en-US" sz="1600" kern="0" noProof="0" dirty="0">
                <a:ln>
                  <a:noFill/>
                </a:ln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运动物体的带宽的上限值</a:t>
            </a:r>
            <a:endParaRPr lang="zh-CN" altLang="en-US" sz="1600" kern="0" noProof="0" dirty="0">
              <a:ln>
                <a:noFill/>
              </a:ln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3.  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运动物体的带宽功率</a:t>
            </a:r>
            <a:endParaRPr lang="zh-CN" altLang="en-US" sz="16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4.  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功率谱密度估计值的平均频率</a:t>
            </a:r>
            <a:endParaRPr lang="zh-CN" altLang="en-US" sz="16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5. 功率谱密度估计的中位数频率</a:t>
            </a: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buNone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6. 功率谱密度估计的谱熵</a:t>
            </a: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Lower frequency border of the occupied bandwidth</a:t>
            </a:r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实现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03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pic>
        <p:nvPicPr>
          <p:cNvPr id="2" name="pi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000" y="2419000"/>
            <a:ext cx="3220000" cy="20200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1572260" y="1470025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读取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30</a:t>
            </a: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帧的数据的特征值组成一个二维数组：</a:t>
            </a:r>
            <a:endParaRPr lang="en-US" altLang="zh-CN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Lower frequency border of the occupied bandwidth</a:t>
            </a:r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实现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03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pic>
        <p:nvPicPr>
          <p:cNvPr id="2" name="pi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000" y="2419000"/>
            <a:ext cx="3220000" cy="20200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1572260" y="1470025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使用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cnn</a:t>
            </a: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对该数组进行分类处理</a:t>
            </a:r>
            <a:endParaRPr lang="zh-CN" altLang="en-US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5"/>
            </p:custDataLst>
          </p:nvPr>
        </p:nvSpPr>
        <p:spPr>
          <a:xfrm>
            <a:off x="1399540" y="4794885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最终得出人和非人。</a:t>
            </a:r>
            <a:endParaRPr lang="zh-CN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d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82880" y="184785"/>
            <a:ext cx="11825605" cy="6488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17780"/>
            <a:ext cx="1400175" cy="1424305"/>
          </a:xfrm>
          <a:prstGeom prst="rect">
            <a:avLst/>
          </a:prstGeom>
        </p:spPr>
      </p:pic>
      <p:pic>
        <p:nvPicPr>
          <p:cNvPr id="16" name="图片 15" descr="fff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105" y="5464810"/>
            <a:ext cx="1318895" cy="14008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271395" y="67818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  <a:sym typeface="+mn-ea"/>
              </a:rPr>
              <a:t>- 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结果</a:t>
            </a:r>
            <a:r>
              <a:rPr lang="zh-CN" altLang="en-US" sz="1600">
                <a:latin typeface="新愚公装甲宋A" charset="-122"/>
                <a:ea typeface="新愚公装甲宋A" charset="-122"/>
                <a:sym typeface="+mn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907540" y="666750"/>
            <a:ext cx="4610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04</a:t>
            </a:r>
            <a:endParaRPr lang="en-US" altLang="zh-CN">
              <a:solidFill>
                <a:schemeClr val="tx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25" name="对角圆角矩形 24"/>
          <p:cNvSpPr/>
          <p:nvPr>
            <p:custDataLst>
              <p:tags r:id="rId7"/>
            </p:custDataLst>
          </p:nvPr>
        </p:nvSpPr>
        <p:spPr>
          <a:xfrm>
            <a:off x="1742440" y="628650"/>
            <a:ext cx="8995410" cy="443230"/>
          </a:xfrm>
          <a:prstGeom prst="round2Diag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1445" y="735330"/>
            <a:ext cx="219075" cy="2190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120505" y="661670"/>
            <a:ext cx="1534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cap="all">
                <a:solidFill>
                  <a:srgbClr val="02C6EA"/>
                </a:solidFill>
                <a:uFillTx/>
                <a:latin typeface="新愚公装甲宋A" charset="-122"/>
                <a:ea typeface="新愚公装甲宋A" charset="-122"/>
              </a:rPr>
              <a:t>report</a:t>
            </a:r>
            <a:endParaRPr lang="zh-CN" altLang="en-US" sz="1600" cap="all">
              <a:solidFill>
                <a:srgbClr val="02C6EA"/>
              </a:solidFill>
              <a:uFillTx/>
              <a:latin typeface="新愚公装甲宋A" charset="-122"/>
              <a:ea typeface="新愚公装甲宋A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1572260" y="1470025"/>
            <a:ext cx="86277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50000"/>
              </a:lnSpc>
              <a:buNone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待实现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Arial" panose="020B0604020202020204" pitchFamily="34" charset="0"/>
              </a:rPr>
              <a:t>...</a:t>
            </a:r>
            <a:endParaRPr lang="en-US" altLang="zh-CN" sz="2800" kern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2395855" y="4816475"/>
            <a:ext cx="1097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>
                <a:solidFill>
                  <a:schemeClr val="bg1"/>
                </a:solidFill>
                <a:latin typeface="新愚公装甲宋A" charset="-122"/>
                <a:ea typeface="新愚公装甲宋A" charset="-122"/>
                <a:cs typeface="思源黑体 CN Normal" panose="020B0400000000000000" charset="-122"/>
              </a:rPr>
              <a:t>演讲：稻壳儿</a:t>
            </a:r>
            <a:endParaRPr lang="zh-CN" altLang="en-US" sz="1200">
              <a:solidFill>
                <a:schemeClr val="bg1"/>
              </a:solidFill>
              <a:latin typeface="新愚公装甲宋A" charset="-122"/>
              <a:ea typeface="新愚公装甲宋A" charset="-122"/>
              <a:cs typeface="思源黑体 CN Normal" panose="020B0400000000000000" charset="-122"/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 rot="14820000">
            <a:off x="2537460" y="1210310"/>
            <a:ext cx="4725670" cy="4867275"/>
          </a:xfrm>
          <a:prstGeom prst="ellipse">
            <a:avLst/>
          </a:prstGeom>
          <a:noFill/>
          <a:ln>
            <a:gradFill>
              <a:gsLst>
                <a:gs pos="53000">
                  <a:schemeClr val="accent1">
                    <a:lumMod val="5000"/>
                    <a:lumOff val="95000"/>
                    <a:alpha val="0"/>
                  </a:schemeClr>
                </a:gs>
                <a:gs pos="99000">
                  <a:srgbClr val="3CDDFD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139950" y="2179320"/>
            <a:ext cx="71367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800">
                <a:solidFill>
                  <a:schemeClr val="tx1"/>
                </a:solidFill>
                <a:latin typeface="新愚公装甲宋A" charset="-122"/>
                <a:ea typeface="新愚公装甲宋A" charset="-122"/>
                <a:cs typeface="新愚公装甲宋A" charset="-122"/>
              </a:rPr>
              <a:t>谢谢您的观看</a:t>
            </a:r>
            <a:endParaRPr lang="zh-CN" altLang="en-US" sz="8800">
              <a:solidFill>
                <a:schemeClr val="tx1"/>
              </a:solidFill>
              <a:latin typeface="新愚公装甲宋A" charset="-122"/>
              <a:ea typeface="新愚公装甲宋A" charset="-122"/>
              <a:cs typeface="新愚公装甲宋A" charset="-122"/>
            </a:endParaRPr>
          </a:p>
        </p:txBody>
      </p:sp>
      <p:pic>
        <p:nvPicPr>
          <p:cNvPr id="15" name="图片 14" descr="十字星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7950" y="5556250"/>
            <a:ext cx="358775" cy="358775"/>
          </a:xfrm>
          <a:prstGeom prst="rect">
            <a:avLst/>
          </a:prstGeom>
        </p:spPr>
      </p:pic>
      <p:pic>
        <p:nvPicPr>
          <p:cNvPr id="5" name="图片 4" descr="十字星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6290" y="1057275"/>
            <a:ext cx="406400" cy="4064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635" y="6661150"/>
            <a:ext cx="12193270" cy="204470"/>
          </a:xfrm>
          <a:prstGeom prst="rect">
            <a:avLst/>
          </a:prstGeom>
          <a:gradFill>
            <a:gsLst>
              <a:gs pos="0">
                <a:srgbClr val="3CDDFD"/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16430" y="1903730"/>
            <a:ext cx="76200" cy="3297555"/>
          </a:xfrm>
          <a:prstGeom prst="rect">
            <a:avLst/>
          </a:prstGeom>
          <a:gradFill>
            <a:gsLst>
              <a:gs pos="0">
                <a:srgbClr val="3CDDFD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十字星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42930" y="5556250"/>
            <a:ext cx="358775" cy="35877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1.xml><?xml version="1.0" encoding="utf-8"?>
<p:tagLst xmlns:p="http://schemas.openxmlformats.org/presentationml/2006/main">
  <p:tag name="COMMONDATA" val="eyJoZGlkIjoiNWYyMjE5NWNmYjEyNGM4NjA3YTQ3OTk5MDAwZDg4YTgifQ=="/>
  <p:tag name="KSO_WPP_MARK_KEY" val="c2dfe4de-41d1-4ae4-b61c-19aaee90b046"/>
  <p:tag name="commondata" val="eyJjb3VudCI6MSwiaGRpZCI6IjllNjk2ZDI3NTNlOGIwNGZlMTc0YjY4YTY0ZWM1YzY1IiwidXNlckNvdW50Ijox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 CN Normal"/>
        <a:cs typeface=""/>
      </a:majorFont>
      <a:minorFont>
        <a:latin typeface="Ari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WPS 演示</Application>
  <PresentationFormat>宽屏</PresentationFormat>
  <Paragraphs>108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思源黑体 CN Normal</vt:lpstr>
      <vt:lpstr>Wingdings</vt:lpstr>
      <vt:lpstr>新愚公装甲宋A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曙光</cp:lastModifiedBy>
  <cp:revision>234</cp:revision>
  <dcterms:created xsi:type="dcterms:W3CDTF">2019-06-19T02:08:00Z</dcterms:created>
  <dcterms:modified xsi:type="dcterms:W3CDTF">2023-12-03T06:19:12Z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B27E8B8C10B3452F8823A597B345E850_11</vt:lpwstr>
  </property>
  <property fmtid="{D5CDD505-2E9C-101B-9397-08002B2CF9AE}" pid="4" name="KSOTemplateUUID">
    <vt:lpwstr>v1.0_mb_Gv9DpCtdyMhd+2NhlPpbQQ==</vt:lpwstr>
  </property>
</Properties>
</file>