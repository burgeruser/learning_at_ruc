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308" r:id="rId5"/>
    <p:sldId id="309" r:id="rId6"/>
    <p:sldId id="314" r:id="rId7"/>
    <p:sldId id="310" r:id="rId8"/>
    <p:sldId id="315" r:id="rId9"/>
    <p:sldId id="311" r:id="rId10"/>
    <p:sldId id="312" r:id="rId11"/>
    <p:sldId id="316" r:id="rId12"/>
    <p:sldId id="258" r:id="rId13"/>
    <p:sldId id="317" r:id="rId14"/>
  </p:sldIdLst>
  <p:sldSz cx="12192000" cy="6858000"/>
  <p:notesSz cx="7559675" cy="10691813"/>
  <p:custDataLst>
    <p:tags r:id="rId15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zh-CN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zh-CN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zh-CN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zh-CN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zh-CN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zh-CN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zh-CN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zh-CN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zh-CN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zh-CN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zh-CN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zh-CN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zh-CN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zh-CN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zh-CN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zh-CN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zh-CN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zh-CN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zh-CN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zh-CN" sz="1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28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/>
          <a:lstStyle/>
          <a:p>
            <a:pPr algn="ctr">
              <a:lnSpc>
                <a:spcPct val="90000"/>
              </a:lnSpc>
            </a:pPr>
            <a:r>
              <a:rPr lang="zh-CN" sz="60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单击此处编辑母版标题样式</a:t>
            </a:r>
            <a:endParaRPr lang="zh-CN" sz="60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单击鼠标编辑大纲文字格式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2000" b="0" strike="noStrike" spc="-1">
                <a:solidFill>
                  <a:srgbClr val="000000"/>
                </a:solidFill>
                <a:latin typeface="等线" panose="02010600030101010101" charset="-122"/>
              </a:rPr>
              <a:t>第二个大纲级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第三大纲级别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第四大纲级别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等线" panose="02010600030101010101" charset="-122"/>
              </a:rPr>
              <a:t>第五大纲级别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等线" panose="02010600030101010101" charset="-122"/>
              </a:rPr>
              <a:t>第六大纲级别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等线" panose="02010600030101010101" charset="-122"/>
              </a:rPr>
              <a:t>第七大纲级别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zh-CN" sz="4400" b="0" strike="noStrike" spc="-1">
                <a:solidFill>
                  <a:srgbClr val="000000"/>
                </a:solidFill>
                <a:latin typeface="等线 Light" panose="02010600030101010101" charset="-122"/>
              </a:rPr>
              <a:t>单击此处编辑母版标题样式</a:t>
            </a:r>
            <a:endParaRPr lang="zh-CN" sz="4400" b="0" strike="noStrike" spc="-1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/>
          <a:lstStyle/>
          <a:p>
            <a:pPr marL="228600" indent="-227965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00000"/>
                </a:solidFill>
                <a:latin typeface="等线" panose="02010600030101010101" charset="-122"/>
              </a:rPr>
              <a:t>编辑母版文本样式</a:t>
            </a:r>
          </a:p>
          <a:p>
            <a:pPr marL="685800" lvl="1" indent="-227965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400" b="0" strike="noStrike" spc="-1">
                <a:solidFill>
                  <a:srgbClr val="000000"/>
                </a:solidFill>
                <a:latin typeface="等线" panose="02010600030101010101" charset="-122"/>
              </a:rPr>
              <a:t>第二级</a:t>
            </a:r>
          </a:p>
          <a:p>
            <a:pPr marL="1143000" lvl="2" indent="-227965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2000" b="0" strike="noStrike" spc="-1">
                <a:solidFill>
                  <a:srgbClr val="000000"/>
                </a:solidFill>
                <a:latin typeface="等线" panose="02010600030101010101" charset="-122"/>
              </a:rPr>
              <a:t>第三级</a:t>
            </a:r>
          </a:p>
          <a:p>
            <a:pPr marL="1600200" lvl="3" indent="-227965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第四级</a:t>
            </a:r>
          </a:p>
          <a:p>
            <a:pPr marL="2057400" lvl="4" indent="-227965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zh-CN" sz="1800" b="0" strike="noStrike" spc="-1">
                <a:solidFill>
                  <a:srgbClr val="000000"/>
                </a:solidFill>
                <a:latin typeface="等线" panose="02010600030101010101" charset="-122"/>
              </a:rPr>
              <a:t>第五级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arxiv.org/pdf/1706.03762.pdf" TargetMode="External"/><Relationship Id="rId4" Type="http://schemas.openxmlformats.org/officeDocument/2006/relationships/hyperlink" Target="https://pytorch.org/examples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3.amazonaws.com/research.metamind.io/wikitext/wikitext-2-raw-v1.zip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ithub.com/info-ruc/tm23projects/pull/1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blog.gregbrockman.com/how-i-became-a-machine-learning-practitioner" TargetMode="Externa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fo-ruc/tm23projects/pull/1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1120739" y="1238340"/>
            <a:ext cx="10448012" cy="16549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wikitext-2</a:t>
            </a:r>
            <a:r>
              <a:rPr lang="zh-CN" altLang="en-US" sz="4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4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dataset</a:t>
            </a:r>
            <a:r>
              <a:rPr lang="zh-CN" altLang="en-US" sz="4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4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training</a:t>
            </a:r>
            <a:r>
              <a:rPr lang="zh-CN" altLang="en-US" sz="4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4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via</a:t>
            </a:r>
            <a:r>
              <a:rPr lang="zh-CN" altLang="en-US" sz="4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4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RNN/LSTM</a:t>
            </a:r>
            <a:r>
              <a:rPr lang="zh-CN" altLang="en-US" sz="4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4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&amp;</a:t>
            </a:r>
            <a:r>
              <a:rPr lang="zh-CN" altLang="en-US" sz="4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4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Transformer</a:t>
            </a:r>
            <a:endParaRPr lang="en-US" sz="4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sz="4400" spc="-1" dirty="0">
              <a:solidFill>
                <a:srgbClr val="000000"/>
              </a:solidFill>
              <a:latin typeface="等线" panose="02010600030101010101" charset="-122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sz="4400" b="0" strike="noStrike" spc="-1" dirty="0">
              <a:solidFill>
                <a:srgbClr val="000000"/>
              </a:solidFill>
              <a:latin typeface="等线" panose="02010600030101010101" charset="-122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7D4E45-AD7F-401F-3755-162AE1263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910917"/>
              </p:ext>
            </p:extLst>
          </p:nvPr>
        </p:nvGraphicFramePr>
        <p:xfrm>
          <a:off x="3429876" y="4129929"/>
          <a:ext cx="51780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966">
                  <a:extLst>
                    <a:ext uri="{9D8B030D-6E8A-4147-A177-3AD203B41FA5}">
                      <a16:colId xmlns:a16="http://schemas.microsoft.com/office/drawing/2014/main" val="2616724865"/>
                    </a:ext>
                  </a:extLst>
                </a:gridCol>
                <a:gridCol w="3689131">
                  <a:extLst>
                    <a:ext uri="{9D8B030D-6E8A-4147-A177-3AD203B41FA5}">
                      <a16:colId xmlns:a16="http://schemas.microsoft.com/office/drawing/2014/main" val="1515078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姓名</a:t>
                      </a:r>
                      <a:endParaRPr lang="en-C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N" b="0" dirty="0">
                          <a:solidFill>
                            <a:schemeClr val="tx1"/>
                          </a:solidFill>
                        </a:rPr>
                        <a:t>宋志麒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720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N" b="1" dirty="0"/>
                        <a:t>学号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221017000226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6191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98A81B-4318-49B2-B590-FCA438EDA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384810"/>
              </p:ext>
            </p:extLst>
          </p:nvPr>
        </p:nvGraphicFramePr>
        <p:xfrm>
          <a:off x="444936" y="435887"/>
          <a:ext cx="1119001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1726">
                  <a:extLst>
                    <a:ext uri="{9D8B030D-6E8A-4147-A177-3AD203B41FA5}">
                      <a16:colId xmlns:a16="http://schemas.microsoft.com/office/drawing/2014/main" val="2986726536"/>
                    </a:ext>
                  </a:extLst>
                </a:gridCol>
                <a:gridCol w="1618593">
                  <a:extLst>
                    <a:ext uri="{9D8B030D-6E8A-4147-A177-3AD203B41FA5}">
                      <a16:colId xmlns:a16="http://schemas.microsoft.com/office/drawing/2014/main" val="2529961370"/>
                    </a:ext>
                  </a:extLst>
                </a:gridCol>
                <a:gridCol w="1723697">
                  <a:extLst>
                    <a:ext uri="{9D8B030D-6E8A-4147-A177-3AD203B41FA5}">
                      <a16:colId xmlns:a16="http://schemas.microsoft.com/office/drawing/2014/main" val="2528381990"/>
                    </a:ext>
                  </a:extLst>
                </a:gridCol>
                <a:gridCol w="1797269">
                  <a:extLst>
                    <a:ext uri="{9D8B030D-6E8A-4147-A177-3AD203B41FA5}">
                      <a16:colId xmlns:a16="http://schemas.microsoft.com/office/drawing/2014/main" val="2607007690"/>
                    </a:ext>
                  </a:extLst>
                </a:gridCol>
                <a:gridCol w="1902372">
                  <a:extLst>
                    <a:ext uri="{9D8B030D-6E8A-4147-A177-3AD203B41FA5}">
                      <a16:colId xmlns:a16="http://schemas.microsoft.com/office/drawing/2014/main" val="427305130"/>
                    </a:ext>
                  </a:extLst>
                </a:gridCol>
                <a:gridCol w="2396359">
                  <a:extLst>
                    <a:ext uri="{9D8B030D-6E8A-4147-A177-3AD203B41FA5}">
                      <a16:colId xmlns:a16="http://schemas.microsoft.com/office/drawing/2014/main" val="312177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Background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Data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set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DL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Model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Training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Save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Model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Generate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Text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2468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6261EFB-012E-16E3-F197-C70200222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046" y="1413471"/>
            <a:ext cx="3620815" cy="45818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0D9A1E-2DAC-9064-A3E9-BBE31D831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47" y="1413471"/>
            <a:ext cx="5428553" cy="27546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C2731C-209E-E7A9-513F-D5E14B33D0AA}"/>
              </a:ext>
            </a:extLst>
          </p:cNvPr>
          <p:cNvSpPr txBox="1"/>
          <p:nvPr/>
        </p:nvSpPr>
        <p:spPr>
          <a:xfrm>
            <a:off x="609600" y="4321144"/>
            <a:ext cx="680544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llustrates the process of training a multi-layer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RNN/LSTM,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Transformer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DL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endParaRPr lang="en-US" altLang="zh-CN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Generate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new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base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on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trained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Original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version</a:t>
            </a:r>
            <a:r>
              <a:rPr lang="zh-CN" alt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from</a:t>
            </a:r>
            <a:r>
              <a:rPr lang="zh-CN" alt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PrTorch</a:t>
            </a:r>
            <a:r>
              <a:rPr lang="zh-CN" alt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Examples(</a:t>
            </a:r>
            <a:r>
              <a:rPr lang="en-US" altLang="zh-CN" sz="1400" dirty="0">
                <a:solidFill>
                  <a:srgbClr val="000000"/>
                </a:solidFill>
                <a:latin typeface="Menlo" panose="020B0609030804020204" pitchFamily="49" charset="0"/>
                <a:hlinkClick r:id="rId4"/>
              </a:rPr>
              <a:t>Word-Level</a:t>
            </a:r>
            <a:r>
              <a:rPr lang="zh-CN" altLang="en-US" sz="1400" dirty="0">
                <a:solidFill>
                  <a:srgbClr val="000000"/>
                </a:solidFill>
                <a:latin typeface="Menlo" panose="020B0609030804020204" pitchFamily="49" charset="0"/>
                <a:hlinkClick r:id="rId4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Menlo" panose="020B0609030804020204" pitchFamily="49" charset="0"/>
                <a:hlinkClick r:id="rId4"/>
              </a:rPr>
              <a:t>Modeling</a:t>
            </a:r>
            <a:r>
              <a:rPr lang="zh-CN" altLang="en-US" sz="1400" dirty="0">
                <a:solidFill>
                  <a:srgbClr val="000000"/>
                </a:solidFill>
                <a:latin typeface="Menlo" panose="020B0609030804020204" pitchFamily="49" charset="0"/>
                <a:hlinkClick r:id="rId4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Menlo" panose="020B0609030804020204" pitchFamily="49" charset="0"/>
                <a:hlinkClick r:id="rId4"/>
              </a:rPr>
              <a:t>using</a:t>
            </a:r>
            <a:r>
              <a:rPr lang="zh-CN" altLang="en-US" sz="1400" dirty="0">
                <a:solidFill>
                  <a:srgbClr val="000000"/>
                </a:solidFill>
                <a:latin typeface="Menlo" panose="020B0609030804020204" pitchFamily="49" charset="0"/>
                <a:hlinkClick r:id="rId4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Menlo" panose="020B0609030804020204" pitchFamily="49" charset="0"/>
                <a:hlinkClick r:id="rId4"/>
              </a:rPr>
              <a:t>RNN</a:t>
            </a:r>
            <a:r>
              <a:rPr lang="zh-CN" altLang="en-US" sz="1400" dirty="0">
                <a:solidFill>
                  <a:srgbClr val="000000"/>
                </a:solidFill>
                <a:latin typeface="Menlo" panose="020B0609030804020204" pitchFamily="49" charset="0"/>
                <a:hlinkClick r:id="rId4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Menlo" panose="020B0609030804020204" pitchFamily="49" charset="0"/>
                <a:hlinkClick r:id="rId4"/>
              </a:rPr>
              <a:t>and</a:t>
            </a:r>
            <a:r>
              <a:rPr lang="zh-CN" altLang="en-US" sz="1400" dirty="0">
                <a:solidFill>
                  <a:srgbClr val="000000"/>
                </a:solidFill>
                <a:latin typeface="Menlo" panose="020B0609030804020204" pitchFamily="49" charset="0"/>
                <a:hlinkClick r:id="rId4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Menlo" panose="020B0609030804020204" pitchFamily="49" charset="0"/>
                <a:hlinkClick r:id="rId4"/>
              </a:rPr>
              <a:t>Transformer</a:t>
            </a:r>
            <a:r>
              <a:rPr lang="en-US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US" altLang="zh-CN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altLang="zh-CN" sz="1400" b="1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Limited</a:t>
            </a:r>
            <a:r>
              <a:rPr lang="zh-CN" altLang="en-US" sz="1400" b="1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1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knowledge</a:t>
            </a:r>
            <a:r>
              <a:rPr lang="zh-CN" altLang="en-US" sz="1400" b="1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1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of</a:t>
            </a:r>
            <a:r>
              <a:rPr lang="zh-CN" altLang="en-US" sz="1400" b="1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1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AI/ML/DL/NPL</a:t>
            </a:r>
            <a:endParaRPr lang="en-US" sz="1400" b="1" dirty="0">
              <a:solidFill>
                <a:srgbClr val="C00000"/>
              </a:solidFill>
              <a:effectLst/>
              <a:latin typeface="Menlo" panose="020B0609030804020204" pitchFamily="49" charset="0"/>
            </a:endParaRPr>
          </a:p>
          <a:p>
            <a:pPr marL="285750" indent="-285750">
              <a:buFont typeface="Wingdings" pitchFamily="2" charset="2"/>
              <a:buChar char="q"/>
            </a:pPr>
            <a:endParaRPr lang="en-C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B17369-2C24-D9AF-08F9-5B112CBFBB03}"/>
              </a:ext>
            </a:extLst>
          </p:cNvPr>
          <p:cNvSpPr txBox="1"/>
          <p:nvPr/>
        </p:nvSpPr>
        <p:spPr>
          <a:xfrm>
            <a:off x="7662042" y="1151861"/>
            <a:ext cx="34894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400" dirty="0">
                <a:latin typeface="Abadi" panose="020B0604020104020204" pitchFamily="34" charset="0"/>
                <a:hlinkClick r:id="rId5"/>
              </a:rPr>
              <a:t>https://arxiv.org/pdf/1706.03762.pdf</a:t>
            </a:r>
            <a:endParaRPr lang="en-CN" sz="1400" dirty="0">
              <a:latin typeface="Abadi" panose="020B0604020104020204" pitchFamily="34" charset="0"/>
            </a:endParaRPr>
          </a:p>
          <a:p>
            <a:endParaRPr lang="en-CN" sz="1400" dirty="0">
              <a:latin typeface="Abadi" panose="020B0604020104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98A81B-4318-49B2-B590-FCA438EDA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912179"/>
              </p:ext>
            </p:extLst>
          </p:nvPr>
        </p:nvGraphicFramePr>
        <p:xfrm>
          <a:off x="444936" y="435887"/>
          <a:ext cx="1119001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1726">
                  <a:extLst>
                    <a:ext uri="{9D8B030D-6E8A-4147-A177-3AD203B41FA5}">
                      <a16:colId xmlns:a16="http://schemas.microsoft.com/office/drawing/2014/main" val="2986726536"/>
                    </a:ext>
                  </a:extLst>
                </a:gridCol>
                <a:gridCol w="1618593">
                  <a:extLst>
                    <a:ext uri="{9D8B030D-6E8A-4147-A177-3AD203B41FA5}">
                      <a16:colId xmlns:a16="http://schemas.microsoft.com/office/drawing/2014/main" val="2529961370"/>
                    </a:ext>
                  </a:extLst>
                </a:gridCol>
                <a:gridCol w="1723697">
                  <a:extLst>
                    <a:ext uri="{9D8B030D-6E8A-4147-A177-3AD203B41FA5}">
                      <a16:colId xmlns:a16="http://schemas.microsoft.com/office/drawing/2014/main" val="2528381990"/>
                    </a:ext>
                  </a:extLst>
                </a:gridCol>
                <a:gridCol w="1797269">
                  <a:extLst>
                    <a:ext uri="{9D8B030D-6E8A-4147-A177-3AD203B41FA5}">
                      <a16:colId xmlns:a16="http://schemas.microsoft.com/office/drawing/2014/main" val="2607007690"/>
                    </a:ext>
                  </a:extLst>
                </a:gridCol>
                <a:gridCol w="1902372">
                  <a:extLst>
                    <a:ext uri="{9D8B030D-6E8A-4147-A177-3AD203B41FA5}">
                      <a16:colId xmlns:a16="http://schemas.microsoft.com/office/drawing/2014/main" val="427305130"/>
                    </a:ext>
                  </a:extLst>
                </a:gridCol>
                <a:gridCol w="2396359">
                  <a:extLst>
                    <a:ext uri="{9D8B030D-6E8A-4147-A177-3AD203B41FA5}">
                      <a16:colId xmlns:a16="http://schemas.microsoft.com/office/drawing/2014/main" val="312177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Background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Data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set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DL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Model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Training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Save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Model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Generate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Text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24685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0F9F66B8-5BA9-9DD4-66DF-AF3C0FD7E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212" y="1198398"/>
            <a:ext cx="5239633" cy="317390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C633B9A-CE8C-6B9A-4D08-328B6FD4F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592370"/>
              </p:ext>
            </p:extLst>
          </p:nvPr>
        </p:nvGraphicFramePr>
        <p:xfrm>
          <a:off x="752427" y="4473509"/>
          <a:ext cx="5942663" cy="2122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2663">
                  <a:extLst>
                    <a:ext uri="{9D8B030D-6E8A-4147-A177-3AD203B41FA5}">
                      <a16:colId xmlns:a16="http://schemas.microsoft.com/office/drawing/2014/main" val="421679409"/>
                    </a:ext>
                  </a:extLst>
                </a:gridCol>
              </a:tblGrid>
              <a:tr h="1898516">
                <a:tc>
                  <a:txBody>
                    <a:bodyPr/>
                    <a:lstStyle/>
                    <a:p>
                      <a:pPr marL="228600" marR="0" lvl="0" indent="-228600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Wikitext-2 dataset is a collection of text data extracted from Wikipedia. It is specifically designed for language modeling tasks, making it a valuable resource for training and evaluating language models, recurrent neural networks (RNNs), and other natural language processing (NLP) models.</a:t>
                      </a:r>
                    </a:p>
                    <a:p>
                      <a:pPr marL="228600" marR="0" lvl="0" indent="-228600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Wikitext-2 is a sequel to the original </a:t>
                      </a:r>
                      <a:r>
                        <a:rPr lang="en-US" sz="1000" b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Wikitext</a:t>
                      </a:r>
                      <a:r>
                        <a:rPr lang="en-US" sz="1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dataset and offers a larger and more diverse set of articles. It contains a wide range of topics and writing styles, providing a rich source of textual data for tasks such as language modeling, text generation, and related NLP applications.</a:t>
                      </a:r>
                    </a:p>
                    <a:p>
                      <a:pPr marL="228600" marR="0" lvl="0" indent="-228600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Download:</a:t>
                      </a:r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Menlo" panose="020B0609030804020204" pitchFamily="49" charset="0"/>
                          <a:hlinkClick r:id="rId3"/>
                        </a:rPr>
                        <a:t>https://s3.amazonaws.com/research.metamind.io/wikitext/wikitext-2-raw-v1.zip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93488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74305E20-00D4-17C7-70B5-A13F70DAF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6221" y="1065517"/>
            <a:ext cx="4298731" cy="553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89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98A81B-4318-49B2-B590-FCA438EDA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868626"/>
              </p:ext>
            </p:extLst>
          </p:nvPr>
        </p:nvGraphicFramePr>
        <p:xfrm>
          <a:off x="444936" y="435887"/>
          <a:ext cx="1119001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1726">
                  <a:extLst>
                    <a:ext uri="{9D8B030D-6E8A-4147-A177-3AD203B41FA5}">
                      <a16:colId xmlns:a16="http://schemas.microsoft.com/office/drawing/2014/main" val="2986726536"/>
                    </a:ext>
                  </a:extLst>
                </a:gridCol>
                <a:gridCol w="1618593">
                  <a:extLst>
                    <a:ext uri="{9D8B030D-6E8A-4147-A177-3AD203B41FA5}">
                      <a16:colId xmlns:a16="http://schemas.microsoft.com/office/drawing/2014/main" val="2529961370"/>
                    </a:ext>
                  </a:extLst>
                </a:gridCol>
                <a:gridCol w="1723697">
                  <a:extLst>
                    <a:ext uri="{9D8B030D-6E8A-4147-A177-3AD203B41FA5}">
                      <a16:colId xmlns:a16="http://schemas.microsoft.com/office/drawing/2014/main" val="2528381990"/>
                    </a:ext>
                  </a:extLst>
                </a:gridCol>
                <a:gridCol w="1797269">
                  <a:extLst>
                    <a:ext uri="{9D8B030D-6E8A-4147-A177-3AD203B41FA5}">
                      <a16:colId xmlns:a16="http://schemas.microsoft.com/office/drawing/2014/main" val="2607007690"/>
                    </a:ext>
                  </a:extLst>
                </a:gridCol>
                <a:gridCol w="1902372">
                  <a:extLst>
                    <a:ext uri="{9D8B030D-6E8A-4147-A177-3AD203B41FA5}">
                      <a16:colId xmlns:a16="http://schemas.microsoft.com/office/drawing/2014/main" val="427305130"/>
                    </a:ext>
                  </a:extLst>
                </a:gridCol>
                <a:gridCol w="2396359">
                  <a:extLst>
                    <a:ext uri="{9D8B030D-6E8A-4147-A177-3AD203B41FA5}">
                      <a16:colId xmlns:a16="http://schemas.microsoft.com/office/drawing/2014/main" val="312177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Background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Data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set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DL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Model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Training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Save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Model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Generate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Text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24685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CA210C7E-D38F-917D-8268-B7AEF556F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061" y="4628716"/>
            <a:ext cx="7905297" cy="1793397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4CBE00-217A-8688-BE5A-98C2F5BC3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76" y="1126949"/>
            <a:ext cx="6782580" cy="3981079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02996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98A81B-4318-49B2-B590-FCA438EDA30B}"/>
              </a:ext>
            </a:extLst>
          </p:cNvPr>
          <p:cNvGraphicFramePr>
            <a:graphicFrameLocks noGrp="1"/>
          </p:cNvGraphicFramePr>
          <p:nvPr/>
        </p:nvGraphicFramePr>
        <p:xfrm>
          <a:off x="444936" y="435887"/>
          <a:ext cx="1119001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1726">
                  <a:extLst>
                    <a:ext uri="{9D8B030D-6E8A-4147-A177-3AD203B41FA5}">
                      <a16:colId xmlns:a16="http://schemas.microsoft.com/office/drawing/2014/main" val="2986726536"/>
                    </a:ext>
                  </a:extLst>
                </a:gridCol>
                <a:gridCol w="1618593">
                  <a:extLst>
                    <a:ext uri="{9D8B030D-6E8A-4147-A177-3AD203B41FA5}">
                      <a16:colId xmlns:a16="http://schemas.microsoft.com/office/drawing/2014/main" val="2529961370"/>
                    </a:ext>
                  </a:extLst>
                </a:gridCol>
                <a:gridCol w="1723697">
                  <a:extLst>
                    <a:ext uri="{9D8B030D-6E8A-4147-A177-3AD203B41FA5}">
                      <a16:colId xmlns:a16="http://schemas.microsoft.com/office/drawing/2014/main" val="2528381990"/>
                    </a:ext>
                  </a:extLst>
                </a:gridCol>
                <a:gridCol w="1797269">
                  <a:extLst>
                    <a:ext uri="{9D8B030D-6E8A-4147-A177-3AD203B41FA5}">
                      <a16:colId xmlns:a16="http://schemas.microsoft.com/office/drawing/2014/main" val="2607007690"/>
                    </a:ext>
                  </a:extLst>
                </a:gridCol>
                <a:gridCol w="1902372">
                  <a:extLst>
                    <a:ext uri="{9D8B030D-6E8A-4147-A177-3AD203B41FA5}">
                      <a16:colId xmlns:a16="http://schemas.microsoft.com/office/drawing/2014/main" val="427305130"/>
                    </a:ext>
                  </a:extLst>
                </a:gridCol>
                <a:gridCol w="2396359">
                  <a:extLst>
                    <a:ext uri="{9D8B030D-6E8A-4147-A177-3AD203B41FA5}">
                      <a16:colId xmlns:a16="http://schemas.microsoft.com/office/drawing/2014/main" val="312177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Background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Data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set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DL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Model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Training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Save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Model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Generate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Text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2468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52EBBF4-148C-8F79-2125-F9668212D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83" y="1030015"/>
            <a:ext cx="5441492" cy="55389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2B6B5C-2183-96A4-04CF-8BAB9D72A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928" y="1166425"/>
            <a:ext cx="6051589" cy="375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708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98A81B-4318-49B2-B590-FCA438EDA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203429"/>
              </p:ext>
            </p:extLst>
          </p:nvPr>
        </p:nvGraphicFramePr>
        <p:xfrm>
          <a:off x="444936" y="435887"/>
          <a:ext cx="1119001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1726">
                  <a:extLst>
                    <a:ext uri="{9D8B030D-6E8A-4147-A177-3AD203B41FA5}">
                      <a16:colId xmlns:a16="http://schemas.microsoft.com/office/drawing/2014/main" val="2986726536"/>
                    </a:ext>
                  </a:extLst>
                </a:gridCol>
                <a:gridCol w="1618593">
                  <a:extLst>
                    <a:ext uri="{9D8B030D-6E8A-4147-A177-3AD203B41FA5}">
                      <a16:colId xmlns:a16="http://schemas.microsoft.com/office/drawing/2014/main" val="2529961370"/>
                    </a:ext>
                  </a:extLst>
                </a:gridCol>
                <a:gridCol w="1723697">
                  <a:extLst>
                    <a:ext uri="{9D8B030D-6E8A-4147-A177-3AD203B41FA5}">
                      <a16:colId xmlns:a16="http://schemas.microsoft.com/office/drawing/2014/main" val="2528381990"/>
                    </a:ext>
                  </a:extLst>
                </a:gridCol>
                <a:gridCol w="1797269">
                  <a:extLst>
                    <a:ext uri="{9D8B030D-6E8A-4147-A177-3AD203B41FA5}">
                      <a16:colId xmlns:a16="http://schemas.microsoft.com/office/drawing/2014/main" val="2607007690"/>
                    </a:ext>
                  </a:extLst>
                </a:gridCol>
                <a:gridCol w="1902372">
                  <a:extLst>
                    <a:ext uri="{9D8B030D-6E8A-4147-A177-3AD203B41FA5}">
                      <a16:colId xmlns:a16="http://schemas.microsoft.com/office/drawing/2014/main" val="427305130"/>
                    </a:ext>
                  </a:extLst>
                </a:gridCol>
                <a:gridCol w="2396359">
                  <a:extLst>
                    <a:ext uri="{9D8B030D-6E8A-4147-A177-3AD203B41FA5}">
                      <a16:colId xmlns:a16="http://schemas.microsoft.com/office/drawing/2014/main" val="312177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Background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Data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set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DL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Model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Training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Save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Model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Generate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Text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24685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F092393B-A518-44EC-B7D7-BBEB37C98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36" y="893087"/>
            <a:ext cx="6779034" cy="575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088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98A81B-4318-49B2-B590-FCA438EDA30B}"/>
              </a:ext>
            </a:extLst>
          </p:cNvPr>
          <p:cNvGraphicFramePr>
            <a:graphicFrameLocks noGrp="1"/>
          </p:cNvGraphicFramePr>
          <p:nvPr/>
        </p:nvGraphicFramePr>
        <p:xfrm>
          <a:off x="444936" y="435887"/>
          <a:ext cx="1119001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1726">
                  <a:extLst>
                    <a:ext uri="{9D8B030D-6E8A-4147-A177-3AD203B41FA5}">
                      <a16:colId xmlns:a16="http://schemas.microsoft.com/office/drawing/2014/main" val="2986726536"/>
                    </a:ext>
                  </a:extLst>
                </a:gridCol>
                <a:gridCol w="1618593">
                  <a:extLst>
                    <a:ext uri="{9D8B030D-6E8A-4147-A177-3AD203B41FA5}">
                      <a16:colId xmlns:a16="http://schemas.microsoft.com/office/drawing/2014/main" val="2529961370"/>
                    </a:ext>
                  </a:extLst>
                </a:gridCol>
                <a:gridCol w="1723697">
                  <a:extLst>
                    <a:ext uri="{9D8B030D-6E8A-4147-A177-3AD203B41FA5}">
                      <a16:colId xmlns:a16="http://schemas.microsoft.com/office/drawing/2014/main" val="2528381990"/>
                    </a:ext>
                  </a:extLst>
                </a:gridCol>
                <a:gridCol w="1797269">
                  <a:extLst>
                    <a:ext uri="{9D8B030D-6E8A-4147-A177-3AD203B41FA5}">
                      <a16:colId xmlns:a16="http://schemas.microsoft.com/office/drawing/2014/main" val="2607007690"/>
                    </a:ext>
                  </a:extLst>
                </a:gridCol>
                <a:gridCol w="1902372">
                  <a:extLst>
                    <a:ext uri="{9D8B030D-6E8A-4147-A177-3AD203B41FA5}">
                      <a16:colId xmlns:a16="http://schemas.microsoft.com/office/drawing/2014/main" val="427305130"/>
                    </a:ext>
                  </a:extLst>
                </a:gridCol>
                <a:gridCol w="2396359">
                  <a:extLst>
                    <a:ext uri="{9D8B030D-6E8A-4147-A177-3AD203B41FA5}">
                      <a16:colId xmlns:a16="http://schemas.microsoft.com/office/drawing/2014/main" val="312177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Background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Data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set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DL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Model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Training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Save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Model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Generate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Text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2468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C0118A5-783B-11A9-B513-523905AF6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36" y="893088"/>
            <a:ext cx="5248744" cy="57284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15553C-4A7E-A943-9618-1BBFE8807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172" y="893088"/>
            <a:ext cx="5784046" cy="572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061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98A81B-4318-49B2-B590-FCA438EDA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830789"/>
              </p:ext>
            </p:extLst>
          </p:nvPr>
        </p:nvGraphicFramePr>
        <p:xfrm>
          <a:off x="444936" y="435887"/>
          <a:ext cx="1119001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1726">
                  <a:extLst>
                    <a:ext uri="{9D8B030D-6E8A-4147-A177-3AD203B41FA5}">
                      <a16:colId xmlns:a16="http://schemas.microsoft.com/office/drawing/2014/main" val="2986726536"/>
                    </a:ext>
                  </a:extLst>
                </a:gridCol>
                <a:gridCol w="1618593">
                  <a:extLst>
                    <a:ext uri="{9D8B030D-6E8A-4147-A177-3AD203B41FA5}">
                      <a16:colId xmlns:a16="http://schemas.microsoft.com/office/drawing/2014/main" val="2529961370"/>
                    </a:ext>
                  </a:extLst>
                </a:gridCol>
                <a:gridCol w="1723697">
                  <a:extLst>
                    <a:ext uri="{9D8B030D-6E8A-4147-A177-3AD203B41FA5}">
                      <a16:colId xmlns:a16="http://schemas.microsoft.com/office/drawing/2014/main" val="2528381990"/>
                    </a:ext>
                  </a:extLst>
                </a:gridCol>
                <a:gridCol w="1797269">
                  <a:extLst>
                    <a:ext uri="{9D8B030D-6E8A-4147-A177-3AD203B41FA5}">
                      <a16:colId xmlns:a16="http://schemas.microsoft.com/office/drawing/2014/main" val="2607007690"/>
                    </a:ext>
                  </a:extLst>
                </a:gridCol>
                <a:gridCol w="1902372">
                  <a:extLst>
                    <a:ext uri="{9D8B030D-6E8A-4147-A177-3AD203B41FA5}">
                      <a16:colId xmlns:a16="http://schemas.microsoft.com/office/drawing/2014/main" val="427305130"/>
                    </a:ext>
                  </a:extLst>
                </a:gridCol>
                <a:gridCol w="2396359">
                  <a:extLst>
                    <a:ext uri="{9D8B030D-6E8A-4147-A177-3AD203B41FA5}">
                      <a16:colId xmlns:a16="http://schemas.microsoft.com/office/drawing/2014/main" val="312177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Background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Data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set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DL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Model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Training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Save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Model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Generate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Text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24685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FA2909A5-838C-F8DB-E8E2-21808D5A4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37" y="995192"/>
            <a:ext cx="6632520" cy="52479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02C961-0983-A961-650E-EDFA149FE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7" y="1675524"/>
            <a:ext cx="4533056" cy="312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885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98A81B-4318-49B2-B590-FCA438EDA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749423"/>
              </p:ext>
            </p:extLst>
          </p:nvPr>
        </p:nvGraphicFramePr>
        <p:xfrm>
          <a:off x="444936" y="435887"/>
          <a:ext cx="1119001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1726">
                  <a:extLst>
                    <a:ext uri="{9D8B030D-6E8A-4147-A177-3AD203B41FA5}">
                      <a16:colId xmlns:a16="http://schemas.microsoft.com/office/drawing/2014/main" val="2986726536"/>
                    </a:ext>
                  </a:extLst>
                </a:gridCol>
                <a:gridCol w="1618593">
                  <a:extLst>
                    <a:ext uri="{9D8B030D-6E8A-4147-A177-3AD203B41FA5}">
                      <a16:colId xmlns:a16="http://schemas.microsoft.com/office/drawing/2014/main" val="2529961370"/>
                    </a:ext>
                  </a:extLst>
                </a:gridCol>
                <a:gridCol w="1723697">
                  <a:extLst>
                    <a:ext uri="{9D8B030D-6E8A-4147-A177-3AD203B41FA5}">
                      <a16:colId xmlns:a16="http://schemas.microsoft.com/office/drawing/2014/main" val="2528381990"/>
                    </a:ext>
                  </a:extLst>
                </a:gridCol>
                <a:gridCol w="1797269">
                  <a:extLst>
                    <a:ext uri="{9D8B030D-6E8A-4147-A177-3AD203B41FA5}">
                      <a16:colId xmlns:a16="http://schemas.microsoft.com/office/drawing/2014/main" val="2607007690"/>
                    </a:ext>
                  </a:extLst>
                </a:gridCol>
                <a:gridCol w="1902372">
                  <a:extLst>
                    <a:ext uri="{9D8B030D-6E8A-4147-A177-3AD203B41FA5}">
                      <a16:colId xmlns:a16="http://schemas.microsoft.com/office/drawing/2014/main" val="427305130"/>
                    </a:ext>
                  </a:extLst>
                </a:gridCol>
                <a:gridCol w="2396359">
                  <a:extLst>
                    <a:ext uri="{9D8B030D-6E8A-4147-A177-3AD203B41FA5}">
                      <a16:colId xmlns:a16="http://schemas.microsoft.com/office/drawing/2014/main" val="312177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Background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Data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set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DL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Model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Training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Save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Model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Generate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Text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24685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10713E6A-BCD7-57E5-1764-348384E0D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07" y="1189713"/>
            <a:ext cx="77724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223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98A81B-4318-49B2-B590-FCA438EDA30B}"/>
              </a:ext>
            </a:extLst>
          </p:cNvPr>
          <p:cNvGraphicFramePr>
            <a:graphicFrameLocks noGrp="1"/>
          </p:cNvGraphicFramePr>
          <p:nvPr/>
        </p:nvGraphicFramePr>
        <p:xfrm>
          <a:off x="444936" y="435887"/>
          <a:ext cx="1119001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1726">
                  <a:extLst>
                    <a:ext uri="{9D8B030D-6E8A-4147-A177-3AD203B41FA5}">
                      <a16:colId xmlns:a16="http://schemas.microsoft.com/office/drawing/2014/main" val="2986726536"/>
                    </a:ext>
                  </a:extLst>
                </a:gridCol>
                <a:gridCol w="1618593">
                  <a:extLst>
                    <a:ext uri="{9D8B030D-6E8A-4147-A177-3AD203B41FA5}">
                      <a16:colId xmlns:a16="http://schemas.microsoft.com/office/drawing/2014/main" val="2529961370"/>
                    </a:ext>
                  </a:extLst>
                </a:gridCol>
                <a:gridCol w="1723697">
                  <a:extLst>
                    <a:ext uri="{9D8B030D-6E8A-4147-A177-3AD203B41FA5}">
                      <a16:colId xmlns:a16="http://schemas.microsoft.com/office/drawing/2014/main" val="2528381990"/>
                    </a:ext>
                  </a:extLst>
                </a:gridCol>
                <a:gridCol w="1797269">
                  <a:extLst>
                    <a:ext uri="{9D8B030D-6E8A-4147-A177-3AD203B41FA5}">
                      <a16:colId xmlns:a16="http://schemas.microsoft.com/office/drawing/2014/main" val="2607007690"/>
                    </a:ext>
                  </a:extLst>
                </a:gridCol>
                <a:gridCol w="1902372">
                  <a:extLst>
                    <a:ext uri="{9D8B030D-6E8A-4147-A177-3AD203B41FA5}">
                      <a16:colId xmlns:a16="http://schemas.microsoft.com/office/drawing/2014/main" val="427305130"/>
                    </a:ext>
                  </a:extLst>
                </a:gridCol>
                <a:gridCol w="2396359">
                  <a:extLst>
                    <a:ext uri="{9D8B030D-6E8A-4147-A177-3AD203B41FA5}">
                      <a16:colId xmlns:a16="http://schemas.microsoft.com/office/drawing/2014/main" val="3121772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Background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Data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set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DL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Model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Training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Save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Model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Generate</a:t>
                      </a:r>
                      <a:r>
                        <a:rPr lang="zh-CN" altLang="en-US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 </a:t>
                      </a:r>
                      <a:r>
                        <a:rPr lang="en-US" altLang="zh-CN" sz="2400" b="0" i="0" cap="none" spc="0" dirty="0">
                          <a:ln w="0"/>
                          <a:solidFill>
                            <a:schemeClr val="bg1">
                              <a:lumMod val="8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badi" panose="020B0604020104020204" pitchFamily="34" charset="0"/>
                        </a:rPr>
                        <a:t>Text</a:t>
                      </a:r>
                      <a:endParaRPr lang="en-CN" sz="2400" b="0" i="0" cap="none" spc="0" dirty="0">
                        <a:ln w="0"/>
                        <a:solidFill>
                          <a:schemeClr val="bg1">
                            <a:lumMod val="8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badi" panose="020B06040201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2468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D120405-86E1-3FCD-0632-6D11B4CDF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86" y="1056854"/>
            <a:ext cx="7442975" cy="54490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7F52FC-2AC6-17B3-C41F-531F7A865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775" y="1599763"/>
            <a:ext cx="3891305" cy="310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589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Shape 1"/>
          <p:cNvSpPr txBox="1"/>
          <p:nvPr/>
        </p:nvSpPr>
        <p:spPr>
          <a:xfrm>
            <a:off x="386135" y="299543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en-US" altLang="zh-CN" sz="4400" spc="-1">
                <a:solidFill>
                  <a:srgbClr val="000000"/>
                </a:solidFill>
                <a:latin typeface="等线 Light" panose="02010600030101010101" charset="-122"/>
              </a:rPr>
              <a:t>Sum</a:t>
            </a:r>
            <a:r>
              <a:rPr lang="zh-CN" altLang="en-US" sz="4400" spc="-1">
                <a:solidFill>
                  <a:srgbClr val="000000"/>
                </a:solidFill>
                <a:latin typeface="等线 Light" panose="02010600030101010101" charset="-122"/>
              </a:rPr>
              <a:t> </a:t>
            </a:r>
            <a:r>
              <a:rPr lang="en-US" altLang="zh-CN" sz="4400" spc="-1">
                <a:solidFill>
                  <a:srgbClr val="000000"/>
                </a:solidFill>
                <a:latin typeface="等线 Light" panose="02010600030101010101" charset="-122"/>
              </a:rPr>
              <a:t>up</a:t>
            </a:r>
            <a:endParaRPr lang="zh-CN" sz="4400" b="0" strike="noStrike" spc="-1" dirty="0">
              <a:solidFill>
                <a:srgbClr val="000000"/>
              </a:solidFill>
              <a:latin typeface="等线" panose="02010600030101010101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4724F2-C056-52F5-8D19-13DC981A2C09}"/>
              </a:ext>
            </a:extLst>
          </p:cNvPr>
          <p:cNvSpPr txBox="1"/>
          <p:nvPr/>
        </p:nvSpPr>
        <p:spPr>
          <a:xfrm>
            <a:off x="353502" y="6237415"/>
            <a:ext cx="5097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B0604020104020204" pitchFamily="34" charset="0"/>
                <a:hlinkClick r:id="rId2"/>
              </a:rPr>
              <a:t>https://github.com/info-ruc/tm23projects/pull/1</a:t>
            </a:r>
            <a:endParaRPr lang="en-US" b="1" dirty="0">
              <a:latin typeface="Abadi" panose="020B0604020104020204" pitchFamily="34" charset="0"/>
            </a:endParaRPr>
          </a:p>
          <a:p>
            <a:endParaRPr lang="en-CN" b="1" dirty="0">
              <a:latin typeface="Abadi" panose="020B0604020104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5B7BBE2-9A7E-AAA4-2B03-461113C7B81D}"/>
              </a:ext>
            </a:extLst>
          </p:cNvPr>
          <p:cNvGrpSpPr/>
          <p:nvPr/>
        </p:nvGrpSpPr>
        <p:grpSpPr>
          <a:xfrm>
            <a:off x="269071" y="1721719"/>
            <a:ext cx="5365247" cy="3926046"/>
            <a:chOff x="579490" y="1786902"/>
            <a:chExt cx="4965022" cy="343142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1D0500E-7A3D-FF9D-7B90-5B228F48C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9490" y="1803323"/>
              <a:ext cx="4965022" cy="3415007"/>
            </a:xfrm>
            <a:prstGeom prst="rect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E001D54-8DC7-E07E-5834-BAA653CC7D47}"/>
                </a:ext>
              </a:extLst>
            </p:cNvPr>
            <p:cNvSpPr txBox="1"/>
            <p:nvPr/>
          </p:nvSpPr>
          <p:spPr>
            <a:xfrm>
              <a:off x="2291598" y="1786902"/>
              <a:ext cx="15408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600" b="1" dirty="0">
                  <a:latin typeface="Abadi" panose="020B0604020104020204" pitchFamily="34" charset="0"/>
                </a:rPr>
                <a:t>Learning</a:t>
              </a:r>
              <a:r>
                <a:rPr lang="zh-CN" altLang="en-US" sz="1600" b="1" dirty="0">
                  <a:latin typeface="Abadi" panose="020B0604020104020204" pitchFamily="34" charset="0"/>
                </a:rPr>
                <a:t> </a:t>
              </a:r>
              <a:r>
                <a:rPr lang="en-US" altLang="zh-CN" sz="1600" b="1" dirty="0">
                  <a:latin typeface="Abadi" panose="020B0604020104020204" pitchFamily="34" charset="0"/>
                </a:rPr>
                <a:t>curve</a:t>
              </a:r>
              <a:endParaRPr lang="en-CN" sz="1600" b="1" dirty="0">
                <a:latin typeface="Abadi" panose="020B0604020104020204" pitchFamily="34" charset="0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B3B91C9-D3A9-2AD8-20E8-670776136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241" y="1740507"/>
            <a:ext cx="6472799" cy="3906000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F436E8-F8C1-188C-13B2-2FA353ADB5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8977" y="1785176"/>
            <a:ext cx="1320800" cy="558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75473C-B29A-2B1A-BA4E-6C9AD62A6B40}"/>
              </a:ext>
            </a:extLst>
          </p:cNvPr>
          <p:cNvSpPr txBox="1"/>
          <p:nvPr/>
        </p:nvSpPr>
        <p:spPr>
          <a:xfrm>
            <a:off x="5807533" y="1915396"/>
            <a:ext cx="63482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linkClick r:id="rId6"/>
              </a:rPr>
              <a:t>https://blog.gregbrockman.com/how-i-became-a-machine-learning-practitioner</a:t>
            </a:r>
            <a:endParaRPr lang="en-US" sz="1400" dirty="0"/>
          </a:p>
          <a:p>
            <a:endParaRPr lang="en-CN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Shape 1"/>
          <p:cNvSpPr txBox="1"/>
          <p:nvPr/>
        </p:nvSpPr>
        <p:spPr>
          <a:xfrm>
            <a:off x="386135" y="299543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en-US" altLang="zh-CN" sz="4400" spc="-1">
                <a:solidFill>
                  <a:srgbClr val="000000"/>
                </a:solidFill>
                <a:latin typeface="等线 Light" panose="02010600030101010101" charset="-122"/>
              </a:rPr>
              <a:t>Sum</a:t>
            </a:r>
            <a:r>
              <a:rPr lang="zh-CN" altLang="en-US" sz="4400" spc="-1">
                <a:solidFill>
                  <a:srgbClr val="000000"/>
                </a:solidFill>
                <a:latin typeface="等线 Light" panose="02010600030101010101" charset="-122"/>
              </a:rPr>
              <a:t> </a:t>
            </a:r>
            <a:r>
              <a:rPr lang="en-US" altLang="zh-CN" sz="4400" spc="-1">
                <a:solidFill>
                  <a:srgbClr val="000000"/>
                </a:solidFill>
                <a:latin typeface="等线 Light" panose="02010600030101010101" charset="-122"/>
              </a:rPr>
              <a:t>up</a:t>
            </a:r>
            <a:endParaRPr lang="zh-CN" sz="4400" b="0" strike="noStrike" spc="-1" dirty="0">
              <a:solidFill>
                <a:srgbClr val="000000"/>
              </a:solidFill>
              <a:latin typeface="等线" panose="02010600030101010101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86457D-F22F-5174-AA4E-C76894A35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68" y="1371903"/>
            <a:ext cx="6303579" cy="47248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F9E48A-B745-72D5-2345-ABCE31716A1D}"/>
              </a:ext>
            </a:extLst>
          </p:cNvPr>
          <p:cNvSpPr txBox="1"/>
          <p:nvPr/>
        </p:nvSpPr>
        <p:spPr>
          <a:xfrm>
            <a:off x="5803569" y="6086228"/>
            <a:ext cx="5097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B0604020104020204" pitchFamily="34" charset="0"/>
                <a:hlinkClick r:id="rId3"/>
              </a:rPr>
              <a:t>https://github.com/info-ruc/tm23projects/pull/1</a:t>
            </a:r>
            <a:endParaRPr lang="en-US" b="1" dirty="0">
              <a:latin typeface="Abadi" panose="020B0604020104020204" pitchFamily="34" charset="0"/>
            </a:endParaRPr>
          </a:p>
          <a:p>
            <a:endParaRPr lang="en-CN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8422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EzZGZmNWE2ZjI1ZWI5MmRjMzE1ZmZkOTNkNTNmYz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323</Words>
  <Application>Microsoft Macintosh PowerPoint</Application>
  <PresentationFormat>Widescreen</PresentationFormat>
  <Paragraphs>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等线</vt:lpstr>
      <vt:lpstr>等线 Light</vt:lpstr>
      <vt:lpstr>Abadi</vt:lpstr>
      <vt:lpstr>Arial</vt:lpstr>
      <vt:lpstr>Menlo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NLP@2020</dc:title>
  <dc:creator>Administrator</dc:creator>
  <cp:lastModifiedBy>Kylin SONG</cp:lastModifiedBy>
  <cp:revision>51</cp:revision>
  <dcterms:created xsi:type="dcterms:W3CDTF">2020-09-01T08:25:00Z</dcterms:created>
  <dcterms:modified xsi:type="dcterms:W3CDTF">2023-12-03T04:22:30Z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ICV">
    <vt:lpwstr>BACE4328D6574E5DBADB0F715F728060_13</vt:lpwstr>
  </property>
  <property fmtid="{D5CDD505-2E9C-101B-9397-08002B2CF9AE}" pid="6" name="KSOProductBuildVer">
    <vt:lpwstr>2052-12.1.0.15374</vt:lpwstr>
  </property>
  <property fmtid="{D5CDD505-2E9C-101B-9397-08002B2CF9AE}" pid="7" name="LinksUpToDate">
    <vt:bool>false</vt:bool>
  </property>
  <property fmtid="{D5CDD505-2E9C-101B-9397-08002B2CF9AE}" pid="8" name="MMClips">
    <vt:i4>0</vt:i4>
  </property>
  <property fmtid="{D5CDD505-2E9C-101B-9397-08002B2CF9AE}" pid="9" name="Notes">
    <vt:i4>0</vt:i4>
  </property>
  <property fmtid="{D5CDD505-2E9C-101B-9397-08002B2CF9AE}" pid="10" name="PresentationFormat">
    <vt:lpwstr>宽屏</vt:lpwstr>
  </property>
  <property fmtid="{D5CDD505-2E9C-101B-9397-08002B2CF9AE}" pid="11" name="ScaleCrop">
    <vt:bool>false</vt:bool>
  </property>
  <property fmtid="{D5CDD505-2E9C-101B-9397-08002B2CF9AE}" pid="12" name="ShareDoc">
    <vt:bool>false</vt:bool>
  </property>
  <property fmtid="{D5CDD505-2E9C-101B-9397-08002B2CF9AE}" pid="13" name="Slides">
    <vt:i4>52</vt:i4>
  </property>
</Properties>
</file>