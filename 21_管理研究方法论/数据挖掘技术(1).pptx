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tags/tag17.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tags/tag15.xml" ContentType="application/vnd.openxmlformats-officedocument.presentationml.tags+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tags/tag2.xml" ContentType="application/vnd.openxmlformats-officedocument.presentationml.tags+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80" r:id="rId2"/>
    <p:sldId id="521" r:id="rId3"/>
    <p:sldId id="540" r:id="rId4"/>
    <p:sldId id="680" r:id="rId5"/>
    <p:sldId id="541" r:id="rId6"/>
    <p:sldId id="542" r:id="rId7"/>
    <p:sldId id="543" r:id="rId8"/>
    <p:sldId id="544" r:id="rId9"/>
    <p:sldId id="545" r:id="rId10"/>
    <p:sldId id="548" r:id="rId11"/>
    <p:sldId id="547" r:id="rId12"/>
    <p:sldId id="549" r:id="rId13"/>
    <p:sldId id="546" r:id="rId14"/>
    <p:sldId id="550" r:id="rId15"/>
    <p:sldId id="551" r:id="rId16"/>
    <p:sldId id="552" r:id="rId17"/>
    <p:sldId id="553" r:id="rId18"/>
    <p:sldId id="554" r:id="rId19"/>
    <p:sldId id="556" r:id="rId20"/>
    <p:sldId id="557" r:id="rId21"/>
    <p:sldId id="555" r:id="rId22"/>
    <p:sldId id="558" r:id="rId23"/>
    <p:sldId id="559" r:id="rId24"/>
    <p:sldId id="560" r:id="rId25"/>
    <p:sldId id="677" r:id="rId26"/>
    <p:sldId id="676" r:id="rId27"/>
    <p:sldId id="660" r:id="rId28"/>
    <p:sldId id="661" r:id="rId29"/>
    <p:sldId id="662" r:id="rId30"/>
    <p:sldId id="663" r:id="rId31"/>
    <p:sldId id="664" r:id="rId32"/>
    <p:sldId id="665" r:id="rId33"/>
    <p:sldId id="666" r:id="rId34"/>
    <p:sldId id="667" r:id="rId35"/>
    <p:sldId id="668" r:id="rId36"/>
    <p:sldId id="669" r:id="rId37"/>
    <p:sldId id="670" r:id="rId38"/>
    <p:sldId id="671" r:id="rId39"/>
    <p:sldId id="672" r:id="rId40"/>
    <p:sldId id="673" r:id="rId41"/>
    <p:sldId id="674" r:id="rId42"/>
    <p:sldId id="675" r:id="rId43"/>
    <p:sldId id="631" r:id="rId44"/>
    <p:sldId id="302" r:id="rId45"/>
  </p:sldIdLst>
  <p:sldSz cx="9144000" cy="6858000" type="screen4x3"/>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7FCF"/>
    <a:srgbClr val="FFFF99"/>
    <a:srgbClr val="7F4525"/>
    <a:srgbClr val="966C04"/>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054" autoAdjust="0"/>
  </p:normalViewPr>
  <p:slideViewPr>
    <p:cSldViewPr>
      <p:cViewPr varScale="1">
        <p:scale>
          <a:sx n="67" d="100"/>
          <a:sy n="67" d="100"/>
        </p:scale>
        <p:origin x="-139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F6B2FA0E-F8C8-4B0A-8D49-DF83F4D9401A}" type="datetimeFigureOut">
              <a:rPr lang="zh-CN" altLang="en-US" smtClean="0"/>
              <a:pPr/>
              <a:t>2020/4/21</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BB47B915-5085-4545-A646-F20B54638C01}" type="slidenum">
              <a:rPr lang="zh-CN" altLang="en-US" smtClean="0"/>
              <a:pPr/>
              <a:t>‹#›</a:t>
            </a:fld>
            <a:endParaRPr lang="zh-CN" altLang="en-US"/>
          </a:p>
        </p:txBody>
      </p:sp>
    </p:spTree>
    <p:extLst>
      <p:ext uri="{BB962C8B-B14F-4D97-AF65-F5344CB8AC3E}">
        <p14:creationId xmlns="" xmlns:p14="http://schemas.microsoft.com/office/powerpoint/2010/main" val="793831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a:t>
            </a:fld>
            <a:endParaRPr lang="zh-CN" altLang="en-US"/>
          </a:p>
        </p:txBody>
      </p:sp>
    </p:spTree>
    <p:extLst>
      <p:ext uri="{BB962C8B-B14F-4D97-AF65-F5344CB8AC3E}">
        <p14:creationId xmlns="" xmlns:p14="http://schemas.microsoft.com/office/powerpoint/2010/main" val="1993737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数据挖掘（</a:t>
            </a:r>
            <a:r>
              <a:rPr lang="en-US" sz="1200" kern="1200" dirty="0" smtClean="0">
                <a:solidFill>
                  <a:schemeClr val="tx1"/>
                </a:solidFill>
                <a:latin typeface="+mn-lt"/>
                <a:ea typeface="+mn-ea"/>
                <a:cs typeface="+mn-cs"/>
              </a:rPr>
              <a:t>Data Mining</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DM</a:t>
            </a:r>
            <a:r>
              <a:rPr lang="zh-CN" altLang="en-US" sz="1200" kern="1200" dirty="0" smtClean="0">
                <a:solidFill>
                  <a:schemeClr val="tx1"/>
                </a:solidFill>
                <a:latin typeface="+mn-lt"/>
                <a:ea typeface="+mn-ea"/>
                <a:cs typeface="+mn-cs"/>
              </a:rPr>
              <a:t>），是指从隐性的、过去未知的、潜在有用的数据中萃取信息的过程。数据挖掘也是数据库中知识发现（</a:t>
            </a:r>
            <a:r>
              <a:rPr lang="en-US" sz="1200" kern="1200" dirty="0" smtClean="0">
                <a:solidFill>
                  <a:schemeClr val="tx1"/>
                </a:solidFill>
                <a:latin typeface="+mn-lt"/>
                <a:ea typeface="+mn-ea"/>
                <a:cs typeface="+mn-cs"/>
              </a:rPr>
              <a:t>Knowledge Discovery from Database, KDD</a:t>
            </a:r>
            <a:r>
              <a:rPr lang="zh-CN" altLang="en-US" sz="1200" kern="1200" dirty="0" smtClean="0">
                <a:solidFill>
                  <a:schemeClr val="tx1"/>
                </a:solidFill>
                <a:latin typeface="+mn-lt"/>
                <a:ea typeface="+mn-ea"/>
                <a:cs typeface="+mn-cs"/>
              </a:rPr>
              <a:t>）中的一个重要步骤。它的概念最早在</a:t>
            </a:r>
            <a:r>
              <a:rPr lang="en-US" sz="1200" kern="1200" dirty="0" smtClean="0">
                <a:solidFill>
                  <a:schemeClr val="tx1"/>
                </a:solidFill>
                <a:latin typeface="+mn-lt"/>
                <a:ea typeface="+mn-ea"/>
                <a:cs typeface="+mn-cs"/>
              </a:rPr>
              <a:t>1995</a:t>
            </a:r>
            <a:r>
              <a:rPr lang="zh-CN" altLang="en-US" sz="1200" kern="1200" dirty="0" smtClean="0">
                <a:solidFill>
                  <a:schemeClr val="tx1"/>
                </a:solidFill>
                <a:latin typeface="+mn-lt"/>
                <a:ea typeface="+mn-ea"/>
                <a:cs typeface="+mn-cs"/>
              </a:rPr>
              <a:t>年美国计算机年会（</a:t>
            </a:r>
            <a:r>
              <a:rPr lang="en-US" sz="1200" kern="1200" dirty="0" smtClean="0">
                <a:solidFill>
                  <a:schemeClr val="tx1"/>
                </a:solidFill>
                <a:latin typeface="+mn-lt"/>
                <a:ea typeface="+mn-ea"/>
                <a:cs typeface="+mn-cs"/>
              </a:rPr>
              <a:t>ACM</a:t>
            </a:r>
            <a:r>
              <a:rPr lang="zh-CN" altLang="en-US" sz="1200" kern="1200" dirty="0" smtClean="0">
                <a:solidFill>
                  <a:schemeClr val="tx1"/>
                </a:solidFill>
                <a:latin typeface="+mn-lt"/>
                <a:ea typeface="+mn-ea"/>
                <a:cs typeface="+mn-cs"/>
              </a:rPr>
              <a:t>）上所提出。数据挖掘的思想，在于将数据从数据库中提取、转换成具有一定格式的数据形式，并从中寻找出某些特定的数据规律或是数据模式。通过这些模式和规律，可以对未来的数据进行一定程度的模拟和预测。</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a:t>
            </a:fld>
            <a:endParaRPr lang="zh-CN" altLang="en-US"/>
          </a:p>
        </p:txBody>
      </p:sp>
    </p:spTree>
    <p:extLst>
      <p:ext uri="{BB962C8B-B14F-4D97-AF65-F5344CB8AC3E}">
        <p14:creationId xmlns="" xmlns:p14="http://schemas.microsoft.com/office/powerpoint/2010/main" val="590764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SPSS</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5A</a:t>
            </a:r>
            <a:r>
              <a:rPr lang="zh-CN" altLang="en-US" sz="1200" kern="1200" dirty="0" smtClean="0">
                <a:solidFill>
                  <a:schemeClr val="tx1"/>
                </a:solidFill>
                <a:latin typeface="+mn-lt"/>
                <a:ea typeface="+mn-ea"/>
                <a:cs typeface="+mn-cs"/>
              </a:rPr>
              <a:t>法，即访问（</a:t>
            </a:r>
            <a:r>
              <a:rPr lang="en-US" sz="1200" kern="1200" dirty="0" smtClean="0">
                <a:solidFill>
                  <a:schemeClr val="tx1"/>
                </a:solidFill>
                <a:latin typeface="+mn-lt"/>
                <a:ea typeface="+mn-ea"/>
                <a:cs typeface="+mn-cs"/>
              </a:rPr>
              <a:t>Access</a:t>
            </a:r>
            <a:r>
              <a:rPr lang="zh-CN" altLang="en-US" sz="1200" kern="1200" dirty="0" smtClean="0">
                <a:solidFill>
                  <a:schemeClr val="tx1"/>
                </a:solidFill>
                <a:latin typeface="+mn-lt"/>
                <a:ea typeface="+mn-ea"/>
                <a:cs typeface="+mn-cs"/>
              </a:rPr>
              <a:t>）、分析（</a:t>
            </a:r>
            <a:r>
              <a:rPr lang="en-US" sz="1200" kern="1200" dirty="0" smtClean="0">
                <a:solidFill>
                  <a:schemeClr val="tx1"/>
                </a:solidFill>
                <a:latin typeface="+mn-lt"/>
                <a:ea typeface="+mn-ea"/>
                <a:cs typeface="+mn-cs"/>
              </a:rPr>
              <a:t>Analyze</a:t>
            </a:r>
            <a:r>
              <a:rPr lang="zh-CN" altLang="en-US" sz="1200" kern="1200" dirty="0" smtClean="0">
                <a:solidFill>
                  <a:schemeClr val="tx1"/>
                </a:solidFill>
                <a:latin typeface="+mn-lt"/>
                <a:ea typeface="+mn-ea"/>
                <a:cs typeface="+mn-cs"/>
              </a:rPr>
              <a:t>）、评估（</a:t>
            </a:r>
            <a:r>
              <a:rPr lang="en-US" sz="1200" kern="1200" dirty="0" smtClean="0">
                <a:solidFill>
                  <a:schemeClr val="tx1"/>
                </a:solidFill>
                <a:latin typeface="+mn-lt"/>
                <a:ea typeface="+mn-ea"/>
                <a:cs typeface="+mn-cs"/>
              </a:rPr>
              <a:t>Assess</a:t>
            </a:r>
            <a:r>
              <a:rPr lang="zh-CN" altLang="en-US" sz="1200" kern="1200" dirty="0" smtClean="0">
                <a:solidFill>
                  <a:schemeClr val="tx1"/>
                </a:solidFill>
                <a:latin typeface="+mn-lt"/>
                <a:ea typeface="+mn-ea"/>
                <a:cs typeface="+mn-cs"/>
              </a:rPr>
              <a:t>）、行动（</a:t>
            </a:r>
            <a:r>
              <a:rPr lang="en-US" sz="1200" kern="1200" dirty="0" smtClean="0">
                <a:solidFill>
                  <a:schemeClr val="tx1"/>
                </a:solidFill>
                <a:latin typeface="+mn-lt"/>
                <a:ea typeface="+mn-ea"/>
                <a:cs typeface="+mn-cs"/>
              </a:rPr>
              <a:t>Action</a:t>
            </a:r>
            <a:r>
              <a:rPr lang="zh-CN" altLang="en-US" sz="1200" kern="1200" dirty="0" smtClean="0">
                <a:solidFill>
                  <a:schemeClr val="tx1"/>
                </a:solidFill>
                <a:latin typeface="+mn-lt"/>
                <a:ea typeface="+mn-ea"/>
                <a:cs typeface="+mn-cs"/>
              </a:rPr>
              <a:t>）、自动化（</a:t>
            </a:r>
            <a:r>
              <a:rPr lang="en-US" sz="1200" kern="1200" dirty="0" smtClean="0">
                <a:solidFill>
                  <a:schemeClr val="tx1"/>
                </a:solidFill>
                <a:latin typeface="+mn-lt"/>
                <a:ea typeface="+mn-ea"/>
                <a:cs typeface="+mn-cs"/>
              </a:rPr>
              <a:t>Automate</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SAS</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SEMMA</a:t>
            </a:r>
            <a:r>
              <a:rPr lang="zh-CN" altLang="en-US" sz="1200" kern="1200" dirty="0" smtClean="0">
                <a:solidFill>
                  <a:schemeClr val="tx1"/>
                </a:solidFill>
                <a:latin typeface="+mn-lt"/>
                <a:ea typeface="+mn-ea"/>
                <a:cs typeface="+mn-cs"/>
              </a:rPr>
              <a:t>法 ，即抽（</a:t>
            </a:r>
            <a:r>
              <a:rPr lang="en-US" sz="1200" kern="1200" dirty="0" smtClean="0">
                <a:solidFill>
                  <a:schemeClr val="tx1"/>
                </a:solidFill>
                <a:latin typeface="+mn-lt"/>
                <a:ea typeface="+mn-ea"/>
                <a:cs typeface="+mn-cs"/>
              </a:rPr>
              <a:t>Sample</a:t>
            </a:r>
            <a:r>
              <a:rPr lang="zh-CN" altLang="en-US" sz="1200" kern="1200" dirty="0" smtClean="0">
                <a:solidFill>
                  <a:schemeClr val="tx1"/>
                </a:solidFill>
                <a:latin typeface="+mn-lt"/>
                <a:ea typeface="+mn-ea"/>
                <a:cs typeface="+mn-cs"/>
              </a:rPr>
              <a:t>）、探索（</a:t>
            </a:r>
            <a:r>
              <a:rPr lang="en-US" sz="1200" kern="1200" dirty="0" smtClean="0">
                <a:solidFill>
                  <a:schemeClr val="tx1"/>
                </a:solidFill>
                <a:latin typeface="+mn-lt"/>
                <a:ea typeface="+mn-ea"/>
                <a:cs typeface="+mn-cs"/>
              </a:rPr>
              <a:t>Explore</a:t>
            </a:r>
            <a:r>
              <a:rPr lang="zh-CN" altLang="en-US" sz="1200" kern="1200" dirty="0" smtClean="0">
                <a:solidFill>
                  <a:schemeClr val="tx1"/>
                </a:solidFill>
                <a:latin typeface="+mn-lt"/>
                <a:ea typeface="+mn-ea"/>
                <a:cs typeface="+mn-cs"/>
              </a:rPr>
              <a:t>）、建模（</a:t>
            </a:r>
            <a:r>
              <a:rPr lang="en-US" sz="1200" kern="1200" dirty="0" smtClean="0">
                <a:solidFill>
                  <a:schemeClr val="tx1"/>
                </a:solidFill>
                <a:latin typeface="+mn-lt"/>
                <a:ea typeface="+mn-ea"/>
                <a:cs typeface="+mn-cs"/>
              </a:rPr>
              <a:t>Model</a:t>
            </a:r>
            <a:r>
              <a:rPr lang="zh-CN" altLang="en-US" sz="1200" kern="1200" dirty="0" smtClean="0">
                <a:solidFill>
                  <a:schemeClr val="tx1"/>
                </a:solidFill>
                <a:latin typeface="+mn-lt"/>
                <a:ea typeface="+mn-ea"/>
                <a:cs typeface="+mn-cs"/>
              </a:rPr>
              <a:t>）、修正（</a:t>
            </a:r>
            <a:r>
              <a:rPr lang="en-US" sz="1200" kern="1200" dirty="0" smtClean="0">
                <a:solidFill>
                  <a:schemeClr val="tx1"/>
                </a:solidFill>
                <a:latin typeface="+mn-lt"/>
                <a:ea typeface="+mn-ea"/>
                <a:cs typeface="+mn-cs"/>
              </a:rPr>
              <a:t>Modify</a:t>
            </a:r>
            <a:r>
              <a:rPr lang="zh-CN" altLang="en-US" sz="1200" kern="1200" dirty="0" smtClean="0">
                <a:solidFill>
                  <a:schemeClr val="tx1"/>
                </a:solidFill>
                <a:latin typeface="+mn-lt"/>
                <a:ea typeface="+mn-ea"/>
                <a:cs typeface="+mn-cs"/>
              </a:rPr>
              <a:t>）、评估（</a:t>
            </a:r>
            <a:r>
              <a:rPr lang="en-US" sz="1200" kern="1200" dirty="0" smtClean="0">
                <a:solidFill>
                  <a:schemeClr val="tx1"/>
                </a:solidFill>
                <a:latin typeface="+mn-lt"/>
                <a:ea typeface="+mn-ea"/>
                <a:cs typeface="+mn-cs"/>
              </a:rPr>
              <a:t>Assess</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cs typeface="+mn-cs"/>
              </a:rPr>
              <a:t>数据挖掘特别兴趣小组（</a:t>
            </a:r>
            <a:r>
              <a:rPr lang="en-US" sz="1200" kern="1200" dirty="0" smtClean="0">
                <a:solidFill>
                  <a:schemeClr val="tx1"/>
                </a:solidFill>
                <a:latin typeface="+mn-lt"/>
                <a:ea typeface="+mn-ea"/>
                <a:cs typeface="+mn-cs"/>
              </a:rPr>
              <a:t>Special interest Group</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SIG</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跨行业数据挖掘过程标准</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，即</a:t>
            </a:r>
            <a:r>
              <a:rPr lang="en-US" sz="1200" kern="1200" dirty="0" smtClean="0">
                <a:solidFill>
                  <a:schemeClr val="tx1"/>
                </a:solidFill>
                <a:latin typeface="+mn-lt"/>
                <a:ea typeface="+mn-ea"/>
                <a:cs typeface="+mn-cs"/>
              </a:rPr>
              <a:t>CRISP-DM</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Cross-Industry Standard Process for Data Mining</a:t>
            </a:r>
            <a:r>
              <a:rPr lang="zh-CN" altLang="en-US" sz="1200" kern="1200" dirty="0" smtClean="0">
                <a:solidFill>
                  <a:schemeClr val="tx1"/>
                </a:solidFill>
                <a:latin typeface="+mn-lt"/>
                <a:ea typeface="+mn-ea"/>
                <a:cs typeface="+mn-cs"/>
              </a:rPr>
              <a:t>）。六个阶段分别是：商业理解（</a:t>
            </a:r>
            <a:r>
              <a:rPr lang="en-US" sz="1200" kern="1200" dirty="0" smtClean="0">
                <a:solidFill>
                  <a:schemeClr val="tx1"/>
                </a:solidFill>
                <a:latin typeface="+mn-lt"/>
                <a:ea typeface="+mn-ea"/>
                <a:cs typeface="+mn-cs"/>
              </a:rPr>
              <a:t>Business Understanding</a:t>
            </a:r>
            <a:r>
              <a:rPr lang="zh-CN" altLang="en-US" sz="1200" kern="1200" dirty="0" smtClean="0">
                <a:solidFill>
                  <a:schemeClr val="tx1"/>
                </a:solidFill>
                <a:latin typeface="+mn-lt"/>
                <a:ea typeface="+mn-ea"/>
                <a:cs typeface="+mn-cs"/>
              </a:rPr>
              <a:t>）、数据理解（</a:t>
            </a:r>
            <a:r>
              <a:rPr lang="en-US" sz="1200" kern="1200" dirty="0" smtClean="0">
                <a:solidFill>
                  <a:schemeClr val="tx1"/>
                </a:solidFill>
                <a:latin typeface="+mn-lt"/>
                <a:ea typeface="+mn-ea"/>
                <a:cs typeface="+mn-cs"/>
              </a:rPr>
              <a:t>Data Understanding</a:t>
            </a:r>
            <a:r>
              <a:rPr lang="zh-CN" altLang="en-US" sz="1200" kern="1200" dirty="0" smtClean="0">
                <a:solidFill>
                  <a:schemeClr val="tx1"/>
                </a:solidFill>
                <a:latin typeface="+mn-lt"/>
                <a:ea typeface="+mn-ea"/>
                <a:cs typeface="+mn-cs"/>
              </a:rPr>
              <a:t>）、数据准备（</a:t>
            </a:r>
            <a:r>
              <a:rPr lang="en-US" sz="1200" kern="1200" dirty="0" smtClean="0">
                <a:solidFill>
                  <a:schemeClr val="tx1"/>
                </a:solidFill>
                <a:latin typeface="+mn-lt"/>
                <a:ea typeface="+mn-ea"/>
                <a:cs typeface="+mn-cs"/>
              </a:rPr>
              <a:t>Data Preparation</a:t>
            </a:r>
            <a:r>
              <a:rPr lang="zh-CN" altLang="en-US" sz="1200" kern="1200" dirty="0" smtClean="0">
                <a:solidFill>
                  <a:schemeClr val="tx1"/>
                </a:solidFill>
                <a:latin typeface="+mn-lt"/>
                <a:ea typeface="+mn-ea"/>
                <a:cs typeface="+mn-cs"/>
              </a:rPr>
              <a:t>）、建立模型（</a:t>
            </a:r>
            <a:r>
              <a:rPr lang="en-US" sz="1200" kern="1200" dirty="0" smtClean="0">
                <a:solidFill>
                  <a:schemeClr val="tx1"/>
                </a:solidFill>
                <a:latin typeface="+mn-lt"/>
                <a:ea typeface="+mn-ea"/>
                <a:cs typeface="+mn-cs"/>
              </a:rPr>
              <a:t>Modeling</a:t>
            </a:r>
            <a:r>
              <a:rPr lang="zh-CN" altLang="en-US" sz="1200" kern="1200" dirty="0" smtClean="0">
                <a:solidFill>
                  <a:schemeClr val="tx1"/>
                </a:solidFill>
                <a:latin typeface="+mn-lt"/>
                <a:ea typeface="+mn-ea"/>
                <a:cs typeface="+mn-cs"/>
              </a:rPr>
              <a:t>）、模型评估（</a:t>
            </a:r>
            <a:r>
              <a:rPr lang="en-US" sz="1200" kern="1200" dirty="0" smtClean="0">
                <a:solidFill>
                  <a:schemeClr val="tx1"/>
                </a:solidFill>
                <a:latin typeface="+mn-lt"/>
                <a:ea typeface="+mn-ea"/>
                <a:cs typeface="+mn-cs"/>
              </a:rPr>
              <a:t>Evaluation</a:t>
            </a:r>
            <a:r>
              <a:rPr lang="zh-CN" altLang="en-US" sz="1200" kern="1200" dirty="0" smtClean="0">
                <a:solidFill>
                  <a:schemeClr val="tx1"/>
                </a:solidFill>
                <a:latin typeface="+mn-lt"/>
                <a:ea typeface="+mn-ea"/>
                <a:cs typeface="+mn-cs"/>
              </a:rPr>
              <a:t>）和结果部署（</a:t>
            </a:r>
            <a:r>
              <a:rPr lang="en-US" sz="1200" kern="1200" dirty="0" smtClean="0">
                <a:solidFill>
                  <a:schemeClr val="tx1"/>
                </a:solidFill>
                <a:latin typeface="+mn-lt"/>
                <a:ea typeface="+mn-ea"/>
                <a:cs typeface="+mn-cs"/>
              </a:rPr>
              <a:t>Deployment</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Two Crows</a:t>
            </a:r>
            <a:r>
              <a:rPr lang="zh-CN" altLang="en-US" sz="1200" kern="1200" dirty="0" smtClean="0">
                <a:solidFill>
                  <a:schemeClr val="tx1"/>
                </a:solidFill>
                <a:latin typeface="+mn-lt"/>
                <a:ea typeface="+mn-ea"/>
                <a:cs typeface="+mn-cs"/>
              </a:rPr>
              <a:t>提出的模型：</a:t>
            </a:r>
            <a:r>
              <a:rPr lang="en-US" sz="1200" b="0" i="0" kern="1200" dirty="0" smtClean="0">
                <a:solidFill>
                  <a:schemeClr val="tx1"/>
                </a:solidFill>
                <a:latin typeface="+mn-lt"/>
                <a:ea typeface="+mn-ea"/>
                <a:cs typeface="+mn-cs"/>
              </a:rPr>
              <a:t>Define Business Problem-Build Data Mining Database-Explore Data-Prepare Data for Modeling-Building Model- Evaluation Model-Deploy Model and Result</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4</a:t>
            </a:fld>
            <a:endParaRPr lang="zh-CN" altLang="en-US"/>
          </a:p>
        </p:txBody>
      </p:sp>
    </p:spTree>
    <p:extLst>
      <p:ext uri="{BB962C8B-B14F-4D97-AF65-F5344CB8AC3E}">
        <p14:creationId xmlns="" xmlns:p14="http://schemas.microsoft.com/office/powerpoint/2010/main" val="1042513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数据挖掘需要进行数据预处理、数据仓库的建立、数据挖掘方法的运用、数据挖掘结果的评估等过程</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5</a:t>
            </a:fld>
            <a:endParaRPr lang="zh-CN" altLang="en-US"/>
          </a:p>
        </p:txBody>
      </p:sp>
    </p:spTree>
    <p:extLst>
      <p:ext uri="{BB962C8B-B14F-4D97-AF65-F5344CB8AC3E}">
        <p14:creationId xmlns="" xmlns:p14="http://schemas.microsoft.com/office/powerpoint/2010/main" val="3407411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6</a:t>
            </a:fld>
            <a:endParaRPr lang="zh-CN" altLang="en-US"/>
          </a:p>
        </p:txBody>
      </p:sp>
    </p:spTree>
    <p:extLst>
      <p:ext uri="{BB962C8B-B14F-4D97-AF65-F5344CB8AC3E}">
        <p14:creationId xmlns="" xmlns:p14="http://schemas.microsoft.com/office/powerpoint/2010/main" val="1980212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cs typeface="+mn-cs"/>
              </a:rPr>
              <a:t>数据仓库将分散在各个不同数据库系统（</a:t>
            </a:r>
            <a:r>
              <a:rPr lang="en-US" sz="1200" kern="1200" dirty="0" smtClean="0">
                <a:solidFill>
                  <a:schemeClr val="tx1"/>
                </a:solidFill>
                <a:latin typeface="+mn-lt"/>
                <a:ea typeface="+mn-ea"/>
                <a:cs typeface="+mn-cs"/>
              </a:rPr>
              <a:t>Database System</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DBS</a:t>
            </a:r>
            <a:r>
              <a:rPr lang="zh-CN" altLang="en-US" sz="1200" kern="1200" dirty="0" smtClean="0">
                <a:solidFill>
                  <a:schemeClr val="tx1"/>
                </a:solidFill>
                <a:latin typeface="+mn-lt"/>
                <a:ea typeface="+mn-ea"/>
                <a:cs typeface="+mn-cs"/>
              </a:rPr>
              <a:t>）中的数据安全、平稳、有效的集成一个共同的平台上，并对数据进行再加工，形成了一个综合的、面向分析的环境，从而更好地支持了决策分析。而建立基于数据库系统基础上的数据仓库，实现在数据库系统之上的高层管理、智能管理以及知识管理，已成为目前实现数据挖掘和支持高层管理决策分析的目标。</a:t>
            </a:r>
          </a:p>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7</a:t>
            </a:fld>
            <a:endParaRPr lang="zh-CN" altLang="en-US"/>
          </a:p>
        </p:txBody>
      </p:sp>
    </p:spTree>
    <p:extLst>
      <p:ext uri="{BB962C8B-B14F-4D97-AF65-F5344CB8AC3E}">
        <p14:creationId xmlns="" xmlns:p14="http://schemas.microsoft.com/office/powerpoint/2010/main" val="4164321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第一阶段主要完成的是构建分类模型，用于描述给定的数据集合，通过分析由属性描述的数据集合来建立反映数据集合特性的模型。</a:t>
            </a:r>
            <a:endParaRPr lang="en-US" altLang="zh-CN" sz="1200" kern="1200" dirty="0" smtClean="0">
              <a:solidFill>
                <a:schemeClr val="tx1"/>
              </a:solidFill>
              <a:latin typeface="+mn-lt"/>
              <a:ea typeface="+mn-ea"/>
              <a:cs typeface="+mn-cs"/>
            </a:endParaRPr>
          </a:p>
          <a:p>
            <a:r>
              <a:rPr lang="zh-CN" altLang="en-US" sz="1200" kern="1200" dirty="0" smtClean="0">
                <a:solidFill>
                  <a:schemeClr val="tx1"/>
                </a:solidFill>
                <a:latin typeface="+mn-lt"/>
                <a:ea typeface="+mn-ea"/>
                <a:cs typeface="+mn-cs"/>
              </a:rPr>
              <a:t>第二阶段就是使用已构建的模型来预测给定的数据对象的类别。</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8</a:t>
            </a:fld>
            <a:endParaRPr lang="zh-CN" altLang="en-US"/>
          </a:p>
        </p:txBody>
      </p:sp>
    </p:spTree>
    <p:extLst>
      <p:ext uri="{BB962C8B-B14F-4D97-AF65-F5344CB8AC3E}">
        <p14:creationId xmlns="" xmlns:p14="http://schemas.microsoft.com/office/powerpoint/2010/main" val="2621701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9</a:t>
            </a:fld>
            <a:endParaRPr lang="zh-CN" altLang="en-US"/>
          </a:p>
        </p:txBody>
      </p:sp>
    </p:spTree>
    <p:extLst>
      <p:ext uri="{BB962C8B-B14F-4D97-AF65-F5344CB8AC3E}">
        <p14:creationId xmlns="" xmlns:p14="http://schemas.microsoft.com/office/powerpoint/2010/main" val="528758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贝叶斯定理可表述为：后验概率</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标准相似度</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先验概率</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10</a:t>
            </a:fld>
            <a:endParaRPr lang="zh-CN" altLang="en-US"/>
          </a:p>
        </p:txBody>
      </p:sp>
    </p:spTree>
    <p:extLst>
      <p:ext uri="{BB962C8B-B14F-4D97-AF65-F5344CB8AC3E}">
        <p14:creationId xmlns="" xmlns:p14="http://schemas.microsoft.com/office/powerpoint/2010/main" val="163283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dirty="0" smtClean="0">
                <a:solidFill>
                  <a:schemeClr val="tx1"/>
                </a:solidFill>
                <a:effectLst/>
                <a:latin typeface="+mn-lt"/>
                <a:ea typeface="+mn-ea"/>
                <a:cs typeface="+mn-cs"/>
              </a:rPr>
              <a:t>k-</a:t>
            </a:r>
            <a:r>
              <a:rPr lang="zh-CN" altLang="zh-CN" sz="1200" kern="1200" dirty="0" smtClean="0">
                <a:solidFill>
                  <a:schemeClr val="tx1"/>
                </a:solidFill>
                <a:effectLst/>
                <a:latin typeface="+mn-lt"/>
                <a:ea typeface="+mn-ea"/>
                <a:cs typeface="+mn-cs"/>
              </a:rPr>
              <a:t>近邻分类方法不是事先通过数据来学好分类模型，再对未知样本分类，而存储带有标记的样本集，给一个没有标记的样本，用样本集中</a:t>
            </a:r>
            <a:r>
              <a:rPr lang="en-US" altLang="zh-CN" sz="1200" kern="1200" dirty="0" smtClean="0">
                <a:solidFill>
                  <a:schemeClr val="tx1"/>
                </a:solidFill>
                <a:effectLst/>
                <a:latin typeface="+mn-lt"/>
                <a:ea typeface="+mn-ea"/>
                <a:cs typeface="+mn-cs"/>
              </a:rPr>
              <a:t>k</a:t>
            </a:r>
            <a:r>
              <a:rPr lang="zh-CN" altLang="zh-CN" sz="1200" kern="1200" dirty="0" smtClean="0">
                <a:solidFill>
                  <a:schemeClr val="tx1"/>
                </a:solidFill>
                <a:effectLst/>
                <a:latin typeface="+mn-lt"/>
                <a:ea typeface="+mn-ea"/>
                <a:cs typeface="+mn-cs"/>
              </a:rPr>
              <a:t>个与之相近的样本对其进行即时分类。</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11</a:t>
            </a:fld>
            <a:endParaRPr lang="zh-CN" altLang="en-US"/>
          </a:p>
        </p:txBody>
      </p:sp>
    </p:spTree>
    <p:extLst>
      <p:ext uri="{BB962C8B-B14F-4D97-AF65-F5344CB8AC3E}">
        <p14:creationId xmlns="" xmlns:p14="http://schemas.microsoft.com/office/powerpoint/2010/main" val="2035571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12</a:t>
            </a:fld>
            <a:endParaRPr lang="zh-CN" altLang="en-US"/>
          </a:p>
        </p:txBody>
      </p:sp>
    </p:spTree>
    <p:extLst>
      <p:ext uri="{BB962C8B-B14F-4D97-AF65-F5344CB8AC3E}">
        <p14:creationId xmlns="" xmlns:p14="http://schemas.microsoft.com/office/powerpoint/2010/main" val="1295763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13</a:t>
            </a:fld>
            <a:endParaRPr lang="zh-CN" altLang="en-US"/>
          </a:p>
        </p:txBody>
      </p:sp>
    </p:spTree>
    <p:extLst>
      <p:ext uri="{BB962C8B-B14F-4D97-AF65-F5344CB8AC3E}">
        <p14:creationId xmlns="" xmlns:p14="http://schemas.microsoft.com/office/powerpoint/2010/main" val="1715041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14</a:t>
            </a:fld>
            <a:endParaRPr lang="zh-CN" altLang="en-US"/>
          </a:p>
        </p:txBody>
      </p:sp>
    </p:spTree>
    <p:extLst>
      <p:ext uri="{BB962C8B-B14F-4D97-AF65-F5344CB8AC3E}">
        <p14:creationId xmlns="" xmlns:p14="http://schemas.microsoft.com/office/powerpoint/2010/main" val="2845004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15</a:t>
            </a:fld>
            <a:endParaRPr lang="zh-CN" altLang="en-US"/>
          </a:p>
        </p:txBody>
      </p:sp>
    </p:spTree>
    <p:extLst>
      <p:ext uri="{BB962C8B-B14F-4D97-AF65-F5344CB8AC3E}">
        <p14:creationId xmlns="" xmlns:p14="http://schemas.microsoft.com/office/powerpoint/2010/main" val="3309310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16</a:t>
            </a:fld>
            <a:endParaRPr lang="zh-CN" altLang="en-US"/>
          </a:p>
        </p:txBody>
      </p:sp>
    </p:spTree>
    <p:extLst>
      <p:ext uri="{BB962C8B-B14F-4D97-AF65-F5344CB8AC3E}">
        <p14:creationId xmlns="" xmlns:p14="http://schemas.microsoft.com/office/powerpoint/2010/main" val="3072758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聚类在数据挖掘中的典型应用有以下几个方面。第一、聚类分析可以作为其它算法的预处理步骤：利用聚类进行数据预处理，可以获得数据的基本概况，在此基础上进行特征抽取或分类就可以提高精确度和挖掘效率。也可将聚类结果用于进一步关联分析，以获得进一步的有用信息。第二、可以作为一个独立的工具来获得数据的分布情况：聚类分析是获得数据分布情况的有效方法。通过观察聚类得到的每个簇的特点，可以集中对特定的某些簇作进一步分析。这在诸如市场细分、目标顾客定位、业绩估评、生物种群划分等方面具有广阔的应用前景。第三、聚类分析可以完成孤立点挖掘：许多数据挖掘算法试图使孤立点影响最小化，或者排除它们。然而孤立点本身可能是非常有用的。如在金融欺诈探测中，孤立点可能预示着金融欺诈行为的存在。</a:t>
            </a: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17</a:t>
            </a:fld>
            <a:endParaRPr lang="zh-CN" altLang="en-US"/>
          </a:p>
        </p:txBody>
      </p:sp>
    </p:spTree>
    <p:extLst>
      <p:ext uri="{BB962C8B-B14F-4D97-AF65-F5344CB8AC3E}">
        <p14:creationId xmlns="" xmlns:p14="http://schemas.microsoft.com/office/powerpoint/2010/main" val="390399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划分聚类算法的主要思想：给定一个有</a:t>
            </a:r>
            <a:r>
              <a:rPr lang="en-US" sz="1200" kern="1200" dirty="0" smtClean="0">
                <a:solidFill>
                  <a:schemeClr val="tx1"/>
                </a:solidFill>
                <a:latin typeface="+mn-lt"/>
                <a:ea typeface="+mn-ea"/>
                <a:cs typeface="+mn-cs"/>
              </a:rPr>
              <a:t>n</a:t>
            </a:r>
            <a:r>
              <a:rPr lang="zh-CN" altLang="en-US" sz="1200" kern="1200" dirty="0" smtClean="0">
                <a:solidFill>
                  <a:schemeClr val="tx1"/>
                </a:solidFill>
                <a:latin typeface="+mn-lt"/>
                <a:ea typeface="+mn-ea"/>
                <a:cs typeface="+mn-cs"/>
              </a:rPr>
              <a:t>个对象的数据集，划分聚类技术将构造数据</a:t>
            </a:r>
            <a:r>
              <a:rPr lang="en-US" sz="1200" kern="1200" dirty="0" smtClean="0">
                <a:solidFill>
                  <a:schemeClr val="tx1"/>
                </a:solidFill>
                <a:latin typeface="+mn-lt"/>
                <a:ea typeface="+mn-ea"/>
                <a:cs typeface="+mn-cs"/>
              </a:rPr>
              <a:t>k</a:t>
            </a:r>
            <a:r>
              <a:rPr lang="zh-CN" altLang="en-US" sz="1200" kern="1200" dirty="0" smtClean="0">
                <a:solidFill>
                  <a:schemeClr val="tx1"/>
                </a:solidFill>
                <a:latin typeface="+mn-lt"/>
                <a:ea typeface="+mn-ea"/>
                <a:cs typeface="+mn-cs"/>
              </a:rPr>
              <a:t>个划分，每一个划分就代表一个簇，</a:t>
            </a:r>
            <a:r>
              <a:rPr lang="en-US" sz="1200" kern="1200" dirty="0" smtClean="0">
                <a:solidFill>
                  <a:schemeClr val="tx1"/>
                </a:solidFill>
                <a:latin typeface="+mn-lt"/>
                <a:ea typeface="+mn-ea"/>
                <a:cs typeface="+mn-cs"/>
              </a:rPr>
              <a:t>k n</a:t>
            </a:r>
            <a:r>
              <a:rPr lang="zh-CN" altLang="en-US" sz="1200" kern="1200" dirty="0" smtClean="0">
                <a:solidFill>
                  <a:schemeClr val="tx1"/>
                </a:solidFill>
                <a:latin typeface="+mn-lt"/>
                <a:ea typeface="+mn-ea"/>
                <a:cs typeface="+mn-cs"/>
              </a:rPr>
              <a:t>。也就是说，它将数据划分为</a:t>
            </a:r>
            <a:r>
              <a:rPr lang="en-US" sz="1200" kern="1200" dirty="0" smtClean="0">
                <a:solidFill>
                  <a:schemeClr val="tx1"/>
                </a:solidFill>
                <a:latin typeface="+mn-lt"/>
                <a:ea typeface="+mn-ea"/>
                <a:cs typeface="+mn-cs"/>
              </a:rPr>
              <a:t>k</a:t>
            </a:r>
            <a:r>
              <a:rPr lang="zh-CN" altLang="en-US" sz="1200" kern="1200" dirty="0" smtClean="0">
                <a:solidFill>
                  <a:schemeClr val="tx1"/>
                </a:solidFill>
                <a:latin typeface="+mn-lt"/>
                <a:ea typeface="+mn-ea"/>
                <a:cs typeface="+mn-cs"/>
              </a:rPr>
              <a:t>个簇，而且这</a:t>
            </a:r>
            <a:r>
              <a:rPr lang="en-US" sz="1200" kern="1200" dirty="0" smtClean="0">
                <a:solidFill>
                  <a:schemeClr val="tx1"/>
                </a:solidFill>
                <a:latin typeface="+mn-lt"/>
                <a:ea typeface="+mn-ea"/>
                <a:cs typeface="+mn-cs"/>
              </a:rPr>
              <a:t>k</a:t>
            </a:r>
            <a:r>
              <a:rPr lang="zh-CN" altLang="en-US" sz="1200" kern="1200" dirty="0" smtClean="0">
                <a:solidFill>
                  <a:schemeClr val="tx1"/>
                </a:solidFill>
                <a:latin typeface="+mn-lt"/>
                <a:ea typeface="+mn-ea"/>
                <a:cs typeface="+mn-cs"/>
              </a:rPr>
              <a:t>个划分满足下列条件：</a:t>
            </a:r>
          </a:p>
          <a:p>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1</a:t>
            </a:r>
            <a:r>
              <a:rPr lang="zh-CN" altLang="en-US" sz="1200" kern="1200" dirty="0" smtClean="0">
                <a:solidFill>
                  <a:schemeClr val="tx1"/>
                </a:solidFill>
                <a:latin typeface="+mn-lt"/>
                <a:ea typeface="+mn-ea"/>
                <a:cs typeface="+mn-cs"/>
              </a:rPr>
              <a:t>）每一个簇至少包含一个对象。</a:t>
            </a:r>
          </a:p>
          <a:p>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2</a:t>
            </a:r>
            <a:r>
              <a:rPr lang="zh-CN" altLang="en-US" sz="1200" kern="1200" dirty="0" smtClean="0">
                <a:solidFill>
                  <a:schemeClr val="tx1"/>
                </a:solidFill>
                <a:latin typeface="+mn-lt"/>
                <a:ea typeface="+mn-ea"/>
                <a:cs typeface="+mn-cs"/>
              </a:rPr>
              <a:t>）每一个对象属于且仅属于一个簇。</a:t>
            </a:r>
          </a:p>
          <a:p>
            <a:r>
              <a:rPr lang="zh-CN" altLang="en-US" sz="1200" kern="1200" dirty="0" smtClean="0">
                <a:solidFill>
                  <a:schemeClr val="tx1"/>
                </a:solidFill>
                <a:latin typeface="+mn-lt"/>
                <a:ea typeface="+mn-ea"/>
                <a:cs typeface="+mn-cs"/>
              </a:rPr>
              <a:t>对于给定的</a:t>
            </a:r>
            <a:r>
              <a:rPr lang="en-US" sz="1200" kern="1200" dirty="0" smtClean="0">
                <a:solidFill>
                  <a:schemeClr val="tx1"/>
                </a:solidFill>
                <a:latin typeface="+mn-lt"/>
                <a:ea typeface="+mn-ea"/>
                <a:cs typeface="+mn-cs"/>
              </a:rPr>
              <a:t>k</a:t>
            </a:r>
            <a:r>
              <a:rPr lang="zh-CN" altLang="en-US" sz="1200" kern="1200" dirty="0" smtClean="0">
                <a:solidFill>
                  <a:schemeClr val="tx1"/>
                </a:solidFill>
                <a:latin typeface="+mn-lt"/>
                <a:ea typeface="+mn-ea"/>
                <a:cs typeface="+mn-cs"/>
              </a:rPr>
              <a:t>，算法首先给出一个初始的划分方法，以后通过反复迭代的方法改变划分，使得每一次改进之后的划分方案都较前一次更好。</a:t>
            </a:r>
          </a:p>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18</a:t>
            </a:fld>
            <a:endParaRPr lang="zh-CN" altLang="en-US"/>
          </a:p>
        </p:txBody>
      </p:sp>
    </p:spTree>
    <p:extLst>
      <p:ext uri="{BB962C8B-B14F-4D97-AF65-F5344CB8AC3E}">
        <p14:creationId xmlns="" xmlns:p14="http://schemas.microsoft.com/office/powerpoint/2010/main" val="3636480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凝聚的层次聚类：一种自底向上的策略，首先将每个对象作为一个簇，然后合并这些原子簇为越来越大的簇，直到某个终结条件被满足。</a:t>
            </a:r>
            <a:endParaRPr lang="en-US" altLang="zh-CN" sz="1200" kern="1200" dirty="0" smtClean="0">
              <a:solidFill>
                <a:schemeClr val="tx1"/>
              </a:solidFill>
              <a:latin typeface="+mn-lt"/>
              <a:ea typeface="+mn-ea"/>
              <a:cs typeface="+mn-cs"/>
            </a:endParaRPr>
          </a:p>
          <a:p>
            <a:r>
              <a:rPr lang="zh-CN" altLang="en-US" sz="1200" kern="1200" dirty="0" smtClean="0">
                <a:solidFill>
                  <a:schemeClr val="tx1"/>
                </a:solidFill>
                <a:latin typeface="+mn-lt"/>
                <a:ea typeface="+mn-ea"/>
                <a:cs typeface="+mn-cs"/>
              </a:rPr>
              <a:t>分裂的层次聚类：采用自顶向下的策略，它首先将所有对象置于一个簇中，然后逐渐细分为越来越小的簇，直到达到了某个终结条件。</a:t>
            </a:r>
            <a:endParaRPr lang="en-US" altLang="zh-CN" sz="1200" kern="1200" dirty="0" smtClean="0">
              <a:solidFill>
                <a:schemeClr val="tx1"/>
              </a:solidFill>
              <a:latin typeface="+mn-lt"/>
              <a:ea typeface="+mn-ea"/>
              <a:cs typeface="+mn-cs"/>
            </a:endParaRPr>
          </a:p>
          <a:p>
            <a:r>
              <a:rPr lang="zh-CN" altLang="en-US" sz="1200" kern="1200" dirty="0" smtClean="0">
                <a:solidFill>
                  <a:schemeClr val="tx1"/>
                </a:solidFill>
                <a:latin typeface="+mn-lt"/>
                <a:ea typeface="+mn-ea"/>
                <a:cs typeface="+mn-cs"/>
              </a:rPr>
              <a:t>层次凝聚的代表是</a:t>
            </a:r>
            <a:r>
              <a:rPr lang="en-US" sz="1200" kern="1200" dirty="0" smtClean="0">
                <a:solidFill>
                  <a:schemeClr val="tx1"/>
                </a:solidFill>
                <a:latin typeface="+mn-lt"/>
                <a:ea typeface="+mn-ea"/>
                <a:cs typeface="+mn-cs"/>
              </a:rPr>
              <a:t>AGNES</a:t>
            </a:r>
            <a:r>
              <a:rPr lang="zh-CN" altLang="en-US" sz="1200" kern="1200" dirty="0" smtClean="0">
                <a:solidFill>
                  <a:schemeClr val="tx1"/>
                </a:solidFill>
                <a:latin typeface="+mn-lt"/>
                <a:ea typeface="+mn-ea"/>
                <a:cs typeface="+mn-cs"/>
              </a:rPr>
              <a:t>算法。层次分裂的代表是</a:t>
            </a:r>
            <a:r>
              <a:rPr lang="en-US" sz="1200" kern="1200" dirty="0" smtClean="0">
                <a:solidFill>
                  <a:schemeClr val="tx1"/>
                </a:solidFill>
                <a:latin typeface="+mn-lt"/>
                <a:ea typeface="+mn-ea"/>
                <a:cs typeface="+mn-cs"/>
              </a:rPr>
              <a:t>DIANA</a:t>
            </a:r>
            <a:r>
              <a:rPr lang="zh-CN" altLang="en-US" sz="1200" kern="1200" dirty="0" smtClean="0">
                <a:solidFill>
                  <a:schemeClr val="tx1"/>
                </a:solidFill>
                <a:latin typeface="+mn-lt"/>
                <a:ea typeface="+mn-ea"/>
                <a:cs typeface="+mn-cs"/>
              </a:rPr>
              <a:t>算法。</a:t>
            </a: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19</a:t>
            </a:fld>
            <a:endParaRPr lang="zh-CN" altLang="en-US"/>
          </a:p>
        </p:txBody>
      </p:sp>
    </p:spTree>
    <p:extLst>
      <p:ext uri="{BB962C8B-B14F-4D97-AF65-F5344CB8AC3E}">
        <p14:creationId xmlns="" xmlns:p14="http://schemas.microsoft.com/office/powerpoint/2010/main" val="35715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20</a:t>
            </a:fld>
            <a:endParaRPr lang="zh-CN" altLang="en-US"/>
          </a:p>
        </p:txBody>
      </p:sp>
    </p:spTree>
    <p:extLst>
      <p:ext uri="{BB962C8B-B14F-4D97-AF65-F5344CB8AC3E}">
        <p14:creationId xmlns="" xmlns:p14="http://schemas.microsoft.com/office/powerpoint/2010/main" val="672903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21</a:t>
            </a:fld>
            <a:endParaRPr lang="zh-CN" altLang="en-US"/>
          </a:p>
        </p:txBody>
      </p:sp>
    </p:spTree>
    <p:extLst>
      <p:ext uri="{BB962C8B-B14F-4D97-AF65-F5344CB8AC3E}">
        <p14:creationId xmlns="" xmlns:p14="http://schemas.microsoft.com/office/powerpoint/2010/main" val="2755733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smtClean="0">
                <a:solidFill>
                  <a:schemeClr val="tx1"/>
                </a:solidFill>
                <a:latin typeface="+mn-lt"/>
                <a:ea typeface="+mn-ea"/>
                <a:cs typeface="+mn-cs"/>
              </a:rPr>
              <a:t>在一家超市中，通过大数据分析发现了一个特别有趣的现象：尿布与啤酒这两种风马牛不相及的商品的销售数据曲线竟然初期的相似，于是就将尿布与啤酒摆在一起。没想到这一举措居然使尿布和啤酒的销量大幅增加了。这可不是一个笑话，而是一直被商家所津津乐道的发生在美国沃尔玛连锁超市的真实大数据案例。原来，美国的妇女通常在家照顾孩子，所 以她们经常会嘱咐丈夫在下班回家的路上为孩子买尿布，而丈夫在买尿布的同时又会顺手购买自己爱喝的啤酒。</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22</a:t>
            </a:fld>
            <a:endParaRPr lang="zh-CN" altLang="en-US"/>
          </a:p>
        </p:txBody>
      </p:sp>
    </p:spTree>
    <p:extLst>
      <p:ext uri="{BB962C8B-B14F-4D97-AF65-F5344CB8AC3E}">
        <p14:creationId xmlns="" xmlns:p14="http://schemas.microsoft.com/office/powerpoint/2010/main" val="2573890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smtClean="0">
                <a:solidFill>
                  <a:schemeClr val="tx1"/>
                </a:solidFill>
                <a:latin typeface="+mn-lt"/>
                <a:ea typeface="+mn-ea"/>
                <a:cs typeface="+mn-cs"/>
              </a:rPr>
              <a:t>构成社会网络的主要因素有：行动者（</a:t>
            </a:r>
            <a:r>
              <a:rPr lang="en-US" sz="1200" kern="1200" dirty="0" smtClean="0">
                <a:solidFill>
                  <a:schemeClr val="tx1"/>
                </a:solidFill>
                <a:latin typeface="+mn-lt"/>
                <a:ea typeface="+mn-ea"/>
                <a:cs typeface="+mn-cs"/>
              </a:rPr>
              <a:t>Actor</a:t>
            </a:r>
            <a:r>
              <a:rPr lang="zh-CN" altLang="en-US" sz="1200" kern="1200" dirty="0" smtClean="0">
                <a:solidFill>
                  <a:schemeClr val="tx1"/>
                </a:solidFill>
                <a:latin typeface="+mn-lt"/>
                <a:ea typeface="+mn-ea"/>
                <a:cs typeface="+mn-cs"/>
              </a:rPr>
              <a:t>）、关系纽带（</a:t>
            </a:r>
            <a:r>
              <a:rPr lang="en-US" sz="1200" kern="1200" dirty="0" smtClean="0">
                <a:solidFill>
                  <a:schemeClr val="tx1"/>
                </a:solidFill>
                <a:latin typeface="+mn-lt"/>
                <a:ea typeface="+mn-ea"/>
                <a:cs typeface="+mn-cs"/>
              </a:rPr>
              <a:t>Relational Tie</a:t>
            </a:r>
            <a:r>
              <a:rPr lang="zh-CN" altLang="en-US" sz="1200" kern="1200" dirty="0" smtClean="0">
                <a:solidFill>
                  <a:schemeClr val="tx1"/>
                </a:solidFill>
                <a:latin typeface="+mn-lt"/>
                <a:ea typeface="+mn-ea"/>
                <a:cs typeface="+mn-cs"/>
              </a:rPr>
              <a:t>）、二人组（</a:t>
            </a:r>
            <a:r>
              <a:rPr lang="en-US" sz="1200" kern="1200" dirty="0" smtClean="0">
                <a:solidFill>
                  <a:schemeClr val="tx1"/>
                </a:solidFill>
                <a:latin typeface="+mn-lt"/>
                <a:ea typeface="+mn-ea"/>
                <a:cs typeface="+mn-cs"/>
              </a:rPr>
              <a:t>Dyad</a:t>
            </a:r>
            <a:r>
              <a:rPr lang="zh-CN" altLang="en-US" sz="1200" kern="1200" dirty="0" smtClean="0">
                <a:solidFill>
                  <a:schemeClr val="tx1"/>
                </a:solidFill>
                <a:latin typeface="+mn-lt"/>
                <a:ea typeface="+mn-ea"/>
                <a:cs typeface="+mn-cs"/>
              </a:rPr>
              <a:t>）、三人组（</a:t>
            </a:r>
            <a:r>
              <a:rPr lang="en-US" sz="1200" kern="1200" dirty="0" smtClean="0">
                <a:solidFill>
                  <a:schemeClr val="tx1"/>
                </a:solidFill>
                <a:latin typeface="+mn-lt"/>
                <a:ea typeface="+mn-ea"/>
                <a:cs typeface="+mn-cs"/>
              </a:rPr>
              <a:t>Triad</a:t>
            </a:r>
            <a:r>
              <a:rPr lang="zh-CN" altLang="en-US" sz="1200" kern="1200" dirty="0" smtClean="0">
                <a:solidFill>
                  <a:schemeClr val="tx1"/>
                </a:solidFill>
                <a:latin typeface="+mn-lt"/>
                <a:ea typeface="+mn-ea"/>
                <a:cs typeface="+mn-cs"/>
              </a:rPr>
              <a:t>）、子群（</a:t>
            </a:r>
            <a:r>
              <a:rPr lang="en-US" sz="1200" kern="1200" dirty="0" smtClean="0">
                <a:solidFill>
                  <a:schemeClr val="tx1"/>
                </a:solidFill>
                <a:latin typeface="+mn-lt"/>
                <a:ea typeface="+mn-ea"/>
                <a:cs typeface="+mn-cs"/>
              </a:rPr>
              <a:t>Subgroup</a:t>
            </a:r>
            <a:r>
              <a:rPr lang="zh-CN" altLang="en-US" sz="1200" kern="1200" dirty="0" smtClean="0">
                <a:solidFill>
                  <a:schemeClr val="tx1"/>
                </a:solidFill>
                <a:latin typeface="+mn-lt"/>
                <a:ea typeface="+mn-ea"/>
                <a:cs typeface="+mn-cs"/>
              </a:rPr>
              <a:t>）和群体（</a:t>
            </a:r>
            <a:r>
              <a:rPr lang="en-US" sz="1200" kern="1200" dirty="0" smtClean="0">
                <a:solidFill>
                  <a:schemeClr val="tx1"/>
                </a:solidFill>
                <a:latin typeface="+mn-lt"/>
                <a:ea typeface="+mn-ea"/>
                <a:cs typeface="+mn-cs"/>
              </a:rPr>
              <a:t>Group</a:t>
            </a:r>
            <a:r>
              <a:rPr lang="zh-CN" altLang="en-US" sz="1200" kern="1200" dirty="0" smtClean="0">
                <a:solidFill>
                  <a:schemeClr val="tx1"/>
                </a:solidFill>
                <a:latin typeface="+mn-lt"/>
                <a:ea typeface="+mn-ea"/>
                <a:cs typeface="+mn-cs"/>
              </a:rPr>
              <a:t>）。其中，行动者除了可以代表个人，还可以代表一个群体性的社会单位。每个行动者在网络中被标记为一个节点（</a:t>
            </a:r>
            <a:r>
              <a:rPr lang="en-US" sz="1200" kern="1200" dirty="0" smtClean="0">
                <a:solidFill>
                  <a:schemeClr val="tx1"/>
                </a:solidFill>
                <a:latin typeface="+mn-lt"/>
                <a:ea typeface="+mn-ea"/>
                <a:cs typeface="+mn-cs"/>
              </a:rPr>
              <a:t>Node</a:t>
            </a:r>
            <a:r>
              <a:rPr lang="zh-CN" altLang="en-US" sz="1200" kern="1200" dirty="0" smtClean="0">
                <a:solidFill>
                  <a:schemeClr val="tx1"/>
                </a:solidFill>
                <a:latin typeface="+mn-lt"/>
                <a:ea typeface="+mn-ea"/>
                <a:cs typeface="+mn-cs"/>
              </a:rPr>
              <a:t>）。其中，每个节点（行动者）本身带有若干属性（</a:t>
            </a:r>
            <a:r>
              <a:rPr lang="en-US" sz="1200" kern="1200" dirty="0" smtClean="0">
                <a:solidFill>
                  <a:schemeClr val="tx1"/>
                </a:solidFill>
                <a:latin typeface="+mn-lt"/>
                <a:ea typeface="+mn-ea"/>
                <a:cs typeface="+mn-cs"/>
              </a:rPr>
              <a:t>Attribute</a:t>
            </a:r>
            <a:r>
              <a:rPr lang="zh-CN" altLang="en-US" sz="1200" kern="1200" dirty="0" smtClean="0">
                <a:solidFill>
                  <a:schemeClr val="tx1"/>
                </a:solidFill>
                <a:latin typeface="+mn-lt"/>
                <a:ea typeface="+mn-ea"/>
                <a:cs typeface="+mn-cs"/>
              </a:rPr>
              <a:t>）或特征（</a:t>
            </a:r>
            <a:r>
              <a:rPr lang="en-US" sz="1200" kern="1200" dirty="0" smtClean="0">
                <a:solidFill>
                  <a:schemeClr val="tx1"/>
                </a:solidFill>
                <a:latin typeface="+mn-lt"/>
                <a:ea typeface="+mn-ea"/>
                <a:cs typeface="+mn-cs"/>
              </a:rPr>
              <a:t>Feature</a:t>
            </a:r>
            <a:r>
              <a:rPr lang="zh-CN" altLang="en-US" sz="1200" kern="1200" dirty="0" smtClean="0">
                <a:solidFill>
                  <a:schemeClr val="tx1"/>
                </a:solidFill>
                <a:latin typeface="+mn-lt"/>
                <a:ea typeface="+mn-ea"/>
                <a:cs typeface="+mn-cs"/>
              </a:rPr>
              <a:t>），可用于描述这个节点的情况。关系纽带指的是各个节点之间的关联属性，节点间的关系可以是各个类型的单向或双向的联系。不同的节点在相同关系下由于自身的联系可以构成不同的子群，而由人数的不同还可分成二人组、三人组或多人组的群体。</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23</a:t>
            </a:fld>
            <a:endParaRPr lang="zh-CN" altLang="en-US"/>
          </a:p>
        </p:txBody>
      </p:sp>
    </p:spTree>
    <p:extLst>
      <p:ext uri="{BB962C8B-B14F-4D97-AF65-F5344CB8AC3E}">
        <p14:creationId xmlns="" xmlns:p14="http://schemas.microsoft.com/office/powerpoint/2010/main" val="1609704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24</a:t>
            </a:fld>
            <a:endParaRPr lang="zh-CN" altLang="en-US"/>
          </a:p>
        </p:txBody>
      </p:sp>
    </p:spTree>
    <p:extLst>
      <p:ext uri="{BB962C8B-B14F-4D97-AF65-F5344CB8AC3E}">
        <p14:creationId xmlns="" xmlns:p14="http://schemas.microsoft.com/office/powerpoint/2010/main" val="1230265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25</a:t>
            </a:fld>
            <a:endParaRPr lang="zh-CN" altLang="en-US"/>
          </a:p>
        </p:txBody>
      </p:sp>
    </p:spTree>
    <p:extLst>
      <p:ext uri="{BB962C8B-B14F-4D97-AF65-F5344CB8AC3E}">
        <p14:creationId xmlns="" xmlns:p14="http://schemas.microsoft.com/office/powerpoint/2010/main" val="2369541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SPSS</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5A</a:t>
            </a:r>
            <a:r>
              <a:rPr lang="zh-CN" altLang="en-US" sz="1200" kern="1200" dirty="0" smtClean="0">
                <a:solidFill>
                  <a:schemeClr val="tx1"/>
                </a:solidFill>
                <a:latin typeface="+mn-lt"/>
                <a:ea typeface="+mn-ea"/>
                <a:cs typeface="+mn-cs"/>
              </a:rPr>
              <a:t>法，即访问（</a:t>
            </a:r>
            <a:r>
              <a:rPr lang="en-US" sz="1200" kern="1200" dirty="0" smtClean="0">
                <a:solidFill>
                  <a:schemeClr val="tx1"/>
                </a:solidFill>
                <a:latin typeface="+mn-lt"/>
                <a:ea typeface="+mn-ea"/>
                <a:cs typeface="+mn-cs"/>
              </a:rPr>
              <a:t>Access</a:t>
            </a:r>
            <a:r>
              <a:rPr lang="zh-CN" altLang="en-US" sz="1200" kern="1200" dirty="0" smtClean="0">
                <a:solidFill>
                  <a:schemeClr val="tx1"/>
                </a:solidFill>
                <a:latin typeface="+mn-lt"/>
                <a:ea typeface="+mn-ea"/>
                <a:cs typeface="+mn-cs"/>
              </a:rPr>
              <a:t>）、分析（</a:t>
            </a:r>
            <a:r>
              <a:rPr lang="en-US" sz="1200" kern="1200" dirty="0" smtClean="0">
                <a:solidFill>
                  <a:schemeClr val="tx1"/>
                </a:solidFill>
                <a:latin typeface="+mn-lt"/>
                <a:ea typeface="+mn-ea"/>
                <a:cs typeface="+mn-cs"/>
              </a:rPr>
              <a:t>Analyze</a:t>
            </a:r>
            <a:r>
              <a:rPr lang="zh-CN" altLang="en-US" sz="1200" kern="1200" dirty="0" smtClean="0">
                <a:solidFill>
                  <a:schemeClr val="tx1"/>
                </a:solidFill>
                <a:latin typeface="+mn-lt"/>
                <a:ea typeface="+mn-ea"/>
                <a:cs typeface="+mn-cs"/>
              </a:rPr>
              <a:t>）、评估（</a:t>
            </a:r>
            <a:r>
              <a:rPr lang="en-US" sz="1200" kern="1200" dirty="0" smtClean="0">
                <a:solidFill>
                  <a:schemeClr val="tx1"/>
                </a:solidFill>
                <a:latin typeface="+mn-lt"/>
                <a:ea typeface="+mn-ea"/>
                <a:cs typeface="+mn-cs"/>
              </a:rPr>
              <a:t>Assess</a:t>
            </a:r>
            <a:r>
              <a:rPr lang="zh-CN" altLang="en-US" sz="1200" kern="1200" dirty="0" smtClean="0">
                <a:solidFill>
                  <a:schemeClr val="tx1"/>
                </a:solidFill>
                <a:latin typeface="+mn-lt"/>
                <a:ea typeface="+mn-ea"/>
                <a:cs typeface="+mn-cs"/>
              </a:rPr>
              <a:t>）、行动（</a:t>
            </a:r>
            <a:r>
              <a:rPr lang="en-US" sz="1200" kern="1200" dirty="0" smtClean="0">
                <a:solidFill>
                  <a:schemeClr val="tx1"/>
                </a:solidFill>
                <a:latin typeface="+mn-lt"/>
                <a:ea typeface="+mn-ea"/>
                <a:cs typeface="+mn-cs"/>
              </a:rPr>
              <a:t>Action</a:t>
            </a:r>
            <a:r>
              <a:rPr lang="zh-CN" altLang="en-US" sz="1200" kern="1200" dirty="0" smtClean="0">
                <a:solidFill>
                  <a:schemeClr val="tx1"/>
                </a:solidFill>
                <a:latin typeface="+mn-lt"/>
                <a:ea typeface="+mn-ea"/>
                <a:cs typeface="+mn-cs"/>
              </a:rPr>
              <a:t>）、自动化（</a:t>
            </a:r>
            <a:r>
              <a:rPr lang="en-US" sz="1200" kern="1200" dirty="0" smtClean="0">
                <a:solidFill>
                  <a:schemeClr val="tx1"/>
                </a:solidFill>
                <a:latin typeface="+mn-lt"/>
                <a:ea typeface="+mn-ea"/>
                <a:cs typeface="+mn-cs"/>
              </a:rPr>
              <a:t>Automate</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SAS</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SEMMA</a:t>
            </a:r>
            <a:r>
              <a:rPr lang="zh-CN" altLang="en-US" sz="1200" kern="1200" dirty="0" smtClean="0">
                <a:solidFill>
                  <a:schemeClr val="tx1"/>
                </a:solidFill>
                <a:latin typeface="+mn-lt"/>
                <a:ea typeface="+mn-ea"/>
                <a:cs typeface="+mn-cs"/>
              </a:rPr>
              <a:t>法 ，即抽（</a:t>
            </a:r>
            <a:r>
              <a:rPr lang="en-US" sz="1200" kern="1200" dirty="0" smtClean="0">
                <a:solidFill>
                  <a:schemeClr val="tx1"/>
                </a:solidFill>
                <a:latin typeface="+mn-lt"/>
                <a:ea typeface="+mn-ea"/>
                <a:cs typeface="+mn-cs"/>
              </a:rPr>
              <a:t>Sample</a:t>
            </a:r>
            <a:r>
              <a:rPr lang="zh-CN" altLang="en-US" sz="1200" kern="1200" dirty="0" smtClean="0">
                <a:solidFill>
                  <a:schemeClr val="tx1"/>
                </a:solidFill>
                <a:latin typeface="+mn-lt"/>
                <a:ea typeface="+mn-ea"/>
                <a:cs typeface="+mn-cs"/>
              </a:rPr>
              <a:t>）、探索（</a:t>
            </a:r>
            <a:r>
              <a:rPr lang="en-US" sz="1200" kern="1200" dirty="0" smtClean="0">
                <a:solidFill>
                  <a:schemeClr val="tx1"/>
                </a:solidFill>
                <a:latin typeface="+mn-lt"/>
                <a:ea typeface="+mn-ea"/>
                <a:cs typeface="+mn-cs"/>
              </a:rPr>
              <a:t>Explore</a:t>
            </a:r>
            <a:r>
              <a:rPr lang="zh-CN" altLang="en-US" sz="1200" kern="1200" dirty="0" smtClean="0">
                <a:solidFill>
                  <a:schemeClr val="tx1"/>
                </a:solidFill>
                <a:latin typeface="+mn-lt"/>
                <a:ea typeface="+mn-ea"/>
                <a:cs typeface="+mn-cs"/>
              </a:rPr>
              <a:t>）、建模（</a:t>
            </a:r>
            <a:r>
              <a:rPr lang="en-US" sz="1200" kern="1200" dirty="0" smtClean="0">
                <a:solidFill>
                  <a:schemeClr val="tx1"/>
                </a:solidFill>
                <a:latin typeface="+mn-lt"/>
                <a:ea typeface="+mn-ea"/>
                <a:cs typeface="+mn-cs"/>
              </a:rPr>
              <a:t>Model</a:t>
            </a:r>
            <a:r>
              <a:rPr lang="zh-CN" altLang="en-US" sz="1200" kern="1200" dirty="0" smtClean="0">
                <a:solidFill>
                  <a:schemeClr val="tx1"/>
                </a:solidFill>
                <a:latin typeface="+mn-lt"/>
                <a:ea typeface="+mn-ea"/>
                <a:cs typeface="+mn-cs"/>
              </a:rPr>
              <a:t>）、修正（</a:t>
            </a:r>
            <a:r>
              <a:rPr lang="en-US" sz="1200" kern="1200" dirty="0" smtClean="0">
                <a:solidFill>
                  <a:schemeClr val="tx1"/>
                </a:solidFill>
                <a:latin typeface="+mn-lt"/>
                <a:ea typeface="+mn-ea"/>
                <a:cs typeface="+mn-cs"/>
              </a:rPr>
              <a:t>Modify</a:t>
            </a:r>
            <a:r>
              <a:rPr lang="zh-CN" altLang="en-US" sz="1200" kern="1200" dirty="0" smtClean="0">
                <a:solidFill>
                  <a:schemeClr val="tx1"/>
                </a:solidFill>
                <a:latin typeface="+mn-lt"/>
                <a:ea typeface="+mn-ea"/>
                <a:cs typeface="+mn-cs"/>
              </a:rPr>
              <a:t>）、评估（</a:t>
            </a:r>
            <a:r>
              <a:rPr lang="en-US" sz="1200" kern="1200" dirty="0" smtClean="0">
                <a:solidFill>
                  <a:schemeClr val="tx1"/>
                </a:solidFill>
                <a:latin typeface="+mn-lt"/>
                <a:ea typeface="+mn-ea"/>
                <a:cs typeface="+mn-cs"/>
              </a:rPr>
              <a:t>Assess</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cs typeface="+mn-cs"/>
              </a:rPr>
              <a:t>数据挖掘特别兴趣小组（</a:t>
            </a:r>
            <a:r>
              <a:rPr lang="en-US" sz="1200" kern="1200" dirty="0" smtClean="0">
                <a:solidFill>
                  <a:schemeClr val="tx1"/>
                </a:solidFill>
                <a:latin typeface="+mn-lt"/>
                <a:ea typeface="+mn-ea"/>
                <a:cs typeface="+mn-cs"/>
              </a:rPr>
              <a:t>Special interest Group</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SIG</a:t>
            </a:r>
            <a:r>
              <a:rPr lang="zh-CN" altLang="en-US" sz="1200" kern="1200" dirty="0" smtClean="0">
                <a:solidFill>
                  <a:schemeClr val="tx1"/>
                </a:solidFill>
                <a:latin typeface="+mn-lt"/>
                <a:ea typeface="+mn-ea"/>
                <a:cs typeface="+mn-cs"/>
              </a:rPr>
              <a:t>）提出的</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跨行业数据挖掘过程标准</a:t>
            </a:r>
            <a:r>
              <a:rPr lang="en-US" sz="1200" kern="1200" dirty="0" smtClean="0">
                <a:solidFill>
                  <a:schemeClr val="tx1"/>
                </a:solidFill>
                <a:latin typeface="+mn-lt"/>
                <a:ea typeface="+mn-ea"/>
                <a:cs typeface="+mn-cs"/>
              </a:rPr>
              <a:t>”</a:t>
            </a:r>
            <a:r>
              <a:rPr lang="zh-CN" altLang="en-US" sz="1200" kern="1200" dirty="0" smtClean="0">
                <a:solidFill>
                  <a:schemeClr val="tx1"/>
                </a:solidFill>
                <a:latin typeface="+mn-lt"/>
                <a:ea typeface="+mn-ea"/>
                <a:cs typeface="+mn-cs"/>
              </a:rPr>
              <a:t>，即</a:t>
            </a:r>
            <a:r>
              <a:rPr lang="en-US" sz="1200" kern="1200" dirty="0" smtClean="0">
                <a:solidFill>
                  <a:schemeClr val="tx1"/>
                </a:solidFill>
                <a:latin typeface="+mn-lt"/>
                <a:ea typeface="+mn-ea"/>
                <a:cs typeface="+mn-cs"/>
              </a:rPr>
              <a:t>CRISP-DM</a:t>
            </a:r>
            <a:r>
              <a:rPr lang="zh-CN" altLang="en-US" sz="1200"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Cross-Industry Standard Process for Data Mining</a:t>
            </a:r>
            <a:r>
              <a:rPr lang="zh-CN" altLang="en-US" sz="1200" kern="1200" dirty="0" smtClean="0">
                <a:solidFill>
                  <a:schemeClr val="tx1"/>
                </a:solidFill>
                <a:latin typeface="+mn-lt"/>
                <a:ea typeface="+mn-ea"/>
                <a:cs typeface="+mn-cs"/>
              </a:rPr>
              <a:t>）。六个阶段分别是：商业理解（</a:t>
            </a:r>
            <a:r>
              <a:rPr lang="en-US" sz="1200" kern="1200" dirty="0" smtClean="0">
                <a:solidFill>
                  <a:schemeClr val="tx1"/>
                </a:solidFill>
                <a:latin typeface="+mn-lt"/>
                <a:ea typeface="+mn-ea"/>
                <a:cs typeface="+mn-cs"/>
              </a:rPr>
              <a:t>Business Understanding</a:t>
            </a:r>
            <a:r>
              <a:rPr lang="zh-CN" altLang="en-US" sz="1200" kern="1200" dirty="0" smtClean="0">
                <a:solidFill>
                  <a:schemeClr val="tx1"/>
                </a:solidFill>
                <a:latin typeface="+mn-lt"/>
                <a:ea typeface="+mn-ea"/>
                <a:cs typeface="+mn-cs"/>
              </a:rPr>
              <a:t>）、数据理解（</a:t>
            </a:r>
            <a:r>
              <a:rPr lang="en-US" sz="1200" kern="1200" dirty="0" smtClean="0">
                <a:solidFill>
                  <a:schemeClr val="tx1"/>
                </a:solidFill>
                <a:latin typeface="+mn-lt"/>
                <a:ea typeface="+mn-ea"/>
                <a:cs typeface="+mn-cs"/>
              </a:rPr>
              <a:t>Data Understanding</a:t>
            </a:r>
            <a:r>
              <a:rPr lang="zh-CN" altLang="en-US" sz="1200" kern="1200" dirty="0" smtClean="0">
                <a:solidFill>
                  <a:schemeClr val="tx1"/>
                </a:solidFill>
                <a:latin typeface="+mn-lt"/>
                <a:ea typeface="+mn-ea"/>
                <a:cs typeface="+mn-cs"/>
              </a:rPr>
              <a:t>）、数据准备（</a:t>
            </a:r>
            <a:r>
              <a:rPr lang="en-US" sz="1200" kern="1200" dirty="0" smtClean="0">
                <a:solidFill>
                  <a:schemeClr val="tx1"/>
                </a:solidFill>
                <a:latin typeface="+mn-lt"/>
                <a:ea typeface="+mn-ea"/>
                <a:cs typeface="+mn-cs"/>
              </a:rPr>
              <a:t>Data Preparation</a:t>
            </a:r>
            <a:r>
              <a:rPr lang="zh-CN" altLang="en-US" sz="1200" kern="1200" dirty="0" smtClean="0">
                <a:solidFill>
                  <a:schemeClr val="tx1"/>
                </a:solidFill>
                <a:latin typeface="+mn-lt"/>
                <a:ea typeface="+mn-ea"/>
                <a:cs typeface="+mn-cs"/>
              </a:rPr>
              <a:t>）、建立模型（</a:t>
            </a:r>
            <a:r>
              <a:rPr lang="en-US" sz="1200" kern="1200" dirty="0" smtClean="0">
                <a:solidFill>
                  <a:schemeClr val="tx1"/>
                </a:solidFill>
                <a:latin typeface="+mn-lt"/>
                <a:ea typeface="+mn-ea"/>
                <a:cs typeface="+mn-cs"/>
              </a:rPr>
              <a:t>Modeling</a:t>
            </a:r>
            <a:r>
              <a:rPr lang="zh-CN" altLang="en-US" sz="1200" kern="1200" dirty="0" smtClean="0">
                <a:solidFill>
                  <a:schemeClr val="tx1"/>
                </a:solidFill>
                <a:latin typeface="+mn-lt"/>
                <a:ea typeface="+mn-ea"/>
                <a:cs typeface="+mn-cs"/>
              </a:rPr>
              <a:t>）、模型评估（</a:t>
            </a:r>
            <a:r>
              <a:rPr lang="en-US" sz="1200" kern="1200" dirty="0" smtClean="0">
                <a:solidFill>
                  <a:schemeClr val="tx1"/>
                </a:solidFill>
                <a:latin typeface="+mn-lt"/>
                <a:ea typeface="+mn-ea"/>
                <a:cs typeface="+mn-cs"/>
              </a:rPr>
              <a:t>Evaluation</a:t>
            </a:r>
            <a:r>
              <a:rPr lang="zh-CN" altLang="en-US" sz="1200" kern="1200" dirty="0" smtClean="0">
                <a:solidFill>
                  <a:schemeClr val="tx1"/>
                </a:solidFill>
                <a:latin typeface="+mn-lt"/>
                <a:ea typeface="+mn-ea"/>
                <a:cs typeface="+mn-cs"/>
              </a:rPr>
              <a:t>）和结果部署（</a:t>
            </a:r>
            <a:r>
              <a:rPr lang="en-US" sz="1200" kern="1200" dirty="0" smtClean="0">
                <a:solidFill>
                  <a:schemeClr val="tx1"/>
                </a:solidFill>
                <a:latin typeface="+mn-lt"/>
                <a:ea typeface="+mn-ea"/>
                <a:cs typeface="+mn-cs"/>
              </a:rPr>
              <a:t>Deployment</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Two Crows</a:t>
            </a:r>
            <a:r>
              <a:rPr lang="zh-CN" altLang="en-US" sz="1200" kern="1200" dirty="0" smtClean="0">
                <a:solidFill>
                  <a:schemeClr val="tx1"/>
                </a:solidFill>
                <a:latin typeface="+mn-lt"/>
                <a:ea typeface="+mn-ea"/>
                <a:cs typeface="+mn-cs"/>
              </a:rPr>
              <a:t>提出的模型：</a:t>
            </a:r>
            <a:r>
              <a:rPr lang="en-US" sz="1200" b="0" i="0" kern="1200" dirty="0" smtClean="0">
                <a:solidFill>
                  <a:schemeClr val="tx1"/>
                </a:solidFill>
                <a:latin typeface="+mn-lt"/>
                <a:ea typeface="+mn-ea"/>
                <a:cs typeface="+mn-cs"/>
              </a:rPr>
              <a:t>Define Business Problem-Build Data Mining Database-Explore Data-Prepare Data for Modeling-Building Model- Evaluation Model-Deploy Model and Result</a:t>
            </a:r>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26</a:t>
            </a:fld>
            <a:endParaRPr lang="zh-CN" altLang="en-US"/>
          </a:p>
        </p:txBody>
      </p:sp>
    </p:spTree>
    <p:extLst>
      <p:ext uri="{BB962C8B-B14F-4D97-AF65-F5344CB8AC3E}">
        <p14:creationId xmlns="" xmlns:p14="http://schemas.microsoft.com/office/powerpoint/2010/main" val="1042513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27</a:t>
            </a:fld>
            <a:endParaRPr lang="zh-CN" altLang="en-US"/>
          </a:p>
        </p:txBody>
      </p:sp>
    </p:spTree>
    <p:extLst>
      <p:ext uri="{BB962C8B-B14F-4D97-AF65-F5344CB8AC3E}">
        <p14:creationId xmlns="" xmlns:p14="http://schemas.microsoft.com/office/powerpoint/2010/main" val="2944387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28</a:t>
            </a:fld>
            <a:endParaRPr lang="zh-CN" altLang="en-US"/>
          </a:p>
        </p:txBody>
      </p:sp>
    </p:spTree>
    <p:extLst>
      <p:ext uri="{BB962C8B-B14F-4D97-AF65-F5344CB8AC3E}">
        <p14:creationId xmlns="" xmlns:p14="http://schemas.microsoft.com/office/powerpoint/2010/main" val="2729550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29</a:t>
            </a:fld>
            <a:endParaRPr lang="zh-CN" altLang="en-US"/>
          </a:p>
        </p:txBody>
      </p:sp>
    </p:spTree>
    <p:extLst>
      <p:ext uri="{BB962C8B-B14F-4D97-AF65-F5344CB8AC3E}">
        <p14:creationId xmlns="" xmlns:p14="http://schemas.microsoft.com/office/powerpoint/2010/main" val="48044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30</a:t>
            </a:fld>
            <a:endParaRPr lang="zh-CN" altLang="en-US"/>
          </a:p>
        </p:txBody>
      </p:sp>
    </p:spTree>
    <p:extLst>
      <p:ext uri="{BB962C8B-B14F-4D97-AF65-F5344CB8AC3E}">
        <p14:creationId xmlns="" xmlns:p14="http://schemas.microsoft.com/office/powerpoint/2010/main" val="24427067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31</a:t>
            </a:fld>
            <a:endParaRPr lang="zh-CN" altLang="en-US"/>
          </a:p>
        </p:txBody>
      </p:sp>
    </p:spTree>
    <p:extLst>
      <p:ext uri="{BB962C8B-B14F-4D97-AF65-F5344CB8AC3E}">
        <p14:creationId xmlns="" xmlns:p14="http://schemas.microsoft.com/office/powerpoint/2010/main" val="33412756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32</a:t>
            </a:fld>
            <a:endParaRPr lang="zh-CN" altLang="en-US"/>
          </a:p>
        </p:txBody>
      </p:sp>
    </p:spTree>
    <p:extLst>
      <p:ext uri="{BB962C8B-B14F-4D97-AF65-F5344CB8AC3E}">
        <p14:creationId xmlns="" xmlns:p14="http://schemas.microsoft.com/office/powerpoint/2010/main" val="1973049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33</a:t>
            </a:fld>
            <a:endParaRPr lang="zh-CN" altLang="en-US"/>
          </a:p>
        </p:txBody>
      </p:sp>
    </p:spTree>
    <p:extLst>
      <p:ext uri="{BB962C8B-B14F-4D97-AF65-F5344CB8AC3E}">
        <p14:creationId xmlns="" xmlns:p14="http://schemas.microsoft.com/office/powerpoint/2010/main" val="40805171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34</a:t>
            </a:fld>
            <a:endParaRPr lang="zh-CN" altLang="en-US"/>
          </a:p>
        </p:txBody>
      </p:sp>
    </p:spTree>
    <p:extLst>
      <p:ext uri="{BB962C8B-B14F-4D97-AF65-F5344CB8AC3E}">
        <p14:creationId xmlns="" xmlns:p14="http://schemas.microsoft.com/office/powerpoint/2010/main" val="3408137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35</a:t>
            </a:fld>
            <a:endParaRPr lang="zh-CN" altLang="en-US"/>
          </a:p>
        </p:txBody>
      </p:sp>
    </p:spTree>
    <p:extLst>
      <p:ext uri="{BB962C8B-B14F-4D97-AF65-F5344CB8AC3E}">
        <p14:creationId xmlns="" xmlns:p14="http://schemas.microsoft.com/office/powerpoint/2010/main" val="24687145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36</a:t>
            </a:fld>
            <a:endParaRPr lang="zh-CN" altLang="en-US"/>
          </a:p>
        </p:txBody>
      </p:sp>
    </p:spTree>
    <p:extLst>
      <p:ext uri="{BB962C8B-B14F-4D97-AF65-F5344CB8AC3E}">
        <p14:creationId xmlns="" xmlns:p14="http://schemas.microsoft.com/office/powerpoint/2010/main" val="4971428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37</a:t>
            </a:fld>
            <a:endParaRPr lang="zh-CN" altLang="en-US"/>
          </a:p>
        </p:txBody>
      </p:sp>
    </p:spTree>
    <p:extLst>
      <p:ext uri="{BB962C8B-B14F-4D97-AF65-F5344CB8AC3E}">
        <p14:creationId xmlns="" xmlns:p14="http://schemas.microsoft.com/office/powerpoint/2010/main" val="9517184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38</a:t>
            </a:fld>
            <a:endParaRPr lang="zh-CN" altLang="en-US"/>
          </a:p>
        </p:txBody>
      </p:sp>
    </p:spTree>
    <p:extLst>
      <p:ext uri="{BB962C8B-B14F-4D97-AF65-F5344CB8AC3E}">
        <p14:creationId xmlns="" xmlns:p14="http://schemas.microsoft.com/office/powerpoint/2010/main" val="18476420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39</a:t>
            </a:fld>
            <a:endParaRPr lang="zh-CN" altLang="en-US"/>
          </a:p>
        </p:txBody>
      </p:sp>
    </p:spTree>
    <p:extLst>
      <p:ext uri="{BB962C8B-B14F-4D97-AF65-F5344CB8AC3E}">
        <p14:creationId xmlns="" xmlns:p14="http://schemas.microsoft.com/office/powerpoint/2010/main" val="17370870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40</a:t>
            </a:fld>
            <a:endParaRPr lang="zh-CN" altLang="en-US"/>
          </a:p>
        </p:txBody>
      </p:sp>
    </p:spTree>
    <p:extLst>
      <p:ext uri="{BB962C8B-B14F-4D97-AF65-F5344CB8AC3E}">
        <p14:creationId xmlns="" xmlns:p14="http://schemas.microsoft.com/office/powerpoint/2010/main" val="2647947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41</a:t>
            </a:fld>
            <a:endParaRPr lang="zh-CN" altLang="en-US"/>
          </a:p>
        </p:txBody>
      </p:sp>
    </p:spTree>
    <p:extLst>
      <p:ext uri="{BB962C8B-B14F-4D97-AF65-F5344CB8AC3E}">
        <p14:creationId xmlns="" xmlns:p14="http://schemas.microsoft.com/office/powerpoint/2010/main" val="9268559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42</a:t>
            </a:fld>
            <a:endParaRPr lang="zh-CN" altLang="en-US"/>
          </a:p>
        </p:txBody>
      </p:sp>
    </p:spTree>
    <p:extLst>
      <p:ext uri="{BB962C8B-B14F-4D97-AF65-F5344CB8AC3E}">
        <p14:creationId xmlns="" xmlns:p14="http://schemas.microsoft.com/office/powerpoint/2010/main" val="30860721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47B915-5085-4545-A646-F20B54638C01}" type="slidenum">
              <a:rPr lang="zh-CN" altLang="en-US" smtClean="0"/>
              <a:pPr/>
              <a:t>43</a:t>
            </a:fld>
            <a:endParaRPr lang="zh-CN" altLang="en-US"/>
          </a:p>
        </p:txBody>
      </p:sp>
    </p:spTree>
    <p:extLst>
      <p:ext uri="{BB962C8B-B14F-4D97-AF65-F5344CB8AC3E}">
        <p14:creationId xmlns="" xmlns:p14="http://schemas.microsoft.com/office/powerpoint/2010/main" val="9930374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pic>
        <p:nvPicPr>
          <p:cNvPr id="9" name="图片 8" descr="图片1.png"/>
          <p:cNvPicPr>
            <a:picLocks noChangeAspect="1"/>
          </p:cNvPicPr>
          <p:nvPr userDrawn="1"/>
        </p:nvPicPr>
        <p:blipFill>
          <a:blip r:embed="rId2" cstate="print"/>
          <a:stretch>
            <a:fillRect/>
          </a:stretch>
        </p:blipFill>
        <p:spPr>
          <a:xfrm>
            <a:off x="0" y="285752"/>
            <a:ext cx="3085248" cy="92867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2020/4/21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weixu@ruc.edu.cn"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3.jpe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notesSlide" Target="../notesSlides/notesSlide4.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png"/><Relationship Id="rId5" Type="http://schemas.openxmlformats.org/officeDocument/2006/relationships/oleObject" Target="../embeddings/oleObject2.bin"/><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mailto:weixu@ruc.edu.cn"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614914"/>
            <a:ext cx="9144000" cy="2428892"/>
          </a:xfrm>
          <a:prstGeom prst="rect">
            <a:avLst/>
          </a:prstGeom>
          <a:gradFill flip="none" rotWithShape="1">
            <a:gsLst>
              <a:gs pos="70000">
                <a:schemeClr val="tx2">
                  <a:lumMod val="40000"/>
                  <a:lumOff val="60000"/>
                </a:schemeClr>
              </a:gs>
              <a:gs pos="100000">
                <a:schemeClr val="accent2">
                  <a:gamma/>
                  <a:tint val="0"/>
                  <a:invGamma/>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Box 4"/>
          <p:cNvSpPr txBox="1"/>
          <p:nvPr/>
        </p:nvSpPr>
        <p:spPr>
          <a:xfrm>
            <a:off x="0" y="2496917"/>
            <a:ext cx="9144000" cy="646331"/>
          </a:xfrm>
          <a:prstGeom prst="rect">
            <a:avLst/>
          </a:prstGeom>
          <a:noFill/>
        </p:spPr>
        <p:txBody>
          <a:bodyPr wrap="square" rtlCol="0">
            <a:spAutoFit/>
          </a:bodyPr>
          <a:lstStyle/>
          <a:p>
            <a:pPr algn="ctr"/>
            <a:r>
              <a:rPr lang="zh-CN" altLang="en-US" sz="3600" b="1" dirty="0" smtClean="0">
                <a:latin typeface="微软雅黑" pitchFamily="34" charset="-122"/>
                <a:ea typeface="微软雅黑" pitchFamily="34" charset="-122"/>
              </a:rPr>
              <a:t>数据挖掘技术</a:t>
            </a:r>
            <a:endParaRPr lang="zh-CN" altLang="en-US" sz="3600" dirty="0">
              <a:latin typeface="微软雅黑" pitchFamily="34" charset="-122"/>
              <a:ea typeface="微软雅黑" pitchFamily="34" charset="-122"/>
            </a:endParaRPr>
          </a:p>
        </p:txBody>
      </p:sp>
      <p:cxnSp>
        <p:nvCxnSpPr>
          <p:cNvPr id="6" name="直接连接符 229"/>
          <p:cNvCxnSpPr>
            <a:cxnSpLocks noChangeShapeType="1"/>
          </p:cNvCxnSpPr>
          <p:nvPr/>
        </p:nvCxnSpPr>
        <p:spPr bwMode="auto">
          <a:xfrm>
            <a:off x="0" y="4071942"/>
            <a:ext cx="9217025" cy="0"/>
          </a:xfrm>
          <a:prstGeom prst="line">
            <a:avLst/>
          </a:prstGeom>
          <a:noFill/>
          <a:ln w="6350" cmpd="sng">
            <a:solidFill>
              <a:srgbClr val="969696"/>
            </a:solidFill>
            <a:prstDash val="dash"/>
            <a:round/>
            <a:headEnd/>
            <a:tailEnd/>
          </a:ln>
        </p:spPr>
      </p:cxnSp>
      <p:cxnSp>
        <p:nvCxnSpPr>
          <p:cNvPr id="7" name="直接连接符 229"/>
          <p:cNvCxnSpPr>
            <a:cxnSpLocks noChangeShapeType="1"/>
          </p:cNvCxnSpPr>
          <p:nvPr/>
        </p:nvCxnSpPr>
        <p:spPr bwMode="auto">
          <a:xfrm>
            <a:off x="0" y="1571612"/>
            <a:ext cx="9217025" cy="0"/>
          </a:xfrm>
          <a:prstGeom prst="line">
            <a:avLst/>
          </a:prstGeom>
          <a:noFill/>
          <a:ln w="6350" cmpd="sng">
            <a:solidFill>
              <a:srgbClr val="969696"/>
            </a:solidFill>
            <a:prstDash val="dash"/>
            <a:round/>
            <a:headEnd/>
            <a:tailEnd/>
          </a:ln>
        </p:spPr>
      </p:cxnSp>
      <p:pic>
        <p:nvPicPr>
          <p:cNvPr id="11" name="图片 10" descr="f35ea009087b38036b60fbe5.jpg"/>
          <p:cNvPicPr>
            <a:picLocks noChangeAspect="1"/>
          </p:cNvPicPr>
          <p:nvPr/>
        </p:nvPicPr>
        <p:blipFill>
          <a:blip r:embed="rId2" cstate="print"/>
          <a:stretch>
            <a:fillRect/>
          </a:stretch>
        </p:blipFill>
        <p:spPr>
          <a:xfrm>
            <a:off x="7786710" y="142852"/>
            <a:ext cx="1080120" cy="1071018"/>
          </a:xfrm>
          <a:prstGeom prst="rect">
            <a:avLst/>
          </a:prstGeom>
          <a:effectLst>
            <a:reflection blurRad="6350" stA="52000" endA="300" endPos="35000" dir="5400000" sy="-100000" algn="bl" rotWithShape="0"/>
          </a:effectLst>
        </p:spPr>
      </p:pic>
      <p:sp>
        <p:nvSpPr>
          <p:cNvPr id="8" name="TextBox 7"/>
          <p:cNvSpPr txBox="1"/>
          <p:nvPr/>
        </p:nvSpPr>
        <p:spPr>
          <a:xfrm>
            <a:off x="642910" y="4032635"/>
            <a:ext cx="7715304" cy="2382191"/>
          </a:xfrm>
          <a:prstGeom prst="rect">
            <a:avLst/>
          </a:prstGeom>
          <a:noFill/>
        </p:spPr>
        <p:txBody>
          <a:bodyPr wrap="square" rtlCol="0">
            <a:spAutoFit/>
          </a:bodyPr>
          <a:lstStyle/>
          <a:p>
            <a:pPr algn="ctr">
              <a:lnSpc>
                <a:spcPct val="120000"/>
              </a:lnSpc>
            </a:pPr>
            <a:r>
              <a:rPr lang="zh-CN" altLang="en-US" sz="2800" b="1" dirty="0" smtClean="0">
                <a:latin typeface="微软雅黑" pitchFamily="34" charset="-122"/>
                <a:ea typeface="微软雅黑" pitchFamily="34" charset="-122"/>
              </a:rPr>
              <a:t>许  伟</a:t>
            </a:r>
            <a:endParaRPr lang="en-US" altLang="zh-CN" sz="2000" b="1" dirty="0" smtClean="0">
              <a:latin typeface="微软雅黑" pitchFamily="34" charset="-122"/>
              <a:ea typeface="微软雅黑" pitchFamily="34" charset="-122"/>
            </a:endParaRPr>
          </a:p>
          <a:p>
            <a:pPr algn="ctr">
              <a:lnSpc>
                <a:spcPct val="120000"/>
              </a:lnSpc>
            </a:pPr>
            <a:r>
              <a:rPr lang="zh-CN" altLang="en-US" sz="2400" b="1" dirty="0" smtClean="0">
                <a:latin typeface="微软雅黑" pitchFamily="34" charset="-122"/>
                <a:ea typeface="微软雅黑" pitchFamily="34" charset="-122"/>
              </a:rPr>
              <a:t>中国人民大学信息学院经济信息管理系</a:t>
            </a:r>
            <a:endParaRPr lang="en-US" altLang="zh-CN" sz="2400" b="1" dirty="0" smtClean="0">
              <a:latin typeface="微软雅黑" pitchFamily="34" charset="-122"/>
              <a:ea typeface="微软雅黑" pitchFamily="34" charset="-122"/>
            </a:endParaRPr>
          </a:p>
          <a:p>
            <a:pPr algn="ctr">
              <a:lnSpc>
                <a:spcPct val="120000"/>
              </a:lnSpc>
            </a:pPr>
            <a:r>
              <a:rPr lang="en-US" altLang="zh-CN" sz="2400" b="1" dirty="0" smtClean="0">
                <a:latin typeface="微软雅黑" pitchFamily="34" charset="-122"/>
                <a:ea typeface="微软雅黑" pitchFamily="34" charset="-122"/>
                <a:hlinkClick r:id="rId3"/>
              </a:rPr>
              <a:t>weixu@ruc.edu.cn</a:t>
            </a:r>
            <a:endParaRPr lang="en-US" altLang="zh-CN" sz="2400" b="1" dirty="0" smtClean="0">
              <a:latin typeface="微软雅黑" pitchFamily="34" charset="-122"/>
              <a:ea typeface="微软雅黑" pitchFamily="34" charset="-122"/>
            </a:endParaRPr>
          </a:p>
          <a:p>
            <a:pPr algn="ctr">
              <a:lnSpc>
                <a:spcPct val="120000"/>
              </a:lnSpc>
            </a:pPr>
            <a:r>
              <a:rPr lang="en-US" altLang="zh-CN" sz="2400" b="1" u="sng" dirty="0" smtClean="0">
                <a:latin typeface="微软雅黑" pitchFamily="34" charset="-122"/>
                <a:ea typeface="微软雅黑" pitchFamily="34" charset="-122"/>
              </a:rPr>
              <a:t>lisa.ruc.edu.cn</a:t>
            </a:r>
          </a:p>
          <a:p>
            <a:pPr algn="ctr">
              <a:lnSpc>
                <a:spcPct val="120000"/>
              </a:lnSpc>
            </a:pPr>
            <a:r>
              <a:rPr lang="en-US" altLang="zh-CN" sz="2400" b="1" dirty="0" smtClean="0">
                <a:latin typeface="微软雅黑" pitchFamily="34" charset="-122"/>
                <a:ea typeface="微软雅黑" pitchFamily="34" charset="-122"/>
              </a:rPr>
              <a:t>04/25/2020</a:t>
            </a:r>
            <a:endParaRPr lang="zh-CN" altLang="en-US" sz="24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23" name="Picture 53" descr="C:\Users\zhengge\Desktop\big-data.jpg"/>
          <p:cNvPicPr>
            <a:picLocks noChangeAspect="1" noChangeArrowheads="1"/>
          </p:cNvPicPr>
          <p:nvPr/>
        </p:nvPicPr>
        <p:blipFill>
          <a:blip r:embed="rId4" cstate="print"/>
          <a:srcRect/>
          <a:stretch>
            <a:fillRect/>
          </a:stretch>
        </p:blipFill>
        <p:spPr bwMode="auto">
          <a:xfrm>
            <a:off x="5143504" y="1428736"/>
            <a:ext cx="3234713" cy="2425895"/>
          </a:xfrm>
          <a:prstGeom prst="rect">
            <a:avLst/>
          </a:prstGeom>
          <a:noFill/>
          <a:ln w="9525">
            <a:noFill/>
            <a:miter lim="800000"/>
            <a:headEnd/>
            <a:tailEnd/>
          </a:ln>
        </p:spPr>
      </p:pic>
      <p:sp>
        <p:nvSpPr>
          <p:cNvPr id="37" name="TextBox 36"/>
          <p:cNvSpPr txBox="1"/>
          <p:nvPr/>
        </p:nvSpPr>
        <p:spPr>
          <a:xfrm>
            <a:off x="500034" y="1928802"/>
            <a:ext cx="4143404" cy="1615827"/>
          </a:xfrm>
          <a:prstGeom prst="rect">
            <a:avLst/>
          </a:prstGeom>
          <a:noFill/>
        </p:spPr>
        <p:txBody>
          <a:bodyPr wrap="square" rtlCol="0">
            <a:spAutoFit/>
          </a:bodyPr>
          <a:lstStyle/>
          <a:p>
            <a:pPr>
              <a:lnSpc>
                <a:spcPct val="150000"/>
              </a:lnSpc>
              <a:buFont typeface="Arial" pitchFamily="34" charset="0"/>
              <a:buChar char="•"/>
            </a:pPr>
            <a:r>
              <a:rPr lang="zh-CN" altLang="en-US" dirty="0" smtClean="0">
                <a:latin typeface="+mn-ea"/>
              </a:rPr>
              <a:t>人类产生的数据量正在呈指数级增长</a:t>
            </a:r>
            <a:endParaRPr lang="en-US" altLang="zh-CN" dirty="0" smtClean="0">
              <a:latin typeface="+mn-ea"/>
            </a:endParaRPr>
          </a:p>
          <a:p>
            <a:pPr>
              <a:lnSpc>
                <a:spcPct val="150000"/>
              </a:lnSpc>
              <a:buFont typeface="Arial" pitchFamily="34" charset="0"/>
              <a:buChar char="•"/>
            </a:pPr>
            <a:r>
              <a:rPr lang="zh-CN" altLang="en-US" dirty="0" smtClean="0">
                <a:latin typeface="+mn-ea"/>
              </a:rPr>
              <a:t>大量新数据源的出现则导致了非结构化、半结构化数据爆发式的增长</a:t>
            </a:r>
          </a:p>
          <a:p>
            <a:endParaRPr lang="zh-CN" altLang="en-US" dirty="0"/>
          </a:p>
        </p:txBody>
      </p:sp>
      <p:sp>
        <p:nvSpPr>
          <p:cNvPr id="38" name="TextBox 37"/>
          <p:cNvSpPr txBox="1"/>
          <p:nvPr/>
        </p:nvSpPr>
        <p:spPr>
          <a:xfrm>
            <a:off x="4286248" y="4286256"/>
            <a:ext cx="4429156" cy="2120902"/>
          </a:xfrm>
          <a:prstGeom prst="rect">
            <a:avLst/>
          </a:prstGeom>
          <a:noFill/>
        </p:spPr>
        <p:txBody>
          <a:bodyPr wrap="square" rtlCol="0">
            <a:spAutoFit/>
          </a:bodyPr>
          <a:lstStyle/>
          <a:p>
            <a:pPr>
              <a:lnSpc>
                <a:spcPct val="150000"/>
              </a:lnSpc>
              <a:buFont typeface="Arial" pitchFamily="34" charset="0"/>
              <a:buChar char="•"/>
            </a:pPr>
            <a:r>
              <a:rPr lang="zh-CN" altLang="en-US" dirty="0" smtClean="0">
                <a:latin typeface="+mn-ea"/>
              </a:rPr>
              <a:t>面对数据存储设备中海量的数据，如何从大量繁杂冗余的数据中发现有价值的信息并将其转化成有组织、有意义的知识，成了学科研究的重要课题。</a:t>
            </a:r>
            <a:endParaRPr lang="en-US" altLang="zh-CN" dirty="0" smtClean="0">
              <a:latin typeface="+mn-ea"/>
            </a:endParaRPr>
          </a:p>
          <a:p>
            <a:pPr>
              <a:lnSpc>
                <a:spcPct val="150000"/>
              </a:lnSpc>
              <a:buFont typeface="Arial" pitchFamily="34" charset="0"/>
              <a:buChar char="•"/>
            </a:pPr>
            <a:r>
              <a:rPr lang="zh-CN" altLang="en-US" dirty="0" smtClean="0">
                <a:latin typeface="+mn-ea"/>
              </a:rPr>
              <a:t>正是由于这种需求，数据挖掘诞生了。</a:t>
            </a:r>
          </a:p>
        </p:txBody>
      </p:sp>
      <p:pic>
        <p:nvPicPr>
          <p:cNvPr id="39" name="图片 38" descr="数据挖掘.jpg"/>
          <p:cNvPicPr>
            <a:picLocks noChangeAspect="1"/>
          </p:cNvPicPr>
          <p:nvPr/>
        </p:nvPicPr>
        <p:blipFill>
          <a:blip r:embed="rId5" cstate="print"/>
          <a:stretch>
            <a:fillRect/>
          </a:stretch>
        </p:blipFill>
        <p:spPr>
          <a:xfrm>
            <a:off x="714348" y="3929066"/>
            <a:ext cx="3286148" cy="2643206"/>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a:t>
            </a:r>
            <a:endParaRPr lang="en-US" altLang="zh-CN" sz="3000" dirty="0" smtClean="0"/>
          </a:p>
          <a:p>
            <a:pPr marL="273050" lvl="1" indent="-3175">
              <a:buNone/>
            </a:pPr>
            <a:r>
              <a:rPr lang="zh-CN" altLang="en-US" sz="2400" dirty="0" smtClean="0"/>
              <a:t>是指从隐性的、过去未知的、潜在有用的数据中萃取信息的过程</a:t>
            </a:r>
            <a:endParaRPr lang="en-US" altLang="zh-CN" sz="2600" dirty="0" smtClean="0"/>
          </a:p>
          <a:p>
            <a:pPr marL="273050" indent="-273050"/>
            <a:endParaRPr lang="en-US" altLang="zh-CN" sz="3000" dirty="0" smtClean="0"/>
          </a:p>
          <a:p>
            <a:pPr marL="273050" indent="-273050"/>
            <a:r>
              <a:rPr lang="zh-CN" altLang="en-US" sz="3000" dirty="0" smtClean="0"/>
              <a:t>数据挖掘的思想</a:t>
            </a:r>
          </a:p>
          <a:p>
            <a:pPr marL="361950" lvl="1" indent="1588">
              <a:buNone/>
            </a:pPr>
            <a:r>
              <a:rPr lang="zh-CN" altLang="en-US" sz="2400" dirty="0" smtClean="0"/>
              <a:t>在于将数据从数据库中提取、转换成具有一定格式的数据形式，并从中寻找出某些特定的数据规律或是数据模式。</a:t>
            </a:r>
            <a:endParaRPr lang="en-US" altLang="zh-CN" sz="2400" dirty="0" smtClean="0"/>
          </a:p>
          <a:p>
            <a:pPr marL="361950" lvl="1" indent="1588">
              <a:buNone/>
            </a:pPr>
            <a:r>
              <a:rPr lang="zh-CN" altLang="en-US" sz="2400" dirty="0" smtClean="0"/>
              <a:t>通过这些模式和规律，可以对未来的数据进行一定程度的模拟和预测。</a:t>
            </a:r>
            <a:endParaRPr lang="en-US" altLang="zh-CN" sz="2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sz="quarter" idx="4294967295"/>
          </p:nvPr>
        </p:nvSpPr>
        <p:spPr>
          <a:xfrm>
            <a:off x="457200" y="1219200"/>
            <a:ext cx="8229600" cy="4937125"/>
          </a:xfrm>
        </p:spPr>
        <p:txBody>
          <a:bodyPr>
            <a:normAutofit/>
          </a:bodyPr>
          <a:lstStyle/>
          <a:p>
            <a:pPr marL="273050" indent="-273050"/>
            <a:r>
              <a:rPr lang="en-US" altLang="zh-CN" sz="3000" dirty="0" smtClean="0"/>
              <a:t>SIG CRISP-DM</a:t>
            </a:r>
            <a:r>
              <a:rPr lang="zh-CN" altLang="en-US" sz="3000" dirty="0" smtClean="0"/>
              <a:t>模型：</a:t>
            </a:r>
            <a:endParaRPr lang="en-US" altLang="zh-CN" sz="3000" dirty="0" smtClean="0"/>
          </a:p>
        </p:txBody>
      </p:sp>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86018" name="Picture 2" descr="http://pic001.cnblogs.com/images/2010/155795/2010101018520480.jpg"/>
          <p:cNvPicPr>
            <a:picLocks noChangeAspect="1" noChangeArrowheads="1"/>
          </p:cNvPicPr>
          <p:nvPr/>
        </p:nvPicPr>
        <p:blipFill>
          <a:blip r:embed="rId4"/>
          <a:srcRect/>
          <a:stretch>
            <a:fillRect/>
          </a:stretch>
        </p:blipFill>
        <p:spPr bwMode="auto">
          <a:xfrm>
            <a:off x="1714480" y="1785926"/>
            <a:ext cx="5357850" cy="4834578"/>
          </a:xfrm>
          <a:prstGeom prst="rect">
            <a:avLst/>
          </a:prstGeom>
          <a:noFill/>
        </p:spPr>
      </p:pic>
    </p:spTree>
    <p:extLst>
      <p:ext uri="{BB962C8B-B14F-4D97-AF65-F5344CB8AC3E}">
        <p14:creationId xmlns="" xmlns:p14="http://schemas.microsoft.com/office/powerpoint/2010/main" val="4104713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24"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数据挖掘步骤</a:t>
            </a:r>
            <a:endParaRPr lang="en-US" altLang="zh-CN" sz="3000" dirty="0" smtClean="0"/>
          </a:p>
        </p:txBody>
      </p:sp>
      <p:sp>
        <p:nvSpPr>
          <p:cNvPr id="6" name="MH_Other_1"/>
          <p:cNvSpPr>
            <a:spLocks/>
          </p:cNvSpPr>
          <p:nvPr>
            <p:custDataLst>
              <p:tags r:id="rId1"/>
            </p:custDataLst>
          </p:nvPr>
        </p:nvSpPr>
        <p:spPr bwMode="auto">
          <a:xfrm>
            <a:off x="690563" y="3498850"/>
            <a:ext cx="1643062" cy="176213"/>
          </a:xfrm>
          <a:custGeom>
            <a:avLst/>
            <a:gdLst>
              <a:gd name="T0" fmla="*/ 2147483646 w 176"/>
              <a:gd name="T1" fmla="*/ 0 h 18"/>
              <a:gd name="T2" fmla="*/ 2147483646 w 176"/>
              <a:gd name="T3" fmla="*/ 2147483646 h 18"/>
              <a:gd name="T4" fmla="*/ 2147483646 w 176"/>
              <a:gd name="T5" fmla="*/ 2147483646 h 18"/>
              <a:gd name="T6" fmla="*/ 0 w 176"/>
              <a:gd name="T7" fmla="*/ 2147483646 h 18"/>
              <a:gd name="T8" fmla="*/ 2147483646 w 176"/>
              <a:gd name="T9" fmla="*/ 0 h 18"/>
              <a:gd name="T10" fmla="*/ 2147483646 w 176"/>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8">
                <a:moveTo>
                  <a:pt x="176" y="0"/>
                </a:moveTo>
                <a:cubicBezTo>
                  <a:pt x="176" y="18"/>
                  <a:pt x="176" y="18"/>
                  <a:pt x="176" y="18"/>
                </a:cubicBezTo>
                <a:cubicBezTo>
                  <a:pt x="4" y="18"/>
                  <a:pt x="4" y="18"/>
                  <a:pt x="4" y="18"/>
                </a:cubicBezTo>
                <a:cubicBezTo>
                  <a:pt x="2" y="18"/>
                  <a:pt x="0" y="14"/>
                  <a:pt x="0" y="9"/>
                </a:cubicBezTo>
                <a:cubicBezTo>
                  <a:pt x="0" y="4"/>
                  <a:pt x="2" y="0"/>
                  <a:pt x="4" y="0"/>
                </a:cubicBezTo>
                <a:cubicBezTo>
                  <a:pt x="176" y="0"/>
                  <a:pt x="176" y="0"/>
                  <a:pt x="176" y="0"/>
                </a:cubicBezTo>
              </a:path>
            </a:pathLst>
          </a:custGeom>
          <a:solidFill>
            <a:schemeClr val="accent1"/>
          </a:solidFill>
          <a:ln w="9525">
            <a:noFill/>
            <a:round/>
            <a:headEnd/>
            <a:tailEnd/>
          </a:ln>
        </p:spPr>
        <p:txBody>
          <a:bodyPr/>
          <a:lstStyle/>
          <a:p>
            <a:endParaRPr lang="zh-CN" altLang="en-US"/>
          </a:p>
        </p:txBody>
      </p:sp>
      <p:sp>
        <p:nvSpPr>
          <p:cNvPr id="8" name="MH_Other_2"/>
          <p:cNvSpPr>
            <a:spLocks noChangeArrowheads="1"/>
          </p:cNvSpPr>
          <p:nvPr>
            <p:custDataLst>
              <p:tags r:id="rId2"/>
            </p:custDataLst>
          </p:nvPr>
        </p:nvSpPr>
        <p:spPr bwMode="auto">
          <a:xfrm>
            <a:off x="2333625" y="3498850"/>
            <a:ext cx="1644650" cy="176213"/>
          </a:xfrm>
          <a:prstGeom prst="rect">
            <a:avLst/>
          </a:prstGeom>
          <a:noFill/>
          <a:ln w="9525">
            <a:noFill/>
            <a:miter lim="800000"/>
            <a:headEnd/>
            <a:tailEnd/>
          </a:ln>
        </p:spPr>
        <p:txBody>
          <a:bodyPr/>
          <a:lstStyle/>
          <a:p>
            <a:pPr eaLnBrk="1" hangingPunct="1"/>
            <a:endParaRPr lang="zh-CN" altLang="en-US"/>
          </a:p>
        </p:txBody>
      </p:sp>
      <p:sp>
        <p:nvSpPr>
          <p:cNvPr id="10" name="MH_Other_3"/>
          <p:cNvSpPr>
            <a:spLocks noChangeArrowheads="1"/>
          </p:cNvSpPr>
          <p:nvPr>
            <p:custDataLst>
              <p:tags r:id="rId3"/>
            </p:custDataLst>
          </p:nvPr>
        </p:nvSpPr>
        <p:spPr bwMode="auto">
          <a:xfrm>
            <a:off x="3978275" y="3498850"/>
            <a:ext cx="1641475" cy="176213"/>
          </a:xfrm>
          <a:prstGeom prst="rect">
            <a:avLst/>
          </a:prstGeom>
          <a:solidFill>
            <a:schemeClr val="accent1"/>
          </a:solidFill>
          <a:ln w="9525">
            <a:noFill/>
            <a:miter lim="800000"/>
            <a:headEnd/>
            <a:tailEnd/>
          </a:ln>
        </p:spPr>
        <p:txBody>
          <a:bodyPr/>
          <a:lstStyle/>
          <a:p>
            <a:pPr eaLnBrk="1" hangingPunct="1"/>
            <a:endParaRPr lang="zh-CN" altLang="en-US"/>
          </a:p>
        </p:txBody>
      </p:sp>
      <p:sp>
        <p:nvSpPr>
          <p:cNvPr id="11" name="MH_Other_4"/>
          <p:cNvSpPr>
            <a:spLocks noChangeArrowheads="1"/>
          </p:cNvSpPr>
          <p:nvPr>
            <p:custDataLst>
              <p:tags r:id="rId4"/>
            </p:custDataLst>
          </p:nvPr>
        </p:nvSpPr>
        <p:spPr bwMode="auto">
          <a:xfrm>
            <a:off x="2333625" y="3498850"/>
            <a:ext cx="1644650" cy="176213"/>
          </a:xfrm>
          <a:prstGeom prst="rect">
            <a:avLst/>
          </a:prstGeom>
          <a:solidFill>
            <a:schemeClr val="accent2"/>
          </a:solidFill>
          <a:ln w="9525">
            <a:noFill/>
            <a:miter lim="800000"/>
            <a:headEnd/>
            <a:tailEnd/>
          </a:ln>
        </p:spPr>
        <p:txBody>
          <a:bodyPr/>
          <a:lstStyle/>
          <a:p>
            <a:pPr eaLnBrk="1" hangingPunct="1"/>
            <a:endParaRPr lang="zh-CN" altLang="en-US"/>
          </a:p>
        </p:txBody>
      </p:sp>
      <p:sp>
        <p:nvSpPr>
          <p:cNvPr id="12" name="MH_Other_5"/>
          <p:cNvSpPr>
            <a:spLocks/>
          </p:cNvSpPr>
          <p:nvPr>
            <p:custDataLst>
              <p:tags r:id="rId5"/>
            </p:custDataLst>
          </p:nvPr>
        </p:nvSpPr>
        <p:spPr bwMode="auto">
          <a:xfrm flipH="1">
            <a:off x="5614988" y="3498850"/>
            <a:ext cx="1641475" cy="176213"/>
          </a:xfrm>
          <a:custGeom>
            <a:avLst/>
            <a:gdLst>
              <a:gd name="T0" fmla="*/ 2147483646 w 176"/>
              <a:gd name="T1" fmla="*/ 0 h 18"/>
              <a:gd name="T2" fmla="*/ 2147483646 w 176"/>
              <a:gd name="T3" fmla="*/ 2147483646 h 18"/>
              <a:gd name="T4" fmla="*/ 2147483646 w 176"/>
              <a:gd name="T5" fmla="*/ 2147483646 h 18"/>
              <a:gd name="T6" fmla="*/ 0 w 176"/>
              <a:gd name="T7" fmla="*/ 2147483646 h 18"/>
              <a:gd name="T8" fmla="*/ 2147483646 w 176"/>
              <a:gd name="T9" fmla="*/ 0 h 18"/>
              <a:gd name="T10" fmla="*/ 2147483646 w 176"/>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8">
                <a:moveTo>
                  <a:pt x="176" y="0"/>
                </a:moveTo>
                <a:cubicBezTo>
                  <a:pt x="176" y="18"/>
                  <a:pt x="176" y="18"/>
                  <a:pt x="176" y="18"/>
                </a:cubicBezTo>
                <a:cubicBezTo>
                  <a:pt x="4" y="18"/>
                  <a:pt x="4" y="18"/>
                  <a:pt x="4" y="18"/>
                </a:cubicBezTo>
                <a:cubicBezTo>
                  <a:pt x="2" y="18"/>
                  <a:pt x="0" y="14"/>
                  <a:pt x="0" y="9"/>
                </a:cubicBezTo>
                <a:cubicBezTo>
                  <a:pt x="0" y="4"/>
                  <a:pt x="2" y="0"/>
                  <a:pt x="4" y="0"/>
                </a:cubicBezTo>
                <a:cubicBezTo>
                  <a:pt x="176" y="0"/>
                  <a:pt x="176" y="0"/>
                  <a:pt x="176" y="0"/>
                </a:cubicBezTo>
              </a:path>
            </a:pathLst>
          </a:custGeom>
          <a:solidFill>
            <a:schemeClr val="accent2"/>
          </a:solidFill>
          <a:ln w="9525">
            <a:noFill/>
            <a:round/>
            <a:headEnd/>
            <a:tailEnd/>
          </a:ln>
        </p:spPr>
        <p:txBody>
          <a:bodyPr/>
          <a:lstStyle/>
          <a:p>
            <a:endParaRPr lang="zh-CN" altLang="en-US"/>
          </a:p>
        </p:txBody>
      </p:sp>
      <p:cxnSp>
        <p:nvCxnSpPr>
          <p:cNvPr id="13" name="MH_Other_6"/>
          <p:cNvCxnSpPr/>
          <p:nvPr>
            <p:custDataLst>
              <p:tags r:id="rId6"/>
            </p:custDataLst>
          </p:nvPr>
        </p:nvCxnSpPr>
        <p:spPr bwMode="auto">
          <a:xfrm flipV="1">
            <a:off x="4441825" y="2570163"/>
            <a:ext cx="595313" cy="863600"/>
          </a:xfrm>
          <a:prstGeom prst="line">
            <a:avLst/>
          </a:prstGeom>
          <a:ln w="28575">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MH_Other_7"/>
          <p:cNvCxnSpPr/>
          <p:nvPr>
            <p:custDataLst>
              <p:tags r:id="rId7"/>
            </p:custDataLst>
          </p:nvPr>
        </p:nvCxnSpPr>
        <p:spPr bwMode="auto">
          <a:xfrm>
            <a:off x="5037138" y="2570163"/>
            <a:ext cx="577850" cy="0"/>
          </a:xfrm>
          <a:prstGeom prst="line">
            <a:avLst/>
          </a:prstGeom>
          <a:ln w="28575">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MH_Other_8"/>
          <p:cNvCxnSpPr/>
          <p:nvPr>
            <p:custDataLst>
              <p:tags r:id="rId8"/>
            </p:custDataLst>
          </p:nvPr>
        </p:nvCxnSpPr>
        <p:spPr bwMode="auto">
          <a:xfrm>
            <a:off x="2759075" y="3743325"/>
            <a:ext cx="595313" cy="765175"/>
          </a:xfrm>
          <a:prstGeom prst="line">
            <a:avLst/>
          </a:prstGeom>
          <a:ln w="28575">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MH_Other_9"/>
          <p:cNvCxnSpPr/>
          <p:nvPr>
            <p:custDataLst>
              <p:tags r:id="rId9"/>
            </p:custDataLst>
          </p:nvPr>
        </p:nvCxnSpPr>
        <p:spPr bwMode="auto">
          <a:xfrm flipV="1">
            <a:off x="3354388" y="4508500"/>
            <a:ext cx="577850" cy="0"/>
          </a:xfrm>
          <a:prstGeom prst="line">
            <a:avLst/>
          </a:prstGeom>
          <a:ln w="28575">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MH_Other_10"/>
          <p:cNvCxnSpPr/>
          <p:nvPr>
            <p:custDataLst>
              <p:tags r:id="rId10"/>
            </p:custDataLst>
          </p:nvPr>
        </p:nvCxnSpPr>
        <p:spPr bwMode="auto">
          <a:xfrm>
            <a:off x="6045200" y="3743325"/>
            <a:ext cx="595313" cy="765175"/>
          </a:xfrm>
          <a:prstGeom prst="line">
            <a:avLst/>
          </a:prstGeom>
          <a:ln w="28575">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MH_Other_11"/>
          <p:cNvCxnSpPr/>
          <p:nvPr>
            <p:custDataLst>
              <p:tags r:id="rId11"/>
            </p:custDataLst>
          </p:nvPr>
        </p:nvCxnSpPr>
        <p:spPr bwMode="auto">
          <a:xfrm flipV="1">
            <a:off x="6640513" y="4508500"/>
            <a:ext cx="577850" cy="0"/>
          </a:xfrm>
          <a:prstGeom prst="line">
            <a:avLst/>
          </a:prstGeom>
          <a:ln w="28575">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MH_Other_12"/>
          <p:cNvCxnSpPr/>
          <p:nvPr>
            <p:custDataLst>
              <p:tags r:id="rId12"/>
            </p:custDataLst>
          </p:nvPr>
        </p:nvCxnSpPr>
        <p:spPr bwMode="auto">
          <a:xfrm flipV="1">
            <a:off x="1081088" y="2570163"/>
            <a:ext cx="595312" cy="863600"/>
          </a:xfrm>
          <a:prstGeom prst="line">
            <a:avLst/>
          </a:prstGeom>
          <a:ln w="28575">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MH_Other_13"/>
          <p:cNvCxnSpPr/>
          <p:nvPr>
            <p:custDataLst>
              <p:tags r:id="rId13"/>
            </p:custDataLst>
          </p:nvPr>
        </p:nvCxnSpPr>
        <p:spPr bwMode="auto">
          <a:xfrm>
            <a:off x="1676400" y="2570163"/>
            <a:ext cx="579438" cy="0"/>
          </a:xfrm>
          <a:prstGeom prst="line">
            <a:avLst/>
          </a:prstGeom>
          <a:ln w="28575">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MH_Other_14"/>
          <p:cNvSpPr>
            <a:spLocks noChangeArrowheads="1"/>
          </p:cNvSpPr>
          <p:nvPr>
            <p:custDataLst>
              <p:tags r:id="rId14"/>
            </p:custDataLst>
          </p:nvPr>
        </p:nvSpPr>
        <p:spPr bwMode="auto">
          <a:xfrm>
            <a:off x="2195513" y="2376488"/>
            <a:ext cx="711200" cy="393700"/>
          </a:xfrm>
          <a:prstGeom prst="rect">
            <a:avLst/>
          </a:prstGeom>
          <a:solidFill>
            <a:schemeClr val="accent1"/>
          </a:solidFill>
          <a:ln w="9525">
            <a:noFill/>
            <a:miter lim="800000"/>
            <a:headEnd/>
            <a:tailEnd/>
          </a:ln>
        </p:spPr>
        <p:txBody>
          <a:bodyPr anchor="ctr" anchorCtr="1"/>
          <a:lstStyle/>
          <a:p>
            <a:pPr algn="ctr" eaLnBrk="1" hangingPunct="1"/>
            <a:r>
              <a:rPr lang="en-US" altLang="zh-CN" sz="2000" b="1">
                <a:solidFill>
                  <a:srgbClr val="FFFFFF"/>
                </a:solidFill>
              </a:rPr>
              <a:t>1</a:t>
            </a:r>
            <a:endParaRPr lang="zh-CN" altLang="en-US" sz="2000" b="1">
              <a:solidFill>
                <a:srgbClr val="FFFFFF"/>
              </a:solidFill>
            </a:endParaRPr>
          </a:p>
        </p:txBody>
      </p:sp>
      <p:sp>
        <p:nvSpPr>
          <p:cNvPr id="22" name="MH_Other_15"/>
          <p:cNvSpPr>
            <a:spLocks noChangeArrowheads="1"/>
          </p:cNvSpPr>
          <p:nvPr>
            <p:custDataLst>
              <p:tags r:id="rId15"/>
            </p:custDataLst>
          </p:nvPr>
        </p:nvSpPr>
        <p:spPr bwMode="auto">
          <a:xfrm>
            <a:off x="3897313" y="4313238"/>
            <a:ext cx="711200" cy="390525"/>
          </a:xfrm>
          <a:prstGeom prst="rect">
            <a:avLst/>
          </a:prstGeom>
          <a:solidFill>
            <a:schemeClr val="accent2"/>
          </a:solidFill>
          <a:ln w="9525">
            <a:noFill/>
            <a:miter lim="800000"/>
            <a:headEnd/>
            <a:tailEnd/>
          </a:ln>
        </p:spPr>
        <p:txBody>
          <a:bodyPr anchor="ctr" anchorCtr="1"/>
          <a:lstStyle/>
          <a:p>
            <a:pPr algn="ctr" eaLnBrk="1" hangingPunct="1"/>
            <a:r>
              <a:rPr lang="en-US" altLang="zh-CN" sz="2000" b="1">
                <a:solidFill>
                  <a:srgbClr val="FFFFFF"/>
                </a:solidFill>
              </a:rPr>
              <a:t>2</a:t>
            </a:r>
            <a:endParaRPr lang="zh-CN" altLang="en-US" sz="2000" b="1">
              <a:solidFill>
                <a:srgbClr val="FFFFFF"/>
              </a:solidFill>
            </a:endParaRPr>
          </a:p>
        </p:txBody>
      </p:sp>
      <p:sp>
        <p:nvSpPr>
          <p:cNvPr id="23" name="MH_Other_16"/>
          <p:cNvSpPr>
            <a:spLocks noChangeArrowheads="1"/>
          </p:cNvSpPr>
          <p:nvPr>
            <p:custDataLst>
              <p:tags r:id="rId16"/>
            </p:custDataLst>
          </p:nvPr>
        </p:nvSpPr>
        <p:spPr bwMode="auto">
          <a:xfrm>
            <a:off x="5557838" y="2376488"/>
            <a:ext cx="709612" cy="393700"/>
          </a:xfrm>
          <a:prstGeom prst="rect">
            <a:avLst/>
          </a:prstGeom>
          <a:solidFill>
            <a:schemeClr val="accent1"/>
          </a:solidFill>
          <a:ln w="9525">
            <a:noFill/>
            <a:miter lim="800000"/>
            <a:headEnd/>
            <a:tailEnd/>
          </a:ln>
        </p:spPr>
        <p:txBody>
          <a:bodyPr anchor="ctr" anchorCtr="1"/>
          <a:lstStyle/>
          <a:p>
            <a:pPr algn="ctr" eaLnBrk="1" hangingPunct="1"/>
            <a:r>
              <a:rPr lang="en-US" altLang="zh-CN" sz="2000" b="1">
                <a:solidFill>
                  <a:srgbClr val="FFFFFF"/>
                </a:solidFill>
              </a:rPr>
              <a:t>3</a:t>
            </a:r>
            <a:endParaRPr lang="zh-CN" altLang="en-US" sz="2000" b="1">
              <a:solidFill>
                <a:srgbClr val="FFFFFF"/>
              </a:solidFill>
            </a:endParaRPr>
          </a:p>
        </p:txBody>
      </p:sp>
      <p:sp>
        <p:nvSpPr>
          <p:cNvPr id="24" name="MH_Other_17"/>
          <p:cNvSpPr>
            <a:spLocks noChangeArrowheads="1"/>
          </p:cNvSpPr>
          <p:nvPr>
            <p:custDataLst>
              <p:tags r:id="rId17"/>
            </p:custDataLst>
          </p:nvPr>
        </p:nvSpPr>
        <p:spPr bwMode="auto">
          <a:xfrm>
            <a:off x="7218363" y="4297363"/>
            <a:ext cx="703262" cy="392112"/>
          </a:xfrm>
          <a:prstGeom prst="rect">
            <a:avLst/>
          </a:prstGeom>
          <a:solidFill>
            <a:schemeClr val="accent2"/>
          </a:solidFill>
          <a:ln w="9525">
            <a:noFill/>
            <a:miter lim="800000"/>
            <a:headEnd/>
            <a:tailEnd/>
          </a:ln>
        </p:spPr>
        <p:txBody>
          <a:bodyPr anchor="ctr" anchorCtr="1"/>
          <a:lstStyle/>
          <a:p>
            <a:pPr algn="ctr" eaLnBrk="1" hangingPunct="1"/>
            <a:r>
              <a:rPr lang="en-US" altLang="zh-CN" sz="2000" b="1">
                <a:solidFill>
                  <a:srgbClr val="FFFFFF"/>
                </a:solidFill>
              </a:rPr>
              <a:t>4</a:t>
            </a:r>
            <a:endParaRPr lang="zh-CN" altLang="en-US" sz="2000" b="1">
              <a:solidFill>
                <a:srgbClr val="FFFFFF"/>
              </a:solidFill>
            </a:endParaRPr>
          </a:p>
        </p:txBody>
      </p:sp>
      <p:sp>
        <p:nvSpPr>
          <p:cNvPr id="25" name="MH_SubTitle_1"/>
          <p:cNvSpPr>
            <a:spLocks noChangeArrowheads="1"/>
          </p:cNvSpPr>
          <p:nvPr>
            <p:custDataLst>
              <p:tags r:id="rId18"/>
            </p:custDataLst>
          </p:nvPr>
        </p:nvSpPr>
        <p:spPr bwMode="auto">
          <a:xfrm>
            <a:off x="1619672" y="2801938"/>
            <a:ext cx="1843087"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defRPr/>
            </a:pPr>
            <a:r>
              <a:rPr lang="zh-CN" altLang="en-US" sz="2400" dirty="0" smtClean="0">
                <a:latin typeface="+mn-lt"/>
                <a:ea typeface="+mn-ea"/>
              </a:rPr>
              <a:t>数据预处理</a:t>
            </a:r>
            <a:endParaRPr lang="zh-CN" altLang="en-US" sz="1600" dirty="0" smtClean="0">
              <a:latin typeface="+mn-lt"/>
              <a:ea typeface="+mn-ea"/>
            </a:endParaRPr>
          </a:p>
        </p:txBody>
      </p:sp>
      <p:sp>
        <p:nvSpPr>
          <p:cNvPr id="26" name="MH_SubTitle_2"/>
          <p:cNvSpPr>
            <a:spLocks noChangeArrowheads="1"/>
          </p:cNvSpPr>
          <p:nvPr>
            <p:custDataLst>
              <p:tags r:id="rId19"/>
            </p:custDataLst>
          </p:nvPr>
        </p:nvSpPr>
        <p:spPr bwMode="auto">
          <a:xfrm>
            <a:off x="5063876" y="2801938"/>
            <a:ext cx="3036516"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defRPr/>
            </a:pPr>
            <a:r>
              <a:rPr lang="zh-CN" altLang="en-US" sz="2400" dirty="0" smtClean="0">
                <a:latin typeface="+mn-lt"/>
                <a:ea typeface="+mn-ea"/>
              </a:rPr>
              <a:t>数据挖掘方法的运用</a:t>
            </a:r>
          </a:p>
        </p:txBody>
      </p:sp>
      <p:sp>
        <p:nvSpPr>
          <p:cNvPr id="27" name="MH_SubTitle_3"/>
          <p:cNvSpPr>
            <a:spLocks noChangeArrowheads="1"/>
          </p:cNvSpPr>
          <p:nvPr>
            <p:custDataLst>
              <p:tags r:id="rId20"/>
            </p:custDataLst>
          </p:nvPr>
        </p:nvSpPr>
        <p:spPr bwMode="auto">
          <a:xfrm>
            <a:off x="3059832" y="4743078"/>
            <a:ext cx="2384846" cy="684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defRPr/>
            </a:pPr>
            <a:r>
              <a:rPr lang="zh-CN" altLang="en-US" sz="2400" dirty="0" smtClean="0">
                <a:latin typeface="+mn-lt"/>
                <a:ea typeface="+mn-ea"/>
              </a:rPr>
              <a:t>数据仓库的建立</a:t>
            </a:r>
          </a:p>
        </p:txBody>
      </p:sp>
      <p:sp>
        <p:nvSpPr>
          <p:cNvPr id="28" name="MH_SubTitle_3"/>
          <p:cNvSpPr>
            <a:spLocks noChangeArrowheads="1"/>
          </p:cNvSpPr>
          <p:nvPr>
            <p:custDataLst>
              <p:tags r:id="rId21"/>
            </p:custDataLst>
          </p:nvPr>
        </p:nvSpPr>
        <p:spPr bwMode="auto">
          <a:xfrm>
            <a:off x="6156176" y="4743078"/>
            <a:ext cx="2987824" cy="684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defRPr/>
            </a:pPr>
            <a:r>
              <a:rPr lang="zh-CN" altLang="en-US" sz="2400" dirty="0" smtClean="0">
                <a:latin typeface="+mn-lt"/>
                <a:ea typeface="+mn-ea"/>
              </a:rPr>
              <a:t>数据挖掘结果的评估</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数据预处理</a:t>
            </a:r>
            <a:endParaRPr lang="en-US" altLang="zh-CN" sz="3000" dirty="0" smtClean="0"/>
          </a:p>
          <a:p>
            <a:pPr marL="673100" lvl="1" indent="-273050"/>
            <a:r>
              <a:rPr lang="zh-CN" altLang="en-US" sz="2600" dirty="0" smtClean="0"/>
              <a:t>数据清洗</a:t>
            </a:r>
            <a:endParaRPr lang="en-US" altLang="zh-CN" sz="2600" dirty="0" smtClean="0"/>
          </a:p>
          <a:p>
            <a:pPr marL="1073150" lvl="2" indent="-273050"/>
            <a:r>
              <a:rPr lang="zh-CN" altLang="en-US" sz="2200" dirty="0" smtClean="0"/>
              <a:t>噪声数据、缺失数据、不一致数据、错误数据</a:t>
            </a:r>
            <a:endParaRPr lang="en-US" altLang="zh-CN" sz="2200" dirty="0" smtClean="0"/>
          </a:p>
          <a:p>
            <a:pPr marL="673100" lvl="1" indent="-273050"/>
            <a:r>
              <a:rPr lang="zh-CN" altLang="en-US" sz="2600" dirty="0" smtClean="0"/>
              <a:t>数据集成</a:t>
            </a:r>
            <a:endParaRPr lang="en-US" altLang="zh-CN" sz="2600" dirty="0" smtClean="0"/>
          </a:p>
          <a:p>
            <a:pPr marL="1073150" lvl="2" indent="-273050"/>
            <a:r>
              <a:rPr lang="zh-CN" altLang="en-US" sz="2200" dirty="0" smtClean="0"/>
              <a:t>多个数据源→一致的数据存储</a:t>
            </a:r>
            <a:endParaRPr lang="en-US" altLang="zh-CN" sz="2200" dirty="0" smtClean="0"/>
          </a:p>
          <a:p>
            <a:pPr marL="673100" lvl="1" indent="-273050"/>
            <a:r>
              <a:rPr lang="zh-CN" altLang="en-US" sz="2600" dirty="0" smtClean="0"/>
              <a:t>数据变换</a:t>
            </a:r>
            <a:endParaRPr lang="en-US" altLang="zh-CN" sz="2600" dirty="0" smtClean="0"/>
          </a:p>
          <a:p>
            <a:pPr marL="1073150" lvl="2" indent="-273050"/>
            <a:r>
              <a:rPr lang="zh-CN" altLang="en-US" sz="2200" dirty="0" smtClean="0"/>
              <a:t>压缩数据维度</a:t>
            </a:r>
            <a:endParaRPr lang="en-US" altLang="zh-CN" sz="2200" dirty="0" smtClean="0"/>
          </a:p>
          <a:p>
            <a:pPr marL="673100" lvl="1" indent="-273050"/>
            <a:r>
              <a:rPr lang="zh-CN" altLang="en-US" sz="2600" dirty="0" smtClean="0"/>
              <a:t>数据规约</a:t>
            </a:r>
            <a:endParaRPr lang="en-US" altLang="zh-CN" sz="2600" dirty="0" smtClean="0"/>
          </a:p>
          <a:p>
            <a:pPr marL="1073150" lvl="2" indent="-273050"/>
            <a:r>
              <a:rPr lang="zh-CN" altLang="en-US" sz="2200" dirty="0" smtClean="0"/>
              <a:t>减少数据存储空间</a:t>
            </a:r>
            <a:endParaRPr lang="en-US" altLang="zh-CN" sz="22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数据仓库建立</a:t>
            </a:r>
            <a:endParaRPr lang="en-US" altLang="zh-CN" sz="3000" dirty="0" smtClean="0"/>
          </a:p>
          <a:p>
            <a:pPr marL="673100" lvl="1" indent="-273050"/>
            <a:r>
              <a:rPr lang="zh-CN" altLang="en-US" sz="2600" dirty="0" smtClean="0"/>
              <a:t>数据仓库特点</a:t>
            </a:r>
            <a:endParaRPr lang="en-US" altLang="zh-CN" sz="2600" dirty="0" smtClean="0"/>
          </a:p>
          <a:p>
            <a:pPr marL="1073150" lvl="2" indent="-273050"/>
            <a:r>
              <a:rPr lang="zh-CN" altLang="en-US" sz="2200" dirty="0" smtClean="0"/>
              <a:t>面向主题、集成、相对稳定、反应历史变化</a:t>
            </a:r>
            <a:endParaRPr lang="en-US" altLang="zh-CN" sz="2200" dirty="0" smtClean="0"/>
          </a:p>
          <a:p>
            <a:pPr marL="673100" lvl="1" indent="-273050"/>
            <a:r>
              <a:rPr lang="zh-CN" altLang="en-US" sz="2600" dirty="0" smtClean="0"/>
              <a:t>数据仓库组成</a:t>
            </a:r>
            <a:endParaRPr lang="en-US" altLang="zh-CN" sz="2600" dirty="0" smtClean="0"/>
          </a:p>
          <a:p>
            <a:pPr marL="1073150" lvl="2" indent="-273050"/>
            <a:r>
              <a:rPr lang="zh-CN" altLang="en-US" sz="2200" dirty="0" smtClean="0"/>
              <a:t>数据仓库数据库、数据抽取工具、元数据、访问工具、数据集市、数据仓库管理以及信息发布系统</a:t>
            </a:r>
            <a:endParaRPr lang="en-US" altLang="zh-CN" sz="2200" dirty="0" smtClean="0"/>
          </a:p>
          <a:p>
            <a:pPr marL="673100" lvl="1" indent="-273050"/>
            <a:r>
              <a:rPr lang="zh-CN" altLang="en-US" sz="2600" dirty="0" smtClean="0"/>
              <a:t>数据仓库设计、建立、测试</a:t>
            </a:r>
            <a:endParaRPr lang="en-US" altLang="zh-CN" sz="22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分类</a:t>
            </a:r>
            <a:endParaRPr lang="en-US" altLang="zh-CN" sz="3000" dirty="0" smtClean="0"/>
          </a:p>
        </p:txBody>
      </p:sp>
      <p:pic>
        <p:nvPicPr>
          <p:cNvPr id="6" name="图片 5" descr="分类.gif"/>
          <p:cNvPicPr>
            <a:picLocks noChangeAspect="1"/>
          </p:cNvPicPr>
          <p:nvPr/>
        </p:nvPicPr>
        <p:blipFill>
          <a:blip r:embed="rId4" cstate="print"/>
          <a:stretch>
            <a:fillRect/>
          </a:stretch>
        </p:blipFill>
        <p:spPr>
          <a:xfrm>
            <a:off x="5572132" y="1000108"/>
            <a:ext cx="3071834" cy="1290028"/>
          </a:xfrm>
          <a:prstGeom prst="rect">
            <a:avLst/>
          </a:prstGeom>
        </p:spPr>
      </p:pic>
      <p:grpSp>
        <p:nvGrpSpPr>
          <p:cNvPr id="65" name="组合 64"/>
          <p:cNvGrpSpPr/>
          <p:nvPr/>
        </p:nvGrpSpPr>
        <p:grpSpPr>
          <a:xfrm>
            <a:off x="500034" y="2571748"/>
            <a:ext cx="3600000" cy="4071962"/>
            <a:chOff x="785786" y="2357430"/>
            <a:chExt cx="3600000" cy="4071962"/>
          </a:xfrm>
        </p:grpSpPr>
        <p:grpSp>
          <p:nvGrpSpPr>
            <p:cNvPr id="10" name="组合 41"/>
            <p:cNvGrpSpPr/>
            <p:nvPr/>
          </p:nvGrpSpPr>
          <p:grpSpPr>
            <a:xfrm>
              <a:off x="785786" y="2701942"/>
              <a:ext cx="3600000" cy="3727450"/>
              <a:chOff x="1219200" y="2139950"/>
              <a:chExt cx="2170113" cy="3727450"/>
            </a:xfrm>
          </p:grpSpPr>
          <p:sp>
            <p:nvSpPr>
              <p:cNvPr id="19" name="AutoShape 4"/>
              <p:cNvSpPr>
                <a:spLocks noChangeArrowheads="1"/>
              </p:cNvSpPr>
              <p:nvPr/>
            </p:nvSpPr>
            <p:spPr bwMode="gray">
              <a:xfrm>
                <a:off x="1219200" y="2139950"/>
                <a:ext cx="2163763" cy="2857500"/>
              </a:xfrm>
              <a:prstGeom prst="roundRect">
                <a:avLst>
                  <a:gd name="adj" fmla="val 17509"/>
                </a:avLst>
              </a:prstGeom>
              <a:gradFill rotWithShape="1">
                <a:gsLst>
                  <a:gs pos="0">
                    <a:srgbClr val="4E91D4"/>
                  </a:gs>
                  <a:gs pos="100000">
                    <a:srgbClr val="3477A4"/>
                  </a:gs>
                </a:gsLst>
                <a:lin ang="2700000" scaled="1"/>
              </a:gradFill>
              <a:ln w="9525">
                <a:noFill/>
                <a:round/>
                <a:headEnd/>
                <a:tailEnd/>
              </a:ln>
              <a:effectLst/>
            </p:spPr>
            <p:txBody>
              <a:bodyPr wrap="none" anchor="ctr"/>
              <a:lstStyle/>
              <a:p>
                <a:endParaRPr lang="zh-CN" altLang="en-US"/>
              </a:p>
            </p:txBody>
          </p:sp>
          <p:sp>
            <p:nvSpPr>
              <p:cNvPr id="20" name="AutoShape 5"/>
              <p:cNvSpPr>
                <a:spLocks noChangeArrowheads="1"/>
              </p:cNvSpPr>
              <p:nvPr/>
            </p:nvSpPr>
            <p:spPr bwMode="gray">
              <a:xfrm>
                <a:off x="1252538" y="2147888"/>
                <a:ext cx="2098675" cy="2803525"/>
              </a:xfrm>
              <a:prstGeom prst="roundRect">
                <a:avLst>
                  <a:gd name="adj" fmla="val 16667"/>
                </a:avLst>
              </a:prstGeom>
              <a:solidFill>
                <a:srgbClr val="3CA1E6"/>
              </a:solidFill>
              <a:ln w="9525">
                <a:noFill/>
                <a:round/>
                <a:headEnd/>
                <a:tailEnd/>
              </a:ln>
              <a:effectLst/>
            </p:spPr>
            <p:txBody>
              <a:bodyPr wrap="none" anchor="ctr"/>
              <a:lstStyle/>
              <a:p>
                <a:endParaRPr lang="zh-CN" altLang="en-US"/>
              </a:p>
            </p:txBody>
          </p:sp>
          <p:sp>
            <p:nvSpPr>
              <p:cNvPr id="21" name="AutoShape 6"/>
              <p:cNvSpPr>
                <a:spLocks noChangeArrowheads="1"/>
              </p:cNvSpPr>
              <p:nvPr/>
            </p:nvSpPr>
            <p:spPr bwMode="gray">
              <a:xfrm>
                <a:off x="1270000" y="4211638"/>
                <a:ext cx="2070100" cy="709613"/>
              </a:xfrm>
              <a:prstGeom prst="roundRect">
                <a:avLst>
                  <a:gd name="adj" fmla="val 50000"/>
                </a:avLst>
              </a:prstGeom>
              <a:gradFill rotWithShape="1">
                <a:gsLst>
                  <a:gs pos="0">
                    <a:srgbClr val="3CA1E6">
                      <a:alpha val="0"/>
                    </a:srgbClr>
                  </a:gs>
                  <a:gs pos="100000">
                    <a:srgbClr val="3CA1E6">
                      <a:gamma/>
                      <a:tint val="51373"/>
                      <a:invGamma/>
                    </a:srgbClr>
                  </a:gs>
                </a:gsLst>
                <a:lin ang="5400000" scaled="1"/>
              </a:gradFill>
              <a:ln w="9525">
                <a:noFill/>
                <a:round/>
                <a:headEnd/>
                <a:tailEnd/>
              </a:ln>
              <a:effectLst/>
            </p:spPr>
            <p:txBody>
              <a:bodyPr wrap="none" anchor="ctr"/>
              <a:lstStyle/>
              <a:p>
                <a:endParaRPr lang="zh-CN" altLang="en-US"/>
              </a:p>
            </p:txBody>
          </p:sp>
          <p:sp>
            <p:nvSpPr>
              <p:cNvPr id="22" name="AutoShape 7"/>
              <p:cNvSpPr>
                <a:spLocks noChangeArrowheads="1"/>
              </p:cNvSpPr>
              <p:nvPr/>
            </p:nvSpPr>
            <p:spPr bwMode="gray">
              <a:xfrm>
                <a:off x="1270000" y="2170113"/>
                <a:ext cx="2070100" cy="708025"/>
              </a:xfrm>
              <a:prstGeom prst="roundRect">
                <a:avLst>
                  <a:gd name="adj" fmla="val 50000"/>
                </a:avLst>
              </a:prstGeom>
              <a:gradFill rotWithShape="1">
                <a:gsLst>
                  <a:gs pos="0">
                    <a:srgbClr val="3CA1E6">
                      <a:gamma/>
                      <a:tint val="33333"/>
                      <a:invGamma/>
                    </a:srgbClr>
                  </a:gs>
                  <a:gs pos="100000">
                    <a:srgbClr val="3CA1E6">
                      <a:alpha val="0"/>
                    </a:srgbClr>
                  </a:gs>
                </a:gsLst>
                <a:lin ang="5400000" scaled="1"/>
              </a:gradFill>
              <a:ln w="9525">
                <a:noFill/>
                <a:round/>
                <a:headEnd/>
                <a:tailEnd/>
              </a:ln>
              <a:effectLst/>
            </p:spPr>
            <p:txBody>
              <a:bodyPr wrap="none" anchor="ctr"/>
              <a:lstStyle/>
              <a:p>
                <a:endParaRPr lang="zh-CN" altLang="en-US"/>
              </a:p>
            </p:txBody>
          </p:sp>
          <p:sp>
            <p:nvSpPr>
              <p:cNvPr id="23" name="AutoShape 8"/>
              <p:cNvSpPr>
                <a:spLocks noChangeArrowheads="1"/>
              </p:cNvSpPr>
              <p:nvPr/>
            </p:nvSpPr>
            <p:spPr bwMode="gray">
              <a:xfrm>
                <a:off x="1225550" y="4997450"/>
                <a:ext cx="2163763" cy="869950"/>
              </a:xfrm>
              <a:prstGeom prst="roundRect">
                <a:avLst>
                  <a:gd name="adj" fmla="val 40389"/>
                </a:avLst>
              </a:prstGeom>
              <a:gradFill rotWithShape="1">
                <a:gsLst>
                  <a:gs pos="0">
                    <a:srgbClr val="729EB4"/>
                  </a:gs>
                  <a:gs pos="100000">
                    <a:schemeClr val="bg1"/>
                  </a:gs>
                </a:gsLst>
                <a:lin ang="5400000" scaled="1"/>
              </a:gradFill>
              <a:ln w="9525">
                <a:noFill/>
                <a:round/>
                <a:headEnd/>
                <a:tailEnd/>
              </a:ln>
              <a:effectLst/>
            </p:spPr>
            <p:txBody>
              <a:bodyPr wrap="none" anchor="ctr"/>
              <a:lstStyle/>
              <a:p>
                <a:endParaRPr lang="zh-CN" altLang="en-US"/>
              </a:p>
            </p:txBody>
          </p:sp>
          <p:sp>
            <p:nvSpPr>
              <p:cNvPr id="24" name="AutoShape 9"/>
              <p:cNvSpPr>
                <a:spLocks noChangeArrowheads="1"/>
              </p:cNvSpPr>
              <p:nvPr/>
            </p:nvSpPr>
            <p:spPr bwMode="gray">
              <a:xfrm>
                <a:off x="1270000" y="5021263"/>
                <a:ext cx="2070100" cy="773113"/>
              </a:xfrm>
              <a:prstGeom prst="roundRect">
                <a:avLst>
                  <a:gd name="adj" fmla="val 50000"/>
                </a:avLst>
              </a:prstGeom>
              <a:gradFill rotWithShape="1">
                <a:gsLst>
                  <a:gs pos="0">
                    <a:srgbClr val="7DAFD4"/>
                  </a:gs>
                  <a:gs pos="100000">
                    <a:schemeClr val="bg1"/>
                  </a:gs>
                </a:gsLst>
                <a:lin ang="5400000" scaled="1"/>
              </a:gradFill>
              <a:ln w="9525">
                <a:noFill/>
                <a:round/>
                <a:headEnd/>
                <a:tailEnd/>
              </a:ln>
              <a:effectLst/>
            </p:spPr>
            <p:txBody>
              <a:bodyPr wrap="none" anchor="ctr"/>
              <a:lstStyle/>
              <a:p>
                <a:endParaRPr lang="zh-CN" altLang="en-US"/>
              </a:p>
            </p:txBody>
          </p:sp>
          <p:sp>
            <p:nvSpPr>
              <p:cNvPr id="25" name="Text Box 17"/>
              <p:cNvSpPr txBox="1">
                <a:spLocks noChangeArrowheads="1"/>
              </p:cNvSpPr>
              <p:nvPr/>
            </p:nvSpPr>
            <p:spPr bwMode="gray">
              <a:xfrm>
                <a:off x="1219200" y="2593974"/>
                <a:ext cx="2057401" cy="430887"/>
              </a:xfrm>
              <a:prstGeom prst="rect">
                <a:avLst/>
              </a:prstGeom>
              <a:noFill/>
              <a:ln w="9525" algn="ctr">
                <a:noFill/>
                <a:miter lim="800000"/>
                <a:headEnd/>
                <a:tailEnd/>
              </a:ln>
              <a:effectLst/>
            </p:spPr>
            <p:txBody>
              <a:bodyPr wrap="square">
                <a:spAutoFit/>
              </a:bodyPr>
              <a:lstStyle/>
              <a:p>
                <a:pPr algn="ctr"/>
                <a:r>
                  <a:rPr lang="zh-CN" altLang="en-US" sz="2200" dirty="0" smtClean="0">
                    <a:latin typeface="微软雅黑" pitchFamily="34" charset="-122"/>
                    <a:ea typeface="微软雅黑" pitchFamily="34" charset="-122"/>
                  </a:rPr>
                  <a:t>构建分类模型</a:t>
                </a:r>
                <a:endParaRPr lang="en-US" altLang="zh-CN" sz="2200" dirty="0">
                  <a:latin typeface="微软雅黑" pitchFamily="34" charset="-122"/>
                  <a:ea typeface="微软雅黑" pitchFamily="34" charset="-122"/>
                </a:endParaRPr>
              </a:p>
            </p:txBody>
          </p:sp>
        </p:grpSp>
        <p:grpSp>
          <p:nvGrpSpPr>
            <p:cNvPr id="11" name="组合 40"/>
            <p:cNvGrpSpPr/>
            <p:nvPr/>
          </p:nvGrpSpPr>
          <p:grpSpPr>
            <a:xfrm>
              <a:off x="2264317" y="2357430"/>
              <a:ext cx="642938" cy="642938"/>
              <a:chOff x="1963738" y="1831975"/>
              <a:chExt cx="642938" cy="642938"/>
            </a:xfrm>
          </p:grpSpPr>
          <p:grpSp>
            <p:nvGrpSpPr>
              <p:cNvPr id="12" name="Group 10"/>
              <p:cNvGrpSpPr>
                <a:grpSpLocks/>
              </p:cNvGrpSpPr>
              <p:nvPr/>
            </p:nvGrpSpPr>
            <p:grpSpPr bwMode="auto">
              <a:xfrm>
                <a:off x="1963738" y="1831975"/>
                <a:ext cx="642938" cy="642938"/>
                <a:chOff x="1289" y="582"/>
                <a:chExt cx="668" cy="668"/>
              </a:xfrm>
            </p:grpSpPr>
            <p:sp>
              <p:nvSpPr>
                <p:cNvPr id="14" name="Oval 11"/>
                <p:cNvSpPr>
                  <a:spLocks noChangeArrowheads="1"/>
                </p:cNvSpPr>
                <p:nvPr/>
              </p:nvSpPr>
              <p:spPr bwMode="gray">
                <a:xfrm>
                  <a:off x="1289" y="582"/>
                  <a:ext cx="668" cy="668"/>
                </a:xfrm>
                <a:prstGeom prst="ellipse">
                  <a:avLst/>
                </a:prstGeom>
                <a:solidFill>
                  <a:srgbClr val="333333"/>
                </a:solidFill>
                <a:ln w="38100" algn="ctr">
                  <a:noFill/>
                  <a:round/>
                  <a:headEnd/>
                  <a:tailEnd/>
                </a:ln>
                <a:effectLst/>
              </p:spPr>
              <p:txBody>
                <a:bodyPr anchor="ctr">
                  <a:spAutoFit/>
                </a:bodyPr>
                <a:lstStyle/>
                <a:p>
                  <a:endParaRPr lang="zh-CN" altLang="en-US"/>
                </a:p>
              </p:txBody>
            </p:sp>
            <p:sp>
              <p:nvSpPr>
                <p:cNvPr id="15" name="Oval 12"/>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16" name="Oval 13"/>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17" name="Oval 14"/>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18" name="Oval 15"/>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sp>
            <p:nvSpPr>
              <p:cNvPr id="13" name="Text Box 16"/>
              <p:cNvSpPr txBox="1">
                <a:spLocks noChangeArrowheads="1"/>
              </p:cNvSpPr>
              <p:nvPr/>
            </p:nvSpPr>
            <p:spPr bwMode="gray">
              <a:xfrm>
                <a:off x="2101850" y="1924050"/>
                <a:ext cx="340157" cy="461665"/>
              </a:xfrm>
              <a:prstGeom prst="rect">
                <a:avLst/>
              </a:prstGeom>
              <a:noFill/>
              <a:ln w="9525" algn="ctr">
                <a:noFill/>
                <a:miter lim="800000"/>
                <a:headEnd/>
                <a:tailEnd/>
              </a:ln>
              <a:effectLst/>
            </p:spPr>
            <p:txBody>
              <a:bodyPr wrap="none">
                <a:spAutoFit/>
              </a:bodyPr>
              <a:lstStyle/>
              <a:p>
                <a:pPr algn="ctr"/>
                <a:r>
                  <a:rPr lang="en-US" altLang="zh-CN" sz="2400" dirty="0">
                    <a:solidFill>
                      <a:srgbClr val="000000"/>
                    </a:solidFill>
                    <a:ea typeface="宋体" charset="-122"/>
                  </a:rPr>
                  <a:t>1</a:t>
                </a:r>
                <a:endParaRPr lang="en-US" altLang="zh-CN" i="1" dirty="0">
                  <a:ea typeface="宋体" charset="-122"/>
                </a:endParaRPr>
              </a:p>
            </p:txBody>
          </p:sp>
        </p:grpSp>
      </p:grpSp>
      <p:sp>
        <p:nvSpPr>
          <p:cNvPr id="27" name="AutoShape 30"/>
          <p:cNvSpPr>
            <a:spLocks noChangeArrowheads="1"/>
          </p:cNvSpPr>
          <p:nvPr/>
        </p:nvSpPr>
        <p:spPr bwMode="gray">
          <a:xfrm>
            <a:off x="4717179" y="5773760"/>
            <a:ext cx="1569333" cy="869950"/>
          </a:xfrm>
          <a:prstGeom prst="roundRect">
            <a:avLst>
              <a:gd name="adj" fmla="val 40389"/>
            </a:avLst>
          </a:prstGeom>
          <a:gradFill rotWithShape="1">
            <a:gsLst>
              <a:gs pos="0">
                <a:srgbClr val="58A4AE"/>
              </a:gs>
              <a:gs pos="100000">
                <a:schemeClr val="bg1"/>
              </a:gs>
            </a:gsLst>
            <a:lin ang="5400000" scaled="1"/>
          </a:gradFill>
          <a:ln w="9525">
            <a:noFill/>
            <a:round/>
            <a:headEnd/>
            <a:tailEnd/>
          </a:ln>
          <a:effectLst/>
        </p:spPr>
        <p:txBody>
          <a:bodyPr wrap="none" anchor="ctr"/>
          <a:lstStyle/>
          <a:p>
            <a:endParaRPr lang="zh-CN" altLang="en-US"/>
          </a:p>
        </p:txBody>
      </p:sp>
      <p:grpSp>
        <p:nvGrpSpPr>
          <p:cNvPr id="66" name="组合 65"/>
          <p:cNvGrpSpPr/>
          <p:nvPr/>
        </p:nvGrpSpPr>
        <p:grpSpPr>
          <a:xfrm>
            <a:off x="4714875" y="2571744"/>
            <a:ext cx="3600000" cy="3916385"/>
            <a:chOff x="4714875" y="2357426"/>
            <a:chExt cx="3600000" cy="3916385"/>
          </a:xfrm>
        </p:grpSpPr>
        <p:grpSp>
          <p:nvGrpSpPr>
            <p:cNvPr id="28" name="组合 84"/>
            <p:cNvGrpSpPr/>
            <p:nvPr/>
          </p:nvGrpSpPr>
          <p:grpSpPr>
            <a:xfrm>
              <a:off x="4714875" y="2701942"/>
              <a:ext cx="3600000" cy="3571869"/>
              <a:chOff x="2428860" y="1951025"/>
              <a:chExt cx="2163763" cy="3571869"/>
            </a:xfrm>
          </p:grpSpPr>
          <p:sp>
            <p:nvSpPr>
              <p:cNvPr id="42" name="AutoShape 31"/>
              <p:cNvSpPr>
                <a:spLocks noChangeArrowheads="1"/>
              </p:cNvSpPr>
              <p:nvPr/>
            </p:nvSpPr>
            <p:spPr bwMode="gray">
              <a:xfrm>
                <a:off x="2476484" y="4749781"/>
                <a:ext cx="2070100" cy="773113"/>
              </a:xfrm>
              <a:prstGeom prst="roundRect">
                <a:avLst>
                  <a:gd name="adj" fmla="val 50000"/>
                </a:avLst>
              </a:prstGeom>
              <a:gradFill rotWithShape="1">
                <a:gsLst>
                  <a:gs pos="0">
                    <a:srgbClr val="72B2BB"/>
                  </a:gs>
                  <a:gs pos="100000">
                    <a:schemeClr val="bg1"/>
                  </a:gs>
                </a:gsLst>
                <a:lin ang="5400000" scaled="1"/>
              </a:gradFill>
              <a:ln w="9525">
                <a:noFill/>
                <a:round/>
                <a:headEnd/>
                <a:tailEnd/>
              </a:ln>
              <a:effectLst/>
            </p:spPr>
            <p:txBody>
              <a:bodyPr wrap="none" anchor="ctr"/>
              <a:lstStyle/>
              <a:p>
                <a:endParaRPr lang="zh-CN" altLang="en-US"/>
              </a:p>
            </p:txBody>
          </p:sp>
          <p:sp>
            <p:nvSpPr>
              <p:cNvPr id="37" name="AutoShape 19"/>
              <p:cNvSpPr>
                <a:spLocks noChangeArrowheads="1"/>
              </p:cNvSpPr>
              <p:nvPr/>
            </p:nvSpPr>
            <p:spPr bwMode="gray">
              <a:xfrm>
                <a:off x="2428860" y="1951025"/>
                <a:ext cx="2163763" cy="28575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38" name="AutoShape 20"/>
              <p:cNvSpPr>
                <a:spLocks noChangeArrowheads="1"/>
              </p:cNvSpPr>
              <p:nvPr/>
            </p:nvSpPr>
            <p:spPr bwMode="gray">
              <a:xfrm>
                <a:off x="2462197" y="1958963"/>
                <a:ext cx="2098675" cy="2803525"/>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39" name="AutoShape 21"/>
              <p:cNvSpPr>
                <a:spLocks noChangeArrowheads="1"/>
              </p:cNvSpPr>
              <p:nvPr/>
            </p:nvSpPr>
            <p:spPr bwMode="gray">
              <a:xfrm>
                <a:off x="2479659" y="4022713"/>
                <a:ext cx="2070100" cy="709613"/>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40" name="AutoShape 22"/>
              <p:cNvSpPr>
                <a:spLocks noChangeArrowheads="1"/>
              </p:cNvSpPr>
              <p:nvPr/>
            </p:nvSpPr>
            <p:spPr bwMode="gray">
              <a:xfrm>
                <a:off x="2479659" y="1981188"/>
                <a:ext cx="2070100" cy="708025"/>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sp>
            <p:nvSpPr>
              <p:cNvPr id="41" name="Text Box 29"/>
              <p:cNvSpPr txBox="1">
                <a:spLocks noChangeArrowheads="1"/>
              </p:cNvSpPr>
              <p:nvPr/>
            </p:nvSpPr>
            <p:spPr bwMode="gray">
              <a:xfrm>
                <a:off x="2428860" y="2405050"/>
                <a:ext cx="2057400" cy="430887"/>
              </a:xfrm>
              <a:prstGeom prst="rect">
                <a:avLst/>
              </a:prstGeom>
              <a:noFill/>
              <a:ln w="9525" algn="ctr">
                <a:noFill/>
                <a:miter lim="800000"/>
                <a:headEnd/>
                <a:tailEnd/>
              </a:ln>
              <a:effectLst/>
            </p:spPr>
            <p:txBody>
              <a:bodyPr>
                <a:spAutoFit/>
              </a:bodyPr>
              <a:lstStyle/>
              <a:p>
                <a:pPr algn="ctr"/>
                <a:r>
                  <a:rPr lang="zh-CN" altLang="en-US" sz="2200" dirty="0" smtClean="0">
                    <a:latin typeface="微软雅黑" pitchFamily="34" charset="-122"/>
                    <a:ea typeface="微软雅黑" pitchFamily="34" charset="-122"/>
                  </a:rPr>
                  <a:t>模型预测分类</a:t>
                </a:r>
                <a:endParaRPr lang="en-US" altLang="zh-CN" sz="2200" dirty="0">
                  <a:latin typeface="微软雅黑" pitchFamily="34" charset="-122"/>
                  <a:ea typeface="微软雅黑" pitchFamily="34" charset="-122"/>
                </a:endParaRPr>
              </a:p>
            </p:txBody>
          </p:sp>
        </p:grpSp>
        <p:grpSp>
          <p:nvGrpSpPr>
            <p:cNvPr id="29" name="组合 76"/>
            <p:cNvGrpSpPr/>
            <p:nvPr/>
          </p:nvGrpSpPr>
          <p:grpSpPr>
            <a:xfrm>
              <a:off x="6193406" y="2357426"/>
              <a:ext cx="642938" cy="642938"/>
              <a:chOff x="1963738" y="1831975"/>
              <a:chExt cx="642938" cy="642938"/>
            </a:xfrm>
          </p:grpSpPr>
          <p:grpSp>
            <p:nvGrpSpPr>
              <p:cNvPr id="30" name="Group 10"/>
              <p:cNvGrpSpPr>
                <a:grpSpLocks/>
              </p:cNvGrpSpPr>
              <p:nvPr/>
            </p:nvGrpSpPr>
            <p:grpSpPr bwMode="auto">
              <a:xfrm>
                <a:off x="1963738" y="1831975"/>
                <a:ext cx="642938" cy="642938"/>
                <a:chOff x="1289" y="582"/>
                <a:chExt cx="668" cy="668"/>
              </a:xfrm>
            </p:grpSpPr>
            <p:sp>
              <p:nvSpPr>
                <p:cNvPr id="32" name="Oval 11"/>
                <p:cNvSpPr>
                  <a:spLocks noChangeArrowheads="1"/>
                </p:cNvSpPr>
                <p:nvPr/>
              </p:nvSpPr>
              <p:spPr bwMode="gray">
                <a:xfrm>
                  <a:off x="1289" y="582"/>
                  <a:ext cx="668" cy="668"/>
                </a:xfrm>
                <a:prstGeom prst="ellipse">
                  <a:avLst/>
                </a:prstGeom>
                <a:solidFill>
                  <a:srgbClr val="333333"/>
                </a:solidFill>
                <a:ln w="38100" algn="ctr">
                  <a:noFill/>
                  <a:round/>
                  <a:headEnd/>
                  <a:tailEnd/>
                </a:ln>
                <a:effectLst/>
              </p:spPr>
              <p:txBody>
                <a:bodyPr anchor="ctr">
                  <a:spAutoFit/>
                </a:bodyPr>
                <a:lstStyle/>
                <a:p>
                  <a:endParaRPr lang="zh-CN" altLang="en-US"/>
                </a:p>
              </p:txBody>
            </p:sp>
            <p:sp>
              <p:nvSpPr>
                <p:cNvPr id="33" name="Oval 12"/>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34" name="Oval 13"/>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35" name="Oval 14"/>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36" name="Oval 15"/>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sp>
            <p:nvSpPr>
              <p:cNvPr id="31" name="Text Box 16"/>
              <p:cNvSpPr txBox="1">
                <a:spLocks noChangeArrowheads="1"/>
              </p:cNvSpPr>
              <p:nvPr/>
            </p:nvSpPr>
            <p:spPr bwMode="gray">
              <a:xfrm>
                <a:off x="2101850" y="1924050"/>
                <a:ext cx="340157" cy="461665"/>
              </a:xfrm>
              <a:prstGeom prst="rect">
                <a:avLst/>
              </a:prstGeom>
              <a:noFill/>
              <a:ln w="9525" algn="ctr">
                <a:noFill/>
                <a:miter lim="800000"/>
                <a:headEnd/>
                <a:tailEnd/>
              </a:ln>
              <a:effectLst/>
            </p:spPr>
            <p:txBody>
              <a:bodyPr wrap="none">
                <a:spAutoFit/>
              </a:bodyPr>
              <a:lstStyle/>
              <a:p>
                <a:pPr algn="ctr"/>
                <a:r>
                  <a:rPr lang="en-US" altLang="zh-CN" sz="2400" dirty="0" smtClean="0">
                    <a:solidFill>
                      <a:srgbClr val="000000"/>
                    </a:solidFill>
                    <a:ea typeface="宋体" charset="-122"/>
                  </a:rPr>
                  <a:t>2</a:t>
                </a:r>
                <a:endParaRPr lang="en-US" altLang="zh-CN" i="1" dirty="0">
                  <a:ea typeface="宋体" charset="-122"/>
                </a:endParaRPr>
              </a:p>
            </p:txBody>
          </p:sp>
        </p:grpSp>
      </p:grpSp>
      <p:sp>
        <p:nvSpPr>
          <p:cNvPr id="62" name="AutoShape 27"/>
          <p:cNvSpPr>
            <a:spLocks noChangeArrowheads="1"/>
          </p:cNvSpPr>
          <p:nvPr/>
        </p:nvSpPr>
        <p:spPr bwMode="gray">
          <a:xfrm rot="16200000" flipV="1">
            <a:off x="3793321" y="4064804"/>
            <a:ext cx="1143008" cy="442906"/>
          </a:xfrm>
          <a:prstGeom prst="triangle">
            <a:avLst>
              <a:gd name="adj" fmla="val 50000"/>
            </a:avLst>
          </a:prstGeom>
          <a:gradFill rotWithShape="1">
            <a:gsLst>
              <a:gs pos="0">
                <a:srgbClr val="92D050"/>
              </a:gs>
              <a:gs pos="100000">
                <a:schemeClr val="accent2">
                  <a:gamma/>
                  <a:tint val="0"/>
                  <a:invGamma/>
                  <a:alpha val="0"/>
                </a:schemeClr>
              </a:gs>
            </a:gsLst>
            <a:lin ang="5400000" scaled="1"/>
          </a:gradFill>
          <a:ln w="9525">
            <a:noFill/>
            <a:miter lim="800000"/>
            <a:headEnd/>
            <a:tailEnd/>
          </a:ln>
          <a:effectLst/>
        </p:spPr>
        <p:txBody>
          <a:bodyPr wrap="none" anchor="ctr"/>
          <a:lstStyle/>
          <a:p>
            <a:endParaRPr lang="zh-CN" altLang="en-US"/>
          </a:p>
        </p:txBody>
      </p:sp>
      <p:sp>
        <p:nvSpPr>
          <p:cNvPr id="67" name="TextBox 66"/>
          <p:cNvSpPr txBox="1"/>
          <p:nvPr/>
        </p:nvSpPr>
        <p:spPr>
          <a:xfrm>
            <a:off x="642910" y="4071946"/>
            <a:ext cx="3357586" cy="1323439"/>
          </a:xfrm>
          <a:prstGeom prst="rect">
            <a:avLst/>
          </a:prstGeom>
          <a:noFill/>
        </p:spPr>
        <p:txBody>
          <a:bodyPr wrap="square" rtlCol="0">
            <a:spAutoFit/>
          </a:bodyPr>
          <a:lstStyle/>
          <a:p>
            <a:r>
              <a:rPr lang="zh-CN" altLang="en-US" sz="2000" dirty="0" smtClean="0"/>
              <a:t>构建分类模型，用于描述给定的数据集合，通过分析由属性描述的数据集合来建立反映数据集合特性的模型</a:t>
            </a:r>
            <a:endParaRPr lang="zh-CN" altLang="en-US" sz="2000" dirty="0"/>
          </a:p>
        </p:txBody>
      </p:sp>
      <p:sp>
        <p:nvSpPr>
          <p:cNvPr id="68" name="TextBox 67"/>
          <p:cNvSpPr txBox="1"/>
          <p:nvPr/>
        </p:nvSpPr>
        <p:spPr>
          <a:xfrm>
            <a:off x="4857752" y="4071946"/>
            <a:ext cx="3357586" cy="707886"/>
          </a:xfrm>
          <a:prstGeom prst="rect">
            <a:avLst/>
          </a:prstGeom>
          <a:noFill/>
        </p:spPr>
        <p:txBody>
          <a:bodyPr wrap="square" rtlCol="0">
            <a:spAutoFit/>
          </a:bodyPr>
          <a:lstStyle/>
          <a:p>
            <a:r>
              <a:rPr lang="zh-CN" altLang="en-US" sz="2000" dirty="0" smtClean="0"/>
              <a:t>使用已构建的模型来预测给定的数据对象的类别</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slide(fromLeft)">
                                      <p:cBhvr>
                                        <p:cTn id="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4771849" y="2204864"/>
            <a:ext cx="4352829" cy="3915463"/>
          </a:xfrm>
          <a:prstGeom prst="rect">
            <a:avLst/>
          </a:prstGeom>
        </p:spPr>
      </p:pic>
      <p:pic>
        <p:nvPicPr>
          <p:cNvPr id="4" name="图片 3" descr="f35ea009087b38036b60fbe5.jpg"/>
          <p:cNvPicPr>
            <a:picLocks noChangeAspect="1"/>
          </p:cNvPicPr>
          <p:nvPr/>
        </p:nvPicPr>
        <p:blipFill>
          <a:blip r:embed="rId4"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4618856"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分类</a:t>
            </a:r>
            <a:endParaRPr lang="en-US" altLang="zh-CN" sz="3000" dirty="0" smtClean="0"/>
          </a:p>
          <a:p>
            <a:pPr marL="673100" lvl="1" indent="-273050"/>
            <a:r>
              <a:rPr lang="zh-CN" altLang="en-US" sz="2600" dirty="0" smtClean="0"/>
              <a:t>决策树分类方法</a:t>
            </a:r>
            <a:endParaRPr lang="en-US" altLang="zh-CN" sz="2600" dirty="0" smtClean="0"/>
          </a:p>
          <a:p>
            <a:pPr marL="1073150" lvl="2" indent="-273050"/>
            <a:r>
              <a:rPr lang="zh-CN" altLang="zh-CN" sz="2000" dirty="0"/>
              <a:t>表现形式是类似于流程图的树结构，在决策树的内部结点进行属性值测试，并根据属性值判断由该结点引出的</a:t>
            </a:r>
            <a:r>
              <a:rPr lang="zh-CN" altLang="zh-CN" sz="2000" dirty="0" smtClean="0"/>
              <a:t>分支</a:t>
            </a:r>
            <a:r>
              <a:rPr lang="zh-CN" altLang="en-US" sz="2000" dirty="0" smtClean="0"/>
              <a:t>。</a:t>
            </a:r>
            <a:endParaRPr lang="en-US" altLang="zh-CN" sz="2000" dirty="0" smtClean="0"/>
          </a:p>
          <a:p>
            <a:pPr marL="1073150" lvl="2" indent="-273050"/>
            <a:r>
              <a:rPr lang="zh-CN" altLang="zh-CN" sz="2000" dirty="0"/>
              <a:t>内部结点是属性或者属性的集合，而叶结点代表样本所属的类或类分布。</a:t>
            </a:r>
            <a:endParaRPr lang="en-US" altLang="zh-CN" sz="22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分类</a:t>
            </a:r>
            <a:endParaRPr lang="en-US" altLang="zh-CN" sz="3000" dirty="0" smtClean="0"/>
          </a:p>
          <a:p>
            <a:pPr marL="673100" lvl="1" indent="-273050"/>
            <a:r>
              <a:rPr lang="zh-CN" altLang="en-US" sz="2600" dirty="0" smtClean="0"/>
              <a:t>贝叶斯分类方法</a:t>
            </a:r>
            <a:endParaRPr lang="en-US" altLang="zh-CN" sz="2600" dirty="0" smtClean="0"/>
          </a:p>
          <a:p>
            <a:pPr marL="1073150" lvl="2" indent="-273050"/>
            <a:r>
              <a:rPr lang="zh-CN" altLang="zh-CN" sz="2000" dirty="0"/>
              <a:t>利用统计学的贝叶斯定理，来预测类成员的</a:t>
            </a:r>
            <a:r>
              <a:rPr lang="zh-CN" altLang="zh-CN" sz="2000" dirty="0" smtClean="0"/>
              <a:t>概率</a:t>
            </a:r>
            <a:r>
              <a:rPr lang="zh-CN" altLang="en-US" sz="2000" dirty="0" smtClean="0"/>
              <a:t>；</a:t>
            </a:r>
            <a:endParaRPr lang="en-US" altLang="zh-CN" sz="2000" dirty="0" smtClean="0"/>
          </a:p>
          <a:p>
            <a:pPr marL="1073150" lvl="2" indent="-273050"/>
            <a:r>
              <a:rPr lang="zh-CN" altLang="zh-CN" sz="2000" dirty="0" smtClean="0"/>
              <a:t>即</a:t>
            </a:r>
            <a:r>
              <a:rPr lang="zh-CN" altLang="zh-CN" sz="2000" dirty="0"/>
              <a:t>给定一个样本，计算该样本属于一个特定的类的</a:t>
            </a:r>
            <a:r>
              <a:rPr lang="zh-CN" altLang="zh-CN" sz="2000" dirty="0" smtClean="0"/>
              <a:t>概率</a:t>
            </a:r>
            <a:r>
              <a:rPr lang="zh-CN" altLang="en-US" sz="2000" dirty="0" smtClean="0"/>
              <a:t>。</a:t>
            </a:r>
            <a:endParaRPr lang="en-US" altLang="zh-CN" sz="2000" dirty="0" smtClean="0"/>
          </a:p>
          <a:p>
            <a:pPr marL="1073150" lvl="2" indent="-273050"/>
            <a:r>
              <a:rPr lang="zh-CN" altLang="zh-CN" sz="2000" dirty="0"/>
              <a:t>贝叶斯定理是关于随机事件</a:t>
            </a:r>
            <a:r>
              <a:rPr lang="en-US" altLang="zh-CN" sz="2000" dirty="0"/>
              <a:t>A</a:t>
            </a:r>
            <a:r>
              <a:rPr lang="zh-CN" altLang="zh-CN" sz="2000" dirty="0"/>
              <a:t>和</a:t>
            </a:r>
            <a:r>
              <a:rPr lang="en-US" altLang="zh-CN" sz="2000" dirty="0"/>
              <a:t>B</a:t>
            </a:r>
            <a:r>
              <a:rPr lang="zh-CN" altLang="zh-CN" sz="2000" dirty="0"/>
              <a:t>的条件概率和边缘概率的一则定理</a:t>
            </a:r>
            <a:r>
              <a:rPr lang="zh-CN" altLang="zh-CN" sz="2000" dirty="0" smtClean="0"/>
              <a:t>。</a:t>
            </a:r>
            <a:endParaRPr lang="en-US" altLang="zh-CN" sz="2000" dirty="0" smtClean="0"/>
          </a:p>
          <a:p>
            <a:pPr marL="1073150" lvl="2" indent="-273050"/>
            <a:endParaRPr lang="en-US" altLang="zh-CN" sz="2000" dirty="0"/>
          </a:p>
          <a:p>
            <a:pPr marL="1073150" lvl="2" indent="-273050"/>
            <a:endParaRPr lang="en-US" altLang="zh-CN" sz="2000" dirty="0" smtClean="0"/>
          </a:p>
          <a:p>
            <a:pPr marL="1073150" lvl="2" indent="-273050"/>
            <a:endParaRPr lang="en-US" altLang="zh-CN" sz="2000" dirty="0" smtClean="0"/>
          </a:p>
          <a:p>
            <a:pPr marL="1073150" lvl="2" indent="-273050"/>
            <a:r>
              <a:rPr lang="zh-CN" altLang="zh-CN" sz="2000" dirty="0" smtClean="0"/>
              <a:t>其中</a:t>
            </a:r>
            <a:r>
              <a:rPr lang="en-US" altLang="zh-CN" sz="2000" dirty="0"/>
              <a:t>P(A|B)</a:t>
            </a:r>
            <a:r>
              <a:rPr lang="zh-CN" altLang="zh-CN" sz="2000" dirty="0"/>
              <a:t>是在</a:t>
            </a:r>
            <a:r>
              <a:rPr lang="en-US" altLang="zh-CN" sz="2000" dirty="0"/>
              <a:t>B</a:t>
            </a:r>
            <a:r>
              <a:rPr lang="zh-CN" altLang="zh-CN" sz="2000" dirty="0"/>
              <a:t>发生的情况下</a:t>
            </a:r>
            <a:r>
              <a:rPr lang="en-US" altLang="zh-CN" sz="2000" dirty="0"/>
              <a:t>A</a:t>
            </a:r>
            <a:r>
              <a:rPr lang="zh-CN" altLang="zh-CN" sz="2000" dirty="0"/>
              <a:t>发生的</a:t>
            </a:r>
            <a:r>
              <a:rPr lang="zh-CN" altLang="zh-CN" sz="2000" dirty="0" smtClean="0"/>
              <a:t>可能性</a:t>
            </a:r>
            <a:r>
              <a:rPr lang="zh-CN" altLang="en-US" sz="2000" dirty="0" smtClean="0"/>
              <a:t>。</a:t>
            </a:r>
            <a:endParaRPr lang="en-US" altLang="zh-CN" sz="2000" dirty="0" smtClean="0"/>
          </a:p>
          <a:p>
            <a:pPr marL="1073150" lvl="2" indent="-273050"/>
            <a:r>
              <a:rPr lang="en-US" altLang="zh-CN" sz="2000" dirty="0"/>
              <a:t>P(A)</a:t>
            </a:r>
            <a:r>
              <a:rPr lang="zh-CN" altLang="zh-CN" sz="2000" dirty="0"/>
              <a:t>是</a:t>
            </a:r>
            <a:r>
              <a:rPr lang="en-US" altLang="zh-CN" sz="2000" dirty="0"/>
              <a:t>A</a:t>
            </a:r>
            <a:r>
              <a:rPr lang="zh-CN" altLang="zh-CN" sz="2000" dirty="0"/>
              <a:t>的先验概率或称边缘</a:t>
            </a:r>
            <a:r>
              <a:rPr lang="zh-CN" altLang="zh-CN" sz="2000" dirty="0" smtClean="0"/>
              <a:t>概率</a:t>
            </a:r>
            <a:r>
              <a:rPr lang="zh-CN" altLang="en-US" sz="2000" dirty="0" smtClean="0"/>
              <a:t>，</a:t>
            </a:r>
            <a:r>
              <a:rPr lang="en-US" altLang="zh-CN" sz="2000" dirty="0" smtClean="0"/>
              <a:t>P(A|B</a:t>
            </a:r>
            <a:r>
              <a:rPr lang="en-US" altLang="zh-CN" sz="2000" dirty="0"/>
              <a:t>)</a:t>
            </a:r>
            <a:r>
              <a:rPr lang="zh-CN" altLang="zh-CN" sz="2000" dirty="0"/>
              <a:t>是已知</a:t>
            </a:r>
            <a:r>
              <a:rPr lang="en-US" altLang="zh-CN" sz="2000" dirty="0"/>
              <a:t>B</a:t>
            </a:r>
            <a:r>
              <a:rPr lang="zh-CN" altLang="zh-CN" sz="2000" dirty="0"/>
              <a:t>发生后</a:t>
            </a:r>
            <a:r>
              <a:rPr lang="en-US" altLang="zh-CN" sz="2000" dirty="0"/>
              <a:t>A</a:t>
            </a:r>
            <a:r>
              <a:rPr lang="zh-CN" altLang="zh-CN" sz="2000" dirty="0"/>
              <a:t>的条件概率，</a:t>
            </a:r>
            <a:r>
              <a:rPr lang="zh-CN" altLang="zh-CN" sz="2000" dirty="0" smtClean="0"/>
              <a:t>也被</a:t>
            </a:r>
            <a:r>
              <a:rPr lang="zh-CN" altLang="zh-CN" sz="2000" dirty="0"/>
              <a:t>称作</a:t>
            </a:r>
            <a:r>
              <a:rPr lang="en-US" altLang="zh-CN" sz="2000" dirty="0"/>
              <a:t>A</a:t>
            </a:r>
            <a:r>
              <a:rPr lang="zh-CN" altLang="zh-CN" sz="2000" dirty="0"/>
              <a:t>的后验概率。</a:t>
            </a:r>
            <a:endParaRPr lang="en-US" altLang="zh-CN" sz="2200" dirty="0" smtClean="0"/>
          </a:p>
        </p:txBody>
      </p:sp>
      <p:pic>
        <p:nvPicPr>
          <p:cNvPr id="2" name="图片 1"/>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2288156" y="3573016"/>
            <a:ext cx="4258968" cy="105345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分类</a:t>
            </a:r>
            <a:endParaRPr lang="en-US" altLang="zh-CN" sz="3000" dirty="0" smtClean="0"/>
          </a:p>
          <a:p>
            <a:pPr marL="673100" lvl="1" indent="-273050"/>
            <a:r>
              <a:rPr lang="en-US" altLang="zh-CN" sz="2600" dirty="0" smtClean="0"/>
              <a:t>K-</a:t>
            </a:r>
            <a:r>
              <a:rPr lang="zh-CN" altLang="en-US" sz="2600" dirty="0" smtClean="0"/>
              <a:t>近邻分类方法</a:t>
            </a:r>
            <a:endParaRPr lang="en-US" altLang="zh-CN" sz="2600" dirty="0" smtClean="0"/>
          </a:p>
          <a:p>
            <a:pPr marL="1073150" lvl="2" indent="-273050"/>
            <a:r>
              <a:rPr lang="en-US" altLang="zh-CN" sz="2200" dirty="0" smtClean="0"/>
              <a:t>K-</a:t>
            </a:r>
            <a:r>
              <a:rPr lang="zh-CN" altLang="en-US" sz="2200" dirty="0" smtClean="0"/>
              <a:t>近邻方法不是事先通过数据来学好分类模型，再对未知样本分类；</a:t>
            </a:r>
            <a:endParaRPr lang="en-US" altLang="zh-CN" sz="2200" dirty="0" smtClean="0"/>
          </a:p>
          <a:p>
            <a:pPr marL="1073150" lvl="2" indent="-273050"/>
            <a:r>
              <a:rPr lang="en-US" altLang="zh-CN" sz="2200" dirty="0" smtClean="0"/>
              <a:t>K-</a:t>
            </a:r>
            <a:r>
              <a:rPr lang="zh-CN" altLang="en-US" sz="2200" dirty="0" smtClean="0"/>
              <a:t>近邻方法是事先存储带有标记的样本集；</a:t>
            </a:r>
            <a:endParaRPr lang="en-US" altLang="zh-CN" sz="2200" dirty="0" smtClean="0"/>
          </a:p>
          <a:p>
            <a:pPr marL="1073150" lvl="2" indent="-273050"/>
            <a:r>
              <a:rPr lang="zh-CN" altLang="en-US" sz="2200" dirty="0"/>
              <a:t>给一</a:t>
            </a:r>
            <a:r>
              <a:rPr lang="zh-CN" altLang="en-US" sz="2200" dirty="0" smtClean="0"/>
              <a:t>个没有标记的样本，找已知</a:t>
            </a:r>
            <a:endParaRPr lang="en-US" altLang="zh-CN" sz="2200" dirty="0" smtClean="0"/>
          </a:p>
          <a:p>
            <a:pPr marL="1073150" lvl="2" indent="0">
              <a:buNone/>
            </a:pPr>
            <a:r>
              <a:rPr lang="zh-CN" altLang="en-US" sz="2200" dirty="0" smtClean="0"/>
              <a:t>样本集中</a:t>
            </a:r>
            <a:r>
              <a:rPr lang="en-US" altLang="zh-CN" sz="2200" dirty="0" smtClean="0"/>
              <a:t>k</a:t>
            </a:r>
            <a:r>
              <a:rPr lang="zh-CN" altLang="en-US" sz="2200" dirty="0" smtClean="0"/>
              <a:t>个与之相近的样本，</a:t>
            </a:r>
            <a:endParaRPr lang="en-US" altLang="zh-CN" sz="2200" dirty="0" smtClean="0"/>
          </a:p>
          <a:p>
            <a:pPr marL="1073150" lvl="2" indent="0">
              <a:buNone/>
            </a:pPr>
            <a:r>
              <a:rPr lang="zh-CN" altLang="en-US" sz="2200" dirty="0" smtClean="0"/>
              <a:t>用多数的类为未知样本定类。</a:t>
            </a:r>
            <a:endParaRPr lang="en-US" altLang="zh-CN" sz="2200" dirty="0" smtClean="0"/>
          </a:p>
        </p:txBody>
      </p:sp>
      <p:pic>
        <p:nvPicPr>
          <p:cNvPr id="3" name="图片 2"/>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5574767" y="3284984"/>
            <a:ext cx="3293574" cy="3099833"/>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分类</a:t>
            </a:r>
            <a:endParaRPr lang="en-US" altLang="zh-CN" sz="3000" dirty="0" smtClean="0"/>
          </a:p>
          <a:p>
            <a:pPr marL="673100" lvl="1" indent="-273050"/>
            <a:r>
              <a:rPr lang="zh-CN" altLang="en-US" sz="2600" dirty="0" smtClean="0"/>
              <a:t>神经网络分类方法</a:t>
            </a:r>
            <a:endParaRPr lang="en-US" altLang="zh-CN" sz="2600" dirty="0" smtClean="0"/>
          </a:p>
          <a:p>
            <a:pPr marL="673100" lvl="1" indent="-273050"/>
            <a:r>
              <a:rPr lang="zh-CN" altLang="en-US" sz="2600" dirty="0" smtClean="0"/>
              <a:t>遗传算法分类方法</a:t>
            </a:r>
            <a:endParaRPr lang="en-US" altLang="zh-CN" sz="2600" dirty="0" smtClean="0"/>
          </a:p>
          <a:p>
            <a:pPr marL="673100" lvl="1" indent="-273050"/>
            <a:r>
              <a:rPr lang="zh-CN" altLang="en-US" sz="2600" dirty="0" smtClean="0"/>
              <a:t>支持向量机</a:t>
            </a:r>
            <a:endParaRPr lang="en-US" altLang="zh-CN" sz="2600" dirty="0" smtClean="0"/>
          </a:p>
          <a:p>
            <a:pPr marL="673100" lvl="1" indent="-273050"/>
            <a:r>
              <a:rPr lang="en-US" altLang="zh-CN" sz="2600" dirty="0" smtClean="0"/>
              <a:t>……</a:t>
            </a:r>
          </a:p>
        </p:txBody>
      </p:sp>
      <p:pic>
        <p:nvPicPr>
          <p:cNvPr id="2" name="图片 1"/>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525665" y="3847361"/>
            <a:ext cx="3635011" cy="2770089"/>
          </a:xfrm>
          <a:prstGeom prst="rect">
            <a:avLst/>
          </a:prstGeom>
        </p:spPr>
      </p:pic>
      <p:pic>
        <p:nvPicPr>
          <p:cNvPr id="3" name="图片 2"/>
          <p:cNvPicPr>
            <a:picLocks noChangeAspect="1"/>
          </p:cNvPicPr>
          <p:nvPr/>
        </p:nvPicPr>
        <p:blipFill>
          <a:blip r:embed="rId5">
            <a:extLst>
              <a:ext uri="{28A0092B-C50C-407E-A947-70E740481C1C}">
                <a14:useLocalDpi xmlns="" xmlns:a14="http://schemas.microsoft.com/office/drawing/2010/main" val="0"/>
              </a:ext>
            </a:extLst>
          </a:blip>
          <a:stretch>
            <a:fillRect/>
          </a:stretch>
        </p:blipFill>
        <p:spPr>
          <a:xfrm>
            <a:off x="4649942" y="1484784"/>
            <a:ext cx="4242538" cy="2362577"/>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descr="回归分析.jpg"/>
          <p:cNvPicPr>
            <a:picLocks noChangeAspect="1"/>
          </p:cNvPicPr>
          <p:nvPr/>
        </p:nvPicPr>
        <p:blipFill>
          <a:blip r:embed="rId3" cstate="print"/>
          <a:stretch>
            <a:fillRect/>
          </a:stretch>
        </p:blipFill>
        <p:spPr>
          <a:xfrm>
            <a:off x="4286248" y="2143116"/>
            <a:ext cx="4641963" cy="2500330"/>
          </a:xfrm>
          <a:prstGeom prst="rect">
            <a:avLst/>
          </a:prstGeom>
        </p:spPr>
      </p:pic>
      <p:pic>
        <p:nvPicPr>
          <p:cNvPr id="4" name="图片 3" descr="f35ea009087b38036b60fbe5.jpg"/>
          <p:cNvPicPr>
            <a:picLocks noChangeAspect="1"/>
          </p:cNvPicPr>
          <p:nvPr/>
        </p:nvPicPr>
        <p:blipFill>
          <a:blip r:embed="rId4"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回归</a:t>
            </a:r>
            <a:endParaRPr lang="en-US" altLang="zh-CN" sz="3000" dirty="0" smtClean="0"/>
          </a:p>
        </p:txBody>
      </p:sp>
      <p:sp>
        <p:nvSpPr>
          <p:cNvPr id="45" name="TextBox 44"/>
          <p:cNvSpPr txBox="1"/>
          <p:nvPr/>
        </p:nvSpPr>
        <p:spPr>
          <a:xfrm>
            <a:off x="500034" y="2357430"/>
            <a:ext cx="3571900" cy="3785652"/>
          </a:xfrm>
          <a:prstGeom prst="rect">
            <a:avLst/>
          </a:prstGeom>
          <a:noFill/>
        </p:spPr>
        <p:txBody>
          <a:bodyPr wrap="square" rtlCol="0">
            <a:spAutoFit/>
          </a:bodyPr>
          <a:lstStyle/>
          <a:p>
            <a:r>
              <a:rPr lang="zh-CN" altLang="en-US" sz="2400" dirty="0" smtClean="0"/>
              <a:t>回归分析是指对具有相关关系的现象，根据其关系形态，选择一个合适的数学模型，用来近似地表示变量间的平均变化关系的一种统计方法。</a:t>
            </a:r>
            <a:endParaRPr lang="en-US" altLang="zh-CN" sz="2400" dirty="0" smtClean="0"/>
          </a:p>
          <a:p>
            <a:r>
              <a:rPr lang="zh-CN" altLang="en-US" sz="2400" dirty="0" smtClean="0"/>
              <a:t>也可以说回归分析是研究一个变量关于另一个（些）变量的具体依赖关系的计算方法和理论。</a:t>
            </a:r>
            <a:endParaRPr lang="zh-CN"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回归</a:t>
            </a:r>
            <a:endParaRPr lang="en-US" altLang="zh-CN" sz="3000" dirty="0" smtClean="0"/>
          </a:p>
          <a:p>
            <a:pPr marL="673100" lvl="1" indent="-273050"/>
            <a:r>
              <a:rPr lang="zh-CN" altLang="en-US" sz="2600" dirty="0" smtClean="0"/>
              <a:t>线性回归</a:t>
            </a:r>
            <a:endParaRPr lang="en-US" altLang="zh-CN" sz="2600" dirty="0" smtClean="0"/>
          </a:p>
          <a:p>
            <a:pPr marL="1073150" lvl="2" indent="-273050"/>
            <a:r>
              <a:rPr lang="zh-CN" altLang="en-US" sz="2200" dirty="0" smtClean="0"/>
              <a:t>一元线性回归</a:t>
            </a:r>
            <a:endParaRPr lang="en-US" altLang="zh-CN" sz="2200" dirty="0" smtClean="0"/>
          </a:p>
          <a:p>
            <a:pPr marL="1073150" lvl="2" indent="-273050"/>
            <a:endParaRPr lang="en-US" altLang="zh-CN" sz="2200" dirty="0" smtClean="0"/>
          </a:p>
          <a:p>
            <a:pPr marL="1073150" lvl="2" indent="-273050"/>
            <a:endParaRPr lang="en-US" altLang="zh-CN" sz="2200" dirty="0" smtClean="0"/>
          </a:p>
          <a:p>
            <a:pPr marL="1073150" lvl="2" indent="-273050"/>
            <a:endParaRPr lang="en-US" altLang="zh-CN" sz="2200" dirty="0" smtClean="0"/>
          </a:p>
          <a:p>
            <a:pPr marL="1073150" lvl="2" indent="-273050"/>
            <a:endParaRPr lang="en-US" altLang="zh-CN" sz="2200" dirty="0" smtClean="0"/>
          </a:p>
          <a:p>
            <a:pPr marL="1073150" lvl="2" indent="-273050"/>
            <a:r>
              <a:rPr lang="zh-CN" altLang="en-US" sz="2200" dirty="0" smtClean="0"/>
              <a:t>多元线性回归</a:t>
            </a:r>
            <a:endParaRPr lang="en-US" altLang="zh-CN" sz="2200" dirty="0" smtClean="0"/>
          </a:p>
        </p:txBody>
      </p:sp>
      <p:pic>
        <p:nvPicPr>
          <p:cNvPr id="4097"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714612" y="2857496"/>
            <a:ext cx="2607600" cy="785818"/>
          </a:xfrm>
          <a:prstGeom prst="rect">
            <a:avLst/>
          </a:prstGeom>
          <a:noFill/>
          <a:ln w="9525">
            <a:noFill/>
            <a:miter lim="800000"/>
            <a:headEnd/>
            <a:tailEnd/>
          </a:ln>
        </p:spPr>
      </p:pic>
      <p:pic>
        <p:nvPicPr>
          <p:cNvPr id="4098" name="Picture 2"/>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714612" y="3714752"/>
            <a:ext cx="1509874" cy="428628"/>
          </a:xfrm>
          <a:prstGeom prst="rect">
            <a:avLst/>
          </a:prstGeom>
          <a:noFill/>
          <a:ln w="9525">
            <a:noFill/>
            <a:miter lim="800000"/>
            <a:headEnd/>
            <a:tailEnd/>
          </a:ln>
        </p:spPr>
      </p:pic>
      <p:pic>
        <p:nvPicPr>
          <p:cNvPr id="4099" name="Picture 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714744" y="2214554"/>
            <a:ext cx="1486459" cy="4286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4"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回归</a:t>
            </a:r>
            <a:endParaRPr lang="en-US" altLang="zh-CN" sz="3000" dirty="0" smtClean="0"/>
          </a:p>
          <a:p>
            <a:pPr marL="673100" lvl="1" indent="-273050"/>
            <a:r>
              <a:rPr lang="zh-CN" altLang="en-US" sz="2600" dirty="0" smtClean="0"/>
              <a:t>非线性回归</a:t>
            </a:r>
            <a:endParaRPr lang="en-US" altLang="zh-CN" sz="2600" dirty="0" smtClean="0"/>
          </a:p>
          <a:p>
            <a:pPr marL="1073150" lvl="2" indent="-273050"/>
            <a:r>
              <a:rPr lang="zh-CN" altLang="en-US" sz="2200" dirty="0" smtClean="0"/>
              <a:t>可化为线性模型的非线性回归模型</a:t>
            </a:r>
            <a:endParaRPr lang="en-US" altLang="zh-CN" sz="2200" dirty="0" smtClean="0"/>
          </a:p>
          <a:p>
            <a:pPr marL="1073150" lvl="2" indent="6350">
              <a:buNone/>
            </a:pPr>
            <a:endParaRPr lang="en-US" altLang="zh-CN" sz="2200" dirty="0" smtClean="0"/>
          </a:p>
          <a:p>
            <a:pPr marL="1073150" lvl="2" indent="6350">
              <a:buNone/>
            </a:pPr>
            <a:r>
              <a:rPr lang="zh-CN" altLang="en-US" sz="2200" dirty="0" smtClean="0"/>
              <a:t>变量间非线性</a:t>
            </a:r>
            <a:endParaRPr lang="en-US" altLang="zh-CN" sz="2200" dirty="0" smtClean="0"/>
          </a:p>
          <a:p>
            <a:pPr marL="1073150" lvl="2" indent="6350">
              <a:buNone/>
            </a:pPr>
            <a:r>
              <a:rPr lang="zh-CN" altLang="en-US" sz="2200" dirty="0" smtClean="0"/>
              <a:t>参数间线性</a:t>
            </a:r>
            <a:r>
              <a:rPr lang="en-US" altLang="zh-CN" sz="2200" dirty="0" smtClean="0"/>
              <a:t>	</a:t>
            </a:r>
          </a:p>
          <a:p>
            <a:pPr marL="1073150" lvl="2" indent="-273050">
              <a:buNone/>
            </a:pPr>
            <a:endParaRPr lang="en-US" altLang="zh-CN" sz="2200" dirty="0" smtClean="0"/>
          </a:p>
          <a:p>
            <a:pPr marL="1073150" lvl="2" indent="-273050"/>
            <a:r>
              <a:rPr lang="zh-CN" altLang="en-US" sz="2200" dirty="0" smtClean="0"/>
              <a:t>不可化为线性模型的非线性回归模型</a:t>
            </a:r>
            <a:endParaRPr lang="en-US" altLang="zh-CN" sz="2200" dirty="0" smtClean="0"/>
          </a:p>
        </p:txBody>
      </p:sp>
      <p:cxnSp>
        <p:nvCxnSpPr>
          <p:cNvPr id="8" name="直接箭头连接符 7"/>
          <p:cNvCxnSpPr/>
          <p:nvPr/>
        </p:nvCxnSpPr>
        <p:spPr>
          <a:xfrm>
            <a:off x="3732603" y="3398558"/>
            <a:ext cx="1500198"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911198" y="3000372"/>
            <a:ext cx="1143008" cy="369332"/>
          </a:xfrm>
          <a:prstGeom prst="rect">
            <a:avLst/>
          </a:prstGeom>
          <a:noFill/>
        </p:spPr>
        <p:txBody>
          <a:bodyPr wrap="square" rtlCol="0">
            <a:spAutoFit/>
          </a:bodyPr>
          <a:lstStyle/>
          <a:p>
            <a:r>
              <a:rPr lang="zh-CN" altLang="en-US" dirty="0" smtClean="0"/>
              <a:t>变量代换</a:t>
            </a:r>
            <a:endParaRPr lang="zh-CN" altLang="en-US" dirty="0"/>
          </a:p>
        </p:txBody>
      </p:sp>
      <p:sp>
        <p:nvSpPr>
          <p:cNvPr id="12" name="TextBox 11"/>
          <p:cNvSpPr txBox="1"/>
          <p:nvPr/>
        </p:nvSpPr>
        <p:spPr>
          <a:xfrm>
            <a:off x="5572132" y="3214686"/>
            <a:ext cx="2399309" cy="430887"/>
          </a:xfrm>
          <a:prstGeom prst="rect">
            <a:avLst/>
          </a:prstGeom>
          <a:noFill/>
        </p:spPr>
        <p:txBody>
          <a:bodyPr wrap="square" rtlCol="0">
            <a:spAutoFit/>
          </a:bodyPr>
          <a:lstStyle/>
          <a:p>
            <a:r>
              <a:rPr lang="zh-CN" altLang="en-US" sz="2200" dirty="0" smtClean="0"/>
              <a:t>线性模型</a:t>
            </a:r>
            <a:endParaRPr lang="zh-CN" altLang="en-US" sz="2200"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49" name="Object 1"/>
          <p:cNvGraphicFramePr>
            <a:graphicFrameLocks noChangeAspect="1"/>
          </p:cNvGraphicFramePr>
          <p:nvPr/>
        </p:nvGraphicFramePr>
        <p:xfrm>
          <a:off x="2214546" y="4857760"/>
          <a:ext cx="3172832" cy="571504"/>
        </p:xfrm>
        <a:graphic>
          <a:graphicData uri="http://schemas.openxmlformats.org/presentationml/2006/ole">
            <p:oleObj spid="_x0000_s2065" name="Equation" r:id="rId5" imgW="1346200" imgH="241300" progId="">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p:txBody>
      </p:sp>
      <p:sp>
        <p:nvSpPr>
          <p:cNvPr id="45" name="TextBox 44"/>
          <p:cNvSpPr txBox="1"/>
          <p:nvPr/>
        </p:nvSpPr>
        <p:spPr>
          <a:xfrm>
            <a:off x="785786" y="2071678"/>
            <a:ext cx="3571900" cy="2677656"/>
          </a:xfrm>
          <a:prstGeom prst="rect">
            <a:avLst/>
          </a:prstGeom>
          <a:noFill/>
        </p:spPr>
        <p:txBody>
          <a:bodyPr wrap="square" rtlCol="0">
            <a:spAutoFit/>
          </a:bodyPr>
          <a:lstStyle/>
          <a:p>
            <a:r>
              <a:rPr lang="zh-CN" altLang="en-US" sz="2400" dirty="0" smtClean="0"/>
              <a:t>作为数据挖掘中的一个功能，聚类分析能作为一个独立的工具来获得数据分布的情况，并且概括出每个簇的特点，或者集中注意力对特定的某些簇做进一步的分析。</a:t>
            </a:r>
            <a:endParaRPr lang="en-US" altLang="zh-CN" sz="2400" dirty="0" smtClean="0"/>
          </a:p>
        </p:txBody>
      </p:sp>
      <p:pic>
        <p:nvPicPr>
          <p:cNvPr id="8" name="图片 7" descr="聚类.jpg"/>
          <p:cNvPicPr>
            <a:picLocks noChangeAspect="1"/>
          </p:cNvPicPr>
          <p:nvPr/>
        </p:nvPicPr>
        <p:blipFill>
          <a:blip r:embed="rId4" cstate="print"/>
          <a:stretch>
            <a:fillRect/>
          </a:stretch>
        </p:blipFill>
        <p:spPr>
          <a:xfrm>
            <a:off x="4500562" y="1714488"/>
            <a:ext cx="4000528" cy="2995047"/>
          </a:xfrm>
          <a:prstGeom prst="rect">
            <a:avLst/>
          </a:prstGeom>
        </p:spPr>
      </p:pic>
      <p:sp>
        <p:nvSpPr>
          <p:cNvPr id="10" name="TextBox 9"/>
          <p:cNvSpPr txBox="1"/>
          <p:nvPr/>
        </p:nvSpPr>
        <p:spPr>
          <a:xfrm>
            <a:off x="857225" y="5072074"/>
            <a:ext cx="7358114" cy="1477328"/>
          </a:xfrm>
          <a:prstGeom prst="rect">
            <a:avLst/>
          </a:prstGeom>
          <a:noFill/>
        </p:spPr>
        <p:txBody>
          <a:bodyPr wrap="square" rtlCol="0">
            <a:spAutoFit/>
          </a:bodyPr>
          <a:lstStyle/>
          <a:p>
            <a:r>
              <a:rPr lang="zh-CN" altLang="en-US" sz="2400" dirty="0" smtClean="0"/>
              <a:t>聚类目标：</a:t>
            </a:r>
            <a:endParaRPr lang="en-US" altLang="zh-CN" sz="2400" dirty="0" smtClean="0"/>
          </a:p>
          <a:p>
            <a:r>
              <a:rPr lang="zh-CN" altLang="en-US" sz="2400" dirty="0" smtClean="0"/>
              <a:t>一个簇内的数据尽量相似（类内差异）；</a:t>
            </a:r>
            <a:endParaRPr lang="en-US" altLang="zh-CN" sz="2400" dirty="0" smtClean="0"/>
          </a:p>
          <a:p>
            <a:r>
              <a:rPr lang="zh-CN" altLang="en-US" sz="2400" dirty="0" smtClean="0"/>
              <a:t>不同簇的数据尽量不相似（类间差异）。</a:t>
            </a:r>
          </a:p>
          <a:p>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5281634"/>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a:p>
            <a:pPr marL="673100" lvl="1" indent="-273050"/>
            <a:r>
              <a:rPr lang="zh-CN" altLang="en-US" sz="2600" dirty="0" smtClean="0"/>
              <a:t>聚类作为其他算法的预处理步骤</a:t>
            </a:r>
            <a:endParaRPr lang="en-US" altLang="zh-CN" sz="2600" dirty="0" smtClean="0"/>
          </a:p>
          <a:p>
            <a:pPr marL="1073150" lvl="2" indent="-273050"/>
            <a:r>
              <a:rPr lang="zh-CN" altLang="en-US" sz="2200" dirty="0" smtClean="0"/>
              <a:t>聚类获得数据的基本概况，进一步提高特征抽取或分类的精确度和挖掘效率</a:t>
            </a:r>
            <a:endParaRPr lang="en-US" altLang="zh-CN" sz="2200" dirty="0" smtClean="0"/>
          </a:p>
          <a:p>
            <a:pPr marL="673100" lvl="1" indent="-273050"/>
            <a:r>
              <a:rPr lang="zh-CN" altLang="en-US" sz="2600" dirty="0" smtClean="0"/>
              <a:t>聚类作为独立工具获得数据的分布情况</a:t>
            </a:r>
            <a:endParaRPr lang="en-US" altLang="zh-CN" sz="2600" dirty="0" smtClean="0"/>
          </a:p>
          <a:p>
            <a:pPr marL="1073150" lvl="2" indent="-273050"/>
            <a:r>
              <a:rPr lang="zh-CN" altLang="en-US" sz="2200" dirty="0" smtClean="0"/>
              <a:t>观察每个簇的特点，集中对特定簇做分析</a:t>
            </a:r>
            <a:endParaRPr lang="en-US" altLang="zh-CN" sz="2200" dirty="0" smtClean="0"/>
          </a:p>
          <a:p>
            <a:pPr marL="1073150" lvl="2" indent="-273050"/>
            <a:r>
              <a:rPr lang="zh-CN" altLang="en-US" sz="2200" dirty="0" smtClean="0"/>
              <a:t>市场细分、目标顾客定位、业绩评估、生物种群划分等</a:t>
            </a:r>
            <a:endParaRPr lang="en-US" altLang="zh-CN" sz="2200" dirty="0" smtClean="0"/>
          </a:p>
          <a:p>
            <a:pPr marL="673100" lvl="1" indent="-273050"/>
            <a:r>
              <a:rPr lang="zh-CN" altLang="en-US" sz="2600" dirty="0" smtClean="0"/>
              <a:t>聚类帮助完成孤立点挖掘</a:t>
            </a:r>
            <a:endParaRPr lang="en-US" altLang="zh-CN" sz="2600" dirty="0" smtClean="0"/>
          </a:p>
          <a:p>
            <a:pPr marL="1073150" lvl="2" indent="-273050"/>
            <a:r>
              <a:rPr lang="zh-CN" altLang="en-US" sz="2200" dirty="0" smtClean="0"/>
              <a:t>孤立点存在的原因</a:t>
            </a:r>
            <a:endParaRPr lang="en-US" altLang="zh-CN" sz="2200" dirty="0" smtClean="0"/>
          </a:p>
          <a:p>
            <a:pPr marL="1073150" lvl="2" indent="-273050"/>
            <a:r>
              <a:rPr lang="zh-CN" altLang="en-US" sz="2200" dirty="0" smtClean="0"/>
              <a:t>在金融欺诈探测中，孤立点可能预示着欺诈行为的存在</a:t>
            </a:r>
            <a:endParaRPr lang="en-US" altLang="zh-CN" sz="22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a:p>
            <a:pPr marL="673100" lvl="1" indent="-273050"/>
            <a:r>
              <a:rPr lang="zh-CN" altLang="en-US" sz="2600" dirty="0" smtClean="0"/>
              <a:t>划分法</a:t>
            </a:r>
            <a:endParaRPr lang="en-US" altLang="zh-CN" sz="1800" dirty="0" smtClean="0"/>
          </a:p>
          <a:p>
            <a:pPr marL="673100" lvl="1" indent="-50800">
              <a:buNone/>
            </a:pPr>
            <a:r>
              <a:rPr lang="zh-CN" altLang="en-US" sz="2200" dirty="0" smtClean="0"/>
              <a:t>对于给定的</a:t>
            </a:r>
            <a:r>
              <a:rPr lang="en-US" altLang="zh-CN" sz="2200" dirty="0" smtClean="0"/>
              <a:t>k</a:t>
            </a:r>
            <a:r>
              <a:rPr lang="zh-CN" altLang="en-US" sz="2200" dirty="0" smtClean="0"/>
              <a:t>类，算法首先给出一个初始的划分方法，以后通过反复迭代的方法改变划分，使得每一次改进之后的划分方案都较前一次更好。</a:t>
            </a:r>
            <a:endParaRPr lang="en-US" altLang="zh-CN" sz="2200" dirty="0" smtClean="0"/>
          </a:p>
        </p:txBody>
      </p:sp>
      <p:pic>
        <p:nvPicPr>
          <p:cNvPr id="6" name="图片 5" descr="k均值聚类.gif"/>
          <p:cNvPicPr>
            <a:picLocks noChangeAspect="1"/>
          </p:cNvPicPr>
          <p:nvPr/>
        </p:nvPicPr>
        <p:blipFill>
          <a:blip r:embed="rId4" cstate="print"/>
          <a:stretch>
            <a:fillRect/>
          </a:stretch>
        </p:blipFill>
        <p:spPr>
          <a:xfrm>
            <a:off x="4786314" y="3143248"/>
            <a:ext cx="3429024" cy="343790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a:p>
            <a:pPr marL="673100" lvl="1" indent="-273050"/>
            <a:r>
              <a:rPr lang="zh-CN" altLang="en-US" sz="2600" dirty="0" smtClean="0"/>
              <a:t>层次法</a:t>
            </a:r>
            <a:endParaRPr lang="en-US" altLang="zh-CN" sz="2600" dirty="0" smtClean="0"/>
          </a:p>
        </p:txBody>
      </p:sp>
      <p:pic>
        <p:nvPicPr>
          <p:cNvPr id="8" name="图片 7" descr="层次聚类.jpg"/>
          <p:cNvPicPr>
            <a:picLocks noChangeAspect="1"/>
          </p:cNvPicPr>
          <p:nvPr/>
        </p:nvPicPr>
        <p:blipFill>
          <a:blip r:embed="rId4" cstate="print"/>
          <a:stretch>
            <a:fillRect/>
          </a:stretch>
        </p:blipFill>
        <p:spPr>
          <a:xfrm>
            <a:off x="2521742" y="2285992"/>
            <a:ext cx="4407712" cy="3976707"/>
          </a:xfrm>
          <a:prstGeom prst="rect">
            <a:avLst/>
          </a:prstGeom>
        </p:spPr>
      </p:pic>
      <p:sp>
        <p:nvSpPr>
          <p:cNvPr id="10" name="TextBox 9"/>
          <p:cNvSpPr txBox="1"/>
          <p:nvPr/>
        </p:nvSpPr>
        <p:spPr>
          <a:xfrm>
            <a:off x="428596" y="2699935"/>
            <a:ext cx="2286016" cy="2800767"/>
          </a:xfrm>
          <a:prstGeom prst="rect">
            <a:avLst/>
          </a:prstGeom>
          <a:noFill/>
        </p:spPr>
        <p:txBody>
          <a:bodyPr wrap="square" rtlCol="0">
            <a:spAutoFit/>
          </a:bodyPr>
          <a:lstStyle/>
          <a:p>
            <a:r>
              <a:rPr lang="zh-CN" altLang="en-US" sz="2200" dirty="0" smtClean="0">
                <a:solidFill>
                  <a:schemeClr val="accent1">
                    <a:lumMod val="75000"/>
                  </a:schemeClr>
                </a:solidFill>
              </a:rPr>
              <a:t>凝聚的层次聚类：</a:t>
            </a:r>
            <a:endParaRPr lang="en-US" altLang="zh-CN" sz="2200" dirty="0" smtClean="0">
              <a:solidFill>
                <a:schemeClr val="accent1">
                  <a:lumMod val="75000"/>
                </a:schemeClr>
              </a:solidFill>
            </a:endParaRPr>
          </a:p>
          <a:p>
            <a:r>
              <a:rPr lang="zh-CN" altLang="en-US" sz="2200" dirty="0" smtClean="0">
                <a:solidFill>
                  <a:schemeClr val="accent1">
                    <a:lumMod val="75000"/>
                  </a:schemeClr>
                </a:solidFill>
              </a:rPr>
              <a:t>自底向上</a:t>
            </a:r>
            <a:endParaRPr lang="en-US" altLang="zh-CN" sz="2200" dirty="0" smtClean="0">
              <a:solidFill>
                <a:schemeClr val="accent1">
                  <a:lumMod val="75000"/>
                </a:schemeClr>
              </a:solidFill>
            </a:endParaRPr>
          </a:p>
          <a:p>
            <a:r>
              <a:rPr lang="zh-CN" altLang="en-US" sz="2200" dirty="0" smtClean="0">
                <a:solidFill>
                  <a:schemeClr val="accent1">
                    <a:lumMod val="75000"/>
                  </a:schemeClr>
                </a:solidFill>
              </a:rPr>
              <a:t>①将每个对象作为一个簇</a:t>
            </a:r>
            <a:endParaRPr lang="en-US" altLang="zh-CN" sz="2200" dirty="0" smtClean="0">
              <a:solidFill>
                <a:schemeClr val="accent1">
                  <a:lumMod val="75000"/>
                </a:schemeClr>
              </a:solidFill>
            </a:endParaRPr>
          </a:p>
          <a:p>
            <a:r>
              <a:rPr lang="zh-CN" altLang="en-US" sz="2200" dirty="0" smtClean="0">
                <a:solidFill>
                  <a:schemeClr val="accent1">
                    <a:lumMod val="75000"/>
                  </a:schemeClr>
                </a:solidFill>
              </a:rPr>
              <a:t>②合并原子簇为越来越大的簇</a:t>
            </a:r>
            <a:endParaRPr lang="en-US" altLang="zh-CN" sz="2200" dirty="0" smtClean="0">
              <a:solidFill>
                <a:schemeClr val="accent1">
                  <a:lumMod val="75000"/>
                </a:schemeClr>
              </a:solidFill>
            </a:endParaRPr>
          </a:p>
          <a:p>
            <a:r>
              <a:rPr lang="zh-CN" altLang="en-US" sz="2200" dirty="0" smtClean="0">
                <a:solidFill>
                  <a:schemeClr val="accent1">
                    <a:lumMod val="75000"/>
                  </a:schemeClr>
                </a:solidFill>
              </a:rPr>
              <a:t>③某个终结条件被满足</a:t>
            </a:r>
            <a:endParaRPr lang="zh-CN" altLang="en-US" sz="2200" dirty="0">
              <a:solidFill>
                <a:schemeClr val="accent1">
                  <a:lumMod val="75000"/>
                </a:schemeClr>
              </a:solidFill>
            </a:endParaRPr>
          </a:p>
        </p:txBody>
      </p:sp>
      <p:sp>
        <p:nvSpPr>
          <p:cNvPr id="11" name="TextBox 10"/>
          <p:cNvSpPr txBox="1"/>
          <p:nvPr/>
        </p:nvSpPr>
        <p:spPr>
          <a:xfrm>
            <a:off x="6715140" y="2699935"/>
            <a:ext cx="2286016" cy="2800767"/>
          </a:xfrm>
          <a:prstGeom prst="rect">
            <a:avLst/>
          </a:prstGeom>
          <a:noFill/>
        </p:spPr>
        <p:txBody>
          <a:bodyPr wrap="square" rtlCol="0">
            <a:spAutoFit/>
          </a:bodyPr>
          <a:lstStyle/>
          <a:p>
            <a:r>
              <a:rPr lang="zh-CN" altLang="en-US" sz="2200" dirty="0" smtClean="0">
                <a:solidFill>
                  <a:schemeClr val="accent2">
                    <a:lumMod val="75000"/>
                  </a:schemeClr>
                </a:solidFill>
              </a:rPr>
              <a:t>凝聚的层次聚类：</a:t>
            </a:r>
            <a:endParaRPr lang="en-US" altLang="zh-CN" sz="2200" dirty="0" smtClean="0">
              <a:solidFill>
                <a:schemeClr val="accent2">
                  <a:lumMod val="75000"/>
                </a:schemeClr>
              </a:solidFill>
            </a:endParaRPr>
          </a:p>
          <a:p>
            <a:r>
              <a:rPr lang="zh-CN" altLang="en-US" sz="2200" dirty="0" smtClean="0">
                <a:solidFill>
                  <a:schemeClr val="accent2">
                    <a:lumMod val="75000"/>
                  </a:schemeClr>
                </a:solidFill>
              </a:rPr>
              <a:t>自顶向下</a:t>
            </a:r>
            <a:endParaRPr lang="en-US" altLang="zh-CN" sz="2200" dirty="0" smtClean="0">
              <a:solidFill>
                <a:schemeClr val="accent2">
                  <a:lumMod val="75000"/>
                </a:schemeClr>
              </a:solidFill>
            </a:endParaRPr>
          </a:p>
          <a:p>
            <a:r>
              <a:rPr lang="zh-CN" altLang="en-US" sz="2200" dirty="0" smtClean="0">
                <a:solidFill>
                  <a:schemeClr val="accent2">
                    <a:lumMod val="75000"/>
                  </a:schemeClr>
                </a:solidFill>
              </a:rPr>
              <a:t>①将所有对象置于一个簇中</a:t>
            </a:r>
            <a:endParaRPr lang="en-US" altLang="zh-CN" sz="2200" dirty="0" smtClean="0">
              <a:solidFill>
                <a:schemeClr val="accent2">
                  <a:lumMod val="75000"/>
                </a:schemeClr>
              </a:solidFill>
            </a:endParaRPr>
          </a:p>
          <a:p>
            <a:r>
              <a:rPr lang="zh-CN" altLang="en-US" sz="2200" dirty="0" smtClean="0">
                <a:solidFill>
                  <a:schemeClr val="accent2">
                    <a:lumMod val="75000"/>
                  </a:schemeClr>
                </a:solidFill>
              </a:rPr>
              <a:t>②逐渐细分为越来越小的簇</a:t>
            </a:r>
            <a:endParaRPr lang="en-US" altLang="zh-CN" sz="2200" dirty="0" smtClean="0">
              <a:solidFill>
                <a:schemeClr val="accent2">
                  <a:lumMod val="75000"/>
                </a:schemeClr>
              </a:solidFill>
            </a:endParaRPr>
          </a:p>
          <a:p>
            <a:r>
              <a:rPr lang="zh-CN" altLang="en-US" sz="2200" dirty="0" smtClean="0">
                <a:solidFill>
                  <a:schemeClr val="accent2">
                    <a:lumMod val="75000"/>
                  </a:schemeClr>
                </a:solidFill>
              </a:rPr>
              <a:t>③某个终结条件被满足</a:t>
            </a:r>
            <a:endParaRPr lang="zh-CN" altLang="en-US" sz="2200" dirty="0">
              <a:solidFill>
                <a:schemeClr val="accent2">
                  <a:lumMod val="75000"/>
                </a:schemeClr>
              </a:solidFill>
            </a:endParaRPr>
          </a:p>
        </p:txBody>
      </p:sp>
      <p:cxnSp>
        <p:nvCxnSpPr>
          <p:cNvPr id="13" name="直接箭头连接符 12"/>
          <p:cNvCxnSpPr/>
          <p:nvPr/>
        </p:nvCxnSpPr>
        <p:spPr>
          <a:xfrm rot="16200000" flipV="1">
            <a:off x="1321571" y="4285859"/>
            <a:ext cx="2928958" cy="1588"/>
          </a:xfrm>
          <a:prstGeom prst="straightConnector1">
            <a:avLst/>
          </a:prstGeom>
          <a:ln w="2222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rot="5400000">
            <a:off x="5108579" y="4285859"/>
            <a:ext cx="2928958" cy="1588"/>
          </a:xfrm>
          <a:prstGeom prst="straightConnector1">
            <a:avLst/>
          </a:prstGeom>
          <a:ln w="2222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1000"/>
                                        <p:tgtEl>
                                          <p:spTgt spid="1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a:p>
            <a:pPr marL="673100" lvl="1" indent="-273050"/>
            <a:r>
              <a:rPr lang="zh-CN" altLang="en-US" sz="2600" dirty="0" smtClean="0"/>
              <a:t>密度法</a:t>
            </a:r>
            <a:endParaRPr lang="en-US" altLang="zh-CN" sz="2600" dirty="0" smtClean="0"/>
          </a:p>
          <a:p>
            <a:pPr marL="622300" lvl="1" indent="0">
              <a:buNone/>
            </a:pPr>
            <a:r>
              <a:rPr lang="zh-CN" altLang="en-US" sz="2400" dirty="0" smtClean="0"/>
              <a:t>密度法思想：只要一个区域中的点的密度大于某个域值，就把它加到与之相近的聚类中去。</a:t>
            </a:r>
            <a:endParaRPr lang="en-US" altLang="zh-CN" sz="2400" dirty="0" smtClean="0"/>
          </a:p>
          <a:p>
            <a:pPr marL="622300" lvl="1" indent="0">
              <a:buNone/>
            </a:pPr>
            <a:r>
              <a:rPr lang="zh-CN" altLang="en-US" sz="2400" dirty="0" smtClean="0"/>
              <a:t>这类算法能克服基于距离的算法只能发现</a:t>
            </a:r>
            <a:r>
              <a:rPr lang="en-US" sz="2400" dirty="0" smtClean="0"/>
              <a:t>“</a:t>
            </a:r>
            <a:r>
              <a:rPr lang="zh-CN" altLang="en-US" sz="2400" dirty="0" smtClean="0"/>
              <a:t>类圆形</a:t>
            </a:r>
            <a:r>
              <a:rPr lang="en-US" sz="2400" dirty="0" smtClean="0"/>
              <a:t>”</a:t>
            </a:r>
            <a:r>
              <a:rPr lang="zh-CN" altLang="en-US" sz="2400" dirty="0" smtClean="0"/>
              <a:t>的聚类的缺点，可发现任意形状的聚类，且对噪声数据不敏感。</a:t>
            </a:r>
            <a:endParaRPr lang="en-US" altLang="zh-CN" sz="2400" dirty="0" smtClean="0"/>
          </a:p>
          <a:p>
            <a:pPr marL="622300" lvl="1" indent="0">
              <a:buNone/>
            </a:pPr>
            <a:r>
              <a:rPr lang="zh-CN" altLang="en-US" sz="2400" dirty="0" smtClean="0"/>
              <a:t>但计算密度单元的计算复杂度大，需要建立空间索引来降低计算量，且对数据维数的伸缩性较差。</a:t>
            </a:r>
            <a:endParaRPr lang="en-US" altLang="zh-CN" sz="26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聚类</a:t>
            </a:r>
            <a:endParaRPr lang="en-US" altLang="zh-CN" sz="3000" dirty="0" smtClean="0"/>
          </a:p>
          <a:p>
            <a:pPr marL="673100" lvl="1" indent="-273050"/>
            <a:r>
              <a:rPr lang="zh-CN" altLang="en-US" sz="2600" dirty="0" smtClean="0"/>
              <a:t>其他聚类方法</a:t>
            </a:r>
            <a:endParaRPr lang="en-US" altLang="zh-CN" sz="2600" dirty="0" smtClean="0"/>
          </a:p>
          <a:p>
            <a:pPr marL="1073150" lvl="2" indent="-273050"/>
            <a:r>
              <a:rPr lang="zh-CN" altLang="en-US" sz="2200" dirty="0" smtClean="0"/>
              <a:t>基于网格的聚类</a:t>
            </a:r>
            <a:endParaRPr lang="en-US" altLang="zh-CN" sz="2200" dirty="0" smtClean="0"/>
          </a:p>
          <a:p>
            <a:pPr marL="1073150" lvl="2" indent="-273050"/>
            <a:r>
              <a:rPr lang="zh-CN" altLang="en-US" sz="2200" dirty="0" smtClean="0"/>
              <a:t>基于模型的聚类</a:t>
            </a:r>
            <a:endParaRPr lang="en-US" altLang="zh-CN" sz="22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关联</a:t>
            </a:r>
            <a:endParaRPr lang="en-US" altLang="zh-CN" sz="3000" dirty="0" smtClean="0"/>
          </a:p>
        </p:txBody>
      </p:sp>
      <p:sp>
        <p:nvSpPr>
          <p:cNvPr id="45" name="TextBox 44"/>
          <p:cNvSpPr txBox="1"/>
          <p:nvPr/>
        </p:nvSpPr>
        <p:spPr>
          <a:xfrm>
            <a:off x="785786" y="2071678"/>
            <a:ext cx="3571900" cy="1938992"/>
          </a:xfrm>
          <a:prstGeom prst="rect">
            <a:avLst/>
          </a:prstGeom>
          <a:noFill/>
        </p:spPr>
        <p:txBody>
          <a:bodyPr wrap="square" rtlCol="0">
            <a:spAutoFit/>
          </a:bodyPr>
          <a:lstStyle/>
          <a:p>
            <a:r>
              <a:rPr lang="zh-CN" altLang="en-US" sz="2400" dirty="0" smtClean="0"/>
              <a:t>最初提出的动机是针对购物篮分析问题提出的，其目的是为了发现交易数据库中不同商品之间的联系规则。</a:t>
            </a:r>
            <a:endParaRPr lang="en-US" altLang="zh-CN" sz="2400" dirty="0" smtClean="0"/>
          </a:p>
        </p:txBody>
      </p:sp>
      <p:pic>
        <p:nvPicPr>
          <p:cNvPr id="11" name="图片 10" descr="关联.jpg"/>
          <p:cNvPicPr>
            <a:picLocks noChangeAspect="1"/>
          </p:cNvPicPr>
          <p:nvPr/>
        </p:nvPicPr>
        <p:blipFill>
          <a:blip r:embed="rId4" cstate="print"/>
          <a:stretch>
            <a:fillRect/>
          </a:stretch>
        </p:blipFill>
        <p:spPr>
          <a:xfrm>
            <a:off x="4643438" y="2000240"/>
            <a:ext cx="4143404" cy="3045402"/>
          </a:xfrm>
          <a:prstGeom prst="rect">
            <a:avLst/>
          </a:prstGeom>
        </p:spPr>
      </p:pic>
      <p:pic>
        <p:nvPicPr>
          <p:cNvPr id="12" name="图片 11" descr="啤酒尿布.png"/>
          <p:cNvPicPr>
            <a:picLocks noChangeAspect="1"/>
          </p:cNvPicPr>
          <p:nvPr/>
        </p:nvPicPr>
        <p:blipFill>
          <a:blip r:embed="rId5" cstate="print"/>
          <a:stretch>
            <a:fillRect/>
          </a:stretch>
        </p:blipFill>
        <p:spPr>
          <a:xfrm>
            <a:off x="785786" y="4357694"/>
            <a:ext cx="3714775" cy="2028504"/>
          </a:xfrm>
          <a:prstGeom prst="rect">
            <a:avLst/>
          </a:prstGeom>
          <a:solidFill>
            <a:schemeClr val="bg1"/>
          </a:solidFill>
          <a:ln>
            <a:noFill/>
          </a:ln>
        </p:spPr>
      </p:pic>
      <p:sp>
        <p:nvSpPr>
          <p:cNvPr id="13" name="TextBox 12"/>
          <p:cNvSpPr txBox="1"/>
          <p:nvPr/>
        </p:nvSpPr>
        <p:spPr>
          <a:xfrm>
            <a:off x="5143504" y="5357826"/>
            <a:ext cx="3643338" cy="461665"/>
          </a:xfrm>
          <a:prstGeom prst="rect">
            <a:avLst/>
          </a:prstGeom>
          <a:noFill/>
        </p:spPr>
        <p:txBody>
          <a:bodyPr wrap="square" rtlCol="0">
            <a:spAutoFit/>
          </a:bodyPr>
          <a:lstStyle/>
          <a:p>
            <a:r>
              <a:rPr lang="zh-CN" altLang="en-US" sz="2400" dirty="0" smtClean="0"/>
              <a:t>“啤酒与尿布”的故事</a:t>
            </a:r>
            <a:endParaRPr lang="zh-CN"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社会网络挖掘</a:t>
            </a:r>
            <a:endParaRPr lang="en-US" altLang="zh-CN" sz="3000" dirty="0" smtClean="0"/>
          </a:p>
        </p:txBody>
      </p:sp>
      <p:sp>
        <p:nvSpPr>
          <p:cNvPr id="45" name="TextBox 44"/>
          <p:cNvSpPr txBox="1"/>
          <p:nvPr/>
        </p:nvSpPr>
        <p:spPr>
          <a:xfrm>
            <a:off x="785786" y="2071678"/>
            <a:ext cx="3571900" cy="3416320"/>
          </a:xfrm>
          <a:prstGeom prst="rect">
            <a:avLst/>
          </a:prstGeom>
          <a:noFill/>
        </p:spPr>
        <p:txBody>
          <a:bodyPr wrap="square" rtlCol="0">
            <a:spAutoFit/>
          </a:bodyPr>
          <a:lstStyle/>
          <a:p>
            <a:r>
              <a:rPr lang="zh-CN" altLang="en-US" sz="2400" dirty="0" smtClean="0"/>
              <a:t>适合用于在数据节点众多、相互间关系复杂、节点本身属性多样的情势下对其中隐含的信息进行挖掘。</a:t>
            </a:r>
            <a:endParaRPr lang="en-US" altLang="zh-CN" sz="2400" dirty="0" smtClean="0"/>
          </a:p>
          <a:p>
            <a:endParaRPr lang="en-US" altLang="zh-CN" sz="2400" dirty="0" smtClean="0"/>
          </a:p>
          <a:p>
            <a:r>
              <a:rPr lang="zh-CN" altLang="en-US" sz="2400" dirty="0" smtClean="0"/>
              <a:t>构成社会网络的主要因素有：行动者、关系纽带、二人组、三人组、子群</a:t>
            </a:r>
            <a:endParaRPr lang="en-US" altLang="zh-CN" sz="2400" dirty="0" smtClean="0"/>
          </a:p>
          <a:p>
            <a:r>
              <a:rPr lang="zh-CN" altLang="en-US" sz="2400" dirty="0" smtClean="0"/>
              <a:t>和群体。</a:t>
            </a:r>
            <a:endParaRPr lang="en-US" altLang="zh-CN" sz="2400" dirty="0" smtClean="0"/>
          </a:p>
        </p:txBody>
      </p:sp>
      <p:pic>
        <p:nvPicPr>
          <p:cNvPr id="10" name="图片 9" descr="社会网络.jpg"/>
          <p:cNvPicPr>
            <a:picLocks noChangeAspect="1"/>
          </p:cNvPicPr>
          <p:nvPr/>
        </p:nvPicPr>
        <p:blipFill>
          <a:blip r:embed="rId4" cstate="print"/>
          <a:stretch>
            <a:fillRect/>
          </a:stretch>
        </p:blipFill>
        <p:spPr>
          <a:xfrm>
            <a:off x="4357686" y="3500438"/>
            <a:ext cx="4357718" cy="262395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数据挖掘方法</a:t>
            </a:r>
            <a:r>
              <a:rPr lang="en-US" altLang="zh-CN" sz="3000" dirty="0" smtClean="0"/>
              <a:t>——</a:t>
            </a:r>
            <a:r>
              <a:rPr lang="zh-CN" altLang="en-US" sz="3000" dirty="0" smtClean="0"/>
              <a:t>复杂数据挖掘</a:t>
            </a:r>
            <a:endParaRPr lang="en-US" altLang="zh-CN" sz="3000" dirty="0" smtClean="0"/>
          </a:p>
          <a:p>
            <a:pPr marL="673100" lvl="1" indent="-273050"/>
            <a:r>
              <a:rPr lang="zh-CN" altLang="en-US" sz="2600" dirty="0" smtClean="0"/>
              <a:t>数据流挖掘</a:t>
            </a:r>
            <a:endParaRPr lang="en-US" altLang="zh-CN" sz="2600" dirty="0" smtClean="0"/>
          </a:p>
          <a:p>
            <a:pPr marL="1073150" lvl="2" indent="-273050"/>
            <a:r>
              <a:rPr lang="zh-CN" altLang="en-US" sz="2200" dirty="0" smtClean="0"/>
              <a:t>在入侵检测、网络监控、金融服务、电子商务、股票交易等众多领域中，数据以流的形式出现</a:t>
            </a:r>
            <a:endParaRPr lang="en-US" altLang="zh-CN" sz="2200" dirty="0" smtClean="0"/>
          </a:p>
          <a:p>
            <a:pPr marL="673100" lvl="1" indent="-273050"/>
            <a:r>
              <a:rPr lang="zh-CN" altLang="en-US" sz="2600" dirty="0" smtClean="0"/>
              <a:t>文本挖掘</a:t>
            </a:r>
            <a:endParaRPr lang="en-US" altLang="zh-CN" sz="2600" dirty="0" smtClean="0"/>
          </a:p>
          <a:p>
            <a:pPr marL="1073150" lvl="2" indent="-273050"/>
            <a:r>
              <a:rPr lang="zh-CN" altLang="en-US" sz="2200" dirty="0" smtClean="0"/>
              <a:t>分词：基于词典、基于标准</a:t>
            </a:r>
            <a:endParaRPr lang="en-US" altLang="zh-CN" sz="2200" dirty="0" smtClean="0"/>
          </a:p>
          <a:p>
            <a:pPr marL="1073150" lvl="2" indent="-273050"/>
            <a:r>
              <a:rPr lang="zh-CN" altLang="en-US" sz="2200" dirty="0" smtClean="0"/>
              <a:t>文本分类、文本聚类</a:t>
            </a:r>
            <a:endParaRPr lang="en-US" altLang="zh-CN" sz="2200" dirty="0" smtClean="0"/>
          </a:p>
          <a:p>
            <a:pPr marL="1073150" lvl="2" indent="-273050"/>
            <a:endParaRPr lang="en-US" altLang="zh-CN" sz="22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4"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数据挖掘介绍</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内容占位符 2"/>
          <p:cNvSpPr>
            <a:spLocks noGrp="1"/>
          </p:cNvSpPr>
          <p:nvPr>
            <p:ph sz="quarter" idx="4294967295"/>
          </p:nvPr>
        </p:nvSpPr>
        <p:spPr>
          <a:xfrm>
            <a:off x="457200" y="1219200"/>
            <a:ext cx="8229600" cy="4937125"/>
          </a:xfrm>
        </p:spPr>
        <p:txBody>
          <a:bodyPr>
            <a:normAutofit/>
          </a:bodyPr>
          <a:lstStyle/>
          <a:p>
            <a:pPr marL="273050" indent="-273050"/>
            <a:r>
              <a:rPr lang="zh-CN" altLang="en-US" sz="3000" dirty="0" smtClean="0"/>
              <a:t>数据挖掘评估</a:t>
            </a:r>
            <a:endParaRPr lang="en-US" altLang="zh-CN" sz="3000" dirty="0" smtClean="0"/>
          </a:p>
          <a:p>
            <a:pPr marL="673100" lvl="1" indent="-273050"/>
            <a:r>
              <a:rPr lang="zh-CN" altLang="en-US" sz="2600" dirty="0" smtClean="0"/>
              <a:t>保持（</a:t>
            </a:r>
            <a:r>
              <a:rPr lang="en-US" altLang="zh-CN" sz="2600" dirty="0" smtClean="0"/>
              <a:t>holdout</a:t>
            </a:r>
            <a:r>
              <a:rPr lang="zh-CN" altLang="en-US" sz="2600" dirty="0" smtClean="0"/>
              <a:t>）和</a:t>
            </a:r>
            <a:r>
              <a:rPr lang="en-US" altLang="zh-CN" sz="2600" dirty="0" smtClean="0"/>
              <a:t>k-</a:t>
            </a:r>
            <a:r>
              <a:rPr lang="zh-CN" altLang="en-US" sz="2600" dirty="0" smtClean="0"/>
              <a:t>折交叉检验（</a:t>
            </a:r>
            <a:r>
              <a:rPr lang="en-US" altLang="zh-CN" sz="2600" dirty="0" smtClean="0"/>
              <a:t>k-fold cross-validation</a:t>
            </a:r>
            <a:r>
              <a:rPr lang="zh-CN" altLang="en-US" sz="2600" dirty="0" smtClean="0"/>
              <a:t>）</a:t>
            </a:r>
            <a:endParaRPr lang="en-US" altLang="zh-CN" sz="2600" dirty="0" smtClean="0"/>
          </a:p>
          <a:p>
            <a:pPr marL="1073150" lvl="2" indent="-273050"/>
            <a:r>
              <a:rPr lang="zh-CN" altLang="en-US" sz="2200" dirty="0" smtClean="0"/>
              <a:t>给定数据随机划分成两个独立的集合：训练集和测试集</a:t>
            </a:r>
            <a:endParaRPr lang="en-US" altLang="zh-CN" sz="2200" dirty="0" smtClean="0"/>
          </a:p>
          <a:p>
            <a:pPr marL="1073150" lvl="2" indent="-273050"/>
            <a:r>
              <a:rPr lang="zh-CN" altLang="en-US" sz="2200" dirty="0" smtClean="0"/>
              <a:t>训练集用于建立模型，再用测试集检验模型精确度</a:t>
            </a:r>
            <a:endParaRPr lang="en-US" altLang="zh-CN" sz="2200" dirty="0" smtClean="0"/>
          </a:p>
          <a:p>
            <a:pPr marL="1073150" lvl="2" indent="-273050"/>
            <a:r>
              <a:rPr lang="zh-CN" altLang="en-US" sz="2200" dirty="0" smtClean="0"/>
              <a:t>将保持的方法重复</a:t>
            </a:r>
            <a:r>
              <a:rPr lang="en-US" altLang="zh-CN" sz="2200" dirty="0" smtClean="0"/>
              <a:t>k</a:t>
            </a:r>
            <a:r>
              <a:rPr lang="zh-CN" altLang="en-US" sz="2200" dirty="0" smtClean="0"/>
              <a:t>次，总体准确率为</a:t>
            </a:r>
            <a:r>
              <a:rPr lang="en-US" altLang="zh-CN" sz="2200" dirty="0" smtClean="0"/>
              <a:t>k</a:t>
            </a:r>
            <a:r>
              <a:rPr lang="zh-CN" altLang="en-US" sz="2200" dirty="0" smtClean="0"/>
              <a:t>次的平均值。</a:t>
            </a:r>
            <a:endParaRPr lang="en-US" altLang="zh-CN" sz="2200" dirty="0" smtClean="0"/>
          </a:p>
          <a:p>
            <a:pPr marL="673100" lvl="1" indent="-273050"/>
            <a:r>
              <a:rPr lang="zh-CN" altLang="en-US" sz="2600" dirty="0" smtClean="0"/>
              <a:t>精确率和召回率度量</a:t>
            </a:r>
            <a:endParaRPr lang="en-US" altLang="zh-CN" sz="2600" dirty="0" smtClean="0"/>
          </a:p>
          <a:p>
            <a:pPr marL="1073150" lvl="2" indent="-273050"/>
            <a:endParaRPr lang="en-US" altLang="zh-CN" sz="2200" dirty="0" smtClean="0"/>
          </a:p>
        </p:txBody>
      </p:sp>
      <p:graphicFrame>
        <p:nvGraphicFramePr>
          <p:cNvPr id="2" name="表格 1"/>
          <p:cNvGraphicFramePr>
            <a:graphicFrameLocks noGrp="1"/>
          </p:cNvGraphicFramePr>
          <p:nvPr>
            <p:extLst>
              <p:ext uri="{D42A27DB-BD31-4B8C-83A1-F6EECF244321}">
                <p14:modId xmlns="" xmlns:p14="http://schemas.microsoft.com/office/powerpoint/2010/main" val="627231690"/>
              </p:ext>
            </p:extLst>
          </p:nvPr>
        </p:nvGraphicFramePr>
        <p:xfrm>
          <a:off x="899592" y="4725144"/>
          <a:ext cx="4176465" cy="1224135"/>
        </p:xfrm>
        <a:graphic>
          <a:graphicData uri="http://schemas.openxmlformats.org/drawingml/2006/table">
            <a:tbl>
              <a:tblPr firstRow="1" bandRow="1">
                <a:tableStyleId>{5C22544A-7EE6-4342-B048-85BDC9FD1C3A}</a:tableStyleId>
              </a:tblPr>
              <a:tblGrid>
                <a:gridCol w="1392155"/>
                <a:gridCol w="1392155"/>
                <a:gridCol w="1392155"/>
              </a:tblGrid>
              <a:tr h="408045">
                <a:tc>
                  <a:txBody>
                    <a:bodyPr/>
                    <a:lstStyle/>
                    <a:p>
                      <a:pPr algn="ctr"/>
                      <a:endParaRPr lang="zh-CN" altLang="en-US" dirty="0"/>
                    </a:p>
                  </a:txBody>
                  <a:tcPr/>
                </a:tc>
                <a:tc>
                  <a:txBody>
                    <a:bodyPr/>
                    <a:lstStyle/>
                    <a:p>
                      <a:pPr algn="ctr"/>
                      <a:r>
                        <a:rPr lang="zh-CN" altLang="en-US" dirty="0" smtClean="0">
                          <a:solidFill>
                            <a:schemeClr val="tx1"/>
                          </a:solidFill>
                        </a:rPr>
                        <a:t>正类</a:t>
                      </a:r>
                      <a:endParaRPr lang="zh-CN" altLang="en-US" dirty="0">
                        <a:solidFill>
                          <a:schemeClr val="tx1"/>
                        </a:solidFill>
                      </a:endParaRPr>
                    </a:p>
                  </a:txBody>
                  <a:tcPr/>
                </a:tc>
                <a:tc>
                  <a:txBody>
                    <a:bodyPr/>
                    <a:lstStyle/>
                    <a:p>
                      <a:pPr algn="ctr"/>
                      <a:r>
                        <a:rPr lang="zh-CN" altLang="en-US" dirty="0" smtClean="0">
                          <a:solidFill>
                            <a:schemeClr val="tx1"/>
                          </a:solidFill>
                        </a:rPr>
                        <a:t>负类</a:t>
                      </a:r>
                      <a:endParaRPr lang="zh-CN" altLang="en-US" dirty="0">
                        <a:solidFill>
                          <a:schemeClr val="tx1"/>
                        </a:solidFill>
                      </a:endParaRPr>
                    </a:p>
                  </a:txBody>
                  <a:tcPr/>
                </a:tc>
              </a:tr>
              <a:tr h="408045">
                <a:tc>
                  <a:txBody>
                    <a:bodyPr/>
                    <a:lstStyle/>
                    <a:p>
                      <a:pPr algn="ctr"/>
                      <a:r>
                        <a:rPr lang="zh-CN" altLang="en-US" dirty="0" smtClean="0"/>
                        <a:t>判断为正类</a:t>
                      </a:r>
                      <a:endParaRPr lang="zh-CN" altLang="en-US" dirty="0"/>
                    </a:p>
                  </a:txBody>
                  <a:tcPr/>
                </a:tc>
                <a:tc>
                  <a:txBody>
                    <a:bodyPr/>
                    <a:lstStyle/>
                    <a:p>
                      <a:pPr algn="ctr"/>
                      <a:r>
                        <a:rPr lang="en-US" altLang="zh-CN" dirty="0" smtClean="0"/>
                        <a:t>TP</a:t>
                      </a:r>
                      <a:endParaRPr lang="zh-CN" altLang="en-US" dirty="0"/>
                    </a:p>
                  </a:txBody>
                  <a:tcPr/>
                </a:tc>
                <a:tc>
                  <a:txBody>
                    <a:bodyPr/>
                    <a:lstStyle/>
                    <a:p>
                      <a:pPr algn="ctr"/>
                      <a:r>
                        <a:rPr lang="en-US" altLang="zh-CN" dirty="0" smtClean="0"/>
                        <a:t>FP</a:t>
                      </a:r>
                      <a:endParaRPr lang="zh-CN" altLang="en-US" dirty="0"/>
                    </a:p>
                  </a:txBody>
                  <a:tcPr/>
                </a:tc>
              </a:tr>
              <a:tr h="408045">
                <a:tc>
                  <a:txBody>
                    <a:bodyPr/>
                    <a:lstStyle/>
                    <a:p>
                      <a:pPr algn="ctr"/>
                      <a:r>
                        <a:rPr lang="zh-CN" altLang="en-US" dirty="0" smtClean="0"/>
                        <a:t>判断为负类</a:t>
                      </a:r>
                      <a:endParaRPr lang="zh-CN" altLang="en-US" dirty="0"/>
                    </a:p>
                  </a:txBody>
                  <a:tcPr/>
                </a:tc>
                <a:tc>
                  <a:txBody>
                    <a:bodyPr/>
                    <a:lstStyle/>
                    <a:p>
                      <a:pPr algn="ctr"/>
                      <a:r>
                        <a:rPr lang="en-US" altLang="zh-CN" dirty="0" smtClean="0"/>
                        <a:t>FN</a:t>
                      </a:r>
                      <a:endParaRPr lang="zh-CN" altLang="en-US" dirty="0"/>
                    </a:p>
                  </a:txBody>
                  <a:tcPr/>
                </a:tc>
                <a:tc>
                  <a:txBody>
                    <a:bodyPr/>
                    <a:lstStyle/>
                    <a:p>
                      <a:pPr algn="ctr"/>
                      <a:r>
                        <a:rPr lang="en-US" altLang="zh-CN" dirty="0" smtClean="0"/>
                        <a:t>TN</a:t>
                      </a:r>
                      <a:endParaRPr lang="zh-CN" altLang="en-US" dirty="0"/>
                    </a:p>
                  </a:txBody>
                  <a:tcPr/>
                </a:tc>
              </a:tr>
            </a:tbl>
          </a:graphicData>
        </a:graphic>
      </p:graphicFrame>
      <p:graphicFrame>
        <p:nvGraphicFramePr>
          <p:cNvPr id="6" name="对象 5"/>
          <p:cNvGraphicFramePr>
            <a:graphicFrameLocks noChangeAspect="1"/>
          </p:cNvGraphicFramePr>
          <p:nvPr/>
        </p:nvGraphicFramePr>
        <p:xfrm>
          <a:off x="0" y="457200"/>
          <a:ext cx="114300" cy="180975"/>
        </p:xfrm>
        <a:graphic>
          <a:graphicData uri="http://schemas.openxmlformats.org/presentationml/2006/ole">
            <p:oleObj spid="_x0000_s132098" r:id="rId5" imgW="114102" imgH="177492" progId="">
              <p:embed/>
            </p:oleObj>
          </a:graphicData>
        </a:graphic>
      </p:graphicFrame>
      <p:sp>
        <p:nvSpPr>
          <p:cNvPr id="8" name="Rectangle 3"/>
          <p:cNvSpPr>
            <a:spLocks noChangeArrowheads="1"/>
          </p:cNvSpPr>
          <p:nvPr/>
        </p:nvSpPr>
        <p:spPr bwMode="auto">
          <a:xfrm>
            <a:off x="0" y="6381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Cambria Math" pitchFamily="18" charset="0"/>
                <a:ea typeface="Times New Roman" pitchFamily="18" charset="0"/>
                <a:cs typeface="Times New Roman" pitchFamily="18" charset="0"/>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pic>
        <p:nvPicPr>
          <p:cNvPr id="10" name="图片 9"/>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5508104" y="5373216"/>
            <a:ext cx="2352261" cy="936104"/>
          </a:xfrm>
          <a:prstGeom prst="rect">
            <a:avLst/>
          </a:prstGeom>
        </p:spPr>
      </p:pic>
      <p:pic>
        <p:nvPicPr>
          <p:cNvPr id="11" name="图片 1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5652118" y="4474706"/>
            <a:ext cx="2595692" cy="898509"/>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sz="quarter" idx="4294967295"/>
          </p:nvPr>
        </p:nvSpPr>
        <p:spPr>
          <a:xfrm>
            <a:off x="457200" y="1219200"/>
            <a:ext cx="8229600" cy="4937125"/>
          </a:xfrm>
        </p:spPr>
        <p:txBody>
          <a:bodyPr>
            <a:normAutofit/>
          </a:bodyPr>
          <a:lstStyle/>
          <a:p>
            <a:pPr marL="273050" indent="-273050"/>
            <a:r>
              <a:rPr lang="en-US" altLang="zh-CN" sz="3000" dirty="0" smtClean="0"/>
              <a:t>SIG CRISP-DM</a:t>
            </a:r>
            <a:r>
              <a:rPr lang="zh-CN" altLang="en-US" sz="3000" dirty="0" smtClean="0"/>
              <a:t>模型：</a:t>
            </a:r>
            <a:endParaRPr lang="en-US" altLang="zh-CN" sz="3000" dirty="0" smtClean="0"/>
          </a:p>
        </p:txBody>
      </p:sp>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金融数据挖掘过程</a:t>
            </a:r>
            <a:endParaRPr lang="en-US" altLang="zh-CN" sz="2800" b="1" dirty="0" smtClean="0">
              <a:solidFill>
                <a:srgbClr val="0070C0"/>
              </a:solidFill>
              <a:latin typeface="方正姚体" pitchFamily="2" charset="-122"/>
              <a:ea typeface="方正姚体" pitchFamily="2"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86018" name="Picture 2" descr="http://pic001.cnblogs.com/images/2010/155795/2010101018520480.jpg"/>
          <p:cNvPicPr>
            <a:picLocks noChangeAspect="1" noChangeArrowheads="1"/>
          </p:cNvPicPr>
          <p:nvPr/>
        </p:nvPicPr>
        <p:blipFill>
          <a:blip r:embed="rId4"/>
          <a:srcRect/>
          <a:stretch>
            <a:fillRect/>
          </a:stretch>
        </p:blipFill>
        <p:spPr bwMode="auto">
          <a:xfrm>
            <a:off x="1714480" y="1785926"/>
            <a:ext cx="5357850" cy="4834578"/>
          </a:xfrm>
          <a:prstGeom prst="rect">
            <a:avLst/>
          </a:prstGeom>
          <a:noFill/>
        </p:spPr>
      </p:pic>
    </p:spTree>
    <p:extLst>
      <p:ext uri="{BB962C8B-B14F-4D97-AF65-F5344CB8AC3E}">
        <p14:creationId xmlns="" xmlns:p14="http://schemas.microsoft.com/office/powerpoint/2010/main" val="4104713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内容占位符 2"/>
          <p:cNvSpPr>
            <a:spLocks noGrp="1"/>
          </p:cNvSpPr>
          <p:nvPr>
            <p:ph sz="quarter" idx="4294967295"/>
          </p:nvPr>
        </p:nvSpPr>
        <p:spPr>
          <a:xfrm>
            <a:off x="467360" y="1124585"/>
            <a:ext cx="8229600" cy="4937125"/>
          </a:xfrm>
        </p:spPr>
        <p:txBody>
          <a:bodyPr>
            <a:normAutofit/>
          </a:bodyPr>
          <a:lstStyle/>
          <a:p>
            <a:pPr marL="0" indent="0">
              <a:lnSpc>
                <a:spcPct val="150000"/>
              </a:lnSpc>
              <a:spcBef>
                <a:spcPts val="0"/>
              </a:spcBef>
              <a:spcAft>
                <a:spcPts val="600"/>
              </a:spcAft>
              <a:buNone/>
            </a:pPr>
            <a:endParaRPr lang="zh-CN" altLang="en-US" sz="2400" b="1" strike="noStrike" noProof="1">
              <a:effectLst>
                <a:outerShdw blurRad="38100" dist="38100" dir="2700000" algn="tl">
                  <a:srgbClr val="000000">
                    <a:alpha val="43137"/>
                  </a:srgbClr>
                </a:outerShdw>
              </a:effectLst>
            </a:endParaRPr>
          </a:p>
          <a:p>
            <a:pPr marL="273050" indent="-273050">
              <a:lnSpc>
                <a:spcPct val="150000"/>
              </a:lnSpc>
              <a:spcBef>
                <a:spcPts val="0"/>
              </a:spcBef>
              <a:spcAft>
                <a:spcPts val="600"/>
              </a:spcAft>
            </a:pPr>
            <a:endParaRPr lang="zh-CN" altLang="en-US" sz="2400" b="1" strike="noStrike" noProof="1">
              <a:effectLst>
                <a:outerShdw blurRad="38100" dist="38100" dir="2700000" algn="tl">
                  <a:srgbClr val="000000">
                    <a:alpha val="43137"/>
                  </a:srgbClr>
                </a:outerShdw>
              </a:effectLst>
              <a:latin typeface="Arial" pitchFamily="34" charset="0"/>
              <a:ea typeface="宋体" pitchFamily="2" charset="-122"/>
              <a:cs typeface="+mn-ea"/>
              <a:sym typeface="+mn-ea"/>
            </a:endParaRPr>
          </a:p>
          <a:p>
            <a:pPr marL="0" lvl="0" indent="0" eaLnBrk="0" hangingPunct="0">
              <a:spcBef>
                <a:spcPts val="1200"/>
              </a:spcBef>
              <a:spcAft>
                <a:spcPts val="600"/>
              </a:spcAft>
              <a:buNone/>
            </a:pPr>
            <a:endParaRPr lang="zh-CN" altLang="zh-CN" sz="3200" b="1">
              <a:latin typeface="Arial" pitchFamily="34" charset="0"/>
              <a:ea typeface="宋体" pitchFamily="2" charset="-122"/>
            </a:endParaRPr>
          </a:p>
          <a:p>
            <a:pPr marL="0" lvl="0" indent="0" eaLnBrk="0" hangingPunct="0">
              <a:buNone/>
            </a:pPr>
            <a:r>
              <a:rPr lang="en-US" altLang="zh-CN" sz="3200">
                <a:latin typeface="Arial" pitchFamily="34" charset="0"/>
                <a:ea typeface="宋体" pitchFamily="2" charset="-122"/>
                <a:sym typeface="+mn-ea"/>
              </a:rPr>
              <a:t>	</a:t>
            </a:r>
            <a:endParaRPr lang="zh-CN" altLang="en-US" b="1" noProof="1">
              <a:effectLst>
                <a:outerShdw blurRad="38100" dist="38100" dir="2700000" algn="tl">
                  <a:srgbClr val="C0C0C0"/>
                </a:outerShdw>
              </a:effectLst>
            </a:endParaRPr>
          </a:p>
        </p:txBody>
      </p:sp>
      <p:sp>
        <p:nvSpPr>
          <p:cNvPr id="2" name="文本框 1"/>
          <p:cNvSpPr txBox="1"/>
          <p:nvPr/>
        </p:nvSpPr>
        <p:spPr>
          <a:xfrm>
            <a:off x="323215" y="1196975"/>
            <a:ext cx="5187315" cy="457200"/>
          </a:xfrm>
          <a:prstGeom prst="rect">
            <a:avLst/>
          </a:prstGeom>
          <a:noFill/>
        </p:spPr>
        <p:txBody>
          <a:bodyPr wrap="square" rtlCol="0">
            <a:spAutoFit/>
          </a:bodyPr>
          <a:lstStyle/>
          <a:p>
            <a:pPr marL="285750" indent="-285750" fontAlgn="base">
              <a:buFont typeface="Arial" charset="0"/>
              <a:buChar char="•"/>
            </a:pPr>
            <a:r>
              <a:rPr lang="zh-CN" altLang="en-US" sz="2400" b="1" strike="noStrike" noProof="1">
                <a:effectLst>
                  <a:outerShdw blurRad="38100" dist="38100" dir="2700000" algn="tl">
                    <a:srgbClr val="000000">
                      <a:alpha val="43137"/>
                    </a:srgbClr>
                  </a:outerShdw>
                </a:effectLst>
                <a:latin typeface="Arial" pitchFamily="34" charset="0"/>
                <a:ea typeface="宋体" pitchFamily="2" charset="-122"/>
                <a:cs typeface="+mn-ea"/>
              </a:rPr>
              <a:t>互联网发展对信用卡行业的影响</a:t>
            </a:r>
            <a:endParaRPr lang="zh-CN" altLang="en-US" sz="2400" b="1" strike="noStrike" noProof="1">
              <a:effectLst>
                <a:outerShdw blurRad="38100" dist="38100" dir="2700000" algn="tl">
                  <a:srgbClr val="000000">
                    <a:alpha val="43137"/>
                  </a:srgbClr>
                </a:outerShdw>
              </a:effectLst>
            </a:endParaRPr>
          </a:p>
        </p:txBody>
      </p:sp>
      <p:sp>
        <p:nvSpPr>
          <p:cNvPr id="14339" name="文本框 4"/>
          <p:cNvSpPr txBox="1"/>
          <p:nvPr/>
        </p:nvSpPr>
        <p:spPr>
          <a:xfrm>
            <a:off x="539115" y="1772920"/>
            <a:ext cx="8013700" cy="2225040"/>
          </a:xfrm>
          <a:prstGeom prst="rect">
            <a:avLst/>
          </a:prstGeom>
          <a:noFill/>
          <a:ln w="9525">
            <a:noFill/>
            <a:miter/>
          </a:ln>
        </p:spPr>
        <p:txBody>
          <a:bodyPr wrap="square" anchor="t">
            <a:spAutoFit/>
          </a:bodyPr>
          <a:lstStyle/>
          <a:p>
            <a:pPr lvl="0" eaLnBrk="0" hangingPunct="0"/>
            <a:r>
              <a:rPr lang="en-US" altLang="zh-CN" sz="2000">
                <a:latin typeface="新宋体" pitchFamily="49" charset="-122"/>
                <a:ea typeface="新宋体" pitchFamily="49" charset="-122"/>
              </a:rPr>
              <a:t>    </a:t>
            </a:r>
            <a:r>
              <a:rPr lang="zh-CN" altLang="en-US" sz="2000">
                <a:latin typeface="Arial" pitchFamily="34" charset="0"/>
                <a:ea typeface="宋体" pitchFamily="2" charset="-122"/>
              </a:rPr>
              <a:t>顺应互联网的兴起，信用卡产业出现了</a:t>
            </a:r>
            <a:r>
              <a:rPr lang="zh-CN" altLang="en-US" sz="2000" b="1">
                <a:latin typeface="Arial" pitchFamily="34" charset="0"/>
                <a:ea typeface="宋体" pitchFamily="2" charset="-122"/>
              </a:rPr>
              <a:t>网络申请办卡、网银激活开卡、网上商城消费、网上支付平台缴费还款、手机APP和微信服务平台查询</a:t>
            </a:r>
            <a:r>
              <a:rPr lang="zh-CN" altLang="en-US" sz="2000">
                <a:latin typeface="Arial" pitchFamily="34" charset="0"/>
                <a:ea typeface="宋体" pitchFamily="2" charset="-122"/>
              </a:rPr>
              <a:t>等多种新型业务模式，并且创新不断加快。同时，我国信用卡收单参与主体增多，收单方式多样化，银行和非金融支付机构积极应对发展趋势，纷纷加强了对收单终端机具以及支付方式的创新，相继推出</a:t>
            </a:r>
            <a:r>
              <a:rPr lang="zh-CN" altLang="en-US" sz="2000" b="1">
                <a:latin typeface="Arial" pitchFamily="34" charset="0"/>
                <a:ea typeface="宋体" pitchFamily="2" charset="-122"/>
              </a:rPr>
              <a:t>手机银行、NFC支付、二维码支付、声波支付、手机POS</a:t>
            </a:r>
            <a:r>
              <a:rPr lang="zh-CN" altLang="en-US" sz="2000">
                <a:latin typeface="Arial" pitchFamily="34" charset="0"/>
                <a:ea typeface="宋体" pitchFamily="2" charset="-122"/>
              </a:rPr>
              <a:t>等产品。</a:t>
            </a:r>
          </a:p>
        </p:txBody>
      </p:sp>
      <p:sp>
        <p:nvSpPr>
          <p:cNvPr id="3" name="文本框 2"/>
          <p:cNvSpPr txBox="1"/>
          <p:nvPr/>
        </p:nvSpPr>
        <p:spPr>
          <a:xfrm>
            <a:off x="394335" y="4150360"/>
            <a:ext cx="8082280" cy="1828800"/>
          </a:xfrm>
          <a:prstGeom prst="rect">
            <a:avLst/>
          </a:prstGeom>
          <a:noFill/>
        </p:spPr>
        <p:txBody>
          <a:bodyPr wrap="square" rtlCol="0" anchor="t">
            <a:spAutoFit/>
          </a:bodyPr>
          <a:lstStyle/>
          <a:p>
            <a:pPr marL="285750" indent="-285750" fontAlgn="base">
              <a:spcAft>
                <a:spcPts val="1200"/>
              </a:spcAft>
              <a:buFont typeface="Arial" charset="0"/>
              <a:buChar char="•"/>
            </a:pPr>
            <a:r>
              <a:rPr lang="zh-CN" altLang="en-US" sz="2400" b="1" strike="noStrike" noProof="1">
                <a:effectLst>
                  <a:outerShdw blurRad="38100" dist="38100" dir="2700000" algn="tl">
                    <a:srgbClr val="000000">
                      <a:alpha val="43137"/>
                    </a:srgbClr>
                  </a:outerShdw>
                </a:effectLst>
                <a:latin typeface="Arial" pitchFamily="34" charset="0"/>
                <a:ea typeface="宋体" pitchFamily="2" charset="-122"/>
                <a:cs typeface="+mn-ea"/>
                <a:sym typeface="+mn-ea"/>
              </a:rPr>
              <a:t>中国互联网欺诈情况</a:t>
            </a:r>
            <a:endParaRPr lang="zh-CN" altLang="en-US" sz="2400" b="1" strike="noStrike" noProof="1">
              <a:effectLst>
                <a:outerShdw blurRad="38100" dist="38100" dir="2700000" algn="tl">
                  <a:srgbClr val="000000">
                    <a:alpha val="43137"/>
                  </a:srgbClr>
                </a:outerShdw>
              </a:effectLst>
              <a:sym typeface="+mn-ea"/>
            </a:endParaRPr>
          </a:p>
          <a:p>
            <a:pPr fontAlgn="base"/>
            <a:r>
              <a:rPr lang="zh-CN" altLang="en-US" sz="2000" strike="noStrike" noProof="1">
                <a:latin typeface="新宋体" charset="0"/>
                <a:ea typeface="新宋体" charset="0"/>
                <a:cs typeface="+mn-ea"/>
                <a:sym typeface="+mn-ea"/>
              </a:rPr>
              <a:t>    </a:t>
            </a:r>
            <a:r>
              <a:rPr lang="zh-CN" altLang="en-US" sz="2000" strike="noStrike" noProof="1">
                <a:latin typeface="Arial" pitchFamily="34" charset="0"/>
                <a:ea typeface="宋体" pitchFamily="2" charset="-122"/>
                <a:cs typeface="+mn-ea"/>
                <a:sym typeface="+mn-ea"/>
              </a:rPr>
              <a:t>2014年，互联网欺诈损失金额为2245.4万元，比上年增长59.1%；互联网欺诈损失占比为14.8%，比上年增长4个百分点。</a:t>
            </a:r>
            <a:endParaRPr lang="zh-CN" altLang="en-US" sz="2000" strike="noStrike" noProof="1">
              <a:sym typeface="+mn-ea"/>
            </a:endParaRPr>
          </a:p>
          <a:p>
            <a:pPr fontAlgn="base"/>
            <a:endParaRPr lang="zh-CN" altLang="en-US" sz="2000" strike="noStrike" noProof="1">
              <a:sym typeface="+mn-ea"/>
            </a:endParaRPr>
          </a:p>
          <a:p>
            <a:pPr algn="r" fontAlgn="base">
              <a:buFont typeface="Arial" charset="0"/>
            </a:pPr>
            <a:r>
              <a:rPr lang="en-US" altLang="zh-CN" sz="2000" strike="noStrike" noProof="1">
                <a:latin typeface="Arial" pitchFamily="34" charset="0"/>
                <a:ea typeface="宋体" pitchFamily="2" charset="-122"/>
                <a:cs typeface="+mn-ea"/>
                <a:sym typeface="+mn-ea"/>
              </a:rPr>
              <a:t>——</a:t>
            </a:r>
            <a:r>
              <a:rPr lang="zh-CN" altLang="en-US" sz="2000" i="1" strike="noStrike" noProof="1">
                <a:latin typeface="Arial" pitchFamily="34" charset="0"/>
                <a:ea typeface="宋体" charset="-122"/>
                <a:cs typeface="+mn-ea"/>
                <a:sym typeface="+mn-ea"/>
              </a:rPr>
              <a:t>《中国信用卡产业发展蓝皮书》 </a:t>
            </a:r>
            <a:r>
              <a:rPr lang="en-US" altLang="zh-CN" sz="2000" i="1" strike="noStrike" noProof="1">
                <a:latin typeface="Arial" pitchFamily="34" charset="0"/>
                <a:ea typeface="宋体" charset="-122"/>
                <a:cs typeface="+mn-ea"/>
                <a:sym typeface="+mn-ea"/>
              </a:rPr>
              <a:t>(2014)</a:t>
            </a:r>
            <a:endParaRPr lang="zh-CN" altLang="en-US" sz="2000" strike="noStrike" noProof="1">
              <a:sym typeface="+mn-ea"/>
            </a:endParaRPr>
          </a:p>
        </p:txBody>
      </p:sp>
    </p:spTree>
    <p:extLst>
      <p:ext uri="{BB962C8B-B14F-4D97-AF65-F5344CB8AC3E}">
        <p14:creationId xmlns="" xmlns:p14="http://schemas.microsoft.com/office/powerpoint/2010/main" val="29253118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内容占位符 2"/>
          <p:cNvSpPr>
            <a:spLocks noGrp="1"/>
          </p:cNvSpPr>
          <p:nvPr>
            <p:ph sz="quarter" idx="4294967295"/>
          </p:nvPr>
        </p:nvSpPr>
        <p:spPr>
          <a:xfrm>
            <a:off x="457200" y="1219200"/>
            <a:ext cx="8229600" cy="4937125"/>
          </a:xfrm>
        </p:spPr>
        <p:txBody>
          <a:bodyPr>
            <a:normAutofit/>
          </a:bodyPr>
          <a:lstStyle/>
          <a:p>
            <a:pPr marL="273050" indent="-273050">
              <a:lnSpc>
                <a:spcPct val="150000"/>
              </a:lnSpc>
              <a:spcBef>
                <a:spcPts val="0"/>
              </a:spcBef>
              <a:spcAft>
                <a:spcPts val="600"/>
              </a:spcAft>
            </a:pPr>
            <a:r>
              <a:rPr lang="zh-CN" altLang="en-US" sz="2400" b="1" noProof="1" smtClean="0">
                <a:effectLst>
                  <a:outerShdw blurRad="38100" dist="38100" dir="2700000" algn="tl">
                    <a:srgbClr val="C0C0C0"/>
                  </a:outerShdw>
                </a:effectLst>
                <a:ea typeface="等线" panose="02010600030101010101" pitchFamily="2" charset="-122"/>
              </a:rPr>
              <a:t>信用卡的风险类型</a:t>
            </a:r>
            <a:endParaRPr lang="en-US" altLang="zh-CN" sz="2400" b="1" noProof="1" smtClean="0">
              <a:effectLst>
                <a:outerShdw blurRad="38100" dist="38100" dir="2700000" algn="tl">
                  <a:srgbClr val="C0C0C0"/>
                </a:outerShdw>
              </a:effectLst>
              <a:ea typeface="等线" panose="02010600030101010101" pitchFamily="2" charset="-122"/>
            </a:endParaRPr>
          </a:p>
          <a:p>
            <a:pPr>
              <a:spcAft>
                <a:spcPts val="600"/>
              </a:spcAft>
            </a:pPr>
            <a:r>
              <a:rPr lang="zh-CN" altLang="en-US" sz="1800" b="1" noProof="1">
                <a:ea typeface="等线" panose="02010600030101010101" pitchFamily="2" charset="-122"/>
              </a:rPr>
              <a:t>信用风险</a:t>
            </a:r>
            <a:r>
              <a:rPr lang="zh-CN" altLang="en-US" sz="1800" noProof="1">
                <a:ea typeface="等线" panose="02010600030101010101" pitchFamily="2" charset="-122"/>
              </a:rPr>
              <a:t>：</a:t>
            </a:r>
            <a:r>
              <a:rPr lang="zh-CN" altLang="en-US" sz="1400" noProof="1">
                <a:ea typeface="等线" panose="02010600030101010101" pitchFamily="2" charset="-122"/>
              </a:rPr>
              <a:t>用户由于个人原因，发生贷款违约或者长期未能偿还信用贷款的风险。</a:t>
            </a:r>
            <a:endParaRPr lang="zh-CN" altLang="en-US" sz="1400" noProof="1"/>
          </a:p>
          <a:p>
            <a:pPr marL="0" indent="0">
              <a:buNone/>
            </a:pPr>
            <a:r>
              <a:rPr lang="zh-CN" altLang="en-US" sz="1400" noProof="1">
                <a:ea typeface="等线" panose="02010600030101010101" pitchFamily="2" charset="-122"/>
              </a:rPr>
              <a:t>        截至2014年12月末，我国信用卡未偿信贷余额2.3万亿元，比上年增长27.2%。逾期半年未偿信贷总额为357.6亿元，较2013年底增加105.7亿元，比上年增长42.0%。逾期半年未偿信贷总额占期末未偿信贷总额的1.53%，占比较上年末上升0.16个百分点，信贷潜在风险继续上升。</a:t>
            </a:r>
            <a:endParaRPr lang="zh-CN" altLang="en-US" sz="1400" noProof="1"/>
          </a:p>
          <a:p>
            <a:pPr marL="0" indent="0" algn="r">
              <a:buNone/>
            </a:pPr>
            <a:r>
              <a:rPr lang="zh-CN" altLang="zh-CN" sz="1600" noProof="1">
                <a:ea typeface="等线" panose="02010600030101010101" pitchFamily="2" charset="-122"/>
                <a:sym typeface="+mn-ea"/>
              </a:rPr>
              <a:t>——</a:t>
            </a:r>
            <a:r>
              <a:rPr lang="zh-CN" altLang="en-US" sz="1600" i="1" noProof="1">
                <a:ea typeface="等线" panose="02010600030101010101" pitchFamily="2" charset="-122"/>
                <a:sym typeface="+mn-ea"/>
              </a:rPr>
              <a:t>《中国信用卡产业发展蓝皮书》 </a:t>
            </a:r>
            <a:r>
              <a:rPr lang="zh-CN" altLang="zh-CN" sz="1600" i="1" noProof="1">
                <a:ea typeface="等线" panose="02010600030101010101" pitchFamily="2" charset="-122"/>
                <a:sym typeface="+mn-ea"/>
              </a:rPr>
              <a:t>(2014</a:t>
            </a:r>
            <a:r>
              <a:rPr lang="zh-CN" altLang="zh-CN" sz="1600" i="1" noProof="1" smtClean="0">
                <a:ea typeface="等线" panose="02010600030101010101" pitchFamily="2" charset="-122"/>
                <a:sym typeface="+mn-ea"/>
              </a:rPr>
              <a:t>)</a:t>
            </a:r>
            <a:endParaRPr lang="en-US" altLang="zh-CN" sz="1600" i="1" noProof="1" smtClean="0">
              <a:ea typeface="等线" panose="02010600030101010101" pitchFamily="2" charset="-122"/>
              <a:sym typeface="+mn-ea"/>
            </a:endParaRPr>
          </a:p>
          <a:p>
            <a:pPr marL="0" indent="0" algn="r">
              <a:buNone/>
            </a:pPr>
            <a:endParaRPr lang="zh-CN" altLang="en-US" sz="1600" i="1" noProof="1"/>
          </a:p>
          <a:p>
            <a:pPr marL="273050" indent="-273050"/>
            <a:r>
              <a:rPr lang="zh-CN" altLang="en-US" sz="1800" b="1" noProof="1">
                <a:ea typeface="等线" panose="02010600030101010101" pitchFamily="2" charset="-122"/>
                <a:sym typeface="+mn-ea"/>
              </a:rPr>
              <a:t>欺诈风险</a:t>
            </a:r>
            <a:r>
              <a:rPr lang="zh-CN" altLang="en-US" sz="1800" noProof="1">
                <a:ea typeface="等线" panose="02010600030101010101" pitchFamily="2" charset="-122"/>
                <a:sym typeface="+mn-ea"/>
              </a:rPr>
              <a:t>：</a:t>
            </a:r>
            <a:endParaRPr lang="zh-CN" altLang="en-US" sz="1800" noProof="1"/>
          </a:p>
          <a:p>
            <a:pPr marL="0" indent="0">
              <a:buNone/>
            </a:pPr>
            <a:endParaRPr lang="zh-CN" altLang="en-US" b="1" noProof="1">
              <a:effectLst>
                <a:outerShdw blurRad="38100" dist="38100" dir="2700000" algn="tl">
                  <a:srgbClr val="C0C0C0"/>
                </a:outerShdw>
              </a:effectLst>
            </a:endParaRPr>
          </a:p>
        </p:txBody>
      </p:sp>
      <p:graphicFrame>
        <p:nvGraphicFramePr>
          <p:cNvPr id="8" name="表格 7"/>
          <p:cNvGraphicFramePr/>
          <p:nvPr/>
        </p:nvGraphicFramePr>
        <p:xfrm>
          <a:off x="907009" y="4221088"/>
          <a:ext cx="5738813" cy="1479550"/>
        </p:xfrm>
        <a:graphic>
          <a:graphicData uri="http://schemas.openxmlformats.org/drawingml/2006/table">
            <a:tbl>
              <a:tblPr firstRow="1" bandRow="1">
                <a:tableStyleId>{5940675A-B579-460E-94D1-54222C63F5DA}</a:tableStyleId>
              </a:tblPr>
              <a:tblGrid>
                <a:gridCol w="1696626"/>
                <a:gridCol w="2102369"/>
                <a:gridCol w="1939818"/>
              </a:tblGrid>
              <a:tr h="499110">
                <a:tc>
                  <a:txBody>
                    <a:bodyPr/>
                    <a:lstStyle/>
                    <a:p>
                      <a:pPr marL="0" indent="0" algn="ctr">
                        <a:buNone/>
                      </a:pPr>
                      <a:endParaRPr lang="zh-CN" altLang="en-US" sz="1050" u="none"/>
                    </a:p>
                  </a:txBody>
                  <a:tcPr marL="0" marR="0" marT="0" marB="1" anchor="ctr"/>
                </a:tc>
                <a:tc>
                  <a:txBody>
                    <a:bodyPr/>
                    <a:lstStyle/>
                    <a:p>
                      <a:pPr marL="0" indent="0" algn="ctr">
                        <a:buNone/>
                      </a:pPr>
                      <a:r>
                        <a:rPr lang="zh-CN" altLang="en-US" sz="1400" b="1" u="none"/>
                        <a:t>第一方欺诈</a:t>
                      </a:r>
                    </a:p>
                  </a:txBody>
                  <a:tcPr marL="0" marR="0" marT="0" marB="1" anchor="ctr"/>
                </a:tc>
                <a:tc>
                  <a:txBody>
                    <a:bodyPr/>
                    <a:lstStyle/>
                    <a:p>
                      <a:pPr marL="0" indent="0" algn="ctr">
                        <a:buNone/>
                      </a:pPr>
                      <a:r>
                        <a:rPr lang="zh-CN" altLang="en-US" sz="1400" b="1" u="none"/>
                        <a:t>第三方欺诈</a:t>
                      </a:r>
                    </a:p>
                  </a:txBody>
                  <a:tcPr marL="0" marR="0" marT="0" marB="1" anchor="ctr"/>
                </a:tc>
              </a:tr>
              <a:tr h="481330">
                <a:tc>
                  <a:txBody>
                    <a:bodyPr/>
                    <a:lstStyle/>
                    <a:p>
                      <a:pPr marL="0" indent="0" algn="ctr">
                        <a:buNone/>
                      </a:pPr>
                      <a:r>
                        <a:rPr lang="zh-CN" altLang="en-US" sz="1400" b="1" u="none"/>
                        <a:t>申请欺诈</a:t>
                      </a:r>
                    </a:p>
                  </a:txBody>
                  <a:tcPr marL="0" marR="0" marT="0" marB="1" anchor="ctr"/>
                </a:tc>
                <a:tc>
                  <a:txBody>
                    <a:bodyPr/>
                    <a:lstStyle/>
                    <a:p>
                      <a:pPr marL="0" indent="0" algn="ctr">
                        <a:buNone/>
                      </a:pPr>
                      <a:r>
                        <a:rPr lang="zh-CN" altLang="en-US" sz="1000" u="none"/>
                        <a:t>申请人伪造个人信息申请信用卡</a:t>
                      </a:r>
                    </a:p>
                  </a:txBody>
                  <a:tcPr marL="0" marR="0" marT="0" marB="1" anchor="ctr"/>
                </a:tc>
                <a:tc>
                  <a:txBody>
                    <a:bodyPr/>
                    <a:lstStyle/>
                    <a:p>
                      <a:pPr marL="0" indent="0" algn="ctr">
                        <a:buNone/>
                      </a:pPr>
                      <a:r>
                        <a:rPr lang="zh-CN" altLang="en-US" sz="1000" u="none"/>
                        <a:t>冒用他人信息申请信用卡</a:t>
                      </a:r>
                    </a:p>
                  </a:txBody>
                  <a:tcPr marL="0" marR="0" marT="0" marB="1" anchor="ctr"/>
                </a:tc>
              </a:tr>
              <a:tr h="499110">
                <a:tc>
                  <a:txBody>
                    <a:bodyPr/>
                    <a:lstStyle/>
                    <a:p>
                      <a:pPr marL="0" indent="0" algn="ctr">
                        <a:buNone/>
                      </a:pPr>
                      <a:r>
                        <a:rPr lang="zh-CN" altLang="en-US" sz="1400" b="1" u="none" dirty="0"/>
                        <a:t>交易欺诈</a:t>
                      </a:r>
                    </a:p>
                  </a:txBody>
                  <a:tcPr marL="0" marR="0" marT="0" marB="1" anchor="ctr"/>
                </a:tc>
                <a:tc>
                  <a:txBody>
                    <a:bodyPr/>
                    <a:lstStyle/>
                    <a:p>
                      <a:pPr marL="0" indent="0" algn="ctr">
                        <a:buNone/>
                      </a:pPr>
                      <a:r>
                        <a:rPr lang="zh-CN" altLang="en-US" sz="1000" u="none"/>
                        <a:t>恶意透支，恶意否认交易行为</a:t>
                      </a:r>
                    </a:p>
                  </a:txBody>
                  <a:tcPr marL="0" marR="0" marT="0" marB="1" anchor="ctr"/>
                </a:tc>
                <a:tc>
                  <a:txBody>
                    <a:bodyPr/>
                    <a:lstStyle/>
                    <a:p>
                      <a:pPr marL="0" indent="0" algn="ctr">
                        <a:buNone/>
                      </a:pPr>
                      <a:r>
                        <a:rPr lang="zh-CN" altLang="en-US" sz="1000" u="none" dirty="0"/>
                        <a:t>盗用他人卡片进行交易</a:t>
                      </a:r>
                    </a:p>
                  </a:txBody>
                  <a:tcPr marL="0" marR="0" marT="0" marB="1" anchor="ctr"/>
                </a:tc>
              </a:tr>
            </a:tbl>
          </a:graphicData>
        </a:graphic>
      </p:graphicFrame>
    </p:spTree>
    <p:extLst>
      <p:ext uri="{BB962C8B-B14F-4D97-AF65-F5344CB8AC3E}">
        <p14:creationId xmlns="" xmlns:p14="http://schemas.microsoft.com/office/powerpoint/2010/main" val="27724444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 name="文本框 12"/>
          <p:cNvSpPr txBox="1"/>
          <p:nvPr/>
        </p:nvSpPr>
        <p:spPr>
          <a:xfrm>
            <a:off x="302840" y="1178204"/>
            <a:ext cx="4165600" cy="457200"/>
          </a:xfrm>
          <a:prstGeom prst="rect">
            <a:avLst/>
          </a:prstGeom>
          <a:noFill/>
        </p:spPr>
        <p:txBody>
          <a:bodyPr>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zh-CN" altLang="en-US" sz="2400" b="1" noProof="1">
                <a:ea typeface="等线" panose="02010600030101010101" pitchFamily="2" charset="-122"/>
              </a:rPr>
              <a:t>信用卡交易</a:t>
            </a:r>
            <a:r>
              <a:rPr lang="zh-CN" altLang="en-US" sz="2400" b="1" noProof="1" smtClean="0">
                <a:ea typeface="等线" panose="02010600030101010101" pitchFamily="2" charset="-122"/>
              </a:rPr>
              <a:t>欺诈类型</a:t>
            </a:r>
            <a:endParaRPr lang="zh-CN" altLang="en-US" sz="2400" b="1" noProof="1"/>
          </a:p>
        </p:txBody>
      </p:sp>
      <p:sp>
        <p:nvSpPr>
          <p:cNvPr id="14" name="文本框 13"/>
          <p:cNvSpPr txBox="1"/>
          <p:nvPr/>
        </p:nvSpPr>
        <p:spPr>
          <a:xfrm>
            <a:off x="334963" y="1772816"/>
            <a:ext cx="7837437" cy="4324261"/>
          </a:xfrm>
          <a:prstGeom prst="rect">
            <a:avLst/>
          </a:prstGeom>
          <a:noFill/>
          <a:ln w="9525">
            <a:noFill/>
            <a:miter/>
          </a:ln>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buFont typeface="Arial" pitchFamily="34" charset="0"/>
              <a:buChar char="•"/>
            </a:pPr>
            <a:r>
              <a:rPr lang="zh-CN" altLang="zh-CN" b="1" noProof="1" smtClean="0">
                <a:latin typeface="宋体" pitchFamily="2" charset="-122"/>
              </a:rPr>
              <a:t>卡</a:t>
            </a:r>
            <a:r>
              <a:rPr lang="zh-CN" altLang="zh-CN" b="1" noProof="1">
                <a:latin typeface="宋体" pitchFamily="2" charset="-122"/>
              </a:rPr>
              <a:t>在现场欺诈：</a:t>
            </a:r>
          </a:p>
          <a:p>
            <a:pPr>
              <a:buFont typeface="Arial" pitchFamily="34" charset="0"/>
              <a:buNone/>
            </a:pPr>
            <a:r>
              <a:rPr lang="zh-CN" altLang="zh-CN" sz="1400" noProof="1">
                <a:latin typeface="宋体" pitchFamily="2" charset="-122"/>
              </a:rPr>
              <a:t>    在20世纪70年代，信用卡的欺诈的形式主要是卡在现场（线下）为主，这类欺诈形式中，信用卡都是以实体卡的形式被盗用。欺诈方式主要包含</a:t>
            </a:r>
            <a:r>
              <a:rPr lang="zh-CN" altLang="zh-CN" sz="1400" b="1" noProof="1">
                <a:latin typeface="宋体" pitchFamily="2" charset="-122"/>
              </a:rPr>
              <a:t>失窃卡盗刷、账户盗用、伪造卡欺诈、商户欺诈</a:t>
            </a:r>
            <a:r>
              <a:rPr lang="zh-CN" altLang="zh-CN" sz="1400" noProof="1">
                <a:latin typeface="宋体" pitchFamily="2" charset="-122"/>
              </a:rPr>
              <a:t>等。</a:t>
            </a:r>
          </a:p>
          <a:p>
            <a:pPr>
              <a:lnSpc>
                <a:spcPct val="150000"/>
              </a:lnSpc>
              <a:buFont typeface="Arial" pitchFamily="34" charset="0"/>
              <a:buChar char="•"/>
            </a:pPr>
            <a:r>
              <a:rPr lang="zh-CN" altLang="zh-CN" sz="1600" b="1" noProof="1">
                <a:latin typeface="宋体" pitchFamily="2" charset="-122"/>
              </a:rPr>
              <a:t>卡不在现场欺诈：</a:t>
            </a:r>
          </a:p>
          <a:p>
            <a:pPr>
              <a:buFont typeface="Arial" pitchFamily="34" charset="0"/>
              <a:buNone/>
            </a:pPr>
            <a:r>
              <a:rPr lang="zh-CN" altLang="zh-CN" sz="1400" noProof="1">
                <a:latin typeface="宋体" pitchFamily="2" charset="-122"/>
              </a:rPr>
              <a:t>    </a:t>
            </a:r>
            <a:r>
              <a:rPr lang="zh-CN" altLang="zh-CN" sz="1400" noProof="1" smtClean="0">
                <a:latin typeface="宋体" pitchFamily="2" charset="-122"/>
              </a:rPr>
              <a:t>到</a:t>
            </a:r>
            <a:r>
              <a:rPr lang="zh-CN" altLang="zh-CN" sz="1400" noProof="1">
                <a:latin typeface="宋体" pitchFamily="2" charset="-122"/>
              </a:rPr>
              <a:t>了20世纪80年代和90年代，随着邮购和电话购物在美国的兴起，卡不在现场类型的欺诈也逐步开始改变。</a:t>
            </a:r>
            <a:r>
              <a:rPr lang="zh-CN" altLang="zh-CN" sz="1400" noProof="1">
                <a:latin typeface="宋体" pitchFamily="2" charset="-122"/>
                <a:sym typeface="+mn-ea"/>
              </a:rPr>
              <a:t>欺诈方式主要是</a:t>
            </a:r>
            <a:r>
              <a:rPr lang="zh-CN" altLang="zh-CN" sz="1400" b="1" noProof="1">
                <a:latin typeface="宋体" pitchFamily="2" charset="-122"/>
                <a:sym typeface="+mn-ea"/>
              </a:rPr>
              <a:t>伪造网页、盗取卡号密码、信用卡生成器</a:t>
            </a:r>
            <a:r>
              <a:rPr lang="zh-CN" altLang="zh-CN" sz="1400" noProof="1">
                <a:latin typeface="宋体" pitchFamily="2" charset="-122"/>
                <a:sym typeface="+mn-ea"/>
              </a:rPr>
              <a:t>等。</a:t>
            </a:r>
            <a:endParaRPr lang="zh-CN" altLang="zh-CN" sz="1400" noProof="1"/>
          </a:p>
          <a:p>
            <a:pPr algn="r">
              <a:spcBef>
                <a:spcPts val="1200"/>
              </a:spcBef>
              <a:buFont typeface="Arial" pitchFamily="34" charset="0"/>
              <a:buNone/>
            </a:pPr>
            <a:r>
              <a:rPr lang="zh-CN" altLang="zh-CN" sz="1400" i="1" noProof="1"/>
              <a:t>——</a:t>
            </a:r>
            <a:r>
              <a:rPr lang="en-US" altLang="zh-CN" sz="1400" i="1" noProof="1">
                <a:ea typeface="等线" panose="02010600030101010101" pitchFamily="2" charset="-122"/>
                <a:sym typeface="+mn-ea"/>
              </a:rPr>
              <a:t>Tej, Paul, et al. (2003), </a:t>
            </a:r>
            <a:r>
              <a:rPr lang="en-US" altLang="zh-CN" sz="1400" i="1" noProof="1"/>
              <a:t>Bhattacharyya, Siddhartha, et al. (</a:t>
            </a:r>
            <a:r>
              <a:rPr lang="en-US" altLang="zh-CN" sz="1400" i="1" noProof="1">
                <a:ea typeface="等线" panose="02010600030101010101" pitchFamily="2" charset="-122"/>
              </a:rPr>
              <a:t>2011)</a:t>
            </a:r>
            <a:endParaRPr lang="en-US" altLang="zh-CN" sz="1400" i="1" noProof="1"/>
          </a:p>
          <a:p>
            <a:pPr algn="r">
              <a:spcBef>
                <a:spcPts val="1200"/>
              </a:spcBef>
              <a:buFont typeface="Arial" pitchFamily="34" charset="0"/>
              <a:buNone/>
            </a:pPr>
            <a:endParaRPr lang="en-US" altLang="en-US" noProof="1"/>
          </a:p>
          <a:p>
            <a:pPr>
              <a:buFont typeface="Arial" pitchFamily="34" charset="0"/>
              <a:buNone/>
            </a:pPr>
            <a:r>
              <a:rPr lang="en-US" altLang="zh-CN" sz="1600" noProof="1">
                <a:ea typeface="等线" panose="02010600030101010101" pitchFamily="2" charset="-122"/>
              </a:rPr>
              <a:t> </a:t>
            </a:r>
            <a:r>
              <a:rPr lang="en-US" altLang="zh-CN" sz="1600" noProof="1" smtClean="0">
                <a:ea typeface="等线" panose="02010600030101010101" pitchFamily="2" charset="-122"/>
              </a:rPr>
              <a:t>       2014</a:t>
            </a:r>
            <a:r>
              <a:rPr lang="zh-CN" altLang="en-US" sz="1600" noProof="1">
                <a:ea typeface="等线" panose="02010600030101010101" pitchFamily="2" charset="-122"/>
              </a:rPr>
              <a:t>年中国信用卡欺诈排名前几位的欺诈类型：</a:t>
            </a:r>
            <a:r>
              <a:rPr lang="zh-CN" altLang="en-US" sz="1600" b="1" noProof="1">
                <a:ea typeface="等线" panose="02010600030101010101" pitchFamily="2" charset="-122"/>
              </a:rPr>
              <a:t>伪卡虚假交易、互联网欺诈、失窃卡和账户盗用。</a:t>
            </a:r>
            <a:endParaRPr lang="zh-CN" altLang="en-US" sz="1600" b="1" noProof="1"/>
          </a:p>
          <a:p>
            <a:pPr>
              <a:buFont typeface="Arial" pitchFamily="34" charset="0"/>
              <a:buNone/>
            </a:pPr>
            <a:endParaRPr lang="zh-CN" altLang="en-US" sz="1600" noProof="1"/>
          </a:p>
          <a:p>
            <a:pPr algn="r">
              <a:buFont typeface="Arial" pitchFamily="34" charset="0"/>
              <a:buNone/>
            </a:pPr>
            <a:r>
              <a:rPr lang="zh-CN" altLang="zh-CN" sz="1600" noProof="1">
                <a:ea typeface="等线" panose="02010600030101010101" pitchFamily="2" charset="-122"/>
                <a:sym typeface="+mn-ea"/>
              </a:rPr>
              <a:t>——</a:t>
            </a:r>
            <a:r>
              <a:rPr lang="zh-CN" altLang="en-US" sz="1600" i="1" noProof="1">
                <a:ea typeface="等线" panose="02010600030101010101" pitchFamily="2" charset="-122"/>
                <a:sym typeface="+mn-ea"/>
              </a:rPr>
              <a:t>《中国信用卡产业发展蓝皮书》 </a:t>
            </a:r>
            <a:r>
              <a:rPr lang="zh-CN" altLang="zh-CN" sz="1600" i="1" noProof="1">
                <a:ea typeface="等线" panose="02010600030101010101" pitchFamily="2" charset="-122"/>
                <a:sym typeface="+mn-ea"/>
              </a:rPr>
              <a:t>(2014)</a:t>
            </a:r>
            <a:endParaRPr lang="zh-CN" altLang="zh-CN" sz="1600" i="1" noProof="1">
              <a:sym typeface="+mn-ea"/>
            </a:endParaRPr>
          </a:p>
          <a:p>
            <a:pPr>
              <a:buFont typeface="Arial" pitchFamily="34" charset="0"/>
              <a:buNone/>
            </a:pPr>
            <a:endParaRPr lang="zh-CN" altLang="en-US" sz="1600" noProof="1"/>
          </a:p>
          <a:p>
            <a:pPr>
              <a:buFont typeface="Arial" pitchFamily="34" charset="0"/>
              <a:buNone/>
            </a:pPr>
            <a:endParaRPr lang="zh-CN" altLang="en-US" sz="1600" noProof="1"/>
          </a:p>
        </p:txBody>
      </p:sp>
    </p:spTree>
    <p:extLst>
      <p:ext uri="{BB962C8B-B14F-4D97-AF65-F5344CB8AC3E}">
        <p14:creationId xmlns="" xmlns:p14="http://schemas.microsoft.com/office/powerpoint/2010/main" val="39117388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 name="文本框 7"/>
          <p:cNvSpPr txBox="1"/>
          <p:nvPr/>
        </p:nvSpPr>
        <p:spPr>
          <a:xfrm>
            <a:off x="317011" y="1171538"/>
            <a:ext cx="4978400" cy="400110"/>
          </a:xfrm>
          <a:prstGeom prst="rect">
            <a:avLst/>
          </a:prstGeom>
          <a:noFill/>
        </p:spPr>
        <p:txBody>
          <a:bodyPr>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zh-CN" altLang="en-US" sz="2000" b="1" noProof="1">
                <a:effectLst>
                  <a:outerShdw blurRad="38100" dist="38100" dir="2700000" algn="tl">
                    <a:srgbClr val="C0C0C0"/>
                  </a:outerShdw>
                </a:effectLst>
                <a:ea typeface="等线" panose="02010600030101010101" pitchFamily="2" charset="-122"/>
              </a:rPr>
              <a:t>中国信用卡交易欺诈损失情况</a:t>
            </a:r>
            <a:endParaRPr lang="zh-CN" altLang="zh-CN" sz="2000" b="1" noProof="1">
              <a:effectLst>
                <a:outerShdw blurRad="38100" dist="38100" dir="2700000" algn="tl">
                  <a:srgbClr val="C0C0C0"/>
                </a:outerShdw>
              </a:effectLst>
            </a:endParaRPr>
          </a:p>
        </p:txBody>
      </p:sp>
      <p:pic>
        <p:nvPicPr>
          <p:cNvPr id="9" name="图片 1" descr="4"/>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619672" y="1611619"/>
            <a:ext cx="5713684" cy="34108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文本框 11"/>
          <p:cNvSpPr txBox="1"/>
          <p:nvPr/>
        </p:nvSpPr>
        <p:spPr>
          <a:xfrm>
            <a:off x="317011" y="5022466"/>
            <a:ext cx="8568952" cy="1538883"/>
          </a:xfrm>
          <a:prstGeom prst="rect">
            <a:avLst/>
          </a:prstGeom>
          <a:noFill/>
        </p:spPr>
        <p:txBody>
          <a:bodyPr wrap="squar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spcAft>
                <a:spcPts val="1200"/>
              </a:spcAft>
              <a:buFont typeface="Arial" pitchFamily="34" charset="0"/>
              <a:buChar char="•"/>
            </a:pPr>
            <a:r>
              <a:rPr lang="zh-CN" altLang="en-US" sz="2000" b="1" noProof="1" smtClean="0">
                <a:effectLst>
                  <a:outerShdw blurRad="38100" dist="38100" dir="2700000" algn="tl">
                    <a:srgbClr val="C0C0C0"/>
                  </a:outerShdw>
                </a:effectLst>
                <a:ea typeface="等线" panose="02010600030101010101" pitchFamily="2" charset="-122"/>
                <a:sym typeface="+mn-ea"/>
              </a:rPr>
              <a:t>中国信用卡互联网</a:t>
            </a:r>
            <a:r>
              <a:rPr lang="zh-CN" altLang="en-US" sz="2000" b="1" noProof="1">
                <a:effectLst>
                  <a:outerShdw blurRad="38100" dist="38100" dir="2700000" algn="tl">
                    <a:srgbClr val="C0C0C0"/>
                  </a:outerShdw>
                </a:effectLst>
                <a:ea typeface="等线" panose="02010600030101010101" pitchFamily="2" charset="-122"/>
                <a:sym typeface="+mn-ea"/>
              </a:rPr>
              <a:t>欺诈情况</a:t>
            </a:r>
            <a:endParaRPr lang="zh-CN" altLang="en-US" sz="2000" b="1" noProof="1">
              <a:effectLst>
                <a:outerShdw blurRad="38100" dist="38100" dir="2700000" algn="tl">
                  <a:srgbClr val="C0C0C0"/>
                </a:outerShdw>
              </a:effectLst>
              <a:sym typeface="+mn-ea"/>
            </a:endParaRPr>
          </a:p>
          <a:p>
            <a:pPr marL="0"/>
            <a:r>
              <a:rPr lang="en-US" altLang="zh-CN" sz="1600" noProof="1" smtClean="0">
                <a:latin typeface="新宋体" pitchFamily="49" charset="-122"/>
                <a:ea typeface="新宋体" pitchFamily="49" charset="-122"/>
                <a:sym typeface="+mn-ea"/>
              </a:rPr>
              <a:t>    </a:t>
            </a:r>
            <a:r>
              <a:rPr lang="zh-CN" altLang="en-US" sz="1600" noProof="1" smtClean="0">
                <a:ea typeface="等线" panose="02010600030101010101" pitchFamily="2" charset="-122"/>
                <a:sym typeface="+mn-ea"/>
              </a:rPr>
              <a:t>2014年，信用卡互联网</a:t>
            </a:r>
            <a:r>
              <a:rPr lang="zh-CN" altLang="en-US" sz="1600" noProof="1">
                <a:ea typeface="等线" panose="02010600030101010101" pitchFamily="2" charset="-122"/>
                <a:sym typeface="+mn-ea"/>
              </a:rPr>
              <a:t>欺诈损失金额为2245.4万元，比上年增长59.1%</a:t>
            </a:r>
            <a:r>
              <a:rPr lang="zh-CN" altLang="en-US" sz="1600" noProof="1" smtClean="0">
                <a:ea typeface="等线" panose="02010600030101010101" pitchFamily="2" charset="-122"/>
                <a:sym typeface="+mn-ea"/>
              </a:rPr>
              <a:t>；互联网</a:t>
            </a:r>
            <a:r>
              <a:rPr lang="zh-CN" altLang="en-US" sz="1600" noProof="1">
                <a:ea typeface="等线" panose="02010600030101010101" pitchFamily="2" charset="-122"/>
                <a:sym typeface="+mn-ea"/>
              </a:rPr>
              <a:t>欺诈损失占</a:t>
            </a:r>
            <a:r>
              <a:rPr lang="zh-CN" altLang="en-US" sz="1600" noProof="1" smtClean="0">
                <a:ea typeface="等线" panose="02010600030101010101" pitchFamily="2" charset="-122"/>
                <a:sym typeface="+mn-ea"/>
              </a:rPr>
              <a:t>比为14</a:t>
            </a:r>
            <a:r>
              <a:rPr lang="zh-CN" altLang="en-US" sz="1600" noProof="1">
                <a:ea typeface="等线" panose="02010600030101010101" pitchFamily="2" charset="-122"/>
                <a:sym typeface="+mn-ea"/>
              </a:rPr>
              <a:t>.8%，比上年增长4个百分点。</a:t>
            </a:r>
            <a:endParaRPr lang="zh-CN" altLang="en-US" sz="1600" noProof="1">
              <a:sym typeface="+mn-ea"/>
            </a:endParaRPr>
          </a:p>
          <a:p>
            <a:endParaRPr lang="zh-CN" altLang="en-US" sz="1600" noProof="1">
              <a:sym typeface="+mn-ea"/>
            </a:endParaRPr>
          </a:p>
          <a:p>
            <a:pPr algn="r">
              <a:buFont typeface="Arial" pitchFamily="34" charset="0"/>
              <a:buNone/>
            </a:pPr>
            <a:r>
              <a:rPr lang="zh-CN" altLang="zh-CN" sz="1600" noProof="1">
                <a:ea typeface="等线" panose="02010600030101010101" pitchFamily="2" charset="-122"/>
                <a:sym typeface="+mn-ea"/>
              </a:rPr>
              <a:t>——</a:t>
            </a:r>
            <a:r>
              <a:rPr lang="zh-CN" altLang="en-US" sz="1600" i="1" noProof="1">
                <a:ea typeface="等线" panose="02010600030101010101" pitchFamily="2" charset="-122"/>
                <a:sym typeface="+mn-ea"/>
              </a:rPr>
              <a:t>《中国信用卡产业发展蓝皮书》 </a:t>
            </a:r>
            <a:r>
              <a:rPr lang="zh-CN" altLang="zh-CN" sz="1600" i="1" noProof="1">
                <a:ea typeface="等线" panose="02010600030101010101" pitchFamily="2" charset="-122"/>
                <a:sym typeface="+mn-ea"/>
              </a:rPr>
              <a:t>(2014)</a:t>
            </a:r>
            <a:endParaRPr lang="zh-CN" altLang="en-US" sz="1600" noProof="1">
              <a:sym typeface="+mn-ea"/>
            </a:endParaRPr>
          </a:p>
        </p:txBody>
      </p:sp>
    </p:spTree>
    <p:extLst>
      <p:ext uri="{BB962C8B-B14F-4D97-AF65-F5344CB8AC3E}">
        <p14:creationId xmlns="" xmlns:p14="http://schemas.microsoft.com/office/powerpoint/2010/main" val="37471402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 name="文本框 7"/>
          <p:cNvSpPr txBox="1"/>
          <p:nvPr/>
        </p:nvSpPr>
        <p:spPr>
          <a:xfrm>
            <a:off x="317010" y="1171538"/>
            <a:ext cx="5479125" cy="461665"/>
          </a:xfrm>
          <a:prstGeom prst="rect">
            <a:avLst/>
          </a:prstGeom>
          <a:noFill/>
        </p:spPr>
        <p:txBody>
          <a:bodyPr wrap="squar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zh-CN" altLang="en-US" sz="2400" b="1" noProof="1" smtClean="0">
                <a:effectLst>
                  <a:outerShdw blurRad="38100" dist="38100" dir="2700000" algn="tl">
                    <a:srgbClr val="C0C0C0"/>
                  </a:outerShdw>
                </a:effectLst>
                <a:ea typeface="等线" panose="02010600030101010101" pitchFamily="2" charset="-122"/>
              </a:rPr>
              <a:t>世界各地信用卡交易欺诈</a:t>
            </a:r>
            <a:r>
              <a:rPr lang="zh-CN" altLang="en-US" sz="2400" b="1" noProof="1">
                <a:effectLst>
                  <a:outerShdw blurRad="38100" dist="38100" dir="2700000" algn="tl">
                    <a:srgbClr val="C0C0C0"/>
                  </a:outerShdw>
                </a:effectLst>
                <a:ea typeface="等线" panose="02010600030101010101" pitchFamily="2" charset="-122"/>
              </a:rPr>
              <a:t>损失情况</a:t>
            </a:r>
            <a:endParaRPr lang="zh-CN" altLang="zh-CN" sz="2400" b="1" noProof="1">
              <a:effectLst>
                <a:outerShdw blurRad="38100" dist="38100" dir="2700000" algn="tl">
                  <a:srgbClr val="C0C0C0"/>
                </a:outerShdw>
              </a:effectLst>
            </a:endParaRPr>
          </a:p>
        </p:txBody>
      </p:sp>
      <p:sp>
        <p:nvSpPr>
          <p:cNvPr id="10" name="内容占位符 2"/>
          <p:cNvSpPr>
            <a:spLocks noGrp="1"/>
          </p:cNvSpPr>
          <p:nvPr>
            <p:ph idx="1"/>
          </p:nvPr>
        </p:nvSpPr>
        <p:spPr>
          <a:xfrm>
            <a:off x="323361" y="1845583"/>
            <a:ext cx="8472586" cy="4351338"/>
          </a:xfrm>
        </p:spPr>
        <p:txBody>
          <a:bodyPr>
            <a:normAutofit/>
          </a:bodyPr>
          <a:lstStyle/>
          <a:p>
            <a:pPr marL="0" indent="0" eaLnBrk="1" hangingPunct="1">
              <a:buNone/>
            </a:pPr>
            <a:r>
              <a:rPr lang="en-US" altLang="zh-CN" sz="1800" dirty="0" smtClean="0">
                <a:latin typeface="Times New Roman" pitchFamily="18" charset="0"/>
                <a:sym typeface="等线" panose="02010600030101010101" pitchFamily="2" charset="-122"/>
              </a:rPr>
              <a:t>        2012</a:t>
            </a:r>
            <a:r>
              <a:rPr lang="zh-CN" altLang="en-US" sz="1800" dirty="0" smtClean="0">
                <a:latin typeface="Times New Roman" pitchFamily="18" charset="0"/>
                <a:ea typeface="宋体" pitchFamily="2" charset="-122"/>
                <a:sym typeface="等线" panose="02010600030101010101" pitchFamily="2" charset="-122"/>
              </a:rPr>
              <a:t>年，在美国地区，通过网上欺诈的交易金额已经达到了</a:t>
            </a:r>
            <a:r>
              <a:rPr lang="en-US" altLang="zh-CN" sz="1800" dirty="0" smtClean="0">
                <a:latin typeface="Times New Roman" pitchFamily="18" charset="0"/>
                <a:ea typeface="宋体" pitchFamily="2" charset="-122"/>
                <a:sym typeface="等线" panose="02010600030101010101" pitchFamily="2" charset="-122"/>
              </a:rPr>
              <a:t>35</a:t>
            </a:r>
            <a:r>
              <a:rPr lang="zh-CN" altLang="en-US" sz="1800" dirty="0" smtClean="0">
                <a:latin typeface="Times New Roman" pitchFamily="18" charset="0"/>
                <a:ea typeface="宋体" pitchFamily="2" charset="-122"/>
                <a:sym typeface="等线" panose="02010600030101010101" pitchFamily="2" charset="-122"/>
              </a:rPr>
              <a:t>亿美金，相比于</a:t>
            </a:r>
            <a:r>
              <a:rPr lang="en-US" altLang="zh-CN" sz="1800" dirty="0" smtClean="0">
                <a:latin typeface="Times New Roman" pitchFamily="18" charset="0"/>
                <a:ea typeface="宋体" pitchFamily="2" charset="-122"/>
                <a:sym typeface="等线" panose="02010600030101010101" pitchFamily="2" charset="-122"/>
              </a:rPr>
              <a:t>2010</a:t>
            </a:r>
            <a:r>
              <a:rPr lang="zh-CN" altLang="en-US" sz="1800" dirty="0" smtClean="0">
                <a:latin typeface="Times New Roman" pitchFamily="18" charset="0"/>
                <a:ea typeface="宋体" pitchFamily="2" charset="-122"/>
                <a:sym typeface="等线" panose="02010600030101010101" pitchFamily="2" charset="-122"/>
              </a:rPr>
              <a:t>年增加了</a:t>
            </a:r>
            <a:r>
              <a:rPr lang="en-US" altLang="zh-CN" sz="1800" dirty="0" smtClean="0">
                <a:latin typeface="Times New Roman" pitchFamily="18" charset="0"/>
                <a:ea typeface="宋体" pitchFamily="2" charset="-122"/>
                <a:sym typeface="等线" panose="02010600030101010101" pitchFamily="2" charset="-122"/>
              </a:rPr>
              <a:t>30%</a:t>
            </a:r>
            <a:r>
              <a:rPr lang="zh-CN" altLang="en-US" sz="1800" dirty="0" smtClean="0">
                <a:latin typeface="Times New Roman" pitchFamily="18" charset="0"/>
                <a:ea typeface="宋体" pitchFamily="2" charset="-122"/>
                <a:sym typeface="等线" panose="02010600030101010101" pitchFamily="2" charset="-122"/>
              </a:rPr>
              <a:t>。</a:t>
            </a:r>
          </a:p>
          <a:p>
            <a:pPr marL="457200" indent="-457200" algn="r" eaLnBrk="1" hangingPunct="1">
              <a:buFont typeface="Arial" pitchFamily="34" charset="0"/>
              <a:buNone/>
            </a:pPr>
            <a:r>
              <a:rPr lang="en-US" altLang="zh-CN" sz="1800" i="1" dirty="0" smtClean="0">
                <a:latin typeface="Times New Roman" pitchFamily="18" charset="0"/>
                <a:sym typeface="等线" panose="02010600030101010101" pitchFamily="2" charset="-122"/>
              </a:rPr>
              <a:t>——</a:t>
            </a:r>
            <a:r>
              <a:rPr lang="en-US" altLang="zh-CN" sz="1800" i="1" dirty="0" err="1" smtClean="0">
                <a:latin typeface="Times New Roman" pitchFamily="18" charset="0"/>
                <a:sym typeface="等线" panose="02010600030101010101" pitchFamily="2" charset="-122"/>
              </a:rPr>
              <a:t>CyberSource</a:t>
            </a:r>
            <a:r>
              <a:rPr lang="en-US" altLang="zh-CN" sz="1800" i="1" dirty="0" smtClean="0">
                <a:latin typeface="Times New Roman" pitchFamily="18" charset="0"/>
                <a:sym typeface="等线" panose="02010600030101010101" pitchFamily="2" charset="-122"/>
              </a:rPr>
              <a:t> (2013) </a:t>
            </a:r>
          </a:p>
          <a:p>
            <a:pPr marL="457200" indent="-457200" eaLnBrk="1" hangingPunct="1"/>
            <a:endParaRPr lang="en-US" altLang="zh-CN" sz="2000" i="1" dirty="0" smtClean="0">
              <a:latin typeface="Times New Roman" pitchFamily="18" charset="0"/>
              <a:sym typeface="等线" panose="02010600030101010101" pitchFamily="2" charset="-122"/>
            </a:endParaRPr>
          </a:p>
          <a:p>
            <a:pPr marL="0" indent="0" eaLnBrk="1" hangingPunct="1">
              <a:buNone/>
            </a:pPr>
            <a:r>
              <a:rPr lang="en-US" altLang="zh-CN" sz="1800" dirty="0" smtClean="0">
                <a:latin typeface="Times New Roman" pitchFamily="18" charset="0"/>
                <a:sym typeface="等线" panose="02010600030101010101" pitchFamily="2" charset="-122"/>
              </a:rPr>
              <a:t>        2012</a:t>
            </a:r>
            <a:r>
              <a:rPr lang="zh-CN" altLang="en-US" sz="1800" dirty="0" smtClean="0">
                <a:latin typeface="Times New Roman" pitchFamily="18" charset="0"/>
                <a:ea typeface="宋体" pitchFamily="2" charset="-122"/>
                <a:sym typeface="等线" panose="02010600030101010101" pitchFamily="2" charset="-122"/>
              </a:rPr>
              <a:t>年，在欧洲地区，欺诈交易的金额达到了</a:t>
            </a:r>
            <a:r>
              <a:rPr lang="en-US" altLang="zh-CN" sz="1800" dirty="0" smtClean="0">
                <a:latin typeface="Times New Roman" pitchFamily="18" charset="0"/>
                <a:ea typeface="宋体" pitchFamily="2" charset="-122"/>
                <a:sym typeface="等线" panose="02010600030101010101" pitchFamily="2" charset="-122"/>
              </a:rPr>
              <a:t>13.3</a:t>
            </a:r>
            <a:r>
              <a:rPr lang="zh-CN" altLang="en-US" sz="1800" dirty="0" smtClean="0">
                <a:latin typeface="Times New Roman" pitchFamily="18" charset="0"/>
                <a:ea typeface="宋体" pitchFamily="2" charset="-122"/>
                <a:sym typeface="等线" panose="02010600030101010101" pitchFamily="2" charset="-122"/>
              </a:rPr>
              <a:t>亿欧元，相比于</a:t>
            </a:r>
            <a:r>
              <a:rPr lang="en-US" altLang="zh-CN" sz="1800" dirty="0" smtClean="0">
                <a:latin typeface="Times New Roman" pitchFamily="18" charset="0"/>
                <a:ea typeface="宋体" pitchFamily="2" charset="-122"/>
                <a:sym typeface="等线" panose="02010600030101010101" pitchFamily="2" charset="-122"/>
              </a:rPr>
              <a:t>2011</a:t>
            </a:r>
            <a:r>
              <a:rPr lang="zh-CN" altLang="en-US" sz="1800" dirty="0" smtClean="0">
                <a:latin typeface="Times New Roman" pitchFamily="18" charset="0"/>
                <a:ea typeface="宋体" pitchFamily="2" charset="-122"/>
                <a:sym typeface="等线" panose="02010600030101010101" pitchFamily="2" charset="-122"/>
              </a:rPr>
              <a:t>年增加了</a:t>
            </a:r>
            <a:r>
              <a:rPr lang="en-US" altLang="zh-CN" sz="1800" dirty="0" smtClean="0">
                <a:latin typeface="Times New Roman" pitchFamily="18" charset="0"/>
                <a:ea typeface="宋体" pitchFamily="2" charset="-122"/>
                <a:sym typeface="等线" panose="02010600030101010101" pitchFamily="2" charset="-122"/>
              </a:rPr>
              <a:t>14.8%</a:t>
            </a:r>
            <a:r>
              <a:rPr lang="zh-CN" altLang="en-US" sz="1800" dirty="0" smtClean="0">
                <a:latin typeface="Times New Roman" pitchFamily="18" charset="0"/>
                <a:ea typeface="宋体" pitchFamily="2" charset="-122"/>
                <a:sym typeface="等线" panose="02010600030101010101" pitchFamily="2" charset="-122"/>
              </a:rPr>
              <a:t>。其中，通过非传统渠道（移动支付，网络支付）的交易占比</a:t>
            </a:r>
            <a:r>
              <a:rPr lang="en-US" altLang="zh-CN" sz="1800" dirty="0" smtClean="0">
                <a:latin typeface="Times New Roman" pitchFamily="18" charset="0"/>
                <a:ea typeface="宋体" pitchFamily="2" charset="-122"/>
                <a:sym typeface="等线" panose="02010600030101010101" pitchFamily="2" charset="-122"/>
              </a:rPr>
              <a:t>60%</a:t>
            </a:r>
            <a:r>
              <a:rPr lang="zh-CN" altLang="en-US" sz="1800" dirty="0" smtClean="0">
                <a:latin typeface="Times New Roman" pitchFamily="18" charset="0"/>
                <a:ea typeface="宋体" pitchFamily="2" charset="-122"/>
                <a:sym typeface="等线" panose="02010600030101010101" pitchFamily="2" charset="-122"/>
              </a:rPr>
              <a:t>，在</a:t>
            </a:r>
            <a:r>
              <a:rPr lang="en-US" altLang="zh-CN" sz="1800" dirty="0" smtClean="0">
                <a:latin typeface="Times New Roman" pitchFamily="18" charset="0"/>
                <a:ea typeface="宋体" pitchFamily="2" charset="-122"/>
                <a:sym typeface="等线" panose="02010600030101010101" pitchFamily="2" charset="-122"/>
              </a:rPr>
              <a:t>2008</a:t>
            </a:r>
            <a:r>
              <a:rPr lang="zh-CN" altLang="en-US" sz="1800" dirty="0" smtClean="0">
                <a:latin typeface="Times New Roman" pitchFamily="18" charset="0"/>
                <a:ea typeface="宋体" pitchFamily="2" charset="-122"/>
                <a:sym typeface="等线" panose="02010600030101010101" pitchFamily="2" charset="-122"/>
              </a:rPr>
              <a:t>年占比</a:t>
            </a:r>
            <a:r>
              <a:rPr lang="en-US" altLang="zh-CN" sz="1800" dirty="0" smtClean="0">
                <a:latin typeface="Times New Roman" pitchFamily="18" charset="0"/>
                <a:ea typeface="宋体" pitchFamily="2" charset="-122"/>
                <a:sym typeface="等线" panose="02010600030101010101" pitchFamily="2" charset="-122"/>
              </a:rPr>
              <a:t>48%</a:t>
            </a:r>
            <a:r>
              <a:rPr lang="zh-CN" altLang="en-US" sz="1800" dirty="0" smtClean="0">
                <a:latin typeface="Times New Roman" pitchFamily="18" charset="0"/>
                <a:ea typeface="宋体" pitchFamily="2" charset="-122"/>
                <a:sym typeface="等线" panose="02010600030101010101" pitchFamily="2" charset="-122"/>
              </a:rPr>
              <a:t>。</a:t>
            </a:r>
          </a:p>
          <a:p>
            <a:pPr marL="457200" indent="-457200" algn="r" eaLnBrk="1" hangingPunct="1">
              <a:buFont typeface="Arial" pitchFamily="34" charset="0"/>
              <a:buNone/>
            </a:pPr>
            <a:r>
              <a:rPr lang="en-US" altLang="zh-CN" sz="1800" i="1" dirty="0" smtClean="0">
                <a:latin typeface="Times New Roman" pitchFamily="18" charset="0"/>
                <a:sym typeface="等线" panose="02010600030101010101" pitchFamily="2" charset="-122"/>
              </a:rPr>
              <a:t>——European Central Bank (2014)</a:t>
            </a:r>
          </a:p>
          <a:p>
            <a:pPr marL="457200" indent="-457200" eaLnBrk="1" hangingPunct="1"/>
            <a:endParaRPr lang="en-US" altLang="zh-CN" sz="1800" i="1" dirty="0" smtClean="0">
              <a:latin typeface="Times New Roman" pitchFamily="18" charset="0"/>
              <a:sym typeface="等线" panose="02010600030101010101" pitchFamily="2" charset="-122"/>
            </a:endParaRPr>
          </a:p>
        </p:txBody>
      </p:sp>
    </p:spTree>
    <p:extLst>
      <p:ext uri="{BB962C8B-B14F-4D97-AF65-F5344CB8AC3E}">
        <p14:creationId xmlns="" xmlns:p14="http://schemas.microsoft.com/office/powerpoint/2010/main" val="9083664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 name="文本框 7"/>
          <p:cNvSpPr txBox="1"/>
          <p:nvPr/>
        </p:nvSpPr>
        <p:spPr>
          <a:xfrm>
            <a:off x="317010" y="1171538"/>
            <a:ext cx="5479125" cy="461665"/>
          </a:xfrm>
          <a:prstGeom prst="rect">
            <a:avLst/>
          </a:prstGeom>
          <a:noFill/>
        </p:spPr>
        <p:txBody>
          <a:bodyPr wrap="squar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zh-CN" altLang="en-US" sz="2400" b="1" noProof="1">
                <a:effectLst>
                  <a:outerShdw blurRad="38100" dist="38100" dir="2700000" algn="tl">
                    <a:srgbClr val="C0C0C0"/>
                  </a:outerShdw>
                </a:effectLst>
                <a:ea typeface="等线" panose="02010600030101010101" pitchFamily="2" charset="-122"/>
              </a:rPr>
              <a:t>信用卡反欺诈的方法演变</a:t>
            </a:r>
            <a:endParaRPr lang="zh-CN" altLang="zh-CN" sz="2400" b="1" noProof="1">
              <a:effectLst>
                <a:outerShdw blurRad="38100" dist="38100" dir="2700000" algn="tl">
                  <a:srgbClr val="C0C0C0"/>
                </a:outerShdw>
              </a:effectLst>
            </a:endParaRPr>
          </a:p>
        </p:txBody>
      </p:sp>
      <p:sp>
        <p:nvSpPr>
          <p:cNvPr id="9" name="内容占位符 2"/>
          <p:cNvSpPr>
            <a:spLocks noGrp="1"/>
          </p:cNvSpPr>
          <p:nvPr>
            <p:ph idx="1"/>
          </p:nvPr>
        </p:nvSpPr>
        <p:spPr>
          <a:xfrm>
            <a:off x="317010" y="1988840"/>
            <a:ext cx="4398962" cy="3672408"/>
          </a:xfrm>
        </p:spPr>
        <p:txBody>
          <a:bodyPr/>
          <a:lstStyle/>
          <a:p>
            <a:pPr marL="457200" indent="-457200" eaLnBrk="1" hangingPunct="1">
              <a:spcBef>
                <a:spcPts val="0"/>
              </a:spcBef>
            </a:pPr>
            <a:r>
              <a:rPr lang="zh-CN" altLang="zh-CN" sz="2000" b="1" dirty="0" smtClean="0">
                <a:latin typeface="Times New Roman" pitchFamily="18" charset="0"/>
                <a:ea typeface="宋体" pitchFamily="2" charset="-122"/>
                <a:cs typeface="Times New Roman" pitchFamily="18" charset="0"/>
              </a:rPr>
              <a:t>预防欺诈</a:t>
            </a:r>
          </a:p>
          <a:p>
            <a:pPr marL="457200" lvl="1" indent="0" eaLnBrk="1" hangingPunct="1">
              <a:spcBef>
                <a:spcPts val="1000"/>
              </a:spcBef>
              <a:buFont typeface="Arial" pitchFamily="34" charset="0"/>
              <a:buNone/>
            </a:pPr>
            <a:r>
              <a:rPr lang="zh-CN" altLang="zh-CN" sz="1600" dirty="0" smtClean="0">
                <a:latin typeface="Times New Roman" pitchFamily="18" charset="0"/>
                <a:ea typeface="宋体" pitchFamily="2" charset="-122"/>
                <a:cs typeface="Times New Roman" pitchFamily="18" charset="0"/>
              </a:rPr>
              <a:t>人工复审</a:t>
            </a:r>
          </a:p>
          <a:p>
            <a:pPr marL="457200" lvl="1" indent="0" eaLnBrk="1" hangingPunct="1">
              <a:spcBef>
                <a:spcPts val="1000"/>
              </a:spcBef>
              <a:buFont typeface="Arial" pitchFamily="34" charset="0"/>
              <a:buNone/>
            </a:pPr>
            <a:r>
              <a:rPr lang="en-US" altLang="zh-CN" sz="1600" dirty="0" smtClean="0">
                <a:latin typeface="Times New Roman" pitchFamily="18" charset="0"/>
                <a:ea typeface="宋体" pitchFamily="2" charset="-122"/>
                <a:cs typeface="Times New Roman" pitchFamily="18" charset="0"/>
                <a:sym typeface="+mn-ea"/>
              </a:rPr>
              <a:t>PIN</a:t>
            </a:r>
            <a:r>
              <a:rPr lang="zh-CN" altLang="en-US" sz="1600" dirty="0" smtClean="0">
                <a:latin typeface="Times New Roman" pitchFamily="18" charset="0"/>
                <a:ea typeface="宋体" pitchFamily="2" charset="-122"/>
                <a:cs typeface="Times New Roman" pitchFamily="18" charset="0"/>
                <a:sym typeface="+mn-ea"/>
              </a:rPr>
              <a:t>码（</a:t>
            </a:r>
            <a:r>
              <a:rPr lang="en-US" altLang="zh-CN" sz="1600" dirty="0" smtClean="0">
                <a:latin typeface="Times New Roman" pitchFamily="18" charset="0"/>
                <a:ea typeface="宋体" pitchFamily="2" charset="-122"/>
                <a:cs typeface="Times New Roman" pitchFamily="18" charset="0"/>
                <a:sym typeface="+mn-ea"/>
              </a:rPr>
              <a:t>Personal Identification Number</a:t>
            </a:r>
            <a:r>
              <a:rPr lang="zh-CN" altLang="en-US" sz="1600" dirty="0" smtClean="0">
                <a:latin typeface="Times New Roman" pitchFamily="18" charset="0"/>
                <a:ea typeface="宋体" pitchFamily="2" charset="-122"/>
                <a:cs typeface="Times New Roman" pitchFamily="18" charset="0"/>
                <a:sym typeface="+mn-ea"/>
              </a:rPr>
              <a:t>）</a:t>
            </a:r>
            <a:endParaRPr lang="zh-CN" altLang="en-US" sz="1800" dirty="0" smtClean="0">
              <a:latin typeface="Times New Roman" pitchFamily="18" charset="0"/>
              <a:ea typeface="宋体" pitchFamily="2" charset="-122"/>
              <a:cs typeface="Times New Roman" pitchFamily="18" charset="0"/>
              <a:sym typeface="+mn-ea"/>
            </a:endParaRPr>
          </a:p>
          <a:p>
            <a:pPr marL="457200" lvl="1" indent="0" eaLnBrk="1" hangingPunct="1">
              <a:spcBef>
                <a:spcPts val="1000"/>
              </a:spcBef>
              <a:buFont typeface="Arial" pitchFamily="34" charset="0"/>
              <a:buNone/>
            </a:pPr>
            <a:r>
              <a:rPr lang="zh-CN" altLang="en-US" sz="1600" dirty="0" smtClean="0">
                <a:latin typeface="Times New Roman" pitchFamily="18" charset="0"/>
                <a:ea typeface="宋体" pitchFamily="2" charset="-122"/>
                <a:cs typeface="Times New Roman" pitchFamily="18" charset="0"/>
              </a:rPr>
              <a:t>地址验证系统（</a:t>
            </a:r>
            <a:r>
              <a:rPr lang="en-US" altLang="zh-CN" sz="1600" dirty="0" smtClean="0">
                <a:latin typeface="Times New Roman" pitchFamily="18" charset="0"/>
                <a:ea typeface="宋体" pitchFamily="2" charset="-122"/>
                <a:cs typeface="Times New Roman" pitchFamily="18" charset="0"/>
              </a:rPr>
              <a:t>AVS</a:t>
            </a:r>
            <a:r>
              <a:rPr lang="zh-CN" altLang="en-US" sz="1600" dirty="0" smtClean="0">
                <a:latin typeface="Times New Roman" pitchFamily="18" charset="0"/>
                <a:ea typeface="宋体" pitchFamily="2" charset="-122"/>
                <a:cs typeface="Times New Roman" pitchFamily="18" charset="0"/>
              </a:rPr>
              <a:t>）</a:t>
            </a:r>
          </a:p>
          <a:p>
            <a:pPr marL="457200" lvl="1" indent="0" eaLnBrk="1" hangingPunct="1">
              <a:spcBef>
                <a:spcPts val="1000"/>
              </a:spcBef>
              <a:buFont typeface="Arial" pitchFamily="34" charset="0"/>
              <a:buNone/>
            </a:pPr>
            <a:r>
              <a:rPr lang="zh-CN" altLang="en-US" sz="1600" dirty="0" smtClean="0">
                <a:latin typeface="Times New Roman" pitchFamily="18" charset="0"/>
                <a:ea typeface="宋体" pitchFamily="2" charset="-122"/>
                <a:cs typeface="Times New Roman" pitchFamily="18" charset="0"/>
              </a:rPr>
              <a:t>卡号验证机制（</a:t>
            </a:r>
            <a:r>
              <a:rPr lang="en-US" altLang="zh-CN" sz="1600" dirty="0" smtClean="0">
                <a:latin typeface="Times New Roman" pitchFamily="18" charset="0"/>
                <a:ea typeface="宋体" pitchFamily="2" charset="-122"/>
                <a:cs typeface="Times New Roman" pitchFamily="18" charset="0"/>
              </a:rPr>
              <a:t>SVM</a:t>
            </a:r>
            <a:r>
              <a:rPr lang="zh-CN" altLang="en-US" sz="1600" dirty="0" smtClean="0">
                <a:latin typeface="Times New Roman" pitchFamily="18" charset="0"/>
                <a:ea typeface="宋体" pitchFamily="2" charset="-122"/>
                <a:cs typeface="Times New Roman" pitchFamily="18" charset="0"/>
              </a:rPr>
              <a:t>）</a:t>
            </a:r>
          </a:p>
          <a:p>
            <a:pPr marL="457200" lvl="1" indent="0" eaLnBrk="1" hangingPunct="1">
              <a:spcBef>
                <a:spcPts val="1000"/>
              </a:spcBef>
              <a:buFont typeface="Arial" pitchFamily="34" charset="0"/>
              <a:buNone/>
            </a:pPr>
            <a:r>
              <a:rPr lang="zh-CN" altLang="en-US" sz="1600" dirty="0" smtClean="0">
                <a:latin typeface="Times New Roman" pitchFamily="18" charset="0"/>
                <a:ea typeface="宋体" pitchFamily="2" charset="-122"/>
                <a:cs typeface="Times New Roman" pitchFamily="18" charset="0"/>
              </a:rPr>
              <a:t>信用卡黑名单</a:t>
            </a:r>
          </a:p>
          <a:p>
            <a:pPr marL="457200" lvl="1" indent="0" eaLnBrk="1" hangingPunct="1">
              <a:spcBef>
                <a:spcPts val="1000"/>
              </a:spcBef>
              <a:buFont typeface="Arial" pitchFamily="34" charset="0"/>
              <a:buNone/>
            </a:pPr>
            <a:r>
              <a:rPr lang="zh-CN" altLang="en-US" sz="1600" dirty="0" smtClean="0">
                <a:latin typeface="Times New Roman" pitchFamily="18" charset="0"/>
                <a:ea typeface="宋体" pitchFamily="2" charset="-122"/>
                <a:cs typeface="Times New Roman" pitchFamily="18" charset="0"/>
                <a:sym typeface="+mn-ea"/>
              </a:rPr>
              <a:t>商户黑名单</a:t>
            </a:r>
          </a:p>
          <a:p>
            <a:pPr marL="457200" lvl="1" indent="0" eaLnBrk="1" hangingPunct="1">
              <a:spcBef>
                <a:spcPts val="1000"/>
              </a:spcBef>
              <a:buFont typeface="Arial" pitchFamily="34" charset="0"/>
              <a:buNone/>
            </a:pPr>
            <a:r>
              <a:rPr lang="zh-CN" altLang="en-US" sz="1600" dirty="0" smtClean="0">
                <a:latin typeface="Times New Roman" pitchFamily="18" charset="0"/>
                <a:ea typeface="宋体" pitchFamily="2" charset="-122"/>
                <a:cs typeface="Times New Roman" pitchFamily="18" charset="0"/>
                <a:sym typeface="+mn-ea"/>
              </a:rPr>
              <a:t>生物测定学（指纹，签字，视网膜识别等）</a:t>
            </a:r>
          </a:p>
          <a:p>
            <a:pPr marL="457200" lvl="1" indent="0" eaLnBrk="1" hangingPunct="1">
              <a:spcBef>
                <a:spcPts val="1000"/>
              </a:spcBef>
              <a:buFont typeface="Arial" pitchFamily="34" charset="0"/>
              <a:buNone/>
            </a:pPr>
            <a:r>
              <a:rPr lang="en-US" altLang="zh-CN" sz="1600" dirty="0" smtClean="0">
                <a:latin typeface="Times New Roman" pitchFamily="18" charset="0"/>
                <a:ea typeface="宋体" pitchFamily="2" charset="-122"/>
                <a:cs typeface="Times New Roman" pitchFamily="18" charset="0"/>
              </a:rPr>
              <a:t>Smart Card</a:t>
            </a:r>
          </a:p>
          <a:p>
            <a:pPr marL="457200" indent="-457200" eaLnBrk="1" hangingPunct="1"/>
            <a:endParaRPr lang="zh-CN" altLang="en-US" i="1" dirty="0" smtClean="0">
              <a:latin typeface="Times New Roman" pitchFamily="18" charset="0"/>
              <a:ea typeface="宋体" pitchFamily="2" charset="-122"/>
              <a:cs typeface="Times New Roman" pitchFamily="18" charset="0"/>
            </a:endParaRPr>
          </a:p>
        </p:txBody>
      </p:sp>
      <p:sp>
        <p:nvSpPr>
          <p:cNvPr id="11" name="内容占位符 2"/>
          <p:cNvSpPr>
            <a:spLocks noGrp="1"/>
          </p:cNvSpPr>
          <p:nvPr/>
        </p:nvSpPr>
        <p:spPr bwMode="auto">
          <a:xfrm>
            <a:off x="5076056" y="1988840"/>
            <a:ext cx="4397375"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457200" indent="-457200">
              <a:lnSpc>
                <a:spcPct val="90000"/>
              </a:lnSpc>
              <a:spcBef>
                <a:spcPts val="1000"/>
              </a:spcBef>
              <a:buFont typeface="Arial" pitchFamily="34" charset="0"/>
              <a:buChar char="•"/>
              <a:defRPr sz="2800">
                <a:solidFill>
                  <a:schemeClr val="tx1"/>
                </a:solidFill>
                <a:latin typeface="Calibri" pitchFamily="34" charset="0"/>
                <a:ea typeface="等线" panose="02010600030101010101" pitchFamily="2" charset="-122"/>
              </a:defRPr>
            </a:lvl1pPr>
            <a:lvl2pPr>
              <a:lnSpc>
                <a:spcPct val="90000"/>
              </a:lnSpc>
              <a:spcBef>
                <a:spcPts val="500"/>
              </a:spcBef>
              <a:buFont typeface="Arial" pitchFamily="34" charset="0"/>
              <a:buChar char="•"/>
              <a:defRPr sz="2400">
                <a:solidFill>
                  <a:schemeClr val="tx1"/>
                </a:solidFill>
                <a:latin typeface="Calibri" pitchFamily="34" charset="0"/>
                <a:ea typeface="等线" panose="02010600030101010101"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等线" panose="02010600030101010101"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等线" panose="02010600030101010101"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等线" panose="02010600030101010101" pitchFamily="2" charset="-122"/>
              </a:defRPr>
            </a:lvl9pPr>
          </a:lstStyle>
          <a:p>
            <a:pPr eaLnBrk="1" hangingPunct="1">
              <a:lnSpc>
                <a:spcPct val="100000"/>
              </a:lnSpc>
              <a:spcBef>
                <a:spcPts val="0"/>
              </a:spcBef>
            </a:pPr>
            <a:r>
              <a:rPr lang="zh-CN" altLang="zh-CN" sz="2000" b="1" dirty="0">
                <a:latin typeface="Times New Roman" pitchFamily="18" charset="0"/>
                <a:ea typeface="宋体" pitchFamily="2" charset="-122"/>
                <a:cs typeface="Times New Roman" pitchFamily="18" charset="0"/>
              </a:rPr>
              <a:t>监测欺诈</a:t>
            </a:r>
          </a:p>
          <a:p>
            <a:pPr lvl="1" eaLnBrk="1" hangingPunct="1">
              <a:spcBef>
                <a:spcPts val="1000"/>
              </a:spcBef>
              <a:buFont typeface="Arial" pitchFamily="34" charset="0"/>
              <a:buNone/>
            </a:pPr>
            <a:r>
              <a:rPr lang="zh-CN" altLang="en-US" sz="1600" dirty="0">
                <a:latin typeface="Times New Roman" pitchFamily="18" charset="0"/>
                <a:ea typeface="宋体" pitchFamily="2" charset="-122"/>
                <a:cs typeface="Times New Roman" pitchFamily="18" charset="0"/>
              </a:rPr>
              <a:t>基于规则的专家系统</a:t>
            </a:r>
          </a:p>
          <a:p>
            <a:pPr lvl="1" eaLnBrk="1" hangingPunct="1">
              <a:spcBef>
                <a:spcPts val="1000"/>
              </a:spcBef>
              <a:buFont typeface="Arial" pitchFamily="34" charset="0"/>
              <a:buNone/>
            </a:pPr>
            <a:r>
              <a:rPr lang="zh-CN" altLang="en-US" sz="1600" dirty="0">
                <a:latin typeface="Times New Roman" pitchFamily="18" charset="0"/>
                <a:ea typeface="宋体" pitchFamily="2" charset="-122"/>
                <a:cs typeface="Times New Roman" pitchFamily="18" charset="0"/>
              </a:rPr>
              <a:t>机器学习</a:t>
            </a:r>
            <a:r>
              <a:rPr lang="en-US" altLang="zh-CN" sz="1600" dirty="0">
                <a:latin typeface="Times New Roman" pitchFamily="18" charset="0"/>
                <a:ea typeface="宋体" pitchFamily="2" charset="-122"/>
                <a:cs typeface="Times New Roman" pitchFamily="18" charset="0"/>
              </a:rPr>
              <a:t>/</a:t>
            </a:r>
            <a:r>
              <a:rPr lang="zh-CN" altLang="en-US" sz="1600" dirty="0">
                <a:latin typeface="Times New Roman" pitchFamily="18" charset="0"/>
                <a:ea typeface="宋体" pitchFamily="2" charset="-122"/>
                <a:cs typeface="Times New Roman" pitchFamily="18" charset="0"/>
              </a:rPr>
              <a:t>统计学习</a:t>
            </a:r>
          </a:p>
          <a:p>
            <a:pPr lvl="1" eaLnBrk="1" hangingPunct="1">
              <a:spcBef>
                <a:spcPts val="1000"/>
              </a:spcBef>
              <a:buFont typeface="Arial" pitchFamily="34" charset="0"/>
              <a:buNone/>
            </a:pPr>
            <a:r>
              <a:rPr lang="en-US" altLang="zh-CN" sz="1600" dirty="0">
                <a:latin typeface="Times New Roman" pitchFamily="18" charset="0"/>
                <a:ea typeface="宋体" pitchFamily="2" charset="-122"/>
                <a:cs typeface="Times New Roman" pitchFamily="18" charset="0"/>
              </a:rPr>
              <a:t>......</a:t>
            </a:r>
          </a:p>
          <a:p>
            <a:pPr marL="0" indent="0" eaLnBrk="1" hangingPunct="1">
              <a:buNone/>
            </a:pPr>
            <a:endParaRPr lang="zh-CN" altLang="en-US" sz="1600" dirty="0">
              <a:latin typeface="Times New Roman" pitchFamily="18" charset="0"/>
              <a:ea typeface="宋体" pitchFamily="2" charset="-122"/>
              <a:cs typeface="Times New Roman" pitchFamily="18" charset="0"/>
            </a:endParaRPr>
          </a:p>
          <a:p>
            <a:pPr eaLnBrk="1" hangingPunct="1"/>
            <a:endParaRPr lang="zh-CN" altLang="en-US" i="1" dirty="0">
              <a:latin typeface="Times New Roman" pitchFamily="18" charset="0"/>
              <a:ea typeface="宋体" pitchFamily="2" charset="-122"/>
              <a:cs typeface="Times New Roman" pitchFamily="18" charset="0"/>
            </a:endParaRPr>
          </a:p>
        </p:txBody>
      </p:sp>
    </p:spTree>
    <p:extLst>
      <p:ext uri="{BB962C8B-B14F-4D97-AF65-F5344CB8AC3E}">
        <p14:creationId xmlns="" xmlns:p14="http://schemas.microsoft.com/office/powerpoint/2010/main" val="22619157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 name="文本框 9"/>
          <p:cNvSpPr txBox="1"/>
          <p:nvPr/>
        </p:nvSpPr>
        <p:spPr>
          <a:xfrm>
            <a:off x="311435" y="1124744"/>
            <a:ext cx="8509037" cy="4724370"/>
          </a:xfrm>
          <a:prstGeom prst="rect">
            <a:avLst/>
          </a:prstGeom>
          <a:noFill/>
        </p:spPr>
        <p:txBody>
          <a:bodyPr wrap="square">
            <a:spAutoFit/>
          </a:bodyPr>
          <a:lstStyle/>
          <a:p>
            <a:pPr marL="285750" indent="-285750">
              <a:spcAft>
                <a:spcPts val="600"/>
              </a:spcAft>
              <a:buFont typeface="Arial" pitchFamily="34" charset="0"/>
              <a:buChar char="•"/>
              <a:defRPr/>
            </a:pPr>
            <a:r>
              <a:rPr lang="zh-CN" altLang="en-US" sz="2400" b="1" dirty="0">
                <a:latin typeface="等线" panose="02010600030101010101" pitchFamily="2" charset="-122"/>
                <a:ea typeface="等线" panose="02010600030101010101" pitchFamily="2" charset="-122"/>
              </a:rPr>
              <a:t>信用卡反欺诈面临的问题和挑战</a:t>
            </a:r>
            <a:r>
              <a:rPr lang="zh-CN" altLang="en-US" sz="2400" b="1" dirty="0" smtClean="0">
                <a:latin typeface="等线" panose="02010600030101010101" pitchFamily="2" charset="-122"/>
                <a:ea typeface="等线" panose="02010600030101010101" pitchFamily="2" charset="-122"/>
              </a:rPr>
              <a:t>：</a:t>
            </a:r>
            <a:endParaRPr lang="en-US" altLang="zh-CN" sz="2400" b="1" dirty="0" smtClean="0">
              <a:latin typeface="等线" panose="02010600030101010101" pitchFamily="2" charset="-122"/>
              <a:ea typeface="等线" panose="02010600030101010101" pitchFamily="2" charset="-122"/>
            </a:endParaRPr>
          </a:p>
          <a:p>
            <a:pPr>
              <a:lnSpc>
                <a:spcPct val="150000"/>
              </a:lnSpc>
              <a:defRPr/>
            </a:pPr>
            <a:r>
              <a:rPr lang="en-US" altLang="zh-CN" sz="1600" b="1" dirty="0" smtClean="0"/>
              <a:t>1. </a:t>
            </a:r>
            <a:r>
              <a:rPr lang="zh-CN" altLang="en-US" sz="1600" b="1" dirty="0" smtClean="0"/>
              <a:t>不平衡数据：</a:t>
            </a:r>
          </a:p>
          <a:p>
            <a:pPr>
              <a:lnSpc>
                <a:spcPct val="150000"/>
              </a:lnSpc>
              <a:defRPr/>
            </a:pPr>
            <a:r>
              <a:rPr lang="en-US" altLang="zh-CN" sz="1600" dirty="0" smtClean="0"/>
              <a:t>	</a:t>
            </a:r>
            <a:r>
              <a:rPr lang="zh-CN" altLang="en-US" sz="1600" dirty="0" smtClean="0"/>
              <a:t>欺诈交易相比于正常交易来说，量非常小，一般来说，欺诈率小于</a:t>
            </a:r>
            <a:r>
              <a:rPr lang="en-US" altLang="zh-CN" sz="1600" dirty="0" smtClean="0"/>
              <a:t>0.1%-0.2%</a:t>
            </a:r>
            <a:r>
              <a:rPr lang="zh-CN" altLang="en-US" sz="1600" dirty="0" smtClean="0"/>
              <a:t>。</a:t>
            </a:r>
            <a:endParaRPr lang="en-US" altLang="zh-CN" sz="1600" dirty="0" smtClean="0"/>
          </a:p>
          <a:p>
            <a:pPr>
              <a:lnSpc>
                <a:spcPct val="150000"/>
              </a:lnSpc>
              <a:defRPr/>
            </a:pPr>
            <a:r>
              <a:rPr lang="en-US" altLang="zh-CN" sz="1600" b="1" dirty="0" smtClean="0"/>
              <a:t>2.  </a:t>
            </a:r>
            <a:r>
              <a:rPr lang="zh-CN" altLang="en-US" sz="1600" b="1" dirty="0" smtClean="0"/>
              <a:t>标签缺失：</a:t>
            </a:r>
          </a:p>
          <a:p>
            <a:pPr>
              <a:lnSpc>
                <a:spcPct val="150000"/>
              </a:lnSpc>
              <a:defRPr/>
            </a:pPr>
            <a:r>
              <a:rPr lang="en-US" altLang="zh-CN" sz="1600" dirty="0" smtClean="0"/>
              <a:t>	</a:t>
            </a:r>
            <a:r>
              <a:rPr lang="zh-CN" altLang="en-US" sz="1600" dirty="0" smtClean="0"/>
              <a:t>由于欺诈定义和欺诈发现延迟的问题，欺诈标签可能出现误打或者缺失的情况。</a:t>
            </a:r>
          </a:p>
          <a:p>
            <a:pPr>
              <a:lnSpc>
                <a:spcPct val="150000"/>
              </a:lnSpc>
              <a:defRPr/>
            </a:pPr>
            <a:r>
              <a:rPr lang="en-US" altLang="zh-CN" sz="1600" b="1" dirty="0" smtClean="0"/>
              <a:t>3.  </a:t>
            </a:r>
            <a:r>
              <a:rPr lang="zh-CN" altLang="en-US" sz="1600" b="1" dirty="0" smtClean="0"/>
              <a:t>欺诈模式更新</a:t>
            </a:r>
          </a:p>
          <a:p>
            <a:pPr>
              <a:lnSpc>
                <a:spcPct val="150000"/>
              </a:lnSpc>
              <a:defRPr/>
            </a:pPr>
            <a:r>
              <a:rPr lang="en-US" altLang="zh-CN" sz="1600" dirty="0" smtClean="0"/>
              <a:t>	</a:t>
            </a:r>
            <a:r>
              <a:rPr lang="zh-CN" altLang="en-US" sz="1600" dirty="0" smtClean="0"/>
              <a:t>欺诈者在不断更新自己的欺诈模式，因此欺诈模型需要不断更新。</a:t>
            </a:r>
            <a:endParaRPr lang="en-US" altLang="zh-CN" sz="1600" dirty="0" smtClean="0"/>
          </a:p>
          <a:p>
            <a:pPr>
              <a:lnSpc>
                <a:spcPct val="150000"/>
              </a:lnSpc>
              <a:defRPr/>
            </a:pPr>
            <a:r>
              <a:rPr lang="en-US" altLang="zh-CN" sz="1600" b="1" dirty="0" smtClean="0"/>
              <a:t>4.  </a:t>
            </a:r>
            <a:r>
              <a:rPr lang="zh-CN" altLang="en-US" sz="1600" b="1" dirty="0" smtClean="0"/>
              <a:t>实时反欺诈的需求</a:t>
            </a:r>
          </a:p>
          <a:p>
            <a:pPr>
              <a:lnSpc>
                <a:spcPct val="150000"/>
              </a:lnSpc>
              <a:defRPr/>
            </a:pPr>
            <a:r>
              <a:rPr lang="en-US" altLang="zh-CN" sz="1600" dirty="0" smtClean="0"/>
              <a:t>	</a:t>
            </a:r>
            <a:r>
              <a:rPr lang="zh-CN" altLang="en-US" sz="1600" dirty="0" smtClean="0"/>
              <a:t>由于信用卡交易量大，实时侦测欺诈交易非常困难，但是对于用户来说也非常重要。</a:t>
            </a:r>
            <a:endParaRPr lang="en-US" altLang="zh-CN" sz="1600" dirty="0" smtClean="0"/>
          </a:p>
          <a:p>
            <a:pPr>
              <a:lnSpc>
                <a:spcPct val="150000"/>
              </a:lnSpc>
              <a:defRPr/>
            </a:pPr>
            <a:r>
              <a:rPr lang="en-US" altLang="zh-CN" sz="1600" b="1" dirty="0" smtClean="0"/>
              <a:t>5. </a:t>
            </a:r>
            <a:r>
              <a:rPr lang="zh-CN" altLang="en-US" sz="1600" b="1" dirty="0" smtClean="0"/>
              <a:t>真实数据难以获取</a:t>
            </a:r>
            <a:endParaRPr lang="en-US" altLang="zh-CN" sz="1600" b="1" dirty="0" smtClean="0"/>
          </a:p>
          <a:p>
            <a:pPr>
              <a:lnSpc>
                <a:spcPct val="150000"/>
              </a:lnSpc>
              <a:defRPr/>
            </a:pPr>
            <a:r>
              <a:rPr lang="en-US" altLang="zh-CN" sz="1600" dirty="0" smtClean="0"/>
              <a:t>	</a:t>
            </a:r>
            <a:r>
              <a:rPr lang="zh-CN" altLang="en-US" sz="1600" dirty="0" smtClean="0"/>
              <a:t>信用卡交易和欺诈数据属于商业机密数据，在学术界难以获取。</a:t>
            </a:r>
            <a:endParaRPr lang="en-US" altLang="zh-CN" sz="1600" dirty="0" smtClean="0"/>
          </a:p>
          <a:p>
            <a:pPr algn="r">
              <a:lnSpc>
                <a:spcPct val="200000"/>
              </a:lnSpc>
              <a:defRPr/>
            </a:pPr>
            <a:r>
              <a:rPr lang="en-US" altLang="zh-CN" sz="1600" i="1" dirty="0" smtClean="0"/>
              <a:t>——</a:t>
            </a:r>
            <a:r>
              <a:rPr lang="en-US" altLang="zh-CN" sz="1600" i="1" dirty="0"/>
              <a:t>Krivko, M. (2010)</a:t>
            </a:r>
          </a:p>
        </p:txBody>
      </p:sp>
    </p:spTree>
    <p:extLst>
      <p:ext uri="{BB962C8B-B14F-4D97-AF65-F5344CB8AC3E}">
        <p14:creationId xmlns="" xmlns:p14="http://schemas.microsoft.com/office/powerpoint/2010/main" val="39224298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2" name="矩形 1"/>
          <p:cNvSpPr>
            <a:spLocks noChangeArrowheads="1"/>
          </p:cNvSpPr>
          <p:nvPr/>
        </p:nvSpPr>
        <p:spPr bwMode="auto">
          <a:xfrm>
            <a:off x="191074" y="1097990"/>
            <a:ext cx="7967980" cy="10210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indent="0">
              <a:spcAft>
                <a:spcPts val="600"/>
              </a:spcAft>
            </a:pPr>
            <a:r>
              <a:rPr lang="en-US" altLang="zh-CN" sz="2000" b="1" dirty="0" smtClean="0">
                <a:latin typeface="Times New Roman" pitchFamily="18" charset="0"/>
                <a:cs typeface="Times New Roman" pitchFamily="18" charset="0"/>
              </a:rPr>
              <a:t>Our Innovation :</a:t>
            </a:r>
          </a:p>
          <a:p>
            <a:pPr>
              <a:buFont typeface="Arial" pitchFamily="34" charset="0"/>
              <a:buChar char="•"/>
            </a:pPr>
            <a:r>
              <a:rPr lang="en-US" altLang="zh-CN" dirty="0" smtClean="0">
                <a:latin typeface="Times New Roman" pitchFamily="18" charset="0"/>
                <a:cs typeface="Times New Roman" pitchFamily="18" charset="0"/>
              </a:rPr>
              <a:t>Feature </a:t>
            </a:r>
            <a:r>
              <a:rPr lang="en-US" altLang="zh-CN" dirty="0">
                <a:latin typeface="Times New Roman" pitchFamily="18" charset="0"/>
                <a:cs typeface="Times New Roman" pitchFamily="18" charset="0"/>
              </a:rPr>
              <a:t>Engineering based on Homogeneity-Oriented Behavior Analysis (HOBA</a:t>
            </a:r>
            <a:r>
              <a:rPr lang="en-US" altLang="zh-CN" dirty="0" smtClean="0">
                <a:latin typeface="Times New Roman" pitchFamily="18" charset="0"/>
                <a:cs typeface="Times New Roman" pitchFamily="18" charset="0"/>
              </a:rPr>
              <a:t>)</a:t>
            </a:r>
          </a:p>
          <a:p>
            <a:pPr>
              <a:buFont typeface="Arial" pitchFamily="34" charset="0"/>
              <a:buChar char="•"/>
            </a:pPr>
            <a:r>
              <a:rPr lang="en-US" altLang="zh-CN" dirty="0" smtClean="0">
                <a:latin typeface="Times New Roman" pitchFamily="18" charset="0"/>
                <a:cs typeface="Times New Roman" pitchFamily="18" charset="0"/>
              </a:rPr>
              <a:t>Deep </a:t>
            </a:r>
            <a:r>
              <a:rPr lang="en-US" altLang="zh-CN" dirty="0">
                <a:latin typeface="Times New Roman" pitchFamily="18" charset="0"/>
                <a:cs typeface="Times New Roman" pitchFamily="18" charset="0"/>
              </a:rPr>
              <a:t>belief network (</a:t>
            </a:r>
            <a:r>
              <a:rPr lang="en-US" altLang="zh-CN" dirty="0" smtClean="0">
                <a:latin typeface="Times New Roman" pitchFamily="18" charset="0"/>
                <a:cs typeface="Times New Roman" pitchFamily="18" charset="0"/>
              </a:rPr>
              <a:t>DBN) for Credit card fraud detection</a:t>
            </a:r>
            <a:endParaRPr lang="en-US" altLang="zh-CN" dirty="0">
              <a:latin typeface="Times New Roman" pitchFamily="18" charset="0"/>
              <a:cs typeface="Times New Roman" pitchFamily="18" charset="0"/>
            </a:endParaRPr>
          </a:p>
        </p:txBody>
      </p:sp>
      <p:pic>
        <p:nvPicPr>
          <p:cNvPr id="13" name="图片 5" descr="DBN-DNN Fraud Detection 0126"/>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467544" y="2741328"/>
            <a:ext cx="8214061" cy="35616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椭圆 13"/>
          <p:cNvSpPr/>
          <p:nvPr/>
        </p:nvSpPr>
        <p:spPr>
          <a:xfrm>
            <a:off x="2195736" y="4653136"/>
            <a:ext cx="1724881" cy="141089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矩形 1"/>
          <p:cNvSpPr/>
          <p:nvPr/>
        </p:nvSpPr>
        <p:spPr>
          <a:xfrm>
            <a:off x="216024" y="2318311"/>
            <a:ext cx="4146071" cy="400110"/>
          </a:xfrm>
          <a:prstGeom prst="rect">
            <a:avLst/>
          </a:prstGeom>
        </p:spPr>
        <p:txBody>
          <a:bodyPr wrap="none">
            <a:spAutoFit/>
          </a:bodyPr>
          <a:lstStyle/>
          <a:p>
            <a:r>
              <a:rPr lang="en-US" altLang="zh-CN" sz="2000" b="1" dirty="0" smtClean="0">
                <a:latin typeface="Times New Roman" pitchFamily="18" charset="0"/>
                <a:cs typeface="Times New Roman" pitchFamily="18" charset="0"/>
              </a:rPr>
              <a:t>Credit card fraud detection process:</a:t>
            </a:r>
            <a:endParaRPr lang="en-US" altLang="zh-C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31056851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矩形 1"/>
          <p:cNvSpPr>
            <a:spLocks noChangeArrowheads="1"/>
          </p:cNvSpPr>
          <p:nvPr/>
        </p:nvSpPr>
        <p:spPr bwMode="auto">
          <a:xfrm>
            <a:off x="78374" y="1391075"/>
            <a:ext cx="847353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en-US" altLang="zh-CN" b="1" dirty="0">
                <a:latin typeface="Times New Roman" pitchFamily="18" charset="0"/>
                <a:cs typeface="Times New Roman" pitchFamily="18" charset="0"/>
              </a:rPr>
              <a:t>Feature Engineering based on Homogeneity-Oriented Behavior Analysis (HOBA)</a:t>
            </a:r>
            <a:endParaRPr lang="zh-CN" altLang="en-US" sz="2000" b="1" dirty="0">
              <a:latin typeface="Times New Roman" pitchFamily="18" charset="0"/>
              <a:cs typeface="Times New Roman" pitchFamily="18" charset="0"/>
            </a:endParaRPr>
          </a:p>
        </p:txBody>
      </p:sp>
      <p:sp>
        <p:nvSpPr>
          <p:cNvPr id="10" name="矩形 3"/>
          <p:cNvSpPr>
            <a:spLocks noChangeArrowheads="1"/>
          </p:cNvSpPr>
          <p:nvPr/>
        </p:nvSpPr>
        <p:spPr bwMode="auto">
          <a:xfrm>
            <a:off x="390496" y="1895929"/>
            <a:ext cx="8388423" cy="1077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1600" dirty="0">
                <a:latin typeface="Times New Roman" pitchFamily="18" charset="0"/>
                <a:cs typeface="Times New Roman" pitchFamily="18" charset="0"/>
              </a:rPr>
              <a:t>Aggregation characteristic——</a:t>
            </a:r>
            <a:r>
              <a:rPr lang="zh-CN" altLang="en-US" sz="1600" dirty="0">
                <a:latin typeface="Times New Roman" pitchFamily="18" charset="0"/>
                <a:cs typeface="Times New Roman" pitchFamily="18" charset="0"/>
              </a:rPr>
              <a:t>聚合交易类型（消费，取现，转账等）</a:t>
            </a:r>
            <a:endParaRPr lang="en-US" altLang="zh-CN" sz="1600" dirty="0">
              <a:latin typeface="Times New Roman" pitchFamily="18" charset="0"/>
              <a:cs typeface="Times New Roman" pitchFamily="18" charset="0"/>
            </a:endParaRPr>
          </a:p>
          <a:p>
            <a:r>
              <a:rPr lang="en-US" altLang="zh-CN" sz="1600" dirty="0">
                <a:latin typeface="Times New Roman" pitchFamily="18" charset="0"/>
                <a:cs typeface="Times New Roman" pitchFamily="18" charset="0"/>
              </a:rPr>
              <a:t>Aggregation period——</a:t>
            </a:r>
            <a:r>
              <a:rPr lang="zh-CN" altLang="en-US" sz="1600" dirty="0">
                <a:latin typeface="Times New Roman" pitchFamily="18" charset="0"/>
                <a:cs typeface="Times New Roman" pitchFamily="18" charset="0"/>
              </a:rPr>
              <a:t>聚合时间窗口（短期，中期，长期）</a:t>
            </a:r>
            <a:endParaRPr lang="en-US" altLang="zh-CN" sz="1600" dirty="0">
              <a:latin typeface="Times New Roman" pitchFamily="18" charset="0"/>
              <a:cs typeface="Times New Roman" pitchFamily="18" charset="0"/>
            </a:endParaRPr>
          </a:p>
          <a:p>
            <a:r>
              <a:rPr lang="en-US" altLang="zh-CN" sz="1600" dirty="0">
                <a:latin typeface="Times New Roman" pitchFamily="18" charset="0"/>
                <a:cs typeface="Times New Roman" pitchFamily="18" charset="0"/>
              </a:rPr>
              <a:t>Transaction behavior measure——</a:t>
            </a:r>
            <a:r>
              <a:rPr lang="zh-CN" altLang="en-US" sz="1600" dirty="0">
                <a:latin typeface="Times New Roman" pitchFamily="18" charset="0"/>
                <a:cs typeface="Times New Roman" pitchFamily="18" charset="0"/>
              </a:rPr>
              <a:t>统计维度（金额，频数，时间间隔，地理间隔）</a:t>
            </a:r>
            <a:endParaRPr lang="en-US" altLang="zh-CN" sz="1600" dirty="0">
              <a:latin typeface="Times New Roman" pitchFamily="18" charset="0"/>
              <a:cs typeface="Times New Roman" pitchFamily="18" charset="0"/>
            </a:endParaRPr>
          </a:p>
          <a:p>
            <a:r>
              <a:rPr lang="en-US" altLang="zh-CN" sz="1600" dirty="0">
                <a:latin typeface="Times New Roman" pitchFamily="18" charset="0"/>
                <a:cs typeface="Times New Roman" pitchFamily="18" charset="0"/>
              </a:rPr>
              <a:t>Aggregation statistics——</a:t>
            </a:r>
            <a:r>
              <a:rPr lang="zh-CN" altLang="en-US" sz="1600" dirty="0">
                <a:latin typeface="Times New Roman" pitchFamily="18" charset="0"/>
                <a:cs typeface="Times New Roman" pitchFamily="18" charset="0"/>
              </a:rPr>
              <a:t>统计方法（总和，平均值，标准差等）</a:t>
            </a:r>
            <a:endParaRPr lang="zh-CN" altLang="en-US" sz="1600" dirty="0"/>
          </a:p>
        </p:txBody>
      </p:sp>
      <p:graphicFrame>
        <p:nvGraphicFramePr>
          <p:cNvPr id="11" name="表格 10"/>
          <p:cNvGraphicFramePr>
            <a:graphicFrameLocks noGrp="1"/>
          </p:cNvGraphicFramePr>
          <p:nvPr/>
        </p:nvGraphicFramePr>
        <p:xfrm>
          <a:off x="302840" y="3645024"/>
          <a:ext cx="6228184" cy="2347030"/>
        </p:xfrm>
        <a:graphic>
          <a:graphicData uri="http://schemas.openxmlformats.org/drawingml/2006/table">
            <a:tbl>
              <a:tblPr firstRow="1" bandRow="1">
                <a:tableStyleId>{073A0DAA-6AF3-43AB-8588-CEC1D06C72B9}</a:tableStyleId>
              </a:tblPr>
              <a:tblGrid>
                <a:gridCol w="1557046"/>
                <a:gridCol w="1557046"/>
                <a:gridCol w="1557046"/>
                <a:gridCol w="1557046"/>
              </a:tblGrid>
              <a:tr h="476931">
                <a:tc>
                  <a:txBody>
                    <a:bodyPr/>
                    <a:lstStyle/>
                    <a:p>
                      <a:r>
                        <a:rPr lang="en-US" altLang="zh-CN" sz="1400" dirty="0" smtClean="0"/>
                        <a:t>A</a:t>
                      </a:r>
                      <a:r>
                        <a:rPr lang="en-US" altLang="zh-CN" sz="1400" dirty="0" smtClean="0">
                          <a:effectLst/>
                        </a:rPr>
                        <a:t>ggregation characteristic</a:t>
                      </a:r>
                      <a:endParaRPr lang="zh-CN" altLang="en-US" sz="1400" dirty="0"/>
                    </a:p>
                  </a:txBody>
                  <a:tcPr marT="45725" marB="45725"/>
                </a:tc>
                <a:tc>
                  <a:txBody>
                    <a:bodyPr/>
                    <a:lstStyle/>
                    <a:p>
                      <a:r>
                        <a:rPr lang="en-US" altLang="zh-CN" sz="1400" dirty="0" smtClean="0"/>
                        <a:t>A</a:t>
                      </a:r>
                      <a:r>
                        <a:rPr lang="en-US" altLang="zh-CN" sz="1400" dirty="0" smtClean="0">
                          <a:effectLst/>
                        </a:rPr>
                        <a:t>ggregation period</a:t>
                      </a:r>
                      <a:endParaRPr lang="zh-CN" altLang="en-US" sz="1400" dirty="0"/>
                    </a:p>
                  </a:txBody>
                  <a:tcPr marT="45725" marB="45725"/>
                </a:tc>
                <a:tc>
                  <a:txBody>
                    <a:bodyPr/>
                    <a:lstStyle/>
                    <a:p>
                      <a:r>
                        <a:rPr lang="en-US" altLang="zh-CN" sz="1400" dirty="0" smtClean="0"/>
                        <a:t>T</a:t>
                      </a:r>
                      <a:r>
                        <a:rPr lang="en-US" altLang="zh-CN" sz="1400" dirty="0" smtClean="0">
                          <a:effectLst/>
                        </a:rPr>
                        <a:t>ransaction behavior measure</a:t>
                      </a:r>
                      <a:endParaRPr lang="zh-CN" altLang="en-US" sz="1400" dirty="0"/>
                    </a:p>
                  </a:txBody>
                  <a:tcPr marT="45725" marB="45725"/>
                </a:tc>
                <a:tc>
                  <a:txBody>
                    <a:bodyPr/>
                    <a:lstStyle/>
                    <a:p>
                      <a:r>
                        <a:rPr lang="en-US" altLang="zh-CN" sz="1400" dirty="0" smtClean="0"/>
                        <a:t>T</a:t>
                      </a:r>
                      <a:r>
                        <a:rPr lang="en-US" altLang="zh-CN" sz="1400" dirty="0" smtClean="0">
                          <a:effectLst/>
                        </a:rPr>
                        <a:t>ransaction behavior measure</a:t>
                      </a:r>
                      <a:endParaRPr lang="zh-CN" altLang="en-US" sz="1400" dirty="0"/>
                    </a:p>
                  </a:txBody>
                  <a:tcPr marT="45725" marB="45725"/>
                </a:tc>
              </a:tr>
              <a:tr h="280551">
                <a:tc>
                  <a:txBody>
                    <a:bodyPr/>
                    <a:lstStyle/>
                    <a:p>
                      <a:r>
                        <a:rPr lang="zh-CN" altLang="en-US" sz="1400" b="1" dirty="0" smtClean="0">
                          <a:solidFill>
                            <a:srgbClr val="FF0000"/>
                          </a:solidFill>
                        </a:rPr>
                        <a:t>消费</a:t>
                      </a:r>
                      <a:endParaRPr lang="zh-CN" altLang="en-US" sz="1400" b="1" dirty="0">
                        <a:solidFill>
                          <a:srgbClr val="FF0000"/>
                        </a:solidFill>
                      </a:endParaRPr>
                    </a:p>
                  </a:txBody>
                  <a:tcPr marT="45725" marB="45725"/>
                </a:tc>
                <a:tc>
                  <a:txBody>
                    <a:bodyPr/>
                    <a:lstStyle/>
                    <a:p>
                      <a:r>
                        <a:rPr lang="zh-CN" altLang="en-US" sz="1400" dirty="0" smtClean="0"/>
                        <a:t>一天</a:t>
                      </a:r>
                      <a:endParaRPr lang="zh-CN" altLang="en-US" sz="1400" dirty="0"/>
                    </a:p>
                  </a:txBody>
                  <a:tcPr marT="45725" marB="45725"/>
                </a:tc>
                <a:tc>
                  <a:txBody>
                    <a:bodyPr/>
                    <a:lstStyle/>
                    <a:p>
                      <a:r>
                        <a:rPr lang="zh-CN" altLang="en-US" sz="1400" dirty="0" smtClean="0"/>
                        <a:t>金额</a:t>
                      </a:r>
                      <a:endParaRPr lang="zh-CN" altLang="en-US" sz="1400" dirty="0"/>
                    </a:p>
                  </a:txBody>
                  <a:tcPr marT="45725" marB="45725"/>
                </a:tc>
                <a:tc>
                  <a:txBody>
                    <a:bodyPr/>
                    <a:lstStyle/>
                    <a:p>
                      <a:r>
                        <a:rPr lang="zh-CN" altLang="en-US" sz="1400" dirty="0" smtClean="0"/>
                        <a:t>总和</a:t>
                      </a:r>
                      <a:endParaRPr lang="zh-CN" altLang="en-US" sz="1400" dirty="0"/>
                    </a:p>
                  </a:txBody>
                  <a:tcPr marT="45725" marB="45725"/>
                </a:tc>
              </a:tr>
              <a:tr h="280551">
                <a:tc>
                  <a:txBody>
                    <a:bodyPr/>
                    <a:lstStyle/>
                    <a:p>
                      <a:r>
                        <a:rPr lang="zh-CN" altLang="en-US" sz="1400" b="1" dirty="0" smtClean="0">
                          <a:solidFill>
                            <a:srgbClr val="FF0000"/>
                          </a:solidFill>
                        </a:rPr>
                        <a:t>取现</a:t>
                      </a:r>
                      <a:endParaRPr lang="zh-CN" altLang="en-US" sz="1400" b="1" dirty="0">
                        <a:solidFill>
                          <a:srgbClr val="FF0000"/>
                        </a:solidFill>
                      </a:endParaRPr>
                    </a:p>
                  </a:txBody>
                  <a:tcPr marT="45725" marB="45725"/>
                </a:tc>
                <a:tc>
                  <a:txBody>
                    <a:bodyPr/>
                    <a:lstStyle/>
                    <a:p>
                      <a:r>
                        <a:rPr lang="zh-CN" altLang="en-US" sz="1400" dirty="0" smtClean="0"/>
                        <a:t>一周</a:t>
                      </a:r>
                      <a:endParaRPr lang="zh-CN" altLang="en-US" sz="1400" dirty="0"/>
                    </a:p>
                  </a:txBody>
                  <a:tcPr marT="45725" marB="45725"/>
                </a:tc>
                <a:tc>
                  <a:txBody>
                    <a:bodyPr/>
                    <a:lstStyle/>
                    <a:p>
                      <a:r>
                        <a:rPr lang="zh-CN" altLang="en-US" sz="1400" dirty="0" smtClean="0"/>
                        <a:t>频数</a:t>
                      </a:r>
                      <a:endParaRPr lang="zh-CN" altLang="en-US" sz="1400" dirty="0"/>
                    </a:p>
                  </a:txBody>
                  <a:tcPr marT="45725" marB="45725"/>
                </a:tc>
                <a:tc>
                  <a:txBody>
                    <a:bodyPr/>
                    <a:lstStyle/>
                    <a:p>
                      <a:r>
                        <a:rPr lang="zh-CN" altLang="en-US" sz="1400" dirty="0" smtClean="0"/>
                        <a:t>平均值</a:t>
                      </a:r>
                      <a:endParaRPr lang="zh-CN" altLang="en-US" sz="1400" dirty="0"/>
                    </a:p>
                  </a:txBody>
                  <a:tcPr marT="45725" marB="45725"/>
                </a:tc>
              </a:tr>
              <a:tr h="280551">
                <a:tc>
                  <a:txBody>
                    <a:bodyPr/>
                    <a:lstStyle/>
                    <a:p>
                      <a:r>
                        <a:rPr lang="zh-CN" altLang="en-US" sz="1400" b="1" dirty="0" smtClean="0">
                          <a:solidFill>
                            <a:srgbClr val="FF0000"/>
                          </a:solidFill>
                        </a:rPr>
                        <a:t>转账</a:t>
                      </a:r>
                      <a:endParaRPr lang="zh-CN" altLang="en-US" sz="1400" b="1" dirty="0">
                        <a:solidFill>
                          <a:srgbClr val="FF0000"/>
                        </a:solidFill>
                      </a:endParaRPr>
                    </a:p>
                  </a:txBody>
                  <a:tcPr marT="45725" marB="45725"/>
                </a:tc>
                <a:tc>
                  <a:txBody>
                    <a:bodyPr/>
                    <a:lstStyle/>
                    <a:p>
                      <a:r>
                        <a:rPr lang="zh-CN" altLang="en-US" sz="1400" dirty="0" smtClean="0"/>
                        <a:t>一个月</a:t>
                      </a:r>
                      <a:endParaRPr lang="zh-CN" altLang="en-US" sz="1400" dirty="0"/>
                    </a:p>
                  </a:txBody>
                  <a:tcPr marT="45725" marB="45725"/>
                </a:tc>
                <a:tc>
                  <a:txBody>
                    <a:bodyPr/>
                    <a:lstStyle/>
                    <a:p>
                      <a:r>
                        <a:rPr lang="zh-CN" altLang="en-US" sz="1400" dirty="0" smtClean="0"/>
                        <a:t>时间间隔</a:t>
                      </a:r>
                      <a:endParaRPr lang="zh-CN" altLang="en-US" sz="1400" dirty="0"/>
                    </a:p>
                  </a:txBody>
                  <a:tcPr marT="45725" marB="45725"/>
                </a:tc>
                <a:tc>
                  <a:txBody>
                    <a:bodyPr/>
                    <a:lstStyle/>
                    <a:p>
                      <a:r>
                        <a:rPr lang="zh-CN" altLang="en-US" sz="1400" dirty="0" smtClean="0"/>
                        <a:t>标准差</a:t>
                      </a:r>
                      <a:endParaRPr lang="zh-CN" altLang="en-US" sz="1400" dirty="0"/>
                    </a:p>
                  </a:txBody>
                  <a:tcPr marT="45725" marB="45725"/>
                </a:tc>
              </a:tr>
              <a:tr h="280551">
                <a:tc>
                  <a:txBody>
                    <a:bodyPr/>
                    <a:lstStyle/>
                    <a:p>
                      <a:r>
                        <a:rPr lang="zh-CN" altLang="en-US" sz="1400" dirty="0" smtClean="0"/>
                        <a:t>商户</a:t>
                      </a:r>
                      <a:endParaRPr lang="en-US" altLang="zh-CN" sz="1400" dirty="0" smtClean="0"/>
                    </a:p>
                  </a:txBody>
                  <a:tcPr marT="45725" marB="45725"/>
                </a:tc>
                <a:tc>
                  <a:txBody>
                    <a:bodyPr/>
                    <a:lstStyle/>
                    <a:p>
                      <a:r>
                        <a:rPr lang="zh-CN" altLang="en-US" sz="1400" dirty="0" smtClean="0"/>
                        <a:t>三个月</a:t>
                      </a:r>
                      <a:endParaRPr lang="zh-CN" altLang="en-US" sz="1400" dirty="0"/>
                    </a:p>
                  </a:txBody>
                  <a:tcPr marT="45725" marB="45725"/>
                </a:tc>
                <a:tc>
                  <a:txBody>
                    <a:bodyPr/>
                    <a:lstStyle/>
                    <a:p>
                      <a:r>
                        <a:rPr lang="zh-CN" altLang="en-US" sz="1400" b="1" dirty="0" smtClean="0">
                          <a:solidFill>
                            <a:srgbClr val="FF0000"/>
                          </a:solidFill>
                        </a:rPr>
                        <a:t>地理间隔</a:t>
                      </a:r>
                      <a:endParaRPr lang="zh-CN" altLang="en-US" sz="1400" b="1" dirty="0">
                        <a:solidFill>
                          <a:srgbClr val="FF0000"/>
                        </a:solidFill>
                      </a:endParaRPr>
                    </a:p>
                  </a:txBody>
                  <a:tcPr marT="45725" marB="45725"/>
                </a:tc>
                <a:tc>
                  <a:txBody>
                    <a:bodyPr/>
                    <a:lstStyle/>
                    <a:p>
                      <a:r>
                        <a:rPr lang="en-US" altLang="zh-CN" sz="1400" dirty="0" smtClean="0"/>
                        <a:t>…</a:t>
                      </a:r>
                      <a:endParaRPr lang="zh-CN" altLang="en-US" sz="1400" dirty="0"/>
                    </a:p>
                  </a:txBody>
                  <a:tcPr marT="45725" marB="45725"/>
                </a:tc>
              </a:tr>
              <a:tr h="280551">
                <a:tc>
                  <a:txBody>
                    <a:bodyPr/>
                    <a:lstStyle/>
                    <a:p>
                      <a:r>
                        <a:rPr lang="zh-CN" altLang="en-US" sz="1400" dirty="0" smtClean="0"/>
                        <a:t>地点</a:t>
                      </a:r>
                      <a:endParaRPr lang="zh-CN" altLang="en-US" sz="1400" dirty="0"/>
                    </a:p>
                  </a:txBody>
                  <a:tcPr marT="45725" marB="45725"/>
                </a:tc>
                <a:tc>
                  <a:txBody>
                    <a:bodyPr/>
                    <a:lstStyle/>
                    <a:p>
                      <a:r>
                        <a:rPr lang="en-US" altLang="zh-CN" sz="1400" dirty="0" smtClean="0"/>
                        <a:t>…</a:t>
                      </a:r>
                      <a:endParaRPr lang="zh-CN" altLang="en-US" sz="1400" dirty="0"/>
                    </a:p>
                  </a:txBody>
                  <a:tcPr marT="45725" marB="45725"/>
                </a:tc>
                <a:tc>
                  <a:txBody>
                    <a:bodyPr/>
                    <a:lstStyle/>
                    <a:p>
                      <a:r>
                        <a:rPr lang="zh-CN" altLang="en-US" sz="1400" b="1" dirty="0" smtClean="0">
                          <a:solidFill>
                            <a:srgbClr val="FF0000"/>
                          </a:solidFill>
                        </a:rPr>
                        <a:t>余额</a:t>
                      </a:r>
                      <a:endParaRPr lang="zh-CN" altLang="en-US" sz="1400" b="1" dirty="0">
                        <a:solidFill>
                          <a:srgbClr val="FF0000"/>
                        </a:solidFill>
                      </a:endParaRPr>
                    </a:p>
                  </a:txBody>
                  <a:tcPr marT="45725" marB="45725"/>
                </a:tc>
                <a:tc>
                  <a:txBody>
                    <a:bodyPr/>
                    <a:lstStyle/>
                    <a:p>
                      <a:r>
                        <a:rPr lang="en-US" altLang="zh-CN" sz="1400" dirty="0" smtClean="0"/>
                        <a:t>…</a:t>
                      </a:r>
                      <a:endParaRPr lang="zh-CN" altLang="en-US" sz="1400" dirty="0"/>
                    </a:p>
                  </a:txBody>
                  <a:tcPr marT="45725" marB="45725"/>
                </a:tc>
              </a:tr>
              <a:tr h="280551">
                <a:tc>
                  <a:txBody>
                    <a:bodyPr/>
                    <a:lstStyle/>
                    <a:p>
                      <a:r>
                        <a:rPr lang="en-US" altLang="zh-CN" sz="1400" dirty="0" smtClean="0"/>
                        <a:t>…</a:t>
                      </a:r>
                      <a:endParaRPr lang="zh-CN" altLang="en-US" sz="1400" dirty="0"/>
                    </a:p>
                  </a:txBody>
                  <a:tcPr marT="45725" marB="45725"/>
                </a:tc>
                <a:tc>
                  <a:txBody>
                    <a:bodyPr/>
                    <a:lstStyle/>
                    <a:p>
                      <a:r>
                        <a:rPr lang="en-US" altLang="zh-CN" sz="1400" dirty="0" smtClean="0"/>
                        <a:t>…</a:t>
                      </a:r>
                      <a:endParaRPr lang="zh-CN" altLang="en-US" sz="1400" dirty="0"/>
                    </a:p>
                  </a:txBody>
                  <a:tcPr marT="45725" marB="45725"/>
                </a:tc>
                <a:tc>
                  <a:txBody>
                    <a:bodyPr/>
                    <a:lstStyle/>
                    <a:p>
                      <a:endParaRPr lang="zh-CN" altLang="en-US" sz="1400" dirty="0"/>
                    </a:p>
                  </a:txBody>
                  <a:tcPr marT="45725" marB="45725"/>
                </a:tc>
                <a:tc>
                  <a:txBody>
                    <a:bodyPr/>
                    <a:lstStyle/>
                    <a:p>
                      <a:endParaRPr lang="zh-CN" altLang="en-US" sz="1400" dirty="0"/>
                    </a:p>
                  </a:txBody>
                  <a:tcPr marT="45725" marB="45725"/>
                </a:tc>
              </a:tr>
            </a:tbl>
          </a:graphicData>
        </a:graphic>
      </p:graphicFrame>
      <p:cxnSp>
        <p:nvCxnSpPr>
          <p:cNvPr id="15" name="直接箭头连接符 14"/>
          <p:cNvCxnSpPr/>
          <p:nvPr/>
        </p:nvCxnSpPr>
        <p:spPr>
          <a:xfrm>
            <a:off x="842392" y="4346579"/>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5792732" y="4302249"/>
            <a:ext cx="10719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a:off x="842392" y="4653135"/>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p:nvPr/>
        </p:nvCxnSpPr>
        <p:spPr>
          <a:xfrm>
            <a:off x="2390056" y="4596580"/>
            <a:ext cx="1116495" cy="6168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nvCxnSpPr>
        <p:spPr>
          <a:xfrm flipV="1">
            <a:off x="4227540" y="4596580"/>
            <a:ext cx="791316" cy="640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a:off x="5792732" y="4625008"/>
            <a:ext cx="10719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22"/>
          <p:cNvSpPr txBox="1">
            <a:spLocks noChangeArrowheads="1"/>
          </p:cNvSpPr>
          <p:nvPr/>
        </p:nvSpPr>
        <p:spPr bwMode="auto">
          <a:xfrm>
            <a:off x="6864691" y="4126145"/>
            <a:ext cx="223202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a:t>过去一天消费交易的金额总和</a:t>
            </a:r>
          </a:p>
        </p:txBody>
      </p:sp>
      <p:sp>
        <p:nvSpPr>
          <p:cNvPr id="24" name="文本框 23"/>
          <p:cNvSpPr txBox="1">
            <a:spLocks noChangeArrowheads="1"/>
          </p:cNvSpPr>
          <p:nvPr/>
        </p:nvSpPr>
        <p:spPr bwMode="auto">
          <a:xfrm>
            <a:off x="6864691" y="4509120"/>
            <a:ext cx="223202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dirty="0"/>
              <a:t>过去一周取现交易的地理间隔平均值</a:t>
            </a:r>
          </a:p>
        </p:txBody>
      </p:sp>
      <p:cxnSp>
        <p:nvCxnSpPr>
          <p:cNvPr id="36" name="直接箭头连接符 35"/>
          <p:cNvCxnSpPr/>
          <p:nvPr/>
        </p:nvCxnSpPr>
        <p:spPr>
          <a:xfrm>
            <a:off x="2354560" y="4335407"/>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a:xfrm>
            <a:off x="3938736" y="4319155"/>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矩形 1"/>
          <p:cNvSpPr>
            <a:spLocks noChangeArrowheads="1"/>
          </p:cNvSpPr>
          <p:nvPr/>
        </p:nvSpPr>
        <p:spPr bwMode="auto">
          <a:xfrm>
            <a:off x="78374" y="3121336"/>
            <a:ext cx="142218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en-US" altLang="zh-CN" b="1" dirty="0" smtClean="0">
                <a:latin typeface="Times New Roman" pitchFamily="18" charset="0"/>
                <a:cs typeface="Times New Roman" pitchFamily="18" charset="0"/>
              </a:rPr>
              <a:t>Example:</a:t>
            </a:r>
            <a:endParaRPr lang="zh-CN" altLang="en-US"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5799819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6" name="矩形 1"/>
          <p:cNvSpPr>
            <a:spLocks noChangeArrowheads="1"/>
          </p:cNvSpPr>
          <p:nvPr/>
        </p:nvSpPr>
        <p:spPr bwMode="auto">
          <a:xfrm>
            <a:off x="35218" y="1125503"/>
            <a:ext cx="626485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buFont typeface="Arial" pitchFamily="34" charset="0"/>
              <a:buChar char="•"/>
            </a:pPr>
            <a:r>
              <a:rPr lang="en-US" altLang="zh-CN" sz="2000" b="1" dirty="0">
                <a:latin typeface="Times New Roman" pitchFamily="18" charset="0"/>
                <a:cs typeface="Times New Roman" pitchFamily="18" charset="0"/>
              </a:rPr>
              <a:t>Deep neural network——Deep belief </a:t>
            </a:r>
            <a:r>
              <a:rPr lang="en-US" altLang="zh-CN" sz="2000" b="1" dirty="0" smtClean="0">
                <a:latin typeface="Times New Roman" pitchFamily="18" charset="0"/>
                <a:cs typeface="Times New Roman" pitchFamily="18" charset="0"/>
              </a:rPr>
              <a:t>network (DBN)</a:t>
            </a:r>
            <a:endParaRPr lang="zh-CN" altLang="en-US" sz="2800" b="1" dirty="0">
              <a:latin typeface="Times New Roman" pitchFamily="18" charset="0"/>
              <a:cs typeface="Times New Roman" pitchFamily="18" charset="0"/>
            </a:endParaRPr>
          </a:p>
        </p:txBody>
      </p:sp>
      <p:pic>
        <p:nvPicPr>
          <p:cNvPr id="27" name="图片 26" descr="DBN"/>
          <p:cNvPicPr/>
          <p:nvPr/>
        </p:nvPicPr>
        <p:blipFill>
          <a:blip r:embed="rId4"/>
          <a:stretch>
            <a:fillRect/>
          </a:stretch>
        </p:blipFill>
        <p:spPr>
          <a:xfrm>
            <a:off x="1619166" y="1701121"/>
            <a:ext cx="5832648" cy="3401332"/>
          </a:xfrm>
          <a:prstGeom prst="rect">
            <a:avLst/>
          </a:prstGeom>
          <a:noFill/>
          <a:ln w="9525">
            <a:noFill/>
            <a:miter/>
          </a:ln>
        </p:spPr>
      </p:pic>
      <p:sp>
        <p:nvSpPr>
          <p:cNvPr id="3" name="文本框 2"/>
          <p:cNvSpPr txBox="1"/>
          <p:nvPr/>
        </p:nvSpPr>
        <p:spPr>
          <a:xfrm>
            <a:off x="394970" y="5300980"/>
            <a:ext cx="8370570" cy="731520"/>
          </a:xfrm>
          <a:prstGeom prst="rect">
            <a:avLst/>
          </a:prstGeom>
          <a:noFill/>
        </p:spPr>
        <p:txBody>
          <a:bodyPr wrap="square" rtlCol="0">
            <a:spAutoFit/>
          </a:bodyPr>
          <a:lstStyle/>
          <a:p>
            <a:pPr marL="285750" indent="-285750">
              <a:buFont typeface="Arial" pitchFamily="34" charset="0"/>
              <a:buChar char="•"/>
            </a:pPr>
            <a:r>
              <a:rPr lang="zh-CN" altLang="en-US" sz="1400" dirty="0" smtClean="0">
                <a:latin typeface="Times New Roman" pitchFamily="18" charset="0"/>
                <a:cs typeface="Times New Roman" pitchFamily="18" charset="0"/>
              </a:rPr>
              <a:t>步骤一：通过</a:t>
            </a:r>
            <a:r>
              <a:rPr lang="zh-CN" altLang="en-US" sz="1400" b="1" dirty="0" smtClean="0">
                <a:latin typeface="Times New Roman" pitchFamily="18" charset="0"/>
                <a:cs typeface="Times New Roman" pitchFamily="18" charset="0"/>
              </a:rPr>
              <a:t>无监督预训练</a:t>
            </a:r>
            <a:r>
              <a:rPr lang="zh-CN" altLang="en-US" sz="1400" dirty="0" smtClean="0">
                <a:latin typeface="Times New Roman" pitchFamily="18" charset="0"/>
                <a:cs typeface="Times New Roman" pitchFamily="18" charset="0"/>
              </a:rPr>
              <a:t>使网络获得高阶抽象特征，并且提供较好的初始权值，将权值限定在对全局训练有利的范围内，使用层与层之间的局部信息进行逐层训练，减小对学习目标过拟合的风险，并避免深神经网络中误差累积传递过长的问题</a:t>
            </a:r>
          </a:p>
        </p:txBody>
      </p:sp>
      <p:sp>
        <p:nvSpPr>
          <p:cNvPr id="6" name="文本框 5"/>
          <p:cNvSpPr txBox="1"/>
          <p:nvPr/>
        </p:nvSpPr>
        <p:spPr>
          <a:xfrm>
            <a:off x="394970" y="6093460"/>
            <a:ext cx="8329930" cy="518160"/>
          </a:xfrm>
          <a:prstGeom prst="rect">
            <a:avLst/>
          </a:prstGeom>
          <a:noFill/>
        </p:spPr>
        <p:txBody>
          <a:bodyPr wrap="square" rtlCol="0">
            <a:spAutoFit/>
          </a:bodyPr>
          <a:lstStyle/>
          <a:p>
            <a:pPr marL="285750" indent="-285750">
              <a:buFont typeface="Arial" pitchFamily="34" charset="0"/>
              <a:buChar char="•"/>
            </a:pPr>
            <a:r>
              <a:rPr lang="zh-CN" altLang="en-US" sz="1400" dirty="0" smtClean="0">
                <a:latin typeface="Times New Roman" pitchFamily="18" charset="0"/>
                <a:cs typeface="Times New Roman" pitchFamily="18" charset="0"/>
              </a:rPr>
              <a:t>步骤二：通过监督学习反向传播算法（</a:t>
            </a:r>
            <a:r>
              <a:rPr lang="en-US" altLang="zh-CN" sz="1400" dirty="0" smtClean="0">
                <a:latin typeface="Times New Roman" pitchFamily="18" charset="0"/>
                <a:cs typeface="Times New Roman" pitchFamily="18" charset="0"/>
              </a:rPr>
              <a:t>Back Propagation Algorithm</a:t>
            </a:r>
            <a:r>
              <a:rPr lang="zh-CN" altLang="en-US" sz="1400" dirty="0" smtClean="0">
                <a:latin typeface="Times New Roman" pitchFamily="18" charset="0"/>
                <a:cs typeface="Times New Roman" pitchFamily="18" charset="0"/>
              </a:rPr>
              <a:t>）对整个网络的权重进行优化，最终对信用卡欺诈的标签进行分类，得到分类结果。</a:t>
            </a:r>
          </a:p>
        </p:txBody>
      </p:sp>
    </p:spTree>
    <p:extLst>
      <p:ext uri="{BB962C8B-B14F-4D97-AF65-F5344CB8AC3E}">
        <p14:creationId xmlns="" xmlns:p14="http://schemas.microsoft.com/office/powerpoint/2010/main" val="34281617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 name="文本框 1"/>
          <p:cNvSpPr txBox="1"/>
          <p:nvPr/>
        </p:nvSpPr>
        <p:spPr>
          <a:xfrm>
            <a:off x="302840" y="1268760"/>
            <a:ext cx="6264696" cy="400110"/>
          </a:xfrm>
          <a:prstGeom prst="rect">
            <a:avLst/>
          </a:prstGeom>
          <a:noFill/>
        </p:spPr>
        <p:txBody>
          <a:bodyPr wrap="square" rtlCol="0">
            <a:spAutoFit/>
          </a:bodyPr>
          <a:lstStyle/>
          <a:p>
            <a:pPr marL="285750" indent="-285750">
              <a:buFont typeface="Arial" pitchFamily="34" charset="0"/>
              <a:buChar char="•"/>
            </a:pPr>
            <a:r>
              <a:rPr lang="en-US" altLang="zh-CN" sz="2000" b="1" dirty="0" smtClean="0">
                <a:latin typeface="Times New Roman" pitchFamily="18" charset="0"/>
                <a:cs typeface="Times New Roman" pitchFamily="18" charset="0"/>
              </a:rPr>
              <a:t>Data description:</a:t>
            </a:r>
          </a:p>
        </p:txBody>
      </p:sp>
      <p:sp>
        <p:nvSpPr>
          <p:cNvPr id="8" name="文本框 7"/>
          <p:cNvSpPr txBox="1"/>
          <p:nvPr/>
        </p:nvSpPr>
        <p:spPr>
          <a:xfrm>
            <a:off x="611560" y="1772940"/>
            <a:ext cx="6984776" cy="2169825"/>
          </a:xfrm>
          <a:prstGeom prst="rect">
            <a:avLst/>
          </a:prstGeom>
          <a:noFill/>
        </p:spPr>
        <p:txBody>
          <a:bodyPr wrap="square" rtlCol="0">
            <a:spAutoFit/>
          </a:bodyPr>
          <a:lstStyle/>
          <a:p>
            <a:pPr>
              <a:lnSpc>
                <a:spcPct val="150000"/>
              </a:lnSpc>
            </a:pPr>
            <a:r>
              <a:rPr lang="en-US" altLang="zh-CN" dirty="0">
                <a:latin typeface="Times New Roman" pitchFamily="18" charset="0"/>
                <a:cs typeface="Times New Roman" pitchFamily="18" charset="0"/>
              </a:rPr>
              <a:t>R</a:t>
            </a:r>
            <a:r>
              <a:rPr lang="en-US" altLang="zh-CN" dirty="0" smtClean="0">
                <a:latin typeface="Times New Roman" pitchFamily="18" charset="0"/>
                <a:cs typeface="Times New Roman" pitchFamily="18" charset="0"/>
              </a:rPr>
              <a:t>eal-life </a:t>
            </a:r>
            <a:r>
              <a:rPr lang="en-US" altLang="zh-CN" dirty="0">
                <a:latin typeface="Times New Roman" pitchFamily="18" charset="0"/>
                <a:cs typeface="Times New Roman" pitchFamily="18" charset="0"/>
              </a:rPr>
              <a:t>dataset from one of largest commercial banks in </a:t>
            </a:r>
            <a:r>
              <a:rPr lang="en-US" altLang="zh-CN" dirty="0" smtClean="0">
                <a:latin typeface="Times New Roman" pitchFamily="18" charset="0"/>
                <a:cs typeface="Times New Roman" pitchFamily="18" charset="0"/>
              </a:rPr>
              <a:t>China</a:t>
            </a:r>
          </a:p>
          <a:p>
            <a:pPr>
              <a:lnSpc>
                <a:spcPct val="150000"/>
              </a:lnSpc>
            </a:pPr>
            <a:r>
              <a:rPr lang="en-US" altLang="zh-CN" dirty="0" smtClean="0">
                <a:latin typeface="Times New Roman" pitchFamily="18" charset="0"/>
                <a:cs typeface="Times New Roman" pitchFamily="18" charset="0"/>
              </a:rPr>
              <a:t>Total: 107303 transactions </a:t>
            </a:r>
          </a:p>
          <a:p>
            <a:pPr>
              <a:lnSpc>
                <a:spcPct val="150000"/>
              </a:lnSpc>
            </a:pPr>
            <a:r>
              <a:rPr lang="en-US" altLang="zh-CN" dirty="0" smtClean="0">
                <a:latin typeface="Times New Roman" pitchFamily="18" charset="0"/>
                <a:cs typeface="Times New Roman" pitchFamily="18" charset="0"/>
              </a:rPr>
              <a:t>Fraudulent: 2046 transactions </a:t>
            </a:r>
            <a:r>
              <a:rPr lang="en-US" altLang="zh-CN" dirty="0">
                <a:latin typeface="Times New Roman" pitchFamily="18" charset="0"/>
                <a:cs typeface="Times New Roman" pitchFamily="18" charset="0"/>
              </a:rPr>
              <a:t>(&lt;1.5</a:t>
            </a:r>
            <a:r>
              <a:rPr lang="en-US" altLang="zh-CN" dirty="0" smtClean="0">
                <a:latin typeface="Times New Roman" pitchFamily="18" charset="0"/>
                <a:cs typeface="Times New Roman" pitchFamily="18" charset="0"/>
              </a:rPr>
              <a:t>%)</a:t>
            </a:r>
          </a:p>
          <a:p>
            <a:pPr>
              <a:lnSpc>
                <a:spcPct val="150000"/>
              </a:lnSpc>
            </a:pPr>
            <a:r>
              <a:rPr lang="en-US" altLang="zh-CN" dirty="0" smtClean="0">
                <a:latin typeface="Times New Roman" pitchFamily="18" charset="0"/>
                <a:cs typeface="Times New Roman" pitchFamily="18" charset="0"/>
              </a:rPr>
              <a:t>Training set: 67303 (1139 fraudulent transactions) </a:t>
            </a:r>
          </a:p>
          <a:p>
            <a:pPr>
              <a:lnSpc>
                <a:spcPct val="150000"/>
              </a:lnSpc>
            </a:pPr>
            <a:r>
              <a:rPr lang="en-US" altLang="zh-CN" dirty="0" smtClean="0">
                <a:latin typeface="Times New Roman" pitchFamily="18" charset="0"/>
                <a:cs typeface="Times New Roman" pitchFamily="18" charset="0"/>
              </a:rPr>
              <a:t>Testing set: 40000 (907 fraudulent transactions)</a:t>
            </a:r>
            <a:endParaRPr lang="zh-CN" alt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25730108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6" name="图片 1"/>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577322" y="1556792"/>
            <a:ext cx="7944600" cy="432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40350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2" name="图片 5" descr="C:\Users\Thinkpad\AppData\Local\Temp\WeChat Files\857999317707336508.bmp"/>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a:xfrm>
            <a:off x="1547495" y="1629410"/>
            <a:ext cx="5872480" cy="4405630"/>
          </a:xfrm>
          <a:prstGeom prst="rect">
            <a:avLst/>
          </a:prstGeom>
          <a:noFill/>
          <a:ln>
            <a:noFill/>
          </a:ln>
          <a:effectLst/>
        </p:spPr>
      </p:pic>
      <p:sp>
        <p:nvSpPr>
          <p:cNvPr id="3" name="文本框 2"/>
          <p:cNvSpPr txBox="1"/>
          <p:nvPr/>
        </p:nvSpPr>
        <p:spPr>
          <a:xfrm>
            <a:off x="921385" y="1212850"/>
            <a:ext cx="2210435" cy="365760"/>
          </a:xfrm>
          <a:prstGeom prst="rect">
            <a:avLst/>
          </a:prstGeom>
          <a:noFill/>
        </p:spPr>
        <p:txBody>
          <a:bodyPr wrap="square" rtlCol="0">
            <a:spAutoFit/>
          </a:bodyPr>
          <a:lstStyle/>
          <a:p>
            <a:pPr marL="285750" indent="-285750">
              <a:buFont typeface="Arial" charset="0"/>
              <a:buChar char="•"/>
            </a:pPr>
            <a:r>
              <a:rPr lang="en-US" altLang="zh-CN" b="1">
                <a:latin typeface="Times New Roman" pitchFamily="18" charset="0"/>
              </a:rPr>
              <a:t>ROC Curve</a:t>
            </a:r>
          </a:p>
        </p:txBody>
      </p:sp>
    </p:spTree>
    <p:extLst>
      <p:ext uri="{BB962C8B-B14F-4D97-AF65-F5344CB8AC3E}">
        <p14:creationId xmlns="" xmlns:p14="http://schemas.microsoft.com/office/powerpoint/2010/main" val="36814465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8" name="图片 1"/>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688492" y="1484784"/>
            <a:ext cx="7458296" cy="432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65309488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6" name="图片 2"/>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620520" y="1700808"/>
            <a:ext cx="7594239" cy="432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41763514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金融数据挖掘</a:t>
            </a:r>
            <a:r>
              <a:rPr lang="en-US" altLang="zh-CN" sz="2800" b="1" dirty="0" smtClean="0">
                <a:solidFill>
                  <a:srgbClr val="0070C0"/>
                </a:solidFill>
                <a:latin typeface="微软雅黑" pitchFamily="34" charset="-122"/>
                <a:ea typeface="微软雅黑" pitchFamily="34" charset="-122"/>
                <a:cs typeface="Times New Roman" pitchFamily="18" charset="0"/>
              </a:rPr>
              <a:t>-</a:t>
            </a:r>
            <a:r>
              <a:rPr lang="zh-CN" altLang="en-US" sz="2800" b="1" dirty="0" smtClean="0">
                <a:solidFill>
                  <a:srgbClr val="0070C0"/>
                </a:solidFill>
                <a:latin typeface="微软雅黑" pitchFamily="34" charset="-122"/>
                <a:ea typeface="微软雅黑" pitchFamily="34" charset="-122"/>
                <a:cs typeface="Times New Roman" pitchFamily="18" charset="0"/>
              </a:rPr>
              <a:t>银行信用卡交易欺诈监测</a:t>
            </a:r>
            <a:endParaRPr lang="en-US" altLang="ko-KR"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6" name="矩形 1"/>
          <p:cNvSpPr>
            <a:spLocks noChangeArrowheads="1"/>
          </p:cNvSpPr>
          <p:nvPr/>
        </p:nvSpPr>
        <p:spPr bwMode="auto">
          <a:xfrm>
            <a:off x="224696" y="1484784"/>
            <a:ext cx="8590944" cy="32470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spcBef>
                <a:spcPts val="600"/>
              </a:spcBef>
              <a:spcAft>
                <a:spcPts val="600"/>
              </a:spcAft>
              <a:buFont typeface="Arial" pitchFamily="34" charset="0"/>
              <a:buChar char="•"/>
            </a:pPr>
            <a:r>
              <a:rPr lang="en-US" altLang="zh-CN" dirty="0">
                <a:latin typeface="Times New Roman" pitchFamily="18" charset="0"/>
                <a:cs typeface="Times New Roman" pitchFamily="18" charset="0"/>
              </a:rPr>
              <a:t>Compared to previous works, our feature engineering framework (</a:t>
            </a:r>
            <a:r>
              <a:rPr lang="en-US" altLang="zh-CN" b="1" dirty="0">
                <a:latin typeface="Times New Roman" pitchFamily="18" charset="0"/>
                <a:cs typeface="Times New Roman" pitchFamily="18" charset="0"/>
              </a:rPr>
              <a:t>Homogeneity-Oriented Behavior Analysis</a:t>
            </a:r>
            <a:r>
              <a:rPr lang="en-US" altLang="zh-CN" dirty="0">
                <a:latin typeface="Times New Roman" pitchFamily="18" charset="0"/>
                <a:cs typeface="Times New Roman" pitchFamily="18" charset="0"/>
              </a:rPr>
              <a:t>) gives a full consideration to the heterogeneity of credit card transactions. </a:t>
            </a:r>
          </a:p>
          <a:p>
            <a:pPr>
              <a:spcBef>
                <a:spcPts val="600"/>
              </a:spcBef>
              <a:spcAft>
                <a:spcPts val="600"/>
              </a:spcAft>
              <a:buFont typeface="Arial" pitchFamily="34" charset="0"/>
              <a:buChar char="•"/>
            </a:pPr>
            <a:r>
              <a:rPr lang="en-US" altLang="zh-CN" dirty="0">
                <a:latin typeface="Times New Roman" pitchFamily="18" charset="0"/>
                <a:cs typeface="Times New Roman" pitchFamily="18" charset="0"/>
              </a:rPr>
              <a:t>We carry out empirical study to compare fraud detection performance of </a:t>
            </a:r>
            <a:r>
              <a:rPr lang="en-US" altLang="zh-CN" b="1" dirty="0">
                <a:latin typeface="Times New Roman" pitchFamily="18" charset="0"/>
                <a:cs typeface="Times New Roman" pitchFamily="18" charset="0"/>
              </a:rPr>
              <a:t>DBN-DNN</a:t>
            </a:r>
            <a:r>
              <a:rPr lang="en-US" altLang="zh-CN" dirty="0">
                <a:latin typeface="Times New Roman" pitchFamily="18" charset="0"/>
                <a:cs typeface="Times New Roman" pitchFamily="18" charset="0"/>
              </a:rPr>
              <a:t> with several traditional data mining methods and find out DBN attains great performance.</a:t>
            </a:r>
          </a:p>
          <a:p>
            <a:pPr>
              <a:spcBef>
                <a:spcPts val="600"/>
              </a:spcBef>
              <a:spcAft>
                <a:spcPts val="600"/>
              </a:spcAft>
              <a:buFont typeface="Arial" pitchFamily="34" charset="0"/>
              <a:buChar char="•"/>
            </a:pPr>
            <a:r>
              <a:rPr lang="en-US" altLang="zh-CN" dirty="0">
                <a:latin typeface="Times New Roman" pitchFamily="18" charset="0"/>
                <a:cs typeface="Times New Roman" pitchFamily="18" charset="0"/>
              </a:rPr>
              <a:t>In addition, we find out the </a:t>
            </a:r>
            <a:r>
              <a:rPr lang="en-US" altLang="zh-CN" b="1" dirty="0">
                <a:latin typeface="Times New Roman" pitchFamily="18" charset="0"/>
                <a:cs typeface="Times New Roman" pitchFamily="18" charset="0"/>
              </a:rPr>
              <a:t>random forest </a:t>
            </a:r>
            <a:r>
              <a:rPr lang="en-US" altLang="zh-CN" dirty="0">
                <a:latin typeface="Times New Roman" pitchFamily="18" charset="0"/>
                <a:cs typeface="Times New Roman" pitchFamily="18" charset="0"/>
              </a:rPr>
              <a:t>also performs very well on the variable set of HOBA, and the performance gets a huge improved compared with using the variables of RFM</a:t>
            </a:r>
          </a:p>
          <a:p>
            <a:pPr>
              <a:buFont typeface="Arial" pitchFamily="34" charset="0"/>
              <a:buChar char="•"/>
            </a:pPr>
            <a:endParaRPr lang="zh-CN" altLang="en-US" b="1" dirty="0">
              <a:latin typeface="Times New Roman" pitchFamily="18" charset="0"/>
              <a:cs typeface="Times New Roman" pitchFamily="18" charset="0"/>
            </a:endParaRPr>
          </a:p>
        </p:txBody>
      </p:sp>
    </p:spTree>
    <p:extLst>
      <p:ext uri="{BB962C8B-B14F-4D97-AF65-F5344CB8AC3E}">
        <p14:creationId xmlns="" xmlns:p14="http://schemas.microsoft.com/office/powerpoint/2010/main" val="9190158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f35ea009087b38036b60fbe5.jpg"/>
          <p:cNvPicPr>
            <a:picLocks noChangeAspect="1"/>
          </p:cNvPicPr>
          <p:nvPr/>
        </p:nvPicPr>
        <p:blipFill>
          <a:blip r:embed="rId3" cstate="print"/>
          <a:stretch>
            <a:fillRect/>
          </a:stretch>
        </p:blipFill>
        <p:spPr>
          <a:xfrm>
            <a:off x="8172400" y="123307"/>
            <a:ext cx="792088" cy="785413"/>
          </a:xfrm>
          <a:prstGeom prst="rect">
            <a:avLst/>
          </a:prstGeom>
          <a:effectLst>
            <a:reflection blurRad="6350" stA="52000" endA="300" endPos="35000" dir="5400000" sy="-100000" algn="bl" rotWithShape="0"/>
          </a:effectLst>
        </p:spPr>
      </p:pic>
      <p:sp>
        <p:nvSpPr>
          <p:cNvPr id="5" name="Rectangle 2"/>
          <p:cNvSpPr txBox="1">
            <a:spLocks noChangeArrowheads="1"/>
          </p:cNvSpPr>
          <p:nvPr/>
        </p:nvSpPr>
        <p:spPr>
          <a:xfrm>
            <a:off x="302840" y="260648"/>
            <a:ext cx="8229600" cy="563563"/>
          </a:xfrm>
          <a:prstGeom prst="rect">
            <a:avLst/>
          </a:prstGeom>
        </p:spPr>
        <p:txBody>
          <a:bodyPr vert="horz" lIns="91440" tIns="45720" rIns="91440" bIns="45720" rtlCol="0" anchor="ctr">
            <a:normAutofit/>
          </a:bodyPr>
          <a:lstStyle/>
          <a:p>
            <a:pPr>
              <a:spcBef>
                <a:spcPct val="0"/>
              </a:spcBef>
              <a:defRPr/>
            </a:pPr>
            <a:r>
              <a:rPr lang="zh-CN" altLang="en-US" sz="2800" b="1" dirty="0" smtClean="0">
                <a:solidFill>
                  <a:srgbClr val="0070C0"/>
                </a:solidFill>
                <a:latin typeface="微软雅黑" pitchFamily="34" charset="-122"/>
                <a:ea typeface="微软雅黑" pitchFamily="34" charset="-122"/>
                <a:cs typeface="Times New Roman" pitchFamily="18" charset="0"/>
              </a:rPr>
              <a:t>参考文献</a:t>
            </a:r>
            <a:endParaRPr lang="en-US" altLang="zh-CN" sz="2800" b="1" dirty="0" smtClean="0">
              <a:solidFill>
                <a:srgbClr val="0070C0"/>
              </a:solidFill>
              <a:latin typeface="微软雅黑" pitchFamily="34" charset="-122"/>
              <a:ea typeface="微软雅黑" pitchFamily="34" charset="-122"/>
              <a:cs typeface="Times New Roman" pitchFamily="18" charset="0"/>
            </a:endParaRPr>
          </a:p>
        </p:txBody>
      </p:sp>
      <p:sp>
        <p:nvSpPr>
          <p:cNvPr id="7" name="矩形 6"/>
          <p:cNvSpPr/>
          <p:nvPr/>
        </p:nvSpPr>
        <p:spPr>
          <a:xfrm>
            <a:off x="216024" y="863001"/>
            <a:ext cx="7956376"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Rectangle 3"/>
          <p:cNvSpPr txBox="1">
            <a:spLocks noChangeArrowheads="1"/>
          </p:cNvSpPr>
          <p:nvPr/>
        </p:nvSpPr>
        <p:spPr>
          <a:xfrm>
            <a:off x="265113" y="955484"/>
            <a:ext cx="8642350" cy="5857892"/>
          </a:xfrm>
          <a:prstGeom prst="rect">
            <a:avLst/>
          </a:prstGeom>
        </p:spPr>
        <p:txBody>
          <a:bodyPr vert="horz" lIns="91440" tIns="45720" rIns="91440" bIns="45720" rtlCol="0">
            <a:noAutofit/>
          </a:bodyPr>
          <a:lstStyle/>
          <a:p>
            <a:pPr marL="342900" lvl="0" indent="-342900">
              <a:lnSpc>
                <a:spcPct val="150000"/>
              </a:lnSpc>
              <a:spcBef>
                <a:spcPct val="20000"/>
              </a:spcBef>
              <a:buFont typeface="Arial" pitchFamily="34" charset="0"/>
              <a:buChar char="•"/>
              <a:defRPr/>
            </a:pPr>
            <a:r>
              <a:rPr lang="zh-CN" altLang="en-US" sz="2000" dirty="0" smtClean="0">
                <a:latin typeface="Times New Roman" pitchFamily="18" charset="0"/>
                <a:cs typeface="Times New Roman" pitchFamily="18" charset="0"/>
              </a:rPr>
              <a:t>许伟</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基于网络大数据的社会经济监测预警研究</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科学出版社</a:t>
            </a:r>
            <a:r>
              <a:rPr lang="en-US" altLang="zh-CN" sz="2000" dirty="0" smtClean="0">
                <a:latin typeface="Times New Roman" pitchFamily="18" charset="0"/>
                <a:cs typeface="Times New Roman" pitchFamily="18" charset="0"/>
              </a:rPr>
              <a:t>, 2016.</a:t>
            </a:r>
          </a:p>
          <a:p>
            <a:pPr marL="342900" indent="-342900">
              <a:lnSpc>
                <a:spcPct val="150000"/>
              </a:lnSpc>
              <a:spcBef>
                <a:spcPct val="20000"/>
              </a:spcBef>
              <a:buFont typeface="Arial" pitchFamily="34" charset="0"/>
              <a:buChar char="•"/>
              <a:defRPr/>
            </a:pPr>
            <a:r>
              <a:rPr lang="zh-CN" altLang="en-US" sz="2000" dirty="0" smtClean="0">
                <a:latin typeface="Times New Roman" pitchFamily="18" charset="0"/>
                <a:cs typeface="Times New Roman" pitchFamily="18" charset="0"/>
              </a:rPr>
              <a:t>许伟</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王明明</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李倩</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互联网金融概论</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中国人民大学出版社</a:t>
            </a:r>
            <a:r>
              <a:rPr lang="en-US" altLang="zh-CN" sz="2000" dirty="0" smtClean="0">
                <a:latin typeface="Times New Roman" pitchFamily="18" charset="0"/>
                <a:cs typeface="Times New Roman" pitchFamily="18" charset="0"/>
              </a:rPr>
              <a:t>, 2016.</a:t>
            </a:r>
          </a:p>
          <a:p>
            <a:pPr marL="342900" lvl="0" indent="-342900">
              <a:lnSpc>
                <a:spcPct val="150000"/>
              </a:lnSpc>
              <a:spcBef>
                <a:spcPct val="20000"/>
              </a:spcBef>
              <a:buFont typeface="Arial" pitchFamily="34" charset="0"/>
              <a:buChar char="•"/>
              <a:defRPr/>
            </a:pPr>
            <a:r>
              <a:rPr lang="zh-CN" altLang="en-US" sz="2000" dirty="0" smtClean="0">
                <a:latin typeface="Times New Roman" pitchFamily="18" charset="0"/>
                <a:cs typeface="Times New Roman" pitchFamily="18" charset="0"/>
              </a:rPr>
              <a:t>许伟</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梁循</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杨小平</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金融数据挖掘</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基于大数据视角的展望</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知识产权出版社</a:t>
            </a:r>
            <a:r>
              <a:rPr lang="en-US" altLang="zh-CN" sz="2000" dirty="0" smtClean="0">
                <a:latin typeface="Times New Roman" pitchFamily="18" charset="0"/>
                <a:cs typeface="Times New Roman" pitchFamily="18" charset="0"/>
              </a:rPr>
              <a:t>, 2013.</a:t>
            </a:r>
          </a:p>
          <a:p>
            <a:pPr marL="342900" lvl="0" indent="-342900">
              <a:lnSpc>
                <a:spcPct val="150000"/>
              </a:lnSpc>
              <a:spcBef>
                <a:spcPct val="20000"/>
              </a:spcBef>
              <a:buFont typeface="Arial" pitchFamily="34" charset="0"/>
              <a:buChar char="•"/>
              <a:defRPr/>
            </a:pPr>
            <a:r>
              <a:rPr lang="zh-CN" altLang="en-US" sz="2000" dirty="0" smtClean="0">
                <a:latin typeface="Times New Roman" pitchFamily="18" charset="0"/>
                <a:cs typeface="Times New Roman" pitchFamily="18" charset="0"/>
              </a:rPr>
              <a:t>许伟</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马建</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汪寿阳</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系统分析方法集成研究及其在预测和监测中的应用</a:t>
            </a: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科学出版社</a:t>
            </a:r>
            <a:r>
              <a:rPr lang="en-US" altLang="zh-CN" sz="2000" dirty="0" smtClean="0">
                <a:latin typeface="Times New Roman" pitchFamily="18" charset="0"/>
                <a:cs typeface="Times New Roman" pitchFamily="18" charset="0"/>
              </a:rPr>
              <a:t>, 2011.</a:t>
            </a:r>
          </a:p>
          <a:p>
            <a:pPr marL="342900" indent="-342900">
              <a:lnSpc>
                <a:spcPct val="150000"/>
              </a:lnSpc>
              <a:spcBef>
                <a:spcPct val="20000"/>
              </a:spcBef>
              <a:buFont typeface="Arial" pitchFamily="34" charset="0"/>
              <a:buChar char="•"/>
              <a:defRPr/>
            </a:pPr>
            <a:r>
              <a:rPr lang="en-US" altLang="zh-CN" sz="2000" dirty="0" smtClean="0">
                <a:latin typeface="Times New Roman" pitchFamily="18" charset="0"/>
                <a:cs typeface="Times New Roman" pitchFamily="18" charset="0"/>
              </a:rPr>
              <a:t>X. Zhang, Y. Han, W. </a:t>
            </a:r>
            <a:r>
              <a:rPr lang="en-US" altLang="zh-CN" sz="2000" dirty="0" err="1" smtClean="0">
                <a:latin typeface="Times New Roman" pitchFamily="18" charset="0"/>
                <a:cs typeface="Times New Roman" pitchFamily="18" charset="0"/>
              </a:rPr>
              <a:t>Xu</a:t>
            </a:r>
            <a:r>
              <a:rPr lang="en-US" altLang="zh-CN" sz="2000" dirty="0" smtClean="0">
                <a:latin typeface="Times New Roman" pitchFamily="18" charset="0"/>
                <a:cs typeface="Times New Roman" pitchFamily="18" charset="0"/>
              </a:rPr>
              <a:t>, Q. Wang. HOBA: a novel feature engineering methodology for credit card fraud detection with a deep learning architecture. Information Sciences, available online, 2019.</a:t>
            </a:r>
          </a:p>
          <a:p>
            <a:pPr marL="342900" indent="-342900">
              <a:lnSpc>
                <a:spcPct val="150000"/>
              </a:lnSpc>
              <a:spcBef>
                <a:spcPct val="20000"/>
              </a:spcBef>
              <a:buFont typeface="Arial" pitchFamily="34" charset="0"/>
              <a:buChar char="•"/>
              <a:defRPr/>
            </a:pPr>
            <a:r>
              <a:rPr lang="en-US" altLang="zh-CN" sz="2000" dirty="0" smtClean="0">
                <a:latin typeface="Times New Roman" pitchFamily="18" charset="0"/>
                <a:cs typeface="Times New Roman" pitchFamily="18" charset="0"/>
              </a:rPr>
              <a:t>H. Yuan, R. Lau, W. </a:t>
            </a:r>
            <a:r>
              <a:rPr lang="en-US" altLang="zh-CN" sz="2000" dirty="0" err="1" smtClean="0">
                <a:latin typeface="Times New Roman" pitchFamily="18" charset="0"/>
                <a:cs typeface="Times New Roman" pitchFamily="18" charset="0"/>
              </a:rPr>
              <a:t>Xu</a:t>
            </a:r>
            <a:r>
              <a:rPr lang="en-US" altLang="zh-CN" sz="2000" dirty="0" smtClean="0">
                <a:latin typeface="Times New Roman" pitchFamily="18" charset="0"/>
                <a:cs typeface="Times New Roman" pitchFamily="18" charset="0"/>
              </a:rPr>
              <a:t>. The determinants of </a:t>
            </a:r>
            <a:r>
              <a:rPr lang="en-US" altLang="zh-CN" sz="2000" dirty="0" err="1" smtClean="0">
                <a:latin typeface="Times New Roman" pitchFamily="18" charset="0"/>
                <a:cs typeface="Times New Roman" pitchFamily="18" charset="0"/>
              </a:rPr>
              <a:t>crowdfunding</a:t>
            </a:r>
            <a:r>
              <a:rPr lang="en-US" altLang="zh-CN" sz="2000" dirty="0" smtClean="0">
                <a:latin typeface="Times New Roman" pitchFamily="18" charset="0"/>
                <a:cs typeface="Times New Roman" pitchFamily="18" charset="0"/>
              </a:rPr>
              <a:t> success a semantic text analytics approach. Decision Support Systems, 2016, 91, 67-76.</a:t>
            </a:r>
          </a:p>
        </p:txBody>
      </p:sp>
    </p:spTree>
    <p:extLst>
      <p:ext uri="{BB962C8B-B14F-4D97-AF65-F5344CB8AC3E}">
        <p14:creationId xmlns="" xmlns:p14="http://schemas.microsoft.com/office/powerpoint/2010/main" val="39427699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571612"/>
            <a:ext cx="9144000" cy="2428892"/>
          </a:xfrm>
          <a:prstGeom prst="rect">
            <a:avLst/>
          </a:prstGeom>
          <a:gradFill flip="none" rotWithShape="1">
            <a:gsLst>
              <a:gs pos="70000">
                <a:schemeClr val="tx2">
                  <a:lumMod val="40000"/>
                  <a:lumOff val="60000"/>
                </a:schemeClr>
              </a:gs>
              <a:gs pos="100000">
                <a:schemeClr val="accent2">
                  <a:gamma/>
                  <a:tint val="0"/>
                  <a:invGamma/>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Box 4"/>
          <p:cNvSpPr txBox="1"/>
          <p:nvPr/>
        </p:nvSpPr>
        <p:spPr>
          <a:xfrm>
            <a:off x="1500166" y="2071678"/>
            <a:ext cx="6000792" cy="1200329"/>
          </a:xfrm>
          <a:prstGeom prst="rect">
            <a:avLst/>
          </a:prstGeom>
          <a:noFill/>
        </p:spPr>
        <p:txBody>
          <a:bodyPr wrap="square" rtlCol="0">
            <a:spAutoFit/>
          </a:bodyPr>
          <a:lstStyle/>
          <a:p>
            <a:pPr algn="ctr">
              <a:lnSpc>
                <a:spcPct val="120000"/>
              </a:lnSpc>
            </a:pPr>
            <a:r>
              <a:rPr lang="en-US" altLang="zh-CN" sz="4000" b="1" dirty="0" smtClean="0">
                <a:latin typeface="微软雅黑" pitchFamily="34" charset="-122"/>
                <a:ea typeface="微软雅黑" pitchFamily="34" charset="-122"/>
              </a:rPr>
              <a:t>Thank you</a:t>
            </a:r>
          </a:p>
          <a:p>
            <a:pPr algn="ctr">
              <a:lnSpc>
                <a:spcPct val="120000"/>
              </a:lnSpc>
            </a:pPr>
            <a:r>
              <a:rPr lang="en-US" altLang="zh-CN" sz="2000" b="1" dirty="0" smtClean="0">
                <a:latin typeface="微软雅黑" pitchFamily="34" charset="-122"/>
                <a:ea typeface="微软雅黑" pitchFamily="34" charset="-122"/>
              </a:rPr>
              <a:t>Comments and Suggestions</a:t>
            </a:r>
          </a:p>
        </p:txBody>
      </p:sp>
      <p:cxnSp>
        <p:nvCxnSpPr>
          <p:cNvPr id="6" name="直接连接符 229"/>
          <p:cNvCxnSpPr>
            <a:cxnSpLocks noChangeShapeType="1"/>
          </p:cNvCxnSpPr>
          <p:nvPr/>
        </p:nvCxnSpPr>
        <p:spPr bwMode="auto">
          <a:xfrm>
            <a:off x="0" y="4071942"/>
            <a:ext cx="9217025" cy="0"/>
          </a:xfrm>
          <a:prstGeom prst="line">
            <a:avLst/>
          </a:prstGeom>
          <a:noFill/>
          <a:ln w="6350" cmpd="sng">
            <a:solidFill>
              <a:srgbClr val="969696"/>
            </a:solidFill>
            <a:prstDash val="dash"/>
            <a:round/>
            <a:headEnd/>
            <a:tailEnd/>
          </a:ln>
        </p:spPr>
      </p:cxnSp>
      <p:cxnSp>
        <p:nvCxnSpPr>
          <p:cNvPr id="7" name="直接连接符 229"/>
          <p:cNvCxnSpPr>
            <a:cxnSpLocks noChangeShapeType="1"/>
          </p:cNvCxnSpPr>
          <p:nvPr/>
        </p:nvCxnSpPr>
        <p:spPr bwMode="auto">
          <a:xfrm>
            <a:off x="0" y="1571612"/>
            <a:ext cx="9217025" cy="0"/>
          </a:xfrm>
          <a:prstGeom prst="line">
            <a:avLst/>
          </a:prstGeom>
          <a:noFill/>
          <a:ln w="6350" cmpd="sng">
            <a:solidFill>
              <a:srgbClr val="969696"/>
            </a:solidFill>
            <a:prstDash val="dash"/>
            <a:round/>
            <a:headEnd/>
            <a:tailEnd/>
          </a:ln>
        </p:spPr>
      </p:cxnSp>
      <p:pic>
        <p:nvPicPr>
          <p:cNvPr id="11" name="图片 10" descr="f35ea009087b38036b60fbe5.jpg"/>
          <p:cNvPicPr>
            <a:picLocks noChangeAspect="1"/>
          </p:cNvPicPr>
          <p:nvPr/>
        </p:nvPicPr>
        <p:blipFill>
          <a:blip r:embed="rId2" cstate="print"/>
          <a:stretch>
            <a:fillRect/>
          </a:stretch>
        </p:blipFill>
        <p:spPr>
          <a:xfrm>
            <a:off x="7786710" y="142852"/>
            <a:ext cx="1080120" cy="1071018"/>
          </a:xfrm>
          <a:prstGeom prst="rect">
            <a:avLst/>
          </a:prstGeom>
          <a:effectLst>
            <a:reflection blurRad="6350" stA="52000" endA="300" endPos="35000" dir="5400000" sy="-100000" algn="bl" rotWithShape="0"/>
          </a:effectLst>
        </p:spPr>
      </p:pic>
      <p:sp>
        <p:nvSpPr>
          <p:cNvPr id="8" name="TextBox 7"/>
          <p:cNvSpPr txBox="1"/>
          <p:nvPr/>
        </p:nvSpPr>
        <p:spPr>
          <a:xfrm>
            <a:off x="571472" y="4202392"/>
            <a:ext cx="8072494" cy="2369880"/>
          </a:xfrm>
          <a:prstGeom prst="rect">
            <a:avLst/>
          </a:prstGeom>
          <a:noFill/>
        </p:spPr>
        <p:txBody>
          <a:bodyPr wrap="square" rtlCol="0">
            <a:spAutoFit/>
          </a:bodyPr>
          <a:lstStyle/>
          <a:p>
            <a:pPr algn="ctr"/>
            <a:r>
              <a:rPr lang="en-US" altLang="zh-CN" sz="2800" b="1" dirty="0" smtClean="0">
                <a:latin typeface="微软雅黑" pitchFamily="34" charset="-122"/>
                <a:ea typeface="微软雅黑" pitchFamily="34" charset="-122"/>
              </a:rPr>
              <a:t>Wei </a:t>
            </a:r>
            <a:r>
              <a:rPr lang="en-US" altLang="zh-CN" sz="2800" b="1" dirty="0" err="1" smtClean="0">
                <a:latin typeface="微软雅黑" pitchFamily="34" charset="-122"/>
                <a:ea typeface="微软雅黑" pitchFamily="34" charset="-122"/>
              </a:rPr>
              <a:t>Xu</a:t>
            </a:r>
            <a:r>
              <a:rPr lang="en-US" altLang="zh-CN" sz="2800" b="1" dirty="0" smtClean="0">
                <a:latin typeface="微软雅黑" pitchFamily="34" charset="-122"/>
                <a:ea typeface="微软雅黑" pitchFamily="34" charset="-122"/>
              </a:rPr>
              <a:t> </a:t>
            </a:r>
            <a:r>
              <a:rPr lang="en-US" altLang="zh-CN" sz="2400" b="1" dirty="0" smtClean="0">
                <a:latin typeface="微软雅黑" pitchFamily="34" charset="-122"/>
                <a:ea typeface="微软雅黑" pitchFamily="34" charset="-122"/>
              </a:rPr>
              <a:t>Associate Professor</a:t>
            </a:r>
          </a:p>
          <a:p>
            <a:pPr algn="ctr"/>
            <a:r>
              <a:rPr lang="en-US" altLang="zh-CN" sz="2400" b="1" dirty="0" smtClean="0">
                <a:latin typeface="微软雅黑" pitchFamily="34" charset="-122"/>
                <a:ea typeface="微软雅黑" pitchFamily="34" charset="-122"/>
              </a:rPr>
              <a:t>School of Information</a:t>
            </a:r>
          </a:p>
          <a:p>
            <a:pPr algn="ctr"/>
            <a:r>
              <a:rPr lang="en-US" altLang="zh-CN" sz="2400" b="1" dirty="0" err="1" smtClean="0">
                <a:latin typeface="微软雅黑" pitchFamily="34" charset="-122"/>
                <a:ea typeface="微软雅黑" pitchFamily="34" charset="-122"/>
              </a:rPr>
              <a:t>Renmin</a:t>
            </a:r>
            <a:r>
              <a:rPr lang="en-US" altLang="zh-CN" sz="2400" b="1" dirty="0" smtClean="0">
                <a:latin typeface="微软雅黑" pitchFamily="34" charset="-122"/>
                <a:ea typeface="微软雅黑" pitchFamily="34" charset="-122"/>
              </a:rPr>
              <a:t> University of China</a:t>
            </a:r>
          </a:p>
          <a:p>
            <a:pPr algn="ctr"/>
            <a:r>
              <a:rPr lang="en-US" altLang="zh-CN" sz="2400" b="1" dirty="0" smtClean="0">
                <a:latin typeface="微软雅黑" pitchFamily="34" charset="-122"/>
                <a:ea typeface="微软雅黑" pitchFamily="34" charset="-122"/>
                <a:hlinkClick r:id="rId3"/>
              </a:rPr>
              <a:t>weixu@ruc.edu.cn</a:t>
            </a:r>
            <a:endParaRPr lang="en-US" altLang="zh-CN" sz="2400" b="1" dirty="0" smtClean="0">
              <a:latin typeface="微软雅黑" pitchFamily="34" charset="-122"/>
              <a:ea typeface="微软雅黑" pitchFamily="34" charset="-122"/>
            </a:endParaRPr>
          </a:p>
          <a:p>
            <a:pPr algn="ctr"/>
            <a:r>
              <a:rPr lang="en-US" altLang="zh-CN" sz="2400" b="1" u="sng" dirty="0" smtClean="0">
                <a:latin typeface="微软雅黑" pitchFamily="34" charset="-122"/>
                <a:ea typeface="微软雅黑" pitchFamily="34" charset="-122"/>
              </a:rPr>
              <a:t>lisa.ruc.edu.cn</a:t>
            </a:r>
          </a:p>
          <a:p>
            <a:pPr algn="ctr"/>
            <a:r>
              <a:rPr lang="en-US" altLang="zh-CN" sz="2400" b="1" dirty="0" smtClean="0">
                <a:latin typeface="微软雅黑" pitchFamily="34" charset="-122"/>
                <a:ea typeface="微软雅黑" pitchFamily="34" charset="-122"/>
              </a:rPr>
              <a:t>04/25/2020</a:t>
            </a:r>
            <a:endParaRPr lang="zh-CN" altLang="en-US" sz="24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3"/>
</p:tagLst>
</file>

<file path=ppt/tags/tag4.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5"/>
</p:tagLst>
</file>

<file path=ppt/tags/tag6.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6"/>
</p:tagLst>
</file>

<file path=ppt/tags/tag7.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7"/>
</p:tagLst>
</file>

<file path=ppt/tags/tag8.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8"/>
</p:tagLst>
</file>

<file path=ppt/tags/tag9.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9"/>
</p:tagLst>
</file>

<file path=ppt/tags/tag10.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0"/>
</p:tagLst>
</file>

<file path=ppt/tags/tag11.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1"/>
</p:tagLst>
</file>

<file path=ppt/tags/tag12.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2"/>
</p:tagLst>
</file>

<file path=ppt/tags/tag13.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3"/>
</p:tagLst>
</file>

<file path=ppt/tags/tag14.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4"/>
</p:tagLst>
</file>

<file path=ppt/tags/tag15.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5"/>
</p:tagLst>
</file>

<file path=ppt/tags/tag16.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6"/>
</p:tagLst>
</file>

<file path=ppt/tags/tag17.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Other"/>
  <p:tag name="MH_ORDER" val="17"/>
</p:tagLst>
</file>

<file path=ppt/tags/tag18.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SubTitle"/>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SubTitle"/>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SubTitle"/>
  <p:tag name="MH_ORDER" val="3"/>
</p:tagLst>
</file>

<file path=ppt/tags/tag21.xml><?xml version="1.0" encoding="utf-8"?>
<p:tagLst xmlns:a="http://schemas.openxmlformats.org/drawingml/2006/main" xmlns:r="http://schemas.openxmlformats.org/officeDocument/2006/relationships" xmlns:p="http://schemas.openxmlformats.org/presentationml/2006/main">
  <p:tag name="MH" val="20150906192446"/>
  <p:tag name="MH_LIBRARY" val="GRAPHIC"/>
  <p:tag name="MH_TYPE" val="SubTitle"/>
  <p:tag name="MH_ORDER" val="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2396</TotalTime>
  <Words>4239</Words>
  <Application>Microsoft Office PowerPoint</Application>
  <PresentationFormat>全屏显示(4:3)</PresentationFormat>
  <Paragraphs>408</Paragraphs>
  <Slides>44</Slides>
  <Notes>42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46" baseType="lpstr">
      <vt:lpstr>Office 主题</vt:lpstr>
      <vt:lpstr>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XuWei</cp:lastModifiedBy>
  <cp:revision>348</cp:revision>
  <dcterms:created xsi:type="dcterms:W3CDTF">2012-11-15T15:49:01Z</dcterms:created>
  <dcterms:modified xsi:type="dcterms:W3CDTF">2020-04-21T01:45:05Z</dcterms:modified>
</cp:coreProperties>
</file>