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85"/>
  </p:notesMasterIdLst>
  <p:handoutMasterIdLst>
    <p:handoutMasterId r:id="rId86"/>
  </p:handoutMasterIdLst>
  <p:sldIdLst>
    <p:sldId id="282" r:id="rId2"/>
    <p:sldId id="283" r:id="rId3"/>
    <p:sldId id="286" r:id="rId4"/>
    <p:sldId id="285" r:id="rId5"/>
    <p:sldId id="292" r:id="rId6"/>
    <p:sldId id="420" r:id="rId7"/>
    <p:sldId id="421" r:id="rId8"/>
    <p:sldId id="303" r:id="rId9"/>
    <p:sldId id="746" r:id="rId10"/>
    <p:sldId id="747" r:id="rId11"/>
    <p:sldId id="748" r:id="rId12"/>
    <p:sldId id="749" r:id="rId13"/>
    <p:sldId id="750" r:id="rId14"/>
    <p:sldId id="751" r:id="rId15"/>
    <p:sldId id="752" r:id="rId16"/>
    <p:sldId id="753" r:id="rId17"/>
    <p:sldId id="754" r:id="rId18"/>
    <p:sldId id="755" r:id="rId19"/>
    <p:sldId id="756" r:id="rId20"/>
    <p:sldId id="757" r:id="rId21"/>
    <p:sldId id="758" r:id="rId22"/>
    <p:sldId id="302" r:id="rId23"/>
    <p:sldId id="343" r:id="rId24"/>
    <p:sldId id="759" r:id="rId25"/>
    <p:sldId id="760" r:id="rId26"/>
    <p:sldId id="761" r:id="rId27"/>
    <p:sldId id="762" r:id="rId28"/>
    <p:sldId id="763" r:id="rId29"/>
    <p:sldId id="764" r:id="rId30"/>
    <p:sldId id="765" r:id="rId31"/>
    <p:sldId id="766" r:id="rId32"/>
    <p:sldId id="573" r:id="rId33"/>
    <p:sldId id="579" r:id="rId34"/>
    <p:sldId id="767" r:id="rId35"/>
    <p:sldId id="768" r:id="rId36"/>
    <p:sldId id="769" r:id="rId37"/>
    <p:sldId id="770" r:id="rId38"/>
    <p:sldId id="771" r:id="rId39"/>
    <p:sldId id="772" r:id="rId40"/>
    <p:sldId id="616" r:id="rId41"/>
    <p:sldId id="617" r:id="rId42"/>
    <p:sldId id="618" r:id="rId43"/>
    <p:sldId id="621" r:id="rId44"/>
    <p:sldId id="622" r:id="rId45"/>
    <p:sldId id="693" r:id="rId46"/>
    <p:sldId id="694" r:id="rId47"/>
    <p:sldId id="623" r:id="rId48"/>
    <p:sldId id="695" r:id="rId49"/>
    <p:sldId id="624" r:id="rId50"/>
    <p:sldId id="625" r:id="rId51"/>
    <p:sldId id="696" r:id="rId52"/>
    <p:sldId id="697" r:id="rId53"/>
    <p:sldId id="698" r:id="rId54"/>
    <p:sldId id="699" r:id="rId55"/>
    <p:sldId id="626" r:id="rId56"/>
    <p:sldId id="703" r:id="rId57"/>
    <p:sldId id="704" r:id="rId58"/>
    <p:sldId id="705" r:id="rId59"/>
    <p:sldId id="706" r:id="rId60"/>
    <p:sldId id="707" r:id="rId61"/>
    <p:sldId id="708" r:id="rId62"/>
    <p:sldId id="709" r:id="rId63"/>
    <p:sldId id="646" r:id="rId64"/>
    <p:sldId id="647" r:id="rId65"/>
    <p:sldId id="649" r:id="rId66"/>
    <p:sldId id="650" r:id="rId67"/>
    <p:sldId id="724" r:id="rId68"/>
    <p:sldId id="726" r:id="rId69"/>
    <p:sldId id="727" r:id="rId70"/>
    <p:sldId id="728" r:id="rId71"/>
    <p:sldId id="729" r:id="rId72"/>
    <p:sldId id="730" r:id="rId73"/>
    <p:sldId id="731" r:id="rId74"/>
    <p:sldId id="732" r:id="rId75"/>
    <p:sldId id="733" r:id="rId76"/>
    <p:sldId id="737" r:id="rId77"/>
    <p:sldId id="738" r:id="rId78"/>
    <p:sldId id="740" r:id="rId79"/>
    <p:sldId id="741" r:id="rId80"/>
    <p:sldId id="742" r:id="rId81"/>
    <p:sldId id="745" r:id="rId82"/>
    <p:sldId id="725" r:id="rId83"/>
    <p:sldId id="773" r:id="rId84"/>
  </p:sldIdLst>
  <p:sldSz cx="9144000" cy="5143500" type="screen16x9"/>
  <p:notesSz cx="6797675" cy="9928225"/>
  <p:embeddedFontLst>
    <p:embeddedFont>
      <p:font typeface="黑体" panose="02010609060101010101" pitchFamily="49" charset="-122"/>
      <p:regular r:id="rId87"/>
    </p:embeddedFont>
    <p:embeddedFont>
      <p:font typeface="宋体" panose="02010600030101010101" pitchFamily="2" charset="-122"/>
      <p:regular r:id="rId88"/>
    </p:embeddedFont>
    <p:embeddedFont>
      <p:font typeface="微软雅黑" panose="020B0503020204020204" pitchFamily="34" charset="-122"/>
      <p:regular r:id="rId89"/>
      <p:bold r:id="rId90"/>
    </p:embeddedFont>
    <p:embeddedFont>
      <p:font typeface="Calibri" panose="020F0502020204030204" pitchFamily="34" charset="0"/>
      <p:regular r:id="rId91"/>
      <p:bold r:id="rId92"/>
      <p:italic r:id="rId93"/>
      <p:boldItalic r:id="rId94"/>
    </p:embeddedFont>
    <p:embeddedFont>
      <p:font typeface="Calibri Light" panose="020F0302020204030204" pitchFamily="34" charset="0"/>
      <p:regular r:id="rId95"/>
      <p:italic r:id="rId96"/>
    </p:embeddedFont>
    <p:embeddedFont>
      <p:font typeface="Comic Sans MS" panose="030F0902030302020204" pitchFamily="66" charset="0"/>
      <p:regular r:id="rId97"/>
    </p:embeddedFont>
    <p:embeddedFont>
      <p:font typeface="Tahoma" panose="020B0604030504040204" pitchFamily="34" charset="0"/>
      <p:regular r:id="rId98"/>
      <p:bold r:id="rId99"/>
    </p:embeddedFont>
    <p:embeddedFont>
      <p:font typeface="Wingdings 2" pitchFamily="2" charset="2"/>
      <p:regular r:id="rId100"/>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00CC"/>
    <a:srgbClr val="FFCCFF"/>
    <a:srgbClr val="003366"/>
    <a:srgbClr val="9966FF"/>
    <a:srgbClr val="3ABADA"/>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1" autoAdjust="0"/>
    <p:restoredTop sz="82962" autoAdjust="0"/>
  </p:normalViewPr>
  <p:slideViewPr>
    <p:cSldViewPr snapToGrid="0">
      <p:cViewPr varScale="1">
        <p:scale>
          <a:sx n="118" d="100"/>
          <a:sy n="118" d="100"/>
        </p:scale>
        <p:origin x="808" y="192"/>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1.fntdata"/><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emf"/><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emf"/><Relationship Id="rId1" Type="http://schemas.openxmlformats.org/officeDocument/2006/relationships/image" Target="../media/image18.emf"/><Relationship Id="rId4"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2024/9/20</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2024/9/20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a:extLst>
              <a:ext uri="{FF2B5EF4-FFF2-40B4-BE49-F238E27FC236}">
                <a16:creationId xmlns:a16="http://schemas.microsoft.com/office/drawing/2014/main" id="{A9BB542B-22FA-4D40-B5BB-54FD635CE9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备注占位符 2">
            <a:extLst>
              <a:ext uri="{FF2B5EF4-FFF2-40B4-BE49-F238E27FC236}">
                <a16:creationId xmlns:a16="http://schemas.microsoft.com/office/drawing/2014/main" id="{62D4D4DA-888F-F443-8FE6-966CFED68C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kumimoji="1" lang="zh-CN" altLang="en-US">
              <a:cs typeface="DengXian" panose="02010600030101010101" pitchFamily="2" charset="-122"/>
            </a:endParaRPr>
          </a:p>
        </p:txBody>
      </p:sp>
      <p:sp>
        <p:nvSpPr>
          <p:cNvPr id="17411" name="幻灯片编号占位符 3">
            <a:extLst>
              <a:ext uri="{FF2B5EF4-FFF2-40B4-BE49-F238E27FC236}">
                <a16:creationId xmlns:a16="http://schemas.microsoft.com/office/drawing/2014/main" id="{E24B38A2-5A6E-4948-9AFA-3782D4CB90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64A782-B3D5-0A45-B56F-D822D3D07C98}" type="slidenum">
              <a:rPr lang="zh-CN" altLang="en-US" sz="1200"/>
              <a:pPr/>
              <a:t>1</a:t>
            </a:fld>
            <a:endParaRPr lang="zh-CN" altLang="en-US" sz="1200"/>
          </a:p>
        </p:txBody>
      </p:sp>
    </p:spTree>
    <p:extLst>
      <p:ext uri="{BB962C8B-B14F-4D97-AF65-F5344CB8AC3E}">
        <p14:creationId xmlns:p14="http://schemas.microsoft.com/office/powerpoint/2010/main" val="112941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4D31292E-993C-3B48-ADC2-74D12D16DF0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6BA234-5D64-644C-92D2-1F22F97799A9}" type="slidenum">
              <a:rPr lang="zh-CN" altLang="en-US" sz="1300">
                <a:latin typeface="Times New Roman" panose="02020603050405020304" pitchFamily="18" charset="0"/>
              </a:rPr>
              <a:pPr/>
              <a:t>9</a:t>
            </a:fld>
            <a:endParaRPr lang="en-US" altLang="zh-CN" sz="1300">
              <a:latin typeface="Times New Roman" panose="02020603050405020304" pitchFamily="18" charset="0"/>
            </a:endParaRPr>
          </a:p>
        </p:txBody>
      </p:sp>
      <p:sp>
        <p:nvSpPr>
          <p:cNvPr id="26626" name="Rectangle 2">
            <a:extLst>
              <a:ext uri="{FF2B5EF4-FFF2-40B4-BE49-F238E27FC236}">
                <a16:creationId xmlns:a16="http://schemas.microsoft.com/office/drawing/2014/main" id="{EA9143CF-ADFB-2946-A209-871DE13186D8}"/>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3">
            <a:extLst>
              <a:ext uri="{FF2B5EF4-FFF2-40B4-BE49-F238E27FC236}">
                <a16:creationId xmlns:a16="http://schemas.microsoft.com/office/drawing/2014/main" id="{5116D7A5-563C-3F44-B7A3-417117C05E2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66311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5F4A2C4D-C12B-DE48-86AE-1656A6163E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08E8EED-0CC3-B94A-AFFE-B918135726E8}" type="slidenum">
              <a:rPr lang="zh-CN" altLang="en-US" sz="1300">
                <a:latin typeface="Times New Roman" panose="02020603050405020304" pitchFamily="18" charset="0"/>
              </a:rPr>
              <a:pPr/>
              <a:t>10</a:t>
            </a:fld>
            <a:endParaRPr lang="en-US" altLang="zh-CN" sz="1300">
              <a:latin typeface="Times New Roman" panose="02020603050405020304" pitchFamily="18" charset="0"/>
            </a:endParaRPr>
          </a:p>
        </p:txBody>
      </p:sp>
      <p:sp>
        <p:nvSpPr>
          <p:cNvPr id="28674" name="Rectangle 2">
            <a:extLst>
              <a:ext uri="{FF2B5EF4-FFF2-40B4-BE49-F238E27FC236}">
                <a16:creationId xmlns:a16="http://schemas.microsoft.com/office/drawing/2014/main" id="{09181390-1AAB-0745-A147-C1B4748F17C3}"/>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a:extLst>
              <a:ext uri="{FF2B5EF4-FFF2-40B4-BE49-F238E27FC236}">
                <a16:creationId xmlns:a16="http://schemas.microsoft.com/office/drawing/2014/main" id="{DDDE0425-90D0-4C4E-B791-D0F7D15B0C8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46003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C79846B0-B1C5-F845-B20D-6D5535BC8E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8FB1AE1-2C9C-2246-BAA2-0705FA8CB2EE}" type="slidenum">
              <a:rPr lang="zh-CN" altLang="en-US" sz="1300">
                <a:latin typeface="Times New Roman" panose="02020603050405020304" pitchFamily="18" charset="0"/>
              </a:rPr>
              <a:pPr/>
              <a:t>11</a:t>
            </a:fld>
            <a:endParaRPr lang="en-US" altLang="zh-CN" sz="1300">
              <a:latin typeface="Times New Roman" panose="02020603050405020304" pitchFamily="18" charset="0"/>
            </a:endParaRPr>
          </a:p>
        </p:txBody>
      </p:sp>
      <p:sp>
        <p:nvSpPr>
          <p:cNvPr id="30722" name="Rectangle 2">
            <a:extLst>
              <a:ext uri="{FF2B5EF4-FFF2-40B4-BE49-F238E27FC236}">
                <a16:creationId xmlns:a16="http://schemas.microsoft.com/office/drawing/2014/main" id="{4E0ABFA9-CBEC-D049-A84D-D97D0EBB6363}"/>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a:extLst>
              <a:ext uri="{FF2B5EF4-FFF2-40B4-BE49-F238E27FC236}">
                <a16:creationId xmlns:a16="http://schemas.microsoft.com/office/drawing/2014/main" id="{385B7263-3612-5346-A835-787E9EE091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52765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F025AAA-3A8F-3A44-B4BD-6446733767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4A5F2DD-4DB0-9C4A-B452-B19038434099}" type="slidenum">
              <a:rPr lang="zh-CN" altLang="en-US" sz="1300">
                <a:latin typeface="Times New Roman" panose="02020603050405020304" pitchFamily="18" charset="0"/>
              </a:rPr>
              <a:pPr/>
              <a:t>12</a:t>
            </a:fld>
            <a:endParaRPr lang="en-US" altLang="zh-CN" sz="1300">
              <a:latin typeface="Times New Roman" panose="02020603050405020304" pitchFamily="18" charset="0"/>
            </a:endParaRPr>
          </a:p>
        </p:txBody>
      </p:sp>
      <p:sp>
        <p:nvSpPr>
          <p:cNvPr id="32770" name="Rectangle 2">
            <a:extLst>
              <a:ext uri="{FF2B5EF4-FFF2-40B4-BE49-F238E27FC236}">
                <a16:creationId xmlns:a16="http://schemas.microsoft.com/office/drawing/2014/main" id="{E3151CAB-19EA-5845-BE73-A24F938209F0}"/>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85CD456-3473-2240-AE1A-4F3910A9E0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147490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59517CE-0FDE-BB43-97BA-901FCBF0BE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92377D-29CB-5E4E-A860-80D249BB1F78}" type="slidenum">
              <a:rPr lang="zh-CN" altLang="en-US" sz="1300">
                <a:latin typeface="Times New Roman" panose="02020603050405020304" pitchFamily="18" charset="0"/>
              </a:rPr>
              <a:pPr/>
              <a:t>13</a:t>
            </a:fld>
            <a:endParaRPr lang="en-US" altLang="zh-CN" sz="1300">
              <a:latin typeface="Times New Roman" panose="02020603050405020304" pitchFamily="18" charset="0"/>
            </a:endParaRPr>
          </a:p>
        </p:txBody>
      </p:sp>
      <p:sp>
        <p:nvSpPr>
          <p:cNvPr id="34818" name="Rectangle 2">
            <a:extLst>
              <a:ext uri="{FF2B5EF4-FFF2-40B4-BE49-F238E27FC236}">
                <a16:creationId xmlns:a16="http://schemas.microsoft.com/office/drawing/2014/main" id="{7C1AAB1D-D2C0-6E43-A1D0-1D9D4C96951E}"/>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a:extLst>
              <a:ext uri="{FF2B5EF4-FFF2-40B4-BE49-F238E27FC236}">
                <a16:creationId xmlns:a16="http://schemas.microsoft.com/office/drawing/2014/main" id="{4A701D3A-3D68-3547-B4BF-0570157BF4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251006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8612955-D7C5-7140-B4DD-D7765759B9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844D00F-534B-134B-9663-13CCF8FDCDBA}" type="slidenum">
              <a:rPr lang="zh-CN" altLang="en-US" sz="1300">
                <a:latin typeface="Times New Roman" panose="02020603050405020304" pitchFamily="18" charset="0"/>
              </a:rPr>
              <a:pPr/>
              <a:t>14</a:t>
            </a:fld>
            <a:endParaRPr lang="en-US" altLang="zh-CN" sz="1300">
              <a:latin typeface="Times New Roman" panose="02020603050405020304" pitchFamily="18" charset="0"/>
            </a:endParaRPr>
          </a:p>
        </p:txBody>
      </p:sp>
      <p:sp>
        <p:nvSpPr>
          <p:cNvPr id="36866" name="Rectangle 2">
            <a:extLst>
              <a:ext uri="{FF2B5EF4-FFF2-40B4-BE49-F238E27FC236}">
                <a16:creationId xmlns:a16="http://schemas.microsoft.com/office/drawing/2014/main" id="{F0C1D720-2BFF-E149-AF2B-2BA8CCD1760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AAE7D653-0FB8-1045-A332-CF964D12CF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398657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14CEB1D5-4670-6A48-A376-F8C12A31A6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76F39B-680F-1940-8846-37F4DBA77C46}" type="slidenum">
              <a:rPr lang="zh-CN" altLang="en-US" sz="1300">
                <a:latin typeface="Times New Roman" panose="02020603050405020304" pitchFamily="18" charset="0"/>
              </a:rPr>
              <a:pPr/>
              <a:t>15</a:t>
            </a:fld>
            <a:endParaRPr lang="en-US" altLang="zh-CN" sz="1300">
              <a:latin typeface="Times New Roman" panose="02020603050405020304" pitchFamily="18" charset="0"/>
            </a:endParaRPr>
          </a:p>
        </p:txBody>
      </p:sp>
      <p:sp>
        <p:nvSpPr>
          <p:cNvPr id="38914" name="Rectangle 2">
            <a:extLst>
              <a:ext uri="{FF2B5EF4-FFF2-40B4-BE49-F238E27FC236}">
                <a16:creationId xmlns:a16="http://schemas.microsoft.com/office/drawing/2014/main" id="{14DFE399-E3C3-D242-B58F-54E85A63DFD0}"/>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a:extLst>
              <a:ext uri="{FF2B5EF4-FFF2-40B4-BE49-F238E27FC236}">
                <a16:creationId xmlns:a16="http://schemas.microsoft.com/office/drawing/2014/main" id="{2E992E5C-FECB-E342-957D-86FA5D10C30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9275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46428701-A27C-D348-9121-0B88285F5CE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4842DA3-F63B-8340-AD09-9D89434BFBD3}" type="slidenum">
              <a:rPr lang="zh-CN" altLang="en-US" sz="1300">
                <a:latin typeface="Times New Roman" panose="02020603050405020304" pitchFamily="18" charset="0"/>
              </a:rPr>
              <a:pPr/>
              <a:t>16</a:t>
            </a:fld>
            <a:endParaRPr lang="en-US" altLang="zh-CN" sz="1300">
              <a:latin typeface="Times New Roman" panose="02020603050405020304" pitchFamily="18" charset="0"/>
            </a:endParaRPr>
          </a:p>
        </p:txBody>
      </p:sp>
      <p:sp>
        <p:nvSpPr>
          <p:cNvPr id="40962" name="Rectangle 2">
            <a:extLst>
              <a:ext uri="{FF2B5EF4-FFF2-40B4-BE49-F238E27FC236}">
                <a16:creationId xmlns:a16="http://schemas.microsoft.com/office/drawing/2014/main" id="{9F4E8EA6-6B0E-004C-ADB9-2ABF7BEDF786}"/>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a:extLst>
              <a:ext uri="{FF2B5EF4-FFF2-40B4-BE49-F238E27FC236}">
                <a16:creationId xmlns:a16="http://schemas.microsoft.com/office/drawing/2014/main" id="{22603202-9A0F-B74F-8A26-37345F124C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373215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700CCAC0-EAF7-AA4E-A703-F48CC35B7E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4D5C3ED-EA20-0647-A46B-1179EEDCF2CE}" type="slidenum">
              <a:rPr lang="zh-CN" altLang="en-US" sz="1300">
                <a:latin typeface="Times New Roman" panose="02020603050405020304" pitchFamily="18" charset="0"/>
              </a:rPr>
              <a:pPr/>
              <a:t>17</a:t>
            </a:fld>
            <a:endParaRPr lang="en-US" altLang="zh-CN" sz="1300">
              <a:latin typeface="Times New Roman" panose="02020603050405020304" pitchFamily="18" charset="0"/>
            </a:endParaRPr>
          </a:p>
        </p:txBody>
      </p:sp>
      <p:sp>
        <p:nvSpPr>
          <p:cNvPr id="43010" name="Rectangle 2">
            <a:extLst>
              <a:ext uri="{FF2B5EF4-FFF2-40B4-BE49-F238E27FC236}">
                <a16:creationId xmlns:a16="http://schemas.microsoft.com/office/drawing/2014/main" id="{BBD5F892-3E3D-364F-9893-E73A92951DD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a:extLst>
              <a:ext uri="{FF2B5EF4-FFF2-40B4-BE49-F238E27FC236}">
                <a16:creationId xmlns:a16="http://schemas.microsoft.com/office/drawing/2014/main" id="{43462F7B-7128-414E-AD58-31316DD6F4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12689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B7E511F6-A324-D24A-BCEE-4B4649BE09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9C6E93F-9B15-9C48-802B-337D32C4A441}" type="slidenum">
              <a:rPr lang="zh-CN" altLang="en-US" sz="1300">
                <a:latin typeface="Times New Roman" panose="02020603050405020304" pitchFamily="18" charset="0"/>
              </a:rPr>
              <a:pPr/>
              <a:t>18</a:t>
            </a:fld>
            <a:endParaRPr lang="en-US" altLang="zh-CN" sz="1300">
              <a:latin typeface="Times New Roman" panose="02020603050405020304" pitchFamily="18" charset="0"/>
            </a:endParaRPr>
          </a:p>
        </p:txBody>
      </p:sp>
      <p:sp>
        <p:nvSpPr>
          <p:cNvPr id="45058" name="Rectangle 2">
            <a:extLst>
              <a:ext uri="{FF2B5EF4-FFF2-40B4-BE49-F238E27FC236}">
                <a16:creationId xmlns:a16="http://schemas.microsoft.com/office/drawing/2014/main" id="{B7EA8571-8711-3A4C-ABDC-9FF5D2020C6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a:extLst>
              <a:ext uri="{FF2B5EF4-FFF2-40B4-BE49-F238E27FC236}">
                <a16:creationId xmlns:a16="http://schemas.microsoft.com/office/drawing/2014/main" id="{2202A96A-1FEC-984F-BFBC-B8062A1F64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421326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1A1A66C-1AAD-3348-91DB-3E1F82F2BB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DAEDF2-D473-B945-BD57-1275FF1A592D}" type="slidenum">
              <a:rPr lang="zh-CN" altLang="en-US" sz="1300">
                <a:latin typeface="Times New Roman" panose="02020603050405020304" pitchFamily="18" charset="0"/>
              </a:rPr>
              <a:pPr/>
              <a:t>19</a:t>
            </a:fld>
            <a:endParaRPr lang="en-US" altLang="zh-CN" sz="1300">
              <a:latin typeface="Times New Roman" panose="02020603050405020304" pitchFamily="18" charset="0"/>
            </a:endParaRPr>
          </a:p>
        </p:txBody>
      </p:sp>
      <p:sp>
        <p:nvSpPr>
          <p:cNvPr id="47106" name="Rectangle 2">
            <a:extLst>
              <a:ext uri="{FF2B5EF4-FFF2-40B4-BE49-F238E27FC236}">
                <a16:creationId xmlns:a16="http://schemas.microsoft.com/office/drawing/2014/main" id="{09115D8C-E790-C24F-BB29-49C9F24CAB4B}"/>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D03582C1-B76C-B44A-BBBD-C490BC1A698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816356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CCC0C0-994E-4D44-B8C4-B8E964B4DC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644B2D9-A1D6-A244-B0F2-64F93A39D639}" type="slidenum">
              <a:rPr lang="zh-CN" altLang="en-US" sz="1300">
                <a:latin typeface="Times New Roman" panose="02020603050405020304" pitchFamily="18" charset="0"/>
              </a:rPr>
              <a:pPr/>
              <a:t>20</a:t>
            </a:fld>
            <a:endParaRPr lang="en-US" altLang="zh-CN" sz="1300">
              <a:latin typeface="Times New Roman" panose="02020603050405020304" pitchFamily="18" charset="0"/>
            </a:endParaRPr>
          </a:p>
        </p:txBody>
      </p:sp>
      <p:sp>
        <p:nvSpPr>
          <p:cNvPr id="49154" name="Rectangle 2">
            <a:extLst>
              <a:ext uri="{FF2B5EF4-FFF2-40B4-BE49-F238E27FC236}">
                <a16:creationId xmlns:a16="http://schemas.microsoft.com/office/drawing/2014/main" id="{78EA32A8-9998-D94D-9A3C-E01D396DC2F5}"/>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a:extLst>
              <a:ext uri="{FF2B5EF4-FFF2-40B4-BE49-F238E27FC236}">
                <a16:creationId xmlns:a16="http://schemas.microsoft.com/office/drawing/2014/main" id="{BD32C7E7-E7D7-C042-9CFF-C0A1730ED4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796655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2865BB3C-2F1D-6F46-B846-368D939AAC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7628301-7045-A44F-B552-90A71FDF0495}" type="slidenum">
              <a:rPr lang="zh-CN" altLang="en-US" sz="1300">
                <a:latin typeface="Times New Roman" panose="02020603050405020304" pitchFamily="18" charset="0"/>
              </a:rPr>
              <a:pPr/>
              <a:t>21</a:t>
            </a:fld>
            <a:endParaRPr lang="en-US" altLang="zh-CN" sz="1300">
              <a:latin typeface="Times New Roman" panose="02020603050405020304" pitchFamily="18" charset="0"/>
            </a:endParaRPr>
          </a:p>
        </p:txBody>
      </p:sp>
      <p:sp>
        <p:nvSpPr>
          <p:cNvPr id="51202" name="Rectangle 2">
            <a:extLst>
              <a:ext uri="{FF2B5EF4-FFF2-40B4-BE49-F238E27FC236}">
                <a16:creationId xmlns:a16="http://schemas.microsoft.com/office/drawing/2014/main" id="{5CAC30EC-96A2-6545-B316-EA69F4D766F5}"/>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a:extLst>
              <a:ext uri="{FF2B5EF4-FFF2-40B4-BE49-F238E27FC236}">
                <a16:creationId xmlns:a16="http://schemas.microsoft.com/office/drawing/2014/main" id="{A5D6B7EF-D145-0545-A9DE-9A4246A4EF5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726520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EC5ED4A7-C5A9-964E-BCEC-9901B29305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845DBCA-004B-2546-866E-B5B77E9D51A5}" type="slidenum">
              <a:rPr lang="zh-CN" altLang="en-US" sz="1300">
                <a:latin typeface="Times New Roman" panose="02020603050405020304" pitchFamily="18" charset="0"/>
              </a:rPr>
              <a:pPr/>
              <a:t>24</a:t>
            </a:fld>
            <a:endParaRPr lang="en-US" altLang="zh-CN" sz="1300">
              <a:latin typeface="Times New Roman" panose="02020603050405020304" pitchFamily="18" charset="0"/>
            </a:endParaRPr>
          </a:p>
        </p:txBody>
      </p:sp>
      <p:sp>
        <p:nvSpPr>
          <p:cNvPr id="55298" name="Rectangle 2">
            <a:extLst>
              <a:ext uri="{FF2B5EF4-FFF2-40B4-BE49-F238E27FC236}">
                <a16:creationId xmlns:a16="http://schemas.microsoft.com/office/drawing/2014/main" id="{8F1732A0-A23A-E84D-B571-E35DEE24C469}"/>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a:extLst>
              <a:ext uri="{FF2B5EF4-FFF2-40B4-BE49-F238E27FC236}">
                <a16:creationId xmlns:a16="http://schemas.microsoft.com/office/drawing/2014/main" id="{5A23A22A-DDB0-294E-A98A-7EF89C6EC1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74849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73F4A30-3629-0949-A650-FD9064B400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90E03A3-B356-B041-A5AA-5E15C35CFFAF}" type="slidenum">
              <a:rPr lang="zh-CN" altLang="en-US" sz="1300">
                <a:latin typeface="Times New Roman" panose="02020603050405020304" pitchFamily="18" charset="0"/>
              </a:rPr>
              <a:pPr/>
              <a:t>25</a:t>
            </a:fld>
            <a:endParaRPr lang="en-US" altLang="zh-CN" sz="1300">
              <a:latin typeface="Times New Roman" panose="02020603050405020304" pitchFamily="18" charset="0"/>
            </a:endParaRPr>
          </a:p>
        </p:txBody>
      </p:sp>
      <p:sp>
        <p:nvSpPr>
          <p:cNvPr id="57346" name="Rectangle 2">
            <a:extLst>
              <a:ext uri="{FF2B5EF4-FFF2-40B4-BE49-F238E27FC236}">
                <a16:creationId xmlns:a16="http://schemas.microsoft.com/office/drawing/2014/main" id="{0BA372C5-CB73-2A40-9110-C66803E93AD9}"/>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a:extLst>
              <a:ext uri="{FF2B5EF4-FFF2-40B4-BE49-F238E27FC236}">
                <a16:creationId xmlns:a16="http://schemas.microsoft.com/office/drawing/2014/main" id="{FE8CE38A-B745-D045-933A-83478168D89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4919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0B345A75-F9C8-A14C-8575-698C3E7FBE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6542A27-4812-6B48-BA2B-89EECB0B9418}" type="slidenum">
              <a:rPr lang="zh-CN" altLang="en-US" sz="1300">
                <a:latin typeface="Times New Roman" panose="02020603050405020304" pitchFamily="18" charset="0"/>
              </a:rPr>
              <a:pPr/>
              <a:t>26</a:t>
            </a:fld>
            <a:endParaRPr lang="en-US" altLang="zh-CN" sz="1300">
              <a:latin typeface="Times New Roman" panose="02020603050405020304" pitchFamily="18" charset="0"/>
            </a:endParaRPr>
          </a:p>
        </p:txBody>
      </p:sp>
      <p:sp>
        <p:nvSpPr>
          <p:cNvPr id="59394" name="Rectangle 2">
            <a:extLst>
              <a:ext uri="{FF2B5EF4-FFF2-40B4-BE49-F238E27FC236}">
                <a16:creationId xmlns:a16="http://schemas.microsoft.com/office/drawing/2014/main" id="{991A3C99-1F6D-2941-BD25-183AC6CB202A}"/>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a:extLst>
              <a:ext uri="{FF2B5EF4-FFF2-40B4-BE49-F238E27FC236}">
                <a16:creationId xmlns:a16="http://schemas.microsoft.com/office/drawing/2014/main" id="{DA75E143-37D4-0D49-B0B1-E860AD92C7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251271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87B794DF-FA45-6B40-A7F2-B18CF295A7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33F3B70-13BD-474A-8D6C-1F13F2C74690}" type="slidenum">
              <a:rPr lang="zh-CN" altLang="en-US" sz="1300">
                <a:latin typeface="Times New Roman" panose="02020603050405020304" pitchFamily="18" charset="0"/>
              </a:rPr>
              <a:pPr/>
              <a:t>27</a:t>
            </a:fld>
            <a:endParaRPr lang="en-US" altLang="zh-CN" sz="1300">
              <a:latin typeface="Times New Roman" panose="02020603050405020304" pitchFamily="18" charset="0"/>
            </a:endParaRPr>
          </a:p>
        </p:txBody>
      </p:sp>
      <p:sp>
        <p:nvSpPr>
          <p:cNvPr id="61442" name="Rectangle 2">
            <a:extLst>
              <a:ext uri="{FF2B5EF4-FFF2-40B4-BE49-F238E27FC236}">
                <a16:creationId xmlns:a16="http://schemas.microsoft.com/office/drawing/2014/main" id="{13D61F76-4C97-A740-9048-6EAA1B758CBB}"/>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a:extLst>
              <a:ext uri="{FF2B5EF4-FFF2-40B4-BE49-F238E27FC236}">
                <a16:creationId xmlns:a16="http://schemas.microsoft.com/office/drawing/2014/main" id="{08B9A918-8A49-E343-A262-22F142FB6A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619775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8FBC5F1A-3473-0244-A197-EF193295DE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C14845C-DD7D-FF44-8EB3-6C10983076C7}" type="slidenum">
              <a:rPr lang="zh-CN" altLang="en-US" sz="1300">
                <a:latin typeface="Times New Roman" panose="02020603050405020304" pitchFamily="18" charset="0"/>
              </a:rPr>
              <a:pPr/>
              <a:t>28</a:t>
            </a:fld>
            <a:endParaRPr lang="en-US" altLang="zh-CN" sz="1300">
              <a:latin typeface="Times New Roman" panose="02020603050405020304" pitchFamily="18" charset="0"/>
            </a:endParaRPr>
          </a:p>
        </p:txBody>
      </p:sp>
      <p:sp>
        <p:nvSpPr>
          <p:cNvPr id="63490" name="Rectangle 2">
            <a:extLst>
              <a:ext uri="{FF2B5EF4-FFF2-40B4-BE49-F238E27FC236}">
                <a16:creationId xmlns:a16="http://schemas.microsoft.com/office/drawing/2014/main" id="{291A6FB0-219C-CA49-9508-DA1B8D2DAF8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a:extLst>
              <a:ext uri="{FF2B5EF4-FFF2-40B4-BE49-F238E27FC236}">
                <a16:creationId xmlns:a16="http://schemas.microsoft.com/office/drawing/2014/main" id="{4B560A31-64A1-EF47-AFB9-896C959A7B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185869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321CCE62-AFF5-7F43-92A8-89B7145AA8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A9E155-E4DB-474A-9124-C4A3B532A844}" type="slidenum">
              <a:rPr lang="zh-CN" altLang="en-US" sz="1300">
                <a:latin typeface="Times New Roman" panose="02020603050405020304" pitchFamily="18" charset="0"/>
              </a:rPr>
              <a:pPr/>
              <a:t>29</a:t>
            </a:fld>
            <a:endParaRPr lang="en-US" altLang="zh-CN" sz="1300">
              <a:latin typeface="Times New Roman" panose="02020603050405020304" pitchFamily="18" charset="0"/>
            </a:endParaRPr>
          </a:p>
        </p:txBody>
      </p:sp>
      <p:sp>
        <p:nvSpPr>
          <p:cNvPr id="65538" name="Rectangle 2">
            <a:extLst>
              <a:ext uri="{FF2B5EF4-FFF2-40B4-BE49-F238E27FC236}">
                <a16:creationId xmlns:a16="http://schemas.microsoft.com/office/drawing/2014/main" id="{D7024185-26B9-2D4A-BFF1-B3B07AA30AF1}"/>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a:extLst>
              <a:ext uri="{FF2B5EF4-FFF2-40B4-BE49-F238E27FC236}">
                <a16:creationId xmlns:a16="http://schemas.microsoft.com/office/drawing/2014/main" id="{DDDC14DB-4C98-5244-A1E8-070B3C549BB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636904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0E7F119F-CB17-1E4E-9281-CCE07F975E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3601CF1-1A17-5A44-865A-143E6959C3A0}" type="slidenum">
              <a:rPr lang="zh-CN" altLang="en-US" sz="1300">
                <a:latin typeface="Times New Roman" panose="02020603050405020304" pitchFamily="18" charset="0"/>
              </a:rPr>
              <a:pPr/>
              <a:t>30</a:t>
            </a:fld>
            <a:endParaRPr lang="en-US" altLang="zh-CN" sz="1300">
              <a:latin typeface="Times New Roman" panose="02020603050405020304" pitchFamily="18" charset="0"/>
            </a:endParaRPr>
          </a:p>
        </p:txBody>
      </p:sp>
      <p:sp>
        <p:nvSpPr>
          <p:cNvPr id="67586" name="Rectangle 2">
            <a:extLst>
              <a:ext uri="{FF2B5EF4-FFF2-40B4-BE49-F238E27FC236}">
                <a16:creationId xmlns:a16="http://schemas.microsoft.com/office/drawing/2014/main" id="{5CB661AC-5DBB-2843-A8C6-5EFABDC400FE}"/>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a:extLst>
              <a:ext uri="{FF2B5EF4-FFF2-40B4-BE49-F238E27FC236}">
                <a16:creationId xmlns:a16="http://schemas.microsoft.com/office/drawing/2014/main" id="{B931CE64-2C6A-7545-A017-FCF1E7188AF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433254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CA525E5D-783B-B14B-9E1F-81BA94F06B0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67BCDE-A077-3944-85AB-EF9DCB0298CC}" type="slidenum">
              <a:rPr lang="zh-CN" altLang="en-US" sz="1300">
                <a:latin typeface="Times New Roman" panose="02020603050405020304" pitchFamily="18" charset="0"/>
              </a:rPr>
              <a:pPr/>
              <a:t>31</a:t>
            </a:fld>
            <a:endParaRPr lang="en-US" altLang="zh-CN" sz="1300">
              <a:latin typeface="Times New Roman" panose="02020603050405020304" pitchFamily="18" charset="0"/>
            </a:endParaRPr>
          </a:p>
        </p:txBody>
      </p:sp>
      <p:sp>
        <p:nvSpPr>
          <p:cNvPr id="69634" name="Rectangle 2">
            <a:extLst>
              <a:ext uri="{FF2B5EF4-FFF2-40B4-BE49-F238E27FC236}">
                <a16:creationId xmlns:a16="http://schemas.microsoft.com/office/drawing/2014/main" id="{68EDE804-FB32-6845-BE18-515108E20521}"/>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a:extLst>
              <a:ext uri="{FF2B5EF4-FFF2-40B4-BE49-F238E27FC236}">
                <a16:creationId xmlns:a16="http://schemas.microsoft.com/office/drawing/2014/main" id="{8CCDF1D2-855B-9840-BB55-E3D3A6E4A9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010828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67A5EF62-EE9E-5B48-8706-76558936BD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5DD81F-BACA-2D46-B886-6C25C6D1DEAD}" type="slidenum">
              <a:rPr lang="zh-CN" altLang="en-US" sz="1300">
                <a:latin typeface="Times New Roman" panose="02020603050405020304" pitchFamily="18" charset="0"/>
              </a:rPr>
              <a:pPr/>
              <a:t>34</a:t>
            </a:fld>
            <a:endParaRPr lang="en-US" altLang="zh-CN" sz="1300">
              <a:latin typeface="Times New Roman" panose="02020603050405020304" pitchFamily="18" charset="0"/>
            </a:endParaRPr>
          </a:p>
        </p:txBody>
      </p:sp>
      <p:sp>
        <p:nvSpPr>
          <p:cNvPr id="73730" name="Rectangle 2">
            <a:extLst>
              <a:ext uri="{FF2B5EF4-FFF2-40B4-BE49-F238E27FC236}">
                <a16:creationId xmlns:a16="http://schemas.microsoft.com/office/drawing/2014/main" id="{F46A35CF-FD98-6C44-812D-D45244ECFEB7}"/>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a:extLst>
              <a:ext uri="{FF2B5EF4-FFF2-40B4-BE49-F238E27FC236}">
                <a16:creationId xmlns:a16="http://schemas.microsoft.com/office/drawing/2014/main" id="{98DE24B0-91A8-C84A-A9AF-7E33094A1C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1">
                <a:latin typeface="Times New Roman" panose="02020603050405020304" pitchFamily="18" charset="0"/>
                <a:cs typeface="DengXian" panose="02010600030101010101" pitchFamily="2" charset="-122"/>
              </a:rPr>
              <a:t>唯密文攻击</a:t>
            </a:r>
            <a:r>
              <a:rPr lang="zh-CN" altLang="en-US">
                <a:latin typeface="Times New Roman" panose="02020603050405020304" pitchFamily="18" charset="0"/>
                <a:cs typeface="DengXian" panose="02010600030101010101" pitchFamily="2" charset="-122"/>
              </a:rPr>
              <a:t>：只知道密文，也就是，那只能通过统计特性分析其中有什么规律了</a:t>
            </a:r>
          </a:p>
          <a:p>
            <a:r>
              <a:rPr lang="zh-CN" altLang="en-US" b="1">
                <a:latin typeface="Times New Roman" panose="02020603050405020304" pitchFamily="18" charset="0"/>
                <a:cs typeface="DengXian" panose="02010600030101010101" pitchFamily="2" charset="-122"/>
              </a:rPr>
              <a:t>已知明文攻击</a:t>
            </a:r>
            <a:r>
              <a:rPr lang="zh-CN" altLang="en-US">
                <a:latin typeface="Times New Roman" panose="02020603050405020304" pitchFamily="18" charset="0"/>
                <a:cs typeface="DengXian" panose="02010600030101010101" pitchFamily="2" charset="-122"/>
              </a:rPr>
              <a:t>：得到了一些给定的明文和对应的密文</a:t>
            </a:r>
            <a:endParaRPr lang="en-US" altLang="zh-CN">
              <a:latin typeface="Times New Roman" panose="02020603050405020304" pitchFamily="18" charset="0"/>
              <a:cs typeface="DengXian" panose="02010600030101010101" pitchFamily="2" charset="-122"/>
            </a:endParaRPr>
          </a:p>
          <a:p>
            <a:r>
              <a:rPr lang="zh-CN" altLang="en-US">
                <a:latin typeface="Times New Roman" panose="02020603050405020304" pitchFamily="18" charset="0"/>
                <a:cs typeface="DengXian" panose="02010600030101010101" pitchFamily="2" charset="-122"/>
              </a:rPr>
              <a:t>选择明文攻击指的是一种攻击模式。在这种攻击模式中，攻击者可以事先任意选择一定数量的明文，让被攻击的加密算法加密，并得到相应的密文。除了上面的基础，攻击者还可以任意创造一条明文比如“</a:t>
            </a:r>
            <a:r>
              <a:rPr lang="en-US" altLang="zh-CN">
                <a:latin typeface="Times New Roman" panose="02020603050405020304" pitchFamily="18" charset="0"/>
                <a:cs typeface="DengXian" panose="02010600030101010101" pitchFamily="2" charset="-122"/>
              </a:rPr>
              <a:t>Excited”</a:t>
            </a:r>
            <a:r>
              <a:rPr lang="zh-CN" altLang="en-US">
                <a:latin typeface="Times New Roman" panose="02020603050405020304" pitchFamily="18" charset="0"/>
                <a:cs typeface="DengXian" panose="02010600030101010101" pitchFamily="2" charset="-122"/>
              </a:rPr>
              <a:t>，并得到其加密后的密文。比如用一定的手段渗透</a:t>
            </a:r>
            <a:r>
              <a:rPr lang="en-US" altLang="zh-CN">
                <a:latin typeface="Times New Roman" panose="02020603050405020304" pitchFamily="18" charset="0"/>
                <a:cs typeface="DengXian" panose="02010600030101010101" pitchFamily="2" charset="-122"/>
              </a:rPr>
              <a:t>Sharon</a:t>
            </a:r>
            <a:r>
              <a:rPr lang="zh-CN" altLang="en-US">
                <a:latin typeface="Times New Roman" panose="02020603050405020304" pitchFamily="18" charset="0"/>
                <a:cs typeface="DengXian" panose="02010600030101010101" pitchFamily="2" charset="-122"/>
              </a:rPr>
              <a:t>的系统，但是不能直接攻破秘钥，于是只能以她的身份发“</a:t>
            </a:r>
            <a:r>
              <a:rPr lang="en-US" altLang="zh-CN">
                <a:latin typeface="Times New Roman" panose="02020603050405020304" pitchFamily="18" charset="0"/>
                <a:cs typeface="DengXian" panose="02010600030101010101" pitchFamily="2" charset="-122"/>
              </a:rPr>
              <a:t>Excited”</a:t>
            </a:r>
            <a:r>
              <a:rPr lang="zh-CN" altLang="en-US">
                <a:latin typeface="Times New Roman" panose="02020603050405020304" pitchFamily="18" charset="0"/>
                <a:cs typeface="DengXian" panose="02010600030101010101" pitchFamily="2" charset="-122"/>
              </a:rPr>
              <a:t>，然后用抓包或者别的方法得到她发送出来的加密的消息。</a:t>
            </a:r>
          </a:p>
        </p:txBody>
      </p:sp>
    </p:spTree>
    <p:extLst>
      <p:ext uri="{BB962C8B-B14F-4D97-AF65-F5344CB8AC3E}">
        <p14:creationId xmlns:p14="http://schemas.microsoft.com/office/powerpoint/2010/main" val="3059047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6AA31BF-7D53-A147-AD16-38222FA84F8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5903A54-AB3D-7142-AB0E-7E5E1847A429}" type="slidenum">
              <a:rPr lang="zh-CN" altLang="en-US" sz="1300">
                <a:latin typeface="Times New Roman" panose="02020603050405020304" pitchFamily="18" charset="0"/>
              </a:rPr>
              <a:pPr/>
              <a:t>35</a:t>
            </a:fld>
            <a:endParaRPr lang="en-US" altLang="zh-CN" sz="1300">
              <a:latin typeface="Times New Roman" panose="02020603050405020304" pitchFamily="18" charset="0"/>
            </a:endParaRPr>
          </a:p>
        </p:txBody>
      </p:sp>
      <p:sp>
        <p:nvSpPr>
          <p:cNvPr id="75778" name="Rectangle 2">
            <a:extLst>
              <a:ext uri="{FF2B5EF4-FFF2-40B4-BE49-F238E27FC236}">
                <a16:creationId xmlns:a16="http://schemas.microsoft.com/office/drawing/2014/main" id="{262815B3-F7AC-D24D-A67C-49F126B7995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a:extLst>
              <a:ext uri="{FF2B5EF4-FFF2-40B4-BE49-F238E27FC236}">
                <a16:creationId xmlns:a16="http://schemas.microsoft.com/office/drawing/2014/main" id="{BE09F168-D82E-654F-BC29-D0BE2C372A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596014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287B7F9C-3E6B-DD44-BF70-62A8FB4C77F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D105FB5-9A4A-944E-8998-DB64E723F0A7}" type="slidenum">
              <a:rPr lang="zh-CN" altLang="en-US" sz="1300">
                <a:latin typeface="Times New Roman" panose="02020603050405020304" pitchFamily="18" charset="0"/>
              </a:rPr>
              <a:pPr/>
              <a:t>36</a:t>
            </a:fld>
            <a:endParaRPr lang="en-US" altLang="zh-CN" sz="1300">
              <a:latin typeface="Times New Roman" panose="02020603050405020304" pitchFamily="18" charset="0"/>
            </a:endParaRPr>
          </a:p>
        </p:txBody>
      </p:sp>
      <p:sp>
        <p:nvSpPr>
          <p:cNvPr id="77826" name="Rectangle 2">
            <a:extLst>
              <a:ext uri="{FF2B5EF4-FFF2-40B4-BE49-F238E27FC236}">
                <a16:creationId xmlns:a16="http://schemas.microsoft.com/office/drawing/2014/main" id="{4BCBD535-17DC-2145-AF93-400A4B12E922}"/>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EC9A4EFD-CAE0-7447-A9BC-462B7DCBE0A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4140299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1FEED134-A34C-F54A-AB18-02AD16FEC4A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FD80E3D-538D-564A-A96F-38245E7697DD}" type="slidenum">
              <a:rPr lang="zh-CN" altLang="en-US" sz="1300">
                <a:latin typeface="Times New Roman" panose="02020603050405020304" pitchFamily="18" charset="0"/>
              </a:rPr>
              <a:pPr/>
              <a:t>37</a:t>
            </a:fld>
            <a:endParaRPr lang="en-US" altLang="zh-CN" sz="1300">
              <a:latin typeface="Times New Roman" panose="02020603050405020304" pitchFamily="18" charset="0"/>
            </a:endParaRPr>
          </a:p>
        </p:txBody>
      </p:sp>
      <p:sp>
        <p:nvSpPr>
          <p:cNvPr id="79874" name="Rectangle 2">
            <a:extLst>
              <a:ext uri="{FF2B5EF4-FFF2-40B4-BE49-F238E27FC236}">
                <a16:creationId xmlns:a16="http://schemas.microsoft.com/office/drawing/2014/main" id="{182F3D71-8071-F54D-90D5-C0E27D3C7DBF}"/>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a:extLst>
              <a:ext uri="{FF2B5EF4-FFF2-40B4-BE49-F238E27FC236}">
                <a16:creationId xmlns:a16="http://schemas.microsoft.com/office/drawing/2014/main" id="{D44E2119-AC8D-6444-8876-C649218572B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665072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F12311BB-795C-8F4C-8A7C-483D4D6BF1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738E424-7348-E54D-B25C-804DB23C77BE}" type="slidenum">
              <a:rPr lang="zh-CN" altLang="en-US" sz="1300">
                <a:latin typeface="Times New Roman" panose="02020603050405020304" pitchFamily="18" charset="0"/>
              </a:rPr>
              <a:pPr/>
              <a:t>38</a:t>
            </a:fld>
            <a:endParaRPr lang="en-US" altLang="zh-CN" sz="1300">
              <a:latin typeface="Times New Roman" panose="02020603050405020304" pitchFamily="18" charset="0"/>
            </a:endParaRPr>
          </a:p>
        </p:txBody>
      </p:sp>
      <p:sp>
        <p:nvSpPr>
          <p:cNvPr id="81922" name="Rectangle 2">
            <a:extLst>
              <a:ext uri="{FF2B5EF4-FFF2-40B4-BE49-F238E27FC236}">
                <a16:creationId xmlns:a16="http://schemas.microsoft.com/office/drawing/2014/main" id="{8A7B63F8-842B-FB41-8143-C579A07782D8}"/>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a:extLst>
              <a:ext uri="{FF2B5EF4-FFF2-40B4-BE49-F238E27FC236}">
                <a16:creationId xmlns:a16="http://schemas.microsoft.com/office/drawing/2014/main" id="{D3B7E3D4-1831-3F4A-9FA2-A363483A10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282653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32CCD663-7224-784D-AD98-ADFF5A2DB8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E209AEF-2E54-D14D-9AA6-4AE2944C326F}" type="slidenum">
              <a:rPr lang="zh-CN" altLang="en-US" sz="1300">
                <a:latin typeface="Times New Roman" panose="02020603050405020304" pitchFamily="18" charset="0"/>
              </a:rPr>
              <a:pPr/>
              <a:t>39</a:t>
            </a:fld>
            <a:endParaRPr lang="en-US" altLang="zh-CN" sz="1300">
              <a:latin typeface="Times New Roman" panose="02020603050405020304" pitchFamily="18" charset="0"/>
            </a:endParaRPr>
          </a:p>
        </p:txBody>
      </p:sp>
      <p:sp>
        <p:nvSpPr>
          <p:cNvPr id="83970" name="Rectangle 2">
            <a:extLst>
              <a:ext uri="{FF2B5EF4-FFF2-40B4-BE49-F238E27FC236}">
                <a16:creationId xmlns:a16="http://schemas.microsoft.com/office/drawing/2014/main" id="{F2D38485-4AB5-2647-89F6-E9C6AFCF750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a:extLst>
              <a:ext uri="{FF2B5EF4-FFF2-40B4-BE49-F238E27FC236}">
                <a16:creationId xmlns:a16="http://schemas.microsoft.com/office/drawing/2014/main" id="{3F1C89F6-48A0-D044-9763-172316446B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793658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png"/><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7.png"/><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png"/><Relationship Id="rId4" Type="http://schemas.openxmlformats.org/officeDocument/2006/relationships/oleObject" Target="../embeddings/oleObject7.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4.emf"/><Relationship Id="rId4"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5.png"/><Relationship Id="rId4" Type="http://schemas.openxmlformats.org/officeDocument/2006/relationships/oleObject" Target="../embeddings/oleObject10.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1.bin"/><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2.emf"/><Relationship Id="rId4" Type="http://schemas.openxmlformats.org/officeDocument/2006/relationships/image" Target="../media/image16.emf"/><Relationship Id="rId9" Type="http://schemas.openxmlformats.org/officeDocument/2006/relationships/image" Target="../media/image17.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4.bin"/><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9.emf"/><Relationship Id="rId11" Type="http://schemas.openxmlformats.org/officeDocument/2006/relationships/image" Target="../media/image20.emf"/><Relationship Id="rId5" Type="http://schemas.openxmlformats.org/officeDocument/2006/relationships/oleObject" Target="../embeddings/oleObject15.bin"/><Relationship Id="rId10" Type="http://schemas.openxmlformats.org/officeDocument/2006/relationships/oleObject" Target="../embeddings/oleObject17.bin"/><Relationship Id="rId4" Type="http://schemas.openxmlformats.org/officeDocument/2006/relationships/image" Target="../media/image18.emf"/><Relationship Id="rId9" Type="http://schemas.openxmlformats.org/officeDocument/2006/relationships/image" Target="../media/image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image" Target="../media/image1.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image" Target="../media/image24.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6.emf"/><Relationship Id="rId5" Type="http://schemas.openxmlformats.org/officeDocument/2006/relationships/oleObject" Target="../embeddings/oleObject21.bin"/><Relationship Id="rId4" Type="http://schemas.openxmlformats.org/officeDocument/2006/relationships/image" Target="../media/image25.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7.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6D16379-026A-B24E-8CE2-46F059C5F697}"/>
              </a:ext>
            </a:extLst>
          </p:cNvPr>
          <p:cNvSpPr>
            <a:spLocks noGrp="1" noChangeArrowheads="1"/>
          </p:cNvSpPr>
          <p:nvPr>
            <p:ph type="ctrTitle"/>
          </p:nvPr>
        </p:nvSpPr>
        <p:spPr/>
        <p:txBody>
          <a:bodyPr/>
          <a:lstStyle/>
          <a:p>
            <a:pPr algn="ctr" eaLnBrk="1" hangingPunct="1"/>
            <a:r>
              <a:rPr lang="zh-CN" altLang="en-US" sz="4400" dirty="0">
                <a:latin typeface="Times New Roman" panose="02020603050405020304" pitchFamily="18" charset="0"/>
                <a:ea typeface="宋体" panose="02010600030101010101" pitchFamily="2" charset="-122"/>
              </a:rPr>
              <a:t>计算机网络（第 </a:t>
            </a:r>
            <a:r>
              <a:rPr lang="en-US" altLang="zh-CN" sz="4400">
                <a:latin typeface="Times New Roman" panose="02020603050405020304" pitchFamily="18" charset="0"/>
                <a:ea typeface="宋体" panose="02010600030101010101" pitchFamily="2" charset="-122"/>
              </a:rPr>
              <a:t>6/7/8 </a:t>
            </a:r>
            <a:r>
              <a:rPr lang="zh-CN" altLang="en-US" sz="4400" dirty="0">
                <a:latin typeface="Times New Roman" panose="02020603050405020304" pitchFamily="18" charset="0"/>
                <a:ea typeface="宋体" panose="02010600030101010101" pitchFamily="2" charset="-122"/>
              </a:rPr>
              <a:t>版）</a:t>
            </a:r>
          </a:p>
        </p:txBody>
      </p:sp>
      <p:sp>
        <p:nvSpPr>
          <p:cNvPr id="16386" name="Rectangle 3">
            <a:extLst>
              <a:ext uri="{FF2B5EF4-FFF2-40B4-BE49-F238E27FC236}">
                <a16:creationId xmlns:a16="http://schemas.microsoft.com/office/drawing/2014/main" id="{2026D9CB-6645-7F40-92CB-E3CAF8D2909D}"/>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7 </a:t>
            </a:r>
            <a:r>
              <a:rPr lang="zh-CN" altLang="en-US">
                <a:latin typeface="Times New Roman" panose="02020603050405020304" pitchFamily="18" charset="0"/>
                <a:ea typeface="宋体" panose="02010600030101010101" pitchFamily="2" charset="-122"/>
              </a:rPr>
              <a:t>章  网络安全</a:t>
            </a:r>
          </a:p>
        </p:txBody>
      </p:sp>
    </p:spTree>
    <p:extLst>
      <p:ext uri="{BB962C8B-B14F-4D97-AF65-F5344CB8AC3E}">
        <p14:creationId xmlns:p14="http://schemas.microsoft.com/office/powerpoint/2010/main" val="3332688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287D1EAF-98AE-464A-BC39-B8D024E2B76E}"/>
              </a:ext>
            </a:extLst>
          </p:cNvPr>
          <p:cNvSpPr>
            <a:spLocks noGrp="1" noChangeArrowheads="1"/>
          </p:cNvSpPr>
          <p:nvPr>
            <p:ph type="title"/>
          </p:nvPr>
        </p:nvSpPr>
        <p:spPr>
          <a:xfrm>
            <a:off x="148590" y="339327"/>
            <a:ext cx="7036833" cy="576263"/>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7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网络安全</a:t>
            </a:r>
          </a:p>
        </p:txBody>
      </p:sp>
      <p:sp>
        <p:nvSpPr>
          <p:cNvPr id="18434" name="Rectangle 3">
            <a:extLst>
              <a:ext uri="{FF2B5EF4-FFF2-40B4-BE49-F238E27FC236}">
                <a16:creationId xmlns:a16="http://schemas.microsoft.com/office/drawing/2014/main" id="{49A12E28-7AC1-F042-B313-0CE34D41069B}"/>
              </a:ext>
            </a:extLst>
          </p:cNvPr>
          <p:cNvSpPr>
            <a:spLocks noGrp="1" noChangeArrowheads="1"/>
          </p:cNvSpPr>
          <p:nvPr>
            <p:ph type="body" idx="1"/>
          </p:nvPr>
        </p:nvSpPr>
        <p:spPr>
          <a:xfrm>
            <a:off x="148590" y="1017270"/>
            <a:ext cx="8755379" cy="3498771"/>
          </a:xfrm>
        </p:spPr>
        <p:txBody>
          <a:bodyPr/>
          <a:lstStyle/>
          <a:p>
            <a:pPr eaLnBrk="1" hangingPunct="1">
              <a:lnSpc>
                <a:spcPct val="90000"/>
              </a:lnSpc>
              <a:spcBef>
                <a:spcPts val="0"/>
              </a:spcBef>
              <a:buFont typeface="Wingdings" pitchFamily="2" charset="2"/>
              <a:buNone/>
            </a:pPr>
            <a:r>
              <a:rPr lang="en-US" altLang="zh-CN" sz="375" dirty="0">
                <a:ea typeface="宋体" panose="02010600030101010101" pitchFamily="2" charset="-122"/>
              </a:rPr>
              <a:t> </a:t>
            </a:r>
            <a:r>
              <a:rPr lang="en-US" altLang="zh-CN" sz="2100" dirty="0">
                <a:ea typeface="宋体" panose="02010600030101010101" pitchFamily="2" charset="-122"/>
              </a:rPr>
              <a:t>7.1  </a:t>
            </a:r>
            <a:r>
              <a:rPr lang="zh-CN" altLang="en-US" sz="2100" dirty="0">
                <a:ea typeface="宋体" panose="02010600030101010101" pitchFamily="2" charset="-122"/>
              </a:rPr>
              <a:t>网络安全问题概述</a:t>
            </a:r>
          </a:p>
          <a:p>
            <a:pPr eaLnBrk="1" hangingPunct="1">
              <a:lnSpc>
                <a:spcPct val="90000"/>
              </a:lnSpc>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7.1.1  </a:t>
            </a:r>
            <a:r>
              <a:rPr lang="zh-CN" altLang="en-US" sz="2100" dirty="0">
                <a:ea typeface="宋体" panose="02010600030101010101" pitchFamily="2" charset="-122"/>
              </a:rPr>
              <a:t>计算机网络面临的安全性威胁</a:t>
            </a:r>
          </a:p>
          <a:p>
            <a:pPr eaLnBrk="1" hangingPunct="1">
              <a:lnSpc>
                <a:spcPct val="90000"/>
              </a:lnSpc>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7.1.2  </a:t>
            </a:r>
            <a:r>
              <a:rPr lang="zh-CN" altLang="en-US" sz="2100" dirty="0">
                <a:ea typeface="宋体" panose="02010600030101010101" pitchFamily="2" charset="-122"/>
              </a:rPr>
              <a:t>计算机网络安全的内容</a:t>
            </a:r>
          </a:p>
          <a:p>
            <a:pPr eaLnBrk="1" hangingPunct="1">
              <a:lnSpc>
                <a:spcPct val="90000"/>
              </a:lnSpc>
              <a:spcBef>
                <a:spcPts val="0"/>
              </a:spcBef>
              <a:buFont typeface="Wingdings" pitchFamily="2" charset="2"/>
              <a:buNone/>
            </a:pPr>
            <a:r>
              <a:rPr lang="zh-CN" altLang="en-US" sz="2100" dirty="0">
                <a:solidFill>
                  <a:srgbClr val="FF0000"/>
                </a:solidFill>
                <a:ea typeface="宋体" panose="02010600030101010101" pitchFamily="2" charset="-122"/>
              </a:rPr>
              <a:t>       </a:t>
            </a:r>
            <a:r>
              <a:rPr lang="en-US" altLang="zh-CN" sz="2100" dirty="0">
                <a:solidFill>
                  <a:srgbClr val="C00000"/>
                </a:solidFill>
                <a:ea typeface="宋体" panose="02010600030101010101" pitchFamily="2" charset="-122"/>
              </a:rPr>
              <a:t>7.1.3  </a:t>
            </a:r>
            <a:r>
              <a:rPr lang="zh-CN" altLang="en-US" sz="2100" dirty="0">
                <a:solidFill>
                  <a:srgbClr val="C00000"/>
                </a:solidFill>
                <a:ea typeface="宋体" panose="02010600030101010101" pitchFamily="2" charset="-122"/>
              </a:rPr>
              <a:t>一般的数据加密模型</a:t>
            </a:r>
          </a:p>
          <a:p>
            <a:pPr eaLnBrk="1" hangingPunct="1">
              <a:lnSpc>
                <a:spcPct val="90000"/>
              </a:lnSpc>
              <a:spcBef>
                <a:spcPts val="0"/>
              </a:spcBef>
              <a:buFont typeface="Wingdings" pitchFamily="2" charset="2"/>
              <a:buNone/>
            </a:pPr>
            <a:r>
              <a:rPr lang="en-US" altLang="zh-CN" sz="2100" dirty="0">
                <a:solidFill>
                  <a:srgbClr val="C00000"/>
                </a:solidFill>
                <a:ea typeface="宋体" panose="02010600030101010101" pitchFamily="2" charset="-122"/>
              </a:rPr>
              <a:t>7.2  </a:t>
            </a:r>
            <a:r>
              <a:rPr lang="zh-CN" altLang="en-US" sz="2100" dirty="0">
                <a:solidFill>
                  <a:srgbClr val="C00000"/>
                </a:solidFill>
                <a:ea typeface="宋体" panose="02010600030101010101" pitchFamily="2" charset="-122"/>
              </a:rPr>
              <a:t>两类密码体制</a:t>
            </a:r>
          </a:p>
          <a:p>
            <a:pPr eaLnBrk="1" hangingPunct="1">
              <a:lnSpc>
                <a:spcPct val="90000"/>
              </a:lnSpc>
              <a:spcBef>
                <a:spcPts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7.2.1  </a:t>
            </a:r>
            <a:r>
              <a:rPr lang="zh-CN" altLang="en-US" sz="2100" dirty="0">
                <a:solidFill>
                  <a:srgbClr val="C00000"/>
                </a:solidFill>
                <a:ea typeface="宋体" panose="02010600030101010101" pitchFamily="2" charset="-122"/>
              </a:rPr>
              <a:t>对称密钥密码体制</a:t>
            </a:r>
          </a:p>
          <a:p>
            <a:pPr eaLnBrk="1" hangingPunct="1">
              <a:lnSpc>
                <a:spcPct val="90000"/>
              </a:lnSpc>
              <a:spcBef>
                <a:spcPts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7.2.2  </a:t>
            </a:r>
            <a:r>
              <a:rPr lang="zh-CN" altLang="en-US" sz="2100" dirty="0">
                <a:solidFill>
                  <a:srgbClr val="C00000"/>
                </a:solidFill>
                <a:ea typeface="宋体" panose="02010600030101010101" pitchFamily="2" charset="-122"/>
              </a:rPr>
              <a:t>公钥密码体制</a:t>
            </a:r>
            <a:endParaRPr lang="en-US" altLang="zh-CN" sz="2100"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sz="2100" dirty="0">
                <a:solidFill>
                  <a:srgbClr val="C00000"/>
                </a:solidFill>
                <a:ea typeface="宋体" panose="02010600030101010101" pitchFamily="2" charset="-122"/>
              </a:rPr>
              <a:t>7.3  </a:t>
            </a:r>
            <a:r>
              <a:rPr lang="zh-CN" altLang="en-US" sz="2100" dirty="0">
                <a:solidFill>
                  <a:srgbClr val="C00000"/>
                </a:solidFill>
                <a:ea typeface="宋体" panose="02010600030101010101" pitchFamily="2" charset="-122"/>
              </a:rPr>
              <a:t>数字签名</a:t>
            </a:r>
          </a:p>
          <a:p>
            <a:pPr eaLnBrk="1" hangingPunct="1">
              <a:spcBef>
                <a:spcPts val="0"/>
              </a:spcBef>
              <a:buFont typeface="Wingdings" pitchFamily="2" charset="2"/>
              <a:buNone/>
            </a:pPr>
            <a:r>
              <a:rPr lang="en-US" altLang="zh-CN" sz="2100" dirty="0">
                <a:ea typeface="宋体" panose="02010600030101010101" pitchFamily="2" charset="-122"/>
              </a:rPr>
              <a:t>7.4  </a:t>
            </a:r>
            <a:r>
              <a:rPr lang="zh-CN" altLang="en-US" sz="2100" dirty="0">
                <a:ea typeface="宋体" panose="02010600030101010101" pitchFamily="2" charset="-122"/>
              </a:rPr>
              <a:t>鉴别</a:t>
            </a:r>
          </a:p>
          <a:p>
            <a:pPr eaLnBrk="1" hangingPunct="1">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7.4.1  </a:t>
            </a:r>
            <a:r>
              <a:rPr lang="zh-CN" altLang="en-US" sz="2100" dirty="0">
                <a:ea typeface="宋体" panose="02010600030101010101" pitchFamily="2" charset="-122"/>
              </a:rPr>
              <a:t>报文鉴别</a:t>
            </a:r>
          </a:p>
          <a:p>
            <a:pPr eaLnBrk="1" hangingPunct="1">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7.4.2  </a:t>
            </a:r>
            <a:r>
              <a:rPr lang="zh-CN" altLang="en-US" sz="2100" dirty="0">
                <a:ea typeface="宋体" panose="02010600030101010101" pitchFamily="2" charset="-122"/>
              </a:rPr>
              <a:t>实体鉴别</a:t>
            </a:r>
          </a:p>
        </p:txBody>
      </p:sp>
      <p:sp>
        <p:nvSpPr>
          <p:cNvPr id="18435" name="幻灯片编号占位符 1">
            <a:extLst>
              <a:ext uri="{FF2B5EF4-FFF2-40B4-BE49-F238E27FC236}">
                <a16:creationId xmlns:a16="http://schemas.microsoft.com/office/drawing/2014/main" id="{50D02F35-9F3F-2844-8BB0-A54523D5F3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A8E837-FB87-D249-8504-A866531E3F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0580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23FC0EA-BEDE-D74D-B587-82B88D826672}"/>
              </a:ext>
            </a:extLst>
          </p:cNvPr>
          <p:cNvSpPr>
            <a:spLocks noGrp="1" noChangeArrowheads="1"/>
          </p:cNvSpPr>
          <p:nvPr>
            <p:ph type="title"/>
          </p:nvPr>
        </p:nvSpPr>
        <p:spPr>
          <a:xfrm>
            <a:off x="89059" y="307180"/>
            <a:ext cx="8277701" cy="576263"/>
          </a:xfrm>
        </p:spPr>
        <p:txBody>
          <a:bodyPr/>
          <a:lstStyle/>
          <a:p>
            <a:pPr eaLnBrk="1" hangingPunct="1"/>
            <a:r>
              <a:rPr lang="zh-CN" altLang="en-US" sz="3000" dirty="0">
                <a:ea typeface="Arial Unicode MS" panose="020B0604020202020204" pitchFamily="34" charset="-128"/>
                <a:cs typeface="Arial Unicode MS" panose="020B0604020202020204" pitchFamily="34" charset="-128"/>
              </a:rPr>
              <a:t>第 </a:t>
            </a:r>
            <a:r>
              <a:rPr lang="en-US" altLang="zh-CN" sz="3000" dirty="0">
                <a:ea typeface="Arial Unicode MS" panose="020B0604020202020204" pitchFamily="34" charset="-128"/>
                <a:cs typeface="Arial Unicode MS" panose="020B0604020202020204" pitchFamily="34" charset="-128"/>
              </a:rPr>
              <a:t>7 </a:t>
            </a:r>
            <a:r>
              <a:rPr lang="zh-CN" altLang="en-US" sz="3000" dirty="0">
                <a:ea typeface="Arial Unicode MS" panose="020B0604020202020204" pitchFamily="34" charset="-128"/>
                <a:cs typeface="Arial Unicode MS" panose="020B0604020202020204" pitchFamily="34" charset="-128"/>
              </a:rPr>
              <a:t>章  </a:t>
            </a:r>
            <a:r>
              <a:rPr lang="zh-CN" altLang="en-US" sz="3000" dirty="0">
                <a:ea typeface="宋体" panose="02010600030101010101" pitchFamily="2" charset="-122"/>
              </a:rPr>
              <a:t>网络安全（续）</a:t>
            </a:r>
          </a:p>
        </p:txBody>
      </p:sp>
      <p:sp>
        <p:nvSpPr>
          <p:cNvPr id="19458" name="Rectangle 3">
            <a:extLst>
              <a:ext uri="{FF2B5EF4-FFF2-40B4-BE49-F238E27FC236}">
                <a16:creationId xmlns:a16="http://schemas.microsoft.com/office/drawing/2014/main" id="{FBB2AB8C-F7B5-A44B-9990-8DDE18184A85}"/>
              </a:ext>
            </a:extLst>
          </p:cNvPr>
          <p:cNvSpPr>
            <a:spLocks noGrp="1" noChangeArrowheads="1"/>
          </p:cNvSpPr>
          <p:nvPr>
            <p:ph type="body" idx="1"/>
          </p:nvPr>
        </p:nvSpPr>
        <p:spPr>
          <a:xfrm>
            <a:off x="205741" y="1040130"/>
            <a:ext cx="7607142" cy="3508058"/>
          </a:xfrm>
        </p:spPr>
        <p:txBody>
          <a:bodyPr/>
          <a:lstStyle/>
          <a:p>
            <a:pPr eaLnBrk="1" hangingPunct="1">
              <a:spcBef>
                <a:spcPct val="0"/>
              </a:spcBef>
              <a:buFont typeface="Wingdings" pitchFamily="2" charset="2"/>
              <a:buNone/>
            </a:pPr>
            <a:r>
              <a:rPr lang="en-US" altLang="zh-CN" sz="2100" dirty="0">
                <a:ea typeface="宋体" panose="02010600030101010101" pitchFamily="2" charset="-122"/>
              </a:rPr>
              <a:t>7.5  </a:t>
            </a:r>
            <a:r>
              <a:rPr lang="zh-CN" altLang="en-US" sz="2100" dirty="0">
                <a:ea typeface="宋体" panose="02010600030101010101" pitchFamily="2" charset="-122"/>
              </a:rPr>
              <a:t>密钥分配</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7.5.1  </a:t>
            </a:r>
            <a:r>
              <a:rPr lang="zh-CN" altLang="en-US" sz="2100" dirty="0">
                <a:ea typeface="宋体" panose="02010600030101010101" pitchFamily="2" charset="-122"/>
              </a:rPr>
              <a:t>对称密钥的分配</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7.5,2  </a:t>
            </a:r>
            <a:r>
              <a:rPr lang="zh-CN" altLang="en-US" sz="2100" dirty="0">
                <a:ea typeface="宋体" panose="02010600030101010101" pitchFamily="2" charset="-122"/>
              </a:rPr>
              <a:t>公钥的分配</a:t>
            </a:r>
            <a:endParaRPr lang="en-US" altLang="zh-CN" sz="2100" dirty="0">
              <a:ea typeface="宋体" panose="02010600030101010101" pitchFamily="2" charset="-122"/>
            </a:endParaRPr>
          </a:p>
          <a:p>
            <a:pPr eaLnBrk="1" hangingPunct="1">
              <a:spcBef>
                <a:spcPct val="0"/>
              </a:spcBef>
              <a:buFont typeface="Wingdings" pitchFamily="2" charset="2"/>
              <a:buNone/>
            </a:pPr>
            <a:r>
              <a:rPr lang="en-US" altLang="zh-CN" sz="2100" dirty="0">
                <a:ea typeface="宋体" panose="02010600030101010101" pitchFamily="2" charset="-122"/>
              </a:rPr>
              <a:t>7.6  </a:t>
            </a:r>
            <a:r>
              <a:rPr lang="zh-CN" altLang="en-US" sz="2100" dirty="0">
                <a:ea typeface="宋体" panose="02010600030101010101" pitchFamily="2" charset="-122"/>
              </a:rPr>
              <a:t>因特网使用的安全协议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7.6.1  </a:t>
            </a:r>
            <a:r>
              <a:rPr lang="zh-CN" altLang="en-US" sz="2100" dirty="0">
                <a:ea typeface="宋体" panose="02010600030101010101" pitchFamily="2" charset="-122"/>
              </a:rPr>
              <a:t>网络层安全协议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7.6.2  </a:t>
            </a:r>
            <a:r>
              <a:rPr lang="zh-CN" altLang="en-US" sz="2100" dirty="0">
                <a:ea typeface="宋体" panose="02010600030101010101" pitchFamily="2" charset="-122"/>
              </a:rPr>
              <a:t>运输层安全协议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7.6.3  </a:t>
            </a:r>
            <a:r>
              <a:rPr lang="zh-CN" altLang="en-US" sz="2100" dirty="0">
                <a:ea typeface="宋体" panose="02010600030101010101" pitchFamily="2" charset="-122"/>
              </a:rPr>
              <a:t>应用层的安全协议破</a:t>
            </a:r>
          </a:p>
          <a:p>
            <a:pPr eaLnBrk="1" hangingPunct="1">
              <a:spcBef>
                <a:spcPct val="0"/>
              </a:spcBef>
              <a:buFont typeface="Wingdings" pitchFamily="2" charset="2"/>
              <a:buNone/>
            </a:pPr>
            <a:r>
              <a:rPr lang="en-US" altLang="zh-CN" sz="2100" dirty="0">
                <a:solidFill>
                  <a:srgbClr val="C00000"/>
                </a:solidFill>
                <a:ea typeface="宋体" panose="02010600030101010101" pitchFamily="2" charset="-122"/>
              </a:rPr>
              <a:t>7.7  </a:t>
            </a:r>
            <a:r>
              <a:rPr lang="zh-CN" altLang="en-US" sz="2100" dirty="0">
                <a:solidFill>
                  <a:srgbClr val="C00000"/>
                </a:solidFill>
                <a:ea typeface="宋体" panose="02010600030101010101" pitchFamily="2" charset="-122"/>
              </a:rPr>
              <a:t>系统安全：防火墙与入侵检测</a:t>
            </a:r>
          </a:p>
          <a:p>
            <a:pPr eaLnBrk="1" hangingPunct="1">
              <a:spcBef>
                <a:spcPct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7.7.1  </a:t>
            </a:r>
            <a:r>
              <a:rPr lang="zh-CN" altLang="en-US" sz="2100" dirty="0">
                <a:solidFill>
                  <a:srgbClr val="C00000"/>
                </a:solidFill>
                <a:ea typeface="宋体" panose="02010600030101010101" pitchFamily="2" charset="-122"/>
              </a:rPr>
              <a:t>防火墙</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7.7.2  </a:t>
            </a:r>
            <a:r>
              <a:rPr lang="zh-CN" altLang="en-US" sz="2100" dirty="0">
                <a:ea typeface="宋体" panose="02010600030101010101" pitchFamily="2" charset="-122"/>
              </a:rPr>
              <a:t>入侵检测系统</a:t>
            </a:r>
            <a:endParaRPr lang="en-US" altLang="zh-CN" sz="2100" dirty="0">
              <a:ea typeface="宋体" panose="02010600030101010101" pitchFamily="2" charset="-122"/>
            </a:endParaRPr>
          </a:p>
          <a:p>
            <a:pPr eaLnBrk="1" hangingPunct="1">
              <a:spcBef>
                <a:spcPct val="0"/>
              </a:spcBef>
              <a:buFont typeface="Wingdings" pitchFamily="2" charset="2"/>
              <a:buNone/>
            </a:pPr>
            <a:r>
              <a:rPr lang="en-US" altLang="zh-CN" sz="2100" dirty="0">
                <a:solidFill>
                  <a:srgbClr val="C00000"/>
                </a:solidFill>
                <a:ea typeface="宋体" panose="02010600030101010101" pitchFamily="2" charset="-122"/>
              </a:rPr>
              <a:t>7.8</a:t>
            </a:r>
            <a:r>
              <a:rPr lang="zh-CN" altLang="en-US" sz="2100" dirty="0">
                <a:solidFill>
                  <a:srgbClr val="C00000"/>
                </a:solidFill>
                <a:ea typeface="宋体" panose="02010600030101010101" pitchFamily="2" charset="-122"/>
              </a:rPr>
              <a:t> 计算机病毒</a:t>
            </a:r>
          </a:p>
        </p:txBody>
      </p:sp>
      <p:sp>
        <p:nvSpPr>
          <p:cNvPr id="19459" name="幻灯片编号占位符 1">
            <a:extLst>
              <a:ext uri="{FF2B5EF4-FFF2-40B4-BE49-F238E27FC236}">
                <a16:creationId xmlns:a16="http://schemas.microsoft.com/office/drawing/2014/main" id="{9FA49B31-1858-C644-A6D0-640BE20FD19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242DEF4-8EE3-694F-8CF5-63E068E328D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8063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75CDCAA9-A247-9940-A2C5-848055143FD3}"/>
              </a:ext>
            </a:extLst>
          </p:cNvPr>
          <p:cNvSpPr>
            <a:spLocks noGrp="1" noChangeArrowheads="1"/>
          </p:cNvSpPr>
          <p:nvPr>
            <p:ph type="title"/>
          </p:nvPr>
        </p:nvSpPr>
        <p:spPr>
          <a:xfrm>
            <a:off x="148590" y="258367"/>
            <a:ext cx="7664292" cy="667464"/>
          </a:xfrm>
        </p:spPr>
        <p:txBody>
          <a:bodyPr/>
          <a:lstStyle/>
          <a:p>
            <a:pPr eaLnBrk="1" hangingPunct="1"/>
            <a:r>
              <a:rPr lang="en-US" altLang="zh-CN" sz="3000" dirty="0">
                <a:ea typeface="宋体" panose="02010600030101010101" pitchFamily="2" charset="-122"/>
              </a:rPr>
              <a:t>7.1 </a:t>
            </a:r>
            <a:r>
              <a:rPr lang="zh-CN" altLang="en-US" sz="3000" dirty="0">
                <a:ea typeface="宋体" panose="02010600030101010101" pitchFamily="2" charset="-122"/>
              </a:rPr>
              <a:t>网络安全问题概述</a:t>
            </a:r>
          </a:p>
        </p:txBody>
      </p:sp>
      <p:sp>
        <p:nvSpPr>
          <p:cNvPr id="123907" name="Rectangle 3">
            <a:extLst>
              <a:ext uri="{FF2B5EF4-FFF2-40B4-BE49-F238E27FC236}">
                <a16:creationId xmlns:a16="http://schemas.microsoft.com/office/drawing/2014/main" id="{1AA73D4B-29B1-E747-B7AF-3BE225D8653A}"/>
              </a:ext>
            </a:extLst>
          </p:cNvPr>
          <p:cNvSpPr>
            <a:spLocks noGrp="1" noChangeArrowheads="1"/>
          </p:cNvSpPr>
          <p:nvPr>
            <p:ph type="body" idx="1"/>
          </p:nvPr>
        </p:nvSpPr>
        <p:spPr>
          <a:xfrm>
            <a:off x="116562" y="1691343"/>
            <a:ext cx="8910875" cy="3264754"/>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计算机网络上的通信面临以下两大类威胁：</a:t>
            </a:r>
          </a:p>
          <a:p>
            <a:pPr marL="457200" indent="-457200" eaLnBrk="1" hangingPunct="1">
              <a:buFont typeface="+mj-lt"/>
              <a:buAutoNum type="arabicPeriod"/>
            </a:pPr>
            <a:r>
              <a:rPr lang="zh-CN" altLang="en-US" dirty="0">
                <a:latin typeface="Times New Roman" panose="02020603050405020304" pitchFamily="18" charset="0"/>
                <a:ea typeface="宋体" panose="02010600030101010101" pitchFamily="2" charset="-122"/>
              </a:rPr>
              <a:t>被动攻击。主要是截获，即从网络上窃听他人的通信内容。</a:t>
            </a:r>
          </a:p>
          <a:p>
            <a:pPr marL="457200" indent="-457200" eaLnBrk="1" hangingPunct="1">
              <a:buFont typeface="+mj-lt"/>
              <a:buAutoNum type="arabicPeriod"/>
            </a:pPr>
            <a:r>
              <a:rPr lang="zh-CN" altLang="en-US" dirty="0">
                <a:latin typeface="Times New Roman" panose="02020603050405020304" pitchFamily="18" charset="0"/>
                <a:ea typeface="宋体" panose="02010600030101010101" pitchFamily="2" charset="-122"/>
              </a:rPr>
              <a:t>主动攻击，主要有：</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篡改</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故意篡改网络上传送的报文。</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恶意程序</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包括计算机病毒、计算机蠕虫、特洛伊木马和逻辑炸弹等。</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拒绝服务</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包括分布式拒绝服务</a:t>
            </a:r>
            <a:r>
              <a:rPr lang="zh-CN" altLang="en-US" dirty="0">
                <a:latin typeface="Times New Roman" panose="02020603050405020304" pitchFamily="18" charset="0"/>
                <a:ea typeface="宋体" panose="02010600030101010101" pitchFamily="2" charset="-122"/>
              </a:rPr>
              <a:t>。</a:t>
            </a:r>
          </a:p>
        </p:txBody>
      </p:sp>
      <p:sp>
        <p:nvSpPr>
          <p:cNvPr id="20483" name="幻灯片编号占位符 1">
            <a:extLst>
              <a:ext uri="{FF2B5EF4-FFF2-40B4-BE49-F238E27FC236}">
                <a16:creationId xmlns:a16="http://schemas.microsoft.com/office/drawing/2014/main" id="{E8D70E10-D5CF-5B48-A2AE-D8C63D1D7C1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7675D-7329-F34D-87FE-8DCCEAD20D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2593EBD-8F3A-F74B-B1AF-BBFC42E08042}"/>
              </a:ext>
            </a:extLst>
          </p:cNvPr>
          <p:cNvSpPr/>
          <p:nvPr/>
        </p:nvSpPr>
        <p:spPr>
          <a:xfrm>
            <a:off x="116562" y="1069837"/>
            <a:ext cx="6537246" cy="523220"/>
          </a:xfrm>
          <a:prstGeom prst="rect">
            <a:avLst/>
          </a:prstGeom>
        </p:spPr>
        <p:txBody>
          <a:bodyPr wrap="square">
            <a:spAutoFit/>
          </a:bodyPr>
          <a:lstStyle/>
          <a:p>
            <a:r>
              <a:rPr lang="en-US" altLang="zh-CN" sz="2800" dirty="0"/>
              <a:t>7.1.1 </a:t>
            </a:r>
            <a:r>
              <a:rPr lang="zh-CN" altLang="en-US" sz="2800" dirty="0"/>
              <a:t>计算机网络面临的安全性威胁 </a:t>
            </a:r>
          </a:p>
        </p:txBody>
      </p:sp>
    </p:spTree>
    <p:extLst>
      <p:ext uri="{BB962C8B-B14F-4D97-AF65-F5344CB8AC3E}">
        <p14:creationId xmlns:p14="http://schemas.microsoft.com/office/powerpoint/2010/main" val="4168434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9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39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71" name="Rectangle 99">
            <a:extLst>
              <a:ext uri="{FF2B5EF4-FFF2-40B4-BE49-F238E27FC236}">
                <a16:creationId xmlns:a16="http://schemas.microsoft.com/office/drawing/2014/main" id="{EC06F64B-7E13-C64F-95B6-409BE51A98A7}"/>
              </a:ext>
            </a:extLst>
          </p:cNvPr>
          <p:cNvSpPr>
            <a:spLocks noChangeArrowheads="1"/>
          </p:cNvSpPr>
          <p:nvPr/>
        </p:nvSpPr>
        <p:spPr bwMode="auto">
          <a:xfrm>
            <a:off x="1218010" y="1746647"/>
            <a:ext cx="6618684" cy="1624013"/>
          </a:xfrm>
          <a:prstGeom prst="rect">
            <a:avLst/>
          </a:prstGeom>
          <a:solidFill>
            <a:srgbClr val="FFFF99"/>
          </a:solidFill>
          <a:ln w="9525">
            <a:solidFill>
              <a:schemeClr val="tx1"/>
            </a:solidFill>
            <a:prstDash val="dash"/>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06" name="Rectangle 2">
            <a:extLst>
              <a:ext uri="{FF2B5EF4-FFF2-40B4-BE49-F238E27FC236}">
                <a16:creationId xmlns:a16="http://schemas.microsoft.com/office/drawing/2014/main" id="{FB3650B7-E8BE-8243-9E04-402FE8F32654}"/>
              </a:ext>
            </a:extLst>
          </p:cNvPr>
          <p:cNvSpPr>
            <a:spLocks noGrp="1" noChangeArrowheads="1"/>
          </p:cNvSpPr>
          <p:nvPr>
            <p:ph type="title"/>
          </p:nvPr>
        </p:nvSpPr>
        <p:spPr>
          <a:xfrm>
            <a:off x="166688" y="304115"/>
            <a:ext cx="7180660" cy="576263"/>
          </a:xfrm>
        </p:spPr>
        <p:txBody>
          <a:bodyPr/>
          <a:lstStyle/>
          <a:p>
            <a:pPr eaLnBrk="1" hangingPunct="1"/>
            <a:r>
              <a:rPr lang="zh-CN" altLang="en-US" dirty="0">
                <a:ea typeface="宋体" panose="02010600030101010101" pitchFamily="2" charset="-122"/>
              </a:rPr>
              <a:t>对网络的被动攻击和主动攻击 </a:t>
            </a:r>
          </a:p>
        </p:txBody>
      </p:sp>
      <p:sp>
        <p:nvSpPr>
          <p:cNvPr id="131138" name="Rectangle 66">
            <a:extLst>
              <a:ext uri="{FF2B5EF4-FFF2-40B4-BE49-F238E27FC236}">
                <a16:creationId xmlns:a16="http://schemas.microsoft.com/office/drawing/2014/main" id="{2E282497-E048-5F4D-905F-8CBC878CAC0A}"/>
              </a:ext>
            </a:extLst>
          </p:cNvPr>
          <p:cNvSpPr>
            <a:spLocks noChangeArrowheads="1"/>
          </p:cNvSpPr>
          <p:nvPr/>
        </p:nvSpPr>
        <p:spPr bwMode="auto">
          <a:xfrm>
            <a:off x="2924175" y="3001566"/>
            <a:ext cx="4905375" cy="365522"/>
          </a:xfrm>
          <a:prstGeom prst="rect">
            <a:avLst/>
          </a:prstGeom>
          <a:solidFill>
            <a:srgbClr val="CCE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0" name="Oval 68">
            <a:extLst>
              <a:ext uri="{FF2B5EF4-FFF2-40B4-BE49-F238E27FC236}">
                <a16:creationId xmlns:a16="http://schemas.microsoft.com/office/drawing/2014/main" id="{4DED3E9E-1D7F-1C42-A8A2-5A2247C23C5D}"/>
              </a:ext>
            </a:extLst>
          </p:cNvPr>
          <p:cNvSpPr>
            <a:spLocks noChangeArrowheads="1"/>
          </p:cNvSpPr>
          <p:nvPr/>
        </p:nvSpPr>
        <p:spPr bwMode="auto">
          <a:xfrm>
            <a:off x="3093244" y="2205038"/>
            <a:ext cx="197644" cy="209550"/>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1" name="Oval 69">
            <a:extLst>
              <a:ext uri="{FF2B5EF4-FFF2-40B4-BE49-F238E27FC236}">
                <a16:creationId xmlns:a16="http://schemas.microsoft.com/office/drawing/2014/main" id="{B866C217-3641-8149-9563-9A0D5E7F0772}"/>
              </a:ext>
            </a:extLst>
          </p:cNvPr>
          <p:cNvSpPr>
            <a:spLocks noChangeArrowheads="1"/>
          </p:cNvSpPr>
          <p:nvPr/>
        </p:nvSpPr>
        <p:spPr bwMode="auto">
          <a:xfrm>
            <a:off x="4115991" y="2205038"/>
            <a:ext cx="197644" cy="209550"/>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3" name="Oval 71">
            <a:extLst>
              <a:ext uri="{FF2B5EF4-FFF2-40B4-BE49-F238E27FC236}">
                <a16:creationId xmlns:a16="http://schemas.microsoft.com/office/drawing/2014/main" id="{1CB1B4C4-4654-8949-9A1F-C574E011D50A}"/>
              </a:ext>
            </a:extLst>
          </p:cNvPr>
          <p:cNvSpPr>
            <a:spLocks noChangeArrowheads="1"/>
          </p:cNvSpPr>
          <p:nvPr/>
        </p:nvSpPr>
        <p:spPr bwMode="auto">
          <a:xfrm>
            <a:off x="1431132" y="2205038"/>
            <a:ext cx="197644" cy="207169"/>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4" name="Oval 72">
            <a:extLst>
              <a:ext uri="{FF2B5EF4-FFF2-40B4-BE49-F238E27FC236}">
                <a16:creationId xmlns:a16="http://schemas.microsoft.com/office/drawing/2014/main" id="{F58471C0-3923-0343-8E69-9EAD49936F59}"/>
              </a:ext>
            </a:extLst>
          </p:cNvPr>
          <p:cNvSpPr>
            <a:spLocks noChangeArrowheads="1"/>
          </p:cNvSpPr>
          <p:nvPr/>
        </p:nvSpPr>
        <p:spPr bwMode="auto">
          <a:xfrm>
            <a:off x="2455069" y="2205038"/>
            <a:ext cx="197644" cy="207169"/>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5" name="Line 73">
            <a:extLst>
              <a:ext uri="{FF2B5EF4-FFF2-40B4-BE49-F238E27FC236}">
                <a16:creationId xmlns:a16="http://schemas.microsoft.com/office/drawing/2014/main" id="{CB941BD1-A53B-E249-9BA1-031F7354AED9}"/>
              </a:ext>
            </a:extLst>
          </p:cNvPr>
          <p:cNvSpPr>
            <a:spLocks noChangeShapeType="1"/>
          </p:cNvSpPr>
          <p:nvPr/>
        </p:nvSpPr>
        <p:spPr bwMode="auto">
          <a:xfrm>
            <a:off x="1628775" y="2309813"/>
            <a:ext cx="826294" cy="0"/>
          </a:xfrm>
          <a:prstGeom prst="line">
            <a:avLst/>
          </a:prstGeom>
          <a:noFill/>
          <a:ln w="28575">
            <a:solidFill>
              <a:srgbClr val="333399"/>
            </a:solidFill>
            <a:round/>
            <a:headEnd type="none" w="sm" len="sm"/>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6" name="弧 74">
            <a:extLst>
              <a:ext uri="{FF2B5EF4-FFF2-40B4-BE49-F238E27FC236}">
                <a16:creationId xmlns:a16="http://schemas.microsoft.com/office/drawing/2014/main" id="{6034BACF-54B4-214D-9AA2-61EA8FE9C358}"/>
              </a:ext>
            </a:extLst>
          </p:cNvPr>
          <p:cNvSpPr>
            <a:spLocks/>
          </p:cNvSpPr>
          <p:nvPr/>
        </p:nvSpPr>
        <p:spPr bwMode="auto">
          <a:xfrm>
            <a:off x="1628775" y="2309813"/>
            <a:ext cx="426244" cy="296466"/>
          </a:xfrm>
          <a:custGeom>
            <a:avLst/>
            <a:gdLst>
              <a:gd name="T0" fmla="*/ 221568 w 21600"/>
              <a:gd name="T1" fmla="*/ 0 h 19891"/>
              <a:gd name="T2" fmla="*/ 568325 w 21600"/>
              <a:gd name="T3" fmla="*/ 395288 h 19891"/>
              <a:gd name="T4" fmla="*/ 0 w 21600"/>
              <a:gd name="T5" fmla="*/ 395288 h 19891"/>
              <a:gd name="T6" fmla="*/ 0 60000 65536"/>
              <a:gd name="T7" fmla="*/ 0 60000 65536"/>
              <a:gd name="T8" fmla="*/ 0 60000 65536"/>
            </a:gdLst>
            <a:ahLst/>
            <a:cxnLst>
              <a:cxn ang="T6">
                <a:pos x="T0" y="T1"/>
              </a:cxn>
              <a:cxn ang="T7">
                <a:pos x="T2" y="T3"/>
              </a:cxn>
              <a:cxn ang="T8">
                <a:pos x="T4" y="T5"/>
              </a:cxn>
            </a:cxnLst>
            <a:rect l="0" t="0" r="r" b="b"/>
            <a:pathLst>
              <a:path w="21600" h="19891" fill="none" extrusionOk="0">
                <a:moveTo>
                  <a:pt x="8420" y="0"/>
                </a:moveTo>
                <a:cubicBezTo>
                  <a:pt x="16409" y="3382"/>
                  <a:pt x="21600" y="11215"/>
                  <a:pt x="21600" y="19891"/>
                </a:cubicBezTo>
              </a:path>
              <a:path w="21600" h="19891" stroke="0" extrusionOk="0">
                <a:moveTo>
                  <a:pt x="8420" y="0"/>
                </a:moveTo>
                <a:cubicBezTo>
                  <a:pt x="16409" y="3382"/>
                  <a:pt x="21600" y="11215"/>
                  <a:pt x="21600" y="19891"/>
                </a:cubicBezTo>
                <a:lnTo>
                  <a:pt x="0" y="19891"/>
                </a:lnTo>
                <a:lnTo>
                  <a:pt x="8420" y="0"/>
                </a:lnTo>
                <a:close/>
              </a:path>
            </a:pathLst>
          </a:custGeom>
          <a:noFill/>
          <a:ln w="28575">
            <a:solidFill>
              <a:schemeClr val="hlink"/>
            </a:solidFill>
            <a:round/>
            <a:headEnd type="none" w="sm" len="sm"/>
            <a:tailEnd type="triangle" w="med" len="lg"/>
          </a:ln>
          <a:effectLst/>
        </p:spPr>
        <p:txBody>
          <a:bodyPr wrap="none" anchor="ctr"/>
          <a:lstStyle/>
          <a:p>
            <a:pPr>
              <a:defRPr/>
            </a:pPr>
            <a:endParaRPr lang="zh-CN" altLang="en-US">
              <a:cs typeface="+mn-cs"/>
            </a:endParaRPr>
          </a:p>
        </p:txBody>
      </p:sp>
      <p:sp>
        <p:nvSpPr>
          <p:cNvPr id="131147" name="Oval 75">
            <a:extLst>
              <a:ext uri="{FF2B5EF4-FFF2-40B4-BE49-F238E27FC236}">
                <a16:creationId xmlns:a16="http://schemas.microsoft.com/office/drawing/2014/main" id="{7C1D6432-DF47-724D-98E1-D87CA9D39997}"/>
              </a:ext>
            </a:extLst>
          </p:cNvPr>
          <p:cNvSpPr>
            <a:spLocks noChangeArrowheads="1"/>
          </p:cNvSpPr>
          <p:nvPr/>
        </p:nvSpPr>
        <p:spPr bwMode="auto">
          <a:xfrm>
            <a:off x="1927622" y="2620567"/>
            <a:ext cx="295275" cy="17383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15" name="Text Box 76">
            <a:extLst>
              <a:ext uri="{FF2B5EF4-FFF2-40B4-BE49-F238E27FC236}">
                <a16:creationId xmlns:a16="http://schemas.microsoft.com/office/drawing/2014/main" id="{D835E68B-F14F-CF40-9DA4-8AB2A0CBB768}"/>
              </a:ext>
            </a:extLst>
          </p:cNvPr>
          <p:cNvSpPr txBox="1">
            <a:spLocks noChangeArrowheads="1"/>
          </p:cNvSpPr>
          <p:nvPr/>
        </p:nvSpPr>
        <p:spPr bwMode="auto">
          <a:xfrm>
            <a:off x="2222898" y="258961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截获</a:t>
            </a:r>
          </a:p>
        </p:txBody>
      </p:sp>
      <p:sp>
        <p:nvSpPr>
          <p:cNvPr id="131149" name="Oval 77">
            <a:extLst>
              <a:ext uri="{FF2B5EF4-FFF2-40B4-BE49-F238E27FC236}">
                <a16:creationId xmlns:a16="http://schemas.microsoft.com/office/drawing/2014/main" id="{52576A66-C018-594E-8830-A49D1B038EC8}"/>
              </a:ext>
            </a:extLst>
          </p:cNvPr>
          <p:cNvSpPr>
            <a:spLocks noChangeArrowheads="1"/>
          </p:cNvSpPr>
          <p:nvPr/>
        </p:nvSpPr>
        <p:spPr bwMode="auto">
          <a:xfrm>
            <a:off x="4743450"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0" name="Oval 78">
            <a:extLst>
              <a:ext uri="{FF2B5EF4-FFF2-40B4-BE49-F238E27FC236}">
                <a16:creationId xmlns:a16="http://schemas.microsoft.com/office/drawing/2014/main" id="{AF4D6A7B-F37A-B24F-991F-89B4CE720FC4}"/>
              </a:ext>
            </a:extLst>
          </p:cNvPr>
          <p:cNvSpPr>
            <a:spLocks noChangeArrowheads="1"/>
          </p:cNvSpPr>
          <p:nvPr/>
        </p:nvSpPr>
        <p:spPr bwMode="auto">
          <a:xfrm>
            <a:off x="5767388" y="2201466"/>
            <a:ext cx="198835"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5" name="Oval 83">
            <a:extLst>
              <a:ext uri="{FF2B5EF4-FFF2-40B4-BE49-F238E27FC236}">
                <a16:creationId xmlns:a16="http://schemas.microsoft.com/office/drawing/2014/main" id="{1515D460-8ED4-5F4B-9184-B15E7DA48654}"/>
              </a:ext>
            </a:extLst>
          </p:cNvPr>
          <p:cNvSpPr>
            <a:spLocks noChangeArrowheads="1"/>
          </p:cNvSpPr>
          <p:nvPr/>
        </p:nvSpPr>
        <p:spPr bwMode="auto">
          <a:xfrm>
            <a:off x="6430566"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19" name="Text Box 85">
            <a:extLst>
              <a:ext uri="{FF2B5EF4-FFF2-40B4-BE49-F238E27FC236}">
                <a16:creationId xmlns:a16="http://schemas.microsoft.com/office/drawing/2014/main" id="{71ECB70B-575E-0544-A94A-BDDDAE8A8EBF}"/>
              </a:ext>
            </a:extLst>
          </p:cNvPr>
          <p:cNvSpPr txBox="1">
            <a:spLocks noChangeArrowheads="1"/>
          </p:cNvSpPr>
          <p:nvPr/>
        </p:nvSpPr>
        <p:spPr bwMode="auto">
          <a:xfrm>
            <a:off x="7347348" y="2463403"/>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拒绝</a:t>
            </a:r>
          </a:p>
          <a:p>
            <a:pPr>
              <a:spcBef>
                <a:spcPct val="0"/>
              </a:spcBef>
              <a:buClrTx/>
              <a:buSzTx/>
              <a:buFontTx/>
              <a:buNone/>
            </a:pPr>
            <a:r>
              <a:rPr kumimoji="1" lang="zh-CN" altLang="en-US" sz="1500">
                <a:latin typeface="Arial" panose="020B0604020202020204" pitchFamily="34" charset="0"/>
                <a:ea typeface="宋体" panose="02010600030101010101" pitchFamily="2" charset="-122"/>
              </a:rPr>
              <a:t>服务</a:t>
            </a:r>
          </a:p>
        </p:txBody>
      </p:sp>
      <p:sp>
        <p:nvSpPr>
          <p:cNvPr id="131158" name="Oval 86">
            <a:extLst>
              <a:ext uri="{FF2B5EF4-FFF2-40B4-BE49-F238E27FC236}">
                <a16:creationId xmlns:a16="http://schemas.microsoft.com/office/drawing/2014/main" id="{B482BAD1-E495-3040-8B18-0CC8F32D9914}"/>
              </a:ext>
            </a:extLst>
          </p:cNvPr>
          <p:cNvSpPr>
            <a:spLocks noChangeArrowheads="1"/>
          </p:cNvSpPr>
          <p:nvPr/>
        </p:nvSpPr>
        <p:spPr bwMode="auto">
          <a:xfrm>
            <a:off x="7454504"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22" name="Text Box 90">
            <a:extLst>
              <a:ext uri="{FF2B5EF4-FFF2-40B4-BE49-F238E27FC236}">
                <a16:creationId xmlns:a16="http://schemas.microsoft.com/office/drawing/2014/main" id="{2D5276AF-1B94-744F-8DC1-8040377388DD}"/>
              </a:ext>
            </a:extLst>
          </p:cNvPr>
          <p:cNvSpPr txBox="1">
            <a:spLocks noChangeArrowheads="1"/>
          </p:cNvSpPr>
          <p:nvPr/>
        </p:nvSpPr>
        <p:spPr bwMode="auto">
          <a:xfrm>
            <a:off x="4761310" y="3005138"/>
            <a:ext cx="127150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  动  攻  击</a:t>
            </a:r>
          </a:p>
        </p:txBody>
      </p:sp>
      <p:sp>
        <p:nvSpPr>
          <p:cNvPr id="21523" name="Text Box 91">
            <a:extLst>
              <a:ext uri="{FF2B5EF4-FFF2-40B4-BE49-F238E27FC236}">
                <a16:creationId xmlns:a16="http://schemas.microsoft.com/office/drawing/2014/main" id="{6168EE78-1AAE-824D-9336-ED5178458E88}"/>
              </a:ext>
            </a:extLst>
          </p:cNvPr>
          <p:cNvSpPr txBox="1">
            <a:spLocks noChangeArrowheads="1"/>
          </p:cNvSpPr>
          <p:nvPr/>
        </p:nvSpPr>
        <p:spPr bwMode="auto">
          <a:xfrm>
            <a:off x="7193757"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24" name="Text Box 92">
            <a:extLst>
              <a:ext uri="{FF2B5EF4-FFF2-40B4-BE49-F238E27FC236}">
                <a16:creationId xmlns:a16="http://schemas.microsoft.com/office/drawing/2014/main" id="{11EB2BFE-8B14-5545-B748-B38A31E71401}"/>
              </a:ext>
            </a:extLst>
          </p:cNvPr>
          <p:cNvSpPr txBox="1">
            <a:spLocks noChangeArrowheads="1"/>
          </p:cNvSpPr>
          <p:nvPr/>
        </p:nvSpPr>
        <p:spPr bwMode="auto">
          <a:xfrm>
            <a:off x="6274594"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5" name="Text Box 93">
            <a:extLst>
              <a:ext uri="{FF2B5EF4-FFF2-40B4-BE49-F238E27FC236}">
                <a16:creationId xmlns:a16="http://schemas.microsoft.com/office/drawing/2014/main" id="{F55396B8-0826-2147-B80D-0CC161DE8CB8}"/>
              </a:ext>
            </a:extLst>
          </p:cNvPr>
          <p:cNvSpPr txBox="1">
            <a:spLocks noChangeArrowheads="1"/>
          </p:cNvSpPr>
          <p:nvPr/>
        </p:nvSpPr>
        <p:spPr bwMode="auto">
          <a:xfrm>
            <a:off x="4679157"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6" name="Text Box 94">
            <a:extLst>
              <a:ext uri="{FF2B5EF4-FFF2-40B4-BE49-F238E27FC236}">
                <a16:creationId xmlns:a16="http://schemas.microsoft.com/office/drawing/2014/main" id="{EFEFA821-4CF2-C540-8885-70928FA35B49}"/>
              </a:ext>
            </a:extLst>
          </p:cNvPr>
          <p:cNvSpPr txBox="1">
            <a:spLocks noChangeArrowheads="1"/>
          </p:cNvSpPr>
          <p:nvPr/>
        </p:nvSpPr>
        <p:spPr bwMode="auto">
          <a:xfrm>
            <a:off x="3022998"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7" name="Text Box 95">
            <a:extLst>
              <a:ext uri="{FF2B5EF4-FFF2-40B4-BE49-F238E27FC236}">
                <a16:creationId xmlns:a16="http://schemas.microsoft.com/office/drawing/2014/main" id="{0C14E055-1013-B949-B129-34BF68A73B43}"/>
              </a:ext>
            </a:extLst>
          </p:cNvPr>
          <p:cNvSpPr txBox="1">
            <a:spLocks noChangeArrowheads="1"/>
          </p:cNvSpPr>
          <p:nvPr/>
        </p:nvSpPr>
        <p:spPr bwMode="auto">
          <a:xfrm>
            <a:off x="1304926"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8" name="Text Box 96">
            <a:extLst>
              <a:ext uri="{FF2B5EF4-FFF2-40B4-BE49-F238E27FC236}">
                <a16:creationId xmlns:a16="http://schemas.microsoft.com/office/drawing/2014/main" id="{76F1D1FD-63C4-3D48-A25D-C21218290F8B}"/>
              </a:ext>
            </a:extLst>
          </p:cNvPr>
          <p:cNvSpPr txBox="1">
            <a:spLocks noChangeArrowheads="1"/>
          </p:cNvSpPr>
          <p:nvPr/>
        </p:nvSpPr>
        <p:spPr bwMode="auto">
          <a:xfrm>
            <a:off x="5537598"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29" name="Text Box 97">
            <a:extLst>
              <a:ext uri="{FF2B5EF4-FFF2-40B4-BE49-F238E27FC236}">
                <a16:creationId xmlns:a16="http://schemas.microsoft.com/office/drawing/2014/main" id="{C48CE305-6E17-4C45-B8FC-1E7F3B1D5A97}"/>
              </a:ext>
            </a:extLst>
          </p:cNvPr>
          <p:cNvSpPr txBox="1">
            <a:spLocks noChangeArrowheads="1"/>
          </p:cNvSpPr>
          <p:nvPr/>
        </p:nvSpPr>
        <p:spPr bwMode="auto">
          <a:xfrm>
            <a:off x="3881438"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30" name="Text Box 98">
            <a:extLst>
              <a:ext uri="{FF2B5EF4-FFF2-40B4-BE49-F238E27FC236}">
                <a16:creationId xmlns:a16="http://schemas.microsoft.com/office/drawing/2014/main" id="{E1DE76A7-6AD9-7041-9A8A-A97C42540534}"/>
              </a:ext>
            </a:extLst>
          </p:cNvPr>
          <p:cNvSpPr txBox="1">
            <a:spLocks noChangeArrowheads="1"/>
          </p:cNvSpPr>
          <p:nvPr/>
        </p:nvSpPr>
        <p:spPr bwMode="auto">
          <a:xfrm>
            <a:off x="2225279"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131172" name="Line 100">
            <a:extLst>
              <a:ext uri="{FF2B5EF4-FFF2-40B4-BE49-F238E27FC236}">
                <a16:creationId xmlns:a16="http://schemas.microsoft.com/office/drawing/2014/main" id="{1FE39DDC-1A25-D54D-83A2-FF7DD1F2315C}"/>
              </a:ext>
            </a:extLst>
          </p:cNvPr>
          <p:cNvSpPr>
            <a:spLocks noChangeShapeType="1"/>
          </p:cNvSpPr>
          <p:nvPr/>
        </p:nvSpPr>
        <p:spPr bwMode="auto">
          <a:xfrm>
            <a:off x="1218010" y="2981325"/>
            <a:ext cx="6618684" cy="0"/>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3" name="Line 101">
            <a:extLst>
              <a:ext uri="{FF2B5EF4-FFF2-40B4-BE49-F238E27FC236}">
                <a16:creationId xmlns:a16="http://schemas.microsoft.com/office/drawing/2014/main" id="{5754C9C1-93F8-0E4B-A3D1-77746CAA16AA}"/>
              </a:ext>
            </a:extLst>
          </p:cNvPr>
          <p:cNvSpPr>
            <a:spLocks noChangeShapeType="1"/>
          </p:cNvSpPr>
          <p:nvPr/>
        </p:nvSpPr>
        <p:spPr bwMode="auto">
          <a:xfrm>
            <a:off x="2924175" y="1746647"/>
            <a:ext cx="0" cy="1624013"/>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4" name="Line 102">
            <a:extLst>
              <a:ext uri="{FF2B5EF4-FFF2-40B4-BE49-F238E27FC236}">
                <a16:creationId xmlns:a16="http://schemas.microsoft.com/office/drawing/2014/main" id="{4D329AE0-C98B-944A-8E22-6F5636B6E39B}"/>
              </a:ext>
            </a:extLst>
          </p:cNvPr>
          <p:cNvSpPr>
            <a:spLocks noChangeShapeType="1"/>
          </p:cNvSpPr>
          <p:nvPr/>
        </p:nvSpPr>
        <p:spPr bwMode="auto">
          <a:xfrm>
            <a:off x="4561285" y="1746648"/>
            <a:ext cx="0" cy="1234678"/>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5" name="Line 103">
            <a:extLst>
              <a:ext uri="{FF2B5EF4-FFF2-40B4-BE49-F238E27FC236}">
                <a16:creationId xmlns:a16="http://schemas.microsoft.com/office/drawing/2014/main" id="{B215FF93-FE15-BA45-9B4F-89B30E07A0FD}"/>
              </a:ext>
            </a:extLst>
          </p:cNvPr>
          <p:cNvSpPr>
            <a:spLocks noChangeShapeType="1"/>
          </p:cNvSpPr>
          <p:nvPr/>
        </p:nvSpPr>
        <p:spPr bwMode="auto">
          <a:xfrm>
            <a:off x="6267450" y="1746648"/>
            <a:ext cx="0" cy="1234678"/>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7" name="弧 105">
            <a:extLst>
              <a:ext uri="{FF2B5EF4-FFF2-40B4-BE49-F238E27FC236}">
                <a16:creationId xmlns:a16="http://schemas.microsoft.com/office/drawing/2014/main" id="{D4C56F6A-85CA-554D-B79F-7E127216644F}"/>
              </a:ext>
            </a:extLst>
          </p:cNvPr>
          <p:cNvSpPr>
            <a:spLocks/>
          </p:cNvSpPr>
          <p:nvPr/>
        </p:nvSpPr>
        <p:spPr bwMode="auto">
          <a:xfrm>
            <a:off x="3275410" y="2294335"/>
            <a:ext cx="427434" cy="322659"/>
          </a:xfrm>
          <a:custGeom>
            <a:avLst/>
            <a:gdLst>
              <a:gd name="T0" fmla="*/ 0 w 21600"/>
              <a:gd name="T1" fmla="*/ 0 h 21600"/>
              <a:gd name="T2" fmla="*/ 569912 w 21600"/>
              <a:gd name="T3" fmla="*/ 430212 h 21600"/>
              <a:gd name="T4" fmla="*/ 0 w 21600"/>
              <a:gd name="T5" fmla="*/ 43021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333399"/>
            </a:solidFill>
            <a:round/>
            <a:headEnd type="none" w="sm" len="sm"/>
            <a:tailEnd type="triangle" w="med" len="lg"/>
          </a:ln>
          <a:effectLst/>
        </p:spPr>
        <p:txBody>
          <a:bodyPr wrap="none" anchor="ctr"/>
          <a:lstStyle/>
          <a:p>
            <a:pPr>
              <a:defRPr/>
            </a:pPr>
            <a:endParaRPr lang="zh-CN" altLang="en-US">
              <a:cs typeface="+mn-cs"/>
            </a:endParaRPr>
          </a:p>
        </p:txBody>
      </p:sp>
      <p:sp>
        <p:nvSpPr>
          <p:cNvPr id="131178" name="Oval 106">
            <a:extLst>
              <a:ext uri="{FF2B5EF4-FFF2-40B4-BE49-F238E27FC236}">
                <a16:creationId xmlns:a16="http://schemas.microsoft.com/office/drawing/2014/main" id="{B7315AF5-E0AF-9640-8BA0-27869DE81B60}"/>
              </a:ext>
            </a:extLst>
          </p:cNvPr>
          <p:cNvSpPr>
            <a:spLocks noChangeArrowheads="1"/>
          </p:cNvSpPr>
          <p:nvPr/>
        </p:nvSpPr>
        <p:spPr bwMode="auto">
          <a:xfrm>
            <a:off x="3574256" y="2616994"/>
            <a:ext cx="296466" cy="17264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9" name="弧 107">
            <a:extLst>
              <a:ext uri="{FF2B5EF4-FFF2-40B4-BE49-F238E27FC236}">
                <a16:creationId xmlns:a16="http://schemas.microsoft.com/office/drawing/2014/main" id="{EB6C065C-880B-AF45-88E7-0394DC191A17}"/>
              </a:ext>
            </a:extLst>
          </p:cNvPr>
          <p:cNvSpPr>
            <a:spLocks/>
          </p:cNvSpPr>
          <p:nvPr/>
        </p:nvSpPr>
        <p:spPr bwMode="auto">
          <a:xfrm flipH="1">
            <a:off x="3738563" y="2303860"/>
            <a:ext cx="363141" cy="321469"/>
          </a:xfrm>
          <a:custGeom>
            <a:avLst/>
            <a:gdLst>
              <a:gd name="T0" fmla="*/ 0 w 21548"/>
              <a:gd name="T1" fmla="*/ 0 h 21600"/>
              <a:gd name="T2" fmla="*/ 484188 w 21548"/>
              <a:gd name="T3" fmla="*/ 398998 h 21600"/>
              <a:gd name="T4" fmla="*/ 0 w 21548"/>
              <a:gd name="T5" fmla="*/ 428625 h 21600"/>
              <a:gd name="T6" fmla="*/ 0 60000 65536"/>
              <a:gd name="T7" fmla="*/ 0 60000 65536"/>
              <a:gd name="T8" fmla="*/ 0 60000 65536"/>
            </a:gdLst>
            <a:ahLst/>
            <a:cxnLst>
              <a:cxn ang="T6">
                <a:pos x="T0" y="T1"/>
              </a:cxn>
              <a:cxn ang="T7">
                <a:pos x="T2" y="T3"/>
              </a:cxn>
              <a:cxn ang="T8">
                <a:pos x="T4" y="T5"/>
              </a:cxn>
            </a:cxnLst>
            <a:rect l="0" t="0" r="r" b="b"/>
            <a:pathLst>
              <a:path w="21548" h="21600" fill="none" extrusionOk="0">
                <a:moveTo>
                  <a:pt x="0" y="-1"/>
                </a:moveTo>
                <a:cubicBezTo>
                  <a:pt x="11349" y="-1"/>
                  <a:pt x="20763" y="8784"/>
                  <a:pt x="21548" y="20106"/>
                </a:cubicBezTo>
              </a:path>
              <a:path w="21548" h="21600" stroke="0" extrusionOk="0">
                <a:moveTo>
                  <a:pt x="0" y="-1"/>
                </a:moveTo>
                <a:cubicBezTo>
                  <a:pt x="11349" y="-1"/>
                  <a:pt x="20763" y="8784"/>
                  <a:pt x="21548" y="20106"/>
                </a:cubicBezTo>
                <a:lnTo>
                  <a:pt x="0" y="21600"/>
                </a:lnTo>
                <a:lnTo>
                  <a:pt x="0" y="-1"/>
                </a:lnTo>
                <a:close/>
              </a:path>
            </a:pathLst>
          </a:custGeom>
          <a:noFill/>
          <a:ln w="28575">
            <a:solidFill>
              <a:schemeClr val="hlink"/>
            </a:solidFill>
            <a:round/>
            <a:headEnd type="triangle" w="med" len="lg"/>
            <a:tailEnd type="none" w="med" len="lg"/>
          </a:ln>
          <a:effectLst/>
        </p:spPr>
        <p:txBody>
          <a:bodyPr wrap="none" anchor="ctr"/>
          <a:lstStyle/>
          <a:p>
            <a:pPr>
              <a:defRPr/>
            </a:pPr>
            <a:endParaRPr lang="zh-CN" altLang="en-US">
              <a:cs typeface="+mn-cs"/>
            </a:endParaRPr>
          </a:p>
        </p:txBody>
      </p:sp>
      <p:sp>
        <p:nvSpPr>
          <p:cNvPr id="21538" name="Text Box 108">
            <a:extLst>
              <a:ext uri="{FF2B5EF4-FFF2-40B4-BE49-F238E27FC236}">
                <a16:creationId xmlns:a16="http://schemas.microsoft.com/office/drawing/2014/main" id="{200E458F-564C-C44B-8602-A649069BA8A0}"/>
              </a:ext>
            </a:extLst>
          </p:cNvPr>
          <p:cNvSpPr txBox="1">
            <a:spLocks noChangeArrowheads="1"/>
          </p:cNvSpPr>
          <p:nvPr/>
        </p:nvSpPr>
        <p:spPr bwMode="auto">
          <a:xfrm>
            <a:off x="3870723" y="258484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篡改</a:t>
            </a:r>
          </a:p>
        </p:txBody>
      </p:sp>
      <p:sp>
        <p:nvSpPr>
          <p:cNvPr id="131181" name="弧 109">
            <a:extLst>
              <a:ext uri="{FF2B5EF4-FFF2-40B4-BE49-F238E27FC236}">
                <a16:creationId xmlns:a16="http://schemas.microsoft.com/office/drawing/2014/main" id="{A886C878-55B2-8F47-904B-7AA2C7F415BE}"/>
              </a:ext>
            </a:extLst>
          </p:cNvPr>
          <p:cNvSpPr>
            <a:spLocks/>
          </p:cNvSpPr>
          <p:nvPr/>
        </p:nvSpPr>
        <p:spPr bwMode="auto">
          <a:xfrm flipH="1">
            <a:off x="5379244" y="2301479"/>
            <a:ext cx="363141" cy="321469"/>
          </a:xfrm>
          <a:custGeom>
            <a:avLst/>
            <a:gdLst>
              <a:gd name="T0" fmla="*/ 0 w 21548"/>
              <a:gd name="T1" fmla="*/ 0 h 21600"/>
              <a:gd name="T2" fmla="*/ 484188 w 21548"/>
              <a:gd name="T3" fmla="*/ 398998 h 21600"/>
              <a:gd name="T4" fmla="*/ 0 w 21548"/>
              <a:gd name="T5" fmla="*/ 428625 h 21600"/>
              <a:gd name="T6" fmla="*/ 0 60000 65536"/>
              <a:gd name="T7" fmla="*/ 0 60000 65536"/>
              <a:gd name="T8" fmla="*/ 0 60000 65536"/>
            </a:gdLst>
            <a:ahLst/>
            <a:cxnLst>
              <a:cxn ang="T6">
                <a:pos x="T0" y="T1"/>
              </a:cxn>
              <a:cxn ang="T7">
                <a:pos x="T2" y="T3"/>
              </a:cxn>
              <a:cxn ang="T8">
                <a:pos x="T4" y="T5"/>
              </a:cxn>
            </a:cxnLst>
            <a:rect l="0" t="0" r="r" b="b"/>
            <a:pathLst>
              <a:path w="21548" h="21600" fill="none" extrusionOk="0">
                <a:moveTo>
                  <a:pt x="0" y="-1"/>
                </a:moveTo>
                <a:cubicBezTo>
                  <a:pt x="11349" y="-1"/>
                  <a:pt x="20763" y="8784"/>
                  <a:pt x="21548" y="20106"/>
                </a:cubicBezTo>
              </a:path>
              <a:path w="21548" h="21600" stroke="0" extrusionOk="0">
                <a:moveTo>
                  <a:pt x="0" y="-1"/>
                </a:moveTo>
                <a:cubicBezTo>
                  <a:pt x="11349" y="-1"/>
                  <a:pt x="20763" y="8784"/>
                  <a:pt x="21548" y="20106"/>
                </a:cubicBezTo>
                <a:lnTo>
                  <a:pt x="0" y="21600"/>
                </a:lnTo>
                <a:lnTo>
                  <a:pt x="0" y="-1"/>
                </a:lnTo>
                <a:close/>
              </a:path>
            </a:pathLst>
          </a:custGeom>
          <a:noFill/>
          <a:ln w="28575">
            <a:solidFill>
              <a:schemeClr val="hlink"/>
            </a:solidFill>
            <a:round/>
            <a:headEnd type="triangle" w="med" len="lg"/>
            <a:tailEnd type="none" w="med" len="lg"/>
          </a:ln>
          <a:effectLst/>
        </p:spPr>
        <p:txBody>
          <a:bodyPr wrap="none" anchor="ctr"/>
          <a:lstStyle/>
          <a:p>
            <a:pPr>
              <a:defRPr/>
            </a:pPr>
            <a:endParaRPr lang="zh-CN" altLang="en-US">
              <a:cs typeface="+mn-cs"/>
            </a:endParaRPr>
          </a:p>
        </p:txBody>
      </p:sp>
      <p:sp>
        <p:nvSpPr>
          <p:cNvPr id="21540" name="Text Box 110">
            <a:extLst>
              <a:ext uri="{FF2B5EF4-FFF2-40B4-BE49-F238E27FC236}">
                <a16:creationId xmlns:a16="http://schemas.microsoft.com/office/drawing/2014/main" id="{677D7BBD-8F41-DA48-891E-25B6D3673350}"/>
              </a:ext>
            </a:extLst>
          </p:cNvPr>
          <p:cNvSpPr txBox="1">
            <a:spLocks noChangeArrowheads="1"/>
          </p:cNvSpPr>
          <p:nvPr/>
        </p:nvSpPr>
        <p:spPr bwMode="auto">
          <a:xfrm>
            <a:off x="5511404" y="2463403"/>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恶意</a:t>
            </a:r>
          </a:p>
          <a:p>
            <a:pPr>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sp>
        <p:nvSpPr>
          <p:cNvPr id="131183" name="Oval 111">
            <a:extLst>
              <a:ext uri="{FF2B5EF4-FFF2-40B4-BE49-F238E27FC236}">
                <a16:creationId xmlns:a16="http://schemas.microsoft.com/office/drawing/2014/main" id="{A83D3D18-F7BE-7F43-871D-0A1EBBFEAD62}"/>
              </a:ext>
            </a:extLst>
          </p:cNvPr>
          <p:cNvSpPr>
            <a:spLocks noChangeArrowheads="1"/>
          </p:cNvSpPr>
          <p:nvPr/>
        </p:nvSpPr>
        <p:spPr bwMode="auto">
          <a:xfrm>
            <a:off x="5255419" y="2600325"/>
            <a:ext cx="296466" cy="17264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4" name="Oval 112">
            <a:extLst>
              <a:ext uri="{FF2B5EF4-FFF2-40B4-BE49-F238E27FC236}">
                <a16:creationId xmlns:a16="http://schemas.microsoft.com/office/drawing/2014/main" id="{CC6538DD-5891-A54F-BF8F-FE178680F78E}"/>
              </a:ext>
            </a:extLst>
          </p:cNvPr>
          <p:cNvSpPr>
            <a:spLocks noChangeArrowheads="1"/>
          </p:cNvSpPr>
          <p:nvPr/>
        </p:nvSpPr>
        <p:spPr bwMode="auto">
          <a:xfrm>
            <a:off x="6516291" y="2625329"/>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5" name="Oval 113">
            <a:extLst>
              <a:ext uri="{FF2B5EF4-FFF2-40B4-BE49-F238E27FC236}">
                <a16:creationId xmlns:a16="http://schemas.microsoft.com/office/drawing/2014/main" id="{2DD36627-079A-A94F-8400-5B362CBCA93A}"/>
              </a:ext>
            </a:extLst>
          </p:cNvPr>
          <p:cNvSpPr>
            <a:spLocks noChangeArrowheads="1"/>
          </p:cNvSpPr>
          <p:nvPr/>
        </p:nvSpPr>
        <p:spPr bwMode="auto">
          <a:xfrm>
            <a:off x="6678216" y="2680097"/>
            <a:ext cx="295275" cy="161925"/>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9" name="Oval 87">
            <a:extLst>
              <a:ext uri="{FF2B5EF4-FFF2-40B4-BE49-F238E27FC236}">
                <a16:creationId xmlns:a16="http://schemas.microsoft.com/office/drawing/2014/main" id="{644EF956-0A0F-A34A-B8DD-A54D470FD2CB}"/>
              </a:ext>
            </a:extLst>
          </p:cNvPr>
          <p:cNvSpPr>
            <a:spLocks noChangeArrowheads="1"/>
          </p:cNvSpPr>
          <p:nvPr/>
        </p:nvSpPr>
        <p:spPr bwMode="auto">
          <a:xfrm>
            <a:off x="6840141" y="2733675"/>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6" name="Oval 114">
            <a:extLst>
              <a:ext uri="{FF2B5EF4-FFF2-40B4-BE49-F238E27FC236}">
                <a16:creationId xmlns:a16="http://schemas.microsoft.com/office/drawing/2014/main" id="{31D8E557-AC9D-4445-A042-F16E59789C87}"/>
              </a:ext>
            </a:extLst>
          </p:cNvPr>
          <p:cNvSpPr>
            <a:spLocks noChangeArrowheads="1"/>
          </p:cNvSpPr>
          <p:nvPr/>
        </p:nvSpPr>
        <p:spPr bwMode="auto">
          <a:xfrm>
            <a:off x="7056835" y="2733675"/>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7" name="Line 115">
            <a:extLst>
              <a:ext uri="{FF2B5EF4-FFF2-40B4-BE49-F238E27FC236}">
                <a16:creationId xmlns:a16="http://schemas.microsoft.com/office/drawing/2014/main" id="{BAF933E7-76E5-E34F-9E73-4C815F99DC69}"/>
              </a:ext>
            </a:extLst>
          </p:cNvPr>
          <p:cNvSpPr>
            <a:spLocks noChangeShapeType="1"/>
          </p:cNvSpPr>
          <p:nvPr/>
        </p:nvSpPr>
        <p:spPr bwMode="auto">
          <a:xfrm flipV="1">
            <a:off x="6678216" y="2325291"/>
            <a:ext cx="762000" cy="300038"/>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31188" name="Line 116">
            <a:extLst>
              <a:ext uri="{FF2B5EF4-FFF2-40B4-BE49-F238E27FC236}">
                <a16:creationId xmlns:a16="http://schemas.microsoft.com/office/drawing/2014/main" id="{898FD476-3165-B04D-B604-BD89EC316DE4}"/>
              </a:ext>
            </a:extLst>
          </p:cNvPr>
          <p:cNvSpPr>
            <a:spLocks noChangeShapeType="1"/>
          </p:cNvSpPr>
          <p:nvPr/>
        </p:nvSpPr>
        <p:spPr bwMode="auto">
          <a:xfrm flipV="1">
            <a:off x="6879432" y="2364582"/>
            <a:ext cx="578644" cy="322660"/>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48" name="Rectangle 66">
            <a:extLst>
              <a:ext uri="{FF2B5EF4-FFF2-40B4-BE49-F238E27FC236}">
                <a16:creationId xmlns:a16="http://schemas.microsoft.com/office/drawing/2014/main" id="{9036C940-C3E9-F340-8CC4-42C08B0D3E31}"/>
              </a:ext>
            </a:extLst>
          </p:cNvPr>
          <p:cNvSpPr>
            <a:spLocks noChangeArrowheads="1"/>
          </p:cNvSpPr>
          <p:nvPr/>
        </p:nvSpPr>
        <p:spPr bwMode="auto">
          <a:xfrm>
            <a:off x="1229185" y="3006091"/>
            <a:ext cx="1692147" cy="365522"/>
          </a:xfrm>
          <a:prstGeom prst="rect">
            <a:avLst/>
          </a:prstGeom>
          <a:solidFill>
            <a:srgbClr val="FFCCFF"/>
          </a:solidFill>
          <a:ln>
            <a:noFill/>
          </a:ln>
          <a:effectLst/>
        </p:spPr>
        <p:txBody>
          <a:bodyPr wrap="none" anchor="ctr"/>
          <a:lstStyle/>
          <a:p>
            <a:pPr algn="ctr" eaLnBrk="1" hangingPunct="1">
              <a:defRPr/>
            </a:pPr>
            <a:endParaRPr lang="zh-CN" altLang="en-US" dirty="0">
              <a:latin typeface="Tahoma" charset="0"/>
              <a:ea typeface="宋体" charset="-122"/>
              <a:cs typeface="+mn-cs"/>
            </a:endParaRPr>
          </a:p>
        </p:txBody>
      </p:sp>
      <p:sp>
        <p:nvSpPr>
          <p:cNvPr id="131189" name="Line 117">
            <a:extLst>
              <a:ext uri="{FF2B5EF4-FFF2-40B4-BE49-F238E27FC236}">
                <a16:creationId xmlns:a16="http://schemas.microsoft.com/office/drawing/2014/main" id="{E109D8E4-5664-8644-9868-97ABE2CBE48D}"/>
              </a:ext>
            </a:extLst>
          </p:cNvPr>
          <p:cNvSpPr>
            <a:spLocks noChangeShapeType="1"/>
          </p:cNvSpPr>
          <p:nvPr/>
        </p:nvSpPr>
        <p:spPr bwMode="auto">
          <a:xfrm flipV="1">
            <a:off x="7002066" y="2399110"/>
            <a:ext cx="490538" cy="321469"/>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31190" name="Line 118">
            <a:extLst>
              <a:ext uri="{FF2B5EF4-FFF2-40B4-BE49-F238E27FC236}">
                <a16:creationId xmlns:a16="http://schemas.microsoft.com/office/drawing/2014/main" id="{8C8B2479-3F0C-0941-A9A3-1FEACF2B7F84}"/>
              </a:ext>
            </a:extLst>
          </p:cNvPr>
          <p:cNvSpPr>
            <a:spLocks noChangeShapeType="1"/>
          </p:cNvSpPr>
          <p:nvPr/>
        </p:nvSpPr>
        <p:spPr bwMode="auto">
          <a:xfrm flipV="1">
            <a:off x="7256860" y="2389585"/>
            <a:ext cx="276225" cy="350044"/>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1550" name="幻灯片编号占位符 1">
            <a:extLst>
              <a:ext uri="{FF2B5EF4-FFF2-40B4-BE49-F238E27FC236}">
                <a16:creationId xmlns:a16="http://schemas.microsoft.com/office/drawing/2014/main" id="{FCB22D01-095B-974F-9F31-8C872EEA1D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6A73876-8862-0444-942F-443257A66B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
        <p:nvSpPr>
          <p:cNvPr id="21521" name="Text Box 89">
            <a:extLst>
              <a:ext uri="{FF2B5EF4-FFF2-40B4-BE49-F238E27FC236}">
                <a16:creationId xmlns:a16="http://schemas.microsoft.com/office/drawing/2014/main" id="{35470C73-C8A8-3E4A-AA96-A2F098C19A86}"/>
              </a:ext>
            </a:extLst>
          </p:cNvPr>
          <p:cNvSpPr txBox="1">
            <a:spLocks noChangeArrowheads="1"/>
          </p:cNvSpPr>
          <p:nvPr/>
        </p:nvSpPr>
        <p:spPr bwMode="auto">
          <a:xfrm>
            <a:off x="1553767" y="3003948"/>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dirty="0">
                <a:latin typeface="Arial" panose="020B0604020202020204" pitchFamily="34" charset="0"/>
                <a:ea typeface="宋体" panose="02010600030101010101" pitchFamily="2" charset="-122"/>
              </a:rPr>
              <a:t>被动攻击</a:t>
            </a:r>
          </a:p>
        </p:txBody>
      </p:sp>
    </p:spTree>
    <p:extLst>
      <p:ext uri="{BB962C8B-B14F-4D97-AF65-F5344CB8AC3E}">
        <p14:creationId xmlns:p14="http://schemas.microsoft.com/office/powerpoint/2010/main" val="227960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a:extLst>
              <a:ext uri="{FF2B5EF4-FFF2-40B4-BE49-F238E27FC236}">
                <a16:creationId xmlns:a16="http://schemas.microsoft.com/office/drawing/2014/main" id="{F1A7CAA5-53E6-EC4D-B6F7-33194D4C301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7.1.2  </a:t>
            </a:r>
            <a:r>
              <a:rPr lang="zh-CN" altLang="en-US" dirty="0">
                <a:latin typeface="Times New Roman" panose="02020603050405020304" pitchFamily="18" charset="0"/>
                <a:ea typeface="宋体" panose="02010600030101010101" pitchFamily="2" charset="-122"/>
              </a:rPr>
              <a:t>计算机网络安全的内容</a:t>
            </a:r>
          </a:p>
        </p:txBody>
      </p:sp>
      <p:sp>
        <p:nvSpPr>
          <p:cNvPr id="22530" name="Rectangle 24">
            <a:extLst>
              <a:ext uri="{FF2B5EF4-FFF2-40B4-BE49-F238E27FC236}">
                <a16:creationId xmlns:a16="http://schemas.microsoft.com/office/drawing/2014/main" id="{61450F25-0A73-4245-85B4-8886D3C6EBDE}"/>
              </a:ext>
            </a:extLst>
          </p:cNvPr>
          <p:cNvSpPr>
            <a:spLocks noGrp="1" noChangeArrowheads="1"/>
          </p:cNvSpPr>
          <p:nvPr>
            <p:ph type="body" idx="1"/>
          </p:nvPr>
        </p:nvSpPr>
        <p:spPr>
          <a:xfrm>
            <a:off x="251460" y="1028700"/>
            <a:ext cx="8572500" cy="3549254"/>
          </a:xfrm>
        </p:spPr>
        <p:txBody>
          <a:bodyPr/>
          <a:lstStyle/>
          <a:p>
            <a:pPr algn="just" eaLnBrk="1" hangingPunct="1"/>
            <a:r>
              <a:rPr lang="zh-CN" altLang="en-US" dirty="0">
                <a:latin typeface="Times New Roman" panose="02020603050405020304" pitchFamily="18" charset="0"/>
                <a:ea typeface="宋体" panose="02010600030101010101" pitchFamily="2" charset="-122"/>
              </a:rPr>
              <a:t>保密性</a:t>
            </a:r>
          </a:p>
          <a:p>
            <a:pPr algn="just" eaLnBrk="1" hangingPunct="1"/>
            <a:r>
              <a:rPr lang="zh-CN" altLang="en-US" dirty="0">
                <a:latin typeface="Times New Roman" panose="02020603050405020304" pitchFamily="18" charset="0"/>
                <a:ea typeface="宋体" panose="02010600030101010101" pitchFamily="2" charset="-122"/>
              </a:rPr>
              <a:t>安全协议的设计 </a:t>
            </a:r>
          </a:p>
          <a:p>
            <a:pPr algn="just" eaLnBrk="1" hangingPunct="1"/>
            <a:r>
              <a:rPr lang="zh-CN" altLang="en-US" dirty="0">
                <a:latin typeface="Times New Roman" panose="02020603050405020304" pitchFamily="18" charset="0"/>
                <a:ea typeface="宋体" panose="02010600030101010101" pitchFamily="2" charset="-122"/>
              </a:rPr>
              <a:t>访问控制 </a:t>
            </a:r>
          </a:p>
        </p:txBody>
      </p:sp>
      <p:sp>
        <p:nvSpPr>
          <p:cNvPr id="22531" name="幻灯片编号占位符 1">
            <a:extLst>
              <a:ext uri="{FF2B5EF4-FFF2-40B4-BE49-F238E27FC236}">
                <a16:creationId xmlns:a16="http://schemas.microsoft.com/office/drawing/2014/main" id="{578BC4B8-DB36-FF41-A773-A80DAB59FDB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3BC990B-C50B-8C47-A241-53077574DD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678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332" name="Line 52">
            <a:extLst>
              <a:ext uri="{FF2B5EF4-FFF2-40B4-BE49-F238E27FC236}">
                <a16:creationId xmlns:a16="http://schemas.microsoft.com/office/drawing/2014/main" id="{681BA168-EDDA-034E-85EF-A7C572B5E5BD}"/>
              </a:ext>
            </a:extLst>
          </p:cNvPr>
          <p:cNvSpPr>
            <a:spLocks noChangeShapeType="1"/>
          </p:cNvSpPr>
          <p:nvPr/>
        </p:nvSpPr>
        <p:spPr bwMode="auto">
          <a:xfrm>
            <a:off x="2678906" y="2811066"/>
            <a:ext cx="1044179" cy="0"/>
          </a:xfrm>
          <a:prstGeom prst="line">
            <a:avLst/>
          </a:prstGeom>
          <a:noFill/>
          <a:ln w="3810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33" name="Line 53">
            <a:extLst>
              <a:ext uri="{FF2B5EF4-FFF2-40B4-BE49-F238E27FC236}">
                <a16:creationId xmlns:a16="http://schemas.microsoft.com/office/drawing/2014/main" id="{3724A943-8D11-6246-9FCA-35D4AA4E1EFC}"/>
              </a:ext>
            </a:extLst>
          </p:cNvPr>
          <p:cNvSpPr>
            <a:spLocks noChangeShapeType="1"/>
          </p:cNvSpPr>
          <p:nvPr/>
        </p:nvSpPr>
        <p:spPr bwMode="auto">
          <a:xfrm flipV="1">
            <a:off x="4487467" y="2811066"/>
            <a:ext cx="1650206" cy="8334"/>
          </a:xfrm>
          <a:prstGeom prst="line">
            <a:avLst/>
          </a:prstGeom>
          <a:noFill/>
          <a:ln w="3810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555" name="Text Box 56">
            <a:extLst>
              <a:ext uri="{FF2B5EF4-FFF2-40B4-BE49-F238E27FC236}">
                <a16:creationId xmlns:a16="http://schemas.microsoft.com/office/drawing/2014/main" id="{4D963C40-D293-6B4A-A033-F0A10ADC93F4}"/>
              </a:ext>
            </a:extLst>
          </p:cNvPr>
          <p:cNvSpPr txBox="1">
            <a:spLocks noChangeArrowheads="1"/>
          </p:cNvSpPr>
          <p:nvPr/>
        </p:nvSpPr>
        <p:spPr bwMode="auto">
          <a:xfrm>
            <a:off x="7191375" y="2676525"/>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明文 </a:t>
            </a:r>
            <a:r>
              <a:rPr kumimoji="1" lang="en-US" altLang="zh-CN" sz="1500" i="1">
                <a:solidFill>
                  <a:schemeClr val="tx2"/>
                </a:solidFill>
                <a:latin typeface="Arial" panose="020B0604020202020204" pitchFamily="34" charset="0"/>
                <a:ea typeface="宋体" panose="02010600030101010101" pitchFamily="2" charset="-122"/>
              </a:rPr>
              <a:t>X</a:t>
            </a:r>
            <a:r>
              <a:rPr kumimoji="1" lang="en-US" altLang="zh-CN" sz="2400">
                <a:solidFill>
                  <a:schemeClr val="tx2"/>
                </a:solidFill>
                <a:latin typeface="Arial" panose="020B0604020202020204" pitchFamily="34" charset="0"/>
                <a:ea typeface="宋体" panose="02010600030101010101" pitchFamily="2" charset="-122"/>
              </a:rPr>
              <a:t> </a:t>
            </a:r>
          </a:p>
        </p:txBody>
      </p:sp>
      <p:sp>
        <p:nvSpPr>
          <p:cNvPr id="353331" name="Freeform 51">
            <a:extLst>
              <a:ext uri="{FF2B5EF4-FFF2-40B4-BE49-F238E27FC236}">
                <a16:creationId xmlns:a16="http://schemas.microsoft.com/office/drawing/2014/main" id="{781785EC-F34F-BB49-B578-13305EA525C0}"/>
              </a:ext>
            </a:extLst>
          </p:cNvPr>
          <p:cNvSpPr>
            <a:spLocks/>
          </p:cNvSpPr>
          <p:nvPr/>
        </p:nvSpPr>
        <p:spPr bwMode="auto">
          <a:xfrm>
            <a:off x="1732360" y="2481263"/>
            <a:ext cx="261938" cy="340519"/>
          </a:xfrm>
          <a:custGeom>
            <a:avLst/>
            <a:gdLst>
              <a:gd name="T0" fmla="*/ 1800 w 194"/>
              <a:gd name="T1" fmla="*/ 0 h 232"/>
              <a:gd name="T2" fmla="*/ 0 w 194"/>
              <a:gd name="T3" fmla="*/ 452068 h 232"/>
              <a:gd name="T4" fmla="*/ 349250 w 194"/>
              <a:gd name="T5" fmla="*/ 45402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rgbClr val="333399"/>
            </a:solidFill>
            <a:round/>
            <a:headEnd type="none" w="sm" len="med"/>
            <a:tailEnd type="triangle" w="sm" len="med"/>
          </a:ln>
          <a:effectLst/>
        </p:spPr>
        <p:txBody>
          <a:bodyPr wrap="none" anchor="ctr"/>
          <a:lstStyle/>
          <a:p>
            <a:pPr>
              <a:defRPr/>
            </a:pPr>
            <a:endParaRPr lang="zh-CN" altLang="en-US">
              <a:cs typeface="+mn-cs"/>
            </a:endParaRPr>
          </a:p>
        </p:txBody>
      </p:sp>
      <p:sp>
        <p:nvSpPr>
          <p:cNvPr id="23557" name="Text Box 65">
            <a:extLst>
              <a:ext uri="{FF2B5EF4-FFF2-40B4-BE49-F238E27FC236}">
                <a16:creationId xmlns:a16="http://schemas.microsoft.com/office/drawing/2014/main" id="{941F0EB7-6A90-EB4E-8F39-D76CF9CC630C}"/>
              </a:ext>
            </a:extLst>
          </p:cNvPr>
          <p:cNvSpPr txBox="1">
            <a:spLocks noChangeArrowheads="1"/>
          </p:cNvSpPr>
          <p:nvPr/>
        </p:nvSpPr>
        <p:spPr bwMode="auto">
          <a:xfrm>
            <a:off x="3382567" y="1572816"/>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截获</a:t>
            </a:r>
          </a:p>
        </p:txBody>
      </p:sp>
      <p:sp>
        <p:nvSpPr>
          <p:cNvPr id="353352" name="Freeform 72">
            <a:extLst>
              <a:ext uri="{FF2B5EF4-FFF2-40B4-BE49-F238E27FC236}">
                <a16:creationId xmlns:a16="http://schemas.microsoft.com/office/drawing/2014/main" id="{F6479D9A-066E-6C4E-BFD3-83F0CE9D3849}"/>
              </a:ext>
            </a:extLst>
          </p:cNvPr>
          <p:cNvSpPr>
            <a:spLocks/>
          </p:cNvSpPr>
          <p:nvPr/>
        </p:nvSpPr>
        <p:spPr bwMode="auto">
          <a:xfrm flipH="1" flipV="1">
            <a:off x="2411017" y="2228850"/>
            <a:ext cx="59531" cy="315516"/>
          </a:xfrm>
          <a:custGeom>
            <a:avLst/>
            <a:gdLst>
              <a:gd name="T0" fmla="*/ 0 w 1"/>
              <a:gd name="T1" fmla="*/ 420688 h 314"/>
              <a:gd name="T2" fmla="*/ 0 w 1"/>
              <a:gd name="T3" fmla="*/ 0 h 314"/>
              <a:gd name="T4" fmla="*/ 0 60000 65536"/>
              <a:gd name="T5" fmla="*/ 0 60000 65536"/>
            </a:gdLst>
            <a:ahLst/>
            <a:cxnLst>
              <a:cxn ang="T4">
                <a:pos x="T0" y="T1"/>
              </a:cxn>
              <a:cxn ang="T5">
                <a:pos x="T2" y="T3"/>
              </a:cxn>
            </a:cxnLst>
            <a:rect l="0" t="0" r="r" b="b"/>
            <a:pathLst>
              <a:path w="1" h="314">
                <a:moveTo>
                  <a:pt x="0" y="314"/>
                </a:moveTo>
                <a:lnTo>
                  <a:pt x="0"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414" name="Freeform 134">
            <a:extLst>
              <a:ext uri="{FF2B5EF4-FFF2-40B4-BE49-F238E27FC236}">
                <a16:creationId xmlns:a16="http://schemas.microsoft.com/office/drawing/2014/main" id="{BAF83783-954B-E14A-9044-29F678761A64}"/>
              </a:ext>
            </a:extLst>
          </p:cNvPr>
          <p:cNvSpPr>
            <a:spLocks/>
          </p:cNvSpPr>
          <p:nvPr/>
        </p:nvSpPr>
        <p:spPr bwMode="auto">
          <a:xfrm flipH="1" flipV="1">
            <a:off x="6544867" y="2228850"/>
            <a:ext cx="59531" cy="315516"/>
          </a:xfrm>
          <a:custGeom>
            <a:avLst/>
            <a:gdLst>
              <a:gd name="T0" fmla="*/ 0 w 1"/>
              <a:gd name="T1" fmla="*/ 420688 h 314"/>
              <a:gd name="T2" fmla="*/ 0 w 1"/>
              <a:gd name="T3" fmla="*/ 0 h 314"/>
              <a:gd name="T4" fmla="*/ 0 60000 65536"/>
              <a:gd name="T5" fmla="*/ 0 60000 65536"/>
            </a:gdLst>
            <a:ahLst/>
            <a:cxnLst>
              <a:cxn ang="T4">
                <a:pos x="T0" y="T1"/>
              </a:cxn>
              <a:cxn ang="T5">
                <a:pos x="T2" y="T3"/>
              </a:cxn>
            </a:cxnLst>
            <a:rect l="0" t="0" r="r" b="b"/>
            <a:pathLst>
              <a:path w="1" h="314">
                <a:moveTo>
                  <a:pt x="0" y="314"/>
                </a:moveTo>
                <a:lnTo>
                  <a:pt x="0"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330" name="Freeform 50">
            <a:extLst>
              <a:ext uri="{FF2B5EF4-FFF2-40B4-BE49-F238E27FC236}">
                <a16:creationId xmlns:a16="http://schemas.microsoft.com/office/drawing/2014/main" id="{55F11B52-69BE-DB42-A671-61841877FE5D}"/>
              </a:ext>
            </a:extLst>
          </p:cNvPr>
          <p:cNvSpPr>
            <a:spLocks/>
          </p:cNvSpPr>
          <p:nvPr/>
        </p:nvSpPr>
        <p:spPr bwMode="auto">
          <a:xfrm rot="16200000">
            <a:off x="7166373" y="2521744"/>
            <a:ext cx="164306" cy="431006"/>
          </a:xfrm>
          <a:custGeom>
            <a:avLst/>
            <a:gdLst>
              <a:gd name="T0" fmla="*/ 1129 w 194"/>
              <a:gd name="T1" fmla="*/ 0 h 232"/>
              <a:gd name="T2" fmla="*/ 0 w 194"/>
              <a:gd name="T3" fmla="*/ 572198 h 232"/>
              <a:gd name="T4" fmla="*/ 219075 w 194"/>
              <a:gd name="T5" fmla="*/ 57467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tx1"/>
            </a:solidFill>
            <a:round/>
            <a:headEnd type="none" w="sm" len="med"/>
            <a:tailEnd type="triangle" w="sm" len="med"/>
          </a:ln>
          <a:effectLst/>
        </p:spPr>
        <p:txBody>
          <a:bodyPr wrap="none" anchor="ctr"/>
          <a:lstStyle/>
          <a:p>
            <a:pPr>
              <a:defRPr/>
            </a:pPr>
            <a:endParaRPr lang="zh-CN" altLang="en-US">
              <a:cs typeface="+mn-cs"/>
            </a:endParaRPr>
          </a:p>
        </p:txBody>
      </p:sp>
      <p:sp>
        <p:nvSpPr>
          <p:cNvPr id="23561" name="Text Box 68">
            <a:extLst>
              <a:ext uri="{FF2B5EF4-FFF2-40B4-BE49-F238E27FC236}">
                <a16:creationId xmlns:a16="http://schemas.microsoft.com/office/drawing/2014/main" id="{5308AC6F-0C25-6D4B-8151-A7A2BD6B53A5}"/>
              </a:ext>
            </a:extLst>
          </p:cNvPr>
          <p:cNvSpPr txBox="1">
            <a:spLocks noChangeArrowheads="1"/>
          </p:cNvSpPr>
          <p:nvPr/>
        </p:nvSpPr>
        <p:spPr bwMode="auto">
          <a:xfrm>
            <a:off x="5328047" y="2518173"/>
            <a:ext cx="7505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密文 </a:t>
            </a:r>
            <a:r>
              <a:rPr kumimoji="1" lang="en-US" altLang="zh-CN" sz="1500" i="1">
                <a:solidFill>
                  <a:schemeClr val="tx2"/>
                </a:solidFill>
                <a:latin typeface="Arial" panose="020B0604020202020204" pitchFamily="34" charset="0"/>
                <a:ea typeface="宋体" panose="02010600030101010101" pitchFamily="2" charset="-122"/>
              </a:rPr>
              <a:t>Y</a:t>
            </a:r>
          </a:p>
        </p:txBody>
      </p:sp>
      <p:sp>
        <p:nvSpPr>
          <p:cNvPr id="23562" name="Rectangle 3">
            <a:extLst>
              <a:ext uri="{FF2B5EF4-FFF2-40B4-BE49-F238E27FC236}">
                <a16:creationId xmlns:a16="http://schemas.microsoft.com/office/drawing/2014/main" id="{019E2B86-7670-6947-953F-46A794539FD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7.1.3   </a:t>
            </a:r>
            <a:r>
              <a:rPr lang="zh-CN" altLang="en-US" dirty="0">
                <a:latin typeface="Times New Roman" panose="02020603050405020304" pitchFamily="18" charset="0"/>
                <a:ea typeface="宋体" panose="02010600030101010101" pitchFamily="2" charset="-122"/>
              </a:rPr>
              <a:t>一般的数据加密模型 </a:t>
            </a:r>
          </a:p>
        </p:txBody>
      </p:sp>
      <p:sp>
        <p:nvSpPr>
          <p:cNvPr id="23563" name="Text Box 54">
            <a:extLst>
              <a:ext uri="{FF2B5EF4-FFF2-40B4-BE49-F238E27FC236}">
                <a16:creationId xmlns:a16="http://schemas.microsoft.com/office/drawing/2014/main" id="{9E93AC6B-1BD4-4948-9707-A7428825C42B}"/>
              </a:ext>
            </a:extLst>
          </p:cNvPr>
          <p:cNvSpPr txBox="1">
            <a:spLocks noChangeArrowheads="1"/>
          </p:cNvSpPr>
          <p:nvPr/>
        </p:nvSpPr>
        <p:spPr bwMode="auto">
          <a:xfrm>
            <a:off x="1323976" y="1707357"/>
            <a:ext cx="11352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加密密钥 </a:t>
            </a:r>
            <a:r>
              <a:rPr kumimoji="1" lang="en-US" altLang="zh-CN" sz="1500" i="1">
                <a:solidFill>
                  <a:schemeClr val="tx2"/>
                </a:solidFill>
                <a:latin typeface="Arial" panose="020B0604020202020204" pitchFamily="34" charset="0"/>
                <a:ea typeface="宋体" panose="02010600030101010101" pitchFamily="2" charset="-122"/>
              </a:rPr>
              <a:t>K</a:t>
            </a:r>
          </a:p>
        </p:txBody>
      </p:sp>
      <p:sp>
        <p:nvSpPr>
          <p:cNvPr id="23564" name="Text Box 55">
            <a:extLst>
              <a:ext uri="{FF2B5EF4-FFF2-40B4-BE49-F238E27FC236}">
                <a16:creationId xmlns:a16="http://schemas.microsoft.com/office/drawing/2014/main" id="{9469F519-47CF-5049-A44D-D8749D0C1C7D}"/>
              </a:ext>
            </a:extLst>
          </p:cNvPr>
          <p:cNvSpPr txBox="1">
            <a:spLocks noChangeArrowheads="1"/>
          </p:cNvSpPr>
          <p:nvPr/>
        </p:nvSpPr>
        <p:spPr bwMode="auto">
          <a:xfrm>
            <a:off x="1098948" y="2811066"/>
            <a:ext cx="81557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solidFill>
                  <a:schemeClr val="tx2"/>
                </a:solidFill>
                <a:latin typeface="Arial" panose="020B0604020202020204" pitchFamily="34" charset="0"/>
                <a:ea typeface="宋体" panose="02010600030101010101" pitchFamily="2" charset="-122"/>
              </a:rPr>
              <a:t>明文 </a:t>
            </a:r>
            <a:r>
              <a:rPr kumimoji="1" lang="en-US" altLang="zh-CN" sz="1500" i="1" dirty="0">
                <a:solidFill>
                  <a:schemeClr val="tx2"/>
                </a:solidFill>
                <a:latin typeface="Arial" panose="020B0604020202020204" pitchFamily="34" charset="0"/>
                <a:ea typeface="宋体" panose="02010600030101010101" pitchFamily="2" charset="-122"/>
              </a:rPr>
              <a:t>X</a:t>
            </a:r>
          </a:p>
        </p:txBody>
      </p:sp>
      <p:sp>
        <p:nvSpPr>
          <p:cNvPr id="23565" name="Text Box 57">
            <a:extLst>
              <a:ext uri="{FF2B5EF4-FFF2-40B4-BE49-F238E27FC236}">
                <a16:creationId xmlns:a16="http://schemas.microsoft.com/office/drawing/2014/main" id="{02148A5B-AD53-B34D-B866-31822B118480}"/>
              </a:ext>
            </a:extLst>
          </p:cNvPr>
          <p:cNvSpPr txBox="1">
            <a:spLocks noChangeArrowheads="1"/>
          </p:cNvSpPr>
          <p:nvPr/>
        </p:nvSpPr>
        <p:spPr bwMode="auto">
          <a:xfrm>
            <a:off x="2955131" y="2518173"/>
            <a:ext cx="7505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密文 </a:t>
            </a:r>
            <a:r>
              <a:rPr kumimoji="1" lang="en-US" altLang="zh-CN" sz="1500" i="1">
                <a:solidFill>
                  <a:schemeClr val="tx2"/>
                </a:solidFill>
                <a:latin typeface="Arial" panose="020B0604020202020204" pitchFamily="34" charset="0"/>
                <a:ea typeface="宋体" panose="02010600030101010101" pitchFamily="2" charset="-122"/>
              </a:rPr>
              <a:t>Y</a:t>
            </a:r>
          </a:p>
        </p:txBody>
      </p:sp>
      <p:sp>
        <p:nvSpPr>
          <p:cNvPr id="23566" name="Text Box 58">
            <a:extLst>
              <a:ext uri="{FF2B5EF4-FFF2-40B4-BE49-F238E27FC236}">
                <a16:creationId xmlns:a16="http://schemas.microsoft.com/office/drawing/2014/main" id="{CD33B132-E42F-7B44-ACD1-D9D6B1079E86}"/>
              </a:ext>
            </a:extLst>
          </p:cNvPr>
          <p:cNvSpPr txBox="1">
            <a:spLocks noChangeArrowheads="1"/>
          </p:cNvSpPr>
          <p:nvPr/>
        </p:nvSpPr>
        <p:spPr bwMode="auto">
          <a:xfrm>
            <a:off x="4291013" y="1676400"/>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截取者</a:t>
            </a:r>
          </a:p>
        </p:txBody>
      </p:sp>
      <p:sp>
        <p:nvSpPr>
          <p:cNvPr id="353339" name="Rectangle 59">
            <a:extLst>
              <a:ext uri="{FF2B5EF4-FFF2-40B4-BE49-F238E27FC236}">
                <a16:creationId xmlns:a16="http://schemas.microsoft.com/office/drawing/2014/main" id="{D5F7452F-AE24-C742-B72F-FF659AA77573}"/>
              </a:ext>
            </a:extLst>
          </p:cNvPr>
          <p:cNvSpPr>
            <a:spLocks noChangeArrowheads="1"/>
          </p:cNvSpPr>
          <p:nvPr/>
        </p:nvSpPr>
        <p:spPr bwMode="auto">
          <a:xfrm>
            <a:off x="3807619" y="1906192"/>
            <a:ext cx="265510" cy="269081"/>
          </a:xfrm>
          <a:prstGeom prst="rect">
            <a:avLst/>
          </a:prstGeom>
          <a:solidFill>
            <a:srgbClr val="FF6699"/>
          </a:solidFill>
          <a:ln w="1270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0" name="Rectangle 60">
            <a:extLst>
              <a:ext uri="{FF2B5EF4-FFF2-40B4-BE49-F238E27FC236}">
                <a16:creationId xmlns:a16="http://schemas.microsoft.com/office/drawing/2014/main" id="{CDA00D71-B22F-8749-ACEE-2216BCD1985B}"/>
              </a:ext>
            </a:extLst>
          </p:cNvPr>
          <p:cNvSpPr>
            <a:spLocks noChangeArrowheads="1"/>
          </p:cNvSpPr>
          <p:nvPr/>
        </p:nvSpPr>
        <p:spPr bwMode="auto">
          <a:xfrm>
            <a:off x="5061347" y="1906192"/>
            <a:ext cx="265509" cy="269081"/>
          </a:xfrm>
          <a:prstGeom prst="rect">
            <a:avLst/>
          </a:prstGeom>
          <a:solidFill>
            <a:srgbClr val="FF6699"/>
          </a:solidFill>
          <a:ln w="1270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1" name="Line 61">
            <a:extLst>
              <a:ext uri="{FF2B5EF4-FFF2-40B4-BE49-F238E27FC236}">
                <a16:creationId xmlns:a16="http://schemas.microsoft.com/office/drawing/2014/main" id="{EBFA1EA1-381B-5D4D-9AC3-67DD85A5D5C8}"/>
              </a:ext>
            </a:extLst>
          </p:cNvPr>
          <p:cNvSpPr>
            <a:spLocks noChangeShapeType="1"/>
          </p:cNvSpPr>
          <p:nvPr/>
        </p:nvSpPr>
        <p:spPr bwMode="auto">
          <a:xfrm>
            <a:off x="3540919" y="2040731"/>
            <a:ext cx="797719" cy="0"/>
          </a:xfrm>
          <a:prstGeom prst="line">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2" name="Line 62">
            <a:extLst>
              <a:ext uri="{FF2B5EF4-FFF2-40B4-BE49-F238E27FC236}">
                <a16:creationId xmlns:a16="http://schemas.microsoft.com/office/drawing/2014/main" id="{B67471AC-E5DC-CD46-AFF2-444A44FA17EB}"/>
              </a:ext>
            </a:extLst>
          </p:cNvPr>
          <p:cNvSpPr>
            <a:spLocks noChangeShapeType="1"/>
          </p:cNvSpPr>
          <p:nvPr/>
        </p:nvSpPr>
        <p:spPr bwMode="auto">
          <a:xfrm flipV="1">
            <a:off x="3939779" y="1619251"/>
            <a:ext cx="0" cy="421481"/>
          </a:xfrm>
          <a:prstGeom prst="line">
            <a:avLst/>
          </a:prstGeom>
          <a:noFill/>
          <a:ln w="1905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3" name="Freeform 63">
            <a:extLst>
              <a:ext uri="{FF2B5EF4-FFF2-40B4-BE49-F238E27FC236}">
                <a16:creationId xmlns:a16="http://schemas.microsoft.com/office/drawing/2014/main" id="{1986F82D-E9BE-5547-B769-92CA78EF5890}"/>
              </a:ext>
            </a:extLst>
          </p:cNvPr>
          <p:cNvSpPr>
            <a:spLocks/>
          </p:cNvSpPr>
          <p:nvPr/>
        </p:nvSpPr>
        <p:spPr bwMode="auto">
          <a:xfrm>
            <a:off x="4829175" y="1603773"/>
            <a:ext cx="320279" cy="431006"/>
          </a:xfrm>
          <a:custGeom>
            <a:avLst/>
            <a:gdLst>
              <a:gd name="T0" fmla="*/ 0 w 290"/>
              <a:gd name="T1" fmla="*/ 573182 h 385"/>
              <a:gd name="T2" fmla="*/ 316597 w 290"/>
              <a:gd name="T3" fmla="*/ 573182 h 385"/>
              <a:gd name="T4" fmla="*/ 362246 w 290"/>
              <a:gd name="T5" fmla="*/ 568704 h 385"/>
              <a:gd name="T6" fmla="*/ 406422 w 290"/>
              <a:gd name="T7" fmla="*/ 550792 h 385"/>
              <a:gd name="T8" fmla="*/ 424093 w 290"/>
              <a:gd name="T9" fmla="*/ 501535 h 385"/>
              <a:gd name="T10" fmla="*/ 424093 w 290"/>
              <a:gd name="T11" fmla="*/ 434365 h 385"/>
              <a:gd name="T12" fmla="*/ 424093 w 290"/>
              <a:gd name="T13" fmla="*/ 0 h 3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 h="385">
                <a:moveTo>
                  <a:pt x="0" y="384"/>
                </a:moveTo>
                <a:lnTo>
                  <a:pt x="215" y="384"/>
                </a:lnTo>
                <a:cubicBezTo>
                  <a:pt x="256" y="384"/>
                  <a:pt x="257" y="377"/>
                  <a:pt x="246" y="381"/>
                </a:cubicBezTo>
                <a:cubicBezTo>
                  <a:pt x="235" y="385"/>
                  <a:pt x="269" y="377"/>
                  <a:pt x="276" y="369"/>
                </a:cubicBezTo>
                <a:cubicBezTo>
                  <a:pt x="283" y="361"/>
                  <a:pt x="286" y="349"/>
                  <a:pt x="288" y="336"/>
                </a:cubicBezTo>
                <a:cubicBezTo>
                  <a:pt x="290" y="323"/>
                  <a:pt x="288" y="347"/>
                  <a:pt x="288" y="291"/>
                </a:cubicBezTo>
                <a:lnTo>
                  <a:pt x="288"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344" name="Freeform 64">
            <a:extLst>
              <a:ext uri="{FF2B5EF4-FFF2-40B4-BE49-F238E27FC236}">
                <a16:creationId xmlns:a16="http://schemas.microsoft.com/office/drawing/2014/main" id="{D887A9A6-41F1-CF4B-95AD-20A4C2B2F61E}"/>
              </a:ext>
            </a:extLst>
          </p:cNvPr>
          <p:cNvSpPr>
            <a:spLocks/>
          </p:cNvSpPr>
          <p:nvPr/>
        </p:nvSpPr>
        <p:spPr bwMode="auto">
          <a:xfrm>
            <a:off x="5255419" y="1600200"/>
            <a:ext cx="321469" cy="433388"/>
          </a:xfrm>
          <a:custGeom>
            <a:avLst/>
            <a:gdLst>
              <a:gd name="T0" fmla="*/ 428625 w 290"/>
              <a:gd name="T1" fmla="*/ 573371 h 387"/>
              <a:gd name="T2" fmla="*/ 110851 w 290"/>
              <a:gd name="T3" fmla="*/ 573371 h 387"/>
              <a:gd name="T4" fmla="*/ 66511 w 290"/>
              <a:gd name="T5" fmla="*/ 573371 h 387"/>
              <a:gd name="T6" fmla="*/ 20692 w 290"/>
              <a:gd name="T7" fmla="*/ 550973 h 387"/>
              <a:gd name="T8" fmla="*/ 2956 w 290"/>
              <a:gd name="T9" fmla="*/ 501699 h 387"/>
              <a:gd name="T10" fmla="*/ 2956 w 290"/>
              <a:gd name="T11" fmla="*/ 434507 h 387"/>
              <a:gd name="T12" fmla="*/ 2956 w 290"/>
              <a:gd name="T13" fmla="*/ 0 h 3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 h="387">
                <a:moveTo>
                  <a:pt x="290" y="384"/>
                </a:moveTo>
                <a:lnTo>
                  <a:pt x="75" y="384"/>
                </a:lnTo>
                <a:cubicBezTo>
                  <a:pt x="75" y="384"/>
                  <a:pt x="55" y="387"/>
                  <a:pt x="45" y="384"/>
                </a:cubicBezTo>
                <a:cubicBezTo>
                  <a:pt x="35" y="381"/>
                  <a:pt x="21" y="377"/>
                  <a:pt x="14" y="369"/>
                </a:cubicBezTo>
                <a:cubicBezTo>
                  <a:pt x="7" y="361"/>
                  <a:pt x="4" y="349"/>
                  <a:pt x="2" y="336"/>
                </a:cubicBezTo>
                <a:cubicBezTo>
                  <a:pt x="0" y="323"/>
                  <a:pt x="2" y="347"/>
                  <a:pt x="2" y="291"/>
                </a:cubicBezTo>
                <a:lnTo>
                  <a:pt x="2" y="0"/>
                </a:lnTo>
              </a:path>
            </a:pathLst>
          </a:custGeom>
          <a:noFill/>
          <a:ln w="19050" cmpd="sng">
            <a:solidFill>
              <a:srgbClr val="333399"/>
            </a:solidFill>
            <a:round/>
            <a:headEnd type="triangle" w="med" len="lg"/>
            <a:tailEnd type="none" w="sm" len="med"/>
          </a:ln>
          <a:effectLst/>
        </p:spPr>
        <p:txBody>
          <a:bodyPr wrap="none" anchor="ctr"/>
          <a:lstStyle/>
          <a:p>
            <a:pPr>
              <a:defRPr/>
            </a:pPr>
            <a:endParaRPr lang="zh-CN" altLang="en-US">
              <a:cs typeface="+mn-cs"/>
            </a:endParaRPr>
          </a:p>
        </p:txBody>
      </p:sp>
      <p:sp>
        <p:nvSpPr>
          <p:cNvPr id="23573" name="Text Box 66">
            <a:extLst>
              <a:ext uri="{FF2B5EF4-FFF2-40B4-BE49-F238E27FC236}">
                <a16:creationId xmlns:a16="http://schemas.microsoft.com/office/drawing/2014/main" id="{EB64C57A-A9AC-2542-98F6-6A807B503985}"/>
              </a:ext>
            </a:extLst>
          </p:cNvPr>
          <p:cNvSpPr txBox="1">
            <a:spLocks noChangeArrowheads="1"/>
          </p:cNvSpPr>
          <p:nvPr/>
        </p:nvSpPr>
        <p:spPr bwMode="auto">
          <a:xfrm>
            <a:off x="5410201" y="15811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篡改</a:t>
            </a:r>
          </a:p>
        </p:txBody>
      </p:sp>
      <p:sp>
        <p:nvSpPr>
          <p:cNvPr id="353347" name="Oval 67">
            <a:extLst>
              <a:ext uri="{FF2B5EF4-FFF2-40B4-BE49-F238E27FC236}">
                <a16:creationId xmlns:a16="http://schemas.microsoft.com/office/drawing/2014/main" id="{58A64F29-3682-B14D-9335-B155EA069E22}"/>
              </a:ext>
            </a:extLst>
          </p:cNvPr>
          <p:cNvSpPr>
            <a:spLocks noChangeArrowheads="1"/>
          </p:cNvSpPr>
          <p:nvPr/>
        </p:nvSpPr>
        <p:spPr bwMode="auto">
          <a:xfrm>
            <a:off x="3913585" y="2007394"/>
            <a:ext cx="52388" cy="53579"/>
          </a:xfrm>
          <a:prstGeom prst="ellipse">
            <a:avLst/>
          </a:prstGeom>
          <a:solidFill>
            <a:schemeClr val="tx1"/>
          </a:soli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23575" name="Picture 69">
            <a:extLst>
              <a:ext uri="{FF2B5EF4-FFF2-40B4-BE49-F238E27FC236}">
                <a16:creationId xmlns:a16="http://schemas.microsoft.com/office/drawing/2014/main" id="{37E269C0-E73E-B349-986D-E5F756AC09F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303860" y="1882378"/>
            <a:ext cx="377429" cy="170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350" name="Text Box 70">
            <a:extLst>
              <a:ext uri="{FF2B5EF4-FFF2-40B4-BE49-F238E27FC236}">
                <a16:creationId xmlns:a16="http://schemas.microsoft.com/office/drawing/2014/main" id="{FE38501A-2A28-1D47-A504-AB5FFC83766C}"/>
              </a:ext>
            </a:extLst>
          </p:cNvPr>
          <p:cNvSpPr txBox="1">
            <a:spLocks noChangeArrowheads="1"/>
          </p:cNvSpPr>
          <p:nvPr/>
        </p:nvSpPr>
        <p:spPr bwMode="auto">
          <a:xfrm>
            <a:off x="1269206" y="2107407"/>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A</a:t>
            </a:r>
          </a:p>
        </p:txBody>
      </p:sp>
      <p:sp>
        <p:nvSpPr>
          <p:cNvPr id="353351" name="Text Box 71">
            <a:extLst>
              <a:ext uri="{FF2B5EF4-FFF2-40B4-BE49-F238E27FC236}">
                <a16:creationId xmlns:a16="http://schemas.microsoft.com/office/drawing/2014/main" id="{F7ABF1C4-D5E9-3C4F-8975-069ED22AE254}"/>
              </a:ext>
            </a:extLst>
          </p:cNvPr>
          <p:cNvSpPr txBox="1">
            <a:spLocks noChangeArrowheads="1"/>
          </p:cNvSpPr>
          <p:nvPr/>
        </p:nvSpPr>
        <p:spPr bwMode="auto">
          <a:xfrm>
            <a:off x="7623572" y="2107407"/>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B</a:t>
            </a:r>
          </a:p>
        </p:txBody>
      </p:sp>
      <p:graphicFrame>
        <p:nvGraphicFramePr>
          <p:cNvPr id="23578" name="Object 73">
            <a:extLst>
              <a:ext uri="{FF2B5EF4-FFF2-40B4-BE49-F238E27FC236}">
                <a16:creationId xmlns:a16="http://schemas.microsoft.com/office/drawing/2014/main" id="{BAB123BC-1FCA-2F4A-968D-A67BB9B082F7}"/>
              </a:ext>
            </a:extLst>
          </p:cNvPr>
          <p:cNvGraphicFramePr>
            <a:graphicFrameLocks noChangeAspect="1"/>
          </p:cNvGraphicFramePr>
          <p:nvPr/>
        </p:nvGraphicFramePr>
        <p:xfrm>
          <a:off x="3662362" y="2312194"/>
          <a:ext cx="1720454" cy="1123950"/>
        </p:xfrm>
        <a:graphic>
          <a:graphicData uri="http://schemas.openxmlformats.org/presentationml/2006/ole">
            <mc:AlternateContent xmlns:mc="http://schemas.openxmlformats.org/markup-compatibility/2006">
              <mc:Choice xmlns:v="urn:schemas-microsoft-com:vml" Requires="v">
                <p:oleObj spid="_x0000_s8201" name="VISIO" r:id="rId4" imgW="3378200" imgH="1930400" progId="Visio.Drawing.6">
                  <p:embed/>
                </p:oleObj>
              </mc:Choice>
              <mc:Fallback>
                <p:oleObj name="VISIO" r:id="rId4" imgW="3378200" imgH="1930400" progId="Visio.Drawing.6">
                  <p:embed/>
                  <p:pic>
                    <p:nvPicPr>
                      <p:cNvPr id="23578" name="Object 73">
                        <a:extLst>
                          <a:ext uri="{FF2B5EF4-FFF2-40B4-BE49-F238E27FC236}">
                            <a16:creationId xmlns:a16="http://schemas.microsoft.com/office/drawing/2014/main" id="{BAB123BC-1FCA-2F4A-968D-A67BB9B082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2362" y="2312194"/>
                        <a:ext cx="1720454" cy="112395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3579" name="Group 74">
            <a:extLst>
              <a:ext uri="{FF2B5EF4-FFF2-40B4-BE49-F238E27FC236}">
                <a16:creationId xmlns:a16="http://schemas.microsoft.com/office/drawing/2014/main" id="{4A68E52D-5F88-884A-A349-D5B3AC3DBF81}"/>
              </a:ext>
            </a:extLst>
          </p:cNvPr>
          <p:cNvGrpSpPr>
            <a:grpSpLocks/>
          </p:cNvGrpSpPr>
          <p:nvPr/>
        </p:nvGrpSpPr>
        <p:grpSpPr bwMode="auto">
          <a:xfrm>
            <a:off x="1489473" y="2212182"/>
            <a:ext cx="431006" cy="465535"/>
            <a:chOff x="921" y="2412"/>
            <a:chExt cx="284" cy="265"/>
          </a:xfrm>
        </p:grpSpPr>
        <p:grpSp>
          <p:nvGrpSpPr>
            <p:cNvPr id="23614" name="Group 75">
              <a:extLst>
                <a:ext uri="{FF2B5EF4-FFF2-40B4-BE49-F238E27FC236}">
                  <a16:creationId xmlns:a16="http://schemas.microsoft.com/office/drawing/2014/main" id="{9F52080E-99EF-2746-9CAE-9143DE88943E}"/>
                </a:ext>
              </a:extLst>
            </p:cNvPr>
            <p:cNvGrpSpPr>
              <a:grpSpLocks/>
            </p:cNvGrpSpPr>
            <p:nvPr/>
          </p:nvGrpSpPr>
          <p:grpSpPr bwMode="auto">
            <a:xfrm>
              <a:off x="928" y="2417"/>
              <a:ext cx="277" cy="260"/>
              <a:chOff x="928" y="2417"/>
              <a:chExt cx="277" cy="260"/>
            </a:xfrm>
          </p:grpSpPr>
          <p:sp>
            <p:nvSpPr>
              <p:cNvPr id="23628" name="Freeform 76">
                <a:extLst>
                  <a:ext uri="{FF2B5EF4-FFF2-40B4-BE49-F238E27FC236}">
                    <a16:creationId xmlns:a16="http://schemas.microsoft.com/office/drawing/2014/main" id="{ED99E49D-603E-114D-A78A-2EAAC4D17EBF}"/>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9" name="Freeform 77">
                <a:extLst>
                  <a:ext uri="{FF2B5EF4-FFF2-40B4-BE49-F238E27FC236}">
                    <a16:creationId xmlns:a16="http://schemas.microsoft.com/office/drawing/2014/main" id="{E02B2568-117A-2946-993E-51CF52A0FE2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0" name="Freeform 78">
                <a:extLst>
                  <a:ext uri="{FF2B5EF4-FFF2-40B4-BE49-F238E27FC236}">
                    <a16:creationId xmlns:a16="http://schemas.microsoft.com/office/drawing/2014/main" id="{62B572AE-E50E-674C-A7C4-761C5E2D4CF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1" name="Freeform 79">
                <a:extLst>
                  <a:ext uri="{FF2B5EF4-FFF2-40B4-BE49-F238E27FC236}">
                    <a16:creationId xmlns:a16="http://schemas.microsoft.com/office/drawing/2014/main" id="{A198FD43-1872-3A4F-9E82-DF939E5DBCD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2" name="Rectangle 80">
                <a:extLst>
                  <a:ext uri="{FF2B5EF4-FFF2-40B4-BE49-F238E27FC236}">
                    <a16:creationId xmlns:a16="http://schemas.microsoft.com/office/drawing/2014/main" id="{40BE8E98-3BC3-AF45-86B6-2451ACFF072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3" name="Rectangle 81">
                <a:extLst>
                  <a:ext uri="{FF2B5EF4-FFF2-40B4-BE49-F238E27FC236}">
                    <a16:creationId xmlns:a16="http://schemas.microsoft.com/office/drawing/2014/main" id="{BAE70DBF-67F9-494C-B828-AD9F21F96F6B}"/>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4" name="Rectangle 82">
                <a:extLst>
                  <a:ext uri="{FF2B5EF4-FFF2-40B4-BE49-F238E27FC236}">
                    <a16:creationId xmlns:a16="http://schemas.microsoft.com/office/drawing/2014/main" id="{2D48FEC0-2465-F34A-B38D-03DFFDC311C0}"/>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5" name="Line 83">
                <a:extLst>
                  <a:ext uri="{FF2B5EF4-FFF2-40B4-BE49-F238E27FC236}">
                    <a16:creationId xmlns:a16="http://schemas.microsoft.com/office/drawing/2014/main" id="{EBA4DE46-1CFC-CE4B-AAE5-E8BC564FAD7C}"/>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36" name="Group 84">
                <a:extLst>
                  <a:ext uri="{FF2B5EF4-FFF2-40B4-BE49-F238E27FC236}">
                    <a16:creationId xmlns:a16="http://schemas.microsoft.com/office/drawing/2014/main" id="{DB5C84C7-AF10-5E48-BC6A-136F210C3FF7}"/>
                  </a:ext>
                </a:extLst>
              </p:cNvPr>
              <p:cNvGrpSpPr>
                <a:grpSpLocks/>
              </p:cNvGrpSpPr>
              <p:nvPr/>
            </p:nvGrpSpPr>
            <p:grpSpPr bwMode="auto">
              <a:xfrm>
                <a:off x="928" y="2639"/>
                <a:ext cx="277" cy="38"/>
                <a:chOff x="928" y="2639"/>
                <a:chExt cx="277" cy="38"/>
              </a:xfrm>
            </p:grpSpPr>
            <p:sp>
              <p:nvSpPr>
                <p:cNvPr id="23637" name="Freeform 85">
                  <a:extLst>
                    <a:ext uri="{FF2B5EF4-FFF2-40B4-BE49-F238E27FC236}">
                      <a16:creationId xmlns:a16="http://schemas.microsoft.com/office/drawing/2014/main" id="{5867E0C3-EBC4-CF49-83C2-8B4846C83DD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8" name="Freeform 86">
                  <a:extLst>
                    <a:ext uri="{FF2B5EF4-FFF2-40B4-BE49-F238E27FC236}">
                      <a16:creationId xmlns:a16="http://schemas.microsoft.com/office/drawing/2014/main" id="{FD4E52C3-5426-D54E-98EA-F3459C247C35}"/>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9" name="Rectangle 87">
                  <a:extLst>
                    <a:ext uri="{FF2B5EF4-FFF2-40B4-BE49-F238E27FC236}">
                      <a16:creationId xmlns:a16="http://schemas.microsoft.com/office/drawing/2014/main" id="{43D9F3AD-0D2A-714F-B065-36FB66A4647E}"/>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23615" name="Group 88">
              <a:extLst>
                <a:ext uri="{FF2B5EF4-FFF2-40B4-BE49-F238E27FC236}">
                  <a16:creationId xmlns:a16="http://schemas.microsoft.com/office/drawing/2014/main" id="{E2939398-28A7-7246-9F52-C10BE4AA561D}"/>
                </a:ext>
              </a:extLst>
            </p:cNvPr>
            <p:cNvGrpSpPr>
              <a:grpSpLocks/>
            </p:cNvGrpSpPr>
            <p:nvPr/>
          </p:nvGrpSpPr>
          <p:grpSpPr bwMode="auto">
            <a:xfrm>
              <a:off x="921" y="2412"/>
              <a:ext cx="277" cy="261"/>
              <a:chOff x="921" y="2412"/>
              <a:chExt cx="277" cy="261"/>
            </a:xfrm>
          </p:grpSpPr>
          <p:sp>
            <p:nvSpPr>
              <p:cNvPr id="23616" name="Freeform 89">
                <a:extLst>
                  <a:ext uri="{FF2B5EF4-FFF2-40B4-BE49-F238E27FC236}">
                    <a16:creationId xmlns:a16="http://schemas.microsoft.com/office/drawing/2014/main" id="{7B984F27-F762-024A-9052-6F6AE9E12B6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7" name="Freeform 90">
                <a:extLst>
                  <a:ext uri="{FF2B5EF4-FFF2-40B4-BE49-F238E27FC236}">
                    <a16:creationId xmlns:a16="http://schemas.microsoft.com/office/drawing/2014/main" id="{35DE6548-F908-6940-9CDE-9C3F2DAFA17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8" name="Freeform 91">
                <a:extLst>
                  <a:ext uri="{FF2B5EF4-FFF2-40B4-BE49-F238E27FC236}">
                    <a16:creationId xmlns:a16="http://schemas.microsoft.com/office/drawing/2014/main" id="{13189477-0832-6947-925A-5793D68BF39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9" name="Freeform 92">
                <a:extLst>
                  <a:ext uri="{FF2B5EF4-FFF2-40B4-BE49-F238E27FC236}">
                    <a16:creationId xmlns:a16="http://schemas.microsoft.com/office/drawing/2014/main" id="{C6425335-07E7-4A4A-8DAF-B24FEA71A166}"/>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0" name="Rectangle 93">
                <a:extLst>
                  <a:ext uri="{FF2B5EF4-FFF2-40B4-BE49-F238E27FC236}">
                    <a16:creationId xmlns:a16="http://schemas.microsoft.com/office/drawing/2014/main" id="{94C9131C-066A-C543-9DF6-C521B48ABDEF}"/>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1" name="Rectangle 94">
                <a:extLst>
                  <a:ext uri="{FF2B5EF4-FFF2-40B4-BE49-F238E27FC236}">
                    <a16:creationId xmlns:a16="http://schemas.microsoft.com/office/drawing/2014/main" id="{9E63F5AC-A4A0-104E-BB74-7F0F32A67B0C}"/>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2" name="Rectangle 95">
                <a:extLst>
                  <a:ext uri="{FF2B5EF4-FFF2-40B4-BE49-F238E27FC236}">
                    <a16:creationId xmlns:a16="http://schemas.microsoft.com/office/drawing/2014/main" id="{41CC7485-59D6-2F41-969B-0334D8709FB3}"/>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3" name="Line 96">
                <a:extLst>
                  <a:ext uri="{FF2B5EF4-FFF2-40B4-BE49-F238E27FC236}">
                    <a16:creationId xmlns:a16="http://schemas.microsoft.com/office/drawing/2014/main" id="{5C414016-D842-7C4E-9EF0-E0BF028FF182}"/>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24" name="Group 97">
                <a:extLst>
                  <a:ext uri="{FF2B5EF4-FFF2-40B4-BE49-F238E27FC236}">
                    <a16:creationId xmlns:a16="http://schemas.microsoft.com/office/drawing/2014/main" id="{C01AAC9C-96A4-A141-9EE5-041972E226BB}"/>
                  </a:ext>
                </a:extLst>
              </p:cNvPr>
              <p:cNvGrpSpPr>
                <a:grpSpLocks/>
              </p:cNvGrpSpPr>
              <p:nvPr/>
            </p:nvGrpSpPr>
            <p:grpSpPr bwMode="auto">
              <a:xfrm>
                <a:off x="921" y="2635"/>
                <a:ext cx="277" cy="38"/>
                <a:chOff x="921" y="2635"/>
                <a:chExt cx="277" cy="38"/>
              </a:xfrm>
            </p:grpSpPr>
            <p:sp>
              <p:nvSpPr>
                <p:cNvPr id="23625" name="Freeform 98">
                  <a:extLst>
                    <a:ext uri="{FF2B5EF4-FFF2-40B4-BE49-F238E27FC236}">
                      <a16:creationId xmlns:a16="http://schemas.microsoft.com/office/drawing/2014/main" id="{FE4F2496-BEDF-BB4E-B170-51E3094AD6E5}"/>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6" name="Freeform 99">
                  <a:extLst>
                    <a:ext uri="{FF2B5EF4-FFF2-40B4-BE49-F238E27FC236}">
                      <a16:creationId xmlns:a16="http://schemas.microsoft.com/office/drawing/2014/main" id="{296601C1-81C9-7C41-8DE5-DD8D59FDFC1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7" name="Rectangle 100">
                  <a:extLst>
                    <a:ext uri="{FF2B5EF4-FFF2-40B4-BE49-F238E27FC236}">
                      <a16:creationId xmlns:a16="http://schemas.microsoft.com/office/drawing/2014/main" id="{9176F6B6-C234-3E45-82A4-8944F1200ED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23580" name="Rectangle 102">
            <a:extLst>
              <a:ext uri="{FF2B5EF4-FFF2-40B4-BE49-F238E27FC236}">
                <a16:creationId xmlns:a16="http://schemas.microsoft.com/office/drawing/2014/main" id="{2F723B67-BB0F-3140-852A-FE8CB828831D}"/>
              </a:ext>
            </a:extLst>
          </p:cNvPr>
          <p:cNvSpPr>
            <a:spLocks noChangeArrowheads="1"/>
          </p:cNvSpPr>
          <p:nvPr/>
        </p:nvSpPr>
        <p:spPr bwMode="auto">
          <a:xfrm>
            <a:off x="1994297" y="2551510"/>
            <a:ext cx="957263" cy="536972"/>
          </a:xfrm>
          <a:prstGeom prst="rect">
            <a:avLst/>
          </a:prstGeom>
          <a:solidFill>
            <a:srgbClr val="FFCCFF"/>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i="1">
                <a:solidFill>
                  <a:schemeClr val="tx2"/>
                </a:solidFill>
                <a:latin typeface="Arial" panose="020B0604020202020204" pitchFamily="34" charset="0"/>
                <a:ea typeface="宋体" panose="02010600030101010101" pitchFamily="2" charset="-122"/>
              </a:rPr>
              <a:t>E</a:t>
            </a:r>
            <a:r>
              <a:rPr kumimoji="1" lang="en-US" altLang="zh-CN" sz="1500">
                <a:solidFill>
                  <a:schemeClr val="tx2"/>
                </a:solidFill>
                <a:latin typeface="Arial" panose="020B0604020202020204" pitchFamily="34" charset="0"/>
                <a:ea typeface="宋体" panose="02010600030101010101" pitchFamily="2" charset="-122"/>
              </a:rPr>
              <a:t> </a:t>
            </a:r>
            <a:r>
              <a:rPr kumimoji="1" lang="zh-CN" altLang="en-US" sz="1500">
                <a:solidFill>
                  <a:schemeClr val="tx2"/>
                </a:solidFill>
                <a:latin typeface="Arial" panose="020B0604020202020204" pitchFamily="34" charset="0"/>
                <a:ea typeface="宋体" panose="02010600030101010101" pitchFamily="2" charset="-122"/>
              </a:rPr>
              <a:t>运算</a:t>
            </a:r>
          </a:p>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加密算法</a:t>
            </a:r>
          </a:p>
        </p:txBody>
      </p:sp>
      <p:sp>
        <p:nvSpPr>
          <p:cNvPr id="353383" name="Rectangle 103">
            <a:extLst>
              <a:ext uri="{FF2B5EF4-FFF2-40B4-BE49-F238E27FC236}">
                <a16:creationId xmlns:a16="http://schemas.microsoft.com/office/drawing/2014/main" id="{90F60179-83F1-2E4B-9FA5-A36B1CD3B806}"/>
              </a:ext>
            </a:extLst>
          </p:cNvPr>
          <p:cNvSpPr>
            <a:spLocks noChangeArrowheads="1"/>
          </p:cNvSpPr>
          <p:nvPr/>
        </p:nvSpPr>
        <p:spPr bwMode="auto">
          <a:xfrm>
            <a:off x="6137673" y="2551510"/>
            <a:ext cx="958453" cy="536972"/>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tx2"/>
                </a:solidFill>
                <a:latin typeface="Arial" panose="020B0604020202020204" pitchFamily="34" charset="0"/>
              </a:rPr>
              <a:t>D </a:t>
            </a:r>
            <a:r>
              <a:rPr kumimoji="1" lang="zh-CN" altLang="en-US" sz="1500">
                <a:solidFill>
                  <a:schemeClr val="tx2"/>
                </a:solidFill>
                <a:latin typeface="Arial" panose="020B0604020202020204" pitchFamily="34" charset="0"/>
              </a:rPr>
              <a:t>运算</a:t>
            </a:r>
          </a:p>
          <a:p>
            <a:pPr algn="ctr" eaLnBrk="1" hangingPunct="1">
              <a:defRPr/>
            </a:pPr>
            <a:r>
              <a:rPr kumimoji="1" lang="zh-CN" altLang="en-US" sz="1500">
                <a:solidFill>
                  <a:schemeClr val="tx2"/>
                </a:solidFill>
                <a:latin typeface="Arial" panose="020B0604020202020204" pitchFamily="34" charset="0"/>
              </a:rPr>
              <a:t>解密算法</a:t>
            </a:r>
          </a:p>
        </p:txBody>
      </p:sp>
      <p:grpSp>
        <p:nvGrpSpPr>
          <p:cNvPr id="23582" name="Group 104">
            <a:extLst>
              <a:ext uri="{FF2B5EF4-FFF2-40B4-BE49-F238E27FC236}">
                <a16:creationId xmlns:a16="http://schemas.microsoft.com/office/drawing/2014/main" id="{80F10B72-FF94-E845-B569-F77CE721DD19}"/>
              </a:ext>
            </a:extLst>
          </p:cNvPr>
          <p:cNvGrpSpPr>
            <a:grpSpLocks/>
          </p:cNvGrpSpPr>
          <p:nvPr/>
        </p:nvGrpSpPr>
        <p:grpSpPr bwMode="auto">
          <a:xfrm>
            <a:off x="7260432" y="2193132"/>
            <a:ext cx="431006" cy="465535"/>
            <a:chOff x="921" y="2412"/>
            <a:chExt cx="284" cy="265"/>
          </a:xfrm>
        </p:grpSpPr>
        <p:grpSp>
          <p:nvGrpSpPr>
            <p:cNvPr id="23588" name="Group 105">
              <a:extLst>
                <a:ext uri="{FF2B5EF4-FFF2-40B4-BE49-F238E27FC236}">
                  <a16:creationId xmlns:a16="http://schemas.microsoft.com/office/drawing/2014/main" id="{42D6BDA2-8BD8-7742-834F-021DC22D0EAC}"/>
                </a:ext>
              </a:extLst>
            </p:cNvPr>
            <p:cNvGrpSpPr>
              <a:grpSpLocks/>
            </p:cNvGrpSpPr>
            <p:nvPr/>
          </p:nvGrpSpPr>
          <p:grpSpPr bwMode="auto">
            <a:xfrm>
              <a:off x="928" y="2417"/>
              <a:ext cx="277" cy="260"/>
              <a:chOff x="928" y="2417"/>
              <a:chExt cx="277" cy="260"/>
            </a:xfrm>
          </p:grpSpPr>
          <p:sp>
            <p:nvSpPr>
              <p:cNvPr id="23602" name="Freeform 106">
                <a:extLst>
                  <a:ext uri="{FF2B5EF4-FFF2-40B4-BE49-F238E27FC236}">
                    <a16:creationId xmlns:a16="http://schemas.microsoft.com/office/drawing/2014/main" id="{81EB436C-6B88-CB46-B45E-E898CCEC7870}"/>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3" name="Freeform 107">
                <a:extLst>
                  <a:ext uri="{FF2B5EF4-FFF2-40B4-BE49-F238E27FC236}">
                    <a16:creationId xmlns:a16="http://schemas.microsoft.com/office/drawing/2014/main" id="{28C1404C-80E7-524D-A4E3-B61CA915863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4" name="Freeform 108">
                <a:extLst>
                  <a:ext uri="{FF2B5EF4-FFF2-40B4-BE49-F238E27FC236}">
                    <a16:creationId xmlns:a16="http://schemas.microsoft.com/office/drawing/2014/main" id="{B47B1742-B8A2-BF46-A601-5A71D0169D7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5" name="Freeform 109">
                <a:extLst>
                  <a:ext uri="{FF2B5EF4-FFF2-40B4-BE49-F238E27FC236}">
                    <a16:creationId xmlns:a16="http://schemas.microsoft.com/office/drawing/2014/main" id="{4B5B7A68-6FA9-B440-A422-72D375819A2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6" name="Rectangle 110">
                <a:extLst>
                  <a:ext uri="{FF2B5EF4-FFF2-40B4-BE49-F238E27FC236}">
                    <a16:creationId xmlns:a16="http://schemas.microsoft.com/office/drawing/2014/main" id="{8327FD6E-3ADB-E64F-8CE4-A3EE7FACA9C5}"/>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7" name="Rectangle 111">
                <a:extLst>
                  <a:ext uri="{FF2B5EF4-FFF2-40B4-BE49-F238E27FC236}">
                    <a16:creationId xmlns:a16="http://schemas.microsoft.com/office/drawing/2014/main" id="{0A6F6EE3-99B1-004F-8241-4E5CFA9A92F1}"/>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8" name="Rectangle 112">
                <a:extLst>
                  <a:ext uri="{FF2B5EF4-FFF2-40B4-BE49-F238E27FC236}">
                    <a16:creationId xmlns:a16="http://schemas.microsoft.com/office/drawing/2014/main" id="{E37BE4DB-5E1B-B147-900D-27FDED1C8CD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9" name="Line 113">
                <a:extLst>
                  <a:ext uri="{FF2B5EF4-FFF2-40B4-BE49-F238E27FC236}">
                    <a16:creationId xmlns:a16="http://schemas.microsoft.com/office/drawing/2014/main" id="{4F67DCFF-A346-2147-9A63-8689DF07611F}"/>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10" name="Group 114">
                <a:extLst>
                  <a:ext uri="{FF2B5EF4-FFF2-40B4-BE49-F238E27FC236}">
                    <a16:creationId xmlns:a16="http://schemas.microsoft.com/office/drawing/2014/main" id="{B6272FBE-A984-CA47-9E2A-129E2A5F51CD}"/>
                  </a:ext>
                </a:extLst>
              </p:cNvPr>
              <p:cNvGrpSpPr>
                <a:grpSpLocks/>
              </p:cNvGrpSpPr>
              <p:nvPr/>
            </p:nvGrpSpPr>
            <p:grpSpPr bwMode="auto">
              <a:xfrm>
                <a:off x="928" y="2639"/>
                <a:ext cx="277" cy="38"/>
                <a:chOff x="928" y="2639"/>
                <a:chExt cx="277" cy="38"/>
              </a:xfrm>
            </p:grpSpPr>
            <p:sp>
              <p:nvSpPr>
                <p:cNvPr id="23611" name="Freeform 115">
                  <a:extLst>
                    <a:ext uri="{FF2B5EF4-FFF2-40B4-BE49-F238E27FC236}">
                      <a16:creationId xmlns:a16="http://schemas.microsoft.com/office/drawing/2014/main" id="{169A2F40-E659-AD4E-AB4F-A6D11F2B804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2" name="Freeform 116">
                  <a:extLst>
                    <a:ext uri="{FF2B5EF4-FFF2-40B4-BE49-F238E27FC236}">
                      <a16:creationId xmlns:a16="http://schemas.microsoft.com/office/drawing/2014/main" id="{B72BC4A4-03ED-EB4A-9F6C-98DA1D90F5D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3" name="Rectangle 117">
                  <a:extLst>
                    <a:ext uri="{FF2B5EF4-FFF2-40B4-BE49-F238E27FC236}">
                      <a16:creationId xmlns:a16="http://schemas.microsoft.com/office/drawing/2014/main" id="{DD439C45-5D69-8942-9C8D-2272D10AD90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23589" name="Group 118">
              <a:extLst>
                <a:ext uri="{FF2B5EF4-FFF2-40B4-BE49-F238E27FC236}">
                  <a16:creationId xmlns:a16="http://schemas.microsoft.com/office/drawing/2014/main" id="{47FA98D4-7D2F-2B49-A5ED-F917BD6EDE3E}"/>
                </a:ext>
              </a:extLst>
            </p:cNvPr>
            <p:cNvGrpSpPr>
              <a:grpSpLocks/>
            </p:cNvGrpSpPr>
            <p:nvPr/>
          </p:nvGrpSpPr>
          <p:grpSpPr bwMode="auto">
            <a:xfrm>
              <a:off x="921" y="2412"/>
              <a:ext cx="277" cy="261"/>
              <a:chOff x="921" y="2412"/>
              <a:chExt cx="277" cy="261"/>
            </a:xfrm>
          </p:grpSpPr>
          <p:sp>
            <p:nvSpPr>
              <p:cNvPr id="23590" name="Freeform 119">
                <a:extLst>
                  <a:ext uri="{FF2B5EF4-FFF2-40B4-BE49-F238E27FC236}">
                    <a16:creationId xmlns:a16="http://schemas.microsoft.com/office/drawing/2014/main" id="{8C64E33B-6973-CF46-A093-57FD4B345B3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1" name="Freeform 120">
                <a:extLst>
                  <a:ext uri="{FF2B5EF4-FFF2-40B4-BE49-F238E27FC236}">
                    <a16:creationId xmlns:a16="http://schemas.microsoft.com/office/drawing/2014/main" id="{248C268D-76D2-8547-A671-5A2E99B3BE1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2" name="Freeform 121">
                <a:extLst>
                  <a:ext uri="{FF2B5EF4-FFF2-40B4-BE49-F238E27FC236}">
                    <a16:creationId xmlns:a16="http://schemas.microsoft.com/office/drawing/2014/main" id="{1FB75761-5CF4-7C41-96D4-75A4B9B1C7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3" name="Freeform 122">
                <a:extLst>
                  <a:ext uri="{FF2B5EF4-FFF2-40B4-BE49-F238E27FC236}">
                    <a16:creationId xmlns:a16="http://schemas.microsoft.com/office/drawing/2014/main" id="{501EF1E2-D24D-B44D-8FF6-5EC9663A8ED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4" name="Rectangle 123">
                <a:extLst>
                  <a:ext uri="{FF2B5EF4-FFF2-40B4-BE49-F238E27FC236}">
                    <a16:creationId xmlns:a16="http://schemas.microsoft.com/office/drawing/2014/main" id="{0EB365C6-097A-C74E-952A-C826A967C543}"/>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5" name="Rectangle 124">
                <a:extLst>
                  <a:ext uri="{FF2B5EF4-FFF2-40B4-BE49-F238E27FC236}">
                    <a16:creationId xmlns:a16="http://schemas.microsoft.com/office/drawing/2014/main" id="{AF49BA47-FA11-D242-B1F8-A5950E8FD412}"/>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6" name="Rectangle 125">
                <a:extLst>
                  <a:ext uri="{FF2B5EF4-FFF2-40B4-BE49-F238E27FC236}">
                    <a16:creationId xmlns:a16="http://schemas.microsoft.com/office/drawing/2014/main" id="{B811B68E-6296-9C46-9176-BE149359ABEF}"/>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7" name="Line 126">
                <a:extLst>
                  <a:ext uri="{FF2B5EF4-FFF2-40B4-BE49-F238E27FC236}">
                    <a16:creationId xmlns:a16="http://schemas.microsoft.com/office/drawing/2014/main" id="{975B03B9-19BD-444A-84E5-C6832A4F24C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598" name="Group 127">
                <a:extLst>
                  <a:ext uri="{FF2B5EF4-FFF2-40B4-BE49-F238E27FC236}">
                    <a16:creationId xmlns:a16="http://schemas.microsoft.com/office/drawing/2014/main" id="{10C9042F-8835-C448-8500-4AB56D6779BE}"/>
                  </a:ext>
                </a:extLst>
              </p:cNvPr>
              <p:cNvGrpSpPr>
                <a:grpSpLocks/>
              </p:cNvGrpSpPr>
              <p:nvPr/>
            </p:nvGrpSpPr>
            <p:grpSpPr bwMode="auto">
              <a:xfrm>
                <a:off x="921" y="2635"/>
                <a:ext cx="277" cy="38"/>
                <a:chOff x="921" y="2635"/>
                <a:chExt cx="277" cy="38"/>
              </a:xfrm>
            </p:grpSpPr>
            <p:sp>
              <p:nvSpPr>
                <p:cNvPr id="23599" name="Freeform 128">
                  <a:extLst>
                    <a:ext uri="{FF2B5EF4-FFF2-40B4-BE49-F238E27FC236}">
                      <a16:creationId xmlns:a16="http://schemas.microsoft.com/office/drawing/2014/main" id="{D6A53BFB-C260-6A48-9616-468932273343}"/>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0" name="Freeform 129">
                  <a:extLst>
                    <a:ext uri="{FF2B5EF4-FFF2-40B4-BE49-F238E27FC236}">
                      <a16:creationId xmlns:a16="http://schemas.microsoft.com/office/drawing/2014/main" id="{35327D00-13D9-9048-9E3D-07007D0DCCF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1" name="Rectangle 130">
                  <a:extLst>
                    <a:ext uri="{FF2B5EF4-FFF2-40B4-BE49-F238E27FC236}">
                      <a16:creationId xmlns:a16="http://schemas.microsoft.com/office/drawing/2014/main" id="{A4A29C23-CFB8-D74A-807F-F9269CBC455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23583" name="Text Box 131">
            <a:extLst>
              <a:ext uri="{FF2B5EF4-FFF2-40B4-BE49-F238E27FC236}">
                <a16:creationId xmlns:a16="http://schemas.microsoft.com/office/drawing/2014/main" id="{1B6EB4A2-B2F8-4A49-8FA2-67985736B352}"/>
              </a:ext>
            </a:extLst>
          </p:cNvPr>
          <p:cNvSpPr txBox="1">
            <a:spLocks noChangeArrowheads="1"/>
          </p:cNvSpPr>
          <p:nvPr/>
        </p:nvSpPr>
        <p:spPr bwMode="auto">
          <a:xfrm>
            <a:off x="4274344" y="263842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因特网</a:t>
            </a:r>
          </a:p>
        </p:txBody>
      </p:sp>
      <p:sp>
        <p:nvSpPr>
          <p:cNvPr id="23584" name="Text Box 132">
            <a:extLst>
              <a:ext uri="{FF2B5EF4-FFF2-40B4-BE49-F238E27FC236}">
                <a16:creationId xmlns:a16="http://schemas.microsoft.com/office/drawing/2014/main" id="{DF118C6B-C2F1-1944-A57C-062F22A5FFDC}"/>
              </a:ext>
            </a:extLst>
          </p:cNvPr>
          <p:cNvSpPr txBox="1">
            <a:spLocks noChangeArrowheads="1"/>
          </p:cNvSpPr>
          <p:nvPr/>
        </p:nvSpPr>
        <p:spPr bwMode="auto">
          <a:xfrm>
            <a:off x="6631782" y="1707357"/>
            <a:ext cx="11352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解密密钥 </a:t>
            </a:r>
            <a:r>
              <a:rPr kumimoji="1" lang="en-US" altLang="zh-CN" sz="1500" i="1">
                <a:solidFill>
                  <a:schemeClr val="tx2"/>
                </a:solidFill>
                <a:latin typeface="Arial" panose="020B0604020202020204" pitchFamily="34" charset="0"/>
                <a:ea typeface="宋体" panose="02010600030101010101" pitchFamily="2" charset="-122"/>
              </a:rPr>
              <a:t>K</a:t>
            </a:r>
          </a:p>
        </p:txBody>
      </p:sp>
      <p:pic>
        <p:nvPicPr>
          <p:cNvPr id="23585" name="Picture 133">
            <a:extLst>
              <a:ext uri="{FF2B5EF4-FFF2-40B4-BE49-F238E27FC236}">
                <a16:creationId xmlns:a16="http://schemas.microsoft.com/office/drawing/2014/main" id="{7CD54D42-3B6E-5C43-BFCA-94AE096ABBE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391870" y="1882974"/>
            <a:ext cx="377429" cy="169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381" name="Line 101">
            <a:extLst>
              <a:ext uri="{FF2B5EF4-FFF2-40B4-BE49-F238E27FC236}">
                <a16:creationId xmlns:a16="http://schemas.microsoft.com/office/drawing/2014/main" id="{8E93A83D-6D56-B445-83B2-81779286DF34}"/>
              </a:ext>
            </a:extLst>
          </p:cNvPr>
          <p:cNvSpPr>
            <a:spLocks noChangeShapeType="1"/>
          </p:cNvSpPr>
          <p:nvPr/>
        </p:nvSpPr>
        <p:spPr bwMode="auto">
          <a:xfrm rot="16200000">
            <a:off x="4233863" y="2326481"/>
            <a:ext cx="733425" cy="0"/>
          </a:xfrm>
          <a:prstGeom prst="line">
            <a:avLst/>
          </a:prstGeom>
          <a:noFill/>
          <a:ln w="57150">
            <a:solidFill>
              <a:srgbClr val="333399"/>
            </a:solidFill>
            <a:prstDash val="sysDot"/>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587" name="幻灯片编号占位符 1">
            <a:extLst>
              <a:ext uri="{FF2B5EF4-FFF2-40B4-BE49-F238E27FC236}">
                <a16:creationId xmlns:a16="http://schemas.microsoft.com/office/drawing/2014/main" id="{3BA52E17-E246-164F-81E7-6266854649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8746D5-0026-0741-A6D8-22498F59E3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4277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C08FEED2-F013-834F-A406-6C608EA789CA}"/>
              </a:ext>
            </a:extLst>
          </p:cNvPr>
          <p:cNvSpPr>
            <a:spLocks noGrp="1" noChangeArrowheads="1"/>
          </p:cNvSpPr>
          <p:nvPr>
            <p:ph type="title"/>
          </p:nvPr>
        </p:nvSpPr>
        <p:spPr/>
        <p:txBody>
          <a:bodyPr/>
          <a:lstStyle/>
          <a:p>
            <a:pPr eaLnBrk="1" hangingPunct="1"/>
            <a:r>
              <a:rPr lang="zh-CN" altLang="en-US" sz="3600" dirty="0">
                <a:ea typeface="宋体" panose="02010600030101010101" pitchFamily="2" charset="-122"/>
              </a:rPr>
              <a:t>一些重要概念 </a:t>
            </a:r>
          </a:p>
        </p:txBody>
      </p:sp>
      <p:sp>
        <p:nvSpPr>
          <p:cNvPr id="142339" name="Rectangle 3">
            <a:extLst>
              <a:ext uri="{FF2B5EF4-FFF2-40B4-BE49-F238E27FC236}">
                <a16:creationId xmlns:a16="http://schemas.microsoft.com/office/drawing/2014/main" id="{43C3EA5D-17B1-684B-BEBC-01FE8136E3C3}"/>
              </a:ext>
            </a:extLst>
          </p:cNvPr>
          <p:cNvSpPr>
            <a:spLocks noGrp="1" noChangeArrowheads="1"/>
          </p:cNvSpPr>
          <p:nvPr>
            <p:ph type="body" idx="1"/>
          </p:nvPr>
        </p:nvSpPr>
        <p:spPr>
          <a:xfrm>
            <a:off x="133562" y="1087993"/>
            <a:ext cx="8804953" cy="3833813"/>
          </a:xfrm>
        </p:spPr>
        <p:txBody>
          <a:bodyPr/>
          <a:lstStyle/>
          <a:p>
            <a:pPr eaLnBrk="1" hangingPunct="1"/>
            <a:r>
              <a:rPr lang="zh-CN" altLang="en-US" sz="2100" dirty="0">
                <a:solidFill>
                  <a:schemeClr val="hlink"/>
                </a:solidFill>
                <a:ea typeface="宋体" panose="02010600030101010101" pitchFamily="2" charset="-122"/>
              </a:rPr>
              <a:t>密码编码学</a:t>
            </a:r>
            <a:r>
              <a:rPr lang="en-US" altLang="zh-CN" sz="2100" dirty="0">
                <a:ea typeface="宋体" panose="02010600030101010101" pitchFamily="2" charset="-122"/>
              </a:rPr>
              <a:t>(cryptography)</a:t>
            </a:r>
            <a:r>
              <a:rPr lang="zh-CN" altLang="en-US" sz="2100" dirty="0">
                <a:ea typeface="宋体" panose="02010600030101010101" pitchFamily="2" charset="-122"/>
              </a:rPr>
              <a:t>是密码体制的设计学，而</a:t>
            </a:r>
            <a:r>
              <a:rPr lang="zh-CN" altLang="en-US" sz="2100" dirty="0">
                <a:solidFill>
                  <a:schemeClr val="hlink"/>
                </a:solidFill>
                <a:ea typeface="宋体" panose="02010600030101010101" pitchFamily="2" charset="-122"/>
              </a:rPr>
              <a:t>密码分析学</a:t>
            </a:r>
            <a:r>
              <a:rPr lang="en-US" altLang="zh-CN" sz="2100" dirty="0">
                <a:ea typeface="宋体" panose="02010600030101010101" pitchFamily="2" charset="-122"/>
              </a:rPr>
              <a:t>(cryptanalysis)</a:t>
            </a:r>
            <a:r>
              <a:rPr lang="zh-CN" altLang="en-US" sz="2100" dirty="0">
                <a:ea typeface="宋体" panose="02010600030101010101" pitchFamily="2" charset="-122"/>
              </a:rPr>
              <a:t>则是在未知密钥的情况下从密文推演出明文或密钥的技术。密码编码学与密码分析学合起来即为</a:t>
            </a:r>
            <a:r>
              <a:rPr lang="zh-CN" altLang="en-US" sz="2100" dirty="0">
                <a:solidFill>
                  <a:schemeClr val="hlink"/>
                </a:solidFill>
                <a:ea typeface="宋体" panose="02010600030101010101" pitchFamily="2" charset="-122"/>
              </a:rPr>
              <a:t>密码学</a:t>
            </a:r>
            <a:r>
              <a:rPr lang="en-US" altLang="zh-CN" sz="2100" dirty="0">
                <a:ea typeface="宋体" panose="02010600030101010101" pitchFamily="2" charset="-122"/>
              </a:rPr>
              <a:t>(cryptology)</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如果不论截取者获得了多少密文，但在密文中都没有足够的信息来唯一地确定出对应的明文，则这一密码体制称为</a:t>
            </a:r>
            <a:r>
              <a:rPr lang="zh-CN" altLang="en-US" sz="2100" dirty="0">
                <a:solidFill>
                  <a:schemeClr val="hlink"/>
                </a:solidFill>
                <a:ea typeface="宋体" panose="02010600030101010101" pitchFamily="2" charset="-122"/>
              </a:rPr>
              <a:t>无条件安全的</a:t>
            </a:r>
            <a:r>
              <a:rPr lang="zh-CN" altLang="en-US" sz="2100" dirty="0">
                <a:ea typeface="宋体" panose="02010600030101010101" pitchFamily="2" charset="-122"/>
              </a:rPr>
              <a:t>，或称为</a:t>
            </a:r>
            <a:r>
              <a:rPr lang="zh-CN" altLang="en-US" sz="2100" dirty="0">
                <a:solidFill>
                  <a:schemeClr val="hlink"/>
                </a:solidFill>
                <a:ea typeface="宋体" panose="02010600030101010101" pitchFamily="2" charset="-122"/>
              </a:rPr>
              <a:t>理论上是不可破的</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如果密码体制中的密码不能被可使用的计算资源破译，则这一密码体制称为在</a:t>
            </a:r>
            <a:r>
              <a:rPr lang="zh-CN" altLang="en-US" sz="2100" dirty="0">
                <a:solidFill>
                  <a:schemeClr val="hlink"/>
                </a:solidFill>
                <a:ea typeface="宋体" panose="02010600030101010101" pitchFamily="2" charset="-122"/>
              </a:rPr>
              <a:t>计算上是安全的</a:t>
            </a:r>
            <a:r>
              <a:rPr lang="zh-CN" altLang="en-US" sz="2100" dirty="0">
                <a:ea typeface="宋体" panose="02010600030101010101" pitchFamily="2" charset="-122"/>
              </a:rPr>
              <a:t>。   </a:t>
            </a:r>
          </a:p>
        </p:txBody>
      </p:sp>
      <p:sp>
        <p:nvSpPr>
          <p:cNvPr id="24579" name="幻灯片编号占位符 1">
            <a:extLst>
              <a:ext uri="{FF2B5EF4-FFF2-40B4-BE49-F238E27FC236}">
                <a16:creationId xmlns:a16="http://schemas.microsoft.com/office/drawing/2014/main" id="{EAB45A68-02BE-824F-9593-11C9CE8A5A4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DD1B40-8E59-E043-8F98-D7DB96DEB8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94908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a:extLst>
              <a:ext uri="{FF2B5EF4-FFF2-40B4-BE49-F238E27FC236}">
                <a16:creationId xmlns:a16="http://schemas.microsoft.com/office/drawing/2014/main" id="{841866E1-384F-8C46-B245-54D18901DB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E54F8E6-792B-694F-898D-DD7891C1C55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5602" name="Rectangle 2">
            <a:extLst>
              <a:ext uri="{FF2B5EF4-FFF2-40B4-BE49-F238E27FC236}">
                <a16:creationId xmlns:a16="http://schemas.microsoft.com/office/drawing/2014/main" id="{6BD85EE6-A315-C444-8C66-E1DF2CF9AF8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密码学简介（</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25603" name="Rectangle 3">
            <a:extLst>
              <a:ext uri="{FF2B5EF4-FFF2-40B4-BE49-F238E27FC236}">
                <a16:creationId xmlns:a16="http://schemas.microsoft.com/office/drawing/2014/main" id="{87D170DD-53CA-B34A-B41F-10D7A2256A5B}"/>
              </a:ext>
            </a:extLst>
          </p:cNvPr>
          <p:cNvSpPr>
            <a:spLocks noGrp="1" noChangeArrowheads="1"/>
          </p:cNvSpPr>
          <p:nvPr>
            <p:ph type="body" idx="1"/>
          </p:nvPr>
        </p:nvSpPr>
        <p:spPr>
          <a:xfrm>
            <a:off x="169523" y="3505281"/>
            <a:ext cx="8804953" cy="1500900"/>
          </a:xfrm>
        </p:spPr>
        <p:txBody>
          <a:bodyPr/>
          <a:lstStyle/>
          <a:p>
            <a:pPr eaLnBrk="1" hangingPunct="1">
              <a:lnSpc>
                <a:spcPct val="110000"/>
              </a:lnSpc>
            </a:pPr>
            <a:r>
              <a:rPr lang="zh-CN" altLang="en-US" sz="2000" dirty="0">
                <a:latin typeface="微软雅黑" panose="020B0503020204020204" pitchFamily="34" charset="-122"/>
                <a:ea typeface="宋体" panose="02010600030101010101" pitchFamily="2" charset="-122"/>
              </a:rPr>
              <a:t>待加密的消息为</a:t>
            </a:r>
            <a:r>
              <a:rPr lang="zh-CN" altLang="en-US" sz="2000" dirty="0">
                <a:solidFill>
                  <a:srgbClr val="FF0000"/>
                </a:solidFill>
                <a:latin typeface="微软雅黑" panose="020B0503020204020204" pitchFamily="34" charset="-122"/>
                <a:ea typeface="宋体" panose="02010600030101010101" pitchFamily="2" charset="-122"/>
              </a:rPr>
              <a:t>明文</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plaintext</a:t>
            </a:r>
            <a:r>
              <a:rPr lang="zh-CN" altLang="en-US" sz="2000" dirty="0">
                <a:latin typeface="微软雅黑" panose="020B0503020204020204" pitchFamily="34" charset="-122"/>
                <a:ea typeface="宋体" panose="02010600030101010101" pitchFamily="2" charset="-122"/>
              </a:rPr>
              <a:t>），它经过一个以</a:t>
            </a:r>
            <a:r>
              <a:rPr lang="zh-CN" altLang="en-US" sz="2000" dirty="0">
                <a:solidFill>
                  <a:srgbClr val="FF0000"/>
                </a:solidFill>
                <a:latin typeface="微软雅黑" panose="020B0503020204020204" pitchFamily="34" charset="-122"/>
                <a:ea typeface="宋体" panose="02010600030101010101" pitchFamily="2" charset="-122"/>
              </a:rPr>
              <a:t>密钥</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key</a:t>
            </a:r>
            <a:r>
              <a:rPr lang="zh-CN" altLang="en-US" sz="2000" dirty="0">
                <a:latin typeface="微软雅黑" panose="020B0503020204020204" pitchFamily="34" charset="-122"/>
                <a:ea typeface="宋体" panose="02010600030101010101" pitchFamily="2" charset="-122"/>
              </a:rPr>
              <a:t>）为参数的函数变换，这个过程称为</a:t>
            </a:r>
            <a:r>
              <a:rPr lang="zh-CN" altLang="en-US" sz="2000" dirty="0">
                <a:solidFill>
                  <a:srgbClr val="FF0000"/>
                </a:solidFill>
                <a:latin typeface="微软雅黑" panose="020B0503020204020204" pitchFamily="34" charset="-122"/>
                <a:ea typeface="宋体" panose="02010600030101010101" pitchFamily="2" charset="-122"/>
              </a:rPr>
              <a:t>加密</a:t>
            </a:r>
            <a:r>
              <a:rPr lang="zh-CN" altLang="en-US" sz="2000" dirty="0">
                <a:latin typeface="微软雅黑" panose="020B0503020204020204" pitchFamily="34" charset="-122"/>
                <a:ea typeface="宋体" panose="02010600030101010101" pitchFamily="2" charset="-122"/>
              </a:rPr>
              <a:t>，输出的结果称为</a:t>
            </a:r>
            <a:r>
              <a:rPr lang="zh-CN" altLang="en-US" sz="2000" dirty="0">
                <a:solidFill>
                  <a:srgbClr val="FF0000"/>
                </a:solidFill>
                <a:latin typeface="微软雅黑" panose="020B0503020204020204" pitchFamily="34" charset="-122"/>
                <a:ea typeface="宋体" panose="02010600030101010101" pitchFamily="2" charset="-122"/>
              </a:rPr>
              <a:t>密文</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ciphertext</a:t>
            </a:r>
            <a:r>
              <a:rPr lang="zh-CN" altLang="en-US" sz="2000" dirty="0">
                <a:latin typeface="微软雅黑" panose="020B0503020204020204" pitchFamily="34" charset="-122"/>
                <a:ea typeface="宋体" panose="02010600030101010101" pitchFamily="2" charset="-122"/>
              </a:rPr>
              <a:t>） </a:t>
            </a:r>
          </a:p>
          <a:p>
            <a:pPr eaLnBrk="1" hangingPunct="1">
              <a:lnSpc>
                <a:spcPct val="110000"/>
              </a:lnSpc>
            </a:pPr>
            <a:r>
              <a:rPr lang="zh-CN" altLang="en-US" sz="2000" dirty="0">
                <a:latin typeface="微软雅黑" panose="020B0503020204020204" pitchFamily="34" charset="-122"/>
                <a:ea typeface="宋体" panose="02010600030101010101" pitchFamily="2" charset="-122"/>
              </a:rPr>
              <a:t>设计加密和解密方法的艺术称为</a:t>
            </a:r>
            <a:r>
              <a:rPr lang="zh-CN" altLang="en-US" sz="2000" dirty="0">
                <a:solidFill>
                  <a:srgbClr val="FF0000"/>
                </a:solidFill>
                <a:latin typeface="微软雅黑" panose="020B0503020204020204" pitchFamily="34" charset="-122"/>
                <a:ea typeface="宋体" panose="02010600030101010101" pitchFamily="2" charset="-122"/>
              </a:rPr>
              <a:t>密码编码学</a:t>
            </a:r>
            <a:r>
              <a:rPr lang="zh-CN" altLang="en-US" sz="2000" dirty="0">
                <a:latin typeface="微软雅黑" panose="020B0503020204020204" pitchFamily="34" charset="-122"/>
                <a:ea typeface="宋体" panose="02010600030101010101" pitchFamily="2" charset="-122"/>
              </a:rPr>
              <a:t>，破解密码的艺术称为</a:t>
            </a:r>
            <a:r>
              <a:rPr lang="zh-CN" altLang="en-US" sz="2000" dirty="0">
                <a:solidFill>
                  <a:srgbClr val="FF0000"/>
                </a:solidFill>
                <a:latin typeface="微软雅黑" panose="020B0503020204020204" pitchFamily="34" charset="-122"/>
                <a:ea typeface="宋体" panose="02010600030101010101" pitchFamily="2" charset="-122"/>
              </a:rPr>
              <a:t>密码分析学</a:t>
            </a:r>
            <a:r>
              <a:rPr lang="zh-CN" altLang="en-US" sz="2000" dirty="0">
                <a:latin typeface="微软雅黑" panose="020B0503020204020204" pitchFamily="34" charset="-122"/>
                <a:ea typeface="宋体" panose="02010600030101010101" pitchFamily="2" charset="-122"/>
              </a:rPr>
              <a:t>，两者统称为</a:t>
            </a:r>
            <a:r>
              <a:rPr lang="zh-CN" altLang="en-US" sz="2000" dirty="0">
                <a:solidFill>
                  <a:srgbClr val="FF0000"/>
                </a:solidFill>
                <a:latin typeface="微软雅黑" panose="020B0503020204020204" pitchFamily="34" charset="-122"/>
                <a:ea typeface="宋体" panose="02010600030101010101" pitchFamily="2" charset="-122"/>
              </a:rPr>
              <a:t>密码学</a:t>
            </a:r>
          </a:p>
        </p:txBody>
      </p:sp>
      <p:graphicFrame>
        <p:nvGraphicFramePr>
          <p:cNvPr id="25604" name="Object 5">
            <a:extLst>
              <a:ext uri="{FF2B5EF4-FFF2-40B4-BE49-F238E27FC236}">
                <a16:creationId xmlns:a16="http://schemas.microsoft.com/office/drawing/2014/main" id="{A7C1D1F9-7E43-0343-85DE-8AA269E4EA86}"/>
              </a:ext>
            </a:extLst>
          </p:cNvPr>
          <p:cNvGraphicFramePr>
            <a:graphicFrameLocks noChangeAspect="1"/>
          </p:cNvGraphicFramePr>
          <p:nvPr>
            <p:extLst>
              <p:ext uri="{D42A27DB-BD31-4B8C-83A1-F6EECF244321}">
                <p14:modId xmlns:p14="http://schemas.microsoft.com/office/powerpoint/2010/main" val="1864260467"/>
              </p:ext>
            </p:extLst>
          </p:nvPr>
        </p:nvGraphicFramePr>
        <p:xfrm>
          <a:off x="1614010" y="1001079"/>
          <a:ext cx="5915977" cy="2504202"/>
        </p:xfrm>
        <a:graphic>
          <a:graphicData uri="http://schemas.openxmlformats.org/presentationml/2006/ole">
            <mc:AlternateContent xmlns:mc="http://schemas.openxmlformats.org/markup-compatibility/2006">
              <mc:Choice xmlns:v="urn:schemas-microsoft-com:vml" Requires="v">
                <p:oleObj spid="_x0000_s11273" r:id="rId4" imgW="6946900" imgH="3289300" progId="Paint.Picture">
                  <p:embed/>
                </p:oleObj>
              </mc:Choice>
              <mc:Fallback>
                <p:oleObj r:id="rId4" imgW="6946900" imgH="3289300" progId="Paint.Picture">
                  <p:embed/>
                  <p:pic>
                    <p:nvPicPr>
                      <p:cNvPr id="25604" name="Object 5">
                        <a:extLst>
                          <a:ext uri="{FF2B5EF4-FFF2-40B4-BE49-F238E27FC236}">
                            <a16:creationId xmlns:a16="http://schemas.microsoft.com/office/drawing/2014/main" id="{A7C1D1F9-7E43-0343-85DE-8AA269E4E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010" y="1001079"/>
                        <a:ext cx="5915977" cy="2504202"/>
                      </a:xfrm>
                      <a:prstGeom prst="rect">
                        <a:avLst/>
                      </a:prstGeom>
                      <a:noFill/>
                      <a:ln>
                        <a:noFill/>
                      </a:ln>
                    </p:spPr>
                  </p:pic>
                </p:oleObj>
              </mc:Fallback>
            </mc:AlternateContent>
          </a:graphicData>
        </a:graphic>
      </p:graphicFrame>
      <p:sp>
        <p:nvSpPr>
          <p:cNvPr id="25605" name="Text Box 6">
            <a:extLst>
              <a:ext uri="{FF2B5EF4-FFF2-40B4-BE49-F238E27FC236}">
                <a16:creationId xmlns:a16="http://schemas.microsoft.com/office/drawing/2014/main" id="{57148076-94B0-DA48-9941-D61B3C24F415}"/>
              </a:ext>
            </a:extLst>
          </p:cNvPr>
          <p:cNvSpPr txBox="1">
            <a:spLocks noChangeArrowheads="1"/>
          </p:cNvSpPr>
          <p:nvPr/>
        </p:nvSpPr>
        <p:spPr bwMode="auto">
          <a:xfrm flipH="1">
            <a:off x="2779568" y="3123358"/>
            <a:ext cx="434340"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r" eaLnBrk="1" hangingPunct="1">
              <a:spcBef>
                <a:spcPct val="50000"/>
              </a:spcBef>
              <a:buClrTx/>
              <a:buSzTx/>
              <a:buFontTx/>
              <a:buNone/>
            </a:pPr>
            <a:r>
              <a:rPr lang="zh-CN" altLang="en-US" sz="1000" b="1" dirty="0">
                <a:solidFill>
                  <a:schemeClr val="tx1"/>
                </a:solidFill>
                <a:latin typeface="Tahoma" panose="020B0604030504040204" pitchFamily="34" charset="0"/>
                <a:ea typeface="宋体" panose="02010600030101010101" pitchFamily="2" charset="-122"/>
              </a:rPr>
              <a:t>加密</a:t>
            </a:r>
          </a:p>
        </p:txBody>
      </p:sp>
    </p:spTree>
    <p:extLst>
      <p:ext uri="{BB962C8B-B14F-4D97-AF65-F5344CB8AC3E}">
        <p14:creationId xmlns:p14="http://schemas.microsoft.com/office/powerpoint/2010/main" val="325227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a:extLst>
              <a:ext uri="{FF2B5EF4-FFF2-40B4-BE49-F238E27FC236}">
                <a16:creationId xmlns:a16="http://schemas.microsoft.com/office/drawing/2014/main" id="{1DD74E2F-8C0E-274B-B77E-C46B0D95949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CB9D3A8-C42B-0D44-8ED5-DFC5FE6B496B}"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650" name="Rectangle 2">
            <a:extLst>
              <a:ext uri="{FF2B5EF4-FFF2-40B4-BE49-F238E27FC236}">
                <a16:creationId xmlns:a16="http://schemas.microsoft.com/office/drawing/2014/main" id="{5EA8EAD6-21FC-DB49-88AE-28C46A4031D1}"/>
              </a:ext>
            </a:extLst>
          </p:cNvPr>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宋体" panose="02010600030101010101" pitchFamily="2" charset="-122"/>
              </a:rPr>
              <a:t>密码学简介（</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a:t>
            </a:r>
          </a:p>
        </p:txBody>
      </p:sp>
      <p:sp>
        <p:nvSpPr>
          <p:cNvPr id="27651" name="Rectangle 3">
            <a:extLst>
              <a:ext uri="{FF2B5EF4-FFF2-40B4-BE49-F238E27FC236}">
                <a16:creationId xmlns:a16="http://schemas.microsoft.com/office/drawing/2014/main" id="{F0039DA7-9414-A74D-B49A-DA368A16F6EC}"/>
              </a:ext>
            </a:extLst>
          </p:cNvPr>
          <p:cNvSpPr>
            <a:spLocks noGrp="1" noChangeArrowheads="1"/>
          </p:cNvSpPr>
          <p:nvPr>
            <p:ph type="body" idx="1"/>
          </p:nvPr>
        </p:nvSpPr>
        <p:spPr/>
        <p:txBody>
          <a:bodyPr/>
          <a:lstStyle/>
          <a:p>
            <a:pPr eaLnBrk="1" hangingPunct="1"/>
            <a:r>
              <a:rPr lang="zh-CN" altLang="en-US" dirty="0">
                <a:latin typeface="微软雅黑" panose="020B0503020204020204" pitchFamily="34" charset="-122"/>
                <a:ea typeface="宋体" panose="02010600030101010101" pitchFamily="2" charset="-122"/>
              </a:rPr>
              <a:t>符号标记</a:t>
            </a:r>
          </a:p>
          <a:p>
            <a:pPr lvl="1" eaLnBrk="1" hangingPunct="1"/>
            <a:r>
              <a:rPr lang="zh-CN" altLang="en-US" dirty="0">
                <a:latin typeface="微软雅黑" panose="020B0503020204020204" pitchFamily="34" charset="-122"/>
                <a:ea typeface="宋体" panose="02010600030101010101" pitchFamily="2" charset="-122"/>
              </a:rPr>
              <a:t>明文</a:t>
            </a:r>
            <a:r>
              <a:rPr lang="en-US" altLang="zh-CN" dirty="0">
                <a:latin typeface="微软雅黑" panose="020B0503020204020204" pitchFamily="34" charset="-122"/>
                <a:ea typeface="宋体" panose="02010600030101010101" pitchFamily="2" charset="-122"/>
              </a:rPr>
              <a:t>P</a:t>
            </a:r>
            <a:r>
              <a:rPr lang="zh-CN" altLang="en-US" dirty="0">
                <a:latin typeface="微软雅黑" panose="020B0503020204020204" pitchFamily="34" charset="-122"/>
                <a:ea typeface="宋体" panose="02010600030101010101" pitchFamily="2" charset="-122"/>
              </a:rPr>
              <a:t>；密钥</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；密文</a:t>
            </a:r>
            <a:r>
              <a:rPr lang="en-US" altLang="zh-CN" dirty="0">
                <a:latin typeface="微软雅黑" panose="020B0503020204020204" pitchFamily="34" charset="-122"/>
                <a:ea typeface="宋体" panose="02010600030101010101" pitchFamily="2" charset="-122"/>
              </a:rPr>
              <a:t>C</a:t>
            </a:r>
          </a:p>
          <a:p>
            <a:pPr eaLnBrk="1" hangingPunct="1"/>
            <a:r>
              <a:rPr lang="zh-CN" altLang="en-US" dirty="0">
                <a:latin typeface="微软雅黑" panose="020B0503020204020204" pitchFamily="34" charset="-122"/>
                <a:ea typeface="宋体" panose="02010600030101010101" pitchFamily="2" charset="-122"/>
              </a:rPr>
              <a:t>加密过程</a:t>
            </a:r>
          </a:p>
          <a:p>
            <a:pPr lvl="1" eaLnBrk="1" hangingPunct="1"/>
            <a:r>
              <a:rPr lang="en-US" altLang="zh-CN" dirty="0">
                <a:latin typeface="微软雅黑" panose="020B0503020204020204" pitchFamily="34" charset="-122"/>
                <a:ea typeface="宋体" panose="02010600030101010101" pitchFamily="2" charset="-122"/>
              </a:rPr>
              <a:t>C = D</a:t>
            </a:r>
            <a:r>
              <a:rPr lang="en-US" altLang="zh-CN" baseline="-25000" dirty="0">
                <a:latin typeface="微软雅黑" panose="020B0503020204020204" pitchFamily="34" charset="-122"/>
                <a:ea typeface="宋体" panose="02010600030101010101" pitchFamily="2" charset="-122"/>
              </a:rPr>
              <a:t>k</a:t>
            </a:r>
            <a:r>
              <a:rPr lang="en-US" altLang="zh-CN" dirty="0">
                <a:latin typeface="微软雅黑" panose="020B0503020204020204" pitchFamily="34" charset="-122"/>
                <a:ea typeface="宋体" panose="02010600030101010101" pitchFamily="2" charset="-122"/>
              </a:rPr>
              <a:t>(P)</a:t>
            </a:r>
          </a:p>
          <a:p>
            <a:pPr eaLnBrk="1" hangingPunct="1"/>
            <a:r>
              <a:rPr lang="zh-CN" altLang="en-US" dirty="0">
                <a:latin typeface="微软雅黑" panose="020B0503020204020204" pitchFamily="34" charset="-122"/>
                <a:ea typeface="宋体" panose="02010600030101010101" pitchFamily="2" charset="-122"/>
              </a:rPr>
              <a:t>解密过程</a:t>
            </a:r>
          </a:p>
          <a:p>
            <a:pPr lvl="1" eaLnBrk="1" hangingPunct="1"/>
            <a:r>
              <a:rPr lang="en-US" altLang="zh-CN" dirty="0">
                <a:latin typeface="微软雅黑" panose="020B0503020204020204" pitchFamily="34" charset="-122"/>
                <a:ea typeface="宋体" panose="02010600030101010101" pitchFamily="2" charset="-122"/>
              </a:rPr>
              <a:t>P = </a:t>
            </a:r>
            <a:r>
              <a:rPr lang="en-US" altLang="zh-CN" dirty="0" err="1">
                <a:latin typeface="微软雅黑" panose="020B0503020204020204" pitchFamily="34" charset="-122"/>
                <a:ea typeface="宋体" panose="02010600030101010101" pitchFamily="2" charset="-122"/>
              </a:rPr>
              <a:t>E</a:t>
            </a:r>
            <a:r>
              <a:rPr lang="en-US" altLang="zh-CN" baseline="-25000" dirty="0" err="1">
                <a:latin typeface="微软雅黑" panose="020B0503020204020204" pitchFamily="34" charset="-122"/>
                <a:ea typeface="宋体" panose="02010600030101010101" pitchFamily="2" charset="-122"/>
              </a:rPr>
              <a:t>k</a:t>
            </a:r>
            <a:r>
              <a:rPr lang="en-US" altLang="zh-CN" dirty="0">
                <a:latin typeface="微软雅黑" panose="020B0503020204020204" pitchFamily="34" charset="-122"/>
                <a:ea typeface="宋体" panose="02010600030101010101" pitchFamily="2" charset="-122"/>
              </a:rPr>
              <a:t>(C)</a:t>
            </a:r>
          </a:p>
          <a:p>
            <a:pPr eaLnBrk="1" hangingPunct="1"/>
            <a:r>
              <a:rPr lang="en-US" altLang="zh-CN" dirty="0" err="1">
                <a:latin typeface="微软雅黑" panose="020B0503020204020204" pitchFamily="34" charset="-122"/>
                <a:ea typeface="宋体" panose="02010600030101010101" pitchFamily="2" charset="-122"/>
              </a:rPr>
              <a:t>Kerckhoff</a:t>
            </a:r>
            <a:r>
              <a:rPr lang="zh-CN" altLang="en-US" dirty="0">
                <a:latin typeface="微软雅黑" panose="020B0503020204020204" pitchFamily="34" charset="-122"/>
                <a:ea typeface="宋体" panose="02010600030101010101" pitchFamily="2" charset="-122"/>
              </a:rPr>
              <a:t>原则：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让密码分析者知道加解密算法，把所有的秘密信息全放在密钥中</a:t>
            </a:r>
            <a:r>
              <a:rPr lang="zh-CN" altLang="en-US" dirty="0">
                <a:latin typeface="Arial" panose="020B0604020202020204" pitchFamily="34" charset="0"/>
                <a:ea typeface="宋体" panose="02010600030101010101" pitchFamily="2" charset="-122"/>
              </a:rPr>
              <a:t>”</a:t>
            </a:r>
            <a:endParaRPr lang="zh-CN" altLang="en-US" dirty="0">
              <a:latin typeface="微软雅黑" panose="020B0503020204020204" pitchFamily="34" charset="-122"/>
              <a:ea typeface="宋体" panose="02010600030101010101" pitchFamily="2" charset="-122"/>
            </a:endParaRPr>
          </a:p>
          <a:p>
            <a:pPr eaLnBrk="1" hangingPunct="1"/>
            <a:r>
              <a:rPr lang="zh-CN" altLang="en-US" dirty="0">
                <a:latin typeface="微软雅黑" panose="020B0503020204020204" pitchFamily="34" charset="-122"/>
                <a:ea typeface="宋体" panose="02010600030101010101" pitchFamily="2" charset="-122"/>
              </a:rPr>
              <a:t>密钥长度越长，破解难度越大！</a:t>
            </a:r>
          </a:p>
        </p:txBody>
      </p:sp>
    </p:spTree>
    <p:extLst>
      <p:ext uri="{BB962C8B-B14F-4D97-AF65-F5344CB8AC3E}">
        <p14:creationId xmlns:p14="http://schemas.microsoft.com/office/powerpoint/2010/main" val="276930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a:extLst>
              <a:ext uri="{FF2B5EF4-FFF2-40B4-BE49-F238E27FC236}">
                <a16:creationId xmlns:a16="http://schemas.microsoft.com/office/drawing/2014/main" id="{D61C7BBF-8048-2D49-8D50-11EEB77A546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8C1BD7-0429-3442-89D8-74E7F02BC46D}"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698" name="Rectangle 2">
            <a:extLst>
              <a:ext uri="{FF2B5EF4-FFF2-40B4-BE49-F238E27FC236}">
                <a16:creationId xmlns:a16="http://schemas.microsoft.com/office/drawing/2014/main" id="{B2E40A96-AF7C-C244-9764-92C0C0B623A2}"/>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密码学简介（</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29699" name="Rectangle 3">
            <a:extLst>
              <a:ext uri="{FF2B5EF4-FFF2-40B4-BE49-F238E27FC236}">
                <a16:creationId xmlns:a16="http://schemas.microsoft.com/office/drawing/2014/main" id="{F60225B1-4E84-FE4A-AB2D-3315A8A0B490}"/>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密码分析方法</a:t>
            </a:r>
          </a:p>
          <a:p>
            <a:pPr lvl="1" eaLnBrk="1" hangingPunct="1"/>
            <a:r>
              <a:rPr lang="zh-CN" altLang="en-US">
                <a:solidFill>
                  <a:srgbClr val="FF0000"/>
                </a:solidFill>
                <a:latin typeface="微软雅黑" panose="020B0503020204020204" pitchFamily="34" charset="-122"/>
                <a:ea typeface="宋体" panose="02010600030101010101" pitchFamily="2" charset="-122"/>
              </a:rPr>
              <a:t>只有密文攻击</a:t>
            </a:r>
          </a:p>
          <a:p>
            <a:pPr lvl="2" eaLnBrk="1" hangingPunct="1"/>
            <a:r>
              <a:rPr lang="zh-CN" altLang="en-US">
                <a:latin typeface="微软雅黑" panose="020B0503020204020204" pitchFamily="34" charset="-122"/>
                <a:ea typeface="宋体" panose="02010600030101010101" pitchFamily="2" charset="-122"/>
              </a:rPr>
              <a:t>密码分析者只得到了一定量的密文，但是没有对应的明文</a:t>
            </a:r>
          </a:p>
          <a:p>
            <a:pPr lvl="1" eaLnBrk="1" hangingPunct="1"/>
            <a:r>
              <a:rPr lang="zh-CN" altLang="en-US">
                <a:solidFill>
                  <a:srgbClr val="FF0000"/>
                </a:solidFill>
                <a:latin typeface="微软雅黑" panose="020B0503020204020204" pitchFamily="34" charset="-122"/>
                <a:ea typeface="宋体" panose="02010600030101010101" pitchFamily="2" charset="-122"/>
              </a:rPr>
              <a:t>已知明文攻击</a:t>
            </a:r>
          </a:p>
          <a:p>
            <a:pPr lvl="2" eaLnBrk="1" hangingPunct="1"/>
            <a:r>
              <a:rPr lang="zh-CN" altLang="en-US">
                <a:latin typeface="微软雅黑" panose="020B0503020204020204" pitchFamily="34" charset="-122"/>
                <a:ea typeface="宋体" panose="02010600030101010101" pitchFamily="2" charset="-122"/>
              </a:rPr>
              <a:t>密码分析者有一些相匹配的密文和明文</a:t>
            </a:r>
          </a:p>
          <a:p>
            <a:pPr lvl="1" eaLnBrk="1" hangingPunct="1"/>
            <a:r>
              <a:rPr lang="zh-CN" altLang="en-US">
                <a:solidFill>
                  <a:srgbClr val="FF0000"/>
                </a:solidFill>
                <a:latin typeface="微软雅黑" panose="020B0503020204020204" pitchFamily="34" charset="-122"/>
                <a:ea typeface="宋体" panose="02010600030101010101" pitchFamily="2" charset="-122"/>
              </a:rPr>
              <a:t>选择明文攻击</a:t>
            </a:r>
          </a:p>
          <a:p>
            <a:pPr lvl="2" eaLnBrk="1" hangingPunct="1"/>
            <a:r>
              <a:rPr lang="zh-CN" altLang="en-US">
                <a:latin typeface="微软雅黑" panose="020B0503020204020204" pitchFamily="34" charset="-122"/>
                <a:ea typeface="宋体" panose="02010600030101010101" pitchFamily="2" charset="-122"/>
              </a:rPr>
              <a:t>密码分析者能够加密某些他自己选择的明文</a:t>
            </a:r>
          </a:p>
          <a:p>
            <a:pPr eaLnBrk="1" hangingPunct="1"/>
            <a:r>
              <a:rPr lang="zh-CN" altLang="en-US">
                <a:latin typeface="微软雅黑" panose="020B0503020204020204" pitchFamily="34" charset="-122"/>
                <a:ea typeface="宋体" panose="02010600030101010101" pitchFamily="2" charset="-122"/>
              </a:rPr>
              <a:t>密码必须能抵抗上述三种攻击！</a:t>
            </a:r>
          </a:p>
        </p:txBody>
      </p:sp>
    </p:spTree>
    <p:extLst>
      <p:ext uri="{BB962C8B-B14F-4D97-AF65-F5344CB8AC3E}">
        <p14:creationId xmlns:p14="http://schemas.microsoft.com/office/powerpoint/2010/main" val="1910448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a:extLst>
              <a:ext uri="{FF2B5EF4-FFF2-40B4-BE49-F238E27FC236}">
                <a16:creationId xmlns:a16="http://schemas.microsoft.com/office/drawing/2014/main" id="{EF18E3A8-6D90-2545-97E3-BC0823C1EC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5A062B9-80A4-7745-9AC0-18BE661A687F}"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bg2"/>
              </a:solidFill>
              <a:latin typeface="Tahoma" panose="020B0604030504040204" pitchFamily="34" charset="0"/>
              <a:ea typeface="宋体" panose="02010600030101010101" pitchFamily="2" charset="-122"/>
            </a:endParaRPr>
          </a:p>
        </p:txBody>
      </p:sp>
      <p:sp>
        <p:nvSpPr>
          <p:cNvPr id="31746" name="Rectangle 2">
            <a:extLst>
              <a:ext uri="{FF2B5EF4-FFF2-40B4-BE49-F238E27FC236}">
                <a16:creationId xmlns:a16="http://schemas.microsoft.com/office/drawing/2014/main" id="{3190A356-EA64-B443-B023-3AB28B456BF6}"/>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31747" name="Rectangle 3">
            <a:extLst>
              <a:ext uri="{FF2B5EF4-FFF2-40B4-BE49-F238E27FC236}">
                <a16:creationId xmlns:a16="http://schemas.microsoft.com/office/drawing/2014/main" id="{041DF7A9-1EB8-E748-BFC2-AA36283A29B7}"/>
              </a:ext>
            </a:extLst>
          </p:cNvPr>
          <p:cNvSpPr>
            <a:spLocks noGrp="1" noChangeArrowheads="1"/>
          </p:cNvSpPr>
          <p:nvPr>
            <p:ph type="body" idx="1"/>
          </p:nvPr>
        </p:nvSpPr>
        <p:spPr/>
        <p:txBody>
          <a:bodyPr/>
          <a:lstStyle/>
          <a:p>
            <a:pPr eaLnBrk="1" hangingPunct="1">
              <a:lnSpc>
                <a:spcPct val="110000"/>
              </a:lnSpc>
            </a:pPr>
            <a:r>
              <a:rPr lang="zh-CN" altLang="en-US" sz="2100">
                <a:latin typeface="微软雅黑" panose="020B0503020204020204" pitchFamily="34" charset="-122"/>
                <a:ea typeface="宋体" panose="02010600030101010101" pitchFamily="2" charset="-122"/>
              </a:rPr>
              <a:t>置换密码（</a:t>
            </a:r>
            <a:r>
              <a:rPr lang="en-US" altLang="zh-CN" sz="2100">
                <a:latin typeface="微软雅黑" panose="020B0503020204020204" pitchFamily="34" charset="-122"/>
                <a:ea typeface="宋体" panose="02010600030101010101" pitchFamily="2" charset="-122"/>
              </a:rPr>
              <a:t>substitution cipher</a:t>
            </a:r>
            <a:r>
              <a:rPr lang="zh-CN" altLang="en-US" sz="2100">
                <a:latin typeface="微软雅黑" panose="020B0503020204020204" pitchFamily="34" charset="-122"/>
                <a:ea typeface="宋体" panose="02010600030101010101" pitchFamily="2" charset="-122"/>
              </a:rPr>
              <a:t>）</a:t>
            </a:r>
          </a:p>
          <a:p>
            <a:pPr lvl="1" eaLnBrk="1" hangingPunct="1">
              <a:lnSpc>
                <a:spcPct val="110000"/>
              </a:lnSpc>
            </a:pPr>
            <a:r>
              <a:rPr lang="zh-CN" altLang="en-US" sz="1800">
                <a:latin typeface="微软雅黑" panose="020B0503020204020204" pitchFamily="34" charset="-122"/>
                <a:ea typeface="宋体" panose="02010600030101010101" pitchFamily="2" charset="-122"/>
              </a:rPr>
              <a:t>每个字母或者每一组字母被另一个字母或者另一组字母取代</a:t>
            </a:r>
          </a:p>
          <a:p>
            <a:pPr lvl="1" eaLnBrk="1" hangingPunct="1">
              <a:lnSpc>
                <a:spcPct val="110000"/>
              </a:lnSpc>
            </a:pPr>
            <a:r>
              <a:rPr lang="zh-CN" altLang="en-US" sz="1800">
                <a:latin typeface="微软雅黑" panose="020B0503020204020204" pitchFamily="34" charset="-122"/>
                <a:ea typeface="宋体" panose="02010600030101010101" pitchFamily="2" charset="-122"/>
              </a:rPr>
              <a:t>不改变明文字母的顺序，但是把字母伪装起来</a:t>
            </a:r>
          </a:p>
          <a:p>
            <a:pPr eaLnBrk="1" hangingPunct="1">
              <a:lnSpc>
                <a:spcPct val="110000"/>
              </a:lnSpc>
            </a:pPr>
            <a:r>
              <a:rPr lang="zh-CN" altLang="en-US" sz="2100">
                <a:solidFill>
                  <a:srgbClr val="FF0000"/>
                </a:solidFill>
                <a:latin typeface="微软雅黑" panose="020B0503020204020204" pitchFamily="34" charset="-122"/>
                <a:ea typeface="宋体" panose="02010600030101010101" pitchFamily="2" charset="-122"/>
              </a:rPr>
              <a:t>凯撒密码</a:t>
            </a:r>
            <a:r>
              <a:rPr lang="zh-CN" altLang="en-US" sz="2100">
                <a:latin typeface="微软雅黑" panose="020B0503020204020204" pitchFamily="34" charset="-122"/>
                <a:ea typeface="宋体" panose="02010600030101010101" pitchFamily="2" charset="-122"/>
              </a:rPr>
              <a:t>（</a:t>
            </a:r>
            <a:r>
              <a:rPr lang="en-US" altLang="zh-CN" sz="2100">
                <a:latin typeface="微软雅黑" panose="020B0503020204020204" pitchFamily="34" charset="-122"/>
                <a:ea typeface="宋体" panose="02010600030101010101" pitchFamily="2" charset="-122"/>
              </a:rPr>
              <a:t>Caesar cipher</a:t>
            </a:r>
            <a:r>
              <a:rPr lang="zh-CN" altLang="en-US" sz="2100">
                <a:latin typeface="微软雅黑" panose="020B0503020204020204" pitchFamily="34" charset="-122"/>
                <a:ea typeface="宋体" panose="02010600030101010101" pitchFamily="2" charset="-122"/>
              </a:rPr>
              <a:t>）</a:t>
            </a:r>
          </a:p>
          <a:p>
            <a:pPr lvl="1" eaLnBrk="1" hangingPunct="1">
              <a:lnSpc>
                <a:spcPct val="110000"/>
              </a:lnSpc>
            </a:pPr>
            <a:r>
              <a:rPr lang="zh-CN" altLang="en-US" sz="1800">
                <a:latin typeface="微软雅黑" panose="020B0503020204020204" pitchFamily="34" charset="-122"/>
                <a:ea typeface="宋体" panose="02010600030101010101" pitchFamily="2" charset="-122"/>
              </a:rPr>
              <a:t>每一个字母被位于其后的第三个字母代替</a:t>
            </a:r>
          </a:p>
          <a:p>
            <a:pPr lvl="2" eaLnBrk="1" hangingPunct="1">
              <a:lnSpc>
                <a:spcPct val="110000"/>
              </a:lnSpc>
            </a:pPr>
            <a:r>
              <a:rPr lang="zh-CN" altLang="en-US" sz="1500">
                <a:latin typeface="微软雅黑" panose="020B0503020204020204" pitchFamily="34" charset="-122"/>
                <a:ea typeface="宋体" panose="02010600030101010101" pitchFamily="2" charset="-122"/>
              </a:rPr>
              <a:t>一个例子：</a:t>
            </a:r>
            <a:r>
              <a:rPr lang="en-US" altLang="zh-CN" sz="1500">
                <a:latin typeface="微软雅黑" panose="020B0503020204020204" pitchFamily="34" charset="-122"/>
                <a:ea typeface="宋体" panose="02010600030101010101" pitchFamily="2" charset="-122"/>
              </a:rPr>
              <a:t>attack -&gt; dwwdfn</a:t>
            </a:r>
          </a:p>
          <a:p>
            <a:pPr lvl="1" eaLnBrk="1" hangingPunct="1">
              <a:lnSpc>
                <a:spcPct val="110000"/>
              </a:lnSpc>
            </a:pPr>
            <a:r>
              <a:rPr lang="zh-CN" altLang="en-US" sz="1800">
                <a:latin typeface="微软雅黑" panose="020B0503020204020204" pitchFamily="34" charset="-122"/>
                <a:ea typeface="宋体" panose="02010600030101010101" pitchFamily="2" charset="-122"/>
              </a:rPr>
              <a:t>一个通用方案是允许字母表被移动</a:t>
            </a:r>
            <a:r>
              <a:rPr lang="en-US" altLang="zh-CN" sz="1800">
                <a:latin typeface="微软雅黑" panose="020B0503020204020204" pitchFamily="34" charset="-122"/>
                <a:ea typeface="宋体" panose="02010600030101010101" pitchFamily="2" charset="-122"/>
              </a:rPr>
              <a:t>k</a:t>
            </a:r>
            <a:r>
              <a:rPr lang="zh-CN" altLang="en-US" sz="1800">
                <a:latin typeface="微软雅黑" panose="020B0503020204020204" pitchFamily="34" charset="-122"/>
                <a:ea typeface="宋体" panose="02010600030101010101" pitchFamily="2" charset="-122"/>
              </a:rPr>
              <a:t>个字母而不是</a:t>
            </a:r>
            <a:r>
              <a:rPr lang="en-US" altLang="zh-CN" sz="1800">
                <a:latin typeface="微软雅黑" panose="020B0503020204020204" pitchFamily="34" charset="-122"/>
                <a:ea typeface="宋体" panose="02010600030101010101" pitchFamily="2" charset="-122"/>
              </a:rPr>
              <a:t>3</a:t>
            </a:r>
            <a:r>
              <a:rPr lang="zh-CN" altLang="en-US" sz="1800">
                <a:latin typeface="微软雅黑" panose="020B0503020204020204" pitchFamily="34" charset="-122"/>
                <a:ea typeface="宋体" panose="02010600030101010101" pitchFamily="2" charset="-122"/>
              </a:rPr>
              <a:t>个，此时</a:t>
            </a:r>
            <a:r>
              <a:rPr lang="en-US" altLang="zh-CN" sz="1800">
                <a:latin typeface="微软雅黑" panose="020B0503020204020204" pitchFamily="34" charset="-122"/>
                <a:ea typeface="宋体" panose="02010600030101010101" pitchFamily="2" charset="-122"/>
              </a:rPr>
              <a:t>k</a:t>
            </a:r>
            <a:r>
              <a:rPr lang="zh-CN" altLang="en-US" sz="1800">
                <a:latin typeface="微软雅黑" panose="020B0503020204020204" pitchFamily="34" charset="-122"/>
                <a:ea typeface="宋体" panose="02010600030101010101" pitchFamily="2" charset="-122"/>
              </a:rPr>
              <a:t>相当于字母表循环移动算法的密钥</a:t>
            </a:r>
          </a:p>
          <a:p>
            <a:pPr lvl="1" eaLnBrk="1" hangingPunct="1">
              <a:lnSpc>
                <a:spcPct val="110000"/>
              </a:lnSpc>
            </a:pPr>
            <a:r>
              <a:rPr lang="zh-CN" altLang="en-US" sz="1800">
                <a:solidFill>
                  <a:srgbClr val="3366FF"/>
                </a:solidFill>
                <a:latin typeface="微软雅黑" panose="020B0503020204020204" pitchFamily="34" charset="-122"/>
                <a:ea typeface="宋体" panose="02010600030101010101" pitchFamily="2" charset="-122"/>
              </a:rPr>
              <a:t>优点：</a:t>
            </a:r>
            <a:r>
              <a:rPr lang="zh-CN" altLang="en-US" sz="1800">
                <a:latin typeface="微软雅黑" panose="020B0503020204020204" pitchFamily="34" charset="-122"/>
                <a:ea typeface="宋体" panose="02010600030101010101" pitchFamily="2" charset="-122"/>
              </a:rPr>
              <a:t>简单；</a:t>
            </a:r>
            <a:endParaRPr lang="en-US" altLang="zh-CN" sz="1800">
              <a:latin typeface="微软雅黑" panose="020B0503020204020204" pitchFamily="34" charset="-122"/>
              <a:ea typeface="宋体" panose="02010600030101010101" pitchFamily="2" charset="-122"/>
            </a:endParaRPr>
          </a:p>
          <a:p>
            <a:pPr lvl="1" eaLnBrk="1" hangingPunct="1">
              <a:lnSpc>
                <a:spcPct val="110000"/>
              </a:lnSpc>
            </a:pPr>
            <a:r>
              <a:rPr lang="zh-CN" altLang="en-US" sz="1800">
                <a:solidFill>
                  <a:srgbClr val="3366FF"/>
                </a:solidFill>
                <a:latin typeface="微软雅黑" panose="020B0503020204020204" pitchFamily="34" charset="-122"/>
                <a:ea typeface="宋体" panose="02010600030101010101" pitchFamily="2" charset="-122"/>
              </a:rPr>
              <a:t>缺点：</a:t>
            </a:r>
            <a:r>
              <a:rPr lang="zh-CN" altLang="en-US" sz="1800">
                <a:latin typeface="微软雅黑" panose="020B0503020204020204" pitchFamily="34" charset="-122"/>
                <a:ea typeface="宋体" panose="02010600030101010101" pitchFamily="2" charset="-122"/>
              </a:rPr>
              <a:t>极其容易破译</a:t>
            </a:r>
          </a:p>
        </p:txBody>
      </p:sp>
    </p:spTree>
    <p:extLst>
      <p:ext uri="{BB962C8B-B14F-4D97-AF65-F5344CB8AC3E}">
        <p14:creationId xmlns:p14="http://schemas.microsoft.com/office/powerpoint/2010/main" val="56291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a:extLst>
              <a:ext uri="{FF2B5EF4-FFF2-40B4-BE49-F238E27FC236}">
                <a16:creationId xmlns:a16="http://schemas.microsoft.com/office/drawing/2014/main" id="{86818100-7A82-944B-8764-87183959E8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294E6A6-42A3-5C4A-935C-5EBF290EE50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bg2"/>
              </a:solidFill>
              <a:latin typeface="Tahoma" panose="020B0604030504040204" pitchFamily="34" charset="0"/>
              <a:ea typeface="宋体" panose="02010600030101010101" pitchFamily="2" charset="-122"/>
            </a:endParaRPr>
          </a:p>
        </p:txBody>
      </p:sp>
      <p:sp>
        <p:nvSpPr>
          <p:cNvPr id="33794" name="Rectangle 2">
            <a:extLst>
              <a:ext uri="{FF2B5EF4-FFF2-40B4-BE49-F238E27FC236}">
                <a16:creationId xmlns:a16="http://schemas.microsoft.com/office/drawing/2014/main" id="{A84F5006-3390-DA46-A111-B8F1D2BBD6A2}"/>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33795" name="Rectangle 3">
            <a:extLst>
              <a:ext uri="{FF2B5EF4-FFF2-40B4-BE49-F238E27FC236}">
                <a16:creationId xmlns:a16="http://schemas.microsoft.com/office/drawing/2014/main" id="{24F66165-56F7-B04F-9BDB-FD519E912B21}"/>
              </a:ext>
            </a:extLst>
          </p:cNvPr>
          <p:cNvSpPr>
            <a:spLocks noGrp="1" noChangeArrowheads="1"/>
          </p:cNvSpPr>
          <p:nvPr>
            <p:ph type="body" idx="1"/>
          </p:nvPr>
        </p:nvSpPr>
        <p:spPr/>
        <p:txBody>
          <a:bodyPr/>
          <a:lstStyle/>
          <a:p>
            <a:pPr eaLnBrk="1" hangingPunct="1"/>
            <a:r>
              <a:rPr lang="zh-CN" altLang="en-US">
                <a:solidFill>
                  <a:srgbClr val="FF0000"/>
                </a:solidFill>
                <a:latin typeface="微软雅黑" panose="020B0503020204020204" pitchFamily="34" charset="-122"/>
                <a:ea typeface="宋体" panose="02010600030101010101" pitchFamily="2" charset="-122"/>
              </a:rPr>
              <a:t>单字母表置换</a:t>
            </a:r>
          </a:p>
          <a:p>
            <a:pPr lvl="1" eaLnBrk="1" hangingPunct="1"/>
            <a:r>
              <a:rPr lang="zh-CN" altLang="en-US">
                <a:solidFill>
                  <a:srgbClr val="262673"/>
                </a:solidFill>
                <a:latin typeface="微软雅黑" panose="020B0503020204020204" pitchFamily="34" charset="-122"/>
                <a:ea typeface="宋体" panose="02010600030101010101" pitchFamily="2" charset="-122"/>
              </a:rPr>
              <a:t>让明文中的每一个字符都映射到其他一个字符上</a:t>
            </a:r>
          </a:p>
          <a:p>
            <a:pPr lvl="1" eaLnBrk="1" hangingPunct="1"/>
            <a:r>
              <a:rPr lang="zh-CN" altLang="en-US">
                <a:latin typeface="微软雅黑" panose="020B0503020204020204" pitchFamily="34" charset="-122"/>
                <a:ea typeface="宋体" panose="02010600030101010101" pitchFamily="2" charset="-122"/>
              </a:rPr>
              <a:t>例如</a:t>
            </a:r>
            <a:r>
              <a:rPr lang="en-US" altLang="zh-CN">
                <a:latin typeface="微软雅黑" panose="020B0503020204020204" pitchFamily="34" charset="-122"/>
                <a:ea typeface="宋体" panose="02010600030101010101" pitchFamily="2" charset="-122"/>
              </a:rPr>
              <a:t>abcdefghijklmnopqrstuvwxyz</a:t>
            </a:r>
          </a:p>
          <a:p>
            <a:pPr lvl="1" eaLnBrk="1" hangingPunct="1">
              <a:buFont typeface="Wingdings" pitchFamily="2" charset="2"/>
              <a:buNone/>
            </a:pPr>
            <a:r>
              <a:rPr lang="en-US" altLang="zh-CN">
                <a:latin typeface="微软雅黑" panose="020B0503020204020204" pitchFamily="34" charset="-122"/>
                <a:ea typeface="宋体" panose="02010600030101010101" pitchFamily="2" charset="-122"/>
              </a:rPr>
              <a:t>		     QWERTYUIOPASDFGHJKLZXCVBNM</a:t>
            </a:r>
          </a:p>
          <a:p>
            <a:pPr lvl="1" eaLnBrk="1" hangingPunct="1">
              <a:buFont typeface="Wingdings" pitchFamily="2" charset="2"/>
              <a:buNone/>
            </a:pPr>
            <a:r>
              <a:rPr lang="en-US" altLang="zh-CN">
                <a:latin typeface="微软雅黑" panose="020B0503020204020204" pitchFamily="34" charset="-122"/>
                <a:ea typeface="宋体" panose="02010600030101010101" pitchFamily="2" charset="-122"/>
              </a:rPr>
              <a:t>	</a:t>
            </a:r>
            <a:r>
              <a:rPr lang="zh-CN" altLang="en-US">
                <a:latin typeface="微软雅黑" panose="020B0503020204020204" pitchFamily="34" charset="-122"/>
                <a:ea typeface="宋体" panose="02010600030101010101" pitchFamily="2" charset="-122"/>
              </a:rPr>
              <a:t>则</a:t>
            </a:r>
            <a:r>
              <a:rPr lang="en-US" altLang="zh-CN">
                <a:latin typeface="微软雅黑" panose="020B0503020204020204" pitchFamily="34" charset="-122"/>
                <a:ea typeface="宋体" panose="02010600030101010101" pitchFamily="2" charset="-122"/>
              </a:rPr>
              <a:t>attack -&gt; QZZQEA</a:t>
            </a:r>
          </a:p>
          <a:p>
            <a:pPr lvl="1" eaLnBrk="1" hangingPunct="1"/>
            <a:r>
              <a:rPr lang="zh-CN" altLang="en-US">
                <a:solidFill>
                  <a:srgbClr val="262673"/>
                </a:solidFill>
                <a:latin typeface="微软雅黑" panose="020B0503020204020204" pitchFamily="34" charset="-122"/>
                <a:ea typeface="宋体" panose="02010600030101010101" pitchFamily="2" charset="-122"/>
              </a:rPr>
              <a:t>密钥共有</a:t>
            </a:r>
            <a:r>
              <a:rPr lang="en-US" altLang="zh-CN">
                <a:solidFill>
                  <a:srgbClr val="262673"/>
                </a:solidFill>
                <a:latin typeface="微软雅黑" panose="020B0503020204020204" pitchFamily="34" charset="-122"/>
                <a:ea typeface="宋体" panose="02010600030101010101" pitchFamily="2" charset="-122"/>
              </a:rPr>
              <a:t>26</a:t>
            </a:r>
            <a:r>
              <a:rPr lang="zh-CN" altLang="en-US">
                <a:solidFill>
                  <a:srgbClr val="262673"/>
                </a:solidFill>
                <a:latin typeface="微软雅黑" panose="020B0503020204020204" pitchFamily="34" charset="-122"/>
                <a:ea typeface="宋体" panose="02010600030101010101" pitchFamily="2" charset="-122"/>
              </a:rPr>
              <a:t>！≈ </a:t>
            </a:r>
            <a:r>
              <a:rPr lang="en-US" altLang="zh-CN">
                <a:solidFill>
                  <a:srgbClr val="262673"/>
                </a:solidFill>
                <a:latin typeface="微软雅黑" panose="020B0503020204020204" pitchFamily="34" charset="-122"/>
                <a:ea typeface="宋体" panose="02010600030101010101" pitchFamily="2" charset="-122"/>
              </a:rPr>
              <a:t>4</a:t>
            </a:r>
            <a:r>
              <a:rPr lang="en-US" altLang="zh-CN">
                <a:solidFill>
                  <a:srgbClr val="262673"/>
                </a:solidFill>
                <a:latin typeface="微软雅黑" panose="020B0503020204020204" pitchFamily="34" charset="-122"/>
                <a:ea typeface="宋体" panose="02010600030101010101" pitchFamily="2" charset="-122"/>
                <a:sym typeface="Symbol" pitchFamily="2" charset="2"/>
              </a:rPr>
              <a:t></a:t>
            </a:r>
            <a:r>
              <a:rPr lang="en-US" altLang="zh-CN">
                <a:solidFill>
                  <a:srgbClr val="262673"/>
                </a:solidFill>
                <a:latin typeface="微软雅黑" panose="020B0503020204020204" pitchFamily="34" charset="-122"/>
                <a:ea typeface="宋体" panose="02010600030101010101" pitchFamily="2" charset="-122"/>
              </a:rPr>
              <a:t>10^26</a:t>
            </a:r>
            <a:r>
              <a:rPr lang="zh-CN" altLang="en-US">
                <a:solidFill>
                  <a:srgbClr val="262673"/>
                </a:solidFill>
                <a:latin typeface="微软雅黑" panose="020B0503020204020204" pitchFamily="34" charset="-122"/>
                <a:ea typeface="宋体" panose="02010600030101010101" pitchFamily="2" charset="-122"/>
              </a:rPr>
              <a:t>种可能，穷举攻击计算上不可行</a:t>
            </a:r>
          </a:p>
        </p:txBody>
      </p:sp>
    </p:spTree>
    <p:extLst>
      <p:ext uri="{BB962C8B-B14F-4D97-AF65-F5344CB8AC3E}">
        <p14:creationId xmlns:p14="http://schemas.microsoft.com/office/powerpoint/2010/main" val="423243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a:extLst>
              <a:ext uri="{FF2B5EF4-FFF2-40B4-BE49-F238E27FC236}">
                <a16:creationId xmlns:a16="http://schemas.microsoft.com/office/drawing/2014/main" id="{8B6F5440-219C-DA49-ACB7-6AA26A0B51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B765A1-E0B5-2F4D-A90E-C3D0C7E35B3C}"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bg2"/>
              </a:solidFill>
              <a:latin typeface="Tahoma" panose="020B0604030504040204" pitchFamily="34" charset="0"/>
              <a:ea typeface="宋体" panose="02010600030101010101" pitchFamily="2" charset="-122"/>
            </a:endParaRPr>
          </a:p>
        </p:txBody>
      </p:sp>
      <p:sp>
        <p:nvSpPr>
          <p:cNvPr id="35842" name="Rectangle 2">
            <a:extLst>
              <a:ext uri="{FF2B5EF4-FFF2-40B4-BE49-F238E27FC236}">
                <a16:creationId xmlns:a16="http://schemas.microsoft.com/office/drawing/2014/main" id="{3236DD79-EFD1-3C4A-BCF0-6051143AC10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35843" name="Rectangle 3">
            <a:extLst>
              <a:ext uri="{FF2B5EF4-FFF2-40B4-BE49-F238E27FC236}">
                <a16:creationId xmlns:a16="http://schemas.microsoft.com/office/drawing/2014/main" id="{A4DAB431-0DB5-0843-A05D-16047C75B092}"/>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利用自然语言的统计特性很容易破解密码。例如英文中</a:t>
            </a:r>
            <a:r>
              <a:rPr lang="en-US" altLang="zh-CN">
                <a:latin typeface="微软雅黑" panose="020B0503020204020204" pitchFamily="34" charset="-122"/>
                <a:ea typeface="宋体" panose="02010600030101010101" pitchFamily="2" charset="-122"/>
              </a:rPr>
              <a:t>e</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t</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o</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a</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i</a:t>
            </a:r>
            <a:r>
              <a:rPr lang="zh-CN" altLang="en-US">
                <a:latin typeface="微软雅黑" panose="020B0503020204020204" pitchFamily="34" charset="-122"/>
                <a:ea typeface="宋体" panose="02010600030101010101" pitchFamily="2" charset="-122"/>
              </a:rPr>
              <a:t>是最常出现的字母</a:t>
            </a:r>
          </a:p>
        </p:txBody>
      </p:sp>
      <p:pic>
        <p:nvPicPr>
          <p:cNvPr id="35844" name="Picture 6">
            <a:extLst>
              <a:ext uri="{FF2B5EF4-FFF2-40B4-BE49-F238E27FC236}">
                <a16:creationId xmlns:a16="http://schemas.microsoft.com/office/drawing/2014/main" id="{F116DB56-6E40-5B4D-A586-F669664F4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241" y="1977629"/>
            <a:ext cx="5233988" cy="3020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831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3">
            <a:extLst>
              <a:ext uri="{FF2B5EF4-FFF2-40B4-BE49-F238E27FC236}">
                <a16:creationId xmlns:a16="http://schemas.microsoft.com/office/drawing/2014/main" id="{2676C6B6-5248-AA4E-BCA4-8EAEDA694BB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BDFE92E-BE4C-DF45-BC88-9DD182374CFB}"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bg2"/>
              </a:solidFill>
              <a:latin typeface="Tahoma" panose="020B0604030504040204" pitchFamily="34" charset="0"/>
              <a:ea typeface="宋体" panose="02010600030101010101" pitchFamily="2" charset="-122"/>
            </a:endParaRPr>
          </a:p>
        </p:txBody>
      </p:sp>
      <p:sp>
        <p:nvSpPr>
          <p:cNvPr id="37890" name="Rectangle 2">
            <a:extLst>
              <a:ext uri="{FF2B5EF4-FFF2-40B4-BE49-F238E27FC236}">
                <a16:creationId xmlns:a16="http://schemas.microsoft.com/office/drawing/2014/main" id="{7021C9E6-8888-8C4A-BAC8-0AC3AD41A0CD}"/>
              </a:ext>
            </a:extLst>
          </p:cNvPr>
          <p:cNvSpPr>
            <a:spLocks noGrp="1" noChangeArrowheads="1"/>
          </p:cNvSpPr>
          <p:nvPr>
            <p:ph type="title"/>
          </p:nvPr>
        </p:nvSpPr>
        <p:spPr>
          <a:xfrm>
            <a:off x="166255" y="386954"/>
            <a:ext cx="7039408" cy="515540"/>
          </a:xfrm>
        </p:spPr>
        <p:txBody>
          <a:bodyPr/>
          <a:lstStyle/>
          <a:p>
            <a:pPr eaLnBrk="1" hangingPunct="1"/>
            <a:r>
              <a:rPr lang="zh-CN" altLang="en-US">
                <a:latin typeface="微软雅黑" panose="020B0503020204020204" pitchFamily="34" charset="-122"/>
                <a:ea typeface="宋体" panose="02010600030101010101" pitchFamily="2" charset="-122"/>
              </a:rPr>
              <a:t>转置密码（</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37891" name="Rectangle 3">
            <a:extLst>
              <a:ext uri="{FF2B5EF4-FFF2-40B4-BE49-F238E27FC236}">
                <a16:creationId xmlns:a16="http://schemas.microsoft.com/office/drawing/2014/main" id="{208E9C5B-C06C-BF4A-85E4-FF6DAA0203D1}"/>
              </a:ext>
            </a:extLst>
          </p:cNvPr>
          <p:cNvSpPr>
            <a:spLocks noGrp="1" noChangeArrowheads="1"/>
          </p:cNvSpPr>
          <p:nvPr>
            <p:ph type="body" idx="1"/>
          </p:nvPr>
        </p:nvSpPr>
        <p:spPr>
          <a:xfrm>
            <a:off x="166255" y="1033462"/>
            <a:ext cx="8840584" cy="1908573"/>
          </a:xfrm>
        </p:spPr>
        <p:txBody>
          <a:body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转置密码</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transposition cipher</a:t>
            </a:r>
            <a:r>
              <a:rPr lang="zh-CN" altLang="en-US" sz="2100" dirty="0">
                <a:latin typeface="微软雅黑" panose="020B0503020204020204" pitchFamily="34" charset="-122"/>
                <a:ea typeface="宋体" panose="02010600030101010101" pitchFamily="2" charset="-122"/>
              </a:rPr>
              <a:t>）</a:t>
            </a:r>
          </a:p>
          <a:p>
            <a:pPr lvl="1" eaLnBrk="1" hangingPunct="1"/>
            <a:r>
              <a:rPr lang="zh-CN" altLang="en-US" sz="1800" dirty="0">
                <a:latin typeface="微软雅黑" panose="020B0503020204020204" pitchFamily="34" charset="-122"/>
                <a:ea typeface="宋体" panose="02010600030101010101" pitchFamily="2" charset="-122"/>
              </a:rPr>
              <a:t>重新对字母进行排序，但是不伪装明文</a:t>
            </a:r>
          </a:p>
          <a:p>
            <a:pPr lvl="1" eaLnBrk="1" hangingPunct="1"/>
            <a:r>
              <a:rPr lang="zh-CN" altLang="en-US" sz="1800" dirty="0">
                <a:latin typeface="微软雅黑" panose="020B0503020204020204" pitchFamily="34" charset="-122"/>
                <a:ea typeface="宋体" panose="02010600030101010101" pitchFamily="2" charset="-122"/>
              </a:rPr>
              <a:t>下图给出了一种常见的转置密码：</a:t>
            </a:r>
            <a:r>
              <a:rPr lang="zh-CN" altLang="en-US" sz="1800" dirty="0">
                <a:solidFill>
                  <a:srgbClr val="FF0000"/>
                </a:solidFill>
                <a:latin typeface="微软雅黑" panose="020B0503020204020204" pitchFamily="34" charset="-122"/>
                <a:ea typeface="宋体" panose="02010600030101010101" pitchFamily="2" charset="-122"/>
              </a:rPr>
              <a:t>柱形转置</a:t>
            </a:r>
          </a:p>
          <a:p>
            <a:pPr lvl="2" eaLnBrk="1" hangingPunct="1"/>
            <a:r>
              <a:rPr lang="en-US" altLang="zh-CN" sz="1350" dirty="0">
                <a:latin typeface="微软雅黑" panose="020B0503020204020204" pitchFamily="34" charset="-122"/>
                <a:ea typeface="宋体" panose="02010600030101010101" pitchFamily="2" charset="-122"/>
              </a:rPr>
              <a:t>MEGABUCK</a:t>
            </a:r>
            <a:r>
              <a:rPr lang="zh-CN" altLang="en-US" sz="1350" dirty="0">
                <a:latin typeface="微软雅黑" panose="020B0503020204020204" pitchFamily="34" charset="-122"/>
                <a:ea typeface="宋体" panose="02010600030101010101" pitchFamily="2" charset="-122"/>
              </a:rPr>
              <a:t>是密钥，作用是对矩阵列进行编号，例中第一列为</a:t>
            </a:r>
            <a:r>
              <a:rPr lang="en-US" altLang="zh-CN" sz="1350" dirty="0">
                <a:latin typeface="微软雅黑" panose="020B0503020204020204" pitchFamily="34" charset="-122"/>
                <a:ea typeface="宋体" panose="02010600030101010101" pitchFamily="2" charset="-122"/>
              </a:rPr>
              <a:t>A</a:t>
            </a:r>
            <a:r>
              <a:rPr lang="zh-CN" altLang="en-US" sz="1350" dirty="0">
                <a:latin typeface="微软雅黑" panose="020B0503020204020204" pitchFamily="34" charset="-122"/>
                <a:ea typeface="宋体" panose="02010600030101010101" pitchFamily="2" charset="-122"/>
              </a:rPr>
              <a:t>代表的那一列，以此类推</a:t>
            </a:r>
          </a:p>
          <a:p>
            <a:pPr lvl="2" eaLnBrk="1" hangingPunct="1"/>
            <a:r>
              <a:rPr lang="zh-CN" altLang="en-US" sz="1350" dirty="0">
                <a:latin typeface="微软雅黑" panose="020B0503020204020204" pitchFamily="34" charset="-122"/>
                <a:ea typeface="宋体" panose="02010600030101010101" pitchFamily="2" charset="-122"/>
              </a:rPr>
              <a:t>明文按水平方向的行依次填充矩阵</a:t>
            </a:r>
          </a:p>
          <a:p>
            <a:pPr lvl="2" eaLnBrk="1" hangingPunct="1"/>
            <a:r>
              <a:rPr lang="zh-CN" altLang="en-US" sz="1350" dirty="0">
                <a:latin typeface="微软雅黑" panose="020B0503020204020204" pitchFamily="34" charset="-122"/>
                <a:ea typeface="宋体" panose="02010600030101010101" pitchFamily="2" charset="-122"/>
              </a:rPr>
              <a:t>密文按列读出，列次序如密钥所规定</a:t>
            </a:r>
          </a:p>
        </p:txBody>
      </p:sp>
      <p:sp>
        <p:nvSpPr>
          <p:cNvPr id="37892" name="AutoShape 4" descr="graphics/08fig03.gif">
            <a:extLst>
              <a:ext uri="{FF2B5EF4-FFF2-40B4-BE49-F238E27FC236}">
                <a16:creationId xmlns:a16="http://schemas.microsoft.com/office/drawing/2014/main" id="{A13F7F8D-013F-2848-8E54-A1236B0C8494}"/>
              </a:ext>
            </a:extLst>
          </p:cNvPr>
          <p:cNvSpPr>
            <a:spLocks noChangeAspect="1" noChangeArrowheads="1"/>
          </p:cNvSpPr>
          <p:nvPr/>
        </p:nvSpPr>
        <p:spPr bwMode="auto">
          <a:xfrm>
            <a:off x="1396604" y="1913335"/>
            <a:ext cx="3063478"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800">
              <a:solidFill>
                <a:schemeClr val="tx1"/>
              </a:solidFill>
              <a:latin typeface="Tahoma" panose="020B0604030504040204" pitchFamily="34" charset="0"/>
              <a:ea typeface="宋体" panose="02010600030101010101" pitchFamily="2" charset="-122"/>
            </a:endParaRPr>
          </a:p>
        </p:txBody>
      </p:sp>
      <p:sp>
        <p:nvSpPr>
          <p:cNvPr id="37893" name="AutoShape 5" descr="graphics/08fig03.gif">
            <a:extLst>
              <a:ext uri="{FF2B5EF4-FFF2-40B4-BE49-F238E27FC236}">
                <a16:creationId xmlns:a16="http://schemas.microsoft.com/office/drawing/2014/main" id="{1C77F140-3C1E-D04B-948C-B1A5D769590D}"/>
              </a:ext>
            </a:extLst>
          </p:cNvPr>
          <p:cNvSpPr>
            <a:spLocks noChangeAspect="1" noChangeArrowheads="1"/>
          </p:cNvSpPr>
          <p:nvPr/>
        </p:nvSpPr>
        <p:spPr bwMode="auto">
          <a:xfrm>
            <a:off x="2924175" y="2033587"/>
            <a:ext cx="3064669"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800">
              <a:solidFill>
                <a:schemeClr val="tx1"/>
              </a:solidFill>
              <a:latin typeface="Tahoma" panose="020B0604030504040204" pitchFamily="34" charset="0"/>
              <a:ea typeface="宋体" panose="02010600030101010101" pitchFamily="2" charset="-122"/>
            </a:endParaRPr>
          </a:p>
        </p:txBody>
      </p:sp>
      <p:pic>
        <p:nvPicPr>
          <p:cNvPr id="37894" name="Picture 6" descr="8-03">
            <a:extLst>
              <a:ext uri="{FF2B5EF4-FFF2-40B4-BE49-F238E27FC236}">
                <a16:creationId xmlns:a16="http://schemas.microsoft.com/office/drawing/2014/main" id="{EC80EE55-BFC7-3C4E-87E4-262679370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4251" y="2942035"/>
            <a:ext cx="5924515" cy="205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1209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3">
            <a:extLst>
              <a:ext uri="{FF2B5EF4-FFF2-40B4-BE49-F238E27FC236}">
                <a16:creationId xmlns:a16="http://schemas.microsoft.com/office/drawing/2014/main" id="{B2161921-8147-654A-BF8B-93FA7029E0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431B16-B3BA-C34B-A383-2FE5471B7BC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39938" name="Rectangle 2">
            <a:extLst>
              <a:ext uri="{FF2B5EF4-FFF2-40B4-BE49-F238E27FC236}">
                <a16:creationId xmlns:a16="http://schemas.microsoft.com/office/drawing/2014/main" id="{50F38C77-3BD6-C245-B421-64052EE57219}"/>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转置密码（</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39939" name="Rectangle 3">
            <a:extLst>
              <a:ext uri="{FF2B5EF4-FFF2-40B4-BE49-F238E27FC236}">
                <a16:creationId xmlns:a16="http://schemas.microsoft.com/office/drawing/2014/main" id="{007DC034-F7B6-A843-AC28-083B2138F97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转置密码破译方法</a:t>
            </a:r>
          </a:p>
          <a:p>
            <a:pPr lvl="1" eaLnBrk="1" hangingPunct="1"/>
            <a:r>
              <a:rPr lang="zh-CN" altLang="en-US">
                <a:latin typeface="微软雅黑" panose="020B0503020204020204" pitchFamily="34" charset="-122"/>
                <a:ea typeface="宋体" panose="02010600030101010101" pitchFamily="2" charset="-122"/>
              </a:rPr>
              <a:t>观察英文常用字母出现的频率是否与明文的常规频率吻合，是的话则可以确定是转置密码</a:t>
            </a:r>
          </a:p>
          <a:p>
            <a:pPr lvl="1" eaLnBrk="1" hangingPunct="1"/>
            <a:r>
              <a:rPr lang="zh-CN" altLang="en-US">
                <a:latin typeface="微软雅黑" panose="020B0503020204020204" pitchFamily="34" charset="-122"/>
                <a:ea typeface="宋体" panose="02010600030101010101" pitchFamily="2" charset="-122"/>
              </a:rPr>
              <a:t>根据特定的环境信息猜测一个可能的单词或者短语，观察单词中两字母组合的规律来确定列数</a:t>
            </a:r>
          </a:p>
          <a:p>
            <a:pPr lvl="1" eaLnBrk="1" hangingPunct="1"/>
            <a:r>
              <a:rPr lang="zh-CN" altLang="en-US">
                <a:latin typeface="微软雅黑" panose="020B0503020204020204" pitchFamily="34" charset="-122"/>
                <a:ea typeface="宋体" panose="02010600030101010101" pitchFamily="2" charset="-122"/>
              </a:rPr>
              <a:t>当列数较小的时候，共有</a:t>
            </a:r>
            <a:r>
              <a:rPr lang="en-US" altLang="zh-CN">
                <a:latin typeface="微软雅黑" panose="020B0503020204020204" pitchFamily="34" charset="-122"/>
                <a:ea typeface="宋体" panose="02010600030101010101" pitchFamily="2" charset="-122"/>
              </a:rPr>
              <a:t>K(K-1)</a:t>
            </a:r>
            <a:r>
              <a:rPr lang="zh-CN" altLang="en-US">
                <a:latin typeface="微软雅黑" panose="020B0503020204020204" pitchFamily="34" charset="-122"/>
                <a:ea typeface="宋体" panose="02010600030101010101" pitchFamily="2" charset="-122"/>
              </a:rPr>
              <a:t>种可能的列对，对每一个列对进行检查看它的两字母组合的频率是否与英文两字母组合频率相匹配，依此逐步确认列的顺序。</a:t>
            </a:r>
          </a:p>
        </p:txBody>
      </p:sp>
    </p:spTree>
    <p:extLst>
      <p:ext uri="{BB962C8B-B14F-4D97-AF65-F5344CB8AC3E}">
        <p14:creationId xmlns:p14="http://schemas.microsoft.com/office/powerpoint/2010/main" val="278645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a:extLst>
              <a:ext uri="{FF2B5EF4-FFF2-40B4-BE49-F238E27FC236}">
                <a16:creationId xmlns:a16="http://schemas.microsoft.com/office/drawing/2014/main" id="{8B6A551A-E821-5443-9375-6D1E0BFFEA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16A870-76A1-4848-88A2-A956B6A87923}"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41986" name="Rectangle 2">
            <a:extLst>
              <a:ext uri="{FF2B5EF4-FFF2-40B4-BE49-F238E27FC236}">
                <a16:creationId xmlns:a16="http://schemas.microsoft.com/office/drawing/2014/main" id="{BF86DA9D-B08D-624E-B5BB-747AB2A7D04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1987" name="Rectangle 3">
            <a:extLst>
              <a:ext uri="{FF2B5EF4-FFF2-40B4-BE49-F238E27FC236}">
                <a16:creationId xmlns:a16="http://schemas.microsoft.com/office/drawing/2014/main" id="{EE0945A6-F600-854F-8D40-3E95BBD4EEAE}"/>
              </a:ext>
            </a:extLst>
          </p:cNvPr>
          <p:cNvSpPr>
            <a:spLocks noGrp="1" noChangeArrowheads="1"/>
          </p:cNvSpPr>
          <p:nvPr>
            <p:ph type="body" idx="1"/>
          </p:nvPr>
        </p:nvSpPr>
        <p:spPr/>
        <p:txBody>
          <a:bodyPr/>
          <a:lstStyle/>
          <a:p>
            <a:pPr eaLnBrk="1" hangingPunct="1"/>
            <a:r>
              <a:rPr lang="zh-CN" altLang="en-US">
                <a:solidFill>
                  <a:srgbClr val="FF0000"/>
                </a:solidFill>
                <a:latin typeface="微软雅黑" panose="020B0503020204020204" pitchFamily="34" charset="-122"/>
                <a:ea typeface="宋体" panose="02010600030101010101" pitchFamily="2" charset="-122"/>
              </a:rPr>
              <a:t>一次一密</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one-time pad</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选择一个随机的位串作为密钥，将明文转变成一个位串，然后逐位计算两个串的异或值作为密文</a:t>
            </a:r>
          </a:p>
          <a:p>
            <a:pPr lvl="1" eaLnBrk="1" hangingPunct="1"/>
            <a:r>
              <a:rPr lang="zh-CN" altLang="en-US">
                <a:latin typeface="微软雅黑" panose="020B0503020204020204" pitchFamily="34" charset="-122"/>
                <a:ea typeface="宋体" panose="02010600030101010101" pitchFamily="2" charset="-122"/>
              </a:rPr>
              <a:t>信息论表明，在没有密钥的情况下密文无法破解</a:t>
            </a:r>
          </a:p>
          <a:p>
            <a:pPr lvl="1" eaLnBrk="1" hangingPunct="1"/>
            <a:r>
              <a:rPr lang="zh-CN" altLang="en-US">
                <a:latin typeface="微软雅黑" panose="020B0503020204020204" pitchFamily="34" charset="-122"/>
                <a:ea typeface="宋体" panose="02010600030101010101" pitchFamily="2" charset="-122"/>
              </a:rPr>
              <a:t>缺点</a:t>
            </a:r>
          </a:p>
          <a:p>
            <a:pPr lvl="2" eaLnBrk="1" hangingPunct="1"/>
            <a:r>
              <a:rPr lang="zh-CN" altLang="en-US">
                <a:latin typeface="微软雅黑" panose="020B0503020204020204" pitchFamily="34" charset="-122"/>
                <a:ea typeface="宋体" panose="02010600030101010101" pitchFamily="2" charset="-122"/>
              </a:rPr>
              <a:t>密钥量大，无法记忆，必须携带书面副本</a:t>
            </a:r>
          </a:p>
          <a:p>
            <a:pPr lvl="2" eaLnBrk="1" hangingPunct="1"/>
            <a:r>
              <a:rPr lang="zh-CN" altLang="en-US">
                <a:latin typeface="微软雅黑" panose="020B0503020204020204" pitchFamily="34" charset="-122"/>
                <a:ea typeface="宋体" panose="02010600030101010101" pitchFamily="2" charset="-122"/>
              </a:rPr>
              <a:t>对于丢失字符和插入字符敏感，发送方和接收方必须保持同步</a:t>
            </a:r>
          </a:p>
        </p:txBody>
      </p:sp>
    </p:spTree>
    <p:extLst>
      <p:ext uri="{BB962C8B-B14F-4D97-AF65-F5344CB8AC3E}">
        <p14:creationId xmlns:p14="http://schemas.microsoft.com/office/powerpoint/2010/main" val="4004943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a:extLst>
              <a:ext uri="{FF2B5EF4-FFF2-40B4-BE49-F238E27FC236}">
                <a16:creationId xmlns:a16="http://schemas.microsoft.com/office/drawing/2014/main" id="{BB8298D2-26DE-7A45-9058-CF5CDC77C2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9AB68D-FE4F-F04E-A5CC-B6483772A98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44034" name="Rectangle 2">
            <a:extLst>
              <a:ext uri="{FF2B5EF4-FFF2-40B4-BE49-F238E27FC236}">
                <a16:creationId xmlns:a16="http://schemas.microsoft.com/office/drawing/2014/main" id="{BE63BF4A-97A9-644F-B43A-0329879B4905}"/>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44035" name="Rectangle 3">
            <a:extLst>
              <a:ext uri="{FF2B5EF4-FFF2-40B4-BE49-F238E27FC236}">
                <a16:creationId xmlns:a16="http://schemas.microsoft.com/office/drawing/2014/main" id="{66D278DA-38C8-E540-97C1-E569DB1DCD8C}"/>
              </a:ext>
            </a:extLst>
          </p:cNvPr>
          <p:cNvSpPr>
            <a:spLocks noGrp="1" noChangeArrowheads="1"/>
          </p:cNvSpPr>
          <p:nvPr>
            <p:ph type="body" idx="1"/>
          </p:nvPr>
        </p:nvSpPr>
        <p:spPr>
          <a:xfrm>
            <a:off x="133563" y="1031278"/>
            <a:ext cx="8972336" cy="3708326"/>
          </a:xfrm>
        </p:spPr>
        <p:txBody>
          <a:bodyPr/>
          <a:lstStyle/>
          <a:p>
            <a:pPr eaLnBrk="1" hangingPunct="1"/>
            <a:r>
              <a:rPr lang="zh-CN" altLang="en-US" dirty="0">
                <a:latin typeface="微软雅黑" panose="020B0503020204020204" pitchFamily="34" charset="-122"/>
                <a:ea typeface="宋体" panose="02010600030101010101" pitchFamily="2" charset="-122"/>
              </a:rPr>
              <a:t>一次一密示例</a:t>
            </a:r>
          </a:p>
          <a:p>
            <a:pPr lvl="1" eaLnBrk="1" hangingPunct="1"/>
            <a:r>
              <a:rPr lang="zh-CN" altLang="en-US" dirty="0">
                <a:latin typeface="微软雅黑" panose="020B0503020204020204" pitchFamily="34" charset="-122"/>
                <a:ea typeface="宋体" panose="02010600030101010101" pitchFamily="2" charset="-122"/>
              </a:rPr>
              <a:t>明文：</a:t>
            </a:r>
            <a:r>
              <a:rPr lang="en-US" altLang="zh-CN" dirty="0">
                <a:latin typeface="微软雅黑" panose="020B0503020204020204" pitchFamily="34" charset="-122"/>
                <a:ea typeface="宋体" panose="02010600030101010101" pitchFamily="2" charset="-122"/>
              </a:rPr>
              <a:t>I love you.</a:t>
            </a:r>
          </a:p>
          <a:p>
            <a:pPr lvl="1" eaLnBrk="1" hangingPunct="1"/>
            <a:r>
              <a:rPr lang="zh-CN" altLang="en-US" dirty="0">
                <a:latin typeface="微软雅黑" panose="020B0503020204020204" pitchFamily="34" charset="-122"/>
                <a:ea typeface="宋体" panose="02010600030101010101" pitchFamily="2" charset="-122"/>
              </a:rPr>
              <a:t>密钥是</a:t>
            </a:r>
            <a:r>
              <a:rPr lang="en-US" altLang="zh-CN" dirty="0">
                <a:latin typeface="微软雅黑" panose="020B0503020204020204" pitchFamily="34" charset="-122"/>
                <a:ea typeface="宋体" panose="02010600030101010101" pitchFamily="2" charset="-122"/>
              </a:rPr>
              <a:t>Pad1</a:t>
            </a:r>
            <a:r>
              <a:rPr lang="zh-CN" altLang="en-US" dirty="0">
                <a:latin typeface="微软雅黑" panose="020B0503020204020204" pitchFamily="34" charset="-122"/>
                <a:ea typeface="宋体" panose="02010600030101010101" pitchFamily="2" charset="-122"/>
              </a:rPr>
              <a:t>，若选择</a:t>
            </a:r>
            <a:r>
              <a:rPr lang="en-US" altLang="zh-CN" dirty="0">
                <a:latin typeface="微软雅黑" panose="020B0503020204020204" pitchFamily="34" charset="-122"/>
                <a:ea typeface="宋体" panose="02010600030101010101" pitchFamily="2" charset="-122"/>
              </a:rPr>
              <a:t>Pad2</a:t>
            </a:r>
            <a:r>
              <a:rPr lang="zh-CN" altLang="en-US" dirty="0">
                <a:latin typeface="微软雅黑" panose="020B0503020204020204" pitchFamily="34" charset="-122"/>
                <a:ea typeface="宋体" panose="02010600030101010101" pitchFamily="2" charset="-122"/>
              </a:rPr>
              <a:t>用来解密，得到明文结果</a:t>
            </a:r>
            <a:r>
              <a:rPr lang="en-US" altLang="zh-CN" dirty="0">
                <a:latin typeface="微软雅黑" panose="020B0503020204020204" pitchFamily="34" charset="-122"/>
                <a:ea typeface="宋体" panose="02010600030101010101" pitchFamily="2" charset="-122"/>
              </a:rPr>
              <a:t>Elvis lives</a:t>
            </a:r>
            <a:r>
              <a:rPr lang="zh-CN" altLang="en-US" dirty="0">
                <a:latin typeface="微软雅黑" panose="020B0503020204020204" pitchFamily="34" charset="-122"/>
                <a:ea typeface="宋体" panose="02010600030101010101" pitchFamily="2" charset="-122"/>
              </a:rPr>
              <a:t>，似是而非</a:t>
            </a:r>
          </a:p>
        </p:txBody>
      </p:sp>
      <p:graphicFrame>
        <p:nvGraphicFramePr>
          <p:cNvPr id="44036" name="Object 5">
            <a:extLst>
              <a:ext uri="{FF2B5EF4-FFF2-40B4-BE49-F238E27FC236}">
                <a16:creationId xmlns:a16="http://schemas.microsoft.com/office/drawing/2014/main" id="{62020722-72F1-AC43-9BE0-E53BD57E5241}"/>
              </a:ext>
            </a:extLst>
          </p:cNvPr>
          <p:cNvGraphicFramePr>
            <a:graphicFrameLocks noChangeAspect="1"/>
          </p:cNvGraphicFramePr>
          <p:nvPr>
            <p:extLst>
              <p:ext uri="{D42A27DB-BD31-4B8C-83A1-F6EECF244321}">
                <p14:modId xmlns:p14="http://schemas.microsoft.com/office/powerpoint/2010/main" val="1329610325"/>
              </p:ext>
            </p:extLst>
          </p:nvPr>
        </p:nvGraphicFramePr>
        <p:xfrm>
          <a:off x="964259" y="2571750"/>
          <a:ext cx="6979591" cy="1883914"/>
        </p:xfrm>
        <a:graphic>
          <a:graphicData uri="http://schemas.openxmlformats.org/presentationml/2006/ole">
            <mc:AlternateContent xmlns:mc="http://schemas.openxmlformats.org/markup-compatibility/2006">
              <mc:Choice xmlns:v="urn:schemas-microsoft-com:vml" Requires="v">
                <p:oleObj spid="_x0000_s29705" r:id="rId4" imgW="8572500" imgH="1536700" progId="Paint.Picture">
                  <p:embed/>
                </p:oleObj>
              </mc:Choice>
              <mc:Fallback>
                <p:oleObj r:id="rId4" imgW="8572500" imgH="1536700" progId="Paint.Picture">
                  <p:embed/>
                  <p:pic>
                    <p:nvPicPr>
                      <p:cNvPr id="44036" name="Object 5">
                        <a:extLst>
                          <a:ext uri="{FF2B5EF4-FFF2-40B4-BE49-F238E27FC236}">
                            <a16:creationId xmlns:a16="http://schemas.microsoft.com/office/drawing/2014/main" id="{62020722-72F1-AC43-9BE0-E53BD57E52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259" y="2571750"/>
                        <a:ext cx="6979591" cy="188391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99280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a:extLst>
              <a:ext uri="{FF2B5EF4-FFF2-40B4-BE49-F238E27FC236}">
                <a16:creationId xmlns:a16="http://schemas.microsoft.com/office/drawing/2014/main" id="{C71B8298-42EA-8548-89C0-CC760F4BC9A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5D9E93-3E7B-BB40-A141-A3E15B2AE41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46082" name="Rectangle 2">
            <a:extLst>
              <a:ext uri="{FF2B5EF4-FFF2-40B4-BE49-F238E27FC236}">
                <a16:creationId xmlns:a16="http://schemas.microsoft.com/office/drawing/2014/main" id="{672D5A42-6169-2F4B-93E6-5F235E26190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46083" name="Rectangle 3">
            <a:extLst>
              <a:ext uri="{FF2B5EF4-FFF2-40B4-BE49-F238E27FC236}">
                <a16:creationId xmlns:a16="http://schemas.microsoft.com/office/drawing/2014/main" id="{5D7EDA63-E34C-FE47-A61F-8477A653C76D}"/>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量子密码学</a:t>
            </a:r>
          </a:p>
          <a:p>
            <a:pPr lvl="1" eaLnBrk="1" hangingPunct="1"/>
            <a:r>
              <a:rPr lang="en-US" altLang="zh-CN">
                <a:latin typeface="微软雅黑" panose="020B0503020204020204" pitchFamily="34" charset="-122"/>
                <a:ea typeface="宋体" panose="02010600030101010101" pitchFamily="2" charset="-122"/>
              </a:rPr>
              <a:t>BB84</a:t>
            </a:r>
            <a:r>
              <a:rPr lang="zh-CN" altLang="en-US">
                <a:latin typeface="微软雅黑" panose="020B0503020204020204" pitchFamily="34" charset="-122"/>
                <a:ea typeface="宋体" panose="02010600030101010101" pitchFamily="2" charset="-122"/>
              </a:rPr>
              <a:t>协议</a:t>
            </a:r>
          </a:p>
        </p:txBody>
      </p:sp>
    </p:spTree>
    <p:extLst>
      <p:ext uri="{BB962C8B-B14F-4D97-AF65-F5344CB8AC3E}">
        <p14:creationId xmlns:p14="http://schemas.microsoft.com/office/powerpoint/2010/main" val="1399813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98A860B3-56A0-C345-BFFC-0CC901D1CF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C10607-9E3E-7241-811B-4B2C874366A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6A777ACA-75DC-9F40-B693-BA447DAC150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两条密码学原则（</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8131" name="Rectangle 3">
            <a:extLst>
              <a:ext uri="{FF2B5EF4-FFF2-40B4-BE49-F238E27FC236}">
                <a16:creationId xmlns:a16="http://schemas.microsoft.com/office/drawing/2014/main" id="{BEDCC841-E600-F24D-8121-58471FED1E7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原则</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：被加密的消息必须包含一定的冗余度</a:t>
            </a:r>
          </a:p>
          <a:p>
            <a:pPr lvl="1" eaLnBrk="1" hangingPunct="1"/>
            <a:r>
              <a:rPr lang="zh-CN" altLang="en-US">
                <a:latin typeface="微软雅黑" panose="020B0503020204020204" pitchFamily="34" charset="-122"/>
                <a:ea typeface="宋体" panose="02010600030101010101" pitchFamily="2" charset="-122"/>
              </a:rPr>
              <a:t>解密一条消息之后，接收者必须能够通过简单的检查手段或者计算来判断消息是否有效</a:t>
            </a:r>
          </a:p>
          <a:p>
            <a:pPr lvl="1" eaLnBrk="1" hangingPunct="1"/>
            <a:r>
              <a:rPr lang="zh-CN" altLang="en-US">
                <a:latin typeface="微软雅黑" panose="020B0503020204020204" pitchFamily="34" charset="-122"/>
                <a:ea typeface="宋体" panose="02010600030101010101" pitchFamily="2" charset="-122"/>
              </a:rPr>
              <a:t>冗余信息对理解消息是不必要的，但是能够阻止主动入侵者发送垃圾信息，并欺骗接收者解密垃圾信息并在所谓的</a:t>
            </a:r>
            <a:r>
              <a:rPr lang="zh-CN" altLang="en-US">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明文</a:t>
            </a:r>
            <a:r>
              <a:rPr lang="zh-CN" altLang="en-US">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上执行相应的处理</a:t>
            </a:r>
          </a:p>
          <a:p>
            <a:pPr lvl="1" eaLnBrk="1" hangingPunct="1"/>
            <a:r>
              <a:rPr lang="zh-CN" altLang="en-US">
                <a:latin typeface="微软雅黑" panose="020B0503020204020204" pitchFamily="34" charset="-122"/>
                <a:ea typeface="宋体" panose="02010600030101010101" pitchFamily="2" charset="-122"/>
              </a:rPr>
              <a:t>缺憾是冗余信息使被动入侵者也更加容易破解系统</a:t>
            </a:r>
          </a:p>
        </p:txBody>
      </p:sp>
    </p:spTree>
    <p:extLst>
      <p:ext uri="{BB962C8B-B14F-4D97-AF65-F5344CB8AC3E}">
        <p14:creationId xmlns:p14="http://schemas.microsoft.com/office/powerpoint/2010/main" val="175676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a:extLst>
              <a:ext uri="{FF2B5EF4-FFF2-40B4-BE49-F238E27FC236}">
                <a16:creationId xmlns:a16="http://schemas.microsoft.com/office/drawing/2014/main" id="{9BBA8A91-B918-5249-9591-53B50CFEA4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6B3804-5A2A-D846-8908-F2E21CAC12B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78" name="Rectangle 2">
            <a:extLst>
              <a:ext uri="{FF2B5EF4-FFF2-40B4-BE49-F238E27FC236}">
                <a16:creationId xmlns:a16="http://schemas.microsoft.com/office/drawing/2014/main" id="{3B415DD1-C28F-F64E-86F2-C9A4AE45987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两条密码学原则（</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50179" name="Rectangle 3">
            <a:extLst>
              <a:ext uri="{FF2B5EF4-FFF2-40B4-BE49-F238E27FC236}">
                <a16:creationId xmlns:a16="http://schemas.microsoft.com/office/drawing/2014/main" id="{4831BD3F-6B0B-FE49-983A-177CAE8AC23A}"/>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原则</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：需要采取某种方法来对抗重放攻击</a:t>
            </a:r>
          </a:p>
          <a:p>
            <a:pPr lvl="1" eaLnBrk="1" hangingPunct="1"/>
            <a:r>
              <a:rPr lang="zh-CN" altLang="en-US">
                <a:latin typeface="微软雅黑" panose="020B0503020204020204" pitchFamily="34" charset="-122"/>
                <a:ea typeface="宋体" panose="02010600030101010101" pitchFamily="2" charset="-122"/>
              </a:rPr>
              <a:t>确保接收到的消息能被验证是新鲜的，是最近被发出来的，而不是重放的</a:t>
            </a:r>
          </a:p>
          <a:p>
            <a:pPr lvl="1" eaLnBrk="1" hangingPunct="1"/>
            <a:r>
              <a:rPr lang="zh-CN" altLang="en-US">
                <a:latin typeface="微软雅黑" panose="020B0503020204020204" pitchFamily="34" charset="-122"/>
                <a:ea typeface="宋体" panose="02010600030101010101" pitchFamily="2" charset="-122"/>
              </a:rPr>
              <a:t>一种措施是在每条消息中包括一个时间戳，以便表明消息的有效时间段</a:t>
            </a:r>
          </a:p>
          <a:p>
            <a:pPr lvl="1" eaLnBrk="1" hangingPunct="1"/>
            <a:r>
              <a:rPr lang="zh-CN" altLang="en-US">
                <a:latin typeface="微软雅黑" panose="020B0503020204020204" pitchFamily="34" charset="-122"/>
                <a:ea typeface="宋体" panose="02010600030101010101" pitchFamily="2" charset="-122"/>
              </a:rPr>
              <a:t>其他措施</a:t>
            </a:r>
          </a:p>
        </p:txBody>
      </p:sp>
    </p:spTree>
    <p:extLst>
      <p:ext uri="{BB962C8B-B14F-4D97-AF65-F5344CB8AC3E}">
        <p14:creationId xmlns:p14="http://schemas.microsoft.com/office/powerpoint/2010/main" val="1933757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3FEF72AF-4807-1B4C-A34B-CC51AAA8958E}"/>
              </a:ext>
            </a:extLst>
          </p:cNvPr>
          <p:cNvSpPr>
            <a:spLocks noGrp="1" noChangeArrowheads="1"/>
          </p:cNvSpPr>
          <p:nvPr>
            <p:ph type="title"/>
          </p:nvPr>
        </p:nvSpPr>
        <p:spPr>
          <a:xfrm>
            <a:off x="116681" y="275035"/>
            <a:ext cx="7641432" cy="559355"/>
          </a:xfrm>
        </p:spPr>
        <p:txBody>
          <a:bodyPr/>
          <a:lstStyle/>
          <a:p>
            <a:pPr eaLnBrk="1" hangingPunct="1"/>
            <a:r>
              <a:rPr lang="en-US" altLang="zh-CN" dirty="0">
                <a:latin typeface="Times New Roman" panose="02020603050405020304" pitchFamily="18" charset="0"/>
                <a:ea typeface="宋体" panose="02010600030101010101" pitchFamily="2" charset="-122"/>
              </a:rPr>
              <a:t>7.2 </a:t>
            </a:r>
            <a:r>
              <a:rPr lang="zh-CN" altLang="en-US" dirty="0">
                <a:latin typeface="Times New Roman" panose="02020603050405020304" pitchFamily="18" charset="0"/>
                <a:ea typeface="宋体" panose="02010600030101010101" pitchFamily="2" charset="-122"/>
              </a:rPr>
              <a:t>两类密码体制</a:t>
            </a:r>
          </a:p>
        </p:txBody>
      </p:sp>
      <p:sp>
        <p:nvSpPr>
          <p:cNvPr id="141315" name="Rectangle 3">
            <a:extLst>
              <a:ext uri="{FF2B5EF4-FFF2-40B4-BE49-F238E27FC236}">
                <a16:creationId xmlns:a16="http://schemas.microsoft.com/office/drawing/2014/main" id="{0AA644A2-549D-2A4B-9E6A-CEC7CD21142E}"/>
              </a:ext>
            </a:extLst>
          </p:cNvPr>
          <p:cNvSpPr>
            <a:spLocks noGrp="1" noChangeArrowheads="1"/>
          </p:cNvSpPr>
          <p:nvPr>
            <p:ph type="body" idx="1"/>
          </p:nvPr>
        </p:nvSpPr>
        <p:spPr>
          <a:xfrm>
            <a:off x="116681" y="1567261"/>
            <a:ext cx="8810149" cy="1370330"/>
          </a:xfrm>
        </p:spPr>
        <p:txBody>
          <a:bodyPr/>
          <a:lstStyle/>
          <a:p>
            <a:pPr eaLnBrk="1" hangingPunct="1"/>
            <a:r>
              <a:rPr lang="zh-CN" altLang="en-US">
                <a:latin typeface="Times New Roman" panose="02020603050405020304" pitchFamily="18" charset="0"/>
                <a:ea typeface="宋体" panose="02010600030101010101" pitchFamily="2" charset="-122"/>
              </a:rPr>
              <a:t>所谓常规密钥密码体制，即加密密钥与解密密钥是</a:t>
            </a:r>
            <a:r>
              <a:rPr lang="zh-CN" altLang="en-US">
                <a:solidFill>
                  <a:schemeClr val="hlink"/>
                </a:solidFill>
                <a:latin typeface="Times New Roman" panose="02020603050405020304" pitchFamily="18" charset="0"/>
                <a:ea typeface="宋体" panose="02010600030101010101" pitchFamily="2" charset="-122"/>
              </a:rPr>
              <a:t>相同的</a:t>
            </a:r>
            <a:r>
              <a:rPr lang="zh-CN" altLang="en-US">
                <a:latin typeface="Times New Roman" panose="02020603050405020304" pitchFamily="18" charset="0"/>
                <a:ea typeface="宋体" panose="02010600030101010101" pitchFamily="2" charset="-122"/>
              </a:rPr>
              <a:t>密码体制。</a:t>
            </a:r>
          </a:p>
          <a:p>
            <a:pPr eaLnBrk="1" hangingPunct="1"/>
            <a:r>
              <a:rPr lang="zh-CN" altLang="en-US">
                <a:latin typeface="Times New Roman" panose="02020603050405020304" pitchFamily="18" charset="0"/>
                <a:ea typeface="宋体" panose="02010600030101010101" pitchFamily="2" charset="-122"/>
              </a:rPr>
              <a:t>这种加密系统又称为</a:t>
            </a:r>
            <a:r>
              <a:rPr lang="zh-CN" altLang="en-US">
                <a:solidFill>
                  <a:schemeClr val="hlink"/>
                </a:solidFill>
                <a:latin typeface="Times New Roman" panose="02020603050405020304" pitchFamily="18" charset="0"/>
                <a:ea typeface="宋体" panose="02010600030101010101" pitchFamily="2" charset="-122"/>
              </a:rPr>
              <a:t>对称密钥系统</a:t>
            </a:r>
            <a:r>
              <a:rPr lang="zh-CN" altLang="en-US">
                <a:latin typeface="Times New Roman" panose="02020603050405020304" pitchFamily="18" charset="0"/>
                <a:ea typeface="宋体" panose="02010600030101010101" pitchFamily="2" charset="-122"/>
              </a:rPr>
              <a:t>。</a:t>
            </a:r>
          </a:p>
        </p:txBody>
      </p:sp>
      <p:sp>
        <p:nvSpPr>
          <p:cNvPr id="52227" name="幻灯片编号占位符 1">
            <a:extLst>
              <a:ext uri="{FF2B5EF4-FFF2-40B4-BE49-F238E27FC236}">
                <a16:creationId xmlns:a16="http://schemas.microsoft.com/office/drawing/2014/main" id="{FA79FE39-0EE3-8345-9DAD-8D91E1F2FE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9E8726-B585-BB42-9992-50D60209CA0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0B6E8B8-DEE4-5D4B-8AE6-4CF192779632}"/>
              </a:ext>
            </a:extLst>
          </p:cNvPr>
          <p:cNvSpPr/>
          <p:nvPr/>
        </p:nvSpPr>
        <p:spPr>
          <a:xfrm>
            <a:off x="116681" y="1016159"/>
            <a:ext cx="4572000" cy="523220"/>
          </a:xfrm>
          <a:prstGeom prst="rect">
            <a:avLst/>
          </a:prstGeom>
        </p:spPr>
        <p:txBody>
          <a:bodyPr>
            <a:spAutoFit/>
          </a:bodyPr>
          <a:lstStyle/>
          <a:p>
            <a:r>
              <a:rPr lang="en-US" altLang="zh-CN" sz="2800" dirty="0"/>
              <a:t>7.2.1   </a:t>
            </a:r>
            <a:r>
              <a:rPr lang="zh-CN" altLang="en-US" sz="2800" dirty="0"/>
              <a:t>对称密钥密码体制</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4222172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B5DF67EE-20CC-7C42-951F-F513DEADD7E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数据加密标准 </a:t>
            </a:r>
            <a:r>
              <a:rPr lang="en-US" altLang="zh-CN" dirty="0">
                <a:latin typeface="Times New Roman" panose="02020603050405020304" pitchFamily="18" charset="0"/>
                <a:ea typeface="宋体" panose="02010600030101010101" pitchFamily="2" charset="-122"/>
              </a:rPr>
              <a:t>DES</a:t>
            </a:r>
          </a:p>
        </p:txBody>
      </p:sp>
      <p:sp>
        <p:nvSpPr>
          <p:cNvPr id="238596" name="Rectangle 4">
            <a:extLst>
              <a:ext uri="{FF2B5EF4-FFF2-40B4-BE49-F238E27FC236}">
                <a16:creationId xmlns:a16="http://schemas.microsoft.com/office/drawing/2014/main" id="{77C5688E-EB57-AC4A-ACD0-D20AEEC75D49}"/>
              </a:ext>
            </a:extLst>
          </p:cNvPr>
          <p:cNvSpPr>
            <a:spLocks noGrp="1" noChangeArrowheads="1"/>
          </p:cNvSpPr>
          <p:nvPr>
            <p:ph type="body" idx="1"/>
          </p:nvPr>
        </p:nvSpPr>
        <p:spPr>
          <a:xfrm>
            <a:off x="251460" y="1062990"/>
            <a:ext cx="8687056" cy="3830479"/>
          </a:xfrm>
        </p:spPr>
        <p:txBody>
          <a:bodyPr/>
          <a:lstStyle/>
          <a:p>
            <a:pPr eaLnBrk="1" hangingPunct="1">
              <a:lnSpc>
                <a:spcPct val="95000"/>
              </a:lnSpc>
            </a:pPr>
            <a:r>
              <a:rPr lang="zh-CN" altLang="en-US" dirty="0">
                <a:ea typeface="宋体" panose="02010600030101010101" pitchFamily="2" charset="-122"/>
              </a:rPr>
              <a:t>数据加密标准 </a:t>
            </a:r>
            <a:r>
              <a:rPr lang="en-US" altLang="zh-CN" dirty="0">
                <a:ea typeface="宋体" panose="02010600030101010101" pitchFamily="2" charset="-122"/>
              </a:rPr>
              <a:t>DES </a:t>
            </a:r>
            <a:r>
              <a:rPr lang="zh-CN" altLang="en-US" dirty="0">
                <a:ea typeface="宋体" panose="02010600030101010101" pitchFamily="2" charset="-122"/>
              </a:rPr>
              <a:t>属于常规密钥密码体制，是一种分组密码。</a:t>
            </a:r>
          </a:p>
          <a:p>
            <a:pPr eaLnBrk="1" hangingPunct="1">
              <a:lnSpc>
                <a:spcPct val="95000"/>
              </a:lnSpc>
            </a:pPr>
            <a:r>
              <a:rPr lang="zh-CN" altLang="en-US" dirty="0">
                <a:ea typeface="宋体" panose="02010600030101010101" pitchFamily="2" charset="-122"/>
              </a:rPr>
              <a:t>在加密前，先对整个明文进行分组。每一个组长为 </a:t>
            </a:r>
            <a:r>
              <a:rPr lang="en-US" altLang="zh-CN" dirty="0">
                <a:ea typeface="宋体" panose="02010600030101010101" pitchFamily="2" charset="-122"/>
              </a:rPr>
              <a:t>64 </a:t>
            </a:r>
            <a:r>
              <a:rPr lang="zh-CN" altLang="en-US" dirty="0">
                <a:ea typeface="宋体" panose="02010600030101010101" pitchFamily="2" charset="-122"/>
              </a:rPr>
              <a:t>位。</a:t>
            </a:r>
          </a:p>
          <a:p>
            <a:pPr eaLnBrk="1" hangingPunct="1">
              <a:lnSpc>
                <a:spcPct val="95000"/>
              </a:lnSpc>
            </a:pPr>
            <a:r>
              <a:rPr lang="zh-CN" altLang="en-US" dirty="0">
                <a:ea typeface="宋体" panose="02010600030101010101" pitchFamily="2" charset="-122"/>
              </a:rPr>
              <a:t>然后对每一个 </a:t>
            </a:r>
            <a:r>
              <a:rPr lang="en-US" altLang="zh-CN" dirty="0">
                <a:ea typeface="宋体" panose="02010600030101010101" pitchFamily="2" charset="-122"/>
              </a:rPr>
              <a:t>64 </a:t>
            </a:r>
            <a:r>
              <a:rPr lang="zh-CN" altLang="en-US" dirty="0">
                <a:ea typeface="宋体" panose="02010600030101010101" pitchFamily="2" charset="-122"/>
              </a:rPr>
              <a:t>位 二进制数据进行加密处理，产生一组 </a:t>
            </a:r>
            <a:r>
              <a:rPr lang="en-US" altLang="zh-CN" dirty="0">
                <a:ea typeface="宋体" panose="02010600030101010101" pitchFamily="2" charset="-122"/>
              </a:rPr>
              <a:t>64 </a:t>
            </a:r>
            <a:r>
              <a:rPr lang="zh-CN" altLang="en-US" dirty="0">
                <a:ea typeface="宋体" panose="02010600030101010101" pitchFamily="2" charset="-122"/>
              </a:rPr>
              <a:t>位密文数据。</a:t>
            </a:r>
          </a:p>
          <a:p>
            <a:pPr eaLnBrk="1" hangingPunct="1">
              <a:lnSpc>
                <a:spcPct val="95000"/>
              </a:lnSpc>
            </a:pPr>
            <a:r>
              <a:rPr lang="zh-CN" altLang="en-US" dirty="0">
                <a:ea typeface="宋体" panose="02010600030101010101" pitchFamily="2" charset="-122"/>
              </a:rPr>
              <a:t>最后将各组密文串接起来，即得出整个的密文。</a:t>
            </a:r>
          </a:p>
          <a:p>
            <a:pPr eaLnBrk="1" hangingPunct="1">
              <a:lnSpc>
                <a:spcPct val="95000"/>
              </a:lnSpc>
            </a:pPr>
            <a:r>
              <a:rPr lang="zh-CN" altLang="en-US" dirty="0">
                <a:ea typeface="宋体" panose="02010600030101010101" pitchFamily="2" charset="-122"/>
              </a:rPr>
              <a:t>使用的密钥为 </a:t>
            </a:r>
            <a:r>
              <a:rPr lang="en-US" altLang="zh-CN" dirty="0">
                <a:ea typeface="宋体" panose="02010600030101010101" pitchFamily="2" charset="-122"/>
              </a:rPr>
              <a:t>64 </a:t>
            </a:r>
            <a:r>
              <a:rPr lang="zh-CN" altLang="en-US" dirty="0">
                <a:ea typeface="宋体" panose="02010600030101010101" pitchFamily="2" charset="-122"/>
              </a:rPr>
              <a:t>位（实际密钥长度为 </a:t>
            </a:r>
            <a:r>
              <a:rPr lang="en-US" altLang="zh-CN" dirty="0">
                <a:ea typeface="宋体" panose="02010600030101010101" pitchFamily="2" charset="-122"/>
              </a:rPr>
              <a:t>56 </a:t>
            </a:r>
            <a:r>
              <a:rPr lang="zh-CN" altLang="en-US" dirty="0">
                <a:ea typeface="宋体" panose="02010600030101010101" pitchFamily="2" charset="-122"/>
              </a:rPr>
              <a:t>位，有 </a:t>
            </a:r>
            <a:r>
              <a:rPr lang="en-US" altLang="zh-CN" dirty="0">
                <a:ea typeface="宋体" panose="02010600030101010101" pitchFamily="2" charset="-122"/>
              </a:rPr>
              <a:t>8 </a:t>
            </a:r>
            <a:r>
              <a:rPr lang="zh-CN" altLang="en-US" dirty="0">
                <a:ea typeface="宋体" panose="02010600030101010101" pitchFamily="2" charset="-122"/>
              </a:rPr>
              <a:t>位用于奇偶校验</a:t>
            </a:r>
            <a:r>
              <a:rPr lang="en-US" altLang="zh-CN" dirty="0">
                <a:ea typeface="宋体" panose="02010600030101010101" pitchFamily="2" charset="-122"/>
              </a:rPr>
              <a:t>)</a:t>
            </a:r>
            <a:r>
              <a:rPr lang="zh-CN" altLang="en-US" dirty="0">
                <a:ea typeface="宋体" panose="02010600030101010101" pitchFamily="2" charset="-122"/>
              </a:rPr>
              <a:t>。  </a:t>
            </a:r>
          </a:p>
        </p:txBody>
      </p:sp>
      <p:sp>
        <p:nvSpPr>
          <p:cNvPr id="53251" name="幻灯片编号占位符 1">
            <a:extLst>
              <a:ext uri="{FF2B5EF4-FFF2-40B4-BE49-F238E27FC236}">
                <a16:creationId xmlns:a16="http://schemas.microsoft.com/office/drawing/2014/main" id="{27CB27BE-42B8-1345-BDAB-C6FF73DFB6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1671851-603B-054B-B816-D282573A87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89903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859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859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859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85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a:extLst>
              <a:ext uri="{FF2B5EF4-FFF2-40B4-BE49-F238E27FC236}">
                <a16:creationId xmlns:a16="http://schemas.microsoft.com/office/drawing/2014/main" id="{A834B28A-6B68-DF48-94EE-EE705C2350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5DB3896-FA78-C548-AF99-0E9EA2DB60E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bg2"/>
              </a:solidFill>
              <a:latin typeface="Tahoma" panose="020B0604030504040204" pitchFamily="34" charset="0"/>
              <a:ea typeface="宋体" panose="02010600030101010101" pitchFamily="2" charset="-122"/>
            </a:endParaRPr>
          </a:p>
        </p:txBody>
      </p:sp>
      <p:sp>
        <p:nvSpPr>
          <p:cNvPr id="54274" name="Rectangle 2">
            <a:extLst>
              <a:ext uri="{FF2B5EF4-FFF2-40B4-BE49-F238E27FC236}">
                <a16:creationId xmlns:a16="http://schemas.microsoft.com/office/drawing/2014/main" id="{8E6F5A5F-BD52-CB41-BA47-E4704FD602D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1  </a:t>
            </a:r>
            <a:r>
              <a:rPr lang="zh-CN" altLang="en-US">
                <a:latin typeface="微软雅黑" panose="020B0503020204020204" pitchFamily="34" charset="-122"/>
                <a:ea typeface="宋体" panose="02010600030101010101" pitchFamily="2" charset="-122"/>
              </a:rPr>
              <a:t>概述（</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54275" name="Rectangle 3">
            <a:extLst>
              <a:ext uri="{FF2B5EF4-FFF2-40B4-BE49-F238E27FC236}">
                <a16:creationId xmlns:a16="http://schemas.microsoft.com/office/drawing/2014/main" id="{2DAE1D0E-DF45-184E-8028-AFDD3418F39D}"/>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现代密码学仍然使用置换和转置的思想，但是加密算法尽可能地错综复杂</a:t>
            </a:r>
          </a:p>
          <a:p>
            <a:pPr eaLnBrk="1" hangingPunct="1"/>
            <a:r>
              <a:rPr lang="zh-CN" altLang="en-US">
                <a:solidFill>
                  <a:srgbClr val="FF0000"/>
                </a:solidFill>
                <a:latin typeface="微软雅黑" panose="020B0503020204020204" pitchFamily="34" charset="-122"/>
                <a:ea typeface="宋体" panose="02010600030101010101" pitchFamily="2" charset="-122"/>
              </a:rPr>
              <a:t>对称密钥算法</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symmetric-key algorism</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使用同样的密钥完成加密和解密操作</a:t>
            </a:r>
          </a:p>
          <a:p>
            <a:pPr eaLnBrk="1" hangingPunct="1"/>
            <a:r>
              <a:rPr lang="zh-CN" altLang="en-US">
                <a:solidFill>
                  <a:srgbClr val="FF0000"/>
                </a:solidFill>
                <a:latin typeface="微软雅黑" panose="020B0503020204020204" pitchFamily="34" charset="-122"/>
                <a:ea typeface="宋体" panose="02010600030101010101" pitchFamily="2" charset="-122"/>
              </a:rPr>
              <a:t>块密码</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block cipher</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接受一个</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位的明文块作为输入，利用密钥变换成</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位的密文块</a:t>
            </a:r>
          </a:p>
        </p:txBody>
      </p:sp>
    </p:spTree>
    <p:extLst>
      <p:ext uri="{BB962C8B-B14F-4D97-AF65-F5344CB8AC3E}">
        <p14:creationId xmlns:p14="http://schemas.microsoft.com/office/powerpoint/2010/main" val="2185004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a:extLst>
              <a:ext uri="{FF2B5EF4-FFF2-40B4-BE49-F238E27FC236}">
                <a16:creationId xmlns:a16="http://schemas.microsoft.com/office/drawing/2014/main" id="{46D32618-BA62-424D-91A1-80A68E782C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0C4388-1D16-374B-999D-6A091C63DCE3}"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56322" name="Rectangle 2">
            <a:extLst>
              <a:ext uri="{FF2B5EF4-FFF2-40B4-BE49-F238E27FC236}">
                <a16:creationId xmlns:a16="http://schemas.microsoft.com/office/drawing/2014/main" id="{5769FF86-5EE9-C14D-B58D-454EB1A26D76}"/>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1  </a:t>
            </a:r>
            <a:r>
              <a:rPr lang="zh-CN" altLang="en-US">
                <a:latin typeface="微软雅黑" panose="020B0503020204020204" pitchFamily="34" charset="-122"/>
                <a:ea typeface="宋体" panose="02010600030101010101" pitchFamily="2" charset="-122"/>
              </a:rPr>
              <a:t>概述（</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56323" name="Rectangle 3">
            <a:extLst>
              <a:ext uri="{FF2B5EF4-FFF2-40B4-BE49-F238E27FC236}">
                <a16:creationId xmlns:a16="http://schemas.microsoft.com/office/drawing/2014/main" id="{03CD735D-24CB-8841-B1AA-FE621382EC13}"/>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乘积密码（</a:t>
            </a:r>
            <a:r>
              <a:rPr lang="en-US" altLang="zh-CN">
                <a:latin typeface="微软雅黑" panose="020B0503020204020204" pitchFamily="34" charset="-122"/>
                <a:ea typeface="宋体" panose="02010600030101010101" pitchFamily="2" charset="-122"/>
              </a:rPr>
              <a:t>product cipher</a:t>
            </a:r>
            <a:r>
              <a:rPr lang="zh-CN" altLang="en-US">
                <a:latin typeface="微软雅黑" panose="020B0503020204020204" pitchFamily="34" charset="-122"/>
                <a:ea typeface="宋体" panose="02010600030101010101" pitchFamily="2" charset="-122"/>
              </a:rPr>
              <a:t>）</a:t>
            </a:r>
          </a:p>
          <a:p>
            <a:pPr lvl="1" eaLnBrk="1" hangingPunct="1"/>
            <a:r>
              <a:rPr lang="en-US" altLang="zh-CN">
                <a:latin typeface="微软雅黑" panose="020B0503020204020204" pitchFamily="34" charset="-122"/>
                <a:ea typeface="宋体" panose="02010600030101010101" pitchFamily="2" charset="-122"/>
              </a:rPr>
              <a:t>P</a:t>
            </a:r>
            <a:r>
              <a:rPr lang="zh-CN" altLang="en-US">
                <a:latin typeface="微软雅黑" panose="020B0503020204020204" pitchFamily="34" charset="-122"/>
                <a:ea typeface="宋体" panose="02010600030101010101" pitchFamily="2" charset="-122"/>
              </a:rPr>
              <a:t>盒完成</a:t>
            </a:r>
            <a:r>
              <a:rPr lang="zh-CN" altLang="en-US">
                <a:solidFill>
                  <a:srgbClr val="FF0000"/>
                </a:solidFill>
                <a:latin typeface="微软雅黑" panose="020B0503020204020204" pitchFamily="34" charset="-122"/>
                <a:ea typeface="宋体" panose="02010600030101010101" pitchFamily="2" charset="-122"/>
              </a:rPr>
              <a:t>转置</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S</a:t>
            </a:r>
            <a:r>
              <a:rPr lang="zh-CN" altLang="en-US">
                <a:latin typeface="微软雅黑" panose="020B0503020204020204" pitchFamily="34" charset="-122"/>
                <a:ea typeface="宋体" panose="02010600030101010101" pitchFamily="2" charset="-122"/>
              </a:rPr>
              <a:t>盒完成</a:t>
            </a:r>
            <a:r>
              <a:rPr lang="zh-CN" altLang="en-US">
                <a:solidFill>
                  <a:srgbClr val="FF0000"/>
                </a:solidFill>
                <a:latin typeface="微软雅黑" panose="020B0503020204020204" pitchFamily="34" charset="-122"/>
                <a:ea typeface="宋体" panose="02010600030101010101" pitchFamily="2" charset="-122"/>
              </a:rPr>
              <a:t>置换</a:t>
            </a:r>
          </a:p>
          <a:p>
            <a:pPr lvl="1" eaLnBrk="1" hangingPunct="1"/>
            <a:r>
              <a:rPr lang="zh-CN" altLang="en-US">
                <a:latin typeface="微软雅黑" panose="020B0503020204020204" pitchFamily="34" charset="-122"/>
                <a:ea typeface="宋体" panose="02010600030101010101" pitchFamily="2" charset="-122"/>
              </a:rPr>
              <a:t>一系列</a:t>
            </a:r>
            <a:r>
              <a:rPr lang="en-US" altLang="zh-CN">
                <a:latin typeface="微软雅黑" panose="020B0503020204020204" pitchFamily="34" charset="-122"/>
                <a:ea typeface="宋体" panose="02010600030101010101" pitchFamily="2" charset="-122"/>
              </a:rPr>
              <a:t>S</a:t>
            </a:r>
            <a:r>
              <a:rPr lang="zh-CN" altLang="en-US">
                <a:latin typeface="微软雅黑" panose="020B0503020204020204" pitchFamily="34" charset="-122"/>
                <a:ea typeface="宋体" panose="02010600030101010101" pitchFamily="2" charset="-122"/>
              </a:rPr>
              <a:t>盒和</a:t>
            </a:r>
            <a:r>
              <a:rPr lang="en-US" altLang="zh-CN">
                <a:latin typeface="微软雅黑" panose="020B0503020204020204" pitchFamily="34" charset="-122"/>
                <a:ea typeface="宋体" panose="02010600030101010101" pitchFamily="2" charset="-122"/>
              </a:rPr>
              <a:t>P</a:t>
            </a:r>
            <a:r>
              <a:rPr lang="zh-CN" altLang="en-US">
                <a:latin typeface="微软雅黑" panose="020B0503020204020204" pitchFamily="34" charset="-122"/>
                <a:ea typeface="宋体" panose="02010600030101010101" pitchFamily="2" charset="-122"/>
              </a:rPr>
              <a:t>盒叠加起来构成乘积密码，现代加密算法大多是乘积密码</a:t>
            </a:r>
          </a:p>
        </p:txBody>
      </p:sp>
      <p:graphicFrame>
        <p:nvGraphicFramePr>
          <p:cNvPr id="56324" name="Object 6">
            <a:extLst>
              <a:ext uri="{FF2B5EF4-FFF2-40B4-BE49-F238E27FC236}">
                <a16:creationId xmlns:a16="http://schemas.microsoft.com/office/drawing/2014/main" id="{263E7231-C2CA-6A49-A904-EF6705BBA467}"/>
              </a:ext>
            </a:extLst>
          </p:cNvPr>
          <p:cNvGraphicFramePr>
            <a:graphicFrameLocks noChangeAspect="1"/>
          </p:cNvGraphicFramePr>
          <p:nvPr>
            <p:extLst>
              <p:ext uri="{D42A27DB-BD31-4B8C-83A1-F6EECF244321}">
                <p14:modId xmlns:p14="http://schemas.microsoft.com/office/powerpoint/2010/main" val="565036203"/>
              </p:ext>
            </p:extLst>
          </p:nvPr>
        </p:nvGraphicFramePr>
        <p:xfrm>
          <a:off x="743427" y="2441734"/>
          <a:ext cx="3434947" cy="2094548"/>
        </p:xfrm>
        <a:graphic>
          <a:graphicData uri="http://schemas.openxmlformats.org/presentationml/2006/ole">
            <mc:AlternateContent xmlns:mc="http://schemas.openxmlformats.org/markup-compatibility/2006">
              <mc:Choice xmlns:v="urn:schemas-microsoft-com:vml" Requires="v">
                <p:oleObj spid="_x0000_s42001" r:id="rId4" imgW="4178300" imgH="2311400" progId="Paint.Picture">
                  <p:embed/>
                </p:oleObj>
              </mc:Choice>
              <mc:Fallback>
                <p:oleObj r:id="rId4" imgW="4178300" imgH="2311400" progId="Paint.Picture">
                  <p:embed/>
                  <p:pic>
                    <p:nvPicPr>
                      <p:cNvPr id="56324" name="Object 6">
                        <a:extLst>
                          <a:ext uri="{FF2B5EF4-FFF2-40B4-BE49-F238E27FC236}">
                            <a16:creationId xmlns:a16="http://schemas.microsoft.com/office/drawing/2014/main" id="{263E7231-C2CA-6A49-A904-EF6705BBA4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427" y="2441734"/>
                        <a:ext cx="3434947" cy="2094548"/>
                      </a:xfrm>
                      <a:prstGeom prst="rect">
                        <a:avLst/>
                      </a:prstGeom>
                      <a:noFill/>
                      <a:ln>
                        <a:noFill/>
                      </a:ln>
                    </p:spPr>
                  </p:pic>
                </p:oleObj>
              </mc:Fallback>
            </mc:AlternateContent>
          </a:graphicData>
        </a:graphic>
      </p:graphicFrame>
      <p:graphicFrame>
        <p:nvGraphicFramePr>
          <p:cNvPr id="56325" name="Object 9">
            <a:extLst>
              <a:ext uri="{FF2B5EF4-FFF2-40B4-BE49-F238E27FC236}">
                <a16:creationId xmlns:a16="http://schemas.microsoft.com/office/drawing/2014/main" id="{FCE7B0C9-1C1D-D14F-915F-AD45377DE660}"/>
              </a:ext>
            </a:extLst>
          </p:cNvPr>
          <p:cNvGraphicFramePr>
            <a:graphicFrameLocks noChangeAspect="1"/>
          </p:cNvGraphicFramePr>
          <p:nvPr>
            <p:extLst>
              <p:ext uri="{D42A27DB-BD31-4B8C-83A1-F6EECF244321}">
                <p14:modId xmlns:p14="http://schemas.microsoft.com/office/powerpoint/2010/main" val="3478822594"/>
              </p:ext>
            </p:extLst>
          </p:nvPr>
        </p:nvGraphicFramePr>
        <p:xfrm>
          <a:off x="4788238" y="2486142"/>
          <a:ext cx="3529369" cy="2005732"/>
        </p:xfrm>
        <a:graphic>
          <a:graphicData uri="http://schemas.openxmlformats.org/presentationml/2006/ole">
            <mc:AlternateContent xmlns:mc="http://schemas.openxmlformats.org/markup-compatibility/2006">
              <mc:Choice xmlns:v="urn:schemas-microsoft-com:vml" Requires="v">
                <p:oleObj spid="_x0000_s42002" r:id="rId6" imgW="4203700" imgH="2298700" progId="Paint.Picture">
                  <p:embed/>
                </p:oleObj>
              </mc:Choice>
              <mc:Fallback>
                <p:oleObj r:id="rId6" imgW="4203700" imgH="2298700" progId="Paint.Picture">
                  <p:embed/>
                  <p:pic>
                    <p:nvPicPr>
                      <p:cNvPr id="56325" name="Object 9">
                        <a:extLst>
                          <a:ext uri="{FF2B5EF4-FFF2-40B4-BE49-F238E27FC236}">
                            <a16:creationId xmlns:a16="http://schemas.microsoft.com/office/drawing/2014/main" id="{FCE7B0C9-1C1D-D14F-915F-AD45377DE6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238" y="2486142"/>
                        <a:ext cx="3529369" cy="200573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80027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a:extLst>
              <a:ext uri="{FF2B5EF4-FFF2-40B4-BE49-F238E27FC236}">
                <a16:creationId xmlns:a16="http://schemas.microsoft.com/office/drawing/2014/main" id="{ACF4F439-DCBD-DE4E-936E-13DCFA456C0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0DA9E9-9E09-AC42-BEAB-AF4310A9DD5F}"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58370" name="Rectangle 2">
            <a:extLst>
              <a:ext uri="{FF2B5EF4-FFF2-40B4-BE49-F238E27FC236}">
                <a16:creationId xmlns:a16="http://schemas.microsoft.com/office/drawing/2014/main" id="{4BF413CA-3063-3A40-9D1F-13A1854A003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58371" name="Rectangle 3">
            <a:extLst>
              <a:ext uri="{FF2B5EF4-FFF2-40B4-BE49-F238E27FC236}">
                <a16:creationId xmlns:a16="http://schemas.microsoft.com/office/drawing/2014/main" id="{932A6D9A-52DC-094F-AA57-94FFC2B2BB14}"/>
              </a:ext>
            </a:extLst>
          </p:cNvPr>
          <p:cNvSpPr>
            <a:spLocks noGrp="1" noChangeArrowheads="1"/>
          </p:cNvSpPr>
          <p:nvPr>
            <p:ph type="body" idx="1"/>
          </p:nvPr>
        </p:nvSpPr>
        <p:spPr/>
        <p:txBody>
          <a:bodyPr/>
          <a:lstStyle/>
          <a:p>
            <a:pPr eaLnBrk="1" hangingPunct="1"/>
            <a:r>
              <a:rPr lang="en-US" altLang="zh-CN">
                <a:latin typeface="微软雅黑" panose="020B0503020204020204" pitchFamily="34" charset="-122"/>
                <a:ea typeface="宋体" panose="02010600030101010101" pitchFamily="2" charset="-122"/>
              </a:rPr>
              <a:t>1977</a:t>
            </a:r>
            <a:r>
              <a:rPr lang="zh-CN" altLang="en-US">
                <a:latin typeface="微软雅黑" panose="020B0503020204020204" pitchFamily="34" charset="-122"/>
                <a:ea typeface="宋体" panose="02010600030101010101" pitchFamily="2" charset="-122"/>
              </a:rPr>
              <a:t>年，美国政府采纳了</a:t>
            </a:r>
            <a:r>
              <a:rPr lang="en-US" altLang="zh-CN">
                <a:latin typeface="微软雅黑" panose="020B0503020204020204" pitchFamily="34" charset="-122"/>
                <a:ea typeface="宋体" panose="02010600030101010101" pitchFamily="2" charset="-122"/>
              </a:rPr>
              <a:t>IBM</a:t>
            </a:r>
            <a:r>
              <a:rPr lang="zh-CN" altLang="en-US">
                <a:latin typeface="微软雅黑" panose="020B0503020204020204" pitchFamily="34" charset="-122"/>
                <a:ea typeface="宋体" panose="02010600030101010101" pitchFamily="2" charset="-122"/>
              </a:rPr>
              <a:t>开发的一个乘积密码作为无密级信息的官方加密标准，这个算法称为</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Data Encryption Standard</a:t>
            </a:r>
            <a:r>
              <a:rPr lang="zh-CN" altLang="en-US">
                <a:latin typeface="微软雅黑" panose="020B0503020204020204" pitchFamily="34" charset="-122"/>
                <a:ea typeface="宋体" panose="02010600030101010101" pitchFamily="2" charset="-122"/>
              </a:rPr>
              <a:t>，数据加密标准）</a:t>
            </a:r>
          </a:p>
          <a:p>
            <a:pPr eaLnBrk="1" hangingPunct="1"/>
            <a:r>
              <a:rPr lang="zh-CN" altLang="en-US">
                <a:latin typeface="微软雅黑" panose="020B0503020204020204" pitchFamily="34" charset="-122"/>
                <a:ea typeface="宋体" panose="02010600030101010101" pitchFamily="2" charset="-122"/>
              </a:rPr>
              <a:t>关于</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的争议不断。美国国家安全局</a:t>
            </a:r>
            <a:r>
              <a:rPr lang="en-US" altLang="zh-CN">
                <a:latin typeface="微软雅黑" panose="020B0503020204020204" pitchFamily="34" charset="-122"/>
                <a:ea typeface="宋体" panose="02010600030101010101" pitchFamily="2" charset="-122"/>
              </a:rPr>
              <a:t>NSA</a:t>
            </a:r>
            <a:r>
              <a:rPr lang="zh-CN" altLang="en-US">
                <a:latin typeface="微软雅黑" panose="020B0503020204020204" pitchFamily="34" charset="-122"/>
                <a:ea typeface="宋体" panose="02010600030101010101" pitchFamily="2" charset="-122"/>
              </a:rPr>
              <a:t>使</a:t>
            </a:r>
            <a:r>
              <a:rPr lang="en-US" altLang="zh-CN">
                <a:latin typeface="微软雅黑" panose="020B0503020204020204" pitchFamily="34" charset="-122"/>
                <a:ea typeface="宋体" panose="02010600030101010101" pitchFamily="2" charset="-122"/>
              </a:rPr>
              <a:t>IBM</a:t>
            </a:r>
            <a:r>
              <a:rPr lang="zh-CN" altLang="en-US">
                <a:latin typeface="微软雅黑" panose="020B0503020204020204" pitchFamily="34" charset="-122"/>
                <a:ea typeface="宋体" panose="02010600030101010101" pitchFamily="2" charset="-122"/>
              </a:rPr>
              <a:t>把密钥从</a:t>
            </a:r>
            <a:r>
              <a:rPr lang="en-US" altLang="zh-CN">
                <a:latin typeface="微软雅黑" panose="020B0503020204020204" pitchFamily="34" charset="-122"/>
                <a:ea typeface="宋体" panose="02010600030101010101" pitchFamily="2" charset="-122"/>
              </a:rPr>
              <a:t>128</a:t>
            </a:r>
            <a:r>
              <a:rPr lang="zh-CN" altLang="en-US">
                <a:latin typeface="微软雅黑" panose="020B0503020204020204" pitchFamily="34" charset="-122"/>
                <a:ea typeface="宋体" panose="02010600030101010101" pitchFamily="2" charset="-122"/>
              </a:rPr>
              <a:t>位降低到</a:t>
            </a:r>
            <a:r>
              <a:rPr lang="en-US" altLang="zh-CN">
                <a:latin typeface="微软雅黑" panose="020B0503020204020204" pitchFamily="34" charset="-122"/>
                <a:ea typeface="宋体" panose="02010600030101010101" pitchFamily="2" charset="-122"/>
              </a:rPr>
              <a:t>56</a:t>
            </a:r>
            <a:r>
              <a:rPr lang="zh-CN" altLang="en-US">
                <a:latin typeface="微软雅黑" panose="020B0503020204020204" pitchFamily="34" charset="-122"/>
                <a:ea typeface="宋体" panose="02010600030101010101" pitchFamily="2" charset="-122"/>
              </a:rPr>
              <a:t>位，并且把</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的设计过程保密起来，人们怀疑</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算法隐藏了后门，</a:t>
            </a:r>
            <a:r>
              <a:rPr lang="en-US" altLang="zh-CN">
                <a:latin typeface="微软雅黑" panose="020B0503020204020204" pitchFamily="34" charset="-122"/>
                <a:ea typeface="宋体" panose="02010600030101010101" pitchFamily="2" charset="-122"/>
              </a:rPr>
              <a:t>NSA</a:t>
            </a:r>
            <a:r>
              <a:rPr lang="zh-CN" altLang="en-US">
                <a:latin typeface="微软雅黑" panose="020B0503020204020204" pitchFamily="34" charset="-122"/>
                <a:ea typeface="宋体" panose="02010600030101010101" pitchFamily="2" charset="-122"/>
              </a:rPr>
              <a:t>很容易破解。</a:t>
            </a:r>
          </a:p>
          <a:p>
            <a:pPr eaLnBrk="1" hangingPunct="1"/>
            <a:r>
              <a:rPr lang="zh-CN" altLang="en-US">
                <a:latin typeface="微软雅黑" panose="020B0503020204020204" pitchFamily="34" charset="-122"/>
                <a:ea typeface="宋体" panose="02010600030101010101" pitchFamily="2" charset="-122"/>
              </a:rPr>
              <a:t>最初的</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已经不适用，一个改进形式仍然非常有用</a:t>
            </a:r>
          </a:p>
        </p:txBody>
      </p:sp>
    </p:spTree>
    <p:extLst>
      <p:ext uri="{BB962C8B-B14F-4D97-AF65-F5344CB8AC3E}">
        <p14:creationId xmlns:p14="http://schemas.microsoft.com/office/powerpoint/2010/main" val="355185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a:extLst>
              <a:ext uri="{FF2B5EF4-FFF2-40B4-BE49-F238E27FC236}">
                <a16:creationId xmlns:a16="http://schemas.microsoft.com/office/drawing/2014/main" id="{13EAA586-AA46-C647-ADC4-FF4FAB4671E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3BE3033-8B48-1140-A6CD-7587E4691030}"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bg2"/>
              </a:solidFill>
              <a:latin typeface="Tahoma" panose="020B0604030504040204" pitchFamily="34" charset="0"/>
              <a:ea typeface="宋体" panose="02010600030101010101" pitchFamily="2" charset="-122"/>
            </a:endParaRPr>
          </a:p>
        </p:txBody>
      </p:sp>
      <p:sp>
        <p:nvSpPr>
          <p:cNvPr id="60418" name="Rectangle 2">
            <a:extLst>
              <a:ext uri="{FF2B5EF4-FFF2-40B4-BE49-F238E27FC236}">
                <a16:creationId xmlns:a16="http://schemas.microsoft.com/office/drawing/2014/main" id="{47B70956-BD41-1E41-BB2F-A7EEB9BFE2D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60419" name="Rectangle 3">
            <a:extLst>
              <a:ext uri="{FF2B5EF4-FFF2-40B4-BE49-F238E27FC236}">
                <a16:creationId xmlns:a16="http://schemas.microsoft.com/office/drawing/2014/main" id="{C5DC2E8B-1763-A148-939C-5CF47F58060F}"/>
              </a:ext>
            </a:extLst>
          </p:cNvPr>
          <p:cNvSpPr>
            <a:spLocks noGrp="1" noChangeArrowheads="1"/>
          </p:cNvSpPr>
          <p:nvPr>
            <p:ph type="body" idx="1"/>
          </p:nvPr>
        </p:nvSpPr>
        <p:spPr>
          <a:xfrm>
            <a:off x="133563" y="1121966"/>
            <a:ext cx="5499520" cy="3746897"/>
          </a:xfrm>
        </p:spPr>
        <p:txBody>
          <a:bodyPr/>
          <a:lstStyle/>
          <a:p>
            <a:pPr eaLnBrk="1" hangingPunct="1"/>
            <a:r>
              <a:rPr lang="en-US" altLang="zh-CN" dirty="0">
                <a:latin typeface="微软雅黑" panose="020B0503020204020204" pitchFamily="34" charset="-122"/>
                <a:ea typeface="宋体" panose="02010600030101010101" pitchFamily="2" charset="-122"/>
              </a:rPr>
              <a:t>DES</a:t>
            </a:r>
            <a:r>
              <a:rPr lang="zh-CN" altLang="en-US" dirty="0">
                <a:latin typeface="微软雅黑" panose="020B0503020204020204" pitchFamily="34" charset="-122"/>
                <a:ea typeface="宋体" panose="02010600030101010101" pitchFamily="2" charset="-122"/>
              </a:rPr>
              <a:t>工作流程</a:t>
            </a:r>
          </a:p>
          <a:p>
            <a:pPr lvl="1" eaLnBrk="1" hangingPunct="1"/>
            <a:r>
              <a:rPr lang="zh-CN" altLang="en-US" sz="1800" dirty="0">
                <a:latin typeface="微软雅黑" panose="020B0503020204020204" pitchFamily="34" charset="-122"/>
                <a:ea typeface="宋体" panose="02010600030101010101" pitchFamily="2" charset="-122"/>
              </a:rPr>
              <a:t>明文按</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位数据块的单元被加密，生成</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位密文；密钥</a:t>
            </a:r>
            <a:r>
              <a:rPr lang="en-US" altLang="zh-CN" sz="1800" dirty="0">
                <a:latin typeface="微软雅黑" panose="020B0503020204020204" pitchFamily="34" charset="-122"/>
                <a:ea typeface="宋体" panose="02010600030101010101" pitchFamily="2" charset="-122"/>
              </a:rPr>
              <a:t>56</a:t>
            </a:r>
            <a:r>
              <a:rPr lang="zh-CN" altLang="en-US" sz="1800" dirty="0">
                <a:latin typeface="微软雅黑" panose="020B0503020204020204" pitchFamily="34" charset="-122"/>
                <a:ea typeface="宋体" panose="02010600030101010101" pitchFamily="2" charset="-122"/>
              </a:rPr>
              <a:t>位</a:t>
            </a:r>
          </a:p>
          <a:p>
            <a:pPr lvl="1" eaLnBrk="1" hangingPunct="1"/>
            <a:r>
              <a:rPr lang="zh-CN" altLang="en-US" sz="1800" dirty="0">
                <a:latin typeface="微软雅黑" panose="020B0503020204020204" pitchFamily="34" charset="-122"/>
                <a:ea typeface="宋体" panose="02010600030101010101" pitchFamily="2" charset="-122"/>
              </a:rPr>
              <a:t>共</a:t>
            </a:r>
            <a:r>
              <a:rPr lang="en-US" altLang="zh-CN" sz="1800" dirty="0">
                <a:latin typeface="微软雅黑" panose="020B0503020204020204" pitchFamily="34" charset="-122"/>
                <a:ea typeface="宋体" panose="02010600030101010101" pitchFamily="2" charset="-122"/>
              </a:rPr>
              <a:t>19</a:t>
            </a:r>
            <a:r>
              <a:rPr lang="zh-CN" altLang="en-US" sz="1800" dirty="0">
                <a:latin typeface="微软雅黑" panose="020B0503020204020204" pitchFamily="34" charset="-122"/>
                <a:ea typeface="宋体" panose="02010600030101010101" pitchFamily="2" charset="-122"/>
              </a:rPr>
              <a:t>个步骤。第一步是一个与密钥无关的转置操作，直接作用在明文上；最后一步是这次转置的逆操作；倒数第二步是交换左</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位和右</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位；其他</a:t>
            </a:r>
            <a:r>
              <a:rPr lang="en-US" altLang="zh-CN" sz="1800" dirty="0">
                <a:latin typeface="微软雅黑" panose="020B0503020204020204" pitchFamily="34" charset="-122"/>
                <a:ea typeface="宋体" panose="02010600030101010101" pitchFamily="2" charset="-122"/>
              </a:rPr>
              <a:t>16</a:t>
            </a:r>
            <a:r>
              <a:rPr lang="zh-CN" altLang="en-US" sz="1800" dirty="0">
                <a:latin typeface="微软雅黑" panose="020B0503020204020204" pitchFamily="34" charset="-122"/>
                <a:ea typeface="宋体" panose="02010600030101010101" pitchFamily="2" charset="-122"/>
              </a:rPr>
              <a:t>步在功能上完全相同，但是使用原始密钥的不同函数作为参数</a:t>
            </a:r>
          </a:p>
          <a:p>
            <a:pPr lvl="1" eaLnBrk="1" hangingPunct="1"/>
            <a:r>
              <a:rPr lang="zh-CN" altLang="en-US" sz="1800" dirty="0">
                <a:latin typeface="微软雅黑" panose="020B0503020204020204" pitchFamily="34" charset="-122"/>
                <a:ea typeface="宋体" panose="02010600030101010101" pitchFamily="2" charset="-122"/>
              </a:rPr>
              <a:t>用同样的密钥可以完成解密，但是解密步骤与加密步骤相反</a:t>
            </a:r>
          </a:p>
        </p:txBody>
      </p:sp>
      <p:graphicFrame>
        <p:nvGraphicFramePr>
          <p:cNvPr id="60420" name="Object 5">
            <a:extLst>
              <a:ext uri="{FF2B5EF4-FFF2-40B4-BE49-F238E27FC236}">
                <a16:creationId xmlns:a16="http://schemas.microsoft.com/office/drawing/2014/main" id="{0AAB93E0-7D57-D149-A748-32767D7325DE}"/>
              </a:ext>
            </a:extLst>
          </p:cNvPr>
          <p:cNvGraphicFramePr>
            <a:graphicFrameLocks noChangeAspect="1"/>
          </p:cNvGraphicFramePr>
          <p:nvPr>
            <p:extLst>
              <p:ext uri="{D42A27DB-BD31-4B8C-83A1-F6EECF244321}">
                <p14:modId xmlns:p14="http://schemas.microsoft.com/office/powerpoint/2010/main" val="904238233"/>
              </p:ext>
            </p:extLst>
          </p:nvPr>
        </p:nvGraphicFramePr>
        <p:xfrm>
          <a:off x="5900736" y="902018"/>
          <a:ext cx="2676526" cy="4216255"/>
        </p:xfrm>
        <a:graphic>
          <a:graphicData uri="http://schemas.openxmlformats.org/presentationml/2006/ole">
            <mc:AlternateContent xmlns:mc="http://schemas.openxmlformats.org/markup-compatibility/2006">
              <mc:Choice xmlns:v="urn:schemas-microsoft-com:vml" Requires="v">
                <p:oleObj spid="_x0000_s46089" r:id="rId4" imgW="11861800" imgH="22936200" progId="Visio.Drawing.6">
                  <p:embed/>
                </p:oleObj>
              </mc:Choice>
              <mc:Fallback>
                <p:oleObj r:id="rId4" imgW="11861800" imgH="22936200" progId="Visio.Drawing.6">
                  <p:embed/>
                  <p:pic>
                    <p:nvPicPr>
                      <p:cNvPr id="60420" name="Object 5">
                        <a:extLst>
                          <a:ext uri="{FF2B5EF4-FFF2-40B4-BE49-F238E27FC236}">
                            <a16:creationId xmlns:a16="http://schemas.microsoft.com/office/drawing/2014/main" id="{0AAB93E0-7D57-D149-A748-32767D7325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0736" y="902018"/>
                        <a:ext cx="2676526" cy="421625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38769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a:extLst>
              <a:ext uri="{FF2B5EF4-FFF2-40B4-BE49-F238E27FC236}">
                <a16:creationId xmlns:a16="http://schemas.microsoft.com/office/drawing/2014/main" id="{775C728A-C361-8445-9447-0F8E5C7EBA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1433703-01FE-B240-9CC6-B2AD7989224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bg2"/>
              </a:solidFill>
              <a:latin typeface="Tahoma" panose="020B0604030504040204" pitchFamily="34" charset="0"/>
              <a:ea typeface="宋体" panose="02010600030101010101" pitchFamily="2" charset="-122"/>
            </a:endParaRPr>
          </a:p>
        </p:txBody>
      </p:sp>
      <p:sp>
        <p:nvSpPr>
          <p:cNvPr id="62466" name="Rectangle 2">
            <a:extLst>
              <a:ext uri="{FF2B5EF4-FFF2-40B4-BE49-F238E27FC236}">
                <a16:creationId xmlns:a16="http://schemas.microsoft.com/office/drawing/2014/main" id="{AA7FF563-97FC-1F42-8B06-F587D861CA9C}"/>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62467" name="Rectangle 3">
            <a:extLst>
              <a:ext uri="{FF2B5EF4-FFF2-40B4-BE49-F238E27FC236}">
                <a16:creationId xmlns:a16="http://schemas.microsoft.com/office/drawing/2014/main" id="{660C851B-35DA-DF40-A8F1-69D08293A274}"/>
              </a:ext>
            </a:extLst>
          </p:cNvPr>
          <p:cNvSpPr>
            <a:spLocks noGrp="1" noChangeArrowheads="1"/>
          </p:cNvSpPr>
          <p:nvPr>
            <p:ph type="body" idx="1"/>
          </p:nvPr>
        </p:nvSpPr>
        <p:spPr>
          <a:xfrm>
            <a:off x="146684" y="1072990"/>
            <a:ext cx="5008245" cy="3823097"/>
          </a:xfrm>
        </p:spPr>
        <p:txBody>
          <a:bodyPr/>
          <a:lstStyle/>
          <a:p>
            <a:pPr eaLnBrk="1" hangingPunct="1"/>
            <a:r>
              <a:rPr lang="zh-CN" altLang="en-US" dirty="0">
                <a:latin typeface="微软雅黑" panose="020B0503020204020204" pitchFamily="34" charset="-122"/>
                <a:ea typeface="宋体" panose="02010600030101010101" pitchFamily="2" charset="-122"/>
              </a:rPr>
              <a:t>一次迭代过程（一轮）</a:t>
            </a:r>
          </a:p>
          <a:p>
            <a:pPr lvl="1" eaLnBrk="1" hangingPunct="1"/>
            <a:r>
              <a:rPr lang="zh-CN" altLang="en-US" dirty="0">
                <a:latin typeface="微软雅黑" panose="020B0503020204020204" pitchFamily="34" charset="-122"/>
                <a:ea typeface="宋体" panose="02010600030101010101" pitchFamily="2" charset="-122"/>
              </a:rPr>
              <a:t>接受两个</a:t>
            </a:r>
            <a:r>
              <a:rPr lang="en-US" altLang="zh-CN" dirty="0">
                <a:latin typeface="微软雅黑" panose="020B0503020204020204" pitchFamily="34" charset="-122"/>
                <a:ea typeface="宋体" panose="02010600030101010101" pitchFamily="2" charset="-122"/>
              </a:rPr>
              <a:t>32</a:t>
            </a:r>
            <a:r>
              <a:rPr lang="zh-CN" altLang="en-US" dirty="0">
                <a:latin typeface="微软雅黑" panose="020B0503020204020204" pitchFamily="34" charset="-122"/>
                <a:ea typeface="宋体" panose="02010600030101010101" pitchFamily="2" charset="-122"/>
              </a:rPr>
              <a:t>位输入</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，产生两个</a:t>
            </a:r>
            <a:r>
              <a:rPr lang="en-US" altLang="zh-CN" dirty="0">
                <a:latin typeface="微软雅黑" panose="020B0503020204020204" pitchFamily="34" charset="-122"/>
                <a:ea typeface="宋体" panose="02010600030101010101" pitchFamily="2" charset="-122"/>
              </a:rPr>
              <a:t>32</a:t>
            </a:r>
            <a:r>
              <a:rPr lang="zh-CN" altLang="en-US" dirty="0">
                <a:latin typeface="微软雅黑" panose="020B0503020204020204" pitchFamily="34" charset="-122"/>
                <a:ea typeface="宋体" panose="02010600030101010101" pitchFamily="2" charset="-122"/>
              </a:rPr>
              <a:t>位输出</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endParaRPr lang="zh-CN" altLang="en-US" dirty="0">
              <a:latin typeface="微软雅黑" panose="020B0503020204020204" pitchFamily="34" charset="-122"/>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左边的输出</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a:t>
            </a:r>
            <a:r>
              <a:rPr lang="zh-CN" altLang="en-US" dirty="0">
                <a:latin typeface="微软雅黑" panose="020B0503020204020204" pitchFamily="34" charset="-122"/>
                <a:ea typeface="宋体" panose="02010600030101010101" pitchFamily="2" charset="-122"/>
              </a:rPr>
              <a:t> 等于右边的输入</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endParaRPr lang="zh-CN" altLang="en-US" baseline="-25000" dirty="0">
              <a:latin typeface="微软雅黑" panose="020B0503020204020204" pitchFamily="34" charset="-122"/>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右边的输出是左边输入</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与一个函数值</a:t>
            </a:r>
            <a:r>
              <a:rPr lang="en-US" altLang="zh-CN" dirty="0">
                <a:latin typeface="微软雅黑" panose="020B0503020204020204" pitchFamily="34" charset="-122"/>
                <a:ea typeface="宋体" panose="02010600030101010101" pitchFamily="2" charset="-122"/>
              </a:rPr>
              <a:t>f(R</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K</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zh-CN" altLang="en-US" dirty="0">
                <a:solidFill>
                  <a:srgbClr val="0070C0"/>
                </a:solidFill>
                <a:latin typeface="微软雅黑" panose="020B0503020204020204" pitchFamily="34" charset="-122"/>
                <a:ea typeface="宋体" panose="02010600030101010101" pitchFamily="2" charset="-122"/>
              </a:rPr>
              <a:t>逐位异或</a:t>
            </a:r>
            <a:r>
              <a:rPr lang="zh-CN" altLang="en-US" dirty="0">
                <a:latin typeface="微软雅黑" panose="020B0503020204020204" pitchFamily="34" charset="-122"/>
                <a:ea typeface="宋体" panose="02010600030101010101" pitchFamily="2" charset="-122"/>
              </a:rPr>
              <a:t>的结果，该函数的输入参数是右边的输入</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r>
              <a:rPr lang="zh-CN" altLang="en-US" dirty="0">
                <a:latin typeface="微软雅黑" panose="020B0503020204020204" pitchFamily="34" charset="-122"/>
                <a:ea typeface="宋体" panose="02010600030101010101" pitchFamily="2" charset="-122"/>
              </a:rPr>
              <a:t>和本轮的密钥</a:t>
            </a:r>
            <a:r>
              <a:rPr lang="en-US" altLang="zh-CN" dirty="0">
                <a:latin typeface="微软雅黑" panose="020B0503020204020204" pitchFamily="34" charset="-122"/>
                <a:ea typeface="宋体" panose="02010600030101010101" pitchFamily="2" charset="-122"/>
              </a:rPr>
              <a:t>K</a:t>
            </a:r>
            <a:r>
              <a:rPr lang="en-US" altLang="zh-CN" baseline="-25000" dirty="0">
                <a:latin typeface="微软雅黑" panose="020B0503020204020204" pitchFamily="34" charset="-122"/>
                <a:ea typeface="宋体" panose="02010600030101010101" pitchFamily="2" charset="-122"/>
              </a:rPr>
              <a:t>i</a:t>
            </a:r>
            <a:endParaRPr lang="zh-CN" altLang="en-US" dirty="0">
              <a:latin typeface="微软雅黑" panose="020B0503020204020204" pitchFamily="34" charset="-122"/>
              <a:ea typeface="宋体" panose="02010600030101010101" pitchFamily="2" charset="-122"/>
            </a:endParaRPr>
          </a:p>
        </p:txBody>
      </p:sp>
      <p:graphicFrame>
        <p:nvGraphicFramePr>
          <p:cNvPr id="62468" name="Object 5">
            <a:extLst>
              <a:ext uri="{FF2B5EF4-FFF2-40B4-BE49-F238E27FC236}">
                <a16:creationId xmlns:a16="http://schemas.microsoft.com/office/drawing/2014/main" id="{1CD16E8F-1DE5-6B40-BA4E-93BBD41791B3}"/>
              </a:ext>
            </a:extLst>
          </p:cNvPr>
          <p:cNvGraphicFramePr>
            <a:graphicFrameLocks noChangeAspect="1"/>
          </p:cNvGraphicFramePr>
          <p:nvPr>
            <p:extLst>
              <p:ext uri="{D42A27DB-BD31-4B8C-83A1-F6EECF244321}">
                <p14:modId xmlns:p14="http://schemas.microsoft.com/office/powerpoint/2010/main" val="3339823652"/>
              </p:ext>
            </p:extLst>
          </p:nvPr>
        </p:nvGraphicFramePr>
        <p:xfrm>
          <a:off x="5404008" y="1084202"/>
          <a:ext cx="3173254" cy="3917614"/>
        </p:xfrm>
        <a:graphic>
          <a:graphicData uri="http://schemas.openxmlformats.org/presentationml/2006/ole">
            <mc:AlternateContent xmlns:mc="http://schemas.openxmlformats.org/markup-compatibility/2006">
              <mc:Choice xmlns:v="urn:schemas-microsoft-com:vml" Requires="v">
                <p:oleObj spid="_x0000_s48138" r:id="rId4" imgW="3975100" imgH="5245100" progId="Paint.Picture">
                  <p:embed/>
                </p:oleObj>
              </mc:Choice>
              <mc:Fallback>
                <p:oleObj r:id="rId4" imgW="3975100" imgH="5245100" progId="Paint.Picture">
                  <p:embed/>
                  <p:pic>
                    <p:nvPicPr>
                      <p:cNvPr id="62468" name="Object 5">
                        <a:extLst>
                          <a:ext uri="{FF2B5EF4-FFF2-40B4-BE49-F238E27FC236}">
                            <a16:creationId xmlns:a16="http://schemas.microsoft.com/office/drawing/2014/main" id="{1CD16E8F-1DE5-6B40-BA4E-93BBD41791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4008" y="1084202"/>
                        <a:ext cx="3173254" cy="391761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31187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a:extLst>
              <a:ext uri="{FF2B5EF4-FFF2-40B4-BE49-F238E27FC236}">
                <a16:creationId xmlns:a16="http://schemas.microsoft.com/office/drawing/2014/main" id="{06B1A767-A270-3147-AD1D-BEE99E9DD1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4364B0-E9BB-3143-8C32-7D1C6E42A5E0}"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bg2"/>
              </a:solidFill>
              <a:latin typeface="Tahoma" panose="020B0604030504040204" pitchFamily="34" charset="0"/>
              <a:ea typeface="宋体" panose="02010600030101010101" pitchFamily="2" charset="-122"/>
            </a:endParaRPr>
          </a:p>
        </p:txBody>
      </p:sp>
      <p:sp>
        <p:nvSpPr>
          <p:cNvPr id="64514" name="Rectangle 2">
            <a:extLst>
              <a:ext uri="{FF2B5EF4-FFF2-40B4-BE49-F238E27FC236}">
                <a16:creationId xmlns:a16="http://schemas.microsoft.com/office/drawing/2014/main" id="{2D638CFA-0A74-F34A-A4B8-10044777CF01}"/>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64515" name="Rectangle 3">
            <a:extLst>
              <a:ext uri="{FF2B5EF4-FFF2-40B4-BE49-F238E27FC236}">
                <a16:creationId xmlns:a16="http://schemas.microsoft.com/office/drawing/2014/main" id="{1C732567-A82B-BE43-94C0-7C557669A8BD}"/>
              </a:ext>
            </a:extLst>
          </p:cNvPr>
          <p:cNvSpPr>
            <a:spLocks noGrp="1" noChangeArrowheads="1"/>
          </p:cNvSpPr>
          <p:nvPr>
            <p:ph type="body" idx="1"/>
          </p:nvPr>
        </p:nvSpPr>
        <p:spPr>
          <a:xfrm>
            <a:off x="133563" y="999742"/>
            <a:ext cx="5243300" cy="3908822"/>
          </a:xfrm>
        </p:spPr>
        <p:txBody>
          <a:bodyPr/>
          <a:lstStyle/>
          <a:p>
            <a:pPr eaLnBrk="1" hangingPunct="1">
              <a:lnSpc>
                <a:spcPct val="110000"/>
              </a:lnSpc>
            </a:pPr>
            <a:r>
              <a:rPr lang="en-US" altLang="zh-CN" sz="2100" dirty="0">
                <a:latin typeface="微软雅黑" panose="020B0503020204020204" pitchFamily="34" charset="-122"/>
                <a:ea typeface="宋体" panose="02010600030101010101" pitchFamily="2" charset="-122"/>
              </a:rPr>
              <a:t>F</a:t>
            </a:r>
            <a:r>
              <a:rPr lang="zh-CN" altLang="en-US" sz="2100" dirty="0">
                <a:latin typeface="微软雅黑" panose="020B0503020204020204" pitchFamily="34" charset="-122"/>
                <a:ea typeface="宋体" panose="02010600030101010101" pitchFamily="2" charset="-122"/>
              </a:rPr>
              <a:t>函数</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第一步：根据一个固定的转置和复制规则，将</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位的</a:t>
            </a:r>
            <a:r>
              <a:rPr lang="en-US" altLang="zh-CN" sz="1800" dirty="0">
                <a:latin typeface="微软雅黑" panose="020B0503020204020204" pitchFamily="34" charset="-122"/>
                <a:ea typeface="宋体" panose="02010600030101010101" pitchFamily="2" charset="-122"/>
              </a:rPr>
              <a:t>R</a:t>
            </a:r>
            <a:r>
              <a:rPr lang="en-US" altLang="zh-CN" sz="1800" baseline="-25000" dirty="0">
                <a:latin typeface="微软雅黑" panose="020B0503020204020204" pitchFamily="34" charset="-122"/>
                <a:ea typeface="宋体" panose="02010600030101010101" pitchFamily="2" charset="-122"/>
              </a:rPr>
              <a:t>i-1</a:t>
            </a:r>
            <a:r>
              <a:rPr lang="zh-CN" altLang="en-US" sz="1800" dirty="0">
                <a:latin typeface="微软雅黑" panose="020B0503020204020204" pitchFamily="34" charset="-122"/>
                <a:ea typeface="宋体" panose="02010600030101010101" pitchFamily="2" charset="-122"/>
              </a:rPr>
              <a:t>扩展成一个</a:t>
            </a:r>
            <a:r>
              <a:rPr lang="en-US" altLang="zh-CN" sz="1800" dirty="0">
                <a:latin typeface="微软雅黑" panose="020B0503020204020204" pitchFamily="34" charset="-122"/>
                <a:ea typeface="宋体" panose="02010600030101010101" pitchFamily="2" charset="-122"/>
              </a:rPr>
              <a:t>48</a:t>
            </a:r>
            <a:r>
              <a:rPr lang="zh-CN" altLang="en-US" sz="1800" dirty="0">
                <a:latin typeface="微软雅黑" panose="020B0503020204020204" pitchFamily="34" charset="-122"/>
                <a:ea typeface="宋体" panose="02010600030101010101" pitchFamily="2" charset="-122"/>
              </a:rPr>
              <a:t>位的数字</a:t>
            </a:r>
            <a:r>
              <a:rPr lang="en-US" altLang="zh-CN" sz="1800" dirty="0">
                <a:latin typeface="微软雅黑" panose="020B0503020204020204" pitchFamily="34" charset="-122"/>
                <a:ea typeface="宋体" panose="02010600030101010101" pitchFamily="2" charset="-122"/>
              </a:rPr>
              <a:t>E</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第二步：</a:t>
            </a:r>
            <a:r>
              <a:rPr lang="en-US" altLang="zh-CN" sz="1800" dirty="0">
                <a:latin typeface="微软雅黑" panose="020B0503020204020204" pitchFamily="34" charset="-122"/>
                <a:ea typeface="宋体" panose="02010600030101010101" pitchFamily="2" charset="-122"/>
              </a:rPr>
              <a:t>E</a:t>
            </a:r>
            <a:r>
              <a:rPr lang="zh-CN" altLang="en-US" sz="1800" dirty="0">
                <a:latin typeface="微软雅黑" panose="020B0503020204020204" pitchFamily="34" charset="-122"/>
                <a:ea typeface="宋体" panose="02010600030101010101" pitchFamily="2" charset="-122"/>
              </a:rPr>
              <a:t>和</a:t>
            </a:r>
            <a:r>
              <a:rPr lang="en-US" altLang="zh-CN" sz="1800" dirty="0">
                <a:latin typeface="微软雅黑" panose="020B0503020204020204" pitchFamily="34" charset="-122"/>
                <a:ea typeface="宋体" panose="02010600030101010101" pitchFamily="2" charset="-122"/>
              </a:rPr>
              <a:t>K</a:t>
            </a:r>
            <a:r>
              <a:rPr lang="en-US" altLang="zh-CN" sz="1800" baseline="-25000" dirty="0">
                <a:latin typeface="微软雅黑" panose="020B0503020204020204" pitchFamily="34" charset="-122"/>
                <a:ea typeface="宋体" panose="02010600030101010101" pitchFamily="2" charset="-122"/>
              </a:rPr>
              <a:t>i</a:t>
            </a:r>
            <a:r>
              <a:rPr lang="zh-CN" altLang="en-US" sz="1800" dirty="0">
                <a:latin typeface="微软雅黑" panose="020B0503020204020204" pitchFamily="34" charset="-122"/>
                <a:ea typeface="宋体" panose="02010600030101010101" pitchFamily="2" charset="-122"/>
              </a:rPr>
              <a:t>被异或在一起</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第三步：异或结果被分成</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位组，每个</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位组被输入到不同的</a:t>
            </a:r>
            <a:r>
              <a:rPr lang="en-US" altLang="zh-CN" sz="1800" dirty="0">
                <a:latin typeface="微软雅黑" panose="020B0503020204020204" pitchFamily="34" charset="-122"/>
                <a:ea typeface="宋体" panose="02010600030101010101" pitchFamily="2" charset="-122"/>
              </a:rPr>
              <a:t>S</a:t>
            </a:r>
            <a:r>
              <a:rPr lang="zh-CN" altLang="en-US" sz="1800" dirty="0">
                <a:latin typeface="微软雅黑" panose="020B0503020204020204" pitchFamily="34" charset="-122"/>
                <a:ea typeface="宋体" panose="02010600030101010101" pitchFamily="2" charset="-122"/>
              </a:rPr>
              <a:t>盒中。每个</a:t>
            </a:r>
            <a:r>
              <a:rPr lang="en-US" altLang="zh-CN" sz="1800" dirty="0">
                <a:solidFill>
                  <a:srgbClr val="0070C0"/>
                </a:solidFill>
                <a:latin typeface="微软雅黑" panose="020B0503020204020204" pitchFamily="34" charset="-122"/>
                <a:ea typeface="宋体" panose="02010600030101010101" pitchFamily="2" charset="-122"/>
              </a:rPr>
              <a:t>S</a:t>
            </a:r>
            <a:r>
              <a:rPr lang="zh-CN" altLang="en-US" sz="1800" dirty="0">
                <a:solidFill>
                  <a:srgbClr val="0070C0"/>
                </a:solidFill>
                <a:latin typeface="微软雅黑" panose="020B0503020204020204" pitchFamily="34" charset="-122"/>
                <a:ea typeface="宋体" panose="02010600030101010101" pitchFamily="2" charset="-122"/>
              </a:rPr>
              <a:t>盒</a:t>
            </a:r>
            <a:r>
              <a:rPr lang="zh-CN" altLang="en-US" sz="1800" dirty="0">
                <a:latin typeface="微软雅黑" panose="020B0503020204020204" pitchFamily="34" charset="-122"/>
                <a:ea typeface="宋体" panose="02010600030101010101" pitchFamily="2" charset="-122"/>
              </a:rPr>
              <a:t>将</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位输入映射到一个</a:t>
            </a:r>
            <a:r>
              <a:rPr lang="en-US" altLang="zh-CN" sz="1800" dirty="0">
                <a:latin typeface="微软雅黑" panose="020B0503020204020204" pitchFamily="34" charset="-122"/>
                <a:ea typeface="宋体" panose="02010600030101010101" pitchFamily="2" charset="-122"/>
              </a:rPr>
              <a:t>4</a:t>
            </a:r>
            <a:r>
              <a:rPr lang="zh-CN" altLang="en-US" sz="1800" dirty="0">
                <a:latin typeface="微软雅黑" panose="020B0503020204020204" pitchFamily="34" charset="-122"/>
                <a:ea typeface="宋体" panose="02010600030101010101" pitchFamily="2" charset="-122"/>
              </a:rPr>
              <a:t>位（压缩）输出</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第四步：</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a:t>
            </a:r>
            <a:r>
              <a:rPr lang="en-US" altLang="zh-CN" sz="1800" dirty="0">
                <a:latin typeface="微软雅黑" panose="020B0503020204020204" pitchFamily="34" charset="-122"/>
                <a:ea typeface="宋体" panose="02010600030101010101" pitchFamily="2" charset="-122"/>
              </a:rPr>
              <a:t>4</a:t>
            </a:r>
            <a:r>
              <a:rPr lang="zh-CN" altLang="en-US" sz="1800" dirty="0">
                <a:latin typeface="微软雅黑" panose="020B0503020204020204" pitchFamily="34" charset="-122"/>
                <a:ea typeface="宋体" panose="02010600030101010101" pitchFamily="2" charset="-122"/>
              </a:rPr>
              <a:t>位通过一个</a:t>
            </a:r>
            <a:r>
              <a:rPr lang="en-US" altLang="zh-CN" sz="1800" dirty="0">
                <a:solidFill>
                  <a:srgbClr val="0070C0"/>
                </a:solidFill>
                <a:latin typeface="微软雅黑" panose="020B0503020204020204" pitchFamily="34" charset="-122"/>
                <a:ea typeface="宋体" panose="02010600030101010101" pitchFamily="2" charset="-122"/>
              </a:rPr>
              <a:t>P</a:t>
            </a:r>
            <a:r>
              <a:rPr lang="zh-CN" altLang="en-US" sz="1800" dirty="0">
                <a:solidFill>
                  <a:srgbClr val="0070C0"/>
                </a:solidFill>
                <a:latin typeface="微软雅黑" panose="020B0503020204020204" pitchFamily="34" charset="-122"/>
                <a:ea typeface="宋体" panose="02010600030101010101" pitchFamily="2" charset="-122"/>
              </a:rPr>
              <a:t>盒</a:t>
            </a:r>
            <a:r>
              <a:rPr lang="zh-CN" altLang="en-US" sz="1800" dirty="0">
                <a:latin typeface="微软雅黑" panose="020B0503020204020204" pitchFamily="34" charset="-122"/>
                <a:ea typeface="宋体" panose="02010600030101010101" pitchFamily="2" charset="-122"/>
              </a:rPr>
              <a:t>，得到</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位输出           </a:t>
            </a:r>
          </a:p>
        </p:txBody>
      </p:sp>
      <p:graphicFrame>
        <p:nvGraphicFramePr>
          <p:cNvPr id="64516" name="Object 5">
            <a:extLst>
              <a:ext uri="{FF2B5EF4-FFF2-40B4-BE49-F238E27FC236}">
                <a16:creationId xmlns:a16="http://schemas.microsoft.com/office/drawing/2014/main" id="{F2A1475D-44FB-064A-8DE6-F916E3C758CD}"/>
              </a:ext>
            </a:extLst>
          </p:cNvPr>
          <p:cNvGraphicFramePr>
            <a:graphicFrameLocks noChangeAspect="1"/>
          </p:cNvGraphicFramePr>
          <p:nvPr>
            <p:extLst>
              <p:ext uri="{D42A27DB-BD31-4B8C-83A1-F6EECF244321}">
                <p14:modId xmlns:p14="http://schemas.microsoft.com/office/powerpoint/2010/main" val="3119244790"/>
              </p:ext>
            </p:extLst>
          </p:nvPr>
        </p:nvGraphicFramePr>
        <p:xfrm>
          <a:off x="5655945" y="970584"/>
          <a:ext cx="2802255" cy="4089429"/>
        </p:xfrm>
        <a:graphic>
          <a:graphicData uri="http://schemas.openxmlformats.org/presentationml/2006/ole">
            <mc:AlternateContent xmlns:mc="http://schemas.openxmlformats.org/markup-compatibility/2006">
              <mc:Choice xmlns:v="urn:schemas-microsoft-com:vml" Requires="v">
                <p:oleObj spid="_x0000_s50185" r:id="rId4" imgW="12065000" imgH="20205700" progId="Visio.Drawing.6">
                  <p:embed/>
                </p:oleObj>
              </mc:Choice>
              <mc:Fallback>
                <p:oleObj r:id="rId4" imgW="12065000" imgH="20205700" progId="Visio.Drawing.6">
                  <p:embed/>
                  <p:pic>
                    <p:nvPicPr>
                      <p:cNvPr id="64516" name="Object 5">
                        <a:extLst>
                          <a:ext uri="{FF2B5EF4-FFF2-40B4-BE49-F238E27FC236}">
                            <a16:creationId xmlns:a16="http://schemas.microsoft.com/office/drawing/2014/main" id="{F2A1475D-44FB-064A-8DE6-F916E3C758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5945" y="970584"/>
                        <a:ext cx="2802255" cy="408942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80990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3">
            <a:extLst>
              <a:ext uri="{FF2B5EF4-FFF2-40B4-BE49-F238E27FC236}">
                <a16:creationId xmlns:a16="http://schemas.microsoft.com/office/drawing/2014/main" id="{A0EFEB5B-B114-A748-9F2B-8FB5449FE88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AEF274-3754-D448-AB2D-40CD32120536}"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66562" name="Rectangle 2">
            <a:extLst>
              <a:ext uri="{FF2B5EF4-FFF2-40B4-BE49-F238E27FC236}">
                <a16:creationId xmlns:a16="http://schemas.microsoft.com/office/drawing/2014/main" id="{81BF6A26-4135-3D4E-AF21-219B4BBF0B7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a:t>
            </a:r>
          </a:p>
        </p:txBody>
      </p:sp>
      <p:sp>
        <p:nvSpPr>
          <p:cNvPr id="66563" name="Rectangle 3">
            <a:extLst>
              <a:ext uri="{FF2B5EF4-FFF2-40B4-BE49-F238E27FC236}">
                <a16:creationId xmlns:a16="http://schemas.microsoft.com/office/drawing/2014/main" id="{96BE373B-494B-D144-9701-5CC03338538C}"/>
              </a:ext>
            </a:extLst>
          </p:cNvPr>
          <p:cNvSpPr>
            <a:spLocks noGrp="1" noChangeArrowheads="1"/>
          </p:cNvSpPr>
          <p:nvPr>
            <p:ph type="body" idx="1"/>
          </p:nvPr>
        </p:nvSpPr>
        <p:spPr>
          <a:xfrm>
            <a:off x="133564" y="1053306"/>
            <a:ext cx="4438436" cy="3895725"/>
          </a:xfrm>
        </p:spPr>
        <p:txBody>
          <a:bodyPr/>
          <a:lstStyle/>
          <a:p>
            <a:pPr eaLnBrk="1" hangingPunct="1">
              <a:lnSpc>
                <a:spcPct val="110000"/>
              </a:lnSpc>
            </a:pPr>
            <a:r>
              <a:rPr lang="zh-CN" altLang="en-US" dirty="0">
                <a:latin typeface="微软雅黑" panose="020B0503020204020204" pitchFamily="34" charset="-122"/>
                <a:ea typeface="宋体" panose="02010600030101010101" pitchFamily="2" charset="-122"/>
              </a:rPr>
              <a:t>轮密钥的产生</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首先从</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位密钥</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中提取出</a:t>
            </a:r>
            <a:r>
              <a:rPr lang="en-US" altLang="zh-CN" sz="1800" dirty="0">
                <a:latin typeface="微软雅黑" panose="020B0503020204020204" pitchFamily="34" charset="-122"/>
                <a:ea typeface="宋体" panose="02010600030101010101" pitchFamily="2" charset="-122"/>
              </a:rPr>
              <a:t>56</a:t>
            </a:r>
            <a:r>
              <a:rPr lang="zh-CN" altLang="en-US" sz="1800" dirty="0">
                <a:latin typeface="微软雅黑" panose="020B0503020204020204" pitchFamily="34" charset="-122"/>
                <a:ea typeface="宋体" panose="02010600030101010101" pitchFamily="2" charset="-122"/>
              </a:rPr>
              <a:t>位，并执行转置操作</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每一次迭代之前，密钥被分成两个</a:t>
            </a:r>
            <a:r>
              <a:rPr lang="en-US" altLang="zh-CN" sz="1800" dirty="0">
                <a:latin typeface="微软雅黑" panose="020B0503020204020204" pitchFamily="34" charset="-122"/>
                <a:ea typeface="宋体" panose="02010600030101010101" pitchFamily="2" charset="-122"/>
              </a:rPr>
              <a:t>28</a:t>
            </a:r>
            <a:r>
              <a:rPr lang="zh-CN" altLang="en-US" sz="1800" dirty="0">
                <a:latin typeface="微软雅黑" panose="020B0503020204020204" pitchFamily="34" charset="-122"/>
                <a:ea typeface="宋体" panose="02010600030101010101" pitchFamily="2" charset="-122"/>
              </a:rPr>
              <a:t>位单元，每个单元循环左移位，左移位数取决于当前的迭代号</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移位之后再执行另外一个转置操作，即得到</a:t>
            </a:r>
            <a:r>
              <a:rPr lang="en-US" altLang="zh-CN" sz="1800" dirty="0">
                <a:latin typeface="微软雅黑" panose="020B0503020204020204" pitchFamily="34" charset="-122"/>
                <a:ea typeface="宋体" panose="02010600030101010101" pitchFamily="2" charset="-122"/>
              </a:rPr>
              <a:t>K</a:t>
            </a:r>
            <a:r>
              <a:rPr lang="en-US" altLang="zh-CN" sz="1800" baseline="-25000" dirty="0">
                <a:latin typeface="微软雅黑" panose="020B0503020204020204" pitchFamily="34" charset="-122"/>
                <a:ea typeface="宋体" panose="02010600030101010101" pitchFamily="2" charset="-122"/>
              </a:rPr>
              <a:t>i</a:t>
            </a:r>
            <a:endParaRPr lang="zh-CN" altLang="en-US" sz="1800" baseline="-25000" dirty="0">
              <a:latin typeface="微软雅黑" panose="020B0503020204020204" pitchFamily="34" charset="-122"/>
              <a:ea typeface="宋体" panose="02010600030101010101" pitchFamily="2" charset="-122"/>
            </a:endParaRPr>
          </a:p>
        </p:txBody>
      </p:sp>
      <p:pic>
        <p:nvPicPr>
          <p:cNvPr id="66564" name="Picture 5">
            <a:extLst>
              <a:ext uri="{FF2B5EF4-FFF2-40B4-BE49-F238E27FC236}">
                <a16:creationId xmlns:a16="http://schemas.microsoft.com/office/drawing/2014/main" id="{5444630C-7551-4A4B-834A-515072C43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972" y="1178719"/>
            <a:ext cx="3698081" cy="340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0693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3">
            <a:extLst>
              <a:ext uri="{FF2B5EF4-FFF2-40B4-BE49-F238E27FC236}">
                <a16:creationId xmlns:a16="http://schemas.microsoft.com/office/drawing/2014/main" id="{6B9510B3-1239-D348-BA4A-2D82A8788D1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7358598-DFAE-CE49-BAA2-E25BAEED8286}"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68610" name="Rectangle 2">
            <a:extLst>
              <a:ext uri="{FF2B5EF4-FFF2-40B4-BE49-F238E27FC236}">
                <a16:creationId xmlns:a16="http://schemas.microsoft.com/office/drawing/2014/main" id="{A767C156-C291-694A-A631-05ABE3B131DF}"/>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6</a:t>
            </a:r>
            <a:r>
              <a:rPr lang="zh-CN" altLang="en-US">
                <a:latin typeface="微软雅黑" panose="020B0503020204020204" pitchFamily="34" charset="-122"/>
                <a:ea typeface="宋体" panose="02010600030101010101" pitchFamily="2" charset="-122"/>
              </a:rPr>
              <a:t>）</a:t>
            </a:r>
          </a:p>
        </p:txBody>
      </p:sp>
      <p:sp>
        <p:nvSpPr>
          <p:cNvPr id="68611" name="Rectangle 3">
            <a:extLst>
              <a:ext uri="{FF2B5EF4-FFF2-40B4-BE49-F238E27FC236}">
                <a16:creationId xmlns:a16="http://schemas.microsoft.com/office/drawing/2014/main" id="{1BD3FA6B-554A-0B4F-A2FF-52D2D61FC4B8}"/>
              </a:ext>
            </a:extLst>
          </p:cNvPr>
          <p:cNvSpPr>
            <a:spLocks noGrp="1" noChangeArrowheads="1"/>
          </p:cNvSpPr>
          <p:nvPr>
            <p:ph type="body" idx="1"/>
          </p:nvPr>
        </p:nvSpPr>
        <p:spPr>
          <a:xfrm>
            <a:off x="285750" y="2753996"/>
            <a:ext cx="8652766" cy="2194560"/>
          </a:xfrm>
        </p:spPr>
        <p:txBody>
          <a:bodyPr/>
          <a:lstStyle/>
          <a:p>
            <a:pPr eaLnBrk="1" hangingPunct="1"/>
            <a:r>
              <a:rPr lang="zh-CN" altLang="en-US" dirty="0">
                <a:latin typeface="微软雅黑" panose="020B0503020204020204" pitchFamily="34" charset="-122"/>
                <a:ea typeface="宋体" panose="02010600030101010101" pitchFamily="2" charset="-122"/>
              </a:rPr>
              <a:t>三重</a:t>
            </a:r>
            <a:r>
              <a:rPr lang="en-US" altLang="zh-CN" dirty="0">
                <a:latin typeface="微软雅黑" panose="020B0503020204020204" pitchFamily="34" charset="-122"/>
                <a:ea typeface="宋体" panose="02010600030101010101" pitchFamily="2" charset="-122"/>
              </a:rPr>
              <a:t>DES</a:t>
            </a:r>
          </a:p>
          <a:p>
            <a:pPr lvl="1" eaLnBrk="1" hangingPunct="1"/>
            <a:r>
              <a:rPr lang="en-US" altLang="zh-CN" sz="1800" dirty="0">
                <a:latin typeface="微软雅黑" panose="020B0503020204020204" pitchFamily="34" charset="-122"/>
                <a:ea typeface="宋体" panose="02010600030101010101" pitchFamily="2" charset="-122"/>
              </a:rPr>
              <a:t>1979</a:t>
            </a:r>
            <a:r>
              <a:rPr lang="zh-CN" altLang="en-US" sz="1800" dirty="0">
                <a:latin typeface="微软雅黑" panose="020B0503020204020204" pitchFamily="34" charset="-122"/>
                <a:ea typeface="宋体" panose="02010600030101010101" pitchFamily="2" charset="-122"/>
              </a:rPr>
              <a:t>年初，</a:t>
            </a:r>
            <a:r>
              <a:rPr lang="en-US" altLang="zh-CN" sz="1800" dirty="0">
                <a:latin typeface="微软雅黑" panose="020B0503020204020204" pitchFamily="34" charset="-122"/>
                <a:ea typeface="宋体" panose="02010600030101010101" pitchFamily="2" charset="-122"/>
              </a:rPr>
              <a:t>IBM</a:t>
            </a:r>
            <a:r>
              <a:rPr lang="zh-CN" altLang="en-US" sz="1800" dirty="0">
                <a:latin typeface="微软雅黑" panose="020B0503020204020204" pitchFamily="34" charset="-122"/>
                <a:ea typeface="宋体" panose="02010600030101010101" pitchFamily="2" charset="-122"/>
              </a:rPr>
              <a:t>意识到</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的密钥长度太短，于是设计了三重</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来增加密钥长度</a:t>
            </a:r>
          </a:p>
          <a:p>
            <a:pPr lvl="1" eaLnBrk="1" hangingPunct="1"/>
            <a:r>
              <a:rPr lang="zh-CN" altLang="en-US" sz="1800" dirty="0">
                <a:latin typeface="微软雅黑" panose="020B0503020204020204" pitchFamily="34" charset="-122"/>
                <a:ea typeface="宋体" panose="02010600030101010101" pitchFamily="2" charset="-122"/>
              </a:rPr>
              <a:t>共三步：第一步按照常规的方式用密钥</a:t>
            </a:r>
            <a:r>
              <a:rPr lang="en-US" altLang="zh-CN" sz="1800" dirty="0">
                <a:latin typeface="微软雅黑" panose="020B0503020204020204" pitchFamily="34" charset="-122"/>
                <a:ea typeface="宋体" panose="02010600030101010101" pitchFamily="2" charset="-122"/>
              </a:rPr>
              <a:t>K1</a:t>
            </a:r>
            <a:r>
              <a:rPr lang="zh-CN" altLang="en-US" sz="1800" dirty="0">
                <a:latin typeface="微软雅黑" panose="020B0503020204020204" pitchFamily="34" charset="-122"/>
                <a:ea typeface="宋体" panose="02010600030101010101" pitchFamily="2" charset="-122"/>
              </a:rPr>
              <a:t>执行</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加密；在第二步中，</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以解密方式运行，并使用</a:t>
            </a:r>
            <a:r>
              <a:rPr lang="en-US" altLang="zh-CN" sz="1800" dirty="0">
                <a:latin typeface="微软雅黑" panose="020B0503020204020204" pitchFamily="34" charset="-122"/>
                <a:ea typeface="宋体" panose="02010600030101010101" pitchFamily="2" charset="-122"/>
              </a:rPr>
              <a:t>K2</a:t>
            </a:r>
            <a:r>
              <a:rPr lang="zh-CN" altLang="en-US" sz="1800" dirty="0">
                <a:latin typeface="微软雅黑" panose="020B0503020204020204" pitchFamily="34" charset="-122"/>
                <a:ea typeface="宋体" panose="02010600030101010101" pitchFamily="2" charset="-122"/>
              </a:rPr>
              <a:t>作为密钥；第三步再次用</a:t>
            </a:r>
            <a:r>
              <a:rPr lang="en-US" altLang="zh-CN" sz="1800" dirty="0">
                <a:latin typeface="微软雅黑" panose="020B0503020204020204" pitchFamily="34" charset="-122"/>
                <a:ea typeface="宋体" panose="02010600030101010101" pitchFamily="2" charset="-122"/>
              </a:rPr>
              <a:t>K1</a:t>
            </a:r>
            <a:r>
              <a:rPr lang="zh-CN" altLang="en-US" sz="1800" dirty="0">
                <a:latin typeface="微软雅黑" panose="020B0503020204020204" pitchFamily="34" charset="-122"/>
                <a:ea typeface="宋体" panose="02010600030101010101" pitchFamily="2" charset="-122"/>
              </a:rPr>
              <a:t>执行</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加密</a:t>
            </a:r>
          </a:p>
          <a:p>
            <a:pPr lvl="1" eaLnBrk="1" hangingPunct="1"/>
            <a:r>
              <a:rPr lang="en-US" altLang="zh-CN" sz="1800" dirty="0">
                <a:latin typeface="微软雅黑" panose="020B0503020204020204" pitchFamily="34" charset="-122"/>
                <a:ea typeface="宋体" panose="02010600030101010101" pitchFamily="2" charset="-122"/>
              </a:rPr>
              <a:t>EDE</a:t>
            </a:r>
            <a:r>
              <a:rPr lang="zh-CN" altLang="en-US" sz="1800" dirty="0">
                <a:latin typeface="微软雅黑" panose="020B0503020204020204" pitchFamily="34" charset="-122"/>
                <a:ea typeface="宋体" panose="02010600030101010101" pitchFamily="2" charset="-122"/>
              </a:rPr>
              <a:t>（加密</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解密</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加密）模式是为了与现有的</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系统保持兼容性，并且</a:t>
            </a:r>
            <a:r>
              <a:rPr lang="en-US" altLang="zh-CN" sz="1800" dirty="0">
                <a:latin typeface="微软雅黑" panose="020B0503020204020204" pitchFamily="34" charset="-122"/>
                <a:ea typeface="宋体" panose="02010600030101010101" pitchFamily="2" charset="-122"/>
              </a:rPr>
              <a:t>112</a:t>
            </a:r>
            <a:r>
              <a:rPr lang="zh-CN" altLang="en-US" sz="1800" dirty="0">
                <a:latin typeface="微软雅黑" panose="020B0503020204020204" pitchFamily="34" charset="-122"/>
                <a:ea typeface="宋体" panose="02010600030101010101" pitchFamily="2" charset="-122"/>
              </a:rPr>
              <a:t>位密钥已经足够长了</a:t>
            </a:r>
          </a:p>
        </p:txBody>
      </p:sp>
      <p:pic>
        <p:nvPicPr>
          <p:cNvPr id="68612" name="Picture 4" descr="8-08">
            <a:extLst>
              <a:ext uri="{FF2B5EF4-FFF2-40B4-BE49-F238E27FC236}">
                <a16:creationId xmlns:a16="http://schemas.microsoft.com/office/drawing/2014/main" id="{E88173C6-4042-D14B-B018-2137FB3B0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968" y="1118196"/>
            <a:ext cx="7162173" cy="141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82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C1D8E867-7CF3-2A42-8CB5-4CE2BFBE4BC5}"/>
              </a:ext>
            </a:extLst>
          </p:cNvPr>
          <p:cNvSpPr>
            <a:spLocks noGrp="1" noChangeArrowheads="1"/>
          </p:cNvSpPr>
          <p:nvPr>
            <p:ph type="title"/>
          </p:nvPr>
        </p:nvSpPr>
        <p:spPr/>
        <p:txBody>
          <a:bodyPr/>
          <a:lstStyle/>
          <a:p>
            <a:pPr eaLnBrk="1" hangingPunct="1"/>
            <a:r>
              <a:rPr lang="en-US" altLang="zh-CN" sz="3600" dirty="0">
                <a:ea typeface="宋体" panose="02010600030101010101" pitchFamily="2" charset="-122"/>
              </a:rPr>
              <a:t>DES</a:t>
            </a:r>
            <a:r>
              <a:rPr lang="en-US" altLang="zh-CN" sz="3600" b="1" dirty="0">
                <a:ea typeface="宋体" panose="02010600030101010101" pitchFamily="2" charset="-122"/>
              </a:rPr>
              <a:t> </a:t>
            </a:r>
            <a:r>
              <a:rPr lang="zh-CN" altLang="en-US" sz="3600" dirty="0">
                <a:ea typeface="宋体" panose="02010600030101010101" pitchFamily="2" charset="-122"/>
              </a:rPr>
              <a:t>的保密性</a:t>
            </a:r>
          </a:p>
        </p:txBody>
      </p:sp>
      <p:sp>
        <p:nvSpPr>
          <p:cNvPr id="544771" name="Rectangle 3">
            <a:extLst>
              <a:ext uri="{FF2B5EF4-FFF2-40B4-BE49-F238E27FC236}">
                <a16:creationId xmlns:a16="http://schemas.microsoft.com/office/drawing/2014/main" id="{ED41D2CF-B1A2-B343-A9FF-BB465A81D6F0}"/>
              </a:ext>
            </a:extLst>
          </p:cNvPr>
          <p:cNvSpPr>
            <a:spLocks noGrp="1" noChangeArrowheads="1"/>
          </p:cNvSpPr>
          <p:nvPr>
            <p:ph type="body" idx="1"/>
          </p:nvPr>
        </p:nvSpPr>
        <p:spPr>
          <a:xfrm>
            <a:off x="133564" y="1040130"/>
            <a:ext cx="8804952" cy="3853339"/>
          </a:xfrm>
        </p:spPr>
        <p:txBody>
          <a:bodyPr/>
          <a:lstStyle/>
          <a:p>
            <a:pPr eaLnBrk="1" hangingPunct="1"/>
            <a:r>
              <a:rPr lang="en-US" altLang="zh-CN" dirty="0">
                <a:ea typeface="宋体" panose="02010600030101010101" pitchFamily="2" charset="-122"/>
              </a:rPr>
              <a:t>DES</a:t>
            </a:r>
            <a:r>
              <a:rPr lang="en-US" altLang="zh-CN" b="1" dirty="0">
                <a:ea typeface="宋体" panose="02010600030101010101" pitchFamily="2" charset="-122"/>
              </a:rPr>
              <a:t> </a:t>
            </a:r>
            <a:r>
              <a:rPr lang="zh-CN" altLang="en-US" dirty="0">
                <a:ea typeface="宋体" panose="02010600030101010101" pitchFamily="2" charset="-122"/>
              </a:rPr>
              <a:t>的保密性仅取决于对密钥的保密，而算法是公开的。尽管人们在破译 </a:t>
            </a:r>
            <a:r>
              <a:rPr lang="en-US" altLang="zh-CN" dirty="0">
                <a:ea typeface="宋体" panose="02010600030101010101" pitchFamily="2" charset="-122"/>
              </a:rPr>
              <a:t>DES </a:t>
            </a:r>
            <a:r>
              <a:rPr lang="zh-CN" altLang="en-US" dirty="0">
                <a:ea typeface="宋体" panose="02010600030101010101" pitchFamily="2" charset="-122"/>
              </a:rPr>
              <a:t>方面取得了许多进展，但至今仍未能找到比穷举搜索密钥更有效的方法。</a:t>
            </a:r>
          </a:p>
          <a:p>
            <a:pPr eaLnBrk="1" hangingPunct="1"/>
            <a:r>
              <a:rPr lang="en-US" altLang="zh-CN" dirty="0">
                <a:ea typeface="宋体" panose="02010600030101010101" pitchFamily="2" charset="-122"/>
              </a:rPr>
              <a:t>DES </a:t>
            </a:r>
            <a:r>
              <a:rPr lang="zh-CN" altLang="en-US" dirty="0">
                <a:ea typeface="宋体" panose="02010600030101010101" pitchFamily="2" charset="-122"/>
              </a:rPr>
              <a:t>是世界上第一个公认的实用密码算法标准，它曾对密码学的发展做出了重大贡献。</a:t>
            </a:r>
          </a:p>
          <a:p>
            <a:pPr eaLnBrk="1" hangingPunct="1"/>
            <a:r>
              <a:rPr lang="zh-CN" altLang="en-US" dirty="0">
                <a:ea typeface="宋体" panose="02010600030101010101" pitchFamily="2" charset="-122"/>
              </a:rPr>
              <a:t>目前较为严重的问题是 </a:t>
            </a:r>
            <a:r>
              <a:rPr lang="en-US" altLang="zh-CN" dirty="0">
                <a:ea typeface="宋体" panose="02010600030101010101" pitchFamily="2" charset="-122"/>
              </a:rPr>
              <a:t>DES </a:t>
            </a:r>
            <a:r>
              <a:rPr lang="zh-CN" altLang="en-US" dirty="0">
                <a:ea typeface="宋体" panose="02010600030101010101" pitchFamily="2" charset="-122"/>
              </a:rPr>
              <a:t>的密钥的长度。</a:t>
            </a:r>
          </a:p>
          <a:p>
            <a:pPr eaLnBrk="1" hangingPunct="1"/>
            <a:r>
              <a:rPr lang="zh-CN" altLang="en-US" dirty="0">
                <a:ea typeface="宋体" panose="02010600030101010101" pitchFamily="2" charset="-122"/>
              </a:rPr>
              <a:t>现在已经设计出来搜索 </a:t>
            </a:r>
            <a:r>
              <a:rPr lang="en-US" altLang="zh-CN" dirty="0">
                <a:ea typeface="宋体" panose="02010600030101010101" pitchFamily="2" charset="-122"/>
              </a:rPr>
              <a:t>DES </a:t>
            </a:r>
            <a:r>
              <a:rPr lang="zh-CN" altLang="en-US" dirty="0">
                <a:ea typeface="宋体" panose="02010600030101010101" pitchFamily="2" charset="-122"/>
              </a:rPr>
              <a:t>密钥的专用芯片。</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70659" name="幻灯片编号占位符 1">
            <a:extLst>
              <a:ext uri="{FF2B5EF4-FFF2-40B4-BE49-F238E27FC236}">
                <a16:creationId xmlns:a16="http://schemas.microsoft.com/office/drawing/2014/main" id="{2CA44F3A-5295-D942-9FD2-9A792E94F2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046556-5ADB-114F-85E3-AB952B9E3F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58830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4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4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4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B1DB53CF-3720-684A-9FA1-C620B7E0666E}"/>
              </a:ext>
            </a:extLst>
          </p:cNvPr>
          <p:cNvSpPr>
            <a:spLocks noGrp="1" noChangeArrowheads="1"/>
          </p:cNvSpPr>
          <p:nvPr>
            <p:ph type="title"/>
          </p:nvPr>
        </p:nvSpPr>
        <p:spPr/>
        <p:txBody>
          <a:bodyPr/>
          <a:lstStyle/>
          <a:p>
            <a:pPr eaLnBrk="1" hangingPunct="1"/>
            <a:r>
              <a:rPr lang="en-US" altLang="zh-CN" sz="3600" dirty="0">
                <a:ea typeface="宋体" panose="02010600030101010101" pitchFamily="2" charset="-122"/>
              </a:rPr>
              <a:t>7.2.2  </a:t>
            </a:r>
            <a:r>
              <a:rPr lang="zh-CN" altLang="en-US" sz="3600" dirty="0">
                <a:ea typeface="宋体" panose="02010600030101010101" pitchFamily="2" charset="-122"/>
              </a:rPr>
              <a:t>公钥密码体制</a:t>
            </a:r>
            <a:endParaRPr lang="zh-CN" altLang="en-US" dirty="0">
              <a:latin typeface="Times New Roman" panose="02020603050405020304" pitchFamily="18" charset="0"/>
              <a:ea typeface="宋体" panose="02010600030101010101" pitchFamily="2" charset="-122"/>
            </a:endParaRPr>
          </a:p>
        </p:txBody>
      </p:sp>
      <p:sp>
        <p:nvSpPr>
          <p:cNvPr id="550915" name="Rectangle 3">
            <a:extLst>
              <a:ext uri="{FF2B5EF4-FFF2-40B4-BE49-F238E27FC236}">
                <a16:creationId xmlns:a16="http://schemas.microsoft.com/office/drawing/2014/main" id="{BD76F28A-F043-8D4D-A536-1E0C8C3E8B60}"/>
              </a:ext>
            </a:extLst>
          </p:cNvPr>
          <p:cNvSpPr>
            <a:spLocks noGrp="1" noChangeArrowheads="1"/>
          </p:cNvSpPr>
          <p:nvPr>
            <p:ph type="body" idx="1"/>
          </p:nvPr>
        </p:nvSpPr>
        <p:spPr>
          <a:xfrm>
            <a:off x="133562" y="1072991"/>
            <a:ext cx="8804953" cy="367188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公钥密码体制使用</a:t>
            </a:r>
            <a:r>
              <a:rPr lang="zh-CN" altLang="en-US" dirty="0">
                <a:solidFill>
                  <a:schemeClr val="hlink"/>
                </a:solidFill>
                <a:latin typeface="Times New Roman" panose="02020603050405020304" pitchFamily="18" charset="0"/>
                <a:ea typeface="宋体" panose="02010600030101010101" pitchFamily="2" charset="-122"/>
              </a:rPr>
              <a:t>不同的加密密钥与解密密钥</a:t>
            </a:r>
            <a:r>
              <a:rPr lang="zh-CN" altLang="en-US" dirty="0">
                <a:latin typeface="Times New Roman" panose="02020603050405020304" pitchFamily="18" charset="0"/>
                <a:ea typeface="宋体" panose="02010600030101010101" pitchFamily="2" charset="-122"/>
              </a:rPr>
              <a:t>，是一种“由已知加密密钥推导出解密密钥在计算上是不可行的”密码体制。 </a:t>
            </a:r>
          </a:p>
          <a:p>
            <a:pPr eaLnBrk="1" hangingPunct="1">
              <a:lnSpc>
                <a:spcPct val="90000"/>
              </a:lnSpc>
            </a:pPr>
            <a:r>
              <a:rPr lang="zh-CN" altLang="en-US" dirty="0">
                <a:latin typeface="Times New Roman" panose="02020603050405020304" pitchFamily="18" charset="0"/>
                <a:ea typeface="宋体" panose="02010600030101010101" pitchFamily="2" charset="-122"/>
              </a:rPr>
              <a:t>公钥密码体制的产生主要是因为两个方面的原因，一是由于常规密钥密码体制的密钥分配问题，另一是由于对数字签名的需求。</a:t>
            </a:r>
          </a:p>
          <a:p>
            <a:pPr eaLnBrk="1" hangingPunct="1">
              <a:lnSpc>
                <a:spcPct val="90000"/>
              </a:lnSpc>
            </a:pPr>
            <a:r>
              <a:rPr lang="zh-CN" altLang="en-US" dirty="0">
                <a:latin typeface="Times New Roman" panose="02020603050405020304" pitchFamily="18" charset="0"/>
                <a:ea typeface="宋体" panose="02010600030101010101" pitchFamily="2" charset="-122"/>
              </a:rPr>
              <a:t>现有最著名的公钥密码体制是</a:t>
            </a:r>
            <a:r>
              <a:rPr lang="en-US" altLang="zh-CN" dirty="0">
                <a:latin typeface="Times New Roman" panose="02020603050405020304" pitchFamily="18" charset="0"/>
                <a:ea typeface="宋体" panose="02010600030101010101" pitchFamily="2" charset="-122"/>
              </a:rPr>
              <a:t>RSA </a:t>
            </a:r>
            <a:r>
              <a:rPr lang="zh-CN" altLang="en-US" dirty="0">
                <a:latin typeface="Times New Roman" panose="02020603050405020304" pitchFamily="18" charset="0"/>
                <a:ea typeface="宋体" panose="02010600030101010101" pitchFamily="2" charset="-122"/>
              </a:rPr>
              <a:t>体制，它基于数论中大数分解问题的体制，由美国三位科学家 </a:t>
            </a:r>
            <a:r>
              <a:rPr lang="en-US" altLang="zh-CN" dirty="0" err="1">
                <a:latin typeface="Times New Roman" panose="02020603050405020304" pitchFamily="18" charset="0"/>
                <a:ea typeface="宋体" panose="02010600030101010101" pitchFamily="2" charset="-122"/>
              </a:rPr>
              <a:t>Rivest</a:t>
            </a:r>
            <a:r>
              <a:rPr lang="en-US" altLang="zh-CN" dirty="0">
                <a:latin typeface="Times New Roman" panose="02020603050405020304" pitchFamily="18" charset="0"/>
                <a:ea typeface="宋体" panose="02010600030101010101" pitchFamily="2" charset="-122"/>
              </a:rPr>
              <a:t>, Shamir </a:t>
            </a:r>
            <a:r>
              <a:rPr lang="zh-CN" altLang="en-US" dirty="0">
                <a:latin typeface="Times New Roman" panose="02020603050405020304" pitchFamily="18" charset="0"/>
                <a:ea typeface="宋体" panose="02010600030101010101" pitchFamily="2" charset="-122"/>
              </a:rPr>
              <a:t>和 </a:t>
            </a:r>
            <a:r>
              <a:rPr lang="en-US" altLang="zh-CN" dirty="0" err="1">
                <a:latin typeface="Times New Roman" panose="02020603050405020304" pitchFamily="18" charset="0"/>
                <a:ea typeface="宋体" panose="02010600030101010101" pitchFamily="2" charset="-122"/>
              </a:rPr>
              <a:t>Adleman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于 </a:t>
            </a:r>
            <a:r>
              <a:rPr lang="en-US" altLang="zh-CN" dirty="0">
                <a:latin typeface="Times New Roman" panose="02020603050405020304" pitchFamily="18" charset="0"/>
                <a:ea typeface="宋体" panose="02010600030101010101" pitchFamily="2" charset="-122"/>
              </a:rPr>
              <a:t>1976 </a:t>
            </a:r>
            <a:r>
              <a:rPr lang="zh-CN" altLang="en-US" dirty="0">
                <a:latin typeface="Times New Roman" panose="02020603050405020304" pitchFamily="18" charset="0"/>
                <a:ea typeface="宋体" panose="02010600030101010101" pitchFamily="2" charset="-122"/>
              </a:rPr>
              <a:t>年提出并在 </a:t>
            </a:r>
            <a:r>
              <a:rPr lang="en-US" altLang="zh-CN" dirty="0">
                <a:latin typeface="Times New Roman" panose="02020603050405020304" pitchFamily="18" charset="0"/>
                <a:ea typeface="宋体" panose="02010600030101010101" pitchFamily="2" charset="-122"/>
              </a:rPr>
              <a:t>1978 </a:t>
            </a:r>
            <a:r>
              <a:rPr lang="zh-CN" altLang="en-US" dirty="0">
                <a:latin typeface="Times New Roman" panose="02020603050405020304" pitchFamily="18" charset="0"/>
                <a:ea typeface="宋体" panose="02010600030101010101" pitchFamily="2" charset="-122"/>
              </a:rPr>
              <a:t>年正式发表的。</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p:txBody>
      </p:sp>
      <p:sp>
        <p:nvSpPr>
          <p:cNvPr id="71683" name="幻灯片编号占位符 1">
            <a:extLst>
              <a:ext uri="{FF2B5EF4-FFF2-40B4-BE49-F238E27FC236}">
                <a16:creationId xmlns:a16="http://schemas.microsoft.com/office/drawing/2014/main" id="{868B3344-753C-4146-AB32-94C0AC5CF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895BE3-280A-CD4F-B13D-25EE450F467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48259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09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0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a:extLst>
              <a:ext uri="{FF2B5EF4-FFF2-40B4-BE49-F238E27FC236}">
                <a16:creationId xmlns:a16="http://schemas.microsoft.com/office/drawing/2014/main" id="{855DCB00-2410-E14F-8BE1-B271B39489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60D12A-797D-7246-BC97-70ADA137E60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bg2"/>
              </a:solidFill>
              <a:latin typeface="Tahoma" panose="020B0604030504040204" pitchFamily="34" charset="0"/>
              <a:ea typeface="宋体" panose="02010600030101010101" pitchFamily="2" charset="-122"/>
            </a:endParaRPr>
          </a:p>
        </p:txBody>
      </p:sp>
      <p:sp>
        <p:nvSpPr>
          <p:cNvPr id="72706" name="Rectangle 2">
            <a:extLst>
              <a:ext uri="{FF2B5EF4-FFF2-40B4-BE49-F238E27FC236}">
                <a16:creationId xmlns:a16="http://schemas.microsoft.com/office/drawing/2014/main" id="{72AF2406-6835-7D43-95CB-DD250CF3745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72707" name="Rectangle 3">
            <a:extLst>
              <a:ext uri="{FF2B5EF4-FFF2-40B4-BE49-F238E27FC236}">
                <a16:creationId xmlns:a16="http://schemas.microsoft.com/office/drawing/2014/main" id="{E54EAD9C-007C-FD41-B572-C2628FFC576A}"/>
              </a:ext>
            </a:extLst>
          </p:cNvPr>
          <p:cNvSpPr>
            <a:spLocks noGrp="1" noChangeArrowheads="1"/>
          </p:cNvSpPr>
          <p:nvPr>
            <p:ph type="body" idx="1"/>
          </p:nvPr>
        </p:nvSpPr>
        <p:spPr>
          <a:xfrm>
            <a:off x="133562" y="1033937"/>
            <a:ext cx="8804953" cy="3855244"/>
          </a:xfrm>
        </p:spPr>
        <p:txBody>
          <a:bodyPr/>
          <a:lstStyle/>
          <a:p>
            <a:pPr eaLnBrk="1" hangingPunct="1">
              <a:lnSpc>
                <a:spcPct val="110000"/>
              </a:lnSpc>
            </a:pPr>
            <a:r>
              <a:rPr lang="zh-CN" altLang="en-US" dirty="0">
                <a:ea typeface="宋体" panose="02010600030101010101" pitchFamily="2" charset="-122"/>
                <a:cs typeface="Times New Roman" panose="02020603050405020304" pitchFamily="18" charset="0"/>
              </a:rPr>
              <a:t>在对称密钥系统中，分发密钥往往是最薄弱的环节</a:t>
            </a:r>
          </a:p>
          <a:p>
            <a:pPr eaLnBrk="1" hangingPunct="1">
              <a:lnSpc>
                <a:spcPct val="110000"/>
              </a:lnSpc>
            </a:pPr>
            <a:r>
              <a:rPr lang="en-US" altLang="zh-CN" dirty="0">
                <a:ea typeface="宋体" panose="02010600030101010101" pitchFamily="2" charset="-122"/>
                <a:cs typeface="Times New Roman" panose="02020603050405020304" pitchFamily="18" charset="0"/>
              </a:rPr>
              <a:t>1976</a:t>
            </a:r>
            <a:r>
              <a:rPr lang="zh-CN" altLang="en-US" dirty="0">
                <a:ea typeface="宋体" panose="02010600030101010101" pitchFamily="2" charset="-122"/>
                <a:cs typeface="Times New Roman" panose="02020603050405020304" pitchFamily="18" charset="0"/>
              </a:rPr>
              <a:t>年，</a:t>
            </a:r>
            <a:r>
              <a:rPr lang="en-US" altLang="zh-CN" dirty="0">
                <a:ea typeface="宋体" panose="02010600030101010101" pitchFamily="2" charset="-122"/>
                <a:cs typeface="Times New Roman" panose="02020603050405020304" pitchFamily="18" charset="0"/>
              </a:rPr>
              <a:t>Stanford</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Diffie</a:t>
            </a:r>
            <a:r>
              <a:rPr lang="zh-CN" altLang="en-US" dirty="0">
                <a:ea typeface="宋体" panose="02010600030101010101" pitchFamily="2" charset="-122"/>
                <a:cs typeface="Times New Roman" panose="02020603050405020304" pitchFamily="18" charset="0"/>
              </a:rPr>
              <a:t>和</a:t>
            </a:r>
            <a:r>
              <a:rPr lang="en-US" altLang="zh-CN" dirty="0">
                <a:ea typeface="宋体" panose="02010600030101010101" pitchFamily="2" charset="-122"/>
                <a:cs typeface="Times New Roman" panose="02020603050405020304" pitchFamily="18" charset="0"/>
              </a:rPr>
              <a:t>Hellman</a:t>
            </a:r>
            <a:r>
              <a:rPr lang="zh-CN" altLang="en-US" dirty="0">
                <a:ea typeface="宋体" panose="02010600030101010101" pitchFamily="2" charset="-122"/>
                <a:cs typeface="Times New Roman" panose="02020603050405020304" pitchFamily="18" charset="0"/>
              </a:rPr>
              <a:t>提出了一种全新的密钥系统</a:t>
            </a:r>
          </a:p>
          <a:p>
            <a:pPr lvl="1" eaLnBrk="1" hangingPunct="1">
              <a:lnSpc>
                <a:spcPct val="110000"/>
              </a:lnSpc>
            </a:pPr>
            <a:r>
              <a:rPr lang="zh-CN" altLang="en-US" dirty="0">
                <a:ea typeface="宋体" panose="02010600030101010101" pitchFamily="2" charset="-122"/>
                <a:cs typeface="Times New Roman" panose="02020603050405020304" pitchFamily="18" charset="0"/>
              </a:rPr>
              <a:t>加密密钥和解密密钥不同，从加密密钥不能轻易地推出解密密钥</a:t>
            </a:r>
          </a:p>
          <a:p>
            <a:pPr lvl="1" eaLnBrk="1" hangingPunct="1">
              <a:lnSpc>
                <a:spcPct val="110000"/>
              </a:lnSpc>
            </a:pPr>
            <a:r>
              <a:rPr lang="zh-CN" altLang="en-US" dirty="0">
                <a:ea typeface="宋体" panose="02010600030101010101" pitchFamily="2" charset="-122"/>
                <a:cs typeface="Times New Roman" panose="02020603050405020304" pitchFamily="18" charset="0"/>
              </a:rPr>
              <a:t>加密算法</a:t>
            </a:r>
            <a:r>
              <a:rPr lang="en-US" altLang="zh-CN" dirty="0">
                <a:ea typeface="宋体" panose="02010600030101010101" pitchFamily="2" charset="-122"/>
                <a:cs typeface="Times New Roman" panose="02020603050405020304" pitchFamily="18" charset="0"/>
              </a:rPr>
              <a:t>E</a:t>
            </a:r>
            <a:r>
              <a:rPr lang="zh-CN" altLang="en-US" dirty="0">
                <a:ea typeface="宋体" panose="02010600030101010101" pitchFamily="2" charset="-122"/>
                <a:cs typeface="Times New Roman" panose="02020603050405020304" pitchFamily="18" charset="0"/>
              </a:rPr>
              <a:t>和解密算法</a:t>
            </a:r>
            <a:r>
              <a:rPr lang="en-US" altLang="zh-CN" dirty="0">
                <a:ea typeface="宋体" panose="02010600030101010101" pitchFamily="2" charset="-122"/>
                <a:cs typeface="Times New Roman" panose="02020603050405020304" pitchFamily="18" charset="0"/>
              </a:rPr>
              <a:t>D</a:t>
            </a:r>
            <a:r>
              <a:rPr lang="zh-CN" altLang="en-US" dirty="0">
                <a:ea typeface="宋体" panose="02010600030101010101" pitchFamily="2" charset="-122"/>
                <a:cs typeface="Times New Roman" panose="02020603050405020304" pitchFamily="18" charset="0"/>
              </a:rPr>
              <a:t>必须满足三个要求：</a:t>
            </a:r>
          </a:p>
          <a:p>
            <a:pPr lvl="2" eaLnBrk="1" hangingPunct="1">
              <a:lnSpc>
                <a:spcPct val="110000"/>
              </a:lnSpc>
            </a:pPr>
            <a:r>
              <a:rPr lang="en-US" altLang="zh-CN" dirty="0">
                <a:ea typeface="宋体" panose="02010600030101010101" pitchFamily="2" charset="-122"/>
                <a:cs typeface="Times New Roman" panose="02020603050405020304" pitchFamily="18" charset="0"/>
              </a:rPr>
              <a:t>D(E(P)) = P</a:t>
            </a:r>
          </a:p>
          <a:p>
            <a:pPr lvl="2" eaLnBrk="1" hangingPunct="1">
              <a:lnSpc>
                <a:spcPct val="110000"/>
              </a:lnSpc>
            </a:pPr>
            <a:r>
              <a:rPr lang="zh-CN" altLang="en-US" dirty="0">
                <a:ea typeface="宋体" panose="02010600030101010101" pitchFamily="2" charset="-122"/>
                <a:cs typeface="Times New Roman" panose="02020603050405020304" pitchFamily="18" charset="0"/>
              </a:rPr>
              <a:t>从</a:t>
            </a:r>
            <a:r>
              <a:rPr lang="en-US" altLang="zh-CN" dirty="0">
                <a:ea typeface="宋体" panose="02010600030101010101" pitchFamily="2" charset="-122"/>
                <a:cs typeface="Times New Roman" panose="02020603050405020304" pitchFamily="18" charset="0"/>
              </a:rPr>
              <a:t>E</a:t>
            </a:r>
            <a:r>
              <a:rPr lang="zh-CN" altLang="en-US" dirty="0">
                <a:ea typeface="宋体" panose="02010600030101010101" pitchFamily="2" charset="-122"/>
                <a:cs typeface="Times New Roman" panose="02020603050405020304" pitchFamily="18" charset="0"/>
              </a:rPr>
              <a:t>推出</a:t>
            </a:r>
            <a:r>
              <a:rPr lang="en-US" altLang="zh-CN" dirty="0">
                <a:ea typeface="宋体" panose="02010600030101010101" pitchFamily="2" charset="-122"/>
                <a:cs typeface="Times New Roman" panose="02020603050405020304" pitchFamily="18" charset="0"/>
              </a:rPr>
              <a:t>D</a:t>
            </a:r>
            <a:r>
              <a:rPr lang="zh-CN" altLang="en-US" dirty="0">
                <a:ea typeface="宋体" panose="02010600030101010101" pitchFamily="2" charset="-122"/>
                <a:cs typeface="Times New Roman" panose="02020603050405020304" pitchFamily="18" charset="0"/>
              </a:rPr>
              <a:t>极其困难</a:t>
            </a:r>
          </a:p>
          <a:p>
            <a:pPr lvl="2" eaLnBrk="1" hangingPunct="1">
              <a:lnSpc>
                <a:spcPct val="110000"/>
              </a:lnSpc>
            </a:pPr>
            <a:r>
              <a:rPr lang="zh-CN" altLang="en-US" dirty="0">
                <a:ea typeface="宋体" panose="02010600030101010101" pitchFamily="2" charset="-122"/>
                <a:cs typeface="Times New Roman" panose="02020603050405020304" pitchFamily="18" charset="0"/>
              </a:rPr>
              <a:t>用选择明文攻击不可能破解</a:t>
            </a:r>
            <a:r>
              <a:rPr lang="en-US" altLang="zh-CN" dirty="0">
                <a:ea typeface="宋体" panose="02010600030101010101" pitchFamily="2" charset="-122"/>
                <a:cs typeface="Times New Roman" panose="02020603050405020304" pitchFamily="18" charset="0"/>
              </a:rPr>
              <a:t>E</a:t>
            </a:r>
          </a:p>
          <a:p>
            <a:pPr lvl="1" eaLnBrk="1" hangingPunct="1">
              <a:lnSpc>
                <a:spcPct val="110000"/>
              </a:lnSpc>
            </a:pPr>
            <a:r>
              <a:rPr lang="zh-CN" altLang="en-US" dirty="0">
                <a:ea typeface="宋体" panose="02010600030101010101" pitchFamily="2" charset="-122"/>
                <a:cs typeface="Times New Roman" panose="02020603050405020304" pitchFamily="18" charset="0"/>
              </a:rPr>
              <a:t>具备了上述条件之后，加密密钥和加密算法都可以被公开</a:t>
            </a:r>
          </a:p>
          <a:p>
            <a:pPr eaLnBrk="1" hangingPunct="1">
              <a:lnSpc>
                <a:spcPct val="110000"/>
              </a:lnSpc>
            </a:pPr>
            <a:r>
              <a:rPr lang="zh-CN" altLang="en-US" dirty="0">
                <a:ea typeface="宋体" panose="02010600030101010101" pitchFamily="2" charset="-122"/>
                <a:cs typeface="Times New Roman" panose="02020603050405020304" pitchFamily="18" charset="0"/>
              </a:rPr>
              <a:t>该系统命名为公开密钥密码系统（</a:t>
            </a:r>
            <a:r>
              <a:rPr lang="en-US" altLang="zh-CN" dirty="0">
                <a:ea typeface="宋体" panose="02010600030101010101" pitchFamily="2" charset="-122"/>
                <a:cs typeface="Times New Roman" panose="02020603050405020304" pitchFamily="18" charset="0"/>
              </a:rPr>
              <a:t>public-key cryptography</a:t>
            </a:r>
            <a:r>
              <a:rPr lang="zh-CN" altLang="en-US" dirty="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4146060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a:extLst>
              <a:ext uri="{FF2B5EF4-FFF2-40B4-BE49-F238E27FC236}">
                <a16:creationId xmlns:a16="http://schemas.microsoft.com/office/drawing/2014/main" id="{C2BD800C-961C-D64C-BCE0-9F6BF6CAD1B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044976-A2E8-0145-91BE-C6BA1C98A64D}"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74754" name="Rectangle 2">
            <a:extLst>
              <a:ext uri="{FF2B5EF4-FFF2-40B4-BE49-F238E27FC236}">
                <a16:creationId xmlns:a16="http://schemas.microsoft.com/office/drawing/2014/main" id="{0931A5DB-73C8-3349-83B5-A9E6039A8848}"/>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74755" name="Rectangle 3">
            <a:extLst>
              <a:ext uri="{FF2B5EF4-FFF2-40B4-BE49-F238E27FC236}">
                <a16:creationId xmlns:a16="http://schemas.microsoft.com/office/drawing/2014/main" id="{B2F6ECD5-B387-1C45-BF4B-1A30666B2E0B}"/>
              </a:ext>
            </a:extLst>
          </p:cNvPr>
          <p:cNvSpPr>
            <a:spLocks noGrp="1" noChangeArrowheads="1"/>
          </p:cNvSpPr>
          <p:nvPr>
            <p:ph type="body" idx="1"/>
          </p:nvPr>
        </p:nvSpPr>
        <p:spPr/>
        <p:txBody>
          <a:bodyPr/>
          <a:lstStyle/>
          <a:p>
            <a:pPr eaLnBrk="1" hangingPunct="1"/>
            <a:r>
              <a:rPr lang="zh-CN" altLang="en-US" dirty="0">
                <a:latin typeface="微软雅黑" panose="020B0503020204020204" pitchFamily="34" charset="-122"/>
                <a:ea typeface="宋体" panose="02010600030101010101" pitchFamily="2" charset="-122"/>
              </a:rPr>
              <a:t>若干术语</a:t>
            </a:r>
          </a:p>
          <a:p>
            <a:pPr lvl="1" eaLnBrk="1" hangingPunct="1"/>
            <a:r>
              <a:rPr lang="zh-CN" altLang="en-US" dirty="0">
                <a:latin typeface="微软雅黑" panose="020B0503020204020204" pitchFamily="34" charset="-122"/>
                <a:ea typeface="宋体" panose="02010600030101010101" pitchFamily="2" charset="-122"/>
              </a:rPr>
              <a:t>公开密钥密码系统要求每个用户拥有两个密钥，一个是</a:t>
            </a:r>
            <a:r>
              <a:rPr lang="zh-CN" altLang="en-US" dirty="0">
                <a:solidFill>
                  <a:srgbClr val="6600CC"/>
                </a:solidFill>
                <a:latin typeface="微软雅黑" panose="020B0503020204020204" pitchFamily="34" charset="-122"/>
                <a:ea typeface="宋体" panose="02010600030101010101" pitchFamily="2" charset="-122"/>
              </a:rPr>
              <a:t>公开密钥（公钥）</a:t>
            </a:r>
            <a:r>
              <a:rPr lang="zh-CN" altLang="en-US" dirty="0">
                <a:latin typeface="微软雅黑" panose="020B0503020204020204" pitchFamily="34" charset="-122"/>
                <a:ea typeface="宋体" panose="02010600030101010101" pitchFamily="2" charset="-122"/>
              </a:rPr>
              <a:t>，另一个是</a:t>
            </a:r>
            <a:r>
              <a:rPr lang="zh-CN" altLang="en-US" dirty="0">
                <a:solidFill>
                  <a:srgbClr val="6600CC"/>
                </a:solidFill>
                <a:latin typeface="微软雅黑" panose="020B0503020204020204" pitchFamily="34" charset="-122"/>
                <a:ea typeface="宋体" panose="02010600030101010101" pitchFamily="2" charset="-122"/>
              </a:rPr>
              <a:t>私有密钥（私钥）</a:t>
            </a:r>
          </a:p>
          <a:p>
            <a:pPr lvl="1" eaLnBrk="1" hangingPunct="1"/>
            <a:r>
              <a:rPr lang="zh-CN" altLang="en-US" dirty="0">
                <a:latin typeface="微软雅黑" panose="020B0503020204020204" pitchFamily="34" charset="-122"/>
                <a:ea typeface="宋体" panose="02010600030101010101" pitchFamily="2" charset="-122"/>
              </a:rPr>
              <a:t>其他人给某个用户发送消息的时候，用该用户的</a:t>
            </a:r>
            <a:r>
              <a:rPr lang="zh-CN" altLang="en-US" dirty="0">
                <a:solidFill>
                  <a:srgbClr val="6600CC"/>
                </a:solidFill>
                <a:latin typeface="微软雅黑" panose="020B0503020204020204" pitchFamily="34" charset="-122"/>
                <a:ea typeface="宋体" panose="02010600030101010101" pitchFamily="2" charset="-122"/>
              </a:rPr>
              <a:t>公钥加密</a:t>
            </a:r>
          </a:p>
          <a:p>
            <a:pPr lvl="1" eaLnBrk="1" hangingPunct="1"/>
            <a:r>
              <a:rPr lang="zh-CN" altLang="en-US" dirty="0">
                <a:latin typeface="微软雅黑" panose="020B0503020204020204" pitchFamily="34" charset="-122"/>
                <a:ea typeface="宋体" panose="02010600030101010101" pitchFamily="2" charset="-122"/>
              </a:rPr>
              <a:t>用户解密收到的消息的时候，使用</a:t>
            </a:r>
            <a:r>
              <a:rPr lang="zh-CN" altLang="en-US" dirty="0">
                <a:solidFill>
                  <a:srgbClr val="6600CC"/>
                </a:solidFill>
                <a:latin typeface="微软雅黑" panose="020B0503020204020204" pitchFamily="34" charset="-122"/>
                <a:ea typeface="宋体" panose="02010600030101010101" pitchFamily="2" charset="-122"/>
              </a:rPr>
              <a:t>私钥解密</a:t>
            </a:r>
          </a:p>
        </p:txBody>
      </p:sp>
    </p:spTree>
    <p:extLst>
      <p:ext uri="{BB962C8B-B14F-4D97-AF65-F5344CB8AC3E}">
        <p14:creationId xmlns:p14="http://schemas.microsoft.com/office/powerpoint/2010/main" val="4186972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3">
            <a:extLst>
              <a:ext uri="{FF2B5EF4-FFF2-40B4-BE49-F238E27FC236}">
                <a16:creationId xmlns:a16="http://schemas.microsoft.com/office/drawing/2014/main" id="{5A5C01A4-5F45-3C43-9ECC-D875317AE0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927405-EA85-8F46-A6D4-35E3423A89A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bg2"/>
              </a:solidFill>
              <a:latin typeface="Tahoma" panose="020B0604030504040204" pitchFamily="34" charset="0"/>
              <a:ea typeface="宋体" panose="02010600030101010101" pitchFamily="2" charset="-122"/>
            </a:endParaRPr>
          </a:p>
        </p:txBody>
      </p:sp>
      <p:sp>
        <p:nvSpPr>
          <p:cNvPr id="76802" name="Rectangle 2">
            <a:extLst>
              <a:ext uri="{FF2B5EF4-FFF2-40B4-BE49-F238E27FC236}">
                <a16:creationId xmlns:a16="http://schemas.microsoft.com/office/drawing/2014/main" id="{29BC7CB7-D2F5-4646-B01C-BBDFB79696E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76803" name="Rectangle 3">
            <a:extLst>
              <a:ext uri="{FF2B5EF4-FFF2-40B4-BE49-F238E27FC236}">
                <a16:creationId xmlns:a16="http://schemas.microsoft.com/office/drawing/2014/main" id="{BDAD5604-4766-DE47-BD1B-AF3AFDA77C7E}"/>
              </a:ext>
            </a:extLst>
          </p:cNvPr>
          <p:cNvSpPr>
            <a:spLocks noGrp="1" noChangeArrowheads="1"/>
          </p:cNvSpPr>
          <p:nvPr>
            <p:ph type="body" idx="1"/>
          </p:nvPr>
        </p:nvSpPr>
        <p:spPr>
          <a:xfrm>
            <a:off x="169523" y="1031278"/>
            <a:ext cx="8804953" cy="3708326"/>
          </a:xfrm>
        </p:spPr>
        <p:txBody>
          <a:bodyPr/>
          <a:lstStyle/>
          <a:p>
            <a:pPr eaLnBrk="1" hangingPunct="1">
              <a:spcBef>
                <a:spcPts val="0"/>
              </a:spcBef>
            </a:pPr>
            <a:r>
              <a:rPr lang="en-US" altLang="zh-CN" sz="2000" dirty="0">
                <a:latin typeface="微软雅黑" panose="020B0503020204020204" pitchFamily="34" charset="-122"/>
                <a:ea typeface="宋体" panose="02010600030101010101" pitchFamily="2" charset="-122"/>
              </a:rPr>
              <a:t>RSA</a:t>
            </a:r>
            <a:r>
              <a:rPr lang="zh-CN" altLang="en-US" sz="2000" dirty="0">
                <a:latin typeface="微软雅黑" panose="020B0503020204020204" pitchFamily="34" charset="-122"/>
                <a:ea typeface="宋体" panose="02010600030101010101" pitchFamily="2" charset="-122"/>
              </a:rPr>
              <a:t>算法由</a:t>
            </a:r>
            <a:r>
              <a:rPr lang="en-US" altLang="zh-CN" sz="2000" dirty="0">
                <a:latin typeface="微软雅黑" panose="020B0503020204020204" pitchFamily="34" charset="-122"/>
                <a:ea typeface="宋体" panose="02010600030101010101" pitchFamily="2" charset="-122"/>
              </a:rPr>
              <a:t>MIT</a:t>
            </a:r>
            <a:r>
              <a:rPr lang="zh-CN" altLang="en-US" sz="2000" dirty="0">
                <a:latin typeface="微软雅黑" panose="020B0503020204020204" pitchFamily="34" charset="-122"/>
                <a:ea typeface="宋体" panose="02010600030101010101" pitchFamily="2" charset="-122"/>
              </a:rPr>
              <a:t>的</a:t>
            </a:r>
            <a:r>
              <a:rPr lang="en-US" altLang="zh-CN" sz="2000" dirty="0" err="1">
                <a:latin typeface="微软雅黑" panose="020B0503020204020204" pitchFamily="34" charset="-122"/>
                <a:ea typeface="宋体" panose="02010600030101010101" pitchFamily="2" charset="-122"/>
              </a:rPr>
              <a:t>Rivest</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Shamir</a:t>
            </a:r>
            <a:r>
              <a:rPr lang="zh-CN" altLang="en-US" sz="2000" dirty="0">
                <a:latin typeface="微软雅黑" panose="020B0503020204020204" pitchFamily="34" charset="-122"/>
                <a:ea typeface="宋体" panose="02010600030101010101" pitchFamily="2" charset="-122"/>
              </a:rPr>
              <a:t>、</a:t>
            </a:r>
            <a:r>
              <a:rPr lang="en-US" altLang="zh-CN" sz="2000" dirty="0" err="1">
                <a:latin typeface="微软雅黑" panose="020B0503020204020204" pitchFamily="34" charset="-122"/>
                <a:ea typeface="宋体" panose="02010600030101010101" pitchFamily="2" charset="-122"/>
              </a:rPr>
              <a:t>Adleman</a:t>
            </a:r>
            <a:r>
              <a:rPr lang="zh-CN" altLang="en-US" sz="2000" dirty="0">
                <a:latin typeface="微软雅黑" panose="020B0503020204020204" pitchFamily="34" charset="-122"/>
                <a:ea typeface="宋体" panose="02010600030101010101" pitchFamily="2" charset="-122"/>
              </a:rPr>
              <a:t>提出</a:t>
            </a:r>
          </a:p>
          <a:p>
            <a:pPr eaLnBrk="1" hangingPunct="1">
              <a:spcBef>
                <a:spcPts val="0"/>
              </a:spcBef>
            </a:pPr>
            <a:r>
              <a:rPr lang="zh-CN" altLang="en-US" sz="2000" dirty="0">
                <a:latin typeface="微软雅黑" panose="020B0503020204020204" pitchFamily="34" charset="-122"/>
                <a:ea typeface="宋体" panose="02010600030101010101" pitchFamily="2" charset="-122"/>
              </a:rPr>
              <a:t>预计算</a:t>
            </a:r>
          </a:p>
          <a:p>
            <a:pPr lvl="1" eaLnBrk="1" hangingPunct="1">
              <a:spcBef>
                <a:spcPts val="0"/>
              </a:spcBef>
            </a:pPr>
            <a:r>
              <a:rPr lang="zh-CN" altLang="en-US" sz="1800" dirty="0">
                <a:latin typeface="微软雅黑" panose="020B0503020204020204" pitchFamily="34" charset="-122"/>
                <a:ea typeface="宋体" panose="02010600030101010101" pitchFamily="2" charset="-122"/>
              </a:rPr>
              <a:t>选择两个大的素数</a:t>
            </a:r>
            <a:r>
              <a:rPr lang="en-US" altLang="zh-CN" sz="1800" dirty="0">
                <a:latin typeface="微软雅黑" panose="020B0503020204020204" pitchFamily="34" charset="-122"/>
                <a:ea typeface="宋体" panose="02010600030101010101" pitchFamily="2" charset="-122"/>
              </a:rPr>
              <a:t>p</a:t>
            </a:r>
            <a:r>
              <a:rPr lang="zh-CN" altLang="en-US" sz="1800" dirty="0">
                <a:latin typeface="微软雅黑" panose="020B0503020204020204" pitchFamily="34" charset="-122"/>
                <a:ea typeface="宋体" panose="02010600030101010101" pitchFamily="2" charset="-122"/>
              </a:rPr>
              <a:t>和</a:t>
            </a:r>
            <a:r>
              <a:rPr lang="en-US" altLang="zh-CN" sz="1800" dirty="0">
                <a:latin typeface="微软雅黑" panose="020B0503020204020204" pitchFamily="34" charset="-122"/>
                <a:ea typeface="宋体" panose="02010600030101010101" pitchFamily="2" charset="-122"/>
              </a:rPr>
              <a:t>q</a:t>
            </a:r>
            <a:r>
              <a:rPr lang="zh-CN" altLang="en-US" sz="1800" dirty="0">
                <a:latin typeface="微软雅黑" panose="020B0503020204020204" pitchFamily="34" charset="-122"/>
                <a:ea typeface="宋体" panose="02010600030101010101" pitchFamily="2" charset="-122"/>
              </a:rPr>
              <a:t>（通常</a:t>
            </a:r>
            <a:r>
              <a:rPr lang="en-US" altLang="zh-CN" sz="1800" dirty="0">
                <a:latin typeface="微软雅黑" panose="020B0503020204020204" pitchFamily="34" charset="-122"/>
                <a:ea typeface="宋体" panose="02010600030101010101" pitchFamily="2" charset="-122"/>
              </a:rPr>
              <a:t>1024</a:t>
            </a:r>
            <a:r>
              <a:rPr lang="zh-CN" altLang="en-US" sz="1800" dirty="0">
                <a:latin typeface="微软雅黑" panose="020B0503020204020204" pitchFamily="34" charset="-122"/>
                <a:ea typeface="宋体" panose="02010600030101010101" pitchFamily="2" charset="-122"/>
              </a:rPr>
              <a:t>位）</a:t>
            </a:r>
          </a:p>
          <a:p>
            <a:pPr lvl="1" eaLnBrk="1" hangingPunct="1">
              <a:spcBef>
                <a:spcPts val="0"/>
              </a:spcBef>
            </a:pPr>
            <a:r>
              <a:rPr lang="zh-CN" altLang="en-US" sz="1800" dirty="0">
                <a:latin typeface="微软雅黑" panose="020B0503020204020204" pitchFamily="34" charset="-122"/>
                <a:ea typeface="宋体" panose="02010600030101010101" pitchFamily="2" charset="-122"/>
              </a:rPr>
              <a:t>计算</a:t>
            </a:r>
            <a:r>
              <a:rPr lang="en-US" altLang="zh-CN" sz="1800" dirty="0">
                <a:latin typeface="微软雅黑" panose="020B0503020204020204" pitchFamily="34" charset="-122"/>
                <a:ea typeface="宋体" panose="02010600030101010101" pitchFamily="2" charset="-122"/>
              </a:rPr>
              <a:t>n = p * q</a:t>
            </a:r>
            <a:r>
              <a:rPr lang="zh-CN" altLang="en-US" sz="1800" dirty="0">
                <a:latin typeface="微软雅黑" panose="020B0503020204020204" pitchFamily="34" charset="-122"/>
                <a:ea typeface="宋体" panose="02010600030101010101" pitchFamily="2" charset="-122"/>
              </a:rPr>
              <a:t>和 </a:t>
            </a:r>
            <a:r>
              <a:rPr lang="en-US" altLang="zh-CN" sz="1800" dirty="0">
                <a:latin typeface="微软雅黑" panose="020B0503020204020204" pitchFamily="34" charset="-122"/>
                <a:ea typeface="宋体" panose="02010600030101010101" pitchFamily="2" charset="-122"/>
              </a:rPr>
              <a:t>z = (p - 1)*(q - 1)</a:t>
            </a:r>
          </a:p>
          <a:p>
            <a:pPr lvl="1" eaLnBrk="1" hangingPunct="1">
              <a:spcBef>
                <a:spcPts val="0"/>
              </a:spcBef>
            </a:pPr>
            <a:r>
              <a:rPr lang="zh-CN" altLang="en-US" sz="1800" dirty="0">
                <a:latin typeface="微软雅黑" panose="020B0503020204020204" pitchFamily="34" charset="-122"/>
                <a:ea typeface="宋体" panose="02010600030101010101" pitchFamily="2" charset="-122"/>
              </a:rPr>
              <a:t>选择一个与</a:t>
            </a:r>
            <a:r>
              <a:rPr lang="en-US" altLang="zh-CN" sz="1800" dirty="0">
                <a:latin typeface="微软雅黑" panose="020B0503020204020204" pitchFamily="34" charset="-122"/>
                <a:ea typeface="宋体" panose="02010600030101010101" pitchFamily="2" charset="-122"/>
              </a:rPr>
              <a:t>z</a:t>
            </a:r>
            <a:r>
              <a:rPr lang="zh-CN" altLang="en-US" sz="1800" dirty="0">
                <a:latin typeface="微软雅黑" panose="020B0503020204020204" pitchFamily="34" charset="-122"/>
                <a:ea typeface="宋体" panose="02010600030101010101" pitchFamily="2" charset="-122"/>
              </a:rPr>
              <a:t>互素的数，称为</a:t>
            </a:r>
            <a:r>
              <a:rPr lang="en-US" altLang="zh-CN" sz="1800" dirty="0">
                <a:latin typeface="微软雅黑" panose="020B0503020204020204" pitchFamily="34" charset="-122"/>
                <a:ea typeface="宋体" panose="02010600030101010101" pitchFamily="2" charset="-122"/>
              </a:rPr>
              <a:t>d</a:t>
            </a:r>
          </a:p>
          <a:p>
            <a:pPr lvl="1" eaLnBrk="1" hangingPunct="1">
              <a:spcBef>
                <a:spcPts val="0"/>
              </a:spcBef>
            </a:pPr>
            <a:r>
              <a:rPr lang="zh-CN" altLang="en-US" sz="1800" dirty="0">
                <a:latin typeface="微软雅黑" panose="020B0503020204020204" pitchFamily="34" charset="-122"/>
                <a:ea typeface="宋体" panose="02010600030101010101" pitchFamily="2" charset="-122"/>
              </a:rPr>
              <a:t>找到</a:t>
            </a:r>
            <a:r>
              <a:rPr lang="en-US" altLang="zh-CN" sz="1800" dirty="0">
                <a:latin typeface="微软雅黑" panose="020B0503020204020204" pitchFamily="34" charset="-122"/>
                <a:ea typeface="宋体" panose="02010600030101010101" pitchFamily="2" charset="-122"/>
              </a:rPr>
              <a:t>e</a:t>
            </a:r>
            <a:r>
              <a:rPr lang="zh-CN" altLang="en-US" sz="1800" dirty="0">
                <a:latin typeface="微软雅黑" panose="020B0503020204020204" pitchFamily="34" charset="-122"/>
                <a:ea typeface="宋体" panose="02010600030101010101" pitchFamily="2" charset="-122"/>
              </a:rPr>
              <a:t>，使其满足 </a:t>
            </a:r>
            <a:r>
              <a:rPr lang="en-US" altLang="zh-CN" sz="1800" dirty="0">
                <a:latin typeface="微软雅黑" panose="020B0503020204020204" pitchFamily="34" charset="-122"/>
                <a:ea typeface="宋体" panose="02010600030101010101" pitchFamily="2" charset="-122"/>
              </a:rPr>
              <a:t>e * d = 1 mod z</a:t>
            </a:r>
          </a:p>
          <a:p>
            <a:pPr eaLnBrk="1" hangingPunct="1">
              <a:spcBef>
                <a:spcPts val="0"/>
              </a:spcBef>
            </a:pPr>
            <a:r>
              <a:rPr lang="zh-CN" altLang="en-US" sz="2000" dirty="0">
                <a:latin typeface="微软雅黑" panose="020B0503020204020204" pitchFamily="34" charset="-122"/>
                <a:ea typeface="宋体" panose="02010600030101010101" pitchFamily="2" charset="-122"/>
              </a:rPr>
              <a:t>公钥对是（</a:t>
            </a:r>
            <a:r>
              <a:rPr lang="en-US" altLang="zh-CN" sz="2000" dirty="0">
                <a:latin typeface="微软雅黑" panose="020B0503020204020204" pitchFamily="34" charset="-122"/>
                <a:ea typeface="宋体" panose="02010600030101010101" pitchFamily="2" charset="-122"/>
              </a:rPr>
              <a:t>e</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n</a:t>
            </a:r>
            <a:r>
              <a:rPr lang="zh-CN" altLang="en-US" sz="2000" dirty="0">
                <a:latin typeface="微软雅黑" panose="020B0503020204020204" pitchFamily="34" charset="-122"/>
                <a:ea typeface="宋体" panose="02010600030101010101" pitchFamily="2" charset="-122"/>
              </a:rPr>
              <a:t>），私钥对是（</a:t>
            </a:r>
            <a:r>
              <a:rPr lang="en-US" altLang="zh-CN" sz="2000" dirty="0">
                <a:latin typeface="微软雅黑" panose="020B0503020204020204" pitchFamily="34" charset="-122"/>
                <a:ea typeface="宋体" panose="02010600030101010101" pitchFamily="2" charset="-122"/>
              </a:rPr>
              <a:t>d</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n</a:t>
            </a:r>
            <a:r>
              <a:rPr lang="zh-CN" altLang="en-US" sz="2000" dirty="0">
                <a:latin typeface="微软雅黑" panose="020B0503020204020204" pitchFamily="34" charset="-122"/>
                <a:ea typeface="宋体" panose="02010600030101010101" pitchFamily="2" charset="-122"/>
              </a:rPr>
              <a:t>）</a:t>
            </a:r>
          </a:p>
          <a:p>
            <a:pPr eaLnBrk="1" hangingPunct="1">
              <a:spcBef>
                <a:spcPts val="0"/>
              </a:spcBef>
            </a:pPr>
            <a:r>
              <a:rPr lang="zh-CN" altLang="en-US" sz="2000" dirty="0">
                <a:latin typeface="微软雅黑" panose="020B0503020204020204" pitchFamily="34" charset="-122"/>
                <a:ea typeface="宋体" panose="02010600030101010101" pitchFamily="2" charset="-122"/>
              </a:rPr>
              <a:t>加密</a:t>
            </a:r>
          </a:p>
          <a:p>
            <a:pPr lvl="1" eaLnBrk="1" hangingPunct="1">
              <a:spcBef>
                <a:spcPts val="0"/>
              </a:spcBef>
            </a:pPr>
            <a:r>
              <a:rPr lang="zh-CN" altLang="en-US" sz="1800" dirty="0">
                <a:latin typeface="微软雅黑" panose="020B0503020204020204" pitchFamily="34" charset="-122"/>
                <a:ea typeface="宋体" panose="02010600030101010101" pitchFamily="2" charset="-122"/>
              </a:rPr>
              <a:t>加密消息</a:t>
            </a:r>
            <a:r>
              <a:rPr lang="en-US" altLang="zh-CN" sz="1800" dirty="0">
                <a:latin typeface="微软雅黑" panose="020B0503020204020204" pitchFamily="34" charset="-122"/>
                <a:ea typeface="宋体" panose="02010600030101010101" pitchFamily="2" charset="-122"/>
              </a:rPr>
              <a:t>P</a:t>
            </a:r>
            <a:r>
              <a:rPr lang="zh-CN" altLang="en-US" sz="1800" dirty="0">
                <a:latin typeface="微软雅黑" panose="020B0503020204020204" pitchFamily="34" charset="-122"/>
                <a:ea typeface="宋体" panose="02010600030101010101" pitchFamily="2" charset="-122"/>
              </a:rPr>
              <a:t>，只需要计算</a:t>
            </a:r>
            <a:r>
              <a:rPr lang="en-US" altLang="zh-CN" sz="1800" dirty="0">
                <a:latin typeface="微软雅黑" panose="020B0503020204020204" pitchFamily="34" charset="-122"/>
                <a:ea typeface="宋体" panose="02010600030101010101" pitchFamily="2" charset="-122"/>
              </a:rPr>
              <a:t>C = </a:t>
            </a:r>
            <a:r>
              <a:rPr lang="en-US" altLang="zh-CN" sz="1800" dirty="0" err="1">
                <a:latin typeface="微软雅黑" panose="020B0503020204020204" pitchFamily="34" charset="-122"/>
                <a:ea typeface="宋体" panose="02010600030101010101" pitchFamily="2" charset="-122"/>
              </a:rPr>
              <a:t>P^e</a:t>
            </a:r>
            <a:r>
              <a:rPr lang="en-US" altLang="zh-CN" sz="1800" dirty="0">
                <a:latin typeface="微软雅黑" panose="020B0503020204020204" pitchFamily="34" charset="-122"/>
                <a:ea typeface="宋体" panose="02010600030101010101" pitchFamily="2" charset="-122"/>
              </a:rPr>
              <a:t> (mod n)</a:t>
            </a:r>
            <a:r>
              <a:rPr lang="zh-CN" altLang="en-US" sz="1800" dirty="0">
                <a:latin typeface="微软雅黑" panose="020B0503020204020204" pitchFamily="34" charset="-122"/>
                <a:ea typeface="宋体" panose="02010600030101010101" pitchFamily="2" charset="-122"/>
              </a:rPr>
              <a:t>即可</a:t>
            </a:r>
          </a:p>
          <a:p>
            <a:pPr eaLnBrk="1" hangingPunct="1">
              <a:spcBef>
                <a:spcPts val="0"/>
              </a:spcBef>
            </a:pPr>
            <a:r>
              <a:rPr lang="zh-CN" altLang="en-US" sz="2000" dirty="0">
                <a:latin typeface="微软雅黑" panose="020B0503020204020204" pitchFamily="34" charset="-122"/>
                <a:ea typeface="宋体" panose="02010600030101010101" pitchFamily="2" charset="-122"/>
              </a:rPr>
              <a:t>解密</a:t>
            </a:r>
          </a:p>
          <a:p>
            <a:pPr lvl="1" eaLnBrk="1" hangingPunct="1">
              <a:spcBef>
                <a:spcPts val="0"/>
              </a:spcBef>
            </a:pPr>
            <a:r>
              <a:rPr lang="zh-CN" altLang="en-US" sz="1800" dirty="0">
                <a:latin typeface="微软雅黑" panose="020B0503020204020204" pitchFamily="34" charset="-122"/>
                <a:ea typeface="宋体" panose="02010600030101010101" pitchFamily="2" charset="-122"/>
              </a:rPr>
              <a:t>解密密文</a:t>
            </a:r>
            <a:r>
              <a:rPr lang="en-US" altLang="zh-CN" sz="1800" dirty="0">
                <a:latin typeface="微软雅黑" panose="020B0503020204020204" pitchFamily="34" charset="-122"/>
                <a:ea typeface="宋体" panose="02010600030101010101" pitchFamily="2" charset="-122"/>
              </a:rPr>
              <a:t>C</a:t>
            </a:r>
            <a:r>
              <a:rPr lang="zh-CN" altLang="en-US" sz="1800" dirty="0">
                <a:latin typeface="微软雅黑" panose="020B0503020204020204" pitchFamily="34" charset="-122"/>
                <a:ea typeface="宋体" panose="02010600030101010101" pitchFamily="2" charset="-122"/>
              </a:rPr>
              <a:t>，只需要计算</a:t>
            </a:r>
            <a:r>
              <a:rPr lang="en-US" altLang="zh-CN" sz="1800" dirty="0">
                <a:latin typeface="微软雅黑" panose="020B0503020204020204" pitchFamily="34" charset="-122"/>
                <a:ea typeface="宋体" panose="02010600030101010101" pitchFamily="2" charset="-122"/>
              </a:rPr>
              <a:t>P = </a:t>
            </a:r>
            <a:r>
              <a:rPr lang="en-US" altLang="zh-CN" sz="1800" dirty="0" err="1">
                <a:latin typeface="微软雅黑" panose="020B0503020204020204" pitchFamily="34" charset="-122"/>
                <a:ea typeface="宋体" panose="02010600030101010101" pitchFamily="2" charset="-122"/>
              </a:rPr>
              <a:t>C^d</a:t>
            </a:r>
            <a:r>
              <a:rPr lang="en-US" altLang="zh-CN" sz="1800" dirty="0">
                <a:latin typeface="微软雅黑" panose="020B0503020204020204" pitchFamily="34" charset="-122"/>
                <a:ea typeface="宋体" panose="02010600030101010101" pitchFamily="2" charset="-122"/>
              </a:rPr>
              <a:t> (mod n)</a:t>
            </a:r>
            <a:r>
              <a:rPr lang="zh-CN" altLang="en-US" sz="1800" dirty="0">
                <a:latin typeface="微软雅黑" panose="020B0503020204020204" pitchFamily="34" charset="-122"/>
                <a:ea typeface="宋体" panose="02010600030101010101" pitchFamily="2" charset="-122"/>
              </a:rPr>
              <a:t>即可</a:t>
            </a:r>
          </a:p>
          <a:p>
            <a:pPr eaLnBrk="1" hangingPunct="1">
              <a:spcBef>
                <a:spcPts val="0"/>
              </a:spcBef>
            </a:pPr>
            <a:r>
              <a:rPr lang="zh-CN" altLang="en-US" sz="2000" dirty="0">
                <a:latin typeface="微软雅黑" panose="020B0503020204020204" pitchFamily="34" charset="-122"/>
                <a:ea typeface="宋体" panose="02010600030101010101" pitchFamily="2" charset="-122"/>
              </a:rPr>
              <a:t>明文分块</a:t>
            </a:r>
          </a:p>
          <a:p>
            <a:pPr lvl="1" eaLnBrk="1" hangingPunct="1">
              <a:spcBef>
                <a:spcPts val="0"/>
              </a:spcBef>
            </a:pPr>
            <a:r>
              <a:rPr lang="zh-CN" altLang="en-US" sz="1800" dirty="0">
                <a:latin typeface="微软雅黑" panose="020B0503020204020204" pitchFamily="34" charset="-122"/>
                <a:ea typeface="宋体" panose="02010600030101010101" pitchFamily="2" charset="-122"/>
              </a:rPr>
              <a:t>将明文化分成</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位的块，</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是满足</a:t>
            </a:r>
            <a:r>
              <a:rPr lang="en-US" altLang="zh-CN" sz="1800" dirty="0">
                <a:latin typeface="微软雅黑" panose="020B0503020204020204" pitchFamily="34" charset="-122"/>
                <a:ea typeface="宋体" panose="02010600030101010101" pitchFamily="2" charset="-122"/>
              </a:rPr>
              <a:t>2^k &lt; n</a:t>
            </a:r>
            <a:r>
              <a:rPr lang="zh-CN" altLang="en-US" sz="1800" dirty="0">
                <a:latin typeface="微软雅黑" panose="020B0503020204020204" pitchFamily="34" charset="-122"/>
                <a:ea typeface="宋体" panose="02010600030101010101" pitchFamily="2" charset="-122"/>
              </a:rPr>
              <a:t>的最大整数</a:t>
            </a:r>
          </a:p>
        </p:txBody>
      </p:sp>
    </p:spTree>
    <p:extLst>
      <p:ext uri="{BB962C8B-B14F-4D97-AF65-F5344CB8AC3E}">
        <p14:creationId xmlns:p14="http://schemas.microsoft.com/office/powerpoint/2010/main" val="3355519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a:extLst>
              <a:ext uri="{FF2B5EF4-FFF2-40B4-BE49-F238E27FC236}">
                <a16:creationId xmlns:a16="http://schemas.microsoft.com/office/drawing/2014/main" id="{F8862379-B3AE-8F43-B1D1-8CF5872C222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1B72008-C3AC-7447-9AA8-08B4789F8E44}"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bg2"/>
              </a:solidFill>
              <a:latin typeface="Tahoma" panose="020B0604030504040204" pitchFamily="34" charset="0"/>
              <a:ea typeface="宋体" panose="02010600030101010101" pitchFamily="2" charset="-122"/>
            </a:endParaRPr>
          </a:p>
        </p:txBody>
      </p:sp>
      <p:sp>
        <p:nvSpPr>
          <p:cNvPr id="78850" name="Rectangle 2">
            <a:extLst>
              <a:ext uri="{FF2B5EF4-FFF2-40B4-BE49-F238E27FC236}">
                <a16:creationId xmlns:a16="http://schemas.microsoft.com/office/drawing/2014/main" id="{65526974-7E9B-744C-AFA3-DFF57C4E47CF}"/>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78851" name="Rectangle 3">
            <a:extLst>
              <a:ext uri="{FF2B5EF4-FFF2-40B4-BE49-F238E27FC236}">
                <a16:creationId xmlns:a16="http://schemas.microsoft.com/office/drawing/2014/main" id="{E16763A6-7E90-6B4D-8D51-359CEDAA5BC8}"/>
              </a:ext>
            </a:extLst>
          </p:cNvPr>
          <p:cNvSpPr>
            <a:spLocks noGrp="1" noChangeArrowheads="1"/>
          </p:cNvSpPr>
          <p:nvPr>
            <p:ph type="body" idx="1"/>
          </p:nvPr>
        </p:nvSpPr>
        <p:spPr>
          <a:xfrm>
            <a:off x="169523" y="947022"/>
            <a:ext cx="8804953" cy="3942159"/>
          </a:xfrm>
        </p:spPr>
        <p:txBody>
          <a:bodyPr/>
          <a:lstStyle/>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加密和解密的运算可以对调，即</a:t>
            </a:r>
          </a:p>
          <a:p>
            <a:pPr algn="r" eaLnBrk="1" hangingPunct="1">
              <a:lnSpc>
                <a:spcPct val="110000"/>
              </a:lnSpc>
              <a:spcBef>
                <a:spcPts val="600"/>
              </a:spcBef>
              <a:spcAft>
                <a:spcPts val="0"/>
              </a:spcAft>
              <a:buNone/>
            </a:pPr>
            <a:r>
              <a:rPr lang="zh-CN" altLang="en-US" sz="2000" dirty="0">
                <a:ea typeface="SimSun" panose="02010600030101010101" pitchFamily="2" charset="-122"/>
                <a:cs typeface="Times New Roman" panose="02020603050405020304" pitchFamily="18" charset="0"/>
              </a:rPr>
              <a:t>                    </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在计算机上可容易地产生成对的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和</a:t>
            </a:r>
            <a:r>
              <a:rPr lang="zh-CN" altLang="en-US" sz="2000" i="1" dirty="0">
                <a:ea typeface="SimSun" panose="02010600030101010101" pitchFamily="2" charset="-122"/>
                <a:cs typeface="Times New Roman" panose="02020603050405020304" pitchFamily="18" charset="0"/>
              </a:rPr>
              <a:t> </a:t>
            </a:r>
            <a:r>
              <a:rPr lang="en-US" altLang="zh-CN" sz="2000" i="1" dirty="0">
                <a:ea typeface="SimSun" panose="02010600030101010101" pitchFamily="2" charset="-122"/>
                <a:cs typeface="Times New Roman" panose="02020603050405020304" pitchFamily="18" charset="0"/>
              </a:rPr>
              <a:t>SK</a:t>
            </a:r>
            <a:r>
              <a:rPr lang="zh-CN" altLang="en-US" sz="2000" dirty="0">
                <a:ea typeface="SimSun" panose="02010600030101010101" pitchFamily="2" charset="-122"/>
                <a:cs typeface="Times New Roman" panose="02020603050405020304" pitchFamily="18" charset="0"/>
              </a:rPr>
              <a:t>。</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从已知的</a:t>
            </a:r>
            <a:r>
              <a:rPr lang="zh-CN" altLang="en-US" sz="2000" i="1" dirty="0">
                <a:ea typeface="SimSun" panose="02010600030101010101" pitchFamily="2" charset="-122"/>
                <a:cs typeface="Times New Roman" panose="02020603050405020304" pitchFamily="18" charset="0"/>
              </a:rPr>
              <a:t>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实际上不可能推导出 </a:t>
            </a:r>
            <a:r>
              <a:rPr lang="en-US" altLang="zh-CN" sz="2000" i="1" dirty="0">
                <a:ea typeface="SimSun" panose="02010600030101010101" pitchFamily="2" charset="-122"/>
                <a:cs typeface="Times New Roman" panose="02020603050405020304" pitchFamily="18" charset="0"/>
              </a:rPr>
              <a:t>SK</a:t>
            </a:r>
            <a:r>
              <a:rPr lang="zh-CN" altLang="en-US" sz="2000" dirty="0">
                <a:ea typeface="SimSun" panose="02010600030101010101" pitchFamily="2" charset="-122"/>
                <a:cs typeface="Times New Roman" panose="02020603050405020304" pitchFamily="18" charset="0"/>
              </a:rPr>
              <a:t>，即从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到 </a:t>
            </a:r>
            <a:r>
              <a:rPr lang="en-US" altLang="zh-CN" sz="2000" i="1" dirty="0">
                <a:ea typeface="SimSun" panose="02010600030101010101" pitchFamily="2" charset="-122"/>
                <a:cs typeface="Times New Roman" panose="02020603050405020304" pitchFamily="18" charset="0"/>
              </a:rPr>
              <a:t>SK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是“</a:t>
            </a:r>
            <a:r>
              <a:rPr lang="zh-CN" altLang="en-US" sz="2000" dirty="0">
                <a:solidFill>
                  <a:schemeClr val="hlink"/>
                </a:solidFill>
                <a:ea typeface="SimSun" panose="02010600030101010101" pitchFamily="2" charset="-122"/>
                <a:cs typeface="Times New Roman" panose="02020603050405020304" pitchFamily="18" charset="0"/>
              </a:rPr>
              <a:t>计算上不可能的</a:t>
            </a:r>
            <a:r>
              <a:rPr lang="zh-CN" altLang="en-US" sz="2000" dirty="0">
                <a:ea typeface="SimSun" panose="02010600030101010101" pitchFamily="2" charset="-122"/>
                <a:cs typeface="Times New Roman" panose="02020603050405020304" pitchFamily="18" charset="0"/>
              </a:rPr>
              <a:t>”。</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加密和解密算法都是公开的。</a:t>
            </a:r>
            <a:endParaRPr lang="en-US" altLang="zh-CN" sz="2000" dirty="0">
              <a:ea typeface="SimSun" panose="02010600030101010101" pitchFamily="2" charset="-122"/>
              <a:cs typeface="Times New Roman" panose="02020603050405020304" pitchFamily="18" charset="0"/>
            </a:endParaRPr>
          </a:p>
          <a:p>
            <a:pPr eaLnBrk="1" hangingPunct="1">
              <a:spcBef>
                <a:spcPts val="600"/>
              </a:spcBef>
              <a:spcAft>
                <a:spcPts val="0"/>
              </a:spcAft>
            </a:pPr>
            <a:r>
              <a:rPr lang="en-US" altLang="zh-CN" sz="2000" dirty="0">
                <a:ea typeface="SimSun" panose="02010600030101010101" pitchFamily="2" charset="-122"/>
                <a:cs typeface="Times New Roman" panose="02020603050405020304" pitchFamily="18" charset="0"/>
              </a:rPr>
              <a:t>RSA</a:t>
            </a:r>
            <a:r>
              <a:rPr lang="zh-CN" altLang="en-US" sz="2000" dirty="0">
                <a:ea typeface="SimSun" panose="02010600030101010101" pitchFamily="2" charset="-122"/>
                <a:cs typeface="Times New Roman" panose="02020603050405020304" pitchFamily="18" charset="0"/>
              </a:rPr>
              <a:t>算法的安全性建立在大数分解的难度基础上，如果能够分解大数</a:t>
            </a:r>
            <a:r>
              <a:rPr lang="en-US" altLang="zh-CN" sz="2000" dirty="0">
                <a:ea typeface="SimSun" panose="02010600030101010101" pitchFamily="2" charset="-122"/>
                <a:cs typeface="Times New Roman" panose="02020603050405020304" pitchFamily="18" charset="0"/>
              </a:rPr>
              <a:t>n</a:t>
            </a:r>
            <a:r>
              <a:rPr lang="zh-CN" altLang="en-US" sz="2000" dirty="0">
                <a:ea typeface="SimSun" panose="02010600030101010101" pitchFamily="2" charset="-122"/>
                <a:cs typeface="Times New Roman" panose="02020603050405020304" pitchFamily="18" charset="0"/>
              </a:rPr>
              <a:t>，则算法自动破解。但是数学家探索了大数分解</a:t>
            </a:r>
            <a:r>
              <a:rPr lang="en-US" altLang="zh-CN" sz="2000" dirty="0">
                <a:ea typeface="SimSun" panose="02010600030101010101" pitchFamily="2" charset="-122"/>
                <a:cs typeface="Times New Roman" panose="02020603050405020304" pitchFamily="18" charset="0"/>
              </a:rPr>
              <a:t>300</a:t>
            </a:r>
            <a:r>
              <a:rPr lang="zh-CN" altLang="en-US" sz="2000" dirty="0">
                <a:ea typeface="SimSun" panose="02010600030101010101" pitchFamily="2" charset="-122"/>
                <a:cs typeface="Times New Roman" panose="02020603050405020304" pitchFamily="18" charset="0"/>
              </a:rPr>
              <a:t>年也进展不大</a:t>
            </a:r>
          </a:p>
          <a:p>
            <a:pPr eaLnBrk="1" hangingPunct="1">
              <a:spcBef>
                <a:spcPts val="600"/>
              </a:spcBef>
              <a:spcAft>
                <a:spcPts val="0"/>
              </a:spcAft>
            </a:pPr>
            <a:r>
              <a:rPr lang="zh-CN" altLang="en-US" sz="2000" dirty="0">
                <a:ea typeface="SimSun" panose="02010600030101010101" pitchFamily="2" charset="-122"/>
                <a:cs typeface="Times New Roman" panose="02020603050405020304" pitchFamily="18" charset="0"/>
              </a:rPr>
              <a:t>算法的缺点是速度太慢，一般用来分发密钥，而不直接用来加密数据</a:t>
            </a:r>
          </a:p>
        </p:txBody>
      </p:sp>
      <p:graphicFrame>
        <p:nvGraphicFramePr>
          <p:cNvPr id="5" name="Object 8">
            <a:extLst>
              <a:ext uri="{FF2B5EF4-FFF2-40B4-BE49-F238E27FC236}">
                <a16:creationId xmlns:a16="http://schemas.microsoft.com/office/drawing/2014/main" id="{83BEFB9E-4B81-A444-BE61-E91024ABFFE5}"/>
              </a:ext>
            </a:extLst>
          </p:cNvPr>
          <p:cNvGraphicFramePr>
            <a:graphicFrameLocks noChangeAspect="1"/>
          </p:cNvGraphicFramePr>
          <p:nvPr>
            <p:extLst>
              <p:ext uri="{D42A27DB-BD31-4B8C-83A1-F6EECF244321}">
                <p14:modId xmlns:p14="http://schemas.microsoft.com/office/powerpoint/2010/main" val="3476211839"/>
              </p:ext>
            </p:extLst>
          </p:nvPr>
        </p:nvGraphicFramePr>
        <p:xfrm>
          <a:off x="1922860" y="1324213"/>
          <a:ext cx="4913709" cy="498872"/>
        </p:xfrm>
        <a:graphic>
          <a:graphicData uri="http://schemas.openxmlformats.org/presentationml/2006/ole">
            <mc:AlternateContent xmlns:mc="http://schemas.openxmlformats.org/markup-compatibility/2006">
              <mc:Choice xmlns:v="urn:schemas-microsoft-com:vml" Requires="v">
                <p:oleObj spid="_x0000_s64520" name="公式" r:id="rId4" imgW="54711600" imgH="5562600" progId="Equation.3">
                  <p:embed/>
                </p:oleObj>
              </mc:Choice>
              <mc:Fallback>
                <p:oleObj name="公式" r:id="rId4" imgW="54711600" imgH="5562600" progId="Equation.3">
                  <p:embed/>
                  <p:pic>
                    <p:nvPicPr>
                      <p:cNvPr id="84995" name="Object 8">
                        <a:extLst>
                          <a:ext uri="{FF2B5EF4-FFF2-40B4-BE49-F238E27FC236}">
                            <a16:creationId xmlns:a16="http://schemas.microsoft.com/office/drawing/2014/main" id="{5008560A-1E6B-6A4C-9913-020AACBB46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2860" y="1324213"/>
                        <a:ext cx="4913709" cy="4988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15550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a:extLst>
              <a:ext uri="{FF2B5EF4-FFF2-40B4-BE49-F238E27FC236}">
                <a16:creationId xmlns:a16="http://schemas.microsoft.com/office/drawing/2014/main" id="{75338E8D-AF6F-2744-A917-8767229556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33CF76-503C-9C4A-A914-6645341F5CE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bg2"/>
              </a:solidFill>
              <a:latin typeface="Tahoma" panose="020B0604030504040204" pitchFamily="34" charset="0"/>
              <a:ea typeface="宋体" panose="02010600030101010101" pitchFamily="2" charset="-122"/>
            </a:endParaRPr>
          </a:p>
        </p:txBody>
      </p:sp>
      <p:sp>
        <p:nvSpPr>
          <p:cNvPr id="80898" name="Rectangle 2">
            <a:extLst>
              <a:ext uri="{FF2B5EF4-FFF2-40B4-BE49-F238E27FC236}">
                <a16:creationId xmlns:a16="http://schemas.microsoft.com/office/drawing/2014/main" id="{AFF1428D-23EA-934E-B745-892604507BE8}"/>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RSA</a:t>
            </a:r>
            <a:r>
              <a:rPr lang="zh-CN" altLang="en-US">
                <a:latin typeface="微软雅黑" panose="020B0503020204020204" pitchFamily="34" charset="-122"/>
                <a:ea typeface="宋体" panose="02010600030101010101" pitchFamily="2" charset="-122"/>
              </a:rPr>
              <a:t>例子</a:t>
            </a:r>
          </a:p>
        </p:txBody>
      </p:sp>
      <p:sp>
        <p:nvSpPr>
          <p:cNvPr id="80899" name="Rectangle 3">
            <a:extLst>
              <a:ext uri="{FF2B5EF4-FFF2-40B4-BE49-F238E27FC236}">
                <a16:creationId xmlns:a16="http://schemas.microsoft.com/office/drawing/2014/main" id="{88DECF51-793C-414A-B01F-E99E3A65D121}"/>
              </a:ext>
            </a:extLst>
          </p:cNvPr>
          <p:cNvSpPr>
            <a:spLocks noGrp="1" noChangeArrowheads="1"/>
          </p:cNvSpPr>
          <p:nvPr>
            <p:ph type="body" idx="1"/>
          </p:nvPr>
        </p:nvSpPr>
        <p:spPr>
          <a:xfrm>
            <a:off x="169523" y="1013707"/>
            <a:ext cx="8804953" cy="1558043"/>
          </a:xfrm>
        </p:spPr>
        <p:txBody>
          <a:bodyPr/>
          <a:lstStyle/>
          <a:p>
            <a:pPr eaLnBrk="1" hangingPunct="1"/>
            <a:r>
              <a:rPr lang="zh-CN" altLang="en-US" sz="2000" dirty="0">
                <a:latin typeface="微软雅黑" panose="020B0503020204020204" pitchFamily="34" charset="-122"/>
                <a:ea typeface="宋体" panose="02010600030101010101" pitchFamily="2" charset="-122"/>
              </a:rPr>
              <a:t>取</a:t>
            </a:r>
            <a:r>
              <a:rPr lang="en-US" altLang="zh-CN" sz="2000" dirty="0">
                <a:latin typeface="微软雅黑" panose="020B0503020204020204" pitchFamily="34" charset="-122"/>
                <a:ea typeface="宋体" panose="02010600030101010101" pitchFamily="2" charset="-122"/>
              </a:rPr>
              <a:t>p = 3, q = 11</a:t>
            </a:r>
          </a:p>
          <a:p>
            <a:pPr eaLnBrk="1" hangingPunct="1"/>
            <a:r>
              <a:rPr lang="zh-CN" altLang="en-US" sz="2000" dirty="0">
                <a:latin typeface="微软雅黑" panose="020B0503020204020204" pitchFamily="34" charset="-122"/>
                <a:ea typeface="宋体" panose="02010600030101010101" pitchFamily="2" charset="-122"/>
              </a:rPr>
              <a:t>计算</a:t>
            </a:r>
            <a:r>
              <a:rPr lang="en-US" altLang="zh-CN" sz="2000" dirty="0">
                <a:latin typeface="微软雅黑" panose="020B0503020204020204" pitchFamily="34" charset="-122"/>
                <a:ea typeface="宋体" panose="02010600030101010101" pitchFamily="2" charset="-122"/>
              </a:rPr>
              <a:t>n = 33  z = 20</a:t>
            </a:r>
          </a:p>
          <a:p>
            <a:pPr eaLnBrk="1" hangingPunct="1"/>
            <a:r>
              <a:rPr lang="zh-CN" altLang="en-US" sz="2000" dirty="0">
                <a:latin typeface="微软雅黑" panose="020B0503020204020204" pitchFamily="34" charset="-122"/>
                <a:ea typeface="宋体" panose="02010600030101010101" pitchFamily="2" charset="-122"/>
              </a:rPr>
              <a:t>取</a:t>
            </a:r>
            <a:r>
              <a:rPr lang="en-US" altLang="zh-CN" sz="2000" dirty="0">
                <a:latin typeface="微软雅黑" panose="020B0503020204020204" pitchFamily="34" charset="-122"/>
                <a:ea typeface="宋体" panose="02010600030101010101" pitchFamily="2" charset="-122"/>
              </a:rPr>
              <a:t>d = 7,</a:t>
            </a:r>
            <a:r>
              <a:rPr lang="zh-CN" altLang="en-US" sz="2000" dirty="0">
                <a:latin typeface="微软雅黑" panose="020B0503020204020204" pitchFamily="34" charset="-122"/>
                <a:ea typeface="宋体" panose="02010600030101010101" pitchFamily="2" charset="-122"/>
              </a:rPr>
              <a:t>计算出</a:t>
            </a:r>
            <a:r>
              <a:rPr lang="en-US" altLang="zh-CN" sz="2000" dirty="0">
                <a:latin typeface="微软雅黑" panose="020B0503020204020204" pitchFamily="34" charset="-122"/>
                <a:ea typeface="宋体" panose="02010600030101010101" pitchFamily="2" charset="-122"/>
              </a:rPr>
              <a:t>e = 3</a:t>
            </a:r>
          </a:p>
          <a:p>
            <a:pPr eaLnBrk="1" hangingPunct="1"/>
            <a:r>
              <a:rPr lang="en-US" altLang="zh-CN" sz="2000" dirty="0">
                <a:latin typeface="微软雅黑" panose="020B0503020204020204" pitchFamily="34" charset="-122"/>
                <a:ea typeface="宋体" panose="02010600030101010101" pitchFamily="2" charset="-122"/>
              </a:rPr>
              <a:t>C = P^3 (mod 33)</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P = C^7 (mod 33)</a:t>
            </a:r>
          </a:p>
          <a:p>
            <a:pPr eaLnBrk="1" hangingPunct="1"/>
            <a:endParaRPr lang="zh-CN" altLang="en-US" dirty="0">
              <a:latin typeface="微软雅黑" panose="020B0503020204020204" pitchFamily="34" charset="-122"/>
              <a:ea typeface="宋体" panose="02010600030101010101" pitchFamily="2" charset="-122"/>
            </a:endParaRPr>
          </a:p>
        </p:txBody>
      </p:sp>
      <p:graphicFrame>
        <p:nvGraphicFramePr>
          <p:cNvPr id="80900" name="Object 5">
            <a:extLst>
              <a:ext uri="{FF2B5EF4-FFF2-40B4-BE49-F238E27FC236}">
                <a16:creationId xmlns:a16="http://schemas.microsoft.com/office/drawing/2014/main" id="{A4BF69E1-34E0-704F-BEEE-E71550210CDE}"/>
              </a:ext>
            </a:extLst>
          </p:cNvPr>
          <p:cNvGraphicFramePr>
            <a:graphicFrameLocks noChangeAspect="1"/>
          </p:cNvGraphicFramePr>
          <p:nvPr>
            <p:extLst>
              <p:ext uri="{D42A27DB-BD31-4B8C-83A1-F6EECF244321}">
                <p14:modId xmlns:p14="http://schemas.microsoft.com/office/powerpoint/2010/main" val="1535281116"/>
              </p:ext>
            </p:extLst>
          </p:nvPr>
        </p:nvGraphicFramePr>
        <p:xfrm>
          <a:off x="1363499" y="2607352"/>
          <a:ext cx="6461582" cy="2536147"/>
        </p:xfrm>
        <a:graphic>
          <a:graphicData uri="http://schemas.openxmlformats.org/presentationml/2006/ole">
            <mc:AlternateContent xmlns:mc="http://schemas.openxmlformats.org/markup-compatibility/2006">
              <mc:Choice xmlns:v="urn:schemas-microsoft-com:vml" Requires="v">
                <p:oleObj spid="_x0000_s66569" r:id="rId4" imgW="8826500" imgH="3238500" progId="Paint.Picture">
                  <p:embed/>
                </p:oleObj>
              </mc:Choice>
              <mc:Fallback>
                <p:oleObj r:id="rId4" imgW="8826500" imgH="3238500" progId="Paint.Picture">
                  <p:embed/>
                  <p:pic>
                    <p:nvPicPr>
                      <p:cNvPr id="80900" name="Object 5">
                        <a:extLst>
                          <a:ext uri="{FF2B5EF4-FFF2-40B4-BE49-F238E27FC236}">
                            <a16:creationId xmlns:a16="http://schemas.microsoft.com/office/drawing/2014/main" id="{A4BF69E1-34E0-704F-BEEE-E71550210C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3499" y="2607352"/>
                        <a:ext cx="6461582" cy="25361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37648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3">
            <a:extLst>
              <a:ext uri="{FF2B5EF4-FFF2-40B4-BE49-F238E27FC236}">
                <a16:creationId xmlns:a16="http://schemas.microsoft.com/office/drawing/2014/main" id="{9F7AB535-7E70-EB48-B2FD-4AB29F6ACF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A1C34CB-47A5-8047-B02C-AD8FAE93B155}"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bg2"/>
              </a:solidFill>
              <a:latin typeface="Tahoma" panose="020B0604030504040204" pitchFamily="34" charset="0"/>
              <a:ea typeface="宋体" panose="02010600030101010101" pitchFamily="2" charset="-122"/>
            </a:endParaRPr>
          </a:p>
        </p:txBody>
      </p:sp>
      <p:sp>
        <p:nvSpPr>
          <p:cNvPr id="82946" name="Rectangle 2">
            <a:extLst>
              <a:ext uri="{FF2B5EF4-FFF2-40B4-BE49-F238E27FC236}">
                <a16:creationId xmlns:a16="http://schemas.microsoft.com/office/drawing/2014/main" id="{E4C912CE-7FE3-2743-8E12-C0D82AC7805B}"/>
              </a:ext>
            </a:extLst>
          </p:cNvPr>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宋体" panose="02010600030101010101" pitchFamily="2" charset="-122"/>
              </a:rPr>
              <a:t>其它公开密钥算法</a:t>
            </a:r>
          </a:p>
        </p:txBody>
      </p:sp>
      <p:sp>
        <p:nvSpPr>
          <p:cNvPr id="82947" name="Rectangle 3">
            <a:extLst>
              <a:ext uri="{FF2B5EF4-FFF2-40B4-BE49-F238E27FC236}">
                <a16:creationId xmlns:a16="http://schemas.microsoft.com/office/drawing/2014/main" id="{C0161C81-6BDA-6344-9349-E2DC13E87267}"/>
              </a:ext>
            </a:extLst>
          </p:cNvPr>
          <p:cNvSpPr>
            <a:spLocks noGrp="1" noChangeArrowheads="1"/>
          </p:cNvSpPr>
          <p:nvPr>
            <p:ph type="body" idx="1"/>
          </p:nvPr>
        </p:nvSpPr>
        <p:spPr>
          <a:xfrm>
            <a:off x="133562" y="1097359"/>
            <a:ext cx="8804953" cy="3908822"/>
          </a:xfrm>
        </p:spPr>
        <p:txBody>
          <a:bodyPr/>
          <a:lstStyle/>
          <a:p>
            <a:pPr eaLnBrk="1" hangingPunct="1">
              <a:lnSpc>
                <a:spcPct val="90000"/>
              </a:lnSpc>
            </a:pPr>
            <a:r>
              <a:rPr lang="zh-CN" altLang="en-US" dirty="0">
                <a:latin typeface="微软雅黑" panose="020B0503020204020204" pitchFamily="34" charset="-122"/>
                <a:ea typeface="宋体" panose="02010600030101010101" pitchFamily="2" charset="-122"/>
              </a:rPr>
              <a:t>背包算法（</a:t>
            </a:r>
            <a:r>
              <a:rPr lang="en-US" altLang="zh-CN" dirty="0">
                <a:latin typeface="微软雅黑" panose="020B0503020204020204" pitchFamily="34" charset="-122"/>
                <a:ea typeface="宋体" panose="02010600030101010101" pitchFamily="2" charset="-122"/>
              </a:rPr>
              <a:t>Merkle  and Hellman, 1978</a:t>
            </a:r>
            <a:r>
              <a:rPr lang="zh-CN" altLang="en-US" dirty="0">
                <a:latin typeface="微软雅黑" panose="020B0503020204020204" pitchFamily="34" charset="-122"/>
                <a:ea typeface="宋体" panose="02010600030101010101" pitchFamily="2" charset="-122"/>
              </a:rPr>
              <a:t>）</a:t>
            </a:r>
          </a:p>
          <a:p>
            <a:pPr lvl="1" eaLnBrk="1" hangingPunct="1">
              <a:lnSpc>
                <a:spcPct val="90000"/>
              </a:lnSpc>
            </a:pPr>
            <a:r>
              <a:rPr lang="zh-CN" altLang="en-US" dirty="0">
                <a:latin typeface="微软雅黑" panose="020B0503020204020204" pitchFamily="34" charset="-122"/>
                <a:ea typeface="宋体" panose="02010600030101010101" pitchFamily="2" charset="-122"/>
              </a:rPr>
              <a:t>算法思想是，某人拥有大量的物品，每个物品的重量各不相同。为了编码一个消息，这个人秘密选择一组物品并将物品放在一个背包中。背包中物品的总重量公开，所有可能的物品也被公开列出，但是背包中物品的细则是保密的。</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根据给定的总重量找出可能的物品明细列表</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被认为是一个计算上不可行的问题</a:t>
            </a:r>
          </a:p>
          <a:p>
            <a:pPr eaLnBrk="1" hangingPunct="1">
              <a:lnSpc>
                <a:spcPct val="90000"/>
              </a:lnSpc>
            </a:pPr>
            <a:r>
              <a:rPr lang="en-US" altLang="zh-CN" dirty="0">
                <a:latin typeface="微软雅黑" panose="020B0503020204020204" pitchFamily="34" charset="-122"/>
                <a:ea typeface="宋体" panose="02010600030101010101" pitchFamily="2" charset="-122"/>
              </a:rPr>
              <a:t>El Gamal</a:t>
            </a:r>
            <a:r>
              <a:rPr lang="zh-CN" altLang="en-US" dirty="0">
                <a:latin typeface="微软雅黑" panose="020B0503020204020204" pitchFamily="34" charset="-122"/>
                <a:ea typeface="宋体" panose="02010600030101010101" pitchFamily="2" charset="-122"/>
              </a:rPr>
              <a:t>算法</a:t>
            </a:r>
          </a:p>
          <a:p>
            <a:pPr lvl="1" eaLnBrk="1" hangingPunct="1">
              <a:lnSpc>
                <a:spcPct val="90000"/>
              </a:lnSpc>
            </a:pPr>
            <a:r>
              <a:rPr lang="zh-CN" altLang="en-US" dirty="0">
                <a:latin typeface="微软雅黑" panose="020B0503020204020204" pitchFamily="34" charset="-122"/>
                <a:ea typeface="宋体" panose="02010600030101010101" pitchFamily="2" charset="-122"/>
              </a:rPr>
              <a:t>建立在计算离散对数的困难度基础之上</a:t>
            </a:r>
          </a:p>
          <a:p>
            <a:pPr eaLnBrk="1" hangingPunct="1">
              <a:lnSpc>
                <a:spcPct val="90000"/>
              </a:lnSpc>
            </a:pPr>
            <a:r>
              <a:rPr lang="zh-CN" altLang="en-US" dirty="0">
                <a:latin typeface="微软雅黑" panose="020B0503020204020204" pitchFamily="34" charset="-122"/>
                <a:ea typeface="宋体" panose="02010600030101010101" pitchFamily="2" charset="-122"/>
              </a:rPr>
              <a:t>椭圆曲线算法</a:t>
            </a:r>
          </a:p>
        </p:txBody>
      </p:sp>
    </p:spTree>
    <p:extLst>
      <p:ext uri="{BB962C8B-B14F-4D97-AF65-F5344CB8AC3E}">
        <p14:creationId xmlns:p14="http://schemas.microsoft.com/office/powerpoint/2010/main" val="365593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B343A5E4-AEB3-6843-8197-E72EE5C79D08}"/>
              </a:ext>
            </a:extLst>
          </p:cNvPr>
          <p:cNvSpPr>
            <a:spLocks noGrp="1" noChangeArrowheads="1"/>
          </p:cNvSpPr>
          <p:nvPr>
            <p:ph type="title"/>
          </p:nvPr>
        </p:nvSpPr>
        <p:spPr>
          <a:xfrm>
            <a:off x="160020" y="242889"/>
            <a:ext cx="7096840" cy="637222"/>
          </a:xfrm>
        </p:spPr>
        <p:txBody>
          <a:bodyPr/>
          <a:lstStyle/>
          <a:p>
            <a:pPr eaLnBrk="1" hangingPunct="1"/>
            <a:r>
              <a:rPr lang="en-US" altLang="zh-CN" sz="3600" dirty="0">
                <a:ea typeface="宋体" panose="02010600030101010101" pitchFamily="2" charset="-122"/>
              </a:rPr>
              <a:t>7.3   </a:t>
            </a:r>
            <a:r>
              <a:rPr lang="zh-CN" altLang="en-US" sz="3600" dirty="0">
                <a:ea typeface="宋体" panose="02010600030101010101" pitchFamily="2" charset="-122"/>
              </a:rPr>
              <a:t>数字签名</a:t>
            </a:r>
          </a:p>
        </p:txBody>
      </p:sp>
      <p:sp>
        <p:nvSpPr>
          <p:cNvPr id="86018" name="Rectangle 3">
            <a:extLst>
              <a:ext uri="{FF2B5EF4-FFF2-40B4-BE49-F238E27FC236}">
                <a16:creationId xmlns:a16="http://schemas.microsoft.com/office/drawing/2014/main" id="{F1E65C34-85B5-284D-83ED-0FA35F9DF8B5}"/>
              </a:ext>
            </a:extLst>
          </p:cNvPr>
          <p:cNvSpPr>
            <a:spLocks noGrp="1" noChangeArrowheads="1"/>
          </p:cNvSpPr>
          <p:nvPr>
            <p:ph type="body" idx="1"/>
          </p:nvPr>
        </p:nvSpPr>
        <p:spPr>
          <a:xfrm>
            <a:off x="160020" y="1051480"/>
            <a:ext cx="8721090" cy="3780234"/>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数字签名必须保证以下三点：</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报文鉴别</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接收者能够核实发送者对报文的签名；</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报文的完整性</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发送者事后不能抵赖对报文的签名；</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不可否认</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接收者不能伪造对报文的签名。</a:t>
            </a:r>
          </a:p>
          <a:p>
            <a:pPr eaLnBrk="1" hangingPunct="1">
              <a:lnSpc>
                <a:spcPct val="90000"/>
              </a:lnSpc>
            </a:pPr>
            <a:r>
              <a:rPr lang="zh-CN" altLang="en-US" dirty="0">
                <a:latin typeface="Times New Roman" panose="02020603050405020304" pitchFamily="18" charset="0"/>
                <a:ea typeface="宋体" panose="02010600030101010101" pitchFamily="2" charset="-122"/>
              </a:rPr>
              <a:t>现在已有多种实现各种数字签名的方法。但采用公钥算法更容易实现。  </a:t>
            </a:r>
          </a:p>
        </p:txBody>
      </p:sp>
      <p:sp>
        <p:nvSpPr>
          <p:cNvPr id="86019" name="幻灯片编号占位符 1">
            <a:extLst>
              <a:ext uri="{FF2B5EF4-FFF2-40B4-BE49-F238E27FC236}">
                <a16:creationId xmlns:a16="http://schemas.microsoft.com/office/drawing/2014/main" id="{D7F10F08-D879-5A47-9087-F3482E41CDA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4D74AD-A24E-834B-B60D-E7F8C9708F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79538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113">
            <a:extLst>
              <a:ext uri="{FF2B5EF4-FFF2-40B4-BE49-F238E27FC236}">
                <a16:creationId xmlns:a16="http://schemas.microsoft.com/office/drawing/2014/main" id="{9A7211FF-6DD5-5740-93BC-50DA85789449}"/>
              </a:ext>
            </a:extLst>
          </p:cNvPr>
          <p:cNvSpPr txBox="1">
            <a:spLocks noChangeArrowheads="1"/>
          </p:cNvSpPr>
          <p:nvPr/>
        </p:nvSpPr>
        <p:spPr bwMode="auto">
          <a:xfrm>
            <a:off x="2897982" y="287655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密文 </a:t>
            </a:r>
          </a:p>
        </p:txBody>
      </p:sp>
      <p:graphicFrame>
        <p:nvGraphicFramePr>
          <p:cNvPr id="87042" name="Object 114">
            <a:extLst>
              <a:ext uri="{FF2B5EF4-FFF2-40B4-BE49-F238E27FC236}">
                <a16:creationId xmlns:a16="http://schemas.microsoft.com/office/drawing/2014/main" id="{2AC960EC-615B-4647-8794-77B9D15CE8FE}"/>
              </a:ext>
            </a:extLst>
          </p:cNvPr>
          <p:cNvGraphicFramePr>
            <a:graphicFrameLocks noChangeAspect="1"/>
          </p:cNvGraphicFramePr>
          <p:nvPr/>
        </p:nvGraphicFramePr>
        <p:xfrm>
          <a:off x="2844404" y="3274219"/>
          <a:ext cx="863203" cy="376238"/>
        </p:xfrm>
        <a:graphic>
          <a:graphicData uri="http://schemas.openxmlformats.org/presentationml/2006/ole">
            <mc:AlternateContent xmlns:mc="http://schemas.openxmlformats.org/markup-compatibility/2006">
              <mc:Choice xmlns:v="urn:schemas-microsoft-com:vml" Requires="v">
                <p:oleObj spid="_x0000_s72729" name="公式" r:id="rId3" imgW="13462000" imgH="5562600" progId="Equation.3">
                  <p:embed/>
                </p:oleObj>
              </mc:Choice>
              <mc:Fallback>
                <p:oleObj name="公式" r:id="rId3" imgW="13462000" imgH="5562600" progId="Equation.3">
                  <p:embed/>
                  <p:pic>
                    <p:nvPicPr>
                      <p:cNvPr id="87042" name="Object 114">
                        <a:extLst>
                          <a:ext uri="{FF2B5EF4-FFF2-40B4-BE49-F238E27FC236}">
                            <a16:creationId xmlns:a16="http://schemas.microsoft.com/office/drawing/2014/main" id="{2AC960EC-615B-4647-8794-77B9D15CE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04" y="3274219"/>
                        <a:ext cx="863203"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7043" name="Rectangle 2">
            <a:extLst>
              <a:ext uri="{FF2B5EF4-FFF2-40B4-BE49-F238E27FC236}">
                <a16:creationId xmlns:a16="http://schemas.microsoft.com/office/drawing/2014/main" id="{004AB302-694D-E340-98BD-C5FD7BB3357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数字签名的实现 </a:t>
            </a:r>
          </a:p>
        </p:txBody>
      </p:sp>
      <p:sp>
        <p:nvSpPr>
          <p:cNvPr id="596007" name="Line 39">
            <a:extLst>
              <a:ext uri="{FF2B5EF4-FFF2-40B4-BE49-F238E27FC236}">
                <a16:creationId xmlns:a16="http://schemas.microsoft.com/office/drawing/2014/main" id="{A09C0277-4305-6C4B-B197-F289FF4AB1D9}"/>
              </a:ext>
            </a:extLst>
          </p:cNvPr>
          <p:cNvSpPr>
            <a:spLocks noChangeShapeType="1"/>
          </p:cNvSpPr>
          <p:nvPr/>
        </p:nvSpPr>
        <p:spPr bwMode="auto">
          <a:xfrm>
            <a:off x="2561035" y="3217069"/>
            <a:ext cx="1287065"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596008" name="Rectangle 40">
            <a:extLst>
              <a:ext uri="{FF2B5EF4-FFF2-40B4-BE49-F238E27FC236}">
                <a16:creationId xmlns:a16="http://schemas.microsoft.com/office/drawing/2014/main" id="{8A6BA987-6D0E-394D-8AAC-593CA2F1F263}"/>
              </a:ext>
            </a:extLst>
          </p:cNvPr>
          <p:cNvSpPr>
            <a:spLocks noChangeArrowheads="1"/>
          </p:cNvSpPr>
          <p:nvPr/>
        </p:nvSpPr>
        <p:spPr bwMode="auto">
          <a:xfrm>
            <a:off x="2034778" y="2914651"/>
            <a:ext cx="538163" cy="498872"/>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80000"/>
              </a:lnSpc>
              <a:defRPr/>
            </a:pPr>
            <a:r>
              <a:rPr kumimoji="1" lang="en-US" altLang="zh-CN" sz="1500" i="1">
                <a:solidFill>
                  <a:schemeClr val="tx2"/>
                </a:solidFill>
                <a:latin typeface="Arial" panose="020B0604020202020204" pitchFamily="34" charset="0"/>
              </a:rPr>
              <a:t>D</a:t>
            </a:r>
          </a:p>
          <a:p>
            <a:pPr algn="ctr" eaLnBrk="1" hangingPunct="1">
              <a:lnSpc>
                <a:spcPct val="80000"/>
              </a:lnSpc>
              <a:defRPr/>
            </a:pPr>
            <a:r>
              <a:rPr kumimoji="1" lang="zh-CN" altLang="en-US" sz="1500">
                <a:solidFill>
                  <a:schemeClr val="tx2"/>
                </a:solidFill>
                <a:latin typeface="Arial" panose="020B0604020202020204" pitchFamily="34" charset="0"/>
              </a:rPr>
              <a:t>运算</a:t>
            </a:r>
          </a:p>
        </p:txBody>
      </p:sp>
      <p:sp>
        <p:nvSpPr>
          <p:cNvPr id="87046" name="Text Box 41">
            <a:extLst>
              <a:ext uri="{FF2B5EF4-FFF2-40B4-BE49-F238E27FC236}">
                <a16:creationId xmlns:a16="http://schemas.microsoft.com/office/drawing/2014/main" id="{E06935C0-206D-0A44-8548-C130FCC02E3D}"/>
              </a:ext>
            </a:extLst>
          </p:cNvPr>
          <p:cNvSpPr txBox="1">
            <a:spLocks noChangeArrowheads="1"/>
          </p:cNvSpPr>
          <p:nvPr/>
        </p:nvSpPr>
        <p:spPr bwMode="auto">
          <a:xfrm>
            <a:off x="1169194" y="3200400"/>
            <a:ext cx="8643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明文 </a:t>
            </a:r>
            <a:r>
              <a:rPr kumimoji="1" lang="en-US" altLang="zh-CN" sz="1800" i="1">
                <a:solidFill>
                  <a:schemeClr val="tx2"/>
                </a:solidFill>
                <a:latin typeface="Arial" panose="020B0604020202020204" pitchFamily="34" charset="0"/>
                <a:ea typeface="宋体" panose="02010600030101010101" pitchFamily="2" charset="-122"/>
              </a:rPr>
              <a:t>X</a:t>
            </a:r>
          </a:p>
        </p:txBody>
      </p:sp>
      <p:sp>
        <p:nvSpPr>
          <p:cNvPr id="87047" name="Text Box 42">
            <a:extLst>
              <a:ext uri="{FF2B5EF4-FFF2-40B4-BE49-F238E27FC236}">
                <a16:creationId xmlns:a16="http://schemas.microsoft.com/office/drawing/2014/main" id="{5105BBC0-8FFE-3F45-A10D-FEA0BECDDA7A}"/>
              </a:ext>
            </a:extLst>
          </p:cNvPr>
          <p:cNvSpPr txBox="1">
            <a:spLocks noChangeArrowheads="1"/>
          </p:cNvSpPr>
          <p:nvPr/>
        </p:nvSpPr>
        <p:spPr bwMode="auto">
          <a:xfrm>
            <a:off x="7187804" y="3200400"/>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明文</a:t>
            </a:r>
            <a:r>
              <a:rPr kumimoji="1" lang="zh-CN" altLang="en-US" sz="1800" i="1">
                <a:solidFill>
                  <a:schemeClr val="tx2"/>
                </a:solidFill>
                <a:latin typeface="Arial" panose="020B0604020202020204" pitchFamily="34" charset="0"/>
                <a:ea typeface="宋体" panose="02010600030101010101" pitchFamily="2" charset="-122"/>
              </a:rPr>
              <a:t> </a:t>
            </a:r>
            <a:r>
              <a:rPr kumimoji="1" lang="en-US" altLang="zh-CN" sz="1800" i="1">
                <a:solidFill>
                  <a:schemeClr val="tx2"/>
                </a:solidFill>
                <a:latin typeface="Arial" panose="020B0604020202020204" pitchFamily="34" charset="0"/>
                <a:ea typeface="宋体" panose="02010600030101010101" pitchFamily="2" charset="-122"/>
              </a:rPr>
              <a:t>X</a:t>
            </a:r>
            <a:r>
              <a:rPr kumimoji="1" lang="en-US" altLang="zh-CN" sz="1800">
                <a:solidFill>
                  <a:schemeClr val="tx2"/>
                </a:solidFill>
                <a:latin typeface="Arial" panose="020B0604020202020204" pitchFamily="34" charset="0"/>
                <a:ea typeface="宋体" panose="02010600030101010101" pitchFamily="2" charset="-122"/>
              </a:rPr>
              <a:t> </a:t>
            </a:r>
            <a:endParaRPr kumimoji="1" lang="en-US" altLang="zh-CN" sz="2700">
              <a:solidFill>
                <a:schemeClr val="tx2"/>
              </a:solidFill>
              <a:latin typeface="Arial" panose="020B0604020202020204" pitchFamily="34" charset="0"/>
              <a:ea typeface="宋体" panose="02010600030101010101" pitchFamily="2" charset="-122"/>
            </a:endParaRPr>
          </a:p>
        </p:txBody>
      </p:sp>
      <p:pic>
        <p:nvPicPr>
          <p:cNvPr id="87048" name="Picture 43">
            <a:extLst>
              <a:ext uri="{FF2B5EF4-FFF2-40B4-BE49-F238E27FC236}">
                <a16:creationId xmlns:a16="http://schemas.microsoft.com/office/drawing/2014/main" id="{DBC5705D-114F-1349-AD2A-BA4435A9ACC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747868" y="2094905"/>
            <a:ext cx="352425"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6012" name="Text Box 44">
            <a:extLst>
              <a:ext uri="{FF2B5EF4-FFF2-40B4-BE49-F238E27FC236}">
                <a16:creationId xmlns:a16="http://schemas.microsoft.com/office/drawing/2014/main" id="{317EA3C0-B639-C049-8F70-DA56C5600968}"/>
              </a:ext>
            </a:extLst>
          </p:cNvPr>
          <p:cNvSpPr txBox="1">
            <a:spLocks noChangeArrowheads="1"/>
          </p:cNvSpPr>
          <p:nvPr/>
        </p:nvSpPr>
        <p:spPr bwMode="auto">
          <a:xfrm>
            <a:off x="1193006" y="2457450"/>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A</a:t>
            </a:r>
          </a:p>
        </p:txBody>
      </p:sp>
      <p:sp>
        <p:nvSpPr>
          <p:cNvPr id="596013" name="Text Box 45">
            <a:extLst>
              <a:ext uri="{FF2B5EF4-FFF2-40B4-BE49-F238E27FC236}">
                <a16:creationId xmlns:a16="http://schemas.microsoft.com/office/drawing/2014/main" id="{9881D786-5DE5-3E48-970E-F3253800DC78}"/>
              </a:ext>
            </a:extLst>
          </p:cNvPr>
          <p:cNvSpPr txBox="1">
            <a:spLocks noChangeArrowheads="1"/>
          </p:cNvSpPr>
          <p:nvPr/>
        </p:nvSpPr>
        <p:spPr bwMode="auto">
          <a:xfrm>
            <a:off x="7681912" y="2457450"/>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B</a:t>
            </a:r>
          </a:p>
        </p:txBody>
      </p:sp>
      <p:pic>
        <p:nvPicPr>
          <p:cNvPr id="87051" name="Picture 46">
            <a:extLst>
              <a:ext uri="{FF2B5EF4-FFF2-40B4-BE49-F238E27FC236}">
                <a16:creationId xmlns:a16="http://schemas.microsoft.com/office/drawing/2014/main" id="{B14BAB52-3BB5-C045-8C47-51045AE8F31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2150864" y="2094905"/>
            <a:ext cx="352425" cy="160734"/>
          </a:xfrm>
          <a:prstGeom prst="rect">
            <a:avLst/>
          </a:prstGeom>
          <a:solidFill>
            <a:srgbClr val="FFCCFF"/>
          </a:solidFill>
          <a:ln w="12699">
            <a:solidFill>
              <a:schemeClr val="tx1"/>
            </a:solidFill>
            <a:miter lim="800000"/>
            <a:headEnd/>
            <a:tailEnd/>
          </a:ln>
        </p:spPr>
      </p:pic>
      <p:sp>
        <p:nvSpPr>
          <p:cNvPr id="87052" name="Text Box 47">
            <a:extLst>
              <a:ext uri="{FF2B5EF4-FFF2-40B4-BE49-F238E27FC236}">
                <a16:creationId xmlns:a16="http://schemas.microsoft.com/office/drawing/2014/main" id="{5CB5E67B-7C38-794D-9022-9B2DED92C027}"/>
              </a:ext>
            </a:extLst>
          </p:cNvPr>
          <p:cNvSpPr txBox="1">
            <a:spLocks noChangeArrowheads="1"/>
          </p:cNvSpPr>
          <p:nvPr/>
        </p:nvSpPr>
        <p:spPr bwMode="auto">
          <a:xfrm>
            <a:off x="1709738" y="1553767"/>
            <a:ext cx="1556901" cy="370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800">
                <a:solidFill>
                  <a:schemeClr val="tx2"/>
                </a:solidFill>
                <a:latin typeface="Arial" panose="020B0604020202020204" pitchFamily="34" charset="0"/>
                <a:ea typeface="宋体" panose="02010600030101010101" pitchFamily="2" charset="-122"/>
              </a:rPr>
              <a:t>A </a:t>
            </a:r>
            <a:r>
              <a:rPr kumimoji="1" lang="zh-CN" altLang="en-US" sz="1800">
                <a:solidFill>
                  <a:schemeClr val="tx2"/>
                </a:solidFill>
                <a:latin typeface="Arial" panose="020B0604020202020204" pitchFamily="34" charset="0"/>
                <a:ea typeface="宋体" panose="02010600030101010101" pitchFamily="2" charset="-122"/>
              </a:rPr>
              <a:t>的私钥</a:t>
            </a:r>
            <a:r>
              <a:rPr kumimoji="1" lang="zh-CN" altLang="en-US" sz="1800" i="1">
                <a:solidFill>
                  <a:schemeClr val="tx2"/>
                </a:solidFill>
                <a:latin typeface="Arial" panose="020B0604020202020204" pitchFamily="34" charset="0"/>
                <a:ea typeface="宋体" panose="02010600030101010101" pitchFamily="2" charset="-122"/>
              </a:rPr>
              <a:t> </a:t>
            </a:r>
            <a:r>
              <a:rPr kumimoji="1" lang="en-US" altLang="zh-CN" sz="1800" i="1">
                <a:solidFill>
                  <a:schemeClr val="tx2"/>
                </a:solidFill>
                <a:latin typeface="Arial" panose="020B0604020202020204" pitchFamily="34" charset="0"/>
                <a:ea typeface="宋体" panose="02010600030101010101" pitchFamily="2" charset="-122"/>
              </a:rPr>
              <a:t>SK</a:t>
            </a:r>
            <a:r>
              <a:rPr kumimoji="1" lang="en-US" altLang="zh-CN" sz="1800" baseline="-25000">
                <a:solidFill>
                  <a:schemeClr val="tx2"/>
                </a:solidFill>
                <a:latin typeface="Arial" panose="020B0604020202020204" pitchFamily="34" charset="0"/>
                <a:ea typeface="宋体" panose="02010600030101010101" pitchFamily="2" charset="-122"/>
              </a:rPr>
              <a:t>A</a:t>
            </a:r>
          </a:p>
        </p:txBody>
      </p:sp>
      <p:sp>
        <p:nvSpPr>
          <p:cNvPr id="596016" name="Freeform 48">
            <a:extLst>
              <a:ext uri="{FF2B5EF4-FFF2-40B4-BE49-F238E27FC236}">
                <a16:creationId xmlns:a16="http://schemas.microsoft.com/office/drawing/2014/main" id="{D2CB330C-045F-4644-8F30-2774D47F1211}"/>
              </a:ext>
            </a:extLst>
          </p:cNvPr>
          <p:cNvSpPr>
            <a:spLocks/>
          </p:cNvSpPr>
          <p:nvPr/>
        </p:nvSpPr>
        <p:spPr bwMode="auto">
          <a:xfrm>
            <a:off x="2324101" y="2391966"/>
            <a:ext cx="2381" cy="529828"/>
          </a:xfrm>
          <a:custGeom>
            <a:avLst/>
            <a:gdLst>
              <a:gd name="T0" fmla="*/ 0 w 2"/>
              <a:gd name="T1" fmla="*/ 0 h 389"/>
              <a:gd name="T2" fmla="*/ 3175 w 2"/>
              <a:gd name="T3" fmla="*/ 7064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596017" name="Freeform 49">
            <a:extLst>
              <a:ext uri="{FF2B5EF4-FFF2-40B4-BE49-F238E27FC236}">
                <a16:creationId xmlns:a16="http://schemas.microsoft.com/office/drawing/2014/main" id="{BA7AE0FB-05F8-C14C-9BF5-C3CC4BD9BF0F}"/>
              </a:ext>
            </a:extLst>
          </p:cNvPr>
          <p:cNvSpPr>
            <a:spLocks/>
          </p:cNvSpPr>
          <p:nvPr/>
        </p:nvSpPr>
        <p:spPr bwMode="auto">
          <a:xfrm>
            <a:off x="6908007" y="2381251"/>
            <a:ext cx="2381" cy="526256"/>
          </a:xfrm>
          <a:custGeom>
            <a:avLst/>
            <a:gdLst>
              <a:gd name="T0" fmla="*/ 3175 w 2"/>
              <a:gd name="T1" fmla="*/ 0 h 386"/>
              <a:gd name="T2" fmla="*/ 0 w 2"/>
              <a:gd name="T3" fmla="*/ 701675 h 386"/>
              <a:gd name="T4" fmla="*/ 0 60000 65536"/>
              <a:gd name="T5" fmla="*/ 0 60000 65536"/>
            </a:gdLst>
            <a:ahLst/>
            <a:cxnLst>
              <a:cxn ang="T4">
                <a:pos x="T0" y="T1"/>
              </a:cxn>
              <a:cxn ang="T5">
                <a:pos x="T2" y="T3"/>
              </a:cxn>
            </a:cxnLst>
            <a:rect l="0" t="0" r="r" b="b"/>
            <a:pathLst>
              <a:path w="2" h="386">
                <a:moveTo>
                  <a:pt x="2" y="0"/>
                </a:moveTo>
                <a:lnTo>
                  <a:pt x="0" y="386"/>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graphicFrame>
        <p:nvGraphicFramePr>
          <p:cNvPr id="87055" name="Object 50">
            <a:extLst>
              <a:ext uri="{FF2B5EF4-FFF2-40B4-BE49-F238E27FC236}">
                <a16:creationId xmlns:a16="http://schemas.microsoft.com/office/drawing/2014/main" id="{801B21FF-A486-9A47-A8CE-AAF0ED65B6BB}"/>
              </a:ext>
            </a:extLst>
          </p:cNvPr>
          <p:cNvGraphicFramePr>
            <a:graphicFrameLocks noChangeAspect="1"/>
          </p:cNvGraphicFramePr>
          <p:nvPr/>
        </p:nvGraphicFramePr>
        <p:xfrm>
          <a:off x="3788569" y="2681288"/>
          <a:ext cx="1521619" cy="970360"/>
        </p:xfrm>
        <a:graphic>
          <a:graphicData uri="http://schemas.openxmlformats.org/presentationml/2006/ole">
            <mc:AlternateContent xmlns:mc="http://schemas.openxmlformats.org/markup-compatibility/2006">
              <mc:Choice xmlns:v="urn:schemas-microsoft-com:vml" Requires="v">
                <p:oleObj spid="_x0000_s72730" name="VISIO" r:id="rId6" imgW="3378200" imgH="1930400" progId="Visio.Drawing.6">
                  <p:embed/>
                </p:oleObj>
              </mc:Choice>
              <mc:Fallback>
                <p:oleObj name="VISIO" r:id="rId6" imgW="3378200" imgH="1930400" progId="Visio.Drawing.6">
                  <p:embed/>
                  <p:pic>
                    <p:nvPicPr>
                      <p:cNvPr id="87055" name="Object 50">
                        <a:extLst>
                          <a:ext uri="{FF2B5EF4-FFF2-40B4-BE49-F238E27FC236}">
                            <a16:creationId xmlns:a16="http://schemas.microsoft.com/office/drawing/2014/main" id="{801B21FF-A486-9A47-A8CE-AAF0ED65B6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8569" y="2681288"/>
                        <a:ext cx="1521619" cy="97036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96019" name="Freeform 51">
            <a:extLst>
              <a:ext uri="{FF2B5EF4-FFF2-40B4-BE49-F238E27FC236}">
                <a16:creationId xmlns:a16="http://schemas.microsoft.com/office/drawing/2014/main" id="{B7BDD288-B442-C44C-9EF8-5B8C2FED7111}"/>
              </a:ext>
            </a:extLst>
          </p:cNvPr>
          <p:cNvSpPr>
            <a:spLocks/>
          </p:cNvSpPr>
          <p:nvPr/>
        </p:nvSpPr>
        <p:spPr bwMode="auto">
          <a:xfrm rot="16200000">
            <a:off x="7158634" y="2758083"/>
            <a:ext cx="194072" cy="616744"/>
          </a:xfrm>
          <a:custGeom>
            <a:avLst/>
            <a:gdLst>
              <a:gd name="T0" fmla="*/ 1334 w 194"/>
              <a:gd name="T1" fmla="*/ 0 h 232"/>
              <a:gd name="T2" fmla="*/ 0 w 194"/>
              <a:gd name="T3" fmla="*/ 818780 h 232"/>
              <a:gd name="T4" fmla="*/ 258763 w 194"/>
              <a:gd name="T5" fmla="*/ 82232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28575" cmpd="sng">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sp>
        <p:nvSpPr>
          <p:cNvPr id="596020" name="Freeform 52">
            <a:extLst>
              <a:ext uri="{FF2B5EF4-FFF2-40B4-BE49-F238E27FC236}">
                <a16:creationId xmlns:a16="http://schemas.microsoft.com/office/drawing/2014/main" id="{C7E58FA2-72DC-9841-B77F-504EDDD635C7}"/>
              </a:ext>
            </a:extLst>
          </p:cNvPr>
          <p:cNvSpPr>
            <a:spLocks/>
          </p:cNvSpPr>
          <p:nvPr/>
        </p:nvSpPr>
        <p:spPr bwMode="auto">
          <a:xfrm>
            <a:off x="1684735" y="2849167"/>
            <a:ext cx="352425" cy="315515"/>
          </a:xfrm>
          <a:custGeom>
            <a:avLst/>
            <a:gdLst>
              <a:gd name="T0" fmla="*/ 2422 w 194"/>
              <a:gd name="T1" fmla="*/ 0 h 232"/>
              <a:gd name="T2" fmla="*/ 0 w 194"/>
              <a:gd name="T3" fmla="*/ 418874 h 232"/>
              <a:gd name="T4" fmla="*/ 469900 w 194"/>
              <a:gd name="T5" fmla="*/ 420687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28575" cmpd="sng">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grpSp>
        <p:nvGrpSpPr>
          <p:cNvPr id="87058" name="Group 53">
            <a:extLst>
              <a:ext uri="{FF2B5EF4-FFF2-40B4-BE49-F238E27FC236}">
                <a16:creationId xmlns:a16="http://schemas.microsoft.com/office/drawing/2014/main" id="{DA09F91D-9012-744F-966A-628CB89A744F}"/>
              </a:ext>
            </a:extLst>
          </p:cNvPr>
          <p:cNvGrpSpPr>
            <a:grpSpLocks/>
          </p:cNvGrpSpPr>
          <p:nvPr/>
        </p:nvGrpSpPr>
        <p:grpSpPr bwMode="auto">
          <a:xfrm>
            <a:off x="1373981" y="2538413"/>
            <a:ext cx="409575" cy="431006"/>
            <a:chOff x="921" y="2412"/>
            <a:chExt cx="284" cy="265"/>
          </a:xfrm>
        </p:grpSpPr>
        <p:grpSp>
          <p:nvGrpSpPr>
            <p:cNvPr id="87095" name="Group 54">
              <a:extLst>
                <a:ext uri="{FF2B5EF4-FFF2-40B4-BE49-F238E27FC236}">
                  <a16:creationId xmlns:a16="http://schemas.microsoft.com/office/drawing/2014/main" id="{0C354414-166E-2F47-BBEE-4F9C2CB3F863}"/>
                </a:ext>
              </a:extLst>
            </p:cNvPr>
            <p:cNvGrpSpPr>
              <a:grpSpLocks/>
            </p:cNvGrpSpPr>
            <p:nvPr/>
          </p:nvGrpSpPr>
          <p:grpSpPr bwMode="auto">
            <a:xfrm>
              <a:off x="928" y="2417"/>
              <a:ext cx="277" cy="260"/>
              <a:chOff x="928" y="2417"/>
              <a:chExt cx="277" cy="260"/>
            </a:xfrm>
          </p:grpSpPr>
          <p:sp>
            <p:nvSpPr>
              <p:cNvPr id="87109" name="Freeform 55">
                <a:extLst>
                  <a:ext uri="{FF2B5EF4-FFF2-40B4-BE49-F238E27FC236}">
                    <a16:creationId xmlns:a16="http://schemas.microsoft.com/office/drawing/2014/main" id="{ED465264-E618-BC45-A899-3F574399BEE0}"/>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0" name="Freeform 56">
                <a:extLst>
                  <a:ext uri="{FF2B5EF4-FFF2-40B4-BE49-F238E27FC236}">
                    <a16:creationId xmlns:a16="http://schemas.microsoft.com/office/drawing/2014/main" id="{3DCE9D7F-A4B0-F14B-9A31-65CB116BBA2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1" name="Freeform 57">
                <a:extLst>
                  <a:ext uri="{FF2B5EF4-FFF2-40B4-BE49-F238E27FC236}">
                    <a16:creationId xmlns:a16="http://schemas.microsoft.com/office/drawing/2014/main" id="{340D48B8-46C2-8F4C-9B75-FFFCA43C3AEE}"/>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2" name="Freeform 58">
                <a:extLst>
                  <a:ext uri="{FF2B5EF4-FFF2-40B4-BE49-F238E27FC236}">
                    <a16:creationId xmlns:a16="http://schemas.microsoft.com/office/drawing/2014/main" id="{688D82D6-3895-B349-8E22-4A0F030B781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3" name="Rectangle 59">
                <a:extLst>
                  <a:ext uri="{FF2B5EF4-FFF2-40B4-BE49-F238E27FC236}">
                    <a16:creationId xmlns:a16="http://schemas.microsoft.com/office/drawing/2014/main" id="{40D0E671-A2C8-FA49-8CD6-4A73A144DF71}"/>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4" name="Rectangle 60">
                <a:extLst>
                  <a:ext uri="{FF2B5EF4-FFF2-40B4-BE49-F238E27FC236}">
                    <a16:creationId xmlns:a16="http://schemas.microsoft.com/office/drawing/2014/main" id="{29E8861B-449B-214D-BC05-1275BAB51089}"/>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5" name="Rectangle 61">
                <a:extLst>
                  <a:ext uri="{FF2B5EF4-FFF2-40B4-BE49-F238E27FC236}">
                    <a16:creationId xmlns:a16="http://schemas.microsoft.com/office/drawing/2014/main" id="{8D24B187-8CF0-9F4E-B493-AC4018F89F99}"/>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6" name="Line 62">
                <a:extLst>
                  <a:ext uri="{FF2B5EF4-FFF2-40B4-BE49-F238E27FC236}">
                    <a16:creationId xmlns:a16="http://schemas.microsoft.com/office/drawing/2014/main" id="{D4E52532-181B-D64B-B2D7-5043F0D18E0A}"/>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17" name="Group 63">
                <a:extLst>
                  <a:ext uri="{FF2B5EF4-FFF2-40B4-BE49-F238E27FC236}">
                    <a16:creationId xmlns:a16="http://schemas.microsoft.com/office/drawing/2014/main" id="{CBF5D53F-7ACB-EC4D-9C88-ACCD05632943}"/>
                  </a:ext>
                </a:extLst>
              </p:cNvPr>
              <p:cNvGrpSpPr>
                <a:grpSpLocks/>
              </p:cNvGrpSpPr>
              <p:nvPr/>
            </p:nvGrpSpPr>
            <p:grpSpPr bwMode="auto">
              <a:xfrm>
                <a:off x="928" y="2639"/>
                <a:ext cx="277" cy="38"/>
                <a:chOff x="928" y="2639"/>
                <a:chExt cx="277" cy="38"/>
              </a:xfrm>
            </p:grpSpPr>
            <p:sp>
              <p:nvSpPr>
                <p:cNvPr id="87118" name="Freeform 64">
                  <a:extLst>
                    <a:ext uri="{FF2B5EF4-FFF2-40B4-BE49-F238E27FC236}">
                      <a16:creationId xmlns:a16="http://schemas.microsoft.com/office/drawing/2014/main" id="{84892F1D-B0A5-B045-B665-B231FD269318}"/>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9" name="Freeform 65">
                  <a:extLst>
                    <a:ext uri="{FF2B5EF4-FFF2-40B4-BE49-F238E27FC236}">
                      <a16:creationId xmlns:a16="http://schemas.microsoft.com/office/drawing/2014/main" id="{8BAD2066-C28B-A64B-945D-6C4CAE63D6D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20" name="Rectangle 66">
                  <a:extLst>
                    <a:ext uri="{FF2B5EF4-FFF2-40B4-BE49-F238E27FC236}">
                      <a16:creationId xmlns:a16="http://schemas.microsoft.com/office/drawing/2014/main" id="{7A18B882-78C2-AC43-A9CA-7B612C40B52C}"/>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7096" name="Group 67">
              <a:extLst>
                <a:ext uri="{FF2B5EF4-FFF2-40B4-BE49-F238E27FC236}">
                  <a16:creationId xmlns:a16="http://schemas.microsoft.com/office/drawing/2014/main" id="{806C27D5-7134-864B-9F8E-EF612FD51868}"/>
                </a:ext>
              </a:extLst>
            </p:cNvPr>
            <p:cNvGrpSpPr>
              <a:grpSpLocks/>
            </p:cNvGrpSpPr>
            <p:nvPr/>
          </p:nvGrpSpPr>
          <p:grpSpPr bwMode="auto">
            <a:xfrm>
              <a:off x="921" y="2412"/>
              <a:ext cx="277" cy="261"/>
              <a:chOff x="921" y="2412"/>
              <a:chExt cx="277" cy="261"/>
            </a:xfrm>
          </p:grpSpPr>
          <p:sp>
            <p:nvSpPr>
              <p:cNvPr id="87097" name="Freeform 68">
                <a:extLst>
                  <a:ext uri="{FF2B5EF4-FFF2-40B4-BE49-F238E27FC236}">
                    <a16:creationId xmlns:a16="http://schemas.microsoft.com/office/drawing/2014/main" id="{F00C9CAD-6D62-2747-B879-F827180CB83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8" name="Freeform 69">
                <a:extLst>
                  <a:ext uri="{FF2B5EF4-FFF2-40B4-BE49-F238E27FC236}">
                    <a16:creationId xmlns:a16="http://schemas.microsoft.com/office/drawing/2014/main" id="{3B6F8E73-EB57-3746-A992-4FD5B7EEFF7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9" name="Freeform 70">
                <a:extLst>
                  <a:ext uri="{FF2B5EF4-FFF2-40B4-BE49-F238E27FC236}">
                    <a16:creationId xmlns:a16="http://schemas.microsoft.com/office/drawing/2014/main" id="{A2BD5678-2570-3F4C-8865-A0C50AD1F1F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0" name="Freeform 71">
                <a:extLst>
                  <a:ext uri="{FF2B5EF4-FFF2-40B4-BE49-F238E27FC236}">
                    <a16:creationId xmlns:a16="http://schemas.microsoft.com/office/drawing/2014/main" id="{766ED90E-C3DF-7A48-9841-3F608E5785D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1" name="Rectangle 72">
                <a:extLst>
                  <a:ext uri="{FF2B5EF4-FFF2-40B4-BE49-F238E27FC236}">
                    <a16:creationId xmlns:a16="http://schemas.microsoft.com/office/drawing/2014/main" id="{7C84C341-CAE4-3340-A6E5-D1F33A67F48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2" name="Rectangle 73">
                <a:extLst>
                  <a:ext uri="{FF2B5EF4-FFF2-40B4-BE49-F238E27FC236}">
                    <a16:creationId xmlns:a16="http://schemas.microsoft.com/office/drawing/2014/main" id="{01498D8F-C2C8-AA4C-9713-349BF88CA6C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3" name="Rectangle 74">
                <a:extLst>
                  <a:ext uri="{FF2B5EF4-FFF2-40B4-BE49-F238E27FC236}">
                    <a16:creationId xmlns:a16="http://schemas.microsoft.com/office/drawing/2014/main" id="{003D786B-B312-4148-ACAC-8F7A8D706EF9}"/>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4" name="Line 75">
                <a:extLst>
                  <a:ext uri="{FF2B5EF4-FFF2-40B4-BE49-F238E27FC236}">
                    <a16:creationId xmlns:a16="http://schemas.microsoft.com/office/drawing/2014/main" id="{15BF95C4-9BAC-E245-A0BA-7F19676A0D1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05" name="Group 76">
                <a:extLst>
                  <a:ext uri="{FF2B5EF4-FFF2-40B4-BE49-F238E27FC236}">
                    <a16:creationId xmlns:a16="http://schemas.microsoft.com/office/drawing/2014/main" id="{9A63F12C-4BBE-CB44-90E6-1C7749531314}"/>
                  </a:ext>
                </a:extLst>
              </p:cNvPr>
              <p:cNvGrpSpPr>
                <a:grpSpLocks/>
              </p:cNvGrpSpPr>
              <p:nvPr/>
            </p:nvGrpSpPr>
            <p:grpSpPr bwMode="auto">
              <a:xfrm>
                <a:off x="921" y="2635"/>
                <a:ext cx="277" cy="38"/>
                <a:chOff x="921" y="2635"/>
                <a:chExt cx="277" cy="38"/>
              </a:xfrm>
            </p:grpSpPr>
            <p:sp>
              <p:nvSpPr>
                <p:cNvPr id="87106" name="Freeform 77">
                  <a:extLst>
                    <a:ext uri="{FF2B5EF4-FFF2-40B4-BE49-F238E27FC236}">
                      <a16:creationId xmlns:a16="http://schemas.microsoft.com/office/drawing/2014/main" id="{FFD98DBD-3A1B-F944-A30C-83BCEE26DCC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7" name="Freeform 78">
                  <a:extLst>
                    <a:ext uri="{FF2B5EF4-FFF2-40B4-BE49-F238E27FC236}">
                      <a16:creationId xmlns:a16="http://schemas.microsoft.com/office/drawing/2014/main" id="{E1648B79-CA17-D946-AA67-37ED5FC1CE26}"/>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8" name="Rectangle 79">
                  <a:extLst>
                    <a:ext uri="{FF2B5EF4-FFF2-40B4-BE49-F238E27FC236}">
                      <a16:creationId xmlns:a16="http://schemas.microsoft.com/office/drawing/2014/main" id="{91F026D4-106F-F847-8FB5-E2668EDF6BD0}"/>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87059" name="Group 80">
            <a:extLst>
              <a:ext uri="{FF2B5EF4-FFF2-40B4-BE49-F238E27FC236}">
                <a16:creationId xmlns:a16="http://schemas.microsoft.com/office/drawing/2014/main" id="{3C35688E-D062-B64C-A0AD-DBD859BBC8D1}"/>
              </a:ext>
            </a:extLst>
          </p:cNvPr>
          <p:cNvGrpSpPr>
            <a:grpSpLocks/>
          </p:cNvGrpSpPr>
          <p:nvPr/>
        </p:nvGrpSpPr>
        <p:grpSpPr bwMode="auto">
          <a:xfrm>
            <a:off x="7350919" y="2538413"/>
            <a:ext cx="409575" cy="431006"/>
            <a:chOff x="921" y="2412"/>
            <a:chExt cx="284" cy="265"/>
          </a:xfrm>
        </p:grpSpPr>
        <p:grpSp>
          <p:nvGrpSpPr>
            <p:cNvPr id="87069" name="Group 81">
              <a:extLst>
                <a:ext uri="{FF2B5EF4-FFF2-40B4-BE49-F238E27FC236}">
                  <a16:creationId xmlns:a16="http://schemas.microsoft.com/office/drawing/2014/main" id="{6AE48B83-DF0D-9A4E-AC91-D4E8A63B3F64}"/>
                </a:ext>
              </a:extLst>
            </p:cNvPr>
            <p:cNvGrpSpPr>
              <a:grpSpLocks/>
            </p:cNvGrpSpPr>
            <p:nvPr/>
          </p:nvGrpSpPr>
          <p:grpSpPr bwMode="auto">
            <a:xfrm>
              <a:off x="928" y="2417"/>
              <a:ext cx="277" cy="260"/>
              <a:chOff x="928" y="2417"/>
              <a:chExt cx="277" cy="260"/>
            </a:xfrm>
          </p:grpSpPr>
          <p:sp>
            <p:nvSpPr>
              <p:cNvPr id="87083" name="Freeform 82">
                <a:extLst>
                  <a:ext uri="{FF2B5EF4-FFF2-40B4-BE49-F238E27FC236}">
                    <a16:creationId xmlns:a16="http://schemas.microsoft.com/office/drawing/2014/main" id="{C9955EBA-7A42-2043-9270-ABDE84EC47C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4" name="Freeform 83">
                <a:extLst>
                  <a:ext uri="{FF2B5EF4-FFF2-40B4-BE49-F238E27FC236}">
                    <a16:creationId xmlns:a16="http://schemas.microsoft.com/office/drawing/2014/main" id="{DC2C80DB-15C8-3644-8834-EE1E64A7D3F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5" name="Freeform 84">
                <a:extLst>
                  <a:ext uri="{FF2B5EF4-FFF2-40B4-BE49-F238E27FC236}">
                    <a16:creationId xmlns:a16="http://schemas.microsoft.com/office/drawing/2014/main" id="{6A84C827-4BCB-1948-830F-C9B72F54C32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6" name="Freeform 85">
                <a:extLst>
                  <a:ext uri="{FF2B5EF4-FFF2-40B4-BE49-F238E27FC236}">
                    <a16:creationId xmlns:a16="http://schemas.microsoft.com/office/drawing/2014/main" id="{70C9C206-0927-854B-8B57-D388E3BE531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7" name="Rectangle 86">
                <a:extLst>
                  <a:ext uri="{FF2B5EF4-FFF2-40B4-BE49-F238E27FC236}">
                    <a16:creationId xmlns:a16="http://schemas.microsoft.com/office/drawing/2014/main" id="{0C3C9FB4-DEA4-444B-AD15-B370FCAA61C5}"/>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88" name="Rectangle 87">
                <a:extLst>
                  <a:ext uri="{FF2B5EF4-FFF2-40B4-BE49-F238E27FC236}">
                    <a16:creationId xmlns:a16="http://schemas.microsoft.com/office/drawing/2014/main" id="{FD971E7F-5C96-F748-BA70-6C98571BA472}"/>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89" name="Rectangle 88">
                <a:extLst>
                  <a:ext uri="{FF2B5EF4-FFF2-40B4-BE49-F238E27FC236}">
                    <a16:creationId xmlns:a16="http://schemas.microsoft.com/office/drawing/2014/main" id="{C69D7C47-11FF-3C44-A335-C0BF41555F38}"/>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90" name="Line 89">
                <a:extLst>
                  <a:ext uri="{FF2B5EF4-FFF2-40B4-BE49-F238E27FC236}">
                    <a16:creationId xmlns:a16="http://schemas.microsoft.com/office/drawing/2014/main" id="{21C36613-6F49-2F49-A404-954D294ED449}"/>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091" name="Group 90">
                <a:extLst>
                  <a:ext uri="{FF2B5EF4-FFF2-40B4-BE49-F238E27FC236}">
                    <a16:creationId xmlns:a16="http://schemas.microsoft.com/office/drawing/2014/main" id="{B44C893F-A8A6-9947-A3DF-D6C548C829B1}"/>
                  </a:ext>
                </a:extLst>
              </p:cNvPr>
              <p:cNvGrpSpPr>
                <a:grpSpLocks/>
              </p:cNvGrpSpPr>
              <p:nvPr/>
            </p:nvGrpSpPr>
            <p:grpSpPr bwMode="auto">
              <a:xfrm>
                <a:off x="928" y="2639"/>
                <a:ext cx="277" cy="38"/>
                <a:chOff x="928" y="2639"/>
                <a:chExt cx="277" cy="38"/>
              </a:xfrm>
            </p:grpSpPr>
            <p:sp>
              <p:nvSpPr>
                <p:cNvPr id="87092" name="Freeform 91">
                  <a:extLst>
                    <a:ext uri="{FF2B5EF4-FFF2-40B4-BE49-F238E27FC236}">
                      <a16:creationId xmlns:a16="http://schemas.microsoft.com/office/drawing/2014/main" id="{6DED615E-9850-B44A-8C8E-2DFB026486A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3" name="Freeform 92">
                  <a:extLst>
                    <a:ext uri="{FF2B5EF4-FFF2-40B4-BE49-F238E27FC236}">
                      <a16:creationId xmlns:a16="http://schemas.microsoft.com/office/drawing/2014/main" id="{A6AC643C-5F05-8F4B-AB9B-E0DB79C5EE6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4" name="Rectangle 93">
                  <a:extLst>
                    <a:ext uri="{FF2B5EF4-FFF2-40B4-BE49-F238E27FC236}">
                      <a16:creationId xmlns:a16="http://schemas.microsoft.com/office/drawing/2014/main" id="{1378B7FD-B80E-A34C-93A4-FB902C8D34B3}"/>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7070" name="Group 94">
              <a:extLst>
                <a:ext uri="{FF2B5EF4-FFF2-40B4-BE49-F238E27FC236}">
                  <a16:creationId xmlns:a16="http://schemas.microsoft.com/office/drawing/2014/main" id="{60250651-EA7D-E546-8C81-32A903ECF028}"/>
                </a:ext>
              </a:extLst>
            </p:cNvPr>
            <p:cNvGrpSpPr>
              <a:grpSpLocks/>
            </p:cNvGrpSpPr>
            <p:nvPr/>
          </p:nvGrpSpPr>
          <p:grpSpPr bwMode="auto">
            <a:xfrm>
              <a:off x="921" y="2412"/>
              <a:ext cx="277" cy="261"/>
              <a:chOff x="921" y="2412"/>
              <a:chExt cx="277" cy="261"/>
            </a:xfrm>
          </p:grpSpPr>
          <p:sp>
            <p:nvSpPr>
              <p:cNvPr id="87071" name="Freeform 95">
                <a:extLst>
                  <a:ext uri="{FF2B5EF4-FFF2-40B4-BE49-F238E27FC236}">
                    <a16:creationId xmlns:a16="http://schemas.microsoft.com/office/drawing/2014/main" id="{B8CF2586-93D0-6C4B-B35D-1F1CD844CE0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2" name="Freeform 96">
                <a:extLst>
                  <a:ext uri="{FF2B5EF4-FFF2-40B4-BE49-F238E27FC236}">
                    <a16:creationId xmlns:a16="http://schemas.microsoft.com/office/drawing/2014/main" id="{32937EBE-FD80-0142-9FB1-AF13B4C0D71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3" name="Freeform 97">
                <a:extLst>
                  <a:ext uri="{FF2B5EF4-FFF2-40B4-BE49-F238E27FC236}">
                    <a16:creationId xmlns:a16="http://schemas.microsoft.com/office/drawing/2014/main" id="{63DF2396-187F-514B-B379-38D3B9CB600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4" name="Freeform 98">
                <a:extLst>
                  <a:ext uri="{FF2B5EF4-FFF2-40B4-BE49-F238E27FC236}">
                    <a16:creationId xmlns:a16="http://schemas.microsoft.com/office/drawing/2014/main" id="{2613CA6A-B58A-894F-9BCF-C3EB7CB877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5" name="Rectangle 99">
                <a:extLst>
                  <a:ext uri="{FF2B5EF4-FFF2-40B4-BE49-F238E27FC236}">
                    <a16:creationId xmlns:a16="http://schemas.microsoft.com/office/drawing/2014/main" id="{52FA7B3B-F1A1-6A4A-9CE3-D4A3F8ECF232}"/>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6" name="Rectangle 100">
                <a:extLst>
                  <a:ext uri="{FF2B5EF4-FFF2-40B4-BE49-F238E27FC236}">
                    <a16:creationId xmlns:a16="http://schemas.microsoft.com/office/drawing/2014/main" id="{597CBB96-3C4E-1049-97B1-B2291F104758}"/>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7" name="Rectangle 101">
                <a:extLst>
                  <a:ext uri="{FF2B5EF4-FFF2-40B4-BE49-F238E27FC236}">
                    <a16:creationId xmlns:a16="http://schemas.microsoft.com/office/drawing/2014/main" id="{C952899C-4A64-2B46-911D-7CB3B058D1C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8" name="Line 102">
                <a:extLst>
                  <a:ext uri="{FF2B5EF4-FFF2-40B4-BE49-F238E27FC236}">
                    <a16:creationId xmlns:a16="http://schemas.microsoft.com/office/drawing/2014/main" id="{55FB4D1D-B99C-8648-95D4-0373D8860AF2}"/>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079" name="Group 103">
                <a:extLst>
                  <a:ext uri="{FF2B5EF4-FFF2-40B4-BE49-F238E27FC236}">
                    <a16:creationId xmlns:a16="http://schemas.microsoft.com/office/drawing/2014/main" id="{C69AC294-0DAF-AC4A-B841-525678D5E937}"/>
                  </a:ext>
                </a:extLst>
              </p:cNvPr>
              <p:cNvGrpSpPr>
                <a:grpSpLocks/>
              </p:cNvGrpSpPr>
              <p:nvPr/>
            </p:nvGrpSpPr>
            <p:grpSpPr bwMode="auto">
              <a:xfrm>
                <a:off x="921" y="2635"/>
                <a:ext cx="277" cy="38"/>
                <a:chOff x="921" y="2635"/>
                <a:chExt cx="277" cy="38"/>
              </a:xfrm>
            </p:grpSpPr>
            <p:sp>
              <p:nvSpPr>
                <p:cNvPr id="87080" name="Freeform 104">
                  <a:extLst>
                    <a:ext uri="{FF2B5EF4-FFF2-40B4-BE49-F238E27FC236}">
                      <a16:creationId xmlns:a16="http://schemas.microsoft.com/office/drawing/2014/main" id="{68ECBE5E-ECBC-4B48-B06C-7AF74E94CF77}"/>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1" name="Freeform 105">
                  <a:extLst>
                    <a:ext uri="{FF2B5EF4-FFF2-40B4-BE49-F238E27FC236}">
                      <a16:creationId xmlns:a16="http://schemas.microsoft.com/office/drawing/2014/main" id="{C6AC5B38-0CB1-7C45-A146-6B9DAEC64F5B}"/>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2" name="Rectangle 106">
                  <a:extLst>
                    <a:ext uri="{FF2B5EF4-FFF2-40B4-BE49-F238E27FC236}">
                      <a16:creationId xmlns:a16="http://schemas.microsoft.com/office/drawing/2014/main" id="{7000D76E-9C11-544E-871F-44846F3E966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87060" name="Text Box 107">
            <a:extLst>
              <a:ext uri="{FF2B5EF4-FFF2-40B4-BE49-F238E27FC236}">
                <a16:creationId xmlns:a16="http://schemas.microsoft.com/office/drawing/2014/main" id="{9E25612B-B733-5B4D-9056-17EAAF7DA015}"/>
              </a:ext>
            </a:extLst>
          </p:cNvPr>
          <p:cNvSpPr txBox="1">
            <a:spLocks noChangeArrowheads="1"/>
          </p:cNvSpPr>
          <p:nvPr/>
        </p:nvSpPr>
        <p:spPr bwMode="auto">
          <a:xfrm>
            <a:off x="4139804" y="2984897"/>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因特网</a:t>
            </a:r>
          </a:p>
        </p:txBody>
      </p:sp>
      <p:sp>
        <p:nvSpPr>
          <p:cNvPr id="87061" name="Text Box 108">
            <a:extLst>
              <a:ext uri="{FF2B5EF4-FFF2-40B4-BE49-F238E27FC236}">
                <a16:creationId xmlns:a16="http://schemas.microsoft.com/office/drawing/2014/main" id="{E718C35C-2391-C845-8244-B6494A53DBF7}"/>
              </a:ext>
            </a:extLst>
          </p:cNvPr>
          <p:cNvSpPr txBox="1">
            <a:spLocks noChangeArrowheads="1"/>
          </p:cNvSpPr>
          <p:nvPr/>
        </p:nvSpPr>
        <p:spPr bwMode="auto">
          <a:xfrm>
            <a:off x="2332435" y="2384822"/>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签名 </a:t>
            </a:r>
          </a:p>
        </p:txBody>
      </p:sp>
      <p:sp>
        <p:nvSpPr>
          <p:cNvPr id="87062" name="Text Box 109">
            <a:extLst>
              <a:ext uri="{FF2B5EF4-FFF2-40B4-BE49-F238E27FC236}">
                <a16:creationId xmlns:a16="http://schemas.microsoft.com/office/drawing/2014/main" id="{2C5FD38B-3DCF-624F-BCD9-4C0C56988992}"/>
              </a:ext>
            </a:extLst>
          </p:cNvPr>
          <p:cNvSpPr txBox="1">
            <a:spLocks noChangeArrowheads="1"/>
          </p:cNvSpPr>
          <p:nvPr/>
        </p:nvSpPr>
        <p:spPr bwMode="auto">
          <a:xfrm>
            <a:off x="5868591" y="238006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核实签名</a:t>
            </a:r>
          </a:p>
        </p:txBody>
      </p:sp>
      <p:sp>
        <p:nvSpPr>
          <p:cNvPr id="596078" name="Rectangle 110">
            <a:extLst>
              <a:ext uri="{FF2B5EF4-FFF2-40B4-BE49-F238E27FC236}">
                <a16:creationId xmlns:a16="http://schemas.microsoft.com/office/drawing/2014/main" id="{BA1D6F78-F132-A348-9BD8-C5972972A34C}"/>
              </a:ext>
            </a:extLst>
          </p:cNvPr>
          <p:cNvSpPr>
            <a:spLocks noChangeArrowheads="1"/>
          </p:cNvSpPr>
          <p:nvPr/>
        </p:nvSpPr>
        <p:spPr bwMode="auto">
          <a:xfrm>
            <a:off x="6642497" y="2907507"/>
            <a:ext cx="538163" cy="498872"/>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80000"/>
              </a:lnSpc>
              <a:defRPr/>
            </a:pPr>
            <a:r>
              <a:rPr kumimoji="1" lang="en-US" altLang="zh-CN" sz="1500">
                <a:solidFill>
                  <a:schemeClr val="tx2"/>
                </a:solidFill>
                <a:latin typeface="Arial" panose="020B0604020202020204" pitchFamily="34" charset="0"/>
              </a:rPr>
              <a:t>E</a:t>
            </a:r>
          </a:p>
          <a:p>
            <a:pPr algn="ctr" eaLnBrk="1" hangingPunct="1">
              <a:lnSpc>
                <a:spcPct val="80000"/>
              </a:lnSpc>
              <a:defRPr/>
            </a:pPr>
            <a:r>
              <a:rPr kumimoji="1" lang="zh-CN" altLang="en-US" sz="1500">
                <a:solidFill>
                  <a:schemeClr val="tx2"/>
                </a:solidFill>
                <a:latin typeface="Arial" panose="020B0604020202020204" pitchFamily="34" charset="0"/>
              </a:rPr>
              <a:t>运算</a:t>
            </a:r>
          </a:p>
        </p:txBody>
      </p:sp>
      <p:sp>
        <p:nvSpPr>
          <p:cNvPr id="596079" name="Line 111">
            <a:extLst>
              <a:ext uri="{FF2B5EF4-FFF2-40B4-BE49-F238E27FC236}">
                <a16:creationId xmlns:a16="http://schemas.microsoft.com/office/drawing/2014/main" id="{919330C4-3705-A740-BD36-0D8EEE30D1FF}"/>
              </a:ext>
            </a:extLst>
          </p:cNvPr>
          <p:cNvSpPr>
            <a:spLocks noChangeShapeType="1"/>
          </p:cNvSpPr>
          <p:nvPr/>
        </p:nvSpPr>
        <p:spPr bwMode="auto">
          <a:xfrm flipV="1">
            <a:off x="5250657" y="3217069"/>
            <a:ext cx="1403747"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87065" name="Text Box 115">
            <a:extLst>
              <a:ext uri="{FF2B5EF4-FFF2-40B4-BE49-F238E27FC236}">
                <a16:creationId xmlns:a16="http://schemas.microsoft.com/office/drawing/2014/main" id="{C1BAF657-1131-AB41-922F-D342E8591C62}"/>
              </a:ext>
            </a:extLst>
          </p:cNvPr>
          <p:cNvSpPr txBox="1">
            <a:spLocks noChangeArrowheads="1"/>
          </p:cNvSpPr>
          <p:nvPr/>
        </p:nvSpPr>
        <p:spPr bwMode="auto">
          <a:xfrm>
            <a:off x="5587604" y="2822972"/>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密文 </a:t>
            </a:r>
          </a:p>
        </p:txBody>
      </p:sp>
      <p:graphicFrame>
        <p:nvGraphicFramePr>
          <p:cNvPr id="87066" name="Object 116">
            <a:extLst>
              <a:ext uri="{FF2B5EF4-FFF2-40B4-BE49-F238E27FC236}">
                <a16:creationId xmlns:a16="http://schemas.microsoft.com/office/drawing/2014/main" id="{87B271A0-492C-6244-9345-F0E760BF9824}"/>
              </a:ext>
            </a:extLst>
          </p:cNvPr>
          <p:cNvGraphicFramePr>
            <a:graphicFrameLocks noChangeAspect="1"/>
          </p:cNvGraphicFramePr>
          <p:nvPr/>
        </p:nvGraphicFramePr>
        <p:xfrm>
          <a:off x="5381625" y="3274219"/>
          <a:ext cx="864394" cy="378619"/>
        </p:xfrm>
        <a:graphic>
          <a:graphicData uri="http://schemas.openxmlformats.org/presentationml/2006/ole">
            <mc:AlternateContent xmlns:mc="http://schemas.openxmlformats.org/markup-compatibility/2006">
              <mc:Choice xmlns:v="urn:schemas-microsoft-com:vml" Requires="v">
                <p:oleObj spid="_x0000_s72731" name="公式" r:id="rId8" imgW="13462000" imgH="5562600" progId="Equation.3">
                  <p:embed/>
                </p:oleObj>
              </mc:Choice>
              <mc:Fallback>
                <p:oleObj name="公式" r:id="rId8" imgW="13462000" imgH="5562600" progId="Equation.3">
                  <p:embed/>
                  <p:pic>
                    <p:nvPicPr>
                      <p:cNvPr id="87066" name="Object 116">
                        <a:extLst>
                          <a:ext uri="{FF2B5EF4-FFF2-40B4-BE49-F238E27FC236}">
                            <a16:creationId xmlns:a16="http://schemas.microsoft.com/office/drawing/2014/main" id="{87B271A0-492C-6244-9345-F0E760BF98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1625" y="3274219"/>
                        <a:ext cx="864394" cy="378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7067" name="Text Box 117">
            <a:extLst>
              <a:ext uri="{FF2B5EF4-FFF2-40B4-BE49-F238E27FC236}">
                <a16:creationId xmlns:a16="http://schemas.microsoft.com/office/drawing/2014/main" id="{7371F595-6292-D74E-8635-346D48153CC2}"/>
              </a:ext>
            </a:extLst>
          </p:cNvPr>
          <p:cNvSpPr txBox="1">
            <a:spLocks noChangeArrowheads="1"/>
          </p:cNvSpPr>
          <p:nvPr/>
        </p:nvSpPr>
        <p:spPr bwMode="auto">
          <a:xfrm>
            <a:off x="6087666" y="1653779"/>
            <a:ext cx="1556901" cy="370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800">
                <a:solidFill>
                  <a:schemeClr val="tx2"/>
                </a:solidFill>
                <a:latin typeface="Arial" panose="020B0604020202020204" pitchFamily="34" charset="0"/>
                <a:ea typeface="宋体" panose="02010600030101010101" pitchFamily="2" charset="-122"/>
              </a:rPr>
              <a:t>A </a:t>
            </a:r>
            <a:r>
              <a:rPr kumimoji="1" lang="zh-CN" altLang="en-US" sz="1800">
                <a:solidFill>
                  <a:schemeClr val="tx2"/>
                </a:solidFill>
                <a:latin typeface="Arial" panose="020B0604020202020204" pitchFamily="34" charset="0"/>
                <a:ea typeface="宋体" panose="02010600030101010101" pitchFamily="2" charset="-122"/>
              </a:rPr>
              <a:t>的公钥 </a:t>
            </a:r>
            <a:r>
              <a:rPr kumimoji="1" lang="en-US" altLang="zh-CN" sz="1800" i="1">
                <a:solidFill>
                  <a:schemeClr val="tx2"/>
                </a:solidFill>
                <a:latin typeface="Arial" panose="020B0604020202020204" pitchFamily="34" charset="0"/>
                <a:ea typeface="宋体" panose="02010600030101010101" pitchFamily="2" charset="-122"/>
              </a:rPr>
              <a:t>PK</a:t>
            </a:r>
            <a:r>
              <a:rPr kumimoji="1" lang="en-US" altLang="zh-CN" sz="1800" baseline="-25000">
                <a:solidFill>
                  <a:schemeClr val="tx2"/>
                </a:solidFill>
                <a:latin typeface="Arial" panose="020B0604020202020204" pitchFamily="34" charset="0"/>
                <a:ea typeface="宋体" panose="02010600030101010101" pitchFamily="2" charset="-122"/>
              </a:rPr>
              <a:t>A</a:t>
            </a:r>
          </a:p>
        </p:txBody>
      </p:sp>
      <p:sp>
        <p:nvSpPr>
          <p:cNvPr id="87068" name="幻灯片编号占位符 1">
            <a:extLst>
              <a:ext uri="{FF2B5EF4-FFF2-40B4-BE49-F238E27FC236}">
                <a16:creationId xmlns:a16="http://schemas.microsoft.com/office/drawing/2014/main" id="{E31B37E2-FBFD-B44B-A4D8-E5EC36E2C4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1CAC0A1-3F09-5C44-B4E4-5A86F20F19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92817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5C777767-E053-8C47-AC16-07CB6D3E8C19}"/>
              </a:ext>
            </a:extLst>
          </p:cNvPr>
          <p:cNvSpPr>
            <a:spLocks noGrp="1" noChangeArrowheads="1"/>
          </p:cNvSpPr>
          <p:nvPr>
            <p:ph type="title"/>
          </p:nvPr>
        </p:nvSpPr>
        <p:spPr>
          <a:xfrm>
            <a:off x="182881" y="206455"/>
            <a:ext cx="7154466" cy="662225"/>
          </a:xfrm>
        </p:spPr>
        <p:txBody>
          <a:bodyPr/>
          <a:lstStyle/>
          <a:p>
            <a:pPr eaLnBrk="1" hangingPunct="1"/>
            <a:r>
              <a:rPr lang="zh-CN" altLang="en-US" dirty="0">
                <a:latin typeface="Times New Roman" panose="02020603050405020304" pitchFamily="18" charset="0"/>
                <a:ea typeface="宋体" panose="02010600030101010101" pitchFamily="2" charset="-122"/>
              </a:rPr>
              <a:t>数字签名的实现</a:t>
            </a:r>
          </a:p>
        </p:txBody>
      </p:sp>
      <p:sp>
        <p:nvSpPr>
          <p:cNvPr id="596995" name="Rectangle 3">
            <a:extLst>
              <a:ext uri="{FF2B5EF4-FFF2-40B4-BE49-F238E27FC236}">
                <a16:creationId xmlns:a16="http://schemas.microsoft.com/office/drawing/2014/main" id="{BE1E7FEF-26A9-9644-921A-886B5940B786}"/>
              </a:ext>
            </a:extLst>
          </p:cNvPr>
          <p:cNvSpPr>
            <a:spLocks noGrp="1" noChangeArrowheads="1"/>
          </p:cNvSpPr>
          <p:nvPr>
            <p:ph type="body" idx="1"/>
          </p:nvPr>
        </p:nvSpPr>
        <p:spPr>
          <a:xfrm>
            <a:off x="182881" y="1042274"/>
            <a:ext cx="8709659" cy="3618309"/>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因为除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外没有别人能具有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的私钥，所以除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外没有别人能产生这个密文。因此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相信报文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是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签名发送的。</a:t>
            </a:r>
          </a:p>
          <a:p>
            <a:pPr eaLnBrk="1" hangingPunct="1">
              <a:lnSpc>
                <a:spcPct val="90000"/>
              </a:lnSpc>
            </a:pP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要抵赖曾发送报文给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可将明文和对应的密文出示给第三者。第三者很容易用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的公钥去证实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确实发送 </a:t>
            </a:r>
            <a:r>
              <a:rPr lang="en-US" altLang="zh-CN" i="1" dirty="0">
                <a:latin typeface="Times New Roman" panose="02020603050405020304" pitchFamily="18" charset="0"/>
                <a:ea typeface="宋体" panose="02010600030101010101" pitchFamily="2" charset="-122"/>
              </a:rPr>
              <a:t>X </a:t>
            </a:r>
            <a:r>
              <a:rPr lang="zh-CN" altLang="en-US" dirty="0">
                <a:latin typeface="Times New Roman" panose="02020603050405020304" pitchFamily="18" charset="0"/>
                <a:ea typeface="宋体" panose="02010600030101010101" pitchFamily="2" charset="-122"/>
              </a:rPr>
              <a:t>给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反之，若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将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伪造成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不能在第三者前出示对应的密文。这样就证明了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伪造了报文。  </a:t>
            </a:r>
          </a:p>
        </p:txBody>
      </p:sp>
      <p:sp>
        <p:nvSpPr>
          <p:cNvPr id="88067" name="幻灯片编号占位符 1">
            <a:extLst>
              <a:ext uri="{FF2B5EF4-FFF2-40B4-BE49-F238E27FC236}">
                <a16:creationId xmlns:a16="http://schemas.microsoft.com/office/drawing/2014/main" id="{16FBA25F-E4D7-5547-8A6C-96E765855C3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37B646-15CC-C241-8198-3D925912D3F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19441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69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6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55738D39-331A-D543-9C93-331B5BE5FBFA}"/>
              </a:ext>
            </a:extLst>
          </p:cNvPr>
          <p:cNvSpPr>
            <a:spLocks noGrp="1" noChangeArrowheads="1"/>
          </p:cNvSpPr>
          <p:nvPr>
            <p:ph type="title"/>
          </p:nvPr>
        </p:nvSpPr>
        <p:spPr>
          <a:xfrm>
            <a:off x="172640" y="245103"/>
            <a:ext cx="7154466" cy="621617"/>
          </a:xfrm>
        </p:spPr>
        <p:txBody>
          <a:bodyPr/>
          <a:lstStyle/>
          <a:p>
            <a:pPr eaLnBrk="1" hangingPunct="1"/>
            <a:r>
              <a:rPr lang="zh-CN" altLang="en-US" dirty="0">
                <a:latin typeface="Times New Roman" panose="02020603050405020304" pitchFamily="18" charset="0"/>
                <a:ea typeface="宋体" panose="02010600030101010101" pitchFamily="2" charset="-122"/>
              </a:rPr>
              <a:t>具有保密性的数字签名 </a:t>
            </a:r>
          </a:p>
        </p:txBody>
      </p:sp>
      <p:graphicFrame>
        <p:nvGraphicFramePr>
          <p:cNvPr id="89090" name="Object 124">
            <a:extLst>
              <a:ext uri="{FF2B5EF4-FFF2-40B4-BE49-F238E27FC236}">
                <a16:creationId xmlns:a16="http://schemas.microsoft.com/office/drawing/2014/main" id="{83C9E312-FF98-1043-8BE0-74B6B9E26BA4}"/>
              </a:ext>
            </a:extLst>
          </p:cNvPr>
          <p:cNvGraphicFramePr>
            <a:graphicFrameLocks noChangeAspect="1"/>
          </p:cNvGraphicFramePr>
          <p:nvPr/>
        </p:nvGraphicFramePr>
        <p:xfrm>
          <a:off x="6168629" y="2726532"/>
          <a:ext cx="684609" cy="275035"/>
        </p:xfrm>
        <a:graphic>
          <a:graphicData uri="http://schemas.openxmlformats.org/presentationml/2006/ole">
            <mc:AlternateContent xmlns:mc="http://schemas.openxmlformats.org/markup-compatibility/2006">
              <mc:Choice xmlns:v="urn:schemas-microsoft-com:vml" Requires="v">
                <p:oleObj spid="_x0000_s74785" name="公式" r:id="rId3" imgW="13462000" imgH="5562600" progId="Equation.3">
                  <p:embed/>
                </p:oleObj>
              </mc:Choice>
              <mc:Fallback>
                <p:oleObj name="公式" r:id="rId3" imgW="13462000" imgH="5562600" progId="Equation.3">
                  <p:embed/>
                  <p:pic>
                    <p:nvPicPr>
                      <p:cNvPr id="89090" name="Object 124">
                        <a:extLst>
                          <a:ext uri="{FF2B5EF4-FFF2-40B4-BE49-F238E27FC236}">
                            <a16:creationId xmlns:a16="http://schemas.microsoft.com/office/drawing/2014/main" id="{83C9E312-FF98-1043-8BE0-74B6B9E26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8629" y="2726532"/>
                        <a:ext cx="684609" cy="275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9091" name="Object 123">
            <a:extLst>
              <a:ext uri="{FF2B5EF4-FFF2-40B4-BE49-F238E27FC236}">
                <a16:creationId xmlns:a16="http://schemas.microsoft.com/office/drawing/2014/main" id="{DB7B845B-18F9-C249-BE75-41EAE1B305D6}"/>
              </a:ext>
            </a:extLst>
          </p:cNvPr>
          <p:cNvGraphicFramePr>
            <a:graphicFrameLocks noChangeAspect="1"/>
          </p:cNvGraphicFramePr>
          <p:nvPr/>
        </p:nvGraphicFramePr>
        <p:xfrm>
          <a:off x="2502694" y="2726532"/>
          <a:ext cx="684610" cy="275035"/>
        </p:xfrm>
        <a:graphic>
          <a:graphicData uri="http://schemas.openxmlformats.org/presentationml/2006/ole">
            <mc:AlternateContent xmlns:mc="http://schemas.openxmlformats.org/markup-compatibility/2006">
              <mc:Choice xmlns:v="urn:schemas-microsoft-com:vml" Requires="v">
                <p:oleObj spid="_x0000_s74786" name="公式" r:id="rId5" imgW="13462000" imgH="5562600" progId="Equation.3">
                  <p:embed/>
                </p:oleObj>
              </mc:Choice>
              <mc:Fallback>
                <p:oleObj name="公式" r:id="rId5" imgW="13462000" imgH="5562600" progId="Equation.3">
                  <p:embed/>
                  <p:pic>
                    <p:nvPicPr>
                      <p:cNvPr id="89091" name="Object 123">
                        <a:extLst>
                          <a:ext uri="{FF2B5EF4-FFF2-40B4-BE49-F238E27FC236}">
                            <a16:creationId xmlns:a16="http://schemas.microsoft.com/office/drawing/2014/main" id="{DB7B845B-18F9-C249-BE75-41EAE1B305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2694" y="2726532"/>
                        <a:ext cx="684610" cy="275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092" name="Text Box 109">
            <a:extLst>
              <a:ext uri="{FF2B5EF4-FFF2-40B4-BE49-F238E27FC236}">
                <a16:creationId xmlns:a16="http://schemas.microsoft.com/office/drawing/2014/main" id="{C2D1D1DD-D2D1-4E43-AB5B-1669F58F1B30}"/>
              </a:ext>
            </a:extLst>
          </p:cNvPr>
          <p:cNvSpPr txBox="1">
            <a:spLocks noChangeArrowheads="1"/>
          </p:cNvSpPr>
          <p:nvPr/>
        </p:nvSpPr>
        <p:spPr bwMode="auto">
          <a:xfrm>
            <a:off x="6281738" y="2408635"/>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核实签名</a:t>
            </a:r>
          </a:p>
        </p:txBody>
      </p:sp>
      <p:sp>
        <p:nvSpPr>
          <p:cNvPr id="89093" name="Text Box 129">
            <a:extLst>
              <a:ext uri="{FF2B5EF4-FFF2-40B4-BE49-F238E27FC236}">
                <a16:creationId xmlns:a16="http://schemas.microsoft.com/office/drawing/2014/main" id="{BDE49DCD-70FD-824E-A3D9-F3939B1F97DD}"/>
              </a:ext>
            </a:extLst>
          </p:cNvPr>
          <p:cNvSpPr txBox="1">
            <a:spLocks noChangeArrowheads="1"/>
          </p:cNvSpPr>
          <p:nvPr/>
        </p:nvSpPr>
        <p:spPr bwMode="auto">
          <a:xfrm>
            <a:off x="5337573"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解密 </a:t>
            </a:r>
          </a:p>
        </p:txBody>
      </p:sp>
      <p:sp>
        <p:nvSpPr>
          <p:cNvPr id="89094" name="Text Box 128">
            <a:extLst>
              <a:ext uri="{FF2B5EF4-FFF2-40B4-BE49-F238E27FC236}">
                <a16:creationId xmlns:a16="http://schemas.microsoft.com/office/drawing/2014/main" id="{8EA2418D-6FB6-8841-8B43-EBA5D61B8630}"/>
              </a:ext>
            </a:extLst>
          </p:cNvPr>
          <p:cNvSpPr txBox="1">
            <a:spLocks noChangeArrowheads="1"/>
          </p:cNvSpPr>
          <p:nvPr/>
        </p:nvSpPr>
        <p:spPr bwMode="auto">
          <a:xfrm>
            <a:off x="2894410"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加密 </a:t>
            </a:r>
          </a:p>
        </p:txBody>
      </p:sp>
      <p:sp>
        <p:nvSpPr>
          <p:cNvPr id="89095" name="Text Box 108">
            <a:extLst>
              <a:ext uri="{FF2B5EF4-FFF2-40B4-BE49-F238E27FC236}">
                <a16:creationId xmlns:a16="http://schemas.microsoft.com/office/drawing/2014/main" id="{8D732C65-E783-7D46-B8D9-90CD35CED468}"/>
              </a:ext>
            </a:extLst>
          </p:cNvPr>
          <p:cNvSpPr txBox="1">
            <a:spLocks noChangeArrowheads="1"/>
          </p:cNvSpPr>
          <p:nvPr/>
        </p:nvSpPr>
        <p:spPr bwMode="auto">
          <a:xfrm>
            <a:off x="1783557"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签名 </a:t>
            </a:r>
          </a:p>
        </p:txBody>
      </p:sp>
      <p:sp>
        <p:nvSpPr>
          <p:cNvPr id="600102" name="Rectangle 38">
            <a:extLst>
              <a:ext uri="{FF2B5EF4-FFF2-40B4-BE49-F238E27FC236}">
                <a16:creationId xmlns:a16="http://schemas.microsoft.com/office/drawing/2014/main" id="{4AA9085A-0863-C14D-86C9-CB14AE488696}"/>
              </a:ext>
            </a:extLst>
          </p:cNvPr>
          <p:cNvSpPr>
            <a:spLocks noChangeArrowheads="1"/>
          </p:cNvSpPr>
          <p:nvPr/>
        </p:nvSpPr>
        <p:spPr bwMode="auto">
          <a:xfrm>
            <a:off x="3171825" y="2787254"/>
            <a:ext cx="510779" cy="435769"/>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E</a:t>
            </a:r>
            <a:r>
              <a:rPr kumimoji="1" lang="en-US" altLang="zh-CN" sz="1350">
                <a:solidFill>
                  <a:schemeClr val="tx2"/>
                </a:solidFill>
                <a:latin typeface="Arial" panose="020B0604020202020204" pitchFamily="34" charset="0"/>
              </a:rPr>
              <a:t> </a:t>
            </a:r>
            <a:r>
              <a:rPr kumimoji="1" lang="zh-CN" altLang="en-US" sz="1350">
                <a:solidFill>
                  <a:schemeClr val="tx2"/>
                </a:solidFill>
                <a:latin typeface="Arial" panose="020B0604020202020204" pitchFamily="34" charset="0"/>
              </a:rPr>
              <a:t>运算</a:t>
            </a:r>
          </a:p>
        </p:txBody>
      </p:sp>
      <p:sp>
        <p:nvSpPr>
          <p:cNvPr id="600103" name="Line 39">
            <a:extLst>
              <a:ext uri="{FF2B5EF4-FFF2-40B4-BE49-F238E27FC236}">
                <a16:creationId xmlns:a16="http://schemas.microsoft.com/office/drawing/2014/main" id="{4A548F68-812D-204B-85CC-7A87789B1E8E}"/>
              </a:ext>
            </a:extLst>
          </p:cNvPr>
          <p:cNvSpPr>
            <a:spLocks noChangeShapeType="1"/>
          </p:cNvSpPr>
          <p:nvPr/>
        </p:nvSpPr>
        <p:spPr bwMode="auto">
          <a:xfrm>
            <a:off x="2506266" y="3003947"/>
            <a:ext cx="665559" cy="0"/>
          </a:xfrm>
          <a:prstGeom prst="line">
            <a:avLst/>
          </a:prstGeom>
          <a:noFill/>
          <a:ln w="57150">
            <a:solidFill>
              <a:schemeClr val="tx1"/>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04" name="Rectangle 40">
            <a:extLst>
              <a:ext uri="{FF2B5EF4-FFF2-40B4-BE49-F238E27FC236}">
                <a16:creationId xmlns:a16="http://schemas.microsoft.com/office/drawing/2014/main" id="{77FE4B46-8B44-C54A-A1DA-874B7ED49DEF}"/>
              </a:ext>
            </a:extLst>
          </p:cNvPr>
          <p:cNvSpPr>
            <a:spLocks noChangeArrowheads="1"/>
          </p:cNvSpPr>
          <p:nvPr/>
        </p:nvSpPr>
        <p:spPr bwMode="auto">
          <a:xfrm>
            <a:off x="1995487" y="2793207"/>
            <a:ext cx="510779" cy="435769"/>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D </a:t>
            </a:r>
            <a:r>
              <a:rPr kumimoji="1" lang="zh-CN" altLang="en-US" sz="1350">
                <a:solidFill>
                  <a:schemeClr val="tx2"/>
                </a:solidFill>
                <a:latin typeface="Arial" panose="020B0604020202020204" pitchFamily="34" charset="0"/>
              </a:rPr>
              <a:t>运算</a:t>
            </a:r>
          </a:p>
        </p:txBody>
      </p:sp>
      <p:sp>
        <p:nvSpPr>
          <p:cNvPr id="89099" name="Text Box 41">
            <a:extLst>
              <a:ext uri="{FF2B5EF4-FFF2-40B4-BE49-F238E27FC236}">
                <a16:creationId xmlns:a16="http://schemas.microsoft.com/office/drawing/2014/main" id="{63E3FFDC-2BFE-2647-8364-51FA6B9E7E24}"/>
              </a:ext>
            </a:extLst>
          </p:cNvPr>
          <p:cNvSpPr txBox="1">
            <a:spLocks noChangeArrowheads="1"/>
          </p:cNvSpPr>
          <p:nvPr/>
        </p:nvSpPr>
        <p:spPr bwMode="auto">
          <a:xfrm>
            <a:off x="1227535" y="3003947"/>
            <a:ext cx="6944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明文 </a:t>
            </a:r>
            <a:r>
              <a:rPr kumimoji="1" lang="en-US" altLang="zh-CN" sz="1350" i="1">
                <a:solidFill>
                  <a:schemeClr val="tx2"/>
                </a:solidFill>
                <a:latin typeface="Arial" panose="020B0604020202020204" pitchFamily="34" charset="0"/>
                <a:ea typeface="宋体" panose="02010600030101010101" pitchFamily="2" charset="-122"/>
              </a:rPr>
              <a:t>X</a:t>
            </a:r>
          </a:p>
        </p:txBody>
      </p:sp>
      <p:sp>
        <p:nvSpPr>
          <p:cNvPr id="89100" name="Text Box 42">
            <a:extLst>
              <a:ext uri="{FF2B5EF4-FFF2-40B4-BE49-F238E27FC236}">
                <a16:creationId xmlns:a16="http://schemas.microsoft.com/office/drawing/2014/main" id="{D0E17BBA-29E8-0247-8163-5468444B99C0}"/>
              </a:ext>
            </a:extLst>
          </p:cNvPr>
          <p:cNvSpPr txBox="1">
            <a:spLocks noChangeArrowheads="1"/>
          </p:cNvSpPr>
          <p:nvPr/>
        </p:nvSpPr>
        <p:spPr bwMode="auto">
          <a:xfrm>
            <a:off x="7337823" y="3003947"/>
            <a:ext cx="74251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明文 </a:t>
            </a:r>
            <a:r>
              <a:rPr kumimoji="1" lang="en-US" altLang="zh-CN" sz="1350" i="1">
                <a:solidFill>
                  <a:schemeClr val="tx2"/>
                </a:solidFill>
                <a:latin typeface="Arial" panose="020B0604020202020204" pitchFamily="34" charset="0"/>
                <a:ea typeface="宋体" panose="02010600030101010101" pitchFamily="2" charset="-122"/>
              </a:rPr>
              <a:t>X</a:t>
            </a:r>
            <a:r>
              <a:rPr kumimoji="1" lang="en-US" altLang="zh-CN" sz="1350">
                <a:solidFill>
                  <a:schemeClr val="tx2"/>
                </a:solidFill>
                <a:latin typeface="Arial" panose="020B0604020202020204" pitchFamily="34" charset="0"/>
                <a:ea typeface="宋体" panose="02010600030101010101" pitchFamily="2" charset="-122"/>
              </a:rPr>
              <a:t> </a:t>
            </a:r>
            <a:endParaRPr kumimoji="1" lang="en-US" altLang="zh-CN" sz="2100">
              <a:solidFill>
                <a:schemeClr val="tx2"/>
              </a:solidFill>
              <a:latin typeface="Arial" panose="020B0604020202020204" pitchFamily="34" charset="0"/>
              <a:ea typeface="宋体" panose="02010600030101010101" pitchFamily="2" charset="-122"/>
            </a:endParaRPr>
          </a:p>
        </p:txBody>
      </p:sp>
      <p:pic>
        <p:nvPicPr>
          <p:cNvPr id="89101" name="Picture 43">
            <a:extLst>
              <a:ext uri="{FF2B5EF4-FFF2-40B4-BE49-F238E27FC236}">
                <a16:creationId xmlns:a16="http://schemas.microsoft.com/office/drawing/2014/main" id="{973C5636-5F74-C34F-AA86-727D7E85BE9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6913960" y="2093120"/>
            <a:ext cx="307181"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0108" name="Text Box 44">
            <a:extLst>
              <a:ext uri="{FF2B5EF4-FFF2-40B4-BE49-F238E27FC236}">
                <a16:creationId xmlns:a16="http://schemas.microsoft.com/office/drawing/2014/main" id="{C2D71511-B2EA-3142-A219-65B89D68C001}"/>
              </a:ext>
            </a:extLst>
          </p:cNvPr>
          <p:cNvSpPr txBox="1">
            <a:spLocks noChangeArrowheads="1"/>
          </p:cNvSpPr>
          <p:nvPr/>
        </p:nvSpPr>
        <p:spPr bwMode="auto">
          <a:xfrm>
            <a:off x="1395412" y="2188369"/>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a:t>
            </a:r>
          </a:p>
        </p:txBody>
      </p:sp>
      <p:sp>
        <p:nvSpPr>
          <p:cNvPr id="600109" name="Text Box 45">
            <a:extLst>
              <a:ext uri="{FF2B5EF4-FFF2-40B4-BE49-F238E27FC236}">
                <a16:creationId xmlns:a16="http://schemas.microsoft.com/office/drawing/2014/main" id="{92D0E8D0-8B2D-7747-B36E-EEB4A5151CAB}"/>
              </a:ext>
            </a:extLst>
          </p:cNvPr>
          <p:cNvSpPr txBox="1">
            <a:spLocks noChangeArrowheads="1"/>
          </p:cNvSpPr>
          <p:nvPr/>
        </p:nvSpPr>
        <p:spPr bwMode="auto">
          <a:xfrm>
            <a:off x="7504510" y="2193131"/>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B</a:t>
            </a:r>
          </a:p>
        </p:txBody>
      </p:sp>
      <p:pic>
        <p:nvPicPr>
          <p:cNvPr id="89104" name="Picture 46">
            <a:extLst>
              <a:ext uri="{FF2B5EF4-FFF2-40B4-BE49-F238E27FC236}">
                <a16:creationId xmlns:a16="http://schemas.microsoft.com/office/drawing/2014/main" id="{C31216EE-32ED-5545-AAA0-D50207D2C294}"/>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2094310" y="2094310"/>
            <a:ext cx="307181" cy="152400"/>
          </a:xfrm>
          <a:prstGeom prst="rect">
            <a:avLst/>
          </a:prstGeom>
          <a:solidFill>
            <a:srgbClr val="FFCCFF"/>
          </a:solidFill>
          <a:ln w="12699">
            <a:solidFill>
              <a:schemeClr val="tx1"/>
            </a:solidFill>
            <a:miter lim="800000"/>
            <a:headEnd/>
            <a:tailEnd/>
          </a:ln>
        </p:spPr>
      </p:pic>
      <p:sp>
        <p:nvSpPr>
          <p:cNvPr id="89105" name="Text Box 47">
            <a:extLst>
              <a:ext uri="{FF2B5EF4-FFF2-40B4-BE49-F238E27FC236}">
                <a16:creationId xmlns:a16="http://schemas.microsoft.com/office/drawing/2014/main" id="{95E15827-82D1-8B4D-ADA5-CFB610A48AD5}"/>
              </a:ext>
            </a:extLst>
          </p:cNvPr>
          <p:cNvSpPr txBox="1">
            <a:spLocks noChangeArrowheads="1"/>
          </p:cNvSpPr>
          <p:nvPr/>
        </p:nvSpPr>
        <p:spPr bwMode="auto">
          <a:xfrm>
            <a:off x="1783556" y="1707356"/>
            <a:ext cx="1213858"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A </a:t>
            </a:r>
            <a:r>
              <a:rPr kumimoji="1" lang="zh-CN" altLang="en-US" sz="1350">
                <a:solidFill>
                  <a:schemeClr val="tx2"/>
                </a:solidFill>
                <a:latin typeface="Arial" panose="020B0604020202020204" pitchFamily="34" charset="0"/>
                <a:ea typeface="宋体" panose="02010600030101010101" pitchFamily="2" charset="-122"/>
              </a:rPr>
              <a:t>的私钥 </a:t>
            </a:r>
            <a:r>
              <a:rPr kumimoji="1" lang="en-US" altLang="zh-CN" sz="1350" i="1">
                <a:solidFill>
                  <a:schemeClr val="tx2"/>
                </a:solidFill>
                <a:latin typeface="Arial" panose="020B0604020202020204" pitchFamily="34" charset="0"/>
                <a:ea typeface="宋体" panose="02010600030101010101" pitchFamily="2" charset="-122"/>
              </a:rPr>
              <a:t>SK</a:t>
            </a:r>
            <a:r>
              <a:rPr kumimoji="1" lang="en-US" altLang="zh-CN" sz="1350" baseline="-25000">
                <a:solidFill>
                  <a:schemeClr val="tx2"/>
                </a:solidFill>
                <a:latin typeface="Arial" panose="020B0604020202020204" pitchFamily="34" charset="0"/>
                <a:ea typeface="宋体" panose="02010600030101010101" pitchFamily="2" charset="-122"/>
              </a:rPr>
              <a:t>A</a:t>
            </a:r>
          </a:p>
        </p:txBody>
      </p:sp>
      <p:sp>
        <p:nvSpPr>
          <p:cNvPr id="600112" name="Freeform 48">
            <a:extLst>
              <a:ext uri="{FF2B5EF4-FFF2-40B4-BE49-F238E27FC236}">
                <a16:creationId xmlns:a16="http://schemas.microsoft.com/office/drawing/2014/main" id="{B1202890-CF73-A642-99CB-5F07AD45B77D}"/>
              </a:ext>
            </a:extLst>
          </p:cNvPr>
          <p:cNvSpPr>
            <a:spLocks/>
          </p:cNvSpPr>
          <p:nvPr/>
        </p:nvSpPr>
        <p:spPr bwMode="auto">
          <a:xfrm>
            <a:off x="2245519" y="2337198"/>
            <a:ext cx="2381" cy="463153"/>
          </a:xfrm>
          <a:custGeom>
            <a:avLst/>
            <a:gdLst>
              <a:gd name="T0" fmla="*/ 0 w 2"/>
              <a:gd name="T1" fmla="*/ 0 h 389"/>
              <a:gd name="T2" fmla="*/ 3175 w 2"/>
              <a:gd name="T3" fmla="*/ 6175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13" name="Freeform 49">
            <a:extLst>
              <a:ext uri="{FF2B5EF4-FFF2-40B4-BE49-F238E27FC236}">
                <a16:creationId xmlns:a16="http://schemas.microsoft.com/office/drawing/2014/main" id="{93007728-22D8-AB46-9EF2-750040EDE5E7}"/>
              </a:ext>
            </a:extLst>
          </p:cNvPr>
          <p:cNvSpPr>
            <a:spLocks/>
          </p:cNvSpPr>
          <p:nvPr/>
        </p:nvSpPr>
        <p:spPr bwMode="auto">
          <a:xfrm>
            <a:off x="7078266" y="2337198"/>
            <a:ext cx="9525" cy="450056"/>
          </a:xfrm>
          <a:custGeom>
            <a:avLst/>
            <a:gdLst>
              <a:gd name="T0" fmla="*/ 0 w 8"/>
              <a:gd name="T1" fmla="*/ 0 h 378"/>
              <a:gd name="T2" fmla="*/ 12700 w 8"/>
              <a:gd name="T3" fmla="*/ 600075 h 378"/>
              <a:gd name="T4" fmla="*/ 0 60000 65536"/>
              <a:gd name="T5" fmla="*/ 0 60000 65536"/>
            </a:gdLst>
            <a:ahLst/>
            <a:cxnLst>
              <a:cxn ang="T4">
                <a:pos x="T0" y="T1"/>
              </a:cxn>
              <a:cxn ang="T5">
                <a:pos x="T2" y="T3"/>
              </a:cxn>
            </a:cxnLst>
            <a:rect l="0" t="0" r="r" b="b"/>
            <a:pathLst>
              <a:path w="8" h="378">
                <a:moveTo>
                  <a:pt x="0" y="0"/>
                </a:moveTo>
                <a:lnTo>
                  <a:pt x="8" y="378"/>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graphicFrame>
        <p:nvGraphicFramePr>
          <p:cNvPr id="89108" name="Object 50">
            <a:extLst>
              <a:ext uri="{FF2B5EF4-FFF2-40B4-BE49-F238E27FC236}">
                <a16:creationId xmlns:a16="http://schemas.microsoft.com/office/drawing/2014/main" id="{74D6337D-81CD-F846-AEB1-1DE5FFEE2C38}"/>
              </a:ext>
            </a:extLst>
          </p:cNvPr>
          <p:cNvGraphicFramePr>
            <a:graphicFrameLocks noChangeAspect="1"/>
          </p:cNvGraphicFramePr>
          <p:nvPr/>
        </p:nvGraphicFramePr>
        <p:xfrm>
          <a:off x="3726656" y="2393156"/>
          <a:ext cx="1777604" cy="1042988"/>
        </p:xfrm>
        <a:graphic>
          <a:graphicData uri="http://schemas.openxmlformats.org/presentationml/2006/ole">
            <mc:AlternateContent xmlns:mc="http://schemas.openxmlformats.org/markup-compatibility/2006">
              <mc:Choice xmlns:v="urn:schemas-microsoft-com:vml" Requires="v">
                <p:oleObj spid="_x0000_s74787" name="VISIO" r:id="rId8" imgW="3378200" imgH="1930400" progId="Visio.Drawing.6">
                  <p:embed/>
                </p:oleObj>
              </mc:Choice>
              <mc:Fallback>
                <p:oleObj name="VISIO" r:id="rId8" imgW="3378200" imgH="1930400" progId="Visio.Drawing.6">
                  <p:embed/>
                  <p:pic>
                    <p:nvPicPr>
                      <p:cNvPr id="89108" name="Object 50">
                        <a:extLst>
                          <a:ext uri="{FF2B5EF4-FFF2-40B4-BE49-F238E27FC236}">
                            <a16:creationId xmlns:a16="http://schemas.microsoft.com/office/drawing/2014/main" id="{74D6337D-81CD-F846-AEB1-1DE5FFEE2C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6656" y="2393156"/>
                        <a:ext cx="1777604" cy="104298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0115" name="Freeform 51">
            <a:extLst>
              <a:ext uri="{FF2B5EF4-FFF2-40B4-BE49-F238E27FC236}">
                <a16:creationId xmlns:a16="http://schemas.microsoft.com/office/drawing/2014/main" id="{60EEBFFB-1158-0649-88A1-A6F2D107DDE5}"/>
              </a:ext>
            </a:extLst>
          </p:cNvPr>
          <p:cNvSpPr>
            <a:spLocks/>
          </p:cNvSpPr>
          <p:nvPr/>
        </p:nvSpPr>
        <p:spPr bwMode="auto">
          <a:xfrm rot="16200000">
            <a:off x="7268171" y="2633068"/>
            <a:ext cx="169069" cy="586978"/>
          </a:xfrm>
          <a:custGeom>
            <a:avLst/>
            <a:gdLst>
              <a:gd name="T0" fmla="*/ 1162 w 194"/>
              <a:gd name="T1" fmla="*/ 0 h 232"/>
              <a:gd name="T2" fmla="*/ 0 w 194"/>
              <a:gd name="T3" fmla="*/ 779264 h 232"/>
              <a:gd name="T4" fmla="*/ 225425 w 194"/>
              <a:gd name="T5" fmla="*/ 782637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sp>
        <p:nvSpPr>
          <p:cNvPr id="600116" name="Freeform 52">
            <a:extLst>
              <a:ext uri="{FF2B5EF4-FFF2-40B4-BE49-F238E27FC236}">
                <a16:creationId xmlns:a16="http://schemas.microsoft.com/office/drawing/2014/main" id="{307EEC94-70CA-FC4F-A5D6-7C49EBC61A76}"/>
              </a:ext>
            </a:extLst>
          </p:cNvPr>
          <p:cNvSpPr>
            <a:spLocks/>
          </p:cNvSpPr>
          <p:nvPr/>
        </p:nvSpPr>
        <p:spPr bwMode="auto">
          <a:xfrm>
            <a:off x="1562100" y="2736056"/>
            <a:ext cx="433388" cy="276225"/>
          </a:xfrm>
          <a:custGeom>
            <a:avLst/>
            <a:gdLst>
              <a:gd name="T0" fmla="*/ 2979 w 194"/>
              <a:gd name="T1" fmla="*/ 0 h 232"/>
              <a:gd name="T2" fmla="*/ 0 w 194"/>
              <a:gd name="T3" fmla="*/ 366713 h 232"/>
              <a:gd name="T4" fmla="*/ 577850 w 194"/>
              <a:gd name="T5" fmla="*/ 368300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grpSp>
        <p:nvGrpSpPr>
          <p:cNvPr id="89111" name="Group 53">
            <a:extLst>
              <a:ext uri="{FF2B5EF4-FFF2-40B4-BE49-F238E27FC236}">
                <a16:creationId xmlns:a16="http://schemas.microsoft.com/office/drawing/2014/main" id="{7CDF4444-EFAB-6345-9473-CB1467A90870}"/>
              </a:ext>
            </a:extLst>
          </p:cNvPr>
          <p:cNvGrpSpPr>
            <a:grpSpLocks/>
          </p:cNvGrpSpPr>
          <p:nvPr/>
        </p:nvGrpSpPr>
        <p:grpSpPr bwMode="auto">
          <a:xfrm>
            <a:off x="1343025" y="2464594"/>
            <a:ext cx="389335" cy="377429"/>
            <a:chOff x="921" y="2412"/>
            <a:chExt cx="284" cy="265"/>
          </a:xfrm>
        </p:grpSpPr>
        <p:grpSp>
          <p:nvGrpSpPr>
            <p:cNvPr id="89158" name="Group 54">
              <a:extLst>
                <a:ext uri="{FF2B5EF4-FFF2-40B4-BE49-F238E27FC236}">
                  <a16:creationId xmlns:a16="http://schemas.microsoft.com/office/drawing/2014/main" id="{0FB7B39A-BB2B-0A44-B8DA-B9B7B987BC19}"/>
                </a:ext>
              </a:extLst>
            </p:cNvPr>
            <p:cNvGrpSpPr>
              <a:grpSpLocks/>
            </p:cNvGrpSpPr>
            <p:nvPr/>
          </p:nvGrpSpPr>
          <p:grpSpPr bwMode="auto">
            <a:xfrm>
              <a:off x="928" y="2417"/>
              <a:ext cx="277" cy="260"/>
              <a:chOff x="928" y="2417"/>
              <a:chExt cx="277" cy="260"/>
            </a:xfrm>
          </p:grpSpPr>
          <p:sp>
            <p:nvSpPr>
              <p:cNvPr id="89172" name="Freeform 55">
                <a:extLst>
                  <a:ext uri="{FF2B5EF4-FFF2-40B4-BE49-F238E27FC236}">
                    <a16:creationId xmlns:a16="http://schemas.microsoft.com/office/drawing/2014/main" id="{6FCCAF3E-EC35-874B-A3A9-2953A576ECCC}"/>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3" name="Freeform 56">
                <a:extLst>
                  <a:ext uri="{FF2B5EF4-FFF2-40B4-BE49-F238E27FC236}">
                    <a16:creationId xmlns:a16="http://schemas.microsoft.com/office/drawing/2014/main" id="{135566B3-6E41-0F46-A6E1-B2D3A74D973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4" name="Freeform 57">
                <a:extLst>
                  <a:ext uri="{FF2B5EF4-FFF2-40B4-BE49-F238E27FC236}">
                    <a16:creationId xmlns:a16="http://schemas.microsoft.com/office/drawing/2014/main" id="{91AB0097-70C2-9F40-9168-5655ECCBE38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5" name="Freeform 58">
                <a:extLst>
                  <a:ext uri="{FF2B5EF4-FFF2-40B4-BE49-F238E27FC236}">
                    <a16:creationId xmlns:a16="http://schemas.microsoft.com/office/drawing/2014/main" id="{416C87A4-3C4B-1D41-94B7-B52C21889E9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6" name="Rectangle 59">
                <a:extLst>
                  <a:ext uri="{FF2B5EF4-FFF2-40B4-BE49-F238E27FC236}">
                    <a16:creationId xmlns:a16="http://schemas.microsoft.com/office/drawing/2014/main" id="{3AE52DB2-748C-A44F-AD3D-6D8540E928D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7" name="Rectangle 60">
                <a:extLst>
                  <a:ext uri="{FF2B5EF4-FFF2-40B4-BE49-F238E27FC236}">
                    <a16:creationId xmlns:a16="http://schemas.microsoft.com/office/drawing/2014/main" id="{BB498AD2-6EDF-C84F-BC86-4C79982C7C1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8" name="Rectangle 61">
                <a:extLst>
                  <a:ext uri="{FF2B5EF4-FFF2-40B4-BE49-F238E27FC236}">
                    <a16:creationId xmlns:a16="http://schemas.microsoft.com/office/drawing/2014/main" id="{3E715637-D29E-0F4C-A7A4-49714AB670C7}"/>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9" name="Line 62">
                <a:extLst>
                  <a:ext uri="{FF2B5EF4-FFF2-40B4-BE49-F238E27FC236}">
                    <a16:creationId xmlns:a16="http://schemas.microsoft.com/office/drawing/2014/main" id="{3E87DC32-4A3A-E047-82B2-615D514D9001}"/>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80" name="Group 63">
                <a:extLst>
                  <a:ext uri="{FF2B5EF4-FFF2-40B4-BE49-F238E27FC236}">
                    <a16:creationId xmlns:a16="http://schemas.microsoft.com/office/drawing/2014/main" id="{E99F20F4-41E4-CD49-A36B-BDB24BBB87BC}"/>
                  </a:ext>
                </a:extLst>
              </p:cNvPr>
              <p:cNvGrpSpPr>
                <a:grpSpLocks/>
              </p:cNvGrpSpPr>
              <p:nvPr/>
            </p:nvGrpSpPr>
            <p:grpSpPr bwMode="auto">
              <a:xfrm>
                <a:off x="928" y="2639"/>
                <a:ext cx="277" cy="38"/>
                <a:chOff x="928" y="2639"/>
                <a:chExt cx="277" cy="38"/>
              </a:xfrm>
            </p:grpSpPr>
            <p:sp>
              <p:nvSpPr>
                <p:cNvPr id="89181" name="Freeform 64">
                  <a:extLst>
                    <a:ext uri="{FF2B5EF4-FFF2-40B4-BE49-F238E27FC236}">
                      <a16:creationId xmlns:a16="http://schemas.microsoft.com/office/drawing/2014/main" id="{17B4F348-D837-6749-B008-A625D2ED4D3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82" name="Freeform 65">
                  <a:extLst>
                    <a:ext uri="{FF2B5EF4-FFF2-40B4-BE49-F238E27FC236}">
                      <a16:creationId xmlns:a16="http://schemas.microsoft.com/office/drawing/2014/main" id="{4F0DFAE3-8DB9-3244-B513-68EEAD73A8FE}"/>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83" name="Rectangle 66">
                  <a:extLst>
                    <a:ext uri="{FF2B5EF4-FFF2-40B4-BE49-F238E27FC236}">
                      <a16:creationId xmlns:a16="http://schemas.microsoft.com/office/drawing/2014/main" id="{F0FC1FF6-F61B-1F4C-8A56-A2B071EE67BA}"/>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9159" name="Group 67">
              <a:extLst>
                <a:ext uri="{FF2B5EF4-FFF2-40B4-BE49-F238E27FC236}">
                  <a16:creationId xmlns:a16="http://schemas.microsoft.com/office/drawing/2014/main" id="{84314A2A-02F1-EC48-8B01-48A4BF46F2CF}"/>
                </a:ext>
              </a:extLst>
            </p:cNvPr>
            <p:cNvGrpSpPr>
              <a:grpSpLocks/>
            </p:cNvGrpSpPr>
            <p:nvPr/>
          </p:nvGrpSpPr>
          <p:grpSpPr bwMode="auto">
            <a:xfrm>
              <a:off x="921" y="2412"/>
              <a:ext cx="277" cy="261"/>
              <a:chOff x="921" y="2412"/>
              <a:chExt cx="277" cy="261"/>
            </a:xfrm>
          </p:grpSpPr>
          <p:sp>
            <p:nvSpPr>
              <p:cNvPr id="89160" name="Freeform 68">
                <a:extLst>
                  <a:ext uri="{FF2B5EF4-FFF2-40B4-BE49-F238E27FC236}">
                    <a16:creationId xmlns:a16="http://schemas.microsoft.com/office/drawing/2014/main" id="{756B20CB-1707-1B4E-A358-A450458FFC0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1" name="Freeform 69">
                <a:extLst>
                  <a:ext uri="{FF2B5EF4-FFF2-40B4-BE49-F238E27FC236}">
                    <a16:creationId xmlns:a16="http://schemas.microsoft.com/office/drawing/2014/main" id="{81FE1702-BCB8-5C4E-A409-3FBCD026C98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2" name="Freeform 70">
                <a:extLst>
                  <a:ext uri="{FF2B5EF4-FFF2-40B4-BE49-F238E27FC236}">
                    <a16:creationId xmlns:a16="http://schemas.microsoft.com/office/drawing/2014/main" id="{BFB082AF-CAF1-F247-8713-30B5DDBC82A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3" name="Freeform 71">
                <a:extLst>
                  <a:ext uri="{FF2B5EF4-FFF2-40B4-BE49-F238E27FC236}">
                    <a16:creationId xmlns:a16="http://schemas.microsoft.com/office/drawing/2014/main" id="{4619CBF1-314A-984C-AFA1-C30233C5733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4" name="Rectangle 72">
                <a:extLst>
                  <a:ext uri="{FF2B5EF4-FFF2-40B4-BE49-F238E27FC236}">
                    <a16:creationId xmlns:a16="http://schemas.microsoft.com/office/drawing/2014/main" id="{8E1D206A-7B48-5642-A1A3-18352490CAFA}"/>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5" name="Rectangle 73">
                <a:extLst>
                  <a:ext uri="{FF2B5EF4-FFF2-40B4-BE49-F238E27FC236}">
                    <a16:creationId xmlns:a16="http://schemas.microsoft.com/office/drawing/2014/main" id="{80323C71-8BC0-3C41-B3A3-E0BD296E68A5}"/>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6" name="Rectangle 74">
                <a:extLst>
                  <a:ext uri="{FF2B5EF4-FFF2-40B4-BE49-F238E27FC236}">
                    <a16:creationId xmlns:a16="http://schemas.microsoft.com/office/drawing/2014/main" id="{B72E1EF9-2A66-1046-BA05-A6746C727DF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7" name="Line 75">
                <a:extLst>
                  <a:ext uri="{FF2B5EF4-FFF2-40B4-BE49-F238E27FC236}">
                    <a16:creationId xmlns:a16="http://schemas.microsoft.com/office/drawing/2014/main" id="{F8AB5689-6DBE-2741-86A6-2CFA32A2DC3B}"/>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68" name="Group 76">
                <a:extLst>
                  <a:ext uri="{FF2B5EF4-FFF2-40B4-BE49-F238E27FC236}">
                    <a16:creationId xmlns:a16="http://schemas.microsoft.com/office/drawing/2014/main" id="{BAC84EA3-189A-A14F-A25F-4F0007E022FA}"/>
                  </a:ext>
                </a:extLst>
              </p:cNvPr>
              <p:cNvGrpSpPr>
                <a:grpSpLocks/>
              </p:cNvGrpSpPr>
              <p:nvPr/>
            </p:nvGrpSpPr>
            <p:grpSpPr bwMode="auto">
              <a:xfrm>
                <a:off x="921" y="2635"/>
                <a:ext cx="277" cy="38"/>
                <a:chOff x="921" y="2635"/>
                <a:chExt cx="277" cy="38"/>
              </a:xfrm>
            </p:grpSpPr>
            <p:sp>
              <p:nvSpPr>
                <p:cNvPr id="89169" name="Freeform 77">
                  <a:extLst>
                    <a:ext uri="{FF2B5EF4-FFF2-40B4-BE49-F238E27FC236}">
                      <a16:creationId xmlns:a16="http://schemas.microsoft.com/office/drawing/2014/main" id="{2A95CB88-1753-1F4F-8233-07B737BA9936}"/>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0" name="Freeform 78">
                  <a:extLst>
                    <a:ext uri="{FF2B5EF4-FFF2-40B4-BE49-F238E27FC236}">
                      <a16:creationId xmlns:a16="http://schemas.microsoft.com/office/drawing/2014/main" id="{99FE168A-88AA-4F49-BAF7-CCD986406EBD}"/>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1" name="Rectangle 79">
                  <a:extLst>
                    <a:ext uri="{FF2B5EF4-FFF2-40B4-BE49-F238E27FC236}">
                      <a16:creationId xmlns:a16="http://schemas.microsoft.com/office/drawing/2014/main" id="{89C036C8-E1A4-0744-B6E1-E28B7F113E0C}"/>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89112" name="Group 80">
            <a:extLst>
              <a:ext uri="{FF2B5EF4-FFF2-40B4-BE49-F238E27FC236}">
                <a16:creationId xmlns:a16="http://schemas.microsoft.com/office/drawing/2014/main" id="{72D1F9AD-1245-0143-8AA8-AB6083DBACFD}"/>
              </a:ext>
            </a:extLst>
          </p:cNvPr>
          <p:cNvGrpSpPr>
            <a:grpSpLocks/>
          </p:cNvGrpSpPr>
          <p:nvPr/>
        </p:nvGrpSpPr>
        <p:grpSpPr bwMode="auto">
          <a:xfrm>
            <a:off x="7442597" y="2464594"/>
            <a:ext cx="389334" cy="377429"/>
            <a:chOff x="921" y="2412"/>
            <a:chExt cx="284" cy="265"/>
          </a:xfrm>
        </p:grpSpPr>
        <p:grpSp>
          <p:nvGrpSpPr>
            <p:cNvPr id="89132" name="Group 81">
              <a:extLst>
                <a:ext uri="{FF2B5EF4-FFF2-40B4-BE49-F238E27FC236}">
                  <a16:creationId xmlns:a16="http://schemas.microsoft.com/office/drawing/2014/main" id="{032D4987-1358-7E4D-8D57-0AB7A2E1CA97}"/>
                </a:ext>
              </a:extLst>
            </p:cNvPr>
            <p:cNvGrpSpPr>
              <a:grpSpLocks/>
            </p:cNvGrpSpPr>
            <p:nvPr/>
          </p:nvGrpSpPr>
          <p:grpSpPr bwMode="auto">
            <a:xfrm>
              <a:off x="928" y="2417"/>
              <a:ext cx="277" cy="260"/>
              <a:chOff x="928" y="2417"/>
              <a:chExt cx="277" cy="260"/>
            </a:xfrm>
          </p:grpSpPr>
          <p:sp>
            <p:nvSpPr>
              <p:cNvPr id="89146" name="Freeform 82">
                <a:extLst>
                  <a:ext uri="{FF2B5EF4-FFF2-40B4-BE49-F238E27FC236}">
                    <a16:creationId xmlns:a16="http://schemas.microsoft.com/office/drawing/2014/main" id="{6BD513E5-ABE7-5646-B525-3C35BD29F6D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7" name="Freeform 83">
                <a:extLst>
                  <a:ext uri="{FF2B5EF4-FFF2-40B4-BE49-F238E27FC236}">
                    <a16:creationId xmlns:a16="http://schemas.microsoft.com/office/drawing/2014/main" id="{E113FF8E-2597-7C41-B45C-0094DB09782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8" name="Freeform 84">
                <a:extLst>
                  <a:ext uri="{FF2B5EF4-FFF2-40B4-BE49-F238E27FC236}">
                    <a16:creationId xmlns:a16="http://schemas.microsoft.com/office/drawing/2014/main" id="{5E09EE3B-FAD4-A946-8568-D39A07CB71A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9" name="Freeform 85">
                <a:extLst>
                  <a:ext uri="{FF2B5EF4-FFF2-40B4-BE49-F238E27FC236}">
                    <a16:creationId xmlns:a16="http://schemas.microsoft.com/office/drawing/2014/main" id="{C71142D0-C660-D345-B879-D846334D1B5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0" name="Rectangle 86">
                <a:extLst>
                  <a:ext uri="{FF2B5EF4-FFF2-40B4-BE49-F238E27FC236}">
                    <a16:creationId xmlns:a16="http://schemas.microsoft.com/office/drawing/2014/main" id="{F2DDAE5A-8829-DB43-AEAA-7551875CC0B2}"/>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1" name="Rectangle 87">
                <a:extLst>
                  <a:ext uri="{FF2B5EF4-FFF2-40B4-BE49-F238E27FC236}">
                    <a16:creationId xmlns:a16="http://schemas.microsoft.com/office/drawing/2014/main" id="{B65564E7-C645-AE46-911A-DF3541553B85}"/>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2" name="Rectangle 88">
                <a:extLst>
                  <a:ext uri="{FF2B5EF4-FFF2-40B4-BE49-F238E27FC236}">
                    <a16:creationId xmlns:a16="http://schemas.microsoft.com/office/drawing/2014/main" id="{321DC8CE-E591-4644-A7A9-3990F262B54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3" name="Line 89">
                <a:extLst>
                  <a:ext uri="{FF2B5EF4-FFF2-40B4-BE49-F238E27FC236}">
                    <a16:creationId xmlns:a16="http://schemas.microsoft.com/office/drawing/2014/main" id="{27DE663C-A3BF-5B42-A851-F4EA3F4F7E3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54" name="Group 90">
                <a:extLst>
                  <a:ext uri="{FF2B5EF4-FFF2-40B4-BE49-F238E27FC236}">
                    <a16:creationId xmlns:a16="http://schemas.microsoft.com/office/drawing/2014/main" id="{CCCA1FC7-B627-9A4E-BC11-2308CE7E889F}"/>
                  </a:ext>
                </a:extLst>
              </p:cNvPr>
              <p:cNvGrpSpPr>
                <a:grpSpLocks/>
              </p:cNvGrpSpPr>
              <p:nvPr/>
            </p:nvGrpSpPr>
            <p:grpSpPr bwMode="auto">
              <a:xfrm>
                <a:off x="928" y="2639"/>
                <a:ext cx="277" cy="38"/>
                <a:chOff x="928" y="2639"/>
                <a:chExt cx="277" cy="38"/>
              </a:xfrm>
            </p:grpSpPr>
            <p:sp>
              <p:nvSpPr>
                <p:cNvPr id="89155" name="Freeform 91">
                  <a:extLst>
                    <a:ext uri="{FF2B5EF4-FFF2-40B4-BE49-F238E27FC236}">
                      <a16:creationId xmlns:a16="http://schemas.microsoft.com/office/drawing/2014/main" id="{741DD073-7946-9440-9AB6-363B59278D4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6" name="Freeform 92">
                  <a:extLst>
                    <a:ext uri="{FF2B5EF4-FFF2-40B4-BE49-F238E27FC236}">
                      <a16:creationId xmlns:a16="http://schemas.microsoft.com/office/drawing/2014/main" id="{B93B7C58-9074-F84D-A6D5-89BE75057F31}"/>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7" name="Rectangle 93">
                  <a:extLst>
                    <a:ext uri="{FF2B5EF4-FFF2-40B4-BE49-F238E27FC236}">
                      <a16:creationId xmlns:a16="http://schemas.microsoft.com/office/drawing/2014/main" id="{4F066B18-67B2-FF48-A831-2E8F58404BFD}"/>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9133" name="Group 94">
              <a:extLst>
                <a:ext uri="{FF2B5EF4-FFF2-40B4-BE49-F238E27FC236}">
                  <a16:creationId xmlns:a16="http://schemas.microsoft.com/office/drawing/2014/main" id="{91C6BB23-6FC2-A94A-AE3A-9D1C84F833F4}"/>
                </a:ext>
              </a:extLst>
            </p:cNvPr>
            <p:cNvGrpSpPr>
              <a:grpSpLocks/>
            </p:cNvGrpSpPr>
            <p:nvPr/>
          </p:nvGrpSpPr>
          <p:grpSpPr bwMode="auto">
            <a:xfrm>
              <a:off x="921" y="2412"/>
              <a:ext cx="277" cy="261"/>
              <a:chOff x="921" y="2412"/>
              <a:chExt cx="277" cy="261"/>
            </a:xfrm>
          </p:grpSpPr>
          <p:sp>
            <p:nvSpPr>
              <p:cNvPr id="89134" name="Freeform 95">
                <a:extLst>
                  <a:ext uri="{FF2B5EF4-FFF2-40B4-BE49-F238E27FC236}">
                    <a16:creationId xmlns:a16="http://schemas.microsoft.com/office/drawing/2014/main" id="{39BEA38A-0245-1A40-AA52-B9138AC5249E}"/>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5" name="Freeform 96">
                <a:extLst>
                  <a:ext uri="{FF2B5EF4-FFF2-40B4-BE49-F238E27FC236}">
                    <a16:creationId xmlns:a16="http://schemas.microsoft.com/office/drawing/2014/main" id="{35982C7B-B920-904E-8B0F-514F8073673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6" name="Freeform 97">
                <a:extLst>
                  <a:ext uri="{FF2B5EF4-FFF2-40B4-BE49-F238E27FC236}">
                    <a16:creationId xmlns:a16="http://schemas.microsoft.com/office/drawing/2014/main" id="{CA122F82-F6DE-704B-8B18-55BC2EFF2173}"/>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7" name="Freeform 98">
                <a:extLst>
                  <a:ext uri="{FF2B5EF4-FFF2-40B4-BE49-F238E27FC236}">
                    <a16:creationId xmlns:a16="http://schemas.microsoft.com/office/drawing/2014/main" id="{BD3391EB-4EDE-124C-8DBB-848F08C0F65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8" name="Rectangle 99">
                <a:extLst>
                  <a:ext uri="{FF2B5EF4-FFF2-40B4-BE49-F238E27FC236}">
                    <a16:creationId xmlns:a16="http://schemas.microsoft.com/office/drawing/2014/main" id="{BB64E4B9-CD75-EA45-92A7-424029001C80}"/>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39" name="Rectangle 100">
                <a:extLst>
                  <a:ext uri="{FF2B5EF4-FFF2-40B4-BE49-F238E27FC236}">
                    <a16:creationId xmlns:a16="http://schemas.microsoft.com/office/drawing/2014/main" id="{B5960C7A-A60B-1547-AC9F-3C868A8C9E5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40" name="Rectangle 101">
                <a:extLst>
                  <a:ext uri="{FF2B5EF4-FFF2-40B4-BE49-F238E27FC236}">
                    <a16:creationId xmlns:a16="http://schemas.microsoft.com/office/drawing/2014/main" id="{0B5C70C5-CE9B-7E40-B994-DA03D4D10E9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41" name="Line 102">
                <a:extLst>
                  <a:ext uri="{FF2B5EF4-FFF2-40B4-BE49-F238E27FC236}">
                    <a16:creationId xmlns:a16="http://schemas.microsoft.com/office/drawing/2014/main" id="{A57E52D3-175A-C74B-ACBC-B8D68AFD57D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42" name="Group 103">
                <a:extLst>
                  <a:ext uri="{FF2B5EF4-FFF2-40B4-BE49-F238E27FC236}">
                    <a16:creationId xmlns:a16="http://schemas.microsoft.com/office/drawing/2014/main" id="{354CC6E1-2D14-D341-84B4-E6DB241AEE8E}"/>
                  </a:ext>
                </a:extLst>
              </p:cNvPr>
              <p:cNvGrpSpPr>
                <a:grpSpLocks/>
              </p:cNvGrpSpPr>
              <p:nvPr/>
            </p:nvGrpSpPr>
            <p:grpSpPr bwMode="auto">
              <a:xfrm>
                <a:off x="921" y="2635"/>
                <a:ext cx="277" cy="38"/>
                <a:chOff x="921" y="2635"/>
                <a:chExt cx="277" cy="38"/>
              </a:xfrm>
            </p:grpSpPr>
            <p:sp>
              <p:nvSpPr>
                <p:cNvPr id="89143" name="Freeform 104">
                  <a:extLst>
                    <a:ext uri="{FF2B5EF4-FFF2-40B4-BE49-F238E27FC236}">
                      <a16:creationId xmlns:a16="http://schemas.microsoft.com/office/drawing/2014/main" id="{EFD61F15-C456-2B4E-A26E-026157BAF2C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4" name="Freeform 105">
                  <a:extLst>
                    <a:ext uri="{FF2B5EF4-FFF2-40B4-BE49-F238E27FC236}">
                      <a16:creationId xmlns:a16="http://schemas.microsoft.com/office/drawing/2014/main" id="{B746C6E0-286C-7348-8C5F-15902D7D2FD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5" name="Rectangle 106">
                  <a:extLst>
                    <a:ext uri="{FF2B5EF4-FFF2-40B4-BE49-F238E27FC236}">
                      <a16:creationId xmlns:a16="http://schemas.microsoft.com/office/drawing/2014/main" id="{70AAC2BA-7D49-554E-89D9-C58295A6C5D3}"/>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89113" name="Text Box 107">
            <a:extLst>
              <a:ext uri="{FF2B5EF4-FFF2-40B4-BE49-F238E27FC236}">
                <a16:creationId xmlns:a16="http://schemas.microsoft.com/office/drawing/2014/main" id="{0B68E638-1146-FE44-8580-31DD5882DBEC}"/>
              </a:ext>
            </a:extLst>
          </p:cNvPr>
          <p:cNvSpPr txBox="1">
            <a:spLocks noChangeArrowheads="1"/>
          </p:cNvSpPr>
          <p:nvPr/>
        </p:nvSpPr>
        <p:spPr bwMode="auto">
          <a:xfrm>
            <a:off x="4227910" y="2078831"/>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因特网</a:t>
            </a:r>
          </a:p>
        </p:txBody>
      </p:sp>
      <p:sp>
        <p:nvSpPr>
          <p:cNvPr id="600174" name="Rectangle 110">
            <a:extLst>
              <a:ext uri="{FF2B5EF4-FFF2-40B4-BE49-F238E27FC236}">
                <a16:creationId xmlns:a16="http://schemas.microsoft.com/office/drawing/2014/main" id="{4633DC38-9D3A-2B44-B6C6-39AD04841157}"/>
              </a:ext>
            </a:extLst>
          </p:cNvPr>
          <p:cNvSpPr>
            <a:spLocks noChangeArrowheads="1"/>
          </p:cNvSpPr>
          <p:nvPr/>
        </p:nvSpPr>
        <p:spPr bwMode="auto">
          <a:xfrm>
            <a:off x="6827044" y="2787254"/>
            <a:ext cx="510779" cy="435769"/>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E</a:t>
            </a:r>
            <a:r>
              <a:rPr kumimoji="1" lang="en-US" altLang="zh-CN" sz="1350">
                <a:solidFill>
                  <a:schemeClr val="tx2"/>
                </a:solidFill>
                <a:latin typeface="Arial" panose="020B0604020202020204" pitchFamily="34" charset="0"/>
              </a:rPr>
              <a:t> </a:t>
            </a:r>
            <a:r>
              <a:rPr kumimoji="1" lang="zh-CN" altLang="en-US" sz="1350">
                <a:solidFill>
                  <a:schemeClr val="tx2"/>
                </a:solidFill>
                <a:latin typeface="Arial" panose="020B0604020202020204" pitchFamily="34" charset="0"/>
              </a:rPr>
              <a:t>运算</a:t>
            </a:r>
          </a:p>
        </p:txBody>
      </p:sp>
      <p:pic>
        <p:nvPicPr>
          <p:cNvPr id="89115" name="Picture 111">
            <a:extLst>
              <a:ext uri="{FF2B5EF4-FFF2-40B4-BE49-F238E27FC236}">
                <a16:creationId xmlns:a16="http://schemas.microsoft.com/office/drawing/2014/main" id="{5CA0FB34-765B-CF47-B2B8-8E7A087D7E0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3260527" y="2093715"/>
            <a:ext cx="307181" cy="15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6" name="Picture 112">
            <a:extLst>
              <a:ext uri="{FF2B5EF4-FFF2-40B4-BE49-F238E27FC236}">
                <a16:creationId xmlns:a16="http://schemas.microsoft.com/office/drawing/2014/main" id="{174D1047-FA24-6C43-B86F-9ACF64DE1D3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5663803" y="2094310"/>
            <a:ext cx="307181" cy="152400"/>
          </a:xfrm>
          <a:prstGeom prst="rect">
            <a:avLst/>
          </a:prstGeom>
          <a:solidFill>
            <a:srgbClr val="FFCCFF"/>
          </a:solidFill>
          <a:ln w="12699">
            <a:solidFill>
              <a:schemeClr val="tx1"/>
            </a:solidFill>
            <a:miter lim="800000"/>
            <a:headEnd/>
            <a:tailEnd/>
          </a:ln>
        </p:spPr>
      </p:pic>
      <p:sp>
        <p:nvSpPr>
          <p:cNvPr id="89117" name="Text Box 113">
            <a:extLst>
              <a:ext uri="{FF2B5EF4-FFF2-40B4-BE49-F238E27FC236}">
                <a16:creationId xmlns:a16="http://schemas.microsoft.com/office/drawing/2014/main" id="{6EF95FAB-A52C-4A4C-86BA-E9D4D4551674}"/>
              </a:ext>
            </a:extLst>
          </p:cNvPr>
          <p:cNvSpPr txBox="1">
            <a:spLocks noChangeArrowheads="1"/>
          </p:cNvSpPr>
          <p:nvPr/>
        </p:nvSpPr>
        <p:spPr bwMode="auto">
          <a:xfrm>
            <a:off x="5282804" y="1707356"/>
            <a:ext cx="1223412"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B </a:t>
            </a:r>
            <a:r>
              <a:rPr kumimoji="1" lang="zh-CN" altLang="en-US" sz="1350">
                <a:solidFill>
                  <a:schemeClr val="tx2"/>
                </a:solidFill>
                <a:latin typeface="Arial" panose="020B0604020202020204" pitchFamily="34" charset="0"/>
                <a:ea typeface="宋体" panose="02010600030101010101" pitchFamily="2" charset="-122"/>
              </a:rPr>
              <a:t>的私钥 </a:t>
            </a:r>
            <a:r>
              <a:rPr kumimoji="1" lang="en-US" altLang="zh-CN" sz="1350" i="1">
                <a:solidFill>
                  <a:schemeClr val="tx2"/>
                </a:solidFill>
                <a:latin typeface="Arial" panose="020B0604020202020204" pitchFamily="34" charset="0"/>
                <a:ea typeface="宋体" panose="02010600030101010101" pitchFamily="2" charset="-122"/>
              </a:rPr>
              <a:t>SK</a:t>
            </a:r>
            <a:r>
              <a:rPr kumimoji="1" lang="en-US" altLang="zh-CN" sz="1350" baseline="-25000">
                <a:solidFill>
                  <a:schemeClr val="tx2"/>
                </a:solidFill>
                <a:latin typeface="Arial" panose="020B0604020202020204" pitchFamily="34" charset="0"/>
                <a:ea typeface="宋体" panose="02010600030101010101" pitchFamily="2" charset="-122"/>
              </a:rPr>
              <a:t>B</a:t>
            </a:r>
          </a:p>
        </p:txBody>
      </p:sp>
      <p:sp>
        <p:nvSpPr>
          <p:cNvPr id="600178" name="Line 114">
            <a:extLst>
              <a:ext uri="{FF2B5EF4-FFF2-40B4-BE49-F238E27FC236}">
                <a16:creationId xmlns:a16="http://schemas.microsoft.com/office/drawing/2014/main" id="{98C492B0-3E90-4F49-BB32-2622C8E5EBBE}"/>
              </a:ext>
            </a:extLst>
          </p:cNvPr>
          <p:cNvSpPr>
            <a:spLocks noChangeShapeType="1"/>
          </p:cNvSpPr>
          <p:nvPr/>
        </p:nvSpPr>
        <p:spPr bwMode="auto">
          <a:xfrm>
            <a:off x="3673079" y="3003947"/>
            <a:ext cx="1943100"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79" name="Rectangle 115">
            <a:extLst>
              <a:ext uri="{FF2B5EF4-FFF2-40B4-BE49-F238E27FC236}">
                <a16:creationId xmlns:a16="http://schemas.microsoft.com/office/drawing/2014/main" id="{E89936D8-9106-0742-B6D6-F134FA2E8DF1}"/>
              </a:ext>
            </a:extLst>
          </p:cNvPr>
          <p:cNvSpPr>
            <a:spLocks noChangeArrowheads="1"/>
          </p:cNvSpPr>
          <p:nvPr/>
        </p:nvSpPr>
        <p:spPr bwMode="auto">
          <a:xfrm>
            <a:off x="5605462" y="2787254"/>
            <a:ext cx="510779" cy="435769"/>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D </a:t>
            </a:r>
            <a:r>
              <a:rPr kumimoji="1" lang="zh-CN" altLang="en-US" sz="1350">
                <a:solidFill>
                  <a:schemeClr val="tx2"/>
                </a:solidFill>
                <a:latin typeface="Arial" panose="020B0604020202020204" pitchFamily="34" charset="0"/>
              </a:rPr>
              <a:t>运算</a:t>
            </a:r>
          </a:p>
        </p:txBody>
      </p:sp>
      <p:sp>
        <p:nvSpPr>
          <p:cNvPr id="600180" name="Line 116">
            <a:extLst>
              <a:ext uri="{FF2B5EF4-FFF2-40B4-BE49-F238E27FC236}">
                <a16:creationId xmlns:a16="http://schemas.microsoft.com/office/drawing/2014/main" id="{361AFCB7-E7C7-464D-9F82-F46F67FE2264}"/>
              </a:ext>
            </a:extLst>
          </p:cNvPr>
          <p:cNvSpPr>
            <a:spLocks noChangeShapeType="1"/>
          </p:cNvSpPr>
          <p:nvPr/>
        </p:nvSpPr>
        <p:spPr bwMode="auto">
          <a:xfrm>
            <a:off x="6116241" y="3003947"/>
            <a:ext cx="721519" cy="0"/>
          </a:xfrm>
          <a:prstGeom prst="line">
            <a:avLst/>
          </a:prstGeom>
          <a:noFill/>
          <a:ln w="57150">
            <a:solidFill>
              <a:schemeClr val="tx1"/>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81" name="Freeform 117">
            <a:extLst>
              <a:ext uri="{FF2B5EF4-FFF2-40B4-BE49-F238E27FC236}">
                <a16:creationId xmlns:a16="http://schemas.microsoft.com/office/drawing/2014/main" id="{960C19B4-47D5-9348-AAC2-CBAB4F60A184}"/>
              </a:ext>
            </a:extLst>
          </p:cNvPr>
          <p:cNvSpPr>
            <a:spLocks/>
          </p:cNvSpPr>
          <p:nvPr/>
        </p:nvSpPr>
        <p:spPr bwMode="auto">
          <a:xfrm>
            <a:off x="3405188" y="2375297"/>
            <a:ext cx="7144" cy="438150"/>
          </a:xfrm>
          <a:custGeom>
            <a:avLst/>
            <a:gdLst>
              <a:gd name="T0" fmla="*/ 0 w 6"/>
              <a:gd name="T1" fmla="*/ 0 h 368"/>
              <a:gd name="T2" fmla="*/ 9525 w 6"/>
              <a:gd name="T3" fmla="*/ 584200 h 368"/>
              <a:gd name="T4" fmla="*/ 0 60000 65536"/>
              <a:gd name="T5" fmla="*/ 0 60000 65536"/>
            </a:gdLst>
            <a:ahLst/>
            <a:cxnLst>
              <a:cxn ang="T4">
                <a:pos x="T0" y="T1"/>
              </a:cxn>
              <a:cxn ang="T5">
                <a:pos x="T2" y="T3"/>
              </a:cxn>
            </a:cxnLst>
            <a:rect l="0" t="0" r="r" b="b"/>
            <a:pathLst>
              <a:path w="6" h="368">
                <a:moveTo>
                  <a:pt x="0" y="0"/>
                </a:moveTo>
                <a:lnTo>
                  <a:pt x="6" y="368"/>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82" name="Freeform 118">
            <a:extLst>
              <a:ext uri="{FF2B5EF4-FFF2-40B4-BE49-F238E27FC236}">
                <a16:creationId xmlns:a16="http://schemas.microsoft.com/office/drawing/2014/main" id="{78346B3B-8D44-3B44-A611-93C15C85AAEB}"/>
              </a:ext>
            </a:extLst>
          </p:cNvPr>
          <p:cNvSpPr>
            <a:spLocks/>
          </p:cNvSpPr>
          <p:nvPr/>
        </p:nvSpPr>
        <p:spPr bwMode="auto">
          <a:xfrm>
            <a:off x="5835254" y="2337198"/>
            <a:ext cx="2381" cy="463153"/>
          </a:xfrm>
          <a:custGeom>
            <a:avLst/>
            <a:gdLst>
              <a:gd name="T0" fmla="*/ 0 w 2"/>
              <a:gd name="T1" fmla="*/ 0 h 389"/>
              <a:gd name="T2" fmla="*/ 3175 w 2"/>
              <a:gd name="T3" fmla="*/ 6175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83" name="Line 119">
            <a:extLst>
              <a:ext uri="{FF2B5EF4-FFF2-40B4-BE49-F238E27FC236}">
                <a16:creationId xmlns:a16="http://schemas.microsoft.com/office/drawing/2014/main" id="{D0C720AE-40A7-2B43-BD84-A3D3D648E780}"/>
              </a:ext>
            </a:extLst>
          </p:cNvPr>
          <p:cNvSpPr>
            <a:spLocks noChangeShapeType="1"/>
          </p:cNvSpPr>
          <p:nvPr/>
        </p:nvSpPr>
        <p:spPr bwMode="auto">
          <a:xfrm>
            <a:off x="3171825" y="3651647"/>
            <a:ext cx="2944416" cy="0"/>
          </a:xfrm>
          <a:prstGeom prst="line">
            <a:avLst/>
          </a:prstGeom>
          <a:noFill/>
          <a:ln w="28575">
            <a:solidFill>
              <a:schemeClr val="folHlink"/>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89124" name="Text Box 120">
            <a:extLst>
              <a:ext uri="{FF2B5EF4-FFF2-40B4-BE49-F238E27FC236}">
                <a16:creationId xmlns:a16="http://schemas.microsoft.com/office/drawing/2014/main" id="{0D513E05-5B92-2D44-BFD1-DA50C287A9DB}"/>
              </a:ext>
            </a:extLst>
          </p:cNvPr>
          <p:cNvSpPr txBox="1">
            <a:spLocks noChangeArrowheads="1"/>
          </p:cNvSpPr>
          <p:nvPr/>
        </p:nvSpPr>
        <p:spPr bwMode="auto">
          <a:xfrm>
            <a:off x="4061222" y="3470672"/>
            <a:ext cx="133882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加密与解密</a:t>
            </a:r>
          </a:p>
        </p:txBody>
      </p:sp>
      <p:sp>
        <p:nvSpPr>
          <p:cNvPr id="600185" name="Line 121">
            <a:extLst>
              <a:ext uri="{FF2B5EF4-FFF2-40B4-BE49-F238E27FC236}">
                <a16:creationId xmlns:a16="http://schemas.microsoft.com/office/drawing/2014/main" id="{EFFEDD11-5BF2-8D43-BA46-663F48FF0BD1}"/>
              </a:ext>
            </a:extLst>
          </p:cNvPr>
          <p:cNvSpPr>
            <a:spLocks noChangeShapeType="1"/>
          </p:cNvSpPr>
          <p:nvPr/>
        </p:nvSpPr>
        <p:spPr bwMode="auto">
          <a:xfrm>
            <a:off x="2022872" y="3956447"/>
            <a:ext cx="5304234" cy="19050"/>
          </a:xfrm>
          <a:prstGeom prst="line">
            <a:avLst/>
          </a:prstGeom>
          <a:noFill/>
          <a:ln w="28575">
            <a:solidFill>
              <a:schemeClr val="folHlink"/>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89126" name="Text Box 122">
            <a:extLst>
              <a:ext uri="{FF2B5EF4-FFF2-40B4-BE49-F238E27FC236}">
                <a16:creationId xmlns:a16="http://schemas.microsoft.com/office/drawing/2014/main" id="{8F2953AA-3303-A741-9938-C3CF22E1870B}"/>
              </a:ext>
            </a:extLst>
          </p:cNvPr>
          <p:cNvSpPr txBox="1">
            <a:spLocks noChangeArrowheads="1"/>
          </p:cNvSpPr>
          <p:nvPr/>
        </p:nvSpPr>
        <p:spPr bwMode="auto">
          <a:xfrm>
            <a:off x="3782616" y="3794522"/>
            <a:ext cx="180049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签名与核实签名</a:t>
            </a:r>
          </a:p>
        </p:txBody>
      </p:sp>
      <p:graphicFrame>
        <p:nvGraphicFramePr>
          <p:cNvPr id="89127" name="Object 125">
            <a:extLst>
              <a:ext uri="{FF2B5EF4-FFF2-40B4-BE49-F238E27FC236}">
                <a16:creationId xmlns:a16="http://schemas.microsoft.com/office/drawing/2014/main" id="{40AB0504-84CB-304D-A997-BD8C979EDA9F}"/>
              </a:ext>
            </a:extLst>
          </p:cNvPr>
          <p:cNvGraphicFramePr>
            <a:graphicFrameLocks noChangeAspect="1"/>
          </p:cNvGraphicFramePr>
          <p:nvPr/>
        </p:nvGraphicFramePr>
        <p:xfrm>
          <a:off x="4054079" y="2739628"/>
          <a:ext cx="1132284" cy="271463"/>
        </p:xfrm>
        <a:graphic>
          <a:graphicData uri="http://schemas.openxmlformats.org/presentationml/2006/ole">
            <mc:AlternateContent xmlns:mc="http://schemas.openxmlformats.org/markup-compatibility/2006">
              <mc:Choice xmlns:v="urn:schemas-microsoft-com:vml" Requires="v">
                <p:oleObj spid="_x0000_s74788" name="公式" r:id="rId10" imgW="22529800" imgH="5562600" progId="Equation.3">
                  <p:embed/>
                </p:oleObj>
              </mc:Choice>
              <mc:Fallback>
                <p:oleObj name="公式" r:id="rId10" imgW="22529800" imgH="5562600" progId="Equation.3">
                  <p:embed/>
                  <p:pic>
                    <p:nvPicPr>
                      <p:cNvPr id="89127" name="Object 125">
                        <a:extLst>
                          <a:ext uri="{FF2B5EF4-FFF2-40B4-BE49-F238E27FC236}">
                            <a16:creationId xmlns:a16="http://schemas.microsoft.com/office/drawing/2014/main" id="{40AB0504-84CB-304D-A997-BD8C979EDA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54079" y="2739628"/>
                        <a:ext cx="1132284"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128" name="Text Box 126">
            <a:extLst>
              <a:ext uri="{FF2B5EF4-FFF2-40B4-BE49-F238E27FC236}">
                <a16:creationId xmlns:a16="http://schemas.microsoft.com/office/drawing/2014/main" id="{E2D6D37C-ABDE-C84D-8016-440C7336D2F4}"/>
              </a:ext>
            </a:extLst>
          </p:cNvPr>
          <p:cNvSpPr txBox="1">
            <a:spLocks noChangeArrowheads="1"/>
          </p:cNvSpPr>
          <p:nvPr/>
        </p:nvSpPr>
        <p:spPr bwMode="auto">
          <a:xfrm>
            <a:off x="2950369" y="1707356"/>
            <a:ext cx="1223412"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B </a:t>
            </a:r>
            <a:r>
              <a:rPr kumimoji="1" lang="zh-CN" altLang="en-US" sz="1350">
                <a:solidFill>
                  <a:schemeClr val="tx2"/>
                </a:solidFill>
                <a:latin typeface="Arial" panose="020B0604020202020204" pitchFamily="34" charset="0"/>
                <a:ea typeface="宋体" panose="02010600030101010101" pitchFamily="2" charset="-122"/>
              </a:rPr>
              <a:t>的公钥 </a:t>
            </a:r>
            <a:r>
              <a:rPr kumimoji="1" lang="en-US" altLang="zh-CN" sz="1350" i="1">
                <a:solidFill>
                  <a:schemeClr val="tx2"/>
                </a:solidFill>
                <a:latin typeface="Arial" panose="020B0604020202020204" pitchFamily="34" charset="0"/>
                <a:ea typeface="宋体" panose="02010600030101010101" pitchFamily="2" charset="-122"/>
              </a:rPr>
              <a:t>PK</a:t>
            </a:r>
            <a:r>
              <a:rPr kumimoji="1" lang="en-US" altLang="zh-CN" sz="1350" baseline="-25000">
                <a:solidFill>
                  <a:schemeClr val="tx2"/>
                </a:solidFill>
                <a:latin typeface="Arial" panose="020B0604020202020204" pitchFamily="34" charset="0"/>
                <a:ea typeface="宋体" panose="02010600030101010101" pitchFamily="2" charset="-122"/>
              </a:rPr>
              <a:t>B</a:t>
            </a:r>
          </a:p>
        </p:txBody>
      </p:sp>
      <p:sp>
        <p:nvSpPr>
          <p:cNvPr id="89129" name="Text Box 127">
            <a:extLst>
              <a:ext uri="{FF2B5EF4-FFF2-40B4-BE49-F238E27FC236}">
                <a16:creationId xmlns:a16="http://schemas.microsoft.com/office/drawing/2014/main" id="{9A37BE39-E7C0-9344-9100-32ADC82A909D}"/>
              </a:ext>
            </a:extLst>
          </p:cNvPr>
          <p:cNvSpPr txBox="1">
            <a:spLocks noChangeArrowheads="1"/>
          </p:cNvSpPr>
          <p:nvPr/>
        </p:nvSpPr>
        <p:spPr bwMode="auto">
          <a:xfrm>
            <a:off x="6560344" y="1653778"/>
            <a:ext cx="1213858"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A </a:t>
            </a:r>
            <a:r>
              <a:rPr kumimoji="1" lang="zh-CN" altLang="en-US" sz="1350">
                <a:solidFill>
                  <a:schemeClr val="tx2"/>
                </a:solidFill>
                <a:latin typeface="Arial" panose="020B0604020202020204" pitchFamily="34" charset="0"/>
                <a:ea typeface="宋体" panose="02010600030101010101" pitchFamily="2" charset="-122"/>
              </a:rPr>
              <a:t>的公钥 </a:t>
            </a:r>
            <a:r>
              <a:rPr kumimoji="1" lang="en-US" altLang="zh-CN" sz="1350" i="1">
                <a:solidFill>
                  <a:schemeClr val="tx2"/>
                </a:solidFill>
                <a:latin typeface="Arial" panose="020B0604020202020204" pitchFamily="34" charset="0"/>
                <a:ea typeface="宋体" panose="02010600030101010101" pitchFamily="2" charset="-122"/>
              </a:rPr>
              <a:t>PK</a:t>
            </a:r>
            <a:r>
              <a:rPr kumimoji="1" lang="en-US" altLang="zh-CN" sz="1350" baseline="-25000">
                <a:solidFill>
                  <a:schemeClr val="tx2"/>
                </a:solidFill>
                <a:latin typeface="Arial" panose="020B0604020202020204" pitchFamily="34" charset="0"/>
                <a:ea typeface="宋体" panose="02010600030101010101" pitchFamily="2" charset="-122"/>
              </a:rPr>
              <a:t>A</a:t>
            </a:r>
          </a:p>
        </p:txBody>
      </p:sp>
      <p:sp>
        <p:nvSpPr>
          <p:cNvPr id="89130" name="Text Box 130">
            <a:extLst>
              <a:ext uri="{FF2B5EF4-FFF2-40B4-BE49-F238E27FC236}">
                <a16:creationId xmlns:a16="http://schemas.microsoft.com/office/drawing/2014/main" id="{5BA2847F-6F00-3A48-AE26-70936647F454}"/>
              </a:ext>
            </a:extLst>
          </p:cNvPr>
          <p:cNvSpPr txBox="1">
            <a:spLocks noChangeArrowheads="1"/>
          </p:cNvSpPr>
          <p:nvPr/>
        </p:nvSpPr>
        <p:spPr bwMode="auto">
          <a:xfrm>
            <a:off x="4449367" y="2514600"/>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密文</a:t>
            </a:r>
            <a:endParaRPr kumimoji="1" lang="zh-CN" altLang="en-US" sz="1350" i="1">
              <a:solidFill>
                <a:schemeClr val="tx2"/>
              </a:solidFill>
              <a:latin typeface="Arial" panose="020B0604020202020204" pitchFamily="34" charset="0"/>
              <a:ea typeface="宋体" panose="02010600030101010101" pitchFamily="2" charset="-122"/>
            </a:endParaRPr>
          </a:p>
        </p:txBody>
      </p:sp>
      <p:sp>
        <p:nvSpPr>
          <p:cNvPr id="89131" name="幻灯片编号占位符 1">
            <a:extLst>
              <a:ext uri="{FF2B5EF4-FFF2-40B4-BE49-F238E27FC236}">
                <a16:creationId xmlns:a16="http://schemas.microsoft.com/office/drawing/2014/main" id="{9CD19C61-28C2-AE4B-8263-8AA6CC928D6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F84D540-25F5-3E4D-9C36-1A95B324521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2565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2144C4B1-27BD-3544-8D1F-5D05F0F3F49C}"/>
              </a:ext>
            </a:extLst>
          </p:cNvPr>
          <p:cNvSpPr>
            <a:spLocks noGrp="1" noChangeArrowheads="1"/>
          </p:cNvSpPr>
          <p:nvPr>
            <p:ph type="title"/>
          </p:nvPr>
        </p:nvSpPr>
        <p:spPr>
          <a:xfrm>
            <a:off x="182880" y="276464"/>
            <a:ext cx="6804423" cy="580786"/>
          </a:xfrm>
        </p:spPr>
        <p:txBody>
          <a:bodyPr/>
          <a:lstStyle/>
          <a:p>
            <a:pPr eaLnBrk="1" hangingPunct="1"/>
            <a:r>
              <a:rPr lang="en-US" altLang="zh-CN" sz="3600" dirty="0">
                <a:ea typeface="宋体" panose="02010600030101010101" pitchFamily="2" charset="-122"/>
              </a:rPr>
              <a:t>7.4  </a:t>
            </a:r>
            <a:r>
              <a:rPr lang="zh-CN" altLang="en-US" sz="3600" dirty="0">
                <a:ea typeface="宋体" panose="02010600030101010101" pitchFamily="2" charset="-122"/>
              </a:rPr>
              <a:t>鉴别</a:t>
            </a:r>
          </a:p>
        </p:txBody>
      </p:sp>
      <p:sp>
        <p:nvSpPr>
          <p:cNvPr id="601091" name="Rectangle 3">
            <a:extLst>
              <a:ext uri="{FF2B5EF4-FFF2-40B4-BE49-F238E27FC236}">
                <a16:creationId xmlns:a16="http://schemas.microsoft.com/office/drawing/2014/main" id="{9741305D-14DD-E249-8266-70B15AA040B8}"/>
              </a:ext>
            </a:extLst>
          </p:cNvPr>
          <p:cNvSpPr>
            <a:spLocks noGrp="1" noChangeArrowheads="1"/>
          </p:cNvSpPr>
          <p:nvPr>
            <p:ph type="body" idx="1"/>
          </p:nvPr>
        </p:nvSpPr>
        <p:spPr>
          <a:xfrm>
            <a:off x="182880" y="1086802"/>
            <a:ext cx="8732520" cy="3780234"/>
          </a:xfrm>
        </p:spPr>
        <p:txBody>
          <a:bodyPr/>
          <a:lstStyle/>
          <a:p>
            <a:pPr eaLnBrk="1" hangingPunct="1"/>
            <a:r>
              <a:rPr lang="zh-CN" altLang="en-US" sz="2100" dirty="0">
                <a:ea typeface="宋体" panose="02010600030101010101" pitchFamily="2" charset="-122"/>
              </a:rPr>
              <a:t>在信息的安全领域中，对付被动攻击的重要措施是加密，而对付主动攻击中的篡改和伪造则要用</a:t>
            </a:r>
            <a:r>
              <a:rPr lang="zh-CN" altLang="en-US" sz="2100" dirty="0">
                <a:solidFill>
                  <a:schemeClr val="hlink"/>
                </a:solidFill>
                <a:ea typeface="宋体" panose="02010600030101010101" pitchFamily="2" charset="-122"/>
              </a:rPr>
              <a:t>鉴别</a:t>
            </a:r>
            <a:r>
              <a:rPr lang="en-US" altLang="zh-CN" sz="2100" dirty="0">
                <a:ea typeface="宋体" panose="02010600030101010101" pitchFamily="2" charset="-122"/>
              </a:rPr>
              <a:t>(authentication)</a:t>
            </a:r>
            <a:r>
              <a:rPr lang="en-US" altLang="zh-CN"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报文鉴别使得通信的接收方能够验证所收到的报文（发送者和报文内容、发送时间、序列等）的真伪。</a:t>
            </a:r>
          </a:p>
          <a:p>
            <a:pPr eaLnBrk="1" hangingPunct="1"/>
            <a:r>
              <a:rPr lang="zh-CN" altLang="en-US" sz="2100" dirty="0">
                <a:ea typeface="宋体" panose="02010600030101010101" pitchFamily="2" charset="-122"/>
              </a:rPr>
              <a:t>使用加密就可达到报文鉴别的目的。但在网络的应用中，许多报文并不需要加密。应当使接收者能用很简单的方法鉴别报文的真伪。    </a:t>
            </a:r>
          </a:p>
        </p:txBody>
      </p:sp>
      <p:sp>
        <p:nvSpPr>
          <p:cNvPr id="90115" name="幻灯片编号占位符 1">
            <a:extLst>
              <a:ext uri="{FF2B5EF4-FFF2-40B4-BE49-F238E27FC236}">
                <a16:creationId xmlns:a16="http://schemas.microsoft.com/office/drawing/2014/main" id="{63A8DDC5-0CA3-704A-AADE-5D9C2C9B2B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039DF56-D386-5645-9415-4B89397FDB5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30737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1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A5B49E8F-D4E6-0A42-8CC6-299342E93ED6}"/>
              </a:ext>
            </a:extLst>
          </p:cNvPr>
          <p:cNvSpPr>
            <a:spLocks noGrp="1" noChangeArrowheads="1"/>
          </p:cNvSpPr>
          <p:nvPr>
            <p:ph type="title"/>
          </p:nvPr>
        </p:nvSpPr>
        <p:spPr>
          <a:xfrm>
            <a:off x="133563" y="217885"/>
            <a:ext cx="7124700" cy="662225"/>
          </a:xfrm>
        </p:spPr>
        <p:txBody>
          <a:bodyPr/>
          <a:lstStyle/>
          <a:p>
            <a:pPr eaLnBrk="1" hangingPunct="1"/>
            <a:r>
              <a:rPr lang="zh-CN" altLang="en-US" dirty="0">
                <a:latin typeface="Times New Roman" panose="02020603050405020304" pitchFamily="18" charset="0"/>
                <a:ea typeface="宋体" panose="02010600030101010101" pitchFamily="2" charset="-122"/>
              </a:rPr>
              <a:t>鉴别与授权不同</a:t>
            </a:r>
          </a:p>
        </p:txBody>
      </p:sp>
      <p:sp>
        <p:nvSpPr>
          <p:cNvPr id="91138" name="Rectangle 3">
            <a:extLst>
              <a:ext uri="{FF2B5EF4-FFF2-40B4-BE49-F238E27FC236}">
                <a16:creationId xmlns:a16="http://schemas.microsoft.com/office/drawing/2014/main" id="{295132A4-DFB1-4648-A7F7-E18CDB682107}"/>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鉴别与</a:t>
            </a:r>
            <a:r>
              <a:rPr lang="zh-CN" altLang="en-US" dirty="0">
                <a:solidFill>
                  <a:schemeClr val="hlink"/>
                </a:solidFill>
                <a:latin typeface="Times New Roman" panose="02020603050405020304" pitchFamily="18" charset="0"/>
                <a:ea typeface="宋体" panose="02010600030101010101" pitchFamily="2" charset="-122"/>
              </a:rPr>
              <a:t>授权</a:t>
            </a:r>
            <a:r>
              <a:rPr lang="en-US" altLang="zh-CN" dirty="0">
                <a:latin typeface="Times New Roman" panose="02020603050405020304" pitchFamily="18" charset="0"/>
                <a:ea typeface="宋体" panose="02010600030101010101" pitchFamily="2" charset="-122"/>
              </a:rPr>
              <a:t>(authorization)</a:t>
            </a:r>
            <a:r>
              <a:rPr lang="zh-CN" altLang="en-US" dirty="0">
                <a:latin typeface="Times New Roman" panose="02020603050405020304" pitchFamily="18" charset="0"/>
                <a:ea typeface="宋体" panose="02010600030101010101" pitchFamily="2" charset="-122"/>
              </a:rPr>
              <a:t>是不同的概念。</a:t>
            </a:r>
          </a:p>
          <a:p>
            <a:pPr eaLnBrk="1" hangingPunct="1"/>
            <a:r>
              <a:rPr lang="zh-CN" altLang="en-US" dirty="0">
                <a:latin typeface="Times New Roman" panose="02020603050405020304" pitchFamily="18" charset="0"/>
                <a:ea typeface="宋体" panose="02010600030101010101" pitchFamily="2" charset="-122"/>
              </a:rPr>
              <a:t>授权涉及到的问题是：所进行的过程是否被允许（如是否可以对某文件进行读或写）。 </a:t>
            </a:r>
          </a:p>
        </p:txBody>
      </p:sp>
      <p:sp>
        <p:nvSpPr>
          <p:cNvPr id="91139" name="幻灯片编号占位符 1">
            <a:extLst>
              <a:ext uri="{FF2B5EF4-FFF2-40B4-BE49-F238E27FC236}">
                <a16:creationId xmlns:a16="http://schemas.microsoft.com/office/drawing/2014/main" id="{3A492045-A6DA-8644-B493-27E0968423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828373-D9C2-4A49-9AAE-DE5941BE62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47990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81E135FF-348F-C34B-8C5A-37EFE553D4DA}"/>
              </a:ext>
            </a:extLst>
          </p:cNvPr>
          <p:cNvSpPr>
            <a:spLocks noGrp="1" noChangeArrowheads="1"/>
          </p:cNvSpPr>
          <p:nvPr>
            <p:ph type="title"/>
          </p:nvPr>
        </p:nvSpPr>
        <p:spPr>
          <a:xfrm>
            <a:off x="171450" y="195262"/>
            <a:ext cx="6924199" cy="673655"/>
          </a:xfrm>
        </p:spPr>
        <p:txBody>
          <a:bodyPr/>
          <a:lstStyle/>
          <a:p>
            <a:pPr eaLnBrk="1" hangingPunct="1"/>
            <a:r>
              <a:rPr lang="en-US" altLang="zh-CN" dirty="0">
                <a:latin typeface="Times New Roman" panose="02020603050405020304" pitchFamily="18" charset="0"/>
                <a:ea typeface="宋体" panose="02010600030101010101" pitchFamily="2" charset="-122"/>
              </a:rPr>
              <a:t>7.4.1  </a:t>
            </a:r>
            <a:r>
              <a:rPr lang="zh-CN" altLang="en-US" dirty="0">
                <a:latin typeface="Times New Roman" panose="02020603050405020304" pitchFamily="18" charset="0"/>
                <a:ea typeface="宋体" panose="02010600030101010101" pitchFamily="2" charset="-122"/>
              </a:rPr>
              <a:t>报文鉴别 </a:t>
            </a:r>
          </a:p>
        </p:txBody>
      </p:sp>
      <p:sp>
        <p:nvSpPr>
          <p:cNvPr id="92162" name="Rectangle 3">
            <a:extLst>
              <a:ext uri="{FF2B5EF4-FFF2-40B4-BE49-F238E27FC236}">
                <a16:creationId xmlns:a16="http://schemas.microsoft.com/office/drawing/2014/main" id="{520EEA67-9D8A-9D4C-AE07-FD6CF57C1378}"/>
              </a:ext>
            </a:extLst>
          </p:cNvPr>
          <p:cNvSpPr>
            <a:spLocks noGrp="1" noChangeArrowheads="1"/>
          </p:cNvSpPr>
          <p:nvPr>
            <p:ph type="body" idx="1"/>
          </p:nvPr>
        </p:nvSpPr>
        <p:spPr>
          <a:xfrm>
            <a:off x="171450" y="1088629"/>
            <a:ext cx="8709660" cy="3780234"/>
          </a:xfrm>
        </p:spPr>
        <p:txBody>
          <a:bodyPr/>
          <a:lstStyle/>
          <a:p>
            <a:pPr eaLnBrk="1" hangingPunct="1"/>
            <a:r>
              <a:rPr lang="zh-CN" altLang="en-US" dirty="0">
                <a:latin typeface="Times New Roman" panose="02020603050405020304" pitchFamily="18" charset="0"/>
                <a:ea typeface="宋体" panose="02010600030101010101" pitchFamily="2" charset="-122"/>
              </a:rPr>
              <a:t>许多报文并不需要加密但却需要数字签名，以便让报文的接收者能够</a:t>
            </a:r>
            <a:r>
              <a:rPr lang="zh-CN" altLang="en-US" dirty="0">
                <a:solidFill>
                  <a:schemeClr val="hlink"/>
                </a:solidFill>
                <a:latin typeface="Times New Roman" panose="02020603050405020304" pitchFamily="18" charset="0"/>
                <a:ea typeface="宋体" panose="02010600030101010101" pitchFamily="2" charset="-122"/>
              </a:rPr>
              <a:t>鉴别报文的真伪</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然而对很长的报文进行数字签名会使计算机增加很大的负担（需要进行很长时间的运算。</a:t>
            </a:r>
          </a:p>
          <a:p>
            <a:pPr eaLnBrk="1" hangingPunct="1"/>
            <a:r>
              <a:rPr lang="zh-CN" altLang="en-US" dirty="0">
                <a:latin typeface="Times New Roman" panose="02020603050405020304" pitchFamily="18" charset="0"/>
                <a:ea typeface="宋体" panose="02010600030101010101" pitchFamily="2" charset="-122"/>
              </a:rPr>
              <a:t>当我们传送不需要加密的报文时，应当使接收者能用很简单的方法鉴别报文的真伪。</a:t>
            </a:r>
          </a:p>
        </p:txBody>
      </p:sp>
      <p:sp>
        <p:nvSpPr>
          <p:cNvPr id="92163" name="幻灯片编号占位符 1">
            <a:extLst>
              <a:ext uri="{FF2B5EF4-FFF2-40B4-BE49-F238E27FC236}">
                <a16:creationId xmlns:a16="http://schemas.microsoft.com/office/drawing/2014/main" id="{BC5CF554-BF61-EA4C-874B-981C3FFA87B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95D3AE-60E4-8A4C-83B7-02C77CFFF8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71442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907AC0CB-6066-184A-BBE4-F63D2F229865}"/>
              </a:ext>
            </a:extLst>
          </p:cNvPr>
          <p:cNvSpPr>
            <a:spLocks noGrp="1" noChangeArrowheads="1"/>
          </p:cNvSpPr>
          <p:nvPr>
            <p:ph type="title"/>
          </p:nvPr>
        </p:nvSpPr>
        <p:spPr>
          <a:xfrm>
            <a:off x="160020" y="344091"/>
            <a:ext cx="7407593" cy="570309"/>
          </a:xfrm>
        </p:spPr>
        <p:txBody>
          <a:bodyPr/>
          <a:lstStyle/>
          <a:p>
            <a:pPr eaLnBrk="1" hangingPunct="1"/>
            <a:r>
              <a:rPr lang="zh-CN" altLang="en-US" dirty="0">
                <a:latin typeface="Times New Roman" panose="02020603050405020304" pitchFamily="18" charset="0"/>
                <a:ea typeface="宋体" panose="02010600030101010101" pitchFamily="2" charset="-122"/>
              </a:rPr>
              <a:t>报文摘要 </a:t>
            </a:r>
            <a:r>
              <a:rPr lang="en-US" altLang="zh-CN" dirty="0">
                <a:latin typeface="Times New Roman" panose="02020603050405020304" pitchFamily="18" charset="0"/>
                <a:ea typeface="宋体" panose="02010600030101010101" pitchFamily="2" charset="-122"/>
              </a:rPr>
              <a:t>MD</a:t>
            </a:r>
            <a:r>
              <a:rPr lang="en-US" altLang="zh-CN" sz="3000" dirty="0">
                <a:ea typeface="宋体" panose="02010600030101010101" pitchFamily="2" charset="-122"/>
              </a:rPr>
              <a:t>(Message Digest)</a:t>
            </a:r>
          </a:p>
        </p:txBody>
      </p:sp>
      <p:sp>
        <p:nvSpPr>
          <p:cNvPr id="602115" name="Rectangle 3">
            <a:extLst>
              <a:ext uri="{FF2B5EF4-FFF2-40B4-BE49-F238E27FC236}">
                <a16:creationId xmlns:a16="http://schemas.microsoft.com/office/drawing/2014/main" id="{7B7786A7-0DD4-6149-9DB6-FD0551FD8F51}"/>
              </a:ext>
            </a:extLst>
          </p:cNvPr>
          <p:cNvSpPr>
            <a:spLocks noGrp="1" noChangeArrowheads="1"/>
          </p:cNvSpPr>
          <p:nvPr>
            <p:ph type="body" idx="1"/>
          </p:nvPr>
        </p:nvSpPr>
        <p:spPr>
          <a:xfrm>
            <a:off x="160020" y="1030684"/>
            <a:ext cx="8732520" cy="3975497"/>
          </a:xfrm>
        </p:spPr>
        <p:txBody>
          <a:bodyPr/>
          <a:lstStyle/>
          <a:p>
            <a:pPr eaLnBrk="1" hangingPunct="1"/>
            <a:r>
              <a:rPr lang="en-US" altLang="zh-CN" sz="2100" dirty="0">
                <a:ea typeface="宋体" panose="02010600030101010101" pitchFamily="2" charset="-122"/>
              </a:rPr>
              <a:t>A </a:t>
            </a:r>
            <a:r>
              <a:rPr lang="zh-CN" altLang="en-US" sz="2100" dirty="0">
                <a:ea typeface="宋体" panose="02010600030101010101" pitchFamily="2" charset="-122"/>
              </a:rPr>
              <a:t>将报文 </a:t>
            </a:r>
            <a:r>
              <a:rPr lang="en-US" altLang="zh-CN" sz="2100" i="1" dirty="0">
                <a:ea typeface="宋体" panose="02010600030101010101" pitchFamily="2" charset="-122"/>
              </a:rPr>
              <a:t>X</a:t>
            </a:r>
            <a:r>
              <a:rPr lang="en-US" altLang="zh-CN" sz="2100" dirty="0">
                <a:ea typeface="宋体" panose="02010600030101010101" pitchFamily="2" charset="-122"/>
              </a:rPr>
              <a:t> </a:t>
            </a:r>
            <a:r>
              <a:rPr lang="zh-CN" altLang="en-US" sz="2100" dirty="0">
                <a:ea typeface="宋体" panose="02010600030101010101" pitchFamily="2" charset="-122"/>
              </a:rPr>
              <a:t>经过报文摘要算法运算后得出很短的报文摘要 </a:t>
            </a:r>
            <a:r>
              <a:rPr lang="en-US" altLang="zh-CN" sz="2100" i="1" dirty="0">
                <a:ea typeface="宋体" panose="02010600030101010101" pitchFamily="2" charset="-122"/>
              </a:rPr>
              <a:t>H</a:t>
            </a:r>
            <a:r>
              <a:rPr lang="zh-CN" altLang="en-US" sz="2100" dirty="0">
                <a:ea typeface="宋体" panose="02010600030101010101" pitchFamily="2" charset="-122"/>
              </a:rPr>
              <a:t>。然后然后用自己的私钥对 </a:t>
            </a:r>
            <a:r>
              <a:rPr lang="en-US" altLang="zh-CN" sz="2100" i="1" dirty="0">
                <a:ea typeface="宋体" panose="02010600030101010101" pitchFamily="2" charset="-122"/>
              </a:rPr>
              <a:t>H </a:t>
            </a:r>
            <a:r>
              <a:rPr lang="zh-CN" altLang="en-US" sz="2100" dirty="0">
                <a:ea typeface="宋体" panose="02010600030101010101" pitchFamily="2" charset="-122"/>
              </a:rPr>
              <a:t>进行 </a:t>
            </a:r>
            <a:r>
              <a:rPr lang="en-US" altLang="zh-CN" sz="2100" i="1" dirty="0">
                <a:ea typeface="宋体" panose="02010600030101010101" pitchFamily="2" charset="-122"/>
              </a:rPr>
              <a:t>D </a:t>
            </a:r>
            <a:r>
              <a:rPr lang="zh-CN" altLang="en-US" sz="2100" dirty="0">
                <a:ea typeface="宋体" panose="02010600030101010101" pitchFamily="2" charset="-122"/>
              </a:rPr>
              <a:t>运算，即进行数字签名。得出已签名的报文摘要 </a:t>
            </a:r>
            <a:r>
              <a:rPr lang="en-US" altLang="zh-CN" sz="2100" i="1" dirty="0">
                <a:ea typeface="宋体" panose="02010600030101010101" pitchFamily="2" charset="-122"/>
              </a:rPr>
              <a:t>D</a:t>
            </a:r>
            <a:r>
              <a:rPr lang="en-US" altLang="zh-CN" sz="2100" dirty="0">
                <a:ea typeface="宋体" panose="02010600030101010101" pitchFamily="2" charset="-122"/>
              </a:rPr>
              <a:t>(</a:t>
            </a:r>
            <a:r>
              <a:rPr lang="en-US" altLang="zh-CN" sz="2100" i="1" dirty="0">
                <a:ea typeface="宋体" panose="02010600030101010101" pitchFamily="2" charset="-122"/>
              </a:rPr>
              <a:t>H</a:t>
            </a:r>
            <a:r>
              <a:rPr lang="en-US" altLang="zh-CN" sz="2100" dirty="0">
                <a:ea typeface="宋体" panose="02010600030101010101" pitchFamily="2" charset="-122"/>
              </a:rPr>
              <a:t>)</a:t>
            </a:r>
            <a:r>
              <a:rPr lang="zh-CN" altLang="en-US" sz="2100" dirty="0">
                <a:ea typeface="宋体" panose="02010600030101010101" pitchFamily="2" charset="-122"/>
              </a:rPr>
              <a:t>后，并将其追加在报文 </a:t>
            </a:r>
            <a:r>
              <a:rPr lang="en-US" altLang="zh-CN" sz="2100" i="1" dirty="0">
                <a:ea typeface="宋体" panose="02010600030101010101" pitchFamily="2" charset="-122"/>
              </a:rPr>
              <a:t>X </a:t>
            </a:r>
            <a:r>
              <a:rPr lang="zh-CN" altLang="en-US" sz="2100" dirty="0">
                <a:ea typeface="宋体" panose="02010600030101010101" pitchFamily="2" charset="-122"/>
              </a:rPr>
              <a:t>后面发送给 </a:t>
            </a:r>
            <a:r>
              <a:rPr lang="en-US" altLang="zh-CN" sz="2100" dirty="0">
                <a:ea typeface="宋体" panose="02010600030101010101" pitchFamily="2" charset="-122"/>
              </a:rPr>
              <a:t>B</a:t>
            </a:r>
            <a:r>
              <a:rPr lang="zh-CN" altLang="en-US" sz="2100" dirty="0">
                <a:ea typeface="宋体" panose="02010600030101010101" pitchFamily="2" charset="-122"/>
              </a:rPr>
              <a:t>。</a:t>
            </a:r>
            <a:r>
              <a:rPr lang="zh-CN" altLang="en-US" sz="2700" dirty="0">
                <a:ea typeface="宋体" panose="02010600030101010101" pitchFamily="2" charset="-122"/>
              </a:rPr>
              <a:t> </a:t>
            </a:r>
            <a:endParaRPr lang="zh-CN" altLang="en-US" sz="2100" dirty="0">
              <a:ea typeface="宋体" panose="02010600030101010101" pitchFamily="2" charset="-122"/>
            </a:endParaRPr>
          </a:p>
          <a:p>
            <a:pPr eaLnBrk="1" hangingPunct="1"/>
            <a:r>
              <a:rPr lang="en-US" altLang="zh-CN" sz="2100" dirty="0">
                <a:ea typeface="宋体" panose="02010600030101010101" pitchFamily="2" charset="-122"/>
              </a:rPr>
              <a:t>B </a:t>
            </a:r>
            <a:r>
              <a:rPr lang="zh-CN" altLang="en-US" sz="2100" dirty="0">
                <a:ea typeface="宋体" panose="02010600030101010101" pitchFamily="2" charset="-122"/>
              </a:rPr>
              <a:t>收到报文后首先把已签名的 </a:t>
            </a:r>
            <a:r>
              <a:rPr lang="en-US" altLang="zh-CN" sz="2100" i="1" dirty="0">
                <a:ea typeface="宋体" panose="02010600030101010101" pitchFamily="2" charset="-122"/>
              </a:rPr>
              <a:t>D</a:t>
            </a:r>
            <a:r>
              <a:rPr lang="en-US" altLang="zh-CN" sz="2100" dirty="0">
                <a:ea typeface="宋体" panose="02010600030101010101" pitchFamily="2" charset="-122"/>
              </a:rPr>
              <a:t>(</a:t>
            </a:r>
            <a:r>
              <a:rPr lang="en-US" altLang="zh-CN" sz="2100" i="1" dirty="0">
                <a:ea typeface="宋体" panose="02010600030101010101" pitchFamily="2" charset="-122"/>
              </a:rPr>
              <a:t>H</a:t>
            </a:r>
            <a:r>
              <a:rPr lang="en-US" altLang="zh-CN" sz="2100" dirty="0">
                <a:ea typeface="宋体" panose="02010600030101010101" pitchFamily="2" charset="-122"/>
              </a:rPr>
              <a:t>) </a:t>
            </a:r>
            <a:r>
              <a:rPr lang="zh-CN" altLang="en-US" sz="2100" dirty="0">
                <a:ea typeface="宋体" panose="02010600030101010101" pitchFamily="2" charset="-122"/>
              </a:rPr>
              <a:t>和报文 </a:t>
            </a:r>
            <a:r>
              <a:rPr lang="en-US" altLang="zh-CN" sz="2100" i="1" dirty="0">
                <a:ea typeface="宋体" panose="02010600030101010101" pitchFamily="2" charset="-122"/>
              </a:rPr>
              <a:t>X </a:t>
            </a:r>
            <a:r>
              <a:rPr lang="zh-CN" altLang="en-US" sz="2100" dirty="0">
                <a:ea typeface="宋体" panose="02010600030101010101" pitchFamily="2" charset="-122"/>
              </a:rPr>
              <a:t>分离。然后再做两件事。</a:t>
            </a:r>
          </a:p>
          <a:p>
            <a:pPr lvl="1" eaLnBrk="1" hangingPunct="1"/>
            <a:r>
              <a:rPr lang="zh-CN" altLang="en-US" sz="1800" dirty="0">
                <a:solidFill>
                  <a:schemeClr val="tx2"/>
                </a:solidFill>
                <a:ea typeface="宋体" panose="02010600030101010101" pitchFamily="2" charset="-122"/>
              </a:rPr>
              <a:t>用</a:t>
            </a:r>
            <a:r>
              <a:rPr lang="en-US" altLang="zh-CN" sz="1800" dirty="0">
                <a:solidFill>
                  <a:schemeClr val="tx2"/>
                </a:solidFill>
                <a:ea typeface="宋体" panose="02010600030101010101" pitchFamily="2" charset="-122"/>
              </a:rPr>
              <a:t>A</a:t>
            </a:r>
            <a:r>
              <a:rPr lang="zh-CN" altLang="en-US" sz="1800" dirty="0">
                <a:solidFill>
                  <a:schemeClr val="tx2"/>
                </a:solidFill>
                <a:ea typeface="宋体" panose="02010600030101010101" pitchFamily="2" charset="-122"/>
              </a:rPr>
              <a:t>的公钥对 </a:t>
            </a:r>
            <a:r>
              <a:rPr lang="en-US" altLang="zh-CN" sz="1800" i="1" dirty="0">
                <a:solidFill>
                  <a:schemeClr val="tx2"/>
                </a:solidFill>
                <a:ea typeface="宋体" panose="02010600030101010101" pitchFamily="2" charset="-122"/>
              </a:rPr>
              <a:t>D</a:t>
            </a:r>
            <a:r>
              <a:rPr lang="en-US" altLang="zh-CN" sz="1800" dirty="0">
                <a:solidFill>
                  <a:schemeClr val="tx2"/>
                </a:solidFill>
                <a:ea typeface="宋体" panose="02010600030101010101" pitchFamily="2" charset="-122"/>
              </a:rPr>
              <a:t>(</a:t>
            </a:r>
            <a:r>
              <a:rPr lang="en-US" altLang="zh-CN" sz="1800" i="1" dirty="0">
                <a:solidFill>
                  <a:schemeClr val="tx2"/>
                </a:solidFill>
                <a:ea typeface="宋体" panose="02010600030101010101" pitchFamily="2" charset="-122"/>
              </a:rPr>
              <a:t>H</a:t>
            </a:r>
            <a:r>
              <a:rPr lang="en-US" altLang="zh-CN" sz="1800" dirty="0">
                <a:solidFill>
                  <a:schemeClr val="tx2"/>
                </a:solidFill>
                <a:ea typeface="宋体" panose="02010600030101010101" pitchFamily="2" charset="-122"/>
              </a:rPr>
              <a:t>) </a:t>
            </a:r>
            <a:r>
              <a:rPr lang="zh-CN" altLang="en-US" sz="1800" dirty="0">
                <a:solidFill>
                  <a:schemeClr val="tx2"/>
                </a:solidFill>
                <a:ea typeface="宋体" panose="02010600030101010101" pitchFamily="2" charset="-122"/>
              </a:rPr>
              <a:t>进行</a:t>
            </a:r>
            <a:r>
              <a:rPr lang="en-US" altLang="zh-CN" sz="1800" i="1" dirty="0">
                <a:solidFill>
                  <a:schemeClr val="tx2"/>
                </a:solidFill>
                <a:ea typeface="宋体" panose="02010600030101010101" pitchFamily="2" charset="-122"/>
              </a:rPr>
              <a:t>E</a:t>
            </a:r>
            <a:r>
              <a:rPr lang="zh-CN" altLang="en-US" sz="1800" dirty="0">
                <a:solidFill>
                  <a:schemeClr val="tx2"/>
                </a:solidFill>
                <a:ea typeface="宋体" panose="02010600030101010101" pitchFamily="2" charset="-122"/>
              </a:rPr>
              <a:t>运算，得出报文摘要 </a:t>
            </a:r>
            <a:r>
              <a:rPr lang="en-US" altLang="zh-CN" sz="1800" i="1" dirty="0">
                <a:solidFill>
                  <a:schemeClr val="tx2"/>
                </a:solidFill>
                <a:ea typeface="宋体" panose="02010600030101010101" pitchFamily="2" charset="-122"/>
              </a:rPr>
              <a:t>H </a:t>
            </a:r>
            <a:r>
              <a:rPr lang="zh-CN" altLang="en-US" sz="1800" dirty="0">
                <a:solidFill>
                  <a:schemeClr val="tx2"/>
                </a:solidFill>
                <a:ea typeface="宋体" panose="02010600030101010101" pitchFamily="2" charset="-122"/>
              </a:rPr>
              <a:t>。</a:t>
            </a:r>
          </a:p>
          <a:p>
            <a:pPr lvl="1" eaLnBrk="1" hangingPunct="1"/>
            <a:r>
              <a:rPr lang="zh-CN" altLang="en-US" sz="1800" dirty="0">
                <a:solidFill>
                  <a:schemeClr val="tx2"/>
                </a:solidFill>
                <a:ea typeface="宋体" panose="02010600030101010101" pitchFamily="2" charset="-122"/>
              </a:rPr>
              <a:t>对报文 </a:t>
            </a:r>
            <a:r>
              <a:rPr lang="en-US" altLang="zh-CN" sz="1800" i="1" dirty="0">
                <a:solidFill>
                  <a:schemeClr val="tx2"/>
                </a:solidFill>
                <a:ea typeface="宋体" panose="02010600030101010101" pitchFamily="2" charset="-122"/>
              </a:rPr>
              <a:t>X </a:t>
            </a:r>
            <a:r>
              <a:rPr lang="zh-CN" altLang="en-US" sz="1800" dirty="0">
                <a:solidFill>
                  <a:schemeClr val="tx2"/>
                </a:solidFill>
                <a:ea typeface="宋体" panose="02010600030101010101" pitchFamily="2" charset="-122"/>
              </a:rPr>
              <a:t>进行报文摘要运算，看是否能够得出同样的报文摘要 </a:t>
            </a:r>
            <a:r>
              <a:rPr lang="en-US" altLang="zh-CN" sz="1800" i="1" dirty="0">
                <a:solidFill>
                  <a:schemeClr val="tx2"/>
                </a:solidFill>
                <a:ea typeface="宋体" panose="02010600030101010101" pitchFamily="2" charset="-122"/>
              </a:rPr>
              <a:t>H</a:t>
            </a:r>
            <a:r>
              <a:rPr lang="zh-CN" altLang="en-US" sz="1800" dirty="0">
                <a:solidFill>
                  <a:schemeClr val="tx2"/>
                </a:solidFill>
                <a:ea typeface="宋体" panose="02010600030101010101" pitchFamily="2" charset="-122"/>
              </a:rPr>
              <a:t>。如一样，就能以极高的概率断定收到的报文是 </a:t>
            </a:r>
            <a:r>
              <a:rPr lang="en-US" altLang="zh-CN" sz="1800" dirty="0">
                <a:solidFill>
                  <a:schemeClr val="tx2"/>
                </a:solidFill>
                <a:ea typeface="宋体" panose="02010600030101010101" pitchFamily="2" charset="-122"/>
              </a:rPr>
              <a:t>A </a:t>
            </a:r>
            <a:r>
              <a:rPr lang="zh-CN" altLang="en-US" sz="1800" dirty="0">
                <a:solidFill>
                  <a:schemeClr val="tx2"/>
                </a:solidFill>
                <a:ea typeface="宋体" panose="02010600030101010101" pitchFamily="2" charset="-122"/>
              </a:rPr>
              <a:t>产生的。否则就不是。</a:t>
            </a:r>
            <a:r>
              <a:rPr lang="zh-CN" altLang="en-US" sz="1800" dirty="0">
                <a:ea typeface="宋体" panose="02010600030101010101" pitchFamily="2" charset="-122"/>
              </a:rPr>
              <a:t> </a:t>
            </a:r>
          </a:p>
        </p:txBody>
      </p:sp>
      <p:sp>
        <p:nvSpPr>
          <p:cNvPr id="93187" name="幻灯片编号占位符 1">
            <a:extLst>
              <a:ext uri="{FF2B5EF4-FFF2-40B4-BE49-F238E27FC236}">
                <a16:creationId xmlns:a16="http://schemas.microsoft.com/office/drawing/2014/main" id="{7BEF5455-FB85-9B4C-BA32-2FA78B5A8F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C17DCA-274A-AE42-A4AB-ECF997A756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19418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21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21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02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BD0D065F-5C76-284D-B3DF-C62BE8D4E8B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报文摘要的优点</a:t>
            </a:r>
          </a:p>
        </p:txBody>
      </p:sp>
      <p:sp>
        <p:nvSpPr>
          <p:cNvPr id="94210" name="Rectangle 3">
            <a:extLst>
              <a:ext uri="{FF2B5EF4-FFF2-40B4-BE49-F238E27FC236}">
                <a16:creationId xmlns:a16="http://schemas.microsoft.com/office/drawing/2014/main" id="{972D5A24-BE4C-8848-8E6D-3A79992C6850}"/>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仅对短得多的定长报文摘要 </a:t>
            </a:r>
            <a:r>
              <a:rPr lang="en-US" altLang="zh-CN" i="1">
                <a:latin typeface="Times New Roman" panose="02020603050405020304" pitchFamily="18" charset="0"/>
                <a:ea typeface="宋体" panose="02010600030101010101" pitchFamily="2" charset="-122"/>
              </a:rPr>
              <a:t>H </a:t>
            </a:r>
            <a:r>
              <a:rPr lang="zh-CN" altLang="en-US">
                <a:latin typeface="Times New Roman" panose="02020603050405020304" pitchFamily="18" charset="0"/>
                <a:ea typeface="宋体" panose="02010600030101010101" pitchFamily="2" charset="-122"/>
              </a:rPr>
              <a:t>进行数字签名要比对整个长报文进行数字签名要简单得多，所耗费的计算资源也小得多。</a:t>
            </a:r>
          </a:p>
          <a:p>
            <a:pPr eaLnBrk="1" hangingPunct="1"/>
            <a:r>
              <a:rPr lang="zh-CN" altLang="en-US">
                <a:latin typeface="Times New Roman" panose="02020603050405020304" pitchFamily="18" charset="0"/>
                <a:ea typeface="宋体" panose="02010600030101010101" pitchFamily="2" charset="-122"/>
              </a:rPr>
              <a:t>但对鉴别报文 </a:t>
            </a:r>
            <a:r>
              <a:rPr lang="en-US" altLang="zh-CN" i="1">
                <a:latin typeface="Times New Roman" panose="02020603050405020304" pitchFamily="18" charset="0"/>
                <a:ea typeface="宋体" panose="02010600030101010101" pitchFamily="2" charset="-122"/>
              </a:rPr>
              <a:t>X </a:t>
            </a:r>
            <a:r>
              <a:rPr lang="zh-CN" altLang="en-US">
                <a:latin typeface="Times New Roman" panose="02020603050405020304" pitchFamily="18" charset="0"/>
                <a:ea typeface="宋体" panose="02010600030101010101" pitchFamily="2" charset="-122"/>
              </a:rPr>
              <a:t>来说，效果是一样的。也就是说，报文 </a:t>
            </a:r>
            <a:r>
              <a:rPr lang="en-US" altLang="zh-CN" i="1">
                <a:latin typeface="Times New Roman" panose="02020603050405020304" pitchFamily="18" charset="0"/>
                <a:ea typeface="宋体" panose="02010600030101010101" pitchFamily="2" charset="-122"/>
              </a:rPr>
              <a:t>X </a:t>
            </a:r>
            <a:r>
              <a:rPr lang="zh-CN" altLang="en-US">
                <a:latin typeface="Times New Roman" panose="02020603050405020304" pitchFamily="18" charset="0"/>
                <a:ea typeface="宋体" panose="02010600030101010101" pitchFamily="2" charset="-122"/>
              </a:rPr>
              <a:t>和已签名的报文摘要 </a:t>
            </a:r>
            <a:r>
              <a:rPr lang="en-US" altLang="zh-CN" i="1">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合在一起是</a:t>
            </a:r>
            <a:r>
              <a:rPr lang="zh-CN" altLang="en-US">
                <a:solidFill>
                  <a:schemeClr val="hlink"/>
                </a:solidFill>
                <a:latin typeface="Times New Roman" panose="02020603050405020304" pitchFamily="18" charset="0"/>
                <a:ea typeface="宋体" panose="02010600030101010101" pitchFamily="2" charset="-122"/>
              </a:rPr>
              <a:t>不可伪造的</a:t>
            </a:r>
            <a:r>
              <a:rPr lang="zh-CN" altLang="en-US">
                <a:latin typeface="Times New Roman" panose="02020603050405020304" pitchFamily="18" charset="0"/>
                <a:ea typeface="宋体" panose="02010600030101010101" pitchFamily="2" charset="-122"/>
              </a:rPr>
              <a:t>，是</a:t>
            </a:r>
            <a:r>
              <a:rPr lang="zh-CN" altLang="en-US">
                <a:solidFill>
                  <a:schemeClr val="hlink"/>
                </a:solidFill>
                <a:latin typeface="Times New Roman" panose="02020603050405020304" pitchFamily="18" charset="0"/>
                <a:ea typeface="宋体" panose="02010600030101010101" pitchFamily="2" charset="-122"/>
              </a:rPr>
              <a:t>可检验的</a:t>
            </a:r>
            <a:r>
              <a:rPr lang="zh-CN" altLang="en-US">
                <a:latin typeface="Times New Roman" panose="02020603050405020304" pitchFamily="18" charset="0"/>
                <a:ea typeface="宋体" panose="02010600030101010101" pitchFamily="2" charset="-122"/>
              </a:rPr>
              <a:t>和</a:t>
            </a:r>
            <a:r>
              <a:rPr lang="zh-CN" altLang="en-US">
                <a:solidFill>
                  <a:schemeClr val="hlink"/>
                </a:solidFill>
                <a:latin typeface="Times New Roman" panose="02020603050405020304" pitchFamily="18" charset="0"/>
                <a:ea typeface="宋体" panose="02010600030101010101" pitchFamily="2" charset="-122"/>
              </a:rPr>
              <a:t>不可否认的</a:t>
            </a:r>
            <a:r>
              <a:rPr lang="zh-CN" altLang="en-US">
                <a:latin typeface="Times New Roman" panose="02020603050405020304" pitchFamily="18" charset="0"/>
                <a:ea typeface="宋体" panose="02010600030101010101" pitchFamily="2" charset="-122"/>
              </a:rPr>
              <a:t>。 </a:t>
            </a:r>
          </a:p>
        </p:txBody>
      </p:sp>
      <p:sp>
        <p:nvSpPr>
          <p:cNvPr id="94211" name="幻灯片编号占位符 1">
            <a:extLst>
              <a:ext uri="{FF2B5EF4-FFF2-40B4-BE49-F238E27FC236}">
                <a16:creationId xmlns:a16="http://schemas.microsoft.com/office/drawing/2014/main" id="{4677371A-B96F-BC4B-8515-065EE63CF1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B41369-4AF4-B447-ADEF-E71E69AD2E5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10372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4CA255CD-A803-2B4B-9F33-05763EC8E4DD}"/>
              </a:ext>
            </a:extLst>
          </p:cNvPr>
          <p:cNvSpPr>
            <a:spLocks noGrp="1" noChangeArrowheads="1"/>
          </p:cNvSpPr>
          <p:nvPr>
            <p:ph type="title"/>
          </p:nvPr>
        </p:nvSpPr>
        <p:spPr>
          <a:xfrm>
            <a:off x="137161" y="263605"/>
            <a:ext cx="7154466" cy="570785"/>
          </a:xfrm>
        </p:spPr>
        <p:txBody>
          <a:bodyPr/>
          <a:lstStyle/>
          <a:p>
            <a:pPr eaLnBrk="1" hangingPunct="1"/>
            <a:r>
              <a:rPr lang="zh-CN" altLang="en-US" dirty="0">
                <a:latin typeface="Times New Roman" panose="02020603050405020304" pitchFamily="18" charset="0"/>
                <a:ea typeface="宋体" panose="02010600030101010101" pitchFamily="2" charset="-122"/>
              </a:rPr>
              <a:t>报文摘要算法</a:t>
            </a:r>
          </a:p>
        </p:txBody>
      </p:sp>
      <p:sp>
        <p:nvSpPr>
          <p:cNvPr id="95234" name="Rectangle 3">
            <a:extLst>
              <a:ext uri="{FF2B5EF4-FFF2-40B4-BE49-F238E27FC236}">
                <a16:creationId xmlns:a16="http://schemas.microsoft.com/office/drawing/2014/main" id="{979CF781-A880-9B4B-B2B1-A0D1EE8F2D27}"/>
              </a:ext>
            </a:extLst>
          </p:cNvPr>
          <p:cNvSpPr>
            <a:spLocks noGrp="1" noChangeArrowheads="1"/>
          </p:cNvSpPr>
          <p:nvPr>
            <p:ph type="body" idx="1"/>
          </p:nvPr>
        </p:nvSpPr>
        <p:spPr>
          <a:xfrm>
            <a:off x="137161" y="949761"/>
            <a:ext cx="8789669" cy="3243977"/>
          </a:xfrm>
        </p:spPr>
        <p:txBody>
          <a:bodyPr/>
          <a:lstStyle/>
          <a:p>
            <a:pPr marL="457200" indent="-457200" eaLnBrk="1" hangingPunct="1"/>
            <a:r>
              <a:rPr lang="zh-CN" altLang="en-US" sz="2100" dirty="0">
                <a:ea typeface="宋体" panose="02010600030101010101" pitchFamily="2" charset="-122"/>
              </a:rPr>
              <a:t>报文摘要算法就是一种</a:t>
            </a:r>
            <a:r>
              <a:rPr lang="zh-CN" altLang="en-US" sz="2100" dirty="0">
                <a:solidFill>
                  <a:schemeClr val="hlink"/>
                </a:solidFill>
                <a:ea typeface="宋体" panose="02010600030101010101" pitchFamily="2" charset="-122"/>
              </a:rPr>
              <a:t>散列函数</a:t>
            </a:r>
            <a:r>
              <a:rPr lang="zh-CN" altLang="en-US" sz="2100" dirty="0">
                <a:ea typeface="宋体" panose="02010600030101010101" pitchFamily="2" charset="-122"/>
              </a:rPr>
              <a:t>。这种散列函数也叫做密码编码的检验和。报文摘要算法是防止报文被人恶意篡改。 </a:t>
            </a:r>
          </a:p>
          <a:p>
            <a:pPr marL="457200" indent="-457200" eaLnBrk="1" hangingPunct="1"/>
            <a:r>
              <a:rPr lang="zh-CN" altLang="en-US" sz="2100" dirty="0">
                <a:ea typeface="宋体" panose="02010600030101010101" pitchFamily="2" charset="-122"/>
              </a:rPr>
              <a:t>报文摘要算法是精心选择的一种</a:t>
            </a:r>
            <a:r>
              <a:rPr lang="zh-CN" altLang="en-US" sz="2100" dirty="0">
                <a:solidFill>
                  <a:schemeClr val="hlink"/>
                </a:solidFill>
                <a:ea typeface="宋体" panose="02010600030101010101" pitchFamily="2" charset="-122"/>
              </a:rPr>
              <a:t>单向函数</a:t>
            </a:r>
            <a:r>
              <a:rPr lang="zh-CN" altLang="en-US" sz="2100" dirty="0">
                <a:ea typeface="宋体" panose="02010600030101010101" pitchFamily="2" charset="-122"/>
              </a:rPr>
              <a:t>。</a:t>
            </a:r>
          </a:p>
          <a:p>
            <a:pPr marL="457200" indent="-457200" eaLnBrk="1" hangingPunct="1"/>
            <a:r>
              <a:rPr lang="zh-CN" altLang="en-US" sz="2100" dirty="0">
                <a:ea typeface="宋体" panose="02010600030101010101" pitchFamily="2" charset="-122"/>
              </a:rPr>
              <a:t>可以很容易地计算出一个长报文 </a:t>
            </a:r>
            <a:r>
              <a:rPr lang="en-US" altLang="zh-CN" sz="2100" i="1" dirty="0">
                <a:ea typeface="宋体" panose="02010600030101010101" pitchFamily="2" charset="-122"/>
              </a:rPr>
              <a:t>X </a:t>
            </a:r>
            <a:r>
              <a:rPr lang="zh-CN" altLang="en-US" sz="2100" dirty="0">
                <a:ea typeface="宋体" panose="02010600030101010101" pitchFamily="2" charset="-122"/>
              </a:rPr>
              <a:t>的报文摘要  </a:t>
            </a:r>
            <a:r>
              <a:rPr lang="en-US" altLang="zh-CN" sz="2100" i="1" dirty="0">
                <a:ea typeface="宋体" panose="02010600030101010101" pitchFamily="2" charset="-122"/>
              </a:rPr>
              <a:t>H</a:t>
            </a:r>
            <a:r>
              <a:rPr lang="zh-CN" altLang="en-US" sz="2100" dirty="0">
                <a:ea typeface="宋体" panose="02010600030101010101" pitchFamily="2" charset="-122"/>
              </a:rPr>
              <a:t>，但要想从报文摘要 </a:t>
            </a:r>
            <a:r>
              <a:rPr lang="en-US" altLang="zh-CN" sz="2100" i="1" dirty="0">
                <a:ea typeface="宋体" panose="02010600030101010101" pitchFamily="2" charset="-122"/>
              </a:rPr>
              <a:t>H </a:t>
            </a:r>
            <a:r>
              <a:rPr lang="zh-CN" altLang="en-US" sz="2100" dirty="0">
                <a:ea typeface="宋体" panose="02010600030101010101" pitchFamily="2" charset="-122"/>
              </a:rPr>
              <a:t>反过来找到原始的报文 </a:t>
            </a:r>
            <a:r>
              <a:rPr lang="en-US" altLang="zh-CN" sz="2100" i="1" dirty="0">
                <a:ea typeface="宋体" panose="02010600030101010101" pitchFamily="2" charset="-122"/>
              </a:rPr>
              <a:t>X</a:t>
            </a:r>
            <a:r>
              <a:rPr lang="zh-CN" altLang="en-US" sz="2100" dirty="0">
                <a:ea typeface="宋体" panose="02010600030101010101" pitchFamily="2" charset="-122"/>
              </a:rPr>
              <a:t>，则实际上是不可能的。</a:t>
            </a:r>
          </a:p>
          <a:p>
            <a:pPr marL="457200" indent="-457200" eaLnBrk="1" hangingPunct="1"/>
            <a:r>
              <a:rPr lang="zh-CN" altLang="en-US" sz="2100" dirty="0">
                <a:ea typeface="宋体" panose="02010600030101010101" pitchFamily="2" charset="-122"/>
              </a:rPr>
              <a:t>若想找到任意两个报文，使得它们具有相同的报文摘要，那么实际上也是不可能的。  </a:t>
            </a:r>
          </a:p>
        </p:txBody>
      </p:sp>
      <p:sp>
        <p:nvSpPr>
          <p:cNvPr id="95235" name="幻灯片编号占位符 1">
            <a:extLst>
              <a:ext uri="{FF2B5EF4-FFF2-40B4-BE49-F238E27FC236}">
                <a16:creationId xmlns:a16="http://schemas.microsoft.com/office/drawing/2014/main" id="{CCEE3DC2-3A10-E24A-B176-1848FC8E82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6D5DB4-6EBD-1B44-881E-E966FD2B34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8651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5B721533-0182-A84F-9CD8-78B837C567E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报文摘要的实现 </a:t>
            </a:r>
          </a:p>
        </p:txBody>
      </p:sp>
      <p:graphicFrame>
        <p:nvGraphicFramePr>
          <p:cNvPr id="96258" name="Object 175">
            <a:extLst>
              <a:ext uri="{FF2B5EF4-FFF2-40B4-BE49-F238E27FC236}">
                <a16:creationId xmlns:a16="http://schemas.microsoft.com/office/drawing/2014/main" id="{94CF2C30-33D9-264D-B2CF-97F07DADAEBD}"/>
              </a:ext>
            </a:extLst>
          </p:cNvPr>
          <p:cNvGraphicFramePr>
            <a:graphicFrameLocks noChangeAspect="1"/>
          </p:cNvGraphicFramePr>
          <p:nvPr/>
        </p:nvGraphicFramePr>
        <p:xfrm>
          <a:off x="4950619" y="1959769"/>
          <a:ext cx="1133475" cy="683419"/>
        </p:xfrm>
        <a:graphic>
          <a:graphicData uri="http://schemas.openxmlformats.org/presentationml/2006/ole">
            <mc:AlternateContent xmlns:mc="http://schemas.openxmlformats.org/markup-compatibility/2006">
              <mc:Choice xmlns:v="urn:schemas-microsoft-com:vml" Requires="v">
                <p:oleObj spid="_x0000_s81929" name="VISIO" r:id="rId3" imgW="3378200" imgH="1930400" progId="Visio.Drawing.6">
                  <p:embed/>
                </p:oleObj>
              </mc:Choice>
              <mc:Fallback>
                <p:oleObj name="VISIO" r:id="rId3" imgW="3378200" imgH="1930400" progId="Visio.Drawing.6">
                  <p:embed/>
                  <p:pic>
                    <p:nvPicPr>
                      <p:cNvPr id="96258" name="Object 175">
                        <a:extLst>
                          <a:ext uri="{FF2B5EF4-FFF2-40B4-BE49-F238E27FC236}">
                            <a16:creationId xmlns:a16="http://schemas.microsoft.com/office/drawing/2014/main" id="{94CF2C30-33D9-264D-B2CF-97F07DADA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0619" y="1959769"/>
                        <a:ext cx="1133475" cy="683419"/>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4336" name="Line 176">
            <a:extLst>
              <a:ext uri="{FF2B5EF4-FFF2-40B4-BE49-F238E27FC236}">
                <a16:creationId xmlns:a16="http://schemas.microsoft.com/office/drawing/2014/main" id="{9039E3AC-E2DB-E14C-9E4D-658E6B20EBB5}"/>
              </a:ext>
            </a:extLst>
          </p:cNvPr>
          <p:cNvSpPr>
            <a:spLocks noChangeShapeType="1"/>
          </p:cNvSpPr>
          <p:nvPr/>
        </p:nvSpPr>
        <p:spPr bwMode="auto">
          <a:xfrm rot="5400000">
            <a:off x="1481138" y="2859881"/>
            <a:ext cx="877491" cy="10716"/>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337" name="Line 177">
            <a:extLst>
              <a:ext uri="{FF2B5EF4-FFF2-40B4-BE49-F238E27FC236}">
                <a16:creationId xmlns:a16="http://schemas.microsoft.com/office/drawing/2014/main" id="{5F363756-DE90-724B-8F9D-4216FA1D69B9}"/>
              </a:ext>
            </a:extLst>
          </p:cNvPr>
          <p:cNvSpPr>
            <a:spLocks noChangeShapeType="1"/>
          </p:cNvSpPr>
          <p:nvPr/>
        </p:nvSpPr>
        <p:spPr bwMode="auto">
          <a:xfrm>
            <a:off x="2357438" y="2344341"/>
            <a:ext cx="1026319"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96261" name="Picture 178">
            <a:extLst>
              <a:ext uri="{FF2B5EF4-FFF2-40B4-BE49-F238E27FC236}">
                <a16:creationId xmlns:a16="http://schemas.microsoft.com/office/drawing/2014/main" id="{B9F07547-9C32-D54E-96C2-43D9E2D2356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5315546" y="2764037"/>
            <a:ext cx="307181" cy="14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339" name="Text Box 179">
            <a:extLst>
              <a:ext uri="{FF2B5EF4-FFF2-40B4-BE49-F238E27FC236}">
                <a16:creationId xmlns:a16="http://schemas.microsoft.com/office/drawing/2014/main" id="{16AD97B1-3E6C-4748-A63B-3517C53A0CFF}"/>
              </a:ext>
            </a:extLst>
          </p:cNvPr>
          <p:cNvSpPr txBox="1">
            <a:spLocks noChangeArrowheads="1"/>
          </p:cNvSpPr>
          <p:nvPr/>
        </p:nvSpPr>
        <p:spPr bwMode="auto">
          <a:xfrm>
            <a:off x="1579960" y="1759744"/>
            <a:ext cx="300082"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A</a:t>
            </a:r>
          </a:p>
        </p:txBody>
      </p:sp>
      <p:pic>
        <p:nvPicPr>
          <p:cNvPr id="96263" name="Picture 180">
            <a:extLst>
              <a:ext uri="{FF2B5EF4-FFF2-40B4-BE49-F238E27FC236}">
                <a16:creationId xmlns:a16="http://schemas.microsoft.com/office/drawing/2014/main" id="{326F6C39-3199-8D42-90C8-5C93133D489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flipH="1" flipV="1">
            <a:off x="2872384" y="2704506"/>
            <a:ext cx="307181" cy="148828"/>
          </a:xfrm>
          <a:prstGeom prst="rect">
            <a:avLst/>
          </a:prstGeom>
          <a:solidFill>
            <a:srgbClr val="FFCCFF"/>
          </a:solidFill>
          <a:ln w="12699">
            <a:solidFill>
              <a:schemeClr val="tx1"/>
            </a:solidFill>
            <a:miter lim="800000"/>
            <a:headEnd/>
            <a:tailEnd/>
          </a:ln>
        </p:spPr>
      </p:pic>
      <p:sp>
        <p:nvSpPr>
          <p:cNvPr id="96264" name="Text Box 181">
            <a:extLst>
              <a:ext uri="{FF2B5EF4-FFF2-40B4-BE49-F238E27FC236}">
                <a16:creationId xmlns:a16="http://schemas.microsoft.com/office/drawing/2014/main" id="{4827A87C-5577-414D-A6B1-CDB4E9875449}"/>
              </a:ext>
            </a:extLst>
          </p:cNvPr>
          <p:cNvSpPr txBox="1">
            <a:spLocks noChangeArrowheads="1"/>
          </p:cNvSpPr>
          <p:nvPr/>
        </p:nvSpPr>
        <p:spPr bwMode="auto">
          <a:xfrm>
            <a:off x="6731794" y="3106341"/>
            <a:ext cx="530915"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比较</a:t>
            </a:r>
          </a:p>
        </p:txBody>
      </p:sp>
      <p:grpSp>
        <p:nvGrpSpPr>
          <p:cNvPr id="96265" name="Group 182">
            <a:extLst>
              <a:ext uri="{FF2B5EF4-FFF2-40B4-BE49-F238E27FC236}">
                <a16:creationId xmlns:a16="http://schemas.microsoft.com/office/drawing/2014/main" id="{51DD0B6F-A8F3-2249-BE7F-CD8DE5C49218}"/>
              </a:ext>
            </a:extLst>
          </p:cNvPr>
          <p:cNvGrpSpPr>
            <a:grpSpLocks/>
          </p:cNvGrpSpPr>
          <p:nvPr/>
        </p:nvGrpSpPr>
        <p:grpSpPr bwMode="auto">
          <a:xfrm>
            <a:off x="1746648" y="1779985"/>
            <a:ext cx="378619" cy="377428"/>
            <a:chOff x="921" y="2412"/>
            <a:chExt cx="284" cy="265"/>
          </a:xfrm>
        </p:grpSpPr>
        <p:grpSp>
          <p:nvGrpSpPr>
            <p:cNvPr id="96332" name="Group 183">
              <a:extLst>
                <a:ext uri="{FF2B5EF4-FFF2-40B4-BE49-F238E27FC236}">
                  <a16:creationId xmlns:a16="http://schemas.microsoft.com/office/drawing/2014/main" id="{21EF195B-588B-A84D-AF99-DE9E943A2FB2}"/>
                </a:ext>
              </a:extLst>
            </p:cNvPr>
            <p:cNvGrpSpPr>
              <a:grpSpLocks/>
            </p:cNvGrpSpPr>
            <p:nvPr/>
          </p:nvGrpSpPr>
          <p:grpSpPr bwMode="auto">
            <a:xfrm>
              <a:off x="928" y="2417"/>
              <a:ext cx="277" cy="260"/>
              <a:chOff x="928" y="2417"/>
              <a:chExt cx="277" cy="260"/>
            </a:xfrm>
          </p:grpSpPr>
          <p:sp>
            <p:nvSpPr>
              <p:cNvPr id="96346" name="Freeform 184">
                <a:extLst>
                  <a:ext uri="{FF2B5EF4-FFF2-40B4-BE49-F238E27FC236}">
                    <a16:creationId xmlns:a16="http://schemas.microsoft.com/office/drawing/2014/main" id="{7AC4FA6C-3658-E142-9E64-A8CE0B45691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7" name="Freeform 185">
                <a:extLst>
                  <a:ext uri="{FF2B5EF4-FFF2-40B4-BE49-F238E27FC236}">
                    <a16:creationId xmlns:a16="http://schemas.microsoft.com/office/drawing/2014/main" id="{0355BAA6-B538-054D-8BFE-101883978C17}"/>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8" name="Freeform 186">
                <a:extLst>
                  <a:ext uri="{FF2B5EF4-FFF2-40B4-BE49-F238E27FC236}">
                    <a16:creationId xmlns:a16="http://schemas.microsoft.com/office/drawing/2014/main" id="{D2DD1BD1-C3B3-CF49-A4D7-545C950371A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9" name="Freeform 187">
                <a:extLst>
                  <a:ext uri="{FF2B5EF4-FFF2-40B4-BE49-F238E27FC236}">
                    <a16:creationId xmlns:a16="http://schemas.microsoft.com/office/drawing/2014/main" id="{E9FB4049-CC1C-C94F-86C7-8D384452950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0" name="Rectangle 188">
                <a:extLst>
                  <a:ext uri="{FF2B5EF4-FFF2-40B4-BE49-F238E27FC236}">
                    <a16:creationId xmlns:a16="http://schemas.microsoft.com/office/drawing/2014/main" id="{4548C84B-EF24-A94C-A07A-11F465263E6D}"/>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1" name="Rectangle 189">
                <a:extLst>
                  <a:ext uri="{FF2B5EF4-FFF2-40B4-BE49-F238E27FC236}">
                    <a16:creationId xmlns:a16="http://schemas.microsoft.com/office/drawing/2014/main" id="{7DB6C9C1-EB98-6441-864A-4EEB1371543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2" name="Rectangle 190">
                <a:extLst>
                  <a:ext uri="{FF2B5EF4-FFF2-40B4-BE49-F238E27FC236}">
                    <a16:creationId xmlns:a16="http://schemas.microsoft.com/office/drawing/2014/main" id="{F20DDC3E-0BFD-AA45-9A91-3F135BCA623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3" name="Line 191">
                <a:extLst>
                  <a:ext uri="{FF2B5EF4-FFF2-40B4-BE49-F238E27FC236}">
                    <a16:creationId xmlns:a16="http://schemas.microsoft.com/office/drawing/2014/main" id="{DAB29032-3EF4-064F-8161-F793DEA012A4}"/>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54" name="Group 192">
                <a:extLst>
                  <a:ext uri="{FF2B5EF4-FFF2-40B4-BE49-F238E27FC236}">
                    <a16:creationId xmlns:a16="http://schemas.microsoft.com/office/drawing/2014/main" id="{53B52332-7678-9E46-AED1-29044D3CDA5C}"/>
                  </a:ext>
                </a:extLst>
              </p:cNvPr>
              <p:cNvGrpSpPr>
                <a:grpSpLocks/>
              </p:cNvGrpSpPr>
              <p:nvPr/>
            </p:nvGrpSpPr>
            <p:grpSpPr bwMode="auto">
              <a:xfrm>
                <a:off x="928" y="2639"/>
                <a:ext cx="277" cy="38"/>
                <a:chOff x="928" y="2639"/>
                <a:chExt cx="277" cy="38"/>
              </a:xfrm>
            </p:grpSpPr>
            <p:sp>
              <p:nvSpPr>
                <p:cNvPr id="96355" name="Freeform 193">
                  <a:extLst>
                    <a:ext uri="{FF2B5EF4-FFF2-40B4-BE49-F238E27FC236}">
                      <a16:creationId xmlns:a16="http://schemas.microsoft.com/office/drawing/2014/main" id="{2E47CAB2-D39E-0A43-97B4-45307432089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6" name="Freeform 194">
                  <a:extLst>
                    <a:ext uri="{FF2B5EF4-FFF2-40B4-BE49-F238E27FC236}">
                      <a16:creationId xmlns:a16="http://schemas.microsoft.com/office/drawing/2014/main" id="{11B379D2-AD80-2F4D-B8AA-56B1B5ED70A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7" name="Rectangle 195">
                  <a:extLst>
                    <a:ext uri="{FF2B5EF4-FFF2-40B4-BE49-F238E27FC236}">
                      <a16:creationId xmlns:a16="http://schemas.microsoft.com/office/drawing/2014/main" id="{A69E6E79-C086-DF4B-B78B-7D8E54AEF48B}"/>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6333" name="Group 196">
              <a:extLst>
                <a:ext uri="{FF2B5EF4-FFF2-40B4-BE49-F238E27FC236}">
                  <a16:creationId xmlns:a16="http://schemas.microsoft.com/office/drawing/2014/main" id="{5BFFE7A7-634A-EE41-91D3-142D96F46042}"/>
                </a:ext>
              </a:extLst>
            </p:cNvPr>
            <p:cNvGrpSpPr>
              <a:grpSpLocks/>
            </p:cNvGrpSpPr>
            <p:nvPr/>
          </p:nvGrpSpPr>
          <p:grpSpPr bwMode="auto">
            <a:xfrm>
              <a:off x="921" y="2412"/>
              <a:ext cx="277" cy="261"/>
              <a:chOff x="921" y="2412"/>
              <a:chExt cx="277" cy="261"/>
            </a:xfrm>
          </p:grpSpPr>
          <p:sp>
            <p:nvSpPr>
              <p:cNvPr id="96334" name="Freeform 197">
                <a:extLst>
                  <a:ext uri="{FF2B5EF4-FFF2-40B4-BE49-F238E27FC236}">
                    <a16:creationId xmlns:a16="http://schemas.microsoft.com/office/drawing/2014/main" id="{6A573FBC-798A-5D4F-8528-77FC658FFF1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5" name="Freeform 198">
                <a:extLst>
                  <a:ext uri="{FF2B5EF4-FFF2-40B4-BE49-F238E27FC236}">
                    <a16:creationId xmlns:a16="http://schemas.microsoft.com/office/drawing/2014/main" id="{7FCBBF1B-C101-B14A-9909-806842A9B61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6" name="Freeform 199">
                <a:extLst>
                  <a:ext uri="{FF2B5EF4-FFF2-40B4-BE49-F238E27FC236}">
                    <a16:creationId xmlns:a16="http://schemas.microsoft.com/office/drawing/2014/main" id="{44A65B40-05E9-9846-AE8B-80608803F9C7}"/>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7" name="Freeform 200">
                <a:extLst>
                  <a:ext uri="{FF2B5EF4-FFF2-40B4-BE49-F238E27FC236}">
                    <a16:creationId xmlns:a16="http://schemas.microsoft.com/office/drawing/2014/main" id="{BCA4BA37-C5CB-E448-87D5-4554D62374C0}"/>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8" name="Rectangle 201">
                <a:extLst>
                  <a:ext uri="{FF2B5EF4-FFF2-40B4-BE49-F238E27FC236}">
                    <a16:creationId xmlns:a16="http://schemas.microsoft.com/office/drawing/2014/main" id="{DB5B75C0-CDE2-EF48-B71F-1B9E5E4D76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39" name="Rectangle 202">
                <a:extLst>
                  <a:ext uri="{FF2B5EF4-FFF2-40B4-BE49-F238E27FC236}">
                    <a16:creationId xmlns:a16="http://schemas.microsoft.com/office/drawing/2014/main" id="{78025415-F4A7-E840-B34B-D2DEA34C5CC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40" name="Rectangle 203">
                <a:extLst>
                  <a:ext uri="{FF2B5EF4-FFF2-40B4-BE49-F238E27FC236}">
                    <a16:creationId xmlns:a16="http://schemas.microsoft.com/office/drawing/2014/main" id="{52E55897-64E1-314C-AA7E-0E4DBC559FA2}"/>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41" name="Line 204">
                <a:extLst>
                  <a:ext uri="{FF2B5EF4-FFF2-40B4-BE49-F238E27FC236}">
                    <a16:creationId xmlns:a16="http://schemas.microsoft.com/office/drawing/2014/main" id="{C43A1593-924A-3241-97B7-1F911D1AD7A4}"/>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42" name="Group 205">
                <a:extLst>
                  <a:ext uri="{FF2B5EF4-FFF2-40B4-BE49-F238E27FC236}">
                    <a16:creationId xmlns:a16="http://schemas.microsoft.com/office/drawing/2014/main" id="{7AD14833-408E-E049-A3C5-5BDF1A28FEF6}"/>
                  </a:ext>
                </a:extLst>
              </p:cNvPr>
              <p:cNvGrpSpPr>
                <a:grpSpLocks/>
              </p:cNvGrpSpPr>
              <p:nvPr/>
            </p:nvGrpSpPr>
            <p:grpSpPr bwMode="auto">
              <a:xfrm>
                <a:off x="921" y="2635"/>
                <a:ext cx="277" cy="38"/>
                <a:chOff x="921" y="2635"/>
                <a:chExt cx="277" cy="38"/>
              </a:xfrm>
            </p:grpSpPr>
            <p:sp>
              <p:nvSpPr>
                <p:cNvPr id="96343" name="Freeform 206">
                  <a:extLst>
                    <a:ext uri="{FF2B5EF4-FFF2-40B4-BE49-F238E27FC236}">
                      <a16:creationId xmlns:a16="http://schemas.microsoft.com/office/drawing/2014/main" id="{5ADCDC24-CA55-9E42-8C66-32474F96194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4" name="Freeform 207">
                  <a:extLst>
                    <a:ext uri="{FF2B5EF4-FFF2-40B4-BE49-F238E27FC236}">
                      <a16:creationId xmlns:a16="http://schemas.microsoft.com/office/drawing/2014/main" id="{5666533F-DB49-3D4B-BFE5-EAA4F9CD1643}"/>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5" name="Rectangle 208">
                  <a:extLst>
                    <a:ext uri="{FF2B5EF4-FFF2-40B4-BE49-F238E27FC236}">
                      <a16:creationId xmlns:a16="http://schemas.microsoft.com/office/drawing/2014/main" id="{5A34F1DD-9ADB-CC41-8A3A-7EE0486685E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96266" name="Text Box 209">
            <a:extLst>
              <a:ext uri="{FF2B5EF4-FFF2-40B4-BE49-F238E27FC236}">
                <a16:creationId xmlns:a16="http://schemas.microsoft.com/office/drawing/2014/main" id="{836FDF87-1D8F-6A4A-B281-444ED3017C6E}"/>
              </a:ext>
            </a:extLst>
          </p:cNvPr>
          <p:cNvSpPr txBox="1">
            <a:spLocks noChangeArrowheads="1"/>
          </p:cNvSpPr>
          <p:nvPr/>
        </p:nvSpPr>
        <p:spPr bwMode="auto">
          <a:xfrm>
            <a:off x="2659857" y="29432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签名 </a:t>
            </a:r>
          </a:p>
        </p:txBody>
      </p:sp>
      <p:sp>
        <p:nvSpPr>
          <p:cNvPr id="96267" name="Text Box 210">
            <a:extLst>
              <a:ext uri="{FF2B5EF4-FFF2-40B4-BE49-F238E27FC236}">
                <a16:creationId xmlns:a16="http://schemas.microsoft.com/office/drawing/2014/main" id="{D2A8CAFA-28B7-3E45-8E6E-6AE86AB9EF28}"/>
              </a:ext>
            </a:extLst>
          </p:cNvPr>
          <p:cNvSpPr txBox="1">
            <a:spLocks noChangeArrowheads="1"/>
          </p:cNvSpPr>
          <p:nvPr/>
        </p:nvSpPr>
        <p:spPr bwMode="auto">
          <a:xfrm>
            <a:off x="5489973" y="2999185"/>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核实签名</a:t>
            </a:r>
          </a:p>
        </p:txBody>
      </p:sp>
      <p:sp>
        <p:nvSpPr>
          <p:cNvPr id="604371" name="Freeform 211">
            <a:extLst>
              <a:ext uri="{FF2B5EF4-FFF2-40B4-BE49-F238E27FC236}">
                <a16:creationId xmlns:a16="http://schemas.microsoft.com/office/drawing/2014/main" id="{9E10B1FA-5FCD-E74B-A017-140FB924857A}"/>
              </a:ext>
            </a:extLst>
          </p:cNvPr>
          <p:cNvSpPr>
            <a:spLocks/>
          </p:cNvSpPr>
          <p:nvPr/>
        </p:nvSpPr>
        <p:spPr bwMode="auto">
          <a:xfrm>
            <a:off x="6893719" y="2481263"/>
            <a:ext cx="722710" cy="816769"/>
          </a:xfrm>
          <a:custGeom>
            <a:avLst/>
            <a:gdLst>
              <a:gd name="T0" fmla="*/ 0 w 663"/>
              <a:gd name="T1" fmla="*/ 0 h 686"/>
              <a:gd name="T2" fmla="*/ 0 w 663"/>
              <a:gd name="T3" fmla="*/ 184150 h 686"/>
              <a:gd name="T4" fmla="*/ 963613 w 663"/>
              <a:gd name="T5" fmla="*/ 193675 h 686"/>
              <a:gd name="T6" fmla="*/ 954893 w 663"/>
              <a:gd name="T7" fmla="*/ 1089025 h 68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3" h="686">
                <a:moveTo>
                  <a:pt x="0" y="0"/>
                </a:moveTo>
                <a:lnTo>
                  <a:pt x="0" y="116"/>
                </a:lnTo>
                <a:lnTo>
                  <a:pt x="663" y="122"/>
                </a:lnTo>
                <a:lnTo>
                  <a:pt x="657" y="686"/>
                </a:lnTo>
              </a:path>
            </a:pathLst>
          </a:custGeom>
          <a:noFill/>
          <a:ln w="38100">
            <a:solidFill>
              <a:srgbClr val="808000"/>
            </a:solidFill>
            <a:round/>
            <a:headEnd type="none" w="sm" len="med"/>
            <a:tailEnd type="triangle" w="med" len="lg"/>
          </a:ln>
          <a:effectLst/>
        </p:spPr>
        <p:txBody>
          <a:bodyPr wrap="none" anchor="ctr"/>
          <a:lstStyle/>
          <a:p>
            <a:pPr>
              <a:defRPr/>
            </a:pPr>
            <a:endParaRPr lang="zh-CN" altLang="en-US">
              <a:cs typeface="+mn-cs"/>
            </a:endParaRPr>
          </a:p>
        </p:txBody>
      </p:sp>
      <p:sp>
        <p:nvSpPr>
          <p:cNvPr id="96269" name="Rectangle 212">
            <a:extLst>
              <a:ext uri="{FF2B5EF4-FFF2-40B4-BE49-F238E27FC236}">
                <a16:creationId xmlns:a16="http://schemas.microsoft.com/office/drawing/2014/main" id="{5BCAE53C-5D6E-C947-B4E6-00B61478B0DB}"/>
              </a:ext>
            </a:extLst>
          </p:cNvPr>
          <p:cNvSpPr>
            <a:spLocks noChangeArrowheads="1"/>
          </p:cNvSpPr>
          <p:nvPr/>
        </p:nvSpPr>
        <p:spPr bwMode="auto">
          <a:xfrm>
            <a:off x="1493044" y="2239566"/>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i="1">
                <a:solidFill>
                  <a:schemeClr val="folHlink"/>
                </a:solidFill>
                <a:latin typeface="Arial" panose="020B0604020202020204" pitchFamily="34" charset="0"/>
                <a:ea typeface="宋体" panose="02010600030101010101" pitchFamily="2" charset="-122"/>
              </a:rPr>
              <a:t>X</a:t>
            </a:r>
          </a:p>
        </p:txBody>
      </p:sp>
      <p:sp>
        <p:nvSpPr>
          <p:cNvPr id="96270" name="Text Box 213">
            <a:extLst>
              <a:ext uri="{FF2B5EF4-FFF2-40B4-BE49-F238E27FC236}">
                <a16:creationId xmlns:a16="http://schemas.microsoft.com/office/drawing/2014/main" id="{82136B33-07CB-2840-9AD8-39DC969FD5D7}"/>
              </a:ext>
            </a:extLst>
          </p:cNvPr>
          <p:cNvSpPr txBox="1">
            <a:spLocks noChangeArrowheads="1"/>
          </p:cNvSpPr>
          <p:nvPr/>
        </p:nvSpPr>
        <p:spPr bwMode="auto">
          <a:xfrm>
            <a:off x="3306366" y="2070497"/>
            <a:ext cx="4796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folHlink"/>
                </a:solidFill>
                <a:latin typeface="Arial" panose="020B0604020202020204" pitchFamily="34" charset="0"/>
                <a:ea typeface="宋体" panose="02010600030101010101" pitchFamily="2" charset="-122"/>
                <a:sym typeface="Symbol" pitchFamily="2" charset="2"/>
              </a:rPr>
              <a:t></a:t>
            </a:r>
          </a:p>
        </p:txBody>
      </p:sp>
      <p:sp>
        <p:nvSpPr>
          <p:cNvPr id="604374" name="Rectangle 214">
            <a:extLst>
              <a:ext uri="{FF2B5EF4-FFF2-40B4-BE49-F238E27FC236}">
                <a16:creationId xmlns:a16="http://schemas.microsoft.com/office/drawing/2014/main" id="{CC7B21CC-F8CA-A641-A7E2-0893DC64BC16}"/>
              </a:ext>
            </a:extLst>
          </p:cNvPr>
          <p:cNvSpPr>
            <a:spLocks noChangeArrowheads="1"/>
          </p:cNvSpPr>
          <p:nvPr/>
        </p:nvSpPr>
        <p:spPr bwMode="auto">
          <a:xfrm>
            <a:off x="1709737" y="3307557"/>
            <a:ext cx="37742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604375" name="Rectangle 215">
            <a:extLst>
              <a:ext uri="{FF2B5EF4-FFF2-40B4-BE49-F238E27FC236}">
                <a16:creationId xmlns:a16="http://schemas.microsoft.com/office/drawing/2014/main" id="{D2B5FCE2-324B-8E48-ADD1-6871E3705D18}"/>
              </a:ext>
            </a:extLst>
          </p:cNvPr>
          <p:cNvSpPr>
            <a:spLocks noChangeArrowheads="1"/>
          </p:cNvSpPr>
          <p:nvPr/>
        </p:nvSpPr>
        <p:spPr bwMode="auto">
          <a:xfrm>
            <a:off x="2415779" y="3307557"/>
            <a:ext cx="540544" cy="216694"/>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folHlink"/>
                </a:solidFill>
                <a:latin typeface="Arial" panose="020B0604020202020204" pitchFamily="34" charset="0"/>
              </a:rPr>
              <a:t>D</a:t>
            </a:r>
            <a:r>
              <a:rPr kumimoji="1" lang="en-US" altLang="zh-CN" sz="1350">
                <a:solidFill>
                  <a:schemeClr val="folHlink"/>
                </a:solidFill>
                <a:latin typeface="Arial" panose="020B0604020202020204" pitchFamily="34" charset="0"/>
              </a:rPr>
              <a:t> </a:t>
            </a:r>
            <a:r>
              <a:rPr kumimoji="1" lang="zh-CN" altLang="en-US" sz="1350">
                <a:solidFill>
                  <a:schemeClr val="folHlink"/>
                </a:solidFill>
                <a:latin typeface="Arial" panose="020B0604020202020204" pitchFamily="34" charset="0"/>
              </a:rPr>
              <a:t>运算</a:t>
            </a:r>
          </a:p>
        </p:txBody>
      </p:sp>
      <p:sp>
        <p:nvSpPr>
          <p:cNvPr id="604376" name="Rectangle 216">
            <a:extLst>
              <a:ext uri="{FF2B5EF4-FFF2-40B4-BE49-F238E27FC236}">
                <a16:creationId xmlns:a16="http://schemas.microsoft.com/office/drawing/2014/main" id="{C5BECF58-AFF4-F244-9857-7402A3AA434F}"/>
              </a:ext>
            </a:extLst>
          </p:cNvPr>
          <p:cNvSpPr>
            <a:spLocks noChangeArrowheads="1"/>
          </p:cNvSpPr>
          <p:nvPr/>
        </p:nvSpPr>
        <p:spPr bwMode="auto">
          <a:xfrm>
            <a:off x="3330179" y="3307557"/>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96274" name="Text Box 217">
            <a:extLst>
              <a:ext uri="{FF2B5EF4-FFF2-40B4-BE49-F238E27FC236}">
                <a16:creationId xmlns:a16="http://schemas.microsoft.com/office/drawing/2014/main" id="{F86D1AF5-A463-0349-9C2C-DA07233831F5}"/>
              </a:ext>
            </a:extLst>
          </p:cNvPr>
          <p:cNvSpPr txBox="1">
            <a:spLocks noChangeArrowheads="1"/>
          </p:cNvSpPr>
          <p:nvPr/>
        </p:nvSpPr>
        <p:spPr bwMode="auto">
          <a:xfrm>
            <a:off x="2141935" y="2571750"/>
            <a:ext cx="857992"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a:t>
            </a:r>
            <a:r>
              <a:rPr kumimoji="1" lang="zh-CN" altLang="en-US" sz="1350">
                <a:solidFill>
                  <a:schemeClr val="folHlink"/>
                </a:solidFill>
                <a:latin typeface="Arial" panose="020B0604020202020204" pitchFamily="34" charset="0"/>
                <a:ea typeface="宋体" panose="02010600030101010101" pitchFamily="2" charset="-122"/>
              </a:rPr>
              <a:t>的私钥</a:t>
            </a:r>
          </a:p>
        </p:txBody>
      </p:sp>
      <p:sp>
        <p:nvSpPr>
          <p:cNvPr id="96275" name="Rectangle 218">
            <a:extLst>
              <a:ext uri="{FF2B5EF4-FFF2-40B4-BE49-F238E27FC236}">
                <a16:creationId xmlns:a16="http://schemas.microsoft.com/office/drawing/2014/main" id="{B82B8E94-8199-964B-8ACD-B9AC78975721}"/>
              </a:ext>
            </a:extLst>
          </p:cNvPr>
          <p:cNvSpPr>
            <a:spLocks noChangeArrowheads="1"/>
          </p:cNvSpPr>
          <p:nvPr/>
        </p:nvSpPr>
        <p:spPr bwMode="auto">
          <a:xfrm>
            <a:off x="4248150" y="2239566"/>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a:solidFill>
                  <a:schemeClr val="folHlink"/>
                </a:solidFill>
                <a:latin typeface="Arial" panose="020B0604020202020204" pitchFamily="34" charset="0"/>
                <a:ea typeface="宋体" panose="02010600030101010101" pitchFamily="2" charset="-122"/>
              </a:rPr>
              <a:t>X</a:t>
            </a:r>
          </a:p>
        </p:txBody>
      </p:sp>
      <p:sp>
        <p:nvSpPr>
          <p:cNvPr id="604379" name="Rectangle 219">
            <a:extLst>
              <a:ext uri="{FF2B5EF4-FFF2-40B4-BE49-F238E27FC236}">
                <a16:creationId xmlns:a16="http://schemas.microsoft.com/office/drawing/2014/main" id="{49E9D75D-A181-4F4C-971F-1926D17CCDF8}"/>
              </a:ext>
            </a:extLst>
          </p:cNvPr>
          <p:cNvSpPr>
            <a:spLocks noChangeArrowheads="1"/>
          </p:cNvSpPr>
          <p:nvPr/>
        </p:nvSpPr>
        <p:spPr bwMode="auto">
          <a:xfrm>
            <a:off x="3869532" y="2239566"/>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604380" name="Text Box 220">
            <a:extLst>
              <a:ext uri="{FF2B5EF4-FFF2-40B4-BE49-F238E27FC236}">
                <a16:creationId xmlns:a16="http://schemas.microsoft.com/office/drawing/2014/main" id="{2528CEBA-209E-154A-A49E-7DEB3D29BA17}"/>
              </a:ext>
            </a:extLst>
          </p:cNvPr>
          <p:cNvSpPr txBox="1">
            <a:spLocks noChangeArrowheads="1"/>
          </p:cNvSpPr>
          <p:nvPr/>
        </p:nvSpPr>
        <p:spPr bwMode="auto">
          <a:xfrm>
            <a:off x="6511528" y="1759744"/>
            <a:ext cx="300082"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B</a:t>
            </a:r>
          </a:p>
        </p:txBody>
      </p:sp>
      <p:grpSp>
        <p:nvGrpSpPr>
          <p:cNvPr id="96278" name="Group 221">
            <a:extLst>
              <a:ext uri="{FF2B5EF4-FFF2-40B4-BE49-F238E27FC236}">
                <a16:creationId xmlns:a16="http://schemas.microsoft.com/office/drawing/2014/main" id="{3A9380CE-6F02-1642-8502-5C904756D7AD}"/>
              </a:ext>
            </a:extLst>
          </p:cNvPr>
          <p:cNvGrpSpPr>
            <a:grpSpLocks/>
          </p:cNvGrpSpPr>
          <p:nvPr/>
        </p:nvGrpSpPr>
        <p:grpSpPr bwMode="auto">
          <a:xfrm>
            <a:off x="6678216" y="1779985"/>
            <a:ext cx="378619" cy="377428"/>
            <a:chOff x="921" y="2412"/>
            <a:chExt cx="284" cy="265"/>
          </a:xfrm>
        </p:grpSpPr>
        <p:grpSp>
          <p:nvGrpSpPr>
            <p:cNvPr id="96306" name="Group 222">
              <a:extLst>
                <a:ext uri="{FF2B5EF4-FFF2-40B4-BE49-F238E27FC236}">
                  <a16:creationId xmlns:a16="http://schemas.microsoft.com/office/drawing/2014/main" id="{951779E7-3472-F644-8965-384E47116098}"/>
                </a:ext>
              </a:extLst>
            </p:cNvPr>
            <p:cNvGrpSpPr>
              <a:grpSpLocks/>
            </p:cNvGrpSpPr>
            <p:nvPr/>
          </p:nvGrpSpPr>
          <p:grpSpPr bwMode="auto">
            <a:xfrm>
              <a:off x="928" y="2417"/>
              <a:ext cx="277" cy="260"/>
              <a:chOff x="928" y="2417"/>
              <a:chExt cx="277" cy="260"/>
            </a:xfrm>
          </p:grpSpPr>
          <p:sp>
            <p:nvSpPr>
              <p:cNvPr id="96320" name="Freeform 223">
                <a:extLst>
                  <a:ext uri="{FF2B5EF4-FFF2-40B4-BE49-F238E27FC236}">
                    <a16:creationId xmlns:a16="http://schemas.microsoft.com/office/drawing/2014/main" id="{77EDC4F6-75CE-8640-9352-DAE6FD41517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1" name="Freeform 224">
                <a:extLst>
                  <a:ext uri="{FF2B5EF4-FFF2-40B4-BE49-F238E27FC236}">
                    <a16:creationId xmlns:a16="http://schemas.microsoft.com/office/drawing/2014/main" id="{50AC3D21-8238-F243-AAB7-C1603EFBD3B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2" name="Freeform 225">
                <a:extLst>
                  <a:ext uri="{FF2B5EF4-FFF2-40B4-BE49-F238E27FC236}">
                    <a16:creationId xmlns:a16="http://schemas.microsoft.com/office/drawing/2014/main" id="{D878C9FF-A516-DE40-93A0-46C1E0B66C6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3" name="Freeform 226">
                <a:extLst>
                  <a:ext uri="{FF2B5EF4-FFF2-40B4-BE49-F238E27FC236}">
                    <a16:creationId xmlns:a16="http://schemas.microsoft.com/office/drawing/2014/main" id="{E79052FF-C977-D449-AB72-290A3D275FA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4" name="Rectangle 227">
                <a:extLst>
                  <a:ext uri="{FF2B5EF4-FFF2-40B4-BE49-F238E27FC236}">
                    <a16:creationId xmlns:a16="http://schemas.microsoft.com/office/drawing/2014/main" id="{55A7331A-DE48-7342-BD64-BAD756A6F0F3}"/>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5" name="Rectangle 228">
                <a:extLst>
                  <a:ext uri="{FF2B5EF4-FFF2-40B4-BE49-F238E27FC236}">
                    <a16:creationId xmlns:a16="http://schemas.microsoft.com/office/drawing/2014/main" id="{99FF7C16-BC6B-534F-B136-88CBDC4E371E}"/>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6" name="Rectangle 229">
                <a:extLst>
                  <a:ext uri="{FF2B5EF4-FFF2-40B4-BE49-F238E27FC236}">
                    <a16:creationId xmlns:a16="http://schemas.microsoft.com/office/drawing/2014/main" id="{E6A6B5EF-C1BE-F84A-B652-8C359901D41C}"/>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7" name="Line 230">
                <a:extLst>
                  <a:ext uri="{FF2B5EF4-FFF2-40B4-BE49-F238E27FC236}">
                    <a16:creationId xmlns:a16="http://schemas.microsoft.com/office/drawing/2014/main" id="{8C7B60F5-E0AF-8B4E-A777-7A2989907355}"/>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28" name="Group 231">
                <a:extLst>
                  <a:ext uri="{FF2B5EF4-FFF2-40B4-BE49-F238E27FC236}">
                    <a16:creationId xmlns:a16="http://schemas.microsoft.com/office/drawing/2014/main" id="{B0AFC20E-B99F-B047-8899-FAC417416B5E}"/>
                  </a:ext>
                </a:extLst>
              </p:cNvPr>
              <p:cNvGrpSpPr>
                <a:grpSpLocks/>
              </p:cNvGrpSpPr>
              <p:nvPr/>
            </p:nvGrpSpPr>
            <p:grpSpPr bwMode="auto">
              <a:xfrm>
                <a:off x="928" y="2639"/>
                <a:ext cx="277" cy="38"/>
                <a:chOff x="928" y="2639"/>
                <a:chExt cx="277" cy="38"/>
              </a:xfrm>
            </p:grpSpPr>
            <p:sp>
              <p:nvSpPr>
                <p:cNvPr id="96329" name="Freeform 232">
                  <a:extLst>
                    <a:ext uri="{FF2B5EF4-FFF2-40B4-BE49-F238E27FC236}">
                      <a16:creationId xmlns:a16="http://schemas.microsoft.com/office/drawing/2014/main" id="{895EF612-29D3-9847-B169-1B3851A1E4E7}"/>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0" name="Freeform 233">
                  <a:extLst>
                    <a:ext uri="{FF2B5EF4-FFF2-40B4-BE49-F238E27FC236}">
                      <a16:creationId xmlns:a16="http://schemas.microsoft.com/office/drawing/2014/main" id="{02125EA6-4FF4-1047-8EBC-2478A0E527E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1" name="Rectangle 234">
                  <a:extLst>
                    <a:ext uri="{FF2B5EF4-FFF2-40B4-BE49-F238E27FC236}">
                      <a16:creationId xmlns:a16="http://schemas.microsoft.com/office/drawing/2014/main" id="{98F26D05-3729-A94A-8D85-AD859F86FABD}"/>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6307" name="Group 235">
              <a:extLst>
                <a:ext uri="{FF2B5EF4-FFF2-40B4-BE49-F238E27FC236}">
                  <a16:creationId xmlns:a16="http://schemas.microsoft.com/office/drawing/2014/main" id="{9842A708-886E-304C-BA44-A07CAD9F9F92}"/>
                </a:ext>
              </a:extLst>
            </p:cNvPr>
            <p:cNvGrpSpPr>
              <a:grpSpLocks/>
            </p:cNvGrpSpPr>
            <p:nvPr/>
          </p:nvGrpSpPr>
          <p:grpSpPr bwMode="auto">
            <a:xfrm>
              <a:off x="921" y="2412"/>
              <a:ext cx="277" cy="261"/>
              <a:chOff x="921" y="2412"/>
              <a:chExt cx="277" cy="261"/>
            </a:xfrm>
          </p:grpSpPr>
          <p:sp>
            <p:nvSpPr>
              <p:cNvPr id="96308" name="Freeform 236">
                <a:extLst>
                  <a:ext uri="{FF2B5EF4-FFF2-40B4-BE49-F238E27FC236}">
                    <a16:creationId xmlns:a16="http://schemas.microsoft.com/office/drawing/2014/main" id="{606F6469-5F66-A045-B546-3713DE90C805}"/>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09" name="Freeform 237">
                <a:extLst>
                  <a:ext uri="{FF2B5EF4-FFF2-40B4-BE49-F238E27FC236}">
                    <a16:creationId xmlns:a16="http://schemas.microsoft.com/office/drawing/2014/main" id="{1C839E51-D142-CA47-9537-972398794C1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0" name="Freeform 238">
                <a:extLst>
                  <a:ext uri="{FF2B5EF4-FFF2-40B4-BE49-F238E27FC236}">
                    <a16:creationId xmlns:a16="http://schemas.microsoft.com/office/drawing/2014/main" id="{ECE00A5F-2CD7-BB40-8C9E-C8915594155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1" name="Freeform 239">
                <a:extLst>
                  <a:ext uri="{FF2B5EF4-FFF2-40B4-BE49-F238E27FC236}">
                    <a16:creationId xmlns:a16="http://schemas.microsoft.com/office/drawing/2014/main" id="{EA9714CF-881E-C443-8261-9B7979F0F348}"/>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2" name="Rectangle 240">
                <a:extLst>
                  <a:ext uri="{FF2B5EF4-FFF2-40B4-BE49-F238E27FC236}">
                    <a16:creationId xmlns:a16="http://schemas.microsoft.com/office/drawing/2014/main" id="{64C9B45C-1737-9546-B9CA-ED2B1F202CF3}"/>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3" name="Rectangle 241">
                <a:extLst>
                  <a:ext uri="{FF2B5EF4-FFF2-40B4-BE49-F238E27FC236}">
                    <a16:creationId xmlns:a16="http://schemas.microsoft.com/office/drawing/2014/main" id="{0F16AE44-40CD-B043-9225-B1AF04A56297}"/>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4" name="Rectangle 242">
                <a:extLst>
                  <a:ext uri="{FF2B5EF4-FFF2-40B4-BE49-F238E27FC236}">
                    <a16:creationId xmlns:a16="http://schemas.microsoft.com/office/drawing/2014/main" id="{7FE1EF39-4A4F-C64A-9FB6-5603012CF70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5" name="Line 243">
                <a:extLst>
                  <a:ext uri="{FF2B5EF4-FFF2-40B4-BE49-F238E27FC236}">
                    <a16:creationId xmlns:a16="http://schemas.microsoft.com/office/drawing/2014/main" id="{1C665D0E-E90B-E947-ACE4-BD3A85B366A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16" name="Group 244">
                <a:extLst>
                  <a:ext uri="{FF2B5EF4-FFF2-40B4-BE49-F238E27FC236}">
                    <a16:creationId xmlns:a16="http://schemas.microsoft.com/office/drawing/2014/main" id="{DA033558-DEBD-7741-B944-0CD3C5D89C28}"/>
                  </a:ext>
                </a:extLst>
              </p:cNvPr>
              <p:cNvGrpSpPr>
                <a:grpSpLocks/>
              </p:cNvGrpSpPr>
              <p:nvPr/>
            </p:nvGrpSpPr>
            <p:grpSpPr bwMode="auto">
              <a:xfrm>
                <a:off x="921" y="2635"/>
                <a:ext cx="277" cy="38"/>
                <a:chOff x="921" y="2635"/>
                <a:chExt cx="277" cy="38"/>
              </a:xfrm>
            </p:grpSpPr>
            <p:sp>
              <p:nvSpPr>
                <p:cNvPr id="96317" name="Freeform 245">
                  <a:extLst>
                    <a:ext uri="{FF2B5EF4-FFF2-40B4-BE49-F238E27FC236}">
                      <a16:creationId xmlns:a16="http://schemas.microsoft.com/office/drawing/2014/main" id="{4622793F-4763-154A-B67B-8BD1BAB941F4}"/>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8" name="Freeform 246">
                  <a:extLst>
                    <a:ext uri="{FF2B5EF4-FFF2-40B4-BE49-F238E27FC236}">
                      <a16:creationId xmlns:a16="http://schemas.microsoft.com/office/drawing/2014/main" id="{57D9BD57-2E3D-9449-B218-9314E98FB92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9" name="Rectangle 247">
                  <a:extLst>
                    <a:ext uri="{FF2B5EF4-FFF2-40B4-BE49-F238E27FC236}">
                      <a16:creationId xmlns:a16="http://schemas.microsoft.com/office/drawing/2014/main" id="{9E41D83B-7A6E-D543-BB48-448BDF4B7898}"/>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96279" name="Text Box 248">
            <a:extLst>
              <a:ext uri="{FF2B5EF4-FFF2-40B4-BE49-F238E27FC236}">
                <a16:creationId xmlns:a16="http://schemas.microsoft.com/office/drawing/2014/main" id="{CA8EF131-763E-114A-83E4-7FAD2E13965F}"/>
              </a:ext>
            </a:extLst>
          </p:cNvPr>
          <p:cNvSpPr txBox="1">
            <a:spLocks noChangeArrowheads="1"/>
          </p:cNvSpPr>
          <p:nvPr/>
        </p:nvSpPr>
        <p:spPr bwMode="auto">
          <a:xfrm>
            <a:off x="1493044" y="3504010"/>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96280" name="Rectangle 249">
            <a:extLst>
              <a:ext uri="{FF2B5EF4-FFF2-40B4-BE49-F238E27FC236}">
                <a16:creationId xmlns:a16="http://schemas.microsoft.com/office/drawing/2014/main" id="{D47D1D85-34E1-9244-82F3-C2B53AF93AE2}"/>
              </a:ext>
            </a:extLst>
          </p:cNvPr>
          <p:cNvSpPr>
            <a:spLocks noChangeArrowheads="1"/>
          </p:cNvSpPr>
          <p:nvPr/>
        </p:nvSpPr>
        <p:spPr bwMode="auto">
          <a:xfrm>
            <a:off x="6481763" y="2264569"/>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i="1">
                <a:solidFill>
                  <a:schemeClr val="folHlink"/>
                </a:solidFill>
                <a:latin typeface="Arial" panose="020B0604020202020204" pitchFamily="34" charset="0"/>
                <a:ea typeface="宋体" panose="02010600030101010101" pitchFamily="2" charset="-122"/>
              </a:rPr>
              <a:t>X</a:t>
            </a:r>
          </a:p>
        </p:txBody>
      </p:sp>
      <p:sp>
        <p:nvSpPr>
          <p:cNvPr id="604410" name="Rectangle 250">
            <a:extLst>
              <a:ext uri="{FF2B5EF4-FFF2-40B4-BE49-F238E27FC236}">
                <a16:creationId xmlns:a16="http://schemas.microsoft.com/office/drawing/2014/main" id="{C52007A6-5C46-EA48-A543-7395980DFFAE}"/>
              </a:ext>
            </a:extLst>
          </p:cNvPr>
          <p:cNvSpPr>
            <a:spLocks noChangeArrowheads="1"/>
          </p:cNvSpPr>
          <p:nvPr/>
        </p:nvSpPr>
        <p:spPr bwMode="auto">
          <a:xfrm>
            <a:off x="6111479" y="2264569"/>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96282" name="Text Box 251">
            <a:extLst>
              <a:ext uri="{FF2B5EF4-FFF2-40B4-BE49-F238E27FC236}">
                <a16:creationId xmlns:a16="http://schemas.microsoft.com/office/drawing/2014/main" id="{35AAF80D-E12D-F24B-B45C-D951DEC97C84}"/>
              </a:ext>
            </a:extLst>
          </p:cNvPr>
          <p:cNvSpPr txBox="1">
            <a:spLocks noChangeArrowheads="1"/>
          </p:cNvSpPr>
          <p:nvPr/>
        </p:nvSpPr>
        <p:spPr bwMode="auto">
          <a:xfrm>
            <a:off x="5332810" y="204668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发送 </a:t>
            </a:r>
          </a:p>
        </p:txBody>
      </p:sp>
      <p:sp>
        <p:nvSpPr>
          <p:cNvPr id="604412" name="Rectangle 252">
            <a:extLst>
              <a:ext uri="{FF2B5EF4-FFF2-40B4-BE49-F238E27FC236}">
                <a16:creationId xmlns:a16="http://schemas.microsoft.com/office/drawing/2014/main" id="{1707053D-E277-0A4E-B1EB-451366B19F4C}"/>
              </a:ext>
            </a:extLst>
          </p:cNvPr>
          <p:cNvSpPr>
            <a:spLocks noChangeArrowheads="1"/>
          </p:cNvSpPr>
          <p:nvPr/>
        </p:nvSpPr>
        <p:spPr bwMode="auto">
          <a:xfrm>
            <a:off x="6030516" y="2750344"/>
            <a:ext cx="540544" cy="216694"/>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folHlink"/>
                </a:solidFill>
                <a:latin typeface="Arial" panose="020B0604020202020204" pitchFamily="34" charset="0"/>
              </a:rPr>
              <a:t>E</a:t>
            </a:r>
            <a:r>
              <a:rPr kumimoji="1" lang="en-US" altLang="zh-CN" sz="1350">
                <a:solidFill>
                  <a:schemeClr val="folHlink"/>
                </a:solidFill>
                <a:latin typeface="Arial" panose="020B0604020202020204" pitchFamily="34" charset="0"/>
              </a:rPr>
              <a:t> </a:t>
            </a:r>
            <a:r>
              <a:rPr kumimoji="1" lang="zh-CN" altLang="en-US" sz="1350">
                <a:solidFill>
                  <a:schemeClr val="folHlink"/>
                </a:solidFill>
                <a:latin typeface="Arial" panose="020B0604020202020204" pitchFamily="34" charset="0"/>
              </a:rPr>
              <a:t>运算</a:t>
            </a:r>
          </a:p>
        </p:txBody>
      </p:sp>
      <p:sp>
        <p:nvSpPr>
          <p:cNvPr id="604413" name="Rectangle 253">
            <a:extLst>
              <a:ext uri="{FF2B5EF4-FFF2-40B4-BE49-F238E27FC236}">
                <a16:creationId xmlns:a16="http://schemas.microsoft.com/office/drawing/2014/main" id="{04BA8031-5C29-2A4E-88EB-34CCEB2E1910}"/>
              </a:ext>
            </a:extLst>
          </p:cNvPr>
          <p:cNvSpPr>
            <a:spLocks noChangeArrowheads="1"/>
          </p:cNvSpPr>
          <p:nvPr/>
        </p:nvSpPr>
        <p:spPr bwMode="auto">
          <a:xfrm>
            <a:off x="6111479" y="3307557"/>
            <a:ext cx="37861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96285" name="Text Box 254">
            <a:extLst>
              <a:ext uri="{FF2B5EF4-FFF2-40B4-BE49-F238E27FC236}">
                <a16:creationId xmlns:a16="http://schemas.microsoft.com/office/drawing/2014/main" id="{19D66993-779F-BD4D-B2F1-E7A297752CC0}"/>
              </a:ext>
            </a:extLst>
          </p:cNvPr>
          <p:cNvSpPr txBox="1">
            <a:spLocks noChangeArrowheads="1"/>
          </p:cNvSpPr>
          <p:nvPr/>
        </p:nvSpPr>
        <p:spPr bwMode="auto">
          <a:xfrm>
            <a:off x="3036094" y="3504010"/>
            <a:ext cx="1050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报文鉴别码</a:t>
            </a:r>
          </a:p>
        </p:txBody>
      </p:sp>
      <p:sp>
        <p:nvSpPr>
          <p:cNvPr id="604415" name="Rectangle 255">
            <a:extLst>
              <a:ext uri="{FF2B5EF4-FFF2-40B4-BE49-F238E27FC236}">
                <a16:creationId xmlns:a16="http://schemas.microsoft.com/office/drawing/2014/main" id="{DCA86EFD-D218-504A-A04B-AB485933E419}"/>
              </a:ext>
            </a:extLst>
          </p:cNvPr>
          <p:cNvSpPr>
            <a:spLocks noChangeArrowheads="1"/>
          </p:cNvSpPr>
          <p:nvPr/>
        </p:nvSpPr>
        <p:spPr bwMode="auto">
          <a:xfrm>
            <a:off x="7434263" y="3307557"/>
            <a:ext cx="37861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96287" name="Text Box 256">
            <a:extLst>
              <a:ext uri="{FF2B5EF4-FFF2-40B4-BE49-F238E27FC236}">
                <a16:creationId xmlns:a16="http://schemas.microsoft.com/office/drawing/2014/main" id="{7A32B215-96E8-0B4D-BDED-B3CADAD0CFD9}"/>
              </a:ext>
            </a:extLst>
          </p:cNvPr>
          <p:cNvSpPr txBox="1">
            <a:spLocks noChangeArrowheads="1"/>
          </p:cNvSpPr>
          <p:nvPr/>
        </p:nvSpPr>
        <p:spPr bwMode="auto">
          <a:xfrm>
            <a:off x="1099707" y="2622948"/>
            <a:ext cx="87716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运算</a:t>
            </a:r>
          </a:p>
        </p:txBody>
      </p:sp>
      <p:sp>
        <p:nvSpPr>
          <p:cNvPr id="604417" name="Line 257">
            <a:extLst>
              <a:ext uri="{FF2B5EF4-FFF2-40B4-BE49-F238E27FC236}">
                <a16:creationId xmlns:a16="http://schemas.microsoft.com/office/drawing/2014/main" id="{E2711A67-0F3A-1C4D-88B8-DAF08B4B396C}"/>
              </a:ext>
            </a:extLst>
          </p:cNvPr>
          <p:cNvSpPr>
            <a:spLocks noChangeShapeType="1"/>
          </p:cNvSpPr>
          <p:nvPr/>
        </p:nvSpPr>
        <p:spPr bwMode="auto">
          <a:xfrm rot="5400000">
            <a:off x="2481263" y="3112294"/>
            <a:ext cx="400050" cy="0"/>
          </a:xfrm>
          <a:prstGeom prst="line">
            <a:avLst/>
          </a:prstGeom>
          <a:noFill/>
          <a:ln w="38100">
            <a:solidFill>
              <a:schemeClr va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9" name="Text Box 258">
            <a:extLst>
              <a:ext uri="{FF2B5EF4-FFF2-40B4-BE49-F238E27FC236}">
                <a16:creationId xmlns:a16="http://schemas.microsoft.com/office/drawing/2014/main" id="{2CAF979C-34D4-4F4A-A29D-DFED9DFE1C84}"/>
              </a:ext>
            </a:extLst>
          </p:cNvPr>
          <p:cNvSpPr txBox="1">
            <a:spLocks noChangeArrowheads="1"/>
          </p:cNvSpPr>
          <p:nvPr/>
        </p:nvSpPr>
        <p:spPr bwMode="auto">
          <a:xfrm>
            <a:off x="4692254" y="2674144"/>
            <a:ext cx="857992"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a:t>
            </a:r>
            <a:r>
              <a:rPr kumimoji="1" lang="zh-CN" altLang="en-US" sz="1350">
                <a:solidFill>
                  <a:schemeClr val="folHlink"/>
                </a:solidFill>
                <a:latin typeface="Arial" panose="020B0604020202020204" pitchFamily="34" charset="0"/>
                <a:ea typeface="宋体" panose="02010600030101010101" pitchFamily="2" charset="-122"/>
              </a:rPr>
              <a:t>的公钥</a:t>
            </a:r>
          </a:p>
        </p:txBody>
      </p:sp>
      <p:sp>
        <p:nvSpPr>
          <p:cNvPr id="604419" name="Line 259">
            <a:extLst>
              <a:ext uri="{FF2B5EF4-FFF2-40B4-BE49-F238E27FC236}">
                <a16:creationId xmlns:a16="http://schemas.microsoft.com/office/drawing/2014/main" id="{E21F9A85-8F06-FB4B-BD3B-BE16F7F66705}"/>
              </a:ext>
            </a:extLst>
          </p:cNvPr>
          <p:cNvSpPr>
            <a:spLocks noChangeShapeType="1"/>
          </p:cNvSpPr>
          <p:nvPr/>
        </p:nvSpPr>
        <p:spPr bwMode="auto">
          <a:xfrm flipV="1">
            <a:off x="3602832" y="2357438"/>
            <a:ext cx="270272"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0" name="Line 260">
            <a:extLst>
              <a:ext uri="{FF2B5EF4-FFF2-40B4-BE49-F238E27FC236}">
                <a16:creationId xmlns:a16="http://schemas.microsoft.com/office/drawing/2014/main" id="{1109D28B-1762-2844-A7B0-4FC7A1E51E44}"/>
              </a:ext>
            </a:extLst>
          </p:cNvPr>
          <p:cNvSpPr>
            <a:spLocks noChangeShapeType="1"/>
          </p:cNvSpPr>
          <p:nvPr/>
        </p:nvSpPr>
        <p:spPr bwMode="auto">
          <a:xfrm rot="16200000" flipV="1">
            <a:off x="3059907" y="2875360"/>
            <a:ext cx="864394"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1" name="Line 261">
            <a:extLst>
              <a:ext uri="{FF2B5EF4-FFF2-40B4-BE49-F238E27FC236}">
                <a16:creationId xmlns:a16="http://schemas.microsoft.com/office/drawing/2014/main" id="{F20AA193-F78D-804A-B2F2-EDE7ED95A812}"/>
              </a:ext>
            </a:extLst>
          </p:cNvPr>
          <p:cNvSpPr>
            <a:spLocks noChangeShapeType="1"/>
          </p:cNvSpPr>
          <p:nvPr/>
        </p:nvSpPr>
        <p:spPr bwMode="auto">
          <a:xfrm rot="10800000" flipH="1">
            <a:off x="2095500" y="3408760"/>
            <a:ext cx="320279" cy="5953"/>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2" name="Line 262">
            <a:extLst>
              <a:ext uri="{FF2B5EF4-FFF2-40B4-BE49-F238E27FC236}">
                <a16:creationId xmlns:a16="http://schemas.microsoft.com/office/drawing/2014/main" id="{ACCABE26-B6C3-D449-8EF0-6E749B0148F5}"/>
              </a:ext>
            </a:extLst>
          </p:cNvPr>
          <p:cNvSpPr>
            <a:spLocks noChangeShapeType="1"/>
          </p:cNvSpPr>
          <p:nvPr/>
        </p:nvSpPr>
        <p:spPr bwMode="auto">
          <a:xfrm rot="10800000" flipH="1">
            <a:off x="2958703" y="3413523"/>
            <a:ext cx="375047" cy="5953"/>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3" name="Line 263">
            <a:extLst>
              <a:ext uri="{FF2B5EF4-FFF2-40B4-BE49-F238E27FC236}">
                <a16:creationId xmlns:a16="http://schemas.microsoft.com/office/drawing/2014/main" id="{747C06B5-1A48-B94F-B341-C3FE32DEDC78}"/>
              </a:ext>
            </a:extLst>
          </p:cNvPr>
          <p:cNvSpPr>
            <a:spLocks noChangeShapeType="1"/>
          </p:cNvSpPr>
          <p:nvPr/>
        </p:nvSpPr>
        <p:spPr bwMode="auto">
          <a:xfrm flipV="1">
            <a:off x="5598319" y="2858691"/>
            <a:ext cx="432197" cy="0"/>
          </a:xfrm>
          <a:prstGeom prst="line">
            <a:avLst/>
          </a:prstGeom>
          <a:noFill/>
          <a:ln w="38100">
            <a:solidFill>
              <a:schemeClr va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4" name="Line 264">
            <a:extLst>
              <a:ext uri="{FF2B5EF4-FFF2-40B4-BE49-F238E27FC236}">
                <a16:creationId xmlns:a16="http://schemas.microsoft.com/office/drawing/2014/main" id="{14E21621-0E33-A444-8376-736A0773AB51}"/>
              </a:ext>
            </a:extLst>
          </p:cNvPr>
          <p:cNvSpPr>
            <a:spLocks noChangeShapeType="1"/>
          </p:cNvSpPr>
          <p:nvPr/>
        </p:nvSpPr>
        <p:spPr bwMode="auto">
          <a:xfrm rot="16200000" flipH="1">
            <a:off x="6141244" y="3127772"/>
            <a:ext cx="320278" cy="5954"/>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5" name="Line 265">
            <a:extLst>
              <a:ext uri="{FF2B5EF4-FFF2-40B4-BE49-F238E27FC236}">
                <a16:creationId xmlns:a16="http://schemas.microsoft.com/office/drawing/2014/main" id="{77870A72-D9BB-BC47-86F8-FDDFF5BC33F2}"/>
              </a:ext>
            </a:extLst>
          </p:cNvPr>
          <p:cNvSpPr>
            <a:spLocks noChangeShapeType="1"/>
          </p:cNvSpPr>
          <p:nvPr/>
        </p:nvSpPr>
        <p:spPr bwMode="auto">
          <a:xfrm rot="16200000" flipH="1">
            <a:off x="6166247" y="2615804"/>
            <a:ext cx="269081" cy="0"/>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7" name="Text Box 266">
            <a:extLst>
              <a:ext uri="{FF2B5EF4-FFF2-40B4-BE49-F238E27FC236}">
                <a16:creationId xmlns:a16="http://schemas.microsoft.com/office/drawing/2014/main" id="{13328282-DAD8-6047-94C4-6B6CC7D14D0A}"/>
              </a:ext>
            </a:extLst>
          </p:cNvPr>
          <p:cNvSpPr txBox="1">
            <a:spLocks noChangeArrowheads="1"/>
          </p:cNvSpPr>
          <p:nvPr/>
        </p:nvSpPr>
        <p:spPr bwMode="auto">
          <a:xfrm>
            <a:off x="6828994" y="2672954"/>
            <a:ext cx="87716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运算</a:t>
            </a:r>
          </a:p>
        </p:txBody>
      </p:sp>
      <p:sp>
        <p:nvSpPr>
          <p:cNvPr id="96298" name="Text Box 267">
            <a:extLst>
              <a:ext uri="{FF2B5EF4-FFF2-40B4-BE49-F238E27FC236}">
                <a16:creationId xmlns:a16="http://schemas.microsoft.com/office/drawing/2014/main" id="{57B3E1E6-EBF9-0441-99F9-74203C92EDD8}"/>
              </a:ext>
            </a:extLst>
          </p:cNvPr>
          <p:cNvSpPr txBox="1">
            <a:spLocks noChangeArrowheads="1"/>
          </p:cNvSpPr>
          <p:nvPr/>
        </p:nvSpPr>
        <p:spPr bwMode="auto">
          <a:xfrm>
            <a:off x="5922169" y="3540919"/>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96299" name="Text Box 268">
            <a:extLst>
              <a:ext uri="{FF2B5EF4-FFF2-40B4-BE49-F238E27FC236}">
                <a16:creationId xmlns:a16="http://schemas.microsoft.com/office/drawing/2014/main" id="{45F0CF62-B4AD-9643-AA7E-3BCD9AFF1ECE}"/>
              </a:ext>
            </a:extLst>
          </p:cNvPr>
          <p:cNvSpPr txBox="1">
            <a:spLocks noChangeArrowheads="1"/>
          </p:cNvSpPr>
          <p:nvPr/>
        </p:nvSpPr>
        <p:spPr bwMode="auto">
          <a:xfrm>
            <a:off x="7204473" y="3489722"/>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604429" name="AutoShape 269">
            <a:extLst>
              <a:ext uri="{FF2B5EF4-FFF2-40B4-BE49-F238E27FC236}">
                <a16:creationId xmlns:a16="http://schemas.microsoft.com/office/drawing/2014/main" id="{69FF6D68-16E8-EC49-8C80-82DD6EF4683B}"/>
              </a:ext>
            </a:extLst>
          </p:cNvPr>
          <p:cNvSpPr>
            <a:spLocks noChangeArrowheads="1"/>
          </p:cNvSpPr>
          <p:nvPr/>
        </p:nvSpPr>
        <p:spPr bwMode="auto">
          <a:xfrm>
            <a:off x="6506766" y="3332560"/>
            <a:ext cx="917972" cy="180975"/>
          </a:xfrm>
          <a:prstGeom prst="leftRightArrow">
            <a:avLst>
              <a:gd name="adj1" fmla="val 50000"/>
              <a:gd name="adj2" fmla="val 101447"/>
            </a:avLst>
          </a:prstGeom>
          <a:solidFill>
            <a:schemeClr val="hlink"/>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30" name="AutoShape 270">
            <a:extLst>
              <a:ext uri="{FF2B5EF4-FFF2-40B4-BE49-F238E27FC236}">
                <a16:creationId xmlns:a16="http://schemas.microsoft.com/office/drawing/2014/main" id="{2D3C9E8A-5E74-6D46-B0C1-F461B691E1E6}"/>
              </a:ext>
            </a:extLst>
          </p:cNvPr>
          <p:cNvSpPr>
            <a:spLocks noChangeArrowheads="1"/>
          </p:cNvSpPr>
          <p:nvPr/>
        </p:nvSpPr>
        <p:spPr bwMode="auto">
          <a:xfrm>
            <a:off x="5166123" y="2258616"/>
            <a:ext cx="864394" cy="161925"/>
          </a:xfrm>
          <a:prstGeom prst="rightArrow">
            <a:avLst>
              <a:gd name="adj1" fmla="val 50000"/>
              <a:gd name="adj2" fmla="val 133456"/>
            </a:avLst>
          </a:prstGeom>
          <a:solidFill>
            <a:schemeClr val="tx2"/>
          </a:solidFill>
          <a:ln w="9525">
            <a:solidFill>
              <a:schemeClr val="folHlink"/>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2" name="Text Box 271">
            <a:extLst>
              <a:ext uri="{FF2B5EF4-FFF2-40B4-BE49-F238E27FC236}">
                <a16:creationId xmlns:a16="http://schemas.microsoft.com/office/drawing/2014/main" id="{DA8F4F12-F46C-DA46-B832-914439B878E3}"/>
              </a:ext>
            </a:extLst>
          </p:cNvPr>
          <p:cNvSpPr txBox="1">
            <a:spLocks noChangeArrowheads="1"/>
          </p:cNvSpPr>
          <p:nvPr/>
        </p:nvSpPr>
        <p:spPr bwMode="auto">
          <a:xfrm>
            <a:off x="5166123" y="164544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因特网</a:t>
            </a:r>
          </a:p>
        </p:txBody>
      </p:sp>
      <p:sp>
        <p:nvSpPr>
          <p:cNvPr id="96303" name="Text Box 272">
            <a:extLst>
              <a:ext uri="{FF2B5EF4-FFF2-40B4-BE49-F238E27FC236}">
                <a16:creationId xmlns:a16="http://schemas.microsoft.com/office/drawing/2014/main" id="{F30A6441-31C5-8444-B399-C0A398FF523B}"/>
              </a:ext>
            </a:extLst>
          </p:cNvPr>
          <p:cNvSpPr txBox="1">
            <a:spLocks noChangeArrowheads="1"/>
          </p:cNvSpPr>
          <p:nvPr/>
        </p:nvSpPr>
        <p:spPr bwMode="auto">
          <a:xfrm>
            <a:off x="3168254" y="1600200"/>
            <a:ext cx="1050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报文鉴别码</a:t>
            </a:r>
          </a:p>
        </p:txBody>
      </p:sp>
      <p:sp>
        <p:nvSpPr>
          <p:cNvPr id="604433" name="Line 273">
            <a:extLst>
              <a:ext uri="{FF2B5EF4-FFF2-40B4-BE49-F238E27FC236}">
                <a16:creationId xmlns:a16="http://schemas.microsoft.com/office/drawing/2014/main" id="{744DB1CA-BEA8-7541-84EA-5D2E836A7A1E}"/>
              </a:ext>
            </a:extLst>
          </p:cNvPr>
          <p:cNvSpPr>
            <a:spLocks noChangeShapeType="1"/>
          </p:cNvSpPr>
          <p:nvPr/>
        </p:nvSpPr>
        <p:spPr bwMode="auto">
          <a:xfrm>
            <a:off x="3815953" y="1869282"/>
            <a:ext cx="213122" cy="345281"/>
          </a:xfrm>
          <a:prstGeom prst="line">
            <a:avLst/>
          </a:prstGeom>
          <a:noFill/>
          <a:ln w="19050">
            <a:solidFill>
              <a:schemeClr val="tx1"/>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96305" name="幻灯片编号占位符 1">
            <a:extLst>
              <a:ext uri="{FF2B5EF4-FFF2-40B4-BE49-F238E27FC236}">
                <a16:creationId xmlns:a16="http://schemas.microsoft.com/office/drawing/2014/main" id="{B5CA1CAE-81D5-6E42-903C-8593D50042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CB2668-B118-A549-8888-64B91EA8B44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52343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45745B19-7F27-F749-B3A3-C5389B22C4EA}"/>
              </a:ext>
            </a:extLst>
          </p:cNvPr>
          <p:cNvSpPr>
            <a:spLocks noGrp="1" noChangeArrowheads="1"/>
          </p:cNvSpPr>
          <p:nvPr>
            <p:ph type="title"/>
          </p:nvPr>
        </p:nvSpPr>
        <p:spPr>
          <a:xfrm>
            <a:off x="133563" y="330274"/>
            <a:ext cx="6950656" cy="536495"/>
          </a:xfrm>
        </p:spPr>
        <p:txBody>
          <a:bodyPr/>
          <a:lstStyle/>
          <a:p>
            <a:pPr eaLnBrk="1" hangingPunct="1"/>
            <a:r>
              <a:rPr lang="en-US" altLang="zh-CN" dirty="0">
                <a:latin typeface="Times New Roman" panose="02020603050405020304" pitchFamily="18" charset="0"/>
                <a:ea typeface="宋体" panose="02010600030101010101" pitchFamily="2" charset="-122"/>
              </a:rPr>
              <a:t>7.4.2  </a:t>
            </a:r>
            <a:r>
              <a:rPr lang="zh-CN" altLang="en-US" dirty="0">
                <a:latin typeface="Times New Roman" panose="02020603050405020304" pitchFamily="18" charset="0"/>
                <a:ea typeface="宋体" panose="02010600030101010101" pitchFamily="2" charset="-122"/>
              </a:rPr>
              <a:t>实体鉴别 </a:t>
            </a:r>
          </a:p>
        </p:txBody>
      </p:sp>
      <p:sp>
        <p:nvSpPr>
          <p:cNvPr id="97282" name="Rectangle 3">
            <a:extLst>
              <a:ext uri="{FF2B5EF4-FFF2-40B4-BE49-F238E27FC236}">
                <a16:creationId xmlns:a16="http://schemas.microsoft.com/office/drawing/2014/main" id="{F3E9B52D-9A4C-5248-95E1-2B3BEB5D1974}"/>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实体鉴别和报文鉴别不同。</a:t>
            </a:r>
          </a:p>
          <a:p>
            <a:pPr eaLnBrk="1" hangingPunct="1"/>
            <a:r>
              <a:rPr lang="zh-CN" altLang="en-US" dirty="0">
                <a:latin typeface="Times New Roman" panose="02020603050405020304" pitchFamily="18" charset="0"/>
                <a:ea typeface="宋体" panose="02010600030101010101" pitchFamily="2" charset="-122"/>
              </a:rPr>
              <a:t>报文鉴别是对每一个收到的报文都要鉴别报文的发送者，而实体鉴别是在系统接入的全部持续时间内对和自己通信的对方实体</a:t>
            </a:r>
            <a:r>
              <a:rPr lang="zh-CN" altLang="en-US" dirty="0">
                <a:solidFill>
                  <a:schemeClr val="hlink"/>
                </a:solidFill>
                <a:latin typeface="Times New Roman" panose="02020603050405020304" pitchFamily="18" charset="0"/>
                <a:ea typeface="宋体" panose="02010600030101010101" pitchFamily="2" charset="-122"/>
              </a:rPr>
              <a:t>只需验证一次</a:t>
            </a:r>
            <a:r>
              <a:rPr lang="zh-CN" altLang="en-US" dirty="0">
                <a:latin typeface="Times New Roman" panose="02020603050405020304" pitchFamily="18" charset="0"/>
                <a:ea typeface="宋体" panose="02010600030101010101" pitchFamily="2" charset="-122"/>
              </a:rPr>
              <a:t>。 </a:t>
            </a:r>
          </a:p>
        </p:txBody>
      </p:sp>
      <p:sp>
        <p:nvSpPr>
          <p:cNvPr id="97283" name="幻灯片编号占位符 1">
            <a:extLst>
              <a:ext uri="{FF2B5EF4-FFF2-40B4-BE49-F238E27FC236}">
                <a16:creationId xmlns:a16="http://schemas.microsoft.com/office/drawing/2014/main" id="{86AA534A-F97D-C94B-87D8-F6034E4C3D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25F44E-E757-A543-A4EA-CFF64246E6A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63349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EA05FE2A-2C48-5241-B78E-ADBE2C53599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最简单的实体鉴别过程 </a:t>
            </a:r>
          </a:p>
        </p:txBody>
      </p:sp>
      <p:sp>
        <p:nvSpPr>
          <p:cNvPr id="98306" name="Rectangle 3">
            <a:extLst>
              <a:ext uri="{FF2B5EF4-FFF2-40B4-BE49-F238E27FC236}">
                <a16:creationId xmlns:a16="http://schemas.microsoft.com/office/drawing/2014/main" id="{8176BB25-0BAD-0541-A299-B12F471D372A}"/>
              </a:ext>
            </a:extLst>
          </p:cNvPr>
          <p:cNvSpPr>
            <a:spLocks noGrp="1" noChangeArrowheads="1"/>
          </p:cNvSpPr>
          <p:nvPr>
            <p:ph type="body" idx="1"/>
          </p:nvPr>
        </p:nvSpPr>
        <p:spPr>
          <a:xfrm>
            <a:off x="133563" y="1004413"/>
            <a:ext cx="8804953" cy="3708326"/>
          </a:xfrm>
        </p:spPr>
        <p:txBody>
          <a:bodyPr/>
          <a:lstStyle/>
          <a:p>
            <a:pPr eaLnBrk="1" hangingPunct="1"/>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发送给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的报文的被加密，使用的是对称密钥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a:t>
            </a:r>
          </a:p>
          <a:p>
            <a:pPr eaLnBrk="1" hangingPunct="1"/>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收到此报文后，用共享对称密钥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AB </a:t>
            </a:r>
            <a:r>
              <a:rPr lang="zh-CN" altLang="en-US" dirty="0">
                <a:latin typeface="Times New Roman" panose="02020603050405020304" pitchFamily="18" charset="0"/>
                <a:ea typeface="宋体" panose="02010600030101010101" pitchFamily="2" charset="-122"/>
              </a:rPr>
              <a:t>进行解密，因而鉴别了实体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的身份。 </a:t>
            </a:r>
          </a:p>
        </p:txBody>
      </p:sp>
      <p:sp>
        <p:nvSpPr>
          <p:cNvPr id="690180" name="Line 4">
            <a:extLst>
              <a:ext uri="{FF2B5EF4-FFF2-40B4-BE49-F238E27FC236}">
                <a16:creationId xmlns:a16="http://schemas.microsoft.com/office/drawing/2014/main" id="{1D49EE7B-F819-3D4A-861D-5F40924F44C1}"/>
              </a:ext>
            </a:extLst>
          </p:cNvPr>
          <p:cNvSpPr>
            <a:spLocks noChangeShapeType="1"/>
          </p:cNvSpPr>
          <p:nvPr/>
        </p:nvSpPr>
        <p:spPr bwMode="auto">
          <a:xfrm>
            <a:off x="1920241" y="3884293"/>
            <a:ext cx="5326856" cy="1905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182" name="Text Box 6">
            <a:extLst>
              <a:ext uri="{FF2B5EF4-FFF2-40B4-BE49-F238E27FC236}">
                <a16:creationId xmlns:a16="http://schemas.microsoft.com/office/drawing/2014/main" id="{9DD8812A-306F-184F-9828-B6DBF0CFA813}"/>
              </a:ext>
            </a:extLst>
          </p:cNvPr>
          <p:cNvSpPr txBox="1">
            <a:spLocks noChangeArrowheads="1"/>
          </p:cNvSpPr>
          <p:nvPr/>
        </p:nvSpPr>
        <p:spPr bwMode="auto">
          <a:xfrm>
            <a:off x="1420177" y="2816302"/>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A</a:t>
            </a:r>
          </a:p>
        </p:txBody>
      </p:sp>
      <p:grpSp>
        <p:nvGrpSpPr>
          <p:cNvPr id="98309" name="Group 7">
            <a:extLst>
              <a:ext uri="{FF2B5EF4-FFF2-40B4-BE49-F238E27FC236}">
                <a16:creationId xmlns:a16="http://schemas.microsoft.com/office/drawing/2014/main" id="{3F5CA02D-3BAC-014F-B333-EC8D0BF29025}"/>
              </a:ext>
            </a:extLst>
          </p:cNvPr>
          <p:cNvGrpSpPr>
            <a:grpSpLocks/>
          </p:cNvGrpSpPr>
          <p:nvPr/>
        </p:nvGrpSpPr>
        <p:grpSpPr bwMode="auto">
          <a:xfrm>
            <a:off x="1616631" y="2779393"/>
            <a:ext cx="647700" cy="704850"/>
            <a:chOff x="921" y="2412"/>
            <a:chExt cx="284" cy="265"/>
          </a:xfrm>
        </p:grpSpPr>
        <p:grpSp>
          <p:nvGrpSpPr>
            <p:cNvPr id="98344" name="Group 8">
              <a:extLst>
                <a:ext uri="{FF2B5EF4-FFF2-40B4-BE49-F238E27FC236}">
                  <a16:creationId xmlns:a16="http://schemas.microsoft.com/office/drawing/2014/main" id="{5E952F67-9902-304D-92EF-F180527FD2C9}"/>
                </a:ext>
              </a:extLst>
            </p:cNvPr>
            <p:cNvGrpSpPr>
              <a:grpSpLocks/>
            </p:cNvGrpSpPr>
            <p:nvPr/>
          </p:nvGrpSpPr>
          <p:grpSpPr bwMode="auto">
            <a:xfrm>
              <a:off x="928" y="2417"/>
              <a:ext cx="277" cy="260"/>
              <a:chOff x="928" y="2417"/>
              <a:chExt cx="277" cy="260"/>
            </a:xfrm>
          </p:grpSpPr>
          <p:sp>
            <p:nvSpPr>
              <p:cNvPr id="98358" name="Freeform 9">
                <a:extLst>
                  <a:ext uri="{FF2B5EF4-FFF2-40B4-BE49-F238E27FC236}">
                    <a16:creationId xmlns:a16="http://schemas.microsoft.com/office/drawing/2014/main" id="{3ECDCD32-7770-F040-ADCB-3913877583E2}"/>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9" name="Freeform 10">
                <a:extLst>
                  <a:ext uri="{FF2B5EF4-FFF2-40B4-BE49-F238E27FC236}">
                    <a16:creationId xmlns:a16="http://schemas.microsoft.com/office/drawing/2014/main" id="{46C90EEC-3418-764D-B69E-FED94D799BC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0" name="Freeform 11">
                <a:extLst>
                  <a:ext uri="{FF2B5EF4-FFF2-40B4-BE49-F238E27FC236}">
                    <a16:creationId xmlns:a16="http://schemas.microsoft.com/office/drawing/2014/main" id="{9407617D-C921-E943-9E73-5508F13FD9C6}"/>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1" name="Freeform 12">
                <a:extLst>
                  <a:ext uri="{FF2B5EF4-FFF2-40B4-BE49-F238E27FC236}">
                    <a16:creationId xmlns:a16="http://schemas.microsoft.com/office/drawing/2014/main" id="{9DEA0BCC-1043-B74B-A484-5581CEBE0BF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2" name="Rectangle 13">
                <a:extLst>
                  <a:ext uri="{FF2B5EF4-FFF2-40B4-BE49-F238E27FC236}">
                    <a16:creationId xmlns:a16="http://schemas.microsoft.com/office/drawing/2014/main" id="{8BA7767A-E148-E640-A778-51B8A4D2E5D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3" name="Rectangle 14">
                <a:extLst>
                  <a:ext uri="{FF2B5EF4-FFF2-40B4-BE49-F238E27FC236}">
                    <a16:creationId xmlns:a16="http://schemas.microsoft.com/office/drawing/2014/main" id="{9AE2FFE6-33FA-ED43-89FD-968FB08FFE53}"/>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4" name="Rectangle 15">
                <a:extLst>
                  <a:ext uri="{FF2B5EF4-FFF2-40B4-BE49-F238E27FC236}">
                    <a16:creationId xmlns:a16="http://schemas.microsoft.com/office/drawing/2014/main" id="{C1DBED6B-E91D-F545-B1CD-9D89E883DC0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5" name="Line 16">
                <a:extLst>
                  <a:ext uri="{FF2B5EF4-FFF2-40B4-BE49-F238E27FC236}">
                    <a16:creationId xmlns:a16="http://schemas.microsoft.com/office/drawing/2014/main" id="{F0F49417-CDE4-1C49-8889-5E5C7B280F66}"/>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66" name="Group 17">
                <a:extLst>
                  <a:ext uri="{FF2B5EF4-FFF2-40B4-BE49-F238E27FC236}">
                    <a16:creationId xmlns:a16="http://schemas.microsoft.com/office/drawing/2014/main" id="{91F3DEC8-E1AB-AF4C-8B12-2052C4CE0538}"/>
                  </a:ext>
                </a:extLst>
              </p:cNvPr>
              <p:cNvGrpSpPr>
                <a:grpSpLocks/>
              </p:cNvGrpSpPr>
              <p:nvPr/>
            </p:nvGrpSpPr>
            <p:grpSpPr bwMode="auto">
              <a:xfrm>
                <a:off x="928" y="2639"/>
                <a:ext cx="277" cy="38"/>
                <a:chOff x="928" y="2639"/>
                <a:chExt cx="277" cy="38"/>
              </a:xfrm>
            </p:grpSpPr>
            <p:sp>
              <p:nvSpPr>
                <p:cNvPr id="98367" name="Freeform 18">
                  <a:extLst>
                    <a:ext uri="{FF2B5EF4-FFF2-40B4-BE49-F238E27FC236}">
                      <a16:creationId xmlns:a16="http://schemas.microsoft.com/office/drawing/2014/main" id="{B5CD04C4-65D7-7846-8586-EC3334ECA27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8" name="Freeform 19">
                  <a:extLst>
                    <a:ext uri="{FF2B5EF4-FFF2-40B4-BE49-F238E27FC236}">
                      <a16:creationId xmlns:a16="http://schemas.microsoft.com/office/drawing/2014/main" id="{5F2B57B7-616B-114A-A916-675118AE63E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9" name="Rectangle 20">
                  <a:extLst>
                    <a:ext uri="{FF2B5EF4-FFF2-40B4-BE49-F238E27FC236}">
                      <a16:creationId xmlns:a16="http://schemas.microsoft.com/office/drawing/2014/main" id="{A4B8144D-7EE8-3D43-8153-D5E51DDEBAD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8345" name="Group 21">
              <a:extLst>
                <a:ext uri="{FF2B5EF4-FFF2-40B4-BE49-F238E27FC236}">
                  <a16:creationId xmlns:a16="http://schemas.microsoft.com/office/drawing/2014/main" id="{77443E2A-1384-9043-B1D7-870D365C2E8B}"/>
                </a:ext>
              </a:extLst>
            </p:cNvPr>
            <p:cNvGrpSpPr>
              <a:grpSpLocks/>
            </p:cNvGrpSpPr>
            <p:nvPr/>
          </p:nvGrpSpPr>
          <p:grpSpPr bwMode="auto">
            <a:xfrm>
              <a:off x="921" y="2412"/>
              <a:ext cx="277" cy="261"/>
              <a:chOff x="921" y="2412"/>
              <a:chExt cx="277" cy="261"/>
            </a:xfrm>
          </p:grpSpPr>
          <p:sp>
            <p:nvSpPr>
              <p:cNvPr id="98346" name="Freeform 22">
                <a:extLst>
                  <a:ext uri="{FF2B5EF4-FFF2-40B4-BE49-F238E27FC236}">
                    <a16:creationId xmlns:a16="http://schemas.microsoft.com/office/drawing/2014/main" id="{A7C90B4A-3FB1-E343-A61C-E53ACA21742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7" name="Freeform 23">
                <a:extLst>
                  <a:ext uri="{FF2B5EF4-FFF2-40B4-BE49-F238E27FC236}">
                    <a16:creationId xmlns:a16="http://schemas.microsoft.com/office/drawing/2014/main" id="{627E7FB4-96F1-194E-B99F-242D5C4BB08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8" name="Freeform 24">
                <a:extLst>
                  <a:ext uri="{FF2B5EF4-FFF2-40B4-BE49-F238E27FC236}">
                    <a16:creationId xmlns:a16="http://schemas.microsoft.com/office/drawing/2014/main" id="{319F0B9E-E3CA-6247-A2FE-ABE49B04EBD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9" name="Freeform 25">
                <a:extLst>
                  <a:ext uri="{FF2B5EF4-FFF2-40B4-BE49-F238E27FC236}">
                    <a16:creationId xmlns:a16="http://schemas.microsoft.com/office/drawing/2014/main" id="{69BB2F17-7CED-E14E-9ADA-6AFE572F56B8}"/>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0" name="Rectangle 26">
                <a:extLst>
                  <a:ext uri="{FF2B5EF4-FFF2-40B4-BE49-F238E27FC236}">
                    <a16:creationId xmlns:a16="http://schemas.microsoft.com/office/drawing/2014/main" id="{5471345F-2BFE-B44A-B38D-4FD9BB5A074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1" name="Rectangle 27">
                <a:extLst>
                  <a:ext uri="{FF2B5EF4-FFF2-40B4-BE49-F238E27FC236}">
                    <a16:creationId xmlns:a16="http://schemas.microsoft.com/office/drawing/2014/main" id="{221974E2-5B86-3F41-845B-6A3A08576148}"/>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2" name="Rectangle 28">
                <a:extLst>
                  <a:ext uri="{FF2B5EF4-FFF2-40B4-BE49-F238E27FC236}">
                    <a16:creationId xmlns:a16="http://schemas.microsoft.com/office/drawing/2014/main" id="{C4DE1806-181B-904E-8F5E-B6E203EC3F8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3" name="Line 29">
                <a:extLst>
                  <a:ext uri="{FF2B5EF4-FFF2-40B4-BE49-F238E27FC236}">
                    <a16:creationId xmlns:a16="http://schemas.microsoft.com/office/drawing/2014/main" id="{8B3B17BE-4CA6-5E4F-93F6-C4AE5B18A8E0}"/>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54" name="Group 30">
                <a:extLst>
                  <a:ext uri="{FF2B5EF4-FFF2-40B4-BE49-F238E27FC236}">
                    <a16:creationId xmlns:a16="http://schemas.microsoft.com/office/drawing/2014/main" id="{B4D16535-88D8-CA4C-BB8B-1C9F20ECADCE}"/>
                  </a:ext>
                </a:extLst>
              </p:cNvPr>
              <p:cNvGrpSpPr>
                <a:grpSpLocks/>
              </p:cNvGrpSpPr>
              <p:nvPr/>
            </p:nvGrpSpPr>
            <p:grpSpPr bwMode="auto">
              <a:xfrm>
                <a:off x="921" y="2635"/>
                <a:ext cx="277" cy="38"/>
                <a:chOff x="921" y="2635"/>
                <a:chExt cx="277" cy="38"/>
              </a:xfrm>
            </p:grpSpPr>
            <p:sp>
              <p:nvSpPr>
                <p:cNvPr id="98355" name="Freeform 31">
                  <a:extLst>
                    <a:ext uri="{FF2B5EF4-FFF2-40B4-BE49-F238E27FC236}">
                      <a16:creationId xmlns:a16="http://schemas.microsoft.com/office/drawing/2014/main" id="{2381BB1F-85D7-E94A-9287-B2580E32A16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6" name="Freeform 32">
                  <a:extLst>
                    <a:ext uri="{FF2B5EF4-FFF2-40B4-BE49-F238E27FC236}">
                      <a16:creationId xmlns:a16="http://schemas.microsoft.com/office/drawing/2014/main" id="{2F3E8289-7D7C-FE4F-B3B4-FE1DDD8A0F9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7" name="Rectangle 33">
                  <a:extLst>
                    <a:ext uri="{FF2B5EF4-FFF2-40B4-BE49-F238E27FC236}">
                      <a16:creationId xmlns:a16="http://schemas.microsoft.com/office/drawing/2014/main" id="{47A463CE-9941-264A-BC0F-F931E69B9CD2}"/>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690211" name="Text Box 35">
            <a:extLst>
              <a:ext uri="{FF2B5EF4-FFF2-40B4-BE49-F238E27FC236}">
                <a16:creationId xmlns:a16="http://schemas.microsoft.com/office/drawing/2014/main" id="{747E4F7D-3D45-0742-BE55-7EF4C565A883}"/>
              </a:ext>
            </a:extLst>
          </p:cNvPr>
          <p:cNvSpPr txBox="1">
            <a:spLocks noChangeArrowheads="1"/>
          </p:cNvSpPr>
          <p:nvPr/>
        </p:nvSpPr>
        <p:spPr bwMode="auto">
          <a:xfrm>
            <a:off x="7467362" y="2816302"/>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B</a:t>
            </a:r>
          </a:p>
        </p:txBody>
      </p:sp>
      <p:grpSp>
        <p:nvGrpSpPr>
          <p:cNvPr id="98311" name="Group 36">
            <a:extLst>
              <a:ext uri="{FF2B5EF4-FFF2-40B4-BE49-F238E27FC236}">
                <a16:creationId xmlns:a16="http://schemas.microsoft.com/office/drawing/2014/main" id="{A3529161-1626-3044-B0E7-695E2A86C379}"/>
              </a:ext>
            </a:extLst>
          </p:cNvPr>
          <p:cNvGrpSpPr>
            <a:grpSpLocks/>
          </p:cNvGrpSpPr>
          <p:nvPr/>
        </p:nvGrpSpPr>
        <p:grpSpPr bwMode="auto">
          <a:xfrm>
            <a:off x="6878003" y="2779393"/>
            <a:ext cx="647700" cy="704850"/>
            <a:chOff x="921" y="2412"/>
            <a:chExt cx="284" cy="265"/>
          </a:xfrm>
        </p:grpSpPr>
        <p:grpSp>
          <p:nvGrpSpPr>
            <p:cNvPr id="98318" name="Group 37">
              <a:extLst>
                <a:ext uri="{FF2B5EF4-FFF2-40B4-BE49-F238E27FC236}">
                  <a16:creationId xmlns:a16="http://schemas.microsoft.com/office/drawing/2014/main" id="{CE741605-F4BC-E949-B9E2-E8871FDDEF88}"/>
                </a:ext>
              </a:extLst>
            </p:cNvPr>
            <p:cNvGrpSpPr>
              <a:grpSpLocks/>
            </p:cNvGrpSpPr>
            <p:nvPr/>
          </p:nvGrpSpPr>
          <p:grpSpPr bwMode="auto">
            <a:xfrm>
              <a:off x="928" y="2417"/>
              <a:ext cx="277" cy="260"/>
              <a:chOff x="928" y="2417"/>
              <a:chExt cx="277" cy="260"/>
            </a:xfrm>
          </p:grpSpPr>
          <p:sp>
            <p:nvSpPr>
              <p:cNvPr id="98332" name="Freeform 38">
                <a:extLst>
                  <a:ext uri="{FF2B5EF4-FFF2-40B4-BE49-F238E27FC236}">
                    <a16:creationId xmlns:a16="http://schemas.microsoft.com/office/drawing/2014/main" id="{95A4CCD5-5A3A-2C4A-A576-3C7E71875BB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3" name="Freeform 39">
                <a:extLst>
                  <a:ext uri="{FF2B5EF4-FFF2-40B4-BE49-F238E27FC236}">
                    <a16:creationId xmlns:a16="http://schemas.microsoft.com/office/drawing/2014/main" id="{0025C6B4-4850-5E41-8AF3-750A0851893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4" name="Freeform 40">
                <a:extLst>
                  <a:ext uri="{FF2B5EF4-FFF2-40B4-BE49-F238E27FC236}">
                    <a16:creationId xmlns:a16="http://schemas.microsoft.com/office/drawing/2014/main" id="{C51A896C-6A46-F04C-8E08-A4B3F2BD7FB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5" name="Freeform 41">
                <a:extLst>
                  <a:ext uri="{FF2B5EF4-FFF2-40B4-BE49-F238E27FC236}">
                    <a16:creationId xmlns:a16="http://schemas.microsoft.com/office/drawing/2014/main" id="{2FB196DD-3586-794F-A76C-61E5DF72DAD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6" name="Rectangle 42">
                <a:extLst>
                  <a:ext uri="{FF2B5EF4-FFF2-40B4-BE49-F238E27FC236}">
                    <a16:creationId xmlns:a16="http://schemas.microsoft.com/office/drawing/2014/main" id="{908F745A-0FAA-F74A-8C67-C9A0716E2B4C}"/>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7" name="Rectangle 43">
                <a:extLst>
                  <a:ext uri="{FF2B5EF4-FFF2-40B4-BE49-F238E27FC236}">
                    <a16:creationId xmlns:a16="http://schemas.microsoft.com/office/drawing/2014/main" id="{C7B402B3-7B89-B549-B490-5E64205A97C0}"/>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8" name="Rectangle 44">
                <a:extLst>
                  <a:ext uri="{FF2B5EF4-FFF2-40B4-BE49-F238E27FC236}">
                    <a16:creationId xmlns:a16="http://schemas.microsoft.com/office/drawing/2014/main" id="{B3DC13D8-25A2-9949-B905-70F1FBB0F26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9" name="Line 45">
                <a:extLst>
                  <a:ext uri="{FF2B5EF4-FFF2-40B4-BE49-F238E27FC236}">
                    <a16:creationId xmlns:a16="http://schemas.microsoft.com/office/drawing/2014/main" id="{FE04CF49-9AB7-7A40-878A-DBEB8B930A1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40" name="Group 46">
                <a:extLst>
                  <a:ext uri="{FF2B5EF4-FFF2-40B4-BE49-F238E27FC236}">
                    <a16:creationId xmlns:a16="http://schemas.microsoft.com/office/drawing/2014/main" id="{AB929BD2-457E-7647-93A5-352ACA5B03CB}"/>
                  </a:ext>
                </a:extLst>
              </p:cNvPr>
              <p:cNvGrpSpPr>
                <a:grpSpLocks/>
              </p:cNvGrpSpPr>
              <p:nvPr/>
            </p:nvGrpSpPr>
            <p:grpSpPr bwMode="auto">
              <a:xfrm>
                <a:off x="928" y="2639"/>
                <a:ext cx="277" cy="38"/>
                <a:chOff x="928" y="2639"/>
                <a:chExt cx="277" cy="38"/>
              </a:xfrm>
            </p:grpSpPr>
            <p:sp>
              <p:nvSpPr>
                <p:cNvPr id="98341" name="Freeform 47">
                  <a:extLst>
                    <a:ext uri="{FF2B5EF4-FFF2-40B4-BE49-F238E27FC236}">
                      <a16:creationId xmlns:a16="http://schemas.microsoft.com/office/drawing/2014/main" id="{D0B33B4B-EDC7-3E46-AE3A-C0100178A34C}"/>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2" name="Freeform 48">
                  <a:extLst>
                    <a:ext uri="{FF2B5EF4-FFF2-40B4-BE49-F238E27FC236}">
                      <a16:creationId xmlns:a16="http://schemas.microsoft.com/office/drawing/2014/main" id="{BB6F4CC7-62DE-3849-B996-6153BAF64FF4}"/>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3" name="Rectangle 49">
                  <a:extLst>
                    <a:ext uri="{FF2B5EF4-FFF2-40B4-BE49-F238E27FC236}">
                      <a16:creationId xmlns:a16="http://schemas.microsoft.com/office/drawing/2014/main" id="{B3027B1D-D673-6148-9B2B-E307F86EA558}"/>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8319" name="Group 50">
              <a:extLst>
                <a:ext uri="{FF2B5EF4-FFF2-40B4-BE49-F238E27FC236}">
                  <a16:creationId xmlns:a16="http://schemas.microsoft.com/office/drawing/2014/main" id="{AD8AE22A-4103-5749-AFD5-1D0FAB794C2F}"/>
                </a:ext>
              </a:extLst>
            </p:cNvPr>
            <p:cNvGrpSpPr>
              <a:grpSpLocks/>
            </p:cNvGrpSpPr>
            <p:nvPr/>
          </p:nvGrpSpPr>
          <p:grpSpPr bwMode="auto">
            <a:xfrm>
              <a:off x="921" y="2412"/>
              <a:ext cx="277" cy="261"/>
              <a:chOff x="921" y="2412"/>
              <a:chExt cx="277" cy="261"/>
            </a:xfrm>
          </p:grpSpPr>
          <p:sp>
            <p:nvSpPr>
              <p:cNvPr id="98320" name="Freeform 51">
                <a:extLst>
                  <a:ext uri="{FF2B5EF4-FFF2-40B4-BE49-F238E27FC236}">
                    <a16:creationId xmlns:a16="http://schemas.microsoft.com/office/drawing/2014/main" id="{1AD17085-94CA-8341-8294-37F05EE89F0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1" name="Freeform 52">
                <a:extLst>
                  <a:ext uri="{FF2B5EF4-FFF2-40B4-BE49-F238E27FC236}">
                    <a16:creationId xmlns:a16="http://schemas.microsoft.com/office/drawing/2014/main" id="{099AD319-412E-BA4E-AB15-877CD87CD5AD}"/>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2" name="Freeform 53">
                <a:extLst>
                  <a:ext uri="{FF2B5EF4-FFF2-40B4-BE49-F238E27FC236}">
                    <a16:creationId xmlns:a16="http://schemas.microsoft.com/office/drawing/2014/main" id="{A63703AB-3B16-8045-BB9E-A0CEC12DFB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3" name="Freeform 54">
                <a:extLst>
                  <a:ext uri="{FF2B5EF4-FFF2-40B4-BE49-F238E27FC236}">
                    <a16:creationId xmlns:a16="http://schemas.microsoft.com/office/drawing/2014/main" id="{AEF8393D-5066-6D4B-BC9B-EA6BF41E4F0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4" name="Rectangle 55">
                <a:extLst>
                  <a:ext uri="{FF2B5EF4-FFF2-40B4-BE49-F238E27FC236}">
                    <a16:creationId xmlns:a16="http://schemas.microsoft.com/office/drawing/2014/main" id="{4299B22C-C525-424F-8EE8-9CD1A014E9D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5" name="Rectangle 56">
                <a:extLst>
                  <a:ext uri="{FF2B5EF4-FFF2-40B4-BE49-F238E27FC236}">
                    <a16:creationId xmlns:a16="http://schemas.microsoft.com/office/drawing/2014/main" id="{00FD0E72-6DCA-904E-8A42-4D0EA5EBC946}"/>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6" name="Rectangle 57">
                <a:extLst>
                  <a:ext uri="{FF2B5EF4-FFF2-40B4-BE49-F238E27FC236}">
                    <a16:creationId xmlns:a16="http://schemas.microsoft.com/office/drawing/2014/main" id="{32D99066-3191-9B4E-9A2A-D5D00827D8C5}"/>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7" name="Line 58">
                <a:extLst>
                  <a:ext uri="{FF2B5EF4-FFF2-40B4-BE49-F238E27FC236}">
                    <a16:creationId xmlns:a16="http://schemas.microsoft.com/office/drawing/2014/main" id="{57BB237F-8D9A-0046-9390-8B92F615EA3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28" name="Group 59">
                <a:extLst>
                  <a:ext uri="{FF2B5EF4-FFF2-40B4-BE49-F238E27FC236}">
                    <a16:creationId xmlns:a16="http://schemas.microsoft.com/office/drawing/2014/main" id="{7DD04CC4-8CC7-4C4F-B64E-B4A17ED23F9B}"/>
                  </a:ext>
                </a:extLst>
              </p:cNvPr>
              <p:cNvGrpSpPr>
                <a:grpSpLocks/>
              </p:cNvGrpSpPr>
              <p:nvPr/>
            </p:nvGrpSpPr>
            <p:grpSpPr bwMode="auto">
              <a:xfrm>
                <a:off x="921" y="2635"/>
                <a:ext cx="277" cy="38"/>
                <a:chOff x="921" y="2635"/>
                <a:chExt cx="277" cy="38"/>
              </a:xfrm>
            </p:grpSpPr>
            <p:sp>
              <p:nvSpPr>
                <p:cNvPr id="98329" name="Freeform 60">
                  <a:extLst>
                    <a:ext uri="{FF2B5EF4-FFF2-40B4-BE49-F238E27FC236}">
                      <a16:creationId xmlns:a16="http://schemas.microsoft.com/office/drawing/2014/main" id="{CE385448-44F2-DC40-AAE8-7C3B32E897C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0" name="Freeform 61">
                  <a:extLst>
                    <a:ext uri="{FF2B5EF4-FFF2-40B4-BE49-F238E27FC236}">
                      <a16:creationId xmlns:a16="http://schemas.microsoft.com/office/drawing/2014/main" id="{60592E4D-C31C-F544-A32B-8722B8EA0A1F}"/>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1" name="Rectangle 62">
                  <a:extLst>
                    <a:ext uri="{FF2B5EF4-FFF2-40B4-BE49-F238E27FC236}">
                      <a16:creationId xmlns:a16="http://schemas.microsoft.com/office/drawing/2014/main" id="{FB0D5576-1041-B14B-AD99-A8CD43782612}"/>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690239" name="Line 63">
            <a:extLst>
              <a:ext uri="{FF2B5EF4-FFF2-40B4-BE49-F238E27FC236}">
                <a16:creationId xmlns:a16="http://schemas.microsoft.com/office/drawing/2014/main" id="{2F4956BB-8123-824B-B686-A55373114BD7}"/>
              </a:ext>
            </a:extLst>
          </p:cNvPr>
          <p:cNvSpPr>
            <a:spLocks noChangeShapeType="1"/>
          </p:cNvSpPr>
          <p:nvPr/>
        </p:nvSpPr>
        <p:spPr bwMode="auto">
          <a:xfrm rot="16200000" flipH="1">
            <a:off x="1573174" y="3939657"/>
            <a:ext cx="706040" cy="0"/>
          </a:xfrm>
          <a:prstGeom prst="line">
            <a:avLst/>
          </a:prstGeom>
          <a:noFill/>
          <a:ln w="9525">
            <a:solidFill>
              <a:schemeClr val="tx1"/>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240" name="Line 64">
            <a:extLst>
              <a:ext uri="{FF2B5EF4-FFF2-40B4-BE49-F238E27FC236}">
                <a16:creationId xmlns:a16="http://schemas.microsoft.com/office/drawing/2014/main" id="{19005608-3A0C-904B-BB64-8BDEB27B3D48}"/>
              </a:ext>
            </a:extLst>
          </p:cNvPr>
          <p:cNvSpPr>
            <a:spLocks noChangeShapeType="1"/>
          </p:cNvSpPr>
          <p:nvPr/>
        </p:nvSpPr>
        <p:spPr bwMode="auto">
          <a:xfrm rot="16200000" flipH="1">
            <a:off x="6863120" y="3921797"/>
            <a:ext cx="706041" cy="0"/>
          </a:xfrm>
          <a:prstGeom prst="line">
            <a:avLst/>
          </a:prstGeom>
          <a:noFill/>
          <a:ln w="9525">
            <a:solidFill>
              <a:schemeClr val="tx1"/>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241" name="Rectangle 65">
            <a:extLst>
              <a:ext uri="{FF2B5EF4-FFF2-40B4-BE49-F238E27FC236}">
                <a16:creationId xmlns:a16="http://schemas.microsoft.com/office/drawing/2014/main" id="{83099E9D-0866-2E40-B323-865A0D1273D0}"/>
              </a:ext>
            </a:extLst>
          </p:cNvPr>
          <p:cNvSpPr>
            <a:spLocks noChangeArrowheads="1"/>
          </p:cNvSpPr>
          <p:nvPr/>
        </p:nvSpPr>
        <p:spPr bwMode="auto">
          <a:xfrm>
            <a:off x="3707369" y="3635452"/>
            <a:ext cx="1939528" cy="503635"/>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tx2"/>
                </a:solidFill>
                <a:latin typeface="Arial" panose="020B0604020202020204" pitchFamily="34" charset="0"/>
              </a:rPr>
              <a:t>A, </a:t>
            </a:r>
            <a:r>
              <a:rPr kumimoji="1" lang="zh-CN" altLang="en-US" sz="1800">
                <a:solidFill>
                  <a:schemeClr val="tx2"/>
                </a:solidFill>
                <a:latin typeface="Arial" panose="020B0604020202020204" pitchFamily="34" charset="0"/>
              </a:rPr>
              <a:t>口令</a:t>
            </a:r>
          </a:p>
        </p:txBody>
      </p:sp>
      <p:pic>
        <p:nvPicPr>
          <p:cNvPr id="98315" name="Picture 66">
            <a:extLst>
              <a:ext uri="{FF2B5EF4-FFF2-40B4-BE49-F238E27FC236}">
                <a16:creationId xmlns:a16="http://schemas.microsoft.com/office/drawing/2014/main" id="{4C9FA68A-3011-7747-9CB9-563D9F0A14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6381" y="3184205"/>
            <a:ext cx="49887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243" name="Text Box 67">
            <a:extLst>
              <a:ext uri="{FF2B5EF4-FFF2-40B4-BE49-F238E27FC236}">
                <a16:creationId xmlns:a16="http://schemas.microsoft.com/office/drawing/2014/main" id="{C99A268D-942F-0245-BBDA-6ACEA5BD3020}"/>
              </a:ext>
            </a:extLst>
          </p:cNvPr>
          <p:cNvSpPr txBox="1">
            <a:spLocks noChangeArrowheads="1"/>
          </p:cNvSpPr>
          <p:nvPr/>
        </p:nvSpPr>
        <p:spPr bwMode="auto">
          <a:xfrm>
            <a:off x="2985850" y="3158011"/>
            <a:ext cx="543739" cy="369332"/>
          </a:xfrm>
          <a:prstGeom prst="rect">
            <a:avLst/>
          </a:prstGeom>
          <a:noFill/>
          <a:ln>
            <a:noFill/>
          </a:ln>
          <a:effectLst/>
        </p:spPr>
        <p:txBody>
          <a:bodyPr wrap="none">
            <a:spAutoFit/>
          </a:bodyPr>
          <a:lstStyle/>
          <a:p>
            <a:pPr eaLnBrk="1" hangingPunct="1">
              <a:defRPr/>
            </a:pPr>
            <a:r>
              <a:rPr lang="en-US" altLang="zh-CN" i="1">
                <a:solidFill>
                  <a:schemeClr val="tx2"/>
                </a:solidFill>
                <a:latin typeface="Arial" charset="0"/>
                <a:ea typeface="黑体" charset="-122"/>
              </a:rPr>
              <a:t>K</a:t>
            </a:r>
            <a:r>
              <a:rPr lang="en-US" altLang="zh-CN" baseline="-25000">
                <a:solidFill>
                  <a:schemeClr val="tx2"/>
                </a:solidFill>
                <a:latin typeface="Arial" charset="0"/>
                <a:ea typeface="黑体" charset="-122"/>
              </a:rPr>
              <a:t>AB</a:t>
            </a:r>
          </a:p>
        </p:txBody>
      </p:sp>
      <p:sp>
        <p:nvSpPr>
          <p:cNvPr id="98317" name="幻灯片编号占位符 1">
            <a:extLst>
              <a:ext uri="{FF2B5EF4-FFF2-40B4-BE49-F238E27FC236}">
                <a16:creationId xmlns:a16="http://schemas.microsoft.com/office/drawing/2014/main" id="{05C0A3E2-E2FA-114A-A808-70E0BE14E30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9D9655-AF4C-7B46-A3B0-1564294A88A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70165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989AB9E0-1A0B-8D48-A380-9D48F89DAD1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明显的漏洞</a:t>
            </a:r>
          </a:p>
        </p:txBody>
      </p:sp>
      <p:sp>
        <p:nvSpPr>
          <p:cNvPr id="99330" name="Rectangle 3">
            <a:extLst>
              <a:ext uri="{FF2B5EF4-FFF2-40B4-BE49-F238E27FC236}">
                <a16:creationId xmlns:a16="http://schemas.microsoft.com/office/drawing/2014/main" id="{FC49D082-5D03-3A43-8923-BD82506A1986}"/>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入侵者 </a:t>
            </a:r>
            <a:r>
              <a:rPr lang="en-US" altLang="zh-CN" sz="2100">
                <a:ea typeface="宋体" panose="02010600030101010101" pitchFamily="2" charset="-122"/>
              </a:rPr>
              <a:t>C </a:t>
            </a:r>
            <a:r>
              <a:rPr lang="zh-CN" altLang="en-US" sz="2100">
                <a:ea typeface="宋体" panose="02010600030101010101" pitchFamily="2" charset="-122"/>
              </a:rPr>
              <a:t>可以从网络上截获 </a:t>
            </a:r>
            <a:r>
              <a:rPr lang="en-US" altLang="zh-CN" sz="2100">
                <a:ea typeface="宋体" panose="02010600030101010101" pitchFamily="2" charset="-122"/>
              </a:rPr>
              <a:t>A </a:t>
            </a:r>
            <a:r>
              <a:rPr lang="zh-CN" altLang="en-US" sz="2100">
                <a:ea typeface="宋体" panose="02010600030101010101" pitchFamily="2" charset="-122"/>
              </a:rPr>
              <a:t>发给 </a:t>
            </a:r>
            <a:r>
              <a:rPr lang="en-US" altLang="zh-CN" sz="2100">
                <a:ea typeface="宋体" panose="02010600030101010101" pitchFamily="2" charset="-122"/>
              </a:rPr>
              <a:t>B </a:t>
            </a:r>
            <a:r>
              <a:rPr lang="zh-CN" altLang="en-US" sz="2100">
                <a:ea typeface="宋体" panose="02010600030101010101" pitchFamily="2" charset="-122"/>
              </a:rPr>
              <a:t>的报文。</a:t>
            </a:r>
            <a:r>
              <a:rPr lang="en-US" altLang="zh-CN" sz="2100">
                <a:ea typeface="宋体" panose="02010600030101010101" pitchFamily="2" charset="-122"/>
              </a:rPr>
              <a:t>C </a:t>
            </a:r>
            <a:r>
              <a:rPr lang="zh-CN" altLang="en-US" sz="2100">
                <a:ea typeface="宋体" panose="02010600030101010101" pitchFamily="2" charset="-122"/>
              </a:rPr>
              <a:t>并不需要破译这个报文（因为这可能很花很多时间）而可以直接把这个由 </a:t>
            </a:r>
            <a:r>
              <a:rPr lang="en-US" altLang="zh-CN" sz="2100">
                <a:ea typeface="宋体" panose="02010600030101010101" pitchFamily="2" charset="-122"/>
              </a:rPr>
              <a:t>A </a:t>
            </a:r>
            <a:r>
              <a:rPr lang="zh-CN" altLang="en-US" sz="2100">
                <a:ea typeface="宋体" panose="02010600030101010101" pitchFamily="2" charset="-122"/>
              </a:rPr>
              <a:t>加密的报文发送给 </a:t>
            </a:r>
            <a:r>
              <a:rPr lang="en-US" altLang="zh-CN" sz="2100">
                <a:ea typeface="宋体" panose="02010600030101010101" pitchFamily="2" charset="-122"/>
              </a:rPr>
              <a:t>B</a:t>
            </a:r>
            <a:r>
              <a:rPr lang="zh-CN" altLang="en-US" sz="2100">
                <a:ea typeface="宋体" panose="02010600030101010101" pitchFamily="2" charset="-122"/>
              </a:rPr>
              <a:t>，使 </a:t>
            </a:r>
            <a:r>
              <a:rPr lang="en-US" altLang="zh-CN" sz="2100">
                <a:ea typeface="宋体" panose="02010600030101010101" pitchFamily="2" charset="-122"/>
              </a:rPr>
              <a:t>B </a:t>
            </a:r>
            <a:r>
              <a:rPr lang="zh-CN" altLang="en-US" sz="2100">
                <a:ea typeface="宋体" panose="02010600030101010101" pitchFamily="2" charset="-122"/>
              </a:rPr>
              <a:t>误认为 </a:t>
            </a:r>
            <a:r>
              <a:rPr lang="en-US" altLang="zh-CN" sz="2100">
                <a:ea typeface="宋体" panose="02010600030101010101" pitchFamily="2" charset="-122"/>
              </a:rPr>
              <a:t>C </a:t>
            </a:r>
            <a:r>
              <a:rPr lang="zh-CN" altLang="en-US" sz="2100">
                <a:ea typeface="宋体" panose="02010600030101010101" pitchFamily="2" charset="-122"/>
              </a:rPr>
              <a:t>就是 </a:t>
            </a:r>
            <a:r>
              <a:rPr lang="en-US" altLang="zh-CN" sz="2100">
                <a:ea typeface="宋体" panose="02010600030101010101" pitchFamily="2" charset="-122"/>
              </a:rPr>
              <a:t>A</a:t>
            </a:r>
            <a:r>
              <a:rPr lang="zh-CN" altLang="en-US" sz="2100">
                <a:ea typeface="宋体" panose="02010600030101010101" pitchFamily="2" charset="-122"/>
              </a:rPr>
              <a:t>。然后 </a:t>
            </a:r>
            <a:r>
              <a:rPr lang="en-US" altLang="zh-CN" sz="2100">
                <a:ea typeface="宋体" panose="02010600030101010101" pitchFamily="2" charset="-122"/>
              </a:rPr>
              <a:t>B </a:t>
            </a:r>
            <a:r>
              <a:rPr lang="zh-CN" altLang="en-US" sz="2100">
                <a:ea typeface="宋体" panose="02010600030101010101" pitchFamily="2" charset="-122"/>
              </a:rPr>
              <a:t>就向伪装是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C </a:t>
            </a:r>
            <a:r>
              <a:rPr lang="zh-CN" altLang="en-US" sz="2100">
                <a:ea typeface="宋体" panose="02010600030101010101" pitchFamily="2" charset="-122"/>
              </a:rPr>
              <a:t>发送应发给 </a:t>
            </a:r>
            <a:r>
              <a:rPr lang="en-US" altLang="zh-CN" sz="2100">
                <a:ea typeface="宋体" panose="02010600030101010101" pitchFamily="2" charset="-122"/>
              </a:rPr>
              <a:t>A </a:t>
            </a:r>
            <a:r>
              <a:rPr lang="zh-CN" altLang="en-US" sz="2100">
                <a:ea typeface="宋体" panose="02010600030101010101" pitchFamily="2" charset="-122"/>
              </a:rPr>
              <a:t>的报文。</a:t>
            </a:r>
          </a:p>
          <a:p>
            <a:pPr eaLnBrk="1" hangingPunct="1"/>
            <a:r>
              <a:rPr lang="zh-CN" altLang="en-US" sz="2100">
                <a:ea typeface="宋体" panose="02010600030101010101" pitchFamily="2" charset="-122"/>
              </a:rPr>
              <a:t>这就叫做</a:t>
            </a:r>
            <a:r>
              <a:rPr lang="zh-CN" altLang="en-US" sz="2100">
                <a:solidFill>
                  <a:schemeClr val="hlink"/>
                </a:solidFill>
                <a:ea typeface="宋体" panose="02010600030101010101" pitchFamily="2" charset="-122"/>
              </a:rPr>
              <a:t>重放攻击</a:t>
            </a:r>
            <a:r>
              <a:rPr lang="en-US" altLang="zh-CN" sz="2100">
                <a:ea typeface="宋体" panose="02010600030101010101" pitchFamily="2" charset="-122"/>
              </a:rPr>
              <a:t>(replay attack)</a:t>
            </a:r>
            <a:r>
              <a:rPr lang="zh-CN" altLang="en-US" sz="2100">
                <a:ea typeface="宋体" panose="02010600030101010101" pitchFamily="2" charset="-122"/>
              </a:rPr>
              <a:t>。</a:t>
            </a:r>
            <a:r>
              <a:rPr lang="en-US" altLang="zh-CN" sz="2100">
                <a:ea typeface="宋体" panose="02010600030101010101" pitchFamily="2" charset="-122"/>
              </a:rPr>
              <a:t>C </a:t>
            </a:r>
            <a:r>
              <a:rPr lang="zh-CN" altLang="en-US" sz="2100">
                <a:ea typeface="宋体" panose="02010600030101010101" pitchFamily="2" charset="-122"/>
              </a:rPr>
              <a:t>甚至还可以截获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IP </a:t>
            </a:r>
            <a:r>
              <a:rPr lang="zh-CN" altLang="en-US" sz="2100">
                <a:ea typeface="宋体" panose="02010600030101010101" pitchFamily="2" charset="-122"/>
              </a:rPr>
              <a:t>地址，然后把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IP </a:t>
            </a:r>
            <a:r>
              <a:rPr lang="zh-CN" altLang="en-US" sz="2100">
                <a:ea typeface="宋体" panose="02010600030101010101" pitchFamily="2" charset="-122"/>
              </a:rPr>
              <a:t>地址冒充为自己的 </a:t>
            </a:r>
            <a:r>
              <a:rPr lang="en-US" altLang="zh-CN" sz="2100">
                <a:ea typeface="宋体" panose="02010600030101010101" pitchFamily="2" charset="-122"/>
              </a:rPr>
              <a:t>IP </a:t>
            </a:r>
            <a:r>
              <a:rPr lang="zh-CN" altLang="en-US" sz="2100">
                <a:ea typeface="宋体" panose="02010600030101010101" pitchFamily="2" charset="-122"/>
              </a:rPr>
              <a:t>地址（这叫做 </a:t>
            </a:r>
            <a:r>
              <a:rPr lang="en-US" altLang="zh-CN" sz="2100">
                <a:ea typeface="宋体" panose="02010600030101010101" pitchFamily="2" charset="-122"/>
              </a:rPr>
              <a:t>IP </a:t>
            </a:r>
            <a:r>
              <a:rPr lang="zh-CN" altLang="en-US" sz="2100">
                <a:ea typeface="宋体" panose="02010600030101010101" pitchFamily="2" charset="-122"/>
              </a:rPr>
              <a:t>欺骗），使 </a:t>
            </a:r>
            <a:r>
              <a:rPr lang="en-US" altLang="zh-CN" sz="2100">
                <a:ea typeface="宋体" panose="02010600030101010101" pitchFamily="2" charset="-122"/>
              </a:rPr>
              <a:t>B </a:t>
            </a:r>
            <a:r>
              <a:rPr lang="zh-CN" altLang="en-US" sz="2100">
                <a:ea typeface="宋体" panose="02010600030101010101" pitchFamily="2" charset="-122"/>
              </a:rPr>
              <a:t>更加容易受骗。 </a:t>
            </a:r>
          </a:p>
        </p:txBody>
      </p:sp>
      <p:sp>
        <p:nvSpPr>
          <p:cNvPr id="99331" name="幻灯片编号占位符 1">
            <a:extLst>
              <a:ext uri="{FF2B5EF4-FFF2-40B4-BE49-F238E27FC236}">
                <a16:creationId xmlns:a16="http://schemas.microsoft.com/office/drawing/2014/main" id="{3150E34D-5430-3B45-B7E4-2137A9BB05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8007B6-2F2B-E64F-967B-30949B2927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20401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B6BCDA32-C50F-D44C-AB82-2777A18093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使用不重数</a:t>
            </a:r>
          </a:p>
        </p:txBody>
      </p:sp>
      <p:sp>
        <p:nvSpPr>
          <p:cNvPr id="100354" name="Rectangle 3">
            <a:extLst>
              <a:ext uri="{FF2B5EF4-FFF2-40B4-BE49-F238E27FC236}">
                <a16:creationId xmlns:a16="http://schemas.microsoft.com/office/drawing/2014/main" id="{959AEEB0-36FB-1849-80C1-EE54D9D10813}"/>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为了对付重放攻击，可以使用</a:t>
            </a:r>
            <a:r>
              <a:rPr lang="zh-CN" altLang="en-US">
                <a:solidFill>
                  <a:schemeClr val="hlink"/>
                </a:solidFill>
                <a:latin typeface="Times New Roman" panose="02020603050405020304" pitchFamily="18" charset="0"/>
                <a:ea typeface="宋体" panose="02010600030101010101" pitchFamily="2" charset="-122"/>
              </a:rPr>
              <a:t>不重数</a:t>
            </a:r>
            <a:r>
              <a:rPr lang="en-US" altLang="zh-CN">
                <a:latin typeface="Times New Roman" panose="02020603050405020304" pitchFamily="18" charset="0"/>
                <a:ea typeface="宋体" panose="02010600030101010101" pitchFamily="2" charset="-122"/>
              </a:rPr>
              <a:t>(nonce)</a:t>
            </a:r>
            <a:r>
              <a:rPr lang="zh-CN" altLang="en-US">
                <a:latin typeface="Times New Roman" panose="02020603050405020304" pitchFamily="18" charset="0"/>
                <a:ea typeface="宋体" panose="02010600030101010101" pitchFamily="2" charset="-122"/>
              </a:rPr>
              <a:t>。不重数就是一个不重复使用的大随机数，即“</a:t>
            </a:r>
            <a:r>
              <a:rPr lang="zh-CN" altLang="en-US">
                <a:solidFill>
                  <a:schemeClr val="hlink"/>
                </a:solidFill>
                <a:latin typeface="Times New Roman" panose="02020603050405020304" pitchFamily="18" charset="0"/>
                <a:ea typeface="宋体" panose="02010600030101010101" pitchFamily="2" charset="-122"/>
              </a:rPr>
              <a:t>一次一数</a:t>
            </a:r>
            <a:r>
              <a:rPr lang="zh-CN" altLang="en-US">
                <a:latin typeface="Times New Roman" panose="02020603050405020304" pitchFamily="18" charset="0"/>
                <a:ea typeface="宋体" panose="02010600030101010101" pitchFamily="2" charset="-122"/>
              </a:rPr>
              <a:t>”。 </a:t>
            </a:r>
          </a:p>
        </p:txBody>
      </p:sp>
      <p:sp>
        <p:nvSpPr>
          <p:cNvPr id="100355" name="幻灯片编号占位符 1">
            <a:extLst>
              <a:ext uri="{FF2B5EF4-FFF2-40B4-BE49-F238E27FC236}">
                <a16:creationId xmlns:a16="http://schemas.microsoft.com/office/drawing/2014/main" id="{5F7044E5-6DC7-4249-989B-2BE1F3E7687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704C30-011B-8646-9E00-D1B01720430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7335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84ECE44F-0C6C-2642-8DC7-7E1A3F0D8B7E}"/>
              </a:ext>
            </a:extLst>
          </p:cNvPr>
          <p:cNvSpPr>
            <a:spLocks noGrp="1" noChangeArrowheads="1"/>
          </p:cNvSpPr>
          <p:nvPr>
            <p:ph type="title"/>
          </p:nvPr>
        </p:nvSpPr>
        <p:spPr>
          <a:xfrm>
            <a:off x="160020" y="216574"/>
            <a:ext cx="7221141" cy="605075"/>
          </a:xfrm>
        </p:spPr>
        <p:txBody>
          <a:bodyPr/>
          <a:lstStyle/>
          <a:p>
            <a:pPr eaLnBrk="1" hangingPunct="1"/>
            <a:r>
              <a:rPr lang="en-US" altLang="zh-CN" dirty="0">
                <a:latin typeface="Times New Roman" panose="02020603050405020304" pitchFamily="18" charset="0"/>
                <a:ea typeface="宋体" panose="02010600030101010101" pitchFamily="2" charset="-122"/>
              </a:rPr>
              <a:t>7.5   </a:t>
            </a:r>
            <a:r>
              <a:rPr lang="zh-CN" altLang="en-US" dirty="0">
                <a:latin typeface="Times New Roman" panose="02020603050405020304" pitchFamily="18" charset="0"/>
                <a:ea typeface="宋体" panose="02010600030101010101" pitchFamily="2" charset="-122"/>
              </a:rPr>
              <a:t>密钥分配 </a:t>
            </a:r>
          </a:p>
        </p:txBody>
      </p:sp>
      <p:sp>
        <p:nvSpPr>
          <p:cNvPr id="605187" name="Rectangle 3">
            <a:extLst>
              <a:ext uri="{FF2B5EF4-FFF2-40B4-BE49-F238E27FC236}">
                <a16:creationId xmlns:a16="http://schemas.microsoft.com/office/drawing/2014/main" id="{4C2BC2BA-D82C-D447-830C-58219B3F8372}"/>
              </a:ext>
            </a:extLst>
          </p:cNvPr>
          <p:cNvSpPr>
            <a:spLocks noGrp="1" noChangeArrowheads="1"/>
          </p:cNvSpPr>
          <p:nvPr>
            <p:ph type="body" idx="1"/>
          </p:nvPr>
        </p:nvSpPr>
        <p:spPr>
          <a:xfrm>
            <a:off x="160020" y="1062990"/>
            <a:ext cx="8732520" cy="356139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密钥管理包括：密钥的产生、分配、注入、验证和使用。本节只讨论密钥的分配。</a:t>
            </a:r>
          </a:p>
          <a:p>
            <a:pPr eaLnBrk="1" hangingPunct="1">
              <a:lnSpc>
                <a:spcPct val="90000"/>
              </a:lnSpc>
            </a:pPr>
            <a:r>
              <a:rPr lang="zh-CN" altLang="en-US" dirty="0">
                <a:latin typeface="Times New Roman" panose="02020603050405020304" pitchFamily="18" charset="0"/>
                <a:ea typeface="宋体" panose="02010600030101010101" pitchFamily="2" charset="-122"/>
              </a:rPr>
              <a:t>密钥分配是密钥管理中最大的问题。密钥必须通过最安全的通路进行分配。</a:t>
            </a:r>
          </a:p>
          <a:p>
            <a:pPr eaLnBrk="1" hangingPunct="1">
              <a:lnSpc>
                <a:spcPct val="90000"/>
              </a:lnSpc>
            </a:pPr>
            <a:r>
              <a:rPr lang="zh-CN" altLang="en-US" dirty="0">
                <a:latin typeface="Times New Roman" panose="02020603050405020304" pitchFamily="18" charset="0"/>
                <a:ea typeface="宋体" panose="02010600030101010101" pitchFamily="2" charset="-122"/>
              </a:rPr>
              <a:t>目前常用的密钥分配方式是设立</a:t>
            </a:r>
            <a:r>
              <a:rPr lang="zh-CN" altLang="en-US" dirty="0">
                <a:solidFill>
                  <a:schemeClr val="hlink"/>
                </a:solidFill>
                <a:latin typeface="Times New Roman" panose="02020603050405020304" pitchFamily="18" charset="0"/>
                <a:ea typeface="宋体" panose="02010600030101010101" pitchFamily="2" charset="-122"/>
              </a:rPr>
              <a:t>密钥分配中心 </a:t>
            </a:r>
            <a:r>
              <a:rPr lang="en-US" altLang="zh-CN" dirty="0">
                <a:latin typeface="Times New Roman" panose="02020603050405020304" pitchFamily="18" charset="0"/>
                <a:ea typeface="宋体" panose="02010600030101010101" pitchFamily="2" charset="-122"/>
              </a:rPr>
              <a:t>KDC (Key Distribution)</a:t>
            </a:r>
            <a:r>
              <a:rPr lang="zh-CN" altLang="en-US" dirty="0">
                <a:latin typeface="Times New Roman" panose="02020603050405020304" pitchFamily="18" charset="0"/>
                <a:ea typeface="宋体" panose="02010600030101010101" pitchFamily="2" charset="-122"/>
              </a:rPr>
              <a:t>，通过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来分配密钥。   </a:t>
            </a:r>
          </a:p>
        </p:txBody>
      </p:sp>
      <p:sp>
        <p:nvSpPr>
          <p:cNvPr id="101379" name="幻灯片编号占位符 1">
            <a:extLst>
              <a:ext uri="{FF2B5EF4-FFF2-40B4-BE49-F238E27FC236}">
                <a16:creationId xmlns:a16="http://schemas.microsoft.com/office/drawing/2014/main" id="{B9AD2A2A-0A1C-8A49-B0DF-63E0858562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17A577A-4551-2F44-854F-43C57691FC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18588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51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51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A21AFA3C-CD5E-F24F-9C90-E83B246FBB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7.5.1  </a:t>
            </a:r>
            <a:r>
              <a:rPr lang="zh-CN" altLang="en-US" dirty="0">
                <a:latin typeface="Times New Roman" panose="02020603050405020304" pitchFamily="18" charset="0"/>
                <a:ea typeface="宋体" panose="02010600030101010101" pitchFamily="2" charset="-122"/>
              </a:rPr>
              <a:t>对称密钥的分配</a:t>
            </a:r>
          </a:p>
        </p:txBody>
      </p:sp>
      <p:sp>
        <p:nvSpPr>
          <p:cNvPr id="102402" name="Rectangle 3">
            <a:extLst>
              <a:ext uri="{FF2B5EF4-FFF2-40B4-BE49-F238E27FC236}">
                <a16:creationId xmlns:a16="http://schemas.microsoft.com/office/drawing/2014/main" id="{14E22F56-7352-DC46-84B4-795452A10570}"/>
              </a:ext>
            </a:extLst>
          </p:cNvPr>
          <p:cNvSpPr>
            <a:spLocks noGrp="1" noChangeArrowheads="1"/>
          </p:cNvSpPr>
          <p:nvPr>
            <p:ph type="body" idx="1"/>
          </p:nvPr>
        </p:nvSpPr>
        <p:spPr>
          <a:xfrm>
            <a:off x="133564" y="1005841"/>
            <a:ext cx="8804952" cy="3028950"/>
          </a:xfrm>
        </p:spPr>
        <p:txBody>
          <a:bodyPr/>
          <a:lstStyle/>
          <a:p>
            <a:pPr eaLnBrk="1" hangingPunct="1"/>
            <a:r>
              <a:rPr lang="zh-CN" altLang="en-US" dirty="0">
                <a:latin typeface="Times New Roman" panose="02020603050405020304" pitchFamily="18" charset="0"/>
                <a:ea typeface="宋体" panose="02010600030101010101" pitchFamily="2" charset="-122"/>
              </a:rPr>
              <a:t>目前常用的密钥分配方式是设立</a:t>
            </a:r>
            <a:r>
              <a:rPr lang="zh-CN" altLang="en-US" dirty="0">
                <a:solidFill>
                  <a:schemeClr val="hlink"/>
                </a:solidFill>
                <a:latin typeface="Times New Roman" panose="02020603050405020304" pitchFamily="18" charset="0"/>
                <a:ea typeface="宋体" panose="02010600030101010101" pitchFamily="2" charset="-122"/>
              </a:rPr>
              <a:t>密钥分配中心 </a:t>
            </a:r>
            <a:r>
              <a:rPr lang="en-US" altLang="zh-CN" dirty="0">
                <a:latin typeface="Times New Roman" panose="02020603050405020304" pitchFamily="18" charset="0"/>
                <a:ea typeface="宋体" panose="02010600030101010101" pitchFamily="2" charset="-122"/>
              </a:rPr>
              <a:t>KDC (Key Distribution Center)</a:t>
            </a:r>
            <a:r>
              <a:rPr lang="zh-CN" altLang="en-US" dirty="0">
                <a:latin typeface="Times New Roman" panose="02020603050405020304" pitchFamily="18" charset="0"/>
                <a:ea typeface="宋体" panose="02010600030101010101" pitchFamily="2" charset="-122"/>
              </a:rPr>
              <a:t>。</a:t>
            </a:r>
          </a:p>
          <a:p>
            <a:pPr eaLnBrk="1" hangingPunct="1"/>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是大家都信任的机构，其任务就是给需要进行秘密通信的用户临时分配一个会话密钥（仅使用一次）。</a:t>
            </a:r>
          </a:p>
          <a:p>
            <a:pPr eaLnBrk="1" hangingPunct="1"/>
            <a:r>
              <a:rPr lang="zh-CN" altLang="en-US" dirty="0">
                <a:latin typeface="Times New Roman" panose="02020603050405020304" pitchFamily="18" charset="0"/>
                <a:ea typeface="宋体" panose="02010600030101010101" pitchFamily="2" charset="-122"/>
              </a:rPr>
              <a:t>用户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都是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的登记用户，并已经在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的服务器上安装了各自和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进行通信的</a:t>
            </a:r>
            <a:r>
              <a:rPr lang="zh-CN" altLang="en-US" dirty="0">
                <a:solidFill>
                  <a:schemeClr val="hlink"/>
                </a:solidFill>
                <a:latin typeface="Times New Roman" panose="02020603050405020304" pitchFamily="18" charset="0"/>
                <a:ea typeface="宋体" panose="02010600030101010101" pitchFamily="2" charset="-122"/>
              </a:rPr>
              <a:t>主密钥</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master key</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“主密钥”可简称为“密钥”。  </a:t>
            </a:r>
          </a:p>
        </p:txBody>
      </p:sp>
      <p:sp>
        <p:nvSpPr>
          <p:cNvPr id="102403" name="幻灯片编号占位符 1">
            <a:extLst>
              <a:ext uri="{FF2B5EF4-FFF2-40B4-BE49-F238E27FC236}">
                <a16:creationId xmlns:a16="http://schemas.microsoft.com/office/drawing/2014/main" id="{99BCD048-2F36-1A44-8491-6C06C6F56D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6594E5F-F744-2A49-A8FF-519884E7A02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91688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50" name="幻灯片编号占位符 1">
            <a:extLst>
              <a:ext uri="{FF2B5EF4-FFF2-40B4-BE49-F238E27FC236}">
                <a16:creationId xmlns:a16="http://schemas.microsoft.com/office/drawing/2014/main" id="{D63B8AF4-B425-A448-989B-ED5D4B7308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BDDE70-FBA5-BA4B-BA44-AF7CD9A9A3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
        <p:nvSpPr>
          <p:cNvPr id="103425" name="Rectangle 4">
            <a:extLst>
              <a:ext uri="{FF2B5EF4-FFF2-40B4-BE49-F238E27FC236}">
                <a16:creationId xmlns:a16="http://schemas.microsoft.com/office/drawing/2014/main" id="{E3598428-150B-0B44-958B-7985D35AFD3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对称密钥的分配</a:t>
            </a:r>
          </a:p>
        </p:txBody>
      </p:sp>
      <p:sp>
        <p:nvSpPr>
          <p:cNvPr id="700424" name="Text Box 8">
            <a:extLst>
              <a:ext uri="{FF2B5EF4-FFF2-40B4-BE49-F238E27FC236}">
                <a16:creationId xmlns:a16="http://schemas.microsoft.com/office/drawing/2014/main" id="{0146B2B8-2627-A949-B554-B3593713C6CC}"/>
              </a:ext>
            </a:extLst>
          </p:cNvPr>
          <p:cNvSpPr txBox="1">
            <a:spLocks noChangeArrowheads="1"/>
          </p:cNvSpPr>
          <p:nvPr/>
        </p:nvSpPr>
        <p:spPr bwMode="auto">
          <a:xfrm>
            <a:off x="1323975" y="1969294"/>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A</a:t>
            </a:r>
          </a:p>
        </p:txBody>
      </p:sp>
      <p:grpSp>
        <p:nvGrpSpPr>
          <p:cNvPr id="103427" name="Group 9">
            <a:extLst>
              <a:ext uri="{FF2B5EF4-FFF2-40B4-BE49-F238E27FC236}">
                <a16:creationId xmlns:a16="http://schemas.microsoft.com/office/drawing/2014/main" id="{9D69F770-AF30-874D-A370-627D00187037}"/>
              </a:ext>
            </a:extLst>
          </p:cNvPr>
          <p:cNvGrpSpPr>
            <a:grpSpLocks/>
          </p:cNvGrpSpPr>
          <p:nvPr/>
        </p:nvGrpSpPr>
        <p:grpSpPr bwMode="auto">
          <a:xfrm>
            <a:off x="1500188" y="2010966"/>
            <a:ext cx="400050" cy="433388"/>
            <a:chOff x="921" y="2412"/>
            <a:chExt cx="284" cy="265"/>
          </a:xfrm>
        </p:grpSpPr>
        <p:grpSp>
          <p:nvGrpSpPr>
            <p:cNvPr id="103497" name="Group 10">
              <a:extLst>
                <a:ext uri="{FF2B5EF4-FFF2-40B4-BE49-F238E27FC236}">
                  <a16:creationId xmlns:a16="http://schemas.microsoft.com/office/drawing/2014/main" id="{8EE7A3B7-3CA5-0944-8B17-A10A6854EC6F}"/>
                </a:ext>
              </a:extLst>
            </p:cNvPr>
            <p:cNvGrpSpPr>
              <a:grpSpLocks/>
            </p:cNvGrpSpPr>
            <p:nvPr/>
          </p:nvGrpSpPr>
          <p:grpSpPr bwMode="auto">
            <a:xfrm>
              <a:off x="928" y="2417"/>
              <a:ext cx="277" cy="260"/>
              <a:chOff x="928" y="2417"/>
              <a:chExt cx="277" cy="260"/>
            </a:xfrm>
          </p:grpSpPr>
          <p:sp>
            <p:nvSpPr>
              <p:cNvPr id="103511" name="Freeform 11">
                <a:extLst>
                  <a:ext uri="{FF2B5EF4-FFF2-40B4-BE49-F238E27FC236}">
                    <a16:creationId xmlns:a16="http://schemas.microsoft.com/office/drawing/2014/main" id="{9571B953-E9A5-4F49-8EA0-18F2733E906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2" name="Freeform 12">
                <a:extLst>
                  <a:ext uri="{FF2B5EF4-FFF2-40B4-BE49-F238E27FC236}">
                    <a16:creationId xmlns:a16="http://schemas.microsoft.com/office/drawing/2014/main" id="{999B8608-9EC7-4C4D-B374-0065B9FFA0F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3" name="Freeform 13">
                <a:extLst>
                  <a:ext uri="{FF2B5EF4-FFF2-40B4-BE49-F238E27FC236}">
                    <a16:creationId xmlns:a16="http://schemas.microsoft.com/office/drawing/2014/main" id="{20492DD1-5BA0-DD49-AD12-FBD1D238BED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4" name="Freeform 14">
                <a:extLst>
                  <a:ext uri="{FF2B5EF4-FFF2-40B4-BE49-F238E27FC236}">
                    <a16:creationId xmlns:a16="http://schemas.microsoft.com/office/drawing/2014/main" id="{59AB6495-0BA6-8441-AD73-3A36A8620E4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5" name="Rectangle 15">
                <a:extLst>
                  <a:ext uri="{FF2B5EF4-FFF2-40B4-BE49-F238E27FC236}">
                    <a16:creationId xmlns:a16="http://schemas.microsoft.com/office/drawing/2014/main" id="{AFBC9B0A-8196-9643-B22F-46E09B797524}"/>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6" name="Rectangle 16">
                <a:extLst>
                  <a:ext uri="{FF2B5EF4-FFF2-40B4-BE49-F238E27FC236}">
                    <a16:creationId xmlns:a16="http://schemas.microsoft.com/office/drawing/2014/main" id="{E97130CF-BC29-644E-BE16-28A45576989D}"/>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7" name="Rectangle 17">
                <a:extLst>
                  <a:ext uri="{FF2B5EF4-FFF2-40B4-BE49-F238E27FC236}">
                    <a16:creationId xmlns:a16="http://schemas.microsoft.com/office/drawing/2014/main" id="{F1A6044F-6AA2-9F47-9D56-047A9BC67FC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8" name="Line 18">
                <a:extLst>
                  <a:ext uri="{FF2B5EF4-FFF2-40B4-BE49-F238E27FC236}">
                    <a16:creationId xmlns:a16="http://schemas.microsoft.com/office/drawing/2014/main" id="{9A714945-1BD3-6143-AB04-470BE19387A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519" name="Group 19">
                <a:extLst>
                  <a:ext uri="{FF2B5EF4-FFF2-40B4-BE49-F238E27FC236}">
                    <a16:creationId xmlns:a16="http://schemas.microsoft.com/office/drawing/2014/main" id="{67E73C23-54E7-6F4E-9208-D11A8E0D9963}"/>
                  </a:ext>
                </a:extLst>
              </p:cNvPr>
              <p:cNvGrpSpPr>
                <a:grpSpLocks/>
              </p:cNvGrpSpPr>
              <p:nvPr/>
            </p:nvGrpSpPr>
            <p:grpSpPr bwMode="auto">
              <a:xfrm>
                <a:off x="928" y="2639"/>
                <a:ext cx="277" cy="38"/>
                <a:chOff x="928" y="2639"/>
                <a:chExt cx="277" cy="38"/>
              </a:xfrm>
            </p:grpSpPr>
            <p:sp>
              <p:nvSpPr>
                <p:cNvPr id="103520" name="Freeform 20">
                  <a:extLst>
                    <a:ext uri="{FF2B5EF4-FFF2-40B4-BE49-F238E27FC236}">
                      <a16:creationId xmlns:a16="http://schemas.microsoft.com/office/drawing/2014/main" id="{2DFB4108-BAEB-564A-B542-3B49F4DB3D4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21" name="Freeform 21">
                  <a:extLst>
                    <a:ext uri="{FF2B5EF4-FFF2-40B4-BE49-F238E27FC236}">
                      <a16:creationId xmlns:a16="http://schemas.microsoft.com/office/drawing/2014/main" id="{38BD9D89-7735-F54E-ACC7-B97F9E458158}"/>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22" name="Rectangle 22">
                  <a:extLst>
                    <a:ext uri="{FF2B5EF4-FFF2-40B4-BE49-F238E27FC236}">
                      <a16:creationId xmlns:a16="http://schemas.microsoft.com/office/drawing/2014/main" id="{B90C6D11-2508-C544-A40E-29EEC8DB33C8}"/>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3498" name="Group 23">
              <a:extLst>
                <a:ext uri="{FF2B5EF4-FFF2-40B4-BE49-F238E27FC236}">
                  <a16:creationId xmlns:a16="http://schemas.microsoft.com/office/drawing/2014/main" id="{C457DD46-C52D-BE41-9F08-4B75DDC50AEE}"/>
                </a:ext>
              </a:extLst>
            </p:cNvPr>
            <p:cNvGrpSpPr>
              <a:grpSpLocks/>
            </p:cNvGrpSpPr>
            <p:nvPr/>
          </p:nvGrpSpPr>
          <p:grpSpPr bwMode="auto">
            <a:xfrm>
              <a:off x="921" y="2412"/>
              <a:ext cx="277" cy="261"/>
              <a:chOff x="921" y="2412"/>
              <a:chExt cx="277" cy="261"/>
            </a:xfrm>
          </p:grpSpPr>
          <p:sp>
            <p:nvSpPr>
              <p:cNvPr id="103499" name="Freeform 24">
                <a:extLst>
                  <a:ext uri="{FF2B5EF4-FFF2-40B4-BE49-F238E27FC236}">
                    <a16:creationId xmlns:a16="http://schemas.microsoft.com/office/drawing/2014/main" id="{37F2DD8A-7F6F-D744-A446-E412AA7F23B3}"/>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0" name="Freeform 25">
                <a:extLst>
                  <a:ext uri="{FF2B5EF4-FFF2-40B4-BE49-F238E27FC236}">
                    <a16:creationId xmlns:a16="http://schemas.microsoft.com/office/drawing/2014/main" id="{51B865B2-6CA5-9541-840E-9FF4170260E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1" name="Freeform 26">
                <a:extLst>
                  <a:ext uri="{FF2B5EF4-FFF2-40B4-BE49-F238E27FC236}">
                    <a16:creationId xmlns:a16="http://schemas.microsoft.com/office/drawing/2014/main" id="{BC50E154-4E7C-8448-A4F6-C6CC5E13658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2" name="Freeform 27">
                <a:extLst>
                  <a:ext uri="{FF2B5EF4-FFF2-40B4-BE49-F238E27FC236}">
                    <a16:creationId xmlns:a16="http://schemas.microsoft.com/office/drawing/2014/main" id="{ABD863EE-24AF-F54D-B298-D922C26C016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3" name="Rectangle 28">
                <a:extLst>
                  <a:ext uri="{FF2B5EF4-FFF2-40B4-BE49-F238E27FC236}">
                    <a16:creationId xmlns:a16="http://schemas.microsoft.com/office/drawing/2014/main" id="{3A3905C1-578E-674D-82DA-C51CE919F3AB}"/>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4" name="Rectangle 29">
                <a:extLst>
                  <a:ext uri="{FF2B5EF4-FFF2-40B4-BE49-F238E27FC236}">
                    <a16:creationId xmlns:a16="http://schemas.microsoft.com/office/drawing/2014/main" id="{5E4B4D23-9EFC-984E-A7DC-B63B7DBDA270}"/>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5" name="Rectangle 30">
                <a:extLst>
                  <a:ext uri="{FF2B5EF4-FFF2-40B4-BE49-F238E27FC236}">
                    <a16:creationId xmlns:a16="http://schemas.microsoft.com/office/drawing/2014/main" id="{CD00C048-C6AC-D047-9B26-5DFD0953EC9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6" name="Line 31">
                <a:extLst>
                  <a:ext uri="{FF2B5EF4-FFF2-40B4-BE49-F238E27FC236}">
                    <a16:creationId xmlns:a16="http://schemas.microsoft.com/office/drawing/2014/main" id="{46F8CB07-C433-7E45-83AB-CE5BA2BAE3A8}"/>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507" name="Group 32">
                <a:extLst>
                  <a:ext uri="{FF2B5EF4-FFF2-40B4-BE49-F238E27FC236}">
                    <a16:creationId xmlns:a16="http://schemas.microsoft.com/office/drawing/2014/main" id="{84CDE97F-56A6-0047-9E78-EFA936267526}"/>
                  </a:ext>
                </a:extLst>
              </p:cNvPr>
              <p:cNvGrpSpPr>
                <a:grpSpLocks/>
              </p:cNvGrpSpPr>
              <p:nvPr/>
            </p:nvGrpSpPr>
            <p:grpSpPr bwMode="auto">
              <a:xfrm>
                <a:off x="921" y="2635"/>
                <a:ext cx="277" cy="38"/>
                <a:chOff x="921" y="2635"/>
                <a:chExt cx="277" cy="38"/>
              </a:xfrm>
            </p:grpSpPr>
            <p:sp>
              <p:nvSpPr>
                <p:cNvPr id="103508" name="Freeform 33">
                  <a:extLst>
                    <a:ext uri="{FF2B5EF4-FFF2-40B4-BE49-F238E27FC236}">
                      <a16:creationId xmlns:a16="http://schemas.microsoft.com/office/drawing/2014/main" id="{EAC663CE-CAD3-DD47-A622-FE849718D94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9" name="Freeform 34">
                  <a:extLst>
                    <a:ext uri="{FF2B5EF4-FFF2-40B4-BE49-F238E27FC236}">
                      <a16:creationId xmlns:a16="http://schemas.microsoft.com/office/drawing/2014/main" id="{3D29BEBB-09E4-974E-8F9D-FCADAA3F32A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0" name="Rectangle 35">
                  <a:extLst>
                    <a:ext uri="{FF2B5EF4-FFF2-40B4-BE49-F238E27FC236}">
                      <a16:creationId xmlns:a16="http://schemas.microsoft.com/office/drawing/2014/main" id="{D57075F3-421F-464E-8CE4-BF25C286FEBC}"/>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103428" name="Group 36">
            <a:extLst>
              <a:ext uri="{FF2B5EF4-FFF2-40B4-BE49-F238E27FC236}">
                <a16:creationId xmlns:a16="http://schemas.microsoft.com/office/drawing/2014/main" id="{26D8C43E-0B76-B341-AA96-5DFA3125D4AF}"/>
              </a:ext>
            </a:extLst>
          </p:cNvPr>
          <p:cNvGrpSpPr>
            <a:grpSpLocks/>
          </p:cNvGrpSpPr>
          <p:nvPr/>
        </p:nvGrpSpPr>
        <p:grpSpPr bwMode="auto">
          <a:xfrm>
            <a:off x="7305679" y="1971675"/>
            <a:ext cx="634742" cy="472679"/>
            <a:chOff x="3923" y="543"/>
            <a:chExt cx="505" cy="346"/>
          </a:xfrm>
        </p:grpSpPr>
        <p:sp>
          <p:nvSpPr>
            <p:cNvPr id="700453" name="Text Box 37">
              <a:extLst>
                <a:ext uri="{FF2B5EF4-FFF2-40B4-BE49-F238E27FC236}">
                  <a16:creationId xmlns:a16="http://schemas.microsoft.com/office/drawing/2014/main" id="{42B008A2-FFF0-4A4D-BD94-050787DC3E45}"/>
                </a:ext>
              </a:extLst>
            </p:cNvPr>
            <p:cNvSpPr txBox="1">
              <a:spLocks noChangeArrowheads="1"/>
            </p:cNvSpPr>
            <p:nvPr/>
          </p:nvSpPr>
          <p:spPr bwMode="auto">
            <a:xfrm>
              <a:off x="4179" y="543"/>
              <a:ext cx="249" cy="237"/>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B</a:t>
              </a:r>
            </a:p>
          </p:txBody>
        </p:sp>
        <p:grpSp>
          <p:nvGrpSpPr>
            <p:cNvPr id="103470" name="Group 38">
              <a:extLst>
                <a:ext uri="{FF2B5EF4-FFF2-40B4-BE49-F238E27FC236}">
                  <a16:creationId xmlns:a16="http://schemas.microsoft.com/office/drawing/2014/main" id="{684FD3EC-38A4-954F-8171-51368B5A1232}"/>
                </a:ext>
              </a:extLst>
            </p:cNvPr>
            <p:cNvGrpSpPr>
              <a:grpSpLocks/>
            </p:cNvGrpSpPr>
            <p:nvPr/>
          </p:nvGrpSpPr>
          <p:grpSpPr bwMode="auto">
            <a:xfrm>
              <a:off x="3923" y="572"/>
              <a:ext cx="318" cy="317"/>
              <a:chOff x="921" y="2412"/>
              <a:chExt cx="284" cy="265"/>
            </a:xfrm>
          </p:grpSpPr>
          <p:grpSp>
            <p:nvGrpSpPr>
              <p:cNvPr id="103471" name="Group 39">
                <a:extLst>
                  <a:ext uri="{FF2B5EF4-FFF2-40B4-BE49-F238E27FC236}">
                    <a16:creationId xmlns:a16="http://schemas.microsoft.com/office/drawing/2014/main" id="{C2FDB4DD-B843-A24D-A7A3-9C01962D31B6}"/>
                  </a:ext>
                </a:extLst>
              </p:cNvPr>
              <p:cNvGrpSpPr>
                <a:grpSpLocks/>
              </p:cNvGrpSpPr>
              <p:nvPr/>
            </p:nvGrpSpPr>
            <p:grpSpPr bwMode="auto">
              <a:xfrm>
                <a:off x="928" y="2417"/>
                <a:ext cx="277" cy="260"/>
                <a:chOff x="928" y="2417"/>
                <a:chExt cx="277" cy="260"/>
              </a:xfrm>
            </p:grpSpPr>
            <p:sp>
              <p:nvSpPr>
                <p:cNvPr id="103485" name="Freeform 40">
                  <a:extLst>
                    <a:ext uri="{FF2B5EF4-FFF2-40B4-BE49-F238E27FC236}">
                      <a16:creationId xmlns:a16="http://schemas.microsoft.com/office/drawing/2014/main" id="{4BC2078B-2F3F-F24B-8AD0-767222213EAB}"/>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6" name="Freeform 41">
                  <a:extLst>
                    <a:ext uri="{FF2B5EF4-FFF2-40B4-BE49-F238E27FC236}">
                      <a16:creationId xmlns:a16="http://schemas.microsoft.com/office/drawing/2014/main" id="{C7047266-432A-0140-A71E-09748AA62776}"/>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7" name="Freeform 42">
                  <a:extLst>
                    <a:ext uri="{FF2B5EF4-FFF2-40B4-BE49-F238E27FC236}">
                      <a16:creationId xmlns:a16="http://schemas.microsoft.com/office/drawing/2014/main" id="{8FE3CF03-3F40-0C40-B015-4FE8D663C66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8" name="Freeform 43">
                  <a:extLst>
                    <a:ext uri="{FF2B5EF4-FFF2-40B4-BE49-F238E27FC236}">
                      <a16:creationId xmlns:a16="http://schemas.microsoft.com/office/drawing/2014/main" id="{D3A66BEB-4332-EA47-B29F-3B5FCE80ED6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9" name="Rectangle 44">
                  <a:extLst>
                    <a:ext uri="{FF2B5EF4-FFF2-40B4-BE49-F238E27FC236}">
                      <a16:creationId xmlns:a16="http://schemas.microsoft.com/office/drawing/2014/main" id="{931FF4C5-53EB-8D4E-9005-174DD2380ABD}"/>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0" name="Rectangle 45">
                  <a:extLst>
                    <a:ext uri="{FF2B5EF4-FFF2-40B4-BE49-F238E27FC236}">
                      <a16:creationId xmlns:a16="http://schemas.microsoft.com/office/drawing/2014/main" id="{C3F361A5-0478-244B-AD3D-E1E490F9017F}"/>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1" name="Rectangle 46">
                  <a:extLst>
                    <a:ext uri="{FF2B5EF4-FFF2-40B4-BE49-F238E27FC236}">
                      <a16:creationId xmlns:a16="http://schemas.microsoft.com/office/drawing/2014/main" id="{E08E0C61-E02A-F447-904D-407F7EAB620A}"/>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2" name="Line 47">
                  <a:extLst>
                    <a:ext uri="{FF2B5EF4-FFF2-40B4-BE49-F238E27FC236}">
                      <a16:creationId xmlns:a16="http://schemas.microsoft.com/office/drawing/2014/main" id="{0A3D240F-4D61-3346-80DE-EAA1ABBAF44C}"/>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493" name="Group 48">
                  <a:extLst>
                    <a:ext uri="{FF2B5EF4-FFF2-40B4-BE49-F238E27FC236}">
                      <a16:creationId xmlns:a16="http://schemas.microsoft.com/office/drawing/2014/main" id="{87C6ECCA-01F2-6F4E-8AB6-3EC06FE5AF4E}"/>
                    </a:ext>
                  </a:extLst>
                </p:cNvPr>
                <p:cNvGrpSpPr>
                  <a:grpSpLocks/>
                </p:cNvGrpSpPr>
                <p:nvPr/>
              </p:nvGrpSpPr>
              <p:grpSpPr bwMode="auto">
                <a:xfrm>
                  <a:off x="928" y="2639"/>
                  <a:ext cx="277" cy="38"/>
                  <a:chOff x="928" y="2639"/>
                  <a:chExt cx="277" cy="38"/>
                </a:xfrm>
              </p:grpSpPr>
              <p:sp>
                <p:nvSpPr>
                  <p:cNvPr id="103494" name="Freeform 49">
                    <a:extLst>
                      <a:ext uri="{FF2B5EF4-FFF2-40B4-BE49-F238E27FC236}">
                        <a16:creationId xmlns:a16="http://schemas.microsoft.com/office/drawing/2014/main" id="{57234358-3A70-3C4D-BAD8-650A079269C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95" name="Freeform 50">
                    <a:extLst>
                      <a:ext uri="{FF2B5EF4-FFF2-40B4-BE49-F238E27FC236}">
                        <a16:creationId xmlns:a16="http://schemas.microsoft.com/office/drawing/2014/main" id="{D99BE222-77A1-CA41-B797-B1ABBC71AC06}"/>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96" name="Rectangle 51">
                    <a:extLst>
                      <a:ext uri="{FF2B5EF4-FFF2-40B4-BE49-F238E27FC236}">
                        <a16:creationId xmlns:a16="http://schemas.microsoft.com/office/drawing/2014/main" id="{110FA26C-D4D3-2440-92EC-62B9BA0A92E7}"/>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3472" name="Group 52">
                <a:extLst>
                  <a:ext uri="{FF2B5EF4-FFF2-40B4-BE49-F238E27FC236}">
                    <a16:creationId xmlns:a16="http://schemas.microsoft.com/office/drawing/2014/main" id="{7174BA95-B89C-EB4C-B3BE-A84F8460CD4C}"/>
                  </a:ext>
                </a:extLst>
              </p:cNvPr>
              <p:cNvGrpSpPr>
                <a:grpSpLocks/>
              </p:cNvGrpSpPr>
              <p:nvPr/>
            </p:nvGrpSpPr>
            <p:grpSpPr bwMode="auto">
              <a:xfrm>
                <a:off x="921" y="2412"/>
                <a:ext cx="277" cy="261"/>
                <a:chOff x="921" y="2412"/>
                <a:chExt cx="277" cy="261"/>
              </a:xfrm>
            </p:grpSpPr>
            <p:sp>
              <p:nvSpPr>
                <p:cNvPr id="103473" name="Freeform 53">
                  <a:extLst>
                    <a:ext uri="{FF2B5EF4-FFF2-40B4-BE49-F238E27FC236}">
                      <a16:creationId xmlns:a16="http://schemas.microsoft.com/office/drawing/2014/main" id="{16A172EF-8F0F-6245-9CCE-89A02512047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4" name="Freeform 54">
                  <a:extLst>
                    <a:ext uri="{FF2B5EF4-FFF2-40B4-BE49-F238E27FC236}">
                      <a16:creationId xmlns:a16="http://schemas.microsoft.com/office/drawing/2014/main" id="{FEEB85CE-C4A9-C240-A85F-81CB598150C2}"/>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5" name="Freeform 55">
                  <a:extLst>
                    <a:ext uri="{FF2B5EF4-FFF2-40B4-BE49-F238E27FC236}">
                      <a16:creationId xmlns:a16="http://schemas.microsoft.com/office/drawing/2014/main" id="{FA8979FF-2160-6E44-987A-C85BB783949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6" name="Freeform 56">
                  <a:extLst>
                    <a:ext uri="{FF2B5EF4-FFF2-40B4-BE49-F238E27FC236}">
                      <a16:creationId xmlns:a16="http://schemas.microsoft.com/office/drawing/2014/main" id="{1749EB96-4719-E342-92ED-D158B088639A}"/>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7" name="Rectangle 57">
                  <a:extLst>
                    <a:ext uri="{FF2B5EF4-FFF2-40B4-BE49-F238E27FC236}">
                      <a16:creationId xmlns:a16="http://schemas.microsoft.com/office/drawing/2014/main" id="{B570B3BB-C74A-6D42-9EFF-8D0A8BEBBAE6}"/>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78" name="Rectangle 58">
                  <a:extLst>
                    <a:ext uri="{FF2B5EF4-FFF2-40B4-BE49-F238E27FC236}">
                      <a16:creationId xmlns:a16="http://schemas.microsoft.com/office/drawing/2014/main" id="{21903F13-2187-994C-BCFC-18E32C91093A}"/>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79" name="Rectangle 59">
                  <a:extLst>
                    <a:ext uri="{FF2B5EF4-FFF2-40B4-BE49-F238E27FC236}">
                      <a16:creationId xmlns:a16="http://schemas.microsoft.com/office/drawing/2014/main" id="{B91D7528-FBFC-EB40-AB8B-B29C021AD74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80" name="Line 60">
                  <a:extLst>
                    <a:ext uri="{FF2B5EF4-FFF2-40B4-BE49-F238E27FC236}">
                      <a16:creationId xmlns:a16="http://schemas.microsoft.com/office/drawing/2014/main" id="{9BBA6515-E996-FC4B-8BA1-AFDA3C55EB6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481" name="Group 61">
                  <a:extLst>
                    <a:ext uri="{FF2B5EF4-FFF2-40B4-BE49-F238E27FC236}">
                      <a16:creationId xmlns:a16="http://schemas.microsoft.com/office/drawing/2014/main" id="{E288AEDC-9C70-974C-80E7-AA6B55742085}"/>
                    </a:ext>
                  </a:extLst>
                </p:cNvPr>
                <p:cNvGrpSpPr>
                  <a:grpSpLocks/>
                </p:cNvGrpSpPr>
                <p:nvPr/>
              </p:nvGrpSpPr>
              <p:grpSpPr bwMode="auto">
                <a:xfrm>
                  <a:off x="921" y="2635"/>
                  <a:ext cx="277" cy="38"/>
                  <a:chOff x="921" y="2635"/>
                  <a:chExt cx="277" cy="38"/>
                </a:xfrm>
              </p:grpSpPr>
              <p:sp>
                <p:nvSpPr>
                  <p:cNvPr id="103482" name="Freeform 62">
                    <a:extLst>
                      <a:ext uri="{FF2B5EF4-FFF2-40B4-BE49-F238E27FC236}">
                        <a16:creationId xmlns:a16="http://schemas.microsoft.com/office/drawing/2014/main" id="{903BC6C0-9C39-0047-8B8D-4289A1002FFF}"/>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3" name="Freeform 63">
                    <a:extLst>
                      <a:ext uri="{FF2B5EF4-FFF2-40B4-BE49-F238E27FC236}">
                        <a16:creationId xmlns:a16="http://schemas.microsoft.com/office/drawing/2014/main" id="{3D1EA842-D9CE-3E43-9270-5E1FCBDD067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4" name="Rectangle 64">
                    <a:extLst>
                      <a:ext uri="{FF2B5EF4-FFF2-40B4-BE49-F238E27FC236}">
                        <a16:creationId xmlns:a16="http://schemas.microsoft.com/office/drawing/2014/main" id="{686735FF-F2A2-164B-BB63-FDAFC5CF721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sp>
        <p:nvSpPr>
          <p:cNvPr id="700481" name="Line 65">
            <a:extLst>
              <a:ext uri="{FF2B5EF4-FFF2-40B4-BE49-F238E27FC236}">
                <a16:creationId xmlns:a16="http://schemas.microsoft.com/office/drawing/2014/main" id="{89F29003-885F-7A42-A0C2-67D0DD63277B}"/>
              </a:ext>
            </a:extLst>
          </p:cNvPr>
          <p:cNvSpPr>
            <a:spLocks noChangeShapeType="1"/>
          </p:cNvSpPr>
          <p:nvPr/>
        </p:nvSpPr>
        <p:spPr bwMode="auto">
          <a:xfrm rot="5400000">
            <a:off x="722115" y="3474840"/>
            <a:ext cx="1935956" cy="1190"/>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82" name="Line 66">
            <a:extLst>
              <a:ext uri="{FF2B5EF4-FFF2-40B4-BE49-F238E27FC236}">
                <a16:creationId xmlns:a16="http://schemas.microsoft.com/office/drawing/2014/main" id="{E2B73661-09CB-E943-BEE1-D6F10BBDF9AD}"/>
              </a:ext>
            </a:extLst>
          </p:cNvPr>
          <p:cNvSpPr>
            <a:spLocks noChangeShapeType="1"/>
          </p:cNvSpPr>
          <p:nvPr/>
        </p:nvSpPr>
        <p:spPr bwMode="auto">
          <a:xfrm rot="5400000">
            <a:off x="6502004" y="3504010"/>
            <a:ext cx="2019300" cy="4763"/>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90" name="Line 74">
            <a:extLst>
              <a:ext uri="{FF2B5EF4-FFF2-40B4-BE49-F238E27FC236}">
                <a16:creationId xmlns:a16="http://schemas.microsoft.com/office/drawing/2014/main" id="{46FA7E71-E4D1-A34C-898D-8B8A710BC116}"/>
              </a:ext>
            </a:extLst>
          </p:cNvPr>
          <p:cNvSpPr>
            <a:spLocks noChangeShapeType="1"/>
          </p:cNvSpPr>
          <p:nvPr/>
        </p:nvSpPr>
        <p:spPr bwMode="auto">
          <a:xfrm rot="16200000" flipH="1">
            <a:off x="3902273" y="2760464"/>
            <a:ext cx="1539479" cy="4763"/>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32" name="Text Box 75">
            <a:extLst>
              <a:ext uri="{FF2B5EF4-FFF2-40B4-BE49-F238E27FC236}">
                <a16:creationId xmlns:a16="http://schemas.microsoft.com/office/drawing/2014/main" id="{2D156E17-C530-874E-A098-05B16F0056BC}"/>
              </a:ext>
            </a:extLst>
          </p:cNvPr>
          <p:cNvSpPr txBox="1">
            <a:spLocks noChangeArrowheads="1"/>
          </p:cNvSpPr>
          <p:nvPr/>
        </p:nvSpPr>
        <p:spPr bwMode="auto">
          <a:xfrm>
            <a:off x="3591313" y="1383506"/>
            <a:ext cx="95410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密钥</a:t>
            </a:r>
          </a:p>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分配中心</a:t>
            </a:r>
          </a:p>
          <a:p>
            <a:pPr algn="ctr" eaLnBrk="1" hangingPunct="1">
              <a:spcBef>
                <a:spcPct val="0"/>
              </a:spcBef>
              <a:buClrTx/>
              <a:buSzTx/>
              <a:buFontTx/>
              <a:buNone/>
            </a:pPr>
            <a:r>
              <a:rPr kumimoji="1" lang="en-US" altLang="zh-CN" sz="1500">
                <a:solidFill>
                  <a:schemeClr val="tx2"/>
                </a:solidFill>
                <a:latin typeface="Arial" panose="020B0604020202020204" pitchFamily="34" charset="0"/>
                <a:ea typeface="宋体" panose="02010600030101010101" pitchFamily="2" charset="-122"/>
              </a:rPr>
              <a:t>KDC</a:t>
            </a:r>
          </a:p>
        </p:txBody>
      </p:sp>
      <p:grpSp>
        <p:nvGrpSpPr>
          <p:cNvPr id="700517" name="Group 101">
            <a:extLst>
              <a:ext uri="{FF2B5EF4-FFF2-40B4-BE49-F238E27FC236}">
                <a16:creationId xmlns:a16="http://schemas.microsoft.com/office/drawing/2014/main" id="{E20BA444-D6EE-684C-8F0D-EAC1573FEE1D}"/>
              </a:ext>
            </a:extLst>
          </p:cNvPr>
          <p:cNvGrpSpPr>
            <a:grpSpLocks/>
          </p:cNvGrpSpPr>
          <p:nvPr/>
        </p:nvGrpSpPr>
        <p:grpSpPr bwMode="auto">
          <a:xfrm>
            <a:off x="1665685" y="3711179"/>
            <a:ext cx="5817394" cy="659606"/>
            <a:chOff x="439" y="3117"/>
            <a:chExt cx="4886" cy="554"/>
          </a:xfrm>
        </p:grpSpPr>
        <p:sp>
          <p:nvSpPr>
            <p:cNvPr id="700421" name="Line 5">
              <a:extLst>
                <a:ext uri="{FF2B5EF4-FFF2-40B4-BE49-F238E27FC236}">
                  <a16:creationId xmlns:a16="http://schemas.microsoft.com/office/drawing/2014/main" id="{449CCE98-90E3-CF4F-AB5A-F3DD5B84EAF8}"/>
                </a:ext>
              </a:extLst>
            </p:cNvPr>
            <p:cNvSpPr>
              <a:spLocks noChangeShapeType="1"/>
            </p:cNvSpPr>
            <p:nvPr/>
          </p:nvSpPr>
          <p:spPr bwMode="auto">
            <a:xfrm>
              <a:off x="466" y="3540"/>
              <a:ext cx="4859" cy="1"/>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22" name="Rectangle 6">
              <a:extLst>
                <a:ext uri="{FF2B5EF4-FFF2-40B4-BE49-F238E27FC236}">
                  <a16:creationId xmlns:a16="http://schemas.microsoft.com/office/drawing/2014/main" id="{BA0AE45A-8FB6-C244-A7B0-5868DF8F618F}"/>
                </a:ext>
              </a:extLst>
            </p:cNvPr>
            <p:cNvSpPr>
              <a:spLocks noChangeArrowheads="1"/>
            </p:cNvSpPr>
            <p:nvPr/>
          </p:nvSpPr>
          <p:spPr bwMode="auto">
            <a:xfrm>
              <a:off x="2356" y="3410"/>
              <a:ext cx="670" cy="261"/>
            </a:xfrm>
            <a:prstGeom prst="rect">
              <a:avLst/>
            </a:prstGeom>
            <a:solidFill>
              <a:srgbClr val="FFCC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chemeClr val="tx2"/>
                  </a:solidFill>
                  <a:latin typeface="Arial" charset="0"/>
                  <a:ea typeface="黑体" charset="-122"/>
                </a:rPr>
                <a:t>A</a:t>
              </a:r>
              <a:r>
                <a:rPr kumimoji="1" lang="en-US" altLang="zh-CN" sz="1500" i="1">
                  <a:solidFill>
                    <a:schemeClr val="tx2"/>
                  </a:solidFill>
                  <a:latin typeface="Arial" charset="0"/>
                  <a:ea typeface="黑体" charset="-122"/>
                </a:rPr>
                <a:t>, </a:t>
              </a:r>
              <a:r>
                <a:rPr kumimoji="1" lang="en-US" altLang="zh-CN" sz="1500">
                  <a:solidFill>
                    <a:schemeClr val="tx2"/>
                  </a:solidFill>
                  <a:latin typeface="Arial" charset="0"/>
                  <a:ea typeface="黑体" charset="-122"/>
                </a:rPr>
                <a:t>B</a:t>
              </a:r>
              <a:r>
                <a:rPr kumimoji="1" lang="en-US" altLang="zh-CN" sz="1500" i="1">
                  <a:solidFill>
                    <a:schemeClr val="tx2"/>
                  </a:solidFill>
                  <a:latin typeface="Arial" charset="0"/>
                  <a:ea typeface="黑体" charset="-122"/>
                </a:rPr>
                <a:t>, K</a:t>
              </a:r>
              <a:r>
                <a:rPr kumimoji="1" lang="en-US" altLang="zh-CN" sz="1500" baseline="-25000">
                  <a:solidFill>
                    <a:schemeClr val="tx2"/>
                  </a:solidFill>
                  <a:latin typeface="Arial" charset="0"/>
                  <a:ea typeface="黑体" charset="-122"/>
                </a:rPr>
                <a:t>AB</a:t>
              </a:r>
            </a:p>
          </p:txBody>
        </p:sp>
        <p:sp>
          <p:nvSpPr>
            <p:cNvPr id="700487" name="Text Box 71">
              <a:extLst>
                <a:ext uri="{FF2B5EF4-FFF2-40B4-BE49-F238E27FC236}">
                  <a16:creationId xmlns:a16="http://schemas.microsoft.com/office/drawing/2014/main" id="{35FA411C-804F-1442-8269-C4691230C9DE}"/>
                </a:ext>
              </a:extLst>
            </p:cNvPr>
            <p:cNvSpPr txBox="1">
              <a:spLocks noChangeArrowheads="1"/>
            </p:cNvSpPr>
            <p:nvPr/>
          </p:nvSpPr>
          <p:spPr bwMode="auto">
            <a:xfrm>
              <a:off x="1943" y="3117"/>
              <a:ext cx="334" cy="271"/>
            </a:xfrm>
            <a:prstGeom prst="rect">
              <a:avLst/>
            </a:prstGeom>
            <a:noFill/>
            <a:ln>
              <a:noFill/>
            </a:ln>
            <a:effectLst/>
          </p:spPr>
          <p:txBody>
            <a:bodyPr wrap="none">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B</a:t>
              </a:r>
            </a:p>
          </p:txBody>
        </p:sp>
        <p:sp>
          <p:nvSpPr>
            <p:cNvPr id="103467" name="Text Box 78">
              <a:extLst>
                <a:ext uri="{FF2B5EF4-FFF2-40B4-BE49-F238E27FC236}">
                  <a16:creationId xmlns:a16="http://schemas.microsoft.com/office/drawing/2014/main" id="{11FB135F-237B-8543-B402-B994CF1BF6F2}"/>
                </a:ext>
              </a:extLst>
            </p:cNvPr>
            <p:cNvSpPr txBox="1">
              <a:spLocks noChangeArrowheads="1"/>
            </p:cNvSpPr>
            <p:nvPr/>
          </p:nvSpPr>
          <p:spPr bwMode="auto">
            <a:xfrm>
              <a:off x="439" y="3207"/>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3468" name="Picture 81">
              <a:extLst>
                <a:ext uri="{FF2B5EF4-FFF2-40B4-BE49-F238E27FC236}">
                  <a16:creationId xmlns:a16="http://schemas.microsoft.com/office/drawing/2014/main" id="{DB63F70A-954B-B943-ACEE-A5B35406823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 y="3182"/>
              <a:ext cx="25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434" name="Picture 82">
            <a:extLst>
              <a:ext uri="{FF2B5EF4-FFF2-40B4-BE49-F238E27FC236}">
                <a16:creationId xmlns:a16="http://schemas.microsoft.com/office/drawing/2014/main" id="{2BE93303-04B9-3A41-ADD0-E11A15BE75C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129" y="1701404"/>
            <a:ext cx="463153" cy="81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99" name="Rectangle 83">
            <a:extLst>
              <a:ext uri="{FF2B5EF4-FFF2-40B4-BE49-F238E27FC236}">
                <a16:creationId xmlns:a16="http://schemas.microsoft.com/office/drawing/2014/main" id="{47D369AC-CE5C-E34E-8C42-951AA90A1DBA}"/>
              </a:ext>
            </a:extLst>
          </p:cNvPr>
          <p:cNvSpPr>
            <a:spLocks noChangeArrowheads="1"/>
          </p:cNvSpPr>
          <p:nvPr/>
        </p:nvSpPr>
        <p:spPr bwMode="auto">
          <a:xfrm>
            <a:off x="5525691" y="1613298"/>
            <a:ext cx="1422797" cy="1544240"/>
          </a:xfrm>
          <a:prstGeom prst="rect">
            <a:avLst/>
          </a:prstGeom>
          <a:solidFill>
            <a:srgbClr val="FFFF99"/>
          </a:solidFill>
          <a:ln w="28575">
            <a:solidFill>
              <a:schemeClr val="tx2"/>
            </a:solidFill>
            <a:miter lim="800000"/>
            <a:headEnd/>
            <a:tailEnd/>
          </a:ln>
          <a:effectLst>
            <a:outerShdw blurRad="63500" dist="17961"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700500" name="Rectangle 84">
            <a:extLst>
              <a:ext uri="{FF2B5EF4-FFF2-40B4-BE49-F238E27FC236}">
                <a16:creationId xmlns:a16="http://schemas.microsoft.com/office/drawing/2014/main" id="{FC71C0BD-91BB-EE4B-A82F-9181245D3840}"/>
              </a:ext>
            </a:extLst>
          </p:cNvPr>
          <p:cNvSpPr>
            <a:spLocks noChangeArrowheads="1"/>
          </p:cNvSpPr>
          <p:nvPr/>
        </p:nvSpPr>
        <p:spPr bwMode="auto">
          <a:xfrm>
            <a:off x="5645944" y="1909763"/>
            <a:ext cx="1085850" cy="1156097"/>
          </a:xfrm>
          <a:prstGeom prst="rect">
            <a:avLst/>
          </a:prstGeom>
          <a:solidFill>
            <a:schemeClr val="bg1"/>
          </a:solidFill>
          <a:ln w="19050">
            <a:solidFill>
              <a:schemeClr val="tx2"/>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1" name="Line 85">
            <a:extLst>
              <a:ext uri="{FF2B5EF4-FFF2-40B4-BE49-F238E27FC236}">
                <a16:creationId xmlns:a16="http://schemas.microsoft.com/office/drawing/2014/main" id="{25D21BBB-D9D4-CB49-8733-30C664357106}"/>
              </a:ext>
            </a:extLst>
          </p:cNvPr>
          <p:cNvSpPr>
            <a:spLocks noChangeShapeType="1"/>
          </p:cNvSpPr>
          <p:nvPr/>
        </p:nvSpPr>
        <p:spPr bwMode="auto">
          <a:xfrm>
            <a:off x="5645944" y="2172891"/>
            <a:ext cx="1072754" cy="0"/>
          </a:xfrm>
          <a:prstGeom prst="line">
            <a:avLst/>
          </a:prstGeom>
          <a:noFill/>
          <a:ln w="1905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2" name="Line 86">
            <a:extLst>
              <a:ext uri="{FF2B5EF4-FFF2-40B4-BE49-F238E27FC236}">
                <a16:creationId xmlns:a16="http://schemas.microsoft.com/office/drawing/2014/main" id="{F3A29787-ED47-3D49-9641-5CF1BEAA1F6E}"/>
              </a:ext>
            </a:extLst>
          </p:cNvPr>
          <p:cNvSpPr>
            <a:spLocks noChangeShapeType="1"/>
          </p:cNvSpPr>
          <p:nvPr/>
        </p:nvSpPr>
        <p:spPr bwMode="auto">
          <a:xfrm flipV="1">
            <a:off x="5645944" y="2688431"/>
            <a:ext cx="1056085" cy="5954"/>
          </a:xfrm>
          <a:prstGeom prst="line">
            <a:avLst/>
          </a:prstGeom>
          <a:noFill/>
          <a:ln w="9525">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3" name="Line 87">
            <a:extLst>
              <a:ext uri="{FF2B5EF4-FFF2-40B4-BE49-F238E27FC236}">
                <a16:creationId xmlns:a16="http://schemas.microsoft.com/office/drawing/2014/main" id="{BFA01585-91E6-6D47-A315-C1D495352DF7}"/>
              </a:ext>
            </a:extLst>
          </p:cNvPr>
          <p:cNvSpPr>
            <a:spLocks noChangeShapeType="1"/>
          </p:cNvSpPr>
          <p:nvPr/>
        </p:nvSpPr>
        <p:spPr bwMode="auto">
          <a:xfrm rot="16200000" flipH="1">
            <a:off x="5468541" y="2478882"/>
            <a:ext cx="1158478" cy="3572"/>
          </a:xfrm>
          <a:prstGeom prst="line">
            <a:avLst/>
          </a:prstGeom>
          <a:noFill/>
          <a:ln w="1905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40" name="Text Box 88">
            <a:extLst>
              <a:ext uri="{FF2B5EF4-FFF2-40B4-BE49-F238E27FC236}">
                <a16:creationId xmlns:a16="http://schemas.microsoft.com/office/drawing/2014/main" id="{D8E5368E-F651-EF47-9489-6BB680C1ED19}"/>
              </a:ext>
            </a:extLst>
          </p:cNvPr>
          <p:cNvSpPr txBox="1">
            <a:spLocks noChangeArrowheads="1"/>
          </p:cNvSpPr>
          <p:nvPr/>
        </p:nvSpPr>
        <p:spPr bwMode="auto">
          <a:xfrm rot="16200000">
            <a:off x="5427927" y="2607886"/>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2"/>
                </a:solidFill>
                <a:latin typeface="Arial" panose="020B0604020202020204" pitchFamily="34" charset="0"/>
                <a:ea typeface="宋体" panose="02010600030101010101" pitchFamily="2" charset="-122"/>
              </a:rPr>
              <a:t>…</a:t>
            </a:r>
          </a:p>
        </p:txBody>
      </p:sp>
      <p:sp>
        <p:nvSpPr>
          <p:cNvPr id="103441" name="Text Box 89">
            <a:extLst>
              <a:ext uri="{FF2B5EF4-FFF2-40B4-BE49-F238E27FC236}">
                <a16:creationId xmlns:a16="http://schemas.microsoft.com/office/drawing/2014/main" id="{15391593-B87D-704C-9B21-737B8453BEC7}"/>
              </a:ext>
            </a:extLst>
          </p:cNvPr>
          <p:cNvSpPr txBox="1">
            <a:spLocks noChangeArrowheads="1"/>
          </p:cNvSpPr>
          <p:nvPr/>
        </p:nvSpPr>
        <p:spPr bwMode="auto">
          <a:xfrm rot="16200000">
            <a:off x="6022048" y="2607886"/>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2"/>
                </a:solidFill>
                <a:latin typeface="Arial" panose="020B0604020202020204" pitchFamily="34" charset="0"/>
                <a:ea typeface="宋体" panose="02010600030101010101" pitchFamily="2" charset="-122"/>
              </a:rPr>
              <a:t>…</a:t>
            </a:r>
          </a:p>
        </p:txBody>
      </p:sp>
      <p:sp>
        <p:nvSpPr>
          <p:cNvPr id="103442" name="Text Box 90">
            <a:extLst>
              <a:ext uri="{FF2B5EF4-FFF2-40B4-BE49-F238E27FC236}">
                <a16:creationId xmlns:a16="http://schemas.microsoft.com/office/drawing/2014/main" id="{0B3B1DEF-1011-634D-BB93-99761DFE924C}"/>
              </a:ext>
            </a:extLst>
          </p:cNvPr>
          <p:cNvSpPr txBox="1">
            <a:spLocks noChangeArrowheads="1"/>
          </p:cNvSpPr>
          <p:nvPr/>
        </p:nvSpPr>
        <p:spPr bwMode="auto">
          <a:xfrm>
            <a:off x="5494735" y="1601391"/>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用户专用主密钥</a:t>
            </a:r>
          </a:p>
        </p:txBody>
      </p:sp>
      <p:sp>
        <p:nvSpPr>
          <p:cNvPr id="103443" name="Text Box 91">
            <a:extLst>
              <a:ext uri="{FF2B5EF4-FFF2-40B4-BE49-F238E27FC236}">
                <a16:creationId xmlns:a16="http://schemas.microsoft.com/office/drawing/2014/main" id="{002C3A80-64F3-7F4D-952A-A923FCE1D4AF}"/>
              </a:ext>
            </a:extLst>
          </p:cNvPr>
          <p:cNvSpPr txBox="1">
            <a:spLocks noChangeArrowheads="1"/>
          </p:cNvSpPr>
          <p:nvPr/>
        </p:nvSpPr>
        <p:spPr bwMode="auto">
          <a:xfrm>
            <a:off x="5591176" y="1815704"/>
            <a:ext cx="1263487" cy="89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用户 主密钥</a:t>
            </a:r>
          </a:p>
          <a:p>
            <a:pPr eaLnBrk="1" hangingPunct="1">
              <a:lnSpc>
                <a:spcPct val="120000"/>
              </a:lnSpc>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  </a:t>
            </a:r>
            <a:r>
              <a:rPr kumimoji="1" lang="en-US" altLang="zh-CN" sz="1500">
                <a:solidFill>
                  <a:schemeClr val="tx2"/>
                </a:solidFill>
                <a:latin typeface="Arial" panose="020B0604020202020204" pitchFamily="34" charset="0"/>
                <a:ea typeface="宋体" panose="02010600030101010101" pitchFamily="2" charset="-122"/>
              </a:rPr>
              <a:t>A  </a:t>
            </a:r>
            <a:r>
              <a:rPr kumimoji="1" lang="en-US" altLang="zh-CN" sz="900">
                <a:solidFill>
                  <a:schemeClr val="tx2"/>
                </a:solidFill>
                <a:latin typeface="Arial" panose="020B0604020202020204" pitchFamily="34" charset="0"/>
                <a:ea typeface="宋体" panose="02010600030101010101" pitchFamily="2" charset="-122"/>
              </a:rPr>
              <a:t> </a:t>
            </a:r>
            <a:r>
              <a:rPr kumimoji="1" lang="en-US" altLang="zh-CN" sz="1500">
                <a:solidFill>
                  <a:schemeClr val="tx2"/>
                </a:solidFill>
                <a:latin typeface="Arial" panose="020B0604020202020204" pitchFamily="34" charset="0"/>
                <a:ea typeface="宋体" panose="02010600030101010101" pitchFamily="2" charset="-122"/>
              </a:rPr>
              <a:t>      </a:t>
            </a:r>
            <a:r>
              <a:rPr kumimoji="1" lang="en-US" altLang="zh-CN" sz="1500" i="1">
                <a:solidFill>
                  <a:schemeClr val="tx2"/>
                </a:solidFill>
                <a:latin typeface="Arial" panose="020B0604020202020204" pitchFamily="34" charset="0"/>
                <a:ea typeface="宋体" panose="02010600030101010101" pitchFamily="2" charset="-122"/>
              </a:rPr>
              <a:t>K</a:t>
            </a:r>
            <a:r>
              <a:rPr kumimoji="1" lang="en-US" altLang="zh-CN" sz="1500" baseline="-25000">
                <a:solidFill>
                  <a:schemeClr val="tx2"/>
                </a:solidFill>
                <a:latin typeface="Arial" panose="020B0604020202020204" pitchFamily="34" charset="0"/>
                <a:ea typeface="宋体" panose="02010600030101010101" pitchFamily="2" charset="-122"/>
              </a:rPr>
              <a:t>A</a:t>
            </a:r>
          </a:p>
          <a:p>
            <a:pPr eaLnBrk="1" hangingPunct="1">
              <a:lnSpc>
                <a:spcPct val="120000"/>
              </a:lnSpc>
              <a:spcBef>
                <a:spcPct val="0"/>
              </a:spcBef>
              <a:buClrTx/>
              <a:buSzTx/>
              <a:buFontTx/>
              <a:buNone/>
            </a:pPr>
            <a:r>
              <a:rPr kumimoji="1" lang="en-US" altLang="zh-CN" sz="1500">
                <a:solidFill>
                  <a:schemeClr val="tx2"/>
                </a:solidFill>
                <a:latin typeface="Arial" panose="020B0604020202020204" pitchFamily="34" charset="0"/>
                <a:ea typeface="宋体" panose="02010600030101010101" pitchFamily="2" charset="-122"/>
              </a:rPr>
              <a:t>  B  </a:t>
            </a:r>
            <a:r>
              <a:rPr kumimoji="1" lang="en-US" altLang="zh-CN" sz="375">
                <a:solidFill>
                  <a:schemeClr val="tx2"/>
                </a:solidFill>
                <a:latin typeface="Arial" panose="020B0604020202020204" pitchFamily="34" charset="0"/>
                <a:ea typeface="宋体" panose="02010600030101010101" pitchFamily="2" charset="-122"/>
              </a:rPr>
              <a:t> </a:t>
            </a:r>
            <a:r>
              <a:rPr kumimoji="1" lang="en-US" altLang="zh-CN" sz="750">
                <a:solidFill>
                  <a:schemeClr val="tx2"/>
                </a:solidFill>
                <a:latin typeface="Arial" panose="020B0604020202020204" pitchFamily="34" charset="0"/>
                <a:ea typeface="宋体" panose="02010600030101010101" pitchFamily="2" charset="-122"/>
              </a:rPr>
              <a:t>             </a:t>
            </a:r>
            <a:r>
              <a:rPr kumimoji="1" lang="en-US" altLang="zh-CN" sz="1500" i="1">
                <a:solidFill>
                  <a:schemeClr val="tx2"/>
                </a:solidFill>
                <a:latin typeface="Arial" panose="020B0604020202020204" pitchFamily="34" charset="0"/>
                <a:ea typeface="宋体" panose="02010600030101010101" pitchFamily="2" charset="-122"/>
              </a:rPr>
              <a:t>K</a:t>
            </a:r>
            <a:r>
              <a:rPr kumimoji="1" lang="en-US" altLang="zh-CN" sz="1500" baseline="-25000">
                <a:solidFill>
                  <a:schemeClr val="tx2"/>
                </a:solidFill>
                <a:latin typeface="Arial" panose="020B0604020202020204" pitchFamily="34" charset="0"/>
                <a:ea typeface="宋体" panose="02010600030101010101" pitchFamily="2" charset="-122"/>
              </a:rPr>
              <a:t>B</a:t>
            </a:r>
            <a:r>
              <a:rPr kumimoji="1" lang="en-US" altLang="zh-CN" sz="1500">
                <a:solidFill>
                  <a:schemeClr val="tx2"/>
                </a:solidFill>
                <a:latin typeface="Arial" panose="020B0604020202020204" pitchFamily="34" charset="0"/>
                <a:ea typeface="宋体" panose="02010600030101010101" pitchFamily="2" charset="-122"/>
              </a:rPr>
              <a:t>   </a:t>
            </a:r>
          </a:p>
        </p:txBody>
      </p:sp>
      <p:sp>
        <p:nvSpPr>
          <p:cNvPr id="700508" name="Rectangle 92">
            <a:extLst>
              <a:ext uri="{FF2B5EF4-FFF2-40B4-BE49-F238E27FC236}">
                <a16:creationId xmlns:a16="http://schemas.microsoft.com/office/drawing/2014/main" id="{39785AEB-61AC-9640-AD87-B83C33395798}"/>
              </a:ext>
            </a:extLst>
          </p:cNvPr>
          <p:cNvSpPr>
            <a:spLocks noChangeArrowheads="1"/>
          </p:cNvSpPr>
          <p:nvPr/>
        </p:nvSpPr>
        <p:spPr bwMode="auto">
          <a:xfrm>
            <a:off x="4631531" y="2135981"/>
            <a:ext cx="114300" cy="185738"/>
          </a:xfrm>
          <a:prstGeom prst="rect">
            <a:avLst/>
          </a:prstGeom>
          <a:solidFill>
            <a:srgbClr val="808080"/>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9" name="Freeform 93">
            <a:extLst>
              <a:ext uri="{FF2B5EF4-FFF2-40B4-BE49-F238E27FC236}">
                <a16:creationId xmlns:a16="http://schemas.microsoft.com/office/drawing/2014/main" id="{589E10FB-065C-3E48-A168-DC408427D9BC}"/>
              </a:ext>
            </a:extLst>
          </p:cNvPr>
          <p:cNvSpPr>
            <a:spLocks/>
          </p:cNvSpPr>
          <p:nvPr/>
        </p:nvSpPr>
        <p:spPr bwMode="auto">
          <a:xfrm>
            <a:off x="4744641" y="1618060"/>
            <a:ext cx="777478" cy="1539478"/>
          </a:xfrm>
          <a:custGeom>
            <a:avLst/>
            <a:gdLst>
              <a:gd name="T0" fmla="*/ 0 w 618"/>
              <a:gd name="T1" fmla="*/ 695160 h 1125"/>
              <a:gd name="T2" fmla="*/ 1031605 w 618"/>
              <a:gd name="T3" fmla="*/ 0 h 1125"/>
              <a:gd name="T4" fmla="*/ 1036637 w 618"/>
              <a:gd name="T5" fmla="*/ 2052637 h 1125"/>
              <a:gd name="T6" fmla="*/ 10064 w 618"/>
              <a:gd name="T7" fmla="*/ 946950 h 1125"/>
              <a:gd name="T8" fmla="*/ 0 w 618"/>
              <a:gd name="T9" fmla="*/ 695160 h 11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8" h="1125">
                <a:moveTo>
                  <a:pt x="0" y="381"/>
                </a:moveTo>
                <a:lnTo>
                  <a:pt x="615" y="0"/>
                </a:lnTo>
                <a:lnTo>
                  <a:pt x="618" y="1125"/>
                </a:lnTo>
                <a:lnTo>
                  <a:pt x="6" y="519"/>
                </a:lnTo>
                <a:lnTo>
                  <a:pt x="0" y="381"/>
                </a:lnTo>
                <a:close/>
              </a:path>
            </a:pathLst>
          </a:custGeom>
          <a:gradFill rotWithShape="1">
            <a:gsLst>
              <a:gs pos="0">
                <a:srgbClr val="767647"/>
              </a:gs>
              <a:gs pos="100000">
                <a:srgbClr val="FFFF99"/>
              </a:gs>
            </a:gsLst>
            <a:lin ang="0" scaled="1"/>
          </a:gradFill>
          <a:ln>
            <a:noFill/>
          </a:ln>
          <a:effectLst/>
        </p:spPr>
        <p:txBody>
          <a:bodyPr/>
          <a:lstStyle/>
          <a:p>
            <a:pPr>
              <a:defRPr/>
            </a:pPr>
            <a:endParaRPr lang="zh-CN" altLang="en-US">
              <a:cs typeface="+mn-cs"/>
            </a:endParaRPr>
          </a:p>
        </p:txBody>
      </p:sp>
      <p:sp>
        <p:nvSpPr>
          <p:cNvPr id="700510" name="Line 94">
            <a:extLst>
              <a:ext uri="{FF2B5EF4-FFF2-40B4-BE49-F238E27FC236}">
                <a16:creationId xmlns:a16="http://schemas.microsoft.com/office/drawing/2014/main" id="{8506EE73-BD48-074E-9C0D-9809D3EA8958}"/>
              </a:ext>
            </a:extLst>
          </p:cNvPr>
          <p:cNvSpPr>
            <a:spLocks noChangeShapeType="1"/>
          </p:cNvSpPr>
          <p:nvPr/>
        </p:nvSpPr>
        <p:spPr bwMode="auto">
          <a:xfrm>
            <a:off x="5650706" y="2426494"/>
            <a:ext cx="1087041" cy="0"/>
          </a:xfrm>
          <a:prstGeom prst="line">
            <a:avLst/>
          </a:prstGeom>
          <a:noFill/>
          <a:ln w="9525">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700516" name="Group 100">
            <a:extLst>
              <a:ext uri="{FF2B5EF4-FFF2-40B4-BE49-F238E27FC236}">
                <a16:creationId xmlns:a16="http://schemas.microsoft.com/office/drawing/2014/main" id="{B6A54453-4234-524C-AAE9-9FD6B034EF23}"/>
              </a:ext>
            </a:extLst>
          </p:cNvPr>
          <p:cNvGrpSpPr>
            <a:grpSpLocks/>
          </p:cNvGrpSpPr>
          <p:nvPr/>
        </p:nvGrpSpPr>
        <p:grpSpPr bwMode="auto">
          <a:xfrm>
            <a:off x="1689497" y="2818210"/>
            <a:ext cx="3052763" cy="831056"/>
            <a:chOff x="459" y="2367"/>
            <a:chExt cx="2564" cy="698"/>
          </a:xfrm>
        </p:grpSpPr>
        <p:sp>
          <p:nvSpPr>
            <p:cNvPr id="700483" name="Line 67">
              <a:extLst>
                <a:ext uri="{FF2B5EF4-FFF2-40B4-BE49-F238E27FC236}">
                  <a16:creationId xmlns:a16="http://schemas.microsoft.com/office/drawing/2014/main" id="{712B47C3-FD9F-0146-BEED-93B4A68940E4}"/>
                </a:ext>
              </a:extLst>
            </p:cNvPr>
            <p:cNvSpPr>
              <a:spLocks noChangeShapeType="1"/>
            </p:cNvSpPr>
            <p:nvPr/>
          </p:nvSpPr>
          <p:spPr bwMode="auto">
            <a:xfrm flipH="1">
              <a:off x="459" y="2789"/>
              <a:ext cx="2501" cy="1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84" name="Rectangle 68">
              <a:extLst>
                <a:ext uri="{FF2B5EF4-FFF2-40B4-BE49-F238E27FC236}">
                  <a16:creationId xmlns:a16="http://schemas.microsoft.com/office/drawing/2014/main" id="{1AAC854A-FD52-F74B-A389-98642F0AD387}"/>
                </a:ext>
              </a:extLst>
            </p:cNvPr>
            <p:cNvSpPr>
              <a:spLocks noChangeArrowheads="1"/>
            </p:cNvSpPr>
            <p:nvPr/>
          </p:nvSpPr>
          <p:spPr bwMode="auto">
            <a:xfrm>
              <a:off x="1158" y="2527"/>
              <a:ext cx="1324" cy="538"/>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0485" name="Rectangle 69">
              <a:extLst>
                <a:ext uri="{FF2B5EF4-FFF2-40B4-BE49-F238E27FC236}">
                  <a16:creationId xmlns:a16="http://schemas.microsoft.com/office/drawing/2014/main" id="{E9B75F23-34E4-DA44-B229-FCB4E56F3958}"/>
                </a:ext>
              </a:extLst>
            </p:cNvPr>
            <p:cNvSpPr>
              <a:spLocks noChangeArrowheads="1"/>
            </p:cNvSpPr>
            <p:nvPr/>
          </p:nvSpPr>
          <p:spPr bwMode="auto">
            <a:xfrm>
              <a:off x="1733" y="2778"/>
              <a:ext cx="670" cy="261"/>
            </a:xfrm>
            <a:prstGeom prst="rect">
              <a:avLst/>
            </a:prstGeom>
            <a:solidFill>
              <a:srgbClr val="FFCC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chemeClr val="tx2"/>
                  </a:solidFill>
                  <a:latin typeface="Arial" charset="0"/>
                  <a:ea typeface="黑体" charset="-122"/>
                </a:rPr>
                <a:t>A</a:t>
              </a:r>
              <a:r>
                <a:rPr kumimoji="1" lang="en-US" altLang="zh-CN" sz="1500" i="1">
                  <a:solidFill>
                    <a:schemeClr val="tx2"/>
                  </a:solidFill>
                  <a:latin typeface="Arial" charset="0"/>
                  <a:ea typeface="黑体" charset="-122"/>
                </a:rPr>
                <a:t>, </a:t>
              </a:r>
              <a:r>
                <a:rPr kumimoji="1" lang="en-US" altLang="zh-CN" sz="1500">
                  <a:solidFill>
                    <a:schemeClr val="tx2"/>
                  </a:solidFill>
                  <a:latin typeface="Arial" charset="0"/>
                  <a:ea typeface="黑体" charset="-122"/>
                </a:rPr>
                <a:t>B</a:t>
              </a:r>
              <a:r>
                <a:rPr kumimoji="1" lang="en-US" altLang="zh-CN" sz="1500" i="1">
                  <a:solidFill>
                    <a:schemeClr val="tx2"/>
                  </a:solidFill>
                  <a:latin typeface="Arial" charset="0"/>
                  <a:ea typeface="黑体" charset="-122"/>
                </a:rPr>
                <a:t>, K</a:t>
              </a:r>
              <a:r>
                <a:rPr kumimoji="1" lang="en-US" altLang="zh-CN" sz="1500" baseline="-25000">
                  <a:solidFill>
                    <a:schemeClr val="tx2"/>
                  </a:solidFill>
                  <a:latin typeface="Arial" charset="0"/>
                  <a:ea typeface="黑体" charset="-122"/>
                </a:rPr>
                <a:t>AB</a:t>
              </a:r>
            </a:p>
          </p:txBody>
        </p:sp>
        <p:sp>
          <p:nvSpPr>
            <p:cNvPr id="700486" name="Text Box 70">
              <a:extLst>
                <a:ext uri="{FF2B5EF4-FFF2-40B4-BE49-F238E27FC236}">
                  <a16:creationId xmlns:a16="http://schemas.microsoft.com/office/drawing/2014/main" id="{AC835FAC-9668-7740-B646-C36E643B1A98}"/>
                </a:ext>
              </a:extLst>
            </p:cNvPr>
            <p:cNvSpPr txBox="1">
              <a:spLocks noChangeArrowheads="1"/>
            </p:cNvSpPr>
            <p:nvPr/>
          </p:nvSpPr>
          <p:spPr bwMode="auto">
            <a:xfrm>
              <a:off x="1158" y="2752"/>
              <a:ext cx="406" cy="271"/>
            </a:xfrm>
            <a:prstGeom prst="rect">
              <a:avLst/>
            </a:prstGeom>
            <a:noFill/>
            <a:ln>
              <a:noFill/>
            </a:ln>
            <a:effectLst/>
          </p:spPr>
          <p:txBody>
            <a:bodyPr wrap="none">
              <a:spAutoFit/>
            </a:bodyPr>
            <a:lstStyle/>
            <a:p>
              <a:pPr eaLnBrk="1" hangingPunct="1">
                <a:defRPr/>
              </a:pPr>
              <a:r>
                <a:rPr kumimoji="1" lang="en-US" altLang="zh-CN" sz="1500" i="1">
                  <a:solidFill>
                    <a:schemeClr val="tx2"/>
                  </a:solidFill>
                  <a:latin typeface="Arial" charset="0"/>
                  <a:ea typeface="黑体" charset="-122"/>
                </a:rPr>
                <a:t>K</a:t>
              </a:r>
              <a:r>
                <a:rPr kumimoji="1" lang="en-US" altLang="zh-CN" sz="1500" baseline="-25000">
                  <a:solidFill>
                    <a:schemeClr val="tx2"/>
                  </a:solidFill>
                  <a:latin typeface="Arial" charset="0"/>
                  <a:ea typeface="黑体" charset="-122"/>
                </a:rPr>
                <a:t>AB</a:t>
              </a:r>
            </a:p>
          </p:txBody>
        </p:sp>
        <p:pic>
          <p:nvPicPr>
            <p:cNvPr id="103458" name="Picture 72">
              <a:extLst>
                <a:ext uri="{FF2B5EF4-FFF2-40B4-BE49-F238E27FC236}">
                  <a16:creationId xmlns:a16="http://schemas.microsoft.com/office/drawing/2014/main" id="{DF62B155-8787-994D-BDC9-E4C17A486CD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 y="2577"/>
              <a:ext cx="25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89" name="Text Box 73">
              <a:extLst>
                <a:ext uri="{FF2B5EF4-FFF2-40B4-BE49-F238E27FC236}">
                  <a16:creationId xmlns:a16="http://schemas.microsoft.com/office/drawing/2014/main" id="{01A5D9BB-1C04-9F48-9953-B6EBF7F31DFD}"/>
                </a:ext>
              </a:extLst>
            </p:cNvPr>
            <p:cNvSpPr txBox="1">
              <a:spLocks noChangeArrowheads="1"/>
            </p:cNvSpPr>
            <p:nvPr/>
          </p:nvSpPr>
          <p:spPr bwMode="auto">
            <a:xfrm>
              <a:off x="1349" y="2491"/>
              <a:ext cx="334" cy="271"/>
            </a:xfrm>
            <a:prstGeom prst="rect">
              <a:avLst/>
            </a:prstGeom>
            <a:noFill/>
            <a:ln>
              <a:noFill/>
            </a:ln>
            <a:effectLst/>
          </p:spPr>
          <p:txBody>
            <a:bodyPr wrap="none">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B</a:t>
              </a:r>
            </a:p>
          </p:txBody>
        </p:sp>
        <p:sp>
          <p:nvSpPr>
            <p:cNvPr id="103460" name="Text Box 77">
              <a:extLst>
                <a:ext uri="{FF2B5EF4-FFF2-40B4-BE49-F238E27FC236}">
                  <a16:creationId xmlns:a16="http://schemas.microsoft.com/office/drawing/2014/main" id="{32752109-F71A-7F4D-AFE1-53C16FF9C973}"/>
                </a:ext>
              </a:extLst>
            </p:cNvPr>
            <p:cNvSpPr txBox="1">
              <a:spLocks noChangeArrowheads="1"/>
            </p:cNvSpPr>
            <p:nvPr/>
          </p:nvSpPr>
          <p:spPr bwMode="auto">
            <a:xfrm>
              <a:off x="2608" y="2436"/>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3461" name="Picture 79">
              <a:extLst>
                <a:ext uri="{FF2B5EF4-FFF2-40B4-BE49-F238E27FC236}">
                  <a16:creationId xmlns:a16="http://schemas.microsoft.com/office/drawing/2014/main" id="{0D50753C-7FD3-494F-8BC0-2E94A453A23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 y="2367"/>
              <a:ext cx="25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96" name="Text Box 80">
              <a:extLst>
                <a:ext uri="{FF2B5EF4-FFF2-40B4-BE49-F238E27FC236}">
                  <a16:creationId xmlns:a16="http://schemas.microsoft.com/office/drawing/2014/main" id="{61F43F6E-ED9A-5944-BFF7-5E34ACEC2766}"/>
                </a:ext>
              </a:extLst>
            </p:cNvPr>
            <p:cNvSpPr txBox="1">
              <a:spLocks noChangeArrowheads="1"/>
            </p:cNvSpPr>
            <p:nvPr/>
          </p:nvSpPr>
          <p:spPr bwMode="auto">
            <a:xfrm>
              <a:off x="726" y="2367"/>
              <a:ext cx="432" cy="271"/>
            </a:xfrm>
            <a:prstGeom prst="rect">
              <a:avLst/>
            </a:prstGeom>
            <a:noFill/>
            <a:ln>
              <a:noFill/>
            </a:ln>
            <a:effectLst/>
          </p:spPr>
          <p:txBody>
            <a:bodyPr>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A</a:t>
              </a:r>
            </a:p>
          </p:txBody>
        </p:sp>
        <p:sp>
          <p:nvSpPr>
            <p:cNvPr id="103463" name="Text Box 95">
              <a:extLst>
                <a:ext uri="{FF2B5EF4-FFF2-40B4-BE49-F238E27FC236}">
                  <a16:creationId xmlns:a16="http://schemas.microsoft.com/office/drawing/2014/main" id="{DDFCE908-95DC-D04C-A464-62F525D1DE84}"/>
                </a:ext>
              </a:extLst>
            </p:cNvPr>
            <p:cNvSpPr txBox="1">
              <a:spLocks noChangeArrowheads="1"/>
            </p:cNvSpPr>
            <p:nvPr/>
          </p:nvSpPr>
          <p:spPr bwMode="auto">
            <a:xfrm>
              <a:off x="1446" y="2752"/>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a:solidFill>
                    <a:schemeClr val="tx2"/>
                  </a:solidFill>
                  <a:latin typeface="Arial" panose="020B0604020202020204" pitchFamily="34" charset="0"/>
                  <a:ea typeface="宋体" panose="02010600030101010101" pitchFamily="2" charset="-122"/>
                </a:rPr>
                <a:t>,</a:t>
              </a:r>
              <a:endParaRPr lang="en-US" altLang="zh-CN" sz="1500" baseline="-25000">
                <a:solidFill>
                  <a:schemeClr val="tx2"/>
                </a:solidFill>
                <a:latin typeface="Arial" panose="020B0604020202020204" pitchFamily="34" charset="0"/>
                <a:ea typeface="宋体" panose="02010600030101010101" pitchFamily="2" charset="-122"/>
              </a:endParaRPr>
            </a:p>
          </p:txBody>
        </p:sp>
      </p:grpSp>
      <p:sp>
        <p:nvSpPr>
          <p:cNvPr id="103448" name="Text Box 96">
            <a:extLst>
              <a:ext uri="{FF2B5EF4-FFF2-40B4-BE49-F238E27FC236}">
                <a16:creationId xmlns:a16="http://schemas.microsoft.com/office/drawing/2014/main" id="{1A40B155-35CB-1145-9661-30C25A0932F7}"/>
              </a:ext>
            </a:extLst>
          </p:cNvPr>
          <p:cNvSpPr txBox="1">
            <a:spLocks noChangeArrowheads="1"/>
          </p:cNvSpPr>
          <p:nvPr/>
        </p:nvSpPr>
        <p:spPr bwMode="auto">
          <a:xfrm>
            <a:off x="1209676" y="409217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时间</a:t>
            </a:r>
          </a:p>
        </p:txBody>
      </p:sp>
      <p:grpSp>
        <p:nvGrpSpPr>
          <p:cNvPr id="700515" name="Group 99">
            <a:extLst>
              <a:ext uri="{FF2B5EF4-FFF2-40B4-BE49-F238E27FC236}">
                <a16:creationId xmlns:a16="http://schemas.microsoft.com/office/drawing/2014/main" id="{432A1344-8EAF-6140-B9F4-E79E9FF6ECAC}"/>
              </a:ext>
            </a:extLst>
          </p:cNvPr>
          <p:cNvGrpSpPr>
            <a:grpSpLocks/>
          </p:cNvGrpSpPr>
          <p:nvPr/>
        </p:nvGrpSpPr>
        <p:grpSpPr bwMode="auto">
          <a:xfrm>
            <a:off x="1687117" y="2301479"/>
            <a:ext cx="3001565" cy="539353"/>
            <a:chOff x="457" y="1933"/>
            <a:chExt cx="2521" cy="453"/>
          </a:xfrm>
        </p:grpSpPr>
        <p:sp>
          <p:nvSpPr>
            <p:cNvPr id="700423" name="Line 7">
              <a:extLst>
                <a:ext uri="{FF2B5EF4-FFF2-40B4-BE49-F238E27FC236}">
                  <a16:creationId xmlns:a16="http://schemas.microsoft.com/office/drawing/2014/main" id="{8DA449E3-30E8-124B-83CD-EA81A683201C}"/>
                </a:ext>
              </a:extLst>
            </p:cNvPr>
            <p:cNvSpPr>
              <a:spLocks noChangeShapeType="1"/>
            </p:cNvSpPr>
            <p:nvPr/>
          </p:nvSpPr>
          <p:spPr bwMode="auto">
            <a:xfrm>
              <a:off x="457" y="2260"/>
              <a:ext cx="2521" cy="3"/>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52" name="Text Box 76">
              <a:extLst>
                <a:ext uri="{FF2B5EF4-FFF2-40B4-BE49-F238E27FC236}">
                  <a16:creationId xmlns:a16="http://schemas.microsoft.com/office/drawing/2014/main" id="{25CF939E-E59B-884A-AA52-5A4B1AA5D6E8}"/>
                </a:ext>
              </a:extLst>
            </p:cNvPr>
            <p:cNvSpPr txBox="1">
              <a:spLocks noChangeArrowheads="1"/>
            </p:cNvSpPr>
            <p:nvPr/>
          </p:nvSpPr>
          <p:spPr bwMode="auto">
            <a:xfrm>
              <a:off x="511" y="1933"/>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0513" name="Rectangle 97">
              <a:extLst>
                <a:ext uri="{FF2B5EF4-FFF2-40B4-BE49-F238E27FC236}">
                  <a16:creationId xmlns:a16="http://schemas.microsoft.com/office/drawing/2014/main" id="{80C1F50E-AD71-4140-80CB-F57DB5FF3F30}"/>
                </a:ext>
              </a:extLst>
            </p:cNvPr>
            <p:cNvSpPr>
              <a:spLocks noChangeArrowheads="1"/>
            </p:cNvSpPr>
            <p:nvPr/>
          </p:nvSpPr>
          <p:spPr bwMode="auto">
            <a:xfrm>
              <a:off x="1235" y="2126"/>
              <a:ext cx="619" cy="260"/>
            </a:xfrm>
            <a:prstGeom prst="rect">
              <a:avLst/>
            </a:prstGeom>
            <a:solidFill>
              <a:srgbClr val="66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tx2"/>
                  </a:solidFill>
                  <a:latin typeface="Arial" panose="020B0604020202020204" pitchFamily="34" charset="0"/>
                </a:rPr>
                <a:t>A, B</a:t>
              </a:r>
              <a:endParaRPr kumimoji="1" lang="en-US" altLang="zh-CN" sz="1500" baseline="-25000">
                <a:solidFill>
                  <a:schemeClr val="tx2"/>
                </a:solidFill>
                <a:latin typeface="Arial" panose="020B0604020202020204" pitchFamily="34" charset="0"/>
              </a:endParaRPr>
            </a:p>
          </p:txBody>
        </p:sp>
      </p:grpSp>
    </p:spTree>
    <p:extLst>
      <p:ext uri="{BB962C8B-B14F-4D97-AF65-F5344CB8AC3E}">
        <p14:creationId xmlns:p14="http://schemas.microsoft.com/office/powerpoint/2010/main" val="1985421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00515"/>
                                        </p:tgtEl>
                                        <p:attrNameLst>
                                          <p:attrName>style.visibility</p:attrName>
                                        </p:attrNameLst>
                                      </p:cBhvr>
                                      <p:to>
                                        <p:strVal val="visible"/>
                                      </p:to>
                                    </p:set>
                                    <p:animEffect transition="in" filter="wipe(left)">
                                      <p:cBhvr>
                                        <p:cTn id="7" dur="2000"/>
                                        <p:tgtEl>
                                          <p:spTgt spid="700515"/>
                                        </p:tgtEl>
                                      </p:cBhvr>
                                    </p:animEffect>
                                  </p:childTnLst>
                                </p:cTn>
                              </p:par>
                            </p:childTnLst>
                          </p:cTn>
                        </p:par>
                        <p:par>
                          <p:cTn id="8" fill="hold" nodeType="afterGroup">
                            <p:stCondLst>
                              <p:cond delay="2500"/>
                            </p:stCondLst>
                            <p:childTnLst>
                              <p:par>
                                <p:cTn id="9" presetID="22" presetClass="entr" presetSubtype="2" fill="hold" nodeType="afterEffect">
                                  <p:stCondLst>
                                    <p:cond delay="500"/>
                                  </p:stCondLst>
                                  <p:childTnLst>
                                    <p:set>
                                      <p:cBhvr>
                                        <p:cTn id="10" dur="1" fill="hold">
                                          <p:stCondLst>
                                            <p:cond delay="0"/>
                                          </p:stCondLst>
                                        </p:cTn>
                                        <p:tgtEl>
                                          <p:spTgt spid="700516"/>
                                        </p:tgtEl>
                                        <p:attrNameLst>
                                          <p:attrName>style.visibility</p:attrName>
                                        </p:attrNameLst>
                                      </p:cBhvr>
                                      <p:to>
                                        <p:strVal val="visible"/>
                                      </p:to>
                                    </p:set>
                                    <p:animEffect transition="in" filter="wipe(right)">
                                      <p:cBhvr>
                                        <p:cTn id="11" dur="2000"/>
                                        <p:tgtEl>
                                          <p:spTgt spid="700516"/>
                                        </p:tgtEl>
                                      </p:cBhvr>
                                    </p:animEffect>
                                  </p:childTnLst>
                                </p:cTn>
                              </p:par>
                            </p:childTnLst>
                          </p:cTn>
                        </p:par>
                        <p:par>
                          <p:cTn id="12" fill="hold" nodeType="afterGroup">
                            <p:stCondLst>
                              <p:cond delay="5000"/>
                            </p:stCondLst>
                            <p:childTnLst>
                              <p:par>
                                <p:cTn id="13" presetID="22" presetClass="entr" presetSubtype="8" fill="hold" nodeType="afterEffect">
                                  <p:stCondLst>
                                    <p:cond delay="500"/>
                                  </p:stCondLst>
                                  <p:childTnLst>
                                    <p:set>
                                      <p:cBhvr>
                                        <p:cTn id="14" dur="1" fill="hold">
                                          <p:stCondLst>
                                            <p:cond delay="0"/>
                                          </p:stCondLst>
                                        </p:cTn>
                                        <p:tgtEl>
                                          <p:spTgt spid="700517"/>
                                        </p:tgtEl>
                                        <p:attrNameLst>
                                          <p:attrName>style.visibility</p:attrName>
                                        </p:attrNameLst>
                                      </p:cBhvr>
                                      <p:to>
                                        <p:strVal val="visible"/>
                                      </p:to>
                                    </p:set>
                                    <p:animEffect transition="in" filter="wipe(left)">
                                      <p:cBhvr>
                                        <p:cTn id="15" dur="2000"/>
                                        <p:tgtEl>
                                          <p:spTgt spid="700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18" name="Rectangle 54">
            <a:extLst>
              <a:ext uri="{FF2B5EF4-FFF2-40B4-BE49-F238E27FC236}">
                <a16:creationId xmlns:a16="http://schemas.microsoft.com/office/drawing/2014/main" id="{791D9EF0-D0E1-5B4A-98F4-EA5DF282D21B}"/>
              </a:ext>
            </a:extLst>
          </p:cNvPr>
          <p:cNvSpPr>
            <a:spLocks noChangeArrowheads="1"/>
          </p:cNvSpPr>
          <p:nvPr/>
        </p:nvSpPr>
        <p:spPr bwMode="auto">
          <a:xfrm>
            <a:off x="4306491" y="195263"/>
            <a:ext cx="1321594" cy="940594"/>
          </a:xfrm>
          <a:prstGeom prst="rect">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473" name="Text Box 9">
            <a:extLst>
              <a:ext uri="{FF2B5EF4-FFF2-40B4-BE49-F238E27FC236}">
                <a16:creationId xmlns:a16="http://schemas.microsoft.com/office/drawing/2014/main" id="{848A7F91-0DDD-4B4C-9CBE-2FE6B0C97B9E}"/>
              </a:ext>
            </a:extLst>
          </p:cNvPr>
          <p:cNvSpPr txBox="1">
            <a:spLocks noChangeArrowheads="1"/>
          </p:cNvSpPr>
          <p:nvPr/>
        </p:nvSpPr>
        <p:spPr bwMode="auto">
          <a:xfrm>
            <a:off x="1709737" y="554831"/>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a:t>
            </a:r>
          </a:p>
        </p:txBody>
      </p:sp>
      <p:grpSp>
        <p:nvGrpSpPr>
          <p:cNvPr id="104451" name="Group 10">
            <a:extLst>
              <a:ext uri="{FF2B5EF4-FFF2-40B4-BE49-F238E27FC236}">
                <a16:creationId xmlns:a16="http://schemas.microsoft.com/office/drawing/2014/main" id="{63026948-2CAE-BF44-B518-5419A9B3F8AE}"/>
              </a:ext>
            </a:extLst>
          </p:cNvPr>
          <p:cNvGrpSpPr>
            <a:grpSpLocks/>
          </p:cNvGrpSpPr>
          <p:nvPr/>
        </p:nvGrpSpPr>
        <p:grpSpPr bwMode="auto">
          <a:xfrm>
            <a:off x="1325166" y="606029"/>
            <a:ext cx="414338" cy="410765"/>
            <a:chOff x="921" y="2412"/>
            <a:chExt cx="284" cy="265"/>
          </a:xfrm>
        </p:grpSpPr>
        <p:grpSp>
          <p:nvGrpSpPr>
            <p:cNvPr id="104519" name="Group 11">
              <a:extLst>
                <a:ext uri="{FF2B5EF4-FFF2-40B4-BE49-F238E27FC236}">
                  <a16:creationId xmlns:a16="http://schemas.microsoft.com/office/drawing/2014/main" id="{31C7159A-13D6-C74C-B6F2-CC906943B704}"/>
                </a:ext>
              </a:extLst>
            </p:cNvPr>
            <p:cNvGrpSpPr>
              <a:grpSpLocks/>
            </p:cNvGrpSpPr>
            <p:nvPr/>
          </p:nvGrpSpPr>
          <p:grpSpPr bwMode="auto">
            <a:xfrm>
              <a:off x="928" y="2417"/>
              <a:ext cx="277" cy="260"/>
              <a:chOff x="928" y="2417"/>
              <a:chExt cx="277" cy="260"/>
            </a:xfrm>
          </p:grpSpPr>
          <p:sp>
            <p:nvSpPr>
              <p:cNvPr id="104533" name="Freeform 12">
                <a:extLst>
                  <a:ext uri="{FF2B5EF4-FFF2-40B4-BE49-F238E27FC236}">
                    <a16:creationId xmlns:a16="http://schemas.microsoft.com/office/drawing/2014/main" id="{218CECD7-3FA6-5041-8685-9907F83799D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4" name="Freeform 13">
                <a:extLst>
                  <a:ext uri="{FF2B5EF4-FFF2-40B4-BE49-F238E27FC236}">
                    <a16:creationId xmlns:a16="http://schemas.microsoft.com/office/drawing/2014/main" id="{3147BE63-E7AE-A748-91D8-AC3A95EF0FC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5" name="Freeform 14">
                <a:extLst>
                  <a:ext uri="{FF2B5EF4-FFF2-40B4-BE49-F238E27FC236}">
                    <a16:creationId xmlns:a16="http://schemas.microsoft.com/office/drawing/2014/main" id="{9589698E-D04C-DB4C-B4C5-0F8CA0A56EAA}"/>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6" name="Freeform 15">
                <a:extLst>
                  <a:ext uri="{FF2B5EF4-FFF2-40B4-BE49-F238E27FC236}">
                    <a16:creationId xmlns:a16="http://schemas.microsoft.com/office/drawing/2014/main" id="{193FFEB1-DD3B-CA4E-8DF4-97BA4F75A43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7" name="Rectangle 16">
                <a:extLst>
                  <a:ext uri="{FF2B5EF4-FFF2-40B4-BE49-F238E27FC236}">
                    <a16:creationId xmlns:a16="http://schemas.microsoft.com/office/drawing/2014/main" id="{38F71288-2D46-8E4F-A9C0-C29B10BBEC5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38" name="Rectangle 17">
                <a:extLst>
                  <a:ext uri="{FF2B5EF4-FFF2-40B4-BE49-F238E27FC236}">
                    <a16:creationId xmlns:a16="http://schemas.microsoft.com/office/drawing/2014/main" id="{338A8F7F-9AA8-DB46-B67A-CA3B3396BD69}"/>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39" name="Rectangle 18">
                <a:extLst>
                  <a:ext uri="{FF2B5EF4-FFF2-40B4-BE49-F238E27FC236}">
                    <a16:creationId xmlns:a16="http://schemas.microsoft.com/office/drawing/2014/main" id="{F8379F2A-C2A7-CE4C-8D7B-0C755FB67113}"/>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40" name="Line 19">
                <a:extLst>
                  <a:ext uri="{FF2B5EF4-FFF2-40B4-BE49-F238E27FC236}">
                    <a16:creationId xmlns:a16="http://schemas.microsoft.com/office/drawing/2014/main" id="{B1CA647D-2751-0C49-8652-A25E9109510D}"/>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541" name="Group 20">
                <a:extLst>
                  <a:ext uri="{FF2B5EF4-FFF2-40B4-BE49-F238E27FC236}">
                    <a16:creationId xmlns:a16="http://schemas.microsoft.com/office/drawing/2014/main" id="{D191893C-83DC-6D43-AB88-69F0FDBB7B70}"/>
                  </a:ext>
                </a:extLst>
              </p:cNvPr>
              <p:cNvGrpSpPr>
                <a:grpSpLocks/>
              </p:cNvGrpSpPr>
              <p:nvPr/>
            </p:nvGrpSpPr>
            <p:grpSpPr bwMode="auto">
              <a:xfrm>
                <a:off x="928" y="2639"/>
                <a:ext cx="277" cy="38"/>
                <a:chOff x="928" y="2639"/>
                <a:chExt cx="277" cy="38"/>
              </a:xfrm>
            </p:grpSpPr>
            <p:sp>
              <p:nvSpPr>
                <p:cNvPr id="104542" name="Freeform 21">
                  <a:extLst>
                    <a:ext uri="{FF2B5EF4-FFF2-40B4-BE49-F238E27FC236}">
                      <a16:creationId xmlns:a16="http://schemas.microsoft.com/office/drawing/2014/main" id="{9DBBBF5E-23AC-9F4F-A7B7-411C1FC96B19}"/>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43" name="Freeform 22">
                  <a:extLst>
                    <a:ext uri="{FF2B5EF4-FFF2-40B4-BE49-F238E27FC236}">
                      <a16:creationId xmlns:a16="http://schemas.microsoft.com/office/drawing/2014/main" id="{4D8019F6-D178-2D4F-B0EB-5913800B676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44" name="Rectangle 23">
                  <a:extLst>
                    <a:ext uri="{FF2B5EF4-FFF2-40B4-BE49-F238E27FC236}">
                      <a16:creationId xmlns:a16="http://schemas.microsoft.com/office/drawing/2014/main" id="{FBA07D56-3EBB-FF44-8B2F-4BE500DB915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4520" name="Group 24">
              <a:extLst>
                <a:ext uri="{FF2B5EF4-FFF2-40B4-BE49-F238E27FC236}">
                  <a16:creationId xmlns:a16="http://schemas.microsoft.com/office/drawing/2014/main" id="{FC409BA4-4BAF-9C46-A534-17F989FCC10B}"/>
                </a:ext>
              </a:extLst>
            </p:cNvPr>
            <p:cNvGrpSpPr>
              <a:grpSpLocks/>
            </p:cNvGrpSpPr>
            <p:nvPr/>
          </p:nvGrpSpPr>
          <p:grpSpPr bwMode="auto">
            <a:xfrm>
              <a:off x="921" y="2412"/>
              <a:ext cx="277" cy="261"/>
              <a:chOff x="921" y="2412"/>
              <a:chExt cx="277" cy="261"/>
            </a:xfrm>
          </p:grpSpPr>
          <p:sp>
            <p:nvSpPr>
              <p:cNvPr id="104521" name="Freeform 25">
                <a:extLst>
                  <a:ext uri="{FF2B5EF4-FFF2-40B4-BE49-F238E27FC236}">
                    <a16:creationId xmlns:a16="http://schemas.microsoft.com/office/drawing/2014/main" id="{100480FB-09BB-4B44-8930-61D701FF629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2" name="Freeform 26">
                <a:extLst>
                  <a:ext uri="{FF2B5EF4-FFF2-40B4-BE49-F238E27FC236}">
                    <a16:creationId xmlns:a16="http://schemas.microsoft.com/office/drawing/2014/main" id="{E40D24DD-4B49-DF45-932E-016B3169F69A}"/>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3" name="Freeform 27">
                <a:extLst>
                  <a:ext uri="{FF2B5EF4-FFF2-40B4-BE49-F238E27FC236}">
                    <a16:creationId xmlns:a16="http://schemas.microsoft.com/office/drawing/2014/main" id="{1A2BDF19-4A51-D740-8288-7C6BACB801A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4" name="Freeform 28">
                <a:extLst>
                  <a:ext uri="{FF2B5EF4-FFF2-40B4-BE49-F238E27FC236}">
                    <a16:creationId xmlns:a16="http://schemas.microsoft.com/office/drawing/2014/main" id="{739F8679-182B-984E-BF15-610B2B6A658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5" name="Rectangle 29">
                <a:extLst>
                  <a:ext uri="{FF2B5EF4-FFF2-40B4-BE49-F238E27FC236}">
                    <a16:creationId xmlns:a16="http://schemas.microsoft.com/office/drawing/2014/main" id="{53971046-25E9-E444-838C-D9B13BA2910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6" name="Rectangle 30">
                <a:extLst>
                  <a:ext uri="{FF2B5EF4-FFF2-40B4-BE49-F238E27FC236}">
                    <a16:creationId xmlns:a16="http://schemas.microsoft.com/office/drawing/2014/main" id="{EEA5B6A9-B7D6-4F45-847F-CB092B4C8B5F}"/>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7" name="Rectangle 31">
                <a:extLst>
                  <a:ext uri="{FF2B5EF4-FFF2-40B4-BE49-F238E27FC236}">
                    <a16:creationId xmlns:a16="http://schemas.microsoft.com/office/drawing/2014/main" id="{A1468F12-6BE4-E94B-A480-91DBB0091AA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8" name="Line 32">
                <a:extLst>
                  <a:ext uri="{FF2B5EF4-FFF2-40B4-BE49-F238E27FC236}">
                    <a16:creationId xmlns:a16="http://schemas.microsoft.com/office/drawing/2014/main" id="{7F0620BA-1C73-774C-84C4-E828C7D9ADD4}"/>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529" name="Group 33">
                <a:extLst>
                  <a:ext uri="{FF2B5EF4-FFF2-40B4-BE49-F238E27FC236}">
                    <a16:creationId xmlns:a16="http://schemas.microsoft.com/office/drawing/2014/main" id="{B116CB76-37EC-CE4E-A3FC-C996B469D39E}"/>
                  </a:ext>
                </a:extLst>
              </p:cNvPr>
              <p:cNvGrpSpPr>
                <a:grpSpLocks/>
              </p:cNvGrpSpPr>
              <p:nvPr/>
            </p:nvGrpSpPr>
            <p:grpSpPr bwMode="auto">
              <a:xfrm>
                <a:off x="921" y="2635"/>
                <a:ext cx="277" cy="38"/>
                <a:chOff x="921" y="2635"/>
                <a:chExt cx="277" cy="38"/>
              </a:xfrm>
            </p:grpSpPr>
            <p:sp>
              <p:nvSpPr>
                <p:cNvPr id="104530" name="Freeform 34">
                  <a:extLst>
                    <a:ext uri="{FF2B5EF4-FFF2-40B4-BE49-F238E27FC236}">
                      <a16:creationId xmlns:a16="http://schemas.microsoft.com/office/drawing/2014/main" id="{2FDBFF2F-99C9-D04B-B1E0-D4622432F09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1" name="Freeform 35">
                  <a:extLst>
                    <a:ext uri="{FF2B5EF4-FFF2-40B4-BE49-F238E27FC236}">
                      <a16:creationId xmlns:a16="http://schemas.microsoft.com/office/drawing/2014/main" id="{910318F0-7FCF-F94D-AF81-14BB93DC033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2" name="Rectangle 36">
                  <a:extLst>
                    <a:ext uri="{FF2B5EF4-FFF2-40B4-BE49-F238E27FC236}">
                      <a16:creationId xmlns:a16="http://schemas.microsoft.com/office/drawing/2014/main" id="{12B44716-6AE5-8E4B-A075-ADAAE9CD0B48}"/>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702501" name="Text Box 37">
            <a:extLst>
              <a:ext uri="{FF2B5EF4-FFF2-40B4-BE49-F238E27FC236}">
                <a16:creationId xmlns:a16="http://schemas.microsoft.com/office/drawing/2014/main" id="{6CFD1150-9C45-9D42-845F-1AA4536D3786}"/>
              </a:ext>
            </a:extLst>
          </p:cNvPr>
          <p:cNvSpPr txBox="1">
            <a:spLocks noChangeArrowheads="1"/>
          </p:cNvSpPr>
          <p:nvPr/>
        </p:nvSpPr>
        <p:spPr bwMode="auto">
          <a:xfrm>
            <a:off x="7019925" y="352425"/>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B</a:t>
            </a:r>
          </a:p>
        </p:txBody>
      </p:sp>
      <p:sp>
        <p:nvSpPr>
          <p:cNvPr id="702502" name="Line 38">
            <a:extLst>
              <a:ext uri="{FF2B5EF4-FFF2-40B4-BE49-F238E27FC236}">
                <a16:creationId xmlns:a16="http://schemas.microsoft.com/office/drawing/2014/main" id="{502676A8-E16C-824F-B5F4-387442A483A2}"/>
              </a:ext>
            </a:extLst>
          </p:cNvPr>
          <p:cNvSpPr>
            <a:spLocks noChangeShapeType="1"/>
          </p:cNvSpPr>
          <p:nvPr/>
        </p:nvSpPr>
        <p:spPr bwMode="auto">
          <a:xfrm rot="16200000" flipH="1">
            <a:off x="-375047" y="2974182"/>
            <a:ext cx="3815954" cy="20240"/>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3" name="Line 39">
            <a:extLst>
              <a:ext uri="{FF2B5EF4-FFF2-40B4-BE49-F238E27FC236}">
                <a16:creationId xmlns:a16="http://schemas.microsoft.com/office/drawing/2014/main" id="{9AA85E73-605F-3D44-AD45-30CC667B28C4}"/>
              </a:ext>
            </a:extLst>
          </p:cNvPr>
          <p:cNvSpPr>
            <a:spLocks noChangeShapeType="1"/>
          </p:cNvSpPr>
          <p:nvPr/>
        </p:nvSpPr>
        <p:spPr bwMode="auto">
          <a:xfrm rot="16200000" flipH="1">
            <a:off x="5609630" y="3006924"/>
            <a:ext cx="3881438" cy="1190"/>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8" name="Line 44">
            <a:extLst>
              <a:ext uri="{FF2B5EF4-FFF2-40B4-BE49-F238E27FC236}">
                <a16:creationId xmlns:a16="http://schemas.microsoft.com/office/drawing/2014/main" id="{4A5F4944-EDB7-3B4E-9C98-27F4B79C249A}"/>
              </a:ext>
            </a:extLst>
          </p:cNvPr>
          <p:cNvSpPr>
            <a:spLocks noChangeShapeType="1"/>
          </p:cNvSpPr>
          <p:nvPr/>
        </p:nvSpPr>
        <p:spPr bwMode="auto">
          <a:xfrm rot="5400000">
            <a:off x="4195763" y="1562101"/>
            <a:ext cx="854869" cy="2381"/>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9" name="Text Box 45">
            <a:extLst>
              <a:ext uri="{FF2B5EF4-FFF2-40B4-BE49-F238E27FC236}">
                <a16:creationId xmlns:a16="http://schemas.microsoft.com/office/drawing/2014/main" id="{91CAB3EE-5217-584F-80DD-EE0E68D1CAC1}"/>
              </a:ext>
            </a:extLst>
          </p:cNvPr>
          <p:cNvSpPr txBox="1">
            <a:spLocks noChangeArrowheads="1"/>
          </p:cNvSpPr>
          <p:nvPr/>
        </p:nvSpPr>
        <p:spPr bwMode="auto">
          <a:xfrm>
            <a:off x="3194821" y="176213"/>
            <a:ext cx="1120821" cy="369332"/>
          </a:xfrm>
          <a:prstGeom prst="rect">
            <a:avLst/>
          </a:prstGeom>
          <a:noFill/>
          <a:ln>
            <a:noFill/>
          </a:ln>
          <a:effectLst/>
        </p:spPr>
        <p:txBody>
          <a:bodyPr wrap="none">
            <a:spAutoFit/>
          </a:bodyPr>
          <a:lstStyle/>
          <a:p>
            <a:pPr algn="ctr" eaLnBrk="1" hangingPunct="1">
              <a:defRPr/>
            </a:pPr>
            <a:r>
              <a:rPr kumimoji="1" lang="en-US" altLang="zh-CN">
                <a:solidFill>
                  <a:schemeClr val="tx2"/>
                </a:solidFill>
                <a:latin typeface="Arial" charset="0"/>
                <a:ea typeface="黑体" charset="-122"/>
              </a:rPr>
              <a:t>Kerberos</a:t>
            </a:r>
          </a:p>
        </p:txBody>
      </p:sp>
      <p:grpSp>
        <p:nvGrpSpPr>
          <p:cNvPr id="702559" name="Group 95">
            <a:extLst>
              <a:ext uri="{FF2B5EF4-FFF2-40B4-BE49-F238E27FC236}">
                <a16:creationId xmlns:a16="http://schemas.microsoft.com/office/drawing/2014/main" id="{065CD052-C129-5241-ADAF-0599C2FB3D84}"/>
              </a:ext>
            </a:extLst>
          </p:cNvPr>
          <p:cNvGrpSpPr>
            <a:grpSpLocks/>
          </p:cNvGrpSpPr>
          <p:nvPr/>
        </p:nvGrpSpPr>
        <p:grpSpPr bwMode="auto">
          <a:xfrm>
            <a:off x="1515666" y="895350"/>
            <a:ext cx="3108722" cy="475060"/>
            <a:chOff x="313" y="752"/>
            <a:chExt cx="2611" cy="399"/>
          </a:xfrm>
        </p:grpSpPr>
        <p:sp>
          <p:nvSpPr>
            <p:cNvPr id="702472" name="Line 8">
              <a:extLst>
                <a:ext uri="{FF2B5EF4-FFF2-40B4-BE49-F238E27FC236}">
                  <a16:creationId xmlns:a16="http://schemas.microsoft.com/office/drawing/2014/main" id="{69E5527C-3760-0848-8305-CC1BC78787B4}"/>
                </a:ext>
              </a:extLst>
            </p:cNvPr>
            <p:cNvSpPr>
              <a:spLocks noChangeShapeType="1"/>
            </p:cNvSpPr>
            <p:nvPr/>
          </p:nvSpPr>
          <p:spPr bwMode="auto">
            <a:xfrm>
              <a:off x="316" y="1050"/>
              <a:ext cx="2608" cy="2"/>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5" name="Rectangle 41">
              <a:extLst>
                <a:ext uri="{FF2B5EF4-FFF2-40B4-BE49-F238E27FC236}">
                  <a16:creationId xmlns:a16="http://schemas.microsoft.com/office/drawing/2014/main" id="{4869F5D9-A2B1-C848-8838-F179E33457BA}"/>
                </a:ext>
              </a:extLst>
            </p:cNvPr>
            <p:cNvSpPr>
              <a:spLocks noChangeArrowheads="1"/>
            </p:cNvSpPr>
            <p:nvPr/>
          </p:nvSpPr>
          <p:spPr bwMode="auto">
            <a:xfrm>
              <a:off x="1461" y="937"/>
              <a:ext cx="324" cy="214"/>
            </a:xfrm>
            <a:prstGeom prst="rect">
              <a:avLst/>
            </a:prstGeom>
            <a:solidFill>
              <a:srgbClr val="CCEC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A</a:t>
              </a:r>
              <a:endParaRPr kumimoji="1" lang="en-US" altLang="zh-CN" sz="1350" baseline="-25000">
                <a:solidFill>
                  <a:schemeClr val="tx2"/>
                </a:solidFill>
                <a:latin typeface="Arial" panose="020B0604020202020204" pitchFamily="34" charset="0"/>
              </a:endParaRPr>
            </a:p>
          </p:txBody>
        </p:sp>
        <p:sp>
          <p:nvSpPr>
            <p:cNvPr id="104518" name="Text Box 46">
              <a:extLst>
                <a:ext uri="{FF2B5EF4-FFF2-40B4-BE49-F238E27FC236}">
                  <a16:creationId xmlns:a16="http://schemas.microsoft.com/office/drawing/2014/main" id="{5E1A94B2-BD27-5046-A295-0445DB4372E3}"/>
                </a:ext>
              </a:extLst>
            </p:cNvPr>
            <p:cNvSpPr txBox="1">
              <a:spLocks noChangeArrowheads="1"/>
            </p:cNvSpPr>
            <p:nvPr/>
          </p:nvSpPr>
          <p:spPr bwMode="auto">
            <a:xfrm>
              <a:off x="313" y="752"/>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grpSp>
      <p:pic>
        <p:nvPicPr>
          <p:cNvPr id="104458" name="Picture 51">
            <a:extLst>
              <a:ext uri="{FF2B5EF4-FFF2-40B4-BE49-F238E27FC236}">
                <a16:creationId xmlns:a16="http://schemas.microsoft.com/office/drawing/2014/main" id="{84EB7A9F-152D-7744-9A3B-392FD1A25E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6516" y="544116"/>
            <a:ext cx="236934"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9" name="Picture 52">
            <a:extLst>
              <a:ext uri="{FF2B5EF4-FFF2-40B4-BE49-F238E27FC236}">
                <a16:creationId xmlns:a16="http://schemas.microsoft.com/office/drawing/2014/main" id="{BCD8C919-32E3-DE49-9BA6-9FB7EDF617A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7067" y="489348"/>
            <a:ext cx="353615" cy="5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17" name="Line 53">
            <a:extLst>
              <a:ext uri="{FF2B5EF4-FFF2-40B4-BE49-F238E27FC236}">
                <a16:creationId xmlns:a16="http://schemas.microsoft.com/office/drawing/2014/main" id="{0D2E20D7-49DF-704A-9BC4-24610347A8F3}"/>
              </a:ext>
            </a:extLst>
          </p:cNvPr>
          <p:cNvSpPr>
            <a:spLocks noChangeShapeType="1"/>
          </p:cNvSpPr>
          <p:nvPr/>
        </p:nvSpPr>
        <p:spPr bwMode="auto">
          <a:xfrm rot="16200000" flipH="1">
            <a:off x="4149328" y="2244328"/>
            <a:ext cx="2233613" cy="16669"/>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19" name="Text Box 55">
            <a:extLst>
              <a:ext uri="{FF2B5EF4-FFF2-40B4-BE49-F238E27FC236}">
                <a16:creationId xmlns:a16="http://schemas.microsoft.com/office/drawing/2014/main" id="{078B76E6-F471-8A4B-86F7-A98C8C9EC91C}"/>
              </a:ext>
            </a:extLst>
          </p:cNvPr>
          <p:cNvSpPr txBox="1">
            <a:spLocks noChangeArrowheads="1"/>
          </p:cNvSpPr>
          <p:nvPr/>
        </p:nvSpPr>
        <p:spPr bwMode="auto">
          <a:xfrm>
            <a:off x="4414257" y="294085"/>
            <a:ext cx="415499" cy="300082"/>
          </a:xfrm>
          <a:prstGeom prst="rect">
            <a:avLst/>
          </a:prstGeom>
          <a:noFill/>
          <a:ln>
            <a:noFill/>
          </a:ln>
          <a:effectLst/>
        </p:spPr>
        <p:txBody>
          <a:bodyPr wrap="none">
            <a:spAutoFit/>
          </a:bodyPr>
          <a:lstStyle/>
          <a:p>
            <a:pPr algn="ctr" eaLnBrk="1" hangingPunct="1">
              <a:defRPr/>
            </a:pPr>
            <a:r>
              <a:rPr kumimoji="1" lang="en-US" altLang="zh-CN" sz="1350">
                <a:solidFill>
                  <a:schemeClr val="tx2"/>
                </a:solidFill>
                <a:latin typeface="Arial" charset="0"/>
                <a:ea typeface="黑体" charset="-122"/>
              </a:rPr>
              <a:t>AS</a:t>
            </a:r>
          </a:p>
        </p:txBody>
      </p:sp>
      <p:sp>
        <p:nvSpPr>
          <p:cNvPr id="702520" name="Text Box 56">
            <a:extLst>
              <a:ext uri="{FF2B5EF4-FFF2-40B4-BE49-F238E27FC236}">
                <a16:creationId xmlns:a16="http://schemas.microsoft.com/office/drawing/2014/main" id="{57EDA985-F1C4-584A-8BEB-3E2F46239215}"/>
              </a:ext>
            </a:extLst>
          </p:cNvPr>
          <p:cNvSpPr txBox="1">
            <a:spLocks noChangeArrowheads="1"/>
          </p:cNvSpPr>
          <p:nvPr/>
        </p:nvSpPr>
        <p:spPr bwMode="auto">
          <a:xfrm>
            <a:off x="5007774" y="234553"/>
            <a:ext cx="540534" cy="300082"/>
          </a:xfrm>
          <a:prstGeom prst="rect">
            <a:avLst/>
          </a:prstGeom>
          <a:noFill/>
          <a:ln>
            <a:noFill/>
          </a:ln>
          <a:effectLst/>
        </p:spPr>
        <p:txBody>
          <a:bodyPr wrap="none">
            <a:spAutoFit/>
          </a:bodyPr>
          <a:lstStyle/>
          <a:p>
            <a:pPr algn="ctr" eaLnBrk="1" hangingPunct="1">
              <a:defRPr/>
            </a:pPr>
            <a:r>
              <a:rPr kumimoji="1" lang="en-US" altLang="zh-CN" sz="1350">
                <a:solidFill>
                  <a:schemeClr val="tx2"/>
                </a:solidFill>
                <a:latin typeface="Arial" charset="0"/>
                <a:ea typeface="黑体" charset="-122"/>
              </a:rPr>
              <a:t>TGS</a:t>
            </a:r>
          </a:p>
        </p:txBody>
      </p:sp>
      <p:grpSp>
        <p:nvGrpSpPr>
          <p:cNvPr id="702563" name="Group 99">
            <a:extLst>
              <a:ext uri="{FF2B5EF4-FFF2-40B4-BE49-F238E27FC236}">
                <a16:creationId xmlns:a16="http://schemas.microsoft.com/office/drawing/2014/main" id="{5A55603E-E479-7F48-A5E9-C589CEFEB7C2}"/>
              </a:ext>
            </a:extLst>
          </p:cNvPr>
          <p:cNvGrpSpPr>
            <a:grpSpLocks/>
          </p:cNvGrpSpPr>
          <p:nvPr/>
        </p:nvGrpSpPr>
        <p:grpSpPr bwMode="auto">
          <a:xfrm>
            <a:off x="1491854" y="3596879"/>
            <a:ext cx="6084094" cy="654844"/>
            <a:chOff x="293" y="3021"/>
            <a:chExt cx="5110" cy="550"/>
          </a:xfrm>
        </p:grpSpPr>
        <p:sp>
          <p:nvSpPr>
            <p:cNvPr id="702538" name="Line 74">
              <a:extLst>
                <a:ext uri="{FF2B5EF4-FFF2-40B4-BE49-F238E27FC236}">
                  <a16:creationId xmlns:a16="http://schemas.microsoft.com/office/drawing/2014/main" id="{5580A283-E655-5D40-BC3D-B9D769B4D8F7}"/>
                </a:ext>
              </a:extLst>
            </p:cNvPr>
            <p:cNvSpPr>
              <a:spLocks noChangeShapeType="1"/>
            </p:cNvSpPr>
            <p:nvPr/>
          </p:nvSpPr>
          <p:spPr bwMode="auto">
            <a:xfrm flipV="1">
              <a:off x="334" y="3324"/>
              <a:ext cx="5069" cy="18"/>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39" name="Rectangle 75">
              <a:extLst>
                <a:ext uri="{FF2B5EF4-FFF2-40B4-BE49-F238E27FC236}">
                  <a16:creationId xmlns:a16="http://schemas.microsoft.com/office/drawing/2014/main" id="{4C90E6E4-E921-D14B-B040-E62DB3336463}"/>
                </a:ext>
              </a:extLst>
            </p:cNvPr>
            <p:cNvSpPr>
              <a:spLocks noChangeArrowheads="1"/>
            </p:cNvSpPr>
            <p:nvPr/>
          </p:nvSpPr>
          <p:spPr bwMode="auto">
            <a:xfrm>
              <a:off x="1884" y="3111"/>
              <a:ext cx="1933"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40" name="Rectangle 76">
              <a:extLst>
                <a:ext uri="{FF2B5EF4-FFF2-40B4-BE49-F238E27FC236}">
                  <a16:creationId xmlns:a16="http://schemas.microsoft.com/office/drawing/2014/main" id="{2612D570-6A0E-E540-B3F3-C0C0E4DC410A}"/>
                </a:ext>
              </a:extLst>
            </p:cNvPr>
            <p:cNvSpPr>
              <a:spLocks noChangeArrowheads="1"/>
            </p:cNvSpPr>
            <p:nvPr/>
          </p:nvSpPr>
          <p:spPr bwMode="auto">
            <a:xfrm>
              <a:off x="2429" y="3324"/>
              <a:ext cx="275" cy="197"/>
            </a:xfrm>
            <a:prstGeom prst="rect">
              <a:avLst/>
            </a:prstGeom>
            <a:solidFill>
              <a:srgbClr val="CC99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a:t>
              </a:r>
              <a:endParaRPr kumimoji="1" lang="en-US" altLang="zh-CN" sz="1350" i="1" baseline="-25000">
                <a:solidFill>
                  <a:schemeClr val="tx2"/>
                </a:solidFill>
                <a:latin typeface="Arial" panose="020B0604020202020204" pitchFamily="34" charset="0"/>
              </a:endParaRPr>
            </a:p>
          </p:txBody>
        </p:sp>
        <p:sp>
          <p:nvSpPr>
            <p:cNvPr id="702541" name="Text Box 77">
              <a:extLst>
                <a:ext uri="{FF2B5EF4-FFF2-40B4-BE49-F238E27FC236}">
                  <a16:creationId xmlns:a16="http://schemas.microsoft.com/office/drawing/2014/main" id="{86D2C5C7-2B33-7D44-9FD5-F40155A30E36}"/>
                </a:ext>
              </a:extLst>
            </p:cNvPr>
            <p:cNvSpPr txBox="1">
              <a:spLocks noChangeArrowheads="1"/>
            </p:cNvSpPr>
            <p:nvPr/>
          </p:nvSpPr>
          <p:spPr bwMode="auto">
            <a:xfrm>
              <a:off x="1943" y="3077"/>
              <a:ext cx="381"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AB</a:t>
              </a:r>
            </a:p>
          </p:txBody>
        </p:sp>
        <p:pic>
          <p:nvPicPr>
            <p:cNvPr id="104510" name="Picture 78">
              <a:extLst>
                <a:ext uri="{FF2B5EF4-FFF2-40B4-BE49-F238E27FC236}">
                  <a16:creationId xmlns:a16="http://schemas.microsoft.com/office/drawing/2014/main" id="{E648282D-91CF-1348-BA63-E7119B4965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 y="3132"/>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43" name="Text Box 79">
              <a:extLst>
                <a:ext uri="{FF2B5EF4-FFF2-40B4-BE49-F238E27FC236}">
                  <a16:creationId xmlns:a16="http://schemas.microsoft.com/office/drawing/2014/main" id="{D28DF67F-21C0-6142-AB2D-D0592C9F5D55}"/>
                </a:ext>
              </a:extLst>
            </p:cNvPr>
            <p:cNvSpPr txBox="1">
              <a:spLocks noChangeArrowheads="1"/>
            </p:cNvSpPr>
            <p:nvPr/>
          </p:nvSpPr>
          <p:spPr bwMode="auto">
            <a:xfrm>
              <a:off x="2678" y="3308"/>
              <a:ext cx="236"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a:t>
              </a:r>
            </a:p>
          </p:txBody>
        </p:sp>
        <p:sp>
          <p:nvSpPr>
            <p:cNvPr id="104512" name="Text Box 80">
              <a:extLst>
                <a:ext uri="{FF2B5EF4-FFF2-40B4-BE49-F238E27FC236}">
                  <a16:creationId xmlns:a16="http://schemas.microsoft.com/office/drawing/2014/main" id="{F2D537B0-56A1-D04C-B3AC-F3EF900AB8BA}"/>
                </a:ext>
              </a:extLst>
            </p:cNvPr>
            <p:cNvSpPr txBox="1">
              <a:spLocks noChangeArrowheads="1"/>
            </p:cNvSpPr>
            <p:nvPr/>
          </p:nvSpPr>
          <p:spPr bwMode="auto">
            <a:xfrm>
              <a:off x="293" y="3021"/>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45" name="Rectangle 81">
              <a:extLst>
                <a:ext uri="{FF2B5EF4-FFF2-40B4-BE49-F238E27FC236}">
                  <a16:creationId xmlns:a16="http://schemas.microsoft.com/office/drawing/2014/main" id="{CDD80D55-C555-494D-9B79-A7DAF398AA03}"/>
                </a:ext>
              </a:extLst>
            </p:cNvPr>
            <p:cNvSpPr>
              <a:spLocks noChangeArrowheads="1"/>
            </p:cNvSpPr>
            <p:nvPr/>
          </p:nvSpPr>
          <p:spPr bwMode="auto">
            <a:xfrm>
              <a:off x="3223" y="3324"/>
              <a:ext cx="522" cy="197"/>
            </a:xfrm>
            <a:prstGeom prst="rect">
              <a:avLst/>
            </a:prstGeom>
            <a:solidFill>
              <a:srgbClr val="FFCCCC"/>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sp>
          <p:nvSpPr>
            <p:cNvPr id="702546" name="Text Box 82">
              <a:extLst>
                <a:ext uri="{FF2B5EF4-FFF2-40B4-BE49-F238E27FC236}">
                  <a16:creationId xmlns:a16="http://schemas.microsoft.com/office/drawing/2014/main" id="{52096FFF-FD11-D24A-B2D0-091B6ED11CCF}"/>
                </a:ext>
              </a:extLst>
            </p:cNvPr>
            <p:cNvSpPr txBox="1">
              <a:spLocks noChangeArrowheads="1"/>
            </p:cNvSpPr>
            <p:nvPr/>
          </p:nvSpPr>
          <p:spPr bwMode="auto">
            <a:xfrm>
              <a:off x="2776" y="3081"/>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B</a:t>
              </a:r>
            </a:p>
          </p:txBody>
        </p:sp>
        <p:pic>
          <p:nvPicPr>
            <p:cNvPr id="104515" name="Picture 83">
              <a:extLst>
                <a:ext uri="{FF2B5EF4-FFF2-40B4-BE49-F238E27FC236}">
                  <a16:creationId xmlns:a16="http://schemas.microsoft.com/office/drawing/2014/main" id="{141C7921-B548-DB42-9D09-8155BDF544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8" y="3127"/>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2564" name="Group 100">
            <a:extLst>
              <a:ext uri="{FF2B5EF4-FFF2-40B4-BE49-F238E27FC236}">
                <a16:creationId xmlns:a16="http://schemas.microsoft.com/office/drawing/2014/main" id="{39A8069F-3DC8-AD47-A302-415FBC9D0458}"/>
              </a:ext>
            </a:extLst>
          </p:cNvPr>
          <p:cNvGrpSpPr>
            <a:grpSpLocks/>
          </p:cNvGrpSpPr>
          <p:nvPr/>
        </p:nvGrpSpPr>
        <p:grpSpPr bwMode="auto">
          <a:xfrm>
            <a:off x="1540669" y="4296967"/>
            <a:ext cx="6081713" cy="640556"/>
            <a:chOff x="334" y="3609"/>
            <a:chExt cx="5108" cy="538"/>
          </a:xfrm>
        </p:grpSpPr>
        <p:sp>
          <p:nvSpPr>
            <p:cNvPr id="702469" name="Line 5">
              <a:extLst>
                <a:ext uri="{FF2B5EF4-FFF2-40B4-BE49-F238E27FC236}">
                  <a16:creationId xmlns:a16="http://schemas.microsoft.com/office/drawing/2014/main" id="{6DCF0C94-A9FE-4746-9A67-6C536F2B0C51}"/>
                </a:ext>
              </a:extLst>
            </p:cNvPr>
            <p:cNvSpPr>
              <a:spLocks noChangeShapeType="1"/>
            </p:cNvSpPr>
            <p:nvPr/>
          </p:nvSpPr>
          <p:spPr bwMode="auto">
            <a:xfrm flipH="1" flipV="1">
              <a:off x="334" y="3899"/>
              <a:ext cx="5043" cy="18"/>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48" name="Rectangle 84">
              <a:extLst>
                <a:ext uri="{FF2B5EF4-FFF2-40B4-BE49-F238E27FC236}">
                  <a16:creationId xmlns:a16="http://schemas.microsoft.com/office/drawing/2014/main" id="{E70D80FB-2198-0F4E-8355-C9FE48A6B259}"/>
                </a:ext>
              </a:extLst>
            </p:cNvPr>
            <p:cNvSpPr>
              <a:spLocks noChangeArrowheads="1"/>
            </p:cNvSpPr>
            <p:nvPr/>
          </p:nvSpPr>
          <p:spPr bwMode="auto">
            <a:xfrm>
              <a:off x="2232" y="3687"/>
              <a:ext cx="1139"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49" name="Rectangle 85">
              <a:extLst>
                <a:ext uri="{FF2B5EF4-FFF2-40B4-BE49-F238E27FC236}">
                  <a16:creationId xmlns:a16="http://schemas.microsoft.com/office/drawing/2014/main" id="{20CA9507-17DA-6946-A6CF-0627A846BE65}"/>
                </a:ext>
              </a:extLst>
            </p:cNvPr>
            <p:cNvSpPr>
              <a:spLocks noChangeArrowheads="1"/>
            </p:cNvSpPr>
            <p:nvPr/>
          </p:nvSpPr>
          <p:spPr bwMode="auto">
            <a:xfrm>
              <a:off x="2827" y="3900"/>
              <a:ext cx="446" cy="197"/>
            </a:xfrm>
            <a:prstGeom prst="rect">
              <a:avLst/>
            </a:prstGeom>
            <a:solidFill>
              <a:srgbClr val="CC66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 </a:t>
              </a:r>
              <a:r>
                <a:rPr kumimoji="1" lang="en-US" altLang="zh-CN" sz="1350">
                  <a:solidFill>
                    <a:schemeClr val="tx2"/>
                  </a:solidFill>
                  <a:latin typeface="Arial" panose="020B0604020202020204" pitchFamily="34" charset="0"/>
                </a:rPr>
                <a:t>+ 1</a:t>
              </a:r>
              <a:endParaRPr kumimoji="1" lang="en-US" altLang="zh-CN" sz="1350" i="1" baseline="-25000">
                <a:solidFill>
                  <a:schemeClr val="tx2"/>
                </a:solidFill>
                <a:latin typeface="Arial" panose="020B0604020202020204" pitchFamily="34" charset="0"/>
              </a:endParaRPr>
            </a:p>
          </p:txBody>
        </p:sp>
        <p:sp>
          <p:nvSpPr>
            <p:cNvPr id="702550" name="Text Box 86">
              <a:extLst>
                <a:ext uri="{FF2B5EF4-FFF2-40B4-BE49-F238E27FC236}">
                  <a16:creationId xmlns:a16="http://schemas.microsoft.com/office/drawing/2014/main" id="{F94CEA9E-350C-304C-82AB-952648D36E7D}"/>
                </a:ext>
              </a:extLst>
            </p:cNvPr>
            <p:cNvSpPr txBox="1">
              <a:spLocks noChangeArrowheads="1"/>
            </p:cNvSpPr>
            <p:nvPr/>
          </p:nvSpPr>
          <p:spPr bwMode="auto">
            <a:xfrm>
              <a:off x="2340" y="3653"/>
              <a:ext cx="381"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AB</a:t>
              </a:r>
            </a:p>
          </p:txBody>
        </p:sp>
        <p:pic>
          <p:nvPicPr>
            <p:cNvPr id="104504" name="Picture 87">
              <a:extLst>
                <a:ext uri="{FF2B5EF4-FFF2-40B4-BE49-F238E27FC236}">
                  <a16:creationId xmlns:a16="http://schemas.microsoft.com/office/drawing/2014/main" id="{609C93BA-2D65-1C42-A324-74577DD800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9" y="3707"/>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05" name="Text Box 88">
              <a:extLst>
                <a:ext uri="{FF2B5EF4-FFF2-40B4-BE49-F238E27FC236}">
                  <a16:creationId xmlns:a16="http://schemas.microsoft.com/office/drawing/2014/main" id="{F94AFCBA-2C6C-EE4C-B1D3-BC3F41BA83FF}"/>
                </a:ext>
              </a:extLst>
            </p:cNvPr>
            <p:cNvSpPr txBox="1">
              <a:spLocks noChangeArrowheads="1"/>
            </p:cNvSpPr>
            <p:nvPr/>
          </p:nvSpPr>
          <p:spPr bwMode="auto">
            <a:xfrm>
              <a:off x="5057" y="3609"/>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grpSp>
      <p:pic>
        <p:nvPicPr>
          <p:cNvPr id="104465" name="Picture 89">
            <a:extLst>
              <a:ext uri="{FF2B5EF4-FFF2-40B4-BE49-F238E27FC236}">
                <a16:creationId xmlns:a16="http://schemas.microsoft.com/office/drawing/2014/main" id="{881D22AC-BD0D-7542-B1FE-51F3E31166E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0672" y="371475"/>
            <a:ext cx="532209" cy="767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02561" name="Group 97">
            <a:extLst>
              <a:ext uri="{FF2B5EF4-FFF2-40B4-BE49-F238E27FC236}">
                <a16:creationId xmlns:a16="http://schemas.microsoft.com/office/drawing/2014/main" id="{59872946-2283-9741-BCE9-3615784E3E47}"/>
              </a:ext>
            </a:extLst>
          </p:cNvPr>
          <p:cNvGrpSpPr>
            <a:grpSpLocks/>
          </p:cNvGrpSpPr>
          <p:nvPr/>
        </p:nvGrpSpPr>
        <p:grpSpPr bwMode="auto">
          <a:xfrm>
            <a:off x="1496616" y="2208610"/>
            <a:ext cx="3779044" cy="632222"/>
            <a:chOff x="297" y="1855"/>
            <a:chExt cx="3174" cy="531"/>
          </a:xfrm>
        </p:grpSpPr>
        <p:sp>
          <p:nvSpPr>
            <p:cNvPr id="702470" name="Line 6">
              <a:extLst>
                <a:ext uri="{FF2B5EF4-FFF2-40B4-BE49-F238E27FC236}">
                  <a16:creationId xmlns:a16="http://schemas.microsoft.com/office/drawing/2014/main" id="{8166CC75-2BBA-C443-B920-879AE7566A26}"/>
                </a:ext>
              </a:extLst>
            </p:cNvPr>
            <p:cNvSpPr>
              <a:spLocks noChangeShapeType="1"/>
            </p:cNvSpPr>
            <p:nvPr/>
          </p:nvSpPr>
          <p:spPr bwMode="auto">
            <a:xfrm flipV="1">
              <a:off x="334" y="2152"/>
              <a:ext cx="3137" cy="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471" name="Rectangle 7">
              <a:extLst>
                <a:ext uri="{FF2B5EF4-FFF2-40B4-BE49-F238E27FC236}">
                  <a16:creationId xmlns:a16="http://schemas.microsoft.com/office/drawing/2014/main" id="{B3515C5A-9259-6440-A1EF-911BC76D7E3B}"/>
                </a:ext>
              </a:extLst>
            </p:cNvPr>
            <p:cNvSpPr>
              <a:spLocks noChangeArrowheads="1"/>
            </p:cNvSpPr>
            <p:nvPr/>
          </p:nvSpPr>
          <p:spPr bwMode="auto">
            <a:xfrm>
              <a:off x="793" y="1925"/>
              <a:ext cx="1934" cy="461"/>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104492" name="Text Box 48">
              <a:extLst>
                <a:ext uri="{FF2B5EF4-FFF2-40B4-BE49-F238E27FC236}">
                  <a16:creationId xmlns:a16="http://schemas.microsoft.com/office/drawing/2014/main" id="{509E5EEF-A264-2341-A788-007DF09F1404}"/>
                </a:ext>
              </a:extLst>
            </p:cNvPr>
            <p:cNvSpPr txBox="1">
              <a:spLocks noChangeArrowheads="1"/>
            </p:cNvSpPr>
            <p:nvPr/>
          </p:nvSpPr>
          <p:spPr bwMode="auto">
            <a:xfrm>
              <a:off x="297" y="1855"/>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23" name="Rectangle 59">
              <a:extLst>
                <a:ext uri="{FF2B5EF4-FFF2-40B4-BE49-F238E27FC236}">
                  <a16:creationId xmlns:a16="http://schemas.microsoft.com/office/drawing/2014/main" id="{FD2AA574-DB77-7248-AFD6-DCFCF3B6FEDA}"/>
                </a:ext>
              </a:extLst>
            </p:cNvPr>
            <p:cNvSpPr>
              <a:spLocks noChangeArrowheads="1"/>
            </p:cNvSpPr>
            <p:nvPr/>
          </p:nvSpPr>
          <p:spPr bwMode="auto">
            <a:xfrm>
              <a:off x="2155" y="2140"/>
              <a:ext cx="523" cy="197"/>
            </a:xfrm>
            <a:prstGeom prst="rect">
              <a:avLst/>
            </a:prstGeom>
            <a:solidFill>
              <a:srgbClr val="99FF66"/>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S</a:t>
              </a:r>
            </a:p>
          </p:txBody>
        </p:sp>
        <p:pic>
          <p:nvPicPr>
            <p:cNvPr id="104494" name="Picture 60">
              <a:extLst>
                <a:ext uri="{FF2B5EF4-FFF2-40B4-BE49-F238E27FC236}">
                  <a16:creationId xmlns:a16="http://schemas.microsoft.com/office/drawing/2014/main" id="{A51B4BD0-C0A8-8B42-8956-E6235A94E19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 y="1943"/>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25" name="Rectangle 61">
              <a:extLst>
                <a:ext uri="{FF2B5EF4-FFF2-40B4-BE49-F238E27FC236}">
                  <a16:creationId xmlns:a16="http://schemas.microsoft.com/office/drawing/2014/main" id="{98F241A1-8F81-0840-97D3-29D16D98D323}"/>
                </a:ext>
              </a:extLst>
            </p:cNvPr>
            <p:cNvSpPr>
              <a:spLocks noChangeArrowheads="1"/>
            </p:cNvSpPr>
            <p:nvPr/>
          </p:nvSpPr>
          <p:spPr bwMode="auto">
            <a:xfrm>
              <a:off x="1239" y="2139"/>
              <a:ext cx="275" cy="197"/>
            </a:xfrm>
            <a:prstGeom prst="rect">
              <a:avLst/>
            </a:prstGeom>
            <a:solidFill>
              <a:srgbClr val="CC99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a:t>
              </a:r>
              <a:endParaRPr kumimoji="1" lang="en-US" altLang="zh-CN" sz="1350" i="1" baseline="-25000">
                <a:solidFill>
                  <a:schemeClr val="tx2"/>
                </a:solidFill>
                <a:latin typeface="Arial" panose="020B0604020202020204" pitchFamily="34" charset="0"/>
              </a:endParaRPr>
            </a:p>
          </p:txBody>
        </p:sp>
        <p:sp>
          <p:nvSpPr>
            <p:cNvPr id="702526" name="Text Box 62">
              <a:extLst>
                <a:ext uri="{FF2B5EF4-FFF2-40B4-BE49-F238E27FC236}">
                  <a16:creationId xmlns:a16="http://schemas.microsoft.com/office/drawing/2014/main" id="{CEC12D24-BD80-6441-86E5-6A54603C1582}"/>
                </a:ext>
              </a:extLst>
            </p:cNvPr>
            <p:cNvSpPr txBox="1">
              <a:spLocks noChangeArrowheads="1"/>
            </p:cNvSpPr>
            <p:nvPr/>
          </p:nvSpPr>
          <p:spPr bwMode="auto">
            <a:xfrm>
              <a:off x="793" y="1892"/>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pic>
          <p:nvPicPr>
            <p:cNvPr id="104497" name="Picture 63">
              <a:extLst>
                <a:ext uri="{FF2B5EF4-FFF2-40B4-BE49-F238E27FC236}">
                  <a16:creationId xmlns:a16="http://schemas.microsoft.com/office/drawing/2014/main" id="{7CFA0581-4514-884F-9372-1C4E7612F16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1946"/>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28" name="Text Box 64">
              <a:extLst>
                <a:ext uri="{FF2B5EF4-FFF2-40B4-BE49-F238E27FC236}">
                  <a16:creationId xmlns:a16="http://schemas.microsoft.com/office/drawing/2014/main" id="{6F073E3F-A42C-3C40-8536-014291833335}"/>
                </a:ext>
              </a:extLst>
            </p:cNvPr>
            <p:cNvSpPr txBox="1">
              <a:spLocks noChangeArrowheads="1"/>
            </p:cNvSpPr>
            <p:nvPr/>
          </p:nvSpPr>
          <p:spPr bwMode="auto">
            <a:xfrm>
              <a:off x="1487" y="2123"/>
              <a:ext cx="373"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B,</a:t>
              </a:r>
            </a:p>
          </p:txBody>
        </p:sp>
        <p:sp>
          <p:nvSpPr>
            <p:cNvPr id="702554" name="Text Box 90">
              <a:extLst>
                <a:ext uri="{FF2B5EF4-FFF2-40B4-BE49-F238E27FC236}">
                  <a16:creationId xmlns:a16="http://schemas.microsoft.com/office/drawing/2014/main" id="{E4223BBC-4362-0447-9554-BBF7740C819A}"/>
                </a:ext>
              </a:extLst>
            </p:cNvPr>
            <p:cNvSpPr txBox="1">
              <a:spLocks noChangeArrowheads="1"/>
            </p:cNvSpPr>
            <p:nvPr/>
          </p:nvSpPr>
          <p:spPr bwMode="auto">
            <a:xfrm>
              <a:off x="1636" y="1892"/>
              <a:ext cx="38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TG</a:t>
              </a:r>
            </a:p>
          </p:txBody>
        </p:sp>
      </p:grpSp>
      <p:grpSp>
        <p:nvGrpSpPr>
          <p:cNvPr id="702562" name="Group 98">
            <a:extLst>
              <a:ext uri="{FF2B5EF4-FFF2-40B4-BE49-F238E27FC236}">
                <a16:creationId xmlns:a16="http://schemas.microsoft.com/office/drawing/2014/main" id="{2714183A-4842-3642-9992-3F8F126DCA0D}"/>
              </a:ext>
            </a:extLst>
          </p:cNvPr>
          <p:cNvGrpSpPr>
            <a:grpSpLocks/>
          </p:cNvGrpSpPr>
          <p:nvPr/>
        </p:nvGrpSpPr>
        <p:grpSpPr bwMode="auto">
          <a:xfrm>
            <a:off x="1540669" y="2883694"/>
            <a:ext cx="3818335" cy="661988"/>
            <a:chOff x="334" y="2422"/>
            <a:chExt cx="3207" cy="556"/>
          </a:xfrm>
        </p:grpSpPr>
        <p:sp>
          <p:nvSpPr>
            <p:cNvPr id="702529" name="Line 65">
              <a:extLst>
                <a:ext uri="{FF2B5EF4-FFF2-40B4-BE49-F238E27FC236}">
                  <a16:creationId xmlns:a16="http://schemas.microsoft.com/office/drawing/2014/main" id="{E889200E-52B9-3E45-A576-EDAA115AE548}"/>
                </a:ext>
              </a:extLst>
            </p:cNvPr>
            <p:cNvSpPr>
              <a:spLocks noChangeShapeType="1"/>
            </p:cNvSpPr>
            <p:nvPr/>
          </p:nvSpPr>
          <p:spPr bwMode="auto">
            <a:xfrm flipH="1" flipV="1">
              <a:off x="334" y="2744"/>
              <a:ext cx="3137" cy="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30" name="Rectangle 66">
              <a:extLst>
                <a:ext uri="{FF2B5EF4-FFF2-40B4-BE49-F238E27FC236}">
                  <a16:creationId xmlns:a16="http://schemas.microsoft.com/office/drawing/2014/main" id="{B74F20B0-6243-104B-8FB7-7C3A7AEFEFDB}"/>
                </a:ext>
              </a:extLst>
            </p:cNvPr>
            <p:cNvSpPr>
              <a:spLocks noChangeArrowheads="1"/>
            </p:cNvSpPr>
            <p:nvPr/>
          </p:nvSpPr>
          <p:spPr bwMode="auto">
            <a:xfrm>
              <a:off x="793" y="2518"/>
              <a:ext cx="2082"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31" name="Rectangle 67">
              <a:extLst>
                <a:ext uri="{FF2B5EF4-FFF2-40B4-BE49-F238E27FC236}">
                  <a16:creationId xmlns:a16="http://schemas.microsoft.com/office/drawing/2014/main" id="{5C596870-80FD-FC40-84BA-94A0EB456539}"/>
                </a:ext>
              </a:extLst>
            </p:cNvPr>
            <p:cNvSpPr>
              <a:spLocks noChangeArrowheads="1"/>
            </p:cNvSpPr>
            <p:nvPr/>
          </p:nvSpPr>
          <p:spPr bwMode="auto">
            <a:xfrm>
              <a:off x="2258" y="2732"/>
              <a:ext cx="522" cy="197"/>
            </a:xfrm>
            <a:prstGeom prst="rect">
              <a:avLst/>
            </a:prstGeom>
            <a:solidFill>
              <a:srgbClr val="FFCCCC"/>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sp>
          <p:nvSpPr>
            <p:cNvPr id="702532" name="Text Box 68">
              <a:extLst>
                <a:ext uri="{FF2B5EF4-FFF2-40B4-BE49-F238E27FC236}">
                  <a16:creationId xmlns:a16="http://schemas.microsoft.com/office/drawing/2014/main" id="{DD8BF092-AF37-A142-8010-2BF5FAA2744C}"/>
                </a:ext>
              </a:extLst>
            </p:cNvPr>
            <p:cNvSpPr txBox="1">
              <a:spLocks noChangeArrowheads="1"/>
            </p:cNvSpPr>
            <p:nvPr/>
          </p:nvSpPr>
          <p:spPr bwMode="auto">
            <a:xfrm>
              <a:off x="1803" y="2485"/>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B</a:t>
              </a:r>
            </a:p>
          </p:txBody>
        </p:sp>
        <p:pic>
          <p:nvPicPr>
            <p:cNvPr id="104484" name="Picture 69">
              <a:extLst>
                <a:ext uri="{FF2B5EF4-FFF2-40B4-BE49-F238E27FC236}">
                  <a16:creationId xmlns:a16="http://schemas.microsoft.com/office/drawing/2014/main" id="{AC7FE6B4-A826-AE43-81AE-B6C0C7A7FEB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 y="2535"/>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34" name="Text Box 70">
              <a:extLst>
                <a:ext uri="{FF2B5EF4-FFF2-40B4-BE49-F238E27FC236}">
                  <a16:creationId xmlns:a16="http://schemas.microsoft.com/office/drawing/2014/main" id="{3FCD8162-63A3-FD45-BA72-9033AFFA1DC9}"/>
                </a:ext>
              </a:extLst>
            </p:cNvPr>
            <p:cNvSpPr txBox="1">
              <a:spLocks noChangeArrowheads="1"/>
            </p:cNvSpPr>
            <p:nvPr/>
          </p:nvSpPr>
          <p:spPr bwMode="auto">
            <a:xfrm>
              <a:off x="1834" y="2715"/>
              <a:ext cx="195"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t>
              </a:r>
            </a:p>
          </p:txBody>
        </p:sp>
        <p:sp>
          <p:nvSpPr>
            <p:cNvPr id="104486" name="Text Box 71">
              <a:extLst>
                <a:ext uri="{FF2B5EF4-FFF2-40B4-BE49-F238E27FC236}">
                  <a16:creationId xmlns:a16="http://schemas.microsoft.com/office/drawing/2014/main" id="{00AD28F6-AB4C-C845-8CFC-977543D60290}"/>
                </a:ext>
              </a:extLst>
            </p:cNvPr>
            <p:cNvSpPr txBox="1">
              <a:spLocks noChangeArrowheads="1"/>
            </p:cNvSpPr>
            <p:nvPr/>
          </p:nvSpPr>
          <p:spPr bwMode="auto">
            <a:xfrm>
              <a:off x="3156" y="2422"/>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36" name="Rectangle 72">
              <a:extLst>
                <a:ext uri="{FF2B5EF4-FFF2-40B4-BE49-F238E27FC236}">
                  <a16:creationId xmlns:a16="http://schemas.microsoft.com/office/drawing/2014/main" id="{7CAFD685-C8D7-9C46-AFCC-375B82D897D8}"/>
                </a:ext>
              </a:extLst>
            </p:cNvPr>
            <p:cNvSpPr>
              <a:spLocks noChangeArrowheads="1"/>
            </p:cNvSpPr>
            <p:nvPr/>
          </p:nvSpPr>
          <p:spPr bwMode="auto">
            <a:xfrm>
              <a:off x="1311" y="2732"/>
              <a:ext cx="523" cy="197"/>
            </a:xfrm>
            <a:prstGeom prst="rect">
              <a:avLst/>
            </a:prstGeom>
            <a:solidFill>
              <a:srgbClr val="CCCC00"/>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B,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pic>
          <p:nvPicPr>
            <p:cNvPr id="104488" name="Picture 73">
              <a:extLst>
                <a:ext uri="{FF2B5EF4-FFF2-40B4-BE49-F238E27FC236}">
                  <a16:creationId xmlns:a16="http://schemas.microsoft.com/office/drawing/2014/main" id="{85DC3249-9513-F44E-B1EF-01D6CE5FD60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2538"/>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56" name="Text Box 92">
              <a:extLst>
                <a:ext uri="{FF2B5EF4-FFF2-40B4-BE49-F238E27FC236}">
                  <a16:creationId xmlns:a16="http://schemas.microsoft.com/office/drawing/2014/main" id="{53860A8B-819C-D74C-8BDA-1950CCAF1031}"/>
                </a:ext>
              </a:extLst>
            </p:cNvPr>
            <p:cNvSpPr txBox="1">
              <a:spLocks noChangeArrowheads="1"/>
            </p:cNvSpPr>
            <p:nvPr/>
          </p:nvSpPr>
          <p:spPr bwMode="auto">
            <a:xfrm>
              <a:off x="843" y="2485"/>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grpSp>
      <p:grpSp>
        <p:nvGrpSpPr>
          <p:cNvPr id="702560" name="Group 96">
            <a:extLst>
              <a:ext uri="{FF2B5EF4-FFF2-40B4-BE49-F238E27FC236}">
                <a16:creationId xmlns:a16="http://schemas.microsoft.com/office/drawing/2014/main" id="{FCC046AC-BFF4-AC4E-830C-A051508BD15F}"/>
              </a:ext>
            </a:extLst>
          </p:cNvPr>
          <p:cNvGrpSpPr>
            <a:grpSpLocks/>
          </p:cNvGrpSpPr>
          <p:nvPr/>
        </p:nvGrpSpPr>
        <p:grpSpPr bwMode="auto">
          <a:xfrm>
            <a:off x="1533525" y="1312069"/>
            <a:ext cx="3195638" cy="823913"/>
            <a:chOff x="328" y="1102"/>
            <a:chExt cx="2684" cy="692"/>
          </a:xfrm>
        </p:grpSpPr>
        <p:sp>
          <p:nvSpPr>
            <p:cNvPr id="702504" name="Line 40">
              <a:extLst>
                <a:ext uri="{FF2B5EF4-FFF2-40B4-BE49-F238E27FC236}">
                  <a16:creationId xmlns:a16="http://schemas.microsoft.com/office/drawing/2014/main" id="{1C31CA18-CF59-5248-A4A0-F95747F8EB76}"/>
                </a:ext>
              </a:extLst>
            </p:cNvPr>
            <p:cNvSpPr>
              <a:spLocks noChangeShapeType="1"/>
            </p:cNvSpPr>
            <p:nvPr/>
          </p:nvSpPr>
          <p:spPr bwMode="auto">
            <a:xfrm flipH="1">
              <a:off x="328" y="1547"/>
              <a:ext cx="2596" cy="13"/>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6" name="Rectangle 42">
              <a:extLst>
                <a:ext uri="{FF2B5EF4-FFF2-40B4-BE49-F238E27FC236}">
                  <a16:creationId xmlns:a16="http://schemas.microsoft.com/office/drawing/2014/main" id="{E9991F65-0A18-7244-9D8B-325E0BA56443}"/>
                </a:ext>
              </a:extLst>
            </p:cNvPr>
            <p:cNvSpPr>
              <a:spLocks noChangeArrowheads="1"/>
            </p:cNvSpPr>
            <p:nvPr/>
          </p:nvSpPr>
          <p:spPr bwMode="auto">
            <a:xfrm>
              <a:off x="1091" y="1333"/>
              <a:ext cx="1388" cy="461"/>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07" name="Text Box 43">
              <a:extLst>
                <a:ext uri="{FF2B5EF4-FFF2-40B4-BE49-F238E27FC236}">
                  <a16:creationId xmlns:a16="http://schemas.microsoft.com/office/drawing/2014/main" id="{5DF0F56B-6C05-B947-9758-B03CD1A99752}"/>
                </a:ext>
              </a:extLst>
            </p:cNvPr>
            <p:cNvSpPr txBox="1">
              <a:spLocks noChangeArrowheads="1"/>
            </p:cNvSpPr>
            <p:nvPr/>
          </p:nvSpPr>
          <p:spPr bwMode="auto">
            <a:xfrm>
              <a:off x="1392" y="1293"/>
              <a:ext cx="38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TG</a:t>
              </a:r>
            </a:p>
          </p:txBody>
        </p:sp>
        <p:sp>
          <p:nvSpPr>
            <p:cNvPr id="104473" name="Text Box 47">
              <a:extLst>
                <a:ext uri="{FF2B5EF4-FFF2-40B4-BE49-F238E27FC236}">
                  <a16:creationId xmlns:a16="http://schemas.microsoft.com/office/drawing/2014/main" id="{F3EBB717-04F3-3C44-A821-23317E0196BB}"/>
                </a:ext>
              </a:extLst>
            </p:cNvPr>
            <p:cNvSpPr txBox="1">
              <a:spLocks noChangeArrowheads="1"/>
            </p:cNvSpPr>
            <p:nvPr/>
          </p:nvSpPr>
          <p:spPr bwMode="auto">
            <a:xfrm>
              <a:off x="2627" y="1245"/>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4474" name="Picture 49">
              <a:extLst>
                <a:ext uri="{FF2B5EF4-FFF2-40B4-BE49-F238E27FC236}">
                  <a16:creationId xmlns:a16="http://schemas.microsoft.com/office/drawing/2014/main" id="{3EF34C08-7B2C-5F4C-893D-E514CAECD0B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 y="1206"/>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14" name="Text Box 50">
              <a:extLst>
                <a:ext uri="{FF2B5EF4-FFF2-40B4-BE49-F238E27FC236}">
                  <a16:creationId xmlns:a16="http://schemas.microsoft.com/office/drawing/2014/main" id="{B862B108-1A9C-D74D-B023-DDA864828906}"/>
                </a:ext>
              </a:extLst>
            </p:cNvPr>
            <p:cNvSpPr txBox="1">
              <a:spLocks noChangeArrowheads="1"/>
            </p:cNvSpPr>
            <p:nvPr/>
          </p:nvSpPr>
          <p:spPr bwMode="auto">
            <a:xfrm>
              <a:off x="743" y="1102"/>
              <a:ext cx="397" cy="252"/>
            </a:xfrm>
            <a:prstGeom prst="rect">
              <a:avLst/>
            </a:prstGeom>
            <a:noFill/>
            <a:ln>
              <a:noFill/>
            </a:ln>
            <a:effectLst/>
          </p:spPr>
          <p:txBody>
            <a:bodyPr>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a:t>
              </a:r>
            </a:p>
          </p:txBody>
        </p:sp>
        <p:sp>
          <p:nvSpPr>
            <p:cNvPr id="702521" name="Rectangle 57">
              <a:extLst>
                <a:ext uri="{FF2B5EF4-FFF2-40B4-BE49-F238E27FC236}">
                  <a16:creationId xmlns:a16="http://schemas.microsoft.com/office/drawing/2014/main" id="{DD20D099-94CE-E547-AFD3-57A3CCB2DF26}"/>
                </a:ext>
              </a:extLst>
            </p:cNvPr>
            <p:cNvSpPr>
              <a:spLocks noChangeArrowheads="1"/>
            </p:cNvSpPr>
            <p:nvPr/>
          </p:nvSpPr>
          <p:spPr bwMode="auto">
            <a:xfrm>
              <a:off x="1884" y="1547"/>
              <a:ext cx="522" cy="197"/>
            </a:xfrm>
            <a:prstGeom prst="rect">
              <a:avLst/>
            </a:prstGeom>
            <a:solidFill>
              <a:srgbClr val="99FF66"/>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S</a:t>
              </a:r>
            </a:p>
          </p:txBody>
        </p:sp>
        <p:pic>
          <p:nvPicPr>
            <p:cNvPr id="104477" name="Picture 58">
              <a:extLst>
                <a:ext uri="{FF2B5EF4-FFF2-40B4-BE49-F238E27FC236}">
                  <a16:creationId xmlns:a16="http://schemas.microsoft.com/office/drawing/2014/main" id="{B87769F8-2E1B-5E45-9D73-732EBC12815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 y="1350"/>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55" name="Text Box 91">
              <a:extLst>
                <a:ext uri="{FF2B5EF4-FFF2-40B4-BE49-F238E27FC236}">
                  <a16:creationId xmlns:a16="http://schemas.microsoft.com/office/drawing/2014/main" id="{D1A02FF6-044C-8147-8DF2-A6218DDB6761}"/>
                </a:ext>
              </a:extLst>
            </p:cNvPr>
            <p:cNvSpPr txBox="1">
              <a:spLocks noChangeArrowheads="1"/>
            </p:cNvSpPr>
            <p:nvPr/>
          </p:nvSpPr>
          <p:spPr bwMode="auto">
            <a:xfrm>
              <a:off x="1170" y="1482"/>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sp>
          <p:nvSpPr>
            <p:cNvPr id="702557" name="Text Box 93">
              <a:extLst>
                <a:ext uri="{FF2B5EF4-FFF2-40B4-BE49-F238E27FC236}">
                  <a16:creationId xmlns:a16="http://schemas.microsoft.com/office/drawing/2014/main" id="{848B7A0A-2F77-0747-9DDF-C8157F9FEB5A}"/>
                </a:ext>
              </a:extLst>
            </p:cNvPr>
            <p:cNvSpPr txBox="1">
              <a:spLocks noChangeArrowheads="1"/>
            </p:cNvSpPr>
            <p:nvPr/>
          </p:nvSpPr>
          <p:spPr bwMode="auto">
            <a:xfrm>
              <a:off x="1388" y="1482"/>
              <a:ext cx="236"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a:t>
              </a:r>
            </a:p>
          </p:txBody>
        </p:sp>
      </p:grpSp>
      <p:sp>
        <p:nvSpPr>
          <p:cNvPr id="104469" name="幻灯片编号占位符 1">
            <a:extLst>
              <a:ext uri="{FF2B5EF4-FFF2-40B4-BE49-F238E27FC236}">
                <a16:creationId xmlns:a16="http://schemas.microsoft.com/office/drawing/2014/main" id="{AC618C5B-EC38-2341-8A56-806BD73B4441}"/>
              </a:ext>
            </a:extLst>
          </p:cNvPr>
          <p:cNvSpPr>
            <a:spLocks noGrp="1" noChangeArrowheads="1"/>
          </p:cNvSpPr>
          <p:nvPr>
            <p:ph type="sldNum" sz="quarter" idx="10"/>
          </p:nvPr>
        </p:nvSpPr>
        <p:spPr>
          <a:xfrm>
            <a:off x="8749897" y="4771253"/>
            <a:ext cx="394103" cy="3325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D41B54-7FE8-A849-BEFC-20748A7CF19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07558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02559"/>
                                        </p:tgtEl>
                                        <p:attrNameLst>
                                          <p:attrName>style.visibility</p:attrName>
                                        </p:attrNameLst>
                                      </p:cBhvr>
                                      <p:to>
                                        <p:strVal val="visible"/>
                                      </p:to>
                                    </p:set>
                                    <p:animEffect transition="in" filter="wipe(left)">
                                      <p:cBhvr>
                                        <p:cTn id="7" dur="2000"/>
                                        <p:tgtEl>
                                          <p:spTgt spid="702559"/>
                                        </p:tgtEl>
                                      </p:cBhvr>
                                    </p:animEffect>
                                  </p:childTnLst>
                                </p:cTn>
                              </p:par>
                            </p:childTnLst>
                          </p:cTn>
                        </p:par>
                        <p:par>
                          <p:cTn id="8" fill="hold" nodeType="afterGroup">
                            <p:stCondLst>
                              <p:cond delay="2500"/>
                            </p:stCondLst>
                            <p:childTnLst>
                              <p:par>
                                <p:cTn id="9" presetID="22" presetClass="entr" presetSubtype="2" fill="hold" nodeType="afterEffect">
                                  <p:stCondLst>
                                    <p:cond delay="500"/>
                                  </p:stCondLst>
                                  <p:childTnLst>
                                    <p:set>
                                      <p:cBhvr>
                                        <p:cTn id="10" dur="1" fill="hold">
                                          <p:stCondLst>
                                            <p:cond delay="0"/>
                                          </p:stCondLst>
                                        </p:cTn>
                                        <p:tgtEl>
                                          <p:spTgt spid="702560"/>
                                        </p:tgtEl>
                                        <p:attrNameLst>
                                          <p:attrName>style.visibility</p:attrName>
                                        </p:attrNameLst>
                                      </p:cBhvr>
                                      <p:to>
                                        <p:strVal val="visible"/>
                                      </p:to>
                                    </p:set>
                                    <p:animEffect transition="in" filter="wipe(right)">
                                      <p:cBhvr>
                                        <p:cTn id="11" dur="2000"/>
                                        <p:tgtEl>
                                          <p:spTgt spid="702560"/>
                                        </p:tgtEl>
                                      </p:cBhvr>
                                    </p:animEffect>
                                  </p:childTnLst>
                                </p:cTn>
                              </p:par>
                            </p:childTnLst>
                          </p:cTn>
                        </p:par>
                        <p:par>
                          <p:cTn id="12" fill="hold" nodeType="afterGroup">
                            <p:stCondLst>
                              <p:cond delay="5000"/>
                            </p:stCondLst>
                            <p:childTnLst>
                              <p:par>
                                <p:cTn id="13" presetID="22" presetClass="entr" presetSubtype="8" fill="hold" nodeType="afterEffect">
                                  <p:stCondLst>
                                    <p:cond delay="500"/>
                                  </p:stCondLst>
                                  <p:childTnLst>
                                    <p:set>
                                      <p:cBhvr>
                                        <p:cTn id="14" dur="1" fill="hold">
                                          <p:stCondLst>
                                            <p:cond delay="0"/>
                                          </p:stCondLst>
                                        </p:cTn>
                                        <p:tgtEl>
                                          <p:spTgt spid="702561"/>
                                        </p:tgtEl>
                                        <p:attrNameLst>
                                          <p:attrName>style.visibility</p:attrName>
                                        </p:attrNameLst>
                                      </p:cBhvr>
                                      <p:to>
                                        <p:strVal val="visible"/>
                                      </p:to>
                                    </p:set>
                                    <p:animEffect transition="in" filter="wipe(left)">
                                      <p:cBhvr>
                                        <p:cTn id="15" dur="2000"/>
                                        <p:tgtEl>
                                          <p:spTgt spid="702561"/>
                                        </p:tgtEl>
                                      </p:cBhvr>
                                    </p:animEffect>
                                  </p:childTnLst>
                                </p:cTn>
                              </p:par>
                            </p:childTnLst>
                          </p:cTn>
                        </p:par>
                        <p:par>
                          <p:cTn id="16" fill="hold" nodeType="afterGroup">
                            <p:stCondLst>
                              <p:cond delay="7500"/>
                            </p:stCondLst>
                            <p:childTnLst>
                              <p:par>
                                <p:cTn id="17" presetID="22" presetClass="entr" presetSubtype="2" fill="hold" nodeType="afterEffect">
                                  <p:stCondLst>
                                    <p:cond delay="500"/>
                                  </p:stCondLst>
                                  <p:childTnLst>
                                    <p:set>
                                      <p:cBhvr>
                                        <p:cTn id="18" dur="1" fill="hold">
                                          <p:stCondLst>
                                            <p:cond delay="0"/>
                                          </p:stCondLst>
                                        </p:cTn>
                                        <p:tgtEl>
                                          <p:spTgt spid="702562"/>
                                        </p:tgtEl>
                                        <p:attrNameLst>
                                          <p:attrName>style.visibility</p:attrName>
                                        </p:attrNameLst>
                                      </p:cBhvr>
                                      <p:to>
                                        <p:strVal val="visible"/>
                                      </p:to>
                                    </p:set>
                                    <p:animEffect transition="in" filter="wipe(right)">
                                      <p:cBhvr>
                                        <p:cTn id="19" dur="2000"/>
                                        <p:tgtEl>
                                          <p:spTgt spid="702562"/>
                                        </p:tgtEl>
                                      </p:cBhvr>
                                    </p:animEffect>
                                  </p:childTnLst>
                                </p:cTn>
                              </p:par>
                            </p:childTnLst>
                          </p:cTn>
                        </p:par>
                        <p:par>
                          <p:cTn id="20" fill="hold" nodeType="afterGroup">
                            <p:stCondLst>
                              <p:cond delay="10000"/>
                            </p:stCondLst>
                            <p:childTnLst>
                              <p:par>
                                <p:cTn id="21" presetID="22" presetClass="entr" presetSubtype="8" fill="hold" nodeType="afterEffect">
                                  <p:stCondLst>
                                    <p:cond delay="500"/>
                                  </p:stCondLst>
                                  <p:childTnLst>
                                    <p:set>
                                      <p:cBhvr>
                                        <p:cTn id="22" dur="1" fill="hold">
                                          <p:stCondLst>
                                            <p:cond delay="0"/>
                                          </p:stCondLst>
                                        </p:cTn>
                                        <p:tgtEl>
                                          <p:spTgt spid="702563"/>
                                        </p:tgtEl>
                                        <p:attrNameLst>
                                          <p:attrName>style.visibility</p:attrName>
                                        </p:attrNameLst>
                                      </p:cBhvr>
                                      <p:to>
                                        <p:strVal val="visible"/>
                                      </p:to>
                                    </p:set>
                                    <p:animEffect transition="in" filter="wipe(left)">
                                      <p:cBhvr>
                                        <p:cTn id="23" dur="2000"/>
                                        <p:tgtEl>
                                          <p:spTgt spid="702563"/>
                                        </p:tgtEl>
                                      </p:cBhvr>
                                    </p:animEffect>
                                  </p:childTnLst>
                                </p:cTn>
                              </p:par>
                            </p:childTnLst>
                          </p:cTn>
                        </p:par>
                        <p:par>
                          <p:cTn id="24" fill="hold" nodeType="afterGroup">
                            <p:stCondLst>
                              <p:cond delay="12500"/>
                            </p:stCondLst>
                            <p:childTnLst>
                              <p:par>
                                <p:cTn id="25" presetID="22" presetClass="entr" presetSubtype="2" fill="hold" nodeType="afterEffect">
                                  <p:stCondLst>
                                    <p:cond delay="500"/>
                                  </p:stCondLst>
                                  <p:childTnLst>
                                    <p:set>
                                      <p:cBhvr>
                                        <p:cTn id="26" dur="1" fill="hold">
                                          <p:stCondLst>
                                            <p:cond delay="0"/>
                                          </p:stCondLst>
                                        </p:cTn>
                                        <p:tgtEl>
                                          <p:spTgt spid="702564"/>
                                        </p:tgtEl>
                                        <p:attrNameLst>
                                          <p:attrName>style.visibility</p:attrName>
                                        </p:attrNameLst>
                                      </p:cBhvr>
                                      <p:to>
                                        <p:strVal val="visible"/>
                                      </p:to>
                                    </p:set>
                                    <p:animEffect transition="in" filter="wipe(right)">
                                      <p:cBhvr>
                                        <p:cTn id="27" dur="2000"/>
                                        <p:tgtEl>
                                          <p:spTgt spid="70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210D316A-254A-5E48-91C0-9D5BE7520D8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7.5.2  </a:t>
            </a:r>
            <a:r>
              <a:rPr lang="zh-CN" altLang="en-US" dirty="0">
                <a:latin typeface="Times New Roman" panose="02020603050405020304" pitchFamily="18" charset="0"/>
                <a:ea typeface="宋体" panose="02010600030101010101" pitchFamily="2" charset="-122"/>
              </a:rPr>
              <a:t>公钥的分配</a:t>
            </a:r>
          </a:p>
        </p:txBody>
      </p:sp>
      <p:sp>
        <p:nvSpPr>
          <p:cNvPr id="105474" name="Rectangle 3">
            <a:extLst>
              <a:ext uri="{FF2B5EF4-FFF2-40B4-BE49-F238E27FC236}">
                <a16:creationId xmlns:a16="http://schemas.microsoft.com/office/drawing/2014/main" id="{2D27C25E-C133-EC49-A417-6A9E4DF88EEA}"/>
              </a:ext>
            </a:extLst>
          </p:cNvPr>
          <p:cNvSpPr>
            <a:spLocks noGrp="1" noChangeArrowheads="1"/>
          </p:cNvSpPr>
          <p:nvPr>
            <p:ph type="body" idx="1"/>
          </p:nvPr>
        </p:nvSpPr>
        <p:spPr>
          <a:xfrm>
            <a:off x="133564" y="1168004"/>
            <a:ext cx="8804952" cy="3780234"/>
          </a:xfrm>
        </p:spPr>
        <p:txBody>
          <a:bodyPr/>
          <a:lstStyle/>
          <a:p>
            <a:pPr eaLnBrk="1" hangingPunct="1"/>
            <a:r>
              <a:rPr lang="zh-CN" altLang="en-US" sz="2100" dirty="0">
                <a:ea typeface="宋体" panose="02010600030101010101" pitchFamily="2" charset="-122"/>
              </a:rPr>
              <a:t>需要有一个值得信赖的机构</a:t>
            </a:r>
            <a:r>
              <a:rPr lang="en-US" altLang="zh-CN" sz="2100" dirty="0">
                <a:ea typeface="宋体" panose="02010600030101010101" pitchFamily="2" charset="-122"/>
              </a:rPr>
              <a:t>——</a:t>
            </a:r>
            <a:r>
              <a:rPr lang="zh-CN" altLang="en-US" sz="2100" dirty="0">
                <a:ea typeface="宋体" panose="02010600030101010101" pitchFamily="2" charset="-122"/>
              </a:rPr>
              <a:t>即</a:t>
            </a:r>
            <a:r>
              <a:rPr lang="zh-CN" altLang="en-US" sz="2100" dirty="0">
                <a:solidFill>
                  <a:schemeClr val="hlink"/>
                </a:solidFill>
                <a:ea typeface="宋体" panose="02010600030101010101" pitchFamily="2" charset="-122"/>
              </a:rPr>
              <a:t>认证中心</a:t>
            </a:r>
            <a:r>
              <a:rPr lang="en-US" altLang="zh-CN" sz="2100" b="1" dirty="0">
                <a:ea typeface="宋体" panose="02010600030101010101" pitchFamily="2" charset="-122"/>
              </a:rPr>
              <a:t>CA</a:t>
            </a:r>
            <a:r>
              <a:rPr lang="en-US" altLang="zh-CN" sz="2100" dirty="0">
                <a:ea typeface="宋体" panose="02010600030101010101" pitchFamily="2" charset="-122"/>
              </a:rPr>
              <a:t> (Certification Authority)</a:t>
            </a:r>
            <a:r>
              <a:rPr lang="zh-CN" altLang="en-US" sz="2100" dirty="0">
                <a:ea typeface="宋体" panose="02010600030101010101" pitchFamily="2" charset="-122"/>
              </a:rPr>
              <a:t>，来将公钥与其对应的实体（人或机器）进行</a:t>
            </a:r>
            <a:r>
              <a:rPr lang="zh-CN" altLang="en-US" sz="2100" dirty="0">
                <a:solidFill>
                  <a:schemeClr val="hlink"/>
                </a:solidFill>
                <a:ea typeface="宋体" panose="02010600030101010101" pitchFamily="2" charset="-122"/>
              </a:rPr>
              <a:t>绑定</a:t>
            </a:r>
            <a:r>
              <a:rPr lang="en-US" altLang="zh-CN" sz="2100" dirty="0">
                <a:ea typeface="宋体" panose="02010600030101010101" pitchFamily="2" charset="-122"/>
              </a:rPr>
              <a:t>(binding)</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认证中心一般由政府出资建立。每个实体都有</a:t>
            </a:r>
            <a:r>
              <a:rPr lang="en-US" altLang="zh-CN" sz="2100" dirty="0">
                <a:ea typeface="宋体" panose="02010600030101010101" pitchFamily="2" charset="-122"/>
              </a:rPr>
              <a:t>CA </a:t>
            </a:r>
            <a:r>
              <a:rPr lang="zh-CN" altLang="en-US" sz="2100" dirty="0">
                <a:ea typeface="宋体" panose="02010600030101010101" pitchFamily="2" charset="-122"/>
              </a:rPr>
              <a:t>发来的</a:t>
            </a:r>
            <a:r>
              <a:rPr lang="zh-CN" altLang="en-US" sz="2100" dirty="0">
                <a:solidFill>
                  <a:schemeClr val="hlink"/>
                </a:solidFill>
                <a:ea typeface="宋体" panose="02010600030101010101" pitchFamily="2" charset="-122"/>
              </a:rPr>
              <a:t>证书</a:t>
            </a:r>
            <a:r>
              <a:rPr lang="en-US" altLang="zh-CN" sz="2100" dirty="0">
                <a:ea typeface="宋体" panose="02010600030101010101" pitchFamily="2" charset="-122"/>
              </a:rPr>
              <a:t>(certificate)</a:t>
            </a:r>
            <a:r>
              <a:rPr lang="zh-CN" altLang="en-US" sz="2100" dirty="0">
                <a:ea typeface="宋体" panose="02010600030101010101" pitchFamily="2" charset="-122"/>
              </a:rPr>
              <a:t>，里面有公钥及其拥有者的标识信息。此证书被 </a:t>
            </a:r>
            <a:r>
              <a:rPr lang="en-US" altLang="zh-CN" sz="2100" dirty="0">
                <a:ea typeface="宋体" panose="02010600030101010101" pitchFamily="2" charset="-122"/>
              </a:rPr>
              <a:t>CA </a:t>
            </a:r>
            <a:r>
              <a:rPr lang="zh-CN" altLang="en-US" sz="2100" dirty="0">
                <a:ea typeface="宋体" panose="02010600030101010101" pitchFamily="2" charset="-122"/>
              </a:rPr>
              <a:t>进行了数字签名。任何用户都可从可信的地方获得认证中心 </a:t>
            </a:r>
            <a:r>
              <a:rPr lang="en-US" altLang="zh-CN" sz="2100" dirty="0">
                <a:ea typeface="宋体" panose="02010600030101010101" pitchFamily="2" charset="-122"/>
              </a:rPr>
              <a:t>CA </a:t>
            </a:r>
            <a:r>
              <a:rPr lang="zh-CN" altLang="en-US" sz="2100" dirty="0">
                <a:ea typeface="宋体" panose="02010600030101010101" pitchFamily="2" charset="-122"/>
              </a:rPr>
              <a:t>的公钥，此公钥用来验证某个公钥是否为某个实体所拥有。有的大公司也提供认证中心服务。 </a:t>
            </a:r>
          </a:p>
        </p:txBody>
      </p:sp>
      <p:sp>
        <p:nvSpPr>
          <p:cNvPr id="105475" name="幻灯片编号占位符 1">
            <a:extLst>
              <a:ext uri="{FF2B5EF4-FFF2-40B4-BE49-F238E27FC236}">
                <a16:creationId xmlns:a16="http://schemas.microsoft.com/office/drawing/2014/main" id="{6CEEA8E6-6153-2A43-B60C-88C782C2DC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FF3768-36BE-2545-85CE-AF82F6FC6F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9738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DFC809B8-2841-6440-BC1E-3669120D0541}"/>
              </a:ext>
            </a:extLst>
          </p:cNvPr>
          <p:cNvSpPr>
            <a:spLocks noGrp="1" noChangeArrowheads="1"/>
          </p:cNvSpPr>
          <p:nvPr>
            <p:ph type="title"/>
          </p:nvPr>
        </p:nvSpPr>
        <p:spPr>
          <a:xfrm>
            <a:off x="133563" y="300038"/>
            <a:ext cx="7813859" cy="586653"/>
          </a:xfrm>
        </p:spPr>
        <p:txBody>
          <a:bodyPr/>
          <a:lstStyle/>
          <a:p>
            <a:pPr eaLnBrk="1" hangingPunct="1"/>
            <a:r>
              <a:rPr lang="en-US" altLang="zh-CN" dirty="0">
                <a:latin typeface="Times New Roman" panose="02020603050405020304" pitchFamily="18" charset="0"/>
                <a:ea typeface="宋体" panose="02010600030101010101" pitchFamily="2" charset="-122"/>
              </a:rPr>
              <a:t>7.6  </a:t>
            </a:r>
            <a:r>
              <a:rPr lang="zh-CN" altLang="en-US" dirty="0">
                <a:latin typeface="Times New Roman" panose="02020603050405020304" pitchFamily="18" charset="0"/>
                <a:ea typeface="宋体" panose="02010600030101010101" pitchFamily="2" charset="-122"/>
              </a:rPr>
              <a:t>因特网使用的安全协议 </a:t>
            </a:r>
          </a:p>
        </p:txBody>
      </p:sp>
      <p:sp>
        <p:nvSpPr>
          <p:cNvPr id="106498" name="Rectangle 3">
            <a:extLst>
              <a:ext uri="{FF2B5EF4-FFF2-40B4-BE49-F238E27FC236}">
                <a16:creationId xmlns:a16="http://schemas.microsoft.com/office/drawing/2014/main" id="{10E593D9-B44E-9240-94B3-7F6B3E6DBC1E}"/>
              </a:ext>
            </a:extLst>
          </p:cNvPr>
          <p:cNvSpPr>
            <a:spLocks noGrp="1" noChangeArrowheads="1"/>
          </p:cNvSpPr>
          <p:nvPr>
            <p:ph type="body" idx="1"/>
          </p:nvPr>
        </p:nvSpPr>
        <p:spPr>
          <a:xfrm>
            <a:off x="133563" y="1731818"/>
            <a:ext cx="8804953" cy="3081408"/>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en-US" altLang="zh-CN" b="1" dirty="0">
                <a:latin typeface="Times New Roman" panose="02020603050405020304" pitchFamily="18" charset="0"/>
                <a:ea typeface="宋体" panose="02010600030101010101" pitchFamily="2" charset="-122"/>
              </a:rPr>
              <a:t>IPsec </a:t>
            </a:r>
            <a:r>
              <a:rPr lang="zh-CN" altLang="en-US" dirty="0">
                <a:latin typeface="Times New Roman" panose="02020603050405020304" pitchFamily="18" charset="0"/>
                <a:ea typeface="宋体" panose="02010600030101010101" pitchFamily="2" charset="-122"/>
              </a:rPr>
              <a:t>协议</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网络层保密是指所有在 </a:t>
            </a:r>
            <a:r>
              <a:rPr lang="en-US" altLang="zh-CN" b="1"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数据报中的数据都是加密的。 </a:t>
            </a: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p:txBody>
      </p:sp>
      <p:sp>
        <p:nvSpPr>
          <p:cNvPr id="106499" name="幻灯片编号占位符 1">
            <a:extLst>
              <a:ext uri="{FF2B5EF4-FFF2-40B4-BE49-F238E27FC236}">
                <a16:creationId xmlns:a16="http://schemas.microsoft.com/office/drawing/2014/main" id="{F5493F63-C9BD-C14B-8FF6-6F6C6E4C01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EBA81C-4906-2C48-8D3B-0C9C871CD32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5666C5D3-E1CD-5D45-87E6-EF3F15C64320}"/>
              </a:ext>
            </a:extLst>
          </p:cNvPr>
          <p:cNvSpPr/>
          <p:nvPr/>
        </p:nvSpPr>
        <p:spPr>
          <a:xfrm>
            <a:off x="133563" y="1124588"/>
            <a:ext cx="3786614" cy="523220"/>
          </a:xfrm>
          <a:prstGeom prst="rect">
            <a:avLst/>
          </a:prstGeom>
        </p:spPr>
        <p:txBody>
          <a:bodyPr wrap="none">
            <a:spAutoFit/>
          </a:bodyPr>
          <a:lstStyle/>
          <a:p>
            <a:r>
              <a:rPr lang="en-US" altLang="zh-CN" sz="2800" dirty="0"/>
              <a:t>7.6.1  </a:t>
            </a:r>
            <a:r>
              <a:rPr lang="zh-CN" altLang="en-US" sz="2800" dirty="0"/>
              <a:t>网络层安全协议</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493798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335E5617-D1AC-764B-9CE7-8DA75210FED1}"/>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IPsec </a:t>
            </a:r>
            <a:r>
              <a:rPr lang="zh-CN" altLang="en-US" dirty="0">
                <a:latin typeface="Times New Roman" panose="02020603050405020304" pitchFamily="18" charset="0"/>
                <a:ea typeface="宋体" panose="02010600030101010101" pitchFamily="2" charset="-122"/>
              </a:rPr>
              <a:t>中最主要的两个部分 </a:t>
            </a:r>
          </a:p>
        </p:txBody>
      </p:sp>
      <p:sp>
        <p:nvSpPr>
          <p:cNvPr id="107522" name="Rectangle 3">
            <a:extLst>
              <a:ext uri="{FF2B5EF4-FFF2-40B4-BE49-F238E27FC236}">
                <a16:creationId xmlns:a16="http://schemas.microsoft.com/office/drawing/2014/main" id="{379A80E5-45C5-1F4C-89C1-F965954708EB}"/>
              </a:ext>
            </a:extLst>
          </p:cNvPr>
          <p:cNvSpPr>
            <a:spLocks noGrp="1" noChangeArrowheads="1"/>
          </p:cNvSpPr>
          <p:nvPr>
            <p:ph type="body" idx="1"/>
          </p:nvPr>
        </p:nvSpPr>
        <p:spPr>
          <a:xfrm>
            <a:off x="133564" y="1168003"/>
            <a:ext cx="8804952" cy="3348038"/>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鉴别首部</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 (Authentication Header)</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鉴别源点和检查数据完整性，但不能保密。</a:t>
            </a:r>
          </a:p>
          <a:p>
            <a:pPr eaLnBrk="1" hangingPunct="1"/>
            <a:r>
              <a:rPr lang="zh-CN" altLang="en-US" dirty="0">
                <a:solidFill>
                  <a:schemeClr val="hlink"/>
                </a:solidFill>
                <a:latin typeface="Times New Roman" panose="02020603050405020304" pitchFamily="18" charset="0"/>
                <a:ea typeface="宋体" panose="02010600030101010101" pitchFamily="2" charset="-122"/>
              </a:rPr>
              <a:t>封装安全有效载荷</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ESP (Encapsulation Security Payload)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ESP </a:t>
            </a:r>
            <a:r>
              <a:rPr lang="zh-CN" altLang="en-US" dirty="0">
                <a:latin typeface="Times New Roman" panose="02020603050405020304" pitchFamily="18" charset="0"/>
                <a:ea typeface="宋体" panose="02010600030101010101" pitchFamily="2" charset="-122"/>
              </a:rPr>
              <a:t>比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复杂得多，它鉴别源点、检查数据完整性和提供保密。 </a:t>
            </a:r>
          </a:p>
        </p:txBody>
      </p:sp>
      <p:sp>
        <p:nvSpPr>
          <p:cNvPr id="107523" name="幻灯片编号占位符 1">
            <a:extLst>
              <a:ext uri="{FF2B5EF4-FFF2-40B4-BE49-F238E27FC236}">
                <a16:creationId xmlns:a16="http://schemas.microsoft.com/office/drawing/2014/main" id="{2FC46690-9703-CB4D-B34D-267D35CCB2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CCAAB21-117E-E845-970A-C94433A40B5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48556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61D36642-44F8-7244-8170-CD98C6F7B859}"/>
              </a:ext>
            </a:extLst>
          </p:cNvPr>
          <p:cNvSpPr>
            <a:spLocks noGrp="1" noChangeArrowheads="1"/>
          </p:cNvSpPr>
          <p:nvPr>
            <p:ph type="title"/>
          </p:nvPr>
        </p:nvSpPr>
        <p:spPr>
          <a:xfrm>
            <a:off x="190067" y="260852"/>
            <a:ext cx="5844779" cy="647700"/>
          </a:xfrm>
        </p:spPr>
        <p:txBody>
          <a:bodyPr/>
          <a:lstStyle/>
          <a:p>
            <a:pPr eaLnBrk="1" hangingPunct="1"/>
            <a:r>
              <a:rPr lang="zh-CN" altLang="en-US" sz="3000" dirty="0">
                <a:ea typeface="宋体" panose="02010600030101010101" pitchFamily="2" charset="-122"/>
              </a:rPr>
              <a:t>安全关联 </a:t>
            </a:r>
            <a:r>
              <a:rPr lang="en-US" altLang="zh-CN" sz="3000" dirty="0">
                <a:ea typeface="宋体" panose="02010600030101010101" pitchFamily="2" charset="-122"/>
              </a:rPr>
              <a:t>SA</a:t>
            </a:r>
            <a:r>
              <a:rPr lang="en-US" altLang="zh-CN" sz="2700" dirty="0">
                <a:ea typeface="宋体" panose="02010600030101010101" pitchFamily="2" charset="-122"/>
              </a:rPr>
              <a:t>(Security Association)</a:t>
            </a:r>
            <a:r>
              <a:rPr lang="en-US" altLang="zh-CN" sz="3000" dirty="0">
                <a:ea typeface="宋体" panose="02010600030101010101" pitchFamily="2" charset="-122"/>
              </a:rPr>
              <a:t> </a:t>
            </a:r>
          </a:p>
        </p:txBody>
      </p:sp>
      <p:sp>
        <p:nvSpPr>
          <p:cNvPr id="707587" name="Rectangle 3">
            <a:extLst>
              <a:ext uri="{FF2B5EF4-FFF2-40B4-BE49-F238E27FC236}">
                <a16:creationId xmlns:a16="http://schemas.microsoft.com/office/drawing/2014/main" id="{0CF3E21B-9B9C-2248-8393-1A956D11ECFA}"/>
              </a:ext>
            </a:extLst>
          </p:cNvPr>
          <p:cNvSpPr>
            <a:spLocks noGrp="1" noChangeArrowheads="1"/>
          </p:cNvSpPr>
          <p:nvPr>
            <p:ph type="body" idx="1"/>
          </p:nvPr>
        </p:nvSpPr>
        <p:spPr>
          <a:xfrm>
            <a:off x="190066" y="1080655"/>
            <a:ext cx="8690697" cy="3759237"/>
          </a:xfrm>
        </p:spPr>
        <p:txBody>
          <a:bodyPr/>
          <a:lstStyle/>
          <a:p>
            <a:pPr eaLnBrk="1" hangingPunct="1"/>
            <a:r>
              <a:rPr lang="zh-CN" altLang="en-US" dirty="0">
                <a:latin typeface="Times New Roman" panose="02020603050405020304" pitchFamily="18" charset="0"/>
                <a:ea typeface="宋体" panose="02010600030101010101" pitchFamily="2" charset="-122"/>
              </a:rPr>
              <a:t>在使用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ESP </a:t>
            </a:r>
            <a:r>
              <a:rPr lang="zh-CN" altLang="en-US" dirty="0">
                <a:latin typeface="Times New Roman" panose="02020603050405020304" pitchFamily="18" charset="0"/>
                <a:ea typeface="宋体" panose="02010600030101010101" pitchFamily="2" charset="-122"/>
              </a:rPr>
              <a:t>之前，先要从源主机到目的主机建立一条网络层的逻辑连接。此逻辑连接叫做</a:t>
            </a:r>
            <a:r>
              <a:rPr lang="zh-CN" altLang="en-US" dirty="0">
                <a:solidFill>
                  <a:schemeClr val="hlink"/>
                </a:solidFill>
                <a:latin typeface="Times New Roman" panose="02020603050405020304" pitchFamily="18" charset="0"/>
                <a:ea typeface="宋体" panose="02010600030101010101" pitchFamily="2" charset="-122"/>
              </a:rPr>
              <a:t>安全关联</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SA</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IPsec</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就把传统的因特网无连接的网络层转换为具有逻辑连接的层。 </a:t>
            </a:r>
          </a:p>
        </p:txBody>
      </p:sp>
      <p:sp>
        <p:nvSpPr>
          <p:cNvPr id="108547" name="幻灯片编号占位符 1">
            <a:extLst>
              <a:ext uri="{FF2B5EF4-FFF2-40B4-BE49-F238E27FC236}">
                <a16:creationId xmlns:a16="http://schemas.microsoft.com/office/drawing/2014/main" id="{BFFFC93C-75C5-DF43-9155-C879BE5234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DFCC70-1931-D54C-8FC0-2FE8A714B21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88371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FAF01A1D-052E-274C-8DDD-7D670204A025}"/>
              </a:ext>
            </a:extLst>
          </p:cNvPr>
          <p:cNvSpPr>
            <a:spLocks noGrp="1" noChangeArrowheads="1"/>
          </p:cNvSpPr>
          <p:nvPr>
            <p:ph type="title"/>
          </p:nvPr>
        </p:nvSpPr>
        <p:spPr>
          <a:xfrm>
            <a:off x="166255" y="226219"/>
            <a:ext cx="7754974" cy="591199"/>
          </a:xfrm>
        </p:spPr>
        <p:txBody>
          <a:bodyPr/>
          <a:lstStyle/>
          <a:p>
            <a:pPr eaLnBrk="1" hangingPunct="1"/>
            <a:r>
              <a:rPr lang="en-US" altLang="zh-CN" dirty="0">
                <a:latin typeface="Times New Roman" panose="02020603050405020304" pitchFamily="18" charset="0"/>
                <a:ea typeface="宋体" panose="02010600030101010101" pitchFamily="2" charset="-122"/>
              </a:rPr>
              <a:t>7.7  </a:t>
            </a:r>
            <a:r>
              <a:rPr lang="zh-CN" altLang="en-US" dirty="0">
                <a:latin typeface="Times New Roman" panose="02020603050405020304" pitchFamily="18" charset="0"/>
                <a:ea typeface="宋体" panose="02010600030101010101" pitchFamily="2" charset="-122"/>
              </a:rPr>
              <a:t>系统安全：</a:t>
            </a:r>
            <a:r>
              <a:rPr lang="zh-CN" altLang="en-US" sz="3000" dirty="0">
                <a:ea typeface="宋体" panose="02010600030101010101" pitchFamily="2" charset="-122"/>
              </a:rPr>
              <a:t>防火墙与入侵检测</a:t>
            </a:r>
          </a:p>
        </p:txBody>
      </p:sp>
      <p:sp>
        <p:nvSpPr>
          <p:cNvPr id="625667" name="Rectangle 3">
            <a:extLst>
              <a:ext uri="{FF2B5EF4-FFF2-40B4-BE49-F238E27FC236}">
                <a16:creationId xmlns:a16="http://schemas.microsoft.com/office/drawing/2014/main" id="{7203E8F1-84E8-264F-83C5-B21CA6A2AEDD}"/>
              </a:ext>
            </a:extLst>
          </p:cNvPr>
          <p:cNvSpPr>
            <a:spLocks noGrp="1" noChangeArrowheads="1"/>
          </p:cNvSpPr>
          <p:nvPr>
            <p:ph type="body" idx="1"/>
          </p:nvPr>
        </p:nvSpPr>
        <p:spPr>
          <a:xfrm>
            <a:off x="166256" y="1496290"/>
            <a:ext cx="8672944" cy="3451947"/>
          </a:xfrm>
        </p:spPr>
        <p:txBody>
          <a:bodyPr/>
          <a:lstStyle/>
          <a:p>
            <a:pPr eaLnBrk="1" hangingPunct="1">
              <a:lnSpc>
                <a:spcPct val="90000"/>
              </a:lnSpc>
            </a:pPr>
            <a:r>
              <a:rPr lang="zh-CN" altLang="en-US" dirty="0">
                <a:solidFill>
                  <a:schemeClr val="hlink"/>
                </a:solidFill>
                <a:ea typeface="宋体" panose="02010600030101010101" pitchFamily="2" charset="-122"/>
              </a:rPr>
              <a:t>防火墙</a:t>
            </a:r>
            <a:r>
              <a:rPr lang="zh-CN" altLang="en-US" dirty="0">
                <a:ea typeface="宋体" panose="02010600030101010101" pitchFamily="2" charset="-122"/>
              </a:rPr>
              <a:t>是由软件、硬件构成的系统，是一种特殊编程的路由器，用来在两个网络之间实施接入控制策略。接入控制策略是由使用防火墙的单位自行制订的，为的是可以最适合本单位的需要。</a:t>
            </a:r>
          </a:p>
          <a:p>
            <a:pPr eaLnBrk="1" hangingPunct="1">
              <a:lnSpc>
                <a:spcPct val="90000"/>
              </a:lnSpc>
            </a:pPr>
            <a:r>
              <a:rPr lang="zh-CN" altLang="en-US" dirty="0">
                <a:ea typeface="宋体" panose="02010600030101010101" pitchFamily="2" charset="-122"/>
              </a:rPr>
              <a:t>防火墙内的网络称为“</a:t>
            </a:r>
            <a:r>
              <a:rPr lang="zh-CN" altLang="en-US" dirty="0">
                <a:solidFill>
                  <a:schemeClr val="hlink"/>
                </a:solidFill>
                <a:ea typeface="宋体" panose="02010600030101010101" pitchFamily="2" charset="-122"/>
              </a:rPr>
              <a:t>可信的网络</a:t>
            </a:r>
            <a:r>
              <a:rPr lang="zh-CN" altLang="en-US" dirty="0">
                <a:ea typeface="宋体" panose="02010600030101010101" pitchFamily="2" charset="-122"/>
              </a:rPr>
              <a:t>”</a:t>
            </a:r>
            <a:r>
              <a:rPr lang="en-US" altLang="zh-CN" dirty="0">
                <a:ea typeface="宋体" panose="02010600030101010101" pitchFamily="2" charset="-122"/>
              </a:rPr>
              <a:t>(trusted network)</a:t>
            </a:r>
            <a:r>
              <a:rPr lang="zh-CN" altLang="en-US" dirty="0">
                <a:ea typeface="宋体" panose="02010600030101010101" pitchFamily="2" charset="-122"/>
              </a:rPr>
              <a:t>，而将外部的因特网称为“</a:t>
            </a:r>
            <a:r>
              <a:rPr lang="zh-CN" altLang="en-US" dirty="0">
                <a:solidFill>
                  <a:schemeClr val="hlink"/>
                </a:solidFill>
                <a:ea typeface="宋体" panose="02010600030101010101" pitchFamily="2" charset="-122"/>
              </a:rPr>
              <a:t>不可信的网络</a:t>
            </a:r>
            <a:r>
              <a:rPr lang="zh-CN" altLang="en-US" dirty="0">
                <a:ea typeface="宋体" panose="02010600030101010101" pitchFamily="2" charset="-122"/>
              </a:rPr>
              <a:t>”</a:t>
            </a:r>
            <a:r>
              <a:rPr lang="en-US" altLang="zh-CN" dirty="0">
                <a:ea typeface="宋体" panose="02010600030101010101" pitchFamily="2" charset="-122"/>
              </a:rPr>
              <a:t>(untrusted network)</a:t>
            </a:r>
            <a:r>
              <a:rPr lang="zh-CN" altLang="en-US" dirty="0">
                <a:ea typeface="宋体" panose="02010600030101010101" pitchFamily="2" charset="-122"/>
              </a:rPr>
              <a:t>。</a:t>
            </a:r>
          </a:p>
          <a:p>
            <a:pPr eaLnBrk="1" hangingPunct="1">
              <a:lnSpc>
                <a:spcPct val="90000"/>
              </a:lnSpc>
            </a:pPr>
            <a:r>
              <a:rPr lang="zh-CN" altLang="en-US" dirty="0">
                <a:ea typeface="宋体" panose="02010600030101010101" pitchFamily="2" charset="-122"/>
              </a:rPr>
              <a:t>防火墙可用来解决内联网和外联网的安全问题。 </a:t>
            </a:r>
          </a:p>
        </p:txBody>
      </p:sp>
      <p:sp>
        <p:nvSpPr>
          <p:cNvPr id="118787" name="幻灯片编号占位符 1">
            <a:extLst>
              <a:ext uri="{FF2B5EF4-FFF2-40B4-BE49-F238E27FC236}">
                <a16:creationId xmlns:a16="http://schemas.microsoft.com/office/drawing/2014/main" id="{EA41A666-CFF6-494D-9B05-CF9103FA64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E4D3C9-459E-DD4B-B95A-2728E0213A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1B58357A-AFE8-3140-ACA1-831495657D8D}"/>
              </a:ext>
            </a:extLst>
          </p:cNvPr>
          <p:cNvSpPr/>
          <p:nvPr/>
        </p:nvSpPr>
        <p:spPr>
          <a:xfrm>
            <a:off x="193965" y="997852"/>
            <a:ext cx="4572000" cy="523220"/>
          </a:xfrm>
          <a:prstGeom prst="rect">
            <a:avLst/>
          </a:prstGeom>
        </p:spPr>
        <p:txBody>
          <a:bodyPr>
            <a:spAutoFit/>
          </a:bodyPr>
          <a:lstStyle/>
          <a:p>
            <a:r>
              <a:rPr lang="en-US" altLang="zh-CN" sz="2800" dirty="0"/>
              <a:t>7.7.1 </a:t>
            </a:r>
            <a:r>
              <a:rPr lang="zh-CN" altLang="en-US" sz="2800" dirty="0"/>
              <a:t>防火墙</a:t>
            </a:r>
            <a:r>
              <a:rPr lang="zh-CN" altLang="en-US" sz="2400" dirty="0"/>
              <a:t> </a:t>
            </a:r>
            <a:endParaRPr lang="zh-CN" altLang="en-US" sz="2800" dirty="0"/>
          </a:p>
        </p:txBody>
      </p:sp>
    </p:spTree>
    <p:extLst>
      <p:ext uri="{BB962C8B-B14F-4D97-AF65-F5344CB8AC3E}">
        <p14:creationId xmlns:p14="http://schemas.microsoft.com/office/powerpoint/2010/main" val="3729394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5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5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B7B0B5B1-FAA0-7340-89D6-E14CB5EDA5A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防火墙在互连网络中的位置 </a:t>
            </a:r>
          </a:p>
        </p:txBody>
      </p:sp>
      <p:sp>
        <p:nvSpPr>
          <p:cNvPr id="626722" name="AutoShape 34">
            <a:extLst>
              <a:ext uri="{FF2B5EF4-FFF2-40B4-BE49-F238E27FC236}">
                <a16:creationId xmlns:a16="http://schemas.microsoft.com/office/drawing/2014/main" id="{0C0735C7-0236-E945-B6C7-B0F25CEAD7E2}"/>
              </a:ext>
            </a:extLst>
          </p:cNvPr>
          <p:cNvSpPr>
            <a:spLocks noChangeArrowheads="1"/>
          </p:cNvSpPr>
          <p:nvPr/>
        </p:nvSpPr>
        <p:spPr bwMode="auto">
          <a:xfrm>
            <a:off x="3143250" y="2171700"/>
            <a:ext cx="2971800" cy="1657350"/>
          </a:xfrm>
          <a:prstGeom prst="cube">
            <a:avLst>
              <a:gd name="adj" fmla="val 11935"/>
            </a:avLst>
          </a:prstGeom>
          <a:solidFill>
            <a:srgbClr val="FFCCCC"/>
          </a:solidFill>
          <a:ln w="1905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3" name="Line 35">
            <a:extLst>
              <a:ext uri="{FF2B5EF4-FFF2-40B4-BE49-F238E27FC236}">
                <a16:creationId xmlns:a16="http://schemas.microsoft.com/office/drawing/2014/main" id="{13120455-3903-6E45-9945-55DE15769ED6}"/>
              </a:ext>
            </a:extLst>
          </p:cNvPr>
          <p:cNvSpPr>
            <a:spLocks noChangeShapeType="1"/>
          </p:cNvSpPr>
          <p:nvPr/>
        </p:nvSpPr>
        <p:spPr bwMode="auto">
          <a:xfrm>
            <a:off x="5543550" y="3143250"/>
            <a:ext cx="9144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119812" name="Picture 36">
            <a:extLst>
              <a:ext uri="{FF2B5EF4-FFF2-40B4-BE49-F238E27FC236}">
                <a16:creationId xmlns:a16="http://schemas.microsoft.com/office/drawing/2014/main" id="{9342AF71-2B66-BB4D-AF03-8895DFE60A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2743200"/>
            <a:ext cx="13144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5" name="Line 37">
            <a:extLst>
              <a:ext uri="{FF2B5EF4-FFF2-40B4-BE49-F238E27FC236}">
                <a16:creationId xmlns:a16="http://schemas.microsoft.com/office/drawing/2014/main" id="{B860DF5A-7C11-584F-A669-CD7DE7C8697A}"/>
              </a:ext>
            </a:extLst>
          </p:cNvPr>
          <p:cNvSpPr>
            <a:spLocks noChangeShapeType="1"/>
          </p:cNvSpPr>
          <p:nvPr/>
        </p:nvSpPr>
        <p:spPr bwMode="auto">
          <a:xfrm>
            <a:off x="3429000" y="3543300"/>
            <a:ext cx="97155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6" name="Line 38">
            <a:extLst>
              <a:ext uri="{FF2B5EF4-FFF2-40B4-BE49-F238E27FC236}">
                <a16:creationId xmlns:a16="http://schemas.microsoft.com/office/drawing/2014/main" id="{B071F09F-007E-0149-B78C-41DFCDDA078E}"/>
              </a:ext>
            </a:extLst>
          </p:cNvPr>
          <p:cNvSpPr>
            <a:spLocks noChangeShapeType="1"/>
          </p:cNvSpPr>
          <p:nvPr/>
        </p:nvSpPr>
        <p:spPr bwMode="auto">
          <a:xfrm rot="16200000">
            <a:off x="3486150" y="3429000"/>
            <a:ext cx="2286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7" name="Line 39">
            <a:extLst>
              <a:ext uri="{FF2B5EF4-FFF2-40B4-BE49-F238E27FC236}">
                <a16:creationId xmlns:a16="http://schemas.microsoft.com/office/drawing/2014/main" id="{5E6D2782-F3C7-A449-AAC4-9D52500F21CD}"/>
              </a:ext>
            </a:extLst>
          </p:cNvPr>
          <p:cNvSpPr>
            <a:spLocks noChangeShapeType="1"/>
          </p:cNvSpPr>
          <p:nvPr/>
        </p:nvSpPr>
        <p:spPr bwMode="auto">
          <a:xfrm rot="16200000">
            <a:off x="4171950" y="3429000"/>
            <a:ext cx="2286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19816" name="Group 40">
            <a:extLst>
              <a:ext uri="{FF2B5EF4-FFF2-40B4-BE49-F238E27FC236}">
                <a16:creationId xmlns:a16="http://schemas.microsoft.com/office/drawing/2014/main" id="{F3B0BEE9-1B35-FF42-B343-CAC71B85F89B}"/>
              </a:ext>
            </a:extLst>
          </p:cNvPr>
          <p:cNvGrpSpPr>
            <a:grpSpLocks/>
          </p:cNvGrpSpPr>
          <p:nvPr/>
        </p:nvGrpSpPr>
        <p:grpSpPr bwMode="auto">
          <a:xfrm>
            <a:off x="4514850" y="3200400"/>
            <a:ext cx="971550" cy="342900"/>
            <a:chOff x="1440" y="1872"/>
            <a:chExt cx="816" cy="192"/>
          </a:xfrm>
        </p:grpSpPr>
        <p:sp>
          <p:nvSpPr>
            <p:cNvPr id="626729" name="Line 41">
              <a:extLst>
                <a:ext uri="{FF2B5EF4-FFF2-40B4-BE49-F238E27FC236}">
                  <a16:creationId xmlns:a16="http://schemas.microsoft.com/office/drawing/2014/main" id="{FC5559B4-DFF4-BB45-9FE6-367369AAE750}"/>
                </a:ext>
              </a:extLst>
            </p:cNvPr>
            <p:cNvSpPr>
              <a:spLocks noChangeShapeType="1"/>
            </p:cNvSpPr>
            <p:nvPr/>
          </p:nvSpPr>
          <p:spPr bwMode="auto">
            <a:xfrm>
              <a:off x="1440" y="2064"/>
              <a:ext cx="816"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30" name="Line 42">
              <a:extLst>
                <a:ext uri="{FF2B5EF4-FFF2-40B4-BE49-F238E27FC236}">
                  <a16:creationId xmlns:a16="http://schemas.microsoft.com/office/drawing/2014/main" id="{F4FD5155-5B18-A64A-99E9-BEE2970FE2C6}"/>
                </a:ext>
              </a:extLst>
            </p:cNvPr>
            <p:cNvSpPr>
              <a:spLocks noChangeShapeType="1"/>
            </p:cNvSpPr>
            <p:nvPr/>
          </p:nvSpPr>
          <p:spPr bwMode="auto">
            <a:xfrm rot="-5400000">
              <a:off x="1440" y="1968"/>
              <a:ext cx="192"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31" name="Line 43">
              <a:extLst>
                <a:ext uri="{FF2B5EF4-FFF2-40B4-BE49-F238E27FC236}">
                  <a16:creationId xmlns:a16="http://schemas.microsoft.com/office/drawing/2014/main" id="{ACDB7B07-924C-DA42-B8CE-D259BDC44CE7}"/>
                </a:ext>
              </a:extLst>
            </p:cNvPr>
            <p:cNvSpPr>
              <a:spLocks noChangeShapeType="1"/>
            </p:cNvSpPr>
            <p:nvPr/>
          </p:nvSpPr>
          <p:spPr bwMode="auto">
            <a:xfrm rot="-5400000">
              <a:off x="2064" y="1968"/>
              <a:ext cx="192"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626732" name="Line 44">
            <a:extLst>
              <a:ext uri="{FF2B5EF4-FFF2-40B4-BE49-F238E27FC236}">
                <a16:creationId xmlns:a16="http://schemas.microsoft.com/office/drawing/2014/main" id="{F1014E09-EEA0-6B45-BDBB-40270D579E66}"/>
              </a:ext>
            </a:extLst>
          </p:cNvPr>
          <p:cNvSpPr>
            <a:spLocks noChangeShapeType="1"/>
          </p:cNvSpPr>
          <p:nvPr/>
        </p:nvSpPr>
        <p:spPr bwMode="auto">
          <a:xfrm>
            <a:off x="2914650" y="3200400"/>
            <a:ext cx="4572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18" name="Text Box 45">
            <a:extLst>
              <a:ext uri="{FF2B5EF4-FFF2-40B4-BE49-F238E27FC236}">
                <a16:creationId xmlns:a16="http://schemas.microsoft.com/office/drawing/2014/main" id="{8E7BC8F0-86ED-5A40-8BF9-BA3713960FC1}"/>
              </a:ext>
            </a:extLst>
          </p:cNvPr>
          <p:cNvSpPr txBox="1">
            <a:spLocks noChangeArrowheads="1"/>
          </p:cNvSpPr>
          <p:nvPr/>
        </p:nvSpPr>
        <p:spPr bwMode="auto">
          <a:xfrm>
            <a:off x="6572251" y="305990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内联网</a:t>
            </a:r>
          </a:p>
        </p:txBody>
      </p:sp>
      <p:sp>
        <p:nvSpPr>
          <p:cNvPr id="626734" name="Oval 46">
            <a:extLst>
              <a:ext uri="{FF2B5EF4-FFF2-40B4-BE49-F238E27FC236}">
                <a16:creationId xmlns:a16="http://schemas.microsoft.com/office/drawing/2014/main" id="{42F5A17A-750C-EB4A-91F0-980A76361B55}"/>
              </a:ext>
            </a:extLst>
          </p:cNvPr>
          <p:cNvSpPr>
            <a:spLocks noChangeArrowheads="1"/>
          </p:cNvSpPr>
          <p:nvPr/>
        </p:nvSpPr>
        <p:spPr bwMode="auto">
          <a:xfrm>
            <a:off x="6172200" y="2343150"/>
            <a:ext cx="1428750" cy="1428750"/>
          </a:xfrm>
          <a:prstGeom prst="ellipse">
            <a:avLst/>
          </a:prstGeom>
          <a:noFill/>
          <a:ln w="38100">
            <a:solidFill>
              <a:schemeClr val="hlink"/>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20" name="Text Box 47">
            <a:extLst>
              <a:ext uri="{FF2B5EF4-FFF2-40B4-BE49-F238E27FC236}">
                <a16:creationId xmlns:a16="http://schemas.microsoft.com/office/drawing/2014/main" id="{4ACE6E8E-C351-D64F-9F13-0A66E8CC21CD}"/>
              </a:ext>
            </a:extLst>
          </p:cNvPr>
          <p:cNvSpPr txBox="1">
            <a:spLocks noChangeArrowheads="1"/>
          </p:cNvSpPr>
          <p:nvPr/>
        </p:nvSpPr>
        <p:spPr bwMode="auto">
          <a:xfrm>
            <a:off x="6425804" y="2505076"/>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可信的网络</a:t>
            </a:r>
          </a:p>
        </p:txBody>
      </p:sp>
      <p:sp>
        <p:nvSpPr>
          <p:cNvPr id="119821" name="Text Box 48">
            <a:extLst>
              <a:ext uri="{FF2B5EF4-FFF2-40B4-BE49-F238E27FC236}">
                <a16:creationId xmlns:a16="http://schemas.microsoft.com/office/drawing/2014/main" id="{EDE78D4A-60AC-704C-95EF-7BEDFB14DDF9}"/>
              </a:ext>
            </a:extLst>
          </p:cNvPr>
          <p:cNvSpPr txBox="1">
            <a:spLocks noChangeArrowheads="1"/>
          </p:cNvSpPr>
          <p:nvPr/>
        </p:nvSpPr>
        <p:spPr bwMode="auto">
          <a:xfrm>
            <a:off x="1683544" y="2352676"/>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不可信的网络</a:t>
            </a:r>
          </a:p>
        </p:txBody>
      </p:sp>
      <p:sp>
        <p:nvSpPr>
          <p:cNvPr id="119822" name="Text Box 49">
            <a:extLst>
              <a:ext uri="{FF2B5EF4-FFF2-40B4-BE49-F238E27FC236}">
                <a16:creationId xmlns:a16="http://schemas.microsoft.com/office/drawing/2014/main" id="{25C6D9D6-C596-5547-8A65-11118ECB55DB}"/>
              </a:ext>
            </a:extLst>
          </p:cNvPr>
          <p:cNvSpPr txBox="1">
            <a:spLocks noChangeArrowheads="1"/>
          </p:cNvSpPr>
          <p:nvPr/>
        </p:nvSpPr>
        <p:spPr bwMode="auto">
          <a:xfrm>
            <a:off x="3243203" y="2457450"/>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分组过滤</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路由器</a:t>
            </a:r>
          </a:p>
        </p:txBody>
      </p:sp>
      <p:sp>
        <p:nvSpPr>
          <p:cNvPr id="119823" name="Text Box 50">
            <a:extLst>
              <a:ext uri="{FF2B5EF4-FFF2-40B4-BE49-F238E27FC236}">
                <a16:creationId xmlns:a16="http://schemas.microsoft.com/office/drawing/2014/main" id="{EE5FF82D-EF3C-4946-975E-6FA520C52363}"/>
              </a:ext>
            </a:extLst>
          </p:cNvPr>
          <p:cNvSpPr txBox="1">
            <a:spLocks noChangeArrowheads="1"/>
          </p:cNvSpPr>
          <p:nvPr/>
        </p:nvSpPr>
        <p:spPr bwMode="auto">
          <a:xfrm>
            <a:off x="4998184" y="2457450"/>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分组过滤</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路由器</a:t>
            </a:r>
          </a:p>
        </p:txBody>
      </p:sp>
      <p:sp>
        <p:nvSpPr>
          <p:cNvPr id="119824" name="Text Box 51">
            <a:extLst>
              <a:ext uri="{FF2B5EF4-FFF2-40B4-BE49-F238E27FC236}">
                <a16:creationId xmlns:a16="http://schemas.microsoft.com/office/drawing/2014/main" id="{519059B1-62B0-FE40-922F-FE737756A622}"/>
              </a:ext>
            </a:extLst>
          </p:cNvPr>
          <p:cNvSpPr txBox="1">
            <a:spLocks noChangeArrowheads="1"/>
          </p:cNvSpPr>
          <p:nvPr/>
        </p:nvSpPr>
        <p:spPr bwMode="auto">
          <a:xfrm>
            <a:off x="4114801" y="257175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应用网关</a:t>
            </a:r>
          </a:p>
        </p:txBody>
      </p:sp>
      <p:sp>
        <p:nvSpPr>
          <p:cNvPr id="119825" name="Text Box 52">
            <a:extLst>
              <a:ext uri="{FF2B5EF4-FFF2-40B4-BE49-F238E27FC236}">
                <a16:creationId xmlns:a16="http://schemas.microsoft.com/office/drawing/2014/main" id="{5E984204-1E58-EC47-88E3-8CEA8FE33645}"/>
              </a:ext>
            </a:extLst>
          </p:cNvPr>
          <p:cNvSpPr txBox="1">
            <a:spLocks noChangeArrowheads="1"/>
          </p:cNvSpPr>
          <p:nvPr/>
        </p:nvSpPr>
        <p:spPr bwMode="auto">
          <a:xfrm>
            <a:off x="3437335" y="35433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外局域网</a:t>
            </a:r>
          </a:p>
        </p:txBody>
      </p:sp>
      <p:sp>
        <p:nvSpPr>
          <p:cNvPr id="119826" name="Text Box 53">
            <a:extLst>
              <a:ext uri="{FF2B5EF4-FFF2-40B4-BE49-F238E27FC236}">
                <a16:creationId xmlns:a16="http://schemas.microsoft.com/office/drawing/2014/main" id="{B9AEE771-43DA-DE40-986D-495E5B296AEE}"/>
              </a:ext>
            </a:extLst>
          </p:cNvPr>
          <p:cNvSpPr txBox="1">
            <a:spLocks noChangeArrowheads="1"/>
          </p:cNvSpPr>
          <p:nvPr/>
        </p:nvSpPr>
        <p:spPr bwMode="auto">
          <a:xfrm>
            <a:off x="4624388" y="35433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内局域网</a:t>
            </a:r>
          </a:p>
        </p:txBody>
      </p:sp>
      <p:sp>
        <p:nvSpPr>
          <p:cNvPr id="119827" name="Text Box 54">
            <a:extLst>
              <a:ext uri="{FF2B5EF4-FFF2-40B4-BE49-F238E27FC236}">
                <a16:creationId xmlns:a16="http://schemas.microsoft.com/office/drawing/2014/main" id="{8E98FAC0-CA0F-484A-93AE-FA1236F5989D}"/>
              </a:ext>
            </a:extLst>
          </p:cNvPr>
          <p:cNvSpPr txBox="1">
            <a:spLocks noChangeArrowheads="1"/>
          </p:cNvSpPr>
          <p:nvPr/>
        </p:nvSpPr>
        <p:spPr bwMode="auto">
          <a:xfrm>
            <a:off x="4408885" y="1885951"/>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a:t>
            </a:r>
          </a:p>
        </p:txBody>
      </p:sp>
      <p:pic>
        <p:nvPicPr>
          <p:cNvPr id="119828" name="Picture 55">
            <a:extLst>
              <a:ext uri="{FF2B5EF4-FFF2-40B4-BE49-F238E27FC236}">
                <a16:creationId xmlns:a16="http://schemas.microsoft.com/office/drawing/2014/main" id="{F03B55D9-2559-E94B-A88B-BF202926BF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3275" y="3057525"/>
            <a:ext cx="514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29" name="Picture 56">
            <a:extLst>
              <a:ext uri="{FF2B5EF4-FFF2-40B4-BE49-F238E27FC236}">
                <a16:creationId xmlns:a16="http://schemas.microsoft.com/office/drawing/2014/main" id="{F108B222-F8EA-0F40-9001-D2750C251D6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925" y="3019425"/>
            <a:ext cx="514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9830" name="Group 57">
            <a:extLst>
              <a:ext uri="{FF2B5EF4-FFF2-40B4-BE49-F238E27FC236}">
                <a16:creationId xmlns:a16="http://schemas.microsoft.com/office/drawing/2014/main" id="{1F6AE981-7D30-0B4E-998F-F8981234513F}"/>
              </a:ext>
            </a:extLst>
          </p:cNvPr>
          <p:cNvGrpSpPr>
            <a:grpSpLocks/>
          </p:cNvGrpSpPr>
          <p:nvPr/>
        </p:nvGrpSpPr>
        <p:grpSpPr bwMode="auto">
          <a:xfrm>
            <a:off x="4229100" y="2857500"/>
            <a:ext cx="457200" cy="457200"/>
            <a:chOff x="2256" y="1488"/>
            <a:chExt cx="384" cy="384"/>
          </a:xfrm>
        </p:grpSpPr>
        <p:sp>
          <p:nvSpPr>
            <p:cNvPr id="626746" name="AutoShape 58">
              <a:extLst>
                <a:ext uri="{FF2B5EF4-FFF2-40B4-BE49-F238E27FC236}">
                  <a16:creationId xmlns:a16="http://schemas.microsoft.com/office/drawing/2014/main" id="{FC1C991C-9864-1A46-A41E-4D0FB5C1AFBA}"/>
                </a:ext>
              </a:extLst>
            </p:cNvPr>
            <p:cNvSpPr>
              <a:spLocks noChangeArrowheads="1"/>
            </p:cNvSpPr>
            <p:nvPr/>
          </p:nvSpPr>
          <p:spPr bwMode="auto">
            <a:xfrm>
              <a:off x="2256" y="1488"/>
              <a:ext cx="384" cy="384"/>
            </a:xfrm>
            <a:prstGeom prst="cube">
              <a:avLst>
                <a:gd name="adj" fmla="val 12963"/>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47" name="Text Box 59">
              <a:extLst>
                <a:ext uri="{FF2B5EF4-FFF2-40B4-BE49-F238E27FC236}">
                  <a16:creationId xmlns:a16="http://schemas.microsoft.com/office/drawing/2014/main" id="{F6F861FF-0355-524C-A2DF-FF2C327D0F73}"/>
                </a:ext>
              </a:extLst>
            </p:cNvPr>
            <p:cNvSpPr txBox="1">
              <a:spLocks noChangeArrowheads="1"/>
            </p:cNvSpPr>
            <p:nvPr/>
          </p:nvSpPr>
          <p:spPr bwMode="auto">
            <a:xfrm>
              <a:off x="2315" y="1606"/>
              <a:ext cx="256" cy="233"/>
            </a:xfrm>
            <a:prstGeom prst="rect">
              <a:avLst/>
            </a:prstGeom>
            <a:solidFill>
              <a:srgbClr val="FFFF66"/>
            </a:solid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G</a:t>
              </a:r>
            </a:p>
          </p:txBody>
        </p:sp>
      </p:grpSp>
      <p:graphicFrame>
        <p:nvGraphicFramePr>
          <p:cNvPr id="119831" name="Object 60">
            <a:extLst>
              <a:ext uri="{FF2B5EF4-FFF2-40B4-BE49-F238E27FC236}">
                <a16:creationId xmlns:a16="http://schemas.microsoft.com/office/drawing/2014/main" id="{22025706-DB91-F74D-8A83-BF34802CAE70}"/>
              </a:ext>
            </a:extLst>
          </p:cNvPr>
          <p:cNvGraphicFramePr>
            <a:graphicFrameLocks noChangeAspect="1"/>
          </p:cNvGraphicFramePr>
          <p:nvPr/>
        </p:nvGraphicFramePr>
        <p:xfrm>
          <a:off x="1371600" y="2628900"/>
          <a:ext cx="1657350" cy="1028700"/>
        </p:xfrm>
        <a:graphic>
          <a:graphicData uri="http://schemas.openxmlformats.org/presentationml/2006/ole">
            <mc:AlternateContent xmlns:mc="http://schemas.openxmlformats.org/markup-compatibility/2006">
              <mc:Choice xmlns:v="urn:schemas-microsoft-com:vml" Requires="v">
                <p:oleObj spid="_x0000_s105481" name="VISIO" r:id="rId5" imgW="3378200" imgH="1930400" progId="Visio.Drawing.6">
                  <p:embed/>
                </p:oleObj>
              </mc:Choice>
              <mc:Fallback>
                <p:oleObj name="VISIO" r:id="rId5" imgW="3378200" imgH="1930400" progId="Visio.Drawing.6">
                  <p:embed/>
                  <p:pic>
                    <p:nvPicPr>
                      <p:cNvPr id="119831" name="Object 60">
                        <a:extLst>
                          <a:ext uri="{FF2B5EF4-FFF2-40B4-BE49-F238E27FC236}">
                            <a16:creationId xmlns:a16="http://schemas.microsoft.com/office/drawing/2014/main" id="{22025706-DB91-F74D-8A83-BF34802CAE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2628900"/>
                        <a:ext cx="16573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9832" name="Text Box 61">
            <a:extLst>
              <a:ext uri="{FF2B5EF4-FFF2-40B4-BE49-F238E27FC236}">
                <a16:creationId xmlns:a16="http://schemas.microsoft.com/office/drawing/2014/main" id="{688D5042-72A4-D04B-A312-5184E91DE065}"/>
              </a:ext>
            </a:extLst>
          </p:cNvPr>
          <p:cNvSpPr txBox="1">
            <a:spLocks noChangeArrowheads="1"/>
          </p:cNvSpPr>
          <p:nvPr/>
        </p:nvSpPr>
        <p:spPr bwMode="auto">
          <a:xfrm>
            <a:off x="1909763" y="299323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因特网</a:t>
            </a:r>
          </a:p>
        </p:txBody>
      </p:sp>
      <p:sp>
        <p:nvSpPr>
          <p:cNvPr id="626750" name="Line 62">
            <a:extLst>
              <a:ext uri="{FF2B5EF4-FFF2-40B4-BE49-F238E27FC236}">
                <a16:creationId xmlns:a16="http://schemas.microsoft.com/office/drawing/2014/main" id="{037B7B7A-4E9A-DD40-8350-28A6D7EC62D2}"/>
              </a:ext>
            </a:extLst>
          </p:cNvPr>
          <p:cNvSpPr>
            <a:spLocks noChangeShapeType="1"/>
          </p:cNvSpPr>
          <p:nvPr/>
        </p:nvSpPr>
        <p:spPr bwMode="auto">
          <a:xfrm flipH="1">
            <a:off x="3168254" y="2031206"/>
            <a:ext cx="971550" cy="0"/>
          </a:xfrm>
          <a:prstGeom prst="line">
            <a:avLst/>
          </a:prstGeom>
          <a:noFill/>
          <a:ln w="9525">
            <a:solidFill>
              <a:schemeClr val="tx1"/>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sp>
        <p:nvSpPr>
          <p:cNvPr id="119834" name="Text Box 63">
            <a:extLst>
              <a:ext uri="{FF2B5EF4-FFF2-40B4-BE49-F238E27FC236}">
                <a16:creationId xmlns:a16="http://schemas.microsoft.com/office/drawing/2014/main" id="{ED735858-F79D-224D-A84C-FDA8F291649A}"/>
              </a:ext>
            </a:extLst>
          </p:cNvPr>
          <p:cNvSpPr txBox="1">
            <a:spLocks noChangeArrowheads="1"/>
          </p:cNvSpPr>
          <p:nvPr/>
        </p:nvSpPr>
        <p:spPr bwMode="auto">
          <a:xfrm>
            <a:off x="5868591" y="188714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防火墙的里面</a:t>
            </a:r>
          </a:p>
        </p:txBody>
      </p:sp>
      <p:sp>
        <p:nvSpPr>
          <p:cNvPr id="119835" name="Text Box 64">
            <a:extLst>
              <a:ext uri="{FF2B5EF4-FFF2-40B4-BE49-F238E27FC236}">
                <a16:creationId xmlns:a16="http://schemas.microsoft.com/office/drawing/2014/main" id="{EBA5BDDA-66DA-E941-88B9-D680B3ACCEA3}"/>
              </a:ext>
            </a:extLst>
          </p:cNvPr>
          <p:cNvSpPr txBox="1">
            <a:spLocks noChangeArrowheads="1"/>
          </p:cNvSpPr>
          <p:nvPr/>
        </p:nvSpPr>
        <p:spPr bwMode="auto">
          <a:xfrm>
            <a:off x="2115741" y="188714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防火墙的外面</a:t>
            </a:r>
          </a:p>
        </p:txBody>
      </p:sp>
      <p:sp>
        <p:nvSpPr>
          <p:cNvPr id="626753" name="AutoShape 65">
            <a:extLst>
              <a:ext uri="{FF2B5EF4-FFF2-40B4-BE49-F238E27FC236}">
                <a16:creationId xmlns:a16="http://schemas.microsoft.com/office/drawing/2014/main" id="{056C6715-BA1D-AE4B-9AA6-F4CF2DBCBB11}"/>
              </a:ext>
            </a:extLst>
          </p:cNvPr>
          <p:cNvSpPr>
            <a:spLocks noChangeArrowheads="1"/>
          </p:cNvSpPr>
          <p:nvPr/>
        </p:nvSpPr>
        <p:spPr bwMode="auto">
          <a:xfrm>
            <a:off x="4139804" y="1815704"/>
            <a:ext cx="3564731" cy="2159794"/>
          </a:xfrm>
          <a:prstGeom prst="roundRect">
            <a:avLst>
              <a:gd name="adj" fmla="val 16667"/>
            </a:avLst>
          </a:prstGeom>
          <a:noFill/>
          <a:ln w="19050">
            <a:solidFill>
              <a:schemeClr val="hlink"/>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37" name="幻灯片编号占位符 1">
            <a:extLst>
              <a:ext uri="{FF2B5EF4-FFF2-40B4-BE49-F238E27FC236}">
                <a16:creationId xmlns:a16="http://schemas.microsoft.com/office/drawing/2014/main" id="{E1C35D64-AC9E-6148-8227-58A9BAC76F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59FD391-099F-6049-A175-D4E5A0BBE9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897305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5F8DFDD1-2398-EC48-AA2F-A638FCA4890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防火墙的功能</a:t>
            </a:r>
          </a:p>
        </p:txBody>
      </p:sp>
      <p:sp>
        <p:nvSpPr>
          <p:cNvPr id="628739" name="Rectangle 3">
            <a:extLst>
              <a:ext uri="{FF2B5EF4-FFF2-40B4-BE49-F238E27FC236}">
                <a16:creationId xmlns:a16="http://schemas.microsoft.com/office/drawing/2014/main" id="{C89363AE-D077-CC46-AA8E-074C7D61444C}"/>
              </a:ext>
            </a:extLst>
          </p:cNvPr>
          <p:cNvSpPr>
            <a:spLocks noGrp="1" noChangeArrowheads="1"/>
          </p:cNvSpPr>
          <p:nvPr>
            <p:ph type="body" idx="1"/>
          </p:nvPr>
        </p:nvSpPr>
        <p:spPr>
          <a:xfrm>
            <a:off x="169524" y="1015604"/>
            <a:ext cx="8804952" cy="3456384"/>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防火墙的功能有两个：</a:t>
            </a:r>
            <a:r>
              <a:rPr lang="zh-CN" altLang="en-US" dirty="0">
                <a:solidFill>
                  <a:schemeClr val="hlink"/>
                </a:solidFill>
                <a:latin typeface="Times New Roman" panose="02020603050405020304" pitchFamily="18" charset="0"/>
                <a:ea typeface="宋体" panose="02010600030101010101" pitchFamily="2" charset="-122"/>
              </a:rPr>
              <a:t>阻止</a:t>
            </a:r>
            <a:r>
              <a:rPr lang="zh-CN" altLang="en-US" dirty="0">
                <a:latin typeface="Times New Roman" panose="02020603050405020304" pitchFamily="18" charset="0"/>
                <a:ea typeface="宋体" panose="02010600030101010101" pitchFamily="2" charset="-122"/>
              </a:rPr>
              <a:t>和</a:t>
            </a:r>
            <a:r>
              <a:rPr lang="zh-CN" altLang="en-US" dirty="0">
                <a:solidFill>
                  <a:schemeClr val="hlink"/>
                </a:solidFill>
                <a:latin typeface="Times New Roman" panose="02020603050405020304" pitchFamily="18" charset="0"/>
                <a:ea typeface="宋体" panose="02010600030101010101" pitchFamily="2" charset="-122"/>
              </a:rPr>
              <a:t>允许</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“阻止”就是阻止某种类型的通信量通过防火墙（从外部网络到内部网络，或反过来）。</a:t>
            </a:r>
          </a:p>
          <a:p>
            <a:pPr eaLnBrk="1" hangingPunct="1">
              <a:lnSpc>
                <a:spcPct val="90000"/>
              </a:lnSpc>
            </a:pPr>
            <a:r>
              <a:rPr lang="zh-CN" altLang="en-US" dirty="0">
                <a:latin typeface="Times New Roman" panose="02020603050405020304" pitchFamily="18" charset="0"/>
                <a:ea typeface="宋体" panose="02010600030101010101" pitchFamily="2" charset="-122"/>
              </a:rPr>
              <a:t>“允许”的功能与“阻止”恰好相反。</a:t>
            </a:r>
          </a:p>
          <a:p>
            <a:pPr eaLnBrk="1" hangingPunct="1">
              <a:lnSpc>
                <a:spcPct val="90000"/>
              </a:lnSpc>
            </a:pPr>
            <a:r>
              <a:rPr lang="zh-CN" altLang="en-US" dirty="0">
                <a:latin typeface="Times New Roman" panose="02020603050405020304" pitchFamily="18" charset="0"/>
                <a:ea typeface="宋体" panose="02010600030101010101" pitchFamily="2" charset="-122"/>
              </a:rPr>
              <a:t>防火墙必须能够识别通信量的各种类型。不过在大多数情况下防火墙的主要功能是“阻止”。 </a:t>
            </a:r>
          </a:p>
        </p:txBody>
      </p:sp>
      <p:sp>
        <p:nvSpPr>
          <p:cNvPr id="120835" name="幻灯片编号占位符 1">
            <a:extLst>
              <a:ext uri="{FF2B5EF4-FFF2-40B4-BE49-F238E27FC236}">
                <a16:creationId xmlns:a16="http://schemas.microsoft.com/office/drawing/2014/main" id="{305B5B3D-0C5B-EE46-B871-BB63588883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0CD112-F837-D04B-AA79-E8CA2F7307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4883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873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87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395F01BD-4444-C542-B44A-5B1FE320719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防火墙技术一般分为两类 </a:t>
            </a:r>
          </a:p>
        </p:txBody>
      </p:sp>
      <p:sp>
        <p:nvSpPr>
          <p:cNvPr id="629763" name="Rectangle 3">
            <a:extLst>
              <a:ext uri="{FF2B5EF4-FFF2-40B4-BE49-F238E27FC236}">
                <a16:creationId xmlns:a16="http://schemas.microsoft.com/office/drawing/2014/main" id="{F8560044-412C-EF40-9CDA-3AF4D70E8092}"/>
              </a:ext>
            </a:extLst>
          </p:cNvPr>
          <p:cNvSpPr>
            <a:spLocks noGrp="1" noChangeArrowheads="1"/>
          </p:cNvSpPr>
          <p:nvPr>
            <p:ph type="body" idx="1"/>
          </p:nvPr>
        </p:nvSpPr>
        <p:spPr>
          <a:xfrm>
            <a:off x="133563" y="1071021"/>
            <a:ext cx="8804952" cy="3348038"/>
          </a:xfrm>
        </p:spPr>
        <p:txBody>
          <a:bodyPr/>
          <a:lstStyle/>
          <a:p>
            <a:pPr marL="400050" indent="-400050" eaLnBrk="1" hangingPunct="1">
              <a:buNone/>
            </a:pPr>
            <a:r>
              <a:rPr lang="en-US" altLang="zh-CN" sz="2100" dirty="0">
                <a:ea typeface="宋体" panose="02010600030101010101" pitchFamily="2" charset="-122"/>
              </a:rPr>
              <a:t>(1) </a:t>
            </a:r>
            <a:r>
              <a:rPr lang="zh-CN" altLang="en-US" sz="2100" dirty="0">
                <a:ea typeface="宋体" panose="02010600030101010101" pitchFamily="2" charset="-122"/>
              </a:rPr>
              <a:t>网络级防火墙</a:t>
            </a:r>
            <a:r>
              <a:rPr lang="en-US" altLang="zh-CN" sz="2100" dirty="0">
                <a:ea typeface="宋体" panose="02010600030101010101" pitchFamily="2" charset="-122"/>
              </a:rPr>
              <a:t>——</a:t>
            </a:r>
            <a:r>
              <a:rPr lang="zh-CN" altLang="en-US" sz="2100" dirty="0">
                <a:ea typeface="宋体" panose="02010600030101010101" pitchFamily="2" charset="-122"/>
              </a:rPr>
              <a:t>用来防止整个网络出现外来非法的入侵。属于这类的有分组过滤和授权服务器。前者检查所有流入本网络的信息，然后拒绝不符合事先制订好的一套准则的数据，而后者则是检查用户的登录是否合法。</a:t>
            </a:r>
          </a:p>
          <a:p>
            <a:pPr marL="400050" indent="-400050" eaLnBrk="1" hangingPunct="1">
              <a:buNone/>
            </a:pPr>
            <a:r>
              <a:rPr lang="en-US" altLang="zh-CN" sz="2100" dirty="0">
                <a:ea typeface="宋体" panose="02010600030101010101" pitchFamily="2" charset="-122"/>
              </a:rPr>
              <a:t>(2) </a:t>
            </a:r>
            <a:r>
              <a:rPr lang="zh-CN" altLang="en-US" sz="2100" dirty="0">
                <a:ea typeface="宋体" panose="02010600030101010101" pitchFamily="2" charset="-122"/>
              </a:rPr>
              <a:t>应用级防火墙</a:t>
            </a:r>
            <a:r>
              <a:rPr lang="en-US" altLang="zh-CN" sz="2100" dirty="0">
                <a:ea typeface="宋体" panose="02010600030101010101" pitchFamily="2" charset="-122"/>
              </a:rPr>
              <a:t>——</a:t>
            </a:r>
            <a:r>
              <a:rPr lang="zh-CN" altLang="en-US" sz="2100" dirty="0">
                <a:ea typeface="宋体" panose="02010600030101010101" pitchFamily="2" charset="-122"/>
              </a:rPr>
              <a:t>从应用程序来进行接入控制。通常使用应用网关或代理服务器来区分各种应用。例如，可以只允许通过访问万维网的应用，而阻止 </a:t>
            </a:r>
            <a:r>
              <a:rPr lang="en-US" altLang="zh-CN" sz="2100" dirty="0">
                <a:ea typeface="宋体" panose="02010600030101010101" pitchFamily="2" charset="-122"/>
              </a:rPr>
              <a:t>FTP </a:t>
            </a:r>
            <a:r>
              <a:rPr lang="zh-CN" altLang="en-US" sz="2100" dirty="0">
                <a:ea typeface="宋体" panose="02010600030101010101" pitchFamily="2" charset="-122"/>
              </a:rPr>
              <a:t>应用的通过。</a:t>
            </a:r>
          </a:p>
        </p:txBody>
      </p:sp>
      <p:sp>
        <p:nvSpPr>
          <p:cNvPr id="121859" name="幻灯片编号占位符 1">
            <a:extLst>
              <a:ext uri="{FF2B5EF4-FFF2-40B4-BE49-F238E27FC236}">
                <a16:creationId xmlns:a16="http://schemas.microsoft.com/office/drawing/2014/main" id="{073D9A73-80D7-FF48-B450-AE841FA45E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5A9E60-99DF-1845-B1BC-796ACB417D3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01020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97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A31A01F-785B-0946-B9A8-DE6AEC12EEF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7.7.2  </a:t>
            </a:r>
            <a:r>
              <a:rPr lang="zh-CN" altLang="en-US" dirty="0">
                <a:latin typeface="Times New Roman" panose="02020603050405020304" pitchFamily="18" charset="0"/>
                <a:ea typeface="宋体" panose="02010600030101010101" pitchFamily="2" charset="-122"/>
              </a:rPr>
              <a:t>入侵检测系统 </a:t>
            </a:r>
          </a:p>
        </p:txBody>
      </p:sp>
      <p:sp>
        <p:nvSpPr>
          <p:cNvPr id="122882" name="Rectangle 3">
            <a:extLst>
              <a:ext uri="{FF2B5EF4-FFF2-40B4-BE49-F238E27FC236}">
                <a16:creationId xmlns:a16="http://schemas.microsoft.com/office/drawing/2014/main" id="{88EEA47C-759A-904F-8CBB-C0E1B52DCB83}"/>
              </a:ext>
            </a:extLst>
          </p:cNvPr>
          <p:cNvSpPr>
            <a:spLocks noGrp="1" noChangeArrowheads="1"/>
          </p:cNvSpPr>
          <p:nvPr>
            <p:ph type="body" idx="1"/>
          </p:nvPr>
        </p:nvSpPr>
        <p:spPr>
          <a:xfrm>
            <a:off x="133564" y="1084873"/>
            <a:ext cx="8804952" cy="3671888"/>
          </a:xfrm>
        </p:spPr>
        <p:txBody>
          <a:bodyPr/>
          <a:lstStyle/>
          <a:p>
            <a:pPr eaLnBrk="1" hangingPunct="1"/>
            <a:r>
              <a:rPr lang="zh-CN" altLang="en-US" dirty="0">
                <a:latin typeface="Times New Roman" panose="02020603050405020304" pitchFamily="18" charset="0"/>
                <a:ea typeface="宋体" panose="02010600030101010101" pitchFamily="2" charset="-122"/>
              </a:rPr>
              <a:t>入侵检测系统 </a:t>
            </a:r>
            <a:r>
              <a:rPr lang="en-US" altLang="zh-CN" dirty="0">
                <a:latin typeface="Times New Roman" panose="02020603050405020304" pitchFamily="18" charset="0"/>
                <a:ea typeface="宋体" panose="02010600030101010101" pitchFamily="2" charset="-122"/>
              </a:rPr>
              <a:t>IDS (Intrusion Detection System)</a:t>
            </a:r>
            <a:r>
              <a:rPr lang="zh-CN" altLang="en-US" dirty="0">
                <a:latin typeface="Times New Roman" panose="02020603050405020304" pitchFamily="18" charset="0"/>
                <a:ea typeface="宋体" panose="02010600030101010101" pitchFamily="2" charset="-122"/>
              </a:rPr>
              <a:t>能够在入侵已经开始，但还没有造成危害或在造成更大危害前，及时检测到入侵，以便尽快阻止入侵，把危害降低到最小。  </a:t>
            </a:r>
          </a:p>
          <a:p>
            <a:pPr eaLnBrk="1" hangingPunct="1"/>
            <a:r>
              <a:rPr lang="zh-CN" altLang="en-US" dirty="0">
                <a:latin typeface="Times New Roman" panose="02020603050405020304" pitchFamily="18" charset="0"/>
                <a:ea typeface="宋体" panose="02010600030101010101" pitchFamily="2" charset="-122"/>
              </a:rPr>
              <a:t>基于特征的 </a:t>
            </a:r>
            <a:r>
              <a:rPr lang="en-US" altLang="zh-CN" dirty="0">
                <a:latin typeface="Times New Roman" panose="02020603050405020304" pitchFamily="18" charset="0"/>
                <a:ea typeface="宋体" panose="02010600030101010101" pitchFamily="2" charset="-122"/>
              </a:rPr>
              <a:t>IDS </a:t>
            </a:r>
            <a:r>
              <a:rPr lang="zh-CN" altLang="en-US" dirty="0">
                <a:latin typeface="Times New Roman" panose="02020603050405020304" pitchFamily="18" charset="0"/>
                <a:ea typeface="宋体" panose="02010600030101010101" pitchFamily="2" charset="-122"/>
              </a:rPr>
              <a:t>维护一个所有已知攻击标志性特征的数据库。</a:t>
            </a:r>
          </a:p>
          <a:p>
            <a:pPr eaLnBrk="1" hangingPunct="1"/>
            <a:r>
              <a:rPr lang="zh-CN" altLang="en-US" dirty="0">
                <a:latin typeface="Times New Roman" panose="02020603050405020304" pitchFamily="18" charset="0"/>
                <a:ea typeface="宋体" panose="02010600030101010101" pitchFamily="2" charset="-122"/>
              </a:rPr>
              <a:t>基于特征的</a:t>
            </a:r>
            <a:r>
              <a:rPr lang="en-US" altLang="zh-CN" dirty="0">
                <a:latin typeface="Times New Roman" panose="02020603050405020304" pitchFamily="18" charset="0"/>
                <a:ea typeface="宋体" panose="02010600030101010101" pitchFamily="2" charset="-122"/>
              </a:rPr>
              <a:t>IDS</a:t>
            </a:r>
            <a:r>
              <a:rPr lang="zh-CN" altLang="en-US" dirty="0">
                <a:latin typeface="Times New Roman" panose="02020603050405020304" pitchFamily="18" charset="0"/>
                <a:ea typeface="宋体" panose="02010600030101010101" pitchFamily="2" charset="-122"/>
              </a:rPr>
              <a:t>只能检测已知攻击，对于未知攻击则束手无策。  </a:t>
            </a:r>
          </a:p>
        </p:txBody>
      </p:sp>
      <p:sp>
        <p:nvSpPr>
          <p:cNvPr id="122883" name="幻灯片编号占位符 1">
            <a:extLst>
              <a:ext uri="{FF2B5EF4-FFF2-40B4-BE49-F238E27FC236}">
                <a16:creationId xmlns:a16="http://schemas.microsoft.com/office/drawing/2014/main" id="{98D1B79B-4D89-B34D-B551-FC3C3F8D1FB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191BF3-A091-D444-8AA8-7555C37E896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69463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4">
            <a:extLst>
              <a:ext uri="{FF2B5EF4-FFF2-40B4-BE49-F238E27FC236}">
                <a16:creationId xmlns:a16="http://schemas.microsoft.com/office/drawing/2014/main" id="{25F12D9A-E518-5144-9AA7-FA5F3FE86735}"/>
              </a:ext>
            </a:extLst>
          </p:cNvPr>
          <p:cNvSpPr>
            <a:spLocks noGrp="1" noChangeArrowheads="1"/>
          </p:cNvSpPr>
          <p:nvPr>
            <p:ph type="title"/>
          </p:nvPr>
        </p:nvSpPr>
        <p:spPr>
          <a:xfrm>
            <a:off x="180109" y="287263"/>
            <a:ext cx="7380143" cy="594122"/>
          </a:xfrm>
        </p:spPr>
        <p:txBody>
          <a:bodyPr/>
          <a:lstStyle/>
          <a:p>
            <a:pPr eaLnBrk="1" hangingPunct="1"/>
            <a:r>
              <a:rPr lang="en-US" altLang="zh-CN" dirty="0">
                <a:latin typeface="Times New Roman" panose="02020603050405020304" pitchFamily="18" charset="0"/>
                <a:ea typeface="宋体" panose="02010600030101010101" pitchFamily="2" charset="-122"/>
              </a:rPr>
              <a:t>7.8</a:t>
            </a:r>
            <a:r>
              <a:rPr lang="zh-CN" altLang="en-US" dirty="0">
                <a:latin typeface="Times New Roman" panose="02020603050405020304" pitchFamily="18" charset="0"/>
                <a:ea typeface="宋体" panose="02010600030101010101" pitchFamily="2" charset="-122"/>
              </a:rPr>
              <a:t> 网络病毒与防治</a:t>
            </a:r>
          </a:p>
        </p:txBody>
      </p:sp>
      <p:sp>
        <p:nvSpPr>
          <p:cNvPr id="123906" name="Rectangle 8">
            <a:extLst>
              <a:ext uri="{FF2B5EF4-FFF2-40B4-BE49-F238E27FC236}">
                <a16:creationId xmlns:a16="http://schemas.microsoft.com/office/drawing/2014/main" id="{6932775B-CE97-4643-9143-D587B23C91C4}"/>
              </a:ext>
            </a:extLst>
          </p:cNvPr>
          <p:cNvSpPr>
            <a:spLocks noGrp="1" noChangeArrowheads="1"/>
          </p:cNvSpPr>
          <p:nvPr>
            <p:ph type="body" idx="1"/>
          </p:nvPr>
        </p:nvSpPr>
        <p:spPr>
          <a:xfrm>
            <a:off x="290945" y="1025236"/>
            <a:ext cx="8437419" cy="3759887"/>
          </a:xfrm>
        </p:spPr>
        <p:txBody>
          <a:bodyPr vert="horz" wrap="square" lIns="0" tIns="0" rIns="0" bIns="0" numCol="1" anchor="t" anchorCtr="0" compatLnSpc="1">
            <a:prstTxWarp prst="textNoShape">
              <a:avLst/>
            </a:prstTxWarp>
          </a:bodyPr>
          <a:lstStyle/>
          <a:p>
            <a:pPr eaLnBrk="1" hangingPunct="1"/>
            <a:r>
              <a:rPr lang="zh-CN" altLang="en-US" dirty="0">
                <a:latin typeface="Times New Roman" panose="02020603050405020304" pitchFamily="18" charset="0"/>
                <a:ea typeface="宋体" panose="02010600030101010101" pitchFamily="2" charset="-122"/>
              </a:rPr>
              <a:t>导致计算机病毒产生的社会渊源</a:t>
            </a:r>
          </a:p>
          <a:p>
            <a:pPr eaLnBrk="1" hangingPunct="1"/>
            <a:r>
              <a:rPr lang="zh-CN" altLang="en-US" dirty="0">
                <a:latin typeface="Times New Roman" panose="02020603050405020304" pitchFamily="18" charset="0"/>
                <a:ea typeface="宋体" panose="02010600030101010101" pitchFamily="2" charset="-122"/>
              </a:rPr>
              <a:t>计算机病毒概述</a:t>
            </a:r>
          </a:p>
          <a:p>
            <a:pPr eaLnBrk="1" hangingPunct="1"/>
            <a:r>
              <a:rPr lang="zh-CN" altLang="en-US" dirty="0">
                <a:latin typeface="Times New Roman" panose="02020603050405020304" pitchFamily="18" charset="0"/>
                <a:ea typeface="宋体" panose="02010600030101010101" pitchFamily="2" charset="-122"/>
              </a:rPr>
              <a:t>计算机病毒的特征</a:t>
            </a:r>
          </a:p>
          <a:p>
            <a:pPr eaLnBrk="1" hangingPunct="1"/>
            <a:r>
              <a:rPr lang="zh-CN" altLang="en-US" dirty="0">
                <a:latin typeface="Times New Roman" panose="02020603050405020304" pitchFamily="18" charset="0"/>
                <a:ea typeface="宋体" panose="02010600030101010101" pitchFamily="2" charset="-122"/>
              </a:rPr>
              <a:t>计算机病毒传染方式</a:t>
            </a:r>
          </a:p>
          <a:p>
            <a:pPr eaLnBrk="1" hangingPunct="1"/>
            <a:r>
              <a:rPr lang="zh-CN" altLang="en-US" dirty="0">
                <a:latin typeface="Times New Roman" panose="02020603050405020304" pitchFamily="18" charset="0"/>
                <a:ea typeface="宋体" panose="02010600030101010101" pitchFamily="2" charset="-122"/>
              </a:rPr>
              <a:t>计算机病毒的分类</a:t>
            </a:r>
          </a:p>
        </p:txBody>
      </p:sp>
    </p:spTree>
    <p:extLst>
      <p:ext uri="{BB962C8B-B14F-4D97-AF65-F5344CB8AC3E}">
        <p14:creationId xmlns:p14="http://schemas.microsoft.com/office/powerpoint/2010/main" val="3186323339"/>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6BEEADD1-96E3-E64D-9D94-D1D921230025}"/>
              </a:ext>
            </a:extLst>
          </p:cNvPr>
          <p:cNvSpPr>
            <a:spLocks noGrp="1" noRot="1" noChangeArrowheads="1"/>
          </p:cNvSpPr>
          <p:nvPr>
            <p:ph type="title"/>
          </p:nvPr>
        </p:nvSpPr>
        <p:spPr>
          <a:xfrm>
            <a:off x="155323" y="339004"/>
            <a:ext cx="6405563" cy="485775"/>
          </a:xfrm>
        </p:spPr>
        <p:txBody>
          <a:bodyPr/>
          <a:lstStyle/>
          <a:p>
            <a:pPr eaLnBrk="1" hangingPunct="1"/>
            <a:r>
              <a:rPr lang="zh-CN" altLang="en-US" dirty="0">
                <a:latin typeface="Times New Roman" panose="02020603050405020304" pitchFamily="18" charset="0"/>
                <a:ea typeface="宋体" panose="02010600030101010101" pitchFamily="2" charset="-122"/>
              </a:rPr>
              <a:t>导致计算机病毒产生的社会渊源</a:t>
            </a:r>
          </a:p>
        </p:txBody>
      </p:sp>
      <p:sp>
        <p:nvSpPr>
          <p:cNvPr id="419843" name="Rectangle 3">
            <a:extLst>
              <a:ext uri="{FF2B5EF4-FFF2-40B4-BE49-F238E27FC236}">
                <a16:creationId xmlns:a16="http://schemas.microsoft.com/office/drawing/2014/main" id="{07D1306C-0F77-9744-A7C1-8BAAD50F5FE4}"/>
              </a:ext>
            </a:extLst>
          </p:cNvPr>
          <p:cNvSpPr>
            <a:spLocks noGrp="1" noRot="1" noChangeArrowheads="1"/>
          </p:cNvSpPr>
          <p:nvPr>
            <p:ph type="body" idx="1"/>
          </p:nvPr>
        </p:nvSpPr>
        <p:spPr>
          <a:xfrm>
            <a:off x="155323" y="1002399"/>
            <a:ext cx="8753150" cy="4017169"/>
          </a:xfrm>
        </p:spPr>
        <p:txBody>
          <a:bodyPr/>
          <a:lstStyle/>
          <a:p>
            <a:pPr eaLnBrk="1" hangingPunct="1">
              <a:lnSpc>
                <a:spcPct val="120000"/>
              </a:lnSpc>
              <a:spcBef>
                <a:spcPct val="0"/>
              </a:spcBef>
            </a:pPr>
            <a:r>
              <a:rPr lang="zh-CN" altLang="en-US" sz="1800" dirty="0">
                <a:ea typeface="宋体" panose="02010600030101010101" pitchFamily="2" charset="-122"/>
              </a:rPr>
              <a:t>计算机病毒是计算机技术和以计算机为核心的社会信息化进程发展到一定阶段的必然产物，是计算机犯罪的一种新的衍化形式</a:t>
            </a:r>
          </a:p>
          <a:p>
            <a:pPr eaLnBrk="1" hangingPunct="1">
              <a:lnSpc>
                <a:spcPct val="120000"/>
              </a:lnSpc>
              <a:spcBef>
                <a:spcPct val="0"/>
              </a:spcBef>
            </a:pPr>
            <a:r>
              <a:rPr lang="zh-CN" altLang="en-US" sz="1800" dirty="0">
                <a:ea typeface="宋体" panose="02010600030101010101" pitchFamily="2" charset="-122"/>
              </a:rPr>
              <a:t>产生计算机病毒的原因，大致可以分为以下几种：</a:t>
            </a:r>
          </a:p>
          <a:p>
            <a:pPr lvl="1" eaLnBrk="1" hangingPunct="1">
              <a:lnSpc>
                <a:spcPct val="120000"/>
              </a:lnSpc>
              <a:spcBef>
                <a:spcPct val="0"/>
              </a:spcBef>
            </a:pPr>
            <a:r>
              <a:rPr lang="zh-CN" altLang="en-US" sz="1800" dirty="0">
                <a:ea typeface="宋体" panose="02010600030101010101" pitchFamily="2" charset="-122"/>
              </a:rPr>
              <a:t>计算机爱好者出于</a:t>
            </a:r>
            <a:r>
              <a:rPr lang="zh-CN" altLang="en-US" sz="1800" dirty="0">
                <a:solidFill>
                  <a:srgbClr val="0000FF"/>
                </a:solidFill>
                <a:ea typeface="宋体" panose="02010600030101010101" pitchFamily="2" charset="-122"/>
              </a:rPr>
              <a:t>好奇或兴趣</a:t>
            </a:r>
            <a:r>
              <a:rPr lang="zh-CN" altLang="en-US" sz="1800" dirty="0">
                <a:ea typeface="宋体" panose="02010600030101010101" pitchFamily="2" charset="-122"/>
              </a:rPr>
              <a:t>，也有的是为了满足自己的表现欲或制作恶作剧</a:t>
            </a:r>
          </a:p>
          <a:p>
            <a:pPr lvl="1" eaLnBrk="1" hangingPunct="1">
              <a:lnSpc>
                <a:spcPct val="120000"/>
              </a:lnSpc>
              <a:spcBef>
                <a:spcPct val="0"/>
              </a:spcBef>
            </a:pPr>
            <a:r>
              <a:rPr lang="zh-CN" altLang="en-US" sz="1800" dirty="0">
                <a:ea typeface="宋体" panose="02010600030101010101" pitchFamily="2" charset="-122"/>
              </a:rPr>
              <a:t>产生于个别人的</a:t>
            </a:r>
            <a:r>
              <a:rPr lang="zh-CN" altLang="en-US" sz="1800" dirty="0">
                <a:solidFill>
                  <a:srgbClr val="0000FF"/>
                </a:solidFill>
                <a:ea typeface="宋体" panose="02010600030101010101" pitchFamily="2" charset="-122"/>
              </a:rPr>
              <a:t>报复</a:t>
            </a:r>
            <a:r>
              <a:rPr lang="zh-CN" altLang="en-US" sz="1800" dirty="0">
                <a:ea typeface="宋体" panose="02010600030101010101" pitchFamily="2" charset="-122"/>
              </a:rPr>
              <a:t>、</a:t>
            </a:r>
            <a:r>
              <a:rPr lang="zh-CN" altLang="en-US" sz="1800" dirty="0">
                <a:solidFill>
                  <a:srgbClr val="0000FF"/>
                </a:solidFill>
                <a:ea typeface="宋体" panose="02010600030101010101" pitchFamily="2" charset="-122"/>
              </a:rPr>
              <a:t>破坏心理</a:t>
            </a:r>
          </a:p>
          <a:p>
            <a:pPr lvl="1" eaLnBrk="1" hangingPunct="1">
              <a:lnSpc>
                <a:spcPct val="120000"/>
              </a:lnSpc>
              <a:spcBef>
                <a:spcPct val="0"/>
              </a:spcBef>
            </a:pPr>
            <a:r>
              <a:rPr lang="zh-CN" altLang="en-US" sz="1800" dirty="0">
                <a:ea typeface="宋体" panose="02010600030101010101" pitchFamily="2" charset="-122"/>
              </a:rPr>
              <a:t>来源于</a:t>
            </a:r>
            <a:r>
              <a:rPr lang="zh-CN" altLang="en-US" sz="1800" dirty="0">
                <a:solidFill>
                  <a:srgbClr val="0000FF"/>
                </a:solidFill>
                <a:ea typeface="宋体" panose="02010600030101010101" pitchFamily="2" charset="-122"/>
              </a:rPr>
              <a:t>游戏软件</a:t>
            </a:r>
          </a:p>
          <a:p>
            <a:pPr lvl="1" eaLnBrk="1" hangingPunct="1">
              <a:lnSpc>
                <a:spcPct val="120000"/>
              </a:lnSpc>
              <a:spcBef>
                <a:spcPct val="0"/>
              </a:spcBef>
            </a:pPr>
            <a:r>
              <a:rPr lang="zh-CN" altLang="en-US" sz="1800" dirty="0">
                <a:ea typeface="宋体" panose="02010600030101010101" pitchFamily="2" charset="-122"/>
              </a:rPr>
              <a:t>来源于</a:t>
            </a:r>
            <a:r>
              <a:rPr lang="zh-CN" altLang="en-US" sz="1800" dirty="0">
                <a:solidFill>
                  <a:srgbClr val="0000FF"/>
                </a:solidFill>
                <a:ea typeface="宋体" panose="02010600030101010101" pitchFamily="2" charset="-122"/>
              </a:rPr>
              <a:t>软件加密</a:t>
            </a:r>
          </a:p>
          <a:p>
            <a:pPr lvl="1" eaLnBrk="1" hangingPunct="1">
              <a:lnSpc>
                <a:spcPct val="120000"/>
              </a:lnSpc>
              <a:spcBef>
                <a:spcPct val="0"/>
              </a:spcBef>
            </a:pPr>
            <a:r>
              <a:rPr lang="zh-CN" altLang="en-US" sz="1800" dirty="0">
                <a:ea typeface="宋体" panose="02010600030101010101" pitchFamily="2" charset="-122"/>
              </a:rPr>
              <a:t>用于研究或实验而设计的</a:t>
            </a:r>
            <a:r>
              <a:rPr lang="zh-CN" altLang="en-US" sz="1800" dirty="0">
                <a:solidFill>
                  <a:srgbClr val="0000FF"/>
                </a:solidFill>
                <a:ea typeface="宋体" panose="02010600030101010101" pitchFamily="2" charset="-122"/>
              </a:rPr>
              <a:t>“有用”的程序</a:t>
            </a:r>
          </a:p>
          <a:p>
            <a:pPr lvl="1" eaLnBrk="1" hangingPunct="1">
              <a:lnSpc>
                <a:spcPct val="120000"/>
              </a:lnSpc>
              <a:spcBef>
                <a:spcPct val="0"/>
              </a:spcBef>
            </a:pPr>
            <a:r>
              <a:rPr lang="zh-CN" altLang="en-US" sz="1800" dirty="0">
                <a:ea typeface="宋体" panose="02010600030101010101" pitchFamily="2" charset="-122"/>
              </a:rPr>
              <a:t>出于政治、经济和军事等</a:t>
            </a:r>
            <a:r>
              <a:rPr lang="zh-CN" altLang="en-US" sz="1800" dirty="0">
                <a:solidFill>
                  <a:srgbClr val="0000FF"/>
                </a:solidFill>
                <a:ea typeface="宋体" panose="02010600030101010101" pitchFamily="2" charset="-122"/>
              </a:rPr>
              <a:t>特殊目的</a:t>
            </a:r>
            <a:r>
              <a:rPr lang="zh-CN" altLang="en-US" sz="1800" dirty="0">
                <a:ea typeface="宋体" panose="02010600030101010101" pitchFamily="2" charset="-122"/>
              </a:rPr>
              <a:t>，一些组织或个人也会编写一些程序用于进攻对方的计算机</a:t>
            </a:r>
          </a:p>
        </p:txBody>
      </p:sp>
    </p:spTree>
    <p:extLst>
      <p:ext uri="{BB962C8B-B14F-4D97-AF65-F5344CB8AC3E}">
        <p14:creationId xmlns:p14="http://schemas.microsoft.com/office/powerpoint/2010/main" val="29297294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9843">
                                            <p:txEl>
                                              <p:pRg st="2" end="2"/>
                                            </p:txEl>
                                          </p:spTgt>
                                        </p:tgtEl>
                                        <p:attrNameLst>
                                          <p:attrName>style.visibility</p:attrName>
                                        </p:attrNameLst>
                                      </p:cBhvr>
                                      <p:to>
                                        <p:strVal val="visible"/>
                                      </p:to>
                                    </p:set>
                                    <p:animEffect transition="in" filter="checkerboard(across)">
                                      <p:cBhvr>
                                        <p:cTn id="7" dur="500"/>
                                        <p:tgtEl>
                                          <p:spTgt spid="4198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19843">
                                            <p:txEl>
                                              <p:pRg st="3" end="3"/>
                                            </p:txEl>
                                          </p:spTgt>
                                        </p:tgtEl>
                                        <p:attrNameLst>
                                          <p:attrName>style.visibility</p:attrName>
                                        </p:attrNameLst>
                                      </p:cBhvr>
                                      <p:to>
                                        <p:strVal val="visible"/>
                                      </p:to>
                                    </p:set>
                                    <p:animEffect transition="in" filter="checkerboard(across)">
                                      <p:cBhvr>
                                        <p:cTn id="12" dur="500"/>
                                        <p:tgtEl>
                                          <p:spTgt spid="41984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9843">
                                            <p:txEl>
                                              <p:pRg st="4" end="4"/>
                                            </p:txEl>
                                          </p:spTgt>
                                        </p:tgtEl>
                                        <p:attrNameLst>
                                          <p:attrName>style.visibility</p:attrName>
                                        </p:attrNameLst>
                                      </p:cBhvr>
                                      <p:to>
                                        <p:strVal val="visible"/>
                                      </p:to>
                                    </p:set>
                                    <p:animEffect transition="in" filter="checkerboard(across)">
                                      <p:cBhvr>
                                        <p:cTn id="17" dur="500"/>
                                        <p:tgtEl>
                                          <p:spTgt spid="41984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19843">
                                            <p:txEl>
                                              <p:pRg st="5" end="5"/>
                                            </p:txEl>
                                          </p:spTgt>
                                        </p:tgtEl>
                                        <p:attrNameLst>
                                          <p:attrName>style.visibility</p:attrName>
                                        </p:attrNameLst>
                                      </p:cBhvr>
                                      <p:to>
                                        <p:strVal val="visible"/>
                                      </p:to>
                                    </p:set>
                                    <p:animEffect transition="in" filter="checkerboard(across)">
                                      <p:cBhvr>
                                        <p:cTn id="22" dur="500"/>
                                        <p:tgtEl>
                                          <p:spTgt spid="41984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19843">
                                            <p:txEl>
                                              <p:pRg st="6" end="6"/>
                                            </p:txEl>
                                          </p:spTgt>
                                        </p:tgtEl>
                                        <p:attrNameLst>
                                          <p:attrName>style.visibility</p:attrName>
                                        </p:attrNameLst>
                                      </p:cBhvr>
                                      <p:to>
                                        <p:strVal val="visible"/>
                                      </p:to>
                                    </p:set>
                                    <p:animEffect transition="in" filter="checkerboard(across)">
                                      <p:cBhvr>
                                        <p:cTn id="27" dur="500"/>
                                        <p:tgtEl>
                                          <p:spTgt spid="41984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19843">
                                            <p:txEl>
                                              <p:pRg st="7" end="7"/>
                                            </p:txEl>
                                          </p:spTgt>
                                        </p:tgtEl>
                                        <p:attrNameLst>
                                          <p:attrName>style.visibility</p:attrName>
                                        </p:attrNameLst>
                                      </p:cBhvr>
                                      <p:to>
                                        <p:strVal val="visible"/>
                                      </p:to>
                                    </p:set>
                                    <p:animEffect transition="in" filter="checkerboard(across)">
                                      <p:cBhvr>
                                        <p:cTn id="32" dur="500"/>
                                        <p:tgtEl>
                                          <p:spTgt spid="4198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3">
            <a:extLst>
              <a:ext uri="{FF2B5EF4-FFF2-40B4-BE49-F238E27FC236}">
                <a16:creationId xmlns:a16="http://schemas.microsoft.com/office/drawing/2014/main" id="{54F1A344-01F0-5145-9E9A-2B5769B96F1C}"/>
              </a:ext>
            </a:extLst>
          </p:cNvPr>
          <p:cNvSpPr>
            <a:spLocks noGrp="1" noRot="1" noChangeArrowheads="1"/>
          </p:cNvSpPr>
          <p:nvPr>
            <p:ph type="body" idx="1"/>
          </p:nvPr>
        </p:nvSpPr>
        <p:spPr>
          <a:xfrm>
            <a:off x="193965" y="1011382"/>
            <a:ext cx="8659090" cy="3558237"/>
          </a:xfrm>
        </p:spPr>
        <p:txBody>
          <a:bodyPr/>
          <a:lstStyle/>
          <a:p>
            <a:pPr eaLnBrk="1" hangingPunct="1"/>
            <a:r>
              <a:rPr lang="en-US" altLang="zh-CN" dirty="0">
                <a:latin typeface="Times New Roman" panose="02020603050405020304" pitchFamily="18" charset="0"/>
                <a:ea typeface="宋体" panose="02010600030101010101" pitchFamily="2" charset="-122"/>
              </a:rPr>
              <a:t>1994</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月</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日，我国正式颁布实施了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中华人民共和国计算机信息系统安全保护条例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条例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第二十八条中明确指出：“</a:t>
            </a:r>
            <a:r>
              <a:rPr lang="zh-CN" altLang="en-US" dirty="0">
                <a:solidFill>
                  <a:srgbClr val="C00000"/>
                </a:solidFill>
                <a:latin typeface="Times New Roman" panose="02020603050405020304" pitchFamily="18" charset="0"/>
                <a:ea typeface="宋体" panose="02010600030101010101" pitchFamily="2" charset="-122"/>
              </a:rPr>
              <a:t>计算机病毒是指编制或者在计算机程序中插入的破坏计算机功能或者破坏数据，影响计算机使用并且能够自我复制的一组计算机指令或者程序代码</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这一定义，具有一定的法律性和权威性</a:t>
            </a:r>
          </a:p>
        </p:txBody>
      </p:sp>
      <p:sp>
        <p:nvSpPr>
          <p:cNvPr id="125954" name="标题 1">
            <a:extLst>
              <a:ext uri="{FF2B5EF4-FFF2-40B4-BE49-F238E27FC236}">
                <a16:creationId xmlns:a16="http://schemas.microsoft.com/office/drawing/2014/main" id="{29F4D8C7-289C-2244-B887-FAB46C398FC3}"/>
              </a:ext>
            </a:extLst>
          </p:cNvPr>
          <p:cNvSpPr>
            <a:spLocks noGrp="1" noChangeArrowheads="1"/>
          </p:cNvSpPr>
          <p:nvPr>
            <p:ph type="title"/>
          </p:nvPr>
        </p:nvSpPr>
        <p:spPr>
          <a:xfrm>
            <a:off x="193965" y="250032"/>
            <a:ext cx="7668924" cy="581241"/>
          </a:xfrm>
        </p:spPr>
        <p:txBody>
          <a:bodyPr/>
          <a:lstStyle/>
          <a:p>
            <a:r>
              <a:rPr lang="zh-CN" altLang="en-US" dirty="0">
                <a:solidFill>
                  <a:schemeClr val="tx1"/>
                </a:solidFill>
                <a:latin typeface="宋体" panose="02010600030101010101" pitchFamily="2" charset="-122"/>
                <a:ea typeface="宋体" panose="02010600030101010101" pitchFamily="2" charset="-122"/>
              </a:rPr>
              <a:t>狭义定义</a:t>
            </a:r>
            <a:endParaRPr lang="zh-CN" altLang="en-US"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74614080"/>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3">
            <a:extLst>
              <a:ext uri="{FF2B5EF4-FFF2-40B4-BE49-F238E27FC236}">
                <a16:creationId xmlns:a16="http://schemas.microsoft.com/office/drawing/2014/main" id="{CD6E4BA0-8068-DC44-B8E8-94CE0839F306}"/>
              </a:ext>
            </a:extLst>
          </p:cNvPr>
          <p:cNvSpPr>
            <a:spLocks noGrp="1" noRot="1" noChangeArrowheads="1"/>
          </p:cNvSpPr>
          <p:nvPr>
            <p:ph type="body" idx="1"/>
          </p:nvPr>
        </p:nvSpPr>
        <p:spPr>
          <a:xfrm>
            <a:off x="133563" y="1039091"/>
            <a:ext cx="8804953" cy="3260257"/>
          </a:xfrm>
        </p:spPr>
        <p:txBody>
          <a:bodyPr/>
          <a:lstStyle/>
          <a:p>
            <a:pPr eaLnBrk="1" hangingPunct="1"/>
            <a:r>
              <a:rPr lang="zh-CN" altLang="en-US" sz="2100" dirty="0">
                <a:ea typeface="宋体" panose="02010600030101010101" pitchFamily="2" charset="-122"/>
              </a:rPr>
              <a:t>计算机病毒</a:t>
            </a:r>
            <a:r>
              <a:rPr lang="en-US" altLang="zh-CN" sz="2100" dirty="0">
                <a:ea typeface="宋体" panose="02010600030101010101" pitchFamily="2" charset="-122"/>
              </a:rPr>
              <a:t>(Computer Virus)</a:t>
            </a:r>
            <a:r>
              <a:rPr lang="zh-CN" altLang="en-US" sz="2100" dirty="0">
                <a:ea typeface="宋体" panose="02010600030101010101" pitchFamily="2" charset="-122"/>
              </a:rPr>
              <a:t>，是一种具有自我复制能力的计算机程序，它不仅能破坏计算机系统，而且还能传播、感染到其他的系统，能影响计算机软件、硬件的正常运行，破坏数据的正确与完整。</a:t>
            </a:r>
          </a:p>
          <a:p>
            <a:pPr lvl="1" eaLnBrk="1" hangingPunct="1"/>
            <a:r>
              <a:rPr lang="zh-CN" altLang="en-US" sz="1800" dirty="0">
                <a:ea typeface="宋体" panose="02010600030101010101" pitchFamily="2" charset="-122"/>
              </a:rPr>
              <a:t>类似于生物病毒，它能把自身附着在各种类型的文件上或寄生在存储媒介中，能对计算机系统和网络进行各种破坏；</a:t>
            </a:r>
          </a:p>
          <a:p>
            <a:pPr lvl="1" eaLnBrk="1" hangingPunct="1"/>
            <a:r>
              <a:rPr lang="zh-CN" altLang="en-US" sz="1800" dirty="0">
                <a:ea typeface="宋体" panose="02010600030101010101" pitchFamily="2" charset="-122"/>
              </a:rPr>
              <a:t>有独特的复制能力和传染性，能够自我复制</a:t>
            </a:r>
            <a:r>
              <a:rPr lang="en-US" altLang="zh-CN" sz="1800" dirty="0">
                <a:ea typeface="宋体" panose="02010600030101010101" pitchFamily="2" charset="-122"/>
              </a:rPr>
              <a:t>——</a:t>
            </a:r>
            <a:r>
              <a:rPr lang="zh-CN" altLang="en-US" sz="1800" dirty="0">
                <a:ea typeface="宋体" panose="02010600030101010101" pitchFamily="2" charset="-122"/>
              </a:rPr>
              <a:t>主动传染，另一方面，当文件被复制或在网络中从一个用户传送到另一个用户时</a:t>
            </a:r>
            <a:r>
              <a:rPr lang="en-US" altLang="zh-CN" sz="1800" dirty="0">
                <a:ea typeface="宋体" panose="02010600030101010101" pitchFamily="2" charset="-122"/>
              </a:rPr>
              <a:t>——</a:t>
            </a:r>
            <a:r>
              <a:rPr lang="zh-CN" altLang="en-US" sz="1800" dirty="0">
                <a:ea typeface="宋体" panose="02010600030101010101" pitchFamily="2" charset="-122"/>
              </a:rPr>
              <a:t>被动传染，它们就随同文件一起蔓延开来</a:t>
            </a:r>
          </a:p>
        </p:txBody>
      </p:sp>
      <p:sp>
        <p:nvSpPr>
          <p:cNvPr id="126978" name="标题 1">
            <a:extLst>
              <a:ext uri="{FF2B5EF4-FFF2-40B4-BE49-F238E27FC236}">
                <a16:creationId xmlns:a16="http://schemas.microsoft.com/office/drawing/2014/main" id="{62BDC02E-A191-4E4E-B96E-707D114AF94E}"/>
              </a:ext>
            </a:extLst>
          </p:cNvPr>
          <p:cNvSpPr>
            <a:spLocks noGrp="1" noChangeArrowheads="1"/>
          </p:cNvSpPr>
          <p:nvPr>
            <p:ph type="title"/>
          </p:nvPr>
        </p:nvSpPr>
        <p:spPr/>
        <p:txBody>
          <a:bodyPr/>
          <a:lstStyle/>
          <a:p>
            <a:r>
              <a:rPr lang="zh-CN" altLang="en-US">
                <a:solidFill>
                  <a:schemeClr val="tx1"/>
                </a:solidFill>
                <a:latin typeface="黑体" panose="02010609060101010101" pitchFamily="49" charset="-122"/>
                <a:ea typeface="宋体" panose="02010600030101010101" pitchFamily="2" charset="-122"/>
              </a:rPr>
              <a:t>广义定义</a:t>
            </a:r>
            <a:endParaRPr lang="zh-CN" altLang="en-US">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7296268"/>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B8B15769-FF0E-C844-8E1A-CB05719B5CA5}"/>
              </a:ext>
            </a:extLst>
          </p:cNvPr>
          <p:cNvSpPr>
            <a:spLocks noGrp="1" noRot="1" noChangeArrowheads="1"/>
          </p:cNvSpPr>
          <p:nvPr>
            <p:ph type="title"/>
          </p:nvPr>
        </p:nvSpPr>
        <p:spPr>
          <a:xfrm>
            <a:off x="115394" y="320873"/>
            <a:ext cx="3419475" cy="501253"/>
          </a:xfrm>
        </p:spPr>
        <p:txBody>
          <a:bodyPr/>
          <a:lstStyle/>
          <a:p>
            <a:pPr eaLnBrk="1" hangingPunct="1"/>
            <a:r>
              <a:rPr lang="zh-CN" altLang="en-US" dirty="0">
                <a:latin typeface="Times New Roman" panose="02020603050405020304" pitchFamily="18" charset="0"/>
                <a:ea typeface="宋体" panose="02010600030101010101" pitchFamily="2" charset="-122"/>
              </a:rPr>
              <a:t>病毒感染示意图</a:t>
            </a:r>
          </a:p>
        </p:txBody>
      </p:sp>
      <p:sp>
        <p:nvSpPr>
          <p:cNvPr id="128002" name="Rectangle 4">
            <a:extLst>
              <a:ext uri="{FF2B5EF4-FFF2-40B4-BE49-F238E27FC236}">
                <a16:creationId xmlns:a16="http://schemas.microsoft.com/office/drawing/2014/main" id="{BC4684F0-7DFF-C740-A490-C4CB83A9B06F}"/>
              </a:ext>
            </a:extLst>
          </p:cNvPr>
          <p:cNvSpPr>
            <a:spLocks noChangeArrowheads="1"/>
          </p:cNvSpPr>
          <p:nvPr/>
        </p:nvSpPr>
        <p:spPr bwMode="auto">
          <a:xfrm>
            <a:off x="1825132" y="4560094"/>
            <a:ext cx="191591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tx1"/>
                </a:solidFill>
                <a:latin typeface="微软雅黑" panose="020B0503020204020204" pitchFamily="34" charset="-122"/>
                <a:ea typeface="宋体" panose="02010600030101010101" pitchFamily="2" charset="-122"/>
              </a:rPr>
              <a:t>生物病毒感染与寄生</a:t>
            </a:r>
          </a:p>
        </p:txBody>
      </p:sp>
      <p:sp>
        <p:nvSpPr>
          <p:cNvPr id="128003" name="Rectangle 5">
            <a:extLst>
              <a:ext uri="{FF2B5EF4-FFF2-40B4-BE49-F238E27FC236}">
                <a16:creationId xmlns:a16="http://schemas.microsoft.com/office/drawing/2014/main" id="{7DB28A10-A21C-FE40-91B0-EBA7C02E93B5}"/>
              </a:ext>
            </a:extLst>
          </p:cNvPr>
          <p:cNvSpPr>
            <a:spLocks noChangeArrowheads="1"/>
          </p:cNvSpPr>
          <p:nvPr/>
        </p:nvSpPr>
        <p:spPr bwMode="auto">
          <a:xfrm>
            <a:off x="5119257" y="4560094"/>
            <a:ext cx="21082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tx1"/>
                </a:solidFill>
                <a:latin typeface="微软雅黑" panose="020B0503020204020204" pitchFamily="34" charset="-122"/>
                <a:ea typeface="宋体" panose="02010600030101010101" pitchFamily="2" charset="-122"/>
              </a:rPr>
              <a:t>计算机病毒感染与寄生</a:t>
            </a:r>
          </a:p>
        </p:txBody>
      </p:sp>
      <p:graphicFrame>
        <p:nvGraphicFramePr>
          <p:cNvPr id="417798" name="Object 6">
            <a:extLst>
              <a:ext uri="{FF2B5EF4-FFF2-40B4-BE49-F238E27FC236}">
                <a16:creationId xmlns:a16="http://schemas.microsoft.com/office/drawing/2014/main" id="{AF5CB50F-5CA2-3E48-A07E-92FA91787001}"/>
              </a:ext>
            </a:extLst>
          </p:cNvPr>
          <p:cNvGraphicFramePr>
            <a:graphicFrameLocks noChangeAspect="1"/>
          </p:cNvGraphicFramePr>
          <p:nvPr/>
        </p:nvGraphicFramePr>
        <p:xfrm>
          <a:off x="1485900" y="1714500"/>
          <a:ext cx="2628900" cy="2857500"/>
        </p:xfrm>
        <a:graphic>
          <a:graphicData uri="http://schemas.openxmlformats.org/presentationml/2006/ole">
            <mc:AlternateContent xmlns:mc="http://schemas.openxmlformats.org/markup-compatibility/2006">
              <mc:Choice xmlns:v="urn:schemas-microsoft-com:vml" Requires="v">
                <p:oleObj spid="_x0000_s113681" r:id="rId3" imgW="12192000" imgH="13931900" progId="SmartDraw.2">
                  <p:embed/>
                </p:oleObj>
              </mc:Choice>
              <mc:Fallback>
                <p:oleObj r:id="rId3" imgW="12192000" imgH="13931900" progId="SmartDraw.2">
                  <p:embed/>
                  <p:pic>
                    <p:nvPicPr>
                      <p:cNvPr id="417798" name="Object 6">
                        <a:extLst>
                          <a:ext uri="{FF2B5EF4-FFF2-40B4-BE49-F238E27FC236}">
                            <a16:creationId xmlns:a16="http://schemas.microsoft.com/office/drawing/2014/main" id="{AF5CB50F-5CA2-3E48-A07E-92FA917870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5900" y="1714500"/>
                        <a:ext cx="2628900" cy="2857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7799" name="Object 7">
            <a:extLst>
              <a:ext uri="{FF2B5EF4-FFF2-40B4-BE49-F238E27FC236}">
                <a16:creationId xmlns:a16="http://schemas.microsoft.com/office/drawing/2014/main" id="{EF93E213-FD14-274A-9E8D-4260D76B0556}"/>
              </a:ext>
            </a:extLst>
          </p:cNvPr>
          <p:cNvGraphicFramePr>
            <a:graphicFrameLocks noChangeAspect="1"/>
          </p:cNvGraphicFramePr>
          <p:nvPr/>
        </p:nvGraphicFramePr>
        <p:xfrm>
          <a:off x="4801791" y="175022"/>
          <a:ext cx="2743200" cy="4171950"/>
        </p:xfrm>
        <a:graphic>
          <a:graphicData uri="http://schemas.openxmlformats.org/presentationml/2006/ole">
            <mc:AlternateContent xmlns:mc="http://schemas.openxmlformats.org/markup-compatibility/2006">
              <mc:Choice xmlns:v="urn:schemas-microsoft-com:vml" Requires="v">
                <p:oleObj spid="_x0000_s113682" r:id="rId5" imgW="12230100" imgH="21120100" progId="SmartDraw.2">
                  <p:embed/>
                </p:oleObj>
              </mc:Choice>
              <mc:Fallback>
                <p:oleObj r:id="rId5" imgW="12230100" imgH="21120100" progId="SmartDraw.2">
                  <p:embed/>
                  <p:pic>
                    <p:nvPicPr>
                      <p:cNvPr id="417799" name="Object 7">
                        <a:extLst>
                          <a:ext uri="{FF2B5EF4-FFF2-40B4-BE49-F238E27FC236}">
                            <a16:creationId xmlns:a16="http://schemas.microsoft.com/office/drawing/2014/main" id="{EF93E213-FD14-274A-9E8D-4260D76B05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1791" y="175022"/>
                        <a:ext cx="2743200" cy="4171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8997178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17798"/>
                                        </p:tgtEl>
                                        <p:attrNameLst>
                                          <p:attrName>style.visibility</p:attrName>
                                        </p:attrNameLst>
                                      </p:cBhvr>
                                      <p:to>
                                        <p:strVal val="visible"/>
                                      </p:to>
                                    </p:set>
                                    <p:anim calcmode="lin" valueType="num">
                                      <p:cBhvr additive="base">
                                        <p:cTn id="7" dur="500" fill="hold"/>
                                        <p:tgtEl>
                                          <p:spTgt spid="417798"/>
                                        </p:tgtEl>
                                        <p:attrNameLst>
                                          <p:attrName>ppt_x</p:attrName>
                                        </p:attrNameLst>
                                      </p:cBhvr>
                                      <p:tavLst>
                                        <p:tav tm="0">
                                          <p:val>
                                            <p:strVal val="0-#ppt_w/2"/>
                                          </p:val>
                                        </p:tav>
                                        <p:tav tm="100000">
                                          <p:val>
                                            <p:strVal val="#ppt_x"/>
                                          </p:val>
                                        </p:tav>
                                      </p:tavLst>
                                    </p:anim>
                                    <p:anim calcmode="lin" valueType="num">
                                      <p:cBhvr additive="base">
                                        <p:cTn id="8" dur="500" fill="hold"/>
                                        <p:tgtEl>
                                          <p:spTgt spid="41779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417799"/>
                                        </p:tgtEl>
                                        <p:attrNameLst>
                                          <p:attrName>style.visibility</p:attrName>
                                        </p:attrNameLst>
                                      </p:cBhvr>
                                      <p:to>
                                        <p:strVal val="visible"/>
                                      </p:to>
                                    </p:set>
                                    <p:anim calcmode="lin" valueType="num">
                                      <p:cBhvr additive="base">
                                        <p:cTn id="12" dur="500" fill="hold"/>
                                        <p:tgtEl>
                                          <p:spTgt spid="417799"/>
                                        </p:tgtEl>
                                        <p:attrNameLst>
                                          <p:attrName>ppt_x</p:attrName>
                                        </p:attrNameLst>
                                      </p:cBhvr>
                                      <p:tavLst>
                                        <p:tav tm="0">
                                          <p:val>
                                            <p:strVal val="1+#ppt_w/2"/>
                                          </p:val>
                                        </p:tav>
                                        <p:tav tm="100000">
                                          <p:val>
                                            <p:strVal val="#ppt_x"/>
                                          </p:val>
                                        </p:tav>
                                      </p:tavLst>
                                    </p:anim>
                                    <p:anim calcmode="lin" valueType="num">
                                      <p:cBhvr additive="base">
                                        <p:cTn id="13" dur="500" fill="hold"/>
                                        <p:tgtEl>
                                          <p:spTgt spid="4177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6624D3D6-73E4-B94A-A5C4-102F8DEA69D6}"/>
              </a:ext>
            </a:extLst>
          </p:cNvPr>
          <p:cNvSpPr>
            <a:spLocks noGrp="1" noRot="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计算机病毒的特征 </a:t>
            </a:r>
          </a:p>
        </p:txBody>
      </p:sp>
      <p:sp>
        <p:nvSpPr>
          <p:cNvPr id="14339" name="Rectangle 3">
            <a:extLst>
              <a:ext uri="{FF2B5EF4-FFF2-40B4-BE49-F238E27FC236}">
                <a16:creationId xmlns:a16="http://schemas.microsoft.com/office/drawing/2014/main" id="{2913C428-501B-F949-B651-E27AA04D603F}"/>
              </a:ext>
            </a:extLst>
          </p:cNvPr>
          <p:cNvSpPr>
            <a:spLocks noGrp="1" noRot="1" noChangeArrowheads="1"/>
          </p:cNvSpPr>
          <p:nvPr>
            <p:ph type="body" idx="1"/>
          </p:nvPr>
        </p:nvSpPr>
        <p:spPr>
          <a:xfrm>
            <a:off x="133563" y="1039091"/>
            <a:ext cx="8804953" cy="3207869"/>
          </a:xfrm>
        </p:spPr>
        <p:txBody>
          <a:bodyPr/>
          <a:lstStyle/>
          <a:p>
            <a:pPr marL="9525" indent="-9525" eaLnBrk="1" hangingPunct="1">
              <a:lnSpc>
                <a:spcPct val="120000"/>
              </a:lnSpc>
              <a:buNone/>
            </a:pPr>
            <a:r>
              <a:rPr lang="zh-CN" altLang="en-US" dirty="0">
                <a:latin typeface="Times New Roman" panose="02020603050405020304" pitchFamily="18" charset="0"/>
                <a:ea typeface="宋体" panose="02010600030101010101" pitchFamily="2" charset="-122"/>
              </a:rPr>
              <a:t>根据对计算机病毒的产生、传染和破坏行为的分析，病毒有以下几个主要特点。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传染性</a:t>
            </a:r>
            <a:r>
              <a:rPr lang="en-US" altLang="zh-CN" sz="1800" dirty="0">
                <a:ea typeface="宋体" panose="02010600030101010101" pitchFamily="2" charset="-122"/>
              </a:rPr>
              <a:t>(</a:t>
            </a:r>
            <a:r>
              <a:rPr lang="zh-CN" altLang="en-US" sz="1800" dirty="0">
                <a:ea typeface="宋体" panose="02010600030101010101" pitchFamily="2" charset="-122"/>
              </a:rPr>
              <a:t>基本特征</a:t>
            </a:r>
            <a:r>
              <a:rPr lang="en-US" altLang="zh-CN" sz="1800" dirty="0">
                <a:ea typeface="宋体" panose="02010600030101010101" pitchFamily="2" charset="-122"/>
              </a:rPr>
              <a:t>)</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夺取系统控制权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隐蔽性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破坏性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潜伏性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可触发性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不可预见性</a:t>
            </a:r>
          </a:p>
        </p:txBody>
      </p:sp>
    </p:spTree>
    <p:extLst>
      <p:ext uri="{BB962C8B-B14F-4D97-AF65-F5344CB8AC3E}">
        <p14:creationId xmlns:p14="http://schemas.microsoft.com/office/powerpoint/2010/main" val="52039727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4339">
                                            <p:txEl>
                                              <p:pRg st="1" end="1"/>
                                            </p:txEl>
                                          </p:spTgt>
                                        </p:tgtEl>
                                        <p:attrNameLst>
                                          <p:attrName>style.color</p:attrName>
                                        </p:attrNameLst>
                                      </p:cBhvr>
                                      <p:to>
                                        <p:clrVal>
                                          <a:srgbClr val="FF0066"/>
                                        </p:clrVal>
                                      </p:to>
                                    </p:set>
                                    <p:set>
                                      <p:cBhvr>
                                        <p:cTn id="7" dur="500" fill="hold"/>
                                        <p:tgtEl>
                                          <p:spTgt spid="14339">
                                            <p:txEl>
                                              <p:pRg st="1" end="1"/>
                                            </p:txEl>
                                          </p:spTgt>
                                        </p:tgtEl>
                                        <p:attrNameLst>
                                          <p:attrName>fillcolor</p:attrName>
                                        </p:attrNameLst>
                                      </p:cBhvr>
                                      <p:to>
                                        <p:clrVal>
                                          <a:srgbClr val="FF0066"/>
                                        </p:clrVal>
                                      </p:to>
                                    </p:set>
                                    <p:set>
                                      <p:cBhvr>
                                        <p:cTn id="8" dur="500" fill="hold"/>
                                        <p:tgtEl>
                                          <p:spTgt spid="14339">
                                            <p:txEl>
                                              <p:pRg st="1" end="1"/>
                                            </p:txEl>
                                          </p:spTgt>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14339">
                                            <p:txEl>
                                              <p:pRg st="2" end="2"/>
                                            </p:txEl>
                                          </p:spTgt>
                                        </p:tgtEl>
                                        <p:attrNameLst>
                                          <p:attrName>style.color</p:attrName>
                                        </p:attrNameLst>
                                      </p:cBhvr>
                                      <p:to>
                                        <p:clrVal>
                                          <a:srgbClr val="FF0066"/>
                                        </p:clrVal>
                                      </p:to>
                                    </p:set>
                                    <p:set>
                                      <p:cBhvr>
                                        <p:cTn id="13" dur="500" fill="hold"/>
                                        <p:tgtEl>
                                          <p:spTgt spid="14339">
                                            <p:txEl>
                                              <p:pRg st="2" end="2"/>
                                            </p:txEl>
                                          </p:spTgt>
                                        </p:tgtEl>
                                        <p:attrNameLst>
                                          <p:attrName>fillcolor</p:attrName>
                                        </p:attrNameLst>
                                      </p:cBhvr>
                                      <p:to>
                                        <p:clrVal>
                                          <a:srgbClr val="FF0066"/>
                                        </p:clrVal>
                                      </p:to>
                                    </p:set>
                                    <p:set>
                                      <p:cBhvr>
                                        <p:cTn id="14" dur="500" fill="hold"/>
                                        <p:tgtEl>
                                          <p:spTgt spid="14339">
                                            <p:txEl>
                                              <p:pRg st="2" end="2"/>
                                            </p:txEl>
                                          </p:spTgt>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14339">
                                            <p:txEl>
                                              <p:pRg st="3" end="3"/>
                                            </p:txEl>
                                          </p:spTgt>
                                        </p:tgtEl>
                                        <p:attrNameLst>
                                          <p:attrName>style.color</p:attrName>
                                        </p:attrNameLst>
                                      </p:cBhvr>
                                      <p:to>
                                        <p:clrVal>
                                          <a:srgbClr val="FF0066"/>
                                        </p:clrVal>
                                      </p:to>
                                    </p:set>
                                    <p:set>
                                      <p:cBhvr>
                                        <p:cTn id="19" dur="500" fill="hold"/>
                                        <p:tgtEl>
                                          <p:spTgt spid="14339">
                                            <p:txEl>
                                              <p:pRg st="3" end="3"/>
                                            </p:txEl>
                                          </p:spTgt>
                                        </p:tgtEl>
                                        <p:attrNameLst>
                                          <p:attrName>fillcolor</p:attrName>
                                        </p:attrNameLst>
                                      </p:cBhvr>
                                      <p:to>
                                        <p:clrVal>
                                          <a:srgbClr val="FF0066"/>
                                        </p:clrVal>
                                      </p:to>
                                    </p:set>
                                    <p:set>
                                      <p:cBhvr>
                                        <p:cTn id="20" dur="500" fill="hold"/>
                                        <p:tgtEl>
                                          <p:spTgt spid="14339">
                                            <p:txEl>
                                              <p:pRg st="3" end="3"/>
                                            </p:txEl>
                                          </p:spTgt>
                                        </p:tgtEl>
                                        <p:attrNameLst>
                                          <p:attrName>fill.type</p:attrName>
                                        </p:attrNameLst>
                                      </p:cBhvr>
                                      <p:to>
                                        <p:strVal val="solid"/>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14339">
                                            <p:txEl>
                                              <p:pRg st="4" end="4"/>
                                            </p:txEl>
                                          </p:spTgt>
                                        </p:tgtEl>
                                        <p:attrNameLst>
                                          <p:attrName>style.color</p:attrName>
                                        </p:attrNameLst>
                                      </p:cBhvr>
                                      <p:to>
                                        <p:clrVal>
                                          <a:srgbClr val="FF0066"/>
                                        </p:clrVal>
                                      </p:to>
                                    </p:set>
                                    <p:set>
                                      <p:cBhvr>
                                        <p:cTn id="25" dur="500" fill="hold"/>
                                        <p:tgtEl>
                                          <p:spTgt spid="14339">
                                            <p:txEl>
                                              <p:pRg st="4" end="4"/>
                                            </p:txEl>
                                          </p:spTgt>
                                        </p:tgtEl>
                                        <p:attrNameLst>
                                          <p:attrName>fillcolor</p:attrName>
                                        </p:attrNameLst>
                                      </p:cBhvr>
                                      <p:to>
                                        <p:clrVal>
                                          <a:srgbClr val="FF0066"/>
                                        </p:clrVal>
                                      </p:to>
                                    </p:set>
                                    <p:set>
                                      <p:cBhvr>
                                        <p:cTn id="26" dur="500" fill="hold"/>
                                        <p:tgtEl>
                                          <p:spTgt spid="14339">
                                            <p:txEl>
                                              <p:pRg st="4" end="4"/>
                                            </p:txEl>
                                          </p:spTgt>
                                        </p:tgtEl>
                                        <p:attrNameLst>
                                          <p:attrName>fill.type</p:attrName>
                                        </p:attrNameLst>
                                      </p:cBhvr>
                                      <p:to>
                                        <p:strVal val="solid"/>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14339">
                                            <p:txEl>
                                              <p:pRg st="5" end="5"/>
                                            </p:txEl>
                                          </p:spTgt>
                                        </p:tgtEl>
                                        <p:attrNameLst>
                                          <p:attrName>style.color</p:attrName>
                                        </p:attrNameLst>
                                      </p:cBhvr>
                                      <p:to>
                                        <p:clrVal>
                                          <a:srgbClr val="FF0066"/>
                                        </p:clrVal>
                                      </p:to>
                                    </p:set>
                                    <p:set>
                                      <p:cBhvr>
                                        <p:cTn id="31" dur="500" fill="hold"/>
                                        <p:tgtEl>
                                          <p:spTgt spid="14339">
                                            <p:txEl>
                                              <p:pRg st="5" end="5"/>
                                            </p:txEl>
                                          </p:spTgt>
                                        </p:tgtEl>
                                        <p:attrNameLst>
                                          <p:attrName>fillcolor</p:attrName>
                                        </p:attrNameLst>
                                      </p:cBhvr>
                                      <p:to>
                                        <p:clrVal>
                                          <a:srgbClr val="FF0066"/>
                                        </p:clrVal>
                                      </p:to>
                                    </p:set>
                                    <p:set>
                                      <p:cBhvr>
                                        <p:cTn id="32" dur="500" fill="hold"/>
                                        <p:tgtEl>
                                          <p:spTgt spid="14339">
                                            <p:txEl>
                                              <p:pRg st="5" end="5"/>
                                            </p:txEl>
                                          </p:spTgt>
                                        </p:tgtEl>
                                        <p:attrNameLst>
                                          <p:attrName>fill.type</p:attrName>
                                        </p:attrNameLst>
                                      </p:cBhvr>
                                      <p:to>
                                        <p:strVal val="solid"/>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14339">
                                            <p:txEl>
                                              <p:pRg st="6" end="6"/>
                                            </p:txEl>
                                          </p:spTgt>
                                        </p:tgtEl>
                                        <p:attrNameLst>
                                          <p:attrName>style.color</p:attrName>
                                        </p:attrNameLst>
                                      </p:cBhvr>
                                      <p:to>
                                        <p:clrVal>
                                          <a:srgbClr val="FF0066"/>
                                        </p:clrVal>
                                      </p:to>
                                    </p:set>
                                    <p:set>
                                      <p:cBhvr>
                                        <p:cTn id="37" dur="500" fill="hold"/>
                                        <p:tgtEl>
                                          <p:spTgt spid="14339">
                                            <p:txEl>
                                              <p:pRg st="6" end="6"/>
                                            </p:txEl>
                                          </p:spTgt>
                                        </p:tgtEl>
                                        <p:attrNameLst>
                                          <p:attrName>fillcolor</p:attrName>
                                        </p:attrNameLst>
                                      </p:cBhvr>
                                      <p:to>
                                        <p:clrVal>
                                          <a:srgbClr val="FF0066"/>
                                        </p:clrVal>
                                      </p:to>
                                    </p:set>
                                    <p:set>
                                      <p:cBhvr>
                                        <p:cTn id="38" dur="500" fill="hold"/>
                                        <p:tgtEl>
                                          <p:spTgt spid="14339">
                                            <p:txEl>
                                              <p:pRg st="6" end="6"/>
                                            </p:txEl>
                                          </p:spTgt>
                                        </p:tgtEl>
                                        <p:attrNameLst>
                                          <p:attrName>fill.type</p:attrName>
                                        </p:attrNameLst>
                                      </p:cBhvr>
                                      <p:to>
                                        <p:strVal val="solid"/>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14339">
                                            <p:txEl>
                                              <p:pRg st="7" end="7"/>
                                            </p:txEl>
                                          </p:spTgt>
                                        </p:tgtEl>
                                        <p:attrNameLst>
                                          <p:attrName>style.color</p:attrName>
                                        </p:attrNameLst>
                                      </p:cBhvr>
                                      <p:to>
                                        <p:clrVal>
                                          <a:srgbClr val="FF0066"/>
                                        </p:clrVal>
                                      </p:to>
                                    </p:set>
                                    <p:set>
                                      <p:cBhvr>
                                        <p:cTn id="43" dur="500" fill="hold"/>
                                        <p:tgtEl>
                                          <p:spTgt spid="14339">
                                            <p:txEl>
                                              <p:pRg st="7" end="7"/>
                                            </p:txEl>
                                          </p:spTgt>
                                        </p:tgtEl>
                                        <p:attrNameLst>
                                          <p:attrName>fillcolor</p:attrName>
                                        </p:attrNameLst>
                                      </p:cBhvr>
                                      <p:to>
                                        <p:clrVal>
                                          <a:srgbClr val="FF0066"/>
                                        </p:clrVal>
                                      </p:to>
                                    </p:set>
                                    <p:set>
                                      <p:cBhvr>
                                        <p:cTn id="44" dur="500" fill="hold"/>
                                        <p:tgtEl>
                                          <p:spTgt spid="14339">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A410C7EE-769B-134E-9E65-0D1EE0E6ABBA}"/>
              </a:ext>
            </a:extLst>
          </p:cNvPr>
          <p:cNvSpPr>
            <a:spLocks noGrp="1" noRot="1" noChangeArrowheads="1"/>
          </p:cNvSpPr>
          <p:nvPr>
            <p:ph type="title"/>
          </p:nvPr>
        </p:nvSpPr>
        <p:spPr>
          <a:xfrm>
            <a:off x="172857" y="329479"/>
            <a:ext cx="6405563" cy="592931"/>
          </a:xfrm>
        </p:spPr>
        <p:txBody>
          <a:bodyPr/>
          <a:lstStyle/>
          <a:p>
            <a:pPr eaLnBrk="1" hangingPunct="1"/>
            <a:r>
              <a:rPr lang="zh-CN" altLang="en-US" dirty="0">
                <a:latin typeface="Times New Roman" panose="02020603050405020304" pitchFamily="18" charset="0"/>
                <a:ea typeface="宋体" panose="02010600030101010101" pitchFamily="2" charset="-122"/>
              </a:rPr>
              <a:t>计算机病毒传染方式 </a:t>
            </a:r>
          </a:p>
        </p:txBody>
      </p:sp>
      <p:sp>
        <p:nvSpPr>
          <p:cNvPr id="395267" name="Rectangle 3">
            <a:extLst>
              <a:ext uri="{FF2B5EF4-FFF2-40B4-BE49-F238E27FC236}">
                <a16:creationId xmlns:a16="http://schemas.microsoft.com/office/drawing/2014/main" id="{D8A2A785-8A00-6942-A491-29043360A3EF}"/>
              </a:ext>
            </a:extLst>
          </p:cNvPr>
          <p:cNvSpPr>
            <a:spLocks noGrp="1" noRot="1" noChangeArrowheads="1"/>
          </p:cNvSpPr>
          <p:nvPr>
            <p:ph type="body" idx="1"/>
          </p:nvPr>
        </p:nvSpPr>
        <p:spPr>
          <a:xfrm>
            <a:off x="172857" y="1039091"/>
            <a:ext cx="8735616" cy="3880247"/>
          </a:xfrm>
        </p:spPr>
        <p:txBody>
          <a:bodyPr/>
          <a:lstStyle/>
          <a:p>
            <a:pPr eaLnBrk="1" hangingPunct="1">
              <a:spcBef>
                <a:spcPct val="30000"/>
              </a:spcBef>
            </a:pPr>
            <a:r>
              <a:rPr lang="zh-CN" altLang="en-US" sz="1800" dirty="0">
                <a:latin typeface="微软雅黑" panose="020B0503020204020204" pitchFamily="34" charset="-122"/>
                <a:ea typeface="宋体" panose="02010600030101010101" pitchFamily="2" charset="-122"/>
              </a:rPr>
              <a:t>计算机不运行时不存在对磁盘的读写或数据共享；没有磁盘的读写，病毒不能传入磁性存储介质，而只能驻留于内存之中或驻留于存储设备之中。计算机运行就含有很频繁的磁盘读写工作，就容易得到病毒传染的先决条件。 </a:t>
            </a:r>
          </a:p>
          <a:p>
            <a:pPr eaLnBrk="1" hangingPunct="1">
              <a:spcBef>
                <a:spcPct val="30000"/>
              </a:spcBef>
            </a:pPr>
            <a:r>
              <a:rPr lang="zh-CN" altLang="en-US" sz="1800" dirty="0">
                <a:latin typeface="微软雅黑" panose="020B0503020204020204" pitchFamily="34" charset="-122"/>
                <a:ea typeface="宋体" panose="02010600030101010101" pitchFamily="2" charset="-122"/>
              </a:rPr>
              <a:t>有了条件病毒是如何传染的呢？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驻入内存：</a:t>
            </a:r>
            <a:r>
              <a:rPr lang="zh-CN" altLang="en-US" sz="1600" dirty="0">
                <a:latin typeface="微软雅黑" panose="020B0503020204020204" pitchFamily="34" charset="-122"/>
                <a:ea typeface="宋体" panose="02010600030101010101" pitchFamily="2" charset="-122"/>
              </a:rPr>
              <a:t>病毒要达到传染的目的必须驻留于内存之中，所以病毒传染的第一步是驻留内存；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寻找传染机会：</a:t>
            </a:r>
            <a:r>
              <a:rPr lang="zh-CN" altLang="en-US" sz="1600" dirty="0">
                <a:latin typeface="微软雅黑" panose="020B0503020204020204" pitchFamily="34" charset="-122"/>
                <a:ea typeface="宋体" panose="02010600030101010101" pitchFamily="2" charset="-122"/>
              </a:rPr>
              <a:t>病毒驻入内存之后，首先寻找可进行攻击的对象，并判定这一对象是否可被传染（有些病毒的传染是无条件的）；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进行传染：</a:t>
            </a:r>
            <a:r>
              <a:rPr lang="zh-CN" altLang="en-US" sz="1600" dirty="0">
                <a:latin typeface="微软雅黑" panose="020B0503020204020204" pitchFamily="34" charset="-122"/>
                <a:ea typeface="宋体" panose="02010600030101010101" pitchFamily="2" charset="-122"/>
              </a:rPr>
              <a:t>当病毒寻找到传染的对象并判定可进行传染之后，通过</a:t>
            </a:r>
            <a:r>
              <a:rPr lang="en-US" altLang="zh-CN" sz="1600" dirty="0">
                <a:latin typeface="微软雅黑" panose="020B0503020204020204" pitchFamily="34" charset="-122"/>
                <a:ea typeface="宋体" panose="02010600030101010101" pitchFamily="2" charset="-122"/>
              </a:rPr>
              <a:t>INT 13H</a:t>
            </a:r>
            <a:r>
              <a:rPr lang="zh-CN" altLang="en-US" sz="1600" dirty="0">
                <a:latin typeface="微软雅黑" panose="020B0503020204020204" pitchFamily="34" charset="-122"/>
                <a:ea typeface="宋体" panose="02010600030101010101" pitchFamily="2" charset="-122"/>
              </a:rPr>
              <a:t>这一磁盘中断服务程序达到传染磁盘的目的，并将其写入磁盘系统； </a:t>
            </a:r>
          </a:p>
          <a:p>
            <a:pPr eaLnBrk="1" hangingPunct="1">
              <a:spcBef>
                <a:spcPct val="30000"/>
              </a:spcBef>
            </a:pPr>
            <a:r>
              <a:rPr lang="zh-CN" altLang="en-US" sz="1800" dirty="0">
                <a:latin typeface="微软雅黑" panose="020B0503020204020204" pitchFamily="34" charset="-122"/>
                <a:ea typeface="宋体" panose="02010600030101010101" pitchFamily="2" charset="-122"/>
              </a:rPr>
              <a:t>一般病毒将在内存中申请一空间，以便常驻内存或为常驻内存程序（</a:t>
            </a:r>
            <a:r>
              <a:rPr lang="en-US" altLang="zh-CN" sz="1800" dirty="0">
                <a:latin typeface="微软雅黑" panose="020B0503020204020204" pitchFamily="34" charset="-122"/>
                <a:ea typeface="宋体" panose="02010600030101010101" pitchFamily="2" charset="-122"/>
              </a:rPr>
              <a:t>TSR</a:t>
            </a:r>
            <a:r>
              <a:rPr lang="zh-CN" altLang="en-US" sz="1800" dirty="0">
                <a:latin typeface="微软雅黑" panose="020B0503020204020204" pitchFamily="34" charset="-122"/>
                <a:ea typeface="宋体" panose="02010600030101010101" pitchFamily="2" charset="-122"/>
              </a:rPr>
              <a:t>），病毒为使自己不被发现，此时一般不覆盖其它数据的，通常病毒程序写给于内存高端，其传染方式如上病毒存储方式。 </a:t>
            </a:r>
          </a:p>
        </p:txBody>
      </p:sp>
    </p:spTree>
    <p:extLst>
      <p:ext uri="{BB962C8B-B14F-4D97-AF65-F5344CB8AC3E}">
        <p14:creationId xmlns:p14="http://schemas.microsoft.com/office/powerpoint/2010/main" val="234314062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5267">
                                            <p:txEl>
                                              <p:pRg st="2" end="2"/>
                                            </p:txEl>
                                          </p:spTgt>
                                        </p:tgtEl>
                                        <p:attrNameLst>
                                          <p:attrName>style.visibility</p:attrName>
                                        </p:attrNameLst>
                                      </p:cBhvr>
                                      <p:to>
                                        <p:strVal val="visible"/>
                                      </p:to>
                                    </p:set>
                                    <p:animEffect transition="in" filter="dissolve">
                                      <p:cBhvr>
                                        <p:cTn id="7" dur="500"/>
                                        <p:tgtEl>
                                          <p:spTgt spid="395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5267">
                                            <p:txEl>
                                              <p:pRg st="3" end="3"/>
                                            </p:txEl>
                                          </p:spTgt>
                                        </p:tgtEl>
                                        <p:attrNameLst>
                                          <p:attrName>style.visibility</p:attrName>
                                        </p:attrNameLst>
                                      </p:cBhvr>
                                      <p:to>
                                        <p:strVal val="visible"/>
                                      </p:to>
                                    </p:set>
                                    <p:animEffect transition="in" filter="dissolve">
                                      <p:cBhvr>
                                        <p:cTn id="12" dur="500"/>
                                        <p:tgtEl>
                                          <p:spTgt spid="3952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5267">
                                            <p:txEl>
                                              <p:pRg st="4" end="4"/>
                                            </p:txEl>
                                          </p:spTgt>
                                        </p:tgtEl>
                                        <p:attrNameLst>
                                          <p:attrName>style.visibility</p:attrName>
                                        </p:attrNameLst>
                                      </p:cBhvr>
                                      <p:to>
                                        <p:strVal val="visible"/>
                                      </p:to>
                                    </p:set>
                                    <p:animEffect transition="in" filter="dissolve">
                                      <p:cBhvr>
                                        <p:cTn id="17" dur="500"/>
                                        <p:tgtEl>
                                          <p:spTgt spid="3952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95267">
                                            <p:txEl>
                                              <p:pRg st="5" end="5"/>
                                            </p:txEl>
                                          </p:spTgt>
                                        </p:tgtEl>
                                        <p:attrNameLst>
                                          <p:attrName>style.visibility</p:attrName>
                                        </p:attrNameLst>
                                      </p:cBhvr>
                                      <p:to>
                                        <p:strVal val="visible"/>
                                      </p:to>
                                    </p:set>
                                    <p:animEffect transition="in" filter="dissolve">
                                      <p:cBhvr>
                                        <p:cTn id="22" dur="500"/>
                                        <p:tgtEl>
                                          <p:spTgt spid="395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F7EB55E8-5145-C14F-9673-682BD5CF7C19}"/>
              </a:ext>
            </a:extLst>
          </p:cNvPr>
          <p:cNvSpPr>
            <a:spLocks noGrp="1" noRot="1" noChangeArrowheads="1"/>
          </p:cNvSpPr>
          <p:nvPr>
            <p:ph type="title"/>
          </p:nvPr>
        </p:nvSpPr>
        <p:spPr>
          <a:xfrm>
            <a:off x="162791" y="366712"/>
            <a:ext cx="5995988" cy="534591"/>
          </a:xfrm>
        </p:spPr>
        <p:txBody>
          <a:bodyPr/>
          <a:lstStyle/>
          <a:p>
            <a:pPr eaLnBrk="1" hangingPunct="1"/>
            <a:r>
              <a:rPr lang="zh-CN" altLang="en-US" dirty="0">
                <a:latin typeface="Times New Roman" panose="02020603050405020304" pitchFamily="18" charset="0"/>
                <a:ea typeface="宋体" panose="02010600030101010101" pitchFamily="2" charset="-122"/>
              </a:rPr>
              <a:t>计算机病毒的分类</a:t>
            </a:r>
            <a:r>
              <a:rPr lang="zh-CN" altLang="en-US" sz="1800" dirty="0">
                <a:ea typeface="宋体" panose="02010600030101010101" pitchFamily="2" charset="-122"/>
              </a:rPr>
              <a:t> </a:t>
            </a:r>
          </a:p>
        </p:txBody>
      </p:sp>
      <p:sp>
        <p:nvSpPr>
          <p:cNvPr id="131074" name="Rectangle 3">
            <a:extLst>
              <a:ext uri="{FF2B5EF4-FFF2-40B4-BE49-F238E27FC236}">
                <a16:creationId xmlns:a16="http://schemas.microsoft.com/office/drawing/2014/main" id="{3AEEC23E-6D7E-7743-AE5A-7CFFADCFF7C9}"/>
              </a:ext>
            </a:extLst>
          </p:cNvPr>
          <p:cNvSpPr>
            <a:spLocks noGrp="1" noRot="1" noChangeArrowheads="1"/>
          </p:cNvSpPr>
          <p:nvPr>
            <p:ph type="body" idx="1"/>
          </p:nvPr>
        </p:nvSpPr>
        <p:spPr>
          <a:xfrm>
            <a:off x="162791" y="1094509"/>
            <a:ext cx="8759536" cy="3637035"/>
          </a:xfrm>
        </p:spPr>
        <p:txBody>
          <a:bodyPr/>
          <a:lstStyle/>
          <a:p>
            <a:pPr eaLnBrk="1" hangingPunct="1">
              <a:lnSpc>
                <a:spcPct val="150000"/>
              </a:lnSpc>
            </a:pPr>
            <a:r>
              <a:rPr lang="zh-CN" altLang="en-US" dirty="0">
                <a:ea typeface="宋体" panose="02010600030101010101" pitchFamily="2" charset="-122"/>
              </a:rPr>
              <a:t>各种不同种类的病毒有着各自不同的特征，它们有的以</a:t>
            </a:r>
            <a:r>
              <a:rPr lang="zh-CN" altLang="en-US" dirty="0">
                <a:solidFill>
                  <a:srgbClr val="FF0066"/>
                </a:solidFill>
                <a:ea typeface="宋体" panose="02010600030101010101" pitchFamily="2" charset="-122"/>
              </a:rPr>
              <a:t>感染文件</a:t>
            </a:r>
            <a:r>
              <a:rPr lang="zh-CN" altLang="en-US" dirty="0">
                <a:ea typeface="宋体" panose="02010600030101010101" pitchFamily="2" charset="-122"/>
              </a:rPr>
              <a:t>为主、有的以</a:t>
            </a:r>
            <a:r>
              <a:rPr lang="zh-CN" altLang="en-US" dirty="0">
                <a:solidFill>
                  <a:srgbClr val="FF0066"/>
                </a:solidFill>
                <a:ea typeface="宋体" panose="02010600030101010101" pitchFamily="2" charset="-122"/>
              </a:rPr>
              <a:t>感染系统引导区</a:t>
            </a:r>
            <a:r>
              <a:rPr lang="zh-CN" altLang="en-US" dirty="0">
                <a:ea typeface="宋体" panose="02010600030101010101" pitchFamily="2" charset="-122"/>
              </a:rPr>
              <a:t>为主、大多数病毒只是开个小小的</a:t>
            </a:r>
            <a:r>
              <a:rPr lang="zh-CN" altLang="en-US" dirty="0">
                <a:solidFill>
                  <a:srgbClr val="FF0066"/>
                </a:solidFill>
                <a:ea typeface="宋体" panose="02010600030101010101" pitchFamily="2" charset="-122"/>
              </a:rPr>
              <a:t>玩笑</a:t>
            </a:r>
            <a:endParaRPr lang="en-US" altLang="zh-CN" dirty="0">
              <a:ea typeface="宋体" panose="02010600030101010101" pitchFamily="2" charset="-122"/>
            </a:endParaRPr>
          </a:p>
          <a:p>
            <a:pPr eaLnBrk="1" hangingPunct="1">
              <a:lnSpc>
                <a:spcPct val="150000"/>
              </a:lnSpc>
            </a:pPr>
            <a:r>
              <a:rPr lang="zh-CN" altLang="en-US" dirty="0">
                <a:ea typeface="宋体" panose="02010600030101010101" pitchFamily="2" charset="-122"/>
              </a:rPr>
              <a:t>少数病毒危害极大（如臭名昭著</a:t>
            </a:r>
            <a:r>
              <a:rPr lang="en-US" altLang="zh-CN" dirty="0">
                <a:ea typeface="宋体" panose="02010600030101010101" pitchFamily="2" charset="-122"/>
              </a:rPr>
              <a:t>CIH</a:t>
            </a:r>
            <a:r>
              <a:rPr lang="zh-CN" altLang="en-US" dirty="0">
                <a:ea typeface="宋体" panose="02010600030101010101" pitchFamily="2" charset="-122"/>
              </a:rPr>
              <a:t>病毒）</a:t>
            </a:r>
          </a:p>
          <a:p>
            <a:pPr lvl="1" eaLnBrk="1" hangingPunct="1">
              <a:lnSpc>
                <a:spcPct val="150000"/>
              </a:lnSpc>
              <a:buFont typeface="Wingdings 2" pitchFamily="2" charset="2"/>
              <a:buNone/>
            </a:pPr>
            <a:endParaRPr lang="en-US" altLang="zh-CN" sz="1800" dirty="0">
              <a:solidFill>
                <a:schemeClr val="tx2"/>
              </a:solidFill>
              <a:ea typeface="宋体" panose="02010600030101010101" pitchFamily="2" charset="-122"/>
            </a:endParaRPr>
          </a:p>
        </p:txBody>
      </p:sp>
    </p:spTree>
    <p:extLst>
      <p:ext uri="{BB962C8B-B14F-4D97-AF65-F5344CB8AC3E}">
        <p14:creationId xmlns:p14="http://schemas.microsoft.com/office/powerpoint/2010/main" val="567597168"/>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B864BCE8-F663-CF4E-8EC4-7E380F18B9C2}"/>
              </a:ext>
            </a:extLst>
          </p:cNvPr>
          <p:cNvSpPr>
            <a:spLocks noGrp="1" noRot="1" noChangeArrowheads="1"/>
          </p:cNvSpPr>
          <p:nvPr>
            <p:ph type="title"/>
          </p:nvPr>
        </p:nvSpPr>
        <p:spPr>
          <a:xfrm>
            <a:off x="193964" y="328830"/>
            <a:ext cx="7242680" cy="592931"/>
          </a:xfrm>
        </p:spPr>
        <p:txBody>
          <a:bodyPr/>
          <a:lstStyle/>
          <a:p>
            <a:pPr eaLnBrk="1" hangingPunct="1"/>
            <a:r>
              <a:rPr lang="zh-CN" altLang="en-US" dirty="0">
                <a:latin typeface="Times New Roman" panose="02020603050405020304" pitchFamily="18" charset="0"/>
                <a:ea typeface="宋体" panose="02010600030101010101" pitchFamily="2" charset="-122"/>
              </a:rPr>
              <a:t>病毒、蠕虫和木马的区别</a:t>
            </a:r>
          </a:p>
        </p:txBody>
      </p:sp>
      <p:sp>
        <p:nvSpPr>
          <p:cNvPr id="391171" name="Rectangle 3">
            <a:extLst>
              <a:ext uri="{FF2B5EF4-FFF2-40B4-BE49-F238E27FC236}">
                <a16:creationId xmlns:a16="http://schemas.microsoft.com/office/drawing/2014/main" id="{639C8128-9D00-2C4B-B8FC-37FD1333DED8}"/>
              </a:ext>
            </a:extLst>
          </p:cNvPr>
          <p:cNvSpPr>
            <a:spLocks noGrp="1" noRot="1" noChangeArrowheads="1"/>
          </p:cNvSpPr>
          <p:nvPr>
            <p:ph type="body" idx="1"/>
          </p:nvPr>
        </p:nvSpPr>
        <p:spPr>
          <a:xfrm>
            <a:off x="193964" y="1080655"/>
            <a:ext cx="8686800" cy="3535399"/>
          </a:xfrm>
        </p:spPr>
        <p:txBody>
          <a:bodyPr/>
          <a:lstStyle/>
          <a:p>
            <a:pPr eaLnBrk="1" hangingPunct="1">
              <a:lnSpc>
                <a:spcPct val="160000"/>
              </a:lnSpc>
            </a:pPr>
            <a:r>
              <a:rPr lang="zh-CN" altLang="en-US" dirty="0">
                <a:ea typeface="宋体" panose="02010600030101010101" pitchFamily="2" charset="-122"/>
              </a:rPr>
              <a:t>病毒的特点</a:t>
            </a:r>
          </a:p>
          <a:p>
            <a:pPr eaLnBrk="1" hangingPunct="1">
              <a:lnSpc>
                <a:spcPct val="160000"/>
              </a:lnSpc>
              <a:buFont typeface="Wingdings" pitchFamily="2" charset="2"/>
              <a:buNone/>
            </a:pPr>
            <a:r>
              <a:rPr lang="zh-CN" altLang="en-US" sz="2000" dirty="0">
                <a:ea typeface="宋体" panose="02010600030101010101" pitchFamily="2" charset="-122"/>
              </a:rPr>
              <a:t>    计算机病毒是编写的一段程序，它可以在未经用户许可，甚至在用户不知情的情况下改变计算机的运行方式。病毒必须满足两个条件： </a:t>
            </a:r>
          </a:p>
          <a:p>
            <a:pPr lvl="1" eaLnBrk="1" hangingPunct="1">
              <a:lnSpc>
                <a:spcPct val="160000"/>
              </a:lnSpc>
            </a:pPr>
            <a:r>
              <a:rPr lang="zh-CN" altLang="en-US" sz="1600" dirty="0">
                <a:ea typeface="宋体" panose="02010600030101010101" pitchFamily="2" charset="-122"/>
              </a:rPr>
              <a:t>自行执行：它通常将自己的代码置于另一个程序的执行路径中。</a:t>
            </a:r>
          </a:p>
          <a:p>
            <a:pPr lvl="1" eaLnBrk="1" hangingPunct="1">
              <a:lnSpc>
                <a:spcPct val="160000"/>
              </a:lnSpc>
            </a:pPr>
            <a:r>
              <a:rPr lang="zh-CN" altLang="en-US" sz="1600" dirty="0">
                <a:ea typeface="宋体" panose="02010600030101010101" pitchFamily="2" charset="-122"/>
              </a:rPr>
              <a:t>自我复制：病毒代码的明确目的是自我复制。如：可以用受毒感染的文件副本替换其他可执行文件。</a:t>
            </a:r>
          </a:p>
          <a:p>
            <a:pPr eaLnBrk="1" hangingPunct="1">
              <a:lnSpc>
                <a:spcPct val="160000"/>
              </a:lnSpc>
            </a:pPr>
            <a:r>
              <a:rPr lang="zh-CN" altLang="en-US" dirty="0">
                <a:ea typeface="宋体" panose="02010600030101010101" pitchFamily="2" charset="-122"/>
              </a:rPr>
              <a:t> 与蠕虫相比，病毒可破坏计算机硬件、软件和数据。 </a:t>
            </a:r>
          </a:p>
        </p:txBody>
      </p:sp>
    </p:spTree>
    <p:extLst>
      <p:ext uri="{BB962C8B-B14F-4D97-AF65-F5344CB8AC3E}">
        <p14:creationId xmlns:p14="http://schemas.microsoft.com/office/powerpoint/2010/main" val="34105045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1171">
                                            <p:txEl>
                                              <p:pRg st="2" end="2"/>
                                            </p:txEl>
                                          </p:spTgt>
                                        </p:tgtEl>
                                        <p:attrNameLst>
                                          <p:attrName>style.visibility</p:attrName>
                                        </p:attrNameLst>
                                      </p:cBhvr>
                                      <p:to>
                                        <p:strVal val="visible"/>
                                      </p:to>
                                    </p:set>
                                    <p:animEffect transition="in" filter="dissolve">
                                      <p:cBhvr>
                                        <p:cTn id="7" dur="500"/>
                                        <p:tgtEl>
                                          <p:spTgt spid="3911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1171">
                                            <p:txEl>
                                              <p:pRg st="3" end="3"/>
                                            </p:txEl>
                                          </p:spTgt>
                                        </p:tgtEl>
                                        <p:attrNameLst>
                                          <p:attrName>style.visibility</p:attrName>
                                        </p:attrNameLst>
                                      </p:cBhvr>
                                      <p:to>
                                        <p:strVal val="visible"/>
                                      </p:to>
                                    </p:set>
                                    <p:animEffect transition="in" filter="dissolve">
                                      <p:cBhvr>
                                        <p:cTn id="12" dur="500"/>
                                        <p:tgtEl>
                                          <p:spTgt spid="39117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1171">
                                            <p:txEl>
                                              <p:pRg st="4" end="4"/>
                                            </p:txEl>
                                          </p:spTgt>
                                        </p:tgtEl>
                                        <p:attrNameLst>
                                          <p:attrName>style.visibility</p:attrName>
                                        </p:attrNameLst>
                                      </p:cBhvr>
                                      <p:to>
                                        <p:strVal val="visible"/>
                                      </p:to>
                                    </p:set>
                                    <p:animEffect transition="in" filter="dissolve">
                                      <p:cBhvr>
                                        <p:cTn id="17" dur="500"/>
                                        <p:tgtEl>
                                          <p:spTgt spid="391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24A450DB-79BC-5449-8C5E-A6B02A90D849}"/>
              </a:ext>
            </a:extLst>
          </p:cNvPr>
          <p:cNvSpPr>
            <a:spLocks noGrp="1" noRot="1" noChangeArrowheads="1"/>
          </p:cNvSpPr>
          <p:nvPr>
            <p:ph type="body" idx="1"/>
          </p:nvPr>
        </p:nvSpPr>
        <p:spPr>
          <a:xfrm>
            <a:off x="166255" y="1094509"/>
            <a:ext cx="8742218" cy="3467966"/>
          </a:xfrm>
        </p:spPr>
        <p:txBody>
          <a:bodyPr/>
          <a:lstStyle/>
          <a:p>
            <a:pPr eaLnBrk="1" hangingPunct="1"/>
            <a:r>
              <a:rPr lang="zh-CN" altLang="en-US" sz="2100" dirty="0">
                <a:ea typeface="宋体" panose="02010600030101010101" pitchFamily="2" charset="-122"/>
              </a:rPr>
              <a:t>蠕虫属于计算机病毒的子类，所以也称为“蠕虫病毒”。通常，蠕虫的传播无需人为干预，并可通过网络进行自我复制，在复制过程中可能有改动。与病毒相比，蠕虫可消耗内存或网络带宽，并导致计算机停止响应。</a:t>
            </a:r>
          </a:p>
          <a:p>
            <a:pPr eaLnBrk="1" hangingPunct="1"/>
            <a:r>
              <a:rPr lang="zh-CN" altLang="en-US" sz="2100" dirty="0">
                <a:ea typeface="宋体" panose="02010600030101010101" pitchFamily="2" charset="-122"/>
              </a:rPr>
              <a:t>与病毒类似，蠕虫也在计算机与计算机之间自我复制，但蠕虫可自动完成复制过程，因为它接管了计算机中传输文件或信息的功能。 </a:t>
            </a:r>
          </a:p>
        </p:txBody>
      </p:sp>
      <p:sp>
        <p:nvSpPr>
          <p:cNvPr id="136194" name="Rectangle 2">
            <a:extLst>
              <a:ext uri="{FF2B5EF4-FFF2-40B4-BE49-F238E27FC236}">
                <a16:creationId xmlns:a16="http://schemas.microsoft.com/office/drawing/2014/main" id="{C4B57196-B479-9345-B003-A5CEF52DCA88}"/>
              </a:ext>
            </a:extLst>
          </p:cNvPr>
          <p:cNvSpPr>
            <a:spLocks noGrp="1" noRot="1" noChangeArrowheads="1"/>
          </p:cNvSpPr>
          <p:nvPr>
            <p:ph type="title"/>
          </p:nvPr>
        </p:nvSpPr>
        <p:spPr>
          <a:xfrm>
            <a:off x="166255" y="277091"/>
            <a:ext cx="7167995" cy="669456"/>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蠕虫的特点 </a:t>
            </a:r>
          </a:p>
        </p:txBody>
      </p:sp>
    </p:spTree>
    <p:extLst>
      <p:ext uri="{BB962C8B-B14F-4D97-AF65-F5344CB8AC3E}">
        <p14:creationId xmlns:p14="http://schemas.microsoft.com/office/powerpoint/2010/main" val="2679601011"/>
      </p:ext>
    </p:extLst>
  </p:cSld>
  <p:clrMapOvr>
    <a:masterClrMapping/>
  </p:clrMapOvr>
  <p:transition spd="slow">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9EC3E508-FB59-F748-B63E-8A126FA50063}"/>
              </a:ext>
            </a:extLst>
          </p:cNvPr>
          <p:cNvSpPr>
            <a:spLocks noGrp="1" noRot="1" noChangeArrowheads="1"/>
          </p:cNvSpPr>
          <p:nvPr>
            <p:ph type="title"/>
          </p:nvPr>
        </p:nvSpPr>
        <p:spPr>
          <a:xfrm>
            <a:off x="193963" y="303608"/>
            <a:ext cx="7553001" cy="588169"/>
          </a:xfrm>
        </p:spPr>
        <p:txBody>
          <a:bodyPr/>
          <a:lstStyle/>
          <a:p>
            <a:pPr eaLnBrk="1" hangingPunct="1"/>
            <a:r>
              <a:rPr lang="zh-CN" altLang="en-US" sz="3000" dirty="0">
                <a:ea typeface="宋体" panose="02010600030101010101" pitchFamily="2" charset="-122"/>
              </a:rPr>
              <a:t>特洛伊木马</a:t>
            </a:r>
          </a:p>
        </p:txBody>
      </p:sp>
      <p:sp>
        <p:nvSpPr>
          <p:cNvPr id="138242" name="Rectangle 3">
            <a:extLst>
              <a:ext uri="{FF2B5EF4-FFF2-40B4-BE49-F238E27FC236}">
                <a16:creationId xmlns:a16="http://schemas.microsoft.com/office/drawing/2014/main" id="{E1D8B357-1510-0646-84A6-4E21D2308CE9}"/>
              </a:ext>
            </a:extLst>
          </p:cNvPr>
          <p:cNvSpPr>
            <a:spLocks noGrp="1" noRot="1" noChangeArrowheads="1"/>
          </p:cNvSpPr>
          <p:nvPr>
            <p:ph type="body" idx="1"/>
          </p:nvPr>
        </p:nvSpPr>
        <p:spPr>
          <a:xfrm>
            <a:off x="193963" y="1094509"/>
            <a:ext cx="8728364" cy="3745383"/>
          </a:xfrm>
        </p:spPr>
        <p:txBody>
          <a:bodyPr/>
          <a:lstStyle/>
          <a:p>
            <a:pPr eaLnBrk="1" hangingPunct="1">
              <a:lnSpc>
                <a:spcPct val="150000"/>
              </a:lnSpc>
              <a:spcBef>
                <a:spcPts val="150"/>
              </a:spcBef>
            </a:pPr>
            <a:r>
              <a:rPr lang="zh-CN" altLang="en-US" sz="2000" dirty="0">
                <a:solidFill>
                  <a:srgbClr val="FF0000"/>
                </a:solidFill>
                <a:ea typeface="宋体" panose="02010600030101010101" pitchFamily="2" charset="-122"/>
              </a:rPr>
              <a:t>特洛伊木马</a:t>
            </a:r>
            <a:r>
              <a:rPr lang="en-US" altLang="zh-CN" sz="2000" dirty="0">
                <a:solidFill>
                  <a:srgbClr val="FF0000"/>
                </a:solidFill>
                <a:ea typeface="宋体" panose="02010600030101010101" pitchFamily="2" charset="-122"/>
              </a:rPr>
              <a:t>(Trojan Horse)</a:t>
            </a:r>
            <a:r>
              <a:rPr lang="zh-CN" altLang="en-US" sz="2000" dirty="0">
                <a:ea typeface="宋体" panose="02010600030101010101" pitchFamily="2" charset="-122"/>
              </a:rPr>
              <a:t>，简称木马，是一种</a:t>
            </a:r>
            <a:r>
              <a:rPr lang="zh-CN" altLang="en-US" sz="2000" dirty="0">
                <a:solidFill>
                  <a:srgbClr val="FF0000"/>
                </a:solidFill>
                <a:ea typeface="宋体" panose="02010600030101010101" pitchFamily="2" charset="-122"/>
              </a:rPr>
              <a:t>恶意程序</a:t>
            </a:r>
            <a:r>
              <a:rPr lang="zh-CN" altLang="en-US" sz="2000" dirty="0">
                <a:ea typeface="宋体" panose="02010600030101010101" pitchFamily="2" charset="-122"/>
              </a:rPr>
              <a:t>，是一种</a:t>
            </a:r>
            <a:r>
              <a:rPr lang="zh-CN" altLang="en-US" sz="2000" dirty="0">
                <a:solidFill>
                  <a:srgbClr val="FF0000"/>
                </a:solidFill>
                <a:ea typeface="宋体" panose="02010600030101010101" pitchFamily="2" charset="-122"/>
              </a:rPr>
              <a:t>基于远程控制的黑客工具</a:t>
            </a:r>
            <a:r>
              <a:rPr lang="zh-CN" altLang="en-US" sz="2000" dirty="0">
                <a:ea typeface="宋体" panose="02010600030101010101" pitchFamily="2" charset="-122"/>
              </a:rPr>
              <a:t>，一旦侵入用户的计算机，就悄悄地在宿主计算机上运行，在用户毫无察觉的情况下，让攻击者获得远程访问和控制系统的权限，进而在用户的计算机中修改文件、修改注册表、控制鼠标、监视</a:t>
            </a:r>
            <a:r>
              <a:rPr lang="en-US" altLang="zh-CN" sz="2000" dirty="0">
                <a:ea typeface="宋体" panose="02010600030101010101" pitchFamily="2" charset="-122"/>
              </a:rPr>
              <a:t>/</a:t>
            </a:r>
            <a:r>
              <a:rPr lang="zh-CN" altLang="en-US" sz="2000" dirty="0">
                <a:ea typeface="宋体" panose="02010600030101010101" pitchFamily="2" charset="-122"/>
              </a:rPr>
              <a:t>控制键盘，或窃取用户信息</a:t>
            </a:r>
          </a:p>
          <a:p>
            <a:pPr eaLnBrk="1" hangingPunct="1">
              <a:lnSpc>
                <a:spcPct val="150000"/>
              </a:lnSpc>
              <a:spcBef>
                <a:spcPts val="150"/>
              </a:spcBef>
            </a:pPr>
            <a:r>
              <a:rPr lang="zh-CN" altLang="en-US" sz="2000" dirty="0">
                <a:ea typeface="宋体" panose="02010600030101010101" pitchFamily="2" charset="-122"/>
              </a:rPr>
              <a:t>古希腊特洛伊之战中利用木马攻陷特洛伊城；现代网络攻击者利用木马，</a:t>
            </a:r>
            <a:r>
              <a:rPr lang="zh-CN" altLang="en-US" sz="2000" dirty="0">
                <a:solidFill>
                  <a:srgbClr val="FF0000"/>
                </a:solidFill>
                <a:ea typeface="宋体" panose="02010600030101010101" pitchFamily="2" charset="-122"/>
              </a:rPr>
              <a:t>采用伪装、欺骗</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哄骗，</a:t>
            </a:r>
            <a:r>
              <a:rPr lang="en-US" altLang="zh-CN" sz="2000" dirty="0">
                <a:solidFill>
                  <a:srgbClr val="FF0000"/>
                </a:solidFill>
                <a:ea typeface="宋体" panose="02010600030101010101" pitchFamily="2" charset="-122"/>
              </a:rPr>
              <a:t>Spoofing)</a:t>
            </a:r>
            <a:r>
              <a:rPr lang="zh-CN" altLang="en-US" sz="2000" dirty="0">
                <a:solidFill>
                  <a:srgbClr val="FF0000"/>
                </a:solidFill>
                <a:ea typeface="宋体" panose="02010600030101010101" pitchFamily="2" charset="-122"/>
              </a:rPr>
              <a:t>等手段</a:t>
            </a:r>
            <a:r>
              <a:rPr lang="zh-CN" altLang="en-US" sz="2000" dirty="0">
                <a:ea typeface="宋体" panose="02010600030101010101" pitchFamily="2" charset="-122"/>
              </a:rPr>
              <a:t>进入被攻击的计算机系统中，窃取信息，实施远程监控</a:t>
            </a:r>
          </a:p>
        </p:txBody>
      </p:sp>
    </p:spTree>
    <p:extLst>
      <p:ext uri="{BB962C8B-B14F-4D97-AF65-F5344CB8AC3E}">
        <p14:creationId xmlns:p14="http://schemas.microsoft.com/office/powerpoint/2010/main" val="4220570219"/>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82781C6D-BCD6-4348-8579-11B95074A858}"/>
              </a:ext>
            </a:extLst>
          </p:cNvPr>
          <p:cNvSpPr>
            <a:spLocks noGrp="1" noRot="1" noChangeArrowheads="1"/>
          </p:cNvSpPr>
          <p:nvPr>
            <p:ph type="title"/>
          </p:nvPr>
        </p:nvSpPr>
        <p:spPr>
          <a:xfrm>
            <a:off x="166255" y="195262"/>
            <a:ext cx="7526374" cy="663720"/>
          </a:xfrm>
        </p:spPr>
        <p:txBody>
          <a:bodyPr/>
          <a:lstStyle/>
          <a:p>
            <a:pPr algn="just" eaLnBrk="1" hangingPunct="1">
              <a:lnSpc>
                <a:spcPct val="150000"/>
              </a:lnSpc>
            </a:pPr>
            <a:r>
              <a:rPr lang="zh-CN" altLang="en-US" dirty="0">
                <a:latin typeface="Times New Roman" panose="02020603050405020304" pitchFamily="18" charset="0"/>
                <a:ea typeface="宋体" panose="02010600030101010101" pitchFamily="2" charset="-122"/>
              </a:rPr>
              <a:t>木马的特点</a:t>
            </a:r>
          </a:p>
        </p:txBody>
      </p:sp>
      <p:sp>
        <p:nvSpPr>
          <p:cNvPr id="2" name="矩形 1">
            <a:extLst>
              <a:ext uri="{FF2B5EF4-FFF2-40B4-BE49-F238E27FC236}">
                <a16:creationId xmlns:a16="http://schemas.microsoft.com/office/drawing/2014/main" id="{83EBC93E-E581-E64C-B455-1126FA51387E}"/>
              </a:ext>
            </a:extLst>
          </p:cNvPr>
          <p:cNvSpPr/>
          <p:nvPr/>
        </p:nvSpPr>
        <p:spPr>
          <a:xfrm>
            <a:off x="166255" y="992258"/>
            <a:ext cx="8811490" cy="3845989"/>
          </a:xfrm>
          <a:prstGeom prst="rect">
            <a:avLst/>
          </a:prstGeom>
        </p:spPr>
        <p:txBody>
          <a:bodyPr wrap="square">
            <a:spAutoFit/>
          </a:bodyPr>
          <a:lstStyle/>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a:t>
            </a:r>
            <a:r>
              <a:rPr lang="en-US" altLang="zh-CN" sz="2100" dirty="0">
                <a:latin typeface="Times New Roman" panose="02020603050405020304" pitchFamily="18" charset="0"/>
              </a:rPr>
              <a:t>(trojan)</a:t>
            </a:r>
            <a:r>
              <a:rPr lang="zh-CN" altLang="en-US" sz="2100" dirty="0">
                <a:latin typeface="Times New Roman" panose="02020603050405020304" pitchFamily="18" charset="0"/>
              </a:rPr>
              <a:t>与病毒的主要区别是木马并不像病毒那样复制自身</a:t>
            </a:r>
          </a:p>
          <a:p>
            <a:pPr marL="273050" indent="-273050" eaLnBrk="1" hangingPunct="1">
              <a:spcBef>
                <a:spcPts val="750"/>
              </a:spcBef>
              <a:buClr>
                <a:srgbClr val="3F762B"/>
              </a:buClr>
              <a:buFont typeface="Wingdings" pitchFamily="2" charset="2"/>
              <a:buChar char="l"/>
            </a:pPr>
            <a:r>
              <a:rPr lang="zh-CN" altLang="en-US" sz="2100" dirty="0">
                <a:latin typeface="Times New Roman" panose="02020603050405020304" pitchFamily="18" charset="0"/>
                <a:sym typeface="Calibri" panose="020F0502020204030204" pitchFamily="34" charset="0"/>
              </a:rPr>
              <a:t>木马的特点：</a:t>
            </a:r>
          </a:p>
          <a:p>
            <a:pPr lvl="1" eaLnBrk="1" hangingPunct="1">
              <a:lnSpc>
                <a:spcPct val="150000"/>
              </a:lnSpc>
              <a:buFont typeface="Wingdings" pitchFamily="2" charset="2"/>
              <a:buChar char="Ø"/>
            </a:pPr>
            <a:r>
              <a:rPr lang="zh-CN" altLang="en-US" dirty="0"/>
              <a:t>不感染其他的文件</a:t>
            </a:r>
          </a:p>
          <a:p>
            <a:pPr lvl="1" eaLnBrk="1" hangingPunct="1">
              <a:lnSpc>
                <a:spcPct val="150000"/>
              </a:lnSpc>
              <a:buFont typeface="Wingdings" pitchFamily="2" charset="2"/>
              <a:buChar char="Ø"/>
            </a:pPr>
            <a:r>
              <a:rPr lang="zh-CN" altLang="en-US" dirty="0"/>
              <a:t>不破坏计算机系统</a:t>
            </a:r>
          </a:p>
          <a:p>
            <a:pPr lvl="1" eaLnBrk="1" hangingPunct="1">
              <a:lnSpc>
                <a:spcPct val="150000"/>
              </a:lnSpc>
              <a:buFont typeface="Wingdings" pitchFamily="2" charset="2"/>
              <a:buChar char="Ø"/>
            </a:pPr>
            <a:r>
              <a:rPr lang="zh-CN" altLang="en-US" dirty="0"/>
              <a:t>不进行自我复制</a:t>
            </a:r>
          </a:p>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木马的主要作用：作为远程控制、窃取密码的工具，它是一个具有内外连接功能的后门程序。           </a:t>
            </a:r>
          </a:p>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木马的两种主要传播途径：电子邮件和文件下载。</a:t>
            </a:r>
          </a:p>
        </p:txBody>
      </p:sp>
    </p:spTree>
    <p:extLst>
      <p:ext uri="{BB962C8B-B14F-4D97-AF65-F5344CB8AC3E}">
        <p14:creationId xmlns:p14="http://schemas.microsoft.com/office/powerpoint/2010/main" val="2728268187"/>
      </p:ext>
    </p:extLst>
  </p:cSld>
  <p:clrMapOvr>
    <a:masterClrMapping/>
  </p:clrMapOvr>
  <p:transition spd="slow">
    <p:wipe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a:extLst>
              <a:ext uri="{FF2B5EF4-FFF2-40B4-BE49-F238E27FC236}">
                <a16:creationId xmlns:a16="http://schemas.microsoft.com/office/drawing/2014/main" id="{1CE8188C-B82A-324E-BD8F-A0AC5D130FBA}"/>
              </a:ext>
            </a:extLst>
          </p:cNvPr>
          <p:cNvSpPr>
            <a:spLocks noGrp="1" noRot="1" noChangeArrowheads="1"/>
          </p:cNvSpPr>
          <p:nvPr>
            <p:ph type="body" idx="1"/>
          </p:nvPr>
        </p:nvSpPr>
        <p:spPr>
          <a:xfrm>
            <a:off x="260584" y="1079248"/>
            <a:ext cx="8622831" cy="3293269"/>
          </a:xfrm>
        </p:spPr>
        <p:txBody>
          <a:bodyPr/>
          <a:lstStyle/>
          <a:p>
            <a:pPr eaLnBrk="1" hangingPunct="1">
              <a:lnSpc>
                <a:spcPct val="170000"/>
              </a:lnSpc>
            </a:pPr>
            <a:r>
              <a:rPr lang="zh-CN" altLang="en-US" sz="2000" dirty="0">
                <a:ea typeface="宋体" panose="02010600030101010101" pitchFamily="2" charset="-122"/>
              </a:rPr>
              <a:t>一般的木马程序包括客户端和服务器端两个程序，其中：</a:t>
            </a:r>
          </a:p>
          <a:p>
            <a:pPr lvl="1" eaLnBrk="1" hangingPunct="1">
              <a:lnSpc>
                <a:spcPct val="170000"/>
              </a:lnSpc>
            </a:pPr>
            <a:r>
              <a:rPr lang="zh-CN" altLang="en-US" sz="1600" dirty="0">
                <a:ea typeface="宋体" panose="02010600030101010101" pitchFamily="2" charset="-122"/>
              </a:rPr>
              <a:t>客户端：用于攻击者远程控制植入木马的计算机（即服务器端）</a:t>
            </a:r>
          </a:p>
          <a:p>
            <a:pPr lvl="1" eaLnBrk="1" hangingPunct="1">
              <a:lnSpc>
                <a:spcPct val="170000"/>
              </a:lnSpc>
            </a:pPr>
            <a:r>
              <a:rPr lang="zh-CN" altLang="en-US" sz="1600" dirty="0">
                <a:ea typeface="宋体" panose="02010600030101010101" pitchFamily="2" charset="-122"/>
              </a:rPr>
              <a:t>服务器端：是植入木马程序的远程计算机。</a:t>
            </a:r>
          </a:p>
          <a:p>
            <a:pPr eaLnBrk="1" hangingPunct="1">
              <a:lnSpc>
                <a:spcPct val="170000"/>
              </a:lnSpc>
            </a:pPr>
            <a:r>
              <a:rPr lang="zh-CN" altLang="en-US" sz="2000" dirty="0">
                <a:ea typeface="宋体" panose="02010600030101010101" pitchFamily="2" charset="-122"/>
              </a:rPr>
              <a:t>当木马程序或带有木马的其他程序执行后，木马首先会在系统中潜伏下来，并修改系统的配置参数，每次启动系统时都能够实现木马程序的自动加载。</a:t>
            </a:r>
          </a:p>
        </p:txBody>
      </p:sp>
      <p:sp>
        <p:nvSpPr>
          <p:cNvPr id="140290" name="Rectangle 5">
            <a:extLst>
              <a:ext uri="{FF2B5EF4-FFF2-40B4-BE49-F238E27FC236}">
                <a16:creationId xmlns:a16="http://schemas.microsoft.com/office/drawing/2014/main" id="{6FA0B266-D135-A943-ABF5-EA9164A62DB2}"/>
              </a:ext>
            </a:extLst>
          </p:cNvPr>
          <p:cNvSpPr>
            <a:spLocks noGrp="1" noRot="1" noChangeArrowheads="1"/>
          </p:cNvSpPr>
          <p:nvPr>
            <p:ph type="title"/>
          </p:nvPr>
        </p:nvSpPr>
        <p:spPr>
          <a:xfrm>
            <a:off x="138545" y="245702"/>
            <a:ext cx="7570427" cy="647700"/>
          </a:xfrm>
        </p:spPr>
        <p:txBody>
          <a:bodyPr/>
          <a:lstStyle/>
          <a:p>
            <a:pPr eaLnBrk="1" hangingPunct="1"/>
            <a:r>
              <a:rPr lang="zh-CN" altLang="en-US" dirty="0">
                <a:latin typeface="Times New Roman" panose="02020603050405020304" pitchFamily="18" charset="0"/>
                <a:ea typeface="宋体" panose="02010600030101010101" pitchFamily="2" charset="-122"/>
              </a:rPr>
              <a:t>木马的组成</a:t>
            </a:r>
          </a:p>
        </p:txBody>
      </p:sp>
    </p:spTree>
    <p:extLst>
      <p:ext uri="{BB962C8B-B14F-4D97-AF65-F5344CB8AC3E}">
        <p14:creationId xmlns:p14="http://schemas.microsoft.com/office/powerpoint/2010/main" val="3520702678"/>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00387">
                                            <p:txEl>
                                              <p:pRg st="3" end="3"/>
                                            </p:txEl>
                                          </p:spTgt>
                                        </p:tgtEl>
                                        <p:attrNameLst>
                                          <p:attrName>style.visibility</p:attrName>
                                        </p:attrNameLst>
                                      </p:cBhvr>
                                      <p:to>
                                        <p:strVal val="visible"/>
                                      </p:to>
                                    </p:set>
                                    <p:animEffect transition="in" filter="dissolve">
                                      <p:cBhvr>
                                        <p:cTn id="7" dur="500"/>
                                        <p:tgtEl>
                                          <p:spTgt spid="400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89F14F4D-B8F4-7341-8D10-6AC82658D263}"/>
              </a:ext>
            </a:extLst>
          </p:cNvPr>
          <p:cNvSpPr>
            <a:spLocks noGrp="1" noRot="1" noChangeArrowheads="1"/>
          </p:cNvSpPr>
          <p:nvPr>
            <p:ph type="title"/>
          </p:nvPr>
        </p:nvSpPr>
        <p:spPr>
          <a:xfrm>
            <a:off x="191583" y="315516"/>
            <a:ext cx="6405563" cy="539354"/>
          </a:xfrm>
        </p:spPr>
        <p:txBody>
          <a:bodyPr/>
          <a:lstStyle/>
          <a:p>
            <a:pPr eaLnBrk="1" hangingPunct="1"/>
            <a:r>
              <a:rPr lang="zh-CN" altLang="en-US" dirty="0">
                <a:latin typeface="Times New Roman" panose="02020603050405020304" pitchFamily="18" charset="0"/>
                <a:ea typeface="宋体" panose="02010600030101010101" pitchFamily="2" charset="-122"/>
              </a:rPr>
              <a:t>恶意程序</a:t>
            </a:r>
          </a:p>
        </p:txBody>
      </p:sp>
      <p:sp>
        <p:nvSpPr>
          <p:cNvPr id="143362" name="Rectangle 3">
            <a:extLst>
              <a:ext uri="{FF2B5EF4-FFF2-40B4-BE49-F238E27FC236}">
                <a16:creationId xmlns:a16="http://schemas.microsoft.com/office/drawing/2014/main" id="{210C967C-5C8B-4C49-A4A0-DD30C83DDF6A}"/>
              </a:ext>
            </a:extLst>
          </p:cNvPr>
          <p:cNvSpPr>
            <a:spLocks noGrp="1" noRot="1" noChangeArrowheads="1"/>
          </p:cNvSpPr>
          <p:nvPr>
            <p:ph type="body" idx="1"/>
          </p:nvPr>
        </p:nvSpPr>
        <p:spPr>
          <a:xfrm>
            <a:off x="151209" y="1040607"/>
            <a:ext cx="8841581" cy="2331244"/>
          </a:xfrm>
        </p:spPr>
        <p:txBody>
          <a:bodyPr/>
          <a:lstStyle/>
          <a:p>
            <a:pPr eaLnBrk="1" hangingPunct="1">
              <a:spcBef>
                <a:spcPct val="0"/>
              </a:spcBef>
            </a:pPr>
            <a:r>
              <a:rPr lang="zh-CN" altLang="en-US" dirty="0">
                <a:latin typeface="Times New Roman" panose="02020603050405020304" pitchFamily="18" charset="0"/>
                <a:ea typeface="宋体" panose="02010600030101010101" pitchFamily="2" charset="-122"/>
              </a:rPr>
              <a:t>未经授权便干扰或破坏计算系统</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网络的程序或代码称之为恶意程序</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恶意代码</a:t>
            </a:r>
          </a:p>
          <a:p>
            <a:pPr eaLnBrk="1" hangingPunct="1">
              <a:spcBef>
                <a:spcPct val="0"/>
              </a:spcBef>
            </a:pPr>
            <a:r>
              <a:rPr lang="zh-CN" altLang="en-US" dirty="0">
                <a:latin typeface="Times New Roman" panose="02020603050405020304" pitchFamily="18" charset="0"/>
                <a:ea typeface="宋体" panose="02010600030101010101" pitchFamily="2" charset="-122"/>
              </a:rPr>
              <a:t>恶意程序大致可以分为两类：</a:t>
            </a:r>
          </a:p>
          <a:p>
            <a:pPr lvl="1" eaLnBrk="1" hangingPunct="1">
              <a:spcBef>
                <a:spcPct val="0"/>
              </a:spcBef>
            </a:pPr>
            <a:r>
              <a:rPr lang="zh-CN" altLang="en-US" dirty="0">
                <a:latin typeface="Times New Roman" panose="02020603050405020304" pitchFamily="18" charset="0"/>
                <a:ea typeface="宋体" panose="02010600030101010101" pitchFamily="2" charset="-122"/>
              </a:rPr>
              <a:t>依赖于主机程序的恶意程序</a:t>
            </a:r>
          </a:p>
          <a:p>
            <a:pPr lvl="2" eaLnBrk="1" hangingPunct="1">
              <a:spcBef>
                <a:spcPct val="0"/>
              </a:spcBef>
            </a:pPr>
            <a:r>
              <a:rPr lang="zh-CN" altLang="en-US" dirty="0">
                <a:latin typeface="Times New Roman" panose="02020603050405020304" pitchFamily="18" charset="0"/>
                <a:ea typeface="宋体" panose="02010600030101010101" pitchFamily="2" charset="-122"/>
              </a:rPr>
              <a:t>不能独立于应用程序或系统程序，即存在宿主</a:t>
            </a:r>
          </a:p>
          <a:p>
            <a:pPr lvl="1" eaLnBrk="1" hangingPunct="1">
              <a:spcBef>
                <a:spcPct val="0"/>
              </a:spcBef>
            </a:pPr>
            <a:r>
              <a:rPr lang="zh-CN" altLang="en-US" dirty="0">
                <a:latin typeface="Times New Roman" panose="02020603050405020304" pitchFamily="18" charset="0"/>
                <a:ea typeface="宋体" panose="02010600030101010101" pitchFamily="2" charset="-122"/>
              </a:rPr>
              <a:t>独立于主机程序的恶意程序</a:t>
            </a:r>
          </a:p>
          <a:p>
            <a:pPr lvl="2" eaLnBrk="1" hangingPunct="1">
              <a:spcBef>
                <a:spcPct val="0"/>
              </a:spcBef>
            </a:pPr>
            <a:r>
              <a:rPr lang="zh-CN" altLang="en-US" dirty="0">
                <a:latin typeface="Times New Roman" panose="02020603050405020304" pitchFamily="18" charset="0"/>
                <a:ea typeface="宋体" panose="02010600030101010101" pitchFamily="2" charset="-122"/>
              </a:rPr>
              <a:t>能在操作系统上运行的、独立的程序</a:t>
            </a:r>
          </a:p>
        </p:txBody>
      </p:sp>
      <p:graphicFrame>
        <p:nvGraphicFramePr>
          <p:cNvPr id="420868" name="Object 4">
            <a:extLst>
              <a:ext uri="{FF2B5EF4-FFF2-40B4-BE49-F238E27FC236}">
                <a16:creationId xmlns:a16="http://schemas.microsoft.com/office/drawing/2014/main" id="{AC99E766-BAE2-EF42-8B16-552A95CFC16D}"/>
              </a:ext>
            </a:extLst>
          </p:cNvPr>
          <p:cNvGraphicFramePr>
            <a:graphicFrameLocks noChangeAspect="1"/>
          </p:cNvGraphicFramePr>
          <p:nvPr>
            <p:extLst>
              <p:ext uri="{D42A27DB-BD31-4B8C-83A1-F6EECF244321}">
                <p14:modId xmlns:p14="http://schemas.microsoft.com/office/powerpoint/2010/main" val="665616568"/>
              </p:ext>
            </p:extLst>
          </p:nvPr>
        </p:nvGraphicFramePr>
        <p:xfrm>
          <a:off x="1914525" y="3371852"/>
          <a:ext cx="5314950" cy="1684734"/>
        </p:xfrm>
        <a:graphic>
          <a:graphicData uri="http://schemas.openxmlformats.org/presentationml/2006/ole">
            <mc:AlternateContent xmlns:mc="http://schemas.openxmlformats.org/markup-compatibility/2006">
              <mc:Choice xmlns:v="urn:schemas-microsoft-com:vml" Requires="v">
                <p:oleObj spid="_x0000_s129032" r:id="rId3" imgW="24739600" imgH="6972300" progId="SmartDraw.2">
                  <p:embed/>
                </p:oleObj>
              </mc:Choice>
              <mc:Fallback>
                <p:oleObj r:id="rId3" imgW="24739600" imgH="6972300" progId="SmartDraw.2">
                  <p:embed/>
                  <p:pic>
                    <p:nvPicPr>
                      <p:cNvPr id="420868" name="Object 4">
                        <a:extLst>
                          <a:ext uri="{FF2B5EF4-FFF2-40B4-BE49-F238E27FC236}">
                            <a16:creationId xmlns:a16="http://schemas.microsoft.com/office/drawing/2014/main" id="{AC99E766-BAE2-EF42-8B16-552A95CFC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4525" y="3371852"/>
                        <a:ext cx="5314950" cy="1684734"/>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42886701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slide(fromLeft)">
                                      <p:cBhvr>
                                        <p:cTn id="7" dur="500"/>
                                        <p:tgtEl>
                                          <p:spTgt spid="42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
            <a:extLst>
              <a:ext uri="{FF2B5EF4-FFF2-40B4-BE49-F238E27FC236}">
                <a16:creationId xmlns:a16="http://schemas.microsoft.com/office/drawing/2014/main" id="{E7A7B449-FF1F-6D4E-A3AC-E7324020BD36}"/>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本章小结</a:t>
            </a:r>
          </a:p>
        </p:txBody>
      </p:sp>
      <p:sp>
        <p:nvSpPr>
          <p:cNvPr id="144386" name="内容占位符 2">
            <a:extLst>
              <a:ext uri="{FF2B5EF4-FFF2-40B4-BE49-F238E27FC236}">
                <a16:creationId xmlns:a16="http://schemas.microsoft.com/office/drawing/2014/main" id="{A9747ED1-F2C5-ED47-A032-D28E2001C2D5}"/>
              </a:ext>
            </a:extLst>
          </p:cNvPr>
          <p:cNvSpPr>
            <a:spLocks noGrp="1" noChangeArrowheads="1"/>
          </p:cNvSpPr>
          <p:nvPr>
            <p:ph idx="1"/>
          </p:nvPr>
        </p:nvSpPr>
        <p:spPr/>
        <p:txBody>
          <a:bodyPr/>
          <a:lstStyle/>
          <a:p>
            <a:pPr eaLnBrk="1" hangingPunct="1"/>
            <a:r>
              <a:rPr lang="zh-CN" altLang="en-US" dirty="0">
                <a:solidFill>
                  <a:srgbClr val="C00000"/>
                </a:solidFill>
                <a:latin typeface="Times New Roman" panose="02020603050405020304" pitchFamily="18" charset="0"/>
                <a:ea typeface="宋体" panose="02010600030101010101" pitchFamily="2" charset="-122"/>
              </a:rPr>
              <a:t>数据加密模型</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solidFill>
                  <a:srgbClr val="C00000"/>
                </a:solidFill>
                <a:latin typeface="Times New Roman" panose="02020603050405020304" pitchFamily="18" charset="0"/>
                <a:ea typeface="宋体" panose="02010600030101010101" pitchFamily="2" charset="-122"/>
              </a:rPr>
              <a:t>对称密钥密码体制和公钥密码体制</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solidFill>
                  <a:srgbClr val="C00000"/>
                </a:solidFill>
                <a:latin typeface="Times New Roman" panose="02020603050405020304" pitchFamily="18" charset="0"/>
                <a:ea typeface="宋体" panose="02010600030101010101" pitchFamily="2" charset="-122"/>
              </a:rPr>
              <a:t>鉴别与数字签名</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通信安全机制</a:t>
            </a:r>
            <a:endParaRPr lang="en-US" altLang="zh-CN" dirty="0">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计算机网络病毒</a:t>
            </a:r>
          </a:p>
        </p:txBody>
      </p:sp>
      <p:sp>
        <p:nvSpPr>
          <p:cNvPr id="144387" name="幻灯片编号占位符 3">
            <a:extLst>
              <a:ext uri="{FF2B5EF4-FFF2-40B4-BE49-F238E27FC236}">
                <a16:creationId xmlns:a16="http://schemas.microsoft.com/office/drawing/2014/main" id="{FAC0373A-3F92-D54C-BDD1-61C07873E2E5}"/>
              </a:ext>
            </a:extLst>
          </p:cNvPr>
          <p:cNvSpPr>
            <a:spLocks noGrp="1" noChangeArrowheads="1"/>
          </p:cNvSpPr>
          <p:nvPr>
            <p:ph type="sldNum" sz="quarter" idx="10"/>
          </p:nvPr>
        </p:nvSpPr>
        <p:spPr>
          <a:xfrm>
            <a:off x="7383066" y="4997053"/>
            <a:ext cx="617934" cy="1464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4D17F4-2C16-1B40-9A29-4272012F29EA}"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bg2"/>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478785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F23A0F8-7B42-F946-900E-D2ECE294A361}"/>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83</a:t>
            </a:fld>
            <a:endParaRPr lang="zh-CN" altLang="en-US" sz="1400" dirty="0"/>
          </a:p>
        </p:txBody>
      </p:sp>
      <p:sp>
        <p:nvSpPr>
          <p:cNvPr id="3" name="文本框 2">
            <a:extLst>
              <a:ext uri="{FF2B5EF4-FFF2-40B4-BE49-F238E27FC236}">
                <a16:creationId xmlns:a16="http://schemas.microsoft.com/office/drawing/2014/main" id="{149B9E97-026E-9A48-B852-A0144C1C13CC}"/>
              </a:ext>
            </a:extLst>
          </p:cNvPr>
          <p:cNvSpPr txBox="1"/>
          <p:nvPr/>
        </p:nvSpPr>
        <p:spPr>
          <a:xfrm>
            <a:off x="2623184" y="1449824"/>
            <a:ext cx="4211955" cy="2171364"/>
          </a:xfrm>
          <a:prstGeom prst="rect">
            <a:avLst/>
          </a:prstGeom>
          <a:noFill/>
        </p:spPr>
        <p:txBody>
          <a:bodyPr wrap="square" rtlCol="0">
            <a:spAutoFit/>
          </a:bodyPr>
          <a:lstStyle/>
          <a:p>
            <a:pPr algn="ctr"/>
            <a:r>
              <a:rPr kumimoji="1" lang="en-US" altLang="zh-CN" sz="4800" dirty="0">
                <a:latin typeface="Zapfino" panose="03030300040707070C03" pitchFamily="66" charset="0"/>
              </a:rPr>
              <a:t>END!</a:t>
            </a:r>
            <a:endParaRPr kumimoji="1" lang="zh-CN" altLang="en-US" sz="4800" dirty="0">
              <a:latin typeface="Zapfino" panose="03030300040707070C03" pitchFamily="66" charset="0"/>
            </a:endParaRPr>
          </a:p>
        </p:txBody>
      </p:sp>
    </p:spTree>
    <p:extLst>
      <p:ext uri="{BB962C8B-B14F-4D97-AF65-F5344CB8AC3E}">
        <p14:creationId xmlns:p14="http://schemas.microsoft.com/office/powerpoint/2010/main" val="2845811420"/>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43592</TotalTime>
  <Pages>0</Pages>
  <Words>6726</Words>
  <Characters>0</Characters>
  <Application>Microsoft Macintosh PowerPoint</Application>
  <DocSecurity>0</DocSecurity>
  <PresentationFormat>全屏显示(16:9)</PresentationFormat>
  <Lines>0</Lines>
  <Paragraphs>671</Paragraphs>
  <Slides>83</Slides>
  <Notes>28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83</vt:i4>
      </vt:variant>
    </vt:vector>
  </HeadingPairs>
  <TitlesOfParts>
    <vt:vector size="101" baseType="lpstr">
      <vt:lpstr>宋体</vt:lpstr>
      <vt:lpstr>Calibri</vt:lpstr>
      <vt:lpstr>Tahoma</vt:lpstr>
      <vt:lpstr>Wingdings</vt:lpstr>
      <vt:lpstr>Zapfino</vt:lpstr>
      <vt:lpstr>Comic Sans MS</vt:lpstr>
      <vt:lpstr>Arial</vt:lpstr>
      <vt:lpstr>Calibri Light</vt:lpstr>
      <vt:lpstr>微软雅黑</vt:lpstr>
      <vt:lpstr>Times New Roman</vt:lpstr>
      <vt:lpstr>黑体</vt:lpstr>
      <vt:lpstr>Wingdings 2</vt:lpstr>
      <vt:lpstr>自定义设计方案</vt:lpstr>
      <vt:lpstr>VISIO</vt:lpstr>
      <vt:lpstr>Paint.Picture</vt:lpstr>
      <vt:lpstr>Visio.Drawing.6</vt:lpstr>
      <vt:lpstr>公式</vt:lpstr>
      <vt:lpstr>SmartDraw.2</vt:lpstr>
      <vt:lpstr>计算机网络（第 6/7/8 版）</vt:lpstr>
      <vt:lpstr>第 7 章  网络安全</vt:lpstr>
      <vt:lpstr>第 7 章  网络安全（续）</vt:lpstr>
      <vt:lpstr>7.1 网络安全问题概述</vt:lpstr>
      <vt:lpstr>对网络的被动攻击和主动攻击 </vt:lpstr>
      <vt:lpstr>7.1.2  计算机网络安全的内容</vt:lpstr>
      <vt:lpstr>7.1.3   一般的数据加密模型 </vt:lpstr>
      <vt:lpstr>一些重要概念 </vt:lpstr>
      <vt:lpstr>密码学简介（1）</vt:lpstr>
      <vt:lpstr>密码学简介（2）</vt:lpstr>
      <vt:lpstr>密码学简介（3）</vt:lpstr>
      <vt:lpstr>置换密码（1）</vt:lpstr>
      <vt:lpstr>置换密码（2）</vt:lpstr>
      <vt:lpstr>置换密码（3）</vt:lpstr>
      <vt:lpstr>转置密码（1）</vt:lpstr>
      <vt:lpstr>转置密码（2）</vt:lpstr>
      <vt:lpstr>一次一密（1）</vt:lpstr>
      <vt:lpstr>一次一密（2）</vt:lpstr>
      <vt:lpstr>一次一密（3）</vt:lpstr>
      <vt:lpstr>两条密码学原则（1）</vt:lpstr>
      <vt:lpstr>两条密码学原则（2）</vt:lpstr>
      <vt:lpstr>7.2 两类密码体制</vt:lpstr>
      <vt:lpstr>数据加密标准 DES</vt:lpstr>
      <vt:lpstr>1  概述（1）</vt:lpstr>
      <vt:lpstr>1  概述（2）</vt:lpstr>
      <vt:lpstr>2  数据加密标准DES（1）</vt:lpstr>
      <vt:lpstr>2  数据加密标准DES（2）</vt:lpstr>
      <vt:lpstr>2  数据加密标准DES（3）</vt:lpstr>
      <vt:lpstr>2  数据加密标准DES（4）</vt:lpstr>
      <vt:lpstr>2  数据加密标准DES（5）</vt:lpstr>
      <vt:lpstr>2  数据加密标准DES（6）</vt:lpstr>
      <vt:lpstr>DES 的保密性</vt:lpstr>
      <vt:lpstr>7.2.2  公钥密码体制</vt:lpstr>
      <vt:lpstr>公开密钥算法（1）</vt:lpstr>
      <vt:lpstr>公开密钥算法（2）</vt:lpstr>
      <vt:lpstr>公开密钥算法（3）</vt:lpstr>
      <vt:lpstr>公开密钥算法（4）</vt:lpstr>
      <vt:lpstr>RSA例子</vt:lpstr>
      <vt:lpstr>其它公开密钥算法</vt:lpstr>
      <vt:lpstr>7.3   数字签名</vt:lpstr>
      <vt:lpstr>数字签名的实现 </vt:lpstr>
      <vt:lpstr>数字签名的实现</vt:lpstr>
      <vt:lpstr>具有保密性的数字签名 </vt:lpstr>
      <vt:lpstr>7.4  鉴别</vt:lpstr>
      <vt:lpstr>鉴别与授权不同</vt:lpstr>
      <vt:lpstr>7.4.1  报文鉴别 </vt:lpstr>
      <vt:lpstr>报文摘要 MD(Message Digest)</vt:lpstr>
      <vt:lpstr>报文摘要的优点</vt:lpstr>
      <vt:lpstr>报文摘要算法</vt:lpstr>
      <vt:lpstr>报文摘要的实现 </vt:lpstr>
      <vt:lpstr>7.4.2  实体鉴别 </vt:lpstr>
      <vt:lpstr>最简单的实体鉴别过程 </vt:lpstr>
      <vt:lpstr>明显的漏洞</vt:lpstr>
      <vt:lpstr>使用不重数</vt:lpstr>
      <vt:lpstr>7.5   密钥分配 </vt:lpstr>
      <vt:lpstr>7.5.1  对称密钥的分配</vt:lpstr>
      <vt:lpstr>对称密钥的分配</vt:lpstr>
      <vt:lpstr>PowerPoint 演示文稿</vt:lpstr>
      <vt:lpstr>7.5.2  公钥的分配</vt:lpstr>
      <vt:lpstr>7.6  因特网使用的安全协议 </vt:lpstr>
      <vt:lpstr>IPsec 中最主要的两个部分 </vt:lpstr>
      <vt:lpstr>安全关联 SA(Security Association) </vt:lpstr>
      <vt:lpstr>7.7  系统安全：防火墙与入侵检测</vt:lpstr>
      <vt:lpstr>防火墙在互连网络中的位置 </vt:lpstr>
      <vt:lpstr>防火墙的功能</vt:lpstr>
      <vt:lpstr>防火墙技术一般分为两类 </vt:lpstr>
      <vt:lpstr>7.7.2  入侵检测系统 </vt:lpstr>
      <vt:lpstr>7.8 网络病毒与防治</vt:lpstr>
      <vt:lpstr>导致计算机病毒产生的社会渊源</vt:lpstr>
      <vt:lpstr>狭义定义</vt:lpstr>
      <vt:lpstr>广义定义</vt:lpstr>
      <vt:lpstr>病毒感染示意图</vt:lpstr>
      <vt:lpstr>计算机病毒的特征 </vt:lpstr>
      <vt:lpstr>计算机病毒传染方式 </vt:lpstr>
      <vt:lpstr>计算机病毒的分类 </vt:lpstr>
      <vt:lpstr>病毒、蠕虫和木马的区别</vt:lpstr>
      <vt:lpstr>蠕虫的特点 </vt:lpstr>
      <vt:lpstr>特洛伊木马</vt:lpstr>
      <vt:lpstr>木马的特点</vt:lpstr>
      <vt:lpstr>木马的组成</vt:lpstr>
      <vt:lpstr>恶意程序</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912</cp:revision>
  <cp:lastPrinted>2015-10-13T11:51:46Z</cp:lastPrinted>
  <dcterms:created xsi:type="dcterms:W3CDTF">2014-11-23T16:31:00Z</dcterms:created>
  <dcterms:modified xsi:type="dcterms:W3CDTF">2024-09-20T10:51:51Z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