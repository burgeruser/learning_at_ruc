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849" r:id="rId2"/>
    <p:sldId id="726" r:id="rId3"/>
    <p:sldId id="848" r:id="rId4"/>
    <p:sldId id="856" r:id="rId5"/>
    <p:sldId id="857" r:id="rId6"/>
    <p:sldId id="824" r:id="rId7"/>
    <p:sldId id="751" r:id="rId8"/>
    <p:sldId id="827" r:id="rId9"/>
    <p:sldId id="825" r:id="rId10"/>
    <p:sldId id="838" r:id="rId11"/>
    <p:sldId id="839" r:id="rId12"/>
    <p:sldId id="847" r:id="rId13"/>
    <p:sldId id="851" r:id="rId14"/>
    <p:sldId id="855" r:id="rId15"/>
    <p:sldId id="852" r:id="rId16"/>
    <p:sldId id="853" r:id="rId17"/>
  </p:sldIdLst>
  <p:sldSz cx="9144000" cy="6858000" type="screen4x3"/>
  <p:notesSz cx="7099300" cy="10234613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2" userDrawn="1">
          <p15:clr>
            <a:srgbClr val="A4A3A4"/>
          </p15:clr>
        </p15:guide>
        <p15:guide id="2" pos="295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5CCF"/>
    <a:srgbClr val="3D7FCF"/>
    <a:srgbClr val="7F4525"/>
    <a:srgbClr val="FFFF99"/>
    <a:srgbClr val="966C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6" autoAdjust="0"/>
    <p:restoredTop sz="95244" autoAdjust="0"/>
  </p:normalViewPr>
  <p:slideViewPr>
    <p:cSldViewPr showGuides="1">
      <p:cViewPr varScale="1">
        <p:scale>
          <a:sx n="100" d="100"/>
          <a:sy n="100" d="100"/>
        </p:scale>
        <p:origin x="1496" y="168"/>
      </p:cViewPr>
      <p:guideLst>
        <p:guide orient="horz" pos="2252"/>
        <p:guide pos="295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4606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8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2784" y="0"/>
            <a:ext cx="3184606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85"/>
            </a:lvl1pPr>
          </a:lstStyle>
          <a:p>
            <a:fld id="{0F9B84EA-7D68-4D60-9CB1-D50884785D1C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4606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8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2784" y="10879875"/>
            <a:ext cx="3184606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8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6B2FA0E-F8C8-4B0A-8D49-DF83F4D9401A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B47B915-5085-4545-A646-F20B54638C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7B915-5085-4545-A646-F20B54638C0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438E7-EA0C-D107-689E-889C1B1B2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D14676-F323-4F44-B4BD-FC322297A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825D48-8E7C-388A-469E-1C3B14884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E19926-4CB8-6BC5-D49C-C548B8CF4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7B915-5085-4545-A646-F20B54638C0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586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7B915-5085-4545-A646-F20B54638C01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7B915-5085-4545-A646-F20B54638C01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7B915-5085-4545-A646-F20B54638C0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7B915-5085-4545-A646-F20B54638C01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7B915-5085-4545-A646-F20B54638C0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7B915-5085-4545-A646-F20B54638C01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7B915-5085-4545-A646-F20B54638C01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7B915-5085-4545-A646-F20B54638C0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308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7B915-5085-4545-A646-F20B54638C0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475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D877-55BC-B545-A377-F543F196109B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图片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85752"/>
            <a:ext cx="3085248" cy="928670"/>
          </a:xfrm>
          <a:prstGeom prst="rect">
            <a:avLst/>
          </a:prstGeom>
        </p:spPr>
      </p:pic>
      <p:pic>
        <p:nvPicPr>
          <p:cNvPr id="8" name="图片 7" descr="f35ea009087b38036b60fbe5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921036" y="142852"/>
            <a:ext cx="1080120" cy="107101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31F9-7448-F242-871C-8FCAF696F6CD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4012-9928-C248-9D8C-EE4B01D09273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4559-484A-9C42-AE4B-5A17E8AD4E7E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8142C-54EE-3448-A5C3-E227FEE3B6D9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E8711-CD2E-C347-98C3-F714557AF029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2BDE-09B8-7043-96EA-6B343205E39F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A58F-0F77-1F4D-9FCC-8E2B8E853D25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A2CA-C3A6-AF49-BD71-370377C394AC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2B88-7DD9-054B-8BF9-AC688A064505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4D1EC-A4B6-A445-9CF4-6F2E367A8B81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467DE-18E0-BC4E-9CEB-38810578CB4F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5688F3-1426-B24B-8B08-2BAB9FEC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EC0D97-4311-204D-AC57-1C7869F5F211}"/>
              </a:ext>
            </a:extLst>
          </p:cNvPr>
          <p:cNvSpPr/>
          <p:nvPr/>
        </p:nvSpPr>
        <p:spPr>
          <a:xfrm>
            <a:off x="0" y="0"/>
            <a:ext cx="9144000" cy="4686935"/>
          </a:xfrm>
          <a:prstGeom prst="rect">
            <a:avLst/>
          </a:prstGeom>
          <a:gradFill flip="none" rotWithShape="1">
            <a:gsLst>
              <a:gs pos="70000">
                <a:schemeClr val="tx2">
                  <a:lumMod val="40000"/>
                  <a:lumOff val="60000"/>
                </a:schemeClr>
              </a:gs>
              <a:gs pos="100000">
                <a:schemeClr val="accent2">
                  <a:gamma/>
                  <a:tint val="0"/>
                  <a:invGamma/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6638F5-2944-0445-B76A-97C40BD007B4}"/>
              </a:ext>
            </a:extLst>
          </p:cNvPr>
          <p:cNvSpPr txBox="1"/>
          <p:nvPr/>
        </p:nvSpPr>
        <p:spPr>
          <a:xfrm>
            <a:off x="611560" y="2316474"/>
            <a:ext cx="7659724" cy="1436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buFontTx/>
              <a:buNone/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TradExpert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Revolutionizing Trading with Mixture of Expert LLMs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  <a:buFontTx/>
              <a:buNone/>
            </a:pPr>
            <a:r>
              <a:rPr lang="gsw-FR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TradExpert</a:t>
            </a:r>
            <a:r>
              <a:rPr lang="zh-CN" altLang="gsw-FR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通过混合专家型大语言模型革新股票交易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BD9F77-5BBE-0846-8206-2A0D2C897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986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35ea009087b38036b60fbe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72400" y="123309"/>
            <a:ext cx="792088" cy="78541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2840" y="260650"/>
            <a:ext cx="82296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0070C0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Introduction</a:t>
            </a:r>
            <a:endParaRPr lang="zh-CN" altLang="en-US" sz="2800" b="1" dirty="0">
              <a:solidFill>
                <a:srgbClr val="0070C0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6024" y="863003"/>
            <a:ext cx="795637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33781" y="961554"/>
            <a:ext cx="8792845" cy="50334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fontAlgn="base">
              <a:lnSpc>
                <a:spcPct val="150000"/>
              </a:lnSpc>
            </a:pPr>
            <a:r>
              <a:rPr lang="zh-CN" altLang="en-US" sz="20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背景与动机</a:t>
            </a:r>
            <a:b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论文探讨了</a:t>
            </a:r>
            <a:r>
              <a:rPr lang="en-US" altLang="zh-CN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在金融领域尤其是量化交易中的应用。传统的金融模型主要依赖于统计分析、时间序列预测和计量经济模型，这些方法在处理非结构化数据（如新闻文章、财务报告）时存在局限性。随着</a:t>
            </a:r>
            <a:r>
              <a:rPr lang="en-US" altLang="zh-CN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的发展，其在自然语言处理任务中的成功为金融数据分析提供了新的思路。</a:t>
            </a:r>
          </a:p>
          <a:p>
            <a:pPr algn="l" fontAlgn="base">
              <a:lnSpc>
                <a:spcPct val="150000"/>
              </a:lnSpc>
            </a:pPr>
            <a:r>
              <a:rPr lang="zh-CN" altLang="en-US" sz="20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  <a:b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论文提出了一个名为</a:t>
            </a:r>
            <a:r>
              <a:rPr lang="en-US" altLang="zh-CN" sz="2000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TradeExpert</a:t>
            </a:r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的框架，旨在通过混合专家（</a:t>
            </a:r>
            <a:r>
              <a:rPr lang="en-US" altLang="zh-CN" sz="2000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）方法整合多个专门的</a:t>
            </a:r>
            <a:r>
              <a:rPr lang="en-US" altLang="zh-CN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，分别分析不同类型的金融数据（如新闻、市场数据、阿尔法因子和基本面数据），并由一个通用专家</a:t>
            </a:r>
            <a:r>
              <a:rPr lang="en-US" altLang="zh-CN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汇总分析结果以进行最终预测或决策。该框架的目标是提高股票运动预测和量化交易策略的性能。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FEA8-5857-8D35-4457-0E6E597E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35ea009087b38036b60fbe5.jpg">
            <a:extLst>
              <a:ext uri="{FF2B5EF4-FFF2-40B4-BE49-F238E27FC236}">
                <a16:creationId xmlns:a16="http://schemas.microsoft.com/office/drawing/2014/main" id="{DDCA3BE4-B640-1FBC-57EC-6BA2EE1B63D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72400" y="123309"/>
            <a:ext cx="792088" cy="78541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3F1EFF0-A603-F170-7333-0940D6D04432}"/>
              </a:ext>
            </a:extLst>
          </p:cNvPr>
          <p:cNvSpPr txBox="1">
            <a:spLocks noChangeArrowheads="1"/>
          </p:cNvSpPr>
          <p:nvPr/>
        </p:nvSpPr>
        <p:spPr>
          <a:xfrm>
            <a:off x="302840" y="260650"/>
            <a:ext cx="82296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0070C0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Introduction</a:t>
            </a:r>
            <a:endParaRPr lang="zh-CN" altLang="en-US" sz="2800" b="1" dirty="0">
              <a:solidFill>
                <a:srgbClr val="0070C0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7C4DE4-63A0-8BEB-B3B6-2DE6DEB67BC5}"/>
              </a:ext>
            </a:extLst>
          </p:cNvPr>
          <p:cNvSpPr/>
          <p:nvPr/>
        </p:nvSpPr>
        <p:spPr>
          <a:xfrm>
            <a:off x="216024" y="863003"/>
            <a:ext cx="795637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幻灯片编号占位符 1">
            <a:extLst>
              <a:ext uri="{FF2B5EF4-FFF2-40B4-BE49-F238E27FC236}">
                <a16:creationId xmlns:a16="http://schemas.microsoft.com/office/drawing/2014/main" id="{586179AC-2A09-DC44-A309-DB1DBCDD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75E979-1E03-E5C7-1126-DA7F6309DA33}"/>
              </a:ext>
            </a:extLst>
          </p:cNvPr>
          <p:cNvSpPr txBox="1"/>
          <p:nvPr/>
        </p:nvSpPr>
        <p:spPr>
          <a:xfrm>
            <a:off x="233781" y="961554"/>
            <a:ext cx="8792845" cy="50334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0" i="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结合多样化金融数据源的传统、基于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及基于混合专家大语言模型的金融模型。</a:t>
            </a:r>
            <a:endParaRPr lang="en-US" altLang="zh-CN" sz="2000" b="0" i="0" dirty="0">
              <a:solidFill>
                <a:srgbClr val="40404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20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altLang="zh-CN" sz="2000" b="0" i="0" dirty="0">
              <a:solidFill>
                <a:srgbClr val="40404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20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20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论文定义了两个主要任务：</a:t>
            </a:r>
          </a:p>
          <a:p>
            <a:pPr algn="l" fontAlgn="base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股票走势预测</a:t>
            </a:r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：基于多种数据源（新闻、市场数据、阿尔法因子、基本面数据）预测股票价格的未来走势（上升或下降）。</a:t>
            </a:r>
          </a:p>
          <a:p>
            <a:pPr algn="l" fontAlgn="base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股票交易模拟</a:t>
            </a:r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：基于</a:t>
            </a:r>
            <a:r>
              <a:rPr lang="en-US" altLang="zh-CN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Top-K</a:t>
            </a:r>
            <a:r>
              <a:rPr lang="zh-CN" altLang="en-US" sz="20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排名股票的交易策略，评估模型的盈利能力和风险。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2000" b="0" i="0" dirty="0">
              <a:solidFill>
                <a:srgbClr val="40404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5A27C03-C453-C58D-9E6B-CAB000F74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209" y="1628800"/>
            <a:ext cx="7010862" cy="243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1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842389-6E61-D34C-BD45-042F1BC1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145" name="Picture 1" descr="page3image3904128">
            <a:extLst>
              <a:ext uri="{FF2B5EF4-FFF2-40B4-BE49-F238E27FC236}">
                <a16:creationId xmlns:a16="http://schemas.microsoft.com/office/drawing/2014/main" id="{254ADCBB-6356-E24E-9069-684A10D9E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74" y="1556792"/>
            <a:ext cx="8264427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57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B46A63-D55D-F340-B6C4-9A12CCA8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72E8738-EEB4-C140-B146-81ACE070B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92" y="651520"/>
            <a:ext cx="4374619" cy="227342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46D3FD8-EC22-AD43-A9DF-621AD4D26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651520"/>
            <a:ext cx="4058005" cy="227342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30846C6-5804-E440-8162-723EECBED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897" y="3365500"/>
            <a:ext cx="3744416" cy="315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60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35ea009087b38036b60fbe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72400" y="123309"/>
            <a:ext cx="792088" cy="78541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2840" y="260650"/>
            <a:ext cx="82296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gsw-FR" altLang="zh-CN" sz="2800" b="1" dirty="0">
                <a:solidFill>
                  <a:srgbClr val="0070C0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Methods</a:t>
            </a:r>
            <a:endParaRPr lang="zh-CN" altLang="en-US" sz="2800" b="1" dirty="0">
              <a:solidFill>
                <a:srgbClr val="0070C0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6024" y="863003"/>
            <a:ext cx="795637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37490" y="1046063"/>
            <a:ext cx="8792845" cy="58170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fontAlgn="base">
              <a:lnSpc>
                <a:spcPct val="150000"/>
              </a:lnSpc>
            </a:pP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1. 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框架设计</a:t>
            </a:r>
          </a:p>
          <a:p>
            <a:pPr algn="l" fontAlgn="base">
              <a:lnSpc>
                <a:spcPct val="150000"/>
              </a:lnSpc>
            </a:pPr>
            <a:r>
              <a:rPr lang="en-US" altLang="zh-CN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TradeExpert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框架基于混合专家</a:t>
            </a:r>
            <a:r>
              <a:rPr lang="en-US" altLang="zh-CN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，整合了多个专门设计的大型语言模型，每个模型专注于处理特定类型的金融数据。框架的核心思想是模拟现实世界中金融分析师的分工与协作，通过多个专家模块独立分析不同数据源，并将结果汇总到一个通用专家模块中，最终生成股票走势预测或交易决策。</a:t>
            </a:r>
          </a:p>
          <a:p>
            <a:pPr algn="l" fontAlgn="base">
              <a:lnSpc>
                <a:spcPct val="150000"/>
              </a:lnSpc>
            </a:pP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框架包含以下模块：</a:t>
            </a:r>
          </a:p>
          <a:p>
            <a:pPr marL="285750" indent="-285750" algn="l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四个专业专家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：分别处理新闻文章、市场数据、阿尔法因子和基本面数据。</a:t>
            </a:r>
          </a:p>
          <a:p>
            <a:pPr marL="285750" indent="-285750" algn="l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一个通用专家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：汇总四个专家模块的分析结果，并输出最终预测或决策。</a:t>
            </a:r>
          </a:p>
          <a:p>
            <a:pPr algn="l" fontAlgn="base">
              <a:lnSpc>
                <a:spcPct val="150000"/>
              </a:lnSpc>
            </a:pP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这种分工方式不仅提高了模型对多模态数据的处理能力，还增强了对不同因素如何影响市场趋势的理解。</a:t>
            </a:r>
          </a:p>
          <a:p>
            <a:pPr algn="l" fontAlgn="base">
              <a:lnSpc>
                <a:spcPct val="150000"/>
              </a:lnSpc>
            </a:pPr>
            <a:endParaRPr lang="zh-CN" altLang="en-US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35ea009087b38036b60fbe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72400" y="123309"/>
            <a:ext cx="792088" cy="78541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2840" y="260650"/>
            <a:ext cx="82296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gsw-FR" altLang="zh-CN" sz="2800" b="1" dirty="0">
                <a:solidFill>
                  <a:srgbClr val="0070C0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Methods</a:t>
            </a:r>
            <a:endParaRPr lang="zh-CN" altLang="en-US" sz="2800" b="1" dirty="0">
              <a:solidFill>
                <a:srgbClr val="0070C0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6024" y="863003"/>
            <a:ext cx="795637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88040" y="1046063"/>
            <a:ext cx="879411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2. 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专业专家模块</a:t>
            </a:r>
          </a:p>
          <a:p>
            <a:pPr algn="l" fontAlgn="base"/>
            <a:r>
              <a:rPr lang="en-US" altLang="zh-CN" sz="1600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TradeExpert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框架中的每个专家模块都基于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LLaMA2-7B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模型构建，并通过</a:t>
            </a:r>
            <a:r>
              <a:rPr lang="en-US" altLang="zh-CN" sz="1600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LoRA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机制进行微调，以适应特定任务。以下是各模块的具体设计：</a:t>
            </a:r>
          </a:p>
          <a:p>
            <a:pPr algn="l" fontAlgn="base"/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）新闻分析师（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News Analyst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：分析新闻文章，预测股票走势，并提供推理。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：新闻文章文本。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：包含推理和预测（“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Rise”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或“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Fall”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）的文本。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：使用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OpenAI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GPT-4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生成新闻文章与股票走势之间的推理逻辑，通过链式推理（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Chain-of-Thought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）方法增强模型的解释能力。</a:t>
            </a:r>
          </a:p>
          <a:p>
            <a:pPr algn="l" fontAlgn="base"/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）市场分析师（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Market Analyst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：分析历史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OHLCV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（开盘价、最高价、最低价、收盘价、成交量）数据，预测股票走势。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：时间序列数据（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OHLCV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：预测股票的未来走势。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：由于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无法直接处理时间序列数据，论文提出了一种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时间序列重</a:t>
            </a:r>
            <a:r>
              <a:rPr lang="zh-CN" altLang="en-US" sz="1600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编排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，将连续的时间序列数据转换为离散的文本原型表示。具体方法是将时间序列数据嵌入到文本原型中，并通过多头交叉注意力机制生成可处理的嵌入表示。</a:t>
            </a:r>
          </a:p>
          <a:p>
            <a:pPr algn="l" fontAlgn="base"/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）阿尔法专家（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Alpha Expert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：处理基于表达式的阿尔法因子（技术指标和算法生成的因子），预测股票走势。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：阿尔法因子的表达式及其描述。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：综合评分和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Top-K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重要因子的描述。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：利用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GPT-4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生成每个阿尔法因子的描述，并通过</a:t>
            </a:r>
            <a:r>
              <a:rPr lang="en-US" altLang="zh-CN" sz="1600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LightGBM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模型计算综合评分，选择对预测最有贡献的因子。</a:t>
            </a:r>
          </a:p>
          <a:p>
            <a:pPr algn="just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35ea009087b38036b60fbe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72400" y="123309"/>
            <a:ext cx="792088" cy="78541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2840" y="260650"/>
            <a:ext cx="82296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gsw-FR" altLang="zh-CN" sz="2800" b="1">
                <a:solidFill>
                  <a:srgbClr val="0070C0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Methods</a:t>
            </a:r>
            <a:endParaRPr lang="zh-CN" altLang="en-US" sz="2800" b="1" dirty="0">
              <a:solidFill>
                <a:srgbClr val="0070C0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6024" y="863003"/>
            <a:ext cx="795637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70180" y="1052830"/>
            <a:ext cx="8794115" cy="507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）基本面分析师（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Fundamental Analyst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：分析公司基本面数据（如收益电话会议记录和财务指标），预测股票走势。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：收益电话会议记录和财务指标。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：季度级别的股票走势预测。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：类似于新闻分析师，但专注于基本面数据，预测周期为季度。</a:t>
            </a:r>
            <a:endParaRPr lang="en-US" altLang="zh-CN" sz="1600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3. 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通用专家模块（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General Expert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algn="l" fontAlgn="base"/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通用专家模块是框架的核心，负责汇总四个专业专家模块的分析结果，并输出最终的预测或决策。它具有两种模式：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预测模式（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Prediction Mode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：用于股票走势预测，输出“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Rise”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或“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Fall”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排名模式（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Ranking Mode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：用于股票交易策略，通过比较两支股票的表现来生成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Top-K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排名。在排名模式下，通用专家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作为比较器，通过一种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松弛的比较排序算法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（类似于冒泡排序）对股票进行排名。尽管这种方法的时间复杂度较高（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O(N²)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），但由于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比较器的非传递性，更多的比较能够提高排名的准确性。</a:t>
            </a:r>
            <a:endParaRPr lang="en-US" altLang="zh-CN" sz="1600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核心技术细节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时间序列重</a:t>
            </a:r>
            <a:r>
              <a:rPr lang="zh-CN" altLang="en-US" sz="1600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编排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：将时间序列数据转换为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LLMs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可处理的文本嵌入表示，解决了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LLMs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无法直接处理连续时间序列数据的挑战。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en-US" altLang="zh-CN" sz="1600" b="1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LoRA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：通过</a:t>
            </a:r>
            <a:r>
              <a:rPr lang="en-US" altLang="zh-CN" sz="1600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LoRA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进行微调，使其能够更好地适应金融领域的特定任务。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松弛比较排序算法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：在排名模式下，通过多次比较股票的表现来生成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Top-K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排名，确保在非传递性条件下获得更准确的排名结果。</a:t>
            </a:r>
          </a:p>
          <a:p>
            <a:pPr indent="0" algn="just">
              <a:lnSpc>
                <a:spcPct val="140000"/>
              </a:lnSpc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35ea009087b38036b60fbe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72400" y="123309"/>
            <a:ext cx="792088" cy="78541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2840" y="260650"/>
            <a:ext cx="82296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0070C0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Experiment</a:t>
            </a:r>
            <a:endParaRPr lang="zh-CN" altLang="en-US" sz="2800" b="1" dirty="0">
              <a:solidFill>
                <a:srgbClr val="0070C0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6024" y="863003"/>
            <a:ext cx="795637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61493" y="961554"/>
            <a:ext cx="87941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1. 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实验目标</a:t>
            </a:r>
          </a:p>
          <a:p>
            <a:pPr algn="l" fontAlgn="base"/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论文通过实验验证了</a:t>
            </a:r>
            <a:r>
              <a:rPr lang="en-US" altLang="zh-CN" sz="1600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TradeExpert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框架在以下两个主要任务中的性能：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股票走势预测（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Stock Movement Prediction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：预测股票价格在未来一天的走势（上升或下降）。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股票交易模拟（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Stock Trading Simulation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：基于模型生成的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Top-K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股票排名，模拟实际交易策略的盈利能力和风险。</a:t>
            </a:r>
          </a:p>
          <a:p>
            <a:pPr algn="l" fontAlgn="base"/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2. 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实验设置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实验使用了以下两类数据集：</a:t>
            </a:r>
            <a:endParaRPr lang="en-US" altLang="zh-CN" sz="1600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/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基准数据集（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Benchmark Datasets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：包括公开的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CIKM18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ACL18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BigData22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数据集，这些数据集主要用于股票运动预测任务。</a:t>
            </a:r>
            <a:endParaRPr lang="en-US" altLang="zh-CN" sz="1600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专有数据集（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Proprietary Datasets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：作者收集的大规模金融数据集，涵盖新闻文章、市场数据、阿尔法因子和基本面数据，时间跨度为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日至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模型架构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TradeExpert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框架中的四个专家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LLMs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和通用专家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均基于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LLaMA2-7B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模型构建，并通过</a:t>
            </a:r>
            <a:r>
              <a:rPr lang="en-US" altLang="zh-CN" sz="1600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LoRA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机制进行微调。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任务设置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/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股票走势预测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：使用二分类指标（准确率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Acc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和马修斯相关系数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MCC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）评估模型性能。</a:t>
            </a:r>
            <a:endParaRPr lang="en-US" altLang="zh-CN" sz="1600" dirty="0">
              <a:solidFill>
                <a:srgbClr val="0606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/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股票交易模拟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：使用年化回报率（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）、夏普比率（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SR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）、年化波动率（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AV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）和最大回撤（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MD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）评估模型的盈利能力和风险。</a:t>
            </a:r>
          </a:p>
          <a:p>
            <a:pPr indent="0" algn="just"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35ea009087b38036b60fbe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72400" y="123309"/>
            <a:ext cx="792088" cy="78541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2840" y="260650"/>
            <a:ext cx="82296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0070C0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Experiment</a:t>
            </a:r>
            <a:endParaRPr lang="zh-CN" altLang="en-US" sz="2800" b="1" dirty="0">
              <a:solidFill>
                <a:srgbClr val="0070C0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6024" y="863003"/>
            <a:ext cx="795637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81496" y="970210"/>
            <a:ext cx="879411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3. 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基线模型</a:t>
            </a:r>
          </a:p>
          <a:p>
            <a:pPr algn="l" fontAlgn="base"/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论文选择了多种现有方法作为基线模型，以验证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TradeExpert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的性能提升：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</a:t>
            </a:r>
            <a:r>
              <a:rPr lang="zh-CN" altLang="en-US" sz="1600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走势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预测任务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混合模型（</a:t>
            </a:r>
            <a:r>
              <a:rPr lang="gsw-FR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Hybrid Models</a:t>
            </a:r>
            <a:r>
              <a:rPr lang="zh-CN" altLang="gsw-FR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StockNet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ALSTM-W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ALSTM-D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SLOT</a:t>
            </a:r>
            <a:endParaRPr lang="en-US" altLang="zh-CN" sz="1600" dirty="0">
              <a:solidFill>
                <a:srgbClr val="0606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大型语言模型（</a:t>
            </a:r>
            <a:r>
              <a:rPr lang="gsw-FR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Large Language Models</a:t>
            </a:r>
            <a:r>
              <a:rPr lang="zh-CN" altLang="gsw-FR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GPT-4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Gemini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LLaMA2-70B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FinGPT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股票交易模拟任务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传统模型（</a:t>
            </a:r>
            <a:r>
              <a:rPr lang="gsw-FR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Traditional Models</a:t>
            </a:r>
            <a:r>
              <a:rPr lang="zh-CN" altLang="gsw-FR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如随机森林（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SVM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决策树（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Decision Tree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en-US" altLang="zh-CN" sz="1600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深度学习模型（</a:t>
            </a:r>
            <a:r>
              <a:rPr lang="gsw-FR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Deep Learning Models</a:t>
            </a:r>
            <a:r>
              <a:rPr lang="zh-CN" altLang="gsw-FR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A2C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PPO</a:t>
            </a:r>
            <a:r>
              <a:rPr lang="zh-CN" altLang="gsw-FR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gsw-FR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DeepTrader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  <a:p>
            <a:pPr algn="l" fontAlgn="base"/>
            <a:r>
              <a:rPr lang="en-US" altLang="zh-CN" sz="1600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 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消融研究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移除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市场分析师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新闻分析师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对性能影响最大，分别导致年化回报率大幅下降。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移除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基本面分析师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对短期指标影响较小，但对长期稳定性有重要作用。</a:t>
            </a:r>
          </a:p>
          <a:p>
            <a:pPr algn="l" fontAlgn="base"/>
            <a:r>
              <a:rPr lang="en-US" altLang="zh-CN" sz="1600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 </a:t>
            </a:r>
            <a:r>
              <a:rPr lang="zh-CN" altLang="en-US" sz="1600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其他分析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en-US" altLang="zh-CN" sz="1600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TradeExpert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在处理结构化数据（如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OHLCV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和阿尔法因子）时表现出色，优于传统模型。</a:t>
            </a:r>
          </a:p>
          <a:p>
            <a:pPr marL="742950" lvl="1" indent="-285750" fontAlgn="base">
              <a:buFont typeface="Wingdings" pitchFamily="2" charset="2"/>
              <a:buChar char="Ø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松弛比较排序算法虽然复杂度高，但在非传递性条件下更准确。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zh-CN" altLang="en-US" sz="1600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35ea009087b38036b60fbe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72400" y="123309"/>
            <a:ext cx="792088" cy="78541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2840" y="260650"/>
            <a:ext cx="82296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0070C0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Result</a:t>
            </a:r>
            <a:endParaRPr lang="zh-CN" altLang="en-US" sz="2800" b="1" dirty="0">
              <a:solidFill>
                <a:srgbClr val="0070C0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6024" y="863003"/>
            <a:ext cx="795637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95536" y="1196752"/>
            <a:ext cx="7956376" cy="502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</a:t>
            </a:r>
            <a:r>
              <a:rPr lang="zh-CN" altLang="en-US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走势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预测</a:t>
            </a:r>
            <a:endParaRPr lang="zh-CN" altLang="en-US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TradeExpert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在多个数据集上表现优于现有基线模型，尤其是在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S&amp;P 500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数据集上，准确率和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MCC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显著提升。</a:t>
            </a:r>
          </a:p>
          <a:p>
            <a:pPr algn="l" fontAlgn="base">
              <a:lnSpc>
                <a:spcPct val="150000"/>
              </a:lnSpc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股票交易模拟</a:t>
            </a:r>
            <a:endParaRPr lang="zh-CN" altLang="en-US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DOW 30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股票池的回测中，</a:t>
            </a:r>
            <a:r>
              <a:rPr lang="en-US" altLang="zh-CN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TradeExpert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实现了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49.79%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的年化回报率、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9.95%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的年化波动率和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5.01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的夏普比率，显著优于其他传统和深度学习模型。</a:t>
            </a:r>
          </a:p>
          <a:p>
            <a:pPr algn="l" fontAlgn="base">
              <a:lnSpc>
                <a:spcPct val="150000"/>
              </a:lnSpc>
            </a:pP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消融研究</a:t>
            </a:r>
            <a:endParaRPr lang="zh-CN" altLang="en-US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通过移除特定专家模块，验证了每个专家对框架性能的影响。结果表明，市场分析师和新闻分析师对性能影响最大，而基本面分析师对长期稳定性有重要作用。</a:t>
            </a:r>
          </a:p>
          <a:p>
            <a:pPr indent="457200" algn="just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35ea009087b38036b60fbe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72400" y="123309"/>
            <a:ext cx="792088" cy="78541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2840" y="260650"/>
            <a:ext cx="82296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0070C0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Conclusion</a:t>
            </a:r>
          </a:p>
        </p:txBody>
      </p:sp>
      <p:sp>
        <p:nvSpPr>
          <p:cNvPr id="7" name="矩形 6"/>
          <p:cNvSpPr/>
          <p:nvPr/>
        </p:nvSpPr>
        <p:spPr>
          <a:xfrm>
            <a:off x="216024" y="863003"/>
            <a:ext cx="795637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79829" y="980177"/>
            <a:ext cx="8756071" cy="4011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80000"/>
              </a:lnSpc>
            </a:pPr>
            <a:r>
              <a:rPr lang="en-US" altLang="zh-CN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TradeExpert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通过混合专家架构和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LLMs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的深度应用，在股票运动预测和交易模拟中表现出色，为量化交易提供了创新解决方案。实验结果表明，其在多个数据集上显著优于现有方法，年化回报率达到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49.79%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，夏普比率达到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5.01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。该框架为金融分析提供了新的方向，未来有望拓展至高频交易和全球市场应用。</a:t>
            </a:r>
            <a:endParaRPr lang="en-US" altLang="zh-CN" b="0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>
              <a:lnSpc>
                <a:spcPct val="180000"/>
              </a:lnSpc>
            </a:pPr>
            <a:r>
              <a:rPr lang="en-US" altLang="zh-CN" b="0" i="0" dirty="0" err="1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TradeExpert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股票预测和交易中展现了优越性能，但也存在一些不足：计算效率较低，单支股票推理时间长，难以满足高频交易需求；对多源数据依赖性强，数据获取和处理成本高，且数据质量直接影响模型表现；其泛化能力在不同市场环境和经济周期中尚未充分验证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35ea009087b38036b60fbe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72400" y="123309"/>
            <a:ext cx="792088" cy="78541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2840" y="260650"/>
            <a:ext cx="82296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2800" b="1" dirty="0">
                <a:solidFill>
                  <a:srgbClr val="0070C0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常见数据</a:t>
            </a:r>
            <a:endParaRPr lang="en-US" altLang="zh-CN" sz="2800" b="1" dirty="0">
              <a:solidFill>
                <a:srgbClr val="0070C0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6024" y="863003"/>
            <a:ext cx="795637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ACCFC-30F1-E246-9A8C-F39E2FEAB9DC}"/>
              </a:ext>
            </a:extLst>
          </p:cNvPr>
          <p:cNvSpPr txBox="1"/>
          <p:nvPr/>
        </p:nvSpPr>
        <p:spPr>
          <a:xfrm>
            <a:off x="174942" y="1046063"/>
            <a:ext cx="879411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）历史股票数据（</a:t>
            </a:r>
            <a:r>
              <a:rPr lang="en-US" altLang="zh-CN" sz="1800" dirty="0">
                <a:effectLst/>
                <a:latin typeface="NimbusRomNo9L"/>
              </a:rPr>
              <a:t> OHLCV 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algn="l" fontAlgn="base"/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Alpha</a:t>
            </a:r>
            <a:r>
              <a:rPr lang="zh-CN" altLang="en-US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因子：市盈率、净利润、</a:t>
            </a:r>
            <a:r>
              <a:rPr lang="en-US" altLang="zh-CN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MACD</a:t>
            </a:r>
            <a:r>
              <a:rPr lang="zh-CN" altLang="en-US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b="1" dirty="0">
              <a:solidFill>
                <a:srgbClr val="0606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endParaRPr lang="en-US" altLang="zh-CN" b="1" dirty="0">
              <a:solidFill>
                <a:srgbClr val="0606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）基本面数据：财报电话会议、反映公司经济健康和业绩的基本面测度，如财务报告、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Per Share (EPS)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，每股收益，表示每股普通股的净利润，衡量公司盈利能力的重要指标、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Price-to-Earnings Ratio (P/E Ratio)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，市盈率（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P/E 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比率）是股票价格与每股收益的比率，用于评估股票的估值水平。它反映了投资者为每单位收益支付的价格、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Book Value Per Share (BVPS)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每股账面价值（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BVPS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）是公司净资产与普通股总数的比值，反映了每股股票在账面上的价值。</a:t>
            </a:r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）文本：新闻数据，研究报告</a:t>
            </a:r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r>
              <a:rPr lang="zh-CN" altLang="en-US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）网络数据</a:t>
            </a:r>
            <a:endParaRPr lang="en-US" altLang="zh-CN" b="1" dirty="0">
              <a:solidFill>
                <a:srgbClr val="0606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495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35ea009087b38036b60fbe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72400" y="123309"/>
            <a:ext cx="792088" cy="78541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2840" y="260650"/>
            <a:ext cx="822960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2800" b="1" dirty="0">
                <a:solidFill>
                  <a:srgbClr val="0070C0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几类常见任务</a:t>
            </a:r>
            <a:endParaRPr lang="en-US" altLang="zh-CN" sz="2800" b="1" dirty="0">
              <a:solidFill>
                <a:srgbClr val="0070C0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6024" y="863003"/>
            <a:ext cx="7956376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ACCFC-30F1-E246-9A8C-F39E2FEAB9DC}"/>
              </a:ext>
            </a:extLst>
          </p:cNvPr>
          <p:cNvSpPr txBox="1"/>
          <p:nvPr/>
        </p:nvSpPr>
        <p:spPr>
          <a:xfrm>
            <a:off x="174942" y="1046063"/>
            <a:ext cx="8794115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）股票走势预测</a:t>
            </a:r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）股票价格预测</a:t>
            </a:r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endParaRPr lang="en-US" altLang="zh-CN" b="1" dirty="0">
              <a:solidFill>
                <a:srgbClr val="0606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）选股</a:t>
            </a:r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606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）股票交易模型</a:t>
            </a:r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endParaRPr lang="en-US" altLang="zh-CN" b="1" dirty="0">
              <a:solidFill>
                <a:srgbClr val="0606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r>
              <a:rPr lang="zh-CN" altLang="en-US" b="1" i="0" dirty="0">
                <a:solidFill>
                  <a:srgbClr val="0606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b="1" i="0" dirty="0">
              <a:solidFill>
                <a:srgbClr val="06060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7651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672678-A910-B442-9DC6-820AB1EAC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73151"/>
          </a:xfrm>
        </p:spPr>
        <p:txBody>
          <a:bodyPr>
            <a:noAutofit/>
          </a:bodyPr>
          <a:lstStyle/>
          <a:p>
            <a:r>
              <a:rPr kumimoji="1" lang="en-US" altLang="zh-CN" sz="3200" dirty="0"/>
              <a:t>Transformer</a:t>
            </a:r>
            <a:r>
              <a:rPr kumimoji="1" lang="zh-CN" altLang="en-US" sz="3200" dirty="0"/>
              <a:t>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F554BF-FA2A-1B4F-8EC2-62DA2101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BDA549-CD2A-244B-9724-5C2CE33AA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7789"/>
            <a:ext cx="9144000" cy="5786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700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A2E1B-4566-8D46-920C-F67EF860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1454E91-4CFD-B04C-A5C7-D688D5E76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31490"/>
            <a:ext cx="7473900" cy="672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8640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Y4NjZiMDdhNDk4YWYwN2JlMGNmZTkwMzZlNmUyMzA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451</TotalTime>
  <Words>2006</Words>
  <Application>Microsoft Macintosh PowerPoint</Application>
  <PresentationFormat>全屏显示(4:3)</PresentationFormat>
  <Paragraphs>142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微软雅黑</vt:lpstr>
      <vt:lpstr>NimbusRomNo9L</vt:lpstr>
      <vt:lpstr>Arial</vt:lpstr>
      <vt:lpstr>Calibri</vt:lpstr>
      <vt:lpstr>Georgia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Transformer架构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Microsoft Office User</cp:lastModifiedBy>
  <cp:revision>1696</cp:revision>
  <dcterms:created xsi:type="dcterms:W3CDTF">2012-11-15T15:49:00Z</dcterms:created>
  <dcterms:modified xsi:type="dcterms:W3CDTF">2025-04-17T07:54:03Z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1137AAD710464915865D26007CB8DDEE_13</vt:lpwstr>
  </property>
  <property fmtid="{D5CDD505-2E9C-101B-9397-08002B2CF9AE}" pid="3" name="KSOProductBuildVer">
    <vt:lpwstr>2052-12.1.0.18912</vt:lpwstr>
  </property>
</Properties>
</file>